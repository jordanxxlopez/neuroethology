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rhythmic entrainment, auditory–motor coordination, and experimental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response was an up-and-down movement of the head and neck, with roughly 10 cm or more of displacement during initial shaping. **Shaping** rewards successive approximations to a target action rather than waiting for the complete action to occur immediately.</a:t>
            </a:r>
          </a:p>
          <a:p>
            <a:r>
              <a:t>• Ronan first learned to bob in response to a visual cue. A brief whistle, previously associated with food, marked the rewarded behavior. The whistle was followed by a capelin, allowing the trainer to identify the successful action precisely before delivering food.</a:t>
            </a:r>
          </a:p>
          <a:p>
            <a:r>
              <a:t>• 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6A–B. Successive movement rates during extended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 rested her foreflippers on a station while facing a wooden panel. This position left her head free to move. A reward assistant sat beyond the panel, and the experimenter watched from behind a separate blind to the animal’s side.</a:t>
            </a:r>
          </a:p>
          <a:p>
            <a:r>
              <a:t>• 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r>
              <a:t>• 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 Timing distributions for spontaneous and trained tests.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r>
              <a:t>• The trainers then separated the two tempos into different sessions and changed the criterion. Ronan was rewarded for bringing her head down on a beat, initially for a single movement. The required run was gradually increased to 20 consecutive synchronized movements.</a:t>
            </a:r>
          </a:p>
          <a:p>
            <a:r>
              <a:t>• 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performance across familiar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training used 80 and 120 bpm, but her transfer tests included 72, 88, 96, 108, and 132 bpm. **Transfer** means applying an acquired behavior to a stimulus condition that was not explicitly used to teach that behavior.</a:t>
            </a:r>
          </a:p>
          <a:p>
            <a:r>
              <a:t>• 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r>
              <a:t>• 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2A–B. Transfer to 72 and 88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96 bpm, Ronan’s average movement rate was about 96.8 bpm, while at 108 bpm it was about 108.1 bpm. Her repeated actions followed the new sound rates closely despite the lack of explicit training at these particular tempos.</a:t>
            </a:r>
          </a:p>
          <a:p>
            <a:r>
              <a:t>• 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r>
              <a:t>• 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2A–E. Transfer at 96, 108, and 132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movement unfolds continuously, but synchronization analysis needs a clearly specified event. In Ronan’s task, the selected event was the lowest point of the head bob. In the later human comparison, it was the fullest downward extension of the arm.</a:t>
            </a:r>
          </a:p>
          <a:p>
            <a:r>
              <a:t>• 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r>
              <a:t>• The 2025 experiment recorded movements at 240 frames per second. Each frame represented roughly 4 ms, giving much finer timing resolution than ordinary video. Audio from the same recording supplied the sound onsets against which those movement landmarks were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and beat-relative timing.</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r>
              <a:t>• Ronan continued bobbing through the missing beats. The timing relationships of the movements immediately before and after a gap were similar, and she remained coordinated with the sequence rather than restarting the movement in response to the next available sound.</a:t>
            </a:r>
          </a:p>
          <a:p>
            <a:r>
              <a:t>• 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Movement timing around omitted beats.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r>
              <a:t>• Ronan maintained entrained movement under this changed stimulus format. Her continued performance linked the head-bob rhythm to the regular temporal organization of the sequence rather than requiring the original continuous modulation as an indispensable acoustic cue.</a:t>
            </a:r>
          </a:p>
          <a:p>
            <a:r>
              <a:t>• 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silent omissions.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r>
              <a:t>• 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r>
              <a:t>• 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Timing during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r>
              <a:t>• 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r>
              <a:t>• 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Successful timing in two music conditions.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training with Boogie Wonderland at its original tempo, researchers tested modified versions at 104, 117, 124, 137, and 143 bpm. The musical content remained related to the familiar song while the speed of the underlying pulse changed.</a:t>
            </a:r>
          </a:p>
          <a:p>
            <a:r>
              <a:t>• Ronan entrained at all five modified tempos. Successful trials were interspersed with trials using the original version, so transfer required adjusting to the current rate rather than continuing the rate rewarded on every preceding musical presentation.</a:t>
            </a:r>
          </a:p>
          <a:p>
            <a:r>
              <a:t>• 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Transfer across altered Boogie Wonderland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native Boogie Wonderland recording used in training was about 130 bpm. Transfer included slower versions down to 104 bpm and a faster version at 143 bpm, covering changes in both directions rather than only gradual increases in speed.</a:t>
            </a:r>
          </a:p>
          <a:p>
            <a:r>
              <a:t>• Ronan’s average head-bob rates moved with these changes. At the slowest tested musical rate, for example, her mean response was about 103.3 bpm. Repeated movements therefore followed the new pulse rather than remaining near the familiar 130 bpm motor rate.</a:t>
            </a:r>
          </a:p>
          <a:p>
            <a:r>
              <a:t>• 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Movement phases across five musical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r>
              <a:t>• The longer trials included simple stimuli and Boogie Wonderland at several rates. Ronan sustained organized timing across these sequences. Performance was therefore not confined to a short window immediately preceding a predictable reward at the usual trial length.</a:t>
            </a:r>
          </a:p>
          <a:p>
            <a:r>
              <a:t>• 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6C–D. Movement-rate trajectories during extended musical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a:p>
            <a:r>
              <a:t>Embedded recording: Rouse et al. (2016), Supplementary Video 1. Ronan adjusts to phase and tempo changes.</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This is the unmodified original H.264/AAC supplementary MP4, with native display proportions and original timing, scene order, and audio retained.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study revisited Ronan after years of intermittent beat-keeping experience. Her movements were compared at 80, 96, 108, and 120 bpm, using familiar simple stimuli related to those in the original experiments.</a:t>
            </a:r>
          </a:p>
          <a:p>
            <a:r>
              <a:t>• 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r>
              <a:t>• 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Performance at ages 3 and 15 years.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comparisons often contrasted sea-lion head bobs with human button presses. The 2025 experiment instead asked human participants to make a comfortable downward arm motion, bringing the selected movement landmark into alignment with the sound.</a:t>
            </a:r>
          </a:p>
          <a:p>
            <a:r>
              <a:t>• Humans held an arm beyond a panel and kept their gaze on a fixed mark, while the experimenter remained outside the room during trials. Ronan continued to work at her station with humans concealed behind a panel and blind.</a:t>
            </a:r>
          </a:p>
          <a:p>
            <a:r>
              <a:t>• 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downward movement landmarks.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stimulus was a repeated snare-drum sound, different from Ronan’s familiar tonal tracks. Before testing, she received brief exposure at 96 bpm. This introduced the sound itself before the unfamiliar-rate comparisons began.</a:t>
            </a:r>
          </a:p>
          <a:p>
            <a:r>
              <a:t>• Both sea lion and humans then completed the same warm-up presentations and test sequences. The test rates were 112, 120, and 128 bpm. The middle rate was familiar to Ronan, while the two surrounding rates were novel.</a:t>
            </a:r>
          </a:p>
          <a:p>
            <a:r>
              <a:t>• Changing the sound’s acoustic character while preserving regular event timing challenged the response to generalize across timbre as well as tempo. **Timbre** is the sound quality associated with its spectral and temporal structure, distinguishing a snare hit from the earlier paired-tone stimuli.</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Sea-lion and human performance with snare beats.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112 bpm, the snare stimulus was slower than Ronan’s familiar 120 bpm training rate. At 128 bpm, it was faster. Testing on either side of the practiced rate examined whether synchronization remained flexible rather than being confined to that particular learned tempo.</a:t>
            </a:r>
          </a:p>
          <a:p>
            <a:r>
              <a:t>• Ronan produced one head bob for each beat on the tested sequences. Her average performed rates were approximately 113.1, 121.6, and 129.0 bpm for the 112, 120, and 128 bpm stimuli, respectively.</a:t>
            </a:r>
          </a:p>
          <a:p>
            <a:r>
              <a:t>• 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112 bpm row. Performance with a new slow snare tempo.</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**Timbre** is the acoustic quality that distinguishes sounds with similar timing. Cook and colleagues tested Ronan with a snare-drum sound that differed from the frequency-modulated training stimulus. A learned temporal relationship could therefore be expressed with a new acoustic form.</a:t>
            </a:r>
          </a:p>
          <a:p>
            <a:r>
              <a:t>• Before testing, Ronan encountered the snare at 96 bpm during ordinary training. Human participants and Ronan then received matching warm-up presentations, first with the familiar oscillating sound superimposed and then with the snare alone. This preparation reduced disruption by the sound’s novelty without practicing the later unfamiliar rates.</a:t>
            </a:r>
          </a:p>
          <a:p>
            <a:r>
              <a:t>• The test sequences contained 25 equally spaced snare beats at 112, 120, or 128 bpm. The familiar 120 bpm condition and unfamiliar neighboring rates separated recognition of a practiced speed from flexible adjustment of the ongoing movement to an external pulse.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Matched head and arm movement measurements in the UCSC experiment.</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UCSC study compared Ronan’s head bob with a downward arm movement in humans. Both tasks marked the beat with the lowest point of a relatively large movement. Familiar finger tapping would have changed the movement demands as well as the species being compared.</a:t>
            </a:r>
          </a:p>
          <a:p>
            <a:r>
              <a:t>• All subjects heard the same ordered sets of snare stimuli. Sound and movement were captured together, and automated video tracking supplied the movement trajectory. The time between consecutive movement minima measured performed tempo; the position of each minimum relative to a sound measured phase.</a:t>
            </a:r>
          </a:p>
          <a:p>
            <a:r>
              <a:t>• Ronan’s conditioned reinforcer marked the final response and was followed by fish. Humans received a tone marking the trial’s end. Reinforcement maintained the trained animal’s participation while the matched stimuli and movement landmarks made the temporal measurements comparable across the two preparations.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large-amplitude movements timed to sound onset.</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average performed tempos were 113.1, 121.6, and 129.0 bpm for stimuli at 112, 120, and 128 bpm, respectively. The movement rate therefore changed with the sound sequence, including the two tempos she had not practiced. The behavior extended beyond reproducing the familiar 120 bpm action.</a:t>
            </a:r>
          </a:p>
          <a:p>
            <a:r>
              <a:t>• Her average movement phase preceded the sound at 112 and 120 bpm and followed it slightly at 128 bpm. A stable anticipatory movement can preserve an offset from sound onset while remaining coordinated. Rate accuracy and the signed placement of the movement within a cycle describe different features of that coordination.</a:t>
            </a:r>
          </a:p>
          <a:p>
            <a:r>
              <a:t>• Her movement intervals were more consistent than those of the human participants at every tested rate. Average rate, average phase, and consistency produced different individual rankings. The experimental result concerns this matched gross-movement task, with Ronan’s extensive practice contributing to the performance being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Measured sea-lion and human timing across the three test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Cook and colleagues compared Ronan’s early performance at age 3 with later performance at age 15. The same individual and familiar simple sound sequences allowed changes in practiced timing to be examined across a long training history. This is longitudinal evidence rather than a comparison between unrelated animals.</a:t>
            </a:r>
          </a:p>
          <a:p>
            <a:r>
              <a:t>• Later performance combined a movement rate near the target with much smaller offsets between movement minima and sound onsets. Slow stimuli that originally elicited markedly anticipatory movements later produced timing closer to the beat. Precision improved within the repeating cycle as well as in the average repetition rate.</a:t>
            </a:r>
          </a:p>
          <a:p>
            <a:r>
              <a:t>• The earlier 108 bpm condition already had an offset near zero, so improvement depended on the starting condition. Motor learning can refine different components of an acquired action by different amounts. In Ronan, sustained experience refined an auditory–motor skill that transferred to new acoustic forms and neighboring rates.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timing profiles in the same sea lion.</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hyperlink" Target="https://youtu.be/1zZc18B8ZW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29.png"/><Relationship Id="rId5" Type="http://schemas.microsoft.com/office/2007/relationships/media" Target="../media/media1.mp4"/><Relationship Id="rId6" Type="http://schemas.openxmlformats.org/officeDocument/2006/relationships/video" Target="../media/media1.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9.xml"/><Relationship Id="rId4" Type="http://schemas.openxmlformats.org/officeDocument/2006/relationships/hyperlink" Target="https://youtu.be/oen67G5w5S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rhythmic entrainment, auditory–motor coordination, and experimental tests of beat synchronization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trained response is a continuous head bob</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behavioral response was an up-and-down movement of the head and neck, with roughly 10 cm or more of displacement during initial shaping. </a:t>
            </a:r>
            <a:r>
              <a:rPr sz="1600" b="1" i="0">
                <a:solidFill>
                  <a:srgbClr val="3D525C"/>
                </a:solidFill>
                <a:latin typeface="Arial"/>
              </a:rPr>
              <a:t>Shaping</a:t>
            </a:r>
            <a:r>
              <a:rPr sz="1600" b="0" i="0">
                <a:solidFill>
                  <a:srgbClr val="000000"/>
                </a:solidFill>
                <a:latin typeface="Arial"/>
              </a:rPr>
              <a:t> rewards successive approximations to a target action rather than waiting for the complete action to occur immediately.</a:t>
            </a:r>
          </a:p>
          <a:p>
            <a:pPr algn="l">
              <a:lnSpc>
                <a:spcPct val="108000"/>
              </a:lnSpc>
              <a:spcAft>
                <a:spcPts val="960"/>
              </a:spcAft>
            </a:pPr>
            <a:r>
              <a:rPr sz="1600" b="0" i="0">
                <a:solidFill>
                  <a:srgbClr val="000000"/>
                </a:solidFill>
                <a:latin typeface="Arial"/>
              </a:rPr>
              <a:t>Ronan first learned to bob in response to a visual cue. A brief whistle, previously associated with food, marked the rewarded behavior. The whistle was followed by a capelin, allowing the trainer to identify the successful action precisely before delivering food.</a:t>
            </a:r>
          </a:p>
          <a:p>
            <a:pPr algn="l">
              <a:lnSpc>
                <a:spcPct val="108000"/>
              </a:lnSpc>
              <a:spcAft>
                <a:spcPts val="960"/>
              </a:spcAft>
            </a:pPr>
            <a:r>
              <a:rPr sz="1600" b="0" i="0">
                <a:solidFill>
                  <a:srgbClr val="000000"/>
                </a:solidFill>
                <a:latin typeface="Arial"/>
              </a:rPr>
              <a:t>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p:txBody>
      </p:sp>
      <p:pic>
        <p:nvPicPr>
          <p:cNvPr id="4" name="Picture 3" descr="Cook2013_f6ab.png"/>
          <p:cNvPicPr>
            <a:picLocks noChangeAspect="1"/>
          </p:cNvPicPr>
          <p:nvPr/>
        </p:nvPicPr>
        <p:blipFill>
          <a:blip r:embed="rId2"/>
          <a:stretch>
            <a:fillRect/>
          </a:stretch>
        </p:blipFill>
        <p:spPr>
          <a:xfrm>
            <a:off x="6504127" y="1280160"/>
            <a:ext cx="5120640" cy="3152907"/>
          </a:xfrm>
          <a:prstGeom prst="rect">
            <a:avLst/>
          </a:prstGeom>
        </p:spPr>
      </p:pic>
      <p:sp>
        <p:nvSpPr>
          <p:cNvPr id="5" name="Figure caption"/>
          <p:cNvSpPr txBox="1"/>
          <p:nvPr/>
        </p:nvSpPr>
        <p:spPr>
          <a:xfrm>
            <a:off x="6504127" y="45245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6A–B. Successive movement rates during extended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blind separates sound cues from trainer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 rested her foreflippers on a station while facing a wooden panel. This position left her head free to move. A reward assistant sat beyond the panel, and the experimenter watched from behind a separate blind to the animal’s side.</a:t>
            </a:r>
          </a:p>
          <a:p>
            <a:pPr algn="l">
              <a:lnSpc>
                <a:spcPct val="108000"/>
              </a:lnSpc>
              <a:spcAft>
                <a:spcPts val="960"/>
              </a:spcAft>
            </a:pPr>
            <a:r>
              <a:rPr sz="1600" b="0" i="0">
                <a:solidFill>
                  <a:srgbClr val="000000"/>
                </a:solidFill>
                <a:latin typeface="Arial"/>
              </a:rPr>
              <a:t>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pPr algn="l">
              <a:lnSpc>
                <a:spcPct val="108000"/>
              </a:lnSpc>
              <a:spcAft>
                <a:spcPts val="960"/>
              </a:spcAft>
            </a:pPr>
            <a:r>
              <a:rPr sz="1600" b="0" i="0">
                <a:solidFill>
                  <a:srgbClr val="000000"/>
                </a:solidFill>
                <a:latin typeface="Arial"/>
              </a:rPr>
              <a:t>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p:txBody>
      </p:sp>
      <p:pic>
        <p:nvPicPr>
          <p:cNvPr id="4" name="Picture 3" descr="Cook2013_f1.png"/>
          <p:cNvPicPr>
            <a:picLocks noChangeAspect="1"/>
          </p:cNvPicPr>
          <p:nvPr/>
        </p:nvPicPr>
        <p:blipFill>
          <a:blip r:embed="rId2"/>
          <a:stretch>
            <a:fillRect/>
          </a:stretch>
        </p:blipFill>
        <p:spPr>
          <a:xfrm>
            <a:off x="6818758" y="1280160"/>
            <a:ext cx="44913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 Timing distributions for spontaneous and trained tests.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Rewarding speed alone produces variable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pPr algn="l">
              <a:lnSpc>
                <a:spcPct val="108000"/>
              </a:lnSpc>
              <a:spcAft>
                <a:spcPts val="960"/>
              </a:spcAft>
            </a:pPr>
            <a:r>
              <a:rPr sz="1600" b="0" i="0">
                <a:solidFill>
                  <a:srgbClr val="000000"/>
                </a:solidFill>
                <a:latin typeface="Arial"/>
              </a:rPr>
              <a:t>The trainers then separated the two tempos into different sessions and changed the criterion. Ronan was rewarded for bringing her head down on a beat, initially for a single movement. The required run was gradually increased to 20 consecutive synchronized movements.</a:t>
            </a:r>
          </a:p>
          <a:p>
            <a:pPr algn="l">
              <a:lnSpc>
                <a:spcPct val="108000"/>
              </a:lnSpc>
              <a:spcAft>
                <a:spcPts val="960"/>
              </a:spcAft>
            </a:pPr>
            <a:r>
              <a:rPr sz="1600" b="0" i="0">
                <a:solidFill>
                  <a:srgbClr val="000000"/>
                </a:solidFill>
                <a:latin typeface="Arial"/>
              </a:rPr>
              <a:t>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performance across familiar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Training two rates supports transfer to new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Ronan’s training used 80 and 120 bpm, but her transfer tests included 72, 88, 96, 108, and 132 bpm. </a:t>
            </a:r>
            <a:r>
              <a:rPr sz="1600" b="1" i="0">
                <a:solidFill>
                  <a:srgbClr val="3D525C"/>
                </a:solidFill>
                <a:latin typeface="Arial"/>
              </a:rPr>
              <a:t>Transfer</a:t>
            </a:r>
            <a:r>
              <a:rPr sz="1600" b="0" i="0">
                <a:solidFill>
                  <a:srgbClr val="000000"/>
                </a:solidFill>
                <a:latin typeface="Arial"/>
              </a:rPr>
              <a:t> means applying an acquired behavior to a stimulus condition that was not explicitly used to teach that behavior.</a:t>
            </a:r>
          </a:p>
          <a:p>
            <a:pPr algn="l">
              <a:lnSpc>
                <a:spcPct val="108000"/>
              </a:lnSpc>
              <a:spcAft>
                <a:spcPts val="960"/>
              </a:spcAft>
            </a:pPr>
            <a:r>
              <a:rPr sz="1600" b="0" i="0">
                <a:solidFill>
                  <a:srgbClr val="000000"/>
                </a:solidFill>
                <a:latin typeface="Arial"/>
              </a:rPr>
              <a:t>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pPr algn="l">
              <a:lnSpc>
                <a:spcPct val="108000"/>
              </a:lnSpc>
              <a:spcAft>
                <a:spcPts val="960"/>
              </a:spcAft>
            </a:pPr>
            <a:r>
              <a:rPr sz="1600" b="0" i="0">
                <a:solidFill>
                  <a:srgbClr val="000000"/>
                </a:solidFill>
                <a:latin typeface="Arial"/>
              </a:rPr>
              <a:t>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p:txBody>
      </p:sp>
      <p:pic>
        <p:nvPicPr>
          <p:cNvPr id="4" name="Picture 3" descr="Cook2013_f2ab.png"/>
          <p:cNvPicPr>
            <a:picLocks noChangeAspect="1"/>
          </p:cNvPicPr>
          <p:nvPr/>
        </p:nvPicPr>
        <p:blipFill>
          <a:blip r:embed="rId2"/>
          <a:stretch>
            <a:fillRect/>
          </a:stretch>
        </p:blipFill>
        <p:spPr>
          <a:xfrm>
            <a:off x="6504127" y="1280160"/>
            <a:ext cx="5120640" cy="2443824"/>
          </a:xfrm>
          <a:prstGeom prst="rect">
            <a:avLst/>
          </a:prstGeom>
        </p:spPr>
      </p:pic>
      <p:sp>
        <p:nvSpPr>
          <p:cNvPr id="5" name="Figure caption"/>
          <p:cNvSpPr txBox="1"/>
          <p:nvPr/>
        </p:nvSpPr>
        <p:spPr>
          <a:xfrm>
            <a:off x="6504127" y="38154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2A–B. Transfer to 72 and 88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tempos change the movement–sound relationship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96 bpm, Ronan’s average movement rate was about 96.8 bpm, while at 108 bpm it was about 108.1 bpm. Her repeated actions followed the new sound rates closely despite the lack of explicit training at these particular tempos.</a:t>
            </a:r>
          </a:p>
          <a:p>
            <a:pPr algn="l">
              <a:lnSpc>
                <a:spcPct val="108000"/>
              </a:lnSpc>
              <a:spcAft>
                <a:spcPts val="1019"/>
              </a:spcAft>
            </a:pPr>
            <a:r>
              <a:rPr sz="1700" b="0" i="0">
                <a:solidFill>
                  <a:srgbClr val="000000"/>
                </a:solidFill>
                <a:latin typeface="Arial"/>
              </a:rPr>
              <a:t>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pPr algn="l">
              <a:lnSpc>
                <a:spcPct val="108000"/>
              </a:lnSpc>
              <a:spcAft>
                <a:spcPts val="1019"/>
              </a:spcAft>
            </a:pPr>
            <a:r>
              <a:rPr sz="1700" b="0" i="0">
                <a:solidFill>
                  <a:srgbClr val="000000"/>
                </a:solidFill>
                <a:latin typeface="Arial"/>
              </a:rPr>
              <a:t>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2A–E. Transfer at 96, 108, and 132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Movement landmarks make synchronization measurable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movement unfolds continuously, but synchronization analysis needs a clearly specified event. In Ronan’s task, the selected event was the lowest point of the head bob. In the later human comparison, it was the fullest downward extension of the arm.</a:t>
            </a:r>
          </a:p>
          <a:p>
            <a:pPr algn="l">
              <a:lnSpc>
                <a:spcPct val="108000"/>
              </a:lnSpc>
              <a:spcAft>
                <a:spcPts val="960"/>
              </a:spcAft>
            </a:pPr>
            <a:r>
              <a:rPr sz="1600" b="0" i="0">
                <a:solidFill>
                  <a:srgbClr val="000000"/>
                </a:solidFill>
                <a:latin typeface="Arial"/>
              </a:rPr>
              <a:t>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pPr algn="l">
              <a:lnSpc>
                <a:spcPct val="108000"/>
              </a:lnSpc>
              <a:spcAft>
                <a:spcPts val="960"/>
              </a:spcAft>
            </a:pPr>
            <a:r>
              <a:rPr sz="1600" b="0" i="0">
                <a:solidFill>
                  <a:srgbClr val="000000"/>
                </a:solidFill>
                <a:latin typeface="Arial"/>
              </a:rPr>
              <a:t>The 2025 experiment recorded movements at 240 frames per second. Each frame represented roughly 4 ms, giving much finer timing resolution than ordinary video. Audio from the same recording supplied the sound onsets against which those movement landmarks were measured.</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and beat-relative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missing sound tests continuation of the rhythm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pPr algn="l">
              <a:lnSpc>
                <a:spcPct val="108000"/>
              </a:lnSpc>
              <a:spcAft>
                <a:spcPts val="960"/>
              </a:spcAft>
            </a:pPr>
            <a:r>
              <a:rPr sz="1600" b="0" i="0">
                <a:solidFill>
                  <a:srgbClr val="000000"/>
                </a:solidFill>
                <a:latin typeface="Arial"/>
              </a:rPr>
              <a:t>Ronan continued bobbing through the missing beats. The timing relationships of the movements immediately before and after a gap were similar, and she remained coordinated with the sequence rather than restarting the movement in response to the next available sound.</a:t>
            </a:r>
          </a:p>
          <a:p>
            <a:pPr algn="l">
              <a:lnSpc>
                <a:spcPct val="108000"/>
              </a:lnSpc>
              <a:spcAft>
                <a:spcPts val="960"/>
              </a:spcAft>
            </a:pPr>
            <a:r>
              <a:rPr sz="1600" b="0" i="0">
                <a:solidFill>
                  <a:srgbClr val="000000"/>
                </a:solidFill>
                <a:latin typeface="Arial"/>
              </a:rPr>
              <a:t>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Movement timing around omitted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Discrete clicks preserve coordinated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pPr algn="l">
              <a:lnSpc>
                <a:spcPct val="108000"/>
              </a:lnSpc>
              <a:spcAft>
                <a:spcPts val="960"/>
              </a:spcAft>
            </a:pPr>
            <a:r>
              <a:rPr sz="1600" b="0" i="0">
                <a:solidFill>
                  <a:srgbClr val="000000"/>
                </a:solidFill>
                <a:latin typeface="Arial"/>
              </a:rPr>
              <a:t>Ronan maintained entrained movement under this changed stimulus format. Her continued performance linked the head-bob rhythm to the regular temporal organization of the sequence rather than requiring the original continuous modulation as an indispensable acoustic cue.</a:t>
            </a:r>
          </a:p>
          <a:p>
            <a:pPr algn="l">
              <a:lnSpc>
                <a:spcPct val="108000"/>
              </a:lnSpc>
              <a:spcAft>
                <a:spcPts val="960"/>
              </a:spcAft>
            </a:pPr>
            <a:r>
              <a:rPr sz="1600" b="0" i="0">
                <a:solidFill>
                  <a:srgbClr val="000000"/>
                </a:solidFill>
                <a:latin typeface="Arial"/>
              </a:rPr>
              <a:t>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silent omissions.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introduces several competing sound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pPr algn="l">
              <a:lnSpc>
                <a:spcPct val="108000"/>
              </a:lnSpc>
              <a:spcAft>
                <a:spcPts val="960"/>
              </a:spcAft>
            </a:pPr>
            <a:r>
              <a:rPr sz="1600" b="0" i="0">
                <a:solidFill>
                  <a:srgbClr val="000000"/>
                </a:solidFill>
                <a:latin typeface="Arial"/>
              </a:rPr>
              <a:t>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pPr algn="l">
              <a:lnSpc>
                <a:spcPct val="108000"/>
              </a:lnSpc>
              <a:spcAft>
                <a:spcPts val="960"/>
              </a:spcAft>
            </a:pPr>
            <a:r>
              <a:rPr sz="1600" b="0" i="0">
                <a:solidFill>
                  <a:srgbClr val="000000"/>
                </a:solidFill>
                <a:latin typeface="Arial"/>
              </a:rPr>
              <a:t>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Timing during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Prior exposure and reinforcement are different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pPr algn="l">
              <a:lnSpc>
                <a:spcPct val="108000"/>
              </a:lnSpc>
              <a:spcAft>
                <a:spcPts val="960"/>
              </a:spcAft>
            </a:pPr>
            <a:r>
              <a:rPr sz="1600" b="0" i="0">
                <a:solidFill>
                  <a:srgbClr val="000000"/>
                </a:solidFill>
                <a:latin typeface="Arial"/>
              </a:rPr>
              <a:t>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pPr algn="l">
              <a:lnSpc>
                <a:spcPct val="108000"/>
              </a:lnSpc>
              <a:spcAft>
                <a:spcPts val="960"/>
              </a:spcAft>
            </a:pPr>
            <a:r>
              <a:rPr sz="1600" b="0" i="0">
                <a:solidFill>
                  <a:srgbClr val="000000"/>
                </a:solidFill>
                <a:latin typeface="Arial"/>
              </a:rPr>
              <a:t>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Successful timing in two music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Changing a song’s speed tests flexible pulse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training with Boogie Wonderland at its original tempo, researchers tested modified versions at 104, 117, 124, 137, and 143 bpm. The musical content remained related to the familiar song while the speed of the underlying pulse changed.</a:t>
            </a:r>
          </a:p>
          <a:p>
            <a:pPr algn="l">
              <a:lnSpc>
                <a:spcPct val="108000"/>
              </a:lnSpc>
              <a:spcAft>
                <a:spcPts val="960"/>
              </a:spcAft>
            </a:pPr>
            <a:r>
              <a:rPr sz="1600" b="0" i="0">
                <a:solidFill>
                  <a:srgbClr val="000000"/>
                </a:solidFill>
                <a:latin typeface="Arial"/>
              </a:rPr>
              <a:t>Ronan entrained at all five modified tempos. Successful trials were interspersed with trials using the original version, so transfer required adjusting to the current rate rather than continuing the rate rewarded on every preceding musical presentation.</a:t>
            </a:r>
          </a:p>
          <a:p>
            <a:pPr algn="l">
              <a:lnSpc>
                <a:spcPct val="108000"/>
              </a:lnSpc>
              <a:spcAft>
                <a:spcPts val="960"/>
              </a:spcAft>
            </a:pPr>
            <a:r>
              <a:rPr sz="1600" b="0" i="0">
                <a:solidFill>
                  <a:srgbClr val="000000"/>
                </a:solidFill>
                <a:latin typeface="Arial"/>
              </a:rPr>
              <a:t>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Transfer across altered Boogie Wonderland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transfer spans both slower and faster versions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native Boogie Wonderland recording used in training was about 130 bpm. Transfer included slower versions down to 104 bpm and a faster version at 143 bpm, covering changes in both directions rather than only gradual increases in speed.</a:t>
            </a:r>
          </a:p>
          <a:p>
            <a:pPr algn="l">
              <a:lnSpc>
                <a:spcPct val="108000"/>
              </a:lnSpc>
              <a:spcAft>
                <a:spcPts val="960"/>
              </a:spcAft>
            </a:pPr>
            <a:r>
              <a:rPr sz="1600" b="0" i="0">
                <a:solidFill>
                  <a:srgbClr val="000000"/>
                </a:solidFill>
                <a:latin typeface="Arial"/>
              </a:rPr>
              <a:t>Ronan’s average head-bob rates moved with these changes. At the slowest tested musical rate, for example, her mean response was about 103.3 bpm. Repeated movements therefore followed the new pulse rather than remaining near the familiar 130 bpm motor rate.</a:t>
            </a:r>
          </a:p>
          <a:p>
            <a:pPr algn="l">
              <a:lnSpc>
                <a:spcPct val="108000"/>
              </a:lnSpc>
              <a:spcAft>
                <a:spcPts val="960"/>
              </a:spcAft>
            </a:pPr>
            <a:r>
              <a:rPr sz="1600" b="0" i="0">
                <a:solidFill>
                  <a:srgbClr val="000000"/>
                </a:solidFill>
                <a:latin typeface="Arial"/>
              </a:rPr>
              <a:t>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Movement phases across five musical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 trials test persistence beyond the usual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pPr algn="l">
              <a:lnSpc>
                <a:spcPct val="108000"/>
              </a:lnSpc>
              <a:spcAft>
                <a:spcPts val="960"/>
              </a:spcAft>
            </a:pPr>
            <a:r>
              <a:rPr sz="1600" b="0" i="0">
                <a:solidFill>
                  <a:srgbClr val="000000"/>
                </a:solidFill>
                <a:latin typeface="Arial"/>
              </a:rPr>
              <a:t>The longer trials included simple stimuli and Boogie Wonderland at several rates. Ronan sustained organized timing across these sequences. Performance was therefore not confined to a short window immediately preceding a predictable reward at the usual trial length.</a:t>
            </a:r>
          </a:p>
          <a:p>
            <a:pPr algn="l">
              <a:lnSpc>
                <a:spcPct val="108000"/>
              </a:lnSpc>
              <a:spcAft>
                <a:spcPts val="960"/>
              </a:spcAft>
            </a:pPr>
            <a:r>
              <a:rPr sz="1600" b="0" i="0">
                <a:solidFill>
                  <a:srgbClr val="000000"/>
                </a:solidFill>
                <a:latin typeface="Arial"/>
              </a:rPr>
              <a:t>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p:txBody>
      </p:sp>
      <p:pic>
        <p:nvPicPr>
          <p:cNvPr id="4" name="Picture 3" descr="Cook2013_f6cd.png"/>
          <p:cNvPicPr>
            <a:picLocks noChangeAspect="1"/>
          </p:cNvPicPr>
          <p:nvPr/>
        </p:nvPicPr>
        <p:blipFill>
          <a:blip r:embed="rId2"/>
          <a:stretch>
            <a:fillRect/>
          </a:stretch>
        </p:blipFill>
        <p:spPr>
          <a:xfrm>
            <a:off x="6504127" y="1280160"/>
            <a:ext cx="5120640" cy="3099633"/>
          </a:xfrm>
          <a:prstGeom prst="rect">
            <a:avLst/>
          </a:prstGeom>
        </p:spPr>
      </p:pic>
      <p:sp>
        <p:nvSpPr>
          <p:cNvPr id="5" name="Figure caption"/>
          <p:cNvSpPr txBox="1"/>
          <p:nvPr/>
        </p:nvSpPr>
        <p:spPr>
          <a:xfrm>
            <a:off x="6504127" y="44712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6C–D. Movement-rate trajectories during extended musical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a:hlinkClick r:id="rId4"/>
          </p:cNvPr>
          <p:cNvPicPr>
            <a:picLocks noChangeAspect="1"/>
          </p:cNvPicPr>
          <p:nvPr/>
        </p:nvPicPr>
        <p:blipFill>
          <a:blip r:embed="rId2"/>
          <a:stretch>
            <a:fillRect/>
          </a:stretch>
        </p:blipFill>
        <p:spPr>
          <a:xfrm>
            <a:off x="6504127" y="1280160"/>
            <a:ext cx="5120640" cy="3194062"/>
          </a:xfrm>
          <a:prstGeom prst="rect">
            <a:avLst/>
          </a:prstGeom>
        </p:spPr>
      </p:pic>
      <p:sp>
        <p:nvSpPr>
          <p:cNvPr id="5" name="Figure caption"/>
          <p:cNvSpPr txBox="1"/>
          <p:nvPr/>
        </p:nvSpPr>
        <p:spPr>
          <a:xfrm>
            <a:off x="6504127" y="4565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phase perturbation</a:t>
            </a:r>
            <a:r>
              <a:rPr sz="1600" b="0" i="0">
                <a:solidFill>
                  <a:srgbClr val="000000"/>
                </a:solidFill>
                <a:latin typeface="Arial"/>
              </a:rPr>
              <a:t> shifts where the sound sequence falls in time while preserving its eventual repetition rate. A </a:t>
            </a:r>
            <a:r>
              <a:rPr sz="1600" b="1" i="0">
                <a:solidFill>
                  <a:srgbClr val="3D525C"/>
                </a:solidFill>
                <a:latin typeface="Arial"/>
              </a:rPr>
              <a:t>tempo perturbation</a:t>
            </a:r>
            <a:r>
              <a:rPr sz="16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60"/>
              </a:spcAft>
            </a:pPr>
            <a:r>
              <a:rPr sz="16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60"/>
              </a:spcAft>
            </a:pPr>
            <a:r>
              <a:rPr sz="1600" b="0" i="0">
                <a:solidFill>
                  <a:srgbClr val="000000"/>
                </a:solidFill>
                <a:latin typeface="Arial"/>
              </a:rPr>
              <a:t>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921308" y="1234440"/>
            <a:ext cx="428079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Supplementary Video 1. Ronan adjusts to phase and tempo changes.</a:t>
            </a:r>
          </a:p>
        </p:txBody>
      </p:sp>
      <p:pic>
        <p:nvPicPr>
          <p:cNvPr id="10" name="Static video fallback" descr="Rouse2016_Video1.png"/>
          <p:cNvPicPr>
            <a:picLocks noChangeAspect="1"/>
          </p:cNvPicPr>
          <p:nvPr/>
        </p:nvPicPr>
        <p:blipFill>
          <a:blip r:embed="rId4"/>
          <a:stretch>
            <a:fillRect/>
          </a:stretch>
        </p:blipFill>
        <p:spPr>
          <a:xfrm>
            <a:off x="7150131" y="3675887"/>
            <a:ext cx="3823144" cy="2148840"/>
          </a:xfrm>
          <a:prstGeom prst="rect">
            <a:avLst/>
          </a:prstGeom>
        </p:spPr>
      </p:pic>
      <p:pic>
        <p:nvPicPr>
          <p:cNvPr id="11" name="Rouse2016_Video1.mp4" descr="Rouse et al. (2016), Supplementary Video 1. Ronan adjusts to phase and tempo chang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640787"/>
          </a:xfrm>
          <a:prstGeom prst="rect">
            <a:avLst/>
          </a:prstGeom>
        </p:spPr>
      </p:pic>
      <p:sp>
        <p:nvSpPr>
          <p:cNvPr id="5" name="Figure caption"/>
          <p:cNvSpPr txBox="1"/>
          <p:nvPr/>
        </p:nvSpPr>
        <p:spPr>
          <a:xfrm>
            <a:off x="6504127" y="4012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Experience changes the animal’s synchronization profile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study revisited Ronan after years of intermittent beat-keeping experience. Her movements were compared at 80, 96, 108, and 120 bpm, using familiar simple stimuli related to those in the original experiments.</a:t>
            </a:r>
          </a:p>
          <a:p>
            <a:pPr algn="l">
              <a:lnSpc>
                <a:spcPct val="108000"/>
              </a:lnSpc>
              <a:spcAft>
                <a:spcPts val="960"/>
              </a:spcAft>
            </a:pPr>
            <a:r>
              <a:rPr sz="1600" b="0" i="0">
                <a:solidFill>
                  <a:srgbClr val="000000"/>
                </a:solidFill>
                <a:latin typeface="Arial"/>
              </a:rPr>
              <a:t>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pPr algn="l">
              <a:lnSpc>
                <a:spcPct val="108000"/>
              </a:lnSpc>
              <a:spcAft>
                <a:spcPts val="960"/>
              </a:spcAft>
            </a:pPr>
            <a:r>
              <a:rPr sz="1600" b="0" i="0">
                <a:solidFill>
                  <a:srgbClr val="000000"/>
                </a:solidFill>
                <a:latin typeface="Arial"/>
              </a:rPr>
              <a:t>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Performance at ages 3 and 15 years.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human task matches a large-amplitude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Earlier comparisons often contrasted sea-lion head bobs with human button presses. The 2025 experiment instead asked human participants to make a comfortable downward arm motion, bringing the selected movement landmark into alignment with the sound.</a:t>
            </a:r>
          </a:p>
          <a:p>
            <a:pPr algn="l">
              <a:lnSpc>
                <a:spcPct val="108000"/>
              </a:lnSpc>
              <a:spcAft>
                <a:spcPts val="960"/>
              </a:spcAft>
            </a:pPr>
            <a:r>
              <a:rPr sz="1600" b="0" i="0">
                <a:solidFill>
                  <a:srgbClr val="000000"/>
                </a:solidFill>
                <a:latin typeface="Arial"/>
              </a:rPr>
              <a:t>Humans held an arm beyond a panel and kept their gaze on a fixed mark, while the experimenter remained outside the room during trials. Ronan continued to work at her station with humans concealed behind a panel and blind.</a:t>
            </a:r>
          </a:p>
          <a:p>
            <a:pPr algn="l">
              <a:lnSpc>
                <a:spcPct val="108000"/>
              </a:lnSpc>
              <a:spcAft>
                <a:spcPts val="960"/>
              </a:spcAft>
            </a:pPr>
            <a:r>
              <a:rPr sz="1600" b="0" i="0">
                <a:solidFill>
                  <a:srgbClr val="000000"/>
                </a:solidFill>
                <a:latin typeface="Arial"/>
              </a:rPr>
              <a:t>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downward movement landmarks.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novel sound tests coordination beyond tonal tracks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comparison stimulus was a repeated snare-drum sound, different from Ronan’s familiar tonal tracks. Before testing, she received brief exposure at 96 bpm. This introduced the sound itself before the unfamiliar-rate comparisons began.</a:t>
            </a:r>
          </a:p>
          <a:p>
            <a:pPr algn="l">
              <a:lnSpc>
                <a:spcPct val="108000"/>
              </a:lnSpc>
              <a:spcAft>
                <a:spcPts val="1019"/>
              </a:spcAft>
            </a:pPr>
            <a:r>
              <a:rPr sz="1700" b="0" i="0">
                <a:solidFill>
                  <a:srgbClr val="000000"/>
                </a:solidFill>
                <a:latin typeface="Arial"/>
              </a:rPr>
              <a:t>Both sea lion and humans then completed the same warm-up presentations and test sequences. The test rates were 112, 120, and 128 bpm. The middle rate was familiar to Ronan, while the two surrounding rates were novel.</a:t>
            </a:r>
          </a:p>
          <a:p>
            <a:pPr algn="l">
              <a:lnSpc>
                <a:spcPct val="108000"/>
              </a:lnSpc>
              <a:spcAft>
                <a:spcPts val="1019"/>
              </a:spcAft>
            </a:pPr>
            <a:r>
              <a:rPr sz="1700" b="0" i="0">
                <a:solidFill>
                  <a:srgbClr val="000000"/>
                </a:solidFill>
                <a:latin typeface="Arial"/>
              </a:rPr>
              <a:t>Changing the sound’s acoustic character while preserving regular event timing challenged the response to generalize across timbre as well as tempo. </a:t>
            </a:r>
            <a:r>
              <a:rPr sz="1700" b="1" i="0">
                <a:solidFill>
                  <a:srgbClr val="3D525C"/>
                </a:solidFill>
                <a:latin typeface="Arial"/>
              </a:rPr>
              <a:t>Timbre</a:t>
            </a:r>
            <a:r>
              <a:rPr sz="1700" b="0" i="0">
                <a:solidFill>
                  <a:srgbClr val="000000"/>
                </a:solidFill>
                <a:latin typeface="Arial"/>
              </a:rPr>
              <a:t> is the sound quality associated with its spectral and temporal structure, distinguishing a snare hit from the earlier paired-tone stimuli.</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Sea-lion and human performance with snare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rates flank a familiar training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112 bpm, the snare stimulus was slower than Ronan’s familiar 120 bpm training rate. At 128 bpm, it was faster. Testing on either side of the practiced rate examined whether synchronization remained flexible rather than being confined to that particular learned tempo.</a:t>
            </a:r>
          </a:p>
          <a:p>
            <a:pPr algn="l">
              <a:lnSpc>
                <a:spcPct val="108000"/>
              </a:lnSpc>
              <a:spcAft>
                <a:spcPts val="1019"/>
              </a:spcAft>
            </a:pPr>
            <a:r>
              <a:rPr sz="1700" b="0" i="0">
                <a:solidFill>
                  <a:srgbClr val="000000"/>
                </a:solidFill>
                <a:latin typeface="Arial"/>
              </a:rPr>
              <a:t>Ronan produced one head bob for each beat on the tested sequences. Her average performed rates were approximately 113.1, 121.6, and 129.0 bpm for the 112, 120, and 128 bpm stimuli, respectively.</a:t>
            </a:r>
          </a:p>
          <a:p>
            <a:pPr algn="l">
              <a:lnSpc>
                <a:spcPct val="108000"/>
              </a:lnSpc>
              <a:spcAft>
                <a:spcPts val="1019"/>
              </a:spcAft>
            </a:pPr>
            <a:r>
              <a:rPr sz="1700" b="0" i="0">
                <a:solidFill>
                  <a:srgbClr val="000000"/>
                </a:solidFill>
                <a:latin typeface="Arial"/>
              </a:rPr>
              <a:t>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p:txBody>
      </p:sp>
      <p:pic>
        <p:nvPicPr>
          <p:cNvPr id="4" name="Picture 3" descr="PMC12045976_f3bottom.png"/>
          <p:cNvPicPr>
            <a:picLocks noChangeAspect="1"/>
          </p:cNvPicPr>
          <p:nvPr/>
        </p:nvPicPr>
        <p:blipFill>
          <a:blip r:embed="rId2"/>
          <a:stretch>
            <a:fillRect/>
          </a:stretch>
        </p:blipFill>
        <p:spPr>
          <a:xfrm>
            <a:off x="6504127" y="1280160"/>
            <a:ext cx="5120640" cy="1151284"/>
          </a:xfrm>
          <a:prstGeom prst="rect">
            <a:avLst/>
          </a:prstGeom>
        </p:spPr>
      </p:pic>
      <p:sp>
        <p:nvSpPr>
          <p:cNvPr id="5" name="Figure caption"/>
          <p:cNvSpPr txBox="1"/>
          <p:nvPr/>
        </p:nvSpPr>
        <p:spPr>
          <a:xfrm>
            <a:off x="6504127" y="252288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112 bpm row. Performance with a new slow snare tempo.</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a:hlinkClick r:id="rId4"/>
          </p:cNvPr>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7490688" y="1280160"/>
            <a:ext cx="31475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7490688" y="1280160"/>
            <a:ext cx="31475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682771" y="1280160"/>
            <a:ext cx="476335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new sound separates timbre from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Timbre</a:t>
            </a:r>
            <a:r>
              <a:rPr sz="1600" b="0" i="0">
                <a:solidFill>
                  <a:srgbClr val="000000"/>
                </a:solidFill>
                <a:latin typeface="Arial"/>
              </a:rPr>
              <a:t> is the acoustic quality that distinguishes sounds with similar timing. Cook and colleagues tested Ronan with a snare-drum sound that differed from the frequency-modulated training stimulus. A learned temporal relationship could therefore be expressed with a new acoustic form.</a:t>
            </a:r>
          </a:p>
          <a:p>
            <a:pPr algn="l">
              <a:lnSpc>
                <a:spcPct val="108000"/>
              </a:lnSpc>
              <a:spcAft>
                <a:spcPts val="960"/>
              </a:spcAft>
            </a:pPr>
            <a:r>
              <a:rPr sz="1600" b="0" i="0">
                <a:solidFill>
                  <a:srgbClr val="000000"/>
                </a:solidFill>
                <a:latin typeface="Arial"/>
              </a:rPr>
              <a:t>Before testing, Ronan encountered the snare at 96 bpm during ordinary training. Human participants and Ronan then received matching warm-up presentations, first with the familiar oscillating sound superimposed and then with the snare alone. This preparation reduced disruption by the sound’s novelty without practicing the later unfamiliar rates.</a:t>
            </a:r>
          </a:p>
          <a:p>
            <a:pPr algn="l">
              <a:lnSpc>
                <a:spcPct val="108000"/>
              </a:lnSpc>
              <a:spcAft>
                <a:spcPts val="960"/>
              </a:spcAft>
            </a:pPr>
            <a:r>
              <a:rPr sz="1600" b="0" i="0">
                <a:solidFill>
                  <a:srgbClr val="000000"/>
                </a:solidFill>
                <a:latin typeface="Arial"/>
              </a:rPr>
              <a:t>The test sequences contained 25 equally spaced snare beats at 112, 120, or 128 bpm. The familiar 120 bpm condition and unfamiliar neighboring rates separated recognition of a practiced speed from flexible adjustment of the ongoing movement to an external pulse.</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Matched head and arm movement measurements in the UCSC experiment.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UCSC comparison matches the movement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UCSC study compared Ronan’s head bob with a downward arm movement in humans. Both tasks marked the beat with the lowest point of a relatively large movement. Familiar finger tapping would have changed the movement demands as well as the species being compared.</a:t>
            </a:r>
          </a:p>
          <a:p>
            <a:pPr algn="l">
              <a:lnSpc>
                <a:spcPct val="108000"/>
              </a:lnSpc>
              <a:spcAft>
                <a:spcPts val="960"/>
              </a:spcAft>
            </a:pPr>
            <a:r>
              <a:rPr sz="1600" b="0" i="0">
                <a:solidFill>
                  <a:srgbClr val="000000"/>
                </a:solidFill>
                <a:latin typeface="Arial"/>
              </a:rPr>
              <a:t>All subjects heard the same ordered sets of snare stimuli. Sound and movement were captured together, and automated video tracking supplied the movement trajectory. The time between consecutive movement minima measured performed tempo; the position of each minimum relative to a sound measured phase.</a:t>
            </a:r>
          </a:p>
          <a:p>
            <a:pPr algn="l">
              <a:lnSpc>
                <a:spcPct val="108000"/>
              </a:lnSpc>
              <a:spcAft>
                <a:spcPts val="960"/>
              </a:spcAft>
            </a:pPr>
            <a:r>
              <a:rPr sz="1600" b="0" i="0">
                <a:solidFill>
                  <a:srgbClr val="000000"/>
                </a:solidFill>
                <a:latin typeface="Arial"/>
              </a:rPr>
              <a:t>Ronan’s conditioned reinforcer marked the final response and was followed by fish. Humans received a tone marking the trial’s end. Reinforcement maintained the trained animal’s participation while the matched stimuli and movement landmarks made the temporal measurements comparable across the two preparations.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large-amplitude movements timed to sound onset.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practiced rhythm supports nearby unfamiliar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average performed tempos were 113.1, 121.6, and 129.0 bpm for stimuli at 112, 120, and 128 bpm, respectively. The movement rate therefore changed with the sound sequence, including the two tempos she had not practiced. The behavior extended beyond reproducing the familiar 120 bpm action.</a:t>
            </a:r>
          </a:p>
          <a:p>
            <a:pPr algn="l">
              <a:lnSpc>
                <a:spcPct val="108000"/>
              </a:lnSpc>
              <a:spcAft>
                <a:spcPts val="900"/>
              </a:spcAft>
            </a:pPr>
            <a:r>
              <a:rPr sz="1500" b="0" i="0">
                <a:solidFill>
                  <a:srgbClr val="000000"/>
                </a:solidFill>
                <a:latin typeface="Arial"/>
              </a:rPr>
              <a:t>Her average movement phase preceded the sound at 112 and 120 bpm and followed it slightly at 128 bpm. A stable anticipatory movement can preserve an offset from sound onset while remaining coordinated. Rate accuracy and the signed placement of the movement within a cycle describe different features of that coordination.</a:t>
            </a:r>
          </a:p>
          <a:p>
            <a:pPr algn="l">
              <a:lnSpc>
                <a:spcPct val="108000"/>
              </a:lnSpc>
              <a:spcAft>
                <a:spcPts val="900"/>
              </a:spcAft>
            </a:pPr>
            <a:r>
              <a:rPr sz="1500" b="0" i="0">
                <a:solidFill>
                  <a:srgbClr val="000000"/>
                </a:solidFill>
                <a:latin typeface="Arial"/>
              </a:rPr>
              <a:t>Her movement intervals were more consistent than those of the human participants at every tested rate. Average rate, average phase, and consistency produced different individual rankings. The experimental result concerns this matched gross-movement task, with Ronan’s extensive practice contributing to the performance being measured.</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Measured sea-lion and human timing across the three test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Longitudinal practice changes precision within the cycle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Cook and colleagues compared Ronan’s early performance at age 3 with later performance at age 15. The same individual and familiar simple sound sequences allowed changes in practiced timing to be examined across a long training history. This is longitudinal evidence rather than a comparison between unrelated animals.</a:t>
            </a:r>
          </a:p>
          <a:p>
            <a:pPr algn="l">
              <a:lnSpc>
                <a:spcPct val="108000"/>
              </a:lnSpc>
              <a:spcAft>
                <a:spcPts val="900"/>
              </a:spcAft>
            </a:pPr>
            <a:r>
              <a:rPr sz="1500" b="0" i="0">
                <a:solidFill>
                  <a:srgbClr val="000000"/>
                </a:solidFill>
                <a:latin typeface="Arial"/>
              </a:rPr>
              <a:t>Later performance combined a movement rate near the target with much smaller offsets between movement minima and sound onsets. Slow stimuli that originally elicited markedly anticipatory movements later produced timing closer to the beat. Precision improved within the repeating cycle as well as in the average repetition rate.</a:t>
            </a:r>
          </a:p>
          <a:p>
            <a:pPr algn="l">
              <a:lnSpc>
                <a:spcPct val="108000"/>
              </a:lnSpc>
              <a:spcAft>
                <a:spcPts val="900"/>
              </a:spcAft>
            </a:pPr>
            <a:r>
              <a:rPr sz="1500" b="0" i="0">
                <a:solidFill>
                  <a:srgbClr val="000000"/>
                </a:solidFill>
                <a:latin typeface="Arial"/>
              </a:rPr>
              <a:t>The earlier 108 bpm condition already had an offset near zero, so improvement depended on the starting condition. Motor learning can refine different components of an acquired action by different amounts. In Ronan, sustained experience refined an auditory–motor skill that transferred to new acoustic forms and neighboring rates.</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timing profiles in the same sea lion.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Flexible transfer</a:t>
            </a:r>
            <a:r>
              <a:rPr sz="1600" b="0" i="0">
                <a:solidFill>
                  <a:srgbClr val="000000"/>
                </a:solidFill>
                <a:latin typeface="Arial"/>
              </a:rPr>
              <a:t> Ronan applied trained head bobbing to unfamiliar tempos, new sound forms, and musical pulse sequences.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timing</a:t>
            </a:r>
            <a:r>
              <a:rPr sz="1600" b="0" i="0">
                <a:solidFill>
                  <a:srgbClr val="000000"/>
                </a:solidFill>
                <a:latin typeface="Arial"/>
              </a:rPr>
              <a:t> Continued movement through omitted sounds and anticipatory offsets support timing beyond isolated sound-triggered reactions.</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Corrective dynamics</a:t>
            </a:r>
            <a:r>
              <a:rPr sz="1600" b="0" i="0">
                <a:solidFill>
                  <a:srgbClr val="000000"/>
                </a:solidFill>
                <a:latin typeface="Arial"/>
              </a:rPr>
              <a:t> Phase disturbances change cycle position; persistent tempo disturbances also require adjustment of cycle duration.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on a matched gross-movement task, with results depending on the measured timing dimension.</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Candidate neural computation</a:t>
            </a:r>
            <a:r>
              <a:rPr sz="1500" b="0" i="0">
                <a:solidFill>
                  <a:srgbClr val="000000"/>
                </a:solidFill>
                <a:latin typeface="Arial"/>
              </a:rPr>
              <a:t> Rat recordings and adaptation modeling link intermediate-rate sensitivity to recent sound history; Ronan’s oscillator account describes measured behavioral dynamics.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 2025); Rouse et al. (2016);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rhythmic entrainment, auditory–motor coordination, and experimental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