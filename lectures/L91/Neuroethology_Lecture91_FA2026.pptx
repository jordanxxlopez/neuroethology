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rhythmic entrainment, auditory–motor coordination, and experimental tests of beat synchronization</a:t>
            </a:r>
          </a:p>
          <a:p>
            <a:r>
              <a:t>Lecture 91. NEUR 411 · NEUROETHOLOGY · FALL 2026. Date TBD.</a:t>
            </a:r>
          </a:p>
          <a:p/>
          <a:p>
            <a:r>
              <a:t>Image: Photo: California sea lion Ronan at UC Santa Cruz’s Long Marine Laboratory. Photo by Colleen Reichmuth; NOAA/NMFS 23554. Credit: Colleen Reichmuth, UC Santa Cruz; NOAA/NMFS 23554. License: UC Santa Cruz media download: image must be used with supplied caption, including NOAA/NMFS number; no open license stated. Source: https://news.ucsc.edu/2025/05/ronan-sea-lion-beats-humans/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**Rhythmic entrainment** is the adjustment of a repeating movement to an external rhythm. Ronan, a California sea lion, learned to move her head up and down while hearing regularly spaced sounds. The lowest point of each movement supplied a repeatable timing marker.</a:t>
            </a:r>
          </a:p>
          <a:p>
            <a:r>
              <a:t>• Cook and colleagues trained this behavior at 80 and 120 beats per minute, then tested other rates and musical recordings. A movement that stays aligned across unfamiliar rates requires flexible timing rather than the repetition of one memorized motor speed.</a:t>
            </a:r>
          </a:p>
          <a:p>
            <a:r>
              <a:t>• Ronan lived at the University of California, Santa Cruz. The experimental task underlying her public reputation as a dancing sea lion combined a controlled sound sequence, concealed trainers, video measurements, and food reinforcement for appropriately timed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1C. Head-bob timing after training at 80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 is the repetition rate of the sound sequence, expressed in beats per minute. Matching tempo means producing the same average number of movements per unit time. Two repeating events can share a tempo while occurring at different points within each cycle.</a:t>
            </a:r>
          </a:p>
          <a:p>
            <a:r>
              <a:t>• **Phase**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r>
              <a:t>• At different unfamiliar tempos, Ronan maintained organized phase relationships even when her head reached its lowest point before or after the sound. These offsets distinguish successful coordination with the repeating stimulus from exact coincidence at the beat itself.</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 Movement timing at five unfamiliar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behavioral response was an up-and-down movement of the head and neck, with roughly 10 cm or more of displacement during initial shaping. **Shaping** rewards successive approximations to a target action rather than waiting for the complete action to occur immediately.</a:t>
            </a:r>
          </a:p>
          <a:p>
            <a:r>
              <a:t>• Ronan first learned to bob in response to a visual cue. A brief whistle, previously associated with food, marked the rewarded behavior. The whistle was followed by a capelin, allowing the trainer to identify the successful action precisely before delivering food.</a:t>
            </a:r>
          </a:p>
          <a:p>
            <a:r>
              <a:t>• 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6A–B. Successive movement rates during extended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 rested her foreflippers on a station while facing a wooden panel. This position left her head free to move. A reward assistant sat beyond the panel, and the experimenter watched from behind a separate blind to the animal’s side.</a:t>
            </a:r>
          </a:p>
          <a:p>
            <a:r>
              <a:t>• 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r>
              <a:t>• 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 Timing distributions for spontaneous and trained tests.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r>
              <a:t>• The trainers then separated the two tempos into different sessions and changed the criterion. Ronan was rewarded for bringing her head down on a beat, initially for a single movement. The required run was gradually increased to 20 consecutive synchronized movements.</a:t>
            </a:r>
          </a:p>
          <a:p>
            <a:r>
              <a:t>• 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performance across familiar rates.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training used 80 and 120 bpm, but her transfer tests included 72, 88, 96, 108, and 132 bpm. **Transfer** means applying an acquired behavior to a stimulus condition that was not explicitly used to teach that behavior.</a:t>
            </a:r>
          </a:p>
          <a:p>
            <a:r>
              <a:t>• 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r>
              <a:t>• 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2A–B. Transfer to 72 and 88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96 bpm, Ronan’s average movement rate was about 96.8 bpm, while at 108 bpm it was about 108.1 bpm. Her repeated actions followed the new sound rates closely despite the lack of explicit training at these particular tempos.</a:t>
            </a:r>
          </a:p>
          <a:p>
            <a:r>
              <a:t>• 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r>
              <a:t>• 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2A–E. Transfer at 96, 108, and 132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movement unfolds continuously, but synchronization analysis needs a clearly specified event. In Ronan’s task, the selected event was the lowest point of the head bob. In the later human comparison, it was the fullest downward extension of the arm.</a:t>
            </a:r>
          </a:p>
          <a:p>
            <a:r>
              <a:t>• 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r>
              <a:t>• The 2025 experiment recorded movements at 240 frames per second. Each frame represented roughly 4 ms, giving much finer timing resolution than ordinary video. Audio from the same recording supplied the sound onsets against which those movement landmarks were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Movement trajectories and beat-relative timing.</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r>
              <a:t>• Ronan continued bobbing through the missing beats. The timing relationships of the movements immediately before and after a gap were similar, and she remained coordinated with the sequence rather than restarting the movement in response to the next available sound.</a:t>
            </a:r>
          </a:p>
          <a:p>
            <a:r>
              <a:t>• 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Movement timing around omitted beats.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r>
              <a:t>• Ronan maintained entrained movement under this changed stimulus format. Her continued performance linked the head-bob rhythm to the regular temporal organization of the sequence rather than requiring the original continuous modulation as an indispensable acoustic cue.</a:t>
            </a:r>
          </a:p>
          <a:p>
            <a:r>
              <a:t>• 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Timing before and after silent omissions.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r>
              <a:t>• 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r>
              <a:t>• 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Timing during Everybody and Boogie Wonderland.</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r>
              <a:t>• 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r>
              <a:t>• 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Successful timing in two music conditions.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training with Boogie Wonderland at its original tempo, researchers tested modified versions at 104, 117, 124, 137, and 143 bpm. The musical content remained related to the familiar song while the speed of the underlying pulse changed.</a:t>
            </a:r>
          </a:p>
          <a:p>
            <a:r>
              <a:t>• Ronan entrained at all five modified tempos. Successful trials were interspersed with trials using the original version, so transfer required adjusting to the current rate rather than continuing the rate rewarded on every preceding musical presentation.</a:t>
            </a:r>
          </a:p>
          <a:p>
            <a:r>
              <a:t>• 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Transfer across altered Boogie Wonderland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native Boogie Wonderland recording used in training was about 130 bpm. Transfer included slower versions down to 104 bpm and a faster version at 143 bpm, covering changes in both directions rather than only gradual increases in speed.</a:t>
            </a:r>
          </a:p>
          <a:p>
            <a:r>
              <a:t>• Ronan’s average head-bob rates moved with these changes. At the slowest tested musical rate, for example, her mean response was about 103.3 bpm. Repeated movements therefore followed the new pulse rather than remaining near the familiar 130 bpm motor rate.</a:t>
            </a:r>
          </a:p>
          <a:p>
            <a:r>
              <a:t>• 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Movement phases across five musical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r>
              <a:t>• The longer trials included simple stimuli and Boogie Wonderland at several rates. Ronan sustained organized timing across these sequences. Performance was therefore not confined to a short window immediately preceding a predictable reward at the usual trial length.</a:t>
            </a:r>
          </a:p>
          <a:p>
            <a:r>
              <a:t>• 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6C–D. Movement-rate trajectories during extended musical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r>
              <a:t>• 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r>
              <a:t>• 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6E–F. Extended coordination with music at 137 and 124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**phase perturbation** shifts where the sound sequence falls in time while preserving its eventual repetition rate. A **tempo perturbation** changes the interval between successive sounds. These manipulations challenge different components of an already coordinated movement.</a:t>
            </a:r>
          </a:p>
          <a:p>
            <a:r>
              <a:t>• Rouse and colleagues introduced one unexpected change during a trial, after a stable initial run of beats. Ronan then had to modify the movement she was already producing. The response immediately after the change exposed the dynamics of correction.</a:t>
            </a:r>
          </a:p>
          <a:p>
            <a:r>
              <a:t>• 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Responses to mid-trial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clicks combined tones at 659 and 1319 Hz for 10 ms. Repeating these brief events created a clear temporal sequence. The main baseline rate was 85 bpm, a rate Ronan had not previously encountered in training or testing.</a:t>
            </a:r>
          </a:p>
          <a:p>
            <a:r>
              <a:t>• Perturbations changed a timing interval by 3, 8, 15, or 25 percent in either direction. The change occurred between the sixteenth and twenty-fifth beat, with its position varied across conditions so that a fixed point in the sequence would not predict it.</a:t>
            </a:r>
          </a:p>
          <a:p>
            <a:r>
              <a:t>• At the baseline rate, the normal interval was about 706 ms. Controlled changes to that interval introduced experimentally specified timing errors into a sequence that Ronan was already following, allowing the subsequent head bobs to reveal how she recovered coordination.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distributions before and after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phase-shift trial, a sound occurs earlier or later than expected, but later sounds return to the original spacing. The stimulus’s temporal position changes while its continuing tempo remains fixed, separating an onset-position error from a lasting change in speed.</a:t>
            </a:r>
          </a:p>
          <a:p>
            <a:r>
              <a:t>• Ronan adjusted her head-bob timing after both advances and delays. Her movement regained an organized relationship with the shifted sequence within a few beats, rather than staying locked to the timing established before the perturbation.</a:t>
            </a:r>
          </a:p>
          <a:p>
            <a:r>
              <a:t>• This recovery is **phase correction**, the adjustment of an ongoing cycle’s position relative to an external event. Because the subsequent sound interval returns to baseline, successful recovery can be achieved by a transient movement adjustment without adopting a permanently different repetition rate.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conditions. Timing distributions after phase advances and delays.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 perturbation alters the spacing of every subsequent beat. If the head-bob rhythm kept its original period, the relative position of movement and sound would drift increasingly across the trial, even after the first timing error had been corrected.</a:t>
            </a:r>
          </a:p>
          <a:p>
            <a:r>
              <a:t>• Ronan adapted after all the tested tempo changes. The response had to address the continuing mismatch in cycle duration, not merely the placement of a single unexpectedly early or late sound within an otherwise unchanged sequence.</a:t>
            </a:r>
          </a:p>
          <a:p>
            <a:r>
              <a:t>• 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tempo conditions. Timing distributions after persistent rate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presentation of each perturbation provided a test before repeated experience with that exact change. Ronan retained organized movement relative to the beat after these first encounters, including phase changes and persistent changes in the stimulus interval.</a:t>
            </a:r>
          </a:p>
          <a:p>
            <a:r>
              <a:t>• 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r>
              <a:t>• 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First presentations of timing-perturbation conditions.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r>
              <a:t>• Ronan corrected the disturbance within a few beats. Recovery was a trajectory across successive movements rather than an instantaneous switch from one static state to another. This time course supplied information about the strength and direction of adjustment.</a:t>
            </a:r>
          </a:p>
          <a:p>
            <a:r>
              <a:t>• The published model predicted these transient trajectories using coupling between the sound sequence and the behavioral oscillator. **Coupling** means that the timing of one process changes the state of the other; here, the sound events adjusted the timing of the continuing head-bob cycle.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Beat-by-beat recovery after phase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Following a lasting rate change, Ronan’s initial movement period and the new stimulus period differed. Head movements therefore had to adjust across several cycles to approach a stable relationship with the new continuing sound sequence.</a:t>
            </a:r>
          </a:p>
          <a:p>
            <a:r>
              <a:t>• 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r>
              <a:t>• 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Recovery trajectories following rate shifts.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some large slowing perturbations, the next sound occurred when Ronan’s head was near the high point of a movement rather than its low point. She sometimes made an additional small nod before slowing the broader movement cycle.</a:t>
            </a:r>
          </a:p>
          <a:p>
            <a:r>
              <a:t>• The authors called these responses **double bobs** because two identifiable movements occurred around a beat. Their observation connected the timing disturbance with a specific change in movement form, rather than treating all behavior as identical cycles with only altered timestamps.</a:t>
            </a:r>
          </a:p>
          <a:p>
            <a:r>
              <a:t>• 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Behavioral timing after persistent interval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series of movements can be consistently early, consistently late, or widely scattered around the beat. The average phase describes the center of that relationship, whereas the concentration of phases describes how consistently successive movements occupy that position.</a:t>
            </a:r>
          </a:p>
          <a:p>
            <a:r>
              <a:t>• 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r>
              <a:t>• 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2B. Consistency of beat-relative movement timing.</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r>
              <a:t>• Ronan’s average post-perturbation phase varied systematically with the altered tempo. Slower and faster conditions therefore retained distinct timing positions even when the head movements had regained a consistent relationship with the continuing sequence.</a:t>
            </a:r>
          </a:p>
          <a:p>
            <a:r>
              <a:t>• 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2A. Average offsets after phase and tempo perturbations.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**oscillator** is a process that repeatedly passes through a cycle. The model represented Ronan’s head-bob timing as an oscillator influenced by the recurring auditory events. Its cycle position and repetition period could both change as sounds arrived.</a:t>
            </a:r>
          </a:p>
          <a:p>
            <a:r>
              <a:t>• 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r>
              <a:t>• 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Measured recovery and coupled-oscillator predictions.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model’s **phase-coupling parameter** described how strongly a sound event adjusted the position of the behavioral cycle. Stronger coupling produced a larger correction for a given timing error, allowing the movement to regain a stable relationship over fewer cycles.</a:t>
            </a:r>
          </a:p>
          <a:p>
            <a:r>
              <a:t>• 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r>
              <a:t>• 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4A–C. Fitted phase and period adjustment parameters.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**period** is the duration of one complete movement cycle. Changing the period alters the repetition rate itself. This differs from briefly shifting the cycle’s position while leaving the preferred duration of later cycles unchanged.</a:t>
            </a:r>
          </a:p>
          <a:p>
            <a:r>
              <a:t>• 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r>
              <a:t>• 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Modeled and measured adaptation to new rates.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perturbation series used 85 bpm. Researchers also tested two additional unfamiliar baseline rates, approximately 77.3 and 94.4 bpm, with phase and tempo disturbances. This extended the correction test beyond a single preferred starting rhythm.</a:t>
            </a:r>
          </a:p>
          <a:p>
            <a:r>
              <a:t>• Ronan adapted across the additional baseline conditions as well. The ability to correct an ongoing response therefore generalized both across disturbance types and across the initial rate from which the disturbance was introduced.</a:t>
            </a:r>
          </a:p>
          <a:p>
            <a:r>
              <a:t>• 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Controlled timing perturbations around a baseline rhythm.</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study revisited Ronan after years of intermittent beat-keeping experience. Her movements were compared at 80, 96, 108, and 120 bpm, using familiar simple stimuli related to those in the original experiments.</a:t>
            </a:r>
          </a:p>
          <a:p>
            <a:r>
              <a:t>• 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r>
              <a:t>• 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Performance at ages 3 and 15 years.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Earlier comparisons often contrasted sea-lion head bobs with human button presses. The 2025 experiment instead asked human participants to make a comfortable downward arm motion, bringing the selected movement landmark into alignment with the sound.</a:t>
            </a:r>
          </a:p>
          <a:p>
            <a:r>
              <a:t>• Humans held an arm beyond a panel and kept their gaze on a fixed mark, while the experimenter remained outside the room during trials. Ronan continued to work at her station with humans concealed behind a panel and blind.</a:t>
            </a:r>
          </a:p>
          <a:p>
            <a:r>
              <a:t>• 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downward movement landmarks.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comparison stimulus was a repeated snare-drum sound, different from Ronan’s familiar tonal tracks. Before testing, she received brief exposure at 96 bpm. This introduced the sound itself before the unfamiliar-rate comparisons began.</a:t>
            </a:r>
          </a:p>
          <a:p>
            <a:r>
              <a:t>• Both sea lion and humans then completed the same warm-up presentations and test sequences. The test rates were 112, 120, and 128 bpm. The middle rate was familiar to Ronan, while the two surrounding rates were novel.</a:t>
            </a:r>
          </a:p>
          <a:p>
            <a:r>
              <a:t>• Changing the sound’s acoustic character while preserving regular event timing challenged the response to generalize across timbre as well as tempo. **Timbre** is the sound quality associated with its spectral and temporal structure, distinguishing a snare hit from the earlier paired-tone stimuli.</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Sea-lion and human performance with snare beats.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112 bpm, the snare stimulus was slower than Ronan’s familiar 120 bpm training rate. At 128 bpm, it was faster. Testing on either side of the practiced rate examined whether synchronization remained flexible rather than being confined to that particular learned tempo.</a:t>
            </a:r>
          </a:p>
          <a:p>
            <a:r>
              <a:t>• Ronan produced one head bob for each beat on the tested sequences. Her average performed rates were approximately 113.1, 121.6, and 129.0 bpm for the 112, 120, and 128 bpm stimuli, respectively.</a:t>
            </a:r>
          </a:p>
          <a:p>
            <a:r>
              <a:t>• 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112 bpm row. Performance with a new slow snare tempo.</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asynchrony** occurs when the selected movement landmark precedes the sound. In Ronan’s 2025 snare tests, the average phase at 112 and 120 bpm was negative, while the average at 128 bpm was slightly positive.</a:t>
            </a:r>
          </a:p>
          <a:p>
            <a:r>
              <a:t>• 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r>
              <a:t>• 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120 bpm row. Timing with the familiar-rate snare sequence.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r>
              <a:t>• Ronan’s intervals were more consistent than those of the human participants across the three test rates. Her average tempo or average phase was also closer to the target than that of many participants, but the relative ranking depended on the performance measure.</a:t>
            </a:r>
          </a:p>
          <a:p>
            <a:r>
              <a:t>• 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128 bpm row. Different dimensions of synchronized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Humans in the comparison were non-musicians performing a large arm movement rather than a familiar tapping task. Their synchronization differed among individuals, with some participants producing less consistent movement intervals and more variable phases than others.</a:t>
            </a:r>
          </a:p>
          <a:p>
            <a:r>
              <a:t>• The distribution of performance matters because a comparison with only a hypothetical perfectly regular human would conceal the range of actual behavior. The experiment measured the same sound sequences in both species and retained each participant’s timing profile.</a:t>
            </a:r>
          </a:p>
          <a:p>
            <a:r>
              <a:t>• 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Individual human and sea-lion timing measures.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r>
              <a:t>• 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r>
              <a:t>• 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Reduced timing offsets in experienced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experiments established coordination with regular pulse sequences and with musical recordings that contain a regular pulse. **Beat synchronization** is the alignment of a repeated action with those pulse events, with flexibility across rates and acoustic forms.</a:t>
            </a:r>
          </a:p>
          <a:p>
            <a:r>
              <a:t>• 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r>
              <a:t>• 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Shared movement and timing definitions.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Ito and colleagues attached a lightweight wireless accelerometer to rats and measured small head movements while music played. An **accelerometer** measures acceleration along specified axes, allowing movement changes to be quantified without requiring a trained beat-marking action.</a:t>
            </a:r>
          </a:p>
          <a:p>
            <a:r>
              <a:t>• The rats listened to Mozart’s Sonata for Two Pianos, K.448, at its original rate and at altered playback speeds. Their movements were more strongly aligned with the musical beats near the original tempo, approximately 132 bpm, than at the very fast versions.</a:t>
            </a:r>
          </a:p>
          <a:p>
            <a:r>
              <a:t>• 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1A–G. Accelerometer measurements during musical playback.</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**Jerk** is the rate of change of acceleration. The rat study used this quantity to identify brief movement changes during musical listening. A small movement with a rapid change in acceleration can therefore contribute strongly to the measured response.</a:t>
            </a:r>
          </a:p>
          <a:p>
            <a:r>
              <a:t>• Researchers compared jerk near putative beats with jerk elsewhere in the beat cycle. This beat contrast quantified whether the movement signal was organized around the musical pulse instead of being uniformly distributed through time.</a:t>
            </a:r>
          </a:p>
          <a:p>
            <a:r>
              <a:t>• 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1C–F. Acceleration, jerk, and beat-relative movement contrast.</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experiment also measured head movements in humans listening to the same musical excerpt at altered speeds. This provided a comparison in which both species were exposed to the same changing temporal structure, although their absolute movement magnitudes differed.</a:t>
            </a:r>
          </a:p>
          <a:p>
            <a:r>
              <a:t>• Beat-related movement organization was strongest near the original musical rate rather than at the greatly accelerated versions. The two species also showed related changes in movement strength across individual beats of the original excerpt.</a:t>
            </a:r>
          </a:p>
          <a:p>
            <a:r>
              <a:t>• 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2A–C. Beat-related movement comparisons across playback speeds.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rat study separately recorded **multiunit activity**, the combined spiking response of several nearby neurons, while presenting music at different playback speeds. Activity following beat events was compared with activity following other events in the same musical sequence.</a:t>
            </a:r>
          </a:p>
          <a:p>
            <a:r>
              <a:t>• 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r>
              <a:t>• 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3A–E. Neural responses to musical beats at different rates.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**Short-term adaptation** is a change in responsiveness during recent stimulation. Repeated sounds can reduce a neural population’s response, with recovery depending on the time since preceding stimulation. This creates a temporal dependence even when each sound is acoustically similar.</a:t>
            </a:r>
          </a:p>
          <a:p>
            <a:r>
              <a:t>• 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r>
              <a:t>• 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4A–I. Recorded responses and adaptation-model predictions.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 PF, Rouse A, Wilson M, Reichmuth C (2013). A California sea lion (Zalophus californianus) can keep the beat: Motor entrainment to rhythmic auditory stimuli in a non vocal mimic. Journal of Comparative Psychology 127(4): 412–427. https://doi.org/10.1037/a0032345</a:t>
            </a:r>
          </a:p>
          <a:p/>
          <a:p>
            <a:r>
              <a:t>Rouse AA, Cook PF, Large EW, Reichmuth C (2016). Beat Keeping in a Sea Lion As Coupled Oscillation: Implications for Comparative Understanding of Human Rhythm. Frontiers in Neuroscience 10:257. https://doi.org/10.3389/fnins.2016.00257</a:t>
            </a:r>
          </a:p>
          <a:p/>
          <a:p>
            <a:r>
              <a:t>Cook PF, Hood C, Rouse A, Reichmuth C (2025). Sensorimotor synchronization to rhythm in an experienced sea lion rivals that of humans. Scientific Reports 15:12125. https://doi.org/10.1038/s41598-025-95279-1</a:t>
            </a:r>
          </a:p>
          <a:p/>
          <a:p>
            <a:r>
              <a:t>Ito Y, Shiramatsu TI, Ishida N, Oshima K, Magami K, Takahashi H (2022). Spontaneous beat synchronization in rats: Neural dynamics and motor entrainment. Science Advances 8:eabo7019. https://doi.org/10.1126/sciadv.abo7019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F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91</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a:t>
            </a:r>
          </a:p>
          <a:p>
            <a:pPr algn="l">
              <a:lnSpc>
                <a:spcPct val="108000"/>
              </a:lnSpc>
              <a:spcAft>
                <a:spcPts val="0"/>
              </a:spcAft>
            </a:pPr>
            <a:r>
              <a:rPr sz="2200" b="1" i="0">
                <a:solidFill>
                  <a:srgbClr val="FFFFFF"/>
                </a:solidFill>
                <a:latin typeface="Arial"/>
              </a:rPr>
              <a:t>rhythmic entrainment, auditory–motor coordination, and experimental tests of beat synchronization</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ronan_photo.jpg"/>
          <p:cNvPicPr>
            <a:picLocks noChangeAspect="1"/>
          </p:cNvPicPr>
          <p:nvPr/>
        </p:nvPicPr>
        <p:blipFill>
          <a:blip r:embed="rId2"/>
          <a:stretch>
            <a:fillRect/>
          </a:stretch>
        </p:blipFill>
        <p:spPr>
          <a:xfrm>
            <a:off x="7292111" y="822960"/>
            <a:ext cx="370332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California sea lion Ronan at UC Santa Cruz’s Long Marine Laboratory. Photo by Colleen Reichmuth; NOAA/NMFS 23554.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Ronan learns to align movement with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Rhythmic entrainment</a:t>
            </a:r>
            <a:r>
              <a:rPr sz="1600" b="0" i="0">
                <a:solidFill>
                  <a:srgbClr val="000000"/>
                </a:solidFill>
                <a:latin typeface="Arial"/>
              </a:rPr>
              <a:t> is the adjustment of a repeating movement to an external rhythm. Ronan, a California sea lion, learned to move her head up and down while hearing regularly spaced sounds. The lowest point of each movement supplied a repeatable timing marker.</a:t>
            </a:r>
          </a:p>
          <a:p>
            <a:pPr algn="l">
              <a:lnSpc>
                <a:spcPct val="108000"/>
              </a:lnSpc>
              <a:spcAft>
                <a:spcPts val="960"/>
              </a:spcAft>
            </a:pPr>
            <a:r>
              <a:rPr sz="1600" b="0" i="0">
                <a:solidFill>
                  <a:srgbClr val="000000"/>
                </a:solidFill>
                <a:latin typeface="Arial"/>
              </a:rPr>
              <a:t>Cook and colleagues trained this behavior at 80 and 120 beats per minute, then tested other rates and musical recordings. A movement that stays aligned across unfamiliar rates requires flexible timing rather than the repetition of one memorized motor speed.</a:t>
            </a:r>
          </a:p>
          <a:p>
            <a:pPr algn="l">
              <a:lnSpc>
                <a:spcPct val="108000"/>
              </a:lnSpc>
              <a:spcAft>
                <a:spcPts val="960"/>
              </a:spcAft>
            </a:pPr>
            <a:r>
              <a:rPr sz="1600" b="0" i="0">
                <a:solidFill>
                  <a:srgbClr val="000000"/>
                </a:solidFill>
                <a:latin typeface="Arial"/>
              </a:rPr>
              <a:t>Ronan lived at the University of California, Santa Cruz. The experimental task underlying her public reputation as a dancing sea lion combined a controlled sound sequence, concealed trainers, video measurements, and food reinforcement for appropriately timed behavior.</a:t>
            </a:r>
          </a:p>
        </p:txBody>
      </p:sp>
      <p:pic>
        <p:nvPicPr>
          <p:cNvPr id="4" name="Picture 3" descr="Cook2013_f1c.png"/>
          <p:cNvPicPr>
            <a:picLocks noChangeAspect="1"/>
          </p:cNvPicPr>
          <p:nvPr/>
        </p:nvPicPr>
        <p:blipFill>
          <a:blip r:embed="rId2"/>
          <a:stretch>
            <a:fillRect/>
          </a:stretch>
        </p:blipFill>
        <p:spPr>
          <a:xfrm>
            <a:off x="6791558" y="1280160"/>
            <a:ext cx="454577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1C. Head-bob timing after training at 80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Matching tempo differs from matching the beat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a:t>
            </a:r>
            <a:r>
              <a:rPr sz="1600" b="0" i="0">
                <a:solidFill>
                  <a:srgbClr val="000000"/>
                </a:solidFill>
                <a:latin typeface="Arial"/>
              </a:rPr>
              <a:t> is the repetition rate of the sound sequence, expressed in beats per minute. Matching tempo means producing the same average number of movements per unit time. Two repeating events can share a tempo while occurring at different points within each cycle.</a:t>
            </a:r>
          </a:p>
          <a:p>
            <a:pPr algn="l">
              <a:lnSpc>
                <a:spcPct val="108000"/>
              </a:lnSpc>
              <a:spcAft>
                <a:spcPts val="960"/>
              </a:spcAft>
            </a:pPr>
            <a:r>
              <a:rPr sz="1600" b="1" i="0">
                <a:solidFill>
                  <a:srgbClr val="3D525C"/>
                </a:solidFill>
                <a:latin typeface="Arial"/>
              </a:rPr>
              <a:t>Phase</a:t>
            </a:r>
            <a:r>
              <a:rPr sz="1600" b="0" i="0">
                <a:solidFill>
                  <a:srgbClr val="000000"/>
                </a:solidFill>
                <a:latin typeface="Arial"/>
              </a:rPr>
              <a:t>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pPr algn="l">
              <a:lnSpc>
                <a:spcPct val="108000"/>
              </a:lnSpc>
              <a:spcAft>
                <a:spcPts val="960"/>
              </a:spcAft>
            </a:pPr>
            <a:r>
              <a:rPr sz="1600" b="0" i="0">
                <a:solidFill>
                  <a:srgbClr val="000000"/>
                </a:solidFill>
                <a:latin typeface="Arial"/>
              </a:rPr>
              <a:t>At different unfamiliar tempos, Ronan maintained organized phase relationships even when her head reached its lowest point before or after the sound. These offsets distinguish successful coordination with the repeating stimulus from exact coincidence at the beat itself.</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 Movement timing at five unfamiliar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trained response is a continuous head bob</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behavioral response was an up-and-down movement of the head and neck, with roughly 10 cm or more of displacement during initial shaping. </a:t>
            </a:r>
            <a:r>
              <a:rPr sz="1600" b="1" i="0">
                <a:solidFill>
                  <a:srgbClr val="3D525C"/>
                </a:solidFill>
                <a:latin typeface="Arial"/>
              </a:rPr>
              <a:t>Shaping</a:t>
            </a:r>
            <a:r>
              <a:rPr sz="1600" b="0" i="0">
                <a:solidFill>
                  <a:srgbClr val="000000"/>
                </a:solidFill>
                <a:latin typeface="Arial"/>
              </a:rPr>
              <a:t> rewards successive approximations to a target action rather than waiting for the complete action to occur immediately.</a:t>
            </a:r>
          </a:p>
          <a:p>
            <a:pPr algn="l">
              <a:lnSpc>
                <a:spcPct val="108000"/>
              </a:lnSpc>
              <a:spcAft>
                <a:spcPts val="960"/>
              </a:spcAft>
            </a:pPr>
            <a:r>
              <a:rPr sz="1600" b="0" i="0">
                <a:solidFill>
                  <a:srgbClr val="000000"/>
                </a:solidFill>
                <a:latin typeface="Arial"/>
              </a:rPr>
              <a:t>Ronan first learned to bob in response to a visual cue. A brief whistle, previously associated with food, marked the rewarded behavior. The whistle was followed by a capelin, allowing the trainer to identify the successful action precisely before delivering food.</a:t>
            </a:r>
          </a:p>
          <a:p>
            <a:pPr algn="l">
              <a:lnSpc>
                <a:spcPct val="108000"/>
              </a:lnSpc>
              <a:spcAft>
                <a:spcPts val="960"/>
              </a:spcAft>
            </a:pPr>
            <a:r>
              <a:rPr sz="1600" b="0" i="0">
                <a:solidFill>
                  <a:srgbClr val="000000"/>
                </a:solidFill>
                <a:latin typeface="Arial"/>
              </a:rPr>
              <a:t>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p:txBody>
      </p:sp>
      <p:pic>
        <p:nvPicPr>
          <p:cNvPr id="4" name="Picture 3" descr="Cook2013_f6ab.png"/>
          <p:cNvPicPr>
            <a:picLocks noChangeAspect="1"/>
          </p:cNvPicPr>
          <p:nvPr/>
        </p:nvPicPr>
        <p:blipFill>
          <a:blip r:embed="rId2"/>
          <a:stretch>
            <a:fillRect/>
          </a:stretch>
        </p:blipFill>
        <p:spPr>
          <a:xfrm>
            <a:off x="6504127" y="1280160"/>
            <a:ext cx="5120640" cy="3152907"/>
          </a:xfrm>
          <a:prstGeom prst="rect">
            <a:avLst/>
          </a:prstGeom>
        </p:spPr>
      </p:pic>
      <p:sp>
        <p:nvSpPr>
          <p:cNvPr id="5" name="Figure caption"/>
          <p:cNvSpPr txBox="1"/>
          <p:nvPr/>
        </p:nvSpPr>
        <p:spPr>
          <a:xfrm>
            <a:off x="6504127" y="45245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6A–B. Successive movement rates during extended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blind separates sound cues from trainer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 rested her foreflippers on a station while facing a wooden panel. This position left her head free to move. A reward assistant sat beyond the panel, and the experimenter watched from behind a separate blind to the animal’s side.</a:t>
            </a:r>
          </a:p>
          <a:p>
            <a:pPr algn="l">
              <a:lnSpc>
                <a:spcPct val="108000"/>
              </a:lnSpc>
              <a:spcAft>
                <a:spcPts val="960"/>
              </a:spcAft>
            </a:pPr>
            <a:r>
              <a:rPr sz="1600" b="0" i="0">
                <a:solidFill>
                  <a:srgbClr val="000000"/>
                </a:solidFill>
                <a:latin typeface="Arial"/>
              </a:rPr>
              <a:t>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pPr algn="l">
              <a:lnSpc>
                <a:spcPct val="108000"/>
              </a:lnSpc>
              <a:spcAft>
                <a:spcPts val="960"/>
              </a:spcAft>
            </a:pPr>
            <a:r>
              <a:rPr sz="1600" b="0" i="0">
                <a:solidFill>
                  <a:srgbClr val="000000"/>
                </a:solidFill>
                <a:latin typeface="Arial"/>
              </a:rPr>
              <a:t>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p:txBody>
      </p:sp>
      <p:pic>
        <p:nvPicPr>
          <p:cNvPr id="4" name="Picture 3" descr="Cook2013_f1.png"/>
          <p:cNvPicPr>
            <a:picLocks noChangeAspect="1"/>
          </p:cNvPicPr>
          <p:nvPr/>
        </p:nvPicPr>
        <p:blipFill>
          <a:blip r:embed="rId2"/>
          <a:stretch>
            <a:fillRect/>
          </a:stretch>
        </p:blipFill>
        <p:spPr>
          <a:xfrm>
            <a:off x="6818758" y="1280160"/>
            <a:ext cx="44913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 Timing distributions for spontaneous and trained tests.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Rewarding speed alone produces variable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pPr algn="l">
              <a:lnSpc>
                <a:spcPct val="108000"/>
              </a:lnSpc>
              <a:spcAft>
                <a:spcPts val="960"/>
              </a:spcAft>
            </a:pPr>
            <a:r>
              <a:rPr sz="1600" b="0" i="0">
                <a:solidFill>
                  <a:srgbClr val="000000"/>
                </a:solidFill>
                <a:latin typeface="Arial"/>
              </a:rPr>
              <a:t>The trainers then separated the two tempos into different sessions and changed the criterion. Ronan was rewarded for bringing her head down on a beat, initially for a single movement. The required run was gradually increased to 20 consecutive synchronized movements.</a:t>
            </a:r>
          </a:p>
          <a:p>
            <a:pPr algn="l">
              <a:lnSpc>
                <a:spcPct val="108000"/>
              </a:lnSpc>
              <a:spcAft>
                <a:spcPts val="960"/>
              </a:spcAft>
            </a:pPr>
            <a:r>
              <a:rPr sz="1600" b="0" i="0">
                <a:solidFill>
                  <a:srgbClr val="000000"/>
                </a:solidFill>
                <a:latin typeface="Arial"/>
              </a:rPr>
              <a:t>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performance across familiar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Training two rates supports transfer to new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Ronan’s training used 80 and 120 bpm, but her transfer tests included 72, 88, 96, 108, and 132 bpm. </a:t>
            </a:r>
            <a:r>
              <a:rPr sz="1600" b="1" i="0">
                <a:solidFill>
                  <a:srgbClr val="3D525C"/>
                </a:solidFill>
                <a:latin typeface="Arial"/>
              </a:rPr>
              <a:t>Transfer</a:t>
            </a:r>
            <a:r>
              <a:rPr sz="1600" b="0" i="0">
                <a:solidFill>
                  <a:srgbClr val="000000"/>
                </a:solidFill>
                <a:latin typeface="Arial"/>
              </a:rPr>
              <a:t> means applying an acquired behavior to a stimulus condition that was not explicitly used to teach that behavior.</a:t>
            </a:r>
          </a:p>
          <a:p>
            <a:pPr algn="l">
              <a:lnSpc>
                <a:spcPct val="108000"/>
              </a:lnSpc>
              <a:spcAft>
                <a:spcPts val="960"/>
              </a:spcAft>
            </a:pPr>
            <a:r>
              <a:rPr sz="1600" b="0" i="0">
                <a:solidFill>
                  <a:srgbClr val="000000"/>
                </a:solidFill>
                <a:latin typeface="Arial"/>
              </a:rPr>
              <a:t>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pPr algn="l">
              <a:lnSpc>
                <a:spcPct val="108000"/>
              </a:lnSpc>
              <a:spcAft>
                <a:spcPts val="960"/>
              </a:spcAft>
            </a:pPr>
            <a:r>
              <a:rPr sz="1600" b="0" i="0">
                <a:solidFill>
                  <a:srgbClr val="000000"/>
                </a:solidFill>
                <a:latin typeface="Arial"/>
              </a:rPr>
              <a:t>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p:txBody>
      </p:sp>
      <p:pic>
        <p:nvPicPr>
          <p:cNvPr id="4" name="Picture 3" descr="Cook2013_f2ab.png"/>
          <p:cNvPicPr>
            <a:picLocks noChangeAspect="1"/>
          </p:cNvPicPr>
          <p:nvPr/>
        </p:nvPicPr>
        <p:blipFill>
          <a:blip r:embed="rId2"/>
          <a:stretch>
            <a:fillRect/>
          </a:stretch>
        </p:blipFill>
        <p:spPr>
          <a:xfrm>
            <a:off x="6504127" y="1280160"/>
            <a:ext cx="5120640" cy="2443824"/>
          </a:xfrm>
          <a:prstGeom prst="rect">
            <a:avLst/>
          </a:prstGeom>
        </p:spPr>
      </p:pic>
      <p:sp>
        <p:nvSpPr>
          <p:cNvPr id="5" name="Figure caption"/>
          <p:cNvSpPr txBox="1"/>
          <p:nvPr/>
        </p:nvSpPr>
        <p:spPr>
          <a:xfrm>
            <a:off x="6504127" y="381542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2A–B. Transfer to 72 and 88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tempos change the movement–sound relationship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96 bpm, Ronan’s average movement rate was about 96.8 bpm, while at 108 bpm it was about 108.1 bpm. Her repeated actions followed the new sound rates closely despite the lack of explicit training at these particular tempos.</a:t>
            </a:r>
          </a:p>
          <a:p>
            <a:pPr algn="l">
              <a:lnSpc>
                <a:spcPct val="108000"/>
              </a:lnSpc>
              <a:spcAft>
                <a:spcPts val="1019"/>
              </a:spcAft>
            </a:pPr>
            <a:r>
              <a:rPr sz="1700" b="0" i="0">
                <a:solidFill>
                  <a:srgbClr val="000000"/>
                </a:solidFill>
                <a:latin typeface="Arial"/>
              </a:rPr>
              <a:t>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pPr algn="l">
              <a:lnSpc>
                <a:spcPct val="108000"/>
              </a:lnSpc>
              <a:spcAft>
                <a:spcPts val="1019"/>
              </a:spcAft>
            </a:pPr>
            <a:r>
              <a:rPr sz="1700" b="0" i="0">
                <a:solidFill>
                  <a:srgbClr val="000000"/>
                </a:solidFill>
                <a:latin typeface="Arial"/>
              </a:rPr>
              <a:t>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2A–E. Transfer at 96, 108, and 132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Movement landmarks make synchronization measurable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movement unfolds continuously, but synchronization analysis needs a clearly specified event. In Ronan’s task, the selected event was the lowest point of the head bob. In the later human comparison, it was the fullest downward extension of the arm.</a:t>
            </a:r>
          </a:p>
          <a:p>
            <a:pPr algn="l">
              <a:lnSpc>
                <a:spcPct val="108000"/>
              </a:lnSpc>
              <a:spcAft>
                <a:spcPts val="960"/>
              </a:spcAft>
            </a:pPr>
            <a:r>
              <a:rPr sz="1600" b="0" i="0">
                <a:solidFill>
                  <a:srgbClr val="000000"/>
                </a:solidFill>
                <a:latin typeface="Arial"/>
              </a:rPr>
              <a:t>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pPr algn="l">
              <a:lnSpc>
                <a:spcPct val="108000"/>
              </a:lnSpc>
              <a:spcAft>
                <a:spcPts val="960"/>
              </a:spcAft>
            </a:pPr>
            <a:r>
              <a:rPr sz="1600" b="0" i="0">
                <a:solidFill>
                  <a:srgbClr val="000000"/>
                </a:solidFill>
                <a:latin typeface="Arial"/>
              </a:rPr>
              <a:t>The 2025 experiment recorded movements at 240 frames per second. Each frame represented roughly 4 ms, giving much finer timing resolution than ordinary video. Audio from the same recording supplied the sound onsets against which those movement landmarks were measured.</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Movement trajectories and beat-relative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missing sound tests continuation of the rhythm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pPr algn="l">
              <a:lnSpc>
                <a:spcPct val="108000"/>
              </a:lnSpc>
              <a:spcAft>
                <a:spcPts val="960"/>
              </a:spcAft>
            </a:pPr>
            <a:r>
              <a:rPr sz="1600" b="0" i="0">
                <a:solidFill>
                  <a:srgbClr val="000000"/>
                </a:solidFill>
                <a:latin typeface="Arial"/>
              </a:rPr>
              <a:t>Ronan continued bobbing through the missing beats. The timing relationships of the movements immediately before and after a gap were similar, and she remained coordinated with the sequence rather than restarting the movement in response to the next available sound.</a:t>
            </a:r>
          </a:p>
          <a:p>
            <a:pPr algn="l">
              <a:lnSpc>
                <a:spcPct val="108000"/>
              </a:lnSpc>
              <a:spcAft>
                <a:spcPts val="960"/>
              </a:spcAft>
            </a:pPr>
            <a:r>
              <a:rPr sz="1600" b="0" i="0">
                <a:solidFill>
                  <a:srgbClr val="000000"/>
                </a:solidFill>
                <a:latin typeface="Arial"/>
              </a:rPr>
              <a:t>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Movement timing around omitted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Discrete clicks preserve coordinated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pPr algn="l">
              <a:lnSpc>
                <a:spcPct val="108000"/>
              </a:lnSpc>
              <a:spcAft>
                <a:spcPts val="960"/>
              </a:spcAft>
            </a:pPr>
            <a:r>
              <a:rPr sz="1600" b="0" i="0">
                <a:solidFill>
                  <a:srgbClr val="000000"/>
                </a:solidFill>
                <a:latin typeface="Arial"/>
              </a:rPr>
              <a:t>Ronan maintained entrained movement under this changed stimulus format. Her continued performance linked the head-bob rhythm to the regular temporal organization of the sequence rather than requiring the original continuous modulation as an indispensable acoustic cue.</a:t>
            </a:r>
          </a:p>
          <a:p>
            <a:pPr algn="l">
              <a:lnSpc>
                <a:spcPct val="108000"/>
              </a:lnSpc>
              <a:spcAft>
                <a:spcPts val="960"/>
              </a:spcAft>
            </a:pPr>
            <a:r>
              <a:rPr sz="1600" b="0" i="0">
                <a:solidFill>
                  <a:srgbClr val="000000"/>
                </a:solidFill>
                <a:latin typeface="Arial"/>
              </a:rPr>
              <a:t>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Timing before and after silent omissions.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introduces several competing sound events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pPr algn="l">
              <a:lnSpc>
                <a:spcPct val="108000"/>
              </a:lnSpc>
              <a:spcAft>
                <a:spcPts val="960"/>
              </a:spcAft>
            </a:pPr>
            <a:r>
              <a:rPr sz="1600" b="0" i="0">
                <a:solidFill>
                  <a:srgbClr val="000000"/>
                </a:solidFill>
                <a:latin typeface="Arial"/>
              </a:rPr>
              <a:t>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pPr algn="l">
              <a:lnSpc>
                <a:spcPct val="108000"/>
              </a:lnSpc>
              <a:spcAft>
                <a:spcPts val="960"/>
              </a:spcAft>
            </a:pPr>
            <a:r>
              <a:rPr sz="1600" b="0" i="0">
                <a:solidFill>
                  <a:srgbClr val="000000"/>
                </a:solidFill>
                <a:latin typeface="Arial"/>
              </a:rPr>
              <a:t>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Timing during Everybody and Boogie Wonderland.</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Prior exposure and reinforcement are different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pPr algn="l">
              <a:lnSpc>
                <a:spcPct val="108000"/>
              </a:lnSpc>
              <a:spcAft>
                <a:spcPts val="960"/>
              </a:spcAft>
            </a:pPr>
            <a:r>
              <a:rPr sz="1600" b="0" i="0">
                <a:solidFill>
                  <a:srgbClr val="000000"/>
                </a:solidFill>
                <a:latin typeface="Arial"/>
              </a:rPr>
              <a:t>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pPr algn="l">
              <a:lnSpc>
                <a:spcPct val="108000"/>
              </a:lnSpc>
              <a:spcAft>
                <a:spcPts val="960"/>
              </a:spcAft>
            </a:pPr>
            <a:r>
              <a:rPr sz="1600" b="0" i="0">
                <a:solidFill>
                  <a:srgbClr val="000000"/>
                </a:solidFill>
                <a:latin typeface="Arial"/>
              </a:rPr>
              <a:t>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Successful timing in two music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Changing a song’s speed tests flexible pulse tracking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training with Boogie Wonderland at its original tempo, researchers tested modified versions at 104, 117, 124, 137, and 143 bpm. The musical content remained related to the familiar song while the speed of the underlying pulse changed.</a:t>
            </a:r>
          </a:p>
          <a:p>
            <a:pPr algn="l">
              <a:lnSpc>
                <a:spcPct val="108000"/>
              </a:lnSpc>
              <a:spcAft>
                <a:spcPts val="960"/>
              </a:spcAft>
            </a:pPr>
            <a:r>
              <a:rPr sz="1600" b="0" i="0">
                <a:solidFill>
                  <a:srgbClr val="000000"/>
                </a:solidFill>
                <a:latin typeface="Arial"/>
              </a:rPr>
              <a:t>Ronan entrained at all five modified tempos. Successful trials were interspersed with trials using the original version, so transfer required adjusting to the current rate rather than continuing the rate rewarded on every preceding musical presentation.</a:t>
            </a:r>
          </a:p>
          <a:p>
            <a:pPr algn="l">
              <a:lnSpc>
                <a:spcPct val="108000"/>
              </a:lnSpc>
              <a:spcAft>
                <a:spcPts val="960"/>
              </a:spcAft>
            </a:pPr>
            <a:r>
              <a:rPr sz="1600" b="0" i="0">
                <a:solidFill>
                  <a:srgbClr val="000000"/>
                </a:solidFill>
                <a:latin typeface="Arial"/>
              </a:rPr>
              <a:t>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Transfer across altered Boogie Wonderland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transfer spans both slower and faster versions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native Boogie Wonderland recording used in training was about 130 bpm. Transfer included slower versions down to 104 bpm and a faster version at 143 bpm, covering changes in both directions rather than only gradual increases in speed.</a:t>
            </a:r>
          </a:p>
          <a:p>
            <a:pPr algn="l">
              <a:lnSpc>
                <a:spcPct val="108000"/>
              </a:lnSpc>
              <a:spcAft>
                <a:spcPts val="960"/>
              </a:spcAft>
            </a:pPr>
            <a:r>
              <a:rPr sz="1600" b="0" i="0">
                <a:solidFill>
                  <a:srgbClr val="000000"/>
                </a:solidFill>
                <a:latin typeface="Arial"/>
              </a:rPr>
              <a:t>Ronan’s average head-bob rates moved with these changes. At the slowest tested musical rate, for example, her mean response was about 103.3 bpm. Repeated movements therefore followed the new pulse rather than remaining near the familiar 130 bpm motor rate.</a:t>
            </a:r>
          </a:p>
          <a:p>
            <a:pPr algn="l">
              <a:lnSpc>
                <a:spcPct val="108000"/>
              </a:lnSpc>
              <a:spcAft>
                <a:spcPts val="960"/>
              </a:spcAft>
            </a:pPr>
            <a:r>
              <a:rPr sz="1600" b="0" i="0">
                <a:solidFill>
                  <a:srgbClr val="000000"/>
                </a:solidFill>
                <a:latin typeface="Arial"/>
              </a:rPr>
              <a:t>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Movement phases across five musical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 trials test persistence beyond the usual criterion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pPr algn="l">
              <a:lnSpc>
                <a:spcPct val="108000"/>
              </a:lnSpc>
              <a:spcAft>
                <a:spcPts val="960"/>
              </a:spcAft>
            </a:pPr>
            <a:r>
              <a:rPr sz="1600" b="0" i="0">
                <a:solidFill>
                  <a:srgbClr val="000000"/>
                </a:solidFill>
                <a:latin typeface="Arial"/>
              </a:rPr>
              <a:t>The longer trials included simple stimuli and Boogie Wonderland at several rates. Ronan sustained organized timing across these sequences. Performance was therefore not confined to a short window immediately preceding a predictable reward at the usual trial length.</a:t>
            </a:r>
          </a:p>
          <a:p>
            <a:pPr algn="l">
              <a:lnSpc>
                <a:spcPct val="108000"/>
              </a:lnSpc>
              <a:spcAft>
                <a:spcPts val="960"/>
              </a:spcAft>
            </a:pPr>
            <a:r>
              <a:rPr sz="1600" b="0" i="0">
                <a:solidFill>
                  <a:srgbClr val="000000"/>
                </a:solidFill>
                <a:latin typeface="Arial"/>
              </a:rPr>
              <a:t>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p:txBody>
      </p:sp>
      <p:pic>
        <p:nvPicPr>
          <p:cNvPr id="4" name="Picture 3" descr="Cook2013_f6cd.png"/>
          <p:cNvPicPr>
            <a:picLocks noChangeAspect="1"/>
          </p:cNvPicPr>
          <p:nvPr/>
        </p:nvPicPr>
        <p:blipFill>
          <a:blip r:embed="rId2"/>
          <a:stretch>
            <a:fillRect/>
          </a:stretch>
        </p:blipFill>
        <p:spPr>
          <a:xfrm>
            <a:off x="6504127" y="1280160"/>
            <a:ext cx="5120640" cy="3099633"/>
          </a:xfrm>
          <a:prstGeom prst="rect">
            <a:avLst/>
          </a:prstGeom>
        </p:spPr>
      </p:pic>
      <p:sp>
        <p:nvSpPr>
          <p:cNvPr id="5" name="Figure caption"/>
          <p:cNvSpPr txBox="1"/>
          <p:nvPr/>
        </p:nvSpPr>
        <p:spPr>
          <a:xfrm>
            <a:off x="6504127" y="447123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6C–D. Movement-rate trajectories during extended musical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dancing reputation rests on controlled experiments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pPr algn="l">
              <a:lnSpc>
                <a:spcPct val="108000"/>
              </a:lnSpc>
              <a:spcAft>
                <a:spcPts val="960"/>
              </a:spcAft>
            </a:pPr>
            <a:r>
              <a:rPr sz="1600" b="0" i="0">
                <a:solidFill>
                  <a:srgbClr val="000000"/>
                </a:solidFill>
                <a:latin typeface="Arial"/>
              </a:rPr>
              <a:t>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pPr algn="l">
              <a:lnSpc>
                <a:spcPct val="108000"/>
              </a:lnSpc>
              <a:spcAft>
                <a:spcPts val="960"/>
              </a:spcAft>
            </a:pPr>
            <a:r>
              <a:rPr sz="1600" b="0" i="0">
                <a:solidFill>
                  <a:srgbClr val="000000"/>
                </a:solidFill>
                <a:latin typeface="Arial"/>
              </a:rPr>
              <a:t>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p:txBody>
      </p:sp>
      <p:pic>
        <p:nvPicPr>
          <p:cNvPr id="4" name="Picture 3" descr="Cook2013_f6ef.png"/>
          <p:cNvPicPr>
            <a:picLocks noChangeAspect="1"/>
          </p:cNvPicPr>
          <p:nvPr/>
        </p:nvPicPr>
        <p:blipFill>
          <a:blip r:embed="rId2"/>
          <a:stretch>
            <a:fillRect/>
          </a:stretch>
        </p:blipFill>
        <p:spPr>
          <a:xfrm>
            <a:off x="6504127" y="1280160"/>
            <a:ext cx="5120640" cy="3194062"/>
          </a:xfrm>
          <a:prstGeom prst="rect">
            <a:avLst/>
          </a:prstGeom>
        </p:spPr>
      </p:pic>
      <p:sp>
        <p:nvSpPr>
          <p:cNvPr id="5" name="Figure caption"/>
          <p:cNvSpPr txBox="1"/>
          <p:nvPr/>
        </p:nvSpPr>
        <p:spPr>
          <a:xfrm>
            <a:off x="6504127" y="4565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6E–F. Extended coordination with music at 137 and 124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Perturbations separate phase from period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525C"/>
                </a:solidFill>
                <a:latin typeface="Arial"/>
              </a:rPr>
              <a:t>phase perturbation</a:t>
            </a:r>
            <a:r>
              <a:rPr sz="1600" b="0" i="0">
                <a:solidFill>
                  <a:srgbClr val="000000"/>
                </a:solidFill>
                <a:latin typeface="Arial"/>
              </a:rPr>
              <a:t> shifts where the sound sequence falls in time while preserving its eventual repetition rate. A </a:t>
            </a:r>
            <a:r>
              <a:rPr sz="1600" b="1" i="0">
                <a:solidFill>
                  <a:srgbClr val="3D525C"/>
                </a:solidFill>
                <a:latin typeface="Arial"/>
              </a:rPr>
              <a:t>tempo perturbation</a:t>
            </a:r>
            <a:r>
              <a:rPr sz="1600" b="0" i="0">
                <a:solidFill>
                  <a:srgbClr val="000000"/>
                </a:solidFill>
                <a:latin typeface="Arial"/>
              </a:rPr>
              <a:t> changes the interval between successive sounds. These manipulations challenge different components of an already coordinated movement.</a:t>
            </a:r>
          </a:p>
          <a:p>
            <a:pPr algn="l">
              <a:lnSpc>
                <a:spcPct val="108000"/>
              </a:lnSpc>
              <a:spcAft>
                <a:spcPts val="960"/>
              </a:spcAft>
            </a:pPr>
            <a:r>
              <a:rPr sz="1600" b="0" i="0">
                <a:solidFill>
                  <a:srgbClr val="000000"/>
                </a:solidFill>
                <a:latin typeface="Arial"/>
              </a:rPr>
              <a:t>Rouse and colleagues introduced one unexpected change during a trial, after a stable initial run of beats. Ronan then had to modify the movement she was already producing. The response immediately after the change exposed the dynamics of correction.</a:t>
            </a:r>
          </a:p>
          <a:p>
            <a:pPr algn="l">
              <a:lnSpc>
                <a:spcPct val="108000"/>
              </a:lnSpc>
              <a:spcAft>
                <a:spcPts val="960"/>
              </a:spcAft>
            </a:pPr>
            <a:r>
              <a:rPr sz="1600" b="0" i="0">
                <a:solidFill>
                  <a:srgbClr val="000000"/>
                </a:solidFill>
                <a:latin typeface="Arial"/>
              </a:rPr>
              <a:t>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Responses to mid-trial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perturbation stimulus uses brief paired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stimulus clicks combined tones at 659 and 1319 Hz for 10 ms. Repeating these brief events created a clear temporal sequence. The main baseline rate was 85 bpm, a rate Ronan had not previously encountered in training or testing.</a:t>
            </a:r>
          </a:p>
          <a:p>
            <a:pPr algn="l">
              <a:lnSpc>
                <a:spcPct val="108000"/>
              </a:lnSpc>
              <a:spcAft>
                <a:spcPts val="1019"/>
              </a:spcAft>
            </a:pPr>
            <a:r>
              <a:rPr sz="1700" b="0" i="0">
                <a:solidFill>
                  <a:srgbClr val="000000"/>
                </a:solidFill>
                <a:latin typeface="Arial"/>
              </a:rPr>
              <a:t>Perturbations changed a timing interval by 3, 8, 15, or 25 percent in either direction. The change occurred between the sixteenth and twenty-fifth beat, with its position varied across conditions so that a fixed point in the sequence would not predict it.</a:t>
            </a:r>
          </a:p>
          <a:p>
            <a:pPr algn="l">
              <a:lnSpc>
                <a:spcPct val="108000"/>
              </a:lnSpc>
              <a:spcAft>
                <a:spcPts val="1019"/>
              </a:spcAft>
            </a:pPr>
            <a:r>
              <a:rPr sz="1700" b="0" i="0">
                <a:solidFill>
                  <a:srgbClr val="000000"/>
                </a:solidFill>
                <a:latin typeface="Arial"/>
              </a:rPr>
              <a:t>At the baseline rate, the normal interval was about 706 ms. Controlled changes to that interval introduced experimentally specified timing errors into a sequence that Ronan was already following, allowing the subsequent head bobs to reveal how she recovered coordination.</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distributions before and after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phase shift moves the beat without a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 phase-shift trial, a sound occurs earlier or later than expected, but later sounds return to the original spacing. The stimulus’s temporal position changes while its continuing tempo remains fixed, separating an onset-position error from a lasting change in speed.</a:t>
            </a:r>
          </a:p>
          <a:p>
            <a:pPr algn="l">
              <a:lnSpc>
                <a:spcPct val="108000"/>
              </a:lnSpc>
              <a:spcAft>
                <a:spcPts val="960"/>
              </a:spcAft>
            </a:pPr>
            <a:r>
              <a:rPr sz="1600" b="0" i="0">
                <a:solidFill>
                  <a:srgbClr val="000000"/>
                </a:solidFill>
                <a:latin typeface="Arial"/>
              </a:rPr>
              <a:t>Ronan adjusted her head-bob timing after both advances and delays. Her movement regained an organized relationship with the shifted sequence within a few beats, rather than staying locked to the timing established before the perturbation.</a:t>
            </a:r>
          </a:p>
          <a:p>
            <a:pPr algn="l">
              <a:lnSpc>
                <a:spcPct val="108000"/>
              </a:lnSpc>
              <a:spcAft>
                <a:spcPts val="960"/>
              </a:spcAft>
            </a:pPr>
            <a:r>
              <a:rPr sz="1600" b="0" i="0">
                <a:solidFill>
                  <a:srgbClr val="000000"/>
                </a:solidFill>
                <a:latin typeface="Arial"/>
              </a:rPr>
              <a:t>This recovery is </a:t>
            </a:r>
            <a:r>
              <a:rPr sz="1600" b="1" i="0">
                <a:solidFill>
                  <a:srgbClr val="3D525C"/>
                </a:solidFill>
                <a:latin typeface="Arial"/>
              </a:rPr>
              <a:t>phase correction</a:t>
            </a:r>
            <a:r>
              <a:rPr sz="1600" b="0" i="0">
                <a:solidFill>
                  <a:srgbClr val="000000"/>
                </a:solidFill>
                <a:latin typeface="Arial"/>
              </a:rPr>
              <a:t>, the adjustment of an ongoing cycle’s position relative to an external event. Because the subsequent sound interval returns to baseline, successful recovery can be achieved by a transient movement adjustment without adopting a permanently different repetition rate.</a:t>
            </a:r>
          </a:p>
        </p:txBody>
      </p:sp>
      <p:pic>
        <p:nvPicPr>
          <p:cNvPr id="4" name="Picture 3" descr="PMC4891632_f1phase.png"/>
          <p:cNvPicPr>
            <a:picLocks noChangeAspect="1"/>
          </p:cNvPicPr>
          <p:nvPr/>
        </p:nvPicPr>
        <p:blipFill>
          <a:blip r:embed="rId2"/>
          <a:stretch>
            <a:fillRect/>
          </a:stretch>
        </p:blipFill>
        <p:spPr>
          <a:xfrm>
            <a:off x="6504127" y="1280160"/>
            <a:ext cx="5120640" cy="2296972"/>
          </a:xfrm>
          <a:prstGeom prst="rect">
            <a:avLst/>
          </a:prstGeom>
        </p:spPr>
      </p:pic>
      <p:sp>
        <p:nvSpPr>
          <p:cNvPr id="5" name="Figure caption"/>
          <p:cNvSpPr txBox="1"/>
          <p:nvPr/>
        </p:nvSpPr>
        <p:spPr>
          <a:xfrm>
            <a:off x="6504127" y="36685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conditions. Timing distributions after phase advances and delays.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tempo shift changes every later sound interval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tempo perturbation alters the spacing of every subsequent beat. If the head-bob rhythm kept its original period, the relative position of movement and sound would drift increasingly across the trial, even after the first timing error had been corrected.</a:t>
            </a:r>
          </a:p>
          <a:p>
            <a:pPr algn="l">
              <a:lnSpc>
                <a:spcPct val="108000"/>
              </a:lnSpc>
              <a:spcAft>
                <a:spcPts val="960"/>
              </a:spcAft>
            </a:pPr>
            <a:r>
              <a:rPr sz="1600" b="0" i="0">
                <a:solidFill>
                  <a:srgbClr val="000000"/>
                </a:solidFill>
                <a:latin typeface="Arial"/>
              </a:rPr>
              <a:t>Ronan adapted after all the tested tempo changes. The response had to address the continuing mismatch in cycle duration, not merely the placement of a single unexpectedly early or late sound within an otherwise unchanged sequence.</a:t>
            </a:r>
          </a:p>
          <a:p>
            <a:pPr algn="l">
              <a:lnSpc>
                <a:spcPct val="108000"/>
              </a:lnSpc>
              <a:spcAft>
                <a:spcPts val="960"/>
              </a:spcAft>
            </a:pPr>
            <a:r>
              <a:rPr sz="1600" b="0" i="0">
                <a:solidFill>
                  <a:srgbClr val="000000"/>
                </a:solidFill>
                <a:latin typeface="Arial"/>
              </a:rPr>
              <a:t>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p:txBody>
      </p:sp>
      <p:pic>
        <p:nvPicPr>
          <p:cNvPr id="4" name="Picture 3" descr="PMC4891632_f1tempo.png"/>
          <p:cNvPicPr>
            <a:picLocks noChangeAspect="1"/>
          </p:cNvPicPr>
          <p:nvPr/>
        </p:nvPicPr>
        <p:blipFill>
          <a:blip r:embed="rId2"/>
          <a:stretch>
            <a:fillRect/>
          </a:stretch>
        </p:blipFill>
        <p:spPr>
          <a:xfrm>
            <a:off x="6504127" y="1280160"/>
            <a:ext cx="5120640" cy="2860243"/>
          </a:xfrm>
          <a:prstGeom prst="rect">
            <a:avLst/>
          </a:prstGeom>
        </p:spPr>
      </p:pic>
      <p:sp>
        <p:nvSpPr>
          <p:cNvPr id="5" name="Figure caption"/>
          <p:cNvSpPr txBox="1"/>
          <p:nvPr/>
        </p:nvSpPr>
        <p:spPr>
          <a:xfrm>
            <a:off x="6504127" y="423184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tempo conditions. Timing distributions after persistent rate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first transfer response already tracks the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presentation of each perturbation provided a test before repeated experience with that exact change. Ronan retained organized movement relative to the beat after these first encounters, including phase changes and persistent changes in the stimulus interval.</a:t>
            </a:r>
          </a:p>
          <a:p>
            <a:pPr algn="l">
              <a:lnSpc>
                <a:spcPct val="108000"/>
              </a:lnSpc>
              <a:spcAft>
                <a:spcPts val="960"/>
              </a:spcAft>
            </a:pPr>
            <a:r>
              <a:rPr sz="1600" b="0" i="0">
                <a:solidFill>
                  <a:srgbClr val="000000"/>
                </a:solidFill>
                <a:latin typeface="Arial"/>
              </a:rPr>
              <a:t>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pPr algn="l">
              <a:lnSpc>
                <a:spcPct val="108000"/>
              </a:lnSpc>
              <a:spcAft>
                <a:spcPts val="960"/>
              </a:spcAft>
            </a:pPr>
            <a:r>
              <a:rPr sz="1600" b="0" i="0">
                <a:solidFill>
                  <a:srgbClr val="000000"/>
                </a:solidFill>
                <a:latin typeface="Arial"/>
              </a:rPr>
              <a:t>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First presentations of timing-perturbation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Phase recovery occurs over successive movements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pPr algn="l">
              <a:lnSpc>
                <a:spcPct val="108000"/>
              </a:lnSpc>
              <a:spcAft>
                <a:spcPts val="960"/>
              </a:spcAft>
            </a:pPr>
            <a:r>
              <a:rPr sz="1600" b="0" i="0">
                <a:solidFill>
                  <a:srgbClr val="000000"/>
                </a:solidFill>
                <a:latin typeface="Arial"/>
              </a:rPr>
              <a:t>Ronan corrected the disturbance within a few beats. Recovery was a trajectory across successive movements rather than an instantaneous switch from one static state to another. This time course supplied information about the strength and direction of adjustment.</a:t>
            </a:r>
          </a:p>
          <a:p>
            <a:pPr algn="l">
              <a:lnSpc>
                <a:spcPct val="108000"/>
              </a:lnSpc>
              <a:spcAft>
                <a:spcPts val="960"/>
              </a:spcAft>
            </a:pPr>
            <a:r>
              <a:rPr sz="1600" b="0" i="0">
                <a:solidFill>
                  <a:srgbClr val="000000"/>
                </a:solidFill>
                <a:latin typeface="Arial"/>
              </a:rPr>
              <a:t>The published model predicted these transient trajectories using coupling between the sound sequence and the behavioral oscillator. </a:t>
            </a:r>
            <a:r>
              <a:rPr sz="1600" b="1" i="0">
                <a:solidFill>
                  <a:srgbClr val="3D525C"/>
                </a:solidFill>
                <a:latin typeface="Arial"/>
              </a:rPr>
              <a:t>Coupling</a:t>
            </a:r>
            <a:r>
              <a:rPr sz="1600" b="0" i="0">
                <a:solidFill>
                  <a:srgbClr val="000000"/>
                </a:solidFill>
                <a:latin typeface="Arial"/>
              </a:rPr>
              <a:t> means that the timing of one process changes the state of the other; here, the sound events adjusted the timing of the continuing head-bob cycle.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Beat-by-beat recovery after phase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changes produce a lasting timing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Following a lasting rate change, Ronan’s initial movement period and the new stimulus period differed. Head movements therefore had to adjust across several cycles to approach a stable relationship with the new continuing sound sequence.</a:t>
            </a:r>
          </a:p>
          <a:p>
            <a:pPr algn="l">
              <a:lnSpc>
                <a:spcPct val="108000"/>
              </a:lnSpc>
              <a:spcAft>
                <a:spcPts val="960"/>
              </a:spcAft>
            </a:pPr>
            <a:r>
              <a:rPr sz="1600" b="0" i="0">
                <a:solidFill>
                  <a:srgbClr val="000000"/>
                </a:solidFill>
                <a:latin typeface="Arial"/>
              </a:rPr>
              <a:t>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pPr algn="l">
              <a:lnSpc>
                <a:spcPct val="108000"/>
              </a:lnSpc>
              <a:spcAft>
                <a:spcPts val="960"/>
              </a:spcAft>
            </a:pPr>
            <a:r>
              <a:rPr sz="1600" b="0" i="0">
                <a:solidFill>
                  <a:srgbClr val="000000"/>
                </a:solidFill>
                <a:latin typeface="Arial"/>
              </a:rPr>
              <a:t>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Recovery trajectories following rate shifts.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double bob exposes an immediate motor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some large slowing perturbations, the next sound occurred when Ronan’s head was near the high point of a movement rather than its low point. She sometimes made an additional small nod before slowing the broader movement cycle.</a:t>
            </a:r>
          </a:p>
          <a:p>
            <a:pPr algn="l">
              <a:lnSpc>
                <a:spcPct val="108000"/>
              </a:lnSpc>
              <a:spcAft>
                <a:spcPts val="960"/>
              </a:spcAft>
            </a:pPr>
            <a:r>
              <a:rPr sz="1600" b="0" i="0">
                <a:solidFill>
                  <a:srgbClr val="000000"/>
                </a:solidFill>
                <a:latin typeface="Arial"/>
              </a:rPr>
              <a:t>The authors called these responses </a:t>
            </a:r>
            <a:r>
              <a:rPr sz="1600" b="1" i="0">
                <a:solidFill>
                  <a:srgbClr val="3D525C"/>
                </a:solidFill>
                <a:latin typeface="Arial"/>
              </a:rPr>
              <a:t>double bobs</a:t>
            </a:r>
            <a:r>
              <a:rPr sz="1600" b="0" i="0">
                <a:solidFill>
                  <a:srgbClr val="000000"/>
                </a:solidFill>
                <a:latin typeface="Arial"/>
              </a:rPr>
              <a:t> because two identifiable movements occurred around a beat. Their observation connected the timing disturbance with a specific change in movement form, rather than treating all behavior as identical cycles with only altered timestamps.</a:t>
            </a:r>
          </a:p>
          <a:p>
            <a:pPr algn="l">
              <a:lnSpc>
                <a:spcPct val="108000"/>
              </a:lnSpc>
              <a:spcAft>
                <a:spcPts val="960"/>
              </a:spcAft>
            </a:pPr>
            <a:r>
              <a:rPr sz="1600" b="0" i="0">
                <a:solidFill>
                  <a:srgbClr val="000000"/>
                </a:solidFill>
                <a:latin typeface="Arial"/>
              </a:rPr>
              <a:t>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Behavioral timing after persistent interval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Timing concentration and timing offset are separate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series of movements can be consistently early, consistently late, or widely scattered around the beat. The average phase describes the center of that relationship, whereas the concentration of phases describes how consistently successive movements occupy that position.</a:t>
            </a:r>
          </a:p>
          <a:p>
            <a:pPr algn="l">
              <a:lnSpc>
                <a:spcPct val="108000"/>
              </a:lnSpc>
              <a:spcAft>
                <a:spcPts val="900"/>
              </a:spcAft>
            </a:pPr>
            <a:r>
              <a:rPr sz="1500" b="0" i="0">
                <a:solidFill>
                  <a:srgbClr val="000000"/>
                </a:solidFill>
                <a:latin typeface="Arial"/>
              </a:rPr>
              <a:t>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pPr algn="l">
              <a:lnSpc>
                <a:spcPct val="108000"/>
              </a:lnSpc>
              <a:spcAft>
                <a:spcPts val="900"/>
              </a:spcAft>
            </a:pPr>
            <a:r>
              <a:rPr sz="1500" b="0" i="0">
                <a:solidFill>
                  <a:srgbClr val="000000"/>
                </a:solidFill>
                <a:latin typeface="Arial"/>
              </a:rPr>
              <a:t>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p:txBody>
      </p:sp>
      <p:pic>
        <p:nvPicPr>
          <p:cNvPr id="4" name="Picture 3" descr="PMC4891632_f2b.png"/>
          <p:cNvPicPr>
            <a:picLocks noChangeAspect="1"/>
          </p:cNvPicPr>
          <p:nvPr/>
        </p:nvPicPr>
        <p:blipFill>
          <a:blip r:embed="rId2"/>
          <a:stretch>
            <a:fillRect/>
          </a:stretch>
        </p:blipFill>
        <p:spPr>
          <a:xfrm>
            <a:off x="6504127" y="1280160"/>
            <a:ext cx="5120640" cy="4208548"/>
          </a:xfrm>
          <a:prstGeom prst="rect">
            <a:avLst/>
          </a:prstGeom>
        </p:spPr>
      </p:pic>
      <p:sp>
        <p:nvSpPr>
          <p:cNvPr id="5" name="Figure caption"/>
          <p:cNvSpPr txBox="1"/>
          <p:nvPr/>
        </p:nvSpPr>
        <p:spPr>
          <a:xfrm>
            <a:off x="6504127" y="55801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2B. Consistency of beat-relative movement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stable phase varies with the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pPr algn="l">
              <a:lnSpc>
                <a:spcPct val="108000"/>
              </a:lnSpc>
              <a:spcAft>
                <a:spcPts val="960"/>
              </a:spcAft>
            </a:pPr>
            <a:r>
              <a:rPr sz="1600" b="0" i="0">
                <a:solidFill>
                  <a:srgbClr val="000000"/>
                </a:solidFill>
                <a:latin typeface="Arial"/>
              </a:rPr>
              <a:t>Ronan’s average post-perturbation phase varied systematically with the altered tempo. Slower and faster conditions therefore retained distinct timing positions even when the head movements had regained a consistent relationship with the continuing sequence.</a:t>
            </a:r>
          </a:p>
          <a:p>
            <a:pPr algn="l">
              <a:lnSpc>
                <a:spcPct val="108000"/>
              </a:lnSpc>
              <a:spcAft>
                <a:spcPts val="960"/>
              </a:spcAft>
            </a:pPr>
            <a:r>
              <a:rPr sz="1600" b="0" i="0">
                <a:solidFill>
                  <a:srgbClr val="000000"/>
                </a:solidFill>
                <a:latin typeface="Arial"/>
              </a:rPr>
              <a:t>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p:txBody>
      </p:sp>
      <p:pic>
        <p:nvPicPr>
          <p:cNvPr id="4" name="Picture 3" descr="PMC4891632_f2a.png"/>
          <p:cNvPicPr>
            <a:picLocks noChangeAspect="1"/>
          </p:cNvPicPr>
          <p:nvPr/>
        </p:nvPicPr>
        <p:blipFill>
          <a:blip r:embed="rId2"/>
          <a:stretch>
            <a:fillRect/>
          </a:stretch>
        </p:blipFill>
        <p:spPr>
          <a:xfrm>
            <a:off x="6504127" y="1280160"/>
            <a:ext cx="5120640" cy="4172639"/>
          </a:xfrm>
          <a:prstGeom prst="rect">
            <a:avLst/>
          </a:prstGeom>
        </p:spPr>
      </p:pic>
      <p:sp>
        <p:nvSpPr>
          <p:cNvPr id="5" name="Figure caption"/>
          <p:cNvSpPr txBox="1"/>
          <p:nvPr/>
        </p:nvSpPr>
        <p:spPr>
          <a:xfrm>
            <a:off x="6504127" y="5544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2A. Average offsets after phase and tempo perturbations.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An oscillator is a repeating timing process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3D525C"/>
                </a:solidFill>
                <a:latin typeface="Arial"/>
              </a:rPr>
              <a:t>oscillator</a:t>
            </a:r>
            <a:r>
              <a:rPr sz="1600" b="0" i="0">
                <a:solidFill>
                  <a:srgbClr val="000000"/>
                </a:solidFill>
                <a:latin typeface="Arial"/>
              </a:rPr>
              <a:t> is a process that repeatedly passes through a cycle. The model represented Ronan’s head-bob timing as an oscillator influenced by the recurring auditory events. Its cycle position and repetition period could both change as sounds arrived.</a:t>
            </a:r>
          </a:p>
          <a:p>
            <a:pPr algn="l">
              <a:lnSpc>
                <a:spcPct val="108000"/>
              </a:lnSpc>
              <a:spcAft>
                <a:spcPts val="960"/>
              </a:spcAft>
            </a:pPr>
            <a:r>
              <a:rPr sz="1600" b="0" i="0">
                <a:solidFill>
                  <a:srgbClr val="000000"/>
                </a:solidFill>
                <a:latin typeface="Arial"/>
              </a:rPr>
              <a:t>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pPr algn="l">
              <a:lnSpc>
                <a:spcPct val="108000"/>
              </a:lnSpc>
              <a:spcAft>
                <a:spcPts val="960"/>
              </a:spcAft>
            </a:pPr>
            <a:r>
              <a:rPr sz="1600" b="0" i="0">
                <a:solidFill>
                  <a:srgbClr val="000000"/>
                </a:solidFill>
                <a:latin typeface="Arial"/>
              </a:rPr>
              <a:t>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Measured recovery and coupled-oscillator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Strong phase coupling restores the timing position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model’s </a:t>
            </a:r>
            <a:r>
              <a:rPr sz="1600" b="1" i="0">
                <a:solidFill>
                  <a:srgbClr val="3D525C"/>
                </a:solidFill>
                <a:latin typeface="Arial"/>
              </a:rPr>
              <a:t>phase-coupling parameter</a:t>
            </a:r>
            <a:r>
              <a:rPr sz="1600" b="0" i="0">
                <a:solidFill>
                  <a:srgbClr val="000000"/>
                </a:solidFill>
                <a:latin typeface="Arial"/>
              </a:rPr>
              <a:t> described how strongly a sound event adjusted the position of the behavioral cycle. Stronger coupling produced a larger correction for a given timing error, allowing the movement to regain a stable relationship over fewer cycles.</a:t>
            </a:r>
          </a:p>
          <a:p>
            <a:pPr algn="l">
              <a:lnSpc>
                <a:spcPct val="108000"/>
              </a:lnSpc>
              <a:spcAft>
                <a:spcPts val="960"/>
              </a:spcAft>
            </a:pPr>
            <a:r>
              <a:rPr sz="1600" b="0" i="0">
                <a:solidFill>
                  <a:srgbClr val="000000"/>
                </a:solidFill>
                <a:latin typeface="Arial"/>
              </a:rPr>
              <a:t>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pPr algn="l">
              <a:lnSpc>
                <a:spcPct val="108000"/>
              </a:lnSpc>
              <a:spcAft>
                <a:spcPts val="960"/>
              </a:spcAft>
            </a:pPr>
            <a:r>
              <a:rPr sz="1600" b="0" i="0">
                <a:solidFill>
                  <a:srgbClr val="000000"/>
                </a:solidFill>
                <a:latin typeface="Arial"/>
              </a:rPr>
              <a:t>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p:txBody>
      </p:sp>
      <p:pic>
        <p:nvPicPr>
          <p:cNvPr id="4" name="Picture 3" descr="PMC4891632_f4.png"/>
          <p:cNvPicPr>
            <a:picLocks noChangeAspect="1"/>
          </p:cNvPicPr>
          <p:nvPr/>
        </p:nvPicPr>
        <p:blipFill>
          <a:blip r:embed="rId2"/>
          <a:stretch>
            <a:fillRect/>
          </a:stretch>
        </p:blipFill>
        <p:spPr>
          <a:xfrm>
            <a:off x="6632506" y="1280160"/>
            <a:ext cx="486388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4A–C. Fitted phase and period adjustment parameters.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Period coupling adjusts the ongoing cycle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3D525C"/>
                </a:solidFill>
                <a:latin typeface="Arial"/>
              </a:rPr>
              <a:t>period</a:t>
            </a:r>
            <a:r>
              <a:rPr sz="1600" b="0" i="0">
                <a:solidFill>
                  <a:srgbClr val="000000"/>
                </a:solidFill>
                <a:latin typeface="Arial"/>
              </a:rPr>
              <a:t> is the duration of one complete movement cycle. Changing the period alters the repetition rate itself. This differs from briefly shifting the cycle’s position while leaving the preferred duration of later cycles unchanged.</a:t>
            </a:r>
          </a:p>
          <a:p>
            <a:pPr algn="l">
              <a:lnSpc>
                <a:spcPct val="108000"/>
              </a:lnSpc>
              <a:spcAft>
                <a:spcPts val="960"/>
              </a:spcAft>
            </a:pPr>
            <a:r>
              <a:rPr sz="1600" b="0" i="0">
                <a:solidFill>
                  <a:srgbClr val="000000"/>
                </a:solidFill>
                <a:latin typeface="Arial"/>
              </a:rPr>
              <a:t>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pPr algn="l">
              <a:lnSpc>
                <a:spcPct val="108000"/>
              </a:lnSpc>
              <a:spcAft>
                <a:spcPts val="960"/>
              </a:spcAft>
            </a:pPr>
            <a:r>
              <a:rPr sz="1600" b="0" i="0">
                <a:solidFill>
                  <a:srgbClr val="000000"/>
                </a:solidFill>
                <a:latin typeface="Arial"/>
              </a:rPr>
              <a:t>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Modeled and measured adaptation to new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same correction transfers to other base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main perturbation series used 85 bpm. Researchers also tested two additional unfamiliar baseline rates, approximately 77.3 and 94.4 bpm, with phase and tempo disturbances. This extended the correction test beyond a single preferred starting rhythm.</a:t>
            </a:r>
          </a:p>
          <a:p>
            <a:pPr algn="l">
              <a:lnSpc>
                <a:spcPct val="108000"/>
              </a:lnSpc>
              <a:spcAft>
                <a:spcPts val="960"/>
              </a:spcAft>
            </a:pPr>
            <a:r>
              <a:rPr sz="1600" b="0" i="0">
                <a:solidFill>
                  <a:srgbClr val="000000"/>
                </a:solidFill>
                <a:latin typeface="Arial"/>
              </a:rPr>
              <a:t>Ronan adapted across the additional baseline conditions as well. The ability to correct an ongoing response therefore generalized both across disturbance types and across the initial rate from which the disturbance was introduced.</a:t>
            </a:r>
          </a:p>
          <a:p>
            <a:pPr algn="l">
              <a:lnSpc>
                <a:spcPct val="108000"/>
              </a:lnSpc>
              <a:spcAft>
                <a:spcPts val="960"/>
              </a:spcAft>
            </a:pPr>
            <a:r>
              <a:rPr sz="1600" b="0" i="0">
                <a:solidFill>
                  <a:srgbClr val="000000"/>
                </a:solidFill>
                <a:latin typeface="Arial"/>
              </a:rPr>
              <a:t>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Controlled timing perturbations around a baseline rhythm.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Experience changes the animal’s synchronization profile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study revisited Ronan after years of intermittent beat-keeping experience. Her movements were compared at 80, 96, 108, and 120 bpm, using familiar simple stimuli related to those in the original experiments.</a:t>
            </a:r>
          </a:p>
          <a:p>
            <a:pPr algn="l">
              <a:lnSpc>
                <a:spcPct val="108000"/>
              </a:lnSpc>
              <a:spcAft>
                <a:spcPts val="960"/>
              </a:spcAft>
            </a:pPr>
            <a:r>
              <a:rPr sz="1600" b="0" i="0">
                <a:solidFill>
                  <a:srgbClr val="000000"/>
                </a:solidFill>
                <a:latin typeface="Arial"/>
              </a:rPr>
              <a:t>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pPr algn="l">
              <a:lnSpc>
                <a:spcPct val="108000"/>
              </a:lnSpc>
              <a:spcAft>
                <a:spcPts val="960"/>
              </a:spcAft>
            </a:pPr>
            <a:r>
              <a:rPr sz="1600" b="0" i="0">
                <a:solidFill>
                  <a:srgbClr val="000000"/>
                </a:solidFill>
                <a:latin typeface="Arial"/>
              </a:rPr>
              <a:t>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Performance at ages 3 and 15 years.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human task matches a large-amplitude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Earlier comparisons often contrasted sea-lion head bobs with human button presses. The 2025 experiment instead asked human participants to make a comfortable downward arm motion, bringing the selected movement landmark into alignment with the sound.</a:t>
            </a:r>
          </a:p>
          <a:p>
            <a:pPr algn="l">
              <a:lnSpc>
                <a:spcPct val="108000"/>
              </a:lnSpc>
              <a:spcAft>
                <a:spcPts val="960"/>
              </a:spcAft>
            </a:pPr>
            <a:r>
              <a:rPr sz="1600" b="0" i="0">
                <a:solidFill>
                  <a:srgbClr val="000000"/>
                </a:solidFill>
                <a:latin typeface="Arial"/>
              </a:rPr>
              <a:t>Humans held an arm beyond a panel and kept their gaze on a fixed mark, while the experimenter remained outside the room during trials. Ronan continued to work at her station with humans concealed behind a panel and blind.</a:t>
            </a:r>
          </a:p>
          <a:p>
            <a:pPr algn="l">
              <a:lnSpc>
                <a:spcPct val="108000"/>
              </a:lnSpc>
              <a:spcAft>
                <a:spcPts val="960"/>
              </a:spcAft>
            </a:pPr>
            <a:r>
              <a:rPr sz="1600" b="0" i="0">
                <a:solidFill>
                  <a:srgbClr val="000000"/>
                </a:solidFill>
                <a:latin typeface="Arial"/>
              </a:rPr>
              <a:t>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downward movement landmarks.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novel sound tests coordination beyond tonal tracks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comparison stimulus was a repeated snare-drum sound, different from Ronan’s familiar tonal tracks. Before testing, she received brief exposure at 96 bpm. This introduced the sound itself before the unfamiliar-rate comparisons began.</a:t>
            </a:r>
          </a:p>
          <a:p>
            <a:pPr algn="l">
              <a:lnSpc>
                <a:spcPct val="108000"/>
              </a:lnSpc>
              <a:spcAft>
                <a:spcPts val="1019"/>
              </a:spcAft>
            </a:pPr>
            <a:r>
              <a:rPr sz="1700" b="0" i="0">
                <a:solidFill>
                  <a:srgbClr val="000000"/>
                </a:solidFill>
                <a:latin typeface="Arial"/>
              </a:rPr>
              <a:t>Both sea lion and humans then completed the same warm-up presentations and test sequences. The test rates were 112, 120, and 128 bpm. The middle rate was familiar to Ronan, while the two surrounding rates were novel.</a:t>
            </a:r>
          </a:p>
          <a:p>
            <a:pPr algn="l">
              <a:lnSpc>
                <a:spcPct val="108000"/>
              </a:lnSpc>
              <a:spcAft>
                <a:spcPts val="1019"/>
              </a:spcAft>
            </a:pPr>
            <a:r>
              <a:rPr sz="1700" b="0" i="0">
                <a:solidFill>
                  <a:srgbClr val="000000"/>
                </a:solidFill>
                <a:latin typeface="Arial"/>
              </a:rPr>
              <a:t>Changing the sound’s acoustic character while preserving regular event timing challenged the response to generalize across timbre as well as tempo. </a:t>
            </a:r>
            <a:r>
              <a:rPr sz="1700" b="1" i="0">
                <a:solidFill>
                  <a:srgbClr val="3D525C"/>
                </a:solidFill>
                <a:latin typeface="Arial"/>
              </a:rPr>
              <a:t>Timbre</a:t>
            </a:r>
            <a:r>
              <a:rPr sz="1700" b="0" i="0">
                <a:solidFill>
                  <a:srgbClr val="000000"/>
                </a:solidFill>
                <a:latin typeface="Arial"/>
              </a:rPr>
              <a:t> is the sound quality associated with its spectral and temporal structure, distinguishing a snare hit from the earlier paired-tone stimuli.</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Sea-lion and human performance with snare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rates flank a familiar training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112 bpm, the snare stimulus was slower than Ronan’s familiar 120 bpm training rate. At 128 bpm, it was faster. Testing on either side of the practiced rate examined whether synchronization remained flexible rather than being confined to that particular learned tempo.</a:t>
            </a:r>
          </a:p>
          <a:p>
            <a:pPr algn="l">
              <a:lnSpc>
                <a:spcPct val="108000"/>
              </a:lnSpc>
              <a:spcAft>
                <a:spcPts val="1019"/>
              </a:spcAft>
            </a:pPr>
            <a:r>
              <a:rPr sz="1700" b="0" i="0">
                <a:solidFill>
                  <a:srgbClr val="000000"/>
                </a:solidFill>
                <a:latin typeface="Arial"/>
              </a:rPr>
              <a:t>Ronan produced one head bob for each beat on the tested sequences. Her average performed rates were approximately 113.1, 121.6, and 129.0 bpm for the 112, 120, and 128 bpm stimuli, respectively.</a:t>
            </a:r>
          </a:p>
          <a:p>
            <a:pPr algn="l">
              <a:lnSpc>
                <a:spcPct val="108000"/>
              </a:lnSpc>
              <a:spcAft>
                <a:spcPts val="1019"/>
              </a:spcAft>
            </a:pPr>
            <a:r>
              <a:rPr sz="1700" b="0" i="0">
                <a:solidFill>
                  <a:srgbClr val="000000"/>
                </a:solidFill>
                <a:latin typeface="Arial"/>
              </a:rPr>
              <a:t>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p:txBody>
      </p:sp>
      <p:pic>
        <p:nvPicPr>
          <p:cNvPr id="4" name="Picture 3" descr="PMC12045976_f3bottom.png"/>
          <p:cNvPicPr>
            <a:picLocks noChangeAspect="1"/>
          </p:cNvPicPr>
          <p:nvPr/>
        </p:nvPicPr>
        <p:blipFill>
          <a:blip r:embed="rId2"/>
          <a:stretch>
            <a:fillRect/>
          </a:stretch>
        </p:blipFill>
        <p:spPr>
          <a:xfrm>
            <a:off x="6504127" y="1280160"/>
            <a:ext cx="5120640" cy="1151284"/>
          </a:xfrm>
          <a:prstGeom prst="rect">
            <a:avLst/>
          </a:prstGeom>
        </p:spPr>
      </p:pic>
      <p:sp>
        <p:nvSpPr>
          <p:cNvPr id="5" name="Figure caption"/>
          <p:cNvSpPr txBox="1"/>
          <p:nvPr/>
        </p:nvSpPr>
        <p:spPr>
          <a:xfrm>
            <a:off x="6504127" y="252288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112 bpm row. Performance with a new slow snare tempo.</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Precise timing can include an anticipatory offset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3D525C"/>
                </a:solidFill>
                <a:latin typeface="Arial"/>
              </a:rPr>
              <a:t>negative asynchrony</a:t>
            </a:r>
            <a:r>
              <a:rPr sz="1700" b="0" i="0">
                <a:solidFill>
                  <a:srgbClr val="000000"/>
                </a:solidFill>
                <a:latin typeface="Arial"/>
              </a:rPr>
              <a:t> occurs when the selected movement landmark precedes the sound. In Ronan’s 2025 snare tests, the average phase at 112 and 120 bpm was negative, while the average at 128 bpm was slightly positive.</a:t>
            </a:r>
          </a:p>
          <a:p>
            <a:pPr algn="l">
              <a:lnSpc>
                <a:spcPct val="108000"/>
              </a:lnSpc>
              <a:spcAft>
                <a:spcPts val="1019"/>
              </a:spcAft>
            </a:pPr>
            <a:r>
              <a:rPr sz="1700" b="0" i="0">
                <a:solidFill>
                  <a:srgbClr val="000000"/>
                </a:solidFill>
                <a:latin typeface="Arial"/>
              </a:rPr>
              <a:t>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pPr algn="l">
              <a:lnSpc>
                <a:spcPct val="108000"/>
              </a:lnSpc>
              <a:spcAft>
                <a:spcPts val="1019"/>
              </a:spcAft>
            </a:pPr>
            <a:r>
              <a:rPr sz="1700" b="0" i="0">
                <a:solidFill>
                  <a:srgbClr val="000000"/>
                </a:solidFill>
                <a:latin typeface="Arial"/>
              </a:rPr>
              <a:t>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p:txBody>
      </p:sp>
      <p:pic>
        <p:nvPicPr>
          <p:cNvPr id="4" name="Picture 3" descr="PMC12045976_f3middle.png"/>
          <p:cNvPicPr>
            <a:picLocks noChangeAspect="1"/>
          </p:cNvPicPr>
          <p:nvPr/>
        </p:nvPicPr>
        <p:blipFill>
          <a:blip r:embed="rId2"/>
          <a:stretch>
            <a:fillRect/>
          </a:stretch>
        </p:blipFill>
        <p:spPr>
          <a:xfrm>
            <a:off x="6504127" y="1280160"/>
            <a:ext cx="5120640" cy="1010881"/>
          </a:xfrm>
          <a:prstGeom prst="rect">
            <a:avLst/>
          </a:prstGeom>
        </p:spPr>
      </p:pic>
      <p:sp>
        <p:nvSpPr>
          <p:cNvPr id="5" name="Figure caption"/>
          <p:cNvSpPr txBox="1"/>
          <p:nvPr/>
        </p:nvSpPr>
        <p:spPr>
          <a:xfrm>
            <a:off x="6504127" y="23824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120 bpm row. Timing with the familiar-rate snare sequence.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accuracy and response consistency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pPr algn="l">
              <a:lnSpc>
                <a:spcPct val="108000"/>
              </a:lnSpc>
              <a:spcAft>
                <a:spcPts val="960"/>
              </a:spcAft>
            </a:pPr>
            <a:r>
              <a:rPr sz="1600" b="0" i="0">
                <a:solidFill>
                  <a:srgbClr val="000000"/>
                </a:solidFill>
                <a:latin typeface="Arial"/>
              </a:rPr>
              <a:t>Ronan’s intervals were more consistent than those of the human participants across the three test rates. Her average tempo or average phase was also closer to the target than that of many participants, but the relative ranking depended on the performance measure.</a:t>
            </a:r>
          </a:p>
          <a:p>
            <a:pPr algn="l">
              <a:lnSpc>
                <a:spcPct val="108000"/>
              </a:lnSpc>
              <a:spcAft>
                <a:spcPts val="960"/>
              </a:spcAft>
            </a:pPr>
            <a:r>
              <a:rPr sz="1600" b="0" i="0">
                <a:solidFill>
                  <a:srgbClr val="000000"/>
                </a:solidFill>
                <a:latin typeface="Arial"/>
              </a:rPr>
              <a:t>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p:txBody>
      </p:sp>
      <p:pic>
        <p:nvPicPr>
          <p:cNvPr id="4" name="Picture 3" descr="PMC12045976_f3top.png"/>
          <p:cNvPicPr>
            <a:picLocks noChangeAspect="1"/>
          </p:cNvPicPr>
          <p:nvPr/>
        </p:nvPicPr>
        <p:blipFill>
          <a:blip r:embed="rId2"/>
          <a:stretch>
            <a:fillRect/>
          </a:stretch>
        </p:blipFill>
        <p:spPr>
          <a:xfrm>
            <a:off x="6504127" y="1280160"/>
            <a:ext cx="5120640" cy="1146047"/>
          </a:xfrm>
          <a:prstGeom prst="rect">
            <a:avLst/>
          </a:prstGeom>
        </p:spPr>
      </p:pic>
      <p:sp>
        <p:nvSpPr>
          <p:cNvPr id="5" name="Figure caption"/>
          <p:cNvSpPr txBox="1"/>
          <p:nvPr/>
        </p:nvSpPr>
        <p:spPr>
          <a:xfrm>
            <a:off x="6504127" y="251764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128 bpm row. Different dimensions of synchronized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Human gross movements vary across individuals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Humans in the comparison were non-musicians performing a large arm movement rather than a familiar tapping task. Their synchronization differed among individuals, with some participants producing less consistent movement intervals and more variable phases than others.</a:t>
            </a:r>
          </a:p>
          <a:p>
            <a:pPr algn="l">
              <a:lnSpc>
                <a:spcPct val="108000"/>
              </a:lnSpc>
              <a:spcAft>
                <a:spcPts val="960"/>
              </a:spcAft>
            </a:pPr>
            <a:r>
              <a:rPr sz="1600" b="0" i="0">
                <a:solidFill>
                  <a:srgbClr val="000000"/>
                </a:solidFill>
                <a:latin typeface="Arial"/>
              </a:rPr>
              <a:t>The distribution of performance matters because a comparison with only a hypothetical perfectly regular human would conceal the range of actual behavior. The experiment measured the same sound sequences in both species and retained each participant’s timing profile.</a:t>
            </a:r>
          </a:p>
          <a:p>
            <a:pPr algn="l">
              <a:lnSpc>
                <a:spcPct val="108000"/>
              </a:lnSpc>
              <a:spcAft>
                <a:spcPts val="960"/>
              </a:spcAft>
            </a:pPr>
            <a:r>
              <a:rPr sz="1600" b="0" i="0">
                <a:solidFill>
                  <a:srgbClr val="000000"/>
                </a:solidFill>
                <a:latin typeface="Arial"/>
              </a:rPr>
              <a:t>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Individual human and sea-lion timing measures.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Long-term performance includes improved phase alignment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pPr algn="l">
              <a:lnSpc>
                <a:spcPct val="108000"/>
              </a:lnSpc>
              <a:spcAft>
                <a:spcPts val="960"/>
              </a:spcAft>
            </a:pPr>
            <a:r>
              <a:rPr sz="1600" b="0" i="0">
                <a:solidFill>
                  <a:srgbClr val="000000"/>
                </a:solidFill>
                <a:latin typeface="Arial"/>
              </a:rPr>
              <a:t>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pPr algn="l">
              <a:lnSpc>
                <a:spcPct val="108000"/>
              </a:lnSpc>
              <a:spcAft>
                <a:spcPts val="960"/>
              </a:spcAft>
            </a:pPr>
            <a:r>
              <a:rPr sz="1600" b="0" i="0">
                <a:solidFill>
                  <a:srgbClr val="000000"/>
                </a:solidFill>
                <a:latin typeface="Arial"/>
              </a:rPr>
              <a:t>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Reduced timing offsets in experienced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tested skill is flexible beat synchronization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experiments established coordination with regular pulse sequences and with musical recordings that contain a regular pulse. </a:t>
            </a:r>
            <a:r>
              <a:rPr sz="1500" b="1" i="0">
                <a:solidFill>
                  <a:srgbClr val="3D525C"/>
                </a:solidFill>
                <a:latin typeface="Arial"/>
              </a:rPr>
              <a:t>Beat synchronization</a:t>
            </a:r>
            <a:r>
              <a:rPr sz="1500" b="0" i="0">
                <a:solidFill>
                  <a:srgbClr val="000000"/>
                </a:solidFill>
                <a:latin typeface="Arial"/>
              </a:rPr>
              <a:t> is the alignment of a repeated action with those pulse events, with flexibility across rates and acoustic forms.</a:t>
            </a:r>
          </a:p>
          <a:p>
            <a:pPr algn="l">
              <a:lnSpc>
                <a:spcPct val="108000"/>
              </a:lnSpc>
              <a:spcAft>
                <a:spcPts val="900"/>
              </a:spcAft>
            </a:pPr>
            <a:r>
              <a:rPr sz="1500" b="0" i="0">
                <a:solidFill>
                  <a:srgbClr val="000000"/>
                </a:solidFill>
                <a:latin typeface="Arial"/>
              </a:rPr>
              <a:t>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pPr algn="l">
              <a:lnSpc>
                <a:spcPct val="108000"/>
              </a:lnSpc>
              <a:spcAft>
                <a:spcPts val="900"/>
              </a:spcAft>
            </a:pPr>
            <a:r>
              <a:rPr sz="1500" b="0" i="0">
                <a:solidFill>
                  <a:srgbClr val="000000"/>
                </a:solidFill>
                <a:latin typeface="Arial"/>
              </a:rPr>
              <a:t>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Shared movement and timing definitions.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Rats move near musical beats without task training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Ito and colleagues attached a lightweight wireless accelerometer to rats and measured small head movements while music played. An </a:t>
            </a:r>
            <a:r>
              <a:rPr sz="1600" b="1" i="0">
                <a:solidFill>
                  <a:srgbClr val="3D525C"/>
                </a:solidFill>
                <a:latin typeface="Arial"/>
              </a:rPr>
              <a:t>accelerometer</a:t>
            </a:r>
            <a:r>
              <a:rPr sz="1600" b="0" i="0">
                <a:solidFill>
                  <a:srgbClr val="000000"/>
                </a:solidFill>
                <a:latin typeface="Arial"/>
              </a:rPr>
              <a:t> measures acceleration along specified axes, allowing movement changes to be quantified without requiring a trained beat-marking action.</a:t>
            </a:r>
          </a:p>
          <a:p>
            <a:pPr algn="l">
              <a:lnSpc>
                <a:spcPct val="108000"/>
              </a:lnSpc>
              <a:spcAft>
                <a:spcPts val="960"/>
              </a:spcAft>
            </a:pPr>
            <a:r>
              <a:rPr sz="1600" b="0" i="0">
                <a:solidFill>
                  <a:srgbClr val="000000"/>
                </a:solidFill>
                <a:latin typeface="Arial"/>
              </a:rPr>
              <a:t>The rats listened to Mozart’s Sonata for Two Pianos, K.448, at its original rate and at altered playback speeds. Their movements were more strongly aligned with the musical beats near the original tempo, approximately 132 bpm, than at the very fast versions.</a:t>
            </a:r>
          </a:p>
          <a:p>
            <a:pPr algn="l">
              <a:lnSpc>
                <a:spcPct val="108000"/>
              </a:lnSpc>
              <a:spcAft>
                <a:spcPts val="960"/>
              </a:spcAft>
            </a:pPr>
            <a:r>
              <a:rPr sz="1600" b="0" i="0">
                <a:solidFill>
                  <a:srgbClr val="000000"/>
                </a:solidFill>
                <a:latin typeface="Arial"/>
              </a:rPr>
              <a:t>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p:txBody>
      </p:sp>
      <p:pic>
        <p:nvPicPr>
          <p:cNvPr id="4" name="Picture 3" descr="rats_f1.png"/>
          <p:cNvPicPr>
            <a:picLocks noChangeAspect="1"/>
          </p:cNvPicPr>
          <p:nvPr/>
        </p:nvPicPr>
        <p:blipFill>
          <a:blip r:embed="rId2"/>
          <a:stretch>
            <a:fillRect/>
          </a:stretch>
        </p:blipFill>
        <p:spPr>
          <a:xfrm>
            <a:off x="7490688" y="1280160"/>
            <a:ext cx="314751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1A–G. Accelerometer measurements during musical playback.</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Jerk detects rapid changes in head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3D525C"/>
                </a:solidFill>
                <a:latin typeface="Arial"/>
              </a:rPr>
              <a:t>Jerk</a:t>
            </a:r>
            <a:r>
              <a:rPr sz="1700" b="0" i="0">
                <a:solidFill>
                  <a:srgbClr val="000000"/>
                </a:solidFill>
                <a:latin typeface="Arial"/>
              </a:rPr>
              <a:t> is the rate of change of acceleration. The rat study used this quantity to identify brief movement changes during musical listening. A small movement with a rapid change in acceleration can therefore contribute strongly to the measured response.</a:t>
            </a:r>
          </a:p>
          <a:p>
            <a:pPr algn="l">
              <a:lnSpc>
                <a:spcPct val="108000"/>
              </a:lnSpc>
              <a:spcAft>
                <a:spcPts val="1019"/>
              </a:spcAft>
            </a:pPr>
            <a:r>
              <a:rPr sz="1700" b="0" i="0">
                <a:solidFill>
                  <a:srgbClr val="000000"/>
                </a:solidFill>
                <a:latin typeface="Arial"/>
              </a:rPr>
              <a:t>Researchers compared jerk near putative beats with jerk elsewhere in the beat cycle. This beat contrast quantified whether the movement signal was organized around the musical pulse instead of being uniformly distributed through time.</a:t>
            </a:r>
          </a:p>
          <a:p>
            <a:pPr algn="l">
              <a:lnSpc>
                <a:spcPct val="108000"/>
              </a:lnSpc>
              <a:spcAft>
                <a:spcPts val="1019"/>
              </a:spcAft>
            </a:pPr>
            <a:r>
              <a:rPr sz="1700" b="0" i="0">
                <a:solidFill>
                  <a:srgbClr val="000000"/>
                </a:solidFill>
                <a:latin typeface="Arial"/>
              </a:rPr>
              <a:t>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p:txBody>
      </p:sp>
      <p:pic>
        <p:nvPicPr>
          <p:cNvPr id="4" name="Picture 3" descr="rats_f1.png"/>
          <p:cNvPicPr>
            <a:picLocks noChangeAspect="1"/>
          </p:cNvPicPr>
          <p:nvPr/>
        </p:nvPicPr>
        <p:blipFill>
          <a:blip r:embed="rId2"/>
          <a:stretch>
            <a:fillRect/>
          </a:stretch>
        </p:blipFill>
        <p:spPr>
          <a:xfrm>
            <a:off x="7490688" y="1280160"/>
            <a:ext cx="314751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1C–F. Acceleration, jerk, and beat-relative movement contrast.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 and human movements favor similar tempos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experiment also measured head movements in humans listening to the same musical excerpt at altered speeds. This provided a comparison in which both species were exposed to the same changing temporal structure, although their absolute movement magnitudes differed.</a:t>
            </a:r>
          </a:p>
          <a:p>
            <a:pPr algn="l">
              <a:lnSpc>
                <a:spcPct val="108000"/>
              </a:lnSpc>
              <a:spcAft>
                <a:spcPts val="960"/>
              </a:spcAft>
            </a:pPr>
            <a:r>
              <a:rPr sz="1600" b="0" i="0">
                <a:solidFill>
                  <a:srgbClr val="000000"/>
                </a:solidFill>
                <a:latin typeface="Arial"/>
              </a:rPr>
              <a:t>Beat-related movement organization was strongest near the original musical rate rather than at the greatly accelerated versions. The two species also showed related changes in movement strength across individual beats of the original excerpt.</a:t>
            </a:r>
          </a:p>
          <a:p>
            <a:pPr algn="l">
              <a:lnSpc>
                <a:spcPct val="108000"/>
              </a:lnSpc>
              <a:spcAft>
                <a:spcPts val="960"/>
              </a:spcAft>
            </a:pPr>
            <a:r>
              <a:rPr sz="1600" b="0" i="0">
                <a:solidFill>
                  <a:srgbClr val="000000"/>
                </a:solidFill>
                <a:latin typeface="Arial"/>
              </a:rPr>
              <a:t>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p:txBody>
      </p:sp>
      <p:pic>
        <p:nvPicPr>
          <p:cNvPr id="4" name="Picture 3" descr="rats_f2.png"/>
          <p:cNvPicPr>
            <a:picLocks noChangeAspect="1"/>
          </p:cNvPicPr>
          <p:nvPr/>
        </p:nvPicPr>
        <p:blipFill>
          <a:blip r:embed="rId2"/>
          <a:stretch>
            <a:fillRect/>
          </a:stretch>
        </p:blipFill>
        <p:spPr>
          <a:xfrm>
            <a:off x="6682771" y="1280160"/>
            <a:ext cx="476335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2A–C. Beat-related movement comparisons across playback speeds.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Population activity is tuned to musical event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rat study separately recorded </a:t>
            </a:r>
            <a:r>
              <a:rPr sz="1600" b="1" i="0">
                <a:solidFill>
                  <a:srgbClr val="3D525C"/>
                </a:solidFill>
                <a:latin typeface="Arial"/>
              </a:rPr>
              <a:t>multiunit activity</a:t>
            </a:r>
            <a:r>
              <a:rPr sz="1600" b="0" i="0">
                <a:solidFill>
                  <a:srgbClr val="000000"/>
                </a:solidFill>
                <a:latin typeface="Arial"/>
              </a:rPr>
              <a:t>, the combined spiking response of several nearby neurons, while presenting music at different playback speeds. Activity following beat events was compared with activity following other events in the same musical sequence.</a:t>
            </a:r>
          </a:p>
          <a:p>
            <a:pPr algn="l">
              <a:lnSpc>
                <a:spcPct val="108000"/>
              </a:lnSpc>
              <a:spcAft>
                <a:spcPts val="960"/>
              </a:spcAft>
            </a:pPr>
            <a:r>
              <a:rPr sz="1600" b="0" i="0">
                <a:solidFill>
                  <a:srgbClr val="000000"/>
                </a:solidFill>
                <a:latin typeface="Arial"/>
              </a:rPr>
              <a:t>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pPr algn="l">
              <a:lnSpc>
                <a:spcPct val="108000"/>
              </a:lnSpc>
              <a:spcAft>
                <a:spcPts val="960"/>
              </a:spcAft>
            </a:pPr>
            <a:r>
              <a:rPr sz="1600" b="0" i="0">
                <a:solidFill>
                  <a:srgbClr val="000000"/>
                </a:solidFill>
                <a:latin typeface="Arial"/>
              </a:rPr>
              <a:t>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p:txBody>
      </p:sp>
      <p:pic>
        <p:nvPicPr>
          <p:cNvPr id="4" name="Picture 3" descr="rats_f3.png"/>
          <p:cNvPicPr>
            <a:picLocks noChangeAspect="1"/>
          </p:cNvPicPr>
          <p:nvPr/>
        </p:nvPicPr>
        <p:blipFill>
          <a:blip r:embed="rId2"/>
          <a:stretch>
            <a:fillRect/>
          </a:stretch>
        </p:blipFill>
        <p:spPr>
          <a:xfrm>
            <a:off x="7528453" y="1280160"/>
            <a:ext cx="307198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3A–E. Neural responses to musical beats at different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Short-term adaptation favors intermediate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Short-term adaptation</a:t>
            </a:r>
            <a:r>
              <a:rPr sz="1600" b="0" i="0">
                <a:solidFill>
                  <a:srgbClr val="000000"/>
                </a:solidFill>
                <a:latin typeface="Arial"/>
              </a:rPr>
              <a:t> is a change in responsiveness during recent stimulation. Repeated sounds can reduce a neural population’s response, with recovery depending on the time since preceding stimulation. This creates a temporal dependence even when each sound is acoustically similar.</a:t>
            </a:r>
          </a:p>
          <a:p>
            <a:pPr algn="l">
              <a:lnSpc>
                <a:spcPct val="108000"/>
              </a:lnSpc>
              <a:spcAft>
                <a:spcPts val="960"/>
              </a:spcAft>
            </a:pPr>
            <a:r>
              <a:rPr sz="1600" b="0" i="0">
                <a:solidFill>
                  <a:srgbClr val="000000"/>
                </a:solidFill>
                <a:latin typeface="Arial"/>
              </a:rPr>
              <a:t>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pPr algn="l">
              <a:lnSpc>
                <a:spcPct val="108000"/>
              </a:lnSpc>
              <a:spcAft>
                <a:spcPts val="960"/>
              </a:spcAft>
            </a:pPr>
            <a:r>
              <a:rPr sz="1600" b="0" i="0">
                <a:solidFill>
                  <a:srgbClr val="000000"/>
                </a:solidFill>
                <a:latin typeface="Arial"/>
              </a:rPr>
              <a:t>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p:txBody>
      </p:sp>
      <p:pic>
        <p:nvPicPr>
          <p:cNvPr id="4" name="Picture 3" descr="rats_f4.png"/>
          <p:cNvPicPr>
            <a:picLocks noChangeAspect="1"/>
          </p:cNvPicPr>
          <p:nvPr/>
        </p:nvPicPr>
        <p:blipFill>
          <a:blip r:embed="rId2"/>
          <a:stretch>
            <a:fillRect/>
          </a:stretch>
        </p:blipFill>
        <p:spPr>
          <a:xfrm>
            <a:off x="6504127" y="1280160"/>
            <a:ext cx="5120640" cy="3635062"/>
          </a:xfrm>
          <a:prstGeom prst="rect">
            <a:avLst/>
          </a:prstGeom>
        </p:spPr>
      </p:pic>
      <p:sp>
        <p:nvSpPr>
          <p:cNvPr id="5" name="Figure caption"/>
          <p:cNvSpPr txBox="1"/>
          <p:nvPr/>
        </p:nvSpPr>
        <p:spPr>
          <a:xfrm>
            <a:off x="6504127" y="5006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4A–I. Recorded responses and adaptation-model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Key takeaways</a:t>
            </a:r>
          </a:p>
        </p:txBody>
      </p:sp>
      <p:sp>
        <p:nvSpPr>
          <p:cNvPr id="3" name="Rectangle 2"/>
          <p:cNvSpPr/>
          <p:nvPr/>
        </p:nvSpPr>
        <p:spPr>
          <a:xfrm>
            <a:off x="566928" y="1234440"/>
            <a:ext cx="5391759" cy="1478279"/>
          </a:xfrm>
          <a:prstGeom prst="rect">
            <a:avLst/>
          </a:prstGeom>
          <a:solidFill>
            <a:srgbClr val="F3F6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 and phase</a:t>
            </a:r>
            <a:r>
              <a:rPr sz="1600" b="0" i="0">
                <a:solidFill>
                  <a:srgbClr val="000000"/>
                </a:solidFill>
                <a:latin typeface="Arial"/>
              </a:rPr>
              <a:t> A matching repetition rate and a stable relationship to individual beats are distinct aspects of synchronization.</a:t>
            </a:r>
          </a:p>
        </p:txBody>
      </p:sp>
      <p:sp>
        <p:nvSpPr>
          <p:cNvPr id="5" name="Rectangle 4"/>
          <p:cNvSpPr/>
          <p:nvPr/>
        </p:nvSpPr>
        <p:spPr>
          <a:xfrm>
            <a:off x="6233007" y="1234440"/>
            <a:ext cx="5391759" cy="1478279"/>
          </a:xfrm>
          <a:prstGeom prst="rect">
            <a:avLst/>
          </a:prstGeom>
          <a:solidFill>
            <a:srgbClr val="F3F6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Flexible transfer</a:t>
            </a:r>
            <a:r>
              <a:rPr sz="1600" b="0" i="0">
                <a:solidFill>
                  <a:srgbClr val="000000"/>
                </a:solidFill>
                <a:latin typeface="Arial"/>
              </a:rPr>
              <a:t> Ronan applied trained head bobbing to unfamiliar tempos, new sound forms, and musical pulse sequences.</a:t>
            </a:r>
          </a:p>
        </p:txBody>
      </p:sp>
      <p:sp>
        <p:nvSpPr>
          <p:cNvPr id="7" name="Rectangle 6"/>
          <p:cNvSpPr/>
          <p:nvPr/>
        </p:nvSpPr>
        <p:spPr>
          <a:xfrm>
            <a:off x="566928" y="2987040"/>
            <a:ext cx="5391759" cy="1478279"/>
          </a:xfrm>
          <a:prstGeom prst="rect">
            <a:avLst/>
          </a:prstGeom>
          <a:solidFill>
            <a:srgbClr val="F3F6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Predictive timing</a:t>
            </a:r>
            <a:r>
              <a:rPr sz="1600" b="0" i="0">
                <a:solidFill>
                  <a:srgbClr val="000000"/>
                </a:solidFill>
                <a:latin typeface="Arial"/>
              </a:rPr>
              <a:t> Continued movement through omitted sounds and anticipatory offsets support timing beyond isolated sound-triggered reactions.</a:t>
            </a:r>
          </a:p>
        </p:txBody>
      </p:sp>
      <p:sp>
        <p:nvSpPr>
          <p:cNvPr id="9" name="Rectangle 8"/>
          <p:cNvSpPr/>
          <p:nvPr/>
        </p:nvSpPr>
        <p:spPr>
          <a:xfrm>
            <a:off x="6233007" y="2987040"/>
            <a:ext cx="5391759" cy="1478279"/>
          </a:xfrm>
          <a:prstGeom prst="rect">
            <a:avLst/>
          </a:prstGeom>
          <a:solidFill>
            <a:srgbClr val="F3F6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Corrective dynamics</a:t>
            </a:r>
            <a:r>
              <a:rPr sz="1600" b="0" i="0">
                <a:solidFill>
                  <a:srgbClr val="000000"/>
                </a:solidFill>
                <a:latin typeface="Arial"/>
              </a:rPr>
              <a:t> Phase disturbances change cycle position; persistent tempo disturbances also require adjustment of cycle duration.</a:t>
            </a:r>
          </a:p>
        </p:txBody>
      </p:sp>
      <p:sp>
        <p:nvSpPr>
          <p:cNvPr id="11" name="Rectangle 10"/>
          <p:cNvSpPr/>
          <p:nvPr/>
        </p:nvSpPr>
        <p:spPr>
          <a:xfrm>
            <a:off x="566928" y="4739640"/>
            <a:ext cx="5391759" cy="1478279"/>
          </a:xfrm>
          <a:prstGeom prst="rect">
            <a:avLst/>
          </a:prstGeom>
          <a:solidFill>
            <a:srgbClr val="F3F6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Experience and comparison</a:t>
            </a:r>
            <a:r>
              <a:rPr sz="1600" b="0" i="0">
                <a:solidFill>
                  <a:srgbClr val="000000"/>
                </a:solidFill>
                <a:latin typeface="Arial"/>
              </a:rPr>
              <a:t> An experienced sea lion performed precisely on a matched gross-movement task, with results depending on the measured timing dimension.</a:t>
            </a:r>
          </a:p>
        </p:txBody>
      </p:sp>
      <p:sp>
        <p:nvSpPr>
          <p:cNvPr id="13" name="Rectangle 12"/>
          <p:cNvSpPr/>
          <p:nvPr/>
        </p:nvSpPr>
        <p:spPr>
          <a:xfrm>
            <a:off x="6233007" y="4739640"/>
            <a:ext cx="5391759" cy="1478279"/>
          </a:xfrm>
          <a:prstGeom prst="rect">
            <a:avLst/>
          </a:prstGeom>
          <a:solidFill>
            <a:srgbClr val="F3F6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Candidate neural computation</a:t>
            </a:r>
            <a:r>
              <a:rPr sz="1500" b="0" i="0">
                <a:solidFill>
                  <a:srgbClr val="000000"/>
                </a:solidFill>
                <a:latin typeface="Arial"/>
              </a:rPr>
              <a:t> Rat recordings and adaptation modeling link intermediate-rate sensitivity to recent sound history; Ronan’s oscillator account describes measured behavioral dynamics.</a:t>
            </a:r>
          </a:p>
        </p:txBody>
      </p:sp>
      <p:sp>
        <p:nvSpPr>
          <p:cNvPr id="15" name="Rectangle 14"/>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 2025); Rouse et al. (2016); Ito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rhythmic entrainment, auditory–motor coordination, and experimental tests of beat synchronization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