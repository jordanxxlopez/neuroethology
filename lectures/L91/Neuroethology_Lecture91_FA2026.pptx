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 lions: brain/neuro anatomy/organization, rhythmic entrainment, auditory–motor coordination, learned commands, and tests of beat synchronization</a:t>
            </a:r>
          </a:p>
          <a:p>
            <a:r>
              <a:t>Lecture 91. NEUR 411 · NEUROETHOLOGY · FALL 2026. Date TBD.</a:t>
            </a:r>
          </a:p>
          <a:p/>
          <a:p>
            <a:r>
              <a:t>Image: Photo: California sea lion Ronan at UC Santa Cruz’s Long Marine Laboratory. Photo by Colleen Reichmuth; NOAA/NMFS 23554. Credit: Colleen Reichmuth, UC Santa Cruz; NOAA/NMFS 23554. License: UC Santa Cruz media download: image must be used with supplied caption, including NOAA/NMFS number; no open license stated. Source: https://news.ucsc.edu/2025/05/ronan-sea-lion-beats-humans/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**Rhythmic entrainment** is the adjustment of a repeating movement to an external rhythm. Ronan, a California sea lion, learned to move her head up and down while hearing regularly spaced sounds. The lowest point of each movement supplied a repeatable timing marker.</a:t>
            </a:r>
          </a:p>
          <a:p>
            <a:r>
              <a:t>• Cook and colleagues trained this behavior at 80 and 120 beats per minute, then tested other rates and musical recordings. A movement that stays aligned across unfamiliar rates requires flexible timing rather than the repetition of one memorized motor speed.</a:t>
            </a:r>
          </a:p>
          <a:p>
            <a:r>
              <a:t>• Ronan lived at the University of California, Santa Cruz. The experimental task underlying her public reputation as a dancing sea lion combined a controlled sound sequence, concealed trainers, video measurements, and food reinforcement for appropriately timed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1C. Head-bob timing after training at 80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**Tempo** is the repetition rate of the sound sequence, expressed in beats per minute. Matching tempo means producing the same average number of movements per unit time. Two repeating events can share a tempo while occurring at different points within each cycle.</a:t>
            </a:r>
          </a:p>
          <a:p>
            <a:r>
              <a:t>• **Phase**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r>
              <a:t>• At different unfamiliar tempos, Ronan maintained organized phase relationships even when her head reached its lowest point before or after the sound. These offsets distinguish successful coordination with the repeating stimulus from exact coincidence at the beat itself.</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 Movement timing at five unfamiliar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**Neuroanatomy** is the organization of the nervous system and its structures. **Cerebral cortex** is the outer sheet of the cerebrum. Sawyer and colleagues examined a juvenile California sea-lion brain whose cortical surface contained numerous folds. **Gyri** are the raised folds; **sulci** are the grooves separating them. The two hemispheres had similar but nonidentical groove patterns.</a:t>
            </a:r>
          </a:p>
          <a:p>
            <a:r>
              <a:t>• The fixed specimen was 10.2 cm long and 10.1 cm wide near its posterior end, compared with 6.0 cm across the anterior portion. These are dimensions of the preserved juvenile specimen, rather than measurements of Ronan or a standard adult brain.</a:t>
            </a:r>
          </a:p>
          <a:p>
            <a:r>
              <a:t>• A large **cerebellum**, a brain structure involved in movement coordination, lay beneath the posterior cerebral region. The study localized sensory cortex using tissue stains and anatomical landmarks. Folding alone did not locate functional regions; microscopic organization supplied the boundaries of the somatosensory area.</a:t>
            </a:r>
          </a:p>
          <a:p>
            <a:r>
              <a:t>• The examined juvenile brain weighed 288.4 g after perfusion and immersion fixation. Preservation and developmental stage matter when comparing its dimensions with living adult animals.</a:t>
            </a:r>
          </a:p>
          <a:p/>
          <a:p>
            <a:r>
              <a:t>References:</a:t>
            </a:r>
          </a:p>
          <a:p>
            <a:r>
              <a:t>Sawyer EK, Turner EC, Kaas JH (2016). Somatosensory brainstem, thalamus, and cortex of the California sea lion (Zalophus californianus). Journal of Comparative Neurology 524(9):1957–1975. https://doi.org/10.1002/cne.23984</a:t>
            </a:r>
          </a:p>
          <a:p/>
          <a:p>
            <a:r>
              <a:t>Figure: Sawyer et al. (2016), Fig. 7G–I. Dorsal, isometric, and ventral views of a juvenile sea-lion brain.</a:t>
            </a:r>
          </a:p>
          <a:p>
            <a:r>
              <a:t>Figure source: https://doi.org/10.1002/cne.23984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**Vibrissae** are specialized whiskers whose follicles receive sensory innervation. The examined sea lions had 38 whiskers arranged in six rows on each cheek pad. Their facial array provides many separate points at which contact or water movement can deform a whisker.</a:t>
            </a:r>
          </a:p>
          <a:p>
            <a:r>
              <a:t>• A stained follicle contained a blood-filled cavernous sinus and a deep vibrissal nerve entering its base. This structure differs from an ordinary coat-hair follicle. Whisker deformation is therefore delivered to an innervated sensory organ embedded in the skin rather than detected by the hair shaft itself.</a:t>
            </a:r>
          </a:p>
          <a:p>
            <a:r>
              <a:t>• The **trigeminal nerve** carries facial somatosensory signals, meaning information about touch and related bodily sensation. Its thick sensory root lay beside a separate, smaller motor root. **Axons** are nerve-cell fibers that conduct signals; **myelin** is their insulating sheath. Microscopy identified thinly and thickly myelinated axons in the pathway carrying facial information into the brainstem.</a:t>
            </a:r>
          </a:p>
          <a:p/>
          <a:p>
            <a:r>
              <a:t>References:</a:t>
            </a:r>
          </a:p>
          <a:p>
            <a:r>
              <a:t>Sawyer EK, Turner EC, Kaas JH (2016). Somatosensory brainstem, thalamus, and cortex of the California sea lion (Zalophus californianus). Journal of Comparative Neurology 524(9):1957–1975. https://doi.org/10.1002/cne.23984</a:t>
            </a:r>
          </a:p>
          <a:p/>
          <a:p>
            <a:r>
              <a:t>Figure: Sawyer et al. (2016), Fig. 2A–F. Whiskers, an innervated follicle, and sensory and motor roots.</a:t>
            </a:r>
          </a:p>
          <a:p>
            <a:r>
              <a:t>Figure source: https://doi.org/10.1002/cne.23984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**principal sensory trigeminal nucleus** is a brainstem relay for facial somatosensory information. In sea-lion tissue, this nucleus contained clusters separated by relatively cell-sparse partitions. Related modules also occurred in the spinal trigeminal nuclei, which extend the facial representation through the brainstem.</a:t>
            </a:r>
          </a:p>
          <a:p>
            <a:r>
              <a:t>• **Nissl staining** reveals neuronal cell bodies. **Cytochrome oxidase staining** marks metabolic organization, while vesicular glutamate transporter 1 staining identified dense afferent terminal regions. **Glutamate** is a neurotransmitter, a chemical signal released at synapses. This transporter packages it in presynaptic vesicles. The three preparations converged on a modular architecture instead of a uniform mass of tissue.</a:t>
            </a:r>
          </a:p>
          <a:p>
            <a:r>
              <a:t>• The arrangement resembled the facial whisker array, especially the six-row organization in the interpolaris subdivision. Individual sections did not yield an exact whisker-to-module assignment. The anatomical finding is a partitioned facial sensory representation, with dense incoming terminals concentrated within its modules.</a:t>
            </a:r>
          </a:p>
          <a:p>
            <a:r>
              <a:t>• Vesicular glutamate transporters package glutamate in presynaptic vesicles. VGLUT1 staining marks the organization of glutamatergic input terminals; staining is an anatomical assay, not a recording of sensory firing during behavior.</a:t>
            </a:r>
          </a:p>
          <a:p/>
          <a:p>
            <a:r>
              <a:t>References:</a:t>
            </a:r>
          </a:p>
          <a:p>
            <a:r>
              <a:t>Sawyer EK, Turner EC, Kaas JH (2016). Somatosensory brainstem, thalamus, and cortex of the California sea lion (Zalophus californianus). Journal of Comparative Neurology 524(9):1957–1975. https://doi.org/10.1002/cne.23984</a:t>
            </a:r>
          </a:p>
          <a:p/>
          <a:p>
            <a:r>
              <a:t>Figure: Sawyer et al. (2016), Fig. 4I–K. Principal sensory nucleus stained for cells, metabolism, and VGLUT1.</a:t>
            </a:r>
          </a:p>
          <a:p>
            <a:r>
              <a:t>Figure source: https://doi.org/10.1002/cne.23984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**thalamus** contains relays between ascending sensory pathways and cerebral cortex. The sea-lion **ventral posterior nucleus** was distinguished from surrounding tissue by large neuronal cell bodies and dense staining for cytochrome oxidase and vesicular glutamate transporter 2.</a:t>
            </a:r>
          </a:p>
          <a:p>
            <a:r>
              <a:t>• Its **ventroposterior medial subdivision**, or VPM, occupied a large part of the nucleus and corresponds to facial representation in the mammalian somatosensory pathway. The neighboring **ventroposterior lateral subdivision**, or VPL, corresponds to bodily representation. Their boundaries changed across successive sections rather than forming identical shapes at every depth.</a:t>
            </a:r>
          </a:p>
          <a:p>
            <a:r>
              <a:t>• Lightly stained partitions divided the nucleus internally. The sea-lion preparation established these subdivisions anatomically, without a physiological point-by-point body map. Facial sensation thus has an extensive thalamic territory between its brainstem representation and the cortical sensory region.</a:t>
            </a:r>
          </a:p>
          <a:p/>
          <a:p>
            <a:r>
              <a:t>References:</a:t>
            </a:r>
          </a:p>
          <a:p>
            <a:r>
              <a:t>Sawyer EK, Turner EC, Kaas JH (2016). Somatosensory brainstem, thalamus, and cortex of the California sea lion (Zalophus californianus). Journal of Comparative Neurology 524(9):1957–1975. https://doi.org/10.1002/cne.23984</a:t>
            </a:r>
          </a:p>
          <a:p/>
          <a:p>
            <a:r>
              <a:t>Figure: Sawyer et al. (2016), Fig. 6B–D. Matched sections identify the somatosensory thalamic subdivisions.</a:t>
            </a:r>
          </a:p>
          <a:p>
            <a:r>
              <a:t>Figure source: https://doi.org/10.1002/cne.23984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**Primary somatosensory cortex**, or S1, is a cerebral region receiving bodily sensory information. Sawyer and colleagues localized a presumptive S1 region just anterior to the major vertical fissure using its microscopic organization and position within the folded sea-lion cortex.</a:t>
            </a:r>
          </a:p>
          <a:p>
            <a:r>
              <a:t>• **Cortical layers** are bands that differ in neuronal populations and connections. In this region, layer 4 contained densely packed cells and stained strongly for cytochrome oxidase and vesicular glutamate transporter 2. Layer 5 was relatively cell-sparse, whereas layer 6 was thick and cell-dense.</a:t>
            </a:r>
          </a:p>
          <a:p>
            <a:r>
              <a:t>• The VGLUT2-rich layer identifies a concentration of glutamatergic input terminals associated with primary sensory cortex. Tissue organization therefore connected a macroscopically folded surface with a specific sensory territory. Reconstructing successive stained sections placed that territory relative to the coronal and suprasylvian sulci.</a:t>
            </a:r>
          </a:p>
          <a:p/>
          <a:p>
            <a:r>
              <a:t>References:</a:t>
            </a:r>
          </a:p>
          <a:p>
            <a:r>
              <a:t>Sawyer EK, Turner EC, Kaas JH (2016). Somatosensory brainstem, thalamus, and cortex of the California sea lion (Zalophus californianus). Journal of Comparative Neurology 524(9):1957–1975. https://doi.org/10.1002/cne.23984</a:t>
            </a:r>
          </a:p>
          <a:p/>
          <a:p>
            <a:r>
              <a:t>Figure: Sawyer et al. (2016), Fig. 8E–G. Layer-specific metabolic, neuronal, and VGLUT2 staining.</a:t>
            </a:r>
          </a:p>
          <a:p>
            <a:r>
              <a:t>Figure source: https://doi.org/10.1002/cne.23984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**Electroencephalography**, or EEG, records voltage fluctuations through electrodes near the head. Williams and colleagues adapted the electrode arrangement to California sea lions and identified patterns in neurologically normal animals alongside recordings from animals with neurological disease.</a:t>
            </a:r>
          </a:p>
          <a:p>
            <a:r>
              <a:t>• Wakeful recordings included low-amplitude **beta activity**, faster than 13 Hz, interspersed with **alpha activity** at 8–13 Hz. Slow-wave sleep contained high-amplitude **delta activity**, slower than 4 Hz, and sleep spindles around 12–14 Hz. The same nervous system can therefore produce different temporal activity patterns across states.</a:t>
            </a:r>
          </a:p>
          <a:p>
            <a:r>
              <a:t>• These EEG rhythms are electrical activity patterns, whereas Ronan’s entrainment is a measured relationship between movement and an external sound sequence. The distinction separates physiological frequency from behavioral beat keeping. Sedation and arousal were tracked because they altered the EEG state being interpreted.</a:t>
            </a:r>
          </a:p>
          <a:p>
            <a:r>
              <a:t>• Many animals received sedatives during electrode placement. These clinical recordings were not an auditory synchronization experiment or a natural-sleep survey. The comparison uses the paper’s neurologically normal wakeful and slow-wave examples.</a:t>
            </a:r>
          </a:p>
          <a:p/>
          <a:p>
            <a:r>
              <a:t>References:</a:t>
            </a:r>
          </a:p>
          <a:p>
            <a:r>
              <a:t>Williams DC, Haulena M, Dennison S, Waugh L, Goldstein T, Nutter F, Van Bonn B, Hoard V, Laxer KD, Buckmaster PS, Gulland FMD, Tharp B (2023). Pinniped electroencephalography: Methodology and findings in California sea lions (Zalophus californianus). Frontiers in Veterinary Science 10:1040125. https://doi.org/10.3389/fvets.2023.1040125</a:t>
            </a:r>
          </a:p>
          <a:p/>
          <a:p>
            <a:r>
              <a:t>Figure: Williams et al. (2023), Fig. 2A–B. Sea-lion EEG during wakefulness and slow-wave sleep.</a:t>
            </a:r>
          </a:p>
          <a:p>
            <a:r>
              <a:t>Figure source: https://doi.org/10.3389/fvets.2023.1040125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**Active sensing** means moving a sensory organ to acquire information relevant to a task. Lo, a California sea lion, used different head and whisker movements when discriminating texture, size, or visual brightness. Blindfolds restricted the texture and size tasks to tactile exploration.</a:t>
            </a:r>
          </a:p>
          <a:p>
            <a:r>
              <a:t>• For texture, Lo swept laterally across the surfaces. For size, she moved toward the object edges and made larger whisker movements. Average whisker excursions were about 34° for texture and 47° for size, compared with 24° during visual brightness discrimination.</a:t>
            </a:r>
          </a:p>
          <a:p>
            <a:r>
              <a:t>• The target remained the intermediate stimulus among two distractors. A visual control reduced the need to explore by touch, and head and whisker movements declined. Task-specific movement therefore changed how the sensory surface was sampled, linking perceptual demands to the motor strategy used to solve them.</a:t>
            </a:r>
          </a:p>
          <a:p>
            <a:r>
              <a:t>• Movie 1 contains the original texture, size, and brightness trials in a single recording. Its segments are not counted as separate movies.</a:t>
            </a:r>
          </a:p>
          <a:p/>
          <a:p>
            <a:r>
              <a:t>References:</a:t>
            </a:r>
          </a:p>
          <a:p>
            <a:r>
              <a:t>Milne AO, Orton L, Black CH, Jones GC, Sullivan M, Grant RA (2021). California sea lions employ task-specific strategies for active touch sensing. Journal of Experimental Biology 224(21):jeb243085. https://doi.org/10.1242/jeb.243085</a:t>
            </a:r>
          </a:p>
          <a:p/>
          <a:p>
            <a:r>
              <a:t>Figure: Milne et al. (2021), Fig. 1A–B. Lo explores texture and size with different whisker trajectories.</a:t>
            </a:r>
          </a:p>
          <a:p>
            <a:r>
              <a:t>Figure source: https://doi.org/10.1242/jeb.243085</a:t>
            </a:r>
          </a:p>
          <a:p>
            <a:r>
              <a:t>Embedded recording: Milne et al. (2021), Movie 1. Lo explores texture, size, and visual brightness.</a:t>
            </a:r>
          </a:p>
          <a:p>
            <a:r>
              <a:t>Source URL: https://static-movie-usa.glencoesoftware.com/source/10.1242/861/cf6333a8eda59f3724280a480f4c6d468185fa4d/JEB243085.MovieS1.mp4</a:t>
            </a:r>
          </a:p>
          <a:p>
            <a:r>
              <a:t>Article DOI: https://doi.org/10.1242/jeb.243085</a:t>
            </a:r>
          </a:p>
          <a:p>
            <a:r>
              <a:t>Credit: Milne, Orton, Black, Jones, Sullivan, and Grant. License: CC BY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**learned command** is a cue associated with a trained action or task. In Lo’s discrimination experiment, the trainer used “find it” to initiate exploration after the stimuli had been placed underwater. The command started a task whose solution still depended on information from the objects.</a:t>
            </a:r>
          </a:p>
          <a:p>
            <a:r>
              <a:t>• Lo indicated her choice by resting her nose on the selected stimulus for more than 3 s and retracting her whiskers. Correct choices produced a whistle followed by fish. The whistle served as a **conditioned reinforcer**, a previously learned signal marking success before the primary food reward arrived.</a:t>
            </a:r>
          </a:p>
          <a:p>
            <a:r>
              <a:t>• Stimulus positions changed between trials, so the same command could not be solved by approaching one permanent location. After learning, decisions during exploration took less than 1 s and accuracy approached complete target identification. The command controlled task initiation, while sensory discrimination controlled which object was selected.</a:t>
            </a:r>
          </a:p>
          <a:p/>
          <a:p>
            <a:r>
              <a:t>References:</a:t>
            </a:r>
          </a:p>
          <a:p>
            <a:r>
              <a:t>Milne AO, Orton L, Black CH, Jones GC, Sullivan M, Grant RA (2021). California sea lions employ task-specific strategies for active touch sensing. Journal of Experimental Biology 224(21):jeb243085. https://doi.org/10.1242/jeb.243085</a:t>
            </a:r>
          </a:p>
          <a:p/>
          <a:p>
            <a:r>
              <a:t>Figure: Milne et al. (2021), Fig. 1C. Lo selects a brightness target with reduced tactile exploration.</a:t>
            </a:r>
          </a:p>
          <a:p>
            <a:r>
              <a:t>Figure source: https://doi.org/10.1242/jeb.243085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Ball balancing requires continuous adjustments as the supported object changes orientation. Milne and Grant recorded California sea lions named Gina, Anya, and Elmo performing this familiar trained action. The animals received ball-balancing commands and maintained the action until a trainer marked completion.</a:t>
            </a:r>
          </a:p>
          <a:p>
            <a:r>
              <a:t>• **Whisker asymmetry** describes the difference between average whisker angles on the two sides of the face. Changes in this measure followed ball orientation more closely and sooner than changes in head orientation. The reported average delays were approximately 27 ms for whiskers and 129 ms for the head.</a:t>
            </a:r>
          </a:p>
          <a:p>
            <a:r>
              <a:t>• Balancing therefore recruits control of the sensory array as well as movement of the larger support surface. Whisker movements need not merely follow the head passively. The supplied recording preserves the brief analyzed interval at its original speed, in which ball position and whisker configuration change together.</a:t>
            </a:r>
          </a:p>
          <a:p>
            <a:r>
              <a:t>• The source movie lasts 0.74 s. It is the original high-frame-rate analysis interval, not a long demonstration or a movie slowed for presentation. Use full-screen playback and replay if needed without changing its timing.</a:t>
            </a:r>
          </a:p>
          <a:p/>
          <a:p>
            <a:r>
              <a:t>References:</a:t>
            </a:r>
          </a:p>
          <a:p>
            <a:r>
              <a:t>Milne AO, Grant RA (2014). Characterisation of whisker control in the California sea lion (Zalophus californianus) during a complex, dynamic sensorimotor task. Journal of Comparative Physiology A 200:871–879. https://doi.org/10.1007/s00359-014-0931-1</a:t>
            </a:r>
          </a:p>
          <a:p/>
          <a:p>
            <a:r>
              <a:t>Figure: Milne and Grant (2014), Fig. 1b–c. Ball, head, and whisker positions during balancing.</a:t>
            </a:r>
          </a:p>
          <a:p>
            <a:r>
              <a:t>Figure source: https://doi.org/10.1007/s00359-014-0931-1</a:t>
            </a:r>
          </a:p>
          <a:p>
            <a:r>
              <a:t>Embedded recording: Milne and Grant (2014), ESM 1. The original brief ball-balancing analysis interval.</a:t>
            </a:r>
          </a:p>
          <a:p>
            <a:r>
              <a:t>Source URL: https://media.springernature.com/original/springer-static/esm/art%3A10.1007%2Fs00359-014-0931-1/MediaObjects/359_2014_931_MOESM1_ESM.avi</a:t>
            </a:r>
          </a:p>
          <a:p>
            <a:r>
              <a:t>Article DOI: https://doi.org/10.1007/s00359-014-0931-1</a:t>
            </a:r>
          </a:p>
          <a:p>
            <a:r>
              <a:t>Credit: Milne and Grant. License: Copyright Springer-Verlag Berlin Heidelberg;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Sea lions propel ordinary forward swimming with their foreflippers, while the hindflippers can trail behind. A **banking turn** combines rolling the body with changing the swimming direction. Leahy and colleagues trained sea lions to complete 180° turns beneath an underwater viewing window.</a:t>
            </a:r>
          </a:p>
          <a:p>
            <a:r>
              <a:t>• At turn onset, the animal abducted its foreflippers, moving them away from the body, and rolled approximately 90°. The hindflippers spread and rotated, expanding their surface area. Their position behind the body’s center of gravity allows a hydrodynamic force to influence body orientation as well as the path of travel.</a:t>
            </a:r>
          </a:p>
          <a:p>
            <a:r>
              <a:t>• The hindflippers’ average **angle of attack**, their orientation relative to the approaching flow, was about 28° during turning. They remained spread during the maneuver and were adducted, brought together, as forward swimming resumed. Coordinated control therefore changes the role of an appendage with the behavioral requirement.</a:t>
            </a:r>
          </a:p>
          <a:p>
            <a:r>
              <a:t>• Movie 3 records a trained adult female making a left banking turn. This is coordinated locomotion, not evidence that she follows an auditory musical beat.</a:t>
            </a:r>
          </a:p>
          <a:p/>
          <a:p>
            <a:r>
              <a:t>References:</a:t>
            </a:r>
          </a:p>
          <a:p>
            <a:r>
              <a:t>Leahy AM, Fish FE, Kerr SJ, Zeligs JA, Skrovan S, Cardenas KL, Leftwich MC (2021). The role of California sea lion (Zalophus californianus) hindflippers as aquatic control surfaces for maneuverability. Journal of Experimental Biology 224(20):jeb243020. https://doi.org/10.1242/jeb.243020</a:t>
            </a:r>
          </a:p>
          <a:p/>
          <a:p>
            <a:r>
              <a:t>Figure: Leahy et al. (2021), Fig. 3A, E, I. Successive stages of a sea-lion banking turn.</a:t>
            </a:r>
          </a:p>
          <a:p>
            <a:r>
              <a:t>Figure source: https://doi.org/10.1242/jeb.243020</a:t>
            </a:r>
          </a:p>
          <a:p>
            <a:r>
              <a:t>Embedded recording: Leahy et al. (2021), Movie 3. A trained sea lion executes a 180° left banking turn.</a:t>
            </a:r>
          </a:p>
          <a:p>
            <a:r>
              <a:t>Source URL: https://static-movie-usa.glencoesoftware.com/source/10.1242/738/918c6b425b28fbbb9ac7bd4aafad3298129ba4a7/JEB243020.MovieS3.mp4</a:t>
            </a:r>
          </a:p>
          <a:p>
            <a:r>
              <a:t>Article DOI: https://doi.org/10.1242/jeb.243020</a:t>
            </a:r>
          </a:p>
          <a:p>
            <a:r>
              <a:t>Credit: Leahy, Fish, Kerr, Zeligs, Skrovan, Cardenas, and Leftwich. License: Copyright The Company of Biologists;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**Porpoising** is a swimming pattern that repeatedly carries the body above and below the water surface. A trained California sea lion performed consecutive leaps while cameras recorded aerial and submerged phases. The full cycle lasted about 1.5 s in the analyzed captive performance.</a:t>
            </a:r>
          </a:p>
          <a:p>
            <a:r>
              <a:t>• The foreflippers generated propulsive strokes during submerged swimming. The hindflippers spread beneath the water and helped stabilize the posterior body region. At the fully aerial crest, the flippers were held against the body or folded rather than continuously generating force against water.</a:t>
            </a:r>
          </a:p>
          <a:p>
            <a:r>
              <a:t>• Water entry began with the nose along a curved path, followed by repositioning the foreflippers and hindflippers for the submerged phase. Hindflipper angle of attack during the analyzed submerged phase averaged about 15°. The coordinated cycle thus changes the timing and orientation of several body parts as the surrounding medium changes.</a:t>
            </a:r>
          </a:p>
          <a:p>
            <a:r>
              <a:t>• Movie 1 records the captive porpoising bout. The paper treats lift production as an interpretation of appendage geometry and measured motion, rather than measuring neural commands to the flippers.</a:t>
            </a:r>
          </a:p>
          <a:p/>
          <a:p>
            <a:r>
              <a:t>References:</a:t>
            </a:r>
          </a:p>
          <a:p>
            <a:r>
              <a:t>Leahy AM, Fish FE, Kerr SJ, Zeligs JA, Skrovan S, Cardenas KL, Leftwich MC (2021). The role of California sea lion (Zalophus californianus) hindflippers as aquatic control surfaces for maneuverability. Journal of Experimental Biology 224(20):jeb243020. https://doi.org/10.1242/jeb.243020</a:t>
            </a:r>
          </a:p>
          <a:p/>
          <a:p>
            <a:r>
              <a:t>Figure: Leahy et al. (2021), Fig. 1. Sea-lion hindflipper geometry and spread configuration.</a:t>
            </a:r>
          </a:p>
          <a:p>
            <a:r>
              <a:t>Figure source: https://doi.org/10.1242/jeb.243020</a:t>
            </a:r>
          </a:p>
          <a:p>
            <a:r>
              <a:t>Embedded recording: Leahy et al. (2021), Movie 1. A captive sea lion completes a porpoising bout.</a:t>
            </a:r>
          </a:p>
          <a:p>
            <a:r>
              <a:t>Source URL: https://static-movie-usa.glencoesoftware.com/source/10.1242/738/918c6b425b28fbbb9ac7bd4aafad3298129ba4a7/JEB243020.MovieS1.mp4</a:t>
            </a:r>
          </a:p>
          <a:p>
            <a:r>
              <a:t>Article DOI: https://doi.org/10.1242/jeb.243020</a:t>
            </a:r>
          </a:p>
          <a:p>
            <a:r>
              <a:t>Credit: Leahy, Fish, Kerr, Zeligs, Skrovan, Cardenas, and Leftwich. License: Copyright The Company of Biologists;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Wild California sea lions in Monterey Bay also executed repeated porpoising leaps. The field recordings and the trained-animal recordings supplied different contexts for the same broad locomotor pattern. Both involved alternating aerial movement with submerged propulsion and a changing hindflipper posture.</a:t>
            </a:r>
          </a:p>
          <a:p>
            <a:r>
              <a:t>• In the field sequence, the legs generally remained more extended during the aerial phase, and the hindflippers cleared the water. The reported average leap length was 0.81 body lengths and the aerial height was 0.06 body lengths. Expressing distances in body lengths permits comparison across differently sized animals.</a:t>
            </a:r>
          </a:p>
          <a:p>
            <a:r>
              <a:t>• The captive sea lion made longer and higher leaps and used a different entry angle. Training conditions can therefore change the scale of a movement without eliminating the coordinated pattern. The original field movie supplies the natural locomotor comparison; these measurements concern body control rather than synchronization to an acoustic pulse.</a:t>
            </a:r>
          </a:p>
          <a:p/>
          <a:p>
            <a:r>
              <a:t>References:</a:t>
            </a:r>
          </a:p>
          <a:p>
            <a:r>
              <a:t>Leahy AM, Fish FE, Kerr SJ, Zeligs JA, Skrovan S, Cardenas KL, Leftwich MC (2021). The role of California sea lion (Zalophus californianus) hindflippers as aquatic control surfaces for maneuverability. Journal of Experimental Biology 224(20):jeb243020. https://doi.org/10.1242/jeb.243020</a:t>
            </a:r>
          </a:p>
          <a:p/>
          <a:p>
            <a:r>
              <a:t>Figure: Leahy et al. (2021), Fig. 3D, H, L. Changing flipper configuration during a maneuver.</a:t>
            </a:r>
          </a:p>
          <a:p>
            <a:r>
              <a:t>Figure source: https://doi.org/10.1242/jeb.243020</a:t>
            </a:r>
          </a:p>
          <a:p>
            <a:r>
              <a:t>Embedded recording: Leahy et al. (2021), Movie 2. Wild sea lions porpoise in Monterey Bay.</a:t>
            </a:r>
          </a:p>
          <a:p>
            <a:r>
              <a:t>Source URL: https://static-movie-usa.glencoesoftware.com/source/10.1242/738/918c6b425b28fbbb9ac7bd4aafad3298129ba4a7/JEB243020.MovieS2.mp4</a:t>
            </a:r>
          </a:p>
          <a:p>
            <a:r>
              <a:t>Article DOI: https://doi.org/10.1242/jeb.243020</a:t>
            </a:r>
          </a:p>
          <a:p>
            <a:r>
              <a:t>Credit: Leahy, Fish, Kerr, Zeligs, Skrovan, Cardenas, and Leftwich. License: Copyright The Company of Biologists; no open license stated.</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musical recording contains overlapping instruments and events between the regular beats. Ronan coordinated her head movements with Everybody at about 108 bpm and Boogie Wonderland at 130 bpm. Keeping the repeated response organized required selecting a temporal regularity within this more complex acoustic material.</a:t>
            </a:r>
          </a:p>
          <a:p>
            <a:r>
              <a:t>• The songs had different exposure histories. Everybody received explicit training after earlier unsuccessful exposure. Boogie Wonderland had been heard briefly before the later transfer test, without that exposure producing entrained bobbing. Prior exposure and reinforced successful performance are distinct learning events.</a:t>
            </a:r>
          </a:p>
          <a:p>
            <a:r>
              <a:t>• After training at the native tempo of Boogie Wonderland, Ronan also followed altered versions spanning 104–143 bpm. The same musical material guided different movement rates. Flexibility across these versions links the trained action to the current pulse instead of one fixed speed learned from a familiar recording.</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Head-bob timing with Everybody and Boogie Wonderland.</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r>
              <a:t>• 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r>
              <a:t>• 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6E–F. Extended coordination with music at 137 and 124 bpm.</a:t>
            </a:r>
          </a:p>
          <a:p>
            <a:r>
              <a:t>Figure source: https://doi.org/10.1037/a0032345</a:t>
            </a:r>
          </a:p>
          <a:p>
            <a:r>
              <a:t>Embedded recording: Cook et al. (2013), official UCSC study video. Ronan transfers trained synchronization to music.</a:t>
            </a:r>
          </a:p>
          <a:p>
            <a:r>
              <a:t>Source URL: https://youtu.be/s4nBevZJMvk</a:t>
            </a:r>
          </a:p>
          <a:p>
            <a:r>
              <a:t>Article DOI: https://doi.org/10.1037/a0032345</a:t>
            </a:r>
          </a:p>
          <a:p>
            <a:r>
              <a:t>Credit: UC Santa Cruz; Cook and colleagues. License: No open license stated; instructor-provided compressed copy and explicit permission for this official study video.</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**phase perturbation** shifts where the sound sequence falls in time while preserving its eventual repetition rate. A **tempo perturbation** changes the interval between successive sounds. These manipulations challenge different components of an already coordinated movement.</a:t>
            </a:r>
          </a:p>
          <a:p>
            <a:r>
              <a:t>• Rouse and colleagues introduced one unexpected change during a trial, after a stable initial run of beats. Ronan then had to modify the movement she was already producing. The response immediately after the change exposed the dynamics of correction.</a:t>
            </a:r>
          </a:p>
          <a:p>
            <a:r>
              <a:t>• **Period** is the duration of one complete cycle. A repeating motor process can correct timing position quickly while changing its preferred period more slowly. Comparing phase and tempo perturbations therefore tested a coupled-oscillator hypothesis: the sound sequence influences a repeating movement process, or **oscillator**. Transient behavior measures how ongoing coordination changes after an unexpected timing disturbance.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Responses to mid-trial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stimulus clicks combined tones at 659 and 1319 Hz for 10 ms. Repeating these brief events created a clear temporal sequence. The main baseline rate was 85 bpm, a rate Ronan had not previously encountered in training or testing.</a:t>
            </a:r>
          </a:p>
          <a:p>
            <a:r>
              <a:t>• Perturbations changed a timing interval by 3, 8, 15, or 25 percent in either direction. The change occurred between the sixteenth and twenty-fifth beat, with its position varied across conditions so that a fixed point in the sequence would not predict it.</a:t>
            </a:r>
          </a:p>
          <a:p>
            <a:r>
              <a:t>• At the baseline rate, the normal interval was about 706 ms. Controlled changes to that interval introduced experimentally specified timing errors into a sequence that Ronan was already following, allowing the subsequent head bobs to reveal how she recovered coordination.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distributions before and after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phase-shift trial, a sound occurs earlier or later than expected, but later sounds return to the original spacing. The stimulus’s temporal position changes while its continuing tempo remains fixed, separating an onset-position error from a lasting change in speed.</a:t>
            </a:r>
          </a:p>
          <a:p>
            <a:r>
              <a:t>• Ronan adjusted her head-bob timing after both advances and delays. Her movement regained an organized relationship with the shifted sequence within a few beats, rather than staying locked to the timing established before the perturbation.</a:t>
            </a:r>
          </a:p>
          <a:p>
            <a:r>
              <a:t>• This recovery is **phase correction**, the adjustment of an ongoing cycle’s position relative to an external event. Because the subsequent sound interval returns to baseline, successful recovery can be achieved by a transient movement adjustment without adopting a permanently different repetition rate.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conditions. Timing distributions after phase advances and delays.</a:t>
            </a:r>
          </a:p>
          <a:p>
            <a:r>
              <a:t>Figure source: https://doi.org/10.3389/fnins.2016.00257</a:t>
            </a:r>
          </a:p>
          <a:p>
            <a:r>
              <a:t>Embedded recording: Rouse et al. (2016), Supplementary Video 1. Ronan adjusts to phase and tempo changes.</a:t>
            </a:r>
          </a:p>
          <a:p>
            <a:r>
              <a:t>Source URL: https://pmc-oa-opendata.s3.amazonaws.com/PMC4891632.1/Video1.MP4</a:t>
            </a:r>
          </a:p>
          <a:p>
            <a:r>
              <a:t>Article DOI: https://doi.org/10.3389/fnins.2016.00257</a:t>
            </a:r>
          </a:p>
          <a:p>
            <a:r>
              <a:t>Credit: Rouse, Cook, Large, and Reichmuth. License: CC BY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tempo perturbation alters the spacing of every subsequent beat. If the head-bob rhythm kept its original period, the relative position of movement and sound would drift increasingly across the trial, even after the first timing error had been corrected.</a:t>
            </a:r>
          </a:p>
          <a:p>
            <a:r>
              <a:t>• Ronan adapted after all the tested tempo changes. The response had to address the continuing mismatch in cycle duration, not merely the placement of a single unexpectedly early or late sound within an otherwise unchanged sequence.</a:t>
            </a:r>
          </a:p>
          <a:p>
            <a:r>
              <a:t>• 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tempo conditions. Timing distributions after persistent rate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presentation of each perturbation provided a test before repeated experience with that exact change. Ronan retained organized movement relative to the beat after these first encounters, including phase changes and persistent changes in the stimulus interval.</a:t>
            </a:r>
          </a:p>
          <a:p>
            <a:r>
              <a:t>• 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r>
              <a:t>• 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First presentations of timing-perturbation conditions.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r>
              <a:t>• Ronan corrected the disturbance within a few beats. Recovery was a trajectory across successive movements rather than an instantaneous switch from one static state to another. This time course supplied information about the strength and direction of adjustment.</a:t>
            </a:r>
          </a:p>
          <a:p>
            <a:r>
              <a:t>• The published model predicted these transient trajectories using coupling between the sound sequence and the behavioral oscillator. **Coupling** means that the timing of one process changes the state of the other; here, the sound events adjusted the timing of the continuing head-bob cycle.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Beat-by-beat recovery after phase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Following a lasting rate change, Ronan’s initial movement period and the new stimulus period differed. Head movements therefore had to adjust across several cycles to approach a stable relationship with the new continuing sound sequence.</a:t>
            </a:r>
          </a:p>
          <a:p>
            <a:r>
              <a:t>• 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r>
              <a:t>• 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Recovery trajectories following rate shifts.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During some large slowing perturbations, the next sound occurred when Ronan’s head was near the high point of a movement rather than its low point. She sometimes made an additional small nod before slowing the broader movement cycle.</a:t>
            </a:r>
          </a:p>
          <a:p>
            <a:r>
              <a:t>• The authors called these responses **double bobs** because two identifiable movements occurred around a beat. Their observation connected the timing disturbance with a specific change in movement form, rather than treating all behavior as identical cycles with only altered timestamps.</a:t>
            </a:r>
          </a:p>
          <a:p>
            <a:r>
              <a:t>• 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Behavioral timing after persistent interval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series of movements can be consistently early, consistently late, or widely scattered around the beat. The average phase describes the center of that relationship, whereas the concentration of phases describes how consistently successive movements occupy that position.</a:t>
            </a:r>
          </a:p>
          <a:p>
            <a:r>
              <a:t>• 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r>
              <a:t>• 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2B. Consistency of beat-relative movement timing.</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r>
              <a:t>• Ronan’s average post-perturbation phase varied systematically with the altered tempo. Slower and faster conditions therefore retained distinct timing positions even when the head movements had regained a consistent relationship with the continuing sequence.</a:t>
            </a:r>
          </a:p>
          <a:p>
            <a:r>
              <a:t>• 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2A. Average offsets after phase and tempo perturbations.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**oscillator** is a process that repeatedly passes through a cycle. The model represented Ronan’s head-bob timing as an oscillator influenced by the recurring auditory events. Its cycle position and repetition period could both change as sounds arrived.</a:t>
            </a:r>
          </a:p>
          <a:p>
            <a:r>
              <a:t>• 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r>
              <a:t>• 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Measured recovery and coupled-oscillator predictions.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model’s **phase-coupling parameter** described how strongly a sound event adjusted the position of the behavioral cycle. Stronger coupling produced a larger correction for a given timing error, allowing the movement to regain a stable relationship over fewer cycles.</a:t>
            </a:r>
          </a:p>
          <a:p>
            <a:r>
              <a:t>• 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r>
              <a:t>• 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4A–C. Fitted phase and period adjustment parameters.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**period** is the duration of one complete movement cycle. Changing the period alters the repetition rate itself. This differs from briefly shifting the cycle’s position while leaving the preferred duration of later cycles unchanged.</a:t>
            </a:r>
          </a:p>
          <a:p>
            <a:r>
              <a:t>• 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r>
              <a:t>• 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Modeled and measured adaptation to new rates.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main perturbation series used 85 bpm. Researchers also tested two additional unfamiliar baseline rates, approximately 77.3 and 94.4 bpm, with phase and tempo disturbances. This extended the correction test beyond a single preferred starting rhythm.</a:t>
            </a:r>
          </a:p>
          <a:p>
            <a:r>
              <a:t>• Ronan adapted across the additional baseline conditions as well. The ability to correct an ongoing response therefore generalized both across disturbance types and across the initial rate from which the disturbance was introduced.</a:t>
            </a:r>
          </a:p>
          <a:p>
            <a:r>
              <a:t>• 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Controlled timing perturbations around a baseline rhythm.</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Hama, a Steller sea lion, had already learned a repertoire of actions through hand signals and verbal commands. Sasaki and colleagues trained a **do-as-I-do** response, in which a human action becomes the model for the animal’s action. Demonstrating “stand,” a head movement, or a tongue action replaced the usual specific cue.</a:t>
            </a:r>
          </a:p>
          <a:p>
            <a:r>
              <a:t>• The human initially paired demonstrations with familiar cues, then reduced those prompts. Hama subsequently matched most tested body actions with both a familiar trainer and an unfamiliar demonstrator. Several actions were familiar to her but had not been taught through the demonstration procedure.</a:t>
            </a:r>
          </a:p>
          <a:p>
            <a:r>
              <a:t>• Transfer separated general action matching from simply repeating the three demonstrations used during initial training. Performance also depended on what kind of action was attempted: novel body-oriented responses were easier than novel object manipulations. The acquired relationship linked observed body movement with selection from Hama’s own action repertoire.</a:t>
            </a:r>
          </a:p>
          <a:p/>
          <a:p>
            <a:r>
              <a:t>References:</a:t>
            </a:r>
          </a:p>
          <a:p>
            <a:r>
              <a:t>Sasaki M, Kinoshita H, Konno A (2025). Do as I do imitation in a steller sea lion Eumetopias jubatus. Animal Cognition 28:49. https://doi.org/10.1007/s10071-025-01971-0</a:t>
            </a:r>
          </a:p>
          <a:p/>
          <a:p>
            <a:r>
              <a:t>Figure: Sasaki et al. (2025), Fig. 2. Action matching with familiar and unfamiliar human demonstrators.</a:t>
            </a:r>
          </a:p>
          <a:p>
            <a:r>
              <a:t>Figure source: https://doi.org/10.1007/s10071-025-01971-0</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second procedure, Hama watched a complete human demonstration while remaining still, then acted upon the verbal cue “Go.” **Response inhibition** is withholding an action that would otherwise occur. Learning to wait changed her earlier history of moving simultaneously with human demonstrations.</a:t>
            </a:r>
          </a:p>
          <a:p>
            <a:r>
              <a:t>• The tests included standing, spinning, lifting a hindflipper, and a kissing action. In a control condition, a barrier blocked visual contact with the demonstrator after the demonstration. Hama still produced the corresponding action when the demonstrator delivered the Go cue.</a:t>
            </a:r>
          </a:p>
          <a:p>
            <a:r>
              <a:t>• The final cue therefore specified when to respond, while the preceding demonstration specified what to do. Blocking the demonstrator during the response removed ongoing visual guidance as a requirement. This delayed command procedure differs from beat synchronization, where repeated sound events continually regulate the timing of an ongoing movement.</a:t>
            </a:r>
          </a:p>
          <a:p/>
          <a:p>
            <a:r>
              <a:t>References:</a:t>
            </a:r>
          </a:p>
          <a:p>
            <a:r>
              <a:t>Sasaki M, Kinoshita H, Konno A (2025). Do as I do imitation in a steller sea lion Eumetopias jubatus. Animal Cognition 28:49. https://doi.org/10.1007/s10071-025-01971-0</a:t>
            </a:r>
          </a:p>
          <a:p/>
          <a:p>
            <a:r>
              <a:t>Figure: Sasaki et al. (2025), Fig. 5. Visual barriers used after the human demonstration.</a:t>
            </a:r>
          </a:p>
          <a:p>
            <a:r>
              <a:t>Figure source: https://doi.org/10.1007/s10071-025-01971-0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reaction to each sound separately need not maintain a rhythm through silence. Cook and colleagues therefore omitted occasional beats from a 120 bpm sequence. Discrete clicks replaced the continuously modulated sound so that the missing event left a genuinely silent interval.</a:t>
            </a:r>
          </a:p>
          <a:p>
            <a:r>
              <a:t>• Ronan continued bobbing through the omitted events. Movements before and after the gap retained similar relationships to the expected beat locations. The repeating action continued while the next timing sound was absent instead of restarting only when another click arrived.</a:t>
            </a:r>
          </a:p>
          <a:p>
            <a:r>
              <a:t>• Continuation through an omission supports an ongoing timing process beyond isolated sound-triggered reactions. Later sounds can correct the position of the movement within the cycle. This combination of continuation and correction connects predictive timing with the perturbation experiments that independently changed beat position and tempo.</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Timing before and after omitted clicks.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continuous head movement needs a defined event for comparison with a sound onset. Ronan’s selected landmark was the lowest point of each head bob. In the human comparison, it was the fullest downward extension of the arm. Using a repeatable landmark keeps the measured timing event consistent.</a:t>
            </a:r>
          </a:p>
          <a:p>
            <a:r>
              <a:t>• The interval between successive movement minima supplies the performed tempo. The position of each minimum relative to a sound onset supplies phase. Automated video tracking measured the trajectories while the audio track from the same recording identified sound events.</a:t>
            </a:r>
          </a:p>
          <a:p>
            <a:r>
              <a:t>• The 2025 experiment recorded at 240 frames per second, corresponding to roughly 4 ms between frames. This resolution allowed small anticipatory and delayed offsets to be measured within a cycle. A movement rate near the target can coexist with a nonzero offset from each sound, so both quantities characterize the coordination.</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Movement trajectories aligned with recorded sound onsets.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**negative asynchrony** occurs when the selected movement landmark precedes the sound. In Ronan’s 2025 snare tests, the average phase at 112 and 120 bpm was negative, while the average at 128 bpm was slightly positive.</a:t>
            </a:r>
          </a:p>
          <a:p>
            <a:r>
              <a:t>• 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r>
              <a:t>• 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120 bpm row. Timing with the familiar-rate snare sequence.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r>
              <a:t>• Ronan’s intervals were more consistent than those of the human participants across the three test rates. Her average tempo or average phase was also closer to the target than that of many participants, but the relative ranking depended on the performance measure.</a:t>
            </a:r>
          </a:p>
          <a:p>
            <a:r>
              <a:t>• 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128 bpm row. Different dimensions of synchronized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Humans in the comparison were non-musicians performing a large arm movement rather than a familiar tapping task. Their synchronization differed among individuals, with some participants producing less consistent movement intervals and more variable phases than others.</a:t>
            </a:r>
          </a:p>
          <a:p>
            <a:r>
              <a:t>• The distribution of performance matters because a comparison with only a hypothetical perfectly regular human would conceal the range of actual behavior. The experiment measured the same sound sequences in both species and retained each participant’s timing profile.</a:t>
            </a:r>
          </a:p>
          <a:p>
            <a:r>
              <a:t>• 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Individual human and sea-lion timing measures.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r>
              <a:t>• 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r>
              <a:t>• 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Reduced timing offsets in experienced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experiments established coordination with regular pulse sequences and with musical recordings that contain a regular pulse. **Beat synchronization** is the alignment of a repeated action with those pulse events, with flexibility across rates and acoustic forms.</a:t>
            </a:r>
          </a:p>
          <a:p>
            <a:r>
              <a:t>• 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r>
              <a:t>• 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Shared movement and timing definitions.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Ito and colleagues attached a lightweight wireless accelerometer to rats and measured small head movements while music played. An **accelerometer** measures acceleration along specified axes, allowing movement changes to be quantified without requiring a trained beat-marking action.</a:t>
            </a:r>
          </a:p>
          <a:p>
            <a:r>
              <a:t>• The rats listened to Mozart’s Sonata for Two Pianos, K.448, at its original rate and at altered playback speeds. Their movements were more strongly aligned with the musical beats near the original tempo, approximately 132 bpm, than at the very fast versions.</a:t>
            </a:r>
          </a:p>
          <a:p>
            <a:r>
              <a:t>• 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1A–G. Accelerometer measurements during musical playback.</a:t>
            </a:r>
          </a:p>
          <a:p>
            <a:r>
              <a:t>Figure source: https://doi.org/10.1126/sciadv.abo7019</a:t>
            </a:r>
          </a:p>
          <a:p>
            <a:r>
              <a:t>Embedded recording: Ito et al. (2022), Movie S1. Rat head movements and simultaneous jerk traces.</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**Jerk** is the rate of change of acceleration. The rat study used this quantity to identify brief movement changes during musical listening. A small movement with a rapid change in acceleration can therefore contribute strongly to the measured response.</a:t>
            </a:r>
          </a:p>
          <a:p>
            <a:r>
              <a:t>• Researchers compared jerk near putative beats with jerk elsewhere in the beat cycle. This beat contrast quantified whether the movement signal was organized around the musical pulse instead of being uniformly distributed through time.</a:t>
            </a:r>
          </a:p>
          <a:p>
            <a:r>
              <a:t>• 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1C–F. Acceleration, jerk, and beat-relative movement contrast.</a:t>
            </a:r>
          </a:p>
          <a:p>
            <a:r>
              <a:t>Figure source: https://doi.org/10.1126/sciadv.abo7019</a:t>
            </a:r>
          </a:p>
          <a:p>
            <a:r>
              <a:t>Embedded recording: Ito et al. (2022), Movie S2. Beat-related movements in a standing rat.</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experiment also measured head movements in humans listening to the same musical excerpt at altered speeds. This provided a comparison in which both species were exposed to the same changing temporal structure, although their absolute movement magnitudes differed.</a:t>
            </a:r>
          </a:p>
          <a:p>
            <a:r>
              <a:t>• Beat-related movement organization was strongest near the original musical rate rather than at the greatly accelerated versions. The two species also showed related changes in movement strength across individual beats of the original excerpt.</a:t>
            </a:r>
          </a:p>
          <a:p>
            <a:r>
              <a:t>• 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2A–C. Beat-related movement comparisons across playback speeds.</a:t>
            </a:r>
          </a:p>
          <a:p>
            <a:r>
              <a:t>Figure source: https://doi.org/10.1126/sciadv.abo7019</a:t>
            </a:r>
          </a:p>
          <a:p>
            <a:r>
              <a:t>Embedded recording: Ito et al. (2022), Movie S3. Human head movements and marker tracking.</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The embedded MP4 preserves native display proportions, original timing, scene order, and audio; compatibility conversion details are recorded in media_conversion_audit.json when applicable.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rat study separately recorded **multiunit activity**, the combined spiking response of several nearby neurons, while presenting music at different playback speeds. Activity following beat events was compared with activity following other events in the same musical sequence.</a:t>
            </a:r>
          </a:p>
          <a:p>
            <a:r>
              <a:t>• 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r>
              <a:t>• 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3A–E. Neural responses to musical beats at different rates.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**Short-term adaptation** is a change in responsiveness during recent stimulation. Repeated sounds can reduce a neural population’s response, with recovery depending on the time since preceding stimulation. This creates a temporal dependence even when each sound is acoustically similar.</a:t>
            </a:r>
          </a:p>
          <a:p>
            <a:r>
              <a:t>• 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r>
              <a:t>• 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4A–I. Recorded responses and adaptation-model predictions.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**Timbre** is the acoustic quality that distinguishes sounds with similar timing. Cook and colleagues tested Ronan with a snare-drum sound that differed from the frequency-modulated training stimulus. A learned temporal relationship could therefore be expressed with a new acoustic form.</a:t>
            </a:r>
          </a:p>
          <a:p>
            <a:r>
              <a:t>• Before testing, Ronan encountered the snare at 96 bpm during ordinary training. Human participants and Ronan then received matching warm-up presentations, first with the familiar oscillating sound superimposed and then with the snare alone. This preparation reduced disruption by the sound’s novelty without practicing the later unfamiliar rates.</a:t>
            </a:r>
          </a:p>
          <a:p>
            <a:r>
              <a:t>• The test sequences contained 25 equally spaced snare beats at 112, 120, or 128 bpm. The familiar 120 bpm condition and unfamiliar neighboring rates separated recognition of a practiced speed from flexible adjustment of the ongoing movement to an external pulse.</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Matched head and arm movement measurements in the UCSC experiment.</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2025 UCSC study compared Ronan’s head bob with a downward arm movement in humans. Both tasks marked the beat with the lowest point of a relatively large movement. Familiar finger tapping would have changed the movement demands as well as the species being compared.</a:t>
            </a:r>
          </a:p>
          <a:p>
            <a:r>
              <a:t>• All subjects heard the same ordered sets of snare stimuli. Sound and movement were captured together, and automated video tracking supplied the movement trajectory. The time between consecutive movement minima measured performed tempo; the position of each minimum relative to a sound measured phase.</a:t>
            </a:r>
          </a:p>
          <a:p>
            <a:r>
              <a:t>• Ronan’s conditioned reinforcer marked the final response and was followed by fish. Humans received a tone marking the trial’s end. Reinforcement maintained the trained animal’s participation while the matched stimuli and movement landmarks made the temporal measurements comparable across the two preparations.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Comparable large-amplitude movements timed to sound onset.</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average performed tempos were 113.1, 121.6, and 129.0 bpm for stimuli at 112, 120, and 128 bpm, respectively. The movement rate therefore changed with the sound sequence, including the two tempos she had not practiced. The behavior extended beyond reproducing the familiar 120 bpm action.</a:t>
            </a:r>
          </a:p>
          <a:p>
            <a:r>
              <a:t>• Her average movement phase preceded the sound at 112 and 120 bpm and followed it slightly at 128 bpm. A stable anticipatory movement can preserve an offset from sound onset while remaining coordinated. Rate accuracy and the signed placement of the movement within a cycle describe different features of that coordination.</a:t>
            </a:r>
          </a:p>
          <a:p>
            <a:r>
              <a:t>• Her movement intervals were more consistent than those of the human participants at every tested rate. Average rate, average phase, and consistency produced different individual rankings. The experimental result concerns this matched gross-movement task, with Ronan’s extensive practice contributing to the performance being measured.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Measured sea-lion and human timing across the three test rates.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Cook and colleagues compared Ronan’s early performance at age 3 with later performance at age 15. The same individual and familiar simple sound sequences allowed changes in practiced timing to be examined across a long training history. This is longitudinal evidence rather than a comparison between unrelated animals.</a:t>
            </a:r>
          </a:p>
          <a:p>
            <a:r>
              <a:t>• Later performance combined a movement rate near the target with much smaller offsets between movement minima and sound onsets. Slow stimuli that originally elicited markedly anticipatory movements later produced timing closer to the beat. Precision improved within the repeating cycle as well as in the average repetition rate.</a:t>
            </a:r>
          </a:p>
          <a:p>
            <a:r>
              <a:t>• The earlier 108 bpm condition already had an offset near zero, so improvement depended on the starting condition. Motor learning can refine different components of an acquired action by different amounts. In Ronan, sustained experience refined an auditory–motor skill that transferred to new acoustic forms and neighboring rates.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Early and experienced timing profiles in the same sea lion.</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Cook PF, Rouse A, Wilson M, Reichmuth C (2013). A California sea lion (Zalophus californianus) can keep the beat: Motor entrainment to rhythmic auditory stimuli in a non vocal mimic. Journal of Comparative Psychology 127(4): 412–427. https://doi.org/10.1037/a0032345</a:t>
            </a:r>
          </a:p>
          <a:p/>
          <a:p>
            <a:r>
              <a:t>Rouse AA, Cook PF, Large EW, Reichmuth C (2016). Beat Keeping in a Sea Lion As Coupled Oscillation: Implications for Comparative Understanding of Human Rhythm. Frontiers in Neuroscience 10:257. https://doi.org/10.3389/fnins.2016.00257</a:t>
            </a:r>
          </a:p>
          <a:p/>
          <a:p>
            <a:r>
              <a:t>Cook PF, Hood C, Rouse A, Reichmuth C (2025). Sensorimotor synchronization to rhythm in an experienced sea lion rivals that of humans. Scientific Reports 15:12125. https://doi.org/10.1038/s41598-025-95279-1</a:t>
            </a:r>
          </a:p>
          <a:p/>
          <a:p>
            <a:r>
              <a:t>Ito Y, Shiramatsu TI, Ishida N, Oshima K, Magami K, Takahashi H (2022). Spontaneous beat synchronization in rats: Neural dynamics and motor entrainment. Science Advances 8:eabo7019. https://doi.org/10.1126/sciadv.abo7019</a:t>
            </a:r>
          </a:p>
          <a:p/>
          <a:p>
            <a:r>
              <a:t>Sawyer EK, Turner EC, Kaas JH (2016). Somatosensory brainstem, thalamus, and cortex of the California sea lion (Zalophus californianus). Journal of Comparative Neurology 524(9):1957–1975. https://doi.org/10.1002/cne.23984</a:t>
            </a:r>
          </a:p>
          <a:p/>
          <a:p>
            <a:r>
              <a:t>Milne AO, Grant RA (2014). Characterisation of whisker control in the California sea lion (Zalophus californianus) during a complex, dynamic sensorimotor task. Journal of Comparative Physiology A 200:871–879. https://doi.org/10.1007/s00359-014-0931-1</a:t>
            </a:r>
          </a:p>
          <a:p/>
          <a:p>
            <a:r>
              <a:t>Milne AO, Orton L, Black CH, Jones GC, Sullivan M, Grant RA (2021). California sea lions employ task-specific strategies for active touch sensing. Journal of Experimental Biology 224(21):jeb243085. https://doi.org/10.1242/jeb.243085</a:t>
            </a:r>
          </a:p>
          <a:p/>
          <a:p>
            <a:r>
              <a:t>Leahy AM, Fish FE, Kerr SJ, Zeligs JA, Skrovan S, Cardenas KL, Leftwich MC (2021). The role of California sea lion (Zalophus californianus) hindflippers as aquatic control surfaces for maneuverability. Journal of Experimental Biology 224(20):jeb243020. https://doi.org/10.1242/jeb.243020</a:t>
            </a:r>
          </a:p>
          <a:p/>
          <a:p>
            <a:r>
              <a:t>Williams DC, Haulena M, Dennison S, Waugh L, Goldstein T, Nutter F, Van Bonn B, Hoard V, Laxer KD, Buckmaster PS, Gulland FMD, Tharp B (2023). Pinniped electroencephalography: Methodology and findings in California sea lions (Zalophus californianus). Frontiers in Veterinary Science 10:1040125. https://doi.org/10.3389/fvets.2023.1040125</a:t>
            </a:r>
          </a:p>
          <a:p/>
          <a:p>
            <a:r>
              <a:t>Sasaki M, Kinoshita H, Konno A (2025). Do as I do imitation in a steller sea lion Eumetopias jubatus. Animal Cognition 28:49. https://doi.org/10.1007/s10071-025-01971-0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 Id="rId4" Type="http://schemas.openxmlformats.org/officeDocument/2006/relationships/image" Target="../media/image37.png"/><Relationship Id="rId5" Type="http://schemas.microsoft.com/office/2007/relationships/media" Target="../media/media1.mp4"/><Relationship Id="rId6" Type="http://schemas.openxmlformats.org/officeDocument/2006/relationships/video" Target="../media/media1.mp4"/></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 Id="rId4" Type="http://schemas.openxmlformats.org/officeDocument/2006/relationships/image" Target="../media/image38.png"/><Relationship Id="rId5" Type="http://schemas.microsoft.com/office/2007/relationships/media" Target="../media/media2.mp4"/><Relationship Id="rId6" Type="http://schemas.openxmlformats.org/officeDocument/2006/relationships/video" Target="../media/media2.mp4"/></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 Id="rId4" Type="http://schemas.openxmlformats.org/officeDocument/2006/relationships/image" Target="../media/image39.png"/><Relationship Id="rId5" Type="http://schemas.microsoft.com/office/2007/relationships/media" Target="../media/media3.mp4"/><Relationship Id="rId6" Type="http://schemas.openxmlformats.org/officeDocument/2006/relationships/video" Target="../media/media3.mp4"/></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 Id="rId4" Type="http://schemas.openxmlformats.org/officeDocument/2006/relationships/image" Target="../media/image40.png"/><Relationship Id="rId5" Type="http://schemas.microsoft.com/office/2007/relationships/media" Target="../media/media4.mp4"/><Relationship Id="rId6" Type="http://schemas.openxmlformats.org/officeDocument/2006/relationships/video" Target="../media/media4.mp4"/></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 Id="rId4" Type="http://schemas.openxmlformats.org/officeDocument/2006/relationships/image" Target="../media/image41.png"/><Relationship Id="rId5" Type="http://schemas.microsoft.com/office/2007/relationships/media" Target="../media/media5.mp4"/><Relationship Id="rId6" Type="http://schemas.openxmlformats.org/officeDocument/2006/relationships/video" Target="../media/media5.mp4"/></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 Id="rId4" Type="http://schemas.openxmlformats.org/officeDocument/2006/relationships/image" Target="../media/image42.png"/><Relationship Id="rId5" Type="http://schemas.microsoft.com/office/2007/relationships/media" Target="../media/media6.mp4"/><Relationship Id="rId6" Type="http://schemas.openxmlformats.org/officeDocument/2006/relationships/video" Target="../media/media6.mp4"/></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 Id="rId4" Type="http://schemas.openxmlformats.org/officeDocument/2006/relationships/image" Target="../media/image43.png"/><Relationship Id="rId5" Type="http://schemas.microsoft.com/office/2007/relationships/media" Target="../media/media7.mp4"/><Relationship Id="rId6" Type="http://schemas.openxmlformats.org/officeDocument/2006/relationships/video" Target="../media/media7.mp4"/></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1.xml"/><Relationship Id="rId4" Type="http://schemas.openxmlformats.org/officeDocument/2006/relationships/image" Target="../media/image44.png"/><Relationship Id="rId5" Type="http://schemas.microsoft.com/office/2007/relationships/media" Target="../media/media8.mp4"/><Relationship Id="rId6" Type="http://schemas.openxmlformats.org/officeDocument/2006/relationships/video" Target="../media/media8.mp4"/></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2.xml"/><Relationship Id="rId4" Type="http://schemas.openxmlformats.org/officeDocument/2006/relationships/image" Target="../media/image45.png"/><Relationship Id="rId5" Type="http://schemas.microsoft.com/office/2007/relationships/media" Target="../media/media9.mp4"/><Relationship Id="rId6" Type="http://schemas.openxmlformats.org/officeDocument/2006/relationships/video" Target="../media/media9.mp4"/></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43.xml"/><Relationship Id="rId4" Type="http://schemas.openxmlformats.org/officeDocument/2006/relationships/image" Target="../media/image46.png"/><Relationship Id="rId5" Type="http://schemas.microsoft.com/office/2007/relationships/media" Target="../media/media10.mp4"/><Relationship Id="rId6" Type="http://schemas.openxmlformats.org/officeDocument/2006/relationships/video" Target="../media/media10.mp4"/></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36F7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5EDF3"/>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5EDF3"/>
                </a:solidFill>
                <a:latin typeface="Arial"/>
              </a:rPr>
              <a:t>Lecture 91</a:t>
            </a:r>
          </a:p>
        </p:txBody>
      </p:sp>
      <p:sp>
        <p:nvSpPr>
          <p:cNvPr id="5" name="Lecture title"/>
          <p:cNvSpPr txBox="1"/>
          <p:nvPr/>
        </p:nvSpPr>
        <p:spPr>
          <a:xfrm>
            <a:off x="685800" y="2331720"/>
            <a:ext cx="4724247" cy="265176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Sea lions:</a:t>
            </a:r>
          </a:p>
          <a:p>
            <a:pPr algn="l">
              <a:lnSpc>
                <a:spcPct val="108000"/>
              </a:lnSpc>
              <a:spcAft>
                <a:spcPts val="0"/>
              </a:spcAft>
            </a:pPr>
            <a:r>
              <a:rPr sz="2200" b="1" i="0">
                <a:solidFill>
                  <a:srgbClr val="FFFFFF"/>
                </a:solidFill>
                <a:latin typeface="Arial"/>
              </a:rPr>
              <a:t>brain/neuro anatomy/organization, rhythmic entrainment, auditory–motor coordination, learned commands, and tests of beat synchronization</a:t>
            </a:r>
          </a:p>
        </p:txBody>
      </p:sp>
      <p:sp>
        <p:nvSpPr>
          <p:cNvPr id="6" name="TextBox 5"/>
          <p:cNvSpPr txBox="1"/>
          <p:nvPr/>
        </p:nvSpPr>
        <p:spPr>
          <a:xfrm>
            <a:off x="685800" y="5119420"/>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5EDF3"/>
                </a:solidFill>
                <a:latin typeface="Arial"/>
              </a:rPr>
              <a:t>Date TBD</a:t>
            </a:r>
          </a:p>
        </p:txBody>
      </p:sp>
      <p:sp>
        <p:nvSpPr>
          <p:cNvPr id="7" name="TextBox 6"/>
          <p:cNvSpPr txBox="1"/>
          <p:nvPr/>
        </p:nvSpPr>
        <p:spPr>
          <a:xfrm>
            <a:off x="685800" y="5805220"/>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5EDF3"/>
                </a:solidFill>
                <a:latin typeface="Arial"/>
              </a:rPr>
              <a:t>Jordan Lopez, Ph.D.</a:t>
            </a:r>
          </a:p>
          <a:p>
            <a:pPr algn="l">
              <a:lnSpc>
                <a:spcPct val="108000"/>
              </a:lnSpc>
              <a:spcAft>
                <a:spcPts val="200"/>
              </a:spcAft>
            </a:pPr>
            <a:r>
              <a:rPr sz="1200" b="0" i="0">
                <a:solidFill>
                  <a:srgbClr val="E5EDF3"/>
                </a:solidFill>
                <a:latin typeface="Arial"/>
              </a:rPr>
              <a:t>Professor of Neurobiology &amp; Biomedical Engineering</a:t>
            </a:r>
          </a:p>
        </p:txBody>
      </p:sp>
      <p:pic>
        <p:nvPicPr>
          <p:cNvPr id="8" name="Picture 7" descr="ronan_photo.jpg"/>
          <p:cNvPicPr>
            <a:picLocks noChangeAspect="1"/>
          </p:cNvPicPr>
          <p:nvPr/>
        </p:nvPicPr>
        <p:blipFill>
          <a:blip r:embed="rId2"/>
          <a:stretch>
            <a:fillRect/>
          </a:stretch>
        </p:blipFill>
        <p:spPr>
          <a:xfrm>
            <a:off x="7292111" y="822960"/>
            <a:ext cx="3703320"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California sea lion Ronan at UC Santa Cruz’s Long Marine Laboratory. Photo by Colleen Reichmuth; NOAA/NMFS 23554.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Ronan learns to align movement with sound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Rhythmic entrainment</a:t>
            </a:r>
            <a:r>
              <a:rPr sz="1600" b="0" i="0">
                <a:solidFill>
                  <a:srgbClr val="000000"/>
                </a:solidFill>
                <a:latin typeface="Arial"/>
              </a:rPr>
              <a:t> is the adjustment of a repeating movement to an external rhythm. Ronan, a California sea lion, learned to move her head up and down while hearing regularly spaced sounds. The lowest point of each movement supplied a repeatable timing marker.</a:t>
            </a:r>
          </a:p>
          <a:p>
            <a:pPr algn="l">
              <a:lnSpc>
                <a:spcPct val="108000"/>
              </a:lnSpc>
              <a:spcAft>
                <a:spcPts val="960"/>
              </a:spcAft>
            </a:pPr>
            <a:r>
              <a:rPr sz="1600" b="0" i="0">
                <a:solidFill>
                  <a:srgbClr val="000000"/>
                </a:solidFill>
                <a:latin typeface="Arial"/>
              </a:rPr>
              <a:t>Cook and colleagues trained this behavior at 80 and 120 beats per minute, then tested other rates and musical recordings. A movement that stays aligned across unfamiliar rates requires flexible timing rather than the repetition of one memorized motor speed.</a:t>
            </a:r>
          </a:p>
          <a:p>
            <a:pPr algn="l">
              <a:lnSpc>
                <a:spcPct val="108000"/>
              </a:lnSpc>
              <a:spcAft>
                <a:spcPts val="960"/>
              </a:spcAft>
            </a:pPr>
            <a:r>
              <a:rPr sz="1600" b="0" i="0">
                <a:solidFill>
                  <a:srgbClr val="000000"/>
                </a:solidFill>
                <a:latin typeface="Arial"/>
              </a:rPr>
              <a:t>Ronan lived at the University of California, Santa Cruz. The experimental task underlying her public reputation as a dancing sea lion combined a controlled sound sequence, concealed trainers, video measurements, and food reinforcement for appropriately timed behavior.</a:t>
            </a:r>
          </a:p>
        </p:txBody>
      </p:sp>
      <p:pic>
        <p:nvPicPr>
          <p:cNvPr id="4" name="Picture 3" descr="Cook2013_f1c.png"/>
          <p:cNvPicPr>
            <a:picLocks noChangeAspect="1"/>
          </p:cNvPicPr>
          <p:nvPr/>
        </p:nvPicPr>
        <p:blipFill>
          <a:blip r:embed="rId2"/>
          <a:stretch>
            <a:fillRect/>
          </a:stretch>
        </p:blipFill>
        <p:spPr>
          <a:xfrm>
            <a:off x="6791558" y="1280160"/>
            <a:ext cx="454577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1C. Head-bob timing after training at 80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Matching tempo differs from matching the beat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a:t>
            </a:r>
            <a:r>
              <a:rPr sz="1600" b="0" i="0">
                <a:solidFill>
                  <a:srgbClr val="000000"/>
                </a:solidFill>
                <a:latin typeface="Arial"/>
              </a:rPr>
              <a:t> is the repetition rate of the sound sequence, expressed in beats per minute. Matching tempo means producing the same average number of movements per unit time. Two repeating events can share a tempo while occurring at different points within each cycle.</a:t>
            </a:r>
          </a:p>
          <a:p>
            <a:pPr algn="l">
              <a:lnSpc>
                <a:spcPct val="108000"/>
              </a:lnSpc>
              <a:spcAft>
                <a:spcPts val="960"/>
              </a:spcAft>
            </a:pPr>
            <a:r>
              <a:rPr sz="1600" b="1" i="0">
                <a:solidFill>
                  <a:srgbClr val="3D525C"/>
                </a:solidFill>
                <a:latin typeface="Arial"/>
              </a:rPr>
              <a:t>Phase</a:t>
            </a:r>
            <a:r>
              <a:rPr sz="1600" b="0" i="0">
                <a:solidFill>
                  <a:srgbClr val="000000"/>
                </a:solidFill>
                <a:latin typeface="Arial"/>
              </a:rPr>
              <a:t>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pPr algn="l">
              <a:lnSpc>
                <a:spcPct val="108000"/>
              </a:lnSpc>
              <a:spcAft>
                <a:spcPts val="960"/>
              </a:spcAft>
            </a:pPr>
            <a:r>
              <a:rPr sz="1600" b="0" i="0">
                <a:solidFill>
                  <a:srgbClr val="000000"/>
                </a:solidFill>
                <a:latin typeface="Arial"/>
              </a:rPr>
              <a:t>At different unfamiliar tempos, Ronan maintained organized phase relationships even when her head reached its lowest point before or after the sound. These offsets distinguish successful coordination with the repeating stimulus from exact coincidence at the beat itself.</a:t>
            </a:r>
          </a:p>
        </p:txBody>
      </p:sp>
      <p:pic>
        <p:nvPicPr>
          <p:cNvPr id="4" name="Picture 3" descr="Cook2013_f2.png"/>
          <p:cNvPicPr>
            <a:picLocks noChangeAspect="1"/>
          </p:cNvPicPr>
          <p:nvPr/>
        </p:nvPicPr>
        <p:blipFill>
          <a:blip r:embed="rId2"/>
          <a:stretch>
            <a:fillRect/>
          </a:stretch>
        </p:blipFill>
        <p:spPr>
          <a:xfrm>
            <a:off x="6504127" y="1280160"/>
            <a:ext cx="5120640" cy="3309893"/>
          </a:xfrm>
          <a:prstGeom prst="rect">
            <a:avLst/>
          </a:prstGeom>
        </p:spPr>
      </p:pic>
      <p:sp>
        <p:nvSpPr>
          <p:cNvPr id="5" name="Figure caption"/>
          <p:cNvSpPr txBox="1"/>
          <p:nvPr/>
        </p:nvSpPr>
        <p:spPr>
          <a:xfrm>
            <a:off x="6504127" y="468149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 Movement timing at five unfamiliar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folded cortex overlies a large cerebellum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Neuroanatomy</a:t>
            </a:r>
            <a:r>
              <a:rPr sz="1500" b="0" i="0">
                <a:solidFill>
                  <a:srgbClr val="000000"/>
                </a:solidFill>
                <a:latin typeface="Arial"/>
              </a:rPr>
              <a:t> is the organization of the nervous system and its structures. </a:t>
            </a:r>
            <a:r>
              <a:rPr sz="1500" b="1" i="0">
                <a:solidFill>
                  <a:srgbClr val="3D525C"/>
                </a:solidFill>
                <a:latin typeface="Arial"/>
              </a:rPr>
              <a:t>Cerebral cortex</a:t>
            </a:r>
            <a:r>
              <a:rPr sz="1500" b="0" i="0">
                <a:solidFill>
                  <a:srgbClr val="000000"/>
                </a:solidFill>
                <a:latin typeface="Arial"/>
              </a:rPr>
              <a:t> is the outer sheet of the cerebrum. Sawyer and colleagues examined a juvenile California sea-lion brain whose cortical surface contained numerous folds. </a:t>
            </a:r>
            <a:r>
              <a:rPr sz="1500" b="1" i="0">
                <a:solidFill>
                  <a:srgbClr val="3D525C"/>
                </a:solidFill>
                <a:latin typeface="Arial"/>
              </a:rPr>
              <a:t>Gyri</a:t>
            </a:r>
            <a:r>
              <a:rPr sz="1500" b="0" i="0">
                <a:solidFill>
                  <a:srgbClr val="000000"/>
                </a:solidFill>
                <a:latin typeface="Arial"/>
              </a:rPr>
              <a:t> are the raised folds; </a:t>
            </a:r>
            <a:r>
              <a:rPr sz="1500" b="1" i="0">
                <a:solidFill>
                  <a:srgbClr val="3D525C"/>
                </a:solidFill>
                <a:latin typeface="Arial"/>
              </a:rPr>
              <a:t>sulci</a:t>
            </a:r>
            <a:r>
              <a:rPr sz="1500" b="0" i="0">
                <a:solidFill>
                  <a:srgbClr val="000000"/>
                </a:solidFill>
                <a:latin typeface="Arial"/>
              </a:rPr>
              <a:t> are the grooves separating them. The two hemispheres had similar but nonidentical groove patterns.</a:t>
            </a:r>
          </a:p>
          <a:p>
            <a:pPr algn="l">
              <a:lnSpc>
                <a:spcPct val="108000"/>
              </a:lnSpc>
              <a:spcAft>
                <a:spcPts val="900"/>
              </a:spcAft>
            </a:pPr>
            <a:r>
              <a:rPr sz="1500" b="0" i="0">
                <a:solidFill>
                  <a:srgbClr val="000000"/>
                </a:solidFill>
                <a:latin typeface="Arial"/>
              </a:rPr>
              <a:t>The fixed specimen was 10.2 cm long and 10.1 cm wide near its posterior end, compared with 6.0 cm across the anterior portion. These are dimensions of the preserved juvenile specimen, rather than measurements of Ronan or a standard adult brain.</a:t>
            </a:r>
          </a:p>
          <a:p>
            <a:pPr algn="l">
              <a:lnSpc>
                <a:spcPct val="108000"/>
              </a:lnSpc>
              <a:spcAft>
                <a:spcPts val="900"/>
              </a:spcAft>
            </a:pPr>
            <a:r>
              <a:rPr sz="1500" b="0" i="0">
                <a:solidFill>
                  <a:srgbClr val="000000"/>
                </a:solidFill>
                <a:latin typeface="Arial"/>
              </a:rPr>
              <a:t>A large </a:t>
            </a:r>
            <a:r>
              <a:rPr sz="1500" b="1" i="0">
                <a:solidFill>
                  <a:srgbClr val="3D525C"/>
                </a:solidFill>
                <a:latin typeface="Arial"/>
              </a:rPr>
              <a:t>cerebellum</a:t>
            </a:r>
            <a:r>
              <a:rPr sz="1500" b="0" i="0">
                <a:solidFill>
                  <a:srgbClr val="000000"/>
                </a:solidFill>
                <a:latin typeface="Arial"/>
              </a:rPr>
              <a:t>, a brain structure involved in movement coordination, lay beneath the posterior cerebral region. The study localized sensory cortex using tissue stains and anatomical landmarks. Folding alone did not locate functional regions; microscopic organization supplied the boundaries of the somatosensory area.</a:t>
            </a:r>
          </a:p>
        </p:txBody>
      </p:sp>
      <p:pic>
        <p:nvPicPr>
          <p:cNvPr id="4" name="Picture 3" descr="Sawyer2016_f7abc.png"/>
          <p:cNvPicPr>
            <a:picLocks noChangeAspect="1"/>
          </p:cNvPicPr>
          <p:nvPr/>
        </p:nvPicPr>
        <p:blipFill>
          <a:blip r:embed="rId2"/>
          <a:stretch>
            <a:fillRect/>
          </a:stretch>
        </p:blipFill>
        <p:spPr>
          <a:xfrm>
            <a:off x="6504127" y="1280160"/>
            <a:ext cx="5120640" cy="1631734"/>
          </a:xfrm>
          <a:prstGeom prst="rect">
            <a:avLst/>
          </a:prstGeom>
        </p:spPr>
      </p:pic>
      <p:sp>
        <p:nvSpPr>
          <p:cNvPr id="5" name="Figure caption"/>
          <p:cNvSpPr txBox="1"/>
          <p:nvPr/>
        </p:nvSpPr>
        <p:spPr>
          <a:xfrm>
            <a:off x="6504127" y="300333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Sawyer et al. (2016), Fig. 7G–I. Dorsal, isometric, and ventral views of a juvenile sea-lion brain.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Whisker follicles connect touch to the trigeminal nerve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Vibrissae</a:t>
            </a:r>
            <a:r>
              <a:rPr sz="1500" b="0" i="0">
                <a:solidFill>
                  <a:srgbClr val="000000"/>
                </a:solidFill>
                <a:latin typeface="Arial"/>
              </a:rPr>
              <a:t> are specialized whiskers whose follicles receive sensory innervation. The examined sea lions had 38 whiskers arranged in six rows on each cheek pad. Their facial array provides many separate points at which contact or water movement can deform a whisker.</a:t>
            </a:r>
          </a:p>
          <a:p>
            <a:pPr algn="l">
              <a:lnSpc>
                <a:spcPct val="108000"/>
              </a:lnSpc>
              <a:spcAft>
                <a:spcPts val="900"/>
              </a:spcAft>
            </a:pPr>
            <a:r>
              <a:rPr sz="1500" b="0" i="0">
                <a:solidFill>
                  <a:srgbClr val="000000"/>
                </a:solidFill>
                <a:latin typeface="Arial"/>
              </a:rPr>
              <a:t>A stained follicle contained a blood-filled cavernous sinus and a deep vibrissal nerve entering its base. This structure differs from an ordinary coat-hair follicle. Whisker deformation is therefore delivered to an innervated sensory organ embedded in the skin rather than detected by the hair shaft itself.</a:t>
            </a:r>
          </a:p>
          <a:p>
            <a:pPr algn="l">
              <a:lnSpc>
                <a:spcPct val="108000"/>
              </a:lnSpc>
              <a:spcAft>
                <a:spcPts val="900"/>
              </a:spcAft>
            </a:pPr>
            <a:r>
              <a:rPr sz="1500" b="0" i="0">
                <a:solidFill>
                  <a:srgbClr val="000000"/>
                </a:solidFill>
                <a:latin typeface="Arial"/>
              </a:rPr>
              <a:t>The </a:t>
            </a:r>
            <a:r>
              <a:rPr sz="1500" b="1" i="0">
                <a:solidFill>
                  <a:srgbClr val="3D525C"/>
                </a:solidFill>
                <a:latin typeface="Arial"/>
              </a:rPr>
              <a:t>trigeminal nerve</a:t>
            </a:r>
            <a:r>
              <a:rPr sz="1500" b="0" i="0">
                <a:solidFill>
                  <a:srgbClr val="000000"/>
                </a:solidFill>
                <a:latin typeface="Arial"/>
              </a:rPr>
              <a:t> carries facial somatosensory signals, meaning information about touch and related bodily sensation. Its thick sensory root lay beside a separate, smaller motor root. </a:t>
            </a:r>
            <a:r>
              <a:rPr sz="1500" b="1" i="0">
                <a:solidFill>
                  <a:srgbClr val="3D525C"/>
                </a:solidFill>
                <a:latin typeface="Arial"/>
              </a:rPr>
              <a:t>Axons</a:t>
            </a:r>
            <a:r>
              <a:rPr sz="1500" b="0" i="0">
                <a:solidFill>
                  <a:srgbClr val="000000"/>
                </a:solidFill>
                <a:latin typeface="Arial"/>
              </a:rPr>
              <a:t> are nerve-cell fibers that conduct signals; </a:t>
            </a:r>
            <a:r>
              <a:rPr sz="1500" b="1" i="0">
                <a:solidFill>
                  <a:srgbClr val="3D525C"/>
                </a:solidFill>
                <a:latin typeface="Arial"/>
              </a:rPr>
              <a:t>myelin</a:t>
            </a:r>
            <a:r>
              <a:rPr sz="1500" b="0" i="0">
                <a:solidFill>
                  <a:srgbClr val="000000"/>
                </a:solidFill>
                <a:latin typeface="Arial"/>
              </a:rPr>
              <a:t> is their insulating sheath. Microscopy identified thinly and thickly myelinated axons in the pathway carrying facial information into the brainstem.</a:t>
            </a:r>
          </a:p>
        </p:txBody>
      </p:sp>
      <p:pic>
        <p:nvPicPr>
          <p:cNvPr id="4" name="Picture 3" descr="Sawyer2016_f2acde.png"/>
          <p:cNvPicPr>
            <a:picLocks noChangeAspect="1"/>
          </p:cNvPicPr>
          <p:nvPr/>
        </p:nvPicPr>
        <p:blipFill>
          <a:blip r:embed="rId2"/>
          <a:stretch>
            <a:fillRect/>
          </a:stretch>
        </p:blipFill>
        <p:spPr>
          <a:xfrm>
            <a:off x="6504127" y="1280160"/>
            <a:ext cx="5120640" cy="3530876"/>
          </a:xfrm>
          <a:prstGeom prst="rect">
            <a:avLst/>
          </a:prstGeom>
        </p:spPr>
      </p:pic>
      <p:sp>
        <p:nvSpPr>
          <p:cNvPr id="5" name="Figure caption"/>
          <p:cNvSpPr txBox="1"/>
          <p:nvPr/>
        </p:nvSpPr>
        <p:spPr>
          <a:xfrm>
            <a:off x="6504127" y="490247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Sawyer et al. (2016), Fig. 2A–F. Whiskers, an innervated follicle, and sensory and motor roots.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Brainstem modules organize facial sensory input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3D525C"/>
                </a:solidFill>
                <a:latin typeface="Arial"/>
              </a:rPr>
              <a:t>principal sensory trigeminal nucleus</a:t>
            </a:r>
            <a:r>
              <a:rPr sz="1500" b="0" i="0">
                <a:solidFill>
                  <a:srgbClr val="000000"/>
                </a:solidFill>
                <a:latin typeface="Arial"/>
              </a:rPr>
              <a:t> is a brainstem relay for facial somatosensory information. In sea-lion tissue, this nucleus contained clusters separated by relatively cell-sparse partitions. Related modules also occurred in the spinal trigeminal nuclei, which extend the facial representation through the brainstem.</a:t>
            </a:r>
          </a:p>
          <a:p>
            <a:pPr algn="l">
              <a:lnSpc>
                <a:spcPct val="108000"/>
              </a:lnSpc>
              <a:spcAft>
                <a:spcPts val="900"/>
              </a:spcAft>
            </a:pPr>
            <a:r>
              <a:rPr sz="1500" b="1" i="0">
                <a:solidFill>
                  <a:srgbClr val="3D525C"/>
                </a:solidFill>
                <a:latin typeface="Arial"/>
              </a:rPr>
              <a:t>Nissl staining</a:t>
            </a:r>
            <a:r>
              <a:rPr sz="1500" b="0" i="0">
                <a:solidFill>
                  <a:srgbClr val="000000"/>
                </a:solidFill>
                <a:latin typeface="Arial"/>
              </a:rPr>
              <a:t> reveals neuronal cell bodies. </a:t>
            </a:r>
            <a:r>
              <a:rPr sz="1500" b="1" i="0">
                <a:solidFill>
                  <a:srgbClr val="3D525C"/>
                </a:solidFill>
                <a:latin typeface="Arial"/>
              </a:rPr>
              <a:t>Cytochrome oxidase staining</a:t>
            </a:r>
            <a:r>
              <a:rPr sz="1500" b="0" i="0">
                <a:solidFill>
                  <a:srgbClr val="000000"/>
                </a:solidFill>
                <a:latin typeface="Arial"/>
              </a:rPr>
              <a:t> marks metabolic organization, while vesicular glutamate transporter 1 staining identified dense afferent terminal regions. </a:t>
            </a:r>
            <a:r>
              <a:rPr sz="1500" b="1" i="0">
                <a:solidFill>
                  <a:srgbClr val="3D525C"/>
                </a:solidFill>
                <a:latin typeface="Arial"/>
              </a:rPr>
              <a:t>Glutamate</a:t>
            </a:r>
            <a:r>
              <a:rPr sz="1500" b="0" i="0">
                <a:solidFill>
                  <a:srgbClr val="000000"/>
                </a:solidFill>
                <a:latin typeface="Arial"/>
              </a:rPr>
              <a:t> is a neurotransmitter, a chemical signal released at synapses. This transporter packages it in presynaptic vesicles. The three preparations converged on a modular architecture instead of a uniform mass of tissue.</a:t>
            </a:r>
          </a:p>
          <a:p>
            <a:pPr algn="l">
              <a:lnSpc>
                <a:spcPct val="108000"/>
              </a:lnSpc>
              <a:spcAft>
                <a:spcPts val="900"/>
              </a:spcAft>
            </a:pPr>
            <a:r>
              <a:rPr sz="1500" b="0" i="0">
                <a:solidFill>
                  <a:srgbClr val="000000"/>
                </a:solidFill>
                <a:latin typeface="Arial"/>
              </a:rPr>
              <a:t>The arrangement resembled the facial whisker array, especially the six-row organization in the interpolaris subdivision. Individual sections did not yield an exact whisker-to-module assignment. The anatomical finding is a partitioned facial sensory representation, with dense incoming terminals concentrated within its modules.</a:t>
            </a:r>
          </a:p>
        </p:txBody>
      </p:sp>
      <p:pic>
        <p:nvPicPr>
          <p:cNvPr id="4" name="Picture 3" descr="Sawyer2016_f4ijk.png"/>
          <p:cNvPicPr>
            <a:picLocks noChangeAspect="1"/>
          </p:cNvPicPr>
          <p:nvPr/>
        </p:nvPicPr>
        <p:blipFill>
          <a:blip r:embed="rId2"/>
          <a:stretch>
            <a:fillRect/>
          </a:stretch>
        </p:blipFill>
        <p:spPr>
          <a:xfrm>
            <a:off x="6504127" y="1280160"/>
            <a:ext cx="5120640" cy="2341407"/>
          </a:xfrm>
          <a:prstGeom prst="rect">
            <a:avLst/>
          </a:prstGeom>
        </p:spPr>
      </p:pic>
      <p:sp>
        <p:nvSpPr>
          <p:cNvPr id="5" name="Figure caption"/>
          <p:cNvSpPr txBox="1"/>
          <p:nvPr/>
        </p:nvSpPr>
        <p:spPr>
          <a:xfrm>
            <a:off x="6504127" y="371300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Sawyer et al. (2016), Fig. 4I–K. Principal sensory nucleus stained for cells, metabolism, and VGLUT1.</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thalamus separates face and body representations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3D525C"/>
                </a:solidFill>
                <a:latin typeface="Arial"/>
              </a:rPr>
              <a:t>thalamus</a:t>
            </a:r>
            <a:r>
              <a:rPr sz="1500" b="0" i="0">
                <a:solidFill>
                  <a:srgbClr val="000000"/>
                </a:solidFill>
                <a:latin typeface="Arial"/>
              </a:rPr>
              <a:t> contains relays between ascending sensory pathways and cerebral cortex. The sea-lion </a:t>
            </a:r>
            <a:r>
              <a:rPr sz="1500" b="1" i="0">
                <a:solidFill>
                  <a:srgbClr val="3D525C"/>
                </a:solidFill>
                <a:latin typeface="Arial"/>
              </a:rPr>
              <a:t>ventral posterior nucleus</a:t>
            </a:r>
            <a:r>
              <a:rPr sz="1500" b="0" i="0">
                <a:solidFill>
                  <a:srgbClr val="000000"/>
                </a:solidFill>
                <a:latin typeface="Arial"/>
              </a:rPr>
              <a:t> was distinguished from surrounding tissue by large neuronal cell bodies and dense staining for cytochrome oxidase and vesicular glutamate transporter 2.</a:t>
            </a:r>
          </a:p>
          <a:p>
            <a:pPr algn="l">
              <a:lnSpc>
                <a:spcPct val="108000"/>
              </a:lnSpc>
              <a:spcAft>
                <a:spcPts val="900"/>
              </a:spcAft>
            </a:pPr>
            <a:r>
              <a:rPr sz="1500" b="0" i="0">
                <a:solidFill>
                  <a:srgbClr val="000000"/>
                </a:solidFill>
                <a:latin typeface="Arial"/>
              </a:rPr>
              <a:t>Its </a:t>
            </a:r>
            <a:r>
              <a:rPr sz="1500" b="1" i="0">
                <a:solidFill>
                  <a:srgbClr val="3D525C"/>
                </a:solidFill>
                <a:latin typeface="Arial"/>
              </a:rPr>
              <a:t>ventroposterior medial subdivision</a:t>
            </a:r>
            <a:r>
              <a:rPr sz="1500" b="0" i="0">
                <a:solidFill>
                  <a:srgbClr val="000000"/>
                </a:solidFill>
                <a:latin typeface="Arial"/>
              </a:rPr>
              <a:t>, or VPM, occupied a large part of the nucleus and corresponds to facial representation in the mammalian somatosensory pathway. The neighboring </a:t>
            </a:r>
            <a:r>
              <a:rPr sz="1500" b="1" i="0">
                <a:solidFill>
                  <a:srgbClr val="3D525C"/>
                </a:solidFill>
                <a:latin typeface="Arial"/>
              </a:rPr>
              <a:t>ventroposterior lateral subdivision</a:t>
            </a:r>
            <a:r>
              <a:rPr sz="1500" b="0" i="0">
                <a:solidFill>
                  <a:srgbClr val="000000"/>
                </a:solidFill>
                <a:latin typeface="Arial"/>
              </a:rPr>
              <a:t>, or VPL, corresponds to bodily representation. Their boundaries changed across successive sections rather than forming identical shapes at every depth.</a:t>
            </a:r>
          </a:p>
          <a:p>
            <a:pPr algn="l">
              <a:lnSpc>
                <a:spcPct val="108000"/>
              </a:lnSpc>
              <a:spcAft>
                <a:spcPts val="900"/>
              </a:spcAft>
            </a:pPr>
            <a:r>
              <a:rPr sz="1500" b="0" i="0">
                <a:solidFill>
                  <a:srgbClr val="000000"/>
                </a:solidFill>
                <a:latin typeface="Arial"/>
              </a:rPr>
              <a:t>Lightly stained partitions divided the nucleus internally. The sea-lion preparation established these subdivisions anatomically, without a physiological point-by-point body map. Facial sensation thus has an extensive thalamic territory between its brainstem representation and the cortical sensory region.</a:t>
            </a:r>
          </a:p>
        </p:txBody>
      </p:sp>
      <p:pic>
        <p:nvPicPr>
          <p:cNvPr id="4" name="Picture 3" descr="Sawyer2016_f6bcd.png"/>
          <p:cNvPicPr>
            <a:picLocks noChangeAspect="1"/>
          </p:cNvPicPr>
          <p:nvPr/>
        </p:nvPicPr>
        <p:blipFill>
          <a:blip r:embed="rId2"/>
          <a:stretch>
            <a:fillRect/>
          </a:stretch>
        </p:blipFill>
        <p:spPr>
          <a:xfrm>
            <a:off x="6504127" y="1280160"/>
            <a:ext cx="5120640" cy="1931595"/>
          </a:xfrm>
          <a:prstGeom prst="rect">
            <a:avLst/>
          </a:prstGeom>
        </p:spPr>
      </p:pic>
      <p:sp>
        <p:nvSpPr>
          <p:cNvPr id="5" name="Figure caption"/>
          <p:cNvSpPr txBox="1"/>
          <p:nvPr/>
        </p:nvSpPr>
        <p:spPr>
          <a:xfrm>
            <a:off x="6504127" y="330319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Sawyer et al. (2016), Fig. 6B–D. Matched sections identify the somatosensory thalamic subdivisions.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Sensory cortical layer 4 receives dense input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Primary somatosensory cortex</a:t>
            </a:r>
            <a:r>
              <a:rPr sz="1600" b="0" i="0">
                <a:solidFill>
                  <a:srgbClr val="000000"/>
                </a:solidFill>
                <a:latin typeface="Arial"/>
              </a:rPr>
              <a:t>, or S1, is a cerebral region receiving bodily sensory information. Sawyer and colleagues localized a presumptive S1 region just anterior to the major vertical fissure using its microscopic organization and position within the folded sea-lion cortex.</a:t>
            </a:r>
          </a:p>
          <a:p>
            <a:pPr algn="l">
              <a:lnSpc>
                <a:spcPct val="108000"/>
              </a:lnSpc>
              <a:spcAft>
                <a:spcPts val="960"/>
              </a:spcAft>
            </a:pPr>
            <a:r>
              <a:rPr sz="1600" b="1" i="0">
                <a:solidFill>
                  <a:srgbClr val="3D525C"/>
                </a:solidFill>
                <a:latin typeface="Arial"/>
              </a:rPr>
              <a:t>Cortical layers</a:t>
            </a:r>
            <a:r>
              <a:rPr sz="1600" b="0" i="0">
                <a:solidFill>
                  <a:srgbClr val="000000"/>
                </a:solidFill>
                <a:latin typeface="Arial"/>
              </a:rPr>
              <a:t> are bands that differ in neuronal populations and connections. In this region, layer 4 contained densely packed cells and stained strongly for cytochrome oxidase and vesicular glutamate transporter 2. Layer 5 was relatively cell-sparse, whereas layer 6 was thick and cell-dense.</a:t>
            </a:r>
          </a:p>
          <a:p>
            <a:pPr algn="l">
              <a:lnSpc>
                <a:spcPct val="108000"/>
              </a:lnSpc>
              <a:spcAft>
                <a:spcPts val="960"/>
              </a:spcAft>
            </a:pPr>
            <a:r>
              <a:rPr sz="1600" b="0" i="0">
                <a:solidFill>
                  <a:srgbClr val="000000"/>
                </a:solidFill>
                <a:latin typeface="Arial"/>
              </a:rPr>
              <a:t>The VGLUT2-rich layer identifies a concentration of glutamatergic input terminals associated with primary sensory cortex. Tissue organization therefore connected a macroscopically folded surface with a specific sensory territory. Reconstructing successive stained sections placed that territory relative to the coronal and suprasylvian sulci.</a:t>
            </a:r>
          </a:p>
        </p:txBody>
      </p:sp>
      <p:pic>
        <p:nvPicPr>
          <p:cNvPr id="4" name="Picture 3" descr="Sawyer2016_f8efg.png"/>
          <p:cNvPicPr>
            <a:picLocks noChangeAspect="1"/>
          </p:cNvPicPr>
          <p:nvPr/>
        </p:nvPicPr>
        <p:blipFill>
          <a:blip r:embed="rId2"/>
          <a:stretch>
            <a:fillRect/>
          </a:stretch>
        </p:blipFill>
        <p:spPr>
          <a:xfrm>
            <a:off x="7607701" y="1280160"/>
            <a:ext cx="291349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Sawyer et al. (2016), Fig. 8E–G. Layer-specific metabolic, neuronal, and VGLUT2 staining.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Brain rhythms change with arousal state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Electroencephalography</a:t>
            </a:r>
            <a:r>
              <a:rPr sz="1500" b="0" i="0">
                <a:solidFill>
                  <a:srgbClr val="000000"/>
                </a:solidFill>
                <a:latin typeface="Arial"/>
              </a:rPr>
              <a:t>, or EEG, records voltage fluctuations through electrodes near the head. Williams and colleagues adapted the electrode arrangement to California sea lions and identified patterns in neurologically normal animals alongside recordings from animals with neurological disease.</a:t>
            </a:r>
          </a:p>
          <a:p>
            <a:pPr algn="l">
              <a:lnSpc>
                <a:spcPct val="108000"/>
              </a:lnSpc>
              <a:spcAft>
                <a:spcPts val="900"/>
              </a:spcAft>
            </a:pPr>
            <a:r>
              <a:rPr sz="1500" b="0" i="0">
                <a:solidFill>
                  <a:srgbClr val="000000"/>
                </a:solidFill>
                <a:latin typeface="Arial"/>
              </a:rPr>
              <a:t>Wakeful recordings included low-amplitude </a:t>
            </a:r>
            <a:r>
              <a:rPr sz="1500" b="1" i="0">
                <a:solidFill>
                  <a:srgbClr val="3D525C"/>
                </a:solidFill>
                <a:latin typeface="Arial"/>
              </a:rPr>
              <a:t>beta activity</a:t>
            </a:r>
            <a:r>
              <a:rPr sz="1500" b="0" i="0">
                <a:solidFill>
                  <a:srgbClr val="000000"/>
                </a:solidFill>
                <a:latin typeface="Arial"/>
              </a:rPr>
              <a:t>, faster than 13 Hz, interspersed with </a:t>
            </a:r>
            <a:r>
              <a:rPr sz="1500" b="1" i="0">
                <a:solidFill>
                  <a:srgbClr val="3D525C"/>
                </a:solidFill>
                <a:latin typeface="Arial"/>
              </a:rPr>
              <a:t>alpha activity</a:t>
            </a:r>
            <a:r>
              <a:rPr sz="1500" b="0" i="0">
                <a:solidFill>
                  <a:srgbClr val="000000"/>
                </a:solidFill>
                <a:latin typeface="Arial"/>
              </a:rPr>
              <a:t> at 8–13 Hz. Slow-wave sleep contained high-amplitude </a:t>
            </a:r>
            <a:r>
              <a:rPr sz="1500" b="1" i="0">
                <a:solidFill>
                  <a:srgbClr val="3D525C"/>
                </a:solidFill>
                <a:latin typeface="Arial"/>
              </a:rPr>
              <a:t>delta activity</a:t>
            </a:r>
            <a:r>
              <a:rPr sz="1500" b="0" i="0">
                <a:solidFill>
                  <a:srgbClr val="000000"/>
                </a:solidFill>
                <a:latin typeface="Arial"/>
              </a:rPr>
              <a:t>, slower than 4 Hz, and sleep spindles around 12–14 Hz. The same nervous system can therefore produce different temporal activity patterns across states.</a:t>
            </a:r>
          </a:p>
          <a:p>
            <a:pPr algn="l">
              <a:lnSpc>
                <a:spcPct val="108000"/>
              </a:lnSpc>
              <a:spcAft>
                <a:spcPts val="900"/>
              </a:spcAft>
            </a:pPr>
            <a:r>
              <a:rPr sz="1500" b="0" i="0">
                <a:solidFill>
                  <a:srgbClr val="000000"/>
                </a:solidFill>
                <a:latin typeface="Arial"/>
              </a:rPr>
              <a:t>These EEG rhythms are electrical activity patterns, whereas Ronan’s entrainment is a measured relationship between movement and an external sound sequence. The distinction separates physiological frequency from behavioral beat keeping. Sedation and arousal were tracked because they altered the EEG state being interpreted.</a:t>
            </a:r>
          </a:p>
        </p:txBody>
      </p:sp>
      <p:pic>
        <p:nvPicPr>
          <p:cNvPr id="4" name="Picture 3" descr="Williams2023_f2ab.png"/>
          <p:cNvPicPr>
            <a:picLocks noChangeAspect="1"/>
          </p:cNvPicPr>
          <p:nvPr/>
        </p:nvPicPr>
        <p:blipFill>
          <a:blip r:embed="rId2"/>
          <a:stretch>
            <a:fillRect/>
          </a:stretch>
        </p:blipFill>
        <p:spPr>
          <a:xfrm>
            <a:off x="6973165" y="1280160"/>
            <a:ext cx="418256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Williams et al. (2023), Fig. 2A–B. Sea-lion EEG during wakefulness and slow-wave sleep.</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Williams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Touch exploration changes with the sensory task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Active sensing</a:t>
            </a:r>
            <a:r>
              <a:rPr sz="1600" b="0" i="0">
                <a:solidFill>
                  <a:srgbClr val="000000"/>
                </a:solidFill>
                <a:latin typeface="Arial"/>
              </a:rPr>
              <a:t> means moving a sensory organ to acquire information relevant to a task. Lo, a California sea lion, used different head and whisker movements when discriminating texture, size, or visual brightness. Blindfolds restricted the texture and size tasks to tactile exploration.</a:t>
            </a:r>
          </a:p>
          <a:p>
            <a:pPr algn="l">
              <a:lnSpc>
                <a:spcPct val="108000"/>
              </a:lnSpc>
              <a:spcAft>
                <a:spcPts val="960"/>
              </a:spcAft>
            </a:pPr>
            <a:r>
              <a:rPr sz="1600" b="0" i="0">
                <a:solidFill>
                  <a:srgbClr val="000000"/>
                </a:solidFill>
                <a:latin typeface="Arial"/>
              </a:rPr>
              <a:t>For texture, Lo swept laterally across the surfaces. For size, she moved toward the object edges and made larger whisker movements. Average whisker excursions were about 34° for texture and 47° for size, compared with 24° during visual brightness discrimination.</a:t>
            </a:r>
          </a:p>
          <a:p>
            <a:pPr algn="l">
              <a:lnSpc>
                <a:spcPct val="108000"/>
              </a:lnSpc>
              <a:spcAft>
                <a:spcPts val="960"/>
              </a:spcAft>
            </a:pPr>
            <a:r>
              <a:rPr sz="1600" b="0" i="0">
                <a:solidFill>
                  <a:srgbClr val="000000"/>
                </a:solidFill>
                <a:latin typeface="Arial"/>
              </a:rPr>
              <a:t>The target remained the intermediate stimulus among two distractors. A visual control reduced the need to explore by touch, and head and whisker movements declined. Task-specific movement therefore changed how the sensory surface was sampled, linking perceptual demands to the motor strategy used to solve them.</a:t>
            </a:r>
          </a:p>
        </p:txBody>
      </p:sp>
      <p:pic>
        <p:nvPicPr>
          <p:cNvPr id="4" name="Picture 3" descr="Milne2021_f1ab.png"/>
          <p:cNvPicPr>
            <a:picLocks noChangeAspect="1"/>
          </p:cNvPicPr>
          <p:nvPr/>
        </p:nvPicPr>
        <p:blipFill>
          <a:blip r:embed="rId2"/>
          <a:stretch>
            <a:fillRect/>
          </a:stretch>
        </p:blipFill>
        <p:spPr>
          <a:xfrm>
            <a:off x="7686652" y="1234440"/>
            <a:ext cx="2750103"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Milne et al. (2021), Fig. 1A–B. Lo explores texture and size with different whisker trajectories.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Milne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Milne et al. (2021), Movie 1. Lo explores texture, size, and visual brightness.</a:t>
            </a:r>
          </a:p>
        </p:txBody>
      </p:sp>
      <p:pic>
        <p:nvPicPr>
          <p:cNvPr id="10" name="Static video fallback" descr="JEB243085.MovieS1.png"/>
          <p:cNvPicPr>
            <a:picLocks noChangeAspect="1"/>
          </p:cNvPicPr>
          <p:nvPr/>
        </p:nvPicPr>
        <p:blipFill>
          <a:blip r:embed="rId4"/>
          <a:stretch>
            <a:fillRect/>
          </a:stretch>
        </p:blipFill>
        <p:spPr>
          <a:xfrm>
            <a:off x="7151624" y="3675887"/>
            <a:ext cx="3820160" cy="2148840"/>
          </a:xfrm>
          <a:prstGeom prst="rect">
            <a:avLst/>
          </a:prstGeom>
        </p:spPr>
      </p:pic>
      <p:pic>
        <p:nvPicPr>
          <p:cNvPr id="11" name="JEB243085.MovieS1.mp4" descr="Milne et al. (2021), Movie 1. Lo explores texture, size, and visual brightnes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learned command initiates sensory-guided choice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525C"/>
                </a:solidFill>
                <a:latin typeface="Arial"/>
              </a:rPr>
              <a:t>learned command</a:t>
            </a:r>
            <a:r>
              <a:rPr sz="1600" b="0" i="0">
                <a:solidFill>
                  <a:srgbClr val="000000"/>
                </a:solidFill>
                <a:latin typeface="Arial"/>
              </a:rPr>
              <a:t> is a cue associated with a trained action or task. In Lo’s discrimination experiment, the trainer used “find it” to initiate exploration after the stimuli had been placed underwater. The command started a task whose solution still depended on information from the objects.</a:t>
            </a:r>
          </a:p>
          <a:p>
            <a:pPr algn="l">
              <a:lnSpc>
                <a:spcPct val="108000"/>
              </a:lnSpc>
              <a:spcAft>
                <a:spcPts val="960"/>
              </a:spcAft>
            </a:pPr>
            <a:r>
              <a:rPr sz="1600" b="0" i="0">
                <a:solidFill>
                  <a:srgbClr val="000000"/>
                </a:solidFill>
                <a:latin typeface="Arial"/>
              </a:rPr>
              <a:t>Lo indicated her choice by resting her nose on the selected stimulus for more than 3 s and retracting her whiskers. Correct choices produced a whistle followed by fish. The whistle served as a </a:t>
            </a:r>
            <a:r>
              <a:rPr sz="1600" b="1" i="0">
                <a:solidFill>
                  <a:srgbClr val="3D525C"/>
                </a:solidFill>
                <a:latin typeface="Arial"/>
              </a:rPr>
              <a:t>conditioned reinforcer</a:t>
            </a:r>
            <a:r>
              <a:rPr sz="1600" b="0" i="0">
                <a:solidFill>
                  <a:srgbClr val="000000"/>
                </a:solidFill>
                <a:latin typeface="Arial"/>
              </a:rPr>
              <a:t>, a previously learned signal marking success before the primary food reward arrived.</a:t>
            </a:r>
          </a:p>
          <a:p>
            <a:pPr algn="l">
              <a:lnSpc>
                <a:spcPct val="108000"/>
              </a:lnSpc>
              <a:spcAft>
                <a:spcPts val="960"/>
              </a:spcAft>
            </a:pPr>
            <a:r>
              <a:rPr sz="1600" b="0" i="0">
                <a:solidFill>
                  <a:srgbClr val="000000"/>
                </a:solidFill>
                <a:latin typeface="Arial"/>
              </a:rPr>
              <a:t>Stimulus positions changed between trials, so the same command could not be solved by approaching one permanent location. After learning, decisions during exploration took less than 1 s and accuracy approached complete target identification. The command controlled task initiation, while sensory discrimination controlled which object was selected.</a:t>
            </a:r>
          </a:p>
        </p:txBody>
      </p:sp>
      <p:pic>
        <p:nvPicPr>
          <p:cNvPr id="4" name="Picture 3" descr="Milne2021_f1c.png"/>
          <p:cNvPicPr>
            <a:picLocks noChangeAspect="1"/>
          </p:cNvPicPr>
          <p:nvPr/>
        </p:nvPicPr>
        <p:blipFill>
          <a:blip r:embed="rId2"/>
          <a:stretch>
            <a:fillRect/>
          </a:stretch>
        </p:blipFill>
        <p:spPr>
          <a:xfrm>
            <a:off x="6504127" y="1280160"/>
            <a:ext cx="5120640" cy="1404361"/>
          </a:xfrm>
          <a:prstGeom prst="rect">
            <a:avLst/>
          </a:prstGeom>
        </p:spPr>
      </p:pic>
      <p:sp>
        <p:nvSpPr>
          <p:cNvPr id="5" name="Figure caption"/>
          <p:cNvSpPr txBox="1"/>
          <p:nvPr/>
        </p:nvSpPr>
        <p:spPr>
          <a:xfrm>
            <a:off x="6504127" y="277596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Milne et al. (2021), Fig. 1C. Lo selects a brightness target with reduced tactile exploration.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Milne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Whisker adjustments precede head corrections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Ball balancing requires continuous adjustments as the supported object changes orientation. Milne and Grant recorded California sea lions named Gina, Anya, and Elmo performing this familiar trained action. The animals received ball-balancing commands and maintained the action until a trainer marked completion.</a:t>
            </a:r>
          </a:p>
          <a:p>
            <a:pPr algn="l">
              <a:lnSpc>
                <a:spcPct val="108000"/>
              </a:lnSpc>
              <a:spcAft>
                <a:spcPts val="900"/>
              </a:spcAft>
            </a:pPr>
            <a:r>
              <a:rPr sz="1500" b="1" i="0">
                <a:solidFill>
                  <a:srgbClr val="3D525C"/>
                </a:solidFill>
                <a:latin typeface="Arial"/>
              </a:rPr>
              <a:t>Whisker asymmetry</a:t>
            </a:r>
            <a:r>
              <a:rPr sz="1500" b="0" i="0">
                <a:solidFill>
                  <a:srgbClr val="000000"/>
                </a:solidFill>
                <a:latin typeface="Arial"/>
              </a:rPr>
              <a:t> describes the difference between average whisker angles on the two sides of the face. Changes in this measure followed ball orientation more closely and sooner than changes in head orientation. The reported average delays were approximately 27 ms for whiskers and 129 ms for the head.</a:t>
            </a:r>
          </a:p>
          <a:p>
            <a:pPr algn="l">
              <a:lnSpc>
                <a:spcPct val="108000"/>
              </a:lnSpc>
              <a:spcAft>
                <a:spcPts val="900"/>
              </a:spcAft>
            </a:pPr>
            <a:r>
              <a:rPr sz="1500" b="0" i="0">
                <a:solidFill>
                  <a:srgbClr val="000000"/>
                </a:solidFill>
                <a:latin typeface="Arial"/>
              </a:rPr>
              <a:t>Balancing therefore recruits control of the sensory array as well as movement of the larger support surface. Whisker movements need not merely follow the head passively. The supplied recording preserves the brief analyzed interval at its original speed, in which ball position and whisker configuration change together.</a:t>
            </a:r>
          </a:p>
        </p:txBody>
      </p:sp>
      <p:pic>
        <p:nvPicPr>
          <p:cNvPr id="4" name="Picture 3" descr="Milne2014_f1bc.png"/>
          <p:cNvPicPr>
            <a:picLocks noChangeAspect="1"/>
          </p:cNvPicPr>
          <p:nvPr/>
        </p:nvPicPr>
        <p:blipFill>
          <a:blip r:embed="rId2"/>
          <a:stretch>
            <a:fillRect/>
          </a:stretch>
        </p:blipFill>
        <p:spPr>
          <a:xfrm>
            <a:off x="7843207" y="1234440"/>
            <a:ext cx="2436992"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Milne and Grant (2014), Fig. 1b–c. Ball, head, and whisker positions during balancing.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Milne and Grant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Milne and Grant (2014), ESM 1. The original brief ball-balancing analysis interval.</a:t>
            </a:r>
          </a:p>
        </p:txBody>
      </p:sp>
      <p:pic>
        <p:nvPicPr>
          <p:cNvPr id="10" name="Static video fallback" descr="Milne2014_ESM1.png"/>
          <p:cNvPicPr>
            <a:picLocks noChangeAspect="1"/>
          </p:cNvPicPr>
          <p:nvPr/>
        </p:nvPicPr>
        <p:blipFill>
          <a:blip r:embed="rId4"/>
          <a:stretch>
            <a:fillRect/>
          </a:stretch>
        </p:blipFill>
        <p:spPr>
          <a:xfrm>
            <a:off x="6990532" y="3675887"/>
            <a:ext cx="4142342" cy="2148840"/>
          </a:xfrm>
          <a:prstGeom prst="rect">
            <a:avLst/>
          </a:prstGeom>
        </p:spPr>
      </p:pic>
      <p:pic>
        <p:nvPicPr>
          <p:cNvPr id="11" name="Milne2014_ESM1.mp4" descr="Milne and Grant (2014), ESM 1. The original brief ball-balancing analysis interval.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6990532" y="3675887"/>
            <a:ext cx="4142342"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Banking turns recruit the hindflippers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Sea lions propel ordinary forward swimming with their foreflippers, while the hindflippers can trail behind. A </a:t>
            </a:r>
            <a:r>
              <a:rPr sz="1500" b="1" i="0">
                <a:solidFill>
                  <a:srgbClr val="3D525C"/>
                </a:solidFill>
                <a:latin typeface="Arial"/>
              </a:rPr>
              <a:t>banking turn</a:t>
            </a:r>
            <a:r>
              <a:rPr sz="1500" b="0" i="0">
                <a:solidFill>
                  <a:srgbClr val="000000"/>
                </a:solidFill>
                <a:latin typeface="Arial"/>
              </a:rPr>
              <a:t> combines rolling the body with changing the swimming direction. Leahy and colleagues trained sea lions to complete 180° turns beneath an underwater viewing window.</a:t>
            </a:r>
          </a:p>
          <a:p>
            <a:pPr algn="l">
              <a:lnSpc>
                <a:spcPct val="108000"/>
              </a:lnSpc>
              <a:spcAft>
                <a:spcPts val="900"/>
              </a:spcAft>
            </a:pPr>
            <a:r>
              <a:rPr sz="1500" b="0" i="0">
                <a:solidFill>
                  <a:srgbClr val="000000"/>
                </a:solidFill>
                <a:latin typeface="Arial"/>
              </a:rPr>
              <a:t>At turn onset, the animal abducted its foreflippers, moving them away from the body, and rolled approximately 90°. The hindflippers spread and rotated, expanding their surface area. Their position behind the body’s center of gravity allows a hydrodynamic force to influence body orientation as well as the path of travel.</a:t>
            </a:r>
          </a:p>
          <a:p>
            <a:pPr algn="l">
              <a:lnSpc>
                <a:spcPct val="108000"/>
              </a:lnSpc>
              <a:spcAft>
                <a:spcPts val="900"/>
              </a:spcAft>
            </a:pPr>
            <a:r>
              <a:rPr sz="1500" b="0" i="0">
                <a:solidFill>
                  <a:srgbClr val="000000"/>
                </a:solidFill>
                <a:latin typeface="Arial"/>
              </a:rPr>
              <a:t>The hindflippers’ average </a:t>
            </a:r>
            <a:r>
              <a:rPr sz="1500" b="1" i="0">
                <a:solidFill>
                  <a:srgbClr val="3D525C"/>
                </a:solidFill>
                <a:latin typeface="Arial"/>
              </a:rPr>
              <a:t>angle of attack</a:t>
            </a:r>
            <a:r>
              <a:rPr sz="1500" b="0" i="0">
                <a:solidFill>
                  <a:srgbClr val="000000"/>
                </a:solidFill>
                <a:latin typeface="Arial"/>
              </a:rPr>
              <a:t>, their orientation relative to the approaching flow, was about 28° during turning. They remained spread during the maneuver and were adducted, brought together, as forward swimming resumed. Coordinated control therefore changes the role of an appendage with the behavioral requirement.</a:t>
            </a:r>
          </a:p>
        </p:txBody>
      </p:sp>
      <p:pic>
        <p:nvPicPr>
          <p:cNvPr id="4" name="Picture 3" descr="Leahy2021_f3abcd.png"/>
          <p:cNvPicPr>
            <a:picLocks noChangeAspect="1"/>
          </p:cNvPicPr>
          <p:nvPr/>
        </p:nvPicPr>
        <p:blipFill>
          <a:blip r:embed="rId2"/>
          <a:stretch>
            <a:fillRect/>
          </a:stretch>
        </p:blipFill>
        <p:spPr>
          <a:xfrm>
            <a:off x="6501384" y="1723396"/>
            <a:ext cx="5120640" cy="942328"/>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Leahy et al. (2021), Fig. 3A, E, I. Successive stages of a sea-lion banking turn.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Leahy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Leahy et al. (2021), Movie 3. A trained sea lion executes a 180° left banking turn.</a:t>
            </a:r>
          </a:p>
        </p:txBody>
      </p:sp>
      <p:pic>
        <p:nvPicPr>
          <p:cNvPr id="10" name="Static video fallback" descr="JEB243020.MovieS3.png"/>
          <p:cNvPicPr>
            <a:picLocks noChangeAspect="1"/>
          </p:cNvPicPr>
          <p:nvPr/>
        </p:nvPicPr>
        <p:blipFill>
          <a:blip r:embed="rId4"/>
          <a:stretch>
            <a:fillRect/>
          </a:stretch>
        </p:blipFill>
        <p:spPr>
          <a:xfrm>
            <a:off x="7151624" y="3675887"/>
            <a:ext cx="3820160" cy="2148840"/>
          </a:xfrm>
          <a:prstGeom prst="rect">
            <a:avLst/>
          </a:prstGeom>
        </p:spPr>
      </p:pic>
      <p:pic>
        <p:nvPicPr>
          <p:cNvPr id="11" name="JEB243020.MovieS3.mp4" descr="Leahy et al. (2021), Movie 3. A trained sea lion executes a 180° left banking turn.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Leaping alternates propulsion and body stabilization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Porpoising</a:t>
            </a:r>
            <a:r>
              <a:rPr sz="1600" b="0" i="0">
                <a:solidFill>
                  <a:srgbClr val="000000"/>
                </a:solidFill>
                <a:latin typeface="Arial"/>
              </a:rPr>
              <a:t> is a swimming pattern that repeatedly carries the body above and below the water surface. A trained California sea lion performed consecutive leaps while cameras recorded aerial and submerged phases. The full cycle lasted about 1.5 s in the analyzed captive performance.</a:t>
            </a:r>
          </a:p>
          <a:p>
            <a:pPr algn="l">
              <a:lnSpc>
                <a:spcPct val="108000"/>
              </a:lnSpc>
              <a:spcAft>
                <a:spcPts val="960"/>
              </a:spcAft>
            </a:pPr>
            <a:r>
              <a:rPr sz="1600" b="0" i="0">
                <a:solidFill>
                  <a:srgbClr val="000000"/>
                </a:solidFill>
                <a:latin typeface="Arial"/>
              </a:rPr>
              <a:t>The foreflippers generated propulsive strokes during submerged swimming. The hindflippers spread beneath the water and helped stabilize the posterior body region. At the fully aerial crest, the flippers were held against the body or folded rather than continuously generating force against water.</a:t>
            </a:r>
          </a:p>
          <a:p>
            <a:pPr algn="l">
              <a:lnSpc>
                <a:spcPct val="108000"/>
              </a:lnSpc>
              <a:spcAft>
                <a:spcPts val="960"/>
              </a:spcAft>
            </a:pPr>
            <a:r>
              <a:rPr sz="1600" b="0" i="0">
                <a:solidFill>
                  <a:srgbClr val="000000"/>
                </a:solidFill>
                <a:latin typeface="Arial"/>
              </a:rPr>
              <a:t>Water entry began with the nose along a curved path, followed by repositioning the foreflippers and hindflippers for the submerged phase. Hindflipper angle of attack during the analyzed submerged phase averaged about 15°. The coordinated cycle thus changes the timing and orientation of several body parts as the surrounding medium changes.</a:t>
            </a:r>
          </a:p>
        </p:txBody>
      </p:sp>
      <p:pic>
        <p:nvPicPr>
          <p:cNvPr id="4" name="Picture 3" descr="Leahy2021_f1.png"/>
          <p:cNvPicPr>
            <a:picLocks noChangeAspect="1"/>
          </p:cNvPicPr>
          <p:nvPr/>
        </p:nvPicPr>
        <p:blipFill>
          <a:blip r:embed="rId2"/>
          <a:stretch>
            <a:fillRect/>
          </a:stretch>
        </p:blipFill>
        <p:spPr>
          <a:xfrm>
            <a:off x="8133889" y="1234440"/>
            <a:ext cx="1855629"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Leahy et al. (2021), Fig. 1. Sea-lion hindflipper geometry and spread configuration.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Leahy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Leahy et al. (2021), Movie 1. A captive sea lion completes a porpoising bout.</a:t>
            </a:r>
          </a:p>
        </p:txBody>
      </p:sp>
      <p:pic>
        <p:nvPicPr>
          <p:cNvPr id="10" name="Static video fallback" descr="JEB243020.MovieS1.png"/>
          <p:cNvPicPr>
            <a:picLocks noChangeAspect="1"/>
          </p:cNvPicPr>
          <p:nvPr/>
        </p:nvPicPr>
        <p:blipFill>
          <a:blip r:embed="rId4"/>
          <a:stretch>
            <a:fillRect/>
          </a:stretch>
        </p:blipFill>
        <p:spPr>
          <a:xfrm>
            <a:off x="7151624" y="3675887"/>
            <a:ext cx="3820160" cy="2148840"/>
          </a:xfrm>
          <a:prstGeom prst="rect">
            <a:avLst/>
          </a:prstGeom>
        </p:spPr>
      </p:pic>
      <p:pic>
        <p:nvPicPr>
          <p:cNvPr id="11" name="JEB243020.MovieS1.mp4" descr="Leahy et al. (2021), Movie 1. A captive sea lion completes a porpoising bout.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Wild porpoising retains the coordinated movement pattern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Wild California sea lions in Monterey Bay also executed repeated porpoising leaps. The field recordings and the trained-animal recordings supplied different contexts for the same broad locomotor pattern. Both involved alternating aerial movement with submerged propulsion and a changing hindflipper posture.</a:t>
            </a:r>
          </a:p>
          <a:p>
            <a:pPr algn="l">
              <a:lnSpc>
                <a:spcPct val="108000"/>
              </a:lnSpc>
              <a:spcAft>
                <a:spcPts val="900"/>
              </a:spcAft>
            </a:pPr>
            <a:r>
              <a:rPr sz="1500" b="0" i="0">
                <a:solidFill>
                  <a:srgbClr val="000000"/>
                </a:solidFill>
                <a:latin typeface="Arial"/>
              </a:rPr>
              <a:t>In the field sequence, the legs generally remained more extended during the aerial phase, and the hindflippers cleared the water. The reported average leap length was 0.81 body lengths and the aerial height was 0.06 body lengths. Expressing distances in body lengths permits comparison across differently sized animals.</a:t>
            </a:r>
          </a:p>
          <a:p>
            <a:pPr algn="l">
              <a:lnSpc>
                <a:spcPct val="108000"/>
              </a:lnSpc>
              <a:spcAft>
                <a:spcPts val="900"/>
              </a:spcAft>
            </a:pPr>
            <a:r>
              <a:rPr sz="1500" b="0" i="0">
                <a:solidFill>
                  <a:srgbClr val="000000"/>
                </a:solidFill>
                <a:latin typeface="Arial"/>
              </a:rPr>
              <a:t>The captive sea lion made longer and higher leaps and used a different entry angle. Training conditions can therefore change the scale of a movement without eliminating the coordinated pattern. The original field movie supplies the natural locomotor comparison; these measurements concern body control rather than synchronization to an acoustic pulse.</a:t>
            </a:r>
          </a:p>
        </p:txBody>
      </p:sp>
      <p:pic>
        <p:nvPicPr>
          <p:cNvPr id="4" name="Picture 3" descr="Leahy2021_f3ijkl.png"/>
          <p:cNvPicPr>
            <a:picLocks noChangeAspect="1"/>
          </p:cNvPicPr>
          <p:nvPr/>
        </p:nvPicPr>
        <p:blipFill>
          <a:blip r:embed="rId2"/>
          <a:stretch>
            <a:fillRect/>
          </a:stretch>
        </p:blipFill>
        <p:spPr>
          <a:xfrm>
            <a:off x="6501384" y="1690676"/>
            <a:ext cx="5120640" cy="1007767"/>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Leahy et al. (2021), Fig. 3D, H, L. Changing flipper configuration during a maneuver.</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Leahy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Leahy et al. (2021), Movie 2. Wild sea lions porpoise in Monterey Bay.</a:t>
            </a:r>
          </a:p>
        </p:txBody>
      </p:sp>
      <p:pic>
        <p:nvPicPr>
          <p:cNvPr id="10" name="Static video fallback" descr="JEB243020.MovieS2.png"/>
          <p:cNvPicPr>
            <a:picLocks noChangeAspect="1"/>
          </p:cNvPicPr>
          <p:nvPr/>
        </p:nvPicPr>
        <p:blipFill>
          <a:blip r:embed="rId4"/>
          <a:stretch>
            <a:fillRect/>
          </a:stretch>
        </p:blipFill>
        <p:spPr>
          <a:xfrm>
            <a:off x="7151624" y="3675887"/>
            <a:ext cx="3820160" cy="2148840"/>
          </a:xfrm>
          <a:prstGeom prst="rect">
            <a:avLst/>
          </a:prstGeom>
        </p:spPr>
      </p:pic>
      <p:pic>
        <p:nvPicPr>
          <p:cNvPr id="11" name="JEB243020.MovieS2.mp4" descr="Leahy et al. (2021), Movie 2. Wild sea lions porpoise in Monterey Bay.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Musical pulse guides movement beyond the training sound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musical recording contains overlapping instruments and events between the regular beats. Ronan coordinated her head movements with Everybody at about 108 bpm and Boogie Wonderland at 130 bpm. Keeping the repeated response organized required selecting a temporal regularity within this more complex acoustic material.</a:t>
            </a:r>
          </a:p>
          <a:p>
            <a:pPr algn="l">
              <a:lnSpc>
                <a:spcPct val="108000"/>
              </a:lnSpc>
              <a:spcAft>
                <a:spcPts val="900"/>
              </a:spcAft>
            </a:pPr>
            <a:r>
              <a:rPr sz="1500" b="0" i="0">
                <a:solidFill>
                  <a:srgbClr val="000000"/>
                </a:solidFill>
                <a:latin typeface="Arial"/>
              </a:rPr>
              <a:t>The songs had different exposure histories. Everybody received explicit training after earlier unsuccessful exposure. Boogie Wonderland had been heard briefly before the later transfer test, without that exposure producing entrained bobbing. Prior exposure and reinforced successful performance are distinct learning events.</a:t>
            </a:r>
          </a:p>
          <a:p>
            <a:pPr algn="l">
              <a:lnSpc>
                <a:spcPct val="108000"/>
              </a:lnSpc>
              <a:spcAft>
                <a:spcPts val="900"/>
              </a:spcAft>
            </a:pPr>
            <a:r>
              <a:rPr sz="1500" b="0" i="0">
                <a:solidFill>
                  <a:srgbClr val="000000"/>
                </a:solidFill>
                <a:latin typeface="Arial"/>
              </a:rPr>
              <a:t>After training at the native tempo of Boogie Wonderland, Ronan also followed altered versions spanning 104–143 bpm. The same musical material guided different movement rates. Flexibility across these versions links the trained action to the current pulse instead of one fixed speed learned from a familiar recording.</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Head-bob timing with Everybody and Boogie Wonderland.</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dancing reputation rests on controlled experiments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pPr algn="l">
              <a:lnSpc>
                <a:spcPct val="108000"/>
              </a:lnSpc>
              <a:spcAft>
                <a:spcPts val="960"/>
              </a:spcAft>
            </a:pPr>
            <a:r>
              <a:rPr sz="1600" b="0" i="0">
                <a:solidFill>
                  <a:srgbClr val="000000"/>
                </a:solidFill>
                <a:latin typeface="Arial"/>
              </a:rPr>
              <a:t>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pPr algn="l">
              <a:lnSpc>
                <a:spcPct val="108000"/>
              </a:lnSpc>
              <a:spcAft>
                <a:spcPts val="960"/>
              </a:spcAft>
            </a:pPr>
            <a:r>
              <a:rPr sz="1600" b="0" i="0">
                <a:solidFill>
                  <a:srgbClr val="000000"/>
                </a:solidFill>
                <a:latin typeface="Arial"/>
              </a:rPr>
              <a:t>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p:txBody>
      </p:sp>
      <p:pic>
        <p:nvPicPr>
          <p:cNvPr id="4" name="Picture 3" descr="Cook2013_f6ef.png"/>
          <p:cNvPicPr>
            <a:picLocks noChangeAspect="1"/>
          </p:cNvPicPr>
          <p:nvPr/>
        </p:nvPicPr>
        <p:blipFill>
          <a:blip r:embed="rId2"/>
          <a:stretch>
            <a:fillRect/>
          </a:stretch>
        </p:blipFill>
        <p:spPr>
          <a:xfrm>
            <a:off x="7522463" y="1234440"/>
            <a:ext cx="3078480"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6E–F. Extended coordination with music at 137 and 124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Cook et al. (2013), official UCSC study video. Ronan transfers trained synchronization to music.</a:t>
            </a:r>
          </a:p>
        </p:txBody>
      </p:sp>
      <p:pic>
        <p:nvPicPr>
          <p:cNvPr id="10" name="Static video fallback" descr="UCSC2013_Ronan_feature.png"/>
          <p:cNvPicPr>
            <a:picLocks noChangeAspect="1"/>
          </p:cNvPicPr>
          <p:nvPr/>
        </p:nvPicPr>
        <p:blipFill>
          <a:blip r:embed="rId4"/>
          <a:stretch>
            <a:fillRect/>
          </a:stretch>
        </p:blipFill>
        <p:spPr>
          <a:xfrm>
            <a:off x="7151624" y="3675887"/>
            <a:ext cx="3820160" cy="2148840"/>
          </a:xfrm>
          <a:prstGeom prst="rect">
            <a:avLst/>
          </a:prstGeom>
        </p:spPr>
      </p:pic>
      <p:pic>
        <p:nvPicPr>
          <p:cNvPr id="11" name="UCSC2013_Ronan_feature.mp4" descr="Cook et al. (2013), official UCSC study video. Ronan transfers trained synchronization to music.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Perturbations separate phase from period correction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3D525C"/>
                </a:solidFill>
                <a:latin typeface="Arial"/>
              </a:rPr>
              <a:t>phase perturbation</a:t>
            </a:r>
            <a:r>
              <a:rPr sz="1500" b="0" i="0">
                <a:solidFill>
                  <a:srgbClr val="000000"/>
                </a:solidFill>
                <a:latin typeface="Arial"/>
              </a:rPr>
              <a:t> shifts where the sound sequence falls in time while preserving its eventual repetition rate. A </a:t>
            </a:r>
            <a:r>
              <a:rPr sz="1500" b="1" i="0">
                <a:solidFill>
                  <a:srgbClr val="3D525C"/>
                </a:solidFill>
                <a:latin typeface="Arial"/>
              </a:rPr>
              <a:t>tempo perturbation</a:t>
            </a:r>
            <a:r>
              <a:rPr sz="1500" b="0" i="0">
                <a:solidFill>
                  <a:srgbClr val="000000"/>
                </a:solidFill>
                <a:latin typeface="Arial"/>
              </a:rPr>
              <a:t> changes the interval between successive sounds. These manipulations challenge different components of an already coordinated movement.</a:t>
            </a:r>
          </a:p>
          <a:p>
            <a:pPr algn="l">
              <a:lnSpc>
                <a:spcPct val="108000"/>
              </a:lnSpc>
              <a:spcAft>
                <a:spcPts val="900"/>
              </a:spcAft>
            </a:pPr>
            <a:r>
              <a:rPr sz="1500" b="0" i="0">
                <a:solidFill>
                  <a:srgbClr val="000000"/>
                </a:solidFill>
                <a:latin typeface="Arial"/>
              </a:rPr>
              <a:t>Rouse and colleagues introduced one unexpected change during a trial, after a stable initial run of beats. Ronan then had to modify the movement she was already producing. The response immediately after the change exposed the dynamics of correction.</a:t>
            </a:r>
          </a:p>
          <a:p>
            <a:pPr algn="l">
              <a:lnSpc>
                <a:spcPct val="108000"/>
              </a:lnSpc>
              <a:spcAft>
                <a:spcPts val="900"/>
              </a:spcAft>
            </a:pPr>
            <a:r>
              <a:rPr sz="1500" b="1" i="0">
                <a:solidFill>
                  <a:srgbClr val="3D525C"/>
                </a:solidFill>
                <a:latin typeface="Arial"/>
              </a:rPr>
              <a:t>Period</a:t>
            </a:r>
            <a:r>
              <a:rPr sz="1500" b="0" i="0">
                <a:solidFill>
                  <a:srgbClr val="000000"/>
                </a:solidFill>
                <a:latin typeface="Arial"/>
              </a:rPr>
              <a:t> is the duration of one complete cycle. A repeating motor process can correct timing position quickly while changing its preferred period more slowly. Comparing phase and tempo perturbations therefore tested a coupled-oscillator hypothesis: the sound sequence influences a repeating movement process, or </a:t>
            </a:r>
            <a:r>
              <a:rPr sz="1500" b="1" i="0">
                <a:solidFill>
                  <a:srgbClr val="3D525C"/>
                </a:solidFill>
                <a:latin typeface="Arial"/>
              </a:rPr>
              <a:t>oscillator</a:t>
            </a:r>
            <a:r>
              <a:rPr sz="1500" b="0" i="0">
                <a:solidFill>
                  <a:srgbClr val="000000"/>
                </a:solidFill>
                <a:latin typeface="Arial"/>
              </a:rPr>
              <a:t>. Transient behavior measures how ongoing coordination changes after an unexpected timing disturbance.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Responses to mid-trial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perturbation stimulus uses brief paired tones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stimulus clicks combined tones at 659 and 1319 Hz for 10 ms. Repeating these brief events created a clear temporal sequence. The main baseline rate was 85 bpm, a rate Ronan had not previously encountered in training or testing.</a:t>
            </a:r>
          </a:p>
          <a:p>
            <a:pPr algn="l">
              <a:lnSpc>
                <a:spcPct val="108000"/>
              </a:lnSpc>
              <a:spcAft>
                <a:spcPts val="1019"/>
              </a:spcAft>
            </a:pPr>
            <a:r>
              <a:rPr sz="1700" b="0" i="0">
                <a:solidFill>
                  <a:srgbClr val="000000"/>
                </a:solidFill>
                <a:latin typeface="Arial"/>
              </a:rPr>
              <a:t>Perturbations changed a timing interval by 3, 8, 15, or 25 percent in either direction. The change occurred between the sixteenth and twenty-fifth beat, with its position varied across conditions so that a fixed point in the sequence would not predict it.</a:t>
            </a:r>
          </a:p>
          <a:p>
            <a:pPr algn="l">
              <a:lnSpc>
                <a:spcPct val="108000"/>
              </a:lnSpc>
              <a:spcAft>
                <a:spcPts val="1019"/>
              </a:spcAft>
            </a:pPr>
            <a:r>
              <a:rPr sz="1700" b="0" i="0">
                <a:solidFill>
                  <a:srgbClr val="000000"/>
                </a:solidFill>
                <a:latin typeface="Arial"/>
              </a:rPr>
              <a:t>At the baseline rate, the normal interval was about 706 ms. Controlled changes to that interval introduced experimentally specified timing errors into a sequence that Ronan was already following, allowing the subsequent head bobs to reveal how she recovered coordination.</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distributions before and after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phase shift moves the beat without a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a phase-shift trial, a sound occurs earlier or later than expected, but later sounds return to the original spacing. The stimulus’s temporal position changes while its continuing tempo remains fixed, separating an onset-position error from a lasting change in speed.</a:t>
            </a:r>
          </a:p>
          <a:p>
            <a:pPr algn="l">
              <a:lnSpc>
                <a:spcPct val="108000"/>
              </a:lnSpc>
              <a:spcAft>
                <a:spcPts val="960"/>
              </a:spcAft>
            </a:pPr>
            <a:r>
              <a:rPr sz="1600" b="0" i="0">
                <a:solidFill>
                  <a:srgbClr val="000000"/>
                </a:solidFill>
                <a:latin typeface="Arial"/>
              </a:rPr>
              <a:t>Ronan adjusted her head-bob timing after both advances and delays. Her movement regained an organized relationship with the shifted sequence within a few beats, rather than staying locked to the timing established before the perturbation.</a:t>
            </a:r>
          </a:p>
          <a:p>
            <a:pPr algn="l">
              <a:lnSpc>
                <a:spcPct val="108000"/>
              </a:lnSpc>
              <a:spcAft>
                <a:spcPts val="960"/>
              </a:spcAft>
            </a:pPr>
            <a:r>
              <a:rPr sz="1600" b="0" i="0">
                <a:solidFill>
                  <a:srgbClr val="000000"/>
                </a:solidFill>
                <a:latin typeface="Arial"/>
              </a:rPr>
              <a:t>This recovery is </a:t>
            </a:r>
            <a:r>
              <a:rPr sz="1600" b="1" i="0">
                <a:solidFill>
                  <a:srgbClr val="3D525C"/>
                </a:solidFill>
                <a:latin typeface="Arial"/>
              </a:rPr>
              <a:t>phase correction</a:t>
            </a:r>
            <a:r>
              <a:rPr sz="1600" b="0" i="0">
                <a:solidFill>
                  <a:srgbClr val="000000"/>
                </a:solidFill>
                <a:latin typeface="Arial"/>
              </a:rPr>
              <a:t>, the adjustment of an ongoing cycle’s position relative to an external event. Because the subsequent sound interval returns to baseline, successful recovery can be achieved by a transient movement adjustment without adopting a permanently different repetition rate.</a:t>
            </a:r>
          </a:p>
        </p:txBody>
      </p:sp>
      <p:pic>
        <p:nvPicPr>
          <p:cNvPr id="4" name="Picture 3" descr="PMC4891632_f1phase.png"/>
          <p:cNvPicPr>
            <a:picLocks noChangeAspect="1"/>
          </p:cNvPicPr>
          <p:nvPr/>
        </p:nvPicPr>
        <p:blipFill>
          <a:blip r:embed="rId2"/>
          <a:stretch>
            <a:fillRect/>
          </a:stretch>
        </p:blipFill>
        <p:spPr>
          <a:xfrm>
            <a:off x="6921308" y="1234440"/>
            <a:ext cx="4280791"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conditions. Timing distributions after phase advances and delays.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Rouse et al. (2016), Supplementary Video 1. Ronan adjusts to phase and tempo changes.</a:t>
            </a:r>
          </a:p>
        </p:txBody>
      </p:sp>
      <p:pic>
        <p:nvPicPr>
          <p:cNvPr id="10" name="Static video fallback" descr="Rouse2016_Video1.png"/>
          <p:cNvPicPr>
            <a:picLocks noChangeAspect="1"/>
          </p:cNvPicPr>
          <p:nvPr/>
        </p:nvPicPr>
        <p:blipFill>
          <a:blip r:embed="rId4"/>
          <a:stretch>
            <a:fillRect/>
          </a:stretch>
        </p:blipFill>
        <p:spPr>
          <a:xfrm>
            <a:off x="7150131" y="3675887"/>
            <a:ext cx="3823144" cy="2148840"/>
          </a:xfrm>
          <a:prstGeom prst="rect">
            <a:avLst/>
          </a:prstGeom>
        </p:spPr>
      </p:pic>
      <p:pic>
        <p:nvPicPr>
          <p:cNvPr id="11" name="Rouse2016_Video1.mp4" descr="Rouse et al. (2016), Supplementary Video 1. Ronan adjusts to phase and tempo change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0131" y="3675887"/>
            <a:ext cx="3823144"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tempo shift changes every later sound interval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tempo perturbation alters the spacing of every subsequent beat. If the head-bob rhythm kept its original period, the relative position of movement and sound would drift increasingly across the trial, even after the first timing error had been corrected.</a:t>
            </a:r>
          </a:p>
          <a:p>
            <a:pPr algn="l">
              <a:lnSpc>
                <a:spcPct val="108000"/>
              </a:lnSpc>
              <a:spcAft>
                <a:spcPts val="960"/>
              </a:spcAft>
            </a:pPr>
            <a:r>
              <a:rPr sz="1600" b="0" i="0">
                <a:solidFill>
                  <a:srgbClr val="000000"/>
                </a:solidFill>
                <a:latin typeface="Arial"/>
              </a:rPr>
              <a:t>Ronan adapted after all the tested tempo changes. The response had to address the continuing mismatch in cycle duration, not merely the placement of a single unexpectedly early or late sound within an otherwise unchanged sequence.</a:t>
            </a:r>
          </a:p>
          <a:p>
            <a:pPr algn="l">
              <a:lnSpc>
                <a:spcPct val="108000"/>
              </a:lnSpc>
              <a:spcAft>
                <a:spcPts val="960"/>
              </a:spcAft>
            </a:pPr>
            <a:r>
              <a:rPr sz="1600" b="0" i="0">
                <a:solidFill>
                  <a:srgbClr val="000000"/>
                </a:solidFill>
                <a:latin typeface="Arial"/>
              </a:rPr>
              <a:t>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p:txBody>
      </p:sp>
      <p:pic>
        <p:nvPicPr>
          <p:cNvPr id="4" name="Picture 3" descr="PMC4891632_f1tempo.png"/>
          <p:cNvPicPr>
            <a:picLocks noChangeAspect="1"/>
          </p:cNvPicPr>
          <p:nvPr/>
        </p:nvPicPr>
        <p:blipFill>
          <a:blip r:embed="rId2"/>
          <a:stretch>
            <a:fillRect/>
          </a:stretch>
        </p:blipFill>
        <p:spPr>
          <a:xfrm>
            <a:off x="6504127" y="1280160"/>
            <a:ext cx="5120640" cy="2640787"/>
          </a:xfrm>
          <a:prstGeom prst="rect">
            <a:avLst/>
          </a:prstGeom>
        </p:spPr>
      </p:pic>
      <p:sp>
        <p:nvSpPr>
          <p:cNvPr id="5" name="Figure caption"/>
          <p:cNvSpPr txBox="1"/>
          <p:nvPr/>
        </p:nvSpPr>
        <p:spPr>
          <a:xfrm>
            <a:off x="6504127" y="4012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tempo conditions. Timing distributions after persistent rate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first transfer response already tracks the change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first presentation of each perturbation provided a test before repeated experience with that exact change. Ronan retained organized movement relative to the beat after these first encounters, including phase changes and persistent changes in the stimulus interval.</a:t>
            </a:r>
          </a:p>
          <a:p>
            <a:pPr algn="l">
              <a:lnSpc>
                <a:spcPct val="108000"/>
              </a:lnSpc>
              <a:spcAft>
                <a:spcPts val="960"/>
              </a:spcAft>
            </a:pPr>
            <a:r>
              <a:rPr sz="1600" b="0" i="0">
                <a:solidFill>
                  <a:srgbClr val="000000"/>
                </a:solidFill>
                <a:latin typeface="Arial"/>
              </a:rPr>
              <a:t>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pPr algn="l">
              <a:lnSpc>
                <a:spcPct val="108000"/>
              </a:lnSpc>
              <a:spcAft>
                <a:spcPts val="960"/>
              </a:spcAft>
            </a:pPr>
            <a:r>
              <a:rPr sz="1600" b="0" i="0">
                <a:solidFill>
                  <a:srgbClr val="000000"/>
                </a:solidFill>
                <a:latin typeface="Arial"/>
              </a:rPr>
              <a:t>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First presentations of timing-perturbation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Phase recovery occurs over successive movements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pPr algn="l">
              <a:lnSpc>
                <a:spcPct val="108000"/>
              </a:lnSpc>
              <a:spcAft>
                <a:spcPts val="960"/>
              </a:spcAft>
            </a:pPr>
            <a:r>
              <a:rPr sz="1600" b="0" i="0">
                <a:solidFill>
                  <a:srgbClr val="000000"/>
                </a:solidFill>
                <a:latin typeface="Arial"/>
              </a:rPr>
              <a:t>Ronan corrected the disturbance within a few beats. Recovery was a trajectory across successive movements rather than an instantaneous switch from one static state to another. This time course supplied information about the strength and direction of adjustment.</a:t>
            </a:r>
          </a:p>
          <a:p>
            <a:pPr algn="l">
              <a:lnSpc>
                <a:spcPct val="108000"/>
              </a:lnSpc>
              <a:spcAft>
                <a:spcPts val="960"/>
              </a:spcAft>
            </a:pPr>
            <a:r>
              <a:rPr sz="1600" b="0" i="0">
                <a:solidFill>
                  <a:srgbClr val="000000"/>
                </a:solidFill>
                <a:latin typeface="Arial"/>
              </a:rPr>
              <a:t>The published model predicted these transient trajectories using coupling between the sound sequence and the behavioral oscillator. </a:t>
            </a:r>
            <a:r>
              <a:rPr sz="1600" b="1" i="0">
                <a:solidFill>
                  <a:srgbClr val="3D525C"/>
                </a:solidFill>
                <a:latin typeface="Arial"/>
              </a:rPr>
              <a:t>Coupling</a:t>
            </a:r>
            <a:r>
              <a:rPr sz="1600" b="0" i="0">
                <a:solidFill>
                  <a:srgbClr val="000000"/>
                </a:solidFill>
                <a:latin typeface="Arial"/>
              </a:rPr>
              <a:t> means that the timing of one process changes the state of the other; here, the sound events adjusted the timing of the continuing head-bob cycle.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Beat-by-beat recovery after phase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changes produce a lasting timing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Following a lasting rate change, Ronan’s initial movement period and the new stimulus period differed. Head movements therefore had to adjust across several cycles to approach a stable relationship with the new continuing sound sequence.</a:t>
            </a:r>
          </a:p>
          <a:p>
            <a:pPr algn="l">
              <a:lnSpc>
                <a:spcPct val="108000"/>
              </a:lnSpc>
              <a:spcAft>
                <a:spcPts val="960"/>
              </a:spcAft>
            </a:pPr>
            <a:r>
              <a:rPr sz="1600" b="0" i="0">
                <a:solidFill>
                  <a:srgbClr val="000000"/>
                </a:solidFill>
                <a:latin typeface="Arial"/>
              </a:rPr>
              <a:t>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pPr algn="l">
              <a:lnSpc>
                <a:spcPct val="108000"/>
              </a:lnSpc>
              <a:spcAft>
                <a:spcPts val="960"/>
              </a:spcAft>
            </a:pPr>
            <a:r>
              <a:rPr sz="1600" b="0" i="0">
                <a:solidFill>
                  <a:srgbClr val="000000"/>
                </a:solidFill>
                <a:latin typeface="Arial"/>
              </a:rPr>
              <a:t>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Recovery trajectories following rate shifts.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double bob exposes an immediate motor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During some large slowing perturbations, the next sound occurred when Ronan’s head was near the high point of a movement rather than its low point. She sometimes made an additional small nod before slowing the broader movement cycle.</a:t>
            </a:r>
          </a:p>
          <a:p>
            <a:pPr algn="l">
              <a:lnSpc>
                <a:spcPct val="108000"/>
              </a:lnSpc>
              <a:spcAft>
                <a:spcPts val="960"/>
              </a:spcAft>
            </a:pPr>
            <a:r>
              <a:rPr sz="1600" b="0" i="0">
                <a:solidFill>
                  <a:srgbClr val="000000"/>
                </a:solidFill>
                <a:latin typeface="Arial"/>
              </a:rPr>
              <a:t>The authors called these responses </a:t>
            </a:r>
            <a:r>
              <a:rPr sz="1600" b="1" i="0">
                <a:solidFill>
                  <a:srgbClr val="3D525C"/>
                </a:solidFill>
                <a:latin typeface="Arial"/>
              </a:rPr>
              <a:t>double bobs</a:t>
            </a:r>
            <a:r>
              <a:rPr sz="1600" b="0" i="0">
                <a:solidFill>
                  <a:srgbClr val="000000"/>
                </a:solidFill>
                <a:latin typeface="Arial"/>
              </a:rPr>
              <a:t> because two identifiable movements occurred around a beat. Their observation connected the timing disturbance with a specific change in movement form, rather than treating all behavior as identical cycles with only altered timestamps.</a:t>
            </a:r>
          </a:p>
          <a:p>
            <a:pPr algn="l">
              <a:lnSpc>
                <a:spcPct val="108000"/>
              </a:lnSpc>
              <a:spcAft>
                <a:spcPts val="960"/>
              </a:spcAft>
            </a:pPr>
            <a:r>
              <a:rPr sz="1600" b="0" i="0">
                <a:solidFill>
                  <a:srgbClr val="000000"/>
                </a:solidFill>
                <a:latin typeface="Arial"/>
              </a:rPr>
              <a:t>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Behavioral timing after persistent interval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Timing concentration and timing offset are separate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series of movements can be consistently early, consistently late, or widely scattered around the beat. The average phase describes the center of that relationship, whereas the concentration of phases describes how consistently successive movements occupy that position.</a:t>
            </a:r>
          </a:p>
          <a:p>
            <a:pPr algn="l">
              <a:lnSpc>
                <a:spcPct val="108000"/>
              </a:lnSpc>
              <a:spcAft>
                <a:spcPts val="900"/>
              </a:spcAft>
            </a:pPr>
            <a:r>
              <a:rPr sz="1500" b="0" i="0">
                <a:solidFill>
                  <a:srgbClr val="000000"/>
                </a:solidFill>
                <a:latin typeface="Arial"/>
              </a:rPr>
              <a:t>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pPr algn="l">
              <a:lnSpc>
                <a:spcPct val="108000"/>
              </a:lnSpc>
              <a:spcAft>
                <a:spcPts val="900"/>
              </a:spcAft>
            </a:pPr>
            <a:r>
              <a:rPr sz="1500" b="0" i="0">
                <a:solidFill>
                  <a:srgbClr val="000000"/>
                </a:solidFill>
                <a:latin typeface="Arial"/>
              </a:rPr>
              <a:t>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p:txBody>
      </p:sp>
      <p:pic>
        <p:nvPicPr>
          <p:cNvPr id="4" name="Picture 3" descr="PMC4891632_f2b.png"/>
          <p:cNvPicPr>
            <a:picLocks noChangeAspect="1"/>
          </p:cNvPicPr>
          <p:nvPr/>
        </p:nvPicPr>
        <p:blipFill>
          <a:blip r:embed="rId2"/>
          <a:stretch>
            <a:fillRect/>
          </a:stretch>
        </p:blipFill>
        <p:spPr>
          <a:xfrm>
            <a:off x="6504127" y="1280160"/>
            <a:ext cx="5120640" cy="4208548"/>
          </a:xfrm>
          <a:prstGeom prst="rect">
            <a:avLst/>
          </a:prstGeom>
        </p:spPr>
      </p:pic>
      <p:sp>
        <p:nvSpPr>
          <p:cNvPr id="5" name="Figure caption"/>
          <p:cNvSpPr txBox="1"/>
          <p:nvPr/>
        </p:nvSpPr>
        <p:spPr>
          <a:xfrm>
            <a:off x="6504127" y="55801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2B. Consistency of beat-relative movement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stable phase varies with the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pPr algn="l">
              <a:lnSpc>
                <a:spcPct val="108000"/>
              </a:lnSpc>
              <a:spcAft>
                <a:spcPts val="960"/>
              </a:spcAft>
            </a:pPr>
            <a:r>
              <a:rPr sz="1600" b="0" i="0">
                <a:solidFill>
                  <a:srgbClr val="000000"/>
                </a:solidFill>
                <a:latin typeface="Arial"/>
              </a:rPr>
              <a:t>Ronan’s average post-perturbation phase varied systematically with the altered tempo. Slower and faster conditions therefore retained distinct timing positions even when the head movements had regained a consistent relationship with the continuing sequence.</a:t>
            </a:r>
          </a:p>
          <a:p>
            <a:pPr algn="l">
              <a:lnSpc>
                <a:spcPct val="108000"/>
              </a:lnSpc>
              <a:spcAft>
                <a:spcPts val="960"/>
              </a:spcAft>
            </a:pPr>
            <a:r>
              <a:rPr sz="1600" b="0" i="0">
                <a:solidFill>
                  <a:srgbClr val="000000"/>
                </a:solidFill>
                <a:latin typeface="Arial"/>
              </a:rPr>
              <a:t>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p:txBody>
      </p:sp>
      <p:pic>
        <p:nvPicPr>
          <p:cNvPr id="4" name="Picture 3" descr="PMC4891632_f2a.png"/>
          <p:cNvPicPr>
            <a:picLocks noChangeAspect="1"/>
          </p:cNvPicPr>
          <p:nvPr/>
        </p:nvPicPr>
        <p:blipFill>
          <a:blip r:embed="rId2"/>
          <a:stretch>
            <a:fillRect/>
          </a:stretch>
        </p:blipFill>
        <p:spPr>
          <a:xfrm>
            <a:off x="6504127" y="1280160"/>
            <a:ext cx="5120640" cy="4172639"/>
          </a:xfrm>
          <a:prstGeom prst="rect">
            <a:avLst/>
          </a:prstGeom>
        </p:spPr>
      </p:pic>
      <p:sp>
        <p:nvSpPr>
          <p:cNvPr id="5" name="Figure caption"/>
          <p:cNvSpPr txBox="1"/>
          <p:nvPr/>
        </p:nvSpPr>
        <p:spPr>
          <a:xfrm>
            <a:off x="6504127" y="5544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2A. Average offsets after phase and tempo perturbations.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An oscillator is a repeating timing process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3D525C"/>
                </a:solidFill>
                <a:latin typeface="Arial"/>
              </a:rPr>
              <a:t>oscillator</a:t>
            </a:r>
            <a:r>
              <a:rPr sz="1600" b="0" i="0">
                <a:solidFill>
                  <a:srgbClr val="000000"/>
                </a:solidFill>
                <a:latin typeface="Arial"/>
              </a:rPr>
              <a:t> is a process that repeatedly passes through a cycle. The model represented Ronan’s head-bob timing as an oscillator influenced by the recurring auditory events. Its cycle position and repetition period could both change as sounds arrived.</a:t>
            </a:r>
          </a:p>
          <a:p>
            <a:pPr algn="l">
              <a:lnSpc>
                <a:spcPct val="108000"/>
              </a:lnSpc>
              <a:spcAft>
                <a:spcPts val="960"/>
              </a:spcAft>
            </a:pPr>
            <a:r>
              <a:rPr sz="1600" b="0" i="0">
                <a:solidFill>
                  <a:srgbClr val="000000"/>
                </a:solidFill>
                <a:latin typeface="Arial"/>
              </a:rPr>
              <a:t>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pPr algn="l">
              <a:lnSpc>
                <a:spcPct val="108000"/>
              </a:lnSpc>
              <a:spcAft>
                <a:spcPts val="960"/>
              </a:spcAft>
            </a:pPr>
            <a:r>
              <a:rPr sz="1600" b="0" i="0">
                <a:solidFill>
                  <a:srgbClr val="000000"/>
                </a:solidFill>
                <a:latin typeface="Arial"/>
              </a:rPr>
              <a:t>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Measured recovery and coupled-oscillator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Strong phase coupling restores the timing position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model’s </a:t>
            </a:r>
            <a:r>
              <a:rPr sz="1600" b="1" i="0">
                <a:solidFill>
                  <a:srgbClr val="3D525C"/>
                </a:solidFill>
                <a:latin typeface="Arial"/>
              </a:rPr>
              <a:t>phase-coupling parameter</a:t>
            </a:r>
            <a:r>
              <a:rPr sz="1600" b="0" i="0">
                <a:solidFill>
                  <a:srgbClr val="000000"/>
                </a:solidFill>
                <a:latin typeface="Arial"/>
              </a:rPr>
              <a:t> described how strongly a sound event adjusted the position of the behavioral cycle. Stronger coupling produced a larger correction for a given timing error, allowing the movement to regain a stable relationship over fewer cycles.</a:t>
            </a:r>
          </a:p>
          <a:p>
            <a:pPr algn="l">
              <a:lnSpc>
                <a:spcPct val="108000"/>
              </a:lnSpc>
              <a:spcAft>
                <a:spcPts val="960"/>
              </a:spcAft>
            </a:pPr>
            <a:r>
              <a:rPr sz="1600" b="0" i="0">
                <a:solidFill>
                  <a:srgbClr val="000000"/>
                </a:solidFill>
                <a:latin typeface="Arial"/>
              </a:rPr>
              <a:t>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pPr algn="l">
              <a:lnSpc>
                <a:spcPct val="108000"/>
              </a:lnSpc>
              <a:spcAft>
                <a:spcPts val="960"/>
              </a:spcAft>
            </a:pPr>
            <a:r>
              <a:rPr sz="1600" b="0" i="0">
                <a:solidFill>
                  <a:srgbClr val="000000"/>
                </a:solidFill>
                <a:latin typeface="Arial"/>
              </a:rPr>
              <a:t>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p:txBody>
      </p:sp>
      <p:pic>
        <p:nvPicPr>
          <p:cNvPr id="4" name="Picture 3" descr="PMC4891632_f4.png"/>
          <p:cNvPicPr>
            <a:picLocks noChangeAspect="1"/>
          </p:cNvPicPr>
          <p:nvPr/>
        </p:nvPicPr>
        <p:blipFill>
          <a:blip r:embed="rId2"/>
          <a:stretch>
            <a:fillRect/>
          </a:stretch>
        </p:blipFill>
        <p:spPr>
          <a:xfrm>
            <a:off x="6632506" y="1280160"/>
            <a:ext cx="486388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4A–C. Fitted phase and period adjustment parameters.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Period coupling adjusts the ongoing cycle duration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3D525C"/>
                </a:solidFill>
                <a:latin typeface="Arial"/>
              </a:rPr>
              <a:t>period</a:t>
            </a:r>
            <a:r>
              <a:rPr sz="1600" b="0" i="0">
                <a:solidFill>
                  <a:srgbClr val="000000"/>
                </a:solidFill>
                <a:latin typeface="Arial"/>
              </a:rPr>
              <a:t> is the duration of one complete movement cycle. Changing the period alters the repetition rate itself. This differs from briefly shifting the cycle’s position while leaving the preferred duration of later cycles unchanged.</a:t>
            </a:r>
          </a:p>
          <a:p>
            <a:pPr algn="l">
              <a:lnSpc>
                <a:spcPct val="108000"/>
              </a:lnSpc>
              <a:spcAft>
                <a:spcPts val="960"/>
              </a:spcAft>
            </a:pPr>
            <a:r>
              <a:rPr sz="1600" b="0" i="0">
                <a:solidFill>
                  <a:srgbClr val="000000"/>
                </a:solidFill>
                <a:latin typeface="Arial"/>
              </a:rPr>
              <a:t>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pPr algn="l">
              <a:lnSpc>
                <a:spcPct val="108000"/>
              </a:lnSpc>
              <a:spcAft>
                <a:spcPts val="960"/>
              </a:spcAft>
            </a:pPr>
            <a:r>
              <a:rPr sz="1600" b="0" i="0">
                <a:solidFill>
                  <a:srgbClr val="000000"/>
                </a:solidFill>
                <a:latin typeface="Arial"/>
              </a:rPr>
              <a:t>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Modeled and measured adaptation to new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same correction transfers to other base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main perturbation series used 85 bpm. Researchers also tested two additional unfamiliar baseline rates, approximately 77.3 and 94.4 bpm, with phase and tempo disturbances. This extended the correction test beyond a single preferred starting rhythm.</a:t>
            </a:r>
          </a:p>
          <a:p>
            <a:pPr algn="l">
              <a:lnSpc>
                <a:spcPct val="108000"/>
              </a:lnSpc>
              <a:spcAft>
                <a:spcPts val="960"/>
              </a:spcAft>
            </a:pPr>
            <a:r>
              <a:rPr sz="1600" b="0" i="0">
                <a:solidFill>
                  <a:srgbClr val="000000"/>
                </a:solidFill>
                <a:latin typeface="Arial"/>
              </a:rPr>
              <a:t>Ronan adapted across the additional baseline conditions as well. The ability to correct an ongoing response therefore generalized both across disturbance types and across the initial rate from which the disturbance was introduced.</a:t>
            </a:r>
          </a:p>
          <a:p>
            <a:pPr algn="l">
              <a:lnSpc>
                <a:spcPct val="108000"/>
              </a:lnSpc>
              <a:spcAft>
                <a:spcPts val="960"/>
              </a:spcAft>
            </a:pPr>
            <a:r>
              <a:rPr sz="1600" b="0" i="0">
                <a:solidFill>
                  <a:srgbClr val="000000"/>
                </a:solidFill>
                <a:latin typeface="Arial"/>
              </a:rPr>
              <a:t>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Controlled timing perturbations around a baseline rhythm.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Hama matches human actions beyond specific commands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Hama, a Steller sea lion, had already learned a repertoire of actions through hand signals and verbal commands. Sasaki and colleagues trained a </a:t>
            </a:r>
            <a:r>
              <a:rPr sz="1500" b="1" i="0">
                <a:solidFill>
                  <a:srgbClr val="3D525C"/>
                </a:solidFill>
                <a:latin typeface="Arial"/>
              </a:rPr>
              <a:t>do-as-I-do</a:t>
            </a:r>
            <a:r>
              <a:rPr sz="1500" b="0" i="0">
                <a:solidFill>
                  <a:srgbClr val="000000"/>
                </a:solidFill>
                <a:latin typeface="Arial"/>
              </a:rPr>
              <a:t> response, in which a human action becomes the model for the animal’s action. Demonstrating “stand,” a head movement, or a tongue action replaced the usual specific cue.</a:t>
            </a:r>
          </a:p>
          <a:p>
            <a:pPr algn="l">
              <a:lnSpc>
                <a:spcPct val="108000"/>
              </a:lnSpc>
              <a:spcAft>
                <a:spcPts val="900"/>
              </a:spcAft>
            </a:pPr>
            <a:r>
              <a:rPr sz="1500" b="0" i="0">
                <a:solidFill>
                  <a:srgbClr val="000000"/>
                </a:solidFill>
                <a:latin typeface="Arial"/>
              </a:rPr>
              <a:t>The human initially paired demonstrations with familiar cues, then reduced those prompts. Hama subsequently matched most tested body actions with both a familiar trainer and an unfamiliar demonstrator. Several actions were familiar to her but had not been taught through the demonstration procedure.</a:t>
            </a:r>
          </a:p>
          <a:p>
            <a:pPr algn="l">
              <a:lnSpc>
                <a:spcPct val="108000"/>
              </a:lnSpc>
              <a:spcAft>
                <a:spcPts val="900"/>
              </a:spcAft>
            </a:pPr>
            <a:r>
              <a:rPr sz="1500" b="0" i="0">
                <a:solidFill>
                  <a:srgbClr val="000000"/>
                </a:solidFill>
                <a:latin typeface="Arial"/>
              </a:rPr>
              <a:t>Transfer separated general action matching from simply repeating the three demonstrations used during initial training. Performance also depended on what kind of action was attempted: novel body-oriented responses were easier than novel object manipulations. The acquired relationship linked observed body movement with selection from Hama’s own action repertoire.</a:t>
            </a:r>
          </a:p>
        </p:txBody>
      </p:sp>
      <p:pic>
        <p:nvPicPr>
          <p:cNvPr id="4" name="Picture 3" descr="Hama2025_f2.png"/>
          <p:cNvPicPr>
            <a:picLocks noChangeAspect="1"/>
          </p:cNvPicPr>
          <p:nvPr/>
        </p:nvPicPr>
        <p:blipFill>
          <a:blip r:embed="rId2"/>
          <a:stretch>
            <a:fillRect/>
          </a:stretch>
        </p:blipFill>
        <p:spPr>
          <a:xfrm>
            <a:off x="6504127" y="1280160"/>
            <a:ext cx="5120640" cy="2218943"/>
          </a:xfrm>
          <a:prstGeom prst="rect">
            <a:avLst/>
          </a:prstGeom>
        </p:spPr>
      </p:pic>
      <p:sp>
        <p:nvSpPr>
          <p:cNvPr id="5" name="Figure caption"/>
          <p:cNvSpPr txBox="1"/>
          <p:nvPr/>
        </p:nvSpPr>
        <p:spPr>
          <a:xfrm>
            <a:off x="6504127" y="359054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Sasaki et al. (2025), Fig. 2. Action matching with familiar and unfamiliar human demonstrators.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Sasaki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Go cue separates remembering from immediate copying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In a second procedure, Hama watched a complete human demonstration while remaining still, then acted upon the verbal cue “Go.” </a:t>
            </a:r>
            <a:r>
              <a:rPr sz="1500" b="1" i="0">
                <a:solidFill>
                  <a:srgbClr val="3D525C"/>
                </a:solidFill>
                <a:latin typeface="Arial"/>
              </a:rPr>
              <a:t>Response inhibition</a:t>
            </a:r>
            <a:r>
              <a:rPr sz="1500" b="0" i="0">
                <a:solidFill>
                  <a:srgbClr val="000000"/>
                </a:solidFill>
                <a:latin typeface="Arial"/>
              </a:rPr>
              <a:t> is withholding an action that would otherwise occur. Learning to wait changed her earlier history of moving simultaneously with human demonstrations.</a:t>
            </a:r>
          </a:p>
          <a:p>
            <a:pPr algn="l">
              <a:lnSpc>
                <a:spcPct val="108000"/>
              </a:lnSpc>
              <a:spcAft>
                <a:spcPts val="900"/>
              </a:spcAft>
            </a:pPr>
            <a:r>
              <a:rPr sz="1500" b="0" i="0">
                <a:solidFill>
                  <a:srgbClr val="000000"/>
                </a:solidFill>
                <a:latin typeface="Arial"/>
              </a:rPr>
              <a:t>The tests included standing, spinning, lifting a hindflipper, and a kissing action. In a control condition, a barrier blocked visual contact with the demonstrator after the demonstration. Hama still produced the corresponding action when the demonstrator delivered the Go cue.</a:t>
            </a:r>
          </a:p>
          <a:p>
            <a:pPr algn="l">
              <a:lnSpc>
                <a:spcPct val="108000"/>
              </a:lnSpc>
              <a:spcAft>
                <a:spcPts val="900"/>
              </a:spcAft>
            </a:pPr>
            <a:r>
              <a:rPr sz="1500" b="0" i="0">
                <a:solidFill>
                  <a:srgbClr val="000000"/>
                </a:solidFill>
                <a:latin typeface="Arial"/>
              </a:rPr>
              <a:t>The final cue therefore specified when to respond, while the preceding demonstration specified what to do. Blocking the demonstrator during the response removed ongoing visual guidance as a requirement. This delayed command procedure differs from beat synchronization, where repeated sound events continually regulate the timing of an ongoing movement.</a:t>
            </a:r>
          </a:p>
        </p:txBody>
      </p:sp>
      <p:pic>
        <p:nvPicPr>
          <p:cNvPr id="4" name="Picture 3" descr="Hama2025_f5.png"/>
          <p:cNvPicPr>
            <a:picLocks noChangeAspect="1"/>
          </p:cNvPicPr>
          <p:nvPr/>
        </p:nvPicPr>
        <p:blipFill>
          <a:blip r:embed="rId2"/>
          <a:stretch>
            <a:fillRect/>
          </a:stretch>
        </p:blipFill>
        <p:spPr>
          <a:xfrm>
            <a:off x="6504127" y="1280160"/>
            <a:ext cx="5120640" cy="2750728"/>
          </a:xfrm>
          <a:prstGeom prst="rect">
            <a:avLst/>
          </a:prstGeom>
        </p:spPr>
      </p:pic>
      <p:sp>
        <p:nvSpPr>
          <p:cNvPr id="5" name="Figure caption"/>
          <p:cNvSpPr txBox="1"/>
          <p:nvPr/>
        </p:nvSpPr>
        <p:spPr>
          <a:xfrm>
            <a:off x="6504127" y="412232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Sasaki et al. (2025), Fig. 5. Visual barriers used after the human demonstration.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Sasaki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Missing beats distinguish prediction from isolated reactions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reaction to each sound separately need not maintain a rhythm through silence. Cook and colleagues therefore omitted occasional beats from a 120 bpm sequence. Discrete clicks replaced the continuously modulated sound so that the missing event left a genuinely silent interval.</a:t>
            </a:r>
          </a:p>
          <a:p>
            <a:pPr algn="l">
              <a:lnSpc>
                <a:spcPct val="108000"/>
              </a:lnSpc>
              <a:spcAft>
                <a:spcPts val="960"/>
              </a:spcAft>
            </a:pPr>
            <a:r>
              <a:rPr sz="1600" b="0" i="0">
                <a:solidFill>
                  <a:srgbClr val="000000"/>
                </a:solidFill>
                <a:latin typeface="Arial"/>
              </a:rPr>
              <a:t>Ronan continued bobbing through the omitted events. Movements before and after the gap retained similar relationships to the expected beat locations. The repeating action continued while the next timing sound was absent instead of restarting only when another click arrived.</a:t>
            </a:r>
          </a:p>
          <a:p>
            <a:pPr algn="l">
              <a:lnSpc>
                <a:spcPct val="108000"/>
              </a:lnSpc>
              <a:spcAft>
                <a:spcPts val="960"/>
              </a:spcAft>
            </a:pPr>
            <a:r>
              <a:rPr sz="1600" b="0" i="0">
                <a:solidFill>
                  <a:srgbClr val="000000"/>
                </a:solidFill>
                <a:latin typeface="Arial"/>
              </a:rPr>
              <a:t>Continuation through an omission supports an ongoing timing process beyond isolated sound-triggered reactions. Later sounds can correct the position of the movement within the cycle. This combination of continuation and correction connects predictive timing with the perturbation experiments that independently changed beat position and tempo.</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Timing before and after omitted clicks.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Sound onsets and movement minima share a time base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continuous head movement needs a defined event for comparison with a sound onset. Ronan’s selected landmark was the lowest point of each head bob. In the human comparison, it was the fullest downward extension of the arm. Using a repeatable landmark keeps the measured timing event consistent.</a:t>
            </a:r>
          </a:p>
          <a:p>
            <a:pPr algn="l">
              <a:lnSpc>
                <a:spcPct val="108000"/>
              </a:lnSpc>
              <a:spcAft>
                <a:spcPts val="960"/>
              </a:spcAft>
            </a:pPr>
            <a:r>
              <a:rPr sz="1600" b="0" i="0">
                <a:solidFill>
                  <a:srgbClr val="000000"/>
                </a:solidFill>
                <a:latin typeface="Arial"/>
              </a:rPr>
              <a:t>The interval between successive movement minima supplies the performed tempo. The position of each minimum relative to a sound onset supplies phase. Automated video tracking measured the trajectories while the audio track from the same recording identified sound events.</a:t>
            </a:r>
          </a:p>
          <a:p>
            <a:pPr algn="l">
              <a:lnSpc>
                <a:spcPct val="108000"/>
              </a:lnSpc>
              <a:spcAft>
                <a:spcPts val="960"/>
              </a:spcAft>
            </a:pPr>
            <a:r>
              <a:rPr sz="1600" b="0" i="0">
                <a:solidFill>
                  <a:srgbClr val="000000"/>
                </a:solidFill>
                <a:latin typeface="Arial"/>
              </a:rPr>
              <a:t>The 2025 experiment recorded at 240 frames per second, corresponding to roughly 4 ms between frames. This resolution allowed small anticipatory and delayed offsets to be measured within a cycle. A movement rate near the target can coexist with a nonzero offset from each sound, so both quantities characterize the coordination.</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Movement trajectories aligned with recorded sound onsets.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Precise timing can include an anticipatory offset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 </a:t>
            </a:r>
            <a:r>
              <a:rPr sz="1700" b="1" i="0">
                <a:solidFill>
                  <a:srgbClr val="3D525C"/>
                </a:solidFill>
                <a:latin typeface="Arial"/>
              </a:rPr>
              <a:t>negative asynchrony</a:t>
            </a:r>
            <a:r>
              <a:rPr sz="1700" b="0" i="0">
                <a:solidFill>
                  <a:srgbClr val="000000"/>
                </a:solidFill>
                <a:latin typeface="Arial"/>
              </a:rPr>
              <a:t> occurs when the selected movement landmark precedes the sound. In Ronan’s 2025 snare tests, the average phase at 112 and 120 bpm was negative, while the average at 128 bpm was slightly positive.</a:t>
            </a:r>
          </a:p>
          <a:p>
            <a:pPr algn="l">
              <a:lnSpc>
                <a:spcPct val="108000"/>
              </a:lnSpc>
              <a:spcAft>
                <a:spcPts val="1019"/>
              </a:spcAft>
            </a:pPr>
            <a:r>
              <a:rPr sz="1700" b="0" i="0">
                <a:solidFill>
                  <a:srgbClr val="000000"/>
                </a:solidFill>
                <a:latin typeface="Arial"/>
              </a:rPr>
              <a:t>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pPr algn="l">
              <a:lnSpc>
                <a:spcPct val="108000"/>
              </a:lnSpc>
              <a:spcAft>
                <a:spcPts val="1019"/>
              </a:spcAft>
            </a:pPr>
            <a:r>
              <a:rPr sz="1700" b="0" i="0">
                <a:solidFill>
                  <a:srgbClr val="000000"/>
                </a:solidFill>
                <a:latin typeface="Arial"/>
              </a:rPr>
              <a:t>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p:txBody>
      </p:sp>
      <p:pic>
        <p:nvPicPr>
          <p:cNvPr id="4" name="Picture 3" descr="PMC12045976_f3middle.png"/>
          <p:cNvPicPr>
            <a:picLocks noChangeAspect="1"/>
          </p:cNvPicPr>
          <p:nvPr/>
        </p:nvPicPr>
        <p:blipFill>
          <a:blip r:embed="rId2"/>
          <a:stretch>
            <a:fillRect/>
          </a:stretch>
        </p:blipFill>
        <p:spPr>
          <a:xfrm>
            <a:off x="6504127" y="1280160"/>
            <a:ext cx="5120640" cy="1010881"/>
          </a:xfrm>
          <a:prstGeom prst="rect">
            <a:avLst/>
          </a:prstGeom>
        </p:spPr>
      </p:pic>
      <p:sp>
        <p:nvSpPr>
          <p:cNvPr id="5" name="Figure caption"/>
          <p:cNvSpPr txBox="1"/>
          <p:nvPr/>
        </p:nvSpPr>
        <p:spPr>
          <a:xfrm>
            <a:off x="6504127" y="238248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120 bpm row. Timing with the familiar-rate snare sequence.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accuracy and response consistency differ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pPr algn="l">
              <a:lnSpc>
                <a:spcPct val="108000"/>
              </a:lnSpc>
              <a:spcAft>
                <a:spcPts val="960"/>
              </a:spcAft>
            </a:pPr>
            <a:r>
              <a:rPr sz="1600" b="0" i="0">
                <a:solidFill>
                  <a:srgbClr val="000000"/>
                </a:solidFill>
                <a:latin typeface="Arial"/>
              </a:rPr>
              <a:t>Ronan’s intervals were more consistent than those of the human participants across the three test rates. Her average tempo or average phase was also closer to the target than that of many participants, but the relative ranking depended on the performance measure.</a:t>
            </a:r>
          </a:p>
          <a:p>
            <a:pPr algn="l">
              <a:lnSpc>
                <a:spcPct val="108000"/>
              </a:lnSpc>
              <a:spcAft>
                <a:spcPts val="960"/>
              </a:spcAft>
            </a:pPr>
            <a:r>
              <a:rPr sz="1600" b="0" i="0">
                <a:solidFill>
                  <a:srgbClr val="000000"/>
                </a:solidFill>
                <a:latin typeface="Arial"/>
              </a:rPr>
              <a:t>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p:txBody>
      </p:sp>
      <p:pic>
        <p:nvPicPr>
          <p:cNvPr id="4" name="Picture 3" descr="PMC12045976_f3top.png"/>
          <p:cNvPicPr>
            <a:picLocks noChangeAspect="1"/>
          </p:cNvPicPr>
          <p:nvPr/>
        </p:nvPicPr>
        <p:blipFill>
          <a:blip r:embed="rId2"/>
          <a:stretch>
            <a:fillRect/>
          </a:stretch>
        </p:blipFill>
        <p:spPr>
          <a:xfrm>
            <a:off x="6504127" y="1280160"/>
            <a:ext cx="5120640" cy="1146047"/>
          </a:xfrm>
          <a:prstGeom prst="rect">
            <a:avLst/>
          </a:prstGeom>
        </p:spPr>
      </p:pic>
      <p:sp>
        <p:nvSpPr>
          <p:cNvPr id="5" name="Figure caption"/>
          <p:cNvSpPr txBox="1"/>
          <p:nvPr/>
        </p:nvSpPr>
        <p:spPr>
          <a:xfrm>
            <a:off x="6504127" y="251764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128 bpm row. Different dimensions of synchronized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Human gross movements vary across individuals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Humans in the comparison were non-musicians performing a large arm movement rather than a familiar tapping task. Their synchronization differed among individuals, with some participants producing less consistent movement intervals and more variable phases than others.</a:t>
            </a:r>
          </a:p>
          <a:p>
            <a:pPr algn="l">
              <a:lnSpc>
                <a:spcPct val="108000"/>
              </a:lnSpc>
              <a:spcAft>
                <a:spcPts val="960"/>
              </a:spcAft>
            </a:pPr>
            <a:r>
              <a:rPr sz="1600" b="0" i="0">
                <a:solidFill>
                  <a:srgbClr val="000000"/>
                </a:solidFill>
                <a:latin typeface="Arial"/>
              </a:rPr>
              <a:t>The distribution of performance matters because a comparison with only a hypothetical perfectly regular human would conceal the range of actual behavior. The experiment measured the same sound sequences in both species and retained each participant’s timing profile.</a:t>
            </a:r>
          </a:p>
          <a:p>
            <a:pPr algn="l">
              <a:lnSpc>
                <a:spcPct val="108000"/>
              </a:lnSpc>
              <a:spcAft>
                <a:spcPts val="960"/>
              </a:spcAft>
            </a:pPr>
            <a:r>
              <a:rPr sz="1600" b="0" i="0">
                <a:solidFill>
                  <a:srgbClr val="000000"/>
                </a:solidFill>
                <a:latin typeface="Arial"/>
              </a:rPr>
              <a:t>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Individual human and sea-lion timing measures.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Long-term performance includes improved phase alignment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pPr algn="l">
              <a:lnSpc>
                <a:spcPct val="108000"/>
              </a:lnSpc>
              <a:spcAft>
                <a:spcPts val="960"/>
              </a:spcAft>
            </a:pPr>
            <a:r>
              <a:rPr sz="1600" b="0" i="0">
                <a:solidFill>
                  <a:srgbClr val="000000"/>
                </a:solidFill>
                <a:latin typeface="Arial"/>
              </a:rPr>
              <a:t>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pPr algn="l">
              <a:lnSpc>
                <a:spcPct val="108000"/>
              </a:lnSpc>
              <a:spcAft>
                <a:spcPts val="960"/>
              </a:spcAft>
            </a:pPr>
            <a:r>
              <a:rPr sz="1600" b="0" i="0">
                <a:solidFill>
                  <a:srgbClr val="000000"/>
                </a:solidFill>
                <a:latin typeface="Arial"/>
              </a:rPr>
              <a:t>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Reduced timing offsets in experienced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tested skill is flexible beat synchronization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Ronan’s experiments established coordination with regular pulse sequences and with musical recordings that contain a regular pulse. </a:t>
            </a:r>
            <a:r>
              <a:rPr sz="1500" b="1" i="0">
                <a:solidFill>
                  <a:srgbClr val="3D525C"/>
                </a:solidFill>
                <a:latin typeface="Arial"/>
              </a:rPr>
              <a:t>Beat synchronization</a:t>
            </a:r>
            <a:r>
              <a:rPr sz="1500" b="0" i="0">
                <a:solidFill>
                  <a:srgbClr val="000000"/>
                </a:solidFill>
                <a:latin typeface="Arial"/>
              </a:rPr>
              <a:t> is the alignment of a repeated action with those pulse events, with flexibility across rates and acoustic forms.</a:t>
            </a:r>
          </a:p>
          <a:p>
            <a:pPr algn="l">
              <a:lnSpc>
                <a:spcPct val="108000"/>
              </a:lnSpc>
              <a:spcAft>
                <a:spcPts val="900"/>
              </a:spcAft>
            </a:pPr>
            <a:r>
              <a:rPr sz="1500" b="0" i="0">
                <a:solidFill>
                  <a:srgbClr val="000000"/>
                </a:solidFill>
                <a:latin typeface="Arial"/>
              </a:rPr>
              <a:t>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pPr algn="l">
              <a:lnSpc>
                <a:spcPct val="108000"/>
              </a:lnSpc>
              <a:spcAft>
                <a:spcPts val="900"/>
              </a:spcAft>
            </a:pPr>
            <a:r>
              <a:rPr sz="1500" b="0" i="0">
                <a:solidFill>
                  <a:srgbClr val="000000"/>
                </a:solidFill>
                <a:latin typeface="Arial"/>
              </a:rPr>
              <a:t>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Shared movement and timing definitions.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Rats move near musical beats without task training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Ito and colleagues attached a lightweight wireless accelerometer to rats and measured small head movements while music played. An </a:t>
            </a:r>
            <a:r>
              <a:rPr sz="1600" b="1" i="0">
                <a:solidFill>
                  <a:srgbClr val="3D525C"/>
                </a:solidFill>
                <a:latin typeface="Arial"/>
              </a:rPr>
              <a:t>accelerometer</a:t>
            </a:r>
            <a:r>
              <a:rPr sz="1600" b="0" i="0">
                <a:solidFill>
                  <a:srgbClr val="000000"/>
                </a:solidFill>
                <a:latin typeface="Arial"/>
              </a:rPr>
              <a:t> measures acceleration along specified axes, allowing movement changes to be quantified without requiring a trained beat-marking action.</a:t>
            </a:r>
          </a:p>
          <a:p>
            <a:pPr algn="l">
              <a:lnSpc>
                <a:spcPct val="108000"/>
              </a:lnSpc>
              <a:spcAft>
                <a:spcPts val="960"/>
              </a:spcAft>
            </a:pPr>
            <a:r>
              <a:rPr sz="1600" b="0" i="0">
                <a:solidFill>
                  <a:srgbClr val="000000"/>
                </a:solidFill>
                <a:latin typeface="Arial"/>
              </a:rPr>
              <a:t>The rats listened to Mozart’s Sonata for Two Pianos, K.448, at its original rate and at altered playback speeds. Their movements were more strongly aligned with the musical beats near the original tempo, approximately 132 bpm, than at the very fast versions.</a:t>
            </a:r>
          </a:p>
          <a:p>
            <a:pPr algn="l">
              <a:lnSpc>
                <a:spcPct val="108000"/>
              </a:lnSpc>
              <a:spcAft>
                <a:spcPts val="960"/>
              </a:spcAft>
            </a:pPr>
            <a:r>
              <a:rPr sz="1600" b="0" i="0">
                <a:solidFill>
                  <a:srgbClr val="000000"/>
                </a:solidFill>
                <a:latin typeface="Arial"/>
              </a:rPr>
              <a:t>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p:txBody>
      </p:sp>
      <p:pic>
        <p:nvPicPr>
          <p:cNvPr id="4" name="Picture 3" descr="rats_f1.png"/>
          <p:cNvPicPr>
            <a:picLocks noChangeAspect="1"/>
          </p:cNvPicPr>
          <p:nvPr/>
        </p:nvPicPr>
        <p:blipFill>
          <a:blip r:embed="rId2"/>
          <a:stretch>
            <a:fillRect/>
          </a:stretch>
        </p:blipFill>
        <p:spPr>
          <a:xfrm>
            <a:off x="8358535" y="1234440"/>
            <a:ext cx="140633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1A–G. Accelerometer measurements during musical playback.</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Ito et al. (2022), Movie S1. Rat head movements and simultaneous jerk traces.</a:t>
            </a:r>
          </a:p>
        </p:txBody>
      </p:sp>
      <p:pic>
        <p:nvPicPr>
          <p:cNvPr id="10" name="Static video fallback" descr="Ito2022_MovieS1.png"/>
          <p:cNvPicPr>
            <a:picLocks noChangeAspect="1"/>
          </p:cNvPicPr>
          <p:nvPr/>
        </p:nvPicPr>
        <p:blipFill>
          <a:blip r:embed="rId4"/>
          <a:stretch>
            <a:fillRect/>
          </a:stretch>
        </p:blipFill>
        <p:spPr>
          <a:xfrm>
            <a:off x="7151624" y="3675887"/>
            <a:ext cx="3820160" cy="2148840"/>
          </a:xfrm>
          <a:prstGeom prst="rect">
            <a:avLst/>
          </a:prstGeom>
        </p:spPr>
      </p:pic>
      <p:pic>
        <p:nvPicPr>
          <p:cNvPr id="11" name="Ito2022_MovieS1.mp4" descr="Ito et al. (2022), Movie S1. Rat head movements and simultaneous jerk trace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Jerk detects rapid changes in head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3D525C"/>
                </a:solidFill>
                <a:latin typeface="Arial"/>
              </a:rPr>
              <a:t>Jerk</a:t>
            </a:r>
            <a:r>
              <a:rPr sz="1700" b="0" i="0">
                <a:solidFill>
                  <a:srgbClr val="000000"/>
                </a:solidFill>
                <a:latin typeface="Arial"/>
              </a:rPr>
              <a:t> is the rate of change of acceleration. The rat study used this quantity to identify brief movement changes during musical listening. A small movement with a rapid change in acceleration can therefore contribute strongly to the measured response.</a:t>
            </a:r>
          </a:p>
          <a:p>
            <a:pPr algn="l">
              <a:lnSpc>
                <a:spcPct val="108000"/>
              </a:lnSpc>
              <a:spcAft>
                <a:spcPts val="1019"/>
              </a:spcAft>
            </a:pPr>
            <a:r>
              <a:rPr sz="1700" b="0" i="0">
                <a:solidFill>
                  <a:srgbClr val="000000"/>
                </a:solidFill>
                <a:latin typeface="Arial"/>
              </a:rPr>
              <a:t>Researchers compared jerk near putative beats with jerk elsewhere in the beat cycle. This beat contrast quantified whether the movement signal was organized around the musical pulse instead of being uniformly distributed through time.</a:t>
            </a:r>
          </a:p>
          <a:p>
            <a:pPr algn="l">
              <a:lnSpc>
                <a:spcPct val="108000"/>
              </a:lnSpc>
              <a:spcAft>
                <a:spcPts val="1019"/>
              </a:spcAft>
            </a:pPr>
            <a:r>
              <a:rPr sz="1700" b="0" i="0">
                <a:solidFill>
                  <a:srgbClr val="000000"/>
                </a:solidFill>
                <a:latin typeface="Arial"/>
              </a:rPr>
              <a:t>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p:txBody>
      </p:sp>
      <p:pic>
        <p:nvPicPr>
          <p:cNvPr id="4" name="Picture 3" descr="rats_f1.png"/>
          <p:cNvPicPr>
            <a:picLocks noChangeAspect="1"/>
          </p:cNvPicPr>
          <p:nvPr/>
        </p:nvPicPr>
        <p:blipFill>
          <a:blip r:embed="rId2"/>
          <a:stretch>
            <a:fillRect/>
          </a:stretch>
        </p:blipFill>
        <p:spPr>
          <a:xfrm>
            <a:off x="8358535" y="1234440"/>
            <a:ext cx="140633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1C–F. Acceleration, jerk, and beat-relative movement contrast.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Ito et al. (2022), Movie S2. Beat-related movements in a standing rat.</a:t>
            </a:r>
          </a:p>
        </p:txBody>
      </p:sp>
      <p:pic>
        <p:nvPicPr>
          <p:cNvPr id="10" name="Static video fallback" descr="Ito2022_MovieS2.png"/>
          <p:cNvPicPr>
            <a:picLocks noChangeAspect="1"/>
          </p:cNvPicPr>
          <p:nvPr/>
        </p:nvPicPr>
        <p:blipFill>
          <a:blip r:embed="rId4"/>
          <a:stretch>
            <a:fillRect/>
          </a:stretch>
        </p:blipFill>
        <p:spPr>
          <a:xfrm>
            <a:off x="7151624" y="3675887"/>
            <a:ext cx="3820160" cy="2148840"/>
          </a:xfrm>
          <a:prstGeom prst="rect">
            <a:avLst/>
          </a:prstGeom>
        </p:spPr>
      </p:pic>
      <p:pic>
        <p:nvPicPr>
          <p:cNvPr id="11" name="Ito2022_MovieS2.mp4" descr="Ito et al. (2022), Movie S2. Beat-related movements in a standing rat.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 and human movements favor similar tempos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experiment also measured head movements in humans listening to the same musical excerpt at altered speeds. This provided a comparison in which both species were exposed to the same changing temporal structure, although their absolute movement magnitudes differed.</a:t>
            </a:r>
          </a:p>
          <a:p>
            <a:pPr algn="l">
              <a:lnSpc>
                <a:spcPct val="108000"/>
              </a:lnSpc>
              <a:spcAft>
                <a:spcPts val="960"/>
              </a:spcAft>
            </a:pPr>
            <a:r>
              <a:rPr sz="1600" b="0" i="0">
                <a:solidFill>
                  <a:srgbClr val="000000"/>
                </a:solidFill>
                <a:latin typeface="Arial"/>
              </a:rPr>
              <a:t>Beat-related movement organization was strongest near the original musical rate rather than at the greatly accelerated versions. The two species also showed related changes in movement strength across individual beats of the original excerpt.</a:t>
            </a:r>
          </a:p>
          <a:p>
            <a:pPr algn="l">
              <a:lnSpc>
                <a:spcPct val="108000"/>
              </a:lnSpc>
              <a:spcAft>
                <a:spcPts val="960"/>
              </a:spcAft>
            </a:pPr>
            <a:r>
              <a:rPr sz="1600" b="0" i="0">
                <a:solidFill>
                  <a:srgbClr val="000000"/>
                </a:solidFill>
                <a:latin typeface="Arial"/>
              </a:rPr>
              <a:t>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p:txBody>
      </p:sp>
      <p:pic>
        <p:nvPicPr>
          <p:cNvPr id="4" name="Picture 3" descr="rats_f2.png"/>
          <p:cNvPicPr>
            <a:picLocks noChangeAspect="1"/>
          </p:cNvPicPr>
          <p:nvPr/>
        </p:nvPicPr>
        <p:blipFill>
          <a:blip r:embed="rId2"/>
          <a:stretch>
            <a:fillRect/>
          </a:stretch>
        </p:blipFill>
        <p:spPr>
          <a:xfrm>
            <a:off x="6501384" y="1350650"/>
            <a:ext cx="2377440" cy="2145018"/>
          </a:xfrm>
          <a:prstGeom prst="rect">
            <a:avLst/>
          </a:prstGeom>
        </p:spPr>
      </p:pic>
      <p:sp>
        <p:nvSpPr>
          <p:cNvPr id="5" name="Figure caption"/>
          <p:cNvSpPr txBox="1"/>
          <p:nvPr/>
        </p:nvSpPr>
        <p:spPr>
          <a:xfrm>
            <a:off x="6501384" y="3657600"/>
            <a:ext cx="2377440" cy="77724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2A–C. Beat-related movement comparisons across playback speeds.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
        <p:nvSpPr>
          <p:cNvPr id="9" name="TextBox 8"/>
          <p:cNvSpPr txBox="1"/>
          <p:nvPr/>
        </p:nvSpPr>
        <p:spPr>
          <a:xfrm>
            <a:off x="9098280" y="4673620"/>
            <a:ext cx="2468880" cy="731520"/>
          </a:xfrm>
          <a:prstGeom prst="rect">
            <a:avLst/>
          </a:prstGeom>
          <a:noFill/>
        </p:spPr>
        <p:txBody>
          <a:bodyPr wrap="square" lIns="0" rIns="0" tIns="0" bIns="0">
            <a:spAutoFit/>
          </a:bodyPr>
          <a:lstStyle/>
          <a:p>
            <a:r>
              <a:rPr sz="900">
                <a:solidFill>
                  <a:srgbClr val="000000"/>
                </a:solidFill>
                <a:latin typeface="Arial"/>
              </a:rPr>
              <a:t>Ito et al. (2022), Movie S3. Human head movements and marker tracking.</a:t>
            </a:r>
          </a:p>
        </p:txBody>
      </p:sp>
      <p:pic>
        <p:nvPicPr>
          <p:cNvPr id="10" name="Static video fallback" descr="Ito2022_MovieS3.png"/>
          <p:cNvPicPr>
            <a:picLocks noChangeAspect="1"/>
          </p:cNvPicPr>
          <p:nvPr/>
        </p:nvPicPr>
        <p:blipFill>
          <a:blip r:embed="rId4"/>
          <a:stretch>
            <a:fillRect/>
          </a:stretch>
        </p:blipFill>
        <p:spPr>
          <a:xfrm>
            <a:off x="9098280" y="1280160"/>
            <a:ext cx="2468880" cy="3283732"/>
          </a:xfrm>
          <a:prstGeom prst="rect">
            <a:avLst/>
          </a:prstGeom>
        </p:spPr>
      </p:pic>
      <p:pic>
        <p:nvPicPr>
          <p:cNvPr id="11" name="Ito2022_MovieS3.mp4" descr="Ito et al. (2022), Movie S3. Human head movements and marker tracking.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9098280" y="1280160"/>
            <a:ext cx="2468880" cy="3283732"/>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Population activity is tuned to musical event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rat study separately recorded </a:t>
            </a:r>
            <a:r>
              <a:rPr sz="1600" b="1" i="0">
                <a:solidFill>
                  <a:srgbClr val="3D525C"/>
                </a:solidFill>
                <a:latin typeface="Arial"/>
              </a:rPr>
              <a:t>multiunit activity</a:t>
            </a:r>
            <a:r>
              <a:rPr sz="1600" b="0" i="0">
                <a:solidFill>
                  <a:srgbClr val="000000"/>
                </a:solidFill>
                <a:latin typeface="Arial"/>
              </a:rPr>
              <a:t>, the combined spiking response of several nearby neurons, while presenting music at different playback speeds. Activity following beat events was compared with activity following other events in the same musical sequence.</a:t>
            </a:r>
          </a:p>
          <a:p>
            <a:pPr algn="l">
              <a:lnSpc>
                <a:spcPct val="108000"/>
              </a:lnSpc>
              <a:spcAft>
                <a:spcPts val="960"/>
              </a:spcAft>
            </a:pPr>
            <a:r>
              <a:rPr sz="1600" b="0" i="0">
                <a:solidFill>
                  <a:srgbClr val="000000"/>
                </a:solidFill>
                <a:latin typeface="Arial"/>
              </a:rPr>
              <a:t>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pPr algn="l">
              <a:lnSpc>
                <a:spcPct val="108000"/>
              </a:lnSpc>
              <a:spcAft>
                <a:spcPts val="960"/>
              </a:spcAft>
            </a:pPr>
            <a:r>
              <a:rPr sz="1600" b="0" i="0">
                <a:solidFill>
                  <a:srgbClr val="000000"/>
                </a:solidFill>
                <a:latin typeface="Arial"/>
              </a:rPr>
              <a:t>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p:txBody>
      </p:sp>
      <p:pic>
        <p:nvPicPr>
          <p:cNvPr id="4" name="Picture 3" descr="rats_f3.png"/>
          <p:cNvPicPr>
            <a:picLocks noChangeAspect="1"/>
          </p:cNvPicPr>
          <p:nvPr/>
        </p:nvPicPr>
        <p:blipFill>
          <a:blip r:embed="rId2"/>
          <a:stretch>
            <a:fillRect/>
          </a:stretch>
        </p:blipFill>
        <p:spPr>
          <a:xfrm>
            <a:off x="7528453" y="1280160"/>
            <a:ext cx="307198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3A–E. Neural responses to musical beats at different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Short-term adaptation favors intermediate rhythms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Short-term adaptation</a:t>
            </a:r>
            <a:r>
              <a:rPr sz="1600" b="0" i="0">
                <a:solidFill>
                  <a:srgbClr val="000000"/>
                </a:solidFill>
                <a:latin typeface="Arial"/>
              </a:rPr>
              <a:t> is a change in responsiveness during recent stimulation. Repeated sounds can reduce a neural population’s response, with recovery depending on the time since preceding stimulation. This creates a temporal dependence even when each sound is acoustically similar.</a:t>
            </a:r>
          </a:p>
          <a:p>
            <a:pPr algn="l">
              <a:lnSpc>
                <a:spcPct val="108000"/>
              </a:lnSpc>
              <a:spcAft>
                <a:spcPts val="960"/>
              </a:spcAft>
            </a:pPr>
            <a:r>
              <a:rPr sz="1600" b="0" i="0">
                <a:solidFill>
                  <a:srgbClr val="000000"/>
                </a:solidFill>
                <a:latin typeface="Arial"/>
              </a:rPr>
              <a:t>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pPr algn="l">
              <a:lnSpc>
                <a:spcPct val="108000"/>
              </a:lnSpc>
              <a:spcAft>
                <a:spcPts val="960"/>
              </a:spcAft>
            </a:pPr>
            <a:r>
              <a:rPr sz="1600" b="0" i="0">
                <a:solidFill>
                  <a:srgbClr val="000000"/>
                </a:solidFill>
                <a:latin typeface="Arial"/>
              </a:rPr>
              <a:t>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p:txBody>
      </p:sp>
      <p:pic>
        <p:nvPicPr>
          <p:cNvPr id="4" name="Picture 3" descr="rats_f4.png"/>
          <p:cNvPicPr>
            <a:picLocks noChangeAspect="1"/>
          </p:cNvPicPr>
          <p:nvPr/>
        </p:nvPicPr>
        <p:blipFill>
          <a:blip r:embed="rId2"/>
          <a:stretch>
            <a:fillRect/>
          </a:stretch>
        </p:blipFill>
        <p:spPr>
          <a:xfrm>
            <a:off x="6504127" y="1280160"/>
            <a:ext cx="5120640" cy="3635062"/>
          </a:xfrm>
          <a:prstGeom prst="rect">
            <a:avLst/>
          </a:prstGeom>
        </p:spPr>
      </p:pic>
      <p:sp>
        <p:nvSpPr>
          <p:cNvPr id="5" name="Figure caption"/>
          <p:cNvSpPr txBox="1"/>
          <p:nvPr/>
        </p:nvSpPr>
        <p:spPr>
          <a:xfrm>
            <a:off x="6504127" y="5006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4A–I. Recorded responses and adaptation-model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new sound separates timbre from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Timbre</a:t>
            </a:r>
            <a:r>
              <a:rPr sz="1600" b="0" i="0">
                <a:solidFill>
                  <a:srgbClr val="000000"/>
                </a:solidFill>
                <a:latin typeface="Arial"/>
              </a:rPr>
              <a:t> is the acoustic quality that distinguishes sounds with similar timing. Cook and colleagues tested Ronan with a snare-drum sound that differed from the frequency-modulated training stimulus. A learned temporal relationship could therefore be expressed with a new acoustic form.</a:t>
            </a:r>
          </a:p>
          <a:p>
            <a:pPr algn="l">
              <a:lnSpc>
                <a:spcPct val="108000"/>
              </a:lnSpc>
              <a:spcAft>
                <a:spcPts val="960"/>
              </a:spcAft>
            </a:pPr>
            <a:r>
              <a:rPr sz="1600" b="0" i="0">
                <a:solidFill>
                  <a:srgbClr val="000000"/>
                </a:solidFill>
                <a:latin typeface="Arial"/>
              </a:rPr>
              <a:t>Before testing, Ronan encountered the snare at 96 bpm during ordinary training. Human participants and Ronan then received matching warm-up presentations, first with the familiar oscillating sound superimposed and then with the snare alone. This preparation reduced disruption by the sound’s novelty without practicing the later unfamiliar rates.</a:t>
            </a:r>
          </a:p>
          <a:p>
            <a:pPr algn="l">
              <a:lnSpc>
                <a:spcPct val="108000"/>
              </a:lnSpc>
              <a:spcAft>
                <a:spcPts val="960"/>
              </a:spcAft>
            </a:pPr>
            <a:r>
              <a:rPr sz="1600" b="0" i="0">
                <a:solidFill>
                  <a:srgbClr val="000000"/>
                </a:solidFill>
                <a:latin typeface="Arial"/>
              </a:rPr>
              <a:t>The test sequences contained 25 equally spaced snare beats at 112, 120, or 128 bpm. The familiar 120 bpm condition and unfamiliar neighboring rates separated recognition of a practiced speed from flexible adjustment of the ongoing movement to an external pulse.</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Matched head and arm movement measurements in the UCSC experiment.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UCSC comparison matches the movement task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2025 UCSC study compared Ronan’s head bob with a downward arm movement in humans. Both tasks marked the beat with the lowest point of a relatively large movement. Familiar finger tapping would have changed the movement demands as well as the species being compared.</a:t>
            </a:r>
          </a:p>
          <a:p>
            <a:pPr algn="l">
              <a:lnSpc>
                <a:spcPct val="108000"/>
              </a:lnSpc>
              <a:spcAft>
                <a:spcPts val="960"/>
              </a:spcAft>
            </a:pPr>
            <a:r>
              <a:rPr sz="1600" b="0" i="0">
                <a:solidFill>
                  <a:srgbClr val="000000"/>
                </a:solidFill>
                <a:latin typeface="Arial"/>
              </a:rPr>
              <a:t>All subjects heard the same ordered sets of snare stimuli. Sound and movement were captured together, and automated video tracking supplied the movement trajectory. The time between consecutive movement minima measured performed tempo; the position of each minimum relative to a sound measured phase.</a:t>
            </a:r>
          </a:p>
          <a:p>
            <a:pPr algn="l">
              <a:lnSpc>
                <a:spcPct val="108000"/>
              </a:lnSpc>
              <a:spcAft>
                <a:spcPts val="960"/>
              </a:spcAft>
            </a:pPr>
            <a:r>
              <a:rPr sz="1600" b="0" i="0">
                <a:solidFill>
                  <a:srgbClr val="000000"/>
                </a:solidFill>
                <a:latin typeface="Arial"/>
              </a:rPr>
              <a:t>Ronan’s conditioned reinforcer marked the final response and was followed by fish. Humans received a tone marking the trial’s end. Reinforcement maintained the trained animal’s participation while the matched stimuli and movement landmarks made the temporal measurements comparable across the two preparations.</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Comparable large-amplitude movements timed to sound onset.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practiced rhythm supports nearby unfamiliar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Ronan’s average performed tempos were 113.1, 121.6, and 129.0 bpm for stimuli at 112, 120, and 128 bpm, respectively. The movement rate therefore changed with the sound sequence, including the two tempos she had not practiced. The behavior extended beyond reproducing the familiar 120 bpm action.</a:t>
            </a:r>
          </a:p>
          <a:p>
            <a:pPr algn="l">
              <a:lnSpc>
                <a:spcPct val="108000"/>
              </a:lnSpc>
              <a:spcAft>
                <a:spcPts val="900"/>
              </a:spcAft>
            </a:pPr>
            <a:r>
              <a:rPr sz="1500" b="0" i="0">
                <a:solidFill>
                  <a:srgbClr val="000000"/>
                </a:solidFill>
                <a:latin typeface="Arial"/>
              </a:rPr>
              <a:t>Her average movement phase preceded the sound at 112 and 120 bpm and followed it slightly at 128 bpm. A stable anticipatory movement can preserve an offset from sound onset while remaining coordinated. Rate accuracy and the signed placement of the movement within a cycle describe different features of that coordination.</a:t>
            </a:r>
          </a:p>
          <a:p>
            <a:pPr algn="l">
              <a:lnSpc>
                <a:spcPct val="108000"/>
              </a:lnSpc>
              <a:spcAft>
                <a:spcPts val="900"/>
              </a:spcAft>
            </a:pPr>
            <a:r>
              <a:rPr sz="1500" b="0" i="0">
                <a:solidFill>
                  <a:srgbClr val="000000"/>
                </a:solidFill>
                <a:latin typeface="Arial"/>
              </a:rPr>
              <a:t>Her movement intervals were more consistent than those of the human participants at every tested rate. Average rate, average phase, and consistency produced different individual rankings. The experimental result concerns this matched gross-movement task, with Ronan’s extensive practice contributing to the performance being measured.</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Measured sea-lion and human timing across the three test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Longitudinal practice changes precision within the cycle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Cook and colleagues compared Ronan’s early performance at age 3 with later performance at age 15. The same individual and familiar simple sound sequences allowed changes in practiced timing to be examined across a long training history. This is longitudinal evidence rather than a comparison between unrelated animals.</a:t>
            </a:r>
          </a:p>
          <a:p>
            <a:pPr algn="l">
              <a:lnSpc>
                <a:spcPct val="108000"/>
              </a:lnSpc>
              <a:spcAft>
                <a:spcPts val="900"/>
              </a:spcAft>
            </a:pPr>
            <a:r>
              <a:rPr sz="1500" b="0" i="0">
                <a:solidFill>
                  <a:srgbClr val="000000"/>
                </a:solidFill>
                <a:latin typeface="Arial"/>
              </a:rPr>
              <a:t>Later performance combined a movement rate near the target with much smaller offsets between movement minima and sound onsets. Slow stimuli that originally elicited markedly anticipatory movements later produced timing closer to the beat. Precision improved within the repeating cycle as well as in the average repetition rate.</a:t>
            </a:r>
          </a:p>
          <a:p>
            <a:pPr algn="l">
              <a:lnSpc>
                <a:spcPct val="108000"/>
              </a:lnSpc>
              <a:spcAft>
                <a:spcPts val="900"/>
              </a:spcAft>
            </a:pPr>
            <a:r>
              <a:rPr sz="1500" b="0" i="0">
                <a:solidFill>
                  <a:srgbClr val="000000"/>
                </a:solidFill>
                <a:latin typeface="Arial"/>
              </a:rPr>
              <a:t>The earlier 108 bpm condition already had an offset near zero, so improvement depended on the starting condition. Motor learning can refine different components of an acquired action by different amounts. In Ronan, sustained experience refined an auditory–motor skill that transferred to new acoustic forms and neighboring rates.</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Early and experienced timing profiles in the same sea lion.</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Key takeaways</a:t>
            </a:r>
          </a:p>
        </p:txBody>
      </p:sp>
      <p:sp>
        <p:nvSpPr>
          <p:cNvPr id="3" name="Rectangle 2"/>
          <p:cNvSpPr/>
          <p:nvPr/>
        </p:nvSpPr>
        <p:spPr>
          <a:xfrm>
            <a:off x="566928" y="1234440"/>
            <a:ext cx="5391759" cy="1478279"/>
          </a:xfrm>
          <a:prstGeom prst="rect">
            <a:avLst/>
          </a:prstGeom>
          <a:solidFill>
            <a:srgbClr val="F3F6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Sensory organization</a:t>
            </a:r>
            <a:r>
              <a:rPr sz="1600" b="0" i="0">
                <a:solidFill>
                  <a:srgbClr val="000000"/>
                </a:solidFill>
                <a:latin typeface="Arial"/>
              </a:rPr>
              <a:t> Facial information enters trigeminal brainstem relays, a large medial thalamic subdivision, and a layer-4-rich somatosensory cortical region.</a:t>
            </a:r>
          </a:p>
        </p:txBody>
      </p:sp>
      <p:sp>
        <p:nvSpPr>
          <p:cNvPr id="5" name="Rectangle 4"/>
          <p:cNvSpPr/>
          <p:nvPr/>
        </p:nvSpPr>
        <p:spPr>
          <a:xfrm>
            <a:off x="6233007" y="1234440"/>
            <a:ext cx="5391759" cy="1478279"/>
          </a:xfrm>
          <a:prstGeom prst="rect">
            <a:avLst/>
          </a:prstGeom>
          <a:solidFill>
            <a:srgbClr val="F3F6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Active control</a:t>
            </a:r>
            <a:r>
              <a:rPr sz="1600" b="0" i="0">
                <a:solidFill>
                  <a:srgbClr val="000000"/>
                </a:solidFill>
                <a:latin typeface="Arial"/>
              </a:rPr>
              <a:t> Sea lions adjust whisker movements to the discrimination task, and reposition their flippers during turns and leaps.</a:t>
            </a:r>
          </a:p>
        </p:txBody>
      </p:sp>
      <p:sp>
        <p:nvSpPr>
          <p:cNvPr id="7" name="Rectangle 6"/>
          <p:cNvSpPr/>
          <p:nvPr/>
        </p:nvSpPr>
        <p:spPr>
          <a:xfrm>
            <a:off x="566928" y="2987040"/>
            <a:ext cx="5391759" cy="1478279"/>
          </a:xfrm>
          <a:prstGeom prst="rect">
            <a:avLst/>
          </a:prstGeom>
          <a:solidFill>
            <a:srgbClr val="F3F6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Learned cues</a:t>
            </a:r>
            <a:r>
              <a:rPr sz="1600" b="0" i="0">
                <a:solidFill>
                  <a:srgbClr val="000000"/>
                </a:solidFill>
                <a:latin typeface="Arial"/>
              </a:rPr>
              <a:t> A command can initiate exploration or specify when to act; Hama retained a demonstrated action across a delayed Go cue and visual occlusion.</a:t>
            </a:r>
          </a:p>
        </p:txBody>
      </p:sp>
      <p:sp>
        <p:nvSpPr>
          <p:cNvPr id="9" name="Rectangle 8"/>
          <p:cNvSpPr/>
          <p:nvPr/>
        </p:nvSpPr>
        <p:spPr>
          <a:xfrm>
            <a:off x="6233007" y="2987040"/>
            <a:ext cx="5391759" cy="1478279"/>
          </a:xfrm>
          <a:prstGeom prst="rect">
            <a:avLst/>
          </a:prstGeom>
          <a:solidFill>
            <a:srgbClr val="F3F6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 and phase</a:t>
            </a:r>
            <a:r>
              <a:rPr sz="1600" b="0" i="0">
                <a:solidFill>
                  <a:srgbClr val="000000"/>
                </a:solidFill>
                <a:latin typeface="Arial"/>
              </a:rPr>
              <a:t> A matching repetition rate and a stable relationship to individual beats are distinct aspects of synchronization.</a:t>
            </a:r>
          </a:p>
        </p:txBody>
      </p:sp>
      <p:sp>
        <p:nvSpPr>
          <p:cNvPr id="11" name="Rectangle 10"/>
          <p:cNvSpPr/>
          <p:nvPr/>
        </p:nvSpPr>
        <p:spPr>
          <a:xfrm>
            <a:off x="566928" y="4739640"/>
            <a:ext cx="5391759" cy="1478279"/>
          </a:xfrm>
          <a:prstGeom prst="rect">
            <a:avLst/>
          </a:prstGeom>
          <a:solidFill>
            <a:srgbClr val="F3F6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Predictive correction</a:t>
            </a:r>
            <a:r>
              <a:rPr sz="1600" b="0" i="0">
                <a:solidFill>
                  <a:srgbClr val="000000"/>
                </a:solidFill>
                <a:latin typeface="Arial"/>
              </a:rPr>
              <a:t> Ronan continued through omitted beats and corrected ongoing movement after changes in beat position or tempo.</a:t>
            </a:r>
          </a:p>
        </p:txBody>
      </p:sp>
      <p:sp>
        <p:nvSpPr>
          <p:cNvPr id="13" name="Rectangle 12"/>
          <p:cNvSpPr/>
          <p:nvPr/>
        </p:nvSpPr>
        <p:spPr>
          <a:xfrm>
            <a:off x="6233007" y="4739640"/>
            <a:ext cx="5391759" cy="1478279"/>
          </a:xfrm>
          <a:prstGeom prst="rect">
            <a:avLst/>
          </a:prstGeom>
          <a:solidFill>
            <a:srgbClr val="F3F6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Experience and comparison</a:t>
            </a:r>
            <a:r>
              <a:rPr sz="1600" b="0" i="0">
                <a:solidFill>
                  <a:srgbClr val="000000"/>
                </a:solidFill>
                <a:latin typeface="Arial"/>
              </a:rPr>
              <a:t> An experienced sea lion performed precisely in a matched gross-movement task; rat recordings identify a separate candidate adaptation process.</a:t>
            </a:r>
          </a:p>
        </p:txBody>
      </p:sp>
      <p:sp>
        <p:nvSpPr>
          <p:cNvPr id="15" name="Rectangle 14"/>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Sawyer et al. (2016); Milne et al. (2021); Sasaki et al. (2025); Cook et al. (2013, 2025); Ito et al.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 lions: brain/neuro anatomy/organization, rhythmic entrainment, auditory–motor coordination, learned commands, and tests of beat synchronization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