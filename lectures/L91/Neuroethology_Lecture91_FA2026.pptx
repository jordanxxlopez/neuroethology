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brain/neuro anatomy/organization, rhythmic entrainment, auditory–motor coordination, learned commands, and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**Neuroanatomy** is the organization of the nervous system and its structures. **Cerebral cortex** is the outer sheet of the cerebrum. Sawyer and colleagues examined a juvenile California sea-lion brain whose cortical surface contained numerous folds. **Gyri** are the raised folds; **sulci** are the grooves separating them. The two hemispheres had similar but nonidentical groove patterns.</a:t>
            </a:r>
          </a:p>
          <a:p>
            <a:r>
              <a:t>• The fixed specimen was 10.2 cm long and 10.1 cm wide near its posterior end, compared with 6.0 cm across the anterior portion. These are dimensions of the preserved juvenile specimen, rather than measurements of Ronan or a standard adult brain.</a:t>
            </a:r>
          </a:p>
          <a:p>
            <a:r>
              <a:t>• A large **cerebellum**,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a:p>
            <a:r>
              <a:t>• The examined juvenile brain weighed 288.4 g after perfusion and immersion fixation. Preservation and developmental stage matter when comparing its dimensions with living adult animals.</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7G–I. Dorsal, isometric, and ventral views of a juvenile sea-lion brain.</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**Vibrissae** are specialized whiskers whose follicles receive sensory innervation. The examined sea lions had 38 whiskers arranged in six rows on each cheek pad. Their facial array provides many separate points at which contact or water movement can deform a whisker.</a:t>
            </a:r>
          </a:p>
          <a:p>
            <a:r>
              <a:t>• 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r>
              <a:t>• The **trigeminal nerve** carries facial somatosensory signals, meaning information about touch and related bodily sensation. Its thick sensory root lay beside a separate, smaller motor root. **Axons** are nerve-cell fibers that conduct signals; **myelin** is their insulating sheath. Microscopy identified thinly and thickly myelinated axons in the pathway carrying facial information into the brainstem.</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2A–F. Whiskers, an innervated follicle, and sensory and motor roots.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**principal sensory trigeminal nucleus**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r>
              <a:t>• **Nissl staining** reveals neuronal cell bodies. **Cytochrome oxidase staining** marks metabolic organization, while vesicular glutamate transporter 1 staining identified dense afferent terminal regions. **Glutamate** is a neurotransmitter, a chemical signal released at synapses. This transporter packages it in presynaptic vesicles. The three preparations converged on a modular architecture instead of a uniform mass of tissue.</a:t>
            </a:r>
          </a:p>
          <a:p>
            <a:r>
              <a:t>• 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a:p>
            <a:r>
              <a:t>• Vesicular glutamate transporters package glutamate in presynaptic vesicles. VGLUT1 staining marks the organization of glutamatergic input terminals; staining is an anatomical assay, not a recording of sensory firing during behavior.</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4I–K. Principal sensory nucleus stained for cells, metabolism, and VGLUT1.</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**thalamus** contains relays between ascending sensory pathways and cerebral cortex. The sea-lion **ventral posterior nucleus** was distinguished from surrounding tissue by large neuronal cell bodies and dense staining for cytochrome oxidase and vesicular glutamate transporter 2.</a:t>
            </a:r>
          </a:p>
          <a:p>
            <a:r>
              <a:t>• Its **ventroposterior medial subdivision**, or VPM, occupied a large part of the nucleus and corresponds to facial representation in the mammalian somatosensory pathway. The neighboring **ventroposterior lateral subdivision**, or VPL, corresponds to bodily representation. Their boundaries changed across successive sections rather than forming identical shapes at every depth.</a:t>
            </a:r>
          </a:p>
          <a:p>
            <a:r>
              <a:t>• 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6B–D. Matched sections identify the somatosensory thalamic subdivisions.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**Primary somatosensory cortex**, or S1, is a cerebral region receiving bodily sensory information. Sawyer and colleagues localized a presumptive S1 region just anterior to the major vertical fissure using its microscopic organization and position within the folded sea-lion cortex.</a:t>
            </a:r>
          </a:p>
          <a:p>
            <a:r>
              <a:t>• **Cortical layers**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r>
              <a:t>• 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8E–G. Layer-specific metabolic, neuronal, and VGLUT2 staining.</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**Electroencephalography**,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r>
              <a:t>• Wakeful recordings included low-amplitude **beta activity**, faster than 13 Hz, interspersed with **alpha activity** at 8–13 Hz. Slow-wave sleep contained high-amplitude **delta activity**, slower than 4 Hz, and sleep spindles around 12–14 Hz. The same nervous system can therefore produce different temporal activity patterns across states.</a:t>
            </a:r>
          </a:p>
          <a:p>
            <a:r>
              <a:t>• 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a:p>
            <a:r>
              <a:t>• Many animals received sedatives during electrode placement. These clinical recordings were not an auditory synchronization experiment or a natural-sleep survey. The comparison uses the paper’s neurologically normal wakeful and slow-wave examples.</a:t>
            </a:r>
          </a:p>
          <a:p/>
          <a:p>
            <a:r>
              <a:t>References:</a:t>
            </a:r>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Figure: Williams et al. (2023), Fig. 2A–B. Sea-lion EEG during wakefulness and slow-wave sleep.</a:t>
            </a:r>
          </a:p>
          <a:p>
            <a:r>
              <a:t>Figure source: https://doi.org/10.3389/fvets.2023.1040125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**Active sensing** means moving a sensory organ to acquire information relevant to a task. Lo, a California sea lion, used different head and whisker movements when discriminating texture, size, or visual brightness. Blindfolds restricted the texture and size tasks to tactile exploration.</a:t>
            </a:r>
          </a:p>
          <a:p>
            <a:r>
              <a:t>• For texture, Lo swept laterally across the surfaces. For size, she moved toward the object edges and made larger whisker movements. Average whisker excursions were about 34° for texture and 47° for size, compared with 24° during visual brightness discrimination.</a:t>
            </a:r>
          </a:p>
          <a:p>
            <a:r>
              <a:t>• 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a:p>
            <a:r>
              <a:t>• Movie 1 contains the original texture, size, and brightness trials in a single recording. Its segments are not counted as separate movies.</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1A–B. Lo explores texture and size with different whisker trajectories.</a:t>
            </a:r>
          </a:p>
          <a:p>
            <a:r>
              <a:t>Figure source: https://doi.org/10.1242/jeb.243085</a:t>
            </a:r>
          </a:p>
          <a:p>
            <a:r>
              <a:t>Embedded recording: Milne et al. (2021), Movie 1. Lo explores texture, size, and visual brightness.</a:t>
            </a:r>
          </a:p>
          <a:p>
            <a:r>
              <a:t>Source URL: https://static-movie-usa.glencoesoftware.com/source/10.1242/861/cf6333a8eda59f3724280a480f4c6d468185fa4d/JEB243085.MovieS1.mp4</a:t>
            </a:r>
          </a:p>
          <a:p>
            <a:r>
              <a:t>Article DOI: https://doi.org/10.1242/jeb.243085</a:t>
            </a:r>
          </a:p>
          <a:p>
            <a:r>
              <a:t>Credit: Milne, Orton, Black, Jones, Sullivan, and Grant.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**learned command** is a cue associated with a trained action or task. In Lo’s discrimination experiment, the trainer used “find it” to initiate exploration after the stimuli had been placed underwater. The command started a task whose solution still depended on information from the objects.</a:t>
            </a:r>
          </a:p>
          <a:p>
            <a:r>
              <a:t>• Lo indicated her choice by resting her nose on the selected stimulus for more than 3 s and retracting her whiskers. Correct choices produced a whistle followed by fish. The whistle served as a **conditioned reinforcer**, a previously learned signal marking success before the primary food reward arrived.</a:t>
            </a:r>
          </a:p>
          <a:p>
            <a:r>
              <a:t>• 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1C. Lo selects a brightness target with reduced tactile exploration.</a:t>
            </a:r>
          </a:p>
          <a:p>
            <a:r>
              <a:t>Figure source: https://doi.org/10.1242/jeb.243085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r>
              <a:t>• **Whisker asymmetry**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r>
              <a:t>• 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a:p>
            <a:r>
              <a:t>• The source movie lasts 0.74 s. It is the original high-frame-rate analysis interval, not a long demonstration or a movie slowed for presentation. Use full-screen playback and replay if needed without changing its timing.</a:t>
            </a:r>
          </a:p>
          <a:p/>
          <a:p>
            <a:r>
              <a:t>References:</a:t>
            </a:r>
          </a:p>
          <a:p>
            <a:r>
              <a:t>Milne AO, Grant RA (2014). Characterisation of whisker control in the California sea lion (Zalophus californianus) during a complex, dynamic sensorimotor task. Journal of Comparative Physiology A 200:871–879. https://doi.org/10.1007/s00359-014-0931-1</a:t>
            </a:r>
          </a:p>
          <a:p/>
          <a:p>
            <a:r>
              <a:t>Figure: Milne and Grant (2014), Fig. 1b–c. Ball, head, and whisker positions during balancing.</a:t>
            </a:r>
          </a:p>
          <a:p>
            <a:r>
              <a:t>Figure source: https://doi.org/10.1007/s00359-014-0931-1</a:t>
            </a:r>
          </a:p>
          <a:p>
            <a:r>
              <a:t>Embedded recording: Blackpool Zoo (2009). Bimbo balances a ball on land and in water; observational demonstration.</a:t>
            </a:r>
          </a:p>
          <a:p>
            <a:r>
              <a:t>Source URL: https://www.youtube.com/watch?v=aoYOyxJu9EM</a:t>
            </a:r>
          </a:p>
          <a:p>
            <a:r>
              <a:t>Source: observational zoo recording; no article DOI</a:t>
            </a:r>
          </a:p>
          <a:p>
            <a:r>
              <a:t>Credit: Blackpool Zoo. License: No open license stated; instructor-provided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6 to 50 seconds. H264 CRF26; AAC96kbps; no speed change; original frame rate and audio timing retained. Spatial crop: None. This excerpt retains the source behavior and sound sequence; omitted sections are outside the selected task.</a:t>
            </a:r>
          </a:p>
          <a:p/>
          <a:p>
            <a:r>
              <a:t>Bimbo is a zoo demonstration, not a participant in the adjacent Milne and Grant measurements.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Sea lions propel ordinary forward swimming with their foreflippers, while the hindflippers can trail behind. A **banking turn** combines rolling the body with changing the swimming direction. Leahy and colleagues trained sea lions to complete 180° turns beneath an underwater viewing window.</a:t>
            </a:r>
          </a:p>
          <a:p>
            <a:r>
              <a:t>• 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r>
              <a:t>• The hindflippers’ average **angle of attack**,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a:p>
            <a:r>
              <a:t>• Movie 3 records a trained adult female making a left banking turn. This is coordinated locomotion, not evidence that she follows an auditory musical beat.</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3A, E, I. Successive stages of a sea-lion banking turn.</a:t>
            </a:r>
          </a:p>
          <a:p>
            <a:r>
              <a:t>Figure source: https://doi.org/10.1242/jeb.243020</a:t>
            </a:r>
          </a:p>
          <a:p>
            <a:r>
              <a:t>Embedded recording: Leahy et al. (2021), Movie 3. A trained sea lion executes a 180° left banking turn.</a:t>
            </a:r>
          </a:p>
          <a:p>
            <a:r>
              <a:t>Source URL: https://static-movie-usa.glencoesoftware.com/source/10.1242/738/918c6b425b28fbbb9ac7bd4aafad3298129ba4a7/JEB243020.MovieS3.mp4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**Porpoising**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r>
              <a:t>• 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r>
              <a:t>• 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a:p>
            <a:r>
              <a:t>• Movie 1 records the captive porpoising bout. The paper treats lift production as an interpretation of appendage geometry and measured motion, rather than measuring neural commands to the flippers.</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1. Sea-lion hindflipper geometry and spread configuration.</a:t>
            </a:r>
          </a:p>
          <a:p>
            <a:r>
              <a:t>Figure source: https://doi.org/10.1242/jeb.243020</a:t>
            </a:r>
          </a:p>
          <a:p>
            <a:r>
              <a:t>Embedded recording: Leahy et al. (2021), Movie 1. A captive sea lion completes a porpoising bout.</a:t>
            </a:r>
          </a:p>
          <a:p>
            <a:r>
              <a:t>Source URL: https://static-movie-usa.glencoesoftware.com/source/10.1242/738/918c6b425b28fbbb9ac7bd4aafad3298129ba4a7/JEB243020.MovieS1.mp4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r>
              <a:t>• 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r>
              <a:t>• 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3D, H, L. Changing flipper configuration during a maneuver.</a:t>
            </a:r>
          </a:p>
          <a:p>
            <a:r>
              <a:t>Figure source: https://doi.org/10.1242/jeb.243020</a:t>
            </a:r>
          </a:p>
          <a:p>
            <a:r>
              <a:t>Embedded recording: Leahy et al. (2021), Movie 2. Wild sea lions porpoise in Monterey Bay.</a:t>
            </a:r>
          </a:p>
          <a:p>
            <a:r>
              <a:t>Source URL: https://static-movie-usa.glencoesoftware.com/source/10.1242/738/918c6b425b28fbbb9ac7bd4aafad3298129ba4a7/JEB243020.MovieS2.mp4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r>
              <a:t>• 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r>
              <a:t>• 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Head-bob timing with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Embedded recording: Cook et al. (2013), official UCSC study video. Ronan transfers trained synchronization to music.</a:t>
            </a:r>
          </a:p>
          <a:p>
            <a:r>
              <a:t>Source URL: https://youtu.be/s4nBevZJMvk</a:t>
            </a:r>
          </a:p>
          <a:p>
            <a:r>
              <a:t>Article DOI: https://doi.org/10.1037/a0032345</a:t>
            </a:r>
          </a:p>
          <a:p>
            <a:r>
              <a:t>Credit: UC Santa Cruz; Cook and colleagues. License: No open license stated; instructor-provided compressed copy and explicit permission for this official study video.</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**Period**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**oscillator**. Transient behavior measures how ongoing coordination changes after an unexpected timing disturbance.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a:p>
            <a:r>
              <a:t>Embedded recording: Rouse et al. (2016), Video 1 excerpt. Persistent +15% interval change.</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24 to 50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a:p>
            <a:r>
              <a:t>Embedded recording: Rouse et al. (2016), Video 1 excerpt. +25% phase disturbance.</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66 to 84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a:p>
            <a:r>
              <a:t>Embedded recording: Rouse et al. (2016), Video 1 excerpt. +25% interval change and extra nod.</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50 to 62 seconds. H264 CRF26; AAC96kbps; no speed change; original frame rate and audio timing retained.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Rocky, a California sea lion, learned hand signs that specified objects, their attributes, and actions. A standard instruction could designate a destination, pause, identify an object by modifiers, and request transport. **Conditional discrimination** means that the appropriate response depends on the preceding cues as well as the currently available objects.</a:t>
            </a:r>
          </a:p>
          <a:p>
            <a:r>
              <a:t>• Gisiner and Schusterman recorded orienting during each sign and the final action after a release cue. During 70 anomalous-order probes, 62 orienting responses followed the previously learned sequential rules. The final responses included 55 refusals to complete the command and 15 partial actions.</a:t>
            </a:r>
          </a:p>
          <a:p>
            <a:r>
              <a:t>• A modifier narrowed which object Rocky should select, whereas an action sign specified what to do with it. Reordering familiar signs changed the behavior despite retaining familiar components. The experiment connected learned cue order with visual search, waiting at the station, and object-directed movement.</a:t>
            </a:r>
          </a:p>
          <a:p/>
          <a:p>
            <a:r>
              <a:t>References:</a:t>
            </a:r>
          </a:p>
          <a:p>
            <a:r>
              <a:t>Gisiner R, Schusterman RJ (1992). Sequence, syntax, and semantics: Responses of a language-trained sea lion (Zalophus californianus) to novel sign combinations. Journal of Comparative Psychology 106(1):78–91. https://doi.org/10.1037/0735-7036.106.1.78</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Gisiner and Schusterman (1992), Fig. 1A–I. Rocky follows object, modifier, and action signs.</a:t>
            </a:r>
          </a:p>
          <a:p>
            <a:r>
              <a:t>Figure source: https://doi.org/10.1037/0735-7036.106.1.78</a:t>
            </a:r>
          </a:p>
          <a:p>
            <a:r>
              <a:t>Embedded recording: Cook et al. (2021), Video 17.1 excerpt. Rocky follows the LARGE BALL, WATERWING, FETCH sequence.</a:t>
            </a:r>
          </a:p>
          <a:p>
            <a:r>
              <a:t>Source URL: https://e.video-cdn.net/watch?video-id=Av4gjJyizuXyK9pEqPV3Rs&amp;player-id=-qZL2aSgACrhe2fEUstC_v&amp;channel-id=86512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51 to 77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**Matching-to-sample** is a choice task in which an initial sample determines the correct comparison. In identity matching, the correct comparison has the same appearance as the sample. Rocky and Rio viewed a sample for approximately 4 s before the two comparison windows opened; a release cue followed after another 2–4 s.</a:t>
            </a:r>
          </a:p>
          <a:p>
            <a:r>
              <a:t>• Kastak and Schusterman trained 15 two-stimulus problems and then tested 15 novel problems. Training required 90% correct choices over two consecutive sessions. Correct comparison positions were balanced between left and right, preventing a fixed side response from solving the task.</a:t>
            </a:r>
          </a:p>
          <a:p>
            <a:r>
              <a:t>• One sea lion met all transfer criteria on the second test and the other on the third. Both subsequently applied identity matching to stimuli learned previously under different arbitrary matching relations. The learned relationship between sample and choice could therefore guide action when the particular stimulus combination changed.</a:t>
            </a:r>
          </a:p>
          <a:p/>
          <a:p>
            <a:r>
              <a:t>References:</a:t>
            </a:r>
          </a:p>
          <a:p>
            <a:r>
              <a:t>Kastak D, Schusterman RJ (1994). Transfer of visual identity matching-to-sample in two California sea lions (Zalophus californianus). Animal Learning &amp; Behavior 22(4):427–435. https://doi.org/10.3758/BF03209162</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Kastak and Schusterman (1994), Fig. 1. Six configurations used for visual identity matching.</a:t>
            </a:r>
          </a:p>
          <a:p>
            <a:r>
              <a:t>Figure source: https://doi.org/10.3758/BF03209162</a:t>
            </a:r>
          </a:p>
          <a:p>
            <a:r>
              <a:t>Embedded recording: Cook et al. (2021), Video 17.2 excerpt. Rio performs visual identity matching.</a:t>
            </a:r>
          </a:p>
          <a:p>
            <a:r>
              <a:t>Source URL: https://e.video-cdn.net/watch?video-id=6t9bp_2EXpiiKeBUT4Rt3w&amp;player-id=-qZL2aSgACrhe2fEUstC_v&amp;channel-id=86512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 to 43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**functional stimulus class** contains different stimuli that acquire a shared behavioral role. Reichmuth Kastak and colleagues presented two sea lions with 20 visual patterns divided into two sets of 10. In simple discrimination sessions, one set produced correct choices and the other produced incorrect choices; reversing the assignment changed which set was rewarded.</a:t>
            </a:r>
          </a:p>
          <a:p>
            <a:r>
              <a:t>• Sessions contained 40 trials in four blocks of 10, with stimulus positions balanced between left and right. The animals acquired classes through repeated reversals, then transferred the class relationships to matching-to-sample. In that task, the sample determined which comparison belonged to the appropriate learned class.</a:t>
            </a:r>
          </a:p>
          <a:p>
            <a:r>
              <a:t>• Correct responses to the different classes produced class-specific fish reinforcers. Subsequent experiments related new patterns to established classes through these outcomes. Learning linked visual cues and expected consequences, allowing a nose-touch choice to depend on prior reinforcement relationships rather than physical resemblance alone.</a:t>
            </a:r>
          </a:p>
          <a:p/>
          <a:p>
            <a:r>
              <a:t>References:</a:t>
            </a:r>
          </a:p>
          <a:p>
            <a:r>
              <a:t>Reichmuth Kastak C, Schusterman RJ, Kastak D (2001). Equivalence classification by California sea lions using class-specific reinforcers. Journal of the Experimental Analysis of Behavior 76(2):131–158. https://doi.org/10.1901/jeab.2001.76-131</a:t>
            </a:r>
          </a:p>
          <a:p>
            <a:r>
              <a:t>Cook PF, Reichmuth C, Hanke FD (2021). The Mind of a Sea Lion. In: The Brain of the Marine Mammal. https://doi.org/10.1007/978-3-030-59184-7_17. Supplementary recordings 17.1–17.3 accompany this chapter and depict the trained procedures, not necessarily the specific published test trials.</a:t>
            </a:r>
          </a:p>
          <a:p/>
          <a:p>
            <a:r>
              <a:t>Figure: Reichmuth Kastak et al. (2001), Fig. 1. Rio performs simple and conditional visual discriminations.</a:t>
            </a:r>
          </a:p>
          <a:p>
            <a:r>
              <a:t>Figure source: https://doi.org/10.1901/jeab.2001.76-131</a:t>
            </a:r>
          </a:p>
          <a:p>
            <a:r>
              <a:t>Embedded recording: Cook et al. (2021), Video 17.3 excerpt. Rio chooses within a learned stimulus class.</a:t>
            </a:r>
          </a:p>
          <a:p>
            <a:r>
              <a:t>Source URL: https://e.video-cdn.net/watch?video-id=Dk7Vni8uNuSe-GwX6DwYjE&amp;player-id=-qZL2aSgACrhe2fEUstC_v&amp;channel-id=86512</a:t>
            </a:r>
          </a:p>
          <a:p>
            <a:r>
              <a:t>Article DOI: https://doi.org/10.1007/978-3-030-59184-7_17</a:t>
            </a:r>
          </a:p>
          <a:p>
            <a:r>
              <a:t>Credit: Cook, Reichmuth, and Hanke. License: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210 to 245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The chapter supplement records the trained task. It is not identified as a trial from the earlier article; numerical findings refer to that cited article.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Hama, a Steller sea lion, had already learned a repertoire of actions through hand signals and verbal commands. Sasaki and colleagues trained a **do-as-I-do** response, in which a human action becomes the model for the animal’s action. Demonstrating “stand,” a head movement, or a tongue action replaced the usual specific cue.</a:t>
            </a:r>
          </a:p>
          <a:p>
            <a:r>
              <a:t>• 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r>
              <a:t>• 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a:p/>
          <a:p>
            <a:r>
              <a:t>References:</a:t>
            </a:r>
          </a:p>
          <a:p>
            <a:r>
              <a:t>Sasaki M, Kinoshita H, Konno A (2025). Do as I do imitation in a steller sea lion Eumetopias jubatus. Animal Cognition 28:49. https://doi.org/10.1007/s10071-025-01971-0</a:t>
            </a:r>
          </a:p>
          <a:p/>
          <a:p>
            <a:r>
              <a:t>Figure: Sasaki et al. (2025), Fig. 2. Action matching with familiar and unfamiliar human demonstrators.</a:t>
            </a:r>
          </a:p>
          <a:p>
            <a:r>
              <a:t>Figure source: https://doi.org/10.1007/s10071-025-01971-0</a:t>
            </a:r>
          </a:p>
          <a:p>
            <a:r>
              <a:t>Embedded recording: Sasaki et al. (2025), learned-command recording excerpt. Hama responds to familiar vocal and hand cues.</a:t>
            </a:r>
          </a:p>
          <a:p>
            <a:r>
              <a:t>Source URL: https://www.youtube.com/watch?v=-Kwv_fMeG5w</a:t>
            </a:r>
          </a:p>
          <a:p>
            <a:r>
              <a:t>Article DOI: https://doi.org/10.1007/s10071-025-01971-0</a:t>
            </a:r>
          </a:p>
          <a:p>
            <a:r>
              <a:t>Credit: Sasaki, Kinoshita, and Konno. License: No open license stated; instructor-provided study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4 to 27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a:p>
            <a:r>
              <a:t>This recording contains familiar command responses, not the delayed-Go imitation test.</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second procedure, Hama watched a complete human demonstration while remaining still, then acted upon the verbal cue “Go.” **Response inhibition** is withholding an action that would otherwise occur. Learning to wait changed her earlier history of moving simultaneously with human demonstrations.</a:t>
            </a:r>
          </a:p>
          <a:p>
            <a:r>
              <a:t>• 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r>
              <a:t>• 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a:p/>
          <a:p>
            <a:r>
              <a:t>References:</a:t>
            </a:r>
          </a:p>
          <a:p>
            <a:r>
              <a:t>Sasaki M, Kinoshita H, Konno A (2025). Do as I do imitation in a steller sea lion Eumetopias jubatus. Animal Cognition 28:49. https://doi.org/10.1007/s10071-025-01971-0</a:t>
            </a:r>
          </a:p>
          <a:p/>
          <a:p>
            <a:r>
              <a:t>Figure: Sasaki et al. (2025), Fig. 5. Visual barriers used after the human demonstration.</a:t>
            </a:r>
          </a:p>
          <a:p>
            <a:r>
              <a:t>Figure source: https://doi.org/10.1007/s10071-025-01971-0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r>
              <a:t>• 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r>
              <a:t>• 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omitted clicks.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r>
              <a:t>• 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r>
              <a:t>• 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aligned with recorded sound onsets.</a:t>
            </a:r>
          </a:p>
          <a:p>
            <a:r>
              <a:t>Figure source: https://doi.org/10.1038/s41598-025-95279-1</a:t>
            </a:r>
          </a:p>
          <a:p>
            <a:r>
              <a:t>Embedded recording: Cook et al. (2025), ESM 2 excerpt. Ronan’s first exposure to 112 bpm snare beats.</a:t>
            </a:r>
          </a:p>
          <a:p>
            <a:r>
              <a:t>Source URL: https://www.youtube.com/watch?v=1zZc18B8ZW0</a:t>
            </a:r>
          </a:p>
          <a:p>
            <a:r>
              <a:t>Article DOI: https://doi.org/10.1038/s41598-025-95279-1</a:t>
            </a:r>
          </a:p>
          <a:p>
            <a:r>
              <a:t>Credit: Cook and colleagues. License: CC BY 4.0; original article supplementary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18 to 30 seconds. H264 CRF26; AAC96kbps; no speed change; original frame rate and audio timing retained; final delivery H264 CRF30, proportional width capped at 1280 px, no frame-rate or speed change. Spatial crop: crop=1046:1080:430:0.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a:p>
            <a:r>
              <a:t>Embedded recording: Cook et al. (2025), ESM 2 excerpt. Matched sea-lion head and human arm movements.</a:t>
            </a:r>
          </a:p>
          <a:p>
            <a:r>
              <a:t>Source URL: https://www.youtube.com/watch?v=1zZc18B8ZW0</a:t>
            </a:r>
          </a:p>
          <a:p>
            <a:r>
              <a:t>Article DOI: https://doi.org/10.1038/s41598-025-95279-1</a:t>
            </a:r>
          </a:p>
          <a:p>
            <a:r>
              <a:t>Credit: Cook and colleagues. License: CC BY 4.0; original article supplementary recording.</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a:p>
            <a:r>
              <a:t>Instructor-authorized excerpt: 38 to 50 seconds. H264 CRF26; AAC96kbps; no speed change; original frame rate and audio timing retained; final delivery H264 CRF30, proportional width capped at 1280 px, no frame-rate or speed change. Spatial crop: None. This excerpt retains the source behavior and sound sequence; omitted sections are outside the selected task.</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a:p/>
          <a:p>
            <a:r>
              <a:t>Sawyer EK, Turner EC, Kaas JH (2016). Somatosensory brainstem, thalamus, and cortex of the California sea lion (Zalophus californianus). Journal of Comparative Neurology 524(9):1957–1975. https://doi.org/10.1002/cne.23984</a:t>
            </a:r>
          </a:p>
          <a:p/>
          <a:p>
            <a:r>
              <a:t>Milne AO, Grant RA (2014). Characterisation of whisker control in the California sea lion (Zalophus californianus) during a complex, dynamic sensorimotor task. Journal of Comparative Physiology A 200:871–879. https://doi.org/10.1007/s00359-014-0931-1</a:t>
            </a:r>
          </a:p>
          <a:p/>
          <a:p>
            <a:r>
              <a:t>Milne AO, Orton L, Black CH, Jones GC, Sullivan M, Grant RA (2021). California sea lions employ task-specific strategies for active touch sensing. Journal of Experimental Biology 224(21):jeb243085. https://doi.org/10.1242/jeb.243085</a:t>
            </a:r>
          </a:p>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Sasaki M, Kinoshita H, Konno A (2025). Do as I do imitation in a steller sea lion Eumetopias jubatus. Animal Cognition 28:49. https://doi.org/10.1007/s10071-025-01971-0</a:t>
            </a:r>
          </a:p>
          <a:p/>
          <a:p>
            <a:r>
              <a:t>Gisiner R, Schusterman RJ (1992). Sequence, syntax, and semantics: Responses of a language-trained sea lion (Zalophus californianus) to novel sign combinations. Journal of Comparative Psychology 106(1):78–91. https://doi.org/10.1037/0735-7036.106.1.78</a:t>
            </a:r>
          </a:p>
          <a:p/>
          <a:p>
            <a:r>
              <a:t>Kastak D, Schusterman RJ (1994). Transfer of visual identity matching-to-sample in two California sea lions (Zalophus californianus). Animal Learning &amp; Behavior 22(4):427–435. https://doi.org/10.3758/BF03209162</a:t>
            </a:r>
          </a:p>
          <a:p/>
          <a:p>
            <a:r>
              <a:t>Reichmuth Kastak C, Schusterman RJ, Kastak D (2001). Equivalence classification by California sea lions using class-specific reinforcers. Journal of the Experimental Analysis of Behavior 76(2):131–158. https://doi.org/10.1901/jeab.2001.76-131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 Id="rId4" Type="http://schemas.openxmlformats.org/officeDocument/2006/relationships/image" Target="../media/image39.png"/><Relationship Id="rId5" Type="http://schemas.microsoft.com/office/2007/relationships/media" Target="../media/media1.mp4"/><Relationship Id="rId6" Type="http://schemas.openxmlformats.org/officeDocument/2006/relationships/video" Target="../media/media1.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 Id="rId4" Type="http://schemas.openxmlformats.org/officeDocument/2006/relationships/image" Target="../media/image40.png"/><Relationship Id="rId5" Type="http://schemas.microsoft.com/office/2007/relationships/media" Target="../media/media2.mp4"/><Relationship Id="rId6" Type="http://schemas.openxmlformats.org/officeDocument/2006/relationships/video" Target="../media/media2.mp4"/></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 Id="rId4" Type="http://schemas.openxmlformats.org/officeDocument/2006/relationships/image" Target="../media/image41.png"/><Relationship Id="rId5" Type="http://schemas.microsoft.com/office/2007/relationships/media" Target="../media/media3.mp4"/><Relationship Id="rId6" Type="http://schemas.openxmlformats.org/officeDocument/2006/relationships/video" Target="../media/media3.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 Id="rId4" Type="http://schemas.openxmlformats.org/officeDocument/2006/relationships/image" Target="../media/image42.png"/><Relationship Id="rId5" Type="http://schemas.microsoft.com/office/2007/relationships/media" Target="../media/media4.mp4"/><Relationship Id="rId6" Type="http://schemas.openxmlformats.org/officeDocument/2006/relationships/video" Target="../media/media4.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 Id="rId4" Type="http://schemas.openxmlformats.org/officeDocument/2006/relationships/image" Target="../media/image43.png"/><Relationship Id="rId5" Type="http://schemas.microsoft.com/office/2007/relationships/media" Target="../media/media5.mp4"/><Relationship Id="rId6" Type="http://schemas.openxmlformats.org/officeDocument/2006/relationships/video" Target="../media/media5.mp4"/></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 Id="rId4" Type="http://schemas.openxmlformats.org/officeDocument/2006/relationships/image" Target="../media/image44.png"/><Relationship Id="rId5" Type="http://schemas.microsoft.com/office/2007/relationships/media" Target="../media/media6.mp4"/><Relationship Id="rId6" Type="http://schemas.openxmlformats.org/officeDocument/2006/relationships/video" Target="../media/media6.mp4"/></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 Id="rId4" Type="http://schemas.openxmlformats.org/officeDocument/2006/relationships/image" Target="../media/image45.png"/><Relationship Id="rId5" Type="http://schemas.microsoft.com/office/2007/relationships/media" Target="../media/media7.mp4"/><Relationship Id="rId6" Type="http://schemas.openxmlformats.org/officeDocument/2006/relationships/video" Target="../media/media7.mp4"/></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 Id="rId4" Type="http://schemas.openxmlformats.org/officeDocument/2006/relationships/image" Target="../media/image46.png"/><Relationship Id="rId5" Type="http://schemas.microsoft.com/office/2007/relationships/media" Target="../media/media8.mp4"/><Relationship Id="rId6" Type="http://schemas.openxmlformats.org/officeDocument/2006/relationships/video" Target="../media/media8.mp4"/></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 Id="rId4" Type="http://schemas.openxmlformats.org/officeDocument/2006/relationships/image" Target="../media/image47.png"/><Relationship Id="rId5" Type="http://schemas.microsoft.com/office/2007/relationships/media" Target="../media/media9.mp4"/><Relationship Id="rId6" Type="http://schemas.openxmlformats.org/officeDocument/2006/relationships/video" Target="../media/media9.mp4"/></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8.xml"/><Relationship Id="rId4" Type="http://schemas.openxmlformats.org/officeDocument/2006/relationships/image" Target="../media/image48.png"/><Relationship Id="rId5" Type="http://schemas.microsoft.com/office/2007/relationships/media" Target="../media/media10.mp4"/><Relationship Id="rId6" Type="http://schemas.openxmlformats.org/officeDocument/2006/relationships/video" Target="../media/media10.mp4"/></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9.xml"/><Relationship Id="rId4" Type="http://schemas.openxmlformats.org/officeDocument/2006/relationships/image" Target="../media/image49.png"/><Relationship Id="rId5" Type="http://schemas.microsoft.com/office/2007/relationships/media" Target="../media/media11.mp4"/><Relationship Id="rId6" Type="http://schemas.openxmlformats.org/officeDocument/2006/relationships/video" Target="../media/media11.mp4"/></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0.xml"/><Relationship Id="rId4" Type="http://schemas.openxmlformats.org/officeDocument/2006/relationships/image" Target="../media/image50.png"/><Relationship Id="rId5" Type="http://schemas.microsoft.com/office/2007/relationships/media" Target="../media/media12.mp4"/><Relationship Id="rId6" Type="http://schemas.openxmlformats.org/officeDocument/2006/relationships/video" Target="../media/media12.mp4"/></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 Id="rId4" Type="http://schemas.openxmlformats.org/officeDocument/2006/relationships/image" Target="../media/image51.png"/><Relationship Id="rId5" Type="http://schemas.microsoft.com/office/2007/relationships/media" Target="../media/media13.mp4"/><Relationship Id="rId6" Type="http://schemas.openxmlformats.org/officeDocument/2006/relationships/video" Target="../media/media13.mp4"/></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 Id="rId4" Type="http://schemas.openxmlformats.org/officeDocument/2006/relationships/image" Target="../media/image52.png"/><Relationship Id="rId5" Type="http://schemas.microsoft.com/office/2007/relationships/media" Target="../media/media14.mp4"/><Relationship Id="rId6" Type="http://schemas.openxmlformats.org/officeDocument/2006/relationships/video" Target="../media/media14.mp4"/></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 Id="rId4" Type="http://schemas.openxmlformats.org/officeDocument/2006/relationships/image" Target="../media/image53.png"/><Relationship Id="rId5" Type="http://schemas.microsoft.com/office/2007/relationships/media" Target="../media/media15.mp4"/><Relationship Id="rId6" Type="http://schemas.openxmlformats.org/officeDocument/2006/relationships/video" Target="../media/media15.mp4"/></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1.xml"/><Relationship Id="rId4" Type="http://schemas.openxmlformats.org/officeDocument/2006/relationships/image" Target="../media/image54.png"/><Relationship Id="rId5" Type="http://schemas.microsoft.com/office/2007/relationships/media" Target="../media/media16.mp4"/><Relationship Id="rId6" Type="http://schemas.openxmlformats.org/officeDocument/2006/relationships/video" Target="../media/media16.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2.xml"/><Relationship Id="rId4" Type="http://schemas.openxmlformats.org/officeDocument/2006/relationships/image" Target="../media/image55.png"/><Relationship Id="rId5" Type="http://schemas.microsoft.com/office/2007/relationships/media" Target="../media/media17.mp4"/><Relationship Id="rId6" Type="http://schemas.openxmlformats.org/officeDocument/2006/relationships/video" Target="../media/media17.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3.xml"/><Relationship Id="rId4" Type="http://schemas.openxmlformats.org/officeDocument/2006/relationships/image" Target="../media/image56.png"/><Relationship Id="rId5" Type="http://schemas.microsoft.com/office/2007/relationships/media" Target="../media/media18.mp4"/><Relationship Id="rId6" Type="http://schemas.openxmlformats.org/officeDocument/2006/relationships/video" Target="../media/media18.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265176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brain/neuro anatomy/organization, rhythmic entrainment, auditory–motor coordination, learned commands, and tests of beat synchronization</a:t>
            </a:r>
          </a:p>
        </p:txBody>
      </p:sp>
      <p:sp>
        <p:nvSpPr>
          <p:cNvPr id="6" name="TextBox 5"/>
          <p:cNvSpPr txBox="1"/>
          <p:nvPr/>
        </p:nvSpPr>
        <p:spPr>
          <a:xfrm>
            <a:off x="685800" y="511942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80522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folded cortex overlies a large cerebellum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Neuroanatomy</a:t>
            </a:r>
            <a:r>
              <a:rPr sz="1500" b="0" i="0">
                <a:solidFill>
                  <a:srgbClr val="000000"/>
                </a:solidFill>
                <a:latin typeface="Arial"/>
              </a:rPr>
              <a:t> is the organization of the nervous system and its structures. </a:t>
            </a:r>
            <a:r>
              <a:rPr sz="1500" b="1" i="0">
                <a:solidFill>
                  <a:srgbClr val="3D525C"/>
                </a:solidFill>
                <a:latin typeface="Arial"/>
              </a:rPr>
              <a:t>Cerebral cortex</a:t>
            </a:r>
            <a:r>
              <a:rPr sz="1500" b="0" i="0">
                <a:solidFill>
                  <a:srgbClr val="000000"/>
                </a:solidFill>
                <a:latin typeface="Arial"/>
              </a:rPr>
              <a:t> is the outer sheet of the cerebrum. Sawyer and colleagues examined a juvenile California sea-lion brain whose cortical surface contained numerous folds. </a:t>
            </a:r>
            <a:r>
              <a:rPr sz="1500" b="1" i="0">
                <a:solidFill>
                  <a:srgbClr val="3D525C"/>
                </a:solidFill>
                <a:latin typeface="Arial"/>
              </a:rPr>
              <a:t>Gyri</a:t>
            </a:r>
            <a:r>
              <a:rPr sz="1500" b="0" i="0">
                <a:solidFill>
                  <a:srgbClr val="000000"/>
                </a:solidFill>
                <a:latin typeface="Arial"/>
              </a:rPr>
              <a:t> are the raised folds; </a:t>
            </a:r>
            <a:r>
              <a:rPr sz="1500" b="1" i="0">
                <a:solidFill>
                  <a:srgbClr val="3D525C"/>
                </a:solidFill>
                <a:latin typeface="Arial"/>
              </a:rPr>
              <a:t>sulci</a:t>
            </a:r>
            <a:r>
              <a:rPr sz="1500" b="0" i="0">
                <a:solidFill>
                  <a:srgbClr val="000000"/>
                </a:solidFill>
                <a:latin typeface="Arial"/>
              </a:rPr>
              <a:t> are the grooves separating them. The two hemispheres had similar but nonidentical groove patterns.</a:t>
            </a:r>
          </a:p>
          <a:p>
            <a:pPr algn="l">
              <a:lnSpc>
                <a:spcPct val="108000"/>
              </a:lnSpc>
              <a:spcAft>
                <a:spcPts val="900"/>
              </a:spcAft>
            </a:pPr>
            <a:r>
              <a:rPr sz="1500" b="0" i="0">
                <a:solidFill>
                  <a:srgbClr val="000000"/>
                </a:solidFill>
                <a:latin typeface="Arial"/>
              </a:rPr>
              <a:t>The fixed specimen was 10.2 cm long and 10.1 cm wide near its posterior end, compared with 6.0 cm across the anterior portion. These are dimensions of the preserved juvenile specimen, rather than measurements of Ronan or a standard adult brain.</a:t>
            </a:r>
          </a:p>
          <a:p>
            <a:pPr algn="l">
              <a:lnSpc>
                <a:spcPct val="108000"/>
              </a:lnSpc>
              <a:spcAft>
                <a:spcPts val="900"/>
              </a:spcAft>
            </a:pPr>
            <a:r>
              <a:rPr sz="1500" b="0" i="0">
                <a:solidFill>
                  <a:srgbClr val="000000"/>
                </a:solidFill>
                <a:latin typeface="Arial"/>
              </a:rPr>
              <a:t>A large </a:t>
            </a:r>
            <a:r>
              <a:rPr sz="1500" b="1" i="0">
                <a:solidFill>
                  <a:srgbClr val="3D525C"/>
                </a:solidFill>
                <a:latin typeface="Arial"/>
              </a:rPr>
              <a:t>cerebellum</a:t>
            </a:r>
            <a:r>
              <a:rPr sz="1500" b="0" i="0">
                <a:solidFill>
                  <a:srgbClr val="000000"/>
                </a:solidFill>
                <a:latin typeface="Arial"/>
              </a:rPr>
              <a:t>,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p:txBody>
      </p:sp>
      <p:pic>
        <p:nvPicPr>
          <p:cNvPr id="4" name="Picture 3" descr="Sawyer2016_f7abc.png"/>
          <p:cNvPicPr>
            <a:picLocks noChangeAspect="1"/>
          </p:cNvPicPr>
          <p:nvPr/>
        </p:nvPicPr>
        <p:blipFill>
          <a:blip r:embed="rId2"/>
          <a:stretch>
            <a:fillRect/>
          </a:stretch>
        </p:blipFill>
        <p:spPr>
          <a:xfrm>
            <a:off x="6504127" y="1280160"/>
            <a:ext cx="5120640" cy="1631734"/>
          </a:xfrm>
          <a:prstGeom prst="rect">
            <a:avLst/>
          </a:prstGeom>
        </p:spPr>
      </p:pic>
      <p:sp>
        <p:nvSpPr>
          <p:cNvPr id="5" name="Figure caption"/>
          <p:cNvSpPr txBox="1"/>
          <p:nvPr/>
        </p:nvSpPr>
        <p:spPr>
          <a:xfrm>
            <a:off x="6504127" y="30033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7G–I. Dorsal, isometric, and ventral views of a juvenile sea-lion brain.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follicles connect touch to the trigeminal nerve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Vibrissae</a:t>
            </a:r>
            <a:r>
              <a:rPr sz="1500" b="0" i="0">
                <a:solidFill>
                  <a:srgbClr val="000000"/>
                </a:solidFill>
                <a:latin typeface="Arial"/>
              </a:rPr>
              <a:t> are specialized whiskers whose follicles receive sensory innervation. The examined sea lions had 38 whiskers arranged in six rows on each cheek pad. Their facial array provides many separate points at which contact or water movement can deform a whisker.</a:t>
            </a:r>
          </a:p>
          <a:p>
            <a:pPr algn="l">
              <a:lnSpc>
                <a:spcPct val="108000"/>
              </a:lnSpc>
              <a:spcAft>
                <a:spcPts val="900"/>
              </a:spcAft>
            </a:pPr>
            <a:r>
              <a:rPr sz="1500" b="0" i="0">
                <a:solidFill>
                  <a:srgbClr val="000000"/>
                </a:solidFill>
                <a:latin typeface="Arial"/>
              </a:rPr>
              <a:t>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pPr algn="l">
              <a:lnSpc>
                <a:spcPct val="108000"/>
              </a:lnSpc>
              <a:spcAft>
                <a:spcPts val="900"/>
              </a:spcAft>
            </a:pPr>
            <a:r>
              <a:rPr sz="1500" b="0" i="0">
                <a:solidFill>
                  <a:srgbClr val="000000"/>
                </a:solidFill>
                <a:latin typeface="Arial"/>
              </a:rPr>
              <a:t>The </a:t>
            </a:r>
            <a:r>
              <a:rPr sz="1500" b="1" i="0">
                <a:solidFill>
                  <a:srgbClr val="3D525C"/>
                </a:solidFill>
                <a:latin typeface="Arial"/>
              </a:rPr>
              <a:t>trigeminal nerve</a:t>
            </a:r>
            <a:r>
              <a:rPr sz="1500" b="0" i="0">
                <a:solidFill>
                  <a:srgbClr val="000000"/>
                </a:solidFill>
                <a:latin typeface="Arial"/>
              </a:rPr>
              <a:t> carries facial somatosensory signals, meaning information about touch and related bodily sensation. Its thick sensory root lay beside a separate, smaller motor root. </a:t>
            </a:r>
            <a:r>
              <a:rPr sz="1500" b="1" i="0">
                <a:solidFill>
                  <a:srgbClr val="3D525C"/>
                </a:solidFill>
                <a:latin typeface="Arial"/>
              </a:rPr>
              <a:t>Axons</a:t>
            </a:r>
            <a:r>
              <a:rPr sz="1500" b="0" i="0">
                <a:solidFill>
                  <a:srgbClr val="000000"/>
                </a:solidFill>
                <a:latin typeface="Arial"/>
              </a:rPr>
              <a:t> are nerve-cell fibers that conduct signals; </a:t>
            </a:r>
            <a:r>
              <a:rPr sz="1500" b="1" i="0">
                <a:solidFill>
                  <a:srgbClr val="3D525C"/>
                </a:solidFill>
                <a:latin typeface="Arial"/>
              </a:rPr>
              <a:t>myelin</a:t>
            </a:r>
            <a:r>
              <a:rPr sz="1500" b="0" i="0">
                <a:solidFill>
                  <a:srgbClr val="000000"/>
                </a:solidFill>
                <a:latin typeface="Arial"/>
              </a:rPr>
              <a:t> is their insulating sheath. Microscopy identified thinly and thickly myelinated axons in the pathway carrying facial information into the brainstem.</a:t>
            </a:r>
          </a:p>
        </p:txBody>
      </p:sp>
      <p:pic>
        <p:nvPicPr>
          <p:cNvPr id="4" name="Picture 3" descr="Sawyer2016_f2acde.png"/>
          <p:cNvPicPr>
            <a:picLocks noChangeAspect="1"/>
          </p:cNvPicPr>
          <p:nvPr/>
        </p:nvPicPr>
        <p:blipFill>
          <a:blip r:embed="rId2"/>
          <a:stretch>
            <a:fillRect/>
          </a:stretch>
        </p:blipFill>
        <p:spPr>
          <a:xfrm>
            <a:off x="6504127" y="1280160"/>
            <a:ext cx="5120640" cy="3530876"/>
          </a:xfrm>
          <a:prstGeom prst="rect">
            <a:avLst/>
          </a:prstGeom>
        </p:spPr>
      </p:pic>
      <p:sp>
        <p:nvSpPr>
          <p:cNvPr id="5" name="Figure caption"/>
          <p:cNvSpPr txBox="1"/>
          <p:nvPr/>
        </p:nvSpPr>
        <p:spPr>
          <a:xfrm>
            <a:off x="6504127" y="4902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2A–F. Whiskers, an innervated follicle, and sensory and motor roots.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Brainstem modules organize facial sensory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principal sensory trigeminal nucleus</a:t>
            </a:r>
            <a:r>
              <a:rPr sz="1500" b="0" i="0">
                <a:solidFill>
                  <a:srgbClr val="000000"/>
                </a:solidFill>
                <a:latin typeface="Arial"/>
              </a:rPr>
              <a:t>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pPr algn="l">
              <a:lnSpc>
                <a:spcPct val="108000"/>
              </a:lnSpc>
              <a:spcAft>
                <a:spcPts val="900"/>
              </a:spcAft>
            </a:pPr>
            <a:r>
              <a:rPr sz="1500" b="1" i="0">
                <a:solidFill>
                  <a:srgbClr val="3D525C"/>
                </a:solidFill>
                <a:latin typeface="Arial"/>
              </a:rPr>
              <a:t>Nissl staining</a:t>
            </a:r>
            <a:r>
              <a:rPr sz="1500" b="0" i="0">
                <a:solidFill>
                  <a:srgbClr val="000000"/>
                </a:solidFill>
                <a:latin typeface="Arial"/>
              </a:rPr>
              <a:t> reveals neuronal cell bodies. </a:t>
            </a:r>
            <a:r>
              <a:rPr sz="1500" b="1" i="0">
                <a:solidFill>
                  <a:srgbClr val="3D525C"/>
                </a:solidFill>
                <a:latin typeface="Arial"/>
              </a:rPr>
              <a:t>Cytochrome oxidase staining</a:t>
            </a:r>
            <a:r>
              <a:rPr sz="1500" b="0" i="0">
                <a:solidFill>
                  <a:srgbClr val="000000"/>
                </a:solidFill>
                <a:latin typeface="Arial"/>
              </a:rPr>
              <a:t> marks metabolic organization, while vesicular glutamate transporter 1 staining identified dense afferent terminal regions. </a:t>
            </a:r>
            <a:r>
              <a:rPr sz="1500" b="1" i="0">
                <a:solidFill>
                  <a:srgbClr val="3D525C"/>
                </a:solidFill>
                <a:latin typeface="Arial"/>
              </a:rPr>
              <a:t>Glutamate</a:t>
            </a:r>
            <a:r>
              <a:rPr sz="1500" b="0" i="0">
                <a:solidFill>
                  <a:srgbClr val="000000"/>
                </a:solidFill>
                <a:latin typeface="Arial"/>
              </a:rPr>
              <a:t> is a neurotransmitter, a chemical signal released at synapses. This transporter packages it in presynaptic vesicles. The three preparations converged on a modular architecture instead of a uniform mass of tissue.</a:t>
            </a:r>
          </a:p>
          <a:p>
            <a:pPr algn="l">
              <a:lnSpc>
                <a:spcPct val="108000"/>
              </a:lnSpc>
              <a:spcAft>
                <a:spcPts val="900"/>
              </a:spcAft>
            </a:pPr>
            <a:r>
              <a:rPr sz="1500" b="0" i="0">
                <a:solidFill>
                  <a:srgbClr val="000000"/>
                </a:solidFill>
                <a:latin typeface="Arial"/>
              </a:rPr>
              <a:t>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p:txBody>
      </p:sp>
      <p:pic>
        <p:nvPicPr>
          <p:cNvPr id="4" name="Picture 3" descr="Sawyer2016_f4ijk.png"/>
          <p:cNvPicPr>
            <a:picLocks noChangeAspect="1"/>
          </p:cNvPicPr>
          <p:nvPr/>
        </p:nvPicPr>
        <p:blipFill>
          <a:blip r:embed="rId2"/>
          <a:stretch>
            <a:fillRect/>
          </a:stretch>
        </p:blipFill>
        <p:spPr>
          <a:xfrm>
            <a:off x="6504127" y="1280160"/>
            <a:ext cx="5120640" cy="2341407"/>
          </a:xfrm>
          <a:prstGeom prst="rect">
            <a:avLst/>
          </a:prstGeom>
        </p:spPr>
      </p:pic>
      <p:sp>
        <p:nvSpPr>
          <p:cNvPr id="5" name="Figure caption"/>
          <p:cNvSpPr txBox="1"/>
          <p:nvPr/>
        </p:nvSpPr>
        <p:spPr>
          <a:xfrm>
            <a:off x="6504127" y="37130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4I–K. Principal sensory nucleus stained for cells, metabolism, and VGLUT1.</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thalamus separates face and body representations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thalamus</a:t>
            </a:r>
            <a:r>
              <a:rPr sz="1500" b="0" i="0">
                <a:solidFill>
                  <a:srgbClr val="000000"/>
                </a:solidFill>
                <a:latin typeface="Arial"/>
              </a:rPr>
              <a:t> contains relays between ascending sensory pathways and cerebral cortex. The sea-lion </a:t>
            </a:r>
            <a:r>
              <a:rPr sz="1500" b="1" i="0">
                <a:solidFill>
                  <a:srgbClr val="3D525C"/>
                </a:solidFill>
                <a:latin typeface="Arial"/>
              </a:rPr>
              <a:t>ventral posterior nucleus</a:t>
            </a:r>
            <a:r>
              <a:rPr sz="1500" b="0" i="0">
                <a:solidFill>
                  <a:srgbClr val="000000"/>
                </a:solidFill>
                <a:latin typeface="Arial"/>
              </a:rPr>
              <a:t> was distinguished from surrounding tissue by large neuronal cell bodies and dense staining for cytochrome oxidase and vesicular glutamate transporter 2.</a:t>
            </a:r>
          </a:p>
          <a:p>
            <a:pPr algn="l">
              <a:lnSpc>
                <a:spcPct val="108000"/>
              </a:lnSpc>
              <a:spcAft>
                <a:spcPts val="900"/>
              </a:spcAft>
            </a:pPr>
            <a:r>
              <a:rPr sz="1500" b="0" i="0">
                <a:solidFill>
                  <a:srgbClr val="000000"/>
                </a:solidFill>
                <a:latin typeface="Arial"/>
              </a:rPr>
              <a:t>Its </a:t>
            </a:r>
            <a:r>
              <a:rPr sz="1500" b="1" i="0">
                <a:solidFill>
                  <a:srgbClr val="3D525C"/>
                </a:solidFill>
                <a:latin typeface="Arial"/>
              </a:rPr>
              <a:t>ventroposterior medial subdivision</a:t>
            </a:r>
            <a:r>
              <a:rPr sz="1500" b="0" i="0">
                <a:solidFill>
                  <a:srgbClr val="000000"/>
                </a:solidFill>
                <a:latin typeface="Arial"/>
              </a:rPr>
              <a:t>, or VPM, occupied a large part of the nucleus and corresponds to facial representation in the mammalian somatosensory pathway. The neighboring </a:t>
            </a:r>
            <a:r>
              <a:rPr sz="1500" b="1" i="0">
                <a:solidFill>
                  <a:srgbClr val="3D525C"/>
                </a:solidFill>
                <a:latin typeface="Arial"/>
              </a:rPr>
              <a:t>ventroposterior lateral subdivision</a:t>
            </a:r>
            <a:r>
              <a:rPr sz="1500" b="0" i="0">
                <a:solidFill>
                  <a:srgbClr val="000000"/>
                </a:solidFill>
                <a:latin typeface="Arial"/>
              </a:rPr>
              <a:t>, or VPL, corresponds to bodily representation. Their boundaries changed across successive sections rather than forming identical shapes at every depth.</a:t>
            </a:r>
          </a:p>
          <a:p>
            <a:pPr algn="l">
              <a:lnSpc>
                <a:spcPct val="108000"/>
              </a:lnSpc>
              <a:spcAft>
                <a:spcPts val="900"/>
              </a:spcAft>
            </a:pPr>
            <a:r>
              <a:rPr sz="1500" b="0" i="0">
                <a:solidFill>
                  <a:srgbClr val="000000"/>
                </a:solidFill>
                <a:latin typeface="Arial"/>
              </a:rPr>
              <a:t>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p:txBody>
      </p:sp>
      <p:pic>
        <p:nvPicPr>
          <p:cNvPr id="4" name="Picture 3" descr="Sawyer2016_f6bcd.png"/>
          <p:cNvPicPr>
            <a:picLocks noChangeAspect="1"/>
          </p:cNvPicPr>
          <p:nvPr/>
        </p:nvPicPr>
        <p:blipFill>
          <a:blip r:embed="rId2"/>
          <a:stretch>
            <a:fillRect/>
          </a:stretch>
        </p:blipFill>
        <p:spPr>
          <a:xfrm>
            <a:off x="6504127" y="1280160"/>
            <a:ext cx="5120640" cy="1931595"/>
          </a:xfrm>
          <a:prstGeom prst="rect">
            <a:avLst/>
          </a:prstGeom>
        </p:spPr>
      </p:pic>
      <p:sp>
        <p:nvSpPr>
          <p:cNvPr id="5" name="Figure caption"/>
          <p:cNvSpPr txBox="1"/>
          <p:nvPr/>
        </p:nvSpPr>
        <p:spPr>
          <a:xfrm>
            <a:off x="6504127" y="33031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6B–D. Matched sections identify the somatosensory thalamic subdivisions.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Sensory cortical layer 4 receives dense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Primary somatosensory cortex</a:t>
            </a:r>
            <a:r>
              <a:rPr sz="1600" b="0" i="0">
                <a:solidFill>
                  <a:srgbClr val="000000"/>
                </a:solidFill>
                <a:latin typeface="Arial"/>
              </a:rPr>
              <a:t>, or S1, is a cerebral region receiving bodily sensory information. Sawyer and colleagues localized a presumptive S1 region just anterior to the major vertical fissure using its microscopic organization and position within the folded sea-lion cortex.</a:t>
            </a:r>
          </a:p>
          <a:p>
            <a:pPr algn="l">
              <a:lnSpc>
                <a:spcPct val="108000"/>
              </a:lnSpc>
              <a:spcAft>
                <a:spcPts val="960"/>
              </a:spcAft>
            </a:pPr>
            <a:r>
              <a:rPr sz="1600" b="1" i="0">
                <a:solidFill>
                  <a:srgbClr val="3D525C"/>
                </a:solidFill>
                <a:latin typeface="Arial"/>
              </a:rPr>
              <a:t>Cortical layers</a:t>
            </a:r>
            <a:r>
              <a:rPr sz="1600" b="0" i="0">
                <a:solidFill>
                  <a:srgbClr val="000000"/>
                </a:solidFill>
                <a:latin typeface="Arial"/>
              </a:rPr>
              <a:t>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pPr algn="l">
              <a:lnSpc>
                <a:spcPct val="108000"/>
              </a:lnSpc>
              <a:spcAft>
                <a:spcPts val="960"/>
              </a:spcAft>
            </a:pPr>
            <a:r>
              <a:rPr sz="1600" b="0" i="0">
                <a:solidFill>
                  <a:srgbClr val="000000"/>
                </a:solidFill>
                <a:latin typeface="Arial"/>
              </a:rPr>
              <a:t>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p:txBody>
      </p:sp>
      <p:pic>
        <p:nvPicPr>
          <p:cNvPr id="4" name="Picture 3" descr="Sawyer2016_f8efg.png"/>
          <p:cNvPicPr>
            <a:picLocks noChangeAspect="1"/>
          </p:cNvPicPr>
          <p:nvPr/>
        </p:nvPicPr>
        <p:blipFill>
          <a:blip r:embed="rId2"/>
          <a:stretch>
            <a:fillRect/>
          </a:stretch>
        </p:blipFill>
        <p:spPr>
          <a:xfrm>
            <a:off x="7607701" y="1280160"/>
            <a:ext cx="291349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8E–G. Layer-specific metabolic, neuronal, and VGLUT2 staining.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 rhythms change with arousal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Electroencephalography</a:t>
            </a:r>
            <a:r>
              <a:rPr sz="1500" b="0" i="0">
                <a:solidFill>
                  <a:srgbClr val="000000"/>
                </a:solidFill>
                <a:latin typeface="Arial"/>
              </a:rPr>
              <a:t>,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pPr algn="l">
              <a:lnSpc>
                <a:spcPct val="108000"/>
              </a:lnSpc>
              <a:spcAft>
                <a:spcPts val="900"/>
              </a:spcAft>
            </a:pPr>
            <a:r>
              <a:rPr sz="1500" b="0" i="0">
                <a:solidFill>
                  <a:srgbClr val="000000"/>
                </a:solidFill>
                <a:latin typeface="Arial"/>
              </a:rPr>
              <a:t>Wakeful recordings included low-amplitude </a:t>
            </a:r>
            <a:r>
              <a:rPr sz="1500" b="1" i="0">
                <a:solidFill>
                  <a:srgbClr val="3D525C"/>
                </a:solidFill>
                <a:latin typeface="Arial"/>
              </a:rPr>
              <a:t>beta activity</a:t>
            </a:r>
            <a:r>
              <a:rPr sz="1500" b="0" i="0">
                <a:solidFill>
                  <a:srgbClr val="000000"/>
                </a:solidFill>
                <a:latin typeface="Arial"/>
              </a:rPr>
              <a:t>, faster than 13 Hz, interspersed with </a:t>
            </a:r>
            <a:r>
              <a:rPr sz="1500" b="1" i="0">
                <a:solidFill>
                  <a:srgbClr val="3D525C"/>
                </a:solidFill>
                <a:latin typeface="Arial"/>
              </a:rPr>
              <a:t>alpha activity</a:t>
            </a:r>
            <a:r>
              <a:rPr sz="1500" b="0" i="0">
                <a:solidFill>
                  <a:srgbClr val="000000"/>
                </a:solidFill>
                <a:latin typeface="Arial"/>
              </a:rPr>
              <a:t> at 8–13 Hz. Slow-wave sleep contained high-amplitude </a:t>
            </a:r>
            <a:r>
              <a:rPr sz="1500" b="1" i="0">
                <a:solidFill>
                  <a:srgbClr val="3D525C"/>
                </a:solidFill>
                <a:latin typeface="Arial"/>
              </a:rPr>
              <a:t>delta activity</a:t>
            </a:r>
            <a:r>
              <a:rPr sz="1500" b="0" i="0">
                <a:solidFill>
                  <a:srgbClr val="000000"/>
                </a:solidFill>
                <a:latin typeface="Arial"/>
              </a:rPr>
              <a:t>, slower than 4 Hz, and sleep spindles around 12–14 Hz. The same nervous system can therefore produce different temporal activity patterns across states.</a:t>
            </a:r>
          </a:p>
          <a:p>
            <a:pPr algn="l">
              <a:lnSpc>
                <a:spcPct val="108000"/>
              </a:lnSpc>
              <a:spcAft>
                <a:spcPts val="900"/>
              </a:spcAft>
            </a:pPr>
            <a:r>
              <a:rPr sz="1500" b="0" i="0">
                <a:solidFill>
                  <a:srgbClr val="000000"/>
                </a:solidFill>
                <a:latin typeface="Arial"/>
              </a:rPr>
              <a:t>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p:txBody>
      </p:sp>
      <p:pic>
        <p:nvPicPr>
          <p:cNvPr id="4" name="Picture 3" descr="Williams2023_f2ab.png"/>
          <p:cNvPicPr>
            <a:picLocks noChangeAspect="1"/>
          </p:cNvPicPr>
          <p:nvPr/>
        </p:nvPicPr>
        <p:blipFill>
          <a:blip r:embed="rId2"/>
          <a:stretch>
            <a:fillRect/>
          </a:stretch>
        </p:blipFill>
        <p:spPr>
          <a:xfrm>
            <a:off x="6973165" y="1280160"/>
            <a:ext cx="418256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et al. (2023), Fig. 2A–B. Sea-lion EEG during wakefulness and slow-wave sleep.</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Touch exploration changes with the sensory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sensing</a:t>
            </a:r>
            <a:r>
              <a:rPr sz="1600" b="0" i="0">
                <a:solidFill>
                  <a:srgbClr val="000000"/>
                </a:solidFill>
                <a:latin typeface="Arial"/>
              </a:rPr>
              <a:t> means moving a sensory organ to acquire information relevant to a task. Lo, a California sea lion, used different head and whisker movements when discriminating texture, size, or visual brightness. Blindfolds restricted the texture and size tasks to tactile exploration.</a:t>
            </a:r>
          </a:p>
          <a:p>
            <a:pPr algn="l">
              <a:lnSpc>
                <a:spcPct val="108000"/>
              </a:lnSpc>
              <a:spcAft>
                <a:spcPts val="960"/>
              </a:spcAft>
            </a:pPr>
            <a:r>
              <a:rPr sz="1600" b="0" i="0">
                <a:solidFill>
                  <a:srgbClr val="000000"/>
                </a:solidFill>
                <a:latin typeface="Arial"/>
              </a:rPr>
              <a:t>For texture, Lo swept laterally across the surfaces. For size, she moved toward the object edges and made larger whisker movements. Average whisker excursions were about 34° for texture and 47° for size, compared with 24° during visual brightness discrimination.</a:t>
            </a:r>
          </a:p>
          <a:p>
            <a:pPr algn="l">
              <a:lnSpc>
                <a:spcPct val="108000"/>
              </a:lnSpc>
              <a:spcAft>
                <a:spcPts val="960"/>
              </a:spcAft>
            </a:pPr>
            <a:r>
              <a:rPr sz="1600" b="0" i="0">
                <a:solidFill>
                  <a:srgbClr val="000000"/>
                </a:solidFill>
                <a:latin typeface="Arial"/>
              </a:rPr>
              <a:t>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p:txBody>
      </p:sp>
      <p:pic>
        <p:nvPicPr>
          <p:cNvPr id="4" name="Picture 3" descr="Milne2021_f1ab.png"/>
          <p:cNvPicPr>
            <a:picLocks noChangeAspect="1"/>
          </p:cNvPicPr>
          <p:nvPr/>
        </p:nvPicPr>
        <p:blipFill>
          <a:blip r:embed="rId2"/>
          <a:stretch>
            <a:fillRect/>
          </a:stretch>
        </p:blipFill>
        <p:spPr>
          <a:xfrm>
            <a:off x="7686652" y="1234440"/>
            <a:ext cx="2750103"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1A–B. Lo explores texture and size with different whisker trajectories.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Milne et al. (2021), Movie 1. Lo explores texture, size, and visual brightness.</a:t>
            </a:r>
          </a:p>
        </p:txBody>
      </p:sp>
      <p:pic>
        <p:nvPicPr>
          <p:cNvPr id="10" name="Static video fallback" descr="JEB243085.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85.MovieS1.mp4" descr="Milne et al. (2021), Movie 1. Lo explores texture, size, and visual brightnes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learned command initiates sensory-guided choice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learned command</a:t>
            </a:r>
            <a:r>
              <a:rPr sz="1600" b="0" i="0">
                <a:solidFill>
                  <a:srgbClr val="000000"/>
                </a:solidFill>
                <a:latin typeface="Arial"/>
              </a:rPr>
              <a:t> is a cue associated with a trained action or task. In Lo’s discrimination experiment, the trainer used “find it” to initiate exploration after the stimuli had been placed underwater. The command started a task whose solution still depended on information from the objects.</a:t>
            </a:r>
          </a:p>
          <a:p>
            <a:pPr algn="l">
              <a:lnSpc>
                <a:spcPct val="108000"/>
              </a:lnSpc>
              <a:spcAft>
                <a:spcPts val="960"/>
              </a:spcAft>
            </a:pPr>
            <a:r>
              <a:rPr sz="1600" b="0" i="0">
                <a:solidFill>
                  <a:srgbClr val="000000"/>
                </a:solidFill>
                <a:latin typeface="Arial"/>
              </a:rPr>
              <a:t>Lo indicated her choice by resting her nose on the selected stimulus for more than 3 s and retracting her whiskers. Correct choices produced a whistle followed by fish. The whistle served as a </a:t>
            </a:r>
            <a:r>
              <a:rPr sz="1600" b="1" i="0">
                <a:solidFill>
                  <a:srgbClr val="3D525C"/>
                </a:solidFill>
                <a:latin typeface="Arial"/>
              </a:rPr>
              <a:t>conditioned reinforcer</a:t>
            </a:r>
            <a:r>
              <a:rPr sz="1600" b="0" i="0">
                <a:solidFill>
                  <a:srgbClr val="000000"/>
                </a:solidFill>
                <a:latin typeface="Arial"/>
              </a:rPr>
              <a:t>, a previously learned signal marking success before the primary food reward arrived.</a:t>
            </a:r>
          </a:p>
          <a:p>
            <a:pPr algn="l">
              <a:lnSpc>
                <a:spcPct val="108000"/>
              </a:lnSpc>
              <a:spcAft>
                <a:spcPts val="960"/>
              </a:spcAft>
            </a:pPr>
            <a:r>
              <a:rPr sz="1600" b="0" i="0">
                <a:solidFill>
                  <a:srgbClr val="000000"/>
                </a:solidFill>
                <a:latin typeface="Arial"/>
              </a:rPr>
              <a:t>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p:txBody>
      </p:sp>
      <p:pic>
        <p:nvPicPr>
          <p:cNvPr id="4" name="Picture 3" descr="Milne2021_f1c.png"/>
          <p:cNvPicPr>
            <a:picLocks noChangeAspect="1"/>
          </p:cNvPicPr>
          <p:nvPr/>
        </p:nvPicPr>
        <p:blipFill>
          <a:blip r:embed="rId2"/>
          <a:stretch>
            <a:fillRect/>
          </a:stretch>
        </p:blipFill>
        <p:spPr>
          <a:xfrm>
            <a:off x="6504127" y="1280160"/>
            <a:ext cx="5120640" cy="1404361"/>
          </a:xfrm>
          <a:prstGeom prst="rect">
            <a:avLst/>
          </a:prstGeom>
        </p:spPr>
      </p:pic>
      <p:sp>
        <p:nvSpPr>
          <p:cNvPr id="5" name="Figure caption"/>
          <p:cNvSpPr txBox="1"/>
          <p:nvPr/>
        </p:nvSpPr>
        <p:spPr>
          <a:xfrm>
            <a:off x="6504127" y="277596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1C. Lo selects a brightness target with reduced tactile exploration.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adjustments precede head corrections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pPr algn="l">
              <a:lnSpc>
                <a:spcPct val="108000"/>
              </a:lnSpc>
              <a:spcAft>
                <a:spcPts val="900"/>
              </a:spcAft>
            </a:pPr>
            <a:r>
              <a:rPr sz="1500" b="1" i="0">
                <a:solidFill>
                  <a:srgbClr val="3D525C"/>
                </a:solidFill>
                <a:latin typeface="Arial"/>
              </a:rPr>
              <a:t>Whisker asymmetry</a:t>
            </a:r>
            <a:r>
              <a:rPr sz="1500" b="0" i="0">
                <a:solidFill>
                  <a:srgbClr val="000000"/>
                </a:solidFill>
                <a:latin typeface="Arial"/>
              </a:rPr>
              <a:t>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pPr algn="l">
              <a:lnSpc>
                <a:spcPct val="108000"/>
              </a:lnSpc>
              <a:spcAft>
                <a:spcPts val="900"/>
              </a:spcAft>
            </a:pPr>
            <a:r>
              <a:rPr sz="1500" b="0" i="0">
                <a:solidFill>
                  <a:srgbClr val="000000"/>
                </a:solidFill>
                <a:latin typeface="Arial"/>
              </a:rPr>
              <a:t>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p:txBody>
      </p:sp>
      <p:pic>
        <p:nvPicPr>
          <p:cNvPr id="4" name="Picture 3" descr="Milne2014_f1bc.png"/>
          <p:cNvPicPr>
            <a:picLocks noChangeAspect="1"/>
          </p:cNvPicPr>
          <p:nvPr/>
        </p:nvPicPr>
        <p:blipFill>
          <a:blip r:embed="rId2"/>
          <a:stretch>
            <a:fillRect/>
          </a:stretch>
        </p:blipFill>
        <p:spPr>
          <a:xfrm>
            <a:off x="7843207" y="1234440"/>
            <a:ext cx="2436992"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and Grant (2014), Fig. 1b–c. Ball, head, and whisker positions during balancing.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and Grant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Blackpool Zoo (2009). Bimbo balances a ball on land and in water; observational demonstration.</a:t>
            </a:r>
          </a:p>
        </p:txBody>
      </p:sp>
      <p:pic>
        <p:nvPicPr>
          <p:cNvPr id="10" name="Static video fallback" descr="Bimbo_balance.png"/>
          <p:cNvPicPr>
            <a:picLocks noChangeAspect="1"/>
          </p:cNvPicPr>
          <p:nvPr/>
        </p:nvPicPr>
        <p:blipFill>
          <a:blip r:embed="rId4"/>
          <a:stretch>
            <a:fillRect/>
          </a:stretch>
        </p:blipFill>
        <p:spPr>
          <a:xfrm>
            <a:off x="7151624" y="3675887"/>
            <a:ext cx="3820160" cy="2148840"/>
          </a:xfrm>
          <a:prstGeom prst="rect">
            <a:avLst/>
          </a:prstGeom>
        </p:spPr>
      </p:pic>
      <p:pic>
        <p:nvPicPr>
          <p:cNvPr id="11" name="Bimbo_balance.mp4" descr="Blackpool Zoo (2009). Bimbo balances a ball on land and in water; observational demonstratio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Banking turns recruit the hindflippers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Sea lions propel ordinary forward swimming with their foreflippers, while the hindflippers can trail behind. A </a:t>
            </a:r>
            <a:r>
              <a:rPr sz="1500" b="1" i="0">
                <a:solidFill>
                  <a:srgbClr val="3D525C"/>
                </a:solidFill>
                <a:latin typeface="Arial"/>
              </a:rPr>
              <a:t>banking turn</a:t>
            </a:r>
            <a:r>
              <a:rPr sz="1500" b="0" i="0">
                <a:solidFill>
                  <a:srgbClr val="000000"/>
                </a:solidFill>
                <a:latin typeface="Arial"/>
              </a:rPr>
              <a:t> combines rolling the body with changing the swimming direction. Leahy and colleagues trained sea lions to complete 180° turns beneath an underwater viewing window.</a:t>
            </a:r>
          </a:p>
          <a:p>
            <a:pPr algn="l">
              <a:lnSpc>
                <a:spcPct val="108000"/>
              </a:lnSpc>
              <a:spcAft>
                <a:spcPts val="900"/>
              </a:spcAft>
            </a:pPr>
            <a:r>
              <a:rPr sz="1500" b="0" i="0">
                <a:solidFill>
                  <a:srgbClr val="000000"/>
                </a:solidFill>
                <a:latin typeface="Arial"/>
              </a:rPr>
              <a:t>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pPr algn="l">
              <a:lnSpc>
                <a:spcPct val="108000"/>
              </a:lnSpc>
              <a:spcAft>
                <a:spcPts val="900"/>
              </a:spcAft>
            </a:pPr>
            <a:r>
              <a:rPr sz="1500" b="0" i="0">
                <a:solidFill>
                  <a:srgbClr val="000000"/>
                </a:solidFill>
                <a:latin typeface="Arial"/>
              </a:rPr>
              <a:t>The hindflippers’ average </a:t>
            </a:r>
            <a:r>
              <a:rPr sz="1500" b="1" i="0">
                <a:solidFill>
                  <a:srgbClr val="3D525C"/>
                </a:solidFill>
                <a:latin typeface="Arial"/>
              </a:rPr>
              <a:t>angle of attack</a:t>
            </a:r>
            <a:r>
              <a:rPr sz="1500" b="0" i="0">
                <a:solidFill>
                  <a:srgbClr val="000000"/>
                </a:solidFill>
                <a:latin typeface="Arial"/>
              </a:rPr>
              <a:t>,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p:txBody>
      </p:sp>
      <p:pic>
        <p:nvPicPr>
          <p:cNvPr id="4" name="Picture 3" descr="Leahy2021_f3abcd.png"/>
          <p:cNvPicPr>
            <a:picLocks noChangeAspect="1"/>
          </p:cNvPicPr>
          <p:nvPr/>
        </p:nvPicPr>
        <p:blipFill>
          <a:blip r:embed="rId2"/>
          <a:stretch>
            <a:fillRect/>
          </a:stretch>
        </p:blipFill>
        <p:spPr>
          <a:xfrm>
            <a:off x="6501384" y="1723396"/>
            <a:ext cx="5120640" cy="942328"/>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3A, E, I. Successive stages of a sea-lion banking turn.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3. A trained sea lion executes a 180° left banking turn.</a:t>
            </a:r>
          </a:p>
        </p:txBody>
      </p:sp>
      <p:pic>
        <p:nvPicPr>
          <p:cNvPr id="10" name="Static video fallback" descr="JEB243020.MovieS3.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3.mp4" descr="Leahy et al. (2021), Movie 3. A trained sea lion executes a 180° left banking tur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Leaping alternates propulsion and body stabilization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Porpoising</a:t>
            </a:r>
            <a:r>
              <a:rPr sz="1600" b="0" i="0">
                <a:solidFill>
                  <a:srgbClr val="000000"/>
                </a:solidFill>
                <a:latin typeface="Arial"/>
              </a:rPr>
              <a:t>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pPr algn="l">
              <a:lnSpc>
                <a:spcPct val="108000"/>
              </a:lnSpc>
              <a:spcAft>
                <a:spcPts val="960"/>
              </a:spcAft>
            </a:pPr>
            <a:r>
              <a:rPr sz="1600" b="0" i="0">
                <a:solidFill>
                  <a:srgbClr val="000000"/>
                </a:solidFill>
                <a:latin typeface="Arial"/>
              </a:rPr>
              <a:t>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pPr algn="l">
              <a:lnSpc>
                <a:spcPct val="108000"/>
              </a:lnSpc>
              <a:spcAft>
                <a:spcPts val="960"/>
              </a:spcAft>
            </a:pPr>
            <a:r>
              <a:rPr sz="1600" b="0" i="0">
                <a:solidFill>
                  <a:srgbClr val="000000"/>
                </a:solidFill>
                <a:latin typeface="Arial"/>
              </a:rPr>
              <a:t>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p:txBody>
      </p:sp>
      <p:pic>
        <p:nvPicPr>
          <p:cNvPr id="4" name="Picture 3" descr="Leahy2021_f1.png"/>
          <p:cNvPicPr>
            <a:picLocks noChangeAspect="1"/>
          </p:cNvPicPr>
          <p:nvPr/>
        </p:nvPicPr>
        <p:blipFill>
          <a:blip r:embed="rId2"/>
          <a:stretch>
            <a:fillRect/>
          </a:stretch>
        </p:blipFill>
        <p:spPr>
          <a:xfrm>
            <a:off x="8133889" y="1234440"/>
            <a:ext cx="185562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1. Sea-lion hindflipper geometry and spread configuration.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1. A captive sea lion completes a porpoising bout.</a:t>
            </a:r>
          </a:p>
        </p:txBody>
      </p:sp>
      <p:pic>
        <p:nvPicPr>
          <p:cNvPr id="10" name="Static video fallback" descr="JEB243020.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1.mp4" descr="Leahy et al. (2021), Movie 1. A captive sea lion completes a porpoising bou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Wild porpoising retains the coordinated movement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pPr algn="l">
              <a:lnSpc>
                <a:spcPct val="108000"/>
              </a:lnSpc>
              <a:spcAft>
                <a:spcPts val="900"/>
              </a:spcAft>
            </a:pPr>
            <a:r>
              <a:rPr sz="1500" b="0" i="0">
                <a:solidFill>
                  <a:srgbClr val="000000"/>
                </a:solidFill>
                <a:latin typeface="Arial"/>
              </a:rPr>
              <a:t>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pPr algn="l">
              <a:lnSpc>
                <a:spcPct val="108000"/>
              </a:lnSpc>
              <a:spcAft>
                <a:spcPts val="900"/>
              </a:spcAft>
            </a:pPr>
            <a:r>
              <a:rPr sz="1500" b="0" i="0">
                <a:solidFill>
                  <a:srgbClr val="000000"/>
                </a:solidFill>
                <a:latin typeface="Arial"/>
              </a:rPr>
              <a:t>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p:txBody>
      </p:sp>
      <p:pic>
        <p:nvPicPr>
          <p:cNvPr id="4" name="Picture 3" descr="Leahy2021_f3ijkl.png"/>
          <p:cNvPicPr>
            <a:picLocks noChangeAspect="1"/>
          </p:cNvPicPr>
          <p:nvPr/>
        </p:nvPicPr>
        <p:blipFill>
          <a:blip r:embed="rId2"/>
          <a:stretch>
            <a:fillRect/>
          </a:stretch>
        </p:blipFill>
        <p:spPr>
          <a:xfrm>
            <a:off x="6501384" y="1690676"/>
            <a:ext cx="5120640" cy="1007767"/>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3D, H, L. Changing flipper configuration during a maneuver.</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2. Wild sea lions porpoise in Monterey Bay.</a:t>
            </a:r>
          </a:p>
        </p:txBody>
      </p:sp>
      <p:pic>
        <p:nvPicPr>
          <p:cNvPr id="10" name="Static video fallback" descr="JEB243020.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2.mp4" descr="Leahy et al. (2021), Movie 2. Wild sea lions porpoise in Monterey Bay.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Musical pulse guides movement beyond the training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pPr algn="l">
              <a:lnSpc>
                <a:spcPct val="108000"/>
              </a:lnSpc>
              <a:spcAft>
                <a:spcPts val="900"/>
              </a:spcAft>
            </a:pPr>
            <a:r>
              <a:rPr sz="1500" b="0" i="0">
                <a:solidFill>
                  <a:srgbClr val="000000"/>
                </a:solidFill>
                <a:latin typeface="Arial"/>
              </a:rPr>
              <a:t>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pPr algn="l">
              <a:lnSpc>
                <a:spcPct val="108000"/>
              </a:lnSpc>
              <a:spcAft>
                <a:spcPts val="900"/>
              </a:spcAft>
            </a:pPr>
            <a:r>
              <a:rPr sz="1500" b="0" i="0">
                <a:solidFill>
                  <a:srgbClr val="000000"/>
                </a:solidFill>
                <a:latin typeface="Arial"/>
              </a:rPr>
              <a:t>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Head-bob timing with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p:cNvPicPr>
            <a:picLocks noChangeAspect="1"/>
          </p:cNvPicPr>
          <p:nvPr/>
        </p:nvPicPr>
        <p:blipFill>
          <a:blip r:embed="rId2"/>
          <a:stretch>
            <a:fillRect/>
          </a:stretch>
        </p:blipFill>
        <p:spPr>
          <a:xfrm>
            <a:off x="7522463" y="1234440"/>
            <a:ext cx="3078480"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(2013), official UCSC study video. Ronan transfers trained synchronization to music.</a:t>
            </a:r>
          </a:p>
        </p:txBody>
      </p:sp>
      <p:pic>
        <p:nvPicPr>
          <p:cNvPr id="10" name="Static video fallback" descr="UCSC2013_Ronan_feature.png"/>
          <p:cNvPicPr>
            <a:picLocks noChangeAspect="1"/>
          </p:cNvPicPr>
          <p:nvPr/>
        </p:nvPicPr>
        <p:blipFill>
          <a:blip r:embed="rId4"/>
          <a:stretch>
            <a:fillRect/>
          </a:stretch>
        </p:blipFill>
        <p:spPr>
          <a:xfrm>
            <a:off x="7151624" y="3675887"/>
            <a:ext cx="3820160" cy="2148840"/>
          </a:xfrm>
          <a:prstGeom prst="rect">
            <a:avLst/>
          </a:prstGeom>
        </p:spPr>
      </p:pic>
      <p:pic>
        <p:nvPicPr>
          <p:cNvPr id="11" name="UCSC2013_Ronan_feature.mp4" descr="Cook et al. (2013), official UCSC study video. Ronan transfers trained synchronization to music.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525C"/>
                </a:solidFill>
                <a:latin typeface="Arial"/>
              </a:rPr>
              <a:t>phase perturbation</a:t>
            </a:r>
            <a:r>
              <a:rPr sz="1500" b="0" i="0">
                <a:solidFill>
                  <a:srgbClr val="000000"/>
                </a:solidFill>
                <a:latin typeface="Arial"/>
              </a:rPr>
              <a:t> shifts where the sound sequence falls in time while preserving its eventual repetition rate. A </a:t>
            </a:r>
            <a:r>
              <a:rPr sz="1500" b="1" i="0">
                <a:solidFill>
                  <a:srgbClr val="3D525C"/>
                </a:solidFill>
                <a:latin typeface="Arial"/>
              </a:rPr>
              <a:t>tempo perturbation</a:t>
            </a:r>
            <a:r>
              <a:rPr sz="15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00"/>
              </a:spcAft>
            </a:pPr>
            <a:r>
              <a:rPr sz="15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00"/>
              </a:spcAft>
            </a:pPr>
            <a:r>
              <a:rPr sz="1500" b="1" i="0">
                <a:solidFill>
                  <a:srgbClr val="3D525C"/>
                </a:solidFill>
                <a:latin typeface="Arial"/>
              </a:rPr>
              <a:t>Period</a:t>
            </a:r>
            <a:r>
              <a:rPr sz="1500" b="0" i="0">
                <a:solidFill>
                  <a:srgbClr val="000000"/>
                </a:solidFill>
                <a:latin typeface="Arial"/>
              </a:rPr>
              <a:t>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a:t>
            </a:r>
            <a:r>
              <a:rPr sz="1500" b="1" i="0">
                <a:solidFill>
                  <a:srgbClr val="3D525C"/>
                </a:solidFill>
                <a:latin typeface="Arial"/>
              </a:rPr>
              <a:t>oscillator</a:t>
            </a:r>
            <a:r>
              <a:rPr sz="1500" b="0" i="0">
                <a:solidFill>
                  <a:srgbClr val="000000"/>
                </a:solidFill>
                <a:latin typeface="Arial"/>
              </a:rPr>
              <a:t>. Transient behavior measures how ongoing coordination changes after an unexpected timing disturbance.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504127" y="1280160"/>
            <a:ext cx="5120640" cy="2296972"/>
          </a:xfrm>
          <a:prstGeom prst="rect">
            <a:avLst/>
          </a:prstGeom>
        </p:spPr>
      </p:pic>
      <p:sp>
        <p:nvSpPr>
          <p:cNvPr id="5" name="Figure caption"/>
          <p:cNvSpPr txBox="1"/>
          <p:nvPr/>
        </p:nvSpPr>
        <p:spPr>
          <a:xfrm>
            <a:off x="6504127" y="3668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7199975" y="1234440"/>
            <a:ext cx="372345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Persistent +15% interval change.</a:t>
            </a:r>
          </a:p>
        </p:txBody>
      </p:sp>
      <p:pic>
        <p:nvPicPr>
          <p:cNvPr id="10" name="Static video fallback" descr="Rouse_tempo.png"/>
          <p:cNvPicPr>
            <a:picLocks noChangeAspect="1"/>
          </p:cNvPicPr>
          <p:nvPr/>
        </p:nvPicPr>
        <p:blipFill>
          <a:blip r:embed="rId4"/>
          <a:stretch>
            <a:fillRect/>
          </a:stretch>
        </p:blipFill>
        <p:spPr>
          <a:xfrm>
            <a:off x="7150131" y="3675887"/>
            <a:ext cx="3823144" cy="2148840"/>
          </a:xfrm>
          <a:prstGeom prst="rect">
            <a:avLst/>
          </a:prstGeom>
        </p:spPr>
      </p:pic>
      <p:pic>
        <p:nvPicPr>
          <p:cNvPr id="11" name="Rouse_tempo.mp4" descr="Rouse et al. (2016), Video 1 excerpt. Persistent +15% interval chang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8223004" y="1234440"/>
            <a:ext cx="167739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+25% phase disturbance.</a:t>
            </a:r>
          </a:p>
        </p:txBody>
      </p:sp>
      <p:pic>
        <p:nvPicPr>
          <p:cNvPr id="10" name="Static video fallback" descr="Rouse_phase.png"/>
          <p:cNvPicPr>
            <a:picLocks noChangeAspect="1"/>
          </p:cNvPicPr>
          <p:nvPr/>
        </p:nvPicPr>
        <p:blipFill>
          <a:blip r:embed="rId4"/>
          <a:stretch>
            <a:fillRect/>
          </a:stretch>
        </p:blipFill>
        <p:spPr>
          <a:xfrm>
            <a:off x="7150131" y="3675887"/>
            <a:ext cx="3823144" cy="2148840"/>
          </a:xfrm>
          <a:prstGeom prst="rect">
            <a:avLst/>
          </a:prstGeom>
        </p:spPr>
      </p:pic>
      <p:pic>
        <p:nvPicPr>
          <p:cNvPr id="11" name="Rouse_phase.mp4" descr="Rouse et al. (2016), Video 1 excerpt. +25% phase disturbanc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8223004" y="1234440"/>
            <a:ext cx="167739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Video 1 excerpt. +25% interval change and extra nod.</a:t>
            </a:r>
          </a:p>
        </p:txBody>
      </p:sp>
      <p:pic>
        <p:nvPicPr>
          <p:cNvPr id="10" name="Static video fallback" descr="Rouse_doublebob.png"/>
          <p:cNvPicPr>
            <a:picLocks noChangeAspect="1"/>
          </p:cNvPicPr>
          <p:nvPr/>
        </p:nvPicPr>
        <p:blipFill>
          <a:blip r:embed="rId4"/>
          <a:stretch>
            <a:fillRect/>
          </a:stretch>
        </p:blipFill>
        <p:spPr>
          <a:xfrm>
            <a:off x="7150131" y="3675887"/>
            <a:ext cx="3823144" cy="2148840"/>
          </a:xfrm>
          <a:prstGeom prst="rect">
            <a:avLst/>
          </a:prstGeom>
        </p:spPr>
      </p:pic>
      <p:pic>
        <p:nvPicPr>
          <p:cNvPr id="11" name="Rouse_doublebob.mp4" descr="Rouse et al. (2016), Video 1 excerpt. +25% interval change and extra nod.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Sign order controls object-directed actions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Rocky, a California sea lion, learned hand signs that specified objects, their attributes, and actions. A standard instruction could designate a destination, pause, identify an object by modifiers, and request transport. </a:t>
            </a:r>
            <a:r>
              <a:rPr sz="1600" b="1" i="0">
                <a:solidFill>
                  <a:srgbClr val="3D525C"/>
                </a:solidFill>
                <a:latin typeface="Arial"/>
              </a:rPr>
              <a:t>Conditional discrimination</a:t>
            </a:r>
            <a:r>
              <a:rPr sz="1600" b="0" i="0">
                <a:solidFill>
                  <a:srgbClr val="000000"/>
                </a:solidFill>
                <a:latin typeface="Arial"/>
              </a:rPr>
              <a:t> means that the appropriate response depends on the preceding cues as well as the currently available objects.</a:t>
            </a:r>
          </a:p>
          <a:p>
            <a:pPr algn="l">
              <a:lnSpc>
                <a:spcPct val="108000"/>
              </a:lnSpc>
              <a:spcAft>
                <a:spcPts val="960"/>
              </a:spcAft>
            </a:pPr>
            <a:r>
              <a:rPr sz="1600" b="0" i="0">
                <a:solidFill>
                  <a:srgbClr val="000000"/>
                </a:solidFill>
                <a:latin typeface="Arial"/>
              </a:rPr>
              <a:t>Gisiner and Schusterman recorded orienting during each sign and the final action after a release cue. During 70 anomalous-order probes, 62 orienting responses followed the previously learned sequential rules. The final responses included 55 refusals to complete the command and 15 partial actions.</a:t>
            </a:r>
          </a:p>
          <a:p>
            <a:pPr algn="l">
              <a:lnSpc>
                <a:spcPct val="108000"/>
              </a:lnSpc>
              <a:spcAft>
                <a:spcPts val="960"/>
              </a:spcAft>
            </a:pPr>
            <a:r>
              <a:rPr sz="1600" b="0" i="0">
                <a:solidFill>
                  <a:srgbClr val="000000"/>
                </a:solidFill>
                <a:latin typeface="Arial"/>
              </a:rPr>
              <a:t>A modifier narrowed which object Rocky should select, whereas an action sign specified what to do with it. Reordering familiar signs changed the behavior despite retaining familiar components. The experiment connected learned cue order with visual search, waiting at the station, and object-directed movement.</a:t>
            </a:r>
          </a:p>
        </p:txBody>
      </p:sp>
      <p:pic>
        <p:nvPicPr>
          <p:cNvPr id="4" name="Picture 3" descr="Gisiner1992_f1.png"/>
          <p:cNvPicPr>
            <a:picLocks noChangeAspect="1"/>
          </p:cNvPicPr>
          <p:nvPr/>
        </p:nvPicPr>
        <p:blipFill>
          <a:blip r:embed="rId2"/>
          <a:stretch>
            <a:fillRect/>
          </a:stretch>
        </p:blipFill>
        <p:spPr>
          <a:xfrm>
            <a:off x="8098126" y="1234440"/>
            <a:ext cx="192715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Gisiner and Schusterman (1992), Fig. 1A–I. Rocky follows object, modifier, and action signs.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Gisiner and Schusterman (1992)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17.1 excerpt. Rocky follows the LARGE BALL, WATERWING, FETCH sequence.</a:t>
            </a:r>
          </a:p>
        </p:txBody>
      </p:sp>
      <p:pic>
        <p:nvPicPr>
          <p:cNvPr id="10" name="Static video fallback" descr="Rocky_commands.png"/>
          <p:cNvPicPr>
            <a:picLocks noChangeAspect="1"/>
          </p:cNvPicPr>
          <p:nvPr/>
        </p:nvPicPr>
        <p:blipFill>
          <a:blip r:embed="rId4"/>
          <a:stretch>
            <a:fillRect/>
          </a:stretch>
        </p:blipFill>
        <p:spPr>
          <a:xfrm>
            <a:off x="7151624" y="3675887"/>
            <a:ext cx="3820160" cy="2148840"/>
          </a:xfrm>
          <a:prstGeom prst="rect">
            <a:avLst/>
          </a:prstGeom>
        </p:spPr>
      </p:pic>
      <p:pic>
        <p:nvPicPr>
          <p:cNvPr id="11" name="Rocky_commands.mp4" descr="Cook et al. (2021), Video 17.1 excerpt. Rocky follows the LARGE BALL, WATERWING, FETCH sequenc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Identity matching transfers to unfamiliar shapes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Matching-to-sample</a:t>
            </a:r>
            <a:r>
              <a:rPr sz="1500" b="0" i="0">
                <a:solidFill>
                  <a:srgbClr val="000000"/>
                </a:solidFill>
                <a:latin typeface="Arial"/>
              </a:rPr>
              <a:t> is a choice task in which an initial sample determines the correct comparison. In identity matching, the correct comparison has the same appearance as the sample. Rocky and Rio viewed a sample for approximately 4 s before the two comparison windows opened; a release cue followed after another 2–4 s.</a:t>
            </a:r>
          </a:p>
          <a:p>
            <a:pPr algn="l">
              <a:lnSpc>
                <a:spcPct val="108000"/>
              </a:lnSpc>
              <a:spcAft>
                <a:spcPts val="900"/>
              </a:spcAft>
            </a:pPr>
            <a:r>
              <a:rPr sz="1500" b="0" i="0">
                <a:solidFill>
                  <a:srgbClr val="000000"/>
                </a:solidFill>
                <a:latin typeface="Arial"/>
              </a:rPr>
              <a:t>Kastak and Schusterman trained 15 two-stimulus problems and then tested 15 novel problems. Training required 90% correct choices over two consecutive sessions. Correct comparison positions were balanced between left and right, preventing a fixed side response from solving the task.</a:t>
            </a:r>
          </a:p>
          <a:p>
            <a:pPr algn="l">
              <a:lnSpc>
                <a:spcPct val="108000"/>
              </a:lnSpc>
              <a:spcAft>
                <a:spcPts val="900"/>
              </a:spcAft>
            </a:pPr>
            <a:r>
              <a:rPr sz="1500" b="0" i="0">
                <a:solidFill>
                  <a:srgbClr val="000000"/>
                </a:solidFill>
                <a:latin typeface="Arial"/>
              </a:rPr>
              <a:t>One sea lion met all transfer criteria on the second test and the other on the third. Both subsequently applied identity matching to stimuli learned previously under different arbitrary matching relations. The learned relationship between sample and choice could therefore guide action when the particular stimulus combination changed.</a:t>
            </a:r>
          </a:p>
        </p:txBody>
      </p:sp>
      <p:pic>
        <p:nvPicPr>
          <p:cNvPr id="4" name="Picture 3" descr="Kastak1994_f1.png"/>
          <p:cNvPicPr>
            <a:picLocks noChangeAspect="1"/>
          </p:cNvPicPr>
          <p:nvPr/>
        </p:nvPicPr>
        <p:blipFill>
          <a:blip r:embed="rId2"/>
          <a:stretch>
            <a:fillRect/>
          </a:stretch>
        </p:blipFill>
        <p:spPr>
          <a:xfrm>
            <a:off x="7053031" y="1234440"/>
            <a:ext cx="401734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Kastak and Schusterman (1994), Fig. 1. Six configurations used for visual identity matching.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Kastak and Schusterman (1994)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17.2 excerpt. Rio performs visual identity matching.</a:t>
            </a:r>
          </a:p>
        </p:txBody>
      </p:sp>
      <p:pic>
        <p:nvPicPr>
          <p:cNvPr id="10" name="Static video fallback" descr="Rio_identity.png"/>
          <p:cNvPicPr>
            <a:picLocks noChangeAspect="1"/>
          </p:cNvPicPr>
          <p:nvPr/>
        </p:nvPicPr>
        <p:blipFill>
          <a:blip r:embed="rId4"/>
          <a:stretch>
            <a:fillRect/>
          </a:stretch>
        </p:blipFill>
        <p:spPr>
          <a:xfrm>
            <a:off x="7151624" y="3675887"/>
            <a:ext cx="3820160" cy="2148840"/>
          </a:xfrm>
          <a:prstGeom prst="rect">
            <a:avLst/>
          </a:prstGeom>
        </p:spPr>
      </p:pic>
      <p:pic>
        <p:nvPicPr>
          <p:cNvPr id="11" name="Rio_identity.mp4" descr="Cook et al. (2021), Video 17.2 excerpt. Rio performs visual identity match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Shared outcomes organize learned stimulus classes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525C"/>
                </a:solidFill>
                <a:latin typeface="Arial"/>
              </a:rPr>
              <a:t>functional stimulus class</a:t>
            </a:r>
            <a:r>
              <a:rPr sz="1500" b="0" i="0">
                <a:solidFill>
                  <a:srgbClr val="000000"/>
                </a:solidFill>
                <a:latin typeface="Arial"/>
              </a:rPr>
              <a:t> contains different stimuli that acquire a shared behavioral role. Reichmuth Kastak and colleagues presented two sea lions with 20 visual patterns divided into two sets of 10. In simple discrimination sessions, one set produced correct choices and the other produced incorrect choices; reversing the assignment changed which set was rewarded.</a:t>
            </a:r>
          </a:p>
          <a:p>
            <a:pPr algn="l">
              <a:lnSpc>
                <a:spcPct val="108000"/>
              </a:lnSpc>
              <a:spcAft>
                <a:spcPts val="900"/>
              </a:spcAft>
            </a:pPr>
            <a:r>
              <a:rPr sz="1500" b="0" i="0">
                <a:solidFill>
                  <a:srgbClr val="000000"/>
                </a:solidFill>
                <a:latin typeface="Arial"/>
              </a:rPr>
              <a:t>Sessions contained 40 trials in four blocks of 10, with stimulus positions balanced between left and right. The animals acquired classes through repeated reversals, then transferred the class relationships to matching-to-sample. In that task, the sample determined which comparison belonged to the appropriate learned class.</a:t>
            </a:r>
          </a:p>
          <a:p>
            <a:pPr algn="l">
              <a:lnSpc>
                <a:spcPct val="108000"/>
              </a:lnSpc>
              <a:spcAft>
                <a:spcPts val="900"/>
              </a:spcAft>
            </a:pPr>
            <a:r>
              <a:rPr sz="1500" b="0" i="0">
                <a:solidFill>
                  <a:srgbClr val="000000"/>
                </a:solidFill>
                <a:latin typeface="Arial"/>
              </a:rPr>
              <a:t>Correct responses to the different classes produced class-specific fish reinforcers. Subsequent experiments related new patterns to established classes through these outcomes. Learning linked visual cues and expected consequences, allowing a nose-touch choice to depend on prior reinforcement relationships rather than physical resemblance alone.</a:t>
            </a:r>
          </a:p>
        </p:txBody>
      </p:sp>
      <p:pic>
        <p:nvPicPr>
          <p:cNvPr id="4" name="Picture 3" descr="Kastak2001_f1.png"/>
          <p:cNvPicPr>
            <a:picLocks noChangeAspect="1"/>
          </p:cNvPicPr>
          <p:nvPr/>
        </p:nvPicPr>
        <p:blipFill>
          <a:blip r:embed="rId2"/>
          <a:stretch>
            <a:fillRect/>
          </a:stretch>
        </p:blipFill>
        <p:spPr>
          <a:xfrm>
            <a:off x="8295777" y="1234440"/>
            <a:ext cx="1531852"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Reichmuth Kastak et al. (2001), Fig. 1. Rio performs simple and conditional visual discriminations.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Reichmuth Kastak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(2021), Video 17.3 excerpt. Rio chooses within a learned stimulus class.</a:t>
            </a:r>
          </a:p>
        </p:txBody>
      </p:sp>
      <p:pic>
        <p:nvPicPr>
          <p:cNvPr id="10" name="Static video fallback" descr="Rio_classes.png"/>
          <p:cNvPicPr>
            <a:picLocks noChangeAspect="1"/>
          </p:cNvPicPr>
          <p:nvPr/>
        </p:nvPicPr>
        <p:blipFill>
          <a:blip r:embed="rId4"/>
          <a:stretch>
            <a:fillRect/>
          </a:stretch>
        </p:blipFill>
        <p:spPr>
          <a:xfrm>
            <a:off x="7151624" y="3675887"/>
            <a:ext cx="3820160" cy="2148840"/>
          </a:xfrm>
          <a:prstGeom prst="rect">
            <a:avLst/>
          </a:prstGeom>
        </p:spPr>
      </p:pic>
      <p:pic>
        <p:nvPicPr>
          <p:cNvPr id="11" name="Rio_classes.mp4" descr="Cook et al. (2021), Video 17.3 excerpt. Rio chooses within a learned stimulus clas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Hama matches human actions beyond specific commands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Hama, a Steller sea lion, had already learned a repertoire of actions through hand signals and verbal commands. Sasaki and colleagues trained a </a:t>
            </a:r>
            <a:r>
              <a:rPr sz="1500" b="1" i="0">
                <a:solidFill>
                  <a:srgbClr val="3D525C"/>
                </a:solidFill>
                <a:latin typeface="Arial"/>
              </a:rPr>
              <a:t>do-as-I-do</a:t>
            </a:r>
            <a:r>
              <a:rPr sz="1500" b="0" i="0">
                <a:solidFill>
                  <a:srgbClr val="000000"/>
                </a:solidFill>
                <a:latin typeface="Arial"/>
              </a:rPr>
              <a:t> response, in which a human action becomes the model for the animal’s action. Demonstrating “stand,” a head movement, or a tongue action replaced the usual specific cue.</a:t>
            </a:r>
          </a:p>
          <a:p>
            <a:pPr algn="l">
              <a:lnSpc>
                <a:spcPct val="108000"/>
              </a:lnSpc>
              <a:spcAft>
                <a:spcPts val="900"/>
              </a:spcAft>
            </a:pPr>
            <a:r>
              <a:rPr sz="1500" b="0" i="0">
                <a:solidFill>
                  <a:srgbClr val="000000"/>
                </a:solidFill>
                <a:latin typeface="Arial"/>
              </a:rPr>
              <a:t>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pPr algn="l">
              <a:lnSpc>
                <a:spcPct val="108000"/>
              </a:lnSpc>
              <a:spcAft>
                <a:spcPts val="900"/>
              </a:spcAft>
            </a:pPr>
            <a:r>
              <a:rPr sz="1500" b="0" i="0">
                <a:solidFill>
                  <a:srgbClr val="000000"/>
                </a:solidFill>
                <a:latin typeface="Arial"/>
              </a:rPr>
              <a:t>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p:txBody>
      </p:sp>
      <p:pic>
        <p:nvPicPr>
          <p:cNvPr id="4" name="Picture 3" descr="Hama2025_f2.png"/>
          <p:cNvPicPr>
            <a:picLocks noChangeAspect="1"/>
          </p:cNvPicPr>
          <p:nvPr/>
        </p:nvPicPr>
        <p:blipFill>
          <a:blip r:embed="rId2"/>
          <a:stretch>
            <a:fillRect/>
          </a:stretch>
        </p:blipFill>
        <p:spPr>
          <a:xfrm>
            <a:off x="6846041" y="1234440"/>
            <a:ext cx="443132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2. Action matching with familiar and unfamiliar human demonstrators.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Sasaki et al. (2025), learned-command recording excerpt. Hama responds to familiar vocal and hand cues.</a:t>
            </a:r>
          </a:p>
        </p:txBody>
      </p:sp>
      <p:pic>
        <p:nvPicPr>
          <p:cNvPr id="10" name="Static video fallback" descr="Hama_commands.png"/>
          <p:cNvPicPr>
            <a:picLocks noChangeAspect="1"/>
          </p:cNvPicPr>
          <p:nvPr/>
        </p:nvPicPr>
        <p:blipFill>
          <a:blip r:embed="rId4"/>
          <a:stretch>
            <a:fillRect/>
          </a:stretch>
        </p:blipFill>
        <p:spPr>
          <a:xfrm>
            <a:off x="7151624" y="3675887"/>
            <a:ext cx="3820160" cy="2148840"/>
          </a:xfrm>
          <a:prstGeom prst="rect">
            <a:avLst/>
          </a:prstGeom>
        </p:spPr>
      </p:pic>
      <p:pic>
        <p:nvPicPr>
          <p:cNvPr id="11" name="Hama_commands.mp4" descr="Sasaki et al. (2025), learned-command recording excerpt. Hama responds to familiar vocal and hand cu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Go cue separates remembering from immediate copying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 a second procedure, Hama watched a complete human demonstration while remaining still, then acted upon the verbal cue “Go.” </a:t>
            </a:r>
            <a:r>
              <a:rPr sz="1500" b="1" i="0">
                <a:solidFill>
                  <a:srgbClr val="3D525C"/>
                </a:solidFill>
                <a:latin typeface="Arial"/>
              </a:rPr>
              <a:t>Response inhibition</a:t>
            </a:r>
            <a:r>
              <a:rPr sz="1500" b="0" i="0">
                <a:solidFill>
                  <a:srgbClr val="000000"/>
                </a:solidFill>
                <a:latin typeface="Arial"/>
              </a:rPr>
              <a:t> is withholding an action that would otherwise occur. Learning to wait changed her earlier history of moving simultaneously with human demonstrations.</a:t>
            </a:r>
          </a:p>
          <a:p>
            <a:pPr algn="l">
              <a:lnSpc>
                <a:spcPct val="108000"/>
              </a:lnSpc>
              <a:spcAft>
                <a:spcPts val="900"/>
              </a:spcAft>
            </a:pPr>
            <a:r>
              <a:rPr sz="1500" b="0" i="0">
                <a:solidFill>
                  <a:srgbClr val="000000"/>
                </a:solidFill>
                <a:latin typeface="Arial"/>
              </a:rPr>
              <a:t>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pPr algn="l">
              <a:lnSpc>
                <a:spcPct val="108000"/>
              </a:lnSpc>
              <a:spcAft>
                <a:spcPts val="900"/>
              </a:spcAft>
            </a:pPr>
            <a:r>
              <a:rPr sz="1500" b="0" i="0">
                <a:solidFill>
                  <a:srgbClr val="000000"/>
                </a:solidFill>
                <a:latin typeface="Arial"/>
              </a:rPr>
              <a:t>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p:txBody>
      </p:sp>
      <p:pic>
        <p:nvPicPr>
          <p:cNvPr id="4" name="Picture 3" descr="Hama2025_f5.png"/>
          <p:cNvPicPr>
            <a:picLocks noChangeAspect="1"/>
          </p:cNvPicPr>
          <p:nvPr/>
        </p:nvPicPr>
        <p:blipFill>
          <a:blip r:embed="rId2"/>
          <a:stretch>
            <a:fillRect/>
          </a:stretch>
        </p:blipFill>
        <p:spPr>
          <a:xfrm>
            <a:off x="6504127" y="1280160"/>
            <a:ext cx="5120640" cy="2750728"/>
          </a:xfrm>
          <a:prstGeom prst="rect">
            <a:avLst/>
          </a:prstGeom>
        </p:spPr>
      </p:pic>
      <p:sp>
        <p:nvSpPr>
          <p:cNvPr id="5" name="Figure caption"/>
          <p:cNvSpPr txBox="1"/>
          <p:nvPr/>
        </p:nvSpPr>
        <p:spPr>
          <a:xfrm>
            <a:off x="6504127" y="412232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5. Visual barriers used after the human demonstration.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Missing beats distinguish prediction from isolated reactions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pPr algn="l">
              <a:lnSpc>
                <a:spcPct val="108000"/>
              </a:lnSpc>
              <a:spcAft>
                <a:spcPts val="960"/>
              </a:spcAft>
            </a:pPr>
            <a:r>
              <a:rPr sz="1600" b="0" i="0">
                <a:solidFill>
                  <a:srgbClr val="000000"/>
                </a:solidFill>
                <a:latin typeface="Arial"/>
              </a:rPr>
              <a:t>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pPr algn="l">
              <a:lnSpc>
                <a:spcPct val="108000"/>
              </a:lnSpc>
              <a:spcAft>
                <a:spcPts val="960"/>
              </a:spcAft>
            </a:pPr>
            <a:r>
              <a:rPr sz="1600" b="0" i="0">
                <a:solidFill>
                  <a:srgbClr val="000000"/>
                </a:solidFill>
                <a:latin typeface="Arial"/>
              </a:rPr>
              <a:t>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omitted clicks.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Sound onsets and movement minima share a time base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pPr algn="l">
              <a:lnSpc>
                <a:spcPct val="108000"/>
              </a:lnSpc>
              <a:spcAft>
                <a:spcPts val="960"/>
              </a:spcAft>
            </a:pPr>
            <a:r>
              <a:rPr sz="1600" b="0" i="0">
                <a:solidFill>
                  <a:srgbClr val="000000"/>
                </a:solidFill>
                <a:latin typeface="Arial"/>
              </a:rPr>
              <a:t>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pPr algn="l">
              <a:lnSpc>
                <a:spcPct val="108000"/>
              </a:lnSpc>
              <a:spcAft>
                <a:spcPts val="960"/>
              </a:spcAft>
            </a:pPr>
            <a:r>
              <a:rPr sz="1600" b="0" i="0">
                <a:solidFill>
                  <a:srgbClr val="000000"/>
                </a:solidFill>
                <a:latin typeface="Arial"/>
              </a:rPr>
              <a:t>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p:txBody>
      </p:sp>
      <p:pic>
        <p:nvPicPr>
          <p:cNvPr id="4" name="Picture 3" descr="PMC12045976_f1.png"/>
          <p:cNvPicPr>
            <a:picLocks noChangeAspect="1"/>
          </p:cNvPicPr>
          <p:nvPr/>
        </p:nvPicPr>
        <p:blipFill>
          <a:blip r:embed="rId2"/>
          <a:stretch>
            <a:fillRect/>
          </a:stretch>
        </p:blipFill>
        <p:spPr>
          <a:xfrm>
            <a:off x="8290433" y="1234440"/>
            <a:ext cx="154254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aligned with recorded sound onsets.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(2025), ESM 2 excerpt. Ronan’s first exposure to 112 bpm snare beats.</a:t>
            </a:r>
          </a:p>
        </p:txBody>
      </p:sp>
      <p:pic>
        <p:nvPicPr>
          <p:cNvPr id="10" name="Static video fallback" descr="Cook2025_Ronan112.png"/>
          <p:cNvPicPr>
            <a:picLocks noChangeAspect="1"/>
          </p:cNvPicPr>
          <p:nvPr/>
        </p:nvPicPr>
        <p:blipFill>
          <a:blip r:embed="rId4"/>
          <a:stretch>
            <a:fillRect/>
          </a:stretch>
        </p:blipFill>
        <p:spPr>
          <a:xfrm>
            <a:off x="8021108" y="3675887"/>
            <a:ext cx="2081191" cy="2148840"/>
          </a:xfrm>
          <a:prstGeom prst="rect">
            <a:avLst/>
          </a:prstGeom>
        </p:spPr>
      </p:pic>
      <p:pic>
        <p:nvPicPr>
          <p:cNvPr id="11" name="Cook2025_Ronan112.mp4" descr="Cook et al. (2025), ESM 2 excerpt. Ronan’s first exposure to 112 bpm snare beat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8021108" y="3675887"/>
            <a:ext cx="2081191"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7558994" y="1234440"/>
            <a:ext cx="3005418"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(2025), ESM 2 excerpt. Matched sea-lion head and human arm movements.</a:t>
            </a:r>
          </a:p>
        </p:txBody>
      </p:sp>
      <p:pic>
        <p:nvPicPr>
          <p:cNvPr id="10" name="Static video fallback" descr="Cook2025_comparison.png"/>
          <p:cNvPicPr>
            <a:picLocks noChangeAspect="1"/>
          </p:cNvPicPr>
          <p:nvPr/>
        </p:nvPicPr>
        <p:blipFill>
          <a:blip r:embed="rId4"/>
          <a:stretch>
            <a:fillRect/>
          </a:stretch>
        </p:blipFill>
        <p:spPr>
          <a:xfrm>
            <a:off x="7151624" y="3675887"/>
            <a:ext cx="3820160" cy="2148840"/>
          </a:xfrm>
          <a:prstGeom prst="rect">
            <a:avLst/>
          </a:prstGeom>
        </p:spPr>
      </p:pic>
      <p:pic>
        <p:nvPicPr>
          <p:cNvPr id="11" name="Cook2025_comparison.mp4" descr="Cook et al. (2025), ESM 2 excerpt. Matched sea-lion head and human arm movement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Sensory organization</a:t>
            </a:r>
            <a:r>
              <a:rPr sz="1600" b="0" i="0">
                <a:solidFill>
                  <a:srgbClr val="000000"/>
                </a:solidFill>
                <a:latin typeface="Arial"/>
              </a:rPr>
              <a:t> Facial information enters trigeminal brainstem relays, a large medial thalamic subdivision, and a layer-4-rich somatosensory cortical region.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control</a:t>
            </a:r>
            <a:r>
              <a:rPr sz="1600" b="0" i="0">
                <a:solidFill>
                  <a:srgbClr val="000000"/>
                </a:solidFill>
                <a:latin typeface="Arial"/>
              </a:rPr>
              <a:t> Sea lions adjust whisker movements to the discrimination task, and reposition their flippers during turns and leaps.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Learned cues</a:t>
            </a:r>
            <a:r>
              <a:rPr sz="1600" b="0" i="0">
                <a:solidFill>
                  <a:srgbClr val="000000"/>
                </a:solidFill>
                <a:latin typeface="Arial"/>
              </a:rPr>
              <a:t> A command can initiate exploration or specify when to act; Hama retained a demonstrated action across a delayed Go cue and visual occlusion.</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correction</a:t>
            </a:r>
            <a:r>
              <a:rPr sz="1600" b="0" i="0">
                <a:solidFill>
                  <a:srgbClr val="000000"/>
                </a:solidFill>
                <a:latin typeface="Arial"/>
              </a:rPr>
              <a:t> Ronan continued through omitted beats and corrected ongoing movement after changes in beat position or tempo.</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in a matched gross-movement task; rat recordings identify a separate candidate adaptation process.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 Milne et al. (2021); Sasaki et al. (2025); Cook et al. (2013, 2025);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brain/neuro anatomy/organization, rhythmic entrainment, auditory–motor coordination, learned commands, and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