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1523/JNEUROSCI.5779-11.2012"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038/nn1613"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038/nn1613"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038/nn1613"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038/nn1613"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038/nn1613"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038/nn1613"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523/JNEUROSCI.5779-11.2012"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523/JNEUROSCI.5779-11.2012" TargetMode="External"/><Relationship Id="rId4" Type="http://schemas.openxmlformats.org/officeDocument/2006/relationships/hyperlink" Target="https://doi.org/10.1038/nn1613"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523/JNEUROSCI.5779-11.2012"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7554/eLife.15325"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7554/eLife.15325" TargetMode="External"/><Relationship Id="rId4" Type="http://schemas.openxmlformats.org/officeDocument/2006/relationships/hyperlink" Target="https://doi.org/10.1038/nn1613"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7554/eLife.15325"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7554/eLife.15325"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7554/eLife.15325"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7554/eLife.15325" TargetMode="External"/><Relationship Id="rId4" Type="http://schemas.openxmlformats.org/officeDocument/2006/relationships/hyperlink" Target="https://doi.org/10.1038/nn1613"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7554/eLife.15325"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7554/eLife.15325"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7554/eLife.15325"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073/pnas.0908620106"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073/pnas.0908620106"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073/pnas.0908620106"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073/pnas.0908620106"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073/pnas.0908620106"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016/j.cub.2022.01.014" TargetMode="External"/><Relationship Id="rId4" Type="http://schemas.openxmlformats.org/officeDocument/2006/relationships/hyperlink" Target="https://doi.org/10.1038/nn1613"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016/j.cub.2022.01.014" TargetMode="External"/><Relationship Id="rId4" Type="http://schemas.openxmlformats.org/officeDocument/2006/relationships/hyperlink" Target="https://doi.org/10.1038/nn161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016/j.cub.2022.01.014"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016/j.cub.2022.01.014" TargetMode="External"/><Relationship Id="rId4" Type="http://schemas.openxmlformats.org/officeDocument/2006/relationships/hyperlink" Target="https://doi.org/10.1038/nn1613"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016/j.cub.2022.01.014" TargetMode="External"/><Relationship Id="rId4" Type="http://schemas.openxmlformats.org/officeDocument/2006/relationships/hyperlink" Target="https://doi.org/10.1038/nn1613"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016/j.cub.2022.01.014"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016/j.cub.2023.12.041" TargetMode="External"/><Relationship Id="rId4" Type="http://schemas.openxmlformats.org/officeDocument/2006/relationships/hyperlink" Target="https://doi.org/10.1038/nn1613"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016/j.cub.2023.12.041" TargetMode="External"/><Relationship Id="rId4" Type="http://schemas.openxmlformats.org/officeDocument/2006/relationships/hyperlink" Target="https://doi.org/10.1038/nn1613"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016/j.cub.2023.12.041"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016/j.cub.2023.12.041"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016/j.cub.2023.12.041" TargetMode="External"/><Relationship Id="rId4" Type="http://schemas.openxmlformats.org/officeDocument/2006/relationships/hyperlink" Target="https://doi.org/10.1038/nn1613"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038/s42003-022-04274-z"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038/s42003-022-04274-z"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016/j.yhbeh.2023.105351" TargetMode="External"/><Relationship Id="rId4" Type="http://schemas.openxmlformats.org/officeDocument/2006/relationships/hyperlink" Target="https://doi.org/10.1038/nn1613"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016/j.yhbeh.2023.105351" TargetMode="External"/><Relationship Id="rId4" Type="http://schemas.openxmlformats.org/officeDocument/2006/relationships/hyperlink" Target="https://doi.org/10.1038/nn1613"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016/j.yhbeh.2023.105351"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016/j.biopsych.2020.11.022" TargetMode="External"/><Relationship Id="rId4" Type="http://schemas.openxmlformats.org/officeDocument/2006/relationships/hyperlink" Target="https://doi.org/10.1038/nn1613"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016/j.biopsych.2020.11.022" TargetMode="External"/><Relationship Id="rId4" Type="http://schemas.openxmlformats.org/officeDocument/2006/relationships/hyperlink" Target="https://doi.org/10.1038/nn1613"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7554/eLife.80517"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7554/eLife.80517" TargetMode="External"/><Relationship Id="rId4" Type="http://schemas.openxmlformats.org/officeDocument/2006/relationships/hyperlink" Target="https://doi.org/10.1038/nn1613"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7554/eLife.80517" TargetMode="External"/><Relationship Id="rId4" Type="http://schemas.openxmlformats.org/officeDocument/2006/relationships/hyperlink" Target="https://doi.org/10.1038/nn1613"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038/nn1613" TargetMode="External"/><Relationship Id="rId4" Type="http://schemas.openxmlformats.org/officeDocument/2006/relationships/hyperlink" Target="https://doi.org/10.7554/eLife.15325" TargetMode="External"/><Relationship Id="rId5" Type="http://schemas.openxmlformats.org/officeDocument/2006/relationships/hyperlink" Target="https://doi.org/10.1073/pnas.0908620106" TargetMode="External"/><Relationship Id="rId6" Type="http://schemas.openxmlformats.org/officeDocument/2006/relationships/hyperlink" Target="https://doi.org/10.1016/j.cub.2022.01.014" TargetMode="External"/><Relationship Id="rId7" Type="http://schemas.openxmlformats.org/officeDocument/2006/relationships/hyperlink" Target="https://doi.org/10.1016/j.cub.2023.12.041" TargetMode="External"/><Relationship Id="rId8" Type="http://schemas.openxmlformats.org/officeDocument/2006/relationships/hyperlink" Target="https://doi.org/10.1016/j.yhbeh.2023.105351" TargetMode="External"/><Relationship Id="rId9" Type="http://schemas.openxmlformats.org/officeDocument/2006/relationships/hyperlink" Target="https://doi.org/10.7554/eLife.80517"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Prairie voles II: mate guarding, selective aggression, and neural mechanisms supporting the maintenance of established pair bonds</a:t>
            </a:r>
          </a:p>
          <a:p>
            <a:r>
              <a:rPr sz="1200">
                <a:latin typeface="Arial"/>
              </a:rPr>
              <a:t>Lecture 58. NEUR 411 · NEUROETHOLOGY · FALL 2026. Date TBD.</a:t>
            </a:r>
          </a:p>
          <a:p/>
          <a:p>
            <a:r>
              <a:rPr sz="1200">
                <a:latin typeface="Arial"/>
              </a:rPr>
              <a:t>Figure: Resendez et al. (2012), Fig. 2(C). Affiliative contact between prairie voles.</a:t>
            </a:r>
          </a:p>
          <a:p>
            <a:r>
              <a:rPr sz="1200">
                <a:latin typeface="Arial"/>
              </a:rPr>
              <a:t>Figure source: </a:t>
            </a:r>
            <a:r>
              <a:rPr sz="1200">
                <a:latin typeface="Arial"/>
                <a:hlinkClick r:id="rId3"/>
              </a:rPr>
              <a:t>https://doi.org/10.1523/JNEUROSCI.5779-11.2012</a:t>
            </a:r>
          </a:p>
          <a:p/>
          <a:p>
            <a:r>
              <a:rPr sz="1200">
                <a:latin typeface="Arial"/>
              </a:rPr>
              <a:t>References:</a:t>
            </a:r>
          </a:p>
          <a:p>
            <a:r>
              <a:rPr sz="1200">
                <a:latin typeface="Arial"/>
              </a:rPr>
              <a:t>Shanna L. Resendez, Morgan Kuhnmuench, Tarin Krzywosinski, Brandon J. Aragona (2012). κ-Opioid Receptors within the Nucleus Accumbens Shell Mediate Pair Bond Maintenance. The Journal of Neuroscience 32: 6771-6784. </a:t>
            </a:r>
            <a:r>
              <a:rPr sz="1200">
                <a:latin typeface="Arial"/>
                <a:hlinkClick r:id="rId3"/>
              </a:rPr>
              <a:t>https://doi.org/10.1523/JNEUROSCI.5779-11.2012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prairie vole pair bond is a durable, selective relationship with a particular mating partner. Aragona and colleagues compared male voles housed with male siblings with males that had lived with a female for two weeks. A female intruder was then introduced into the resident’s cage.</a:t>
            </a:r>
          </a:p>
          <a:p>
            <a:r>
              <a:rPr sz="1200">
                <a:latin typeface="Arial"/>
              </a:rPr>
              <a:t>• Bonded males attacked unfamiliar females but remained affiliative toward their own partners. Affiliation included approaching and huddling, or sustained side-by-side bodily contact. Sexually naive males investigated unfamiliar females without the intense aggression expressed by bonded residents.</a:t>
            </a:r>
          </a:p>
          <a:p>
            <a:r>
              <a:rPr sz="1200">
                <a:latin typeface="Arial"/>
              </a:rPr>
              <a:t>• Selective aggression therefore means that the response depends on the identity of the encountered animal. The same bonded male can accept his partner and reject another potential mate. This behavioral transformation links an established social relationship with the exclusion of unfamiliar animals.</a:t>
            </a:r>
          </a:p>
          <a:p/>
          <a:p>
            <a:r>
              <a:rPr sz="1200">
                <a:latin typeface="Arial"/>
              </a:rPr>
              <a:t>References:</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3"/>
              </a:rPr>
              <a:t>https://doi.org/10.1038/nn1613</a:t>
            </a:r>
          </a:p>
          <a:p/>
          <a:p>
            <a:r>
              <a:rPr sz="1200">
                <a:latin typeface="Arial"/>
              </a:rPr>
              <a:t>Figure: Aragona et al. (2006), Fig. 5(a,b). Aggression and affiliation toward partner and stranger.</a:t>
            </a:r>
          </a:p>
          <a:p>
            <a:r>
              <a:rPr sz="1200">
                <a:latin typeface="Arial"/>
              </a:rPr>
              <a:t>Figure source: </a:t>
            </a:r>
            <a:r>
              <a:rPr sz="1200">
                <a:latin typeface="Arial"/>
                <a:hlinkClick r:id="rId3"/>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partner preference test measures how a vole distributes contact between a familiar partner and an unfamiliar animal. Both stimulus animals are tethered in separate compartments, while the subject moves freely. Contact is recorded during a three-hour session rather than inferred from a single approach.</a:t>
            </a:r>
          </a:p>
          <a:p>
            <a:r>
              <a:rPr sz="1200">
                <a:latin typeface="Arial"/>
              </a:rPr>
              <a:t>• Aragona and colleagues used six hours of cohabitation without mating as a condition that ordinarily produced no partner preference. In contrast, 24 hours with mating produced preferential partner contact. The familiar animal’s identity becomes associated with a selective affiliative response.</a:t>
            </a:r>
          </a:p>
          <a:p>
            <a:r>
              <a:rPr sz="1200">
                <a:latin typeface="Arial"/>
              </a:rPr>
              <a:t>• A preference test measures affiliation, whereas a resident-intruder test measures responses to an animal entering the home cage. Testing both behaviors distinguishes attraction to the partner from rejection of strangers, two complementary components of maintaining a selective relationship.</a:t>
            </a:r>
          </a:p>
          <a:p/>
          <a:p>
            <a:r>
              <a:rPr sz="1200">
                <a:latin typeface="Arial"/>
              </a:rPr>
              <a:t>References:</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3"/>
              </a:rPr>
              <a:t>https://doi.org/10.1038/nn1613</a:t>
            </a:r>
          </a:p>
          <a:p/>
          <a:p>
            <a:r>
              <a:rPr sz="1200">
                <a:latin typeface="Arial"/>
              </a:rPr>
              <a:t>Figure: Aragona et al. (2006), Fig. 1(a,b). Partner-contact time after shell or core injections.</a:t>
            </a:r>
          </a:p>
          <a:p>
            <a:r>
              <a:rPr sz="1200">
                <a:latin typeface="Arial"/>
              </a:rPr>
              <a:t>Figure source: </a:t>
            </a:r>
            <a:r>
              <a:rPr sz="1200">
                <a:latin typeface="Arial"/>
                <a:hlinkClick r:id="rId3"/>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nucleus accumbens, a ventral striatal structure involved in motivated behavior, contains distinguishable core and shell territories. Aragona and colleagues placed small injections into different territories and verified their locations in brain sections, connecting each pharmacological manipulation to its anatomical target.</a:t>
            </a:r>
          </a:p>
          <a:p>
            <a:r>
              <a:rPr sz="1200">
                <a:latin typeface="Arial"/>
              </a:rPr>
              <a:t>• The D2-like receptor agonist quinpirole induced partner preferences when delivered into the rostral shell. The effective dose included 0.04 ng. Delivery into the core or a more caudal shell location did not produce the same selective affiliation after six hours of nonmating cohabitation.</a:t>
            </a:r>
          </a:p>
          <a:p>
            <a:r>
              <a:rPr sz="1200">
                <a:latin typeface="Arial"/>
              </a:rPr>
              <a:t>• Rostral means toward the front of the brain; caudal means toward the rear. The anatomical comparison localizes dopamine-dependent preference formation within a heterogeneous structure. Dopamine’s behavioral effect depends on where its receptors are activated, rather than simply on a brain-wide increase in the transmitter.</a:t>
            </a:r>
          </a:p>
          <a:p/>
          <a:p>
            <a:r>
              <a:rPr sz="1200">
                <a:latin typeface="Arial"/>
              </a:rPr>
              <a:t>References:</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3"/>
              </a:rPr>
              <a:t>https://doi.org/10.1038/nn1613</a:t>
            </a:r>
          </a:p>
          <a:p/>
          <a:p>
            <a:r>
              <a:rPr sz="1200">
                <a:latin typeface="Arial"/>
              </a:rPr>
              <a:t>Figure: Aragona et al. (2006), Fig. 2(a–d). Histological locations of accumbens injections.</a:t>
            </a:r>
          </a:p>
          <a:p>
            <a:r>
              <a:rPr sz="1200">
                <a:latin typeface="Arial"/>
              </a:rPr>
              <a:t>Figure source: </a:t>
            </a:r>
            <a:r>
              <a:rPr sz="1200">
                <a:latin typeface="Arial"/>
                <a:hlinkClick r:id="rId3"/>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Quinpirole-induced preference was prevented by coadministration of the D1-like agonist SKF 38393 or the D2-like antagonist eticlopride. An agonist activates a receptor; an antagonist blocks its activation. Blocking D1-like receptors while stimulating D2-like receptors preserved a robust preference.</a:t>
            </a:r>
          </a:p>
          <a:p>
            <a:r>
              <a:rPr sz="1200">
                <a:latin typeface="Arial"/>
              </a:rPr>
              <a:t>• Dopamine receptors are membrane proteins that translate dopamine binding into intracellular signaling. D1-like and D2-like receptors belong to different receptor families. In this preparation, activating D2-like receptors promoted selective partner contact, while activating D1-like receptors opposed that response.</a:t>
            </a:r>
          </a:p>
          <a:p>
            <a:r>
              <a:rPr sz="1200">
                <a:latin typeface="Arial"/>
              </a:rPr>
              <a:t>• D1-like activation also blocked the preference normally produced by 24 hours of mating, while mating bouts remained comparable between groups. The receptor manipulation therefore changed the affiliative outcome of social experience. Formation of a preference depends on the balance between receptor systems within the rostral shell.</a:t>
            </a:r>
          </a:p>
          <a:p/>
          <a:p>
            <a:r>
              <a:rPr sz="1200">
                <a:latin typeface="Arial"/>
              </a:rPr>
              <a:t>References:</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3"/>
              </a:rPr>
              <a:t>https://doi.org/10.1038/nn1613</a:t>
            </a:r>
          </a:p>
          <a:p/>
          <a:p>
            <a:r>
              <a:rPr sz="1200">
                <a:latin typeface="Arial"/>
              </a:rPr>
              <a:t>Figure: Aragona et al. (2006), Fig. 3(a,b). Opposing receptor manipulations during preference formation.</a:t>
            </a:r>
          </a:p>
          <a:p>
            <a:r>
              <a:rPr sz="1200">
                <a:latin typeface="Arial"/>
              </a:rPr>
              <a:t>Figure source: </a:t>
            </a:r>
            <a:r>
              <a:rPr sz="1200">
                <a:latin typeface="Arial"/>
                <a:hlinkClick r:id="rId3"/>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increase occurred in accumbens core and shell, while the comparison region, the caudate putamen, lacked the same increase. D2-like binding remained similar between groups. Exposure to a female for only 24 hours, with or without mating, did not produce the two-week D1-like binding pattern.</a:t>
            </a:r>
          </a:p>
          <a:p>
            <a:r>
              <a:rPr sz="1200">
                <a:latin typeface="Arial"/>
              </a:rPr>
              <a:t>• After two weeks of cohabitation resulting in pregnancy, male prairie voles had approximately 60% greater D1-like receptor binding in the nucleus accumbens than sexually naive controls. Receptor autoradiography uses a radiolabeled ligand to locate and quantify binding sites in tissue sections.</a:t>
            </a:r>
          </a:p>
          <a:p>
            <a:r>
              <a:rPr sz="1200">
                <a:latin typeface="Arial"/>
              </a:rPr>
              <a:t>• A partner preference can therefore appear before this longer-term receptor reorganization. The later increase supplies a biological change associated with established bonds and stranger rejection. Individual binding values also varied, so the population-level change contains differences among bonded animals rather than an identical response in every male.</a:t>
            </a:r>
          </a:p>
          <a:p/>
          <a:p>
            <a:r>
              <a:rPr sz="1200">
                <a:latin typeface="Arial"/>
              </a:rPr>
              <a:t>References:</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3"/>
              </a:rPr>
              <a:t>https://doi.org/10.1038/nn1613</a:t>
            </a:r>
          </a:p>
          <a:p/>
          <a:p>
            <a:r>
              <a:rPr sz="1200">
                <a:latin typeface="Arial"/>
              </a:rPr>
              <a:t>Figure: Aragona et al. (2006), Fig. 4(a–c). Receptor autoradiography after two weeks of pairing.</a:t>
            </a:r>
          </a:p>
          <a:p>
            <a:r>
              <a:rPr sz="1200">
                <a:latin typeface="Arial"/>
              </a:rPr>
              <a:t>Figure source: </a:t>
            </a:r>
            <a:r>
              <a:rPr sz="1200">
                <a:latin typeface="Arial"/>
                <a:hlinkClick r:id="rId3"/>
              </a:rPr>
              <a:t>https://doi.org/10.1038/nn1613</a:t>
            </a:r>
          </a:p>
          <a:p/>
          <a:p>
            <a:r>
              <a:rPr sz="1200">
                <a:latin typeface="Arial"/>
              </a:rPr>
              <a:t>Figure: Aragona et al. (2006), Fig. 2(a,b). Rostral accumbens core and shell landmarks.</a:t>
            </a:r>
          </a:p>
          <a:p>
            <a:r>
              <a:rPr sz="1200">
                <a:latin typeface="Arial"/>
              </a:rPr>
              <a:t>Figure source: </a:t>
            </a:r>
            <a:r>
              <a:rPr sz="1200">
                <a:latin typeface="Arial"/>
                <a:hlinkClick r:id="rId3"/>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D1-like receptor blockade abolished the high aggression normally directed toward the stranger. D2-like blockade left selective aggression intact. The investigators also measured open-field movement and social investigation, and the reduced aggression was not explained by a general loss of locomotor activity.</a:t>
            </a:r>
          </a:p>
          <a:p>
            <a:r>
              <a:rPr sz="1200">
                <a:latin typeface="Arial"/>
              </a:rPr>
              <a:t>• Aragona and colleagues injected receptor antagonists into the nucleus accumbens of males already bonded for two weeks. They then introduced an unfamiliar female during a resident-intruder test. This timing tested the expression of established stranger rejection, rather than the initial acquisition of a preference.</a:t>
            </a:r>
          </a:p>
          <a:p>
            <a:r>
              <a:rPr sz="1200">
                <a:latin typeface="Arial"/>
              </a:rPr>
              <a:t>• The maintenance-associated response therefore depends on active D1-like signaling when the stranger is encountered. Combined with the binding increase, the intervention connects social experience, receptor reorganization and an observable defensive behavior. A receptor system that opposes initial preference formation later supports rejection of alternative social partners.</a:t>
            </a:r>
          </a:p>
          <a:p/>
          <a:p>
            <a:r>
              <a:rPr sz="1200">
                <a:latin typeface="Arial"/>
              </a:rPr>
              <a:t>References:</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3"/>
              </a:rPr>
              <a:t>https://doi.org/10.1038/nn1613</a:t>
            </a:r>
          </a:p>
          <a:p/>
          <a:p>
            <a:r>
              <a:rPr sz="1200">
                <a:latin typeface="Arial"/>
              </a:rPr>
              <a:t>Figure: Aragona et al. (2006), Fig. 5(a,b). Receptor blockade during a resident-intruder test.</a:t>
            </a:r>
          </a:p>
          <a:p>
            <a:r>
              <a:rPr sz="1200">
                <a:latin typeface="Arial"/>
              </a:rPr>
              <a:t>Figure source: </a:t>
            </a:r>
            <a:r>
              <a:rPr sz="1200">
                <a:latin typeface="Arial"/>
                <a:hlinkClick r:id="rId3"/>
              </a:rPr>
              <a:t>https://doi.org/10.1038/nn1613</a:t>
            </a:r>
          </a:p>
          <a:p/>
          <a:p>
            <a:r>
              <a:rPr sz="1200">
                <a:latin typeface="Arial"/>
              </a:rPr>
              <a:t>Figure: Aragona et al. (2006), Fig. 2(a,b). Rostral accumbens core and shell landmarks.</a:t>
            </a:r>
          </a:p>
          <a:p>
            <a:r>
              <a:rPr sz="1200">
                <a:latin typeface="Arial"/>
              </a:rPr>
              <a:t>Figure source: </a:t>
            </a:r>
            <a:r>
              <a:rPr sz="1200">
                <a:latin typeface="Arial"/>
                <a:hlinkClick r:id="rId3"/>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Kappa-opioid receptors, abbreviated KORs, respond to the endogenous opioid peptide dynorphin. Resendez and colleagues tested their contribution to aggressive rejection in bonded prairie voles. The study scored attacks and affiliative contact separately during encounters with unfamiliar animals.</a:t>
            </a:r>
          </a:p>
          <a:p>
            <a:r>
              <a:rPr sz="1200">
                <a:latin typeface="Arial"/>
              </a:rPr>
              <a:t>• Aggression includes biting and lunging, whereas affiliation includes sustained side-by-side contact. Both male and female bonded voles expressed stranger-directed aggression, providing a basis for testing whether opioid signaling contributed to maintenance in both sexes rather than only in males.</a:t>
            </a:r>
          </a:p>
          <a:p>
            <a:r>
              <a:rPr sz="1200">
                <a:latin typeface="Arial"/>
              </a:rPr>
              <a:t>• Opioid receptor subtypes have different behavioral functions. The study compared kappa and mu receptor manipulations rather than treating all opioid signaling as equivalent. This distinction connects a specific receptor system with the aversive component of an established relationship while preserving affiliation as a separately measured social behavior.</a:t>
            </a:r>
          </a:p>
          <a:p/>
          <a:p>
            <a:r>
              <a:rPr sz="1200">
                <a:latin typeface="Arial"/>
              </a:rPr>
              <a:t>References:</a:t>
            </a:r>
          </a:p>
          <a:p>
            <a:r>
              <a:rPr sz="1200">
                <a:latin typeface="Arial"/>
              </a:rPr>
              <a:t>Shanna L. Resendez, Morgan Kuhnmuench, Tarin Krzywosinski, Brandon J. Aragona (2012). κ-Opioid Receptors within the Nucleus Accumbens Shell Mediate Pair Bond Maintenance. The Journal of Neuroscience 32: 6771-6784. </a:t>
            </a:r>
            <a:r>
              <a:rPr sz="1200">
                <a:latin typeface="Arial"/>
                <a:hlinkClick r:id="rId3"/>
              </a:rPr>
              <a:t>https://doi.org/10.1523/JNEUROSCI.5779-11.2012</a:t>
            </a:r>
          </a:p>
          <a:p/>
          <a:p>
            <a:r>
              <a:rPr sz="1200">
                <a:latin typeface="Arial"/>
              </a:rPr>
              <a:t>Figure: Resendez et al. (2012), Fig. 2(A–D). Published photographs of aggression and affiliation.</a:t>
            </a:r>
          </a:p>
          <a:p>
            <a:r>
              <a:rPr sz="1200">
                <a:latin typeface="Arial"/>
              </a:rPr>
              <a:t>Figure source: </a:t>
            </a:r>
            <a:r>
              <a:rPr sz="1200">
                <a:latin typeface="Arial"/>
                <a:hlinkClick r:id="rId3"/>
              </a:rPr>
              <a:t>https://doi.org/10.1523/JNEUROSCI.5779-11.2012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Blocking KORs in the nucleus accumbens shell reduced attack behavior in both males and females. The same intervention did not produce an equivalent reduction at all comparison sites. Affiliation and locomotion were measured alongside aggression, helping identify the behavioral function affected by the receptor blockade.</a:t>
            </a:r>
          </a:p>
          <a:p>
            <a:r>
              <a:rPr sz="1200">
                <a:latin typeface="Arial"/>
              </a:rPr>
              <a:t>• Resendez and colleagues administered nor-binaltorphimine, a kappa-opioid receptor antagonist, into striatal subregions of pair-bonded prairie voles. Artificial cerebrospinal fluid supplied the local vehicle control. Subjects then encountered a same-sex unfamiliar intruder in a ten-minute behavioral test.</a:t>
            </a:r>
          </a:p>
          <a:p>
            <a:r>
              <a:rPr sz="1200">
                <a:latin typeface="Arial"/>
              </a:rPr>
              <a:t>• The shell thus participates in a receptor-specific mechanism of stranger rejection. In females, core KOR blockade instead increased aggression, emphasizing that neighboring territories can have different effects. Pair-bond defense is organized by the anatomical location and receptor subtype of the manipulated signal.</a:t>
            </a:r>
          </a:p>
          <a:p/>
          <a:p>
            <a:r>
              <a:rPr sz="1200">
                <a:latin typeface="Arial"/>
              </a:rPr>
              <a:t>References:</a:t>
            </a:r>
          </a:p>
          <a:p>
            <a:r>
              <a:rPr sz="1200">
                <a:latin typeface="Arial"/>
              </a:rPr>
              <a:t>Shanna L. Resendez, Morgan Kuhnmuench, Tarin Krzywosinski, Brandon J. Aragona (2012). κ-Opioid Receptors within the Nucleus Accumbens Shell Mediate Pair Bond Maintenance. The Journal of Neuroscience 32: 6771-6784. </a:t>
            </a:r>
            <a:r>
              <a:rPr sz="1200">
                <a:latin typeface="Arial"/>
                <a:hlinkClick r:id="rId3"/>
              </a:rPr>
              <a:t>https://doi.org/10.1523/JNEUROSCI.5779-11.2012</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Resendez et al. (2012), Fig. 7(A–H). Site-specific kappa blockade and social behavior.</a:t>
            </a:r>
          </a:p>
          <a:p>
            <a:r>
              <a:rPr sz="1200">
                <a:latin typeface="Arial"/>
              </a:rPr>
              <a:t>Figure source: </a:t>
            </a:r>
            <a:r>
              <a:rPr sz="1200">
                <a:latin typeface="Arial"/>
                <a:hlinkClick r:id="rId3"/>
              </a:rPr>
              <a:t>https://doi.org/10.1523/JNEUROSCI.5779-11.2012</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local infusion can alter behavior only if the relevant neural tissue receives the drug. Resendez and colleagues reconstructed injection locations in sections and compared shell placements with placements in the accumbens core and other striatal or pallidal regions.</a:t>
            </a:r>
          </a:p>
          <a:p>
            <a:r>
              <a:rPr sz="1200">
                <a:latin typeface="Arial"/>
              </a:rPr>
              <a:t>• The shell is anatomically distinguishable from the core and the ventral pallidum. Histological localization placed the effective aggression-reducing injections within shell tissue, whereas injections into adjacent territories produced different behavioral outcomes.</a:t>
            </a:r>
          </a:p>
          <a:p>
            <a:r>
              <a:rPr sz="1200">
                <a:latin typeface="Arial"/>
              </a:rPr>
              <a:t>• Anatomical verification strengthens the connection between KOR activation and a localized maintenance-associated response. The distinction is particularly consequential because core blockade had a different effect in females. A regional circuit account must preserve these site differences instead of assigning one behavioral function to the entire accumbens.</a:t>
            </a:r>
          </a:p>
          <a:p/>
          <a:p>
            <a:r>
              <a:rPr sz="1200">
                <a:latin typeface="Arial"/>
              </a:rPr>
              <a:t>References:</a:t>
            </a:r>
          </a:p>
          <a:p>
            <a:r>
              <a:rPr sz="1200">
                <a:latin typeface="Arial"/>
              </a:rPr>
              <a:t>Shanna L. Resendez, Morgan Kuhnmuench, Tarin Krzywosinski, Brandon J. Aragona (2012). κ-Opioid Receptors within the Nucleus Accumbens Shell Mediate Pair Bond Maintenance. The Journal of Neuroscience 32: 6771-6784. </a:t>
            </a:r>
            <a:r>
              <a:rPr sz="1200">
                <a:latin typeface="Arial"/>
                <a:hlinkClick r:id="rId3"/>
              </a:rPr>
              <a:t>https://doi.org/10.1523/JNEUROSCI.5779-11.2012</a:t>
            </a:r>
          </a:p>
          <a:p/>
          <a:p>
            <a:r>
              <a:rPr sz="1200">
                <a:latin typeface="Arial"/>
              </a:rPr>
              <a:t>Figure: Resendez et al. (2012), Fig. 6(A–G). Verified positions of shell, core and pallidal injections.</a:t>
            </a:r>
          </a:p>
          <a:p>
            <a:r>
              <a:rPr sz="1200">
                <a:latin typeface="Arial"/>
              </a:rPr>
              <a:t>Figure source: </a:t>
            </a:r>
            <a:r>
              <a:rPr sz="1200">
                <a:latin typeface="Arial"/>
                <a:hlinkClick r:id="rId3"/>
              </a:rPr>
              <a:t>https://doi.org/10.1523/JNEUROSCI.5779-11.2012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Resendez and colleagues paired sexually naive males with a female for one hour, too briefly to create a reliable partner preference in vehicle controls. Before pairing, experimental males received 1 μg of the KOR agonist U50,488 within the nucleus accumbens shell.</a:t>
            </a:r>
          </a:p>
          <a:p>
            <a:r>
              <a:rPr sz="1200">
                <a:latin typeface="Arial"/>
              </a:rPr>
              <a:t>• During the later social-choice test, agonist-treated males avoided the female encountered during receptor activation and preferred the unfamiliar female. They also spent less time in the familiar female’s compartment. Total contact with the two females remained similar to that of controls.</a:t>
            </a:r>
          </a:p>
          <a:p>
            <a:r>
              <a:rPr sz="1200">
                <a:latin typeface="Arial"/>
              </a:rPr>
              <a:t>• The intervention changed how social contact was distributed rather than eliminating social motivation. Valence describes the positive or negative value assigned to a stimulus. The authors’ hypothesis is that KOR-dependent negative social valuation contributes to rejection of animals outside an established bond.</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p>
            <a:r>
              <a:rPr sz="1200">
                <a:latin typeface="Arial"/>
              </a:rPr>
              <a:t>Figure: Resendez et al. (2016), Fig. 1(a–e). Social pairing with local KOR activation.</a:t>
            </a:r>
          </a:p>
          <a:p>
            <a:r>
              <a:rPr sz="1200">
                <a:latin typeface="Arial"/>
              </a:rPr>
              <a:t>Figure source: </a:t>
            </a:r>
            <a:r>
              <a:rPr sz="1200">
                <a:latin typeface="Arial"/>
                <a:hlinkClick r:id="rId3"/>
              </a:rPr>
              <a:t>https://doi.org/10.7554/eLife.15325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Messenger RNA, or mRNA, carries a gene’s information toward protein production. Resendez and colleagues used quantitative reverse-transcription measurements to compare dopamine and opioid-related transcripts after two weeks of opposite-sex cohabitation with those in sibling-housed voles.</a:t>
            </a:r>
          </a:p>
          <a:p>
            <a:r>
              <a:rPr sz="1200">
                <a:latin typeface="Arial"/>
              </a:rPr>
              <a:t>• In the ventral striatum, both bonded males and females had higher expression of Drd1, the gene encoding a D1 receptor, and Pdyn, the gene encoding the dynorphin precursor. The comparison separated ventral from dorsal striatal tissue, retaining the anatomical organization of the molecular change.</a:t>
            </a:r>
          </a:p>
          <a:p>
            <a:r>
              <a:rPr sz="1200">
                <a:latin typeface="Arial"/>
              </a:rPr>
              <a:t>• These coordinated changes supply a molecular association between dopamine receptor signaling and the endogenous ligand for KORs. Higher Drd1 and Pdyn expression associates the bonded state with both dopamine reception and production of the peptide that activates KORs.</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Resendez et al. (2016), Fig. 2(a–d). Regional dopamine and opioid gene expression.</a:t>
            </a:r>
          </a:p>
          <a:p>
            <a:r>
              <a:rPr sz="1200">
                <a:latin typeface="Arial"/>
              </a:rPr>
              <a:t>Figure source: </a:t>
            </a:r>
            <a:r>
              <a:rPr sz="1200">
                <a:latin typeface="Arial"/>
                <a:hlinkClick r:id="rId3"/>
              </a:rPr>
              <a:t>https://doi.org/10.7554/eLife.15325</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investigators measured kappa-opioid receptor binding after comparing the genes associated with bonding. Autoradiography sampled striatal territories in sibling-housed and pair-bonded males and females, allowing molecular expression and receptor-binding patterns to be assessed separately.</a:t>
            </a:r>
          </a:p>
          <a:p>
            <a:r>
              <a:rPr sz="1200">
                <a:latin typeface="Arial"/>
              </a:rPr>
              <a:t>• Bonded males had lower KOR binding in portions of the accumbens shell than nonpaired males. Females did not exhibit the same bonding-associated reduction. Before bonding, males had higher binding in several ventral striatal territories; after pairing, those sex differences were reduced.</a:t>
            </a:r>
          </a:p>
          <a:p>
            <a:r>
              <a:rPr sz="1200">
                <a:latin typeface="Arial"/>
              </a:rPr>
              <a:t>• Increasing dynorphin-related transcription can therefore accompany a decrease in measured receptor binding. Receptor number, ligand production and physiological sensitivity are different features of a signaling system. Bonded males can have fewer measured binding sites while expressing stronger KOR-mediated suppression of dopamine release.</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p>
            <a:r>
              <a:rPr sz="1200">
                <a:latin typeface="Arial"/>
              </a:rPr>
              <a:t>Figure: Resendez et al. (2016), Fig. 3(a–d). Original striatal KOR autoradiographs and binding values.</a:t>
            </a:r>
          </a:p>
          <a:p>
            <a:r>
              <a:rPr sz="1200">
                <a:latin typeface="Arial"/>
              </a:rPr>
              <a:t>Figure source: </a:t>
            </a:r>
            <a:r>
              <a:rPr sz="1200">
                <a:latin typeface="Arial"/>
                <a:hlinkClick r:id="rId3"/>
              </a:rPr>
              <a:t>https://doi.org/10.7554/eLife.15325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Fast-scan cyclic voltammetry detects rapid dopamine concentration changes with a carbon-fiber electrode. Resendez and colleagues applied electrical stimulation to prairie vole brain slices and compared responses in dorsal striatum, accumbens core and accumbens shell.</a:t>
            </a:r>
          </a:p>
          <a:p>
            <a:r>
              <a:rPr sz="1200">
                <a:latin typeface="Arial"/>
              </a:rPr>
              <a:t>• A single stimulus pulse produced the largest dopamine release in dorsal striatum and smaller release in the ventral territories. A 20-pulse stimulation increased release more strongly relative to the single-pulse response in the shell than in the dorsal region.</a:t>
            </a:r>
          </a:p>
          <a:p>
            <a:r>
              <a:rPr sz="1200">
                <a:latin typeface="Arial"/>
              </a:rPr>
              <a:t>• The relative amplification connects the shell’s dopamine signal with the temporal pattern of neural input. Brief isolated activation and burst-like stimulation need not recruit the same amount of transmitter. This physiological organization supplies a way for changing activity to alter receptor recruitment within a behaviorally relevant subregion.</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p>
            <a:r>
              <a:rPr sz="1200">
                <a:latin typeface="Arial"/>
              </a:rPr>
              <a:t>Figure: Resendez et al. (2016), Fig. 4(a–i). Original voltammetric maps and striatal release measurements.</a:t>
            </a:r>
          </a:p>
          <a:p>
            <a:r>
              <a:rPr sz="1200">
                <a:latin typeface="Arial"/>
              </a:rPr>
              <a:t>Figure source: </a:t>
            </a:r>
            <a:r>
              <a:rPr sz="1200">
                <a:latin typeface="Arial"/>
                <a:hlinkClick r:id="rId3"/>
              </a:rPr>
              <a:t>https://doi.org/10.7554/eLife.15325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single stimulus pulse produced greater dopamine release in the accumbens shell of bonded males and females. The average increase was 34% in males and 99% in females. The dorsal striatum and accumbens core did not exhibit the corresponding bonding-associated increase.</a:t>
            </a:r>
          </a:p>
          <a:p>
            <a:r>
              <a:rPr sz="1200">
                <a:latin typeface="Arial"/>
              </a:rPr>
              <a:t>• After two weeks of pairing, the investigators compared electrically evoked dopamine release in bonded and nonpaired animals. Identical stimulation and recording procedures separated changes associated with social history from changes caused by using different physiological preparations.</a:t>
            </a:r>
          </a:p>
          <a:p>
            <a:r>
              <a:rPr sz="1200">
                <a:latin typeface="Arial"/>
              </a:rPr>
              <a:t>• The release change adds a physiological component to the increase in D1-related transcription. More dopamine becomes available within the territory whose receptors regulate selective aggression. Females had a larger relative release increase, although transmitter dynamics and attack intensity followed different sex-specific patterns.</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p>
            <a:r>
              <a:rPr sz="1200">
                <a:latin typeface="Arial"/>
              </a:rPr>
              <a:t>Figure: Resendez et al. (2016), Fig. 5(a–h). Dopamine release in nonpaired and pair-bonded slices.</a:t>
            </a:r>
          </a:p>
          <a:p>
            <a:r>
              <a:rPr sz="1200">
                <a:latin typeface="Arial"/>
              </a:rPr>
              <a:t>Figure source: </a:t>
            </a:r>
            <a:r>
              <a:rPr sz="1200">
                <a:latin typeface="Arial"/>
                <a:hlinkClick r:id="rId3"/>
              </a:rPr>
              <a:t>https://doi.org/10.7554/eLife.15325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Males from pairs with earlier-established pregnancies displayed more aggression than males from pairs with delayed pregnancies. The same reproductive classification did not produce an equivalent difference in females. Dopamine release in the male accumbens shell also varied with the pair’s reproductive condition.</a:t>
            </a:r>
          </a:p>
          <a:p>
            <a:r>
              <a:rPr sz="1200">
                <a:latin typeface="Arial"/>
              </a:rPr>
              <a:t>• Fecundity refers to reproductive output or potential. Resendez and colleagues classified paired animals by the progress of pregnancy after two weeks of cohabitation, using offspring weight to estimate the timing of mating and fertilization relative to the start of pairing.</a:t>
            </a:r>
          </a:p>
          <a:p>
            <a:r>
              <a:rPr sz="1200">
                <a:latin typeface="Arial"/>
              </a:rPr>
              <a:t>• For males, greater shell dopamine release accompanied greater attack frequency. These relationships connect established reproductive investment with defensive behavior and a candidate physiological mechanism. The female results retain a different organization: bonding-related dopamine changes occurred without the same dependence on pregnancy timing.</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Resendez et al. (2016), Fig. 6(a–h). Fecundity, selective aggression and shell dopamine release.</a:t>
            </a:r>
          </a:p>
          <a:p>
            <a:r>
              <a:rPr sz="1200">
                <a:latin typeface="Arial"/>
              </a:rPr>
              <a:t>Figure source: </a:t>
            </a:r>
            <a:r>
              <a:rPr sz="1200">
                <a:latin typeface="Arial"/>
                <a:hlinkClick r:id="rId3"/>
              </a:rPr>
              <a:t>https://doi.org/10.7554/eLife.15325</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interaction between dopamine and opioid signaling was tested directly in brain slices. The investigators applied the KOR agonist BRL 5237 while measuring electrically evoked dopamine release in the nucleus accumbens shell with fast-scan cyclic voltammetry.</a:t>
            </a:r>
          </a:p>
          <a:p>
            <a:r>
              <a:rPr sz="1200">
                <a:latin typeface="Arial"/>
              </a:rPr>
              <a:t>• KOR activation reduced dopamine release in nonpaired animals. After bonding, this inhibitory modulation became stronger in males, while females did not show the same change. Concentration-response measurements therefore distinguished receptor sensitivity from the amount of receptor binding measured in tissue sections.</a:t>
            </a:r>
          </a:p>
          <a:p>
            <a:r>
              <a:rPr sz="1200">
                <a:latin typeface="Arial"/>
              </a:rPr>
              <a:t>• A reduction in male KOR binding can coexist with stronger functional inhibition of dopamine release. Binding and physiological suppression therefore describe different properties of the receptor system. This feedback supplies an additional route by which the dopamine–dynorphin system adjusts transmitter availability within the shell after bonding.</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p>
            <a:r>
              <a:rPr sz="1200">
                <a:latin typeface="Arial"/>
              </a:rPr>
              <a:t>Figure: Resendez et al. (2016), Fig. 7(a–j). KOR agonist effects on evoked shell dopamine.</a:t>
            </a:r>
          </a:p>
          <a:p>
            <a:r>
              <a:rPr sz="1200">
                <a:latin typeface="Arial"/>
              </a:rPr>
              <a:t>Figure source: </a:t>
            </a:r>
            <a:r>
              <a:rPr sz="1200">
                <a:latin typeface="Arial"/>
                <a:hlinkClick r:id="rId3"/>
              </a:rPr>
              <a:t>https://doi.org/10.7554/eLife.15325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investigators combined receptor manipulations in males already bonded for two weeks. A D1-like antagonist within the accumbens shell reduced attack frequency and increased the delay before attacking an unfamiliar intruder, reproducing the maintenance-associated role of D1 signaling.</a:t>
            </a:r>
          </a:p>
          <a:p>
            <a:r>
              <a:rPr sz="1200">
                <a:latin typeface="Arial"/>
              </a:rPr>
              <a:t>• When a KOR agonist was administered together with the D1-like antagonist, attack frequency and latency returned toward the control pattern. Activating KORs could therefore restore aggression even while the upstream dopamine receptor manipulation suppressed D1-like signaling.</a:t>
            </a:r>
          </a:p>
          <a:p>
            <a:r>
              <a:rPr sz="1200">
                <a:latin typeface="Arial"/>
              </a:rPr>
              <a:t>• This pharmacological rescue supports the authors’ hypothesis that D1-dependent social defense recruits downstream dynorphin/KOR signaling. A rescue experiment tests pathway organization by restoring a candidate downstream function during upstream blockade. The reciprocal manipulation left aggression suppressed when KORs were blocked, even with concurrent D1-like activation.</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p>
            <a:r>
              <a:rPr sz="1200">
                <a:latin typeface="Arial"/>
              </a:rPr>
              <a:t>Figure: Resendez et al. (2016), Fig. 9(b,d,e). Male injection sites, attacks and attack latency.</a:t>
            </a:r>
          </a:p>
          <a:p>
            <a:r>
              <a:rPr sz="1200">
                <a:latin typeface="Arial"/>
              </a:rPr>
              <a:t>Figure source: </a:t>
            </a:r>
            <a:r>
              <a:rPr sz="1200">
                <a:latin typeface="Arial"/>
                <a:hlinkClick r:id="rId3"/>
              </a:rPr>
              <a:t>https://doi.org/10.7554/eLife.15325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That combination left attack frequency reduced and attack latency increased relative to paired controls. The overall rescue pattern was shared by males and females: KOR activation bypassed D1 blockade, whereas D1 activation did not bypass KOR blockade. Affiliation and locomotor behavior remained comparable across the manipulation groups.</a:t>
            </a:r>
          </a:p>
          <a:p>
            <a:r>
              <a:rPr sz="1200">
                <a:latin typeface="Arial"/>
              </a:rPr>
              <a:t>• The reciprocal combination tested whether D1-like activation could restore aggression when KORs were blocked. Resendez and colleagues infused a D1-like agonist together with a KOR antagonist into the accumbens shell of bonded animals before the intruder encounter.</a:t>
            </a:r>
          </a:p>
          <a:p>
            <a:r>
              <a:rPr sz="1200">
                <a:latin typeface="Arial"/>
              </a:rPr>
              <a:t>• The direction of rescue places KOR signaling downstream in the proposed functional pathway. Dopamine and dynorphin therefore contribute through an organized interaction rather than two interchangeable signals. Shared pathway organization can support selective aggression in both sexes despite their different receptor-binding and release adaptations.</a:t>
            </a:r>
          </a:p>
          <a:p/>
          <a:p>
            <a:r>
              <a:rPr sz="1200">
                <a:latin typeface="Arial"/>
              </a:rPr>
              <a:t>References:</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3"/>
              </a:rPr>
              <a:t>https://doi.org/10.7554/eLife.15325</a:t>
            </a:r>
          </a:p>
          <a:p/>
          <a:p>
            <a:r>
              <a:rPr sz="1200">
                <a:latin typeface="Arial"/>
              </a:rPr>
              <a:t>Figure: Resendez et al. (2016), Fig. 9(c,f,g). Female injection sites and combined receptor manipulations.</a:t>
            </a:r>
          </a:p>
          <a:p>
            <a:r>
              <a:rPr sz="1200">
                <a:latin typeface="Arial"/>
              </a:rPr>
              <a:t>Figure source: </a:t>
            </a:r>
            <a:r>
              <a:rPr sz="1200">
                <a:latin typeface="Arial"/>
                <a:hlinkClick r:id="rId3"/>
              </a:rPr>
              <a:t>https://doi.org/10.7554/eLife.15325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Arginine vasopressin, or AVP, is a neuropeptide that modulates social responses through membrane receptors. Gobrogge and colleagues examined the anterior hypothalamus, a forebrain region implicated in aggression, in males that had lived with a female partner for two weeks.</a:t>
            </a:r>
          </a:p>
          <a:p>
            <a:r>
              <a:rPr sz="1200">
                <a:latin typeface="Arial"/>
              </a:rPr>
              <a:t>• During a resident-intruder encounter, bonded males were aggressive toward an unfamiliar female but affiliative toward their partner. Microdialysis sampled extracellular fluid from the anterior hypothalamus, and an immunological assay measured vasopressin in those samples.</a:t>
            </a:r>
          </a:p>
          <a:p>
            <a:r>
              <a:rPr sz="1200">
                <a:latin typeface="Arial"/>
              </a:rPr>
              <a:t>• The first ten minutes of stranger interaction were accompanied by greater vasopressin release than partner interaction. Across the hour-long encounter, vasopressin concentrations increased with aggression and decreased with affiliation. The local peptide signal therefore tracked the identity-dependent social response expressed by the resident.</a:t>
            </a:r>
          </a:p>
          <a:p/>
          <a:p>
            <a:r>
              <a:rPr sz="1200">
                <a:latin typeface="Arial"/>
              </a:rPr>
              <a:t>References:</a:t>
            </a:r>
          </a:p>
          <a:p>
            <a:r>
              <a:rPr sz="1200">
                <a:latin typeface="Arial"/>
              </a:rPr>
              <a:t>Kyle L. Gobrogge, Yan Liu, Larry J. Young, Zuoxin Wang (2009). Anterior hypothalamic vasopressin regulates pair-bonding and drug-induced aggression in a monogamous rodent. Proceedings of the National Academy of Sciences 106: 19144-19149. </a:t>
            </a:r>
            <a:r>
              <a:rPr sz="1200">
                <a:latin typeface="Arial"/>
                <a:hlinkClick r:id="rId3"/>
              </a:rPr>
              <a:t>https://doi.org/10.1073/pnas.0908620106</a:t>
            </a:r>
          </a:p>
          <a:p/>
          <a:p>
            <a:r>
              <a:rPr sz="1200">
                <a:latin typeface="Arial"/>
              </a:rPr>
              <a:t>Figure: Gobrogge et al. (2009), Fig. 2(A–D). V1a and oxytocin receptor binding in original brain sections.</a:t>
            </a:r>
          </a:p>
          <a:p>
            <a:r>
              <a:rPr sz="1200">
                <a:latin typeface="Arial"/>
              </a:rPr>
              <a:t>Figure source: </a:t>
            </a:r>
            <a:r>
              <a:rPr sz="1200">
                <a:latin typeface="Arial"/>
                <a:hlinkClick r:id="rId3"/>
              </a:rPr>
              <a:t>https://doi.org/10.1073/pnas.0908620106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Gobrogge and colleagues tested vasopressin’s action by infusing it directly into the anterior hypothalamus of sexually naive males. Each side received a 200 nL injection, while vehicle-treated animals provided a control for the procedure and fluid delivery.</a:t>
            </a:r>
          </a:p>
          <a:p>
            <a:r>
              <a:rPr sz="1200">
                <a:latin typeface="Arial"/>
              </a:rPr>
              <a:t>• A dose of 500 ng per side induced aggression toward a novel female, whereas 5 ng per side did not produce that increase. Coadministration of a V1a receptor antagonist blocked the peptide-induced aggression. Misplaced injections supplied an anatomical comparison and were ineffective.</a:t>
            </a:r>
          </a:p>
          <a:p>
            <a:r>
              <a:rPr sz="1200">
                <a:latin typeface="Arial"/>
              </a:rPr>
              <a:t>• V1a receptors are a vasopressin-sensitive receptor subtype. The paired agonist and antagonist experiments connect the local peptide effect to this receptor rather than to injection alone. Artificially recruiting the pathway can generate an aggressive response in males without the preceding two-week bonding experience.</a:t>
            </a:r>
          </a:p>
          <a:p/>
          <a:p>
            <a:r>
              <a:rPr sz="1200">
                <a:latin typeface="Arial"/>
              </a:rPr>
              <a:t>References:</a:t>
            </a:r>
          </a:p>
          <a:p>
            <a:r>
              <a:rPr sz="1200">
                <a:latin typeface="Arial"/>
              </a:rPr>
              <a:t>Kyle L. Gobrogge, Yan Liu, Larry J. Young, Zuoxin Wang (2009). Anterior hypothalamic vasopressin regulates pair-bonding and drug-induced aggression in a monogamous rodent. Proceedings of the National Academy of Sciences 106: 19144-19149. </a:t>
            </a:r>
            <a:r>
              <a:rPr sz="1200">
                <a:latin typeface="Arial"/>
                <a:hlinkClick r:id="rId3"/>
              </a:rPr>
              <a:t>https://doi.org/10.1073/pnas.0908620106</a:t>
            </a:r>
          </a:p>
          <a:p/>
          <a:p>
            <a:r>
              <a:rPr sz="1200">
                <a:latin typeface="Arial"/>
              </a:rPr>
              <a:t>Figure: Gobrogge et al. (2009), Fig. 2(A–D). Hypothalamic receptor-binding anatomy.</a:t>
            </a:r>
          </a:p>
          <a:p>
            <a:r>
              <a:rPr sz="1200">
                <a:latin typeface="Arial"/>
              </a:rPr>
              <a:t>Figure source: </a:t>
            </a:r>
            <a:r>
              <a:rPr sz="1200">
                <a:latin typeface="Arial"/>
                <a:hlinkClick r:id="rId3"/>
              </a:rPr>
              <a:t>https://doi.org/10.1073/pnas.0908620106</a:t>
            </a:r>
          </a:p>
          <a:p/>
          <a:p>
            <a:r>
              <a:rPr sz="1200">
                <a:latin typeface="Arial"/>
              </a:rPr>
              <a:t>Figure: Gobrogge et al. (2009), Fig. 1(A–H). Microdialysis results and local receptor interventions.</a:t>
            </a:r>
          </a:p>
          <a:p>
            <a:r>
              <a:rPr sz="1200">
                <a:latin typeface="Arial"/>
              </a:rPr>
              <a:t>Figure source: </a:t>
            </a:r>
            <a:r>
              <a:rPr sz="1200">
                <a:latin typeface="Arial"/>
                <a:hlinkClick r:id="rId3"/>
              </a:rPr>
              <a:t>https://doi.org/10.1073/pnas.0908620106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To test the pathway during an established bond, the investigators infused a V1a antagonist into the anterior hypothalamus of males paired for two weeks. The males then encountered an unfamiliar female during a ten-minute resident-intruder test.</a:t>
            </a:r>
          </a:p>
          <a:p>
            <a:r>
              <a:rPr sz="1200">
                <a:latin typeface="Arial"/>
              </a:rPr>
              <a:t>• The 5 μg-per-side antagonist treatment reduced aggression and increased affiliative contact compared with vehicle controls. Incorrectly located infusions lacked the same behavioral effect. Both the drug and its anatomical delivery site were therefore consequential for the observed response.</a:t>
            </a:r>
          </a:p>
          <a:p>
            <a:r>
              <a:rPr sz="1200">
                <a:latin typeface="Arial"/>
              </a:rPr>
              <a:t>• Blocking vasopressin signaling changed the resident’s choice of social action toward the stranger. This complements the sufficiency experiment in naive males: the peptide can recruit aggression, and its receptor activation contributes to aggression in bonded residents. The familiar partner remains the reference for the normal selective affiliative response.</a:t>
            </a:r>
          </a:p>
          <a:p/>
          <a:p>
            <a:r>
              <a:rPr sz="1200">
                <a:latin typeface="Arial"/>
              </a:rPr>
              <a:t>References:</a:t>
            </a:r>
          </a:p>
          <a:p>
            <a:r>
              <a:rPr sz="1200">
                <a:latin typeface="Arial"/>
              </a:rPr>
              <a:t>Kyle L. Gobrogge, Yan Liu, Larry J. Young, Zuoxin Wang (2009). Anterior hypothalamic vasopressin regulates pair-bonding and drug-induced aggression in a monogamous rodent. Proceedings of the National Academy of Sciences 106: 19144-19149. </a:t>
            </a:r>
            <a:r>
              <a:rPr sz="1200">
                <a:latin typeface="Arial"/>
                <a:hlinkClick r:id="rId3"/>
              </a:rPr>
              <a:t>https://doi.org/10.1073/pnas.0908620106</a:t>
            </a:r>
          </a:p>
          <a:p/>
          <a:p>
            <a:r>
              <a:rPr sz="1200">
                <a:latin typeface="Arial"/>
              </a:rPr>
              <a:t>Figure: Gobrogge et al. (2009), Fig. 2(A–D). Hypothalamic receptor-binding anatomy.</a:t>
            </a:r>
          </a:p>
          <a:p>
            <a:r>
              <a:rPr sz="1200">
                <a:latin typeface="Arial"/>
              </a:rPr>
              <a:t>Figure source: </a:t>
            </a:r>
            <a:r>
              <a:rPr sz="1200">
                <a:latin typeface="Arial"/>
                <a:hlinkClick r:id="rId3"/>
              </a:rPr>
              <a:t>https://doi.org/10.1073/pnas.0908620106</a:t>
            </a:r>
          </a:p>
          <a:p/>
          <a:p>
            <a:r>
              <a:rPr sz="1200">
                <a:latin typeface="Arial"/>
              </a:rPr>
              <a:t>Figure: Gobrogge et al. (2009), Fig. 1(G,H). Aggression and affiliation during V1a receptor blockade.</a:t>
            </a:r>
          </a:p>
          <a:p>
            <a:r>
              <a:rPr sz="1200">
                <a:latin typeface="Arial"/>
              </a:rPr>
              <a:t>Figure source: </a:t>
            </a:r>
            <a:r>
              <a:rPr sz="1200">
                <a:latin typeface="Arial"/>
                <a:hlinkClick r:id="rId3"/>
              </a:rPr>
              <a:t>https://doi.org/10.1073/pnas.0908620106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Bonded males had greater V1a receptor binding in the anterior hypothalamus and medial preoptic area. The lateral septum, bed nucleus of the stria terminalis and amygdala lacked corresponding V1a increases. Oxytocin receptor binding in the anterior hypothalamus also remained similar between groups.</a:t>
            </a:r>
          </a:p>
          <a:p>
            <a:r>
              <a:rPr sz="1200">
                <a:latin typeface="Arial"/>
              </a:rPr>
              <a:t>• The bonding-associated increase in receptor binding was measured using radiolabeled ligands on brain sections. Gobrogge and colleagues compared sexually naive males with males paired for two weeks, quantifying several regions within the same receptor-mapping preparation.</a:t>
            </a:r>
          </a:p>
          <a:p>
            <a:r>
              <a:rPr sz="1200">
                <a:latin typeface="Arial"/>
              </a:rPr>
              <a:t>• The reorganization is thus specific to both receptor type and anatomical territory. It supplies more V1a binding sites in a region where local signaling regulates aggression. Social experience can adjust the capacity of a neuropeptide pathway alongside the encounter-dependent release of its ligand.</a:t>
            </a:r>
          </a:p>
          <a:p/>
          <a:p>
            <a:r>
              <a:rPr sz="1200">
                <a:latin typeface="Arial"/>
              </a:rPr>
              <a:t>References:</a:t>
            </a:r>
          </a:p>
          <a:p>
            <a:r>
              <a:rPr sz="1200">
                <a:latin typeface="Arial"/>
              </a:rPr>
              <a:t>Kyle L. Gobrogge, Yan Liu, Larry J. Young, Zuoxin Wang (2009). Anterior hypothalamic vasopressin regulates pair-bonding and drug-induced aggression in a monogamous rodent. Proceedings of the National Academy of Sciences 106: 19144-19149. </a:t>
            </a:r>
            <a:r>
              <a:rPr sz="1200">
                <a:latin typeface="Arial"/>
                <a:hlinkClick r:id="rId3"/>
              </a:rPr>
              <a:t>https://doi.org/10.1073/pnas.0908620106</a:t>
            </a:r>
          </a:p>
          <a:p/>
          <a:p>
            <a:r>
              <a:rPr sz="1200">
                <a:latin typeface="Arial"/>
              </a:rPr>
              <a:t>Figure: Gobrogge et al. (2009), Fig. 2(A–D). Region- and receptor-specific changes after pairing.</a:t>
            </a:r>
          </a:p>
          <a:p>
            <a:r>
              <a:rPr sz="1200">
                <a:latin typeface="Arial"/>
              </a:rPr>
              <a:t>Figure source: </a:t>
            </a:r>
            <a:r>
              <a:rPr sz="1200">
                <a:latin typeface="Arial"/>
                <a:hlinkClick r:id="rId3"/>
              </a:rPr>
              <a:t>https://doi.org/10.1073/pnas.0908620106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Gobrogge and colleagues used an adeno-associated viral vector, a gene-delivery vehicle, to increase V1a receptor expression in the anterior hypothalamus of sexually naive males. A vector carrying the control gene lacZ separated the effect of receptor expression from the delivery procedure.</a:t>
            </a:r>
          </a:p>
          <a:p>
            <a:r>
              <a:rPr sz="1200">
                <a:latin typeface="Arial"/>
              </a:rPr>
              <a:t>• Three weeks later, males receiving the V1a construct displayed greater aggression toward an unfamiliar female. Autoradiography confirmed increased receptor binding in the anterior hypothalamus, while the lateral septum lacked the same expression increase. The manipulation connected a localized molecular change with an altered social response.</a:t>
            </a:r>
          </a:p>
          <a:p>
            <a:r>
              <a:rPr sz="1200">
                <a:latin typeface="Arial"/>
              </a:rPr>
              <a:t>• Receptor upregulation can therefore contribute functionally to the aggression associated with bonding. The accumbens dopamine–opioid findings and the hypothalamic vasopressin findings identify different local components of stranger rejection; these experiments did not map a direct synaptic connection between the two sites.</a:t>
            </a:r>
          </a:p>
          <a:p/>
          <a:p>
            <a:r>
              <a:rPr sz="1200">
                <a:latin typeface="Arial"/>
              </a:rPr>
              <a:t>References:</a:t>
            </a:r>
          </a:p>
          <a:p>
            <a:r>
              <a:rPr sz="1200">
                <a:latin typeface="Arial"/>
              </a:rPr>
              <a:t>Kyle L. Gobrogge, Yan Liu, Larry J. Young, Zuoxin Wang (2009). Anterior hypothalamic vasopressin regulates pair-bonding and drug-induced aggression in a monogamous rodent. Proceedings of the National Academy of Sciences 106: 19144-19149. </a:t>
            </a:r>
            <a:r>
              <a:rPr sz="1200">
                <a:latin typeface="Arial"/>
                <a:hlinkClick r:id="rId3"/>
              </a:rPr>
              <a:t>https://doi.org/10.1073/pnas.0908620106</a:t>
            </a:r>
          </a:p>
          <a:p/>
          <a:p>
            <a:r>
              <a:rPr sz="1200">
                <a:latin typeface="Arial"/>
              </a:rPr>
              <a:t>Figure: Gobrogge et al. (2009), Fig. 3(A–E). Viral receptor expression, receptor maps and aggression.</a:t>
            </a:r>
          </a:p>
          <a:p>
            <a:r>
              <a:rPr sz="1200">
                <a:latin typeface="Arial"/>
              </a:rPr>
              <a:t>Figure source: </a:t>
            </a:r>
            <a:r>
              <a:rPr sz="1200">
                <a:latin typeface="Arial"/>
                <a:hlinkClick r:id="rId3"/>
              </a:rPr>
              <a:t>https://doi.org/10.1073/pnas.0908620106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Borie and colleagues recorded medium spiny neurons, the principal projection neurons of the nucleus accumbens, in brain slices from female prairie voles. Ovariectomized females lived with a female littermate or with a male for 24 hours, and recordings were made 48 hours later.</a:t>
            </a:r>
          </a:p>
          <a:p>
            <a:r>
              <a:rPr sz="1200">
                <a:latin typeface="Arial"/>
              </a:rPr>
              <a:t>• The oxytocin receptor agonist TGOT was applied at 100 nM for ten minutes. It reduced the amplitude of spontaneous excitatory postsynaptic currents in virgin females but not in paired females. Electrically evoked excitatory currents instead became more strongly potentiated after pairing.</a:t>
            </a:r>
          </a:p>
          <a:p>
            <a:r>
              <a:rPr sz="1200">
                <a:latin typeface="Arial"/>
              </a:rPr>
              <a:t>• An excitatory postsynaptic current is ionic current generated when excitatory input activates receptors on the receiving cell. The same receptor agonist had different effects depending on social experience and the input being measured. Pairing changed neuromodulatory action rather than simply raising baseline neuronal excitability.</a:t>
            </a:r>
          </a:p>
          <a:p/>
          <a:p>
            <a:r>
              <a:rPr sz="1200">
                <a:latin typeface="Arial"/>
              </a:rPr>
              <a:t>References:</a:t>
            </a:r>
          </a:p>
          <a:p>
            <a:r>
              <a:rPr sz="1200">
                <a:latin typeface="Arial"/>
              </a:rPr>
              <a:t>Amélie M. Borie, Sena Agezo, Parker Lunsford, Arjen J. Boender, Ji-Dong Guo, Hong Zhu, Gordon J. Berman, Larry J. Young, Robert C. Liu (2022). Social experience alters oxytocinergic modulation in the nucleus accumbens of female prairie voles. Current Biology 32: 1026-1037.e4. </a:t>
            </a:r>
            <a:r>
              <a:rPr sz="1200">
                <a:latin typeface="Arial"/>
                <a:hlinkClick r:id="rId3"/>
              </a:rPr>
              <a:t>https://doi.org/10.1016/j.cub.2022.01.014</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Borie et al. (2022), Fig. 1(A–G). Whole-cell recordings in virgin and paired female voles.</a:t>
            </a:r>
          </a:p>
          <a:p>
            <a:r>
              <a:rPr sz="1200">
                <a:latin typeface="Arial"/>
              </a:rPr>
              <a:t>Figure source: </a:t>
            </a:r>
            <a:r>
              <a:rPr sz="1200">
                <a:latin typeface="Arial"/>
                <a:hlinkClick r:id="rId3"/>
              </a:rPr>
              <a:t>https://doi.org/10.1016/j.cub.2022.01.014</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Borie and colleagues measured females’ proximity to two males enclosed under cups, restricting direct contact. Females tested before and after cohabitation developed a preference for the cohabiting male, connecting the slice experiments with a measured selective social response.</a:t>
            </a:r>
          </a:p>
          <a:p>
            <a:r>
              <a:rPr sz="1200">
                <a:latin typeface="Arial"/>
              </a:rPr>
              <a:t>• Field recordings measure electrical responses from a local neuronal population. The excitatory response was blocked by DNQX, an antagonist of AMPA/kainate glutamate receptors. These receptors support excitatory ion flow when activated by glutamate, identifying the recorded response as glutamatergic transmission.</a:t>
            </a:r>
          </a:p>
          <a:p>
            <a:r>
              <a:rPr sz="1200">
                <a:latin typeface="Arial"/>
              </a:rPr>
              <a:t>• TGOT increased evoked field-response amplitude in paired females. Among paired females preferring their partner, stronger preference accompanied greater potentiation. Social experience and selective affiliation were therefore associated with the physiological effect of activating oxytocin receptors in the accumbens core.</a:t>
            </a:r>
          </a:p>
          <a:p/>
          <a:p>
            <a:r>
              <a:rPr sz="1200">
                <a:latin typeface="Arial"/>
              </a:rPr>
              <a:t>References:</a:t>
            </a:r>
          </a:p>
          <a:p>
            <a:r>
              <a:rPr sz="1200">
                <a:latin typeface="Arial"/>
              </a:rPr>
              <a:t>Amélie M. Borie, Sena Agezo, Parker Lunsford, Arjen J. Boender, Ji-Dong Guo, Hong Zhu, Gordon J. Berman, Larry J. Young, Robert C. Liu (2022). Social experience alters oxytocinergic modulation in the nucleus accumbens of female prairie voles. Current Biology 32: 1026-1037.e4. </a:t>
            </a:r>
            <a:r>
              <a:rPr sz="1200">
                <a:latin typeface="Arial"/>
                <a:hlinkClick r:id="rId3"/>
              </a:rPr>
              <a:t>https://doi.org/10.1016/j.cub.2022.01.014</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Borie et al. (2022), Fig. 2(A–G). Social preference and glutamatergic field responses.</a:t>
            </a:r>
          </a:p>
          <a:p>
            <a:r>
              <a:rPr sz="1200">
                <a:latin typeface="Arial"/>
              </a:rPr>
              <a:t>Figure source: </a:t>
            </a:r>
            <a:r>
              <a:rPr sz="1200">
                <a:latin typeface="Arial"/>
                <a:hlinkClick r:id="rId3"/>
              </a:rPr>
              <a:t>https://doi.org/10.1016/j.cub.2022.01.014</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Borie and colleagues delivered pairs of electrical stimuli while measuring excitatory responses. The paired-pulse ratio compares the second response with the first and provides information about the probability of transmitter release from the presynaptic terminal.</a:t>
            </a:r>
          </a:p>
          <a:p>
            <a:r>
              <a:rPr sz="1200">
                <a:latin typeface="Arial"/>
              </a:rPr>
              <a:t>• In paired females, stronger TGOT-induced potentiation accompanied a smaller paired-pulse ratio. The pattern is consistent with increased glutamate release on the first pulse. Virgin females lacked the same systematic relationship, matching their different response to oxytocin receptor activation.</a:t>
            </a:r>
          </a:p>
          <a:p>
            <a:r>
              <a:rPr sz="1200">
                <a:latin typeface="Arial"/>
              </a:rPr>
              <a:t>• The investigators also used CRISPR-Cas9-mediated receptor knockdown in accumbens cells. Knockdown reduces expression of a selected molecular target. Lower local oxytocin receptor binding was accompanied by reduced TGOT potentiation, connecting receptors on accumbens cells with an effect expressed through presynaptic release dynamics.</a:t>
            </a:r>
          </a:p>
          <a:p/>
          <a:p>
            <a:r>
              <a:rPr sz="1200">
                <a:latin typeface="Arial"/>
              </a:rPr>
              <a:t>References:</a:t>
            </a:r>
          </a:p>
          <a:p>
            <a:r>
              <a:rPr sz="1200">
                <a:latin typeface="Arial"/>
              </a:rPr>
              <a:t>Amélie M. Borie, Sena Agezo, Parker Lunsford, Arjen J. Boender, Ji-Dong Guo, Hong Zhu, Gordon J. Berman, Larry J. Young, Robert C. Liu (2022). Social experience alters oxytocinergic modulation in the nucleus accumbens of female prairie voles. Current Biology 32: 1026-1037.e4. </a:t>
            </a:r>
            <a:r>
              <a:rPr sz="1200">
                <a:latin typeface="Arial"/>
                <a:hlinkClick r:id="rId3"/>
              </a:rPr>
              <a:t>https://doi.org/10.1016/j.cub.2022.01.014</a:t>
            </a:r>
          </a:p>
          <a:p/>
          <a:p>
            <a:r>
              <a:rPr sz="1200">
                <a:latin typeface="Arial"/>
              </a:rPr>
              <a:t>Figure: Borie et al. (2022), Fig. 3(A–I). Paired-pulse physiology and local receptor knockdown.</a:t>
            </a:r>
          </a:p>
          <a:p>
            <a:r>
              <a:rPr sz="1200">
                <a:latin typeface="Arial"/>
              </a:rPr>
              <a:t>Figure source: </a:t>
            </a:r>
            <a:r>
              <a:rPr sz="1200">
                <a:latin typeface="Arial"/>
                <a:hlinkClick r:id="rId3"/>
              </a:rPr>
              <a:t>https://doi.org/10.1016/j.cub.2022.01.014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Endocannabinoids are locally produced lipid signals that can carry information from a postsynaptic cell back toward presynaptic terminals. Borie and colleagues tested whether cannabinoid receptor signaling participates in the pairing-dependent effect of oxytocin receptor activation.</a:t>
            </a:r>
          </a:p>
          <a:p>
            <a:r>
              <a:rPr sz="1200">
                <a:latin typeface="Arial"/>
              </a:rPr>
              <a:t>• The CB1 receptor antagonist AM4113, applied at 1 μM, prevented TGOT-induced potentiation in slices from paired females. It also removed the relationship between potentiation and the paired-pulse change. Separate slices from the same animals supplied physiological comparison conditions.</a:t>
            </a:r>
          </a:p>
          <a:p>
            <a:r>
              <a:rPr sz="1200">
                <a:latin typeface="Arial"/>
              </a:rPr>
              <a:t>• The oxytocin receptor can signal through Gq and phospholipase C, a pathway capable of promoting endocannabinoid production. The authors’ hypothesis is that this retrograde signaling connects receptors on accumbens cells with presynaptic modulation. The blockade experiment identifies CB1 activation as required for the measured potentiation.</a:t>
            </a:r>
          </a:p>
          <a:p/>
          <a:p>
            <a:r>
              <a:rPr sz="1200">
                <a:latin typeface="Arial"/>
              </a:rPr>
              <a:t>References:</a:t>
            </a:r>
          </a:p>
          <a:p>
            <a:r>
              <a:rPr sz="1200">
                <a:latin typeface="Arial"/>
              </a:rPr>
              <a:t>Amélie M. Borie, Sena Agezo, Parker Lunsford, Arjen J. Boender, Ji-Dong Guo, Hong Zhu, Gordon J. Berman, Larry J. Young, Robert C. Liu (2022). Social experience alters oxytocinergic modulation in the nucleus accumbens of female prairie voles. Current Biology 32: 1026-1037.e4. </a:t>
            </a:r>
            <a:r>
              <a:rPr sz="1200">
                <a:latin typeface="Arial"/>
                <a:hlinkClick r:id="rId3"/>
              </a:rPr>
              <a:t>https://doi.org/10.1016/j.cub.2022.01.014</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Borie et al. (2022), Fig. 4(A–G). CB1 antagonism and agonism during field recordings.</a:t>
            </a:r>
          </a:p>
          <a:p>
            <a:r>
              <a:rPr sz="1200">
                <a:latin typeface="Arial"/>
              </a:rPr>
              <a:t>Figure source: </a:t>
            </a:r>
            <a:r>
              <a:rPr sz="1200">
                <a:latin typeface="Arial"/>
                <a:hlinkClick r:id="rId3"/>
              </a:rPr>
              <a:t>https://doi.org/10.1016/j.cub.2022.01.014</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Direct activation of CB1 receptors with the agonist ACEA potentiated electrically evoked excitatory responses in virgin females as well as paired females. The cannabinoid-dependent physiological effect was therefore available before the pairing-dependent oxytocin effect appeared.</a:t>
            </a:r>
          </a:p>
          <a:p>
            <a:r>
              <a:rPr sz="1200">
                <a:latin typeface="Arial"/>
              </a:rPr>
              <a:t>• In virgin females, ACEA potentiation was accompanied by a paired-pulse change consistent with altered presynaptic release. Its magnitude was comparable to the TGOT-associated potentiation measured in paired females. These interventions distinguished the capacity of the cannabinoid pathway from its coupling to oxytocin receptors.</a:t>
            </a:r>
          </a:p>
          <a:p>
            <a:r>
              <a:rPr sz="1200">
                <a:latin typeface="Arial"/>
              </a:rPr>
              <a:t>• The social-experience change is consequently interpreted as a new functional linkage between existing systems. Oxytocin receptor activation gains access to cannabinoid-dependent potentiation after pairing. This mechanism explains how the same neuromodulator can produce different synaptic outcomes as the animal’s social history changes.</a:t>
            </a:r>
          </a:p>
          <a:p/>
          <a:p>
            <a:r>
              <a:rPr sz="1200">
                <a:latin typeface="Arial"/>
              </a:rPr>
              <a:t>References:</a:t>
            </a:r>
          </a:p>
          <a:p>
            <a:r>
              <a:rPr sz="1200">
                <a:latin typeface="Arial"/>
              </a:rPr>
              <a:t>Amélie M. Borie, Sena Agezo, Parker Lunsford, Arjen J. Boender, Ji-Dong Guo, Hong Zhu, Gordon J. Berman, Larry J. Young, Robert C. Liu (2022). Social experience alters oxytocinergic modulation in the nucleus accumbens of female prairie voles. Current Biology 32: 1026-1037.e4. </a:t>
            </a:r>
            <a:r>
              <a:rPr sz="1200">
                <a:latin typeface="Arial"/>
                <a:hlinkClick r:id="rId3"/>
              </a:rPr>
              <a:t>https://doi.org/10.1016/j.cub.2022.01.014</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Borie et al. (2022), Fig. 4(D–G). Direct CB1 stimulation and comparison with TGOT.</a:t>
            </a:r>
          </a:p>
          <a:p>
            <a:r>
              <a:rPr sz="1200">
                <a:latin typeface="Arial"/>
              </a:rPr>
              <a:t>Figure source: </a:t>
            </a:r>
            <a:r>
              <a:rPr sz="1200">
                <a:latin typeface="Arial"/>
                <a:hlinkClick r:id="rId3"/>
              </a:rPr>
              <a:t>https://doi.org/10.1016/j.cub.2022.01.014</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CB1 blockade approximately doubled the time spent in a defensive upright posture when the partner was present. Stranger-directed rejection remained similar between treatment groups. Overall rearing behavior was comparable, distinguishing the defensive posture from a general increase in standing movements.</a:t>
            </a:r>
          </a:p>
          <a:p>
            <a:r>
              <a:rPr sz="1200">
                <a:latin typeface="Arial"/>
              </a:rPr>
              <a:t>• Borie and colleagues infused AM4113 into the accumbens core of paired females and measured social responses. A novel male entered the female’s home cage for ten minutes, followed by her partner for another ten minutes. Observers scored affiliation and aggressive or defensive actions blind to treatment.</a:t>
            </a:r>
          </a:p>
          <a:p>
            <a:r>
              <a:rPr sz="1200">
                <a:latin typeface="Arial"/>
              </a:rPr>
              <a:t>• Both groups retained proximity-based partner preference. Partner acceptance during direct interaction and partner-directed proximity can therefore change separately. Accumbens cannabinoid signaling contributes to the quality of interaction with the bonded male, complementing the mechanisms that direct aggressive rejection toward unfamiliar animals.</a:t>
            </a:r>
          </a:p>
          <a:p/>
          <a:p>
            <a:r>
              <a:rPr sz="1200">
                <a:latin typeface="Arial"/>
              </a:rPr>
              <a:t>References:</a:t>
            </a:r>
          </a:p>
          <a:p>
            <a:r>
              <a:rPr sz="1200">
                <a:latin typeface="Arial"/>
              </a:rPr>
              <a:t>Amélie M. Borie, Sena Agezo, Parker Lunsford, Arjen J. Boender, Ji-Dong Guo, Hong Zhu, Gordon J. Berman, Larry J. Young, Robert C. Liu (2022). Social experience alters oxytocinergic modulation in the nucleus accumbens of female prairie voles. Current Biology 32: 1026-1037.e4. </a:t>
            </a:r>
            <a:r>
              <a:rPr sz="1200">
                <a:latin typeface="Arial"/>
                <a:hlinkClick r:id="rId3"/>
              </a:rPr>
              <a:t>https://doi.org/10.1016/j.cub.2022.01.014</a:t>
            </a:r>
          </a:p>
          <a:p/>
          <a:p>
            <a:r>
              <a:rPr sz="1200">
                <a:latin typeface="Arial"/>
              </a:rPr>
              <a:t>Figure: Borie et al. (2022), Fig. 5(A–G). Partner preference and intruder responses after CB1 blockade.</a:t>
            </a:r>
          </a:p>
          <a:p>
            <a:r>
              <a:rPr sz="1200">
                <a:latin typeface="Arial"/>
              </a:rPr>
              <a:t>Figure source: </a:t>
            </a:r>
            <a:r>
              <a:rPr sz="1200">
                <a:latin typeface="Arial"/>
                <a:hlinkClick r:id="rId3"/>
              </a:rPr>
              <a:t>https://doi.org/10.1016/j.cub.2022.01.014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Pierce and colleagues examined dopamine’s contribution after prairie voles had already formed partner preferences. Systemic antagonists of D1-like or D2-like receptors were given before testing established social contact, extending the analysis beyond initial bond formation.</a:t>
            </a:r>
          </a:p>
          <a:p>
            <a:r>
              <a:rPr sz="1200">
                <a:latin typeface="Arial"/>
              </a:rPr>
              <a:t>• Both receptor manipulations reduced partner-contact preference under the tested conditions. Their effects on movement differed: D1-like blockade increased locomotion, whereas D2-like blockade reduced velocity and distance traveled. Behavioral interpretation therefore required the social and motor measurements together.</a:t>
            </a:r>
          </a:p>
          <a:p>
            <a:r>
              <a:rPr sz="1200">
                <a:latin typeface="Arial"/>
              </a:rPr>
              <a:t>• The finding complements the earlier local shell experiments without equating the preparations. A systemic intervention reaches multiple sites and can influence several behavioral processes. Established partner-contact preference involves ongoing dopamine signaling, while local studies identify particular receptor functions within particular accumbens territories.</a:t>
            </a:r>
          </a:p>
          <a:p/>
          <a:p>
            <a:r>
              <a:rPr sz="1200">
                <a:latin typeface="Arial"/>
              </a:rPr>
              <a:t>References:</a:t>
            </a:r>
          </a:p>
          <a:p>
            <a:r>
              <a:rPr sz="1200">
                <a:latin typeface="Arial"/>
              </a:rPr>
              <a:t>Anne F. Pierce, David S.W. Protter, Yurika L. Watanabe, Gabriel D. Chapel, Ryan T. Cameron, Zoe R. Donaldson (2024). Nucleus accumbens dopamine release reflects the selective nature of pair bonds. Current Biology 34: 519-530.e5. </a:t>
            </a:r>
            <a:r>
              <a:rPr sz="1200">
                <a:latin typeface="Arial"/>
                <a:hlinkClick r:id="rId3"/>
              </a:rPr>
              <a:t>https://doi.org/10.1016/j.cub.2023.12.041</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Pierce et al. (2024), Fig. 1(A–H). Systemic antagonism during established partner preferences.</a:t>
            </a:r>
          </a:p>
          <a:p>
            <a:r>
              <a:rPr sz="1200">
                <a:latin typeface="Arial"/>
              </a:rPr>
              <a:t>Figure source: </a:t>
            </a:r>
            <a:r>
              <a:rPr sz="1200">
                <a:latin typeface="Arial"/>
                <a:hlinkClick r:id="rId3"/>
              </a:rPr>
              <a:t>https://doi.org/10.1016/j.cub.2023.12.041</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operant task makes a consequence depend on an animal’s action. Pierce and colleagues trained bonded voles to press a lever that opened a door and briefly provided access to their partner or an unfamiliar animal. Lever pressing measured work performed to obtain contact.</a:t>
            </a:r>
          </a:p>
          <a:p>
            <a:r>
              <a:rPr sz="1200">
                <a:latin typeface="Arial"/>
              </a:rPr>
              <a:t>• A low systemic dose of the D1/D2 antagonist flupenthixol reduced pressing and delayed social access for both stimulus animals. A higher-effort schedule also revealed reduced performance. The measured consequence was reduced willingness to perform the instrumental action, rather than only altered huddling after access.</a:t>
            </a:r>
          </a:p>
          <a:p>
            <a:r>
              <a:rPr sz="1200">
                <a:latin typeface="Arial"/>
              </a:rPr>
              <a:t>• A barrier-climbing test similarly assessed effort to reach the partner. D1-like blockade reduced climbing attempts, while D2-like blockade did not produce the same effect. Dopamine receptor systems can regulate components of partner seeking differently across the actions required to obtain social contact.</a:t>
            </a:r>
          </a:p>
          <a:p/>
          <a:p>
            <a:r>
              <a:rPr sz="1200">
                <a:latin typeface="Arial"/>
              </a:rPr>
              <a:t>References:</a:t>
            </a:r>
          </a:p>
          <a:p>
            <a:r>
              <a:rPr sz="1200">
                <a:latin typeface="Arial"/>
              </a:rPr>
              <a:t>Anne F. Pierce, David S.W. Protter, Yurika L. Watanabe, Gabriel D. Chapel, Ryan T. Cameron, Zoe R. Donaldson (2024). Nucleus accumbens dopamine release reflects the selective nature of pair bonds. Current Biology 34: 519-530.e5. </a:t>
            </a:r>
            <a:r>
              <a:rPr sz="1200">
                <a:latin typeface="Arial"/>
                <a:hlinkClick r:id="rId3"/>
              </a:rPr>
              <a:t>https://doi.org/10.1016/j.cub.2023.12.041</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Pierce et al. (2024), Fig. 2(A–N). Lever pressing, barrier climbing and receptor blockade.</a:t>
            </a:r>
          </a:p>
          <a:p>
            <a:r>
              <a:rPr sz="1200">
                <a:latin typeface="Arial"/>
              </a:rPr>
              <a:t>Figure source: </a:t>
            </a:r>
            <a:r>
              <a:rPr sz="1200">
                <a:latin typeface="Arial"/>
                <a:hlinkClick r:id="rId3"/>
              </a:rPr>
              <a:t>https://doi.org/10.1016/j.cub.2023.12.041</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Pierce and colleagues expressed GRABDA, a fluorescent dopamine sensor, in the nucleus accumbens and implanted an optical fiber. Dopamine binding changes the sensor’s fluorescence, allowing transmitter-associated signals to be recorded while the animal performs the social-access task.</a:t>
            </a:r>
          </a:p>
          <a:p>
            <a:r>
              <a:rPr sz="1200">
                <a:latin typeface="Arial"/>
              </a:rPr>
              <a:t>• Histological sections confirmed sensor expression and optical placement. The task separated lever presentation, lever pressing, door opening and entry into the social chamber. Recording these events individually distinguished anticipatory and action-related signals from signals during the encounter itself.</a:t>
            </a:r>
          </a:p>
          <a:p>
            <a:r>
              <a:rPr sz="1200">
                <a:latin typeface="Arial"/>
              </a:rPr>
              <a:t>• Across six days of social-access training, lever pressing increased and task performance improved. Dopamine signals around lever presentation and pressing changed with learning. The technique therefore connected real-time accumbens dopamine dynamics with an animal’s acquisition and execution of actions that produce social contact.</a:t>
            </a:r>
          </a:p>
          <a:p/>
          <a:p>
            <a:r>
              <a:rPr sz="1200">
                <a:latin typeface="Arial"/>
              </a:rPr>
              <a:t>References:</a:t>
            </a:r>
          </a:p>
          <a:p>
            <a:r>
              <a:rPr sz="1200">
                <a:latin typeface="Arial"/>
              </a:rPr>
              <a:t>Anne F. Pierce, David S.W. Protter, Yurika L. Watanabe, Gabriel D. Chapel, Ryan T. Cameron, Zoe R. Donaldson (2024). Nucleus accumbens dopamine release reflects the selective nature of pair bonds. Current Biology 34: 519-530.e5. </a:t>
            </a:r>
            <a:r>
              <a:rPr sz="1200">
                <a:latin typeface="Arial"/>
                <a:hlinkClick r:id="rId3"/>
              </a:rPr>
              <a:t>https://doi.org/10.1016/j.cub.2023.12.041</a:t>
            </a:r>
          </a:p>
          <a:p/>
          <a:p>
            <a:r>
              <a:rPr sz="1200">
                <a:latin typeface="Arial"/>
              </a:rPr>
              <a:t>Figure: Pierce et al. (2024), Fig. 3(A–K). GRABDA sensor placement and social operant recording.</a:t>
            </a:r>
          </a:p>
          <a:p>
            <a:r>
              <a:rPr sz="1200">
                <a:latin typeface="Arial"/>
              </a:rPr>
              <a:t>Figure source: </a:t>
            </a:r>
            <a:r>
              <a:rPr sz="1200">
                <a:latin typeface="Arial"/>
                <a:hlinkClick r:id="rId3"/>
              </a:rPr>
              <a:t>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Proficient voles worked for access to both their established partner and an unfamiliar animal. Pierce and colleagues compared dopamine fluorescence within the same subjects during partner and novel-animal trials, preserving the animal’s individual sensor expression and recording conditions.</a:t>
            </a:r>
          </a:p>
          <a:p>
            <a:r>
              <a:rPr sz="1200">
                <a:latin typeface="Arial"/>
              </a:rPr>
              <a:t>• Lever pressing and door opening were associated with larger dopamine responses in partner trials. The preference in the transmitter signal emerged even though the voles did not consistently perform more lever presses for the partner. Partner-enhanced signaling therefore contained information beyond the count of completed actions.</a:t>
            </a:r>
          </a:p>
          <a:p>
            <a:r>
              <a:rPr sz="1200">
                <a:latin typeface="Arial"/>
              </a:rPr>
              <a:t>• The established partner’s identity influenced the dopamine dynamics accompanying social access. This result connects bond selectivity with moment-to-moment neural signaling, complementing the receptor and slice-release changes observed after cohabitation. Neural selectivity and overt instrumental performance are related measurements with distinguishable patterns.</a:t>
            </a:r>
          </a:p>
          <a:p/>
          <a:p>
            <a:r>
              <a:rPr sz="1200">
                <a:latin typeface="Arial"/>
              </a:rPr>
              <a:t>References:</a:t>
            </a:r>
          </a:p>
          <a:p>
            <a:r>
              <a:rPr sz="1200">
                <a:latin typeface="Arial"/>
              </a:rPr>
              <a:t>Anne F. Pierce, David S.W. Protter, Yurika L. Watanabe, Gabriel D. Chapel, Ryan T. Cameron, Zoe R. Donaldson (2024). Nucleus accumbens dopamine release reflects the selective nature of pair bonds. Current Biology 34: 519-530.e5. </a:t>
            </a:r>
            <a:r>
              <a:rPr sz="1200">
                <a:latin typeface="Arial"/>
                <a:hlinkClick r:id="rId3"/>
              </a:rPr>
              <a:t>https://doi.org/10.1016/j.cub.2023.12.041</a:t>
            </a:r>
          </a:p>
          <a:p/>
          <a:p>
            <a:r>
              <a:rPr sz="1200">
                <a:latin typeface="Arial"/>
              </a:rPr>
              <a:t>Figure: Pierce et al. (2024), Fig. 4(A–N). Partner- and novel-directed seeking signals before separation.</a:t>
            </a:r>
          </a:p>
          <a:p>
            <a:r>
              <a:rPr sz="1200">
                <a:latin typeface="Arial"/>
              </a:rPr>
              <a:t>Figure source: </a:t>
            </a:r>
            <a:r>
              <a:rPr sz="1200">
                <a:latin typeface="Arial"/>
                <a:hlinkClick r:id="rId3"/>
              </a:rPr>
              <a:t>https://doi.org/10.1016/j.cub.2023.12.041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After separation, partner and novel-animal trials no longer differed in the dopamine responses that had previously favored the partner. The change reflected diminished partner-associated signals rather than an equivalent increase during novel-animal trials. Animals still performed the learned operant task.</a:t>
            </a:r>
          </a:p>
          <a:p>
            <a:r>
              <a:rPr sz="1200">
                <a:latin typeface="Arial"/>
              </a:rPr>
              <a:t>• Pierce and colleagues separated bonded pairs for four weeks and then retested their social-access behavior and dopamine responses. This interval was long enough for the previously bonded animals to adapt to partner loss and potentially form another relationship.</a:t>
            </a:r>
          </a:p>
          <a:p>
            <a:r>
              <a:rPr sz="1200">
                <a:latin typeface="Arial"/>
              </a:rPr>
              <a:t>• Direct partner contact and huddling had also evoked greater dopamine responses before separation, and those neural distinctions disappeared afterward. Some behavioral familiarity remained. The former partner’s enhanced motivational signal can therefore erode while the animal retains aspects of social recognition and the ability to seek contact.</a:t>
            </a:r>
          </a:p>
          <a:p/>
          <a:p>
            <a:r>
              <a:rPr sz="1200">
                <a:latin typeface="Arial"/>
              </a:rPr>
              <a:t>References:</a:t>
            </a:r>
          </a:p>
          <a:p>
            <a:r>
              <a:rPr sz="1200">
                <a:latin typeface="Arial"/>
              </a:rPr>
              <a:t>Anne F. Pierce, David S.W. Protter, Yurika L. Watanabe, Gabriel D. Chapel, Ryan T. Cameron, Zoe R. Donaldson (2024). Nucleus accumbens dopamine release reflects the selective nature of pair bonds. Current Biology 34: 519-530.e5. </a:t>
            </a:r>
            <a:r>
              <a:rPr sz="1200">
                <a:latin typeface="Arial"/>
                <a:hlinkClick r:id="rId3"/>
              </a:rPr>
              <a:t>https://doi.org/10.1016/j.cub.2023.12.041</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Pierce et al. (2024), Fig. 5(A–M). Social behavior and dopamine before and after separation.</a:t>
            </a:r>
          </a:p>
          <a:p>
            <a:r>
              <a:rPr sz="1200">
                <a:latin typeface="Arial"/>
              </a:rPr>
              <a:t>Figure source: </a:t>
            </a:r>
            <a:r>
              <a:rPr sz="1200">
                <a:latin typeface="Arial"/>
                <a:hlinkClick r:id="rId3"/>
              </a:rPr>
              <a:t>https://doi.org/10.1016/j.cub.2023.12.041</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lateral septum is a forebrain structure involved in social behavior. Sailer and colleagues expressed the excitatory designer receptor hM3Dq there and activated it using Compound 21, abbreviated C21. The published anatomical design identifies the intended neural territory.</a:t>
            </a:r>
          </a:p>
          <a:p>
            <a:r>
              <a:rPr sz="1200">
                <a:latin typeface="Arial"/>
              </a:rPr>
              <a:t>• A DREADD is a designer receptor activated by a chosen ligand. Receptor-expressing animals receiving saline and sham-operated animals receiving C21 supplied controls for receptor activation and drug exposure. C21 was administered at 3 mg/kg, 30 minutes before behavioral assessments.</a:t>
            </a:r>
          </a:p>
          <a:p>
            <a:r>
              <a:rPr sz="1200">
                <a:latin typeface="Arial"/>
              </a:rPr>
              <a:t>• Septal activation promoted social approach in sexually naive males but did not alter the subsequently measured partner preference. Increasing contact-oriented behavior and establishing a selective preference are thus separable outcomes. The experiment tested how a localized change in neural activity influences several components of social behavior.</a:t>
            </a:r>
          </a:p>
          <a:p/>
          <a:p>
            <a:r>
              <a:rPr sz="1200">
                <a:latin typeface="Arial"/>
              </a:rPr>
              <a:t>References:</a:t>
            </a:r>
          </a:p>
          <a:p>
            <a:r>
              <a:rPr sz="1200">
                <a:latin typeface="Arial"/>
              </a:rPr>
              <a:t>Lindsay L. Sailer, Ashley H. Park, Abigail Galvez, Alexander G. Ophir (2022). Lateral septum DREADD activation alters male prairie vole prosocial and antisocial behaviors, not partner preferences. Communications Biology 5: 1299. </a:t>
            </a:r>
            <a:r>
              <a:rPr sz="1200">
                <a:latin typeface="Arial"/>
                <a:hlinkClick r:id="rId3"/>
              </a:rPr>
              <a:t>https://doi.org/10.1038/s42003-022-04274-z</a:t>
            </a:r>
          </a:p>
          <a:p/>
          <a:p>
            <a:r>
              <a:rPr sz="1200">
                <a:latin typeface="Arial"/>
              </a:rPr>
              <a:t>Figure: Sailer et al. (2022), Fig. 1(a,b). Published lateral-septum manipulation and test timeline.</a:t>
            </a:r>
          </a:p>
          <a:p>
            <a:r>
              <a:rPr sz="1200">
                <a:latin typeface="Arial"/>
              </a:rPr>
              <a:t>Figure source: </a:t>
            </a:r>
            <a:r>
              <a:rPr sz="1200">
                <a:latin typeface="Arial"/>
                <a:hlinkClick r:id="rId3"/>
              </a:rPr>
              <a:t>https://doi.org/10.1038/s42003-022-04274-z</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Sailer and colleagues repeated intruder testing after male prairie voles had paired with females. Subjects with activated lateral-septum hM3Dq receptors were compared with receptor-plus-saline and sham-plus-C21 controls, preserving the distinction between neural activation and drug administration.</a:t>
            </a:r>
          </a:p>
          <a:p>
            <a:r>
              <a:rPr sz="1200">
                <a:latin typeface="Arial"/>
              </a:rPr>
              <a:t>• After bonding, septal activation reduced attacks, chasing and total aggressive behavior. Huddling and other social actions were measured separately, and the intervention promoted prosocial responses during the encounter rather than merely changing the aggregate amount of recorded behavior.</a:t>
            </a:r>
          </a:p>
          <a:p>
            <a:r>
              <a:rPr sz="1200">
                <a:latin typeface="Arial"/>
              </a:rPr>
              <a:t>• Partner preference remained intact in the study’s separate preference test. A bond’s selective affiliation can therefore persist when an intervention reduces its associated stranger rejection. These findings connect lateral-septum activity with the regulation of social action while retaining preference and aggression as distinct behavioral outputs.</a:t>
            </a:r>
          </a:p>
          <a:p/>
          <a:p>
            <a:r>
              <a:rPr sz="1200">
                <a:latin typeface="Arial"/>
              </a:rPr>
              <a:t>References:</a:t>
            </a:r>
          </a:p>
          <a:p>
            <a:r>
              <a:rPr sz="1200">
                <a:latin typeface="Arial"/>
              </a:rPr>
              <a:t>Lindsay L. Sailer, Ashley H. Park, Abigail Galvez, Alexander G. Ophir (2022). Lateral septum DREADD activation alters male prairie vole prosocial and antisocial behaviors, not partner preferences. Communications Biology 5: 1299. </a:t>
            </a:r>
            <a:r>
              <a:rPr sz="1200">
                <a:latin typeface="Arial"/>
                <a:hlinkClick r:id="rId3"/>
              </a:rPr>
              <a:t>https://doi.org/10.1038/s42003-022-04274-z</a:t>
            </a:r>
          </a:p>
          <a:p/>
          <a:p>
            <a:r>
              <a:rPr sz="1200">
                <a:latin typeface="Arial"/>
              </a:rPr>
              <a:t>Figure: Sailer et al. (2022), Fig. 4(a–f). Aggressive and affiliative actions before and after bonding.</a:t>
            </a:r>
          </a:p>
          <a:p>
            <a:r>
              <a:rPr sz="1200">
                <a:latin typeface="Arial"/>
              </a:rPr>
              <a:t>Figure source: </a:t>
            </a:r>
            <a:r>
              <a:rPr sz="1200">
                <a:latin typeface="Arial"/>
                <a:hlinkClick r:id="rId3"/>
              </a:rPr>
              <a:t>https://doi.org/10.1038/s42003-022-04274-z</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Forero and colleagues expressed inhibitory hM4Di designer receptors in the accumbens core of female prairie voles. Receptor activation was tested before and after birth, using C21 and saline on counterbalanced test days within the same animals.</a:t>
            </a:r>
          </a:p>
          <a:p>
            <a:r>
              <a:rPr sz="1200">
                <a:latin typeface="Arial"/>
              </a:rPr>
              <a:t>• C21 activation reduced side-by-side contact with the established male partner both before and after parturition, the birth of offspring. After birth, inhibition also disrupted the usual preference for partner over stranger contact. Contact with the unfamiliar male did not increase correspondingly.</a:t>
            </a:r>
          </a:p>
          <a:p>
            <a:r>
              <a:rPr sz="1200">
                <a:latin typeface="Arial"/>
              </a:rPr>
              <a:t>• The intervention therefore weakened the affiliative expression of an existing bond through reduced partner engagement. Its stronger consequence after birth connected neural activity with reproductive state. Maintaining partner-directed affiliation depends on accumbens function while the female’s social demands change during the transition to motherhood.</a:t>
            </a:r>
          </a:p>
          <a:p/>
          <a:p>
            <a:r>
              <a:rPr sz="1200">
                <a:latin typeface="Arial"/>
              </a:rPr>
              <a:t>References:</a:t>
            </a:r>
          </a:p>
          <a:p>
            <a:r>
              <a:rPr sz="1200">
                <a:latin typeface="Arial"/>
              </a:rPr>
              <a:t>Santiago A. Forero, Lindsay L. Sailer, Aistė Girčytė, Jesus E. Madrid, Nicole Sullivan, Alexander G. Ophir (2023). Motherhood and DREADD manipulation of the nucleus accumbens weaken established pair bonds in female prairie voles. Hormones and Behavior 151: 105351. </a:t>
            </a:r>
            <a:r>
              <a:rPr sz="1200">
                <a:latin typeface="Arial"/>
                <a:hlinkClick r:id="rId3"/>
              </a:rPr>
              <a:t>https://doi.org/10.1016/j.yhbeh.2023.105351</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Forero et al. (2023), Fig. 1(A–C). Inhibitory DREADD effects before and after parturition.</a:t>
            </a:r>
          </a:p>
          <a:p>
            <a:r>
              <a:rPr sz="1200">
                <a:latin typeface="Arial"/>
              </a:rPr>
              <a:t>Figure source: </a:t>
            </a:r>
            <a:r>
              <a:rPr sz="1200">
                <a:latin typeface="Arial"/>
                <a:hlinkClick r:id="rId3"/>
              </a:rPr>
              <a:t>https://doi.org/10.1016/j.yhbeh.2023.105351</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Forero and colleagues also expressed the excitatory hM3Dq receptor in female accumbens core neurons. Activating this receptor with C21 supplied a manipulation opposite in direction to inhibitory hM4Di, with saline sessions providing the within-subject comparison.</a:t>
            </a:r>
          </a:p>
          <a:p>
            <a:r>
              <a:rPr sz="1200">
                <a:latin typeface="Arial"/>
              </a:rPr>
              <a:t>• With accumbens excitation, females lacked a significant partner-over-stranger preference before and after birth. Excitation did not significantly reduce partner-contact duration in either period. In saline sessions, preference was present before birth but absent afterward, when partner contact was reduced.</a:t>
            </a:r>
          </a:p>
          <a:p>
            <a:r>
              <a:rPr sz="1200">
                <a:latin typeface="Arial"/>
              </a:rPr>
              <a:t>• Inhibition reduced partner contact, whereas excitation changed the detectable preference without a significant reduction in partner-contact time. Contact duration and the partner-versus-stranger comparison describe different behavioral outcomes. Sham-surgery animals given C21 controlled for drug exposure, and the before-birth versus after-birth tests separated reproductive state from receptor manipulation.</a:t>
            </a:r>
          </a:p>
          <a:p/>
          <a:p>
            <a:r>
              <a:rPr sz="1200">
                <a:latin typeface="Arial"/>
              </a:rPr>
              <a:t>References:</a:t>
            </a:r>
          </a:p>
          <a:p>
            <a:r>
              <a:rPr sz="1200">
                <a:latin typeface="Arial"/>
              </a:rPr>
              <a:t>Santiago A. Forero, Lindsay L. Sailer, Aistė Girčytė, Jesus E. Madrid, Nicole Sullivan, Alexander G. Ophir (2023). Motherhood and DREADD manipulation of the nucleus accumbens weaken established pair bonds in female prairie voles. Hormones and Behavior 151: 105351. </a:t>
            </a:r>
            <a:r>
              <a:rPr sz="1200">
                <a:latin typeface="Arial"/>
                <a:hlinkClick r:id="rId3"/>
              </a:rPr>
              <a:t>https://doi.org/10.1016/j.yhbeh.2023.105351</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Forero et al. (2023), Fig. 2(A–C). Excitatory DREADD effects on established partner contact.</a:t>
            </a:r>
          </a:p>
          <a:p>
            <a:r>
              <a:rPr sz="1200">
                <a:latin typeface="Arial"/>
              </a:rPr>
              <a:t>Figure source: </a:t>
            </a:r>
            <a:r>
              <a:rPr sz="1200">
                <a:latin typeface="Arial"/>
                <a:hlinkClick r:id="rId3"/>
              </a:rPr>
              <a:t>https://doi.org/10.1016/j.yhbeh.2023.105351</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Females paired with vasectomized males retained strong partner-contact preference at both two and four weeks. Females paired with sham-operated males also preferred their partners but reduced partner-contact duration after birth. The comparison distinguished offspring-associated changes from an inevitable decline during longer cohabitation.</a:t>
            </a:r>
          </a:p>
          <a:p>
            <a:r>
              <a:rPr sz="1200">
                <a:latin typeface="Arial"/>
              </a:rPr>
              <a:t>• To distinguish motherhood from the passage of time, Forero and colleagues paired females with vasectomized males or sham-operated fertile males. Vasectomy prevented pregnancy while preserving the opportunity for social cohabitation and mating-related interaction with the male.</a:t>
            </a:r>
          </a:p>
          <a:p>
            <a:r>
              <a:rPr sz="1200">
                <a:latin typeface="Arial"/>
              </a:rPr>
              <a:t>• The transition to parenthood changes the expression of an established relationship. Reduced partner contact can occur alongside a retained preference rather than replacement of the partner by a stranger. The reproductive manipulation connects changing social allocation with the presence of offspring and the female’s new parental state.</a:t>
            </a:r>
          </a:p>
          <a:p/>
          <a:p>
            <a:r>
              <a:rPr sz="1200">
                <a:latin typeface="Arial"/>
              </a:rPr>
              <a:t>References:</a:t>
            </a:r>
          </a:p>
          <a:p>
            <a:r>
              <a:rPr sz="1200">
                <a:latin typeface="Arial"/>
              </a:rPr>
              <a:t>Santiago A. Forero, Lindsay L. Sailer, Aistė Girčytė, Jesus E. Madrid, Nicole Sullivan, Alexander G. Ophir (2023). Motherhood and DREADD manipulation of the nucleus accumbens weaken established pair bonds in female prairie voles. Hormones and Behavior 151: 105351. </a:t>
            </a:r>
            <a:r>
              <a:rPr sz="1200">
                <a:latin typeface="Arial"/>
                <a:hlinkClick r:id="rId3"/>
              </a:rPr>
              <a:t>https://doi.org/10.1016/j.yhbeh.2023.105351</a:t>
            </a:r>
          </a:p>
          <a:p/>
          <a:p>
            <a:r>
              <a:rPr sz="1200">
                <a:latin typeface="Arial"/>
              </a:rPr>
              <a:t>Figure: Forero et al. (2023), Fig. 4(A–C). Partner contact when pregnancy was prevented.</a:t>
            </a:r>
          </a:p>
          <a:p>
            <a:r>
              <a:rPr sz="1200">
                <a:latin typeface="Arial"/>
              </a:rPr>
              <a:t>Figure source: </a:t>
            </a:r>
            <a:r>
              <a:rPr sz="1200">
                <a:latin typeface="Arial"/>
                <a:hlinkClick r:id="rId3"/>
              </a:rPr>
              <a:t>https://doi.org/10.1016/j.yhbeh.2023.105351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transcriptome is the collection of RNA transcripts expressed in sampled tissue. Duclot and colleagues sequenced accumbens RNA from males and females after 24 hours or three weeks of opposite-sex cohabitation, using same-sex littermate housing as a comparison condition.</a:t>
            </a:r>
          </a:p>
          <a:p>
            <a:r>
              <a:rPr sz="1200">
                <a:latin typeface="Arial"/>
              </a:rPr>
              <a:t>• Early and later cohabitation produced different expression patterns, and males and females retained different sexually biased transcriptomes. The comparison therefore sampled both the development of a preference and the longer-term social state associated with maintenance, rather than one undifferentiated bonding condition.</a:t>
            </a:r>
          </a:p>
          <a:p>
            <a:r>
              <a:rPr sz="1200">
                <a:latin typeface="Arial"/>
              </a:rPr>
              <a:t>• Functional gene groups involved in neurotransmission, protein turnover and cellular metabolism changed with social experience. The molecular organization of a bonded brain includes multiple interacting processes. Sex and duration of pairing influence those processes, complementing the localized dopamine, opioid and neuropeptide mechanisms measured experimentally.</a:t>
            </a:r>
          </a:p>
          <a:p/>
          <a:p>
            <a:r>
              <a:rPr sz="1200">
                <a:latin typeface="Arial"/>
              </a:rPr>
              <a:t>References:</a:t>
            </a:r>
          </a:p>
          <a:p>
            <a:r>
              <a:rPr sz="1200">
                <a:latin typeface="Arial"/>
              </a:rPr>
              <a:t>Florian Duclot, Lindsay Sailer, Panagiotis Koutakis, Zuoxin Wang, Mohamed Kabbaj (2022). Transcriptomic Regulations Underlying Pair-bond Formation and Maintenance in the Socially Monogamous Male and Female Prairie Vole. Biological Psychiatry 91: 141-151. </a:t>
            </a:r>
            <a:r>
              <a:rPr sz="1200">
                <a:latin typeface="Arial"/>
                <a:hlinkClick r:id="rId3"/>
              </a:rPr>
              <a:t>https://doi.org/10.1016/j.biopsych.2020.11.022</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Duclot et al. (2022), Fig. 2(A–F). Accumbens gene-expression comparisons across bonding stages.</a:t>
            </a:r>
          </a:p>
          <a:p>
            <a:r>
              <a:rPr sz="1200">
                <a:latin typeface="Arial"/>
              </a:rPr>
              <a:t>Figure source: </a:t>
            </a:r>
            <a:r>
              <a:rPr sz="1200">
                <a:latin typeface="Arial"/>
                <a:hlinkClick r:id="rId3"/>
              </a:rPr>
              <a:t>https://doi.org/10.1016/j.biopsych.2020.11.022</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Mitochondria supply cellular energy and undergo fusion and fission, the joining and division of mitochondrial structures. Duclot and colleagues combined accumbens transcriptomic analysis with measurements of proteins associated with mitochondrial dynamics in prairie voles.</a:t>
            </a:r>
          </a:p>
          <a:p>
            <a:r>
              <a:rPr sz="1200">
                <a:latin typeface="Arial"/>
              </a:rPr>
              <a:t>• Cohabitation altered the molecular balance of mitochondrial regulation differently in males and females. In males, the results included a shift toward fission-related regulation. The study assessed protein markers alongside the broader RNA patterns, retaining molecular measurements distinct from behavioral preference scores.</a:t>
            </a:r>
          </a:p>
          <a:p>
            <a:r>
              <a:rPr sz="1200">
                <a:latin typeface="Arial"/>
              </a:rPr>
              <a:t>• The authors’ hypothesis is that metabolic and mitochondrial adjustments support experience-dependent neuronal remodeling. Synaptic signaling, protein turnover and structural plasticity require cellular resources. The maintenance-associated transcriptome therefore includes the cell’s capacity to sustain and reorganize neural function as well as receptors directly involved in social behavior.</a:t>
            </a:r>
          </a:p>
          <a:p/>
          <a:p>
            <a:r>
              <a:rPr sz="1200">
                <a:latin typeface="Arial"/>
              </a:rPr>
              <a:t>References:</a:t>
            </a:r>
          </a:p>
          <a:p>
            <a:r>
              <a:rPr sz="1200">
                <a:latin typeface="Arial"/>
              </a:rPr>
              <a:t>Florian Duclot, Lindsay Sailer, Panagiotis Koutakis, Zuoxin Wang, Mohamed Kabbaj (2022). Transcriptomic Regulations Underlying Pair-bond Formation and Maintenance in the Socially Monogamous Male and Female Prairie Vole. Biological Psychiatry 91: 141-151. </a:t>
            </a:r>
            <a:r>
              <a:rPr sz="1200">
                <a:latin typeface="Arial"/>
                <a:hlinkClick r:id="rId3"/>
              </a:rPr>
              <a:t>https://doi.org/10.1016/j.biopsych.2020.11.022</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Duclot et al. (2022), Fig. 6(A–F). Mitochondrial regulatory proteins across cohabitation conditions.</a:t>
            </a:r>
          </a:p>
          <a:p>
            <a:r>
              <a:rPr sz="1200">
                <a:latin typeface="Arial"/>
              </a:rPr>
              <a:t>Figure source: </a:t>
            </a:r>
            <a:r>
              <a:rPr sz="1200">
                <a:latin typeface="Arial"/>
                <a:hlinkClick r:id="rId3"/>
              </a:rPr>
              <a:t>https://doi.org/10.1016/j.biopsych.2020.11.022</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During partner preference testing, males continued to favor familiar partners after separation, including the long interval. Huddling duration and contact with the stranger were measured separately. Preference persistence was therefore recorded even while other molecular features of the bonded state changed.</a:t>
            </a:r>
          </a:p>
          <a:p>
            <a:r>
              <a:rPr sz="1200">
                <a:latin typeface="Arial"/>
              </a:rPr>
              <a:t>• Sadino and colleagues first housed males in opposite-sex or same-sex pairs for two weeks. They then compared animals that remained paired with animals separated for two days or four weeks, moving separated partners to another room to eliminate ongoing sensory contact.</a:t>
            </a:r>
          </a:p>
          <a:p>
            <a:r>
              <a:rPr sz="1200">
                <a:latin typeface="Arial"/>
              </a:rPr>
              <a:t>• A retained contact preference is one component of the relationship’s history. Familiar-partner recognition and the neural state supporting current selective motivation can have different time courses. After prolonged separation, familiar-partner contact can remain selective even as partner-enhanced dopamine and bonding-associated gene expression decline.</a:t>
            </a:r>
          </a:p>
          <a:p/>
          <a:p>
            <a:r>
              <a:rPr sz="1200">
                <a:latin typeface="Arial"/>
              </a:rPr>
              <a:t>References:</a:t>
            </a:r>
          </a:p>
          <a:p>
            <a:r>
              <a:rPr sz="1200">
                <a:latin typeface="Arial"/>
              </a:rPr>
              <a:t>Julie M Sadino, Xander G Bradeen, Conor J Kelly, Liza E Brusman, Deena M Walker, Zoe R Donaldson (2023). Prolonged partner separation erodes nucleus accumbens transcriptional signatures of pair bonding in male prairie voles. eLife 12: e80517. </a:t>
            </a:r>
            <a:r>
              <a:rPr sz="1200">
                <a:latin typeface="Arial"/>
                <a:hlinkClick r:id="rId3"/>
              </a:rPr>
              <a:t>https://doi.org/10.7554/eLife.80517</a:t>
            </a:r>
          </a:p>
          <a:p/>
          <a:p>
            <a:r>
              <a:rPr sz="1200">
                <a:latin typeface="Arial"/>
              </a:rPr>
              <a:t>Figure: Sadino et al. (2023), Fig. 1(A–E). Huddling preferences before and after partner separation.</a:t>
            </a:r>
          </a:p>
          <a:p>
            <a:r>
              <a:rPr sz="1200">
                <a:latin typeface="Arial"/>
              </a:rPr>
              <a:t>Figure source: </a:t>
            </a:r>
            <a:r>
              <a:rPr sz="1200">
                <a:latin typeface="Arial"/>
                <a:hlinkClick r:id="rId3"/>
              </a:rPr>
              <a:t>https://doi.org/10.7554/eLife.80517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Sadino and colleagues sequenced nucleus accumbens RNA to compare pair-bond-associated expression patterns after short and long separation. Same-sex pairs provided a social-housing comparison, while opposite-sex pairs that remained together identified a persistent bonding-associated pattern.</a:t>
            </a:r>
          </a:p>
          <a:p>
            <a:r>
              <a:rPr sz="1200">
                <a:latin typeface="Arial"/>
              </a:rPr>
              <a:t>• The accumbens signature remained largely concordant after two days of separation but eroded after four weeks. Genes linked with glial processes, extracellular matrix organization, synapse organization and vesicle docking contributed to the changing signature. These are components of tissue organization and communication among cells.</a:t>
            </a:r>
          </a:p>
          <a:p>
            <a:r>
              <a:rPr sz="1200">
                <a:latin typeface="Arial"/>
              </a:rPr>
              <a:t>• The authors’ hypothesis is that this molecular reorganization contributes to adaptation after partner loss. Continued cohabitation maintains a stable expression state, whereas extended separation permits a different state to emerge. Behavioral preference can persist over an interval in which parts of the bonding-associated transcriptional pattern are already changing.</a:t>
            </a:r>
          </a:p>
          <a:p/>
          <a:p>
            <a:r>
              <a:rPr sz="1200">
                <a:latin typeface="Arial"/>
              </a:rPr>
              <a:t>References:</a:t>
            </a:r>
          </a:p>
          <a:p>
            <a:r>
              <a:rPr sz="1200">
                <a:latin typeface="Arial"/>
              </a:rPr>
              <a:t>Julie M Sadino, Xander G Bradeen, Conor J Kelly, Liza E Brusman, Deena M Walker, Zoe R Donaldson (2023). Prolonged partner separation erodes nucleus accumbens transcriptional signatures of pair bonding in male prairie voles. eLife 12: e80517. </a:t>
            </a:r>
            <a:r>
              <a:rPr sz="1200">
                <a:latin typeface="Arial"/>
                <a:hlinkClick r:id="rId3"/>
              </a:rPr>
              <a:t>https://doi.org/10.7554/eLife.80517</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Sadino et al. (2023), Fig. 3(A–K). Bond-associated transcription before and after separation.</a:t>
            </a:r>
          </a:p>
          <a:p>
            <a:r>
              <a:rPr sz="1200">
                <a:latin typeface="Arial"/>
              </a:rPr>
              <a:t>Figure source: </a:t>
            </a:r>
            <a:r>
              <a:rPr sz="1200">
                <a:latin typeface="Arial"/>
                <a:hlinkClick r:id="rId3"/>
              </a:rPr>
              <a:t>https://doi.org/10.7554/eLife.80517</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Sadino and colleagues developed translating ribosome affinity purification for prairie voles. Tagged ribosomal proteins were expressed in neurons, and the tagged complexes were isolated to enrich RNA being translated in those cells, separating neuronal expression from prominent glial contributions.</a:t>
            </a:r>
          </a:p>
          <a:p>
            <a:r>
              <a:rPr sz="1200">
                <a:latin typeface="Arial"/>
              </a:rPr>
              <a:t>• The neuron-enriched results contained distinct temporal patterns. One cluster rose during bonding and short separation, then declined after long separation. Another increased after acute loss and contained genes associated with dopamine and learning. A third increased primarily after prolonged separation and involved cellular metabolism.</a:t>
            </a:r>
          </a:p>
          <a:p>
            <a:r>
              <a:rPr sz="1200">
                <a:latin typeface="Arial"/>
              </a:rPr>
              <a:t>• Pair-bond maintenance and adaptation to loss therefore involve several coordinated cellular processes with different time courses. Partner-directed behavior, receptor-dependent social defense and cell-specific molecular changes provide complementary biological measurements. Their combination explains how a relationship can remain recognizable while the neural state supporting its current motivational value is reorganized.</a:t>
            </a:r>
          </a:p>
          <a:p/>
          <a:p>
            <a:r>
              <a:rPr sz="1200">
                <a:latin typeface="Arial"/>
              </a:rPr>
              <a:t>References:</a:t>
            </a:r>
          </a:p>
          <a:p>
            <a:r>
              <a:rPr sz="1200">
                <a:latin typeface="Arial"/>
              </a:rPr>
              <a:t>Julie M Sadino, Xander G Bradeen, Conor J Kelly, Liza E Brusman, Deena M Walker, Zoe R Donaldson (2023). Prolonged partner separation erodes nucleus accumbens transcriptional signatures of pair bonding in male prairie voles. eLife 12: e80517. </a:t>
            </a:r>
            <a:r>
              <a:rPr sz="1200">
                <a:latin typeface="Arial"/>
                <a:hlinkClick r:id="rId3"/>
              </a:rPr>
              <a:t>https://doi.org/10.7554/eLife.80517</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4"/>
              </a:rPr>
              <a:t>https://doi.org/10.1038/nn1613</a:t>
            </a:r>
          </a:p>
          <a:p/>
          <a:p>
            <a:r>
              <a:rPr sz="1200">
                <a:latin typeface="Arial"/>
              </a:rPr>
              <a:t>Figure: Sadino et al. (2023), Fig. 4(A–G). Neuron-enriched transcripts and separation-related clusters.</a:t>
            </a:r>
          </a:p>
          <a:p>
            <a:r>
              <a:rPr sz="1200">
                <a:latin typeface="Arial"/>
              </a:rPr>
              <a:t>Figure source: </a:t>
            </a:r>
            <a:r>
              <a:rPr sz="1200">
                <a:latin typeface="Arial"/>
                <a:hlinkClick r:id="rId3"/>
              </a:rPr>
              <a:t>https://doi.org/10.7554/eLife.80517</a:t>
            </a:r>
          </a:p>
          <a:p/>
          <a:p>
            <a:r>
              <a:rPr sz="1200">
                <a:latin typeface="Arial"/>
              </a:rPr>
              <a:t>Figure: Aragona et al. (2006), Fig. 2(a,b). Rostral accumbens core and shell landmarks.</a:t>
            </a:r>
          </a:p>
          <a:p>
            <a:r>
              <a:rPr sz="1200">
                <a:latin typeface="Arial"/>
              </a:rPr>
              <a:t>Figure source: </a:t>
            </a:r>
            <a:r>
              <a:rPr sz="1200">
                <a:latin typeface="Arial"/>
                <a:hlinkClick r:id="rId4"/>
              </a:rPr>
              <a:t>https://doi.org/10.1038/nn1613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Selectivity has several behavioral components. Partner-contact preference, effort to gain contact and aggression toward strangers are measured separately and can change independently.</a:t>
            </a:r>
          </a:p>
          <a:p>
            <a:r>
              <a:rPr sz="1200">
                <a:latin typeface="Arial"/>
              </a:rPr>
              <a:t>• Dopamine function changes with bonding. Accumbens D2-like signaling supports preference formation; later D1-like plasticity and dopamine release contribute to maintenance-associated social responses.</a:t>
            </a:r>
          </a:p>
          <a:p>
            <a:r>
              <a:rPr sz="1200">
                <a:latin typeface="Arial"/>
              </a:rPr>
              <a:t>• Dopamine and opioids interact directionally. KOR stimulation rescues aggression during D1 blockade, supporting a downstream dynorphin/KOR component of stranger rejection.</a:t>
            </a:r>
          </a:p>
          <a:p>
            <a:r>
              <a:rPr sz="1200">
                <a:latin typeface="Arial"/>
              </a:rPr>
              <a:t>• Hypothalamic vasopressin supports social defense. Local V1a activation promotes aggression, while antagonism and receptor-expression manipulations link the pathway to bonded males’ stranger rejection.</a:t>
            </a:r>
          </a:p>
          <a:p>
            <a:r>
              <a:rPr sz="1200">
                <a:latin typeface="Arial"/>
              </a:rPr>
              <a:t>• Partner acceptance has a synaptic mechanism. Pairing couples oxytocin receptor activation to CB1-dependent potentiation; CB1 blockade increases defensive responses toward partners without eliminating proximity preference.</a:t>
            </a:r>
          </a:p>
          <a:p>
            <a:r>
              <a:rPr sz="1200">
                <a:latin typeface="Arial"/>
              </a:rPr>
              <a:t>• Maintenance remains biologically flexible. Motherhood alters affiliation, and prolonged separation erodes partner-enhanced dopamine and bonding-associated transcription even while aspects of familiar-partner preference persist.</a:t>
            </a:r>
          </a:p>
          <a:p/>
          <a:p>
            <a:r>
              <a:rPr sz="1200">
                <a:latin typeface="Arial"/>
              </a:rPr>
              <a:t>References:</a:t>
            </a:r>
          </a:p>
          <a:p>
            <a:r>
              <a:rPr sz="1200">
                <a:latin typeface="Arial"/>
              </a:rPr>
              <a:t>Brandon J Aragona, Yan Liu, Y Joy Yu, J Thomas Curtis, Jacqueline M Detwiler, Thomas R Insel, Zuoxin Wang (2006). Nucleus accumbens dopamine differentially mediates the formation and maintenance of monogamous pair bonds. Nature Neuroscience 9: 133-139. </a:t>
            </a:r>
            <a:r>
              <a:rPr sz="1200">
                <a:latin typeface="Arial"/>
                <a:hlinkClick r:id="rId3"/>
              </a:rPr>
              <a:t>https://doi.org/10.1038/nn1613</a:t>
            </a:r>
          </a:p>
          <a:p>
            <a:r>
              <a:rPr sz="1200">
                <a:latin typeface="Arial"/>
              </a:rPr>
              <a:t>Shanna L Resendez, Piper C Keyes, Jeremy J Day, Caely Hambro, Curtis J Austin, Francis K Maina, Lori N Eidson, Kirsten A Porter-Stransky, Natalie Nevárez, J William McLean, Morgan A Kuhnmuench, Anne Z Murphy, Tiffany A Mathews, Brandon J Aragona (2016). Dopamine and opioid systems interact within the nucleus accumbens to maintain monogamous pair bonds. eLife 5: e15325. </a:t>
            </a:r>
            <a:r>
              <a:rPr sz="1200">
                <a:latin typeface="Arial"/>
                <a:hlinkClick r:id="rId4"/>
              </a:rPr>
              <a:t>https://doi.org/10.7554/eLife.15325</a:t>
            </a:r>
          </a:p>
          <a:p>
            <a:r>
              <a:rPr sz="1200">
                <a:latin typeface="Arial"/>
              </a:rPr>
              <a:t>Kyle L. Gobrogge, Yan Liu, Larry J. Young, Zuoxin Wang (2009). Anterior hypothalamic vasopressin regulates pair-bonding and drug-induced aggression in a monogamous rodent. Proceedings of the National Academy of Sciences 106: 19144-19149. </a:t>
            </a:r>
            <a:r>
              <a:rPr sz="1200">
                <a:latin typeface="Arial"/>
                <a:hlinkClick r:id="rId5"/>
              </a:rPr>
              <a:t>https://doi.org/10.1073/pnas.0908620106</a:t>
            </a:r>
          </a:p>
          <a:p>
            <a:r>
              <a:rPr sz="1200">
                <a:latin typeface="Arial"/>
              </a:rPr>
              <a:t>Amélie M. Borie, Sena Agezo, Parker Lunsford, Arjen J. Boender, Ji-Dong Guo, Hong Zhu, Gordon J. Berman, Larry J. Young, Robert C. Liu (2022). Social experience alters oxytocinergic modulation in the nucleus accumbens of female prairie voles. Current Biology 32: 1026-1037.e4. </a:t>
            </a:r>
            <a:r>
              <a:rPr sz="1200">
                <a:latin typeface="Arial"/>
                <a:hlinkClick r:id="rId6"/>
              </a:rPr>
              <a:t>https://doi.org/10.1016/j.cub.2022.01.014</a:t>
            </a:r>
          </a:p>
          <a:p>
            <a:r>
              <a:rPr sz="1200">
                <a:latin typeface="Arial"/>
              </a:rPr>
              <a:t>Anne F. Pierce, David S.W. Protter, Yurika L. Watanabe, Gabriel D. Chapel, Ryan T. Cameron, Zoe R. Donaldson (2024). Nucleus accumbens dopamine release reflects the selective nature of pair bonds. Current Biology 34: 519-530.e5. </a:t>
            </a:r>
            <a:r>
              <a:rPr sz="1200">
                <a:latin typeface="Arial"/>
                <a:hlinkClick r:id="rId7"/>
              </a:rPr>
              <a:t>https://doi.org/10.1016/j.cub.2023.12.041</a:t>
            </a:r>
          </a:p>
          <a:p>
            <a:r>
              <a:rPr sz="1200">
                <a:latin typeface="Arial"/>
              </a:rPr>
              <a:t>Santiago A. Forero, Lindsay L. Sailer, Aistė Girčytė, Jesus E. Madrid, Nicole Sullivan, Alexander G. Ophir (2023). Motherhood and DREADD manipulation of the nucleus accumbens weaken established pair bonds in female prairie voles. Hormones and Behavior 151: 105351. </a:t>
            </a:r>
            <a:r>
              <a:rPr sz="1200">
                <a:latin typeface="Arial"/>
                <a:hlinkClick r:id="rId8"/>
              </a:rPr>
              <a:t>https://doi.org/10.1016/j.yhbeh.2023.105351</a:t>
            </a:r>
          </a:p>
          <a:p>
            <a:r>
              <a:rPr sz="1200">
                <a:latin typeface="Arial"/>
              </a:rPr>
              <a:t>Julie M Sadino, Xander G Bradeen, Conor J Kelly, Liza E Brusman, Deena M Walker, Zoe R Donaldson (2023). Prolonged partner separation erodes nucleus accumbens transcriptional signatures of pair bonding in male prairie voles. eLife 12: e80517. </a:t>
            </a:r>
            <a:r>
              <a:rPr sz="1200">
                <a:latin typeface="Arial"/>
                <a:hlinkClick r:id="rId9"/>
              </a:rPr>
              <a:t>https://doi.org/10.7554/eLife.80517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7.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7.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7.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7.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7.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7.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46A8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EE6ED"/>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EE6ED"/>
                </a:solidFill>
                <a:latin typeface="Arial"/>
              </a:rPr>
              <a:t>Lecture 58</a:t>
            </a:r>
          </a:p>
        </p:txBody>
      </p:sp>
      <p:sp>
        <p:nvSpPr>
          <p:cNvPr id="5" name="Lecture title"/>
          <p:cNvSpPr txBox="1"/>
          <p:nvPr/>
        </p:nvSpPr>
        <p:spPr>
          <a:xfrm>
            <a:off x="685800" y="2103120"/>
            <a:ext cx="4724247" cy="3017520"/>
          </a:xfrm>
          <a:prstGeom prst="rect">
            <a:avLst/>
          </a:prstGeom>
          <a:noFill/>
        </p:spPr>
        <p:txBody>
          <a:bodyPr wrap="square" lIns="0" rIns="0" tIns="0" bIns="0">
            <a:spAutoFit/>
          </a:bodyPr>
          <a:lstStyle/>
          <a:p>
            <a:pPr algn="l">
              <a:lnSpc>
                <a:spcPct val="105000"/>
              </a:lnSpc>
              <a:spcAft>
                <a:spcPts val="0"/>
              </a:spcAft>
            </a:pPr>
            <a:r>
              <a:rPr sz="2600" b="1">
                <a:solidFill>
                  <a:srgbClr val="FFFFFF"/>
                </a:solidFill>
                <a:latin typeface="Arial"/>
              </a:rPr>
              <a:t>Prairie voles II: mate guarding, selective aggression, and neural mechanisms supporting the maintenance of established pair bonds</a:t>
            </a:r>
          </a:p>
        </p:txBody>
      </p:sp>
      <p:sp>
        <p:nvSpPr>
          <p:cNvPr id="6" name="TextBox 5"/>
          <p:cNvSpPr txBox="1"/>
          <p:nvPr/>
        </p:nvSpPr>
        <p:spPr>
          <a:xfrm>
            <a:off x="685800" y="530352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EE6ED"/>
                </a:solidFill>
                <a:latin typeface="Arial"/>
              </a:rPr>
              <a:t>Date TBD</a:t>
            </a:r>
          </a:p>
        </p:txBody>
      </p:sp>
      <p:sp>
        <p:nvSpPr>
          <p:cNvPr id="7" name="TextBox 6"/>
          <p:cNvSpPr txBox="1"/>
          <p:nvPr/>
        </p:nvSpPr>
        <p:spPr>
          <a:xfrm>
            <a:off x="685800" y="58521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EE6ED"/>
                </a:solidFill>
                <a:latin typeface="Arial"/>
              </a:rPr>
              <a:t>Jordan Lopez, Ph.D.</a:t>
            </a:r>
          </a:p>
          <a:p>
            <a:pPr algn="l">
              <a:lnSpc>
                <a:spcPct val="108000"/>
              </a:lnSpc>
              <a:spcAft>
                <a:spcPts val="200"/>
              </a:spcAft>
            </a:pPr>
            <a:r>
              <a:rPr sz="1200" b="0" i="0">
                <a:solidFill>
                  <a:srgbClr val="DEE6ED"/>
                </a:solidFill>
                <a:latin typeface="Arial"/>
              </a:rPr>
              <a:t>Professor of Neurobiology &amp; Biomedical Engineering</a:t>
            </a:r>
          </a:p>
        </p:txBody>
      </p:sp>
      <p:pic>
        <p:nvPicPr>
          <p:cNvPr id="8" name="Picture 7" descr="title_pair.png"/>
          <p:cNvPicPr>
            <a:picLocks noChangeAspect="1"/>
          </p:cNvPicPr>
          <p:nvPr/>
        </p:nvPicPr>
        <p:blipFill>
          <a:blip r:embed="rId2"/>
          <a:stretch>
            <a:fillRect/>
          </a:stretch>
        </p:blipFill>
        <p:spPr>
          <a:xfrm>
            <a:off x="6553047" y="822960"/>
            <a:ext cx="5181447" cy="444649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(2012), Fig. 2(C). Affiliative contact between prairie voles.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Established partners receive a different social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prairie vole </a:t>
            </a:r>
            <a:r>
              <a:rPr sz="1600" b="1" i="0">
                <a:solidFill>
                  <a:srgbClr val="3D4C5C"/>
                </a:solidFill>
                <a:latin typeface="Arial"/>
              </a:rPr>
              <a:t>pair bond</a:t>
            </a:r>
            <a:r>
              <a:rPr sz="1600" b="0" i="0">
                <a:solidFill>
                  <a:srgbClr val="000000"/>
                </a:solidFill>
                <a:latin typeface="Arial"/>
              </a:rPr>
              <a:t> is a durable, selective relationship with a particular mating partner. Aragona and colleagues compared male voles housed with male siblings with males that had lived with a female for two weeks. A female intruder was then introduced into the resident’s cage.</a:t>
            </a:r>
          </a:p>
          <a:p>
            <a:pPr algn="l">
              <a:lnSpc>
                <a:spcPct val="108000"/>
              </a:lnSpc>
              <a:spcAft>
                <a:spcPts val="960"/>
              </a:spcAft>
            </a:pPr>
            <a:r>
              <a:rPr sz="1600" b="0" i="0">
                <a:solidFill>
                  <a:srgbClr val="000000"/>
                </a:solidFill>
                <a:latin typeface="Arial"/>
              </a:rPr>
              <a:t>Bonded males attacked unfamiliar females but remained affiliative toward their own partners. </a:t>
            </a:r>
            <a:r>
              <a:rPr sz="1600" b="1" i="0">
                <a:solidFill>
                  <a:srgbClr val="3D4C5C"/>
                </a:solidFill>
                <a:latin typeface="Arial"/>
              </a:rPr>
              <a:t>Affiliation</a:t>
            </a:r>
            <a:r>
              <a:rPr sz="1600" b="0" i="0">
                <a:solidFill>
                  <a:srgbClr val="000000"/>
                </a:solidFill>
                <a:latin typeface="Arial"/>
              </a:rPr>
              <a:t> included approaching and huddling, or sustained side-by-side bodily contact. Sexually naive males investigated unfamiliar females without the intense aggression expressed by bonded residents.</a:t>
            </a:r>
          </a:p>
          <a:p>
            <a:pPr algn="l">
              <a:lnSpc>
                <a:spcPct val="108000"/>
              </a:lnSpc>
              <a:spcAft>
                <a:spcPts val="960"/>
              </a:spcAft>
            </a:pPr>
            <a:r>
              <a:rPr sz="1600" b="1" i="0">
                <a:solidFill>
                  <a:srgbClr val="3D4C5C"/>
                </a:solidFill>
                <a:latin typeface="Arial"/>
              </a:rPr>
              <a:t>Selective aggression</a:t>
            </a:r>
            <a:r>
              <a:rPr sz="1600" b="0" i="0">
                <a:solidFill>
                  <a:srgbClr val="000000"/>
                </a:solidFill>
                <a:latin typeface="Arial"/>
              </a:rPr>
              <a:t> therefore means that the response depends on the identity of the encountered animal. The same bonded male can accept his partner and reject another potential mate. This behavioral transformation links an established social relationship with the exclusion of unfamiliar animals.</a:t>
            </a:r>
          </a:p>
        </p:txBody>
      </p:sp>
      <p:pic>
        <p:nvPicPr>
          <p:cNvPr id="4" name="Picture 3" descr="classic_aggression.png"/>
          <p:cNvPicPr>
            <a:picLocks noChangeAspect="1"/>
          </p:cNvPicPr>
          <p:nvPr/>
        </p:nvPicPr>
        <p:blipFill>
          <a:blip r:embed="rId2"/>
          <a:stretch>
            <a:fillRect/>
          </a:stretch>
        </p:blipFill>
        <p:spPr>
          <a:xfrm>
            <a:off x="6504127" y="1280160"/>
            <a:ext cx="5120640" cy="2104171"/>
          </a:xfrm>
          <a:prstGeom prst="rect">
            <a:avLst/>
          </a:prstGeom>
        </p:spPr>
      </p:pic>
      <p:sp>
        <p:nvSpPr>
          <p:cNvPr id="5" name="Figure caption"/>
          <p:cNvSpPr txBox="1"/>
          <p:nvPr/>
        </p:nvSpPr>
        <p:spPr>
          <a:xfrm>
            <a:off x="6504127" y="34757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5(a,b). Aggression and affiliation toward partner and stranger.</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Partner choice and stranger rejection are distinct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D4C5C"/>
                </a:solidFill>
                <a:latin typeface="Arial"/>
              </a:rPr>
              <a:t>partner preference test</a:t>
            </a:r>
            <a:r>
              <a:rPr sz="1600" b="0" i="0">
                <a:solidFill>
                  <a:srgbClr val="000000"/>
                </a:solidFill>
                <a:latin typeface="Arial"/>
              </a:rPr>
              <a:t> measures how a vole distributes contact between a familiar partner and an unfamiliar animal. Both stimulus animals are tethered in separate compartments, while the subject moves freely. Contact is recorded during a three-hour session rather than inferred from a single approach.</a:t>
            </a:r>
          </a:p>
          <a:p>
            <a:pPr algn="l">
              <a:lnSpc>
                <a:spcPct val="108000"/>
              </a:lnSpc>
              <a:spcAft>
                <a:spcPts val="960"/>
              </a:spcAft>
            </a:pPr>
            <a:r>
              <a:rPr sz="1600" b="0" i="0">
                <a:solidFill>
                  <a:srgbClr val="000000"/>
                </a:solidFill>
                <a:latin typeface="Arial"/>
              </a:rPr>
              <a:t>Aragona and colleagues used six hours of cohabitation without mating as a condition that ordinarily produced no partner preference. In contrast, 24 hours with mating produced preferential partner contact. The familiar animal’s identity becomes associated with a selective affiliative response.</a:t>
            </a:r>
          </a:p>
          <a:p>
            <a:pPr algn="l">
              <a:lnSpc>
                <a:spcPct val="108000"/>
              </a:lnSpc>
              <a:spcAft>
                <a:spcPts val="960"/>
              </a:spcAft>
            </a:pPr>
            <a:r>
              <a:rPr sz="1600" b="0" i="0">
                <a:solidFill>
                  <a:srgbClr val="000000"/>
                </a:solidFill>
                <a:latin typeface="Arial"/>
              </a:rPr>
              <a:t>A preference test measures affiliation, whereas a resident-intruder test measures responses to an animal entering the home cage. Testing both behaviors distinguishes attraction to the partner from rejection of strangers, two complementary components of maintaining a selective relationship.</a:t>
            </a:r>
          </a:p>
        </p:txBody>
      </p:sp>
      <p:pic>
        <p:nvPicPr>
          <p:cNvPr id="4" name="Picture 3" descr="classic_preference.png"/>
          <p:cNvPicPr>
            <a:picLocks noChangeAspect="1"/>
          </p:cNvPicPr>
          <p:nvPr/>
        </p:nvPicPr>
        <p:blipFill>
          <a:blip r:embed="rId2"/>
          <a:stretch>
            <a:fillRect/>
          </a:stretch>
        </p:blipFill>
        <p:spPr>
          <a:xfrm>
            <a:off x="7092224" y="1280160"/>
            <a:ext cx="394444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1(a,b). Partner-contact time after shell or core injections.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Dopamine acts within a specific accumbens subregion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D4C5C"/>
                </a:solidFill>
                <a:latin typeface="Arial"/>
              </a:rPr>
              <a:t>nucleus accumbens</a:t>
            </a:r>
            <a:r>
              <a:rPr sz="1500" b="0" i="0">
                <a:solidFill>
                  <a:srgbClr val="000000"/>
                </a:solidFill>
                <a:latin typeface="Arial"/>
              </a:rPr>
              <a:t>, a ventral striatal structure involved in motivated behavior, contains distinguishable core and shell territories. Aragona and colleagues placed small injections into different territories and verified their locations in brain sections, connecting each pharmacological manipulation to its anatomical target.</a:t>
            </a:r>
          </a:p>
          <a:p>
            <a:pPr algn="l">
              <a:lnSpc>
                <a:spcPct val="108000"/>
              </a:lnSpc>
              <a:spcAft>
                <a:spcPts val="900"/>
              </a:spcAft>
            </a:pPr>
            <a:r>
              <a:rPr sz="1500" b="0" i="0">
                <a:solidFill>
                  <a:srgbClr val="000000"/>
                </a:solidFill>
                <a:latin typeface="Arial"/>
              </a:rPr>
              <a:t>The D2-like receptor agonist </a:t>
            </a:r>
            <a:r>
              <a:rPr sz="1500" b="1" i="0">
                <a:solidFill>
                  <a:srgbClr val="3D4C5C"/>
                </a:solidFill>
                <a:latin typeface="Arial"/>
              </a:rPr>
              <a:t>quinpirole</a:t>
            </a:r>
            <a:r>
              <a:rPr sz="1500" b="0" i="0">
                <a:solidFill>
                  <a:srgbClr val="000000"/>
                </a:solidFill>
                <a:latin typeface="Arial"/>
              </a:rPr>
              <a:t> induced partner preferences when delivered into the rostral shell. The effective dose included 0.04 ng. Delivery into the core or a more caudal shell location did not produce the same selective affiliation after six hours of nonmating cohabitation.</a:t>
            </a:r>
          </a:p>
          <a:p>
            <a:pPr algn="l">
              <a:lnSpc>
                <a:spcPct val="108000"/>
              </a:lnSpc>
              <a:spcAft>
                <a:spcPts val="900"/>
              </a:spcAft>
            </a:pPr>
            <a:r>
              <a:rPr sz="1500" b="0" i="0">
                <a:solidFill>
                  <a:srgbClr val="000000"/>
                </a:solidFill>
                <a:latin typeface="Arial"/>
              </a:rPr>
              <a:t>Rostral means toward the front of the brain; caudal means toward the rear. The anatomical comparison localizes dopamine-dependent preference formation within a heterogeneous structure. Dopamine’s behavioral effect depends on where its receptors are activated, rather than simply on a brain-wide increase in the transmitter.</a:t>
            </a:r>
          </a:p>
        </p:txBody>
      </p:sp>
      <p:pic>
        <p:nvPicPr>
          <p:cNvPr id="4" name="Picture 3" descr="classic_anatomy.png"/>
          <p:cNvPicPr>
            <a:picLocks noChangeAspect="1"/>
          </p:cNvPicPr>
          <p:nvPr/>
        </p:nvPicPr>
        <p:blipFill>
          <a:blip r:embed="rId2"/>
          <a:stretch>
            <a:fillRect/>
          </a:stretch>
        </p:blipFill>
        <p:spPr>
          <a:xfrm>
            <a:off x="1250974" y="1280160"/>
            <a:ext cx="3752546"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2(a–d). Histological locations of accumbens injections.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D1 and D2 activation have opposing behavioral effects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Quinpirole-induced preference was prevented by coadministration of the D1-like agonist SKF 38393 or the D2-like antagonist eticlopride. An </a:t>
            </a:r>
            <a:r>
              <a:rPr sz="1500" b="1" i="0">
                <a:solidFill>
                  <a:srgbClr val="3D4C5C"/>
                </a:solidFill>
                <a:latin typeface="Arial"/>
              </a:rPr>
              <a:t>agonist</a:t>
            </a:r>
            <a:r>
              <a:rPr sz="1500" b="0" i="0">
                <a:solidFill>
                  <a:srgbClr val="000000"/>
                </a:solidFill>
                <a:latin typeface="Arial"/>
              </a:rPr>
              <a:t> activates a receptor; an </a:t>
            </a:r>
            <a:r>
              <a:rPr sz="1500" b="1" i="0">
                <a:solidFill>
                  <a:srgbClr val="3D4C5C"/>
                </a:solidFill>
                <a:latin typeface="Arial"/>
              </a:rPr>
              <a:t>antagonist</a:t>
            </a:r>
            <a:r>
              <a:rPr sz="1500" b="0" i="0">
                <a:solidFill>
                  <a:srgbClr val="000000"/>
                </a:solidFill>
                <a:latin typeface="Arial"/>
              </a:rPr>
              <a:t> blocks its activation. Blocking D1-like receptors while stimulating D2-like receptors preserved a robust preference.</a:t>
            </a:r>
          </a:p>
          <a:p>
            <a:pPr algn="l">
              <a:lnSpc>
                <a:spcPct val="108000"/>
              </a:lnSpc>
              <a:spcAft>
                <a:spcPts val="900"/>
              </a:spcAft>
            </a:pPr>
            <a:r>
              <a:rPr sz="1500" b="0" i="0">
                <a:solidFill>
                  <a:srgbClr val="000000"/>
                </a:solidFill>
                <a:latin typeface="Arial"/>
              </a:rPr>
              <a:t>Dopamine receptors are membrane proteins that translate dopamine binding into intracellular signaling. </a:t>
            </a:r>
            <a:r>
              <a:rPr sz="1500" b="1" i="0">
                <a:solidFill>
                  <a:srgbClr val="3D4C5C"/>
                </a:solidFill>
                <a:latin typeface="Arial"/>
              </a:rPr>
              <a:t>D1-like</a:t>
            </a:r>
            <a:r>
              <a:rPr sz="1500" b="0" i="0">
                <a:solidFill>
                  <a:srgbClr val="000000"/>
                </a:solidFill>
                <a:latin typeface="Arial"/>
              </a:rPr>
              <a:t> and </a:t>
            </a:r>
            <a:r>
              <a:rPr sz="1500" b="1" i="0">
                <a:solidFill>
                  <a:srgbClr val="3D4C5C"/>
                </a:solidFill>
                <a:latin typeface="Arial"/>
              </a:rPr>
              <a:t>D2-like</a:t>
            </a:r>
            <a:r>
              <a:rPr sz="1500" b="0" i="0">
                <a:solidFill>
                  <a:srgbClr val="000000"/>
                </a:solidFill>
                <a:latin typeface="Arial"/>
              </a:rPr>
              <a:t> receptors belong to different receptor families. In this preparation, activating D2-like receptors promoted selective partner contact, while activating D1-like receptors opposed that response.</a:t>
            </a:r>
          </a:p>
          <a:p>
            <a:pPr algn="l">
              <a:lnSpc>
                <a:spcPct val="108000"/>
              </a:lnSpc>
              <a:spcAft>
                <a:spcPts val="900"/>
              </a:spcAft>
            </a:pPr>
            <a:r>
              <a:rPr sz="1500" b="0" i="0">
                <a:solidFill>
                  <a:srgbClr val="000000"/>
                </a:solidFill>
                <a:latin typeface="Arial"/>
              </a:rPr>
              <a:t>D1-like activation also blocked the preference normally produced by 24 hours of mating, while mating bouts remained comparable between groups. The receptor manipulation therefore changed the affiliative outcome of social experience. Formation of a preference depends on the balance between receptor systems within the rostral shell.</a:t>
            </a:r>
          </a:p>
        </p:txBody>
      </p:sp>
      <p:pic>
        <p:nvPicPr>
          <p:cNvPr id="4" name="Picture 3" descr="classic_receptors.png"/>
          <p:cNvPicPr>
            <a:picLocks noChangeAspect="1"/>
          </p:cNvPicPr>
          <p:nvPr/>
        </p:nvPicPr>
        <p:blipFill>
          <a:blip r:embed="rId2"/>
          <a:stretch>
            <a:fillRect/>
          </a:stretch>
        </p:blipFill>
        <p:spPr>
          <a:xfrm>
            <a:off x="6504127" y="1280160"/>
            <a:ext cx="5120640" cy="2875017"/>
          </a:xfrm>
          <a:prstGeom prst="rect">
            <a:avLst/>
          </a:prstGeom>
        </p:spPr>
      </p:pic>
      <p:sp>
        <p:nvSpPr>
          <p:cNvPr id="5" name="Figure caption"/>
          <p:cNvSpPr txBox="1"/>
          <p:nvPr/>
        </p:nvSpPr>
        <p:spPr>
          <a:xfrm>
            <a:off x="6504127" y="42466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3(a,b). Opposing receptor manipulations during preference formation.</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Extended pairing increases D1 receptor binding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increase occurred in accumbens core and shell, while the comparison region, the caudate putamen, lacked the same increase. D2-like binding remained similar between groups. Exposure to a female for only 24 hours, with or without mating, did not produce the two-week D1-like binding pattern.</a:t>
            </a:r>
          </a:p>
          <a:p>
            <a:pPr algn="l">
              <a:lnSpc>
                <a:spcPct val="108000"/>
              </a:lnSpc>
              <a:spcAft>
                <a:spcPts val="900"/>
              </a:spcAft>
            </a:pPr>
            <a:r>
              <a:rPr sz="1500" b="0" i="0">
                <a:solidFill>
                  <a:srgbClr val="000000"/>
                </a:solidFill>
                <a:latin typeface="Arial"/>
              </a:rPr>
              <a:t>After two weeks of cohabitation resulting in pregnancy, male prairie voles had approximately 60% greater D1-like receptor binding in the nucleus accumbens than sexually naive controls. </a:t>
            </a:r>
            <a:r>
              <a:rPr sz="1500" b="1" i="0">
                <a:solidFill>
                  <a:srgbClr val="3D4C5C"/>
                </a:solidFill>
                <a:latin typeface="Arial"/>
              </a:rPr>
              <a:t>Receptor autoradiography</a:t>
            </a:r>
            <a:r>
              <a:rPr sz="1500" b="0" i="0">
                <a:solidFill>
                  <a:srgbClr val="000000"/>
                </a:solidFill>
                <a:latin typeface="Arial"/>
              </a:rPr>
              <a:t> uses a radiolabeled ligand to locate and quantify binding sites in tissue sections.</a:t>
            </a:r>
          </a:p>
          <a:p>
            <a:pPr algn="l">
              <a:lnSpc>
                <a:spcPct val="108000"/>
              </a:lnSpc>
              <a:spcAft>
                <a:spcPts val="900"/>
              </a:spcAft>
            </a:pPr>
            <a:r>
              <a:rPr sz="1500" b="0" i="0">
                <a:solidFill>
                  <a:srgbClr val="000000"/>
                </a:solidFill>
                <a:latin typeface="Arial"/>
              </a:rPr>
              <a:t>A partner preference can therefore appear before this longer-term receptor reorganization. The later increase supplies a biological change associated with established bonds and stranger rejection. Individual binding values also varied, so the population-level change contains differences among bonded animals rather than an identical response in every male.</a:t>
            </a:r>
          </a:p>
        </p:txBody>
      </p:sp>
      <p:pic>
        <p:nvPicPr>
          <p:cNvPr id="4" name="Picture 3" descr="classic_binding.png"/>
          <p:cNvPicPr>
            <a:picLocks noChangeAspect="1"/>
          </p:cNvPicPr>
          <p:nvPr/>
        </p:nvPicPr>
        <p:blipFill>
          <a:blip r:embed="rId2"/>
          <a:stretch>
            <a:fillRect/>
          </a:stretch>
        </p:blipFill>
        <p:spPr>
          <a:xfrm>
            <a:off x="6138367" y="1280160"/>
            <a:ext cx="5486400" cy="2445602"/>
          </a:xfrm>
          <a:prstGeom prst="rect">
            <a:avLst/>
          </a:prstGeom>
        </p:spPr>
      </p:pic>
      <p:sp>
        <p:nvSpPr>
          <p:cNvPr id="5" name="Figure caption"/>
          <p:cNvSpPr txBox="1"/>
          <p:nvPr/>
        </p:nvSpPr>
        <p:spPr>
          <a:xfrm>
            <a:off x="6138367" y="381720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4(a–c). Receptor autoradiography after two weeks of pairing.</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D1 blockade suppresses stranger-directed aggression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D1-like receptor blockade abolished the high aggression normally directed toward the stranger. D2-like blockade left selective aggression intact. The investigators also measured open-field movement and social investigation, and the reduced aggression was not explained by a general loss of locomotor activity.</a:t>
            </a:r>
          </a:p>
          <a:p>
            <a:pPr algn="l">
              <a:lnSpc>
                <a:spcPct val="108000"/>
              </a:lnSpc>
              <a:spcAft>
                <a:spcPts val="900"/>
              </a:spcAft>
            </a:pPr>
            <a:r>
              <a:rPr sz="1500" b="0" i="0">
                <a:solidFill>
                  <a:srgbClr val="000000"/>
                </a:solidFill>
                <a:latin typeface="Arial"/>
              </a:rPr>
              <a:t>Aragona and colleagues injected receptor antagonists into the nucleus accumbens of males already bonded for two weeks. They then introduced an unfamiliar female during a resident-intruder test. This timing tested the expression of established stranger rejection, rather than the initial acquisition of a preference.</a:t>
            </a:r>
          </a:p>
          <a:p>
            <a:pPr algn="l">
              <a:lnSpc>
                <a:spcPct val="108000"/>
              </a:lnSpc>
              <a:spcAft>
                <a:spcPts val="900"/>
              </a:spcAft>
            </a:pPr>
            <a:r>
              <a:rPr sz="1500" b="0" i="0">
                <a:solidFill>
                  <a:srgbClr val="000000"/>
                </a:solidFill>
                <a:latin typeface="Arial"/>
              </a:rPr>
              <a:t>The maintenance-associated response therefore depends on active D1-like signaling when the stranger is encountered. Combined with the binding increase, the intervention connects social experience, receptor reorganization and an observable defensive behavior. A receptor system that opposes initial preference formation later supports rejection of alternative social partners.</a:t>
            </a:r>
          </a:p>
        </p:txBody>
      </p:sp>
      <p:pic>
        <p:nvPicPr>
          <p:cNvPr id="4" name="Picture 3" descr="classic_aggression.png"/>
          <p:cNvPicPr>
            <a:picLocks noChangeAspect="1"/>
          </p:cNvPicPr>
          <p:nvPr/>
        </p:nvPicPr>
        <p:blipFill>
          <a:blip r:embed="rId2"/>
          <a:stretch>
            <a:fillRect/>
          </a:stretch>
        </p:blipFill>
        <p:spPr>
          <a:xfrm>
            <a:off x="6138367" y="1280160"/>
            <a:ext cx="5486400" cy="2254468"/>
          </a:xfrm>
          <a:prstGeom prst="rect">
            <a:avLst/>
          </a:prstGeom>
        </p:spPr>
      </p:pic>
      <p:sp>
        <p:nvSpPr>
          <p:cNvPr id="5" name="Figure caption"/>
          <p:cNvSpPr txBox="1"/>
          <p:nvPr/>
        </p:nvSpPr>
        <p:spPr>
          <a:xfrm>
            <a:off x="6138367" y="362606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5(a,b). Receptor blockade during a resident-intruder test.</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Kappa receptors contribute to social defense</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Kappa-opioid receptors</a:t>
            </a:r>
            <a:r>
              <a:rPr sz="1600" b="0" i="0">
                <a:solidFill>
                  <a:srgbClr val="000000"/>
                </a:solidFill>
                <a:latin typeface="Arial"/>
              </a:rPr>
              <a:t>, abbreviated KORs, respond to the endogenous opioid peptide dynorphin. Resendez and colleagues tested their contribution to aggressive rejection in bonded prairie voles. The study scored attacks and affiliative contact separately during encounters with unfamiliar animals.</a:t>
            </a:r>
          </a:p>
          <a:p>
            <a:pPr algn="l">
              <a:lnSpc>
                <a:spcPct val="108000"/>
              </a:lnSpc>
              <a:spcAft>
                <a:spcPts val="960"/>
              </a:spcAft>
            </a:pPr>
            <a:r>
              <a:rPr sz="1600" b="0" i="0">
                <a:solidFill>
                  <a:srgbClr val="000000"/>
                </a:solidFill>
                <a:latin typeface="Arial"/>
              </a:rPr>
              <a:t>Aggression includes biting and lunging, whereas affiliation includes sustained side-by-side contact. Both male and female bonded voles expressed stranger-directed aggression, providing a basis for testing whether opioid signaling contributed to maintenance in both sexes rather than only in males.</a:t>
            </a:r>
          </a:p>
          <a:p>
            <a:pPr algn="l">
              <a:lnSpc>
                <a:spcPct val="108000"/>
              </a:lnSpc>
              <a:spcAft>
                <a:spcPts val="960"/>
              </a:spcAft>
            </a:pPr>
            <a:r>
              <a:rPr sz="1600" b="0" i="0">
                <a:solidFill>
                  <a:srgbClr val="000000"/>
                </a:solidFill>
                <a:latin typeface="Arial"/>
              </a:rPr>
              <a:t>Opioid receptor subtypes have different behavioral functions. The study compared kappa and mu receptor manipulations rather than treating all opioid signaling as equivalent. This distinction connects a specific receptor system with the aversive component of an established relationship while preserving affiliation as a separately measured social behavior.</a:t>
            </a:r>
          </a:p>
        </p:txBody>
      </p:sp>
      <p:pic>
        <p:nvPicPr>
          <p:cNvPr id="4" name="Picture 3" descr="kappa_photo.png"/>
          <p:cNvPicPr>
            <a:picLocks noChangeAspect="1"/>
          </p:cNvPicPr>
          <p:nvPr/>
        </p:nvPicPr>
        <p:blipFill>
          <a:blip r:embed="rId2"/>
          <a:stretch>
            <a:fillRect/>
          </a:stretch>
        </p:blipFill>
        <p:spPr>
          <a:xfrm>
            <a:off x="566928" y="1280160"/>
            <a:ext cx="5120640" cy="4042190"/>
          </a:xfrm>
          <a:prstGeom prst="rect">
            <a:avLst/>
          </a:prstGeom>
        </p:spPr>
      </p:pic>
      <p:sp>
        <p:nvSpPr>
          <p:cNvPr id="5" name="Figure caption"/>
          <p:cNvSpPr txBox="1"/>
          <p:nvPr/>
        </p:nvSpPr>
        <p:spPr>
          <a:xfrm>
            <a:off x="566928" y="54137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(2012), Fig. 2(A–D). Published photographs of aggression and affiliation.</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Shell KOR blockade reduces aggression in both sexes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Blocking KORs in the nucleus accumbens shell reduced attack behavior in both males and females. The same intervention did not produce an equivalent reduction at all comparison sites. Affiliation and locomotion were measured alongside aggression, helping identify the behavioral function affected by the receptor blockade.</a:t>
            </a:r>
          </a:p>
          <a:p>
            <a:pPr algn="l">
              <a:lnSpc>
                <a:spcPct val="108000"/>
              </a:lnSpc>
              <a:spcAft>
                <a:spcPts val="840"/>
              </a:spcAft>
            </a:pPr>
            <a:r>
              <a:rPr sz="1400" b="0" i="0">
                <a:solidFill>
                  <a:srgbClr val="000000"/>
                </a:solidFill>
                <a:latin typeface="Arial"/>
              </a:rPr>
              <a:t>Resendez and colleagues administered </a:t>
            </a:r>
            <a:r>
              <a:rPr sz="1400" b="1" i="0">
                <a:solidFill>
                  <a:srgbClr val="3D4C5C"/>
                </a:solidFill>
                <a:latin typeface="Arial"/>
              </a:rPr>
              <a:t>nor-binaltorphimine</a:t>
            </a:r>
            <a:r>
              <a:rPr sz="1400" b="0" i="0">
                <a:solidFill>
                  <a:srgbClr val="000000"/>
                </a:solidFill>
                <a:latin typeface="Arial"/>
              </a:rPr>
              <a:t>, a kappa-opioid receptor antagonist, into striatal subregions of pair-bonded prairie voles. Artificial cerebrospinal fluid supplied the local vehicle control. Subjects then encountered a same-sex unfamiliar intruder in a ten-minute behavioral test.</a:t>
            </a:r>
          </a:p>
          <a:p>
            <a:pPr algn="l">
              <a:lnSpc>
                <a:spcPct val="108000"/>
              </a:lnSpc>
              <a:spcAft>
                <a:spcPts val="840"/>
              </a:spcAft>
            </a:pPr>
            <a:r>
              <a:rPr sz="1400" b="0" i="0">
                <a:solidFill>
                  <a:srgbClr val="000000"/>
                </a:solidFill>
                <a:latin typeface="Arial"/>
              </a:rPr>
              <a:t>The shell thus participates in a receptor-specific mechanism of stranger rejection. In females, core KOR blockade instead increased aggression, emphasizing that neighboring territories can have different effects. Pair-bond defense is organized by the anatomical location and receptor subtype of the manipulated signal.</a:t>
            </a:r>
          </a:p>
        </p:txBody>
      </p:sp>
      <p:pic>
        <p:nvPicPr>
          <p:cNvPr id="4" name="Picture 3" descr="kappa_behavior.png"/>
          <p:cNvPicPr>
            <a:picLocks noChangeAspect="1"/>
          </p:cNvPicPr>
          <p:nvPr/>
        </p:nvPicPr>
        <p:blipFill>
          <a:blip r:embed="rId2"/>
          <a:stretch>
            <a:fillRect/>
          </a:stretch>
        </p:blipFill>
        <p:spPr>
          <a:xfrm>
            <a:off x="7838965" y="1280160"/>
            <a:ext cx="2085202"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(2012), Fig. 7(A–H). Site-specific kappa blockade and social behavior.</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(2012);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Anatomical controls distinguish shell from nearby sites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local infusion can alter behavior only if the relevant neural tissue receives the drug. Resendez and colleagues reconstructed injection locations in sections and compared shell placements with placements in the accumbens core and other striatal or pallidal regions.</a:t>
            </a:r>
          </a:p>
          <a:p>
            <a:pPr algn="l">
              <a:lnSpc>
                <a:spcPct val="108000"/>
              </a:lnSpc>
              <a:spcAft>
                <a:spcPts val="900"/>
              </a:spcAft>
            </a:pPr>
            <a:r>
              <a:rPr sz="1500" b="0" i="0">
                <a:solidFill>
                  <a:srgbClr val="000000"/>
                </a:solidFill>
                <a:latin typeface="Arial"/>
              </a:rPr>
              <a:t>The shell is anatomically distinguishable from the core and the ventral pallidum. Histological localization placed the effective aggression-reducing injections within shell tissue, whereas injections into adjacent territories produced different behavioral outcomes.</a:t>
            </a:r>
          </a:p>
          <a:p>
            <a:pPr algn="l">
              <a:lnSpc>
                <a:spcPct val="108000"/>
              </a:lnSpc>
              <a:spcAft>
                <a:spcPts val="900"/>
              </a:spcAft>
            </a:pPr>
            <a:r>
              <a:rPr sz="1500" b="0" i="0">
                <a:solidFill>
                  <a:srgbClr val="000000"/>
                </a:solidFill>
                <a:latin typeface="Arial"/>
              </a:rPr>
              <a:t>Anatomical verification strengthens the connection between KOR activation and a localized maintenance-associated response. The distinction is particularly consequential because core blockade had a different effect in females. A regional circuit account must preserve these site differences instead of assigning one behavioral function to the entire accumbens.</a:t>
            </a:r>
          </a:p>
        </p:txBody>
      </p:sp>
      <p:pic>
        <p:nvPicPr>
          <p:cNvPr id="4" name="Picture 3" descr="kappa_sites.png"/>
          <p:cNvPicPr>
            <a:picLocks noChangeAspect="1"/>
          </p:cNvPicPr>
          <p:nvPr/>
        </p:nvPicPr>
        <p:blipFill>
          <a:blip r:embed="rId2"/>
          <a:stretch>
            <a:fillRect/>
          </a:stretch>
        </p:blipFill>
        <p:spPr>
          <a:xfrm>
            <a:off x="7993215" y="1280160"/>
            <a:ext cx="214246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(2012), Fig. 6(A–G). Verified positions of shell, core and pallidal injections.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KOR activation can assign a negative social value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Resendez and colleagues paired sexually naive males with a female for one hour, too briefly to create a reliable partner preference in vehicle controls. Before pairing, experimental males received 1 μg of the KOR agonist U50,488 within the nucleus accumbens shell.</a:t>
            </a:r>
          </a:p>
          <a:p>
            <a:pPr algn="l">
              <a:lnSpc>
                <a:spcPct val="108000"/>
              </a:lnSpc>
              <a:spcAft>
                <a:spcPts val="960"/>
              </a:spcAft>
            </a:pPr>
            <a:r>
              <a:rPr sz="1600" b="0" i="0">
                <a:solidFill>
                  <a:srgbClr val="000000"/>
                </a:solidFill>
                <a:latin typeface="Arial"/>
              </a:rPr>
              <a:t>During the later social-choice test, agonist-treated males avoided the female encountered during receptor activation and preferred the unfamiliar female. They also spent less time in the familiar female’s compartment. Total contact with the two females remained similar to that of controls.</a:t>
            </a:r>
          </a:p>
          <a:p>
            <a:pPr algn="l">
              <a:lnSpc>
                <a:spcPct val="108000"/>
              </a:lnSpc>
              <a:spcAft>
                <a:spcPts val="960"/>
              </a:spcAft>
            </a:pPr>
            <a:r>
              <a:rPr sz="1600" b="0" i="0">
                <a:solidFill>
                  <a:srgbClr val="000000"/>
                </a:solidFill>
                <a:latin typeface="Arial"/>
              </a:rPr>
              <a:t>The intervention changed how social contact was distributed rather than eliminating social motivation. </a:t>
            </a:r>
            <a:r>
              <a:rPr sz="1600" b="1" i="0">
                <a:solidFill>
                  <a:srgbClr val="3D4C5C"/>
                </a:solidFill>
                <a:latin typeface="Arial"/>
              </a:rPr>
              <a:t>Valence</a:t>
            </a:r>
            <a:r>
              <a:rPr sz="1600" b="0" i="0">
                <a:solidFill>
                  <a:srgbClr val="000000"/>
                </a:solidFill>
                <a:latin typeface="Arial"/>
              </a:rPr>
              <a:t> describes the positive or negative value assigned to a stimulus. The authors’ hypothesis is that KOR-dependent negative social valuation contributes to rejection of animals outside an established bond.</a:t>
            </a:r>
          </a:p>
        </p:txBody>
      </p:sp>
      <p:pic>
        <p:nvPicPr>
          <p:cNvPr id="4" name="Picture 3" descr="interact_aversion.png"/>
          <p:cNvPicPr>
            <a:picLocks noChangeAspect="1"/>
          </p:cNvPicPr>
          <p:nvPr/>
        </p:nvPicPr>
        <p:blipFill>
          <a:blip r:embed="rId2"/>
          <a:stretch>
            <a:fillRect/>
          </a:stretch>
        </p:blipFill>
        <p:spPr>
          <a:xfrm>
            <a:off x="6504127" y="1280160"/>
            <a:ext cx="5120640" cy="4266377"/>
          </a:xfrm>
          <a:prstGeom prst="rect">
            <a:avLst/>
          </a:prstGeom>
        </p:spPr>
      </p:pic>
      <p:sp>
        <p:nvSpPr>
          <p:cNvPr id="5" name="Figure caption"/>
          <p:cNvSpPr txBox="1"/>
          <p:nvPr/>
        </p:nvSpPr>
        <p:spPr>
          <a:xfrm>
            <a:off x="6504127" y="563797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1(a–e). Social pairing with local KOR activation.</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Bonding increases dopamine and dynorphin transcripts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Messenger RNA</a:t>
            </a:r>
            <a:r>
              <a:rPr sz="1600" b="0" i="0">
                <a:solidFill>
                  <a:srgbClr val="000000"/>
                </a:solidFill>
                <a:latin typeface="Arial"/>
              </a:rPr>
              <a:t>, or mRNA, carries a gene’s information toward protein production. Resendez and colleagues used quantitative reverse-transcription measurements to compare dopamine and opioid-related transcripts after two weeks of opposite-sex cohabitation with those in sibling-housed voles.</a:t>
            </a:r>
          </a:p>
          <a:p>
            <a:pPr algn="l">
              <a:lnSpc>
                <a:spcPct val="108000"/>
              </a:lnSpc>
              <a:spcAft>
                <a:spcPts val="960"/>
              </a:spcAft>
            </a:pPr>
            <a:r>
              <a:rPr sz="1600" b="0" i="0">
                <a:solidFill>
                  <a:srgbClr val="000000"/>
                </a:solidFill>
                <a:latin typeface="Arial"/>
              </a:rPr>
              <a:t>In the ventral striatum, both bonded males and females had higher expression of </a:t>
            </a:r>
            <a:r>
              <a:rPr sz="1600" b="1" i="0">
                <a:solidFill>
                  <a:srgbClr val="3D4C5C"/>
                </a:solidFill>
                <a:latin typeface="Arial"/>
              </a:rPr>
              <a:t>Drd1</a:t>
            </a:r>
            <a:r>
              <a:rPr sz="1600" b="0" i="0">
                <a:solidFill>
                  <a:srgbClr val="000000"/>
                </a:solidFill>
                <a:latin typeface="Arial"/>
              </a:rPr>
              <a:t>, the gene encoding a D1 receptor, and </a:t>
            </a:r>
            <a:r>
              <a:rPr sz="1600" b="1" i="0">
                <a:solidFill>
                  <a:srgbClr val="3D4C5C"/>
                </a:solidFill>
                <a:latin typeface="Arial"/>
              </a:rPr>
              <a:t>Pdyn</a:t>
            </a:r>
            <a:r>
              <a:rPr sz="1600" b="0" i="0">
                <a:solidFill>
                  <a:srgbClr val="000000"/>
                </a:solidFill>
                <a:latin typeface="Arial"/>
              </a:rPr>
              <a:t>, the gene encoding the dynorphin precursor. The comparison separated ventral from dorsal striatal tissue, retaining the anatomical organization of the molecular change.</a:t>
            </a:r>
          </a:p>
          <a:p>
            <a:pPr algn="l">
              <a:lnSpc>
                <a:spcPct val="108000"/>
              </a:lnSpc>
              <a:spcAft>
                <a:spcPts val="960"/>
              </a:spcAft>
            </a:pPr>
            <a:r>
              <a:rPr sz="1600" b="0" i="0">
                <a:solidFill>
                  <a:srgbClr val="000000"/>
                </a:solidFill>
                <a:latin typeface="Arial"/>
              </a:rPr>
              <a:t>These coordinated changes supply a molecular association between dopamine receptor signaling and the endogenous ligand for KORs. Higher Drd1 and Pdyn expression associates the bonded state with both dopamine reception and production of the peptide that activates KORs.</a:t>
            </a:r>
          </a:p>
        </p:txBody>
      </p:sp>
      <p:pic>
        <p:nvPicPr>
          <p:cNvPr id="4" name="Picture 3" descr="interact_genes.png"/>
          <p:cNvPicPr>
            <a:picLocks noChangeAspect="1"/>
          </p:cNvPicPr>
          <p:nvPr/>
        </p:nvPicPr>
        <p:blipFill>
          <a:blip r:embed="rId2"/>
          <a:stretch>
            <a:fillRect/>
          </a:stretch>
        </p:blipFill>
        <p:spPr>
          <a:xfrm>
            <a:off x="7433889" y="1280160"/>
            <a:ext cx="2895354"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2(a–d). Regional dopamine and opioid gene expression.</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KOR binding changes differently in males and females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investigators measured kappa-opioid receptor binding after comparing the genes associated with bonding. Autoradiography sampled striatal territories in sibling-housed and pair-bonded males and females, allowing molecular expression and receptor-binding patterns to be assessed separately.</a:t>
            </a:r>
          </a:p>
          <a:p>
            <a:pPr algn="l">
              <a:lnSpc>
                <a:spcPct val="108000"/>
              </a:lnSpc>
              <a:spcAft>
                <a:spcPts val="960"/>
              </a:spcAft>
            </a:pPr>
            <a:r>
              <a:rPr sz="1600" b="0" i="0">
                <a:solidFill>
                  <a:srgbClr val="000000"/>
                </a:solidFill>
                <a:latin typeface="Arial"/>
              </a:rPr>
              <a:t>Bonded males had lower KOR binding in portions of the accumbens shell than nonpaired males. Females did not exhibit the same bonding-associated reduction. Before bonding, males had higher binding in several ventral striatal territories; after pairing, those sex differences were reduced.</a:t>
            </a:r>
          </a:p>
          <a:p>
            <a:pPr algn="l">
              <a:lnSpc>
                <a:spcPct val="108000"/>
              </a:lnSpc>
              <a:spcAft>
                <a:spcPts val="960"/>
              </a:spcAft>
            </a:pPr>
            <a:r>
              <a:rPr sz="1600" b="0" i="0">
                <a:solidFill>
                  <a:srgbClr val="000000"/>
                </a:solidFill>
                <a:latin typeface="Arial"/>
              </a:rPr>
              <a:t>Increasing dynorphin-related transcription can therefore accompany a decrease in measured receptor binding. Receptor number, ligand production and physiological sensitivity are different features of a signaling system. Bonded males can have fewer measured binding sites while expressing stronger KOR-mediated suppression of dopamine release.</a:t>
            </a:r>
          </a:p>
        </p:txBody>
      </p:sp>
      <p:pic>
        <p:nvPicPr>
          <p:cNvPr id="4" name="Picture 3" descr="interact_binding.png"/>
          <p:cNvPicPr>
            <a:picLocks noChangeAspect="1"/>
          </p:cNvPicPr>
          <p:nvPr/>
        </p:nvPicPr>
        <p:blipFill>
          <a:blip r:embed="rId2"/>
          <a:stretch>
            <a:fillRect/>
          </a:stretch>
        </p:blipFill>
        <p:spPr>
          <a:xfrm>
            <a:off x="7185868" y="1280160"/>
            <a:ext cx="37571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3(a–d). Original striatal KOR autoradiographs and binding values.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Dopamine release depends on stimulation and location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Fast-scan cyclic voltammetry</a:t>
            </a:r>
            <a:r>
              <a:rPr sz="1600" b="0" i="0">
                <a:solidFill>
                  <a:srgbClr val="000000"/>
                </a:solidFill>
                <a:latin typeface="Arial"/>
              </a:rPr>
              <a:t> detects rapid dopamine concentration changes with a carbon-fiber electrode. Resendez and colleagues applied electrical stimulation to prairie vole brain slices and compared responses in dorsal striatum, accumbens core and accumbens shell.</a:t>
            </a:r>
          </a:p>
          <a:p>
            <a:pPr algn="l">
              <a:lnSpc>
                <a:spcPct val="108000"/>
              </a:lnSpc>
              <a:spcAft>
                <a:spcPts val="960"/>
              </a:spcAft>
            </a:pPr>
            <a:r>
              <a:rPr sz="1600" b="0" i="0">
                <a:solidFill>
                  <a:srgbClr val="000000"/>
                </a:solidFill>
                <a:latin typeface="Arial"/>
              </a:rPr>
              <a:t>A single stimulus pulse produced the largest dopamine release in dorsal striatum and smaller release in the ventral territories. A 20-pulse stimulation increased release more strongly relative to the single-pulse response in the shell than in the dorsal region.</a:t>
            </a:r>
          </a:p>
          <a:p>
            <a:pPr algn="l">
              <a:lnSpc>
                <a:spcPct val="108000"/>
              </a:lnSpc>
              <a:spcAft>
                <a:spcPts val="960"/>
              </a:spcAft>
            </a:pPr>
            <a:r>
              <a:rPr sz="1600" b="0" i="0">
                <a:solidFill>
                  <a:srgbClr val="000000"/>
                </a:solidFill>
                <a:latin typeface="Arial"/>
              </a:rPr>
              <a:t>The relative amplification connects the shell’s dopamine signal with the temporal pattern of neural input. Brief isolated activation and burst-like stimulation need not recruit the same amount of transmitter. This physiological organization supplies a way for changing activity to alter receptor recruitment within a behaviorally relevant subregion.</a:t>
            </a:r>
          </a:p>
        </p:txBody>
      </p:sp>
      <p:pic>
        <p:nvPicPr>
          <p:cNvPr id="4" name="Picture 3" descr="interact_dynamics.png"/>
          <p:cNvPicPr>
            <a:picLocks noChangeAspect="1"/>
          </p:cNvPicPr>
          <p:nvPr/>
        </p:nvPicPr>
        <p:blipFill>
          <a:blip r:embed="rId2"/>
          <a:stretch>
            <a:fillRect/>
          </a:stretch>
        </p:blipFill>
        <p:spPr>
          <a:xfrm>
            <a:off x="6504127" y="1280160"/>
            <a:ext cx="5120640" cy="4058133"/>
          </a:xfrm>
          <a:prstGeom prst="rect">
            <a:avLst/>
          </a:prstGeom>
        </p:spPr>
      </p:pic>
      <p:sp>
        <p:nvSpPr>
          <p:cNvPr id="5" name="Figure caption"/>
          <p:cNvSpPr txBox="1"/>
          <p:nvPr/>
        </p:nvSpPr>
        <p:spPr>
          <a:xfrm>
            <a:off x="6504127" y="542973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4(a–i). Original voltammetric maps and striatal release measurements.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Bonding enhances evoked dopamine release in the shell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single stimulus pulse produced greater dopamine release in the accumbens shell of bonded males and females. The average increase was 34% in males and 99% in females. The dorsal striatum and accumbens core did not exhibit the corresponding bonding-associated increase.</a:t>
            </a:r>
          </a:p>
          <a:p>
            <a:pPr algn="l">
              <a:lnSpc>
                <a:spcPct val="108000"/>
              </a:lnSpc>
              <a:spcAft>
                <a:spcPts val="960"/>
              </a:spcAft>
            </a:pPr>
            <a:r>
              <a:rPr sz="1600" b="0" i="0">
                <a:solidFill>
                  <a:srgbClr val="000000"/>
                </a:solidFill>
                <a:latin typeface="Arial"/>
              </a:rPr>
              <a:t>After two weeks of pairing, the investigators compared electrically evoked dopamine release in bonded and nonpaired animals. Identical stimulation and recording procedures separated changes associated with social history from changes caused by using different physiological preparations.</a:t>
            </a:r>
          </a:p>
          <a:p>
            <a:pPr algn="l">
              <a:lnSpc>
                <a:spcPct val="108000"/>
              </a:lnSpc>
              <a:spcAft>
                <a:spcPts val="960"/>
              </a:spcAft>
            </a:pPr>
            <a:r>
              <a:rPr sz="1600" b="0" i="0">
                <a:solidFill>
                  <a:srgbClr val="000000"/>
                </a:solidFill>
                <a:latin typeface="Arial"/>
              </a:rPr>
              <a:t>The release change adds a physiological component to the increase in D1-related transcription. More dopamine becomes available within the territory whose receptors regulate selective aggression. Females had a larger relative release increase, although transmitter dynamics and attack intensity followed different sex-specific patterns.</a:t>
            </a:r>
          </a:p>
        </p:txBody>
      </p:sp>
      <p:pic>
        <p:nvPicPr>
          <p:cNvPr id="4" name="Picture 3" descr="interact_release.png"/>
          <p:cNvPicPr>
            <a:picLocks noChangeAspect="1"/>
          </p:cNvPicPr>
          <p:nvPr/>
        </p:nvPicPr>
        <p:blipFill>
          <a:blip r:embed="rId2"/>
          <a:stretch>
            <a:fillRect/>
          </a:stretch>
        </p:blipFill>
        <p:spPr>
          <a:xfrm>
            <a:off x="6504127" y="1280160"/>
            <a:ext cx="5120640" cy="3007792"/>
          </a:xfrm>
          <a:prstGeom prst="rect">
            <a:avLst/>
          </a:prstGeom>
        </p:spPr>
      </p:pic>
      <p:sp>
        <p:nvSpPr>
          <p:cNvPr id="5" name="Figure caption"/>
          <p:cNvSpPr txBox="1"/>
          <p:nvPr/>
        </p:nvSpPr>
        <p:spPr>
          <a:xfrm>
            <a:off x="6504127" y="437939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5(a–h). Dopamine release in nonpaired and pair-bonded slices.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Reproductive status modifies male defensive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Males from pairs with earlier-established pregnancies displayed more aggression than males from pairs with delayed pregnancies. The same reproductive classification did not produce an equivalent difference in females. Dopamine release in the male accumbens shell also varied with the pair’s reproductive condition.</a:t>
            </a:r>
          </a:p>
          <a:p>
            <a:pPr algn="l">
              <a:lnSpc>
                <a:spcPct val="108000"/>
              </a:lnSpc>
              <a:spcAft>
                <a:spcPts val="900"/>
              </a:spcAft>
            </a:pPr>
            <a:r>
              <a:rPr sz="1500" b="1" i="0">
                <a:solidFill>
                  <a:srgbClr val="3D4C5C"/>
                </a:solidFill>
                <a:latin typeface="Arial"/>
              </a:rPr>
              <a:t>Fecundity</a:t>
            </a:r>
            <a:r>
              <a:rPr sz="1500" b="0" i="0">
                <a:solidFill>
                  <a:srgbClr val="000000"/>
                </a:solidFill>
                <a:latin typeface="Arial"/>
              </a:rPr>
              <a:t> refers to reproductive output or potential. Resendez and colleagues classified paired animals by the progress of pregnancy after two weeks of cohabitation, using offspring weight to estimate the timing of mating and fertilization relative to the start of pairing.</a:t>
            </a:r>
          </a:p>
          <a:p>
            <a:pPr algn="l">
              <a:lnSpc>
                <a:spcPct val="108000"/>
              </a:lnSpc>
              <a:spcAft>
                <a:spcPts val="900"/>
              </a:spcAft>
            </a:pPr>
            <a:r>
              <a:rPr sz="1500" b="0" i="0">
                <a:solidFill>
                  <a:srgbClr val="000000"/>
                </a:solidFill>
                <a:latin typeface="Arial"/>
              </a:rPr>
              <a:t>For males, greater shell dopamine release accompanied greater attack frequency. These relationships connect established reproductive investment with defensive behavior and a candidate physiological mechanism. The female results retain a different organization: bonding-related dopamine changes occurred without the same dependence on pregnancy timing.</a:t>
            </a:r>
          </a:p>
        </p:txBody>
      </p:sp>
      <p:pic>
        <p:nvPicPr>
          <p:cNvPr id="4" name="Picture 3" descr="interact_reproduction.png"/>
          <p:cNvPicPr>
            <a:picLocks noChangeAspect="1"/>
          </p:cNvPicPr>
          <p:nvPr/>
        </p:nvPicPr>
        <p:blipFill>
          <a:blip r:embed="rId2"/>
          <a:stretch>
            <a:fillRect/>
          </a:stretch>
        </p:blipFill>
        <p:spPr>
          <a:xfrm>
            <a:off x="8217058" y="1280160"/>
            <a:ext cx="1329017"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6(a–h). Fecundity, selective aggression and shell dopamine release.</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KOR activation feeds back onto dopamine release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interaction between dopamine and opioid signaling was tested directly in brain slices. The investigators applied the KOR agonist BRL 5237 while measuring electrically evoked dopamine release in the nucleus accumbens shell with fast-scan cyclic voltammetry.</a:t>
            </a:r>
          </a:p>
          <a:p>
            <a:pPr algn="l">
              <a:lnSpc>
                <a:spcPct val="108000"/>
              </a:lnSpc>
              <a:spcAft>
                <a:spcPts val="960"/>
              </a:spcAft>
            </a:pPr>
            <a:r>
              <a:rPr sz="1600" b="0" i="0">
                <a:solidFill>
                  <a:srgbClr val="000000"/>
                </a:solidFill>
                <a:latin typeface="Arial"/>
              </a:rPr>
              <a:t>KOR activation reduced dopamine release in nonpaired animals. After bonding, this inhibitory modulation became stronger in males, while females did not show the same change. Concentration-response measurements therefore distinguished receptor sensitivity from the amount of receptor binding measured in tissue sections.</a:t>
            </a:r>
          </a:p>
          <a:p>
            <a:pPr algn="l">
              <a:lnSpc>
                <a:spcPct val="108000"/>
              </a:lnSpc>
              <a:spcAft>
                <a:spcPts val="960"/>
              </a:spcAft>
            </a:pPr>
            <a:r>
              <a:rPr sz="1600" b="0" i="0">
                <a:solidFill>
                  <a:srgbClr val="000000"/>
                </a:solidFill>
                <a:latin typeface="Arial"/>
              </a:rPr>
              <a:t>A reduction in male KOR binding can coexist with stronger functional inhibition of dopamine release. Binding and physiological suppression therefore describe different properties of the receptor system. This feedback supplies an additional route by which the dopamine–dynorphin system adjusts transmitter availability within the shell after bonding.</a:t>
            </a:r>
          </a:p>
        </p:txBody>
      </p:sp>
      <p:pic>
        <p:nvPicPr>
          <p:cNvPr id="4" name="Picture 3" descr="interact_feedback.png"/>
          <p:cNvPicPr>
            <a:picLocks noChangeAspect="1"/>
          </p:cNvPicPr>
          <p:nvPr/>
        </p:nvPicPr>
        <p:blipFill>
          <a:blip r:embed="rId2"/>
          <a:stretch>
            <a:fillRect/>
          </a:stretch>
        </p:blipFill>
        <p:spPr>
          <a:xfrm>
            <a:off x="7783407" y="1280160"/>
            <a:ext cx="256207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7(a–j). KOR agonist effects on evoked shell dopamine.</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KOR stimulation restores attacks during D1 blockade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investigators combined receptor manipulations in males already bonded for two weeks. A D1-like antagonist within the accumbens shell reduced attack frequency and increased the delay before attacking an unfamiliar intruder, reproducing the maintenance-associated role of D1 signaling.</a:t>
            </a:r>
          </a:p>
          <a:p>
            <a:pPr algn="l">
              <a:lnSpc>
                <a:spcPct val="108000"/>
              </a:lnSpc>
              <a:spcAft>
                <a:spcPts val="900"/>
              </a:spcAft>
            </a:pPr>
            <a:r>
              <a:rPr sz="1500" b="0" i="0">
                <a:solidFill>
                  <a:srgbClr val="000000"/>
                </a:solidFill>
                <a:latin typeface="Arial"/>
              </a:rPr>
              <a:t>When a KOR agonist was administered together with the D1-like antagonist, attack frequency and latency returned toward the control pattern. Activating KORs could therefore restore aggression even while the upstream dopamine receptor manipulation suppressed D1-like signaling.</a:t>
            </a:r>
          </a:p>
          <a:p>
            <a:pPr algn="l">
              <a:lnSpc>
                <a:spcPct val="108000"/>
              </a:lnSpc>
              <a:spcAft>
                <a:spcPts val="900"/>
              </a:spcAft>
            </a:pPr>
            <a:r>
              <a:rPr sz="1500" b="0" i="0">
                <a:solidFill>
                  <a:srgbClr val="000000"/>
                </a:solidFill>
                <a:latin typeface="Arial"/>
              </a:rPr>
              <a:t>This pharmacological rescue supports the authors’ hypothesis that D1-dependent social defense recruits downstream dynorphin/KOR signaling. A rescue experiment tests pathway organization by restoring a candidate downstream function during upstream blockade. The reciprocal manipulation left aggression suppressed when KORs were blocked, even with concurrent D1-like activation.</a:t>
            </a:r>
          </a:p>
        </p:txBody>
      </p:sp>
      <p:pic>
        <p:nvPicPr>
          <p:cNvPr id="4" name="Picture 3" descr="interact_male.png"/>
          <p:cNvPicPr>
            <a:picLocks noChangeAspect="1"/>
          </p:cNvPicPr>
          <p:nvPr/>
        </p:nvPicPr>
        <p:blipFill>
          <a:blip r:embed="rId2"/>
          <a:stretch>
            <a:fillRect/>
          </a:stretch>
        </p:blipFill>
        <p:spPr>
          <a:xfrm>
            <a:off x="7551733" y="1280160"/>
            <a:ext cx="302542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9(b,d,e). Male injection sites, attacks and attack latency.</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D1 stimulation cannot bypass blocked KOR signaling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That combination left attack frequency reduced and attack latency increased relative to paired controls. The overall rescue pattern was shared by males and females: KOR activation bypassed D1 blockade, whereas D1 activation did not bypass KOR blockade. Affiliation and locomotor behavior remained comparable across the manipulation groups.</a:t>
            </a:r>
          </a:p>
          <a:p>
            <a:pPr algn="l">
              <a:lnSpc>
                <a:spcPct val="108000"/>
              </a:lnSpc>
              <a:spcAft>
                <a:spcPts val="900"/>
              </a:spcAft>
            </a:pPr>
            <a:r>
              <a:rPr sz="1500" b="0" i="0">
                <a:solidFill>
                  <a:srgbClr val="000000"/>
                </a:solidFill>
                <a:latin typeface="Arial"/>
              </a:rPr>
              <a:t>The reciprocal combination tested whether D1-like activation could restore aggression when KORs were blocked. Resendez and colleagues infused a D1-like agonist together with a KOR antagonist into the accumbens shell of bonded animals before the intruder encounter.</a:t>
            </a:r>
          </a:p>
          <a:p>
            <a:pPr algn="l">
              <a:lnSpc>
                <a:spcPct val="108000"/>
              </a:lnSpc>
              <a:spcAft>
                <a:spcPts val="900"/>
              </a:spcAft>
            </a:pPr>
            <a:r>
              <a:rPr sz="1500" b="0" i="0">
                <a:solidFill>
                  <a:srgbClr val="000000"/>
                </a:solidFill>
                <a:latin typeface="Arial"/>
              </a:rPr>
              <a:t>The direction of rescue places KOR signaling downstream in the proposed functional pathway. Dopamine and dynorphin therefore contribute through an organized interaction rather than two interchangeable signals. Shared pathway organization can support selective aggression in both sexes despite their different receptor-binding and release adaptations.</a:t>
            </a:r>
          </a:p>
        </p:txBody>
      </p:sp>
      <p:pic>
        <p:nvPicPr>
          <p:cNvPr id="4" name="Picture 3" descr="interact_female.png"/>
          <p:cNvPicPr>
            <a:picLocks noChangeAspect="1"/>
          </p:cNvPicPr>
          <p:nvPr/>
        </p:nvPicPr>
        <p:blipFill>
          <a:blip r:embed="rId2"/>
          <a:stretch>
            <a:fillRect/>
          </a:stretch>
        </p:blipFill>
        <p:spPr>
          <a:xfrm>
            <a:off x="7552788" y="1280160"/>
            <a:ext cx="302331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Resendez et al. (2016), Fig. 9(c,f,g). Female injection sites and combined receptor manipulations.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Resendez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Stranger encounters recruit hypothalamic vasopressin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Arginine vasopressin</a:t>
            </a:r>
            <a:r>
              <a:rPr sz="1600" b="0" i="0">
                <a:solidFill>
                  <a:srgbClr val="000000"/>
                </a:solidFill>
                <a:latin typeface="Arial"/>
              </a:rPr>
              <a:t>, or AVP, is a neuropeptide that modulates social responses through membrane receptors. Gobrogge and colleagues examined the </a:t>
            </a:r>
            <a:r>
              <a:rPr sz="1600" b="1" i="0">
                <a:solidFill>
                  <a:srgbClr val="3D4C5C"/>
                </a:solidFill>
                <a:latin typeface="Arial"/>
              </a:rPr>
              <a:t>anterior hypothalamus</a:t>
            </a:r>
            <a:r>
              <a:rPr sz="1600" b="0" i="0">
                <a:solidFill>
                  <a:srgbClr val="000000"/>
                </a:solidFill>
                <a:latin typeface="Arial"/>
              </a:rPr>
              <a:t>, a forebrain region implicated in aggression, in males that had lived with a female partner for two weeks.</a:t>
            </a:r>
          </a:p>
          <a:p>
            <a:pPr algn="l">
              <a:lnSpc>
                <a:spcPct val="108000"/>
              </a:lnSpc>
              <a:spcAft>
                <a:spcPts val="960"/>
              </a:spcAft>
            </a:pPr>
            <a:r>
              <a:rPr sz="1600" b="0" i="0">
                <a:solidFill>
                  <a:srgbClr val="000000"/>
                </a:solidFill>
                <a:latin typeface="Arial"/>
              </a:rPr>
              <a:t>During a resident-intruder encounter, bonded males were aggressive toward an unfamiliar female but affiliative toward their partner. Microdialysis sampled extracellular fluid from the anterior hypothalamus, and an immunological assay measured vasopressin in those samples.</a:t>
            </a:r>
          </a:p>
          <a:p>
            <a:pPr algn="l">
              <a:lnSpc>
                <a:spcPct val="108000"/>
              </a:lnSpc>
              <a:spcAft>
                <a:spcPts val="960"/>
              </a:spcAft>
            </a:pPr>
            <a:r>
              <a:rPr sz="1600" b="0" i="0">
                <a:solidFill>
                  <a:srgbClr val="000000"/>
                </a:solidFill>
                <a:latin typeface="Arial"/>
              </a:rPr>
              <a:t>The first ten minutes of stranger interaction were accompanied by greater vasopressin release than partner interaction. Across the hour-long encounter, vasopressin concentrations increased with aggression and decreased with affiliation. The local peptide signal therefore tracked the identity-dependent social response expressed by the resident.</a:t>
            </a:r>
          </a:p>
        </p:txBody>
      </p:sp>
      <p:pic>
        <p:nvPicPr>
          <p:cNvPr id="4" name="Picture 3" descr="vaso_binding.png"/>
          <p:cNvPicPr>
            <a:picLocks noChangeAspect="1"/>
          </p:cNvPicPr>
          <p:nvPr/>
        </p:nvPicPr>
        <p:blipFill>
          <a:blip r:embed="rId2"/>
          <a:stretch>
            <a:fillRect/>
          </a:stretch>
        </p:blipFill>
        <p:spPr>
          <a:xfrm>
            <a:off x="566928" y="1280160"/>
            <a:ext cx="5120640" cy="3507751"/>
          </a:xfrm>
          <a:prstGeom prst="rect">
            <a:avLst/>
          </a:prstGeom>
        </p:spPr>
      </p:pic>
      <p:sp>
        <p:nvSpPr>
          <p:cNvPr id="5" name="Figure caption"/>
          <p:cNvSpPr txBox="1"/>
          <p:nvPr/>
        </p:nvSpPr>
        <p:spPr>
          <a:xfrm>
            <a:off x="566928" y="487935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Gobrogge et al. (2009), Fig. 2(A–D). V1a and oxytocin receptor binding in original brain sections.</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Gobrogge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Local vasopressin stimulation promotes aggression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Gobrogge and colleagues tested vasopressin’s action by infusing it directly into the anterior hypothalamus of sexually naive males. Each side received a 200 nL injection, while vehicle-treated animals provided a control for the procedure and fluid delivery.</a:t>
            </a:r>
          </a:p>
          <a:p>
            <a:pPr algn="l">
              <a:lnSpc>
                <a:spcPct val="108000"/>
              </a:lnSpc>
              <a:spcAft>
                <a:spcPts val="960"/>
              </a:spcAft>
            </a:pPr>
            <a:r>
              <a:rPr sz="1600" b="0" i="0">
                <a:solidFill>
                  <a:srgbClr val="000000"/>
                </a:solidFill>
                <a:latin typeface="Arial"/>
              </a:rPr>
              <a:t>A dose of 500 ng per side induced aggression toward a novel female, whereas 5 ng per side did not produce that increase. Coadministration of a V1a receptor antagonist blocked the peptide-induced aggression. Misplaced injections supplied an anatomical comparison and were ineffective.</a:t>
            </a:r>
          </a:p>
          <a:p>
            <a:pPr algn="l">
              <a:lnSpc>
                <a:spcPct val="108000"/>
              </a:lnSpc>
              <a:spcAft>
                <a:spcPts val="960"/>
              </a:spcAft>
            </a:pPr>
            <a:r>
              <a:rPr sz="1600" b="1" i="0">
                <a:solidFill>
                  <a:srgbClr val="3D4C5C"/>
                </a:solidFill>
                <a:latin typeface="Arial"/>
              </a:rPr>
              <a:t>V1a receptors</a:t>
            </a:r>
            <a:r>
              <a:rPr sz="1600" b="0" i="0">
                <a:solidFill>
                  <a:srgbClr val="000000"/>
                </a:solidFill>
                <a:latin typeface="Arial"/>
              </a:rPr>
              <a:t> are a vasopressin-sensitive receptor subtype. The paired agonist and antagonist experiments connect the local peptide effect to this receptor rather than to injection alone. Artificially recruiting the pathway can generate an aggressive response in males without the preceding two-week bonding experience.</a:t>
            </a:r>
          </a:p>
        </p:txBody>
      </p:sp>
      <p:pic>
        <p:nvPicPr>
          <p:cNvPr id="4" name="Picture 3" descr="vaso_binding.png"/>
          <p:cNvPicPr>
            <a:picLocks noChangeAspect="1"/>
          </p:cNvPicPr>
          <p:nvPr/>
        </p:nvPicPr>
        <p:blipFill>
          <a:blip r:embed="rId2"/>
          <a:stretch>
            <a:fillRect/>
          </a:stretch>
        </p:blipFill>
        <p:spPr>
          <a:xfrm>
            <a:off x="7146265" y="1280160"/>
            <a:ext cx="347060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Gobrogge et al. (2009), Fig. 2(A–D). Hypothalamic receptor-binding anatomy.</a:t>
            </a:r>
          </a:p>
        </p:txBody>
      </p:sp>
      <p:pic>
        <p:nvPicPr>
          <p:cNvPr id="6" name="Picture 5" descr="vaso_release.png"/>
          <p:cNvPicPr>
            <a:picLocks noChangeAspect="1"/>
          </p:cNvPicPr>
          <p:nvPr/>
        </p:nvPicPr>
        <p:blipFill>
          <a:blip r:embed="rId3"/>
          <a:stretch>
            <a:fillRect/>
          </a:stretch>
        </p:blipFill>
        <p:spPr>
          <a:xfrm>
            <a:off x="8094564" y="4206240"/>
            <a:ext cx="1574004"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Gobrogge et al. (2009), Fig. 1(A–H). Microdialysis results and local receptor interventions.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Gobrogge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V1a blockade shifts bonded males toward affiliation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To test the pathway during an established bond, the investigators infused a V1a antagonist into the anterior hypothalamus of males paired for two weeks. The males then encountered an unfamiliar female during a ten-minute resident-intruder test.</a:t>
            </a:r>
          </a:p>
          <a:p>
            <a:pPr algn="l">
              <a:lnSpc>
                <a:spcPct val="108000"/>
              </a:lnSpc>
              <a:spcAft>
                <a:spcPts val="960"/>
              </a:spcAft>
            </a:pPr>
            <a:r>
              <a:rPr sz="1600" b="0" i="0">
                <a:solidFill>
                  <a:srgbClr val="000000"/>
                </a:solidFill>
                <a:latin typeface="Arial"/>
              </a:rPr>
              <a:t>The 5 μg-per-side antagonist treatment reduced aggression and increased affiliative contact compared with vehicle controls. Incorrectly located infusions lacked the same behavioral effect. Both the drug and its anatomical delivery site were therefore consequential for the observed response.</a:t>
            </a:r>
          </a:p>
          <a:p>
            <a:pPr algn="l">
              <a:lnSpc>
                <a:spcPct val="108000"/>
              </a:lnSpc>
              <a:spcAft>
                <a:spcPts val="960"/>
              </a:spcAft>
            </a:pPr>
            <a:r>
              <a:rPr sz="1600" b="0" i="0">
                <a:solidFill>
                  <a:srgbClr val="000000"/>
                </a:solidFill>
                <a:latin typeface="Arial"/>
              </a:rPr>
              <a:t>Blocking vasopressin signaling changed the resident’s choice of social action toward the stranger. This complements the sufficiency experiment in naive males: the peptide can recruit aggression, and its receptor activation contributes to aggression in bonded residents. The familiar partner remains the reference for the normal selective affiliative response.</a:t>
            </a:r>
          </a:p>
        </p:txBody>
      </p:sp>
      <p:pic>
        <p:nvPicPr>
          <p:cNvPr id="4" name="Picture 3" descr="vaso_binding.png"/>
          <p:cNvPicPr>
            <a:picLocks noChangeAspect="1"/>
          </p:cNvPicPr>
          <p:nvPr/>
        </p:nvPicPr>
        <p:blipFill>
          <a:blip r:embed="rId2"/>
          <a:stretch>
            <a:fillRect/>
          </a:stretch>
        </p:blipFill>
        <p:spPr>
          <a:xfrm>
            <a:off x="7146265" y="1280160"/>
            <a:ext cx="347060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Gobrogge et al. (2009), Fig. 2(A–D). Hypothalamic receptor-binding anatomy.</a:t>
            </a:r>
          </a:p>
        </p:txBody>
      </p:sp>
      <p:pic>
        <p:nvPicPr>
          <p:cNvPr id="6" name="Picture 5" descr="vaso_release.png"/>
          <p:cNvPicPr>
            <a:picLocks noChangeAspect="1"/>
          </p:cNvPicPr>
          <p:nvPr/>
        </p:nvPicPr>
        <p:blipFill>
          <a:blip r:embed="rId3"/>
          <a:stretch>
            <a:fillRect/>
          </a:stretch>
        </p:blipFill>
        <p:spPr>
          <a:xfrm>
            <a:off x="8094564" y="4206240"/>
            <a:ext cx="1574004"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Gobrogge et al. (2009), Fig. 1(G,H). Aggression and affiliation during V1a receptor blockade.</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Gobrogge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Bonding reorganizes hypothalamic V1a receptor binding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Bonded males had greater V1a receptor binding in the anterior hypothalamus and medial preoptic area. The lateral septum, bed nucleus of the stria terminalis and amygdala lacked corresponding V1a increases. Oxytocin receptor binding in the anterior hypothalamus also remained similar between groups.</a:t>
            </a:r>
          </a:p>
          <a:p>
            <a:pPr algn="l">
              <a:lnSpc>
                <a:spcPct val="108000"/>
              </a:lnSpc>
              <a:spcAft>
                <a:spcPts val="960"/>
              </a:spcAft>
            </a:pPr>
            <a:r>
              <a:rPr sz="1600" b="0" i="0">
                <a:solidFill>
                  <a:srgbClr val="000000"/>
                </a:solidFill>
                <a:latin typeface="Arial"/>
              </a:rPr>
              <a:t>The bonding-associated increase in receptor binding was measured using radiolabeled ligands on brain sections. Gobrogge and colleagues compared sexually naive males with males paired for two weeks, quantifying several regions within the same receptor-mapping preparation.</a:t>
            </a:r>
          </a:p>
          <a:p>
            <a:pPr algn="l">
              <a:lnSpc>
                <a:spcPct val="108000"/>
              </a:lnSpc>
              <a:spcAft>
                <a:spcPts val="960"/>
              </a:spcAft>
            </a:pPr>
            <a:r>
              <a:rPr sz="1600" b="0" i="0">
                <a:solidFill>
                  <a:srgbClr val="000000"/>
                </a:solidFill>
                <a:latin typeface="Arial"/>
              </a:rPr>
              <a:t>The reorganization is thus specific to both receptor type and anatomical territory. It supplies more V1a binding sites in a region where local signaling regulates aggression. Social experience can adjust the capacity of a neuropeptide pathway alongside the encounter-dependent release of its ligand.</a:t>
            </a:r>
          </a:p>
        </p:txBody>
      </p:sp>
      <p:pic>
        <p:nvPicPr>
          <p:cNvPr id="4" name="Picture 3" descr="vaso_binding.png"/>
          <p:cNvPicPr>
            <a:picLocks noChangeAspect="1"/>
          </p:cNvPicPr>
          <p:nvPr/>
        </p:nvPicPr>
        <p:blipFill>
          <a:blip r:embed="rId2"/>
          <a:stretch>
            <a:fillRect/>
          </a:stretch>
        </p:blipFill>
        <p:spPr>
          <a:xfrm>
            <a:off x="6504127" y="1280160"/>
            <a:ext cx="5120640" cy="3507751"/>
          </a:xfrm>
          <a:prstGeom prst="rect">
            <a:avLst/>
          </a:prstGeom>
        </p:spPr>
      </p:pic>
      <p:sp>
        <p:nvSpPr>
          <p:cNvPr id="5" name="Figure caption"/>
          <p:cNvSpPr txBox="1"/>
          <p:nvPr/>
        </p:nvSpPr>
        <p:spPr>
          <a:xfrm>
            <a:off x="6504127" y="487935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Gobrogge et al. (2009), Fig. 2(A–D). Region- and receptor-specific changes after pairing.</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Gobrogge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Increasing hypothalamic V1a expression raises aggression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Gobrogge and colleagues used an </a:t>
            </a:r>
            <a:r>
              <a:rPr sz="1500" b="1" i="0">
                <a:solidFill>
                  <a:srgbClr val="3D4C5C"/>
                </a:solidFill>
                <a:latin typeface="Arial"/>
              </a:rPr>
              <a:t>adeno-associated viral vector</a:t>
            </a:r>
            <a:r>
              <a:rPr sz="1500" b="0" i="0">
                <a:solidFill>
                  <a:srgbClr val="000000"/>
                </a:solidFill>
                <a:latin typeface="Arial"/>
              </a:rPr>
              <a:t>, a gene-delivery vehicle, to increase V1a receptor expression in the anterior hypothalamus of sexually naive males. A vector carrying the control gene lacZ separated the effect of receptor expression from the delivery procedure.</a:t>
            </a:r>
          </a:p>
          <a:p>
            <a:pPr algn="l">
              <a:lnSpc>
                <a:spcPct val="108000"/>
              </a:lnSpc>
              <a:spcAft>
                <a:spcPts val="900"/>
              </a:spcAft>
            </a:pPr>
            <a:r>
              <a:rPr sz="1500" b="0" i="0">
                <a:solidFill>
                  <a:srgbClr val="000000"/>
                </a:solidFill>
                <a:latin typeface="Arial"/>
              </a:rPr>
              <a:t>Three weeks later, males receiving the V1a construct displayed greater aggression toward an unfamiliar female. Autoradiography confirmed increased receptor binding in the anterior hypothalamus, while the lateral septum lacked the same expression increase. The manipulation connected a localized molecular change with an altered social response.</a:t>
            </a:r>
          </a:p>
          <a:p>
            <a:pPr algn="l">
              <a:lnSpc>
                <a:spcPct val="108000"/>
              </a:lnSpc>
              <a:spcAft>
                <a:spcPts val="900"/>
              </a:spcAft>
            </a:pPr>
            <a:r>
              <a:rPr sz="1500" b="0" i="0">
                <a:solidFill>
                  <a:srgbClr val="000000"/>
                </a:solidFill>
                <a:latin typeface="Arial"/>
              </a:rPr>
              <a:t>Receptor upregulation can therefore contribute functionally to the aggression associated with bonding. The accumbens dopamine–opioid findings and the hypothalamic vasopressin findings identify different local components of stranger rejection; these experiments did not map a direct synaptic connection between the two sites.</a:t>
            </a:r>
          </a:p>
        </p:txBody>
      </p:sp>
      <p:pic>
        <p:nvPicPr>
          <p:cNvPr id="4" name="Picture 3" descr="vaso_gene.png"/>
          <p:cNvPicPr>
            <a:picLocks noChangeAspect="1"/>
          </p:cNvPicPr>
          <p:nvPr/>
        </p:nvPicPr>
        <p:blipFill>
          <a:blip r:embed="rId2"/>
          <a:stretch>
            <a:fillRect/>
          </a:stretch>
        </p:blipFill>
        <p:spPr>
          <a:xfrm>
            <a:off x="566928" y="1280160"/>
            <a:ext cx="5120640" cy="3127302"/>
          </a:xfrm>
          <a:prstGeom prst="rect">
            <a:avLst/>
          </a:prstGeom>
        </p:spPr>
      </p:pic>
      <p:sp>
        <p:nvSpPr>
          <p:cNvPr id="5" name="Figure caption"/>
          <p:cNvSpPr txBox="1"/>
          <p:nvPr/>
        </p:nvSpPr>
        <p:spPr>
          <a:xfrm>
            <a:off x="566928" y="44989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Gobrogge et al. (2009), Fig. 3(A–E). Viral receptor expression, receptor maps and aggression.</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Gobrogge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Social experience changes oxytocin’s synaptic action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Borie and colleagues recorded </a:t>
            </a:r>
            <a:r>
              <a:rPr sz="1600" b="1" i="0">
                <a:solidFill>
                  <a:srgbClr val="3D4C5C"/>
                </a:solidFill>
                <a:latin typeface="Arial"/>
              </a:rPr>
              <a:t>medium spiny neurons</a:t>
            </a:r>
            <a:r>
              <a:rPr sz="1600" b="0" i="0">
                <a:solidFill>
                  <a:srgbClr val="000000"/>
                </a:solidFill>
                <a:latin typeface="Arial"/>
              </a:rPr>
              <a:t>, the principal projection neurons of the nucleus accumbens, in brain slices from female prairie voles. Ovariectomized females lived with a female littermate or with a male for 24 hours, and recordings were made 48 hours later.</a:t>
            </a:r>
          </a:p>
          <a:p>
            <a:pPr algn="l">
              <a:lnSpc>
                <a:spcPct val="108000"/>
              </a:lnSpc>
              <a:spcAft>
                <a:spcPts val="960"/>
              </a:spcAft>
            </a:pPr>
            <a:r>
              <a:rPr sz="1600" b="0" i="0">
                <a:solidFill>
                  <a:srgbClr val="000000"/>
                </a:solidFill>
                <a:latin typeface="Arial"/>
              </a:rPr>
              <a:t>The oxytocin receptor agonist </a:t>
            </a:r>
            <a:r>
              <a:rPr sz="1600" b="1" i="0">
                <a:solidFill>
                  <a:srgbClr val="3D4C5C"/>
                </a:solidFill>
                <a:latin typeface="Arial"/>
              </a:rPr>
              <a:t>TGOT</a:t>
            </a:r>
            <a:r>
              <a:rPr sz="1600" b="0" i="0">
                <a:solidFill>
                  <a:srgbClr val="000000"/>
                </a:solidFill>
                <a:latin typeface="Arial"/>
              </a:rPr>
              <a:t> was applied at 100 nM for ten minutes. It reduced the amplitude of spontaneous excitatory postsynaptic currents in virgin females but not in paired females. Electrically evoked excitatory currents instead became more strongly potentiated after pairing.</a:t>
            </a:r>
          </a:p>
          <a:p>
            <a:pPr algn="l">
              <a:lnSpc>
                <a:spcPct val="108000"/>
              </a:lnSpc>
              <a:spcAft>
                <a:spcPts val="960"/>
              </a:spcAft>
            </a:pPr>
            <a:r>
              <a:rPr sz="1600" b="0" i="0">
                <a:solidFill>
                  <a:srgbClr val="000000"/>
                </a:solidFill>
                <a:latin typeface="Arial"/>
              </a:rPr>
              <a:t>An </a:t>
            </a:r>
            <a:r>
              <a:rPr sz="1600" b="1" i="0">
                <a:solidFill>
                  <a:srgbClr val="3D4C5C"/>
                </a:solidFill>
                <a:latin typeface="Arial"/>
              </a:rPr>
              <a:t>excitatory postsynaptic current</a:t>
            </a:r>
            <a:r>
              <a:rPr sz="1600" b="0" i="0">
                <a:solidFill>
                  <a:srgbClr val="000000"/>
                </a:solidFill>
                <a:latin typeface="Arial"/>
              </a:rPr>
              <a:t> is ionic current generated when excitatory input activates receptors on the receiving cell. The same receptor agonist had different effects depending on social experience and the input being measured. Pairing changed neuromodulatory action rather than simply raising baseline neuronal excitability.</a:t>
            </a:r>
          </a:p>
        </p:txBody>
      </p:sp>
      <p:pic>
        <p:nvPicPr>
          <p:cNvPr id="4" name="Picture 3" descr="oxy_spontaneous.png"/>
          <p:cNvPicPr>
            <a:picLocks noChangeAspect="1"/>
          </p:cNvPicPr>
          <p:nvPr/>
        </p:nvPicPr>
        <p:blipFill>
          <a:blip r:embed="rId2"/>
          <a:stretch>
            <a:fillRect/>
          </a:stretch>
        </p:blipFill>
        <p:spPr>
          <a:xfrm>
            <a:off x="7403862" y="1280160"/>
            <a:ext cx="2955409"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Borie et al. (2022), Fig. 1(A–G). Whole-cell recordings in virgin and paired female voles.</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Borie et al. (2022);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Synaptic potentiation varies with partner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Borie and colleagues measured females’ proximity to two males enclosed under cups, restricting direct contact. Females tested before and after cohabitation developed a preference for the cohabiting male, connecting the slice experiments with a measured selective social response.</a:t>
            </a:r>
          </a:p>
          <a:p>
            <a:pPr algn="l">
              <a:lnSpc>
                <a:spcPct val="108000"/>
              </a:lnSpc>
              <a:spcAft>
                <a:spcPts val="900"/>
              </a:spcAft>
            </a:pPr>
            <a:r>
              <a:rPr sz="1500" b="1" i="0">
                <a:solidFill>
                  <a:srgbClr val="3D4C5C"/>
                </a:solidFill>
                <a:latin typeface="Arial"/>
              </a:rPr>
              <a:t>Field recordings</a:t>
            </a:r>
            <a:r>
              <a:rPr sz="1500" b="0" i="0">
                <a:solidFill>
                  <a:srgbClr val="000000"/>
                </a:solidFill>
                <a:latin typeface="Arial"/>
              </a:rPr>
              <a:t> measure electrical responses from a local neuronal population. The excitatory response was blocked by DNQX, an antagonist of AMPA/kainate glutamate receptors. These receptors support excitatory ion flow when activated by glutamate, identifying the recorded response as glutamatergic transmission.</a:t>
            </a:r>
          </a:p>
          <a:p>
            <a:pPr algn="l">
              <a:lnSpc>
                <a:spcPct val="108000"/>
              </a:lnSpc>
              <a:spcAft>
                <a:spcPts val="900"/>
              </a:spcAft>
            </a:pPr>
            <a:r>
              <a:rPr sz="1500" b="0" i="0">
                <a:solidFill>
                  <a:srgbClr val="000000"/>
                </a:solidFill>
                <a:latin typeface="Arial"/>
              </a:rPr>
              <a:t>TGOT increased evoked field-response amplitude in paired females. Among paired females preferring their partner, stronger preference accompanied greater potentiation. Social experience and selective affiliation were therefore associated with the physiological effect of activating oxytocin receptors in the accumbens core.</a:t>
            </a:r>
          </a:p>
        </p:txBody>
      </p:sp>
      <p:pic>
        <p:nvPicPr>
          <p:cNvPr id="4" name="Picture 3" descr="oxy_preference.png"/>
          <p:cNvPicPr>
            <a:picLocks noChangeAspect="1"/>
          </p:cNvPicPr>
          <p:nvPr/>
        </p:nvPicPr>
        <p:blipFill>
          <a:blip r:embed="rId2"/>
          <a:stretch>
            <a:fillRect/>
          </a:stretch>
        </p:blipFill>
        <p:spPr>
          <a:xfrm>
            <a:off x="7479037" y="1280160"/>
            <a:ext cx="2805058"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Borie et al. (2022), Fig. 2(A–G). Social preference and glutamatergic field responses.</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Borie et al. (2022);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Paired-pulse responses implicate transmitter release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Borie and colleagues delivered pairs of electrical stimuli while measuring excitatory responses. The </a:t>
            </a:r>
            <a:r>
              <a:rPr sz="1600" b="1" i="0">
                <a:solidFill>
                  <a:srgbClr val="3D4C5C"/>
                </a:solidFill>
                <a:latin typeface="Arial"/>
              </a:rPr>
              <a:t>paired-pulse ratio</a:t>
            </a:r>
            <a:r>
              <a:rPr sz="1600" b="0" i="0">
                <a:solidFill>
                  <a:srgbClr val="000000"/>
                </a:solidFill>
                <a:latin typeface="Arial"/>
              </a:rPr>
              <a:t> compares the second response with the first and provides information about the probability of transmitter release from the presynaptic terminal.</a:t>
            </a:r>
          </a:p>
          <a:p>
            <a:pPr algn="l">
              <a:lnSpc>
                <a:spcPct val="108000"/>
              </a:lnSpc>
              <a:spcAft>
                <a:spcPts val="960"/>
              </a:spcAft>
            </a:pPr>
            <a:r>
              <a:rPr sz="1600" b="0" i="0">
                <a:solidFill>
                  <a:srgbClr val="000000"/>
                </a:solidFill>
                <a:latin typeface="Arial"/>
              </a:rPr>
              <a:t>In paired females, stronger TGOT-induced potentiation accompanied a smaller paired-pulse ratio. The pattern is consistent with increased glutamate release on the first pulse. Virgin females lacked the same systematic relationship, matching their different response to oxytocin receptor activation.</a:t>
            </a:r>
          </a:p>
          <a:p>
            <a:pPr algn="l">
              <a:lnSpc>
                <a:spcPct val="108000"/>
              </a:lnSpc>
              <a:spcAft>
                <a:spcPts val="960"/>
              </a:spcAft>
            </a:pPr>
            <a:r>
              <a:rPr sz="1600" b="0" i="0">
                <a:solidFill>
                  <a:srgbClr val="000000"/>
                </a:solidFill>
                <a:latin typeface="Arial"/>
              </a:rPr>
              <a:t>The investigators also used CRISPR-Cas9-mediated receptor knockdown in accumbens cells. </a:t>
            </a:r>
            <a:r>
              <a:rPr sz="1600" b="1" i="0">
                <a:solidFill>
                  <a:srgbClr val="3D4C5C"/>
                </a:solidFill>
                <a:latin typeface="Arial"/>
              </a:rPr>
              <a:t>Knockdown</a:t>
            </a:r>
            <a:r>
              <a:rPr sz="1600" b="0" i="0">
                <a:solidFill>
                  <a:srgbClr val="000000"/>
                </a:solidFill>
                <a:latin typeface="Arial"/>
              </a:rPr>
              <a:t> reduces expression of a selected molecular target. Lower local oxytocin receptor binding was accompanied by reduced TGOT potentiation, connecting receptors on accumbens cells with an effect expressed through presynaptic release dynamics.</a:t>
            </a:r>
          </a:p>
        </p:txBody>
      </p:sp>
      <p:pic>
        <p:nvPicPr>
          <p:cNvPr id="4" name="Picture 3" descr="oxy_genome.png"/>
          <p:cNvPicPr>
            <a:picLocks noChangeAspect="1"/>
          </p:cNvPicPr>
          <p:nvPr/>
        </p:nvPicPr>
        <p:blipFill>
          <a:blip r:embed="rId2"/>
          <a:stretch>
            <a:fillRect/>
          </a:stretch>
        </p:blipFill>
        <p:spPr>
          <a:xfrm>
            <a:off x="6549983" y="1280160"/>
            <a:ext cx="502892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Borie et al. (2022), Fig. 3(A–I). Paired-pulse physiology and local receptor knockdown.</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Borie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Oxytocin potentiation requires cannabinoid signaling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D4C5C"/>
                </a:solidFill>
                <a:latin typeface="Arial"/>
              </a:rPr>
              <a:t>Endocannabinoids</a:t>
            </a:r>
            <a:r>
              <a:rPr sz="1500" b="0" i="0">
                <a:solidFill>
                  <a:srgbClr val="000000"/>
                </a:solidFill>
                <a:latin typeface="Arial"/>
              </a:rPr>
              <a:t> are locally produced lipid signals that can carry information from a postsynaptic cell back toward presynaptic terminals. Borie and colleagues tested whether cannabinoid receptor signaling participates in the pairing-dependent effect of oxytocin receptor activation.</a:t>
            </a:r>
          </a:p>
          <a:p>
            <a:pPr algn="l">
              <a:lnSpc>
                <a:spcPct val="108000"/>
              </a:lnSpc>
              <a:spcAft>
                <a:spcPts val="900"/>
              </a:spcAft>
            </a:pPr>
            <a:r>
              <a:rPr sz="1500" b="0" i="0">
                <a:solidFill>
                  <a:srgbClr val="000000"/>
                </a:solidFill>
                <a:latin typeface="Arial"/>
              </a:rPr>
              <a:t>The CB1 receptor antagonist AM4113, applied at 1 μM, prevented TGOT-induced potentiation in slices from paired females. It also removed the relationship between potentiation and the paired-pulse change. Separate slices from the same animals supplied physiological comparison conditions.</a:t>
            </a:r>
          </a:p>
          <a:p>
            <a:pPr algn="l">
              <a:lnSpc>
                <a:spcPct val="108000"/>
              </a:lnSpc>
              <a:spcAft>
                <a:spcPts val="900"/>
              </a:spcAft>
            </a:pPr>
            <a:r>
              <a:rPr sz="1500" b="0" i="0">
                <a:solidFill>
                  <a:srgbClr val="000000"/>
                </a:solidFill>
                <a:latin typeface="Arial"/>
              </a:rPr>
              <a:t>The oxytocin receptor can signal through Gq and phospholipase C, a pathway capable of promoting endocannabinoid production. The authors’ hypothesis is that this retrograde signaling connects receptors on accumbens cells with presynaptic modulation. The blockade experiment identifies CB1 activation as required for the measured potentiation.</a:t>
            </a:r>
          </a:p>
        </p:txBody>
      </p:sp>
      <p:pic>
        <p:nvPicPr>
          <p:cNvPr id="4" name="Picture 3" descr="oxy_cb1.png"/>
          <p:cNvPicPr>
            <a:picLocks noChangeAspect="1"/>
          </p:cNvPicPr>
          <p:nvPr/>
        </p:nvPicPr>
        <p:blipFill>
          <a:blip r:embed="rId2"/>
          <a:stretch>
            <a:fillRect/>
          </a:stretch>
        </p:blipFill>
        <p:spPr>
          <a:xfrm>
            <a:off x="6548065" y="1280160"/>
            <a:ext cx="4667002"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Borie et al. (2022), Fig. 4(A–G). CB1 antagonism and agonism during field recordings.</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Borie et al. (2022);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Pairing couples two available signaling systems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Direct activation of CB1 receptors with the agonist </a:t>
            </a:r>
            <a:r>
              <a:rPr sz="1500" b="1" i="0">
                <a:solidFill>
                  <a:srgbClr val="3D4C5C"/>
                </a:solidFill>
                <a:latin typeface="Arial"/>
              </a:rPr>
              <a:t>ACEA</a:t>
            </a:r>
            <a:r>
              <a:rPr sz="1500" b="0" i="0">
                <a:solidFill>
                  <a:srgbClr val="000000"/>
                </a:solidFill>
                <a:latin typeface="Arial"/>
              </a:rPr>
              <a:t> potentiated electrically evoked excitatory responses in virgin females as well as paired females. The cannabinoid-dependent physiological effect was therefore available before the pairing-dependent oxytocin effect appeared.</a:t>
            </a:r>
          </a:p>
          <a:p>
            <a:pPr algn="l">
              <a:lnSpc>
                <a:spcPct val="108000"/>
              </a:lnSpc>
              <a:spcAft>
                <a:spcPts val="900"/>
              </a:spcAft>
            </a:pPr>
            <a:r>
              <a:rPr sz="1500" b="0" i="0">
                <a:solidFill>
                  <a:srgbClr val="000000"/>
                </a:solidFill>
                <a:latin typeface="Arial"/>
              </a:rPr>
              <a:t>In virgin females, ACEA potentiation was accompanied by a paired-pulse change consistent with altered presynaptic release. Its magnitude was comparable to the TGOT-associated potentiation measured in paired females. These interventions distinguished the capacity of the cannabinoid pathway from its coupling to oxytocin receptors.</a:t>
            </a:r>
          </a:p>
          <a:p>
            <a:pPr algn="l">
              <a:lnSpc>
                <a:spcPct val="108000"/>
              </a:lnSpc>
              <a:spcAft>
                <a:spcPts val="900"/>
              </a:spcAft>
            </a:pPr>
            <a:r>
              <a:rPr sz="1500" b="0" i="0">
                <a:solidFill>
                  <a:srgbClr val="000000"/>
                </a:solidFill>
                <a:latin typeface="Arial"/>
              </a:rPr>
              <a:t>The social-experience change is consequently interpreted as a new functional linkage between existing systems. Oxytocin receptor activation gains access to cannabinoid-dependent potentiation after pairing. This mechanism explains how the same neuromodulator can produce different synaptic outcomes as the animal’s social history changes.</a:t>
            </a:r>
          </a:p>
        </p:txBody>
      </p:sp>
      <p:pic>
        <p:nvPicPr>
          <p:cNvPr id="4" name="Picture 3" descr="oxy_cb1.png"/>
          <p:cNvPicPr>
            <a:picLocks noChangeAspect="1"/>
          </p:cNvPicPr>
          <p:nvPr/>
        </p:nvPicPr>
        <p:blipFill>
          <a:blip r:embed="rId2"/>
          <a:stretch>
            <a:fillRect/>
          </a:stretch>
        </p:blipFill>
        <p:spPr>
          <a:xfrm>
            <a:off x="6548065" y="1280160"/>
            <a:ext cx="4667002"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Borie et al. (2022), Fig. 4(D–G). Direct CB1 stimulation and comparison with TGOT.</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Borie et al. (2022);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CB1 blockade increases defensive rejection of partners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CB1 blockade approximately doubled the time spent in a defensive upright posture when the partner was present. Stranger-directed rejection remained similar between treatment groups. Overall rearing behavior was comparable, distinguishing the defensive posture from a general increase in standing movements.</a:t>
            </a:r>
          </a:p>
          <a:p>
            <a:pPr algn="l">
              <a:lnSpc>
                <a:spcPct val="108000"/>
              </a:lnSpc>
              <a:spcAft>
                <a:spcPts val="900"/>
              </a:spcAft>
            </a:pPr>
            <a:r>
              <a:rPr sz="1500" b="0" i="0">
                <a:solidFill>
                  <a:srgbClr val="000000"/>
                </a:solidFill>
                <a:latin typeface="Arial"/>
              </a:rPr>
              <a:t>Borie and colleagues infused AM4113 into the accumbens core of paired females and measured social responses. A novel male entered the female’s home cage for ten minutes, followed by her partner for another ten minutes. Observers scored affiliation and aggressive or defensive actions blind to treatment.</a:t>
            </a:r>
          </a:p>
          <a:p>
            <a:pPr algn="l">
              <a:lnSpc>
                <a:spcPct val="108000"/>
              </a:lnSpc>
              <a:spcAft>
                <a:spcPts val="900"/>
              </a:spcAft>
            </a:pPr>
            <a:r>
              <a:rPr sz="1500" b="0" i="0">
                <a:solidFill>
                  <a:srgbClr val="000000"/>
                </a:solidFill>
                <a:latin typeface="Arial"/>
              </a:rPr>
              <a:t>Both groups retained proximity-based partner preference. Partner acceptance during direct interaction and partner-directed proximity can therefore change separately. Accumbens cannabinoid signaling contributes to the quality of interaction with the bonded male, complementing the mechanisms that direct aggressive rejection toward unfamiliar animals.</a:t>
            </a:r>
          </a:p>
        </p:txBody>
      </p:sp>
      <p:pic>
        <p:nvPicPr>
          <p:cNvPr id="4" name="Picture 3" descr="oxy_behavior.png"/>
          <p:cNvPicPr>
            <a:picLocks noChangeAspect="1"/>
          </p:cNvPicPr>
          <p:nvPr/>
        </p:nvPicPr>
        <p:blipFill>
          <a:blip r:embed="rId2"/>
          <a:stretch>
            <a:fillRect/>
          </a:stretch>
        </p:blipFill>
        <p:spPr>
          <a:xfrm>
            <a:off x="7771695" y="1280160"/>
            <a:ext cx="258550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Borie et al. (2022), Fig. 5(A–G). Partner preference and intruder responses after CB1 blockade.</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Borie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Dopamine blockade reduces partner-contact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Pierce and colleagues examined dopamine’s contribution after prairie voles had already formed partner preferences. Systemic antagonists of D1-like or D2-like receptors were given before testing established social contact, extending the analysis beyond initial bond formation.</a:t>
            </a:r>
          </a:p>
          <a:p>
            <a:pPr algn="l">
              <a:lnSpc>
                <a:spcPct val="108000"/>
              </a:lnSpc>
              <a:spcAft>
                <a:spcPts val="840"/>
              </a:spcAft>
            </a:pPr>
            <a:r>
              <a:rPr sz="1400" b="0" i="0">
                <a:solidFill>
                  <a:srgbClr val="000000"/>
                </a:solidFill>
                <a:latin typeface="Arial"/>
              </a:rPr>
              <a:t>Both receptor manipulations reduced partner-contact preference under the tested conditions. Their effects on movement differed: D1-like blockade increased locomotion, whereas D2-like blockade reduced velocity and distance traveled. Behavioral interpretation therefore required the social and motor measurements together.</a:t>
            </a:r>
          </a:p>
          <a:p>
            <a:pPr algn="l">
              <a:lnSpc>
                <a:spcPct val="108000"/>
              </a:lnSpc>
              <a:spcAft>
                <a:spcPts val="840"/>
              </a:spcAft>
            </a:pPr>
            <a:r>
              <a:rPr sz="1400" b="0" i="0">
                <a:solidFill>
                  <a:srgbClr val="000000"/>
                </a:solidFill>
                <a:latin typeface="Arial"/>
              </a:rPr>
              <a:t>The finding complements the earlier local shell experiments without equating the preparations. A systemic intervention reaches multiple sites and can influence several behavioral processes. Established partner-contact preference involves ongoing dopamine signaling, while local studies identify particular receptor functions within particular accumbens territories.</a:t>
            </a:r>
          </a:p>
        </p:txBody>
      </p:sp>
      <p:pic>
        <p:nvPicPr>
          <p:cNvPr id="4" name="Picture 3" descr="dopamine_preference.png"/>
          <p:cNvPicPr>
            <a:picLocks noChangeAspect="1"/>
          </p:cNvPicPr>
          <p:nvPr/>
        </p:nvPicPr>
        <p:blipFill>
          <a:blip r:embed="rId2"/>
          <a:stretch>
            <a:fillRect/>
          </a:stretch>
        </p:blipFill>
        <p:spPr>
          <a:xfrm>
            <a:off x="6510156" y="1280160"/>
            <a:ext cx="4742821"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1(A–H). Systemic antagonism during established partner preferences.</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Dopamine supports effort to gain social access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3D4C5C"/>
                </a:solidFill>
                <a:latin typeface="Arial"/>
              </a:rPr>
              <a:t>operant task</a:t>
            </a:r>
            <a:r>
              <a:rPr sz="1500" b="0" i="0">
                <a:solidFill>
                  <a:srgbClr val="000000"/>
                </a:solidFill>
                <a:latin typeface="Arial"/>
              </a:rPr>
              <a:t> makes a consequence depend on an animal’s action. Pierce and colleagues trained bonded voles to press a lever that opened a door and briefly provided access to their partner or an unfamiliar animal. Lever pressing measured work performed to obtain contact.</a:t>
            </a:r>
          </a:p>
          <a:p>
            <a:pPr algn="l">
              <a:lnSpc>
                <a:spcPct val="108000"/>
              </a:lnSpc>
              <a:spcAft>
                <a:spcPts val="900"/>
              </a:spcAft>
            </a:pPr>
            <a:r>
              <a:rPr sz="1500" b="0" i="0">
                <a:solidFill>
                  <a:srgbClr val="000000"/>
                </a:solidFill>
                <a:latin typeface="Arial"/>
              </a:rPr>
              <a:t>A low systemic dose of the D1/D2 antagonist flupenthixol reduced pressing and delayed social access for both stimulus animals. A higher-effort schedule also revealed reduced performance. The measured consequence was reduced willingness to perform the instrumental action, rather than only altered huddling after access.</a:t>
            </a:r>
          </a:p>
          <a:p>
            <a:pPr algn="l">
              <a:lnSpc>
                <a:spcPct val="108000"/>
              </a:lnSpc>
              <a:spcAft>
                <a:spcPts val="900"/>
              </a:spcAft>
            </a:pPr>
            <a:r>
              <a:rPr sz="1500" b="0" i="0">
                <a:solidFill>
                  <a:srgbClr val="000000"/>
                </a:solidFill>
                <a:latin typeface="Arial"/>
              </a:rPr>
              <a:t>A barrier-climbing test similarly assessed effort to reach the partner. D1-like blockade reduced climbing attempts, while D2-like blockade did not produce the same effect. Dopamine receptor systems can regulate components of partner seeking differently across the actions required to obtain social contact.</a:t>
            </a:r>
          </a:p>
        </p:txBody>
      </p:sp>
      <p:pic>
        <p:nvPicPr>
          <p:cNvPr id="4" name="Picture 3" descr="dopamine_work.png"/>
          <p:cNvPicPr>
            <a:picLocks noChangeAspect="1"/>
          </p:cNvPicPr>
          <p:nvPr/>
        </p:nvPicPr>
        <p:blipFill>
          <a:blip r:embed="rId2"/>
          <a:stretch>
            <a:fillRect/>
          </a:stretch>
        </p:blipFill>
        <p:spPr>
          <a:xfrm>
            <a:off x="8039508" y="1280160"/>
            <a:ext cx="1684116" cy="2743199"/>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2(A–N). Lever pressing, barrier climbing and receptor blockade.</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 fluorescent sensor records dopamine during seeking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Pierce and colleagues expressed </a:t>
            </a:r>
            <a:r>
              <a:rPr sz="1500" b="1" i="0">
                <a:solidFill>
                  <a:srgbClr val="3D4C5C"/>
                </a:solidFill>
                <a:latin typeface="Arial"/>
              </a:rPr>
              <a:t>GRABDA</a:t>
            </a:r>
            <a:r>
              <a:rPr sz="1500" b="0" i="0">
                <a:solidFill>
                  <a:srgbClr val="000000"/>
                </a:solidFill>
                <a:latin typeface="Arial"/>
              </a:rPr>
              <a:t>, a fluorescent dopamine sensor, in the nucleus accumbens and implanted an optical fiber. Dopamine binding changes the sensor’s fluorescence, allowing transmitter-associated signals to be recorded while the animal performs the social-access task.</a:t>
            </a:r>
          </a:p>
          <a:p>
            <a:pPr algn="l">
              <a:lnSpc>
                <a:spcPct val="108000"/>
              </a:lnSpc>
              <a:spcAft>
                <a:spcPts val="900"/>
              </a:spcAft>
            </a:pPr>
            <a:r>
              <a:rPr sz="1500" b="0" i="0">
                <a:solidFill>
                  <a:srgbClr val="000000"/>
                </a:solidFill>
                <a:latin typeface="Arial"/>
              </a:rPr>
              <a:t>Histological sections confirmed sensor expression and optical placement. The task separated lever presentation, lever pressing, door opening and entry into the social chamber. Recording these events individually distinguished anticipatory and action-related signals from signals during the encounter itself.</a:t>
            </a:r>
          </a:p>
          <a:p>
            <a:pPr algn="l">
              <a:lnSpc>
                <a:spcPct val="108000"/>
              </a:lnSpc>
              <a:spcAft>
                <a:spcPts val="900"/>
              </a:spcAft>
            </a:pPr>
            <a:r>
              <a:rPr sz="1500" b="0" i="0">
                <a:solidFill>
                  <a:srgbClr val="000000"/>
                </a:solidFill>
                <a:latin typeface="Arial"/>
              </a:rPr>
              <a:t>Across six days of social-access training, lever pressing increased and task performance improved. Dopamine signals around lever presentation and pressing changed with learning. The technique therefore connected real-time accumbens dopamine dynamics with an animal’s acquisition and execution of actions that produce social contact.</a:t>
            </a:r>
          </a:p>
        </p:txBody>
      </p:sp>
      <p:pic>
        <p:nvPicPr>
          <p:cNvPr id="4" name="Picture 3" descr="dopamine_sensor.png"/>
          <p:cNvPicPr>
            <a:picLocks noChangeAspect="1"/>
          </p:cNvPicPr>
          <p:nvPr/>
        </p:nvPicPr>
        <p:blipFill>
          <a:blip r:embed="rId2"/>
          <a:stretch>
            <a:fillRect/>
          </a:stretch>
        </p:blipFill>
        <p:spPr>
          <a:xfrm>
            <a:off x="7574463" y="1280160"/>
            <a:ext cx="297996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3(A–K). GRABDA sensor placement and social operant recording.</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Partner access evokes a larger dopamine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Proficient voles worked for access to both their established partner and an unfamiliar animal. Pierce and colleagues compared dopamine fluorescence within the same subjects during partner and novel-animal trials, preserving the animal’s individual sensor expression and recording conditions.</a:t>
            </a:r>
          </a:p>
          <a:p>
            <a:pPr algn="l">
              <a:lnSpc>
                <a:spcPct val="108000"/>
              </a:lnSpc>
              <a:spcAft>
                <a:spcPts val="900"/>
              </a:spcAft>
            </a:pPr>
            <a:r>
              <a:rPr sz="1500" b="0" i="0">
                <a:solidFill>
                  <a:srgbClr val="000000"/>
                </a:solidFill>
                <a:latin typeface="Arial"/>
              </a:rPr>
              <a:t>Lever pressing and door opening were associated with larger dopamine responses in partner trials. The preference in the transmitter signal emerged even though the voles did not consistently perform more lever presses for the partner. Partner-enhanced signaling therefore contained information beyond the count of completed actions.</a:t>
            </a:r>
          </a:p>
          <a:p>
            <a:pPr algn="l">
              <a:lnSpc>
                <a:spcPct val="108000"/>
              </a:lnSpc>
              <a:spcAft>
                <a:spcPts val="900"/>
              </a:spcAft>
            </a:pPr>
            <a:r>
              <a:rPr sz="1500" b="0" i="0">
                <a:solidFill>
                  <a:srgbClr val="000000"/>
                </a:solidFill>
                <a:latin typeface="Arial"/>
              </a:rPr>
              <a:t>The established partner’s identity influenced the dopamine dynamics accompanying social access. This result connects bond selectivity with moment-to-moment neural signaling, complementing the receptor and slice-release changes observed after cohabitation. Neural selectivity and overt instrumental performance are related measurements with distinguishable patterns.</a:t>
            </a:r>
          </a:p>
        </p:txBody>
      </p:sp>
      <p:pic>
        <p:nvPicPr>
          <p:cNvPr id="4" name="Picture 3" descr="dopamine_partner.png"/>
          <p:cNvPicPr>
            <a:picLocks noChangeAspect="1"/>
          </p:cNvPicPr>
          <p:nvPr/>
        </p:nvPicPr>
        <p:blipFill>
          <a:blip r:embed="rId2"/>
          <a:stretch>
            <a:fillRect/>
          </a:stretch>
        </p:blipFill>
        <p:spPr>
          <a:xfrm>
            <a:off x="7500418" y="1280160"/>
            <a:ext cx="31280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4(A–N). Partner- and novel-directed seeking signals before separation.</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Prolonged separation erases partner-enhanced dopamine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separation, partner and novel-animal trials no longer differed in the dopamine responses that had previously favored the partner. The change reflected diminished partner-associated signals rather than an equivalent increase during novel-animal trials. Animals still performed the learned operant task.</a:t>
            </a:r>
          </a:p>
          <a:p>
            <a:pPr algn="l">
              <a:lnSpc>
                <a:spcPct val="108000"/>
              </a:lnSpc>
              <a:spcAft>
                <a:spcPts val="900"/>
              </a:spcAft>
            </a:pPr>
            <a:r>
              <a:rPr sz="1500" b="0" i="0">
                <a:solidFill>
                  <a:srgbClr val="000000"/>
                </a:solidFill>
                <a:latin typeface="Arial"/>
              </a:rPr>
              <a:t>Pierce and colleagues separated bonded pairs for four weeks and then retested their social-access behavior and dopamine responses. This interval was long enough for the previously bonded animals to adapt to partner loss and potentially form another relationship.</a:t>
            </a:r>
          </a:p>
          <a:p>
            <a:pPr algn="l">
              <a:lnSpc>
                <a:spcPct val="108000"/>
              </a:lnSpc>
              <a:spcAft>
                <a:spcPts val="900"/>
              </a:spcAft>
            </a:pPr>
            <a:r>
              <a:rPr sz="1500" b="0" i="0">
                <a:solidFill>
                  <a:srgbClr val="000000"/>
                </a:solidFill>
                <a:latin typeface="Arial"/>
              </a:rPr>
              <a:t>Direct partner contact and huddling had also evoked greater dopamine responses before separation, and those neural distinctions disappeared afterward. Some behavioral familiarity remained. The former partner’s enhanced motivational signal can therefore erode while the animal retains aspects of social recognition and the ability to seek contact.</a:t>
            </a:r>
          </a:p>
        </p:txBody>
      </p:sp>
      <p:pic>
        <p:nvPicPr>
          <p:cNvPr id="4" name="Picture 3" descr="dopamine_social.png"/>
          <p:cNvPicPr>
            <a:picLocks noChangeAspect="1"/>
          </p:cNvPicPr>
          <p:nvPr/>
        </p:nvPicPr>
        <p:blipFill>
          <a:blip r:embed="rId2"/>
          <a:stretch>
            <a:fillRect/>
          </a:stretch>
        </p:blipFill>
        <p:spPr>
          <a:xfrm>
            <a:off x="6712168" y="1280160"/>
            <a:ext cx="4338797"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Pierce et al. (2024), Fig. 5(A–M). Social behavior and dopamine before and after separation.</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Pierce et al. (2024);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Septal activation separates affiliation from preference</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D4C5C"/>
                </a:solidFill>
                <a:latin typeface="Arial"/>
              </a:rPr>
              <a:t>lateral septum</a:t>
            </a:r>
            <a:r>
              <a:rPr sz="1600" b="0" i="0">
                <a:solidFill>
                  <a:srgbClr val="000000"/>
                </a:solidFill>
                <a:latin typeface="Arial"/>
              </a:rPr>
              <a:t> is a forebrain structure involved in social behavior. Sailer and colleagues expressed the excitatory designer receptor hM3Dq there and activated it using Compound 21, abbreviated C21. The published anatomical design identifies the intended neural territory.</a:t>
            </a:r>
          </a:p>
          <a:p>
            <a:pPr algn="l">
              <a:lnSpc>
                <a:spcPct val="108000"/>
              </a:lnSpc>
              <a:spcAft>
                <a:spcPts val="960"/>
              </a:spcAft>
            </a:pPr>
            <a:r>
              <a:rPr sz="1600" b="0" i="0">
                <a:solidFill>
                  <a:srgbClr val="000000"/>
                </a:solidFill>
                <a:latin typeface="Arial"/>
              </a:rPr>
              <a:t>A </a:t>
            </a:r>
            <a:r>
              <a:rPr sz="1600" b="1" i="0">
                <a:solidFill>
                  <a:srgbClr val="3D4C5C"/>
                </a:solidFill>
                <a:latin typeface="Arial"/>
              </a:rPr>
              <a:t>DREADD</a:t>
            </a:r>
            <a:r>
              <a:rPr sz="1600" b="0" i="0">
                <a:solidFill>
                  <a:srgbClr val="000000"/>
                </a:solidFill>
                <a:latin typeface="Arial"/>
              </a:rPr>
              <a:t> is a designer receptor activated by a chosen ligand. Receptor-expressing animals receiving saline and sham-operated animals receiving C21 supplied controls for receptor activation and drug exposure. C21 was administered at 3 mg/kg, 30 minutes before behavioral assessments.</a:t>
            </a:r>
          </a:p>
          <a:p>
            <a:pPr algn="l">
              <a:lnSpc>
                <a:spcPct val="108000"/>
              </a:lnSpc>
              <a:spcAft>
                <a:spcPts val="960"/>
              </a:spcAft>
            </a:pPr>
            <a:r>
              <a:rPr sz="1600" b="0" i="0">
                <a:solidFill>
                  <a:srgbClr val="000000"/>
                </a:solidFill>
                <a:latin typeface="Arial"/>
              </a:rPr>
              <a:t>Septal activation promoted social approach in sexually naive males but did not alter the subsequently measured partner preference. Increasing contact-oriented behavior and establishing a selective preference are thus separable outcomes. The experiment tested how a localized change in neural activity influences several components of social behavior.</a:t>
            </a:r>
          </a:p>
        </p:txBody>
      </p:sp>
      <p:pic>
        <p:nvPicPr>
          <p:cNvPr id="4" name="Picture 3" descr="septum_design.png"/>
          <p:cNvPicPr>
            <a:picLocks noChangeAspect="1"/>
          </p:cNvPicPr>
          <p:nvPr/>
        </p:nvPicPr>
        <p:blipFill>
          <a:blip r:embed="rId2"/>
          <a:stretch>
            <a:fillRect/>
          </a:stretch>
        </p:blipFill>
        <p:spPr>
          <a:xfrm>
            <a:off x="1356283" y="1280160"/>
            <a:ext cx="3541929"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Sailer et al. (2022), Fig. 1(a,b). Published lateral-septum manipulation and test timeline.</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Sailer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Septal activation reduces post-bonding aggression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Sailer and colleagues repeated intruder testing after male prairie voles had paired with females. Subjects with activated lateral-septum hM3Dq receptors were compared with receptor-plus-saline and sham-plus-C21 controls, preserving the distinction between neural activation and drug administration.</a:t>
            </a:r>
          </a:p>
          <a:p>
            <a:pPr algn="l">
              <a:lnSpc>
                <a:spcPct val="108000"/>
              </a:lnSpc>
              <a:spcAft>
                <a:spcPts val="960"/>
              </a:spcAft>
            </a:pPr>
            <a:r>
              <a:rPr sz="1600" b="0" i="0">
                <a:solidFill>
                  <a:srgbClr val="000000"/>
                </a:solidFill>
                <a:latin typeface="Arial"/>
              </a:rPr>
              <a:t>After bonding, septal activation reduced attacks, chasing and total aggressive behavior. Huddling and other social actions were measured separately, and the intervention promoted prosocial responses during the encounter rather than merely changing the aggregate amount of recorded behavior.</a:t>
            </a:r>
          </a:p>
          <a:p>
            <a:pPr algn="l">
              <a:lnSpc>
                <a:spcPct val="108000"/>
              </a:lnSpc>
              <a:spcAft>
                <a:spcPts val="960"/>
              </a:spcAft>
            </a:pPr>
            <a:r>
              <a:rPr sz="1600" b="0" i="0">
                <a:solidFill>
                  <a:srgbClr val="000000"/>
                </a:solidFill>
                <a:latin typeface="Arial"/>
              </a:rPr>
              <a:t>Partner preference remained intact in the study’s separate preference test. A bond’s selective affiliation can therefore persist when an intervention reduces its associated stranger rejection. These findings connect lateral-septum activity with the regulation of social action while retaining preference and aggression as distinct behavioral outputs.</a:t>
            </a:r>
          </a:p>
        </p:txBody>
      </p:sp>
      <p:pic>
        <p:nvPicPr>
          <p:cNvPr id="4" name="Picture 3" descr="septum_behavior.png"/>
          <p:cNvPicPr>
            <a:picLocks noChangeAspect="1"/>
          </p:cNvPicPr>
          <p:nvPr/>
        </p:nvPicPr>
        <p:blipFill>
          <a:blip r:embed="rId2"/>
          <a:stretch>
            <a:fillRect/>
          </a:stretch>
        </p:blipFill>
        <p:spPr>
          <a:xfrm>
            <a:off x="6504127" y="1280160"/>
            <a:ext cx="5120640" cy="3808207"/>
          </a:xfrm>
          <a:prstGeom prst="rect">
            <a:avLst/>
          </a:prstGeom>
        </p:spPr>
      </p:pic>
      <p:sp>
        <p:nvSpPr>
          <p:cNvPr id="5" name="Figure caption"/>
          <p:cNvSpPr txBox="1"/>
          <p:nvPr/>
        </p:nvSpPr>
        <p:spPr>
          <a:xfrm>
            <a:off x="6504127" y="517980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Sailer et al. (2022), Fig. 4(a–f). Aggressive and affiliative actions before and after bonding.</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Sailer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Accumbens inhibition weakens established partner contact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Forero and colleagues expressed inhibitory hM4Di designer receptors in the accumbens core of female prairie voles. Receptor activation was tested before and after birth, using C21 and saline on counterbalanced test days within the same animals.</a:t>
            </a:r>
          </a:p>
          <a:p>
            <a:pPr algn="l">
              <a:lnSpc>
                <a:spcPct val="108000"/>
              </a:lnSpc>
              <a:spcAft>
                <a:spcPts val="960"/>
              </a:spcAft>
            </a:pPr>
            <a:r>
              <a:rPr sz="1600" b="0" i="0">
                <a:solidFill>
                  <a:srgbClr val="000000"/>
                </a:solidFill>
                <a:latin typeface="Arial"/>
              </a:rPr>
              <a:t>C21 activation reduced side-by-side contact with the established male partner both before and after parturition, the birth of offspring. After birth, inhibition also disrupted the usual preference for partner over stranger contact. Contact with the unfamiliar male did not increase correspondingly.</a:t>
            </a:r>
          </a:p>
          <a:p>
            <a:pPr algn="l">
              <a:lnSpc>
                <a:spcPct val="108000"/>
              </a:lnSpc>
              <a:spcAft>
                <a:spcPts val="960"/>
              </a:spcAft>
            </a:pPr>
            <a:r>
              <a:rPr sz="1600" b="0" i="0">
                <a:solidFill>
                  <a:srgbClr val="000000"/>
                </a:solidFill>
                <a:latin typeface="Arial"/>
              </a:rPr>
              <a:t>The intervention therefore weakened the affiliative expression of an existing bond through reduced partner engagement. Its stronger consequence after birth connected neural activity with reproductive state. Maintaining partner-directed affiliation depends on accumbens function while the female’s social demands change during the transition to motherhood.</a:t>
            </a:r>
          </a:p>
        </p:txBody>
      </p:sp>
      <p:pic>
        <p:nvPicPr>
          <p:cNvPr id="4" name="Picture 3" descr="mother_inhibit.png"/>
          <p:cNvPicPr>
            <a:picLocks noChangeAspect="1"/>
          </p:cNvPicPr>
          <p:nvPr/>
        </p:nvPicPr>
        <p:blipFill>
          <a:blip r:embed="rId2"/>
          <a:stretch>
            <a:fillRect/>
          </a:stretch>
        </p:blipFill>
        <p:spPr>
          <a:xfrm>
            <a:off x="7001256" y="1280160"/>
            <a:ext cx="3760620"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Forero et al. (2023), Fig. 1(A–C). Inhibitory DREADD effects before and after parturition.</a:t>
            </a:r>
          </a:p>
        </p:txBody>
      </p:sp>
      <p:pic>
        <p:nvPicPr>
          <p:cNvPr id="6" name="Picture 5" descr="classic_anatomy_top.png"/>
          <p:cNvPicPr>
            <a:picLocks noChangeAspect="1"/>
          </p:cNvPicPr>
          <p:nvPr/>
        </p:nvPicPr>
        <p:blipFill>
          <a:blip r:embed="rId3"/>
          <a:stretch>
            <a:fillRect/>
          </a:stretch>
        </p:blipFill>
        <p:spPr>
          <a:xfrm>
            <a:off x="7414277" y="4206240"/>
            <a:ext cx="2934579"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Forero et al. (2023);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Changing accumbens activity can disrupt affiliation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Forero and colleagues also expressed the excitatory hM3Dq receptor in female accumbens core neurons. Activating this receptor with C21 supplied a manipulation opposite in direction to inhibitory hM4Di, with saline sessions providing the within-subject comparison.</a:t>
            </a:r>
          </a:p>
          <a:p>
            <a:pPr algn="l">
              <a:lnSpc>
                <a:spcPct val="108000"/>
              </a:lnSpc>
              <a:spcAft>
                <a:spcPts val="840"/>
              </a:spcAft>
            </a:pPr>
            <a:r>
              <a:rPr sz="1400" b="0" i="0">
                <a:solidFill>
                  <a:srgbClr val="000000"/>
                </a:solidFill>
                <a:latin typeface="Arial"/>
              </a:rPr>
              <a:t>With accumbens excitation, females lacked a significant partner-over-stranger preference before and after birth. Excitation did not significantly reduce partner-contact duration in either period. In saline sessions, preference was present before birth but absent afterward, when partner contact was reduced.</a:t>
            </a:r>
          </a:p>
          <a:p>
            <a:pPr algn="l">
              <a:lnSpc>
                <a:spcPct val="108000"/>
              </a:lnSpc>
              <a:spcAft>
                <a:spcPts val="840"/>
              </a:spcAft>
            </a:pPr>
            <a:r>
              <a:rPr sz="1400" b="0" i="0">
                <a:solidFill>
                  <a:srgbClr val="000000"/>
                </a:solidFill>
                <a:latin typeface="Arial"/>
              </a:rPr>
              <a:t>Inhibition reduced partner contact, whereas excitation changed the detectable preference without a significant reduction in partner-contact time. Contact duration and the partner-versus-stranger comparison describe different behavioral outcomes. Sham-surgery animals given C21 controlled for drug exposure, and the before-birth versus after-birth tests separated reproductive state from receptor manipulation.</a:t>
            </a:r>
          </a:p>
        </p:txBody>
      </p:sp>
      <p:pic>
        <p:nvPicPr>
          <p:cNvPr id="4" name="Picture 3" descr="mother_excite.png"/>
          <p:cNvPicPr>
            <a:picLocks noChangeAspect="1"/>
          </p:cNvPicPr>
          <p:nvPr/>
        </p:nvPicPr>
        <p:blipFill>
          <a:blip r:embed="rId2"/>
          <a:stretch>
            <a:fillRect/>
          </a:stretch>
        </p:blipFill>
        <p:spPr>
          <a:xfrm>
            <a:off x="7003483" y="1280160"/>
            <a:ext cx="3756166"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Forero et al. (2023), Fig. 2(A–C). Excitatory DREADD effects on established partner contact.</a:t>
            </a:r>
          </a:p>
        </p:txBody>
      </p:sp>
      <p:pic>
        <p:nvPicPr>
          <p:cNvPr id="6" name="Picture 5" descr="classic_anatomy_top.png"/>
          <p:cNvPicPr>
            <a:picLocks noChangeAspect="1"/>
          </p:cNvPicPr>
          <p:nvPr/>
        </p:nvPicPr>
        <p:blipFill>
          <a:blip r:embed="rId3"/>
          <a:stretch>
            <a:fillRect/>
          </a:stretch>
        </p:blipFill>
        <p:spPr>
          <a:xfrm>
            <a:off x="7414277" y="4206240"/>
            <a:ext cx="2934579"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Forero et al. (2023);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Birth changes affiliation beyond elapsed cohabitation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Females paired with vasectomized males retained strong partner-contact preference at both two and four weeks. Females paired with sham-operated males also preferred their partners but reduced partner-contact duration after birth. The comparison distinguished offspring-associated changes from an inevitable decline during longer cohabitation.</a:t>
            </a:r>
          </a:p>
          <a:p>
            <a:pPr algn="l">
              <a:lnSpc>
                <a:spcPct val="108000"/>
              </a:lnSpc>
              <a:spcAft>
                <a:spcPts val="900"/>
              </a:spcAft>
            </a:pPr>
            <a:r>
              <a:rPr sz="1500" b="0" i="0">
                <a:solidFill>
                  <a:srgbClr val="000000"/>
                </a:solidFill>
                <a:latin typeface="Arial"/>
              </a:rPr>
              <a:t>To distinguish motherhood from the passage of time, Forero and colleagues paired females with vasectomized males or sham-operated fertile males. Vasectomy prevented pregnancy while preserving the opportunity for social cohabitation and mating-related interaction with the male.</a:t>
            </a:r>
          </a:p>
          <a:p>
            <a:pPr algn="l">
              <a:lnSpc>
                <a:spcPct val="108000"/>
              </a:lnSpc>
              <a:spcAft>
                <a:spcPts val="900"/>
              </a:spcAft>
            </a:pPr>
            <a:r>
              <a:rPr sz="1500" b="0" i="0">
                <a:solidFill>
                  <a:srgbClr val="000000"/>
                </a:solidFill>
                <a:latin typeface="Arial"/>
              </a:rPr>
              <a:t>The transition to parenthood changes the expression of an established relationship. Reduced partner contact can occur alongside a retained preference rather than replacement of the partner by a stranger. The reproductive manipulation connects changing social allocation with the presence of offspring and the female’s new parental state.</a:t>
            </a:r>
          </a:p>
        </p:txBody>
      </p:sp>
      <p:pic>
        <p:nvPicPr>
          <p:cNvPr id="4" name="Picture 3" descr="mother_vasectomy.png"/>
          <p:cNvPicPr>
            <a:picLocks noChangeAspect="1"/>
          </p:cNvPicPr>
          <p:nvPr/>
        </p:nvPicPr>
        <p:blipFill>
          <a:blip r:embed="rId2"/>
          <a:stretch>
            <a:fillRect/>
          </a:stretch>
        </p:blipFill>
        <p:spPr>
          <a:xfrm>
            <a:off x="566928" y="1280160"/>
            <a:ext cx="5120640" cy="3245355"/>
          </a:xfrm>
          <a:prstGeom prst="rect">
            <a:avLst/>
          </a:prstGeom>
        </p:spPr>
      </p:pic>
      <p:sp>
        <p:nvSpPr>
          <p:cNvPr id="5" name="Figure caption"/>
          <p:cNvSpPr txBox="1"/>
          <p:nvPr/>
        </p:nvSpPr>
        <p:spPr>
          <a:xfrm>
            <a:off x="566928" y="461695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Forero et al. (2023), Fig. 4(A–C). Partner contact when pregnancy was prevented.</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Forero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Bonding changes gene expression by time and sex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D4C5C"/>
                </a:solidFill>
                <a:latin typeface="Arial"/>
              </a:rPr>
              <a:t>transcriptome</a:t>
            </a:r>
            <a:r>
              <a:rPr sz="1500" b="0" i="0">
                <a:solidFill>
                  <a:srgbClr val="000000"/>
                </a:solidFill>
                <a:latin typeface="Arial"/>
              </a:rPr>
              <a:t> is the collection of RNA transcripts expressed in sampled tissue. Duclot and colleagues sequenced accumbens RNA from males and females after 24 hours or three weeks of opposite-sex cohabitation, using same-sex littermate housing as a comparison condition.</a:t>
            </a:r>
          </a:p>
          <a:p>
            <a:pPr algn="l">
              <a:lnSpc>
                <a:spcPct val="108000"/>
              </a:lnSpc>
              <a:spcAft>
                <a:spcPts val="900"/>
              </a:spcAft>
            </a:pPr>
            <a:r>
              <a:rPr sz="1500" b="0" i="0">
                <a:solidFill>
                  <a:srgbClr val="000000"/>
                </a:solidFill>
                <a:latin typeface="Arial"/>
              </a:rPr>
              <a:t>Early and later cohabitation produced different expression patterns, and males and females retained different sexually biased transcriptomes. The comparison therefore sampled both the development of a preference and the longer-term social state associated with maintenance, rather than one undifferentiated bonding condition.</a:t>
            </a:r>
          </a:p>
          <a:p>
            <a:pPr algn="l">
              <a:lnSpc>
                <a:spcPct val="108000"/>
              </a:lnSpc>
              <a:spcAft>
                <a:spcPts val="900"/>
              </a:spcAft>
            </a:pPr>
            <a:r>
              <a:rPr sz="1500" b="0" i="0">
                <a:solidFill>
                  <a:srgbClr val="000000"/>
                </a:solidFill>
                <a:latin typeface="Arial"/>
              </a:rPr>
              <a:t>Functional gene groups involved in neurotransmission, protein turnover and cellular metabolism changed with social experience. The molecular organization of a bonded brain includes multiple interacting processes. Sex and duration of pairing influence those processes, complementing the localized dopamine, opioid and neuropeptide mechanisms measured experimentally.</a:t>
            </a:r>
          </a:p>
        </p:txBody>
      </p:sp>
      <p:pic>
        <p:nvPicPr>
          <p:cNvPr id="4" name="Picture 3" descr="transcript_genes.png"/>
          <p:cNvPicPr>
            <a:picLocks noChangeAspect="1"/>
          </p:cNvPicPr>
          <p:nvPr/>
        </p:nvPicPr>
        <p:blipFill>
          <a:blip r:embed="rId2"/>
          <a:stretch>
            <a:fillRect/>
          </a:stretch>
        </p:blipFill>
        <p:spPr>
          <a:xfrm>
            <a:off x="7092810" y="1280160"/>
            <a:ext cx="3577512"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Duclot et al. (2022), Fig. 2(A–F). Accumbens gene-expression comparisons across bonding stages.</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Duclot et al. (2022);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Mitochondrial regulation changes with social experience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3D4C5C"/>
                </a:solidFill>
                <a:latin typeface="Arial"/>
              </a:rPr>
              <a:t>Mitochondria</a:t>
            </a:r>
            <a:r>
              <a:rPr sz="1400" b="0" i="0">
                <a:solidFill>
                  <a:srgbClr val="000000"/>
                </a:solidFill>
                <a:latin typeface="Arial"/>
              </a:rPr>
              <a:t> supply cellular energy and undergo fusion and fission, the joining and division of mitochondrial structures. Duclot and colleagues combined accumbens transcriptomic analysis with measurements of proteins associated with mitochondrial dynamics in prairie voles.</a:t>
            </a:r>
          </a:p>
          <a:p>
            <a:pPr algn="l">
              <a:lnSpc>
                <a:spcPct val="108000"/>
              </a:lnSpc>
              <a:spcAft>
                <a:spcPts val="840"/>
              </a:spcAft>
            </a:pPr>
            <a:r>
              <a:rPr sz="1400" b="0" i="0">
                <a:solidFill>
                  <a:srgbClr val="000000"/>
                </a:solidFill>
                <a:latin typeface="Arial"/>
              </a:rPr>
              <a:t>Cohabitation altered the molecular balance of mitochondrial regulation differently in males and females. In males, the results included a shift toward fission-related regulation. The study assessed protein markers alongside the broader RNA patterns, retaining molecular measurements distinct from behavioral preference scores.</a:t>
            </a:r>
          </a:p>
          <a:p>
            <a:pPr algn="l">
              <a:lnSpc>
                <a:spcPct val="108000"/>
              </a:lnSpc>
              <a:spcAft>
                <a:spcPts val="840"/>
              </a:spcAft>
            </a:pPr>
            <a:r>
              <a:rPr sz="1400" b="0" i="0">
                <a:solidFill>
                  <a:srgbClr val="000000"/>
                </a:solidFill>
                <a:latin typeface="Arial"/>
              </a:rPr>
              <a:t>The authors’ hypothesis is that metabolic and mitochondrial adjustments support experience-dependent neuronal remodeling. Synaptic signaling, protein turnover and structural plasticity require cellular resources. The maintenance-associated transcriptome therefore includes the cell’s capacity to sustain and reorganize neural function as well as receptors directly involved in social behavior.</a:t>
            </a:r>
          </a:p>
        </p:txBody>
      </p:sp>
      <p:pic>
        <p:nvPicPr>
          <p:cNvPr id="4" name="Picture 3" descr="transcript_mito.png"/>
          <p:cNvPicPr>
            <a:picLocks noChangeAspect="1"/>
          </p:cNvPicPr>
          <p:nvPr/>
        </p:nvPicPr>
        <p:blipFill>
          <a:blip r:embed="rId2"/>
          <a:stretch>
            <a:fillRect/>
          </a:stretch>
        </p:blipFill>
        <p:spPr>
          <a:xfrm>
            <a:off x="7690657" y="1280160"/>
            <a:ext cx="2381820"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Duclot et al. (2022), Fig. 6(A–F). Mitochondrial regulatory proteins across cohabitation conditions.</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Duclot et al. (2022);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Partner preference can persist through long separation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partner preference testing, males continued to favor familiar partners after separation, including the long interval. Huddling duration and contact with the stranger were measured separately. Preference persistence was therefore recorded even while other molecular features of the bonded state changed.</a:t>
            </a:r>
          </a:p>
          <a:p>
            <a:pPr algn="l">
              <a:lnSpc>
                <a:spcPct val="108000"/>
              </a:lnSpc>
              <a:spcAft>
                <a:spcPts val="960"/>
              </a:spcAft>
            </a:pPr>
            <a:r>
              <a:rPr sz="1600" b="0" i="0">
                <a:solidFill>
                  <a:srgbClr val="000000"/>
                </a:solidFill>
                <a:latin typeface="Arial"/>
              </a:rPr>
              <a:t>Sadino and colleagues first housed males in opposite-sex or same-sex pairs for two weeks. They then compared animals that remained paired with animals separated for two days or four weeks, moving separated partners to another room to eliminate ongoing sensory contact.</a:t>
            </a:r>
          </a:p>
          <a:p>
            <a:pPr algn="l">
              <a:lnSpc>
                <a:spcPct val="108000"/>
              </a:lnSpc>
              <a:spcAft>
                <a:spcPts val="960"/>
              </a:spcAft>
            </a:pPr>
            <a:r>
              <a:rPr sz="1600" b="0" i="0">
                <a:solidFill>
                  <a:srgbClr val="000000"/>
                </a:solidFill>
                <a:latin typeface="Arial"/>
              </a:rPr>
              <a:t>A retained contact preference is one component of the relationship’s history. Familiar-partner recognition and the neural state supporting current selective motivation can have different time courses. After prolonged separation, familiar-partner contact can remain selective even as partner-enhanced dopamine and bonding-associated gene expression decline.</a:t>
            </a:r>
          </a:p>
        </p:txBody>
      </p:sp>
      <p:pic>
        <p:nvPicPr>
          <p:cNvPr id="4" name="Picture 3" descr="separation_behavior.png"/>
          <p:cNvPicPr>
            <a:picLocks noChangeAspect="1"/>
          </p:cNvPicPr>
          <p:nvPr/>
        </p:nvPicPr>
        <p:blipFill>
          <a:blip r:embed="rId2"/>
          <a:stretch>
            <a:fillRect/>
          </a:stretch>
        </p:blipFill>
        <p:spPr>
          <a:xfrm>
            <a:off x="7361934" y="1280160"/>
            <a:ext cx="340502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1(A–E). Huddling preferences before and after partner separation.</a:t>
            </a:r>
          </a:p>
        </p:txBody>
      </p:sp>
      <p:sp>
        <p:nvSpPr>
          <p:cNvPr id="6" name="Rectangle 5"/>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Long separation erodes the accumbens bonding signature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Sadino and colleagues sequenced nucleus accumbens RNA to compare pair-bond-associated expression patterns after short and long separation. Same-sex pairs provided a social-housing comparison, while opposite-sex pairs that remained together identified a persistent bonding-associated pattern.</a:t>
            </a:r>
          </a:p>
          <a:p>
            <a:pPr algn="l">
              <a:lnSpc>
                <a:spcPct val="108000"/>
              </a:lnSpc>
              <a:spcAft>
                <a:spcPts val="840"/>
              </a:spcAft>
            </a:pPr>
            <a:r>
              <a:rPr sz="1400" b="0" i="0">
                <a:solidFill>
                  <a:srgbClr val="000000"/>
                </a:solidFill>
                <a:latin typeface="Arial"/>
              </a:rPr>
              <a:t>The accumbens signature remained largely concordant after two days of separation but eroded after four weeks. Genes linked with glial processes, extracellular matrix organization, synapse organization and vesicle docking contributed to the changing signature. These are components of tissue organization and communication among cells.</a:t>
            </a:r>
          </a:p>
          <a:p>
            <a:pPr algn="l">
              <a:lnSpc>
                <a:spcPct val="108000"/>
              </a:lnSpc>
              <a:spcAft>
                <a:spcPts val="840"/>
              </a:spcAft>
            </a:pPr>
            <a:r>
              <a:rPr sz="1400" b="0" i="0">
                <a:solidFill>
                  <a:srgbClr val="000000"/>
                </a:solidFill>
                <a:latin typeface="Arial"/>
              </a:rPr>
              <a:t>The authors’ hypothesis is that this molecular reorganization contributes to adaptation after partner loss. Continued cohabitation maintains a stable expression state, whereas extended separation permits a different state to emerge. Behavioral preference can persist over an interval in which parts of the bonding-associated transcriptional pattern are already changing.</a:t>
            </a:r>
          </a:p>
        </p:txBody>
      </p:sp>
      <p:pic>
        <p:nvPicPr>
          <p:cNvPr id="4" name="Picture 3" descr="separation_erosion.png"/>
          <p:cNvPicPr>
            <a:picLocks noChangeAspect="1"/>
          </p:cNvPicPr>
          <p:nvPr/>
        </p:nvPicPr>
        <p:blipFill>
          <a:blip r:embed="rId2"/>
          <a:stretch>
            <a:fillRect/>
          </a:stretch>
        </p:blipFill>
        <p:spPr>
          <a:xfrm>
            <a:off x="7713931" y="1280160"/>
            <a:ext cx="2335270"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3(A–K). Bond-associated transcription before and after separation.</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Neuron-specific RNA reveals several responses to loss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Sadino and colleagues developed </a:t>
            </a:r>
            <a:r>
              <a:rPr sz="1400" b="1" i="0">
                <a:solidFill>
                  <a:srgbClr val="3D4C5C"/>
                </a:solidFill>
                <a:latin typeface="Arial"/>
              </a:rPr>
              <a:t>translating ribosome affinity purification</a:t>
            </a:r>
            <a:r>
              <a:rPr sz="1400" b="0" i="0">
                <a:solidFill>
                  <a:srgbClr val="000000"/>
                </a:solidFill>
                <a:latin typeface="Arial"/>
              </a:rPr>
              <a:t> for prairie voles. Tagged ribosomal proteins were expressed in neurons, and the tagged complexes were isolated to enrich RNA being translated in those cells, separating neuronal expression from prominent glial contributions.</a:t>
            </a:r>
          </a:p>
          <a:p>
            <a:pPr algn="l">
              <a:lnSpc>
                <a:spcPct val="108000"/>
              </a:lnSpc>
              <a:spcAft>
                <a:spcPts val="840"/>
              </a:spcAft>
            </a:pPr>
            <a:r>
              <a:rPr sz="1400" b="0" i="0">
                <a:solidFill>
                  <a:srgbClr val="000000"/>
                </a:solidFill>
                <a:latin typeface="Arial"/>
              </a:rPr>
              <a:t>The neuron-enriched results contained distinct temporal patterns. One cluster rose during bonding and short separation, then declined after long separation. Another increased after acute loss and contained genes associated with dopamine and learning. A third increased primarily after prolonged separation and involved cellular metabolism.</a:t>
            </a:r>
          </a:p>
          <a:p>
            <a:pPr algn="l">
              <a:lnSpc>
                <a:spcPct val="108000"/>
              </a:lnSpc>
              <a:spcAft>
                <a:spcPts val="840"/>
              </a:spcAft>
            </a:pPr>
            <a:r>
              <a:rPr sz="1400" b="0" i="0">
                <a:solidFill>
                  <a:srgbClr val="000000"/>
                </a:solidFill>
                <a:latin typeface="Arial"/>
              </a:rPr>
              <a:t>Pair-bond maintenance and adaptation to loss therefore involve several coordinated cellular processes with different time courses. Partner-directed behavior, receptor-dependent social defense and cell-specific molecular changes provide complementary biological measurements. Their combination explains how a relationship can remain recognizable while the neural state supporting its current motivational value is reorganized.</a:t>
            </a:r>
          </a:p>
        </p:txBody>
      </p:sp>
      <p:pic>
        <p:nvPicPr>
          <p:cNvPr id="4" name="Picture 3" descr="separation_neurons.png"/>
          <p:cNvPicPr>
            <a:picLocks noChangeAspect="1"/>
          </p:cNvPicPr>
          <p:nvPr/>
        </p:nvPicPr>
        <p:blipFill>
          <a:blip r:embed="rId2"/>
          <a:stretch>
            <a:fillRect/>
          </a:stretch>
        </p:blipFill>
        <p:spPr>
          <a:xfrm>
            <a:off x="7680901" y="1280160"/>
            <a:ext cx="2401332"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Sadino et al. (2023), Fig. 4(A–G). Neuron-enriched transcripts and separation-related clusters.</a:t>
            </a:r>
          </a:p>
        </p:txBody>
      </p:sp>
      <p:pic>
        <p:nvPicPr>
          <p:cNvPr id="6" name="Picture 5" descr="classic_anatomy_top.png"/>
          <p:cNvPicPr>
            <a:picLocks noChangeAspect="1"/>
          </p:cNvPicPr>
          <p:nvPr/>
        </p:nvPicPr>
        <p:blipFill>
          <a:blip r:embed="rId3"/>
          <a:stretch>
            <a:fillRect/>
          </a:stretch>
        </p:blipFill>
        <p:spPr>
          <a:xfrm>
            <a:off x="7759522" y="4572000"/>
            <a:ext cx="2244089"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Aragona et al. (2006), Fig. 2(a,b). Rostral accumbens core and shell landmarks.</a:t>
            </a:r>
          </a:p>
        </p:txBody>
      </p:sp>
      <p:sp>
        <p:nvSpPr>
          <p:cNvPr id="8" name="Rectangle 7"/>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Sadino et al. (2023); Aragona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C5C"/>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Selectivity has several behavioral components.</a:t>
            </a:r>
            <a:r>
              <a:rPr sz="1600" b="0" i="0">
                <a:solidFill>
                  <a:srgbClr val="000000"/>
                </a:solidFill>
                <a:latin typeface="Arial"/>
              </a:rPr>
              <a:t> Partner-contact preference, effort to gain contact and aggression toward strangers are measured separately and can change independently.</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D4C5C"/>
                </a:solidFill>
                <a:latin typeface="Arial"/>
              </a:rPr>
              <a:t>Dopamine function changes with bonding.</a:t>
            </a:r>
            <a:r>
              <a:rPr sz="1500" b="0" i="0">
                <a:solidFill>
                  <a:srgbClr val="000000"/>
                </a:solidFill>
                <a:latin typeface="Arial"/>
              </a:rPr>
              <a:t> Accumbens D2-like signaling supports preference formation; later D1-like plasticity and dopamine release contribute to maintenance-associated social responses.</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C5C"/>
                </a:solidFill>
                <a:latin typeface="Arial"/>
              </a:rPr>
              <a:t>Dopamine and opioids interact directionally.</a:t>
            </a:r>
            <a:r>
              <a:rPr sz="1600" b="0" i="0">
                <a:solidFill>
                  <a:srgbClr val="000000"/>
                </a:solidFill>
                <a:latin typeface="Arial"/>
              </a:rPr>
              <a:t> KOR stimulation rescues aggression during D1 blockade, supporting a downstream dynorphin/KOR component of stranger rejection.</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D4C5C"/>
                </a:solidFill>
                <a:latin typeface="Arial"/>
              </a:rPr>
              <a:t>Hypothalamic vasopressin supports social defense.</a:t>
            </a:r>
            <a:r>
              <a:rPr sz="1500" b="0" i="0">
                <a:solidFill>
                  <a:srgbClr val="000000"/>
                </a:solidFill>
                <a:latin typeface="Arial"/>
              </a:rPr>
              <a:t> Local V1a activation promotes aggression, while antagonism and receptor-expression manipulations link the pathway to bonded males’ stranger rejection.</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D4C5C"/>
                </a:solidFill>
                <a:latin typeface="Arial"/>
              </a:rPr>
              <a:t>Partner acceptance has a synaptic mechanism.</a:t>
            </a:r>
            <a:r>
              <a:rPr sz="1500" b="0" i="0">
                <a:solidFill>
                  <a:srgbClr val="000000"/>
                </a:solidFill>
                <a:latin typeface="Arial"/>
              </a:rPr>
              <a:t> Pairing couples oxytocin receptor activation to CB1-dependent potentiation; CB1 blockade increases defensive responses toward partners without eliminating proximity preference.</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D4C5C"/>
                </a:solidFill>
                <a:latin typeface="Arial"/>
              </a:rPr>
              <a:t>Maintenance remains biologically flexible.</a:t>
            </a:r>
            <a:r>
              <a:rPr sz="1500" b="0" i="0">
                <a:solidFill>
                  <a:srgbClr val="000000"/>
                </a:solidFill>
                <a:latin typeface="Arial"/>
              </a:rPr>
              <a:t> Motherhood alters affiliation, and prolonged separation erodes partner-enhanced dopamine and bonding-associated transcription even while aspects of familiar-partner preference persist.</a:t>
            </a:r>
          </a:p>
        </p:txBody>
      </p:sp>
      <p:sp>
        <p:nvSpPr>
          <p:cNvPr id="15" name="Rectangle 14"/>
          <p:cNvSpPr/>
          <p:nvPr/>
        </p:nvSpPr>
        <p:spPr>
          <a:xfrm>
            <a:off x="566928" y="6382512"/>
            <a:ext cx="11057839" cy="9144"/>
          </a:xfrm>
          <a:prstGeom prst="rect">
            <a:avLst/>
          </a:prstGeom>
          <a:solidFill>
            <a:srgbClr val="CED6D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Aragona et al. (2006); Resendez et al. (2016); Borie et al. (2022); Sadino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Prairie voles II: mate guarding, selective aggression, and neural mechanisms supporting the maintenance of established pair bonds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