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Fish-Operated Vehicle II: Sensing, Control Mapping, and Constraints (Givon &amp; Liu)</a:t>
            </a:r>
          </a:p>
          <a:p>
            <a:r>
              <a:t>Lecture 79. NEUR 411 · NEUROETHOLOGY · FALL 2026. Date TBD.</a:t>
            </a:r>
          </a:p>
          <a:p/>
          <a:p>
            <a:r>
              <a:t>Figure: Liu et al. (2025), Fig. 1(A). The goldfish and the instrumented vehicle.</a:t>
            </a:r>
          </a:p>
          <a:p>
            <a:r>
              <a:t>Figure source: https://doi.org/10.1111/ejn.70241</a:t>
            </a:r>
          </a:p>
          <a:p/>
          <a:p>
            <a:r>
              <a:t>References:</a:t>
            </a:r>
          </a:p>
          <a:p>
            <a:r>
              <a:t>Givon S, Samina M, Ben-Shahar O, Segev R (2022). From fish out of water to new insights on navigation mechanisms in animals. Behavioural Brain Research 419:113711. https://doi.org/10.1016/j.bbr.2021.113711</a:t>
            </a:r>
          </a:p>
          <a:p>
            <a:r>
              <a:t>Liu Z, Givon S, Segev R, Donchin O (2025). Whole Body Motor Adaptation in Goldfish Using Fish Operated Vehicle. European Journal of Neuroscience 62:e70241.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Goldfish can move a wheeled vehicle through a room while remaining submerged in its water tank. A fish-operated vehicle, or FOV, links the animal’s swimming position and orientation to electric motors. The motors move the tank, changing the animal’s location relative to objects outside the water.</a:t>
            </a:r>
          </a:p>
          <a:p>
            <a:r>
              <a:t>• Givon and colleagues rewarded arrival at a pink target with food. Training therefore joined two operations: selecting a useful swimming action inside the tank and directing the resulting vehicle displacement toward an external destination. The vehicle served as the physical connection between those operations.</a:t>
            </a:r>
          </a:p>
          <a:p>
            <a:r>
              <a:t>• Liu and colleagues later changed this connection by rotating the direction commanded to the wheels. Vehicle control could then be examined separately from adaptation to a changed action-to-movement relationship. Goal recognition remained useful even when the previously effective steering action became inaccurate.</a:t>
            </a:r>
          </a:p>
          <a:p/>
          <a:p>
            <a:r>
              <a:t>References:</a:t>
            </a:r>
          </a:p>
          <a:p>
            <a:r>
              <a:t>Givon S, Samina M, Ben-Shahar O, Segev R (2022). From fish out of water to new insights on navigation mechanisms in animals. Behavioural Brain Research 419:113711. https://doi.org/10.1016/j.bbr.2021.113711</a:t>
            </a:r>
          </a:p>
          <a:p>
            <a:r>
              <a:t>Liu Z, Givon S, Segev R, Donchin O (2025). Whole Body Motor Adaptation in Goldfish Using Fish Operated Vehicle. European Journal of Neuroscience 62:e70241. https://doi.org/10.1111/ejn.70241</a:t>
            </a:r>
          </a:p>
          <a:p/>
          <a:p>
            <a:r>
              <a:t>Figure: Givon et al. (2022), Fig. 1(A–E). The vehicle, camera detection, arena and command conditions.</a:t>
            </a:r>
          </a:p>
          <a:p>
            <a:r>
              <a:t>Figure source: https://doi.org/10.1016/j.bbr.2021.113711</a:t>
            </a:r>
          </a:p>
          <a:p/>
          <a:p>
            <a:r>
              <a:t>Video source: Givon et al. (2022), authors’ cited FishOperatedVehicle repository. Original side-view GIF: https://github.com/RonenSegevLab/FishOperatedVehicle/blob/main/videos/movie%20side%20view.gif . Runtime about 13 seconds. The original recording was converted to H.264 MP4 without trimming, recoloring, adding graphics or changing the scene. Click the recording during PowerPoint Slide Show to play it. The original Fig. 1(A–E) remains underneath as a static fallback for PDF export and viewers that omit video. The media poster is an original recording frame.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FOV carries goldfish in a Perspex tank measuring 35 × 35 × 28 cm. Water depth was 15 cm, selected to reduce surface waves during vehicle movement. The animal remains in an aquatic preparation while the surrounding scene changes through terrestrial displacement.</a:t>
            </a:r>
          </a:p>
          <a:p>
            <a:r>
              <a:t>• The tank sits on a 40 × 40 × 19 cm chassis. A downward-facing camera monitors the fish, while a separate ranging instrument records the vehicle’s relation to the arena. These instruments measure the animal and the apparatus in different physical spaces.</a:t>
            </a:r>
          </a:p>
          <a:p>
            <a:r>
              <a:t>• Swimming inside the tank changes the control command; motor-driven motion changes the tank’s external position. The preparation preserves ordinary movement in water while adding an unfamiliar consequence to that movement. Learning concerns the relation between a swimming posture and an externally moving platform.</a:t>
            </a:r>
          </a:p>
          <a:p/>
          <a:p>
            <a:r>
              <a:t>References:</a:t>
            </a:r>
          </a:p>
          <a:p>
            <a:r>
              <a:t>Liu Z, Givon S, Segev R, Donchin O (2025). Whole Body Motor Adaptation in Goldfish Using Fish Operated Vehicle. European Journal of Neuroscience 62:e70241. https://doi.org/10.1111/ejn.70241</a:t>
            </a:r>
          </a:p>
          <a:p/>
          <a:p>
            <a:r>
              <a:t>Figure: Liu et al. (2025), Fig. 1(A). The goldfish and the instrumented vehicle.</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Four electric motors power omni wheels, wheels that permit movement in multiple horizontal directions. The platform can translate toward different sides of the arena rather than requiring the entire tank to turn before moving in a new direction.</a:t>
            </a:r>
          </a:p>
          <a:p>
            <a:r>
              <a:t>• This mechanical arrangement makes fish orientation available as a directional command. A fish near a tank wall and facing outward produces movement toward the corresponding external direction. Changing position or heading can therefore change the vehicle’s displacement without rotating the whole preparation.</a:t>
            </a:r>
          </a:p>
          <a:p>
            <a:r>
              <a:t>• The animal’s swimming motion and the platform’s motion are physically distinct. The fish supplies a control signal through its behavior, and the electric motors supply the force moving the apparatus. This division permits an experimenter to change the control relationship while leaving the animal’s aquatic movements available.</a:t>
            </a:r>
          </a:p>
          <a:p/>
          <a:p>
            <a:r>
              <a:t>References:</a:t>
            </a:r>
          </a:p>
          <a:p>
            <a:r>
              <a:t>Givon S, Samina M, Ben-Shahar O, Segev R (2022). From fish out of water to new insights on navigation mechanisms in animals. Behavioural Brain Research 419:113711. https://doi.org/10.1016/j.bbr.2021.113711</a:t>
            </a:r>
          </a:p>
          <a:p/>
          <a:p>
            <a:r>
              <a:t>Figure: Givon et al. (2022), Fig. 1(A–E). The vehicle, camera detection, arena and command conditions.</a:t>
            </a:r>
          </a:p>
          <a:p>
            <a:r>
              <a:t>Figure source: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Computer vision is the extraction of useful information from camera images. The FOV’s downward-facing camera provides images of the fish in its tank. Image segmentation separates the animal’s contour from the surrounding water and tank background.</a:t>
            </a:r>
          </a:p>
          <a:p>
            <a:r>
              <a:t>• The controller detects fish location and orientation, including a direction derived from the body and tail. These quantities are translated into a command for the wheels. The camera measures swimming behavior rather than recording a neural signal directly from the animal.</a:t>
            </a:r>
          </a:p>
          <a:p>
            <a:r>
              <a:t>• Location and orientation contribute different information. Location determines whether the fish occupies an active region near a tank boundary, while orientation supplies the intended direction under the programmed rule. Their combination prevents every visible movement of the fish from automatically producing vehicle movement.</a:t>
            </a:r>
          </a:p>
          <a:p/>
          <a:p>
            <a:r>
              <a:t>References:</a:t>
            </a:r>
          </a:p>
          <a:p>
            <a:r>
              <a:t>Givon S, Samina M, Ben-Shahar O, Segev R (2022). From fish out of water to new insights on navigation mechanisms in animals. Behavioural Brain Research 419:113711. https://doi.org/10.1016/j.bbr.2021.113711</a:t>
            </a:r>
          </a:p>
          <a:p/>
          <a:p>
            <a:r>
              <a:t>Figure: Givon et al. (2022), Fig. 1(B). Computer-vision extraction of fish contour and orientation.</a:t>
            </a:r>
          </a:p>
          <a:p>
            <a:r>
              <a:t>Figure source: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gated control rule activates an output only when its required conditions are satisfied. In the FOV, being visible to the camera is insufficient: the fish must be near a tank wall and facing outward for the vehicle to move in the corresponding direction.</a:t>
            </a:r>
          </a:p>
          <a:p>
            <a:r>
              <a:t>• The same outward heading has a different consequence when the fish is away from the tank boundary. The position requirement creates active and inactive parts of the tank. Vehicle control therefore involves moving into a useful control region as well as selecting a heading.</a:t>
            </a:r>
          </a:p>
          <a:p>
            <a:r>
              <a:t>• This rule couples swimming position to the availability of steering. The fish can remain in water and move freely, but only selected positions and orientations recruit the motors. Effective operation depends on the animal repeatedly producing the behavioral combination that advances the platform toward the reward.</a:t>
            </a:r>
          </a:p>
          <a:p/>
          <a:p>
            <a:r>
              <a:t>References:</a:t>
            </a:r>
          </a:p>
          <a:p>
            <a:r>
              <a:t>Givon S, Samina M, Ben-Shahar O, Segev R (2022). From fish out of water to new insights on navigation mechanisms in animals. Behavioural Brain Research 419:113711. https://doi.org/10.1016/j.bbr.2021.113711</a:t>
            </a:r>
          </a:p>
          <a:p/>
          <a:p>
            <a:r>
              <a:t>Figure: Givon et al. (2022), Fig. 1(A–E). The vehicle, camera detection, arena and command conditions.</a:t>
            </a:r>
          </a:p>
          <a:p>
            <a:r>
              <a:t>Figure source: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LIDAR, light detection and ranging, measures distances using emitted light and its return from surrounding surfaces. The FOV uses this instrument to monitor obstacles outside the tank, independently of the camera’s measurement of fish behavior.</a:t>
            </a:r>
          </a:p>
          <a:p>
            <a:r>
              <a:t>• When the platform came within 20 cm of a wall or another obstacle, the controller disallowed further movement toward it. This safety rule overrode the animal-derived command. A fish could continue occupying an active steering posture while the apparatus withheld movement in the blocked direction.</a:t>
            </a:r>
          </a:p>
          <a:p>
            <a:r>
              <a:t>• Consequently, vehicle displacement combines the swimming command with an external constraint. Near-wall stops are properties of the controller as well as possible changes in behavior. The recorded arena position allows the blocked movement to be distinguished from an animal that has left the active control region.</a:t>
            </a:r>
          </a:p>
          <a:p/>
          <a:p>
            <a:r>
              <a:t>References:</a:t>
            </a:r>
          </a:p>
          <a:p>
            <a:r>
              <a:t>Givon S, Samina M, Ben-Shahar O, Segev R (2022). From fish out of water to new insights on navigation mechanisms in animals. Behavioural Brain Research 419:113711. https://doi.org/10.1016/j.bbr.2021.113711</a:t>
            </a:r>
          </a:p>
          <a:p/>
          <a:p>
            <a:r>
              <a:t>Figure: Givon et al. (2022), Fig. 1(A–E). The vehicle, camera detection, arena and command conditions.</a:t>
            </a:r>
          </a:p>
          <a:p>
            <a:r>
              <a:t>Figure source: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onboard camera records the fish relative to the water tank. The LIDAR records the vehicle relative to the arena. A coordinate frame is a reference system used to specify location; these two instruments measure movement in different coordinate frames.</a:t>
            </a:r>
          </a:p>
          <a:p>
            <a:r>
              <a:t>• Fish posture specifies the input available to the controller, whereas the arena trajectory specifies the output produced by the platform. A fish can swim inside a stationary tank, or maintain a useful posture while the platform moves through the room.</a:t>
            </a:r>
          </a:p>
          <a:p>
            <a:r>
              <a:t>• Liu’s rotation experiment changes the relation between these records. The animal’s local heading is retained as the input, but the output direction is rotated by software. Comparing local posture with external displacement therefore identifies the programmed perturbation without treating tank-relative swimming as the vehicle’s route.</a:t>
            </a:r>
          </a:p>
          <a:p/>
          <a:p>
            <a:r>
              <a:t>References:</a:t>
            </a:r>
          </a:p>
          <a:p>
            <a:r>
              <a:t>Liu Z, Givon S, Segev R, Donchin O (2025). Whole Body Motor Adaptation in Goldfish Using Fish Operated Vehicle. European Journal of Neuroscience 62:e70241. https://doi.org/10.1111/ejn.70241</a:t>
            </a:r>
          </a:p>
          <a:p/>
          <a:p>
            <a:r>
              <a:t>Figure: Liu et al. (2025), Fig. 1(A–C). Vehicle hardware, fish-to-vehicle mapping and arena.</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step command is an abrupt change from no command to a sustained movement command. Givon and colleagues applied this input to the vehicle and recorded its position over time, measuring the response of the apparatus independently of learning.</a:t>
            </a:r>
          </a:p>
          <a:p>
            <a:r>
              <a:t>• The platform’s distance increased slowly at first and more rapidly after motion developed. Its speed approached approximately 0.4 m/s in the published recording. The authors described a response time of about 1 second, connecting a steering command with a delayed mechanical consequence.</a:t>
            </a:r>
          </a:p>
          <a:p>
            <a:r>
              <a:t>• The fish therefore operates a system whose displacement builds over time rather than appearing instantaneously. The calibration assigns this time course to the vehicle itself. During behavioral training, a sustained useful posture allows the motors to produce movement long enough to approach the external target.</a:t>
            </a:r>
          </a:p>
          <a:p/>
          <a:p>
            <a:r>
              <a:t>References:</a:t>
            </a:r>
          </a:p>
          <a:p>
            <a:r>
              <a:t>Givon S, Samina M, Ben-Shahar O, Segev R (2022). From fish out of water to new insights on navigation mechanisms in animals. Behavioural Brain Research 419:113711. https://doi.org/10.1016/j.bbr.2021.113711</a:t>
            </a:r>
          </a:p>
          <a:p/>
          <a:p>
            <a:r>
              <a:t>Figure: Givon et al. (2022), Fig. 2(A–C). Vehicle acceleration and directional calibration.</a:t>
            </a:r>
          </a:p>
          <a:p>
            <a:r>
              <a:t>Figure source: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researchers placed an artificial fish model at different locations and orientations to test directional control. Eight headings, separated by 45°, sampled the vehicle’s available directions. The resulting displacement could be compared with the programmed command without relying on a live animal’s choices.</a:t>
            </a:r>
          </a:p>
          <a:p>
            <a:r>
              <a:t>• Command and movement directions closely agreed in the calibration. Together with the speed measurement, this establishes the apparatus’s directional and temporal response before navigation performance is interpreted. The control test concerns the vehicle’s operation rather than the animal’s experience of the reward.</a:t>
            </a:r>
          </a:p>
          <a:p>
            <a:r>
              <a:t>• Learning changes which postures the fish produces and how it uses their consequences. Calibration measures what the platform does when those postures are supplied. Separating these operations prevents a more direct route during training from being attributed to an unmeasured improvement in the robot’s mechanical steering.</a:t>
            </a:r>
          </a:p>
          <a:p/>
          <a:p>
            <a:r>
              <a:t>References:</a:t>
            </a:r>
          </a:p>
          <a:p>
            <a:r>
              <a:t>Givon S, Samina M, Ben-Shahar O, Segev R (2022). From fish out of water to new insights on navigation mechanisms in animals. Behavioural Brain Research 419:113711. https://doi.org/10.1016/j.bbr.2021.113711</a:t>
            </a:r>
          </a:p>
          <a:p/>
          <a:p>
            <a:r>
              <a:t>Figure: Givon et al. (2022), Fig. 2(A–C). Vehicle acceleration and directional calibration.</a:t>
            </a:r>
          </a:p>
          <a:p>
            <a:r>
              <a:t>Figure source: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pink rectangular board marked the rewarded destination in a 3 × 4 m arena. The board measured 60 × 40 cm and was placed on an arena wall. The goal was external to the water tank rather than an object the fish could reach by swimming across its own enclosure.</a:t>
            </a:r>
          </a:p>
          <a:p>
            <a:r>
              <a:t>• Arrival was defined by the vehicle touching the target board. At that moment, the experimenter delivered a food pellet into the tank. Vehicle displacement brought the aquatic preparation into contact with the rewarded location while the fish remained submerged.</a:t>
            </a:r>
          </a:p>
          <a:p>
            <a:r>
              <a:t>• The animal had to direct the platform toward a feature in the surrounding scene. Control of the motors provided a means of approaching that feature, while the food reward connected successful external movement to a consequence inside the tank. The goal and the reward occupied different physical spaces.</a:t>
            </a:r>
          </a:p>
          <a:p/>
          <a:p>
            <a:r>
              <a:t>References:</a:t>
            </a:r>
          </a:p>
          <a:p>
            <a:r>
              <a:t>Givon S, Samina M, Ben-Shahar O, Segev R (2022). From fish out of water to new insights on navigation mechanisms in animals. Behavioural Brain Research 419:113711. https://doi.org/10.1016/j.bbr.2021.113711</a:t>
            </a:r>
          </a:p>
          <a:p/>
          <a:p>
            <a:r>
              <a:t>Figure: Givon et al. (2022), Fig. 1(C). The terrestrial arena and rewarded target.</a:t>
            </a:r>
          </a:p>
          <a:p>
            <a:r>
              <a:t>Figure source: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bucket covered the water tank while the experimenter returned the FOV to its starting position. Removing the cover began the next trial. The procedure restricted the fish’s access to the surrounding visual scene during the manually controlled return.</a:t>
            </a:r>
          </a:p>
          <a:p>
            <a:r>
              <a:t>• In Liu’s experiment, time zero was assigned when the fish first appeared in the camera frame after the cover was removed. The starting event therefore aligned the analyzed trajectory with the resumption of the visible trial rather than with the entire handling sequence.</a:t>
            </a:r>
          </a:p>
          <a:p>
            <a:r>
              <a:t>• Training joined fish-controlled displacement with visual access to the arena. Covered return separated that movement from the experimenter’s repositioning of the vehicle. Each new trial again required the animal’s posture to generate movement toward the visible target through the currently programmed steering relationship.</a:t>
            </a:r>
          </a:p>
          <a:p/>
          <a:p>
            <a:r>
              <a:t>References:</a:t>
            </a:r>
          </a:p>
          <a:p>
            <a:r>
              <a:t>Liu Z, Givon S, Segev R, Donchin O (2025). Whole Body Motor Adaptation in Goldfish Using Fish Operated Vehicle. European Journal of Neuroscience 62:e70241. https://doi.org/10.1111/ejn.70241</a:t>
            </a:r>
          </a:p>
          <a:p/>
          <a:p>
            <a:r>
              <a:t>Figure: Liu et al. (2025), Fig. 1(A–C). Vehicle hardware, fish-to-vehicle mapping and arena.</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 the beginning of training, vehicle trajectories included substantial wandering through the arena. In later high-performance sessions, routes repeatedly approached the rewarded target. The change concerned the external path generated by the fish’s steering behavior.</a:t>
            </a:r>
          </a:p>
          <a:p>
            <a:r>
              <a:t>• A route records the consequences of many local positions and headings inside the tank. The animal must repeatedly recruit an appropriate command as its relation to the target changes. A more direct route therefore reflects coordinated use of the interface over the course of a trial.</a:t>
            </a:r>
          </a:p>
          <a:p>
            <a:r>
              <a:t>• The published trajectories retain variation between trials and individuals. Goal-directed control was acquired through experience with the apparatus and reward. The route itself provides a behavioral record of the animal’s successful use of the camera-to-motor mapping in a terrestrial arena.</a:t>
            </a:r>
          </a:p>
          <a:p/>
          <a:p>
            <a:r>
              <a:t>References:</a:t>
            </a:r>
          </a:p>
          <a:p>
            <a:r>
              <a:t>Givon S, Samina M, Ben-Shahar O, Segev R (2022). From fish out of water to new insights on navigation mechanisms in animals. Behavioural Brain Research 419:113711. https://doi.org/10.1016/j.bbr.2021.113711</a:t>
            </a:r>
          </a:p>
          <a:p/>
          <a:p>
            <a:r>
              <a:t>Figure: Givon et al. (2022), Fig. 3(A–D). Early and late navigation trajectories.</a:t>
            </a:r>
          </a:p>
          <a:p>
            <a:r>
              <a:t>Figure source: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Givon and colleagues moved the starting position after the fish had learned to approach the target. A different start changes the required route even though the rewarded board remains in the same place. A fixed replay of the original movement sequence would then lead away from the goal.</a:t>
            </a:r>
          </a:p>
          <a:p>
            <a:r>
              <a:t>• The fish still approached the target from the changed starting positions. The authors compared route efficiency relative to the direct distance available from each start, rather than treating a longer absolute path from a more distant start as poorer control.</a:t>
            </a:r>
          </a:p>
          <a:p>
            <a:r>
              <a:t>• Route efficiency relates the distance actually traveled to the shortest start-to-target distance. This comparison separates the geometry of the task from excess movement. Successful approaches from different starts connect the learned steering interface to flexible target-directed movement rather than one repeated arena trajectory.</a:t>
            </a:r>
          </a:p>
          <a:p/>
          <a:p>
            <a:r>
              <a:t>References:</a:t>
            </a:r>
          </a:p>
          <a:p>
            <a:r>
              <a:t>Givon S, Samina M, Ben-Shahar O, Segev R (2022). From fish out of water to new insights on navigation mechanisms in animals. Behavioural Brain Research 419:113711. https://doi.org/10.1016/j.bbr.2021.113711</a:t>
            </a:r>
          </a:p>
          <a:p/>
          <a:p>
            <a:r>
              <a:t>Figure: Givon et al. (2022), Fig. 5(A–F). Changed starting points, colored decoys and target relocation.</a:t>
            </a:r>
          </a:p>
          <a:p>
            <a:r>
              <a:t>Figure source: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Rectangular decoy boards of other colors were placed around the arena while the pink target retained its rewarded role. Fish continued to approach the correct board. Merely detecting any rectangular object was therefore insufficient to account for the trained choice.</a:t>
            </a:r>
          </a:p>
          <a:p>
            <a:r>
              <a:t>• When the rewarded target moved to the opposite wall, fish initially visited its old location before reaching the new one. The changed behavior connects the visual target with a learned spatial location, rather than assigning navigation exclusively to the board’s current appearance.</a:t>
            </a:r>
          </a:p>
          <a:p>
            <a:r>
              <a:t>• The controls separate information about what the target is from information about where it has been rewarded. Changing the starting point preserves the destination, while relocating the board changes that destination. The animal’s route reflects the interaction of visual recognition, learned location and control of the moving platform.</a:t>
            </a:r>
          </a:p>
          <a:p/>
          <a:p>
            <a:r>
              <a:t>References:</a:t>
            </a:r>
          </a:p>
          <a:p>
            <a:r>
              <a:t>Givon S, Samina M, Ben-Shahar O, Segev R (2022). From fish out of water to new insights on navigation mechanisms in animals. Behavioural Brain Research 419:113711. https://doi.org/10.1016/j.bbr.2021.113711</a:t>
            </a:r>
          </a:p>
          <a:p/>
          <a:p>
            <a:r>
              <a:t>Figure: Givon et al. (2022), Fig. 5(A–F). Changed starting points, colored decoys and target relocation.</a:t>
            </a:r>
          </a:p>
          <a:p>
            <a:r>
              <a:t>Figure source: https://doi.org/10.1016/j.bbr.2021.113711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control mapping specifies how an input action determines an output movement. During baseline training, an outward-facing fish near a tank wall moved the FOV in the corresponding direction. Liu and colleagues then rotated the vehicle command 45° to the right of the fish’s orientation.</a:t>
            </a:r>
          </a:p>
          <a:p>
            <a:r>
              <a:t>• The tank, arena and rewarded target remained part of the same task. The changed relation was imposed by software between the detected swimming pose and wheel output. A posture that previously advanced the vehicle toward the goal now displaced it in a different direction.</a:t>
            </a:r>
          </a:p>
          <a:p>
            <a:r>
              <a:t>• Compensation required the fish to produce a different orientation for the same desired external movement. The manipulation therefore separated recognizing a destination from controlling approach to it. Familiarity with the goal could persist while the motor command needed to reach that goal changed.</a:t>
            </a:r>
          </a:p>
          <a:p/>
          <a:p>
            <a:r>
              <a:t>References:</a:t>
            </a:r>
          </a:p>
          <a:p>
            <a:r>
              <a:t>Liu Z, Givon S, Segev R, Donchin O (2025). Whole Body Motor Adaptation in Goldfish Using Fish Operated Vehicle. European Journal of Neuroscience 62:e70241. https://doi.org/10.1111/ejn.70241</a:t>
            </a:r>
          </a:p>
          <a:p/>
          <a:p>
            <a:r>
              <a:t>Figure: Liu et al. (2025), Fig. 1(B). Fish orientation and vehicle direction under normal and rotated mappings.</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Liu’s onboard camera recorded fish posture at 30 frames/s with images of 320 × 240 pixels. The control loop ran at 12 updates/s. Acquisition of an image and updating the wheel command were therefore distinct operations with different rates.</a:t>
            </a:r>
          </a:p>
          <a:p>
            <a:r>
              <a:t>• A separate overhead camera recorded the arena from about 4 m above. Those recordings were reduced to 30 frames/s at 720 × 480 pixels for comparison with vehicle records. Camera observations of the arena helped validate tracking independently of the onboard view of the fish.</a:t>
            </a:r>
          </a:p>
          <a:p>
            <a:r>
              <a:t>• These measurements separate detection, command updating and observation of the resulting trajectory. Frame rate describes repeated sampling; the mechanical response time describes how movement develops after a command. The published hardware measurements characterize different stages connecting fish posture to externally observed platform displacement.</a:t>
            </a:r>
          </a:p>
          <a:p/>
          <a:p>
            <a:r>
              <a:t>References:</a:t>
            </a:r>
          </a:p>
          <a:p>
            <a:r>
              <a:t>Liu Z, Givon S, Segev R, Donchin O (2025). Whole Body Motor Adaptation in Goldfish Using Fish Operated Vehicle. European Journal of Neuroscience 62:e70241. https://doi.org/10.1111/ejn.70241</a:t>
            </a:r>
          </a:p>
          <a:p/>
          <a:p>
            <a:r>
              <a:t>Figure: Liu et al. (2025), Fig. 1(A–C). Vehicle hardware, fish-to-vehicle mapping and arena.</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Sensorimotor feedback is sensory information produced as a consequence of an animal’s movement. In the FOV, a useful posture activates the wheels, and platform displacement changes the animal’s relation to the surrounding target and arena.</a:t>
            </a:r>
          </a:p>
          <a:p>
            <a:r>
              <a:t>• Rotating the mapping changes that consequence while leaving swimming in the water tank available. Continuing to use the previously effective posture produces an externally misdirected route. Compensation develops as the animal experiences the relationship between its commands and the vehicle’s changed movement.</a:t>
            </a:r>
          </a:p>
          <a:p>
            <a:r>
              <a:t>• The authors’ internal-model hypothesis proposes that goldfish acquire a predictive relation between posture and external displacement. An internal model is a learned representation of how actions generate consequences. Oppositely directed errors after the rotation is removed provide behavioral evidence for persistence of the adapted relationship.</a:t>
            </a:r>
          </a:p>
          <a:p/>
          <a:p>
            <a:r>
              <a:t>References:</a:t>
            </a:r>
          </a:p>
          <a:p>
            <a:r>
              <a:t>Liu Z, Givon S, Segev R, Donchin O (2025). Whole Body Motor Adaptation in Goldfish Using Fish Operated Vehicle. European Journal of Neuroscience 62:e70241. https://doi.org/10.1111/ejn.70241</a:t>
            </a:r>
          </a:p>
          <a:p/>
          <a:p>
            <a:r>
              <a:t>Figure: Liu et al. (2025), Fig. 1(B). Fish orientation and vehicle direction under normal and rotated mappings.</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Baseline establishes vehicle operation under the original mapping. Rotation introduces a changed command direction. Washout restores the original mapping after adaptation, permitting the persistence and subsequent decay of the changed behavior to be examined.</a:t>
            </a:r>
          </a:p>
          <a:p>
            <a:r>
              <a:t>• The 45° experiment used 15 rotation sessions followed by 10 washout sessions. The same rotation then returned for 15 re-exposure sessions, followed by 10 final sessions with the original mapping. Each session contained six trials.</a:t>
            </a:r>
          </a:p>
          <a:p>
            <a:r>
              <a:t>• The authors called re-exposure the “savings” stage because it tested whether experience with the perturbation improved later learning. That stage name describes the question being tested. The observed rates and achieved performance must be compared with the first exposure to establish what kind of improvement occurred.</a:t>
            </a:r>
          </a:p>
          <a:p/>
          <a:p>
            <a:r>
              <a:t>References:</a:t>
            </a:r>
          </a:p>
          <a:p>
            <a:r>
              <a:t>Liu Z, Givon S, Segev R, Donchin O (2025). Whole Body Motor Adaptation in Goldfish Using Fish Operated Vehicle. European Journal of Neuroscience 62:e70241. https://doi.org/10.1111/ejn.70241</a:t>
            </a:r>
          </a:p>
          <a:p/>
          <a:p>
            <a:r>
              <a:t>Figure: Liu et al. (2025), Fig. 1(D). The authors’ predicted early and late behavior in the five training stages.</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Liu defined success as arrival in the target area, followed by food reward. With six trials in a session, the success measure ranged from no completed arrivals to six. It describes completion of the rewarded task rather than every detail of the route.</a:t>
            </a:r>
          </a:p>
          <a:p>
            <a:r>
              <a:t>• A fish can reach the goal by a direct path or after substantial extra movement. Both routes contribute a successful arrival. Directional accuracy and traveled distance were therefore recorded separately, allowing task completion to be compared with how the animal achieved it.</a:t>
            </a:r>
          </a:p>
          <a:p>
            <a:r>
              <a:t>• The rotation changed all three measures during learning. A growing number of arrivals means that more trials end at the rewarded location, while changes in angle and distance describe recovery of target-directed steering. Successful completion and efficient control are related behavioral achievements with different measurements.</a:t>
            </a:r>
          </a:p>
          <a:p/>
          <a:p>
            <a:r>
              <a:t>References:</a:t>
            </a:r>
          </a:p>
          <a:p>
            <a:r>
              <a:t>Liu Z, Givon S, Segev R, Donchin O (2025). Whole Body Motor Adaptation in Goldfish Using Fish Operated Vehicle. European Journal of Neuroscience 62:e70241. https://doi.org/10.1111/ejn.70241</a:t>
            </a:r>
          </a:p>
          <a:p/>
          <a:p>
            <a:r>
              <a:t>Figure: Liu et al. (2025), Fig. 2. Definitions of success, endpoint angular error and adjusted route length.</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Angular error is the angle between the direction from the starting point to the trial endpoint and the direction from the starting point to the target. In Liu’s task, 0° corresponds to an endpoint aligned with the target direction.</a:t>
            </a:r>
          </a:p>
          <a:p>
            <a:r>
              <a:t>• The measure uses the endpoint of the trajectory rather than the fish’s continuously changing body orientation. It summarizes where the platform finishes relative to the intended direction. Curved routes can therefore share a similar endpoint angular error even when their intermediate movements differ.</a:t>
            </a:r>
          </a:p>
          <a:p>
            <a:r>
              <a:t>• Route length retains the extra movement lost in that endpoint summary. After rotation, angular error moves toward the target direction as control improves, while distance describes the remaining detours. These complementary measures distinguish recovery of external directional alignment from acquisition of a short approach path.</a:t>
            </a:r>
          </a:p>
          <a:p/>
          <a:p>
            <a:r>
              <a:t>References:</a:t>
            </a:r>
          </a:p>
          <a:p>
            <a:r>
              <a:t>Liu Z, Givon S, Segev R, Donchin O (2025). Whole Body Motor Adaptation in Goldfish Using Fish Operated Vehicle. European Journal of Neuroscience 62:e70241. https://doi.org/10.1111/ejn.70241</a:t>
            </a:r>
          </a:p>
          <a:p/>
          <a:p>
            <a:r>
              <a:t>Figure: Liu et al. (2025), Fig. 2. Definitions of success, endpoint angular error and adjusted route length.</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For a successful trial, distance traveled is the measured length of the vehicle route. For an unsuccessful trial, Liu added an estimate of the further movement needed to reach the target, using the endpoint-to-target distance and the fish’s efficiency during that session.</a:t>
            </a:r>
          </a:p>
          <a:p>
            <a:r>
              <a:t>• This adjusted distance avoids treating an early unsuccessful stop as an efficient short route. A trial can end close to its starting point because steering failed, even though the animal still has far to travel to earn a reward.</a:t>
            </a:r>
          </a:p>
          <a:p>
            <a:r>
              <a:t>• The shortest start-to-target distance was 2.5 m. Adjusted lengths therefore express the measured successful routes or estimated completion cost of unsuccessful ones relative to the same destination. Reported decreases in this measure combine more effective target approach with the penalty assigned to stopping short of the goal.</a:t>
            </a:r>
          </a:p>
          <a:p/>
          <a:p>
            <a:r>
              <a:t>References:</a:t>
            </a:r>
          </a:p>
          <a:p>
            <a:r>
              <a:t>Liu Z, Givon S, Segev R, Donchin O (2025). Whole Body Motor Adaptation in Goldfish Using Fish Operated Vehicle. European Journal of Neuroscience 62:e70241. https://doi.org/10.1111/ejn.70241</a:t>
            </a:r>
          </a:p>
          <a:p/>
          <a:p>
            <a:r>
              <a:t>Figure: Liu et al. (2025), Fig. 2. Definitions of success, endpoint angular error and adjusted route length.</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Goldfish began with the original relation between outward orientation and vehicle direction. Early baseline trials often ended away from the target, while late baseline trajectories generally reached it. The animal first had to acquire effective control before experiencing a changed mapping.</a:t>
            </a:r>
          </a:p>
          <a:p>
            <a:r>
              <a:t>• Fish advanced to rotation after maintaining good performance across consecutive sessions. The criterion combined successful arrivals, near-target endpoint direction and limited route length. These measures required more than occasional contact with the rewarded location.</a:t>
            </a:r>
          </a:p>
          <a:p>
            <a:r>
              <a:t>• Adaptation was consequently studied in animals that had already acquired the baseline skill. The baseline stage separated initial learning of the unusual interface from later compensation for rotation. Changes after the perturbation could then be related to an established posture-to-movement mapping rather than the first discovery of vehicle control.</a:t>
            </a:r>
          </a:p>
          <a:p/>
          <a:p>
            <a:r>
              <a:t>References:</a:t>
            </a:r>
          </a:p>
          <a:p>
            <a:r>
              <a:t>Liu Z, Givon S, Segev R, Donchin O (2025). Whole Body Motor Adaptation in Goldfish Using Fish Operated Vehicle. European Journal of Neuroscience 62:e70241. https://doi.org/10.1111/ejn.70241</a:t>
            </a:r>
          </a:p>
          <a:p/>
          <a:p>
            <a:r>
              <a:t>Figure: Liu et al. (2025), Fig. 3(A–B). Early and late baseline trajectories with the published legend.</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Across baseline training, Liu’s fitted typical adjusted route length decreased from 6.0 m to 3.2 m. The direct start-to-target distance was 2.5 m. The change expresses a reduction in extra movement while the fish learned to operate the platform.</a:t>
            </a:r>
          </a:p>
          <a:p>
            <a:r>
              <a:t>• Long routes include detours and, for failed trials, an estimate of the remaining movement needed to complete the task. Shorter adjusted distances therefore indicate more efficient use of the interface rather than simply a shorter period of recording.</a:t>
            </a:r>
          </a:p>
          <a:p>
            <a:r>
              <a:t>• Late baseline provided a trained comparison for rotation and washout. Recovery toward a similar distance after a changed mapping means that the fish again approaches the same target with limited extra movement. Efficiency is evaluated against the animal’s acquired vehicle skill rather than an assumed ability to steer perfectly from its first trial.</a:t>
            </a:r>
          </a:p>
          <a:p/>
          <a:p>
            <a:r>
              <a:t>References:</a:t>
            </a:r>
          </a:p>
          <a:p>
            <a:r>
              <a:t>Liu Z, Givon S, Segev R, Donchin O (2025). Whole Body Motor Adaptation in Goldfish Using Fish Operated Vehicle. European Journal of Neuroscience 62:e70241. https://doi.org/10.1111/ejn.70241</a:t>
            </a:r>
          </a:p>
          <a:p/>
          <a:p>
            <a:r>
              <a:t>Figure: Liu et al. (2025), Fig. 3(F,J,K). Baseline adjusted distance and fitted performance parameters.</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Baseline training increased the fitted typical success count from 1.9 to 3.2 arrivals per session. Fish also produced more consistent endpoint directions and shorter adjusted routes. The acquisition of vehicle control therefore changed completion, directional variability and movement efficiency together.</a:t>
            </a:r>
          </a:p>
          <a:p>
            <a:r>
              <a:t>• Success counts describe whether the target was reached, whereas endpoint direction describes the alignment of the trial’s final displacement. The paper reports greater directional consistency during baseline rather than a large correction of the average angle.</a:t>
            </a:r>
          </a:p>
          <a:p>
            <a:r>
              <a:t>• This distinction separates variability from directional bias. Routes can become more consistently aligned with the goal even when their average signed direction changes little. The established baseline supplies both reliable target approach and a reference against which the later rotation-induced bias can be measured.</a:t>
            </a:r>
          </a:p>
          <a:p/>
          <a:p>
            <a:r>
              <a:t>References:</a:t>
            </a:r>
          </a:p>
          <a:p>
            <a:r>
              <a:t>Liu Z, Givon S, Segev R, Donchin O (2025). Whole Body Motor Adaptation in Goldfish Using Fish Operated Vehicle. European Journal of Neuroscience 62:e70241. https://doi.org/10.1111/ejn.70241</a:t>
            </a:r>
          </a:p>
          <a:p/>
          <a:p>
            <a:r>
              <a:t>Figure: Liu et al. (2025), Fig. 3(C–E). Baseline target success and fitted performance parameters.</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first rotated trials altered the route of a fish that had already learned to approach the target. A previously useful tank-relative heading now drove the platform to the right of its former direction. Early paths included detours and endpoints away from the goal.</a:t>
            </a:r>
          </a:p>
          <a:p>
            <a:r>
              <a:t>• With exposure to the changed mapping, late rotation trajectories again approached the target. The same external destination was reached through a changed relationship between detected swimming posture and vehicle movement, rather than by restoring the software to baseline.</a:t>
            </a:r>
          </a:p>
          <a:p>
            <a:r>
              <a:t>• The example fish’s early and late routes connect the imposed perturbation with a recovered behavior. The physical preparation remained available throughout the change. Adaptation concerned selecting useful commands under the rotated relationship, so target-directed performance returned while the altered controller was still active.</a:t>
            </a:r>
          </a:p>
          <a:p/>
          <a:p>
            <a:r>
              <a:t>References:</a:t>
            </a:r>
          </a:p>
          <a:p>
            <a:r>
              <a:t>Liu Z, Givon S, Segev R, Donchin O (2025). Whole Body Motor Adaptation in Goldfish Using Fish Operated Vehicle. European Journal of Neuroscience 62:e70241. https://doi.org/10.1111/ejn.70241</a:t>
            </a:r>
          </a:p>
          <a:p/>
          <a:p>
            <a:r>
              <a:t>Figure: Liu et al. (2025), Fig. 4(A). Early and late trajectories before, during and after rotation.</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published example fish, fitted endpoint angular error improved from 9.4° to −0.5° during rotation. The rotation remained active during this improvement. The animal therefore recovered an approximately target-aligned final displacement under the changed controller.</a:t>
            </a:r>
          </a:p>
          <a:p>
            <a:r>
              <a:t>• The external command rotation was 45°, but the measured endpoint error was smaller than that imposed angle. Endpoint direction summarizes the completed trajectory, including the animal’s intervening corrections. It is a behavioral outcome rather than a direct readout of the software parameter.</a:t>
            </a:r>
          </a:p>
          <a:p>
            <a:r>
              <a:t>• The distinction connects input perturbation with output performance. A known change is imposed between posture and wheels, and the resulting route changes through the fish’s behavior. Approaching 0° means recovery of endpoint alignment even while the platform still requires a posture different from the baseline steering action.</a:t>
            </a:r>
          </a:p>
          <a:p/>
          <a:p>
            <a:r>
              <a:t>References:</a:t>
            </a:r>
          </a:p>
          <a:p>
            <a:r>
              <a:t>Liu Z, Givon S, Segev R, Donchin O (2025). Whole Body Motor Adaptation in Goldfish Using Fish Operated Vehicle. European Journal of Neuroscience 62:e70241. https://doi.org/10.1111/ejn.70241</a:t>
            </a:r>
          </a:p>
          <a:p/>
          <a:p>
            <a:r>
              <a:t>Figure: Liu et al. (2025), Fig. 4(C). Endpoint angular error across baseline, rotation and washout.</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example fish’s fitted adjusted distance decreased from 6.4 m to 3.7 m during the rotation stage. This improvement occurred as the animal learned to compensate for the changed steering relation. Less extra movement was needed to approach the same rewarded destination.</a:t>
            </a:r>
          </a:p>
          <a:p>
            <a:r>
              <a:t>• Adjusted distance combines actual trajectory length with estimated completion distance on failed trials. Its reduction therefore captures both shorter successful routes and movement that ends closer to effective completion. Directional error alone would not preserve that information about detours.</a:t>
            </a:r>
          </a:p>
          <a:p>
            <a:r>
              <a:t>• The vehicle’s mechanical response remains part of the task while behavior changes. The fish uses repeated posture commands to guide a moving platform rather than performing one instantaneous turn. Recovery of route efficiency describes the coordinated consequence of those commands across an entire target-directed trial.</a:t>
            </a:r>
          </a:p>
          <a:p/>
          <a:p>
            <a:r>
              <a:t>References:</a:t>
            </a:r>
          </a:p>
          <a:p>
            <a:r>
              <a:t>Liu Z, Givon S, Segev R, Donchin O (2025). Whole Body Motor Adaptation in Goldfish Using Fish Operated Vehicle. European Journal of Neuroscience 62:e70241. https://doi.org/10.1111/ejn.70241</a:t>
            </a:r>
          </a:p>
          <a:p/>
          <a:p>
            <a:r>
              <a:t>Figure: Liu et al. (2025), Fig. 4(D). Adjusted distance across baseline, rotation and washout.</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Across the 45° condition, the fitted typical number of successful arrivals increased from 1.9 to 3.4 per session during adaptation. Each session offered six trials. The changed command relationship initially disrupted task completion, followed by recovery with repeated exposure.</a:t>
            </a:r>
          </a:p>
          <a:p>
            <a:r>
              <a:t>• The reward location stayed fixed while the required steering action changed. A growing success count therefore reflects acquisition of useful control under the perturbation. The animal could continue recognizing the target even when its original action no longer advanced the platform directly toward it.</a:t>
            </a:r>
          </a:p>
          <a:p>
            <a:r>
              <a:t>• Late performance approached the trained baseline level. Recovery was expressed through the animal’s behavior while the rotated mapping remained active, rather than through removal of the challenge. Successful arrivals connect compensation for the changed movement consequences with continued access to the food reward.</a:t>
            </a:r>
          </a:p>
          <a:p/>
          <a:p>
            <a:r>
              <a:t>References:</a:t>
            </a:r>
          </a:p>
          <a:p>
            <a:r>
              <a:t>Liu Z, Givon S, Segev R, Donchin O (2025). Whole Body Motor Adaptation in Goldfish Using Fish Operated Vehicle. European Journal of Neuroscience 62:e70241. https://doi.org/10.1111/ejn.70241</a:t>
            </a:r>
          </a:p>
          <a:p/>
          <a:p>
            <a:r>
              <a:t>Figure: Liu et al. (2025), Fig. 5(A). Target success during 45° adaptation and washout.</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Liu reported a fitted typical endpoint angular error of 11.4° early in the 45° rotation stage and 0.1° later in that stage. The decrease represents recovery of target-aligned displacement during continued exposure to the perturbation.</a:t>
            </a:r>
          </a:p>
          <a:p>
            <a:r>
              <a:t>• The fish’s body orientation determines the wheel command, but angular error is measured from the arena trajectory’s start and endpoint. A correction in this measure means that the vehicle finishes in a more useful direction, not that the software rotation has become smaller.</a:t>
            </a:r>
          </a:p>
          <a:p>
            <a:r>
              <a:t>• Adaptation changes the command the animal supplies to an unchanged rotated controller. The target continues to define the desired external direction. Experience therefore restores the relationship between the chosen posture and successful approach by changing behavior within the altered action-to-movement mapping.</a:t>
            </a:r>
          </a:p>
          <a:p/>
          <a:p>
            <a:r>
              <a:t>References:</a:t>
            </a:r>
          </a:p>
          <a:p>
            <a:r>
              <a:t>Liu Z, Givon S, Segev R, Donchin O (2025). Whole Body Motor Adaptation in Goldfish Using Fish Operated Vehicle. European Journal of Neuroscience 62:e70241. https://doi.org/10.1111/ejn.70241</a:t>
            </a:r>
          </a:p>
          <a:p/>
          <a:p>
            <a:r>
              <a:t>Figure: Liu et al. (2025), Fig. 5(B). Angular errors during 45° adaptation and washout.</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fitted late adjusted distance in the 45° rotation condition was approximately 3.8 m, compared with 3.2 m at late baseline. Both values refer to approach toward the same target, whose direct distance from the start was 2.5 m.</a:t>
            </a:r>
          </a:p>
          <a:p>
            <a:r>
              <a:t>• Rotation learning reduced the extra movement associated with the changed control relationship. Success and endpoint direction recovered alongside this reduction. The animal regained a useful route through the arena rather than merely arriving by increasingly long exploratory paths.</a:t>
            </a:r>
          </a:p>
          <a:p>
            <a:r>
              <a:t>• Comparable late performance can emerge under different steering mappings. Baseline and rotation require different orientations to produce the desired external direction, yet each can support efficient approach after training. The learned behavior depends on the currently experienced relationship between aquatic posture and terrestrial displacement.</a:t>
            </a:r>
          </a:p>
          <a:p/>
          <a:p>
            <a:r>
              <a:t>References:</a:t>
            </a:r>
          </a:p>
          <a:p>
            <a:r>
              <a:t>Liu Z, Givon S, Segev R, Donchin O (2025). Whole Body Motor Adaptation in Goldfish Using Fish Operated Vehicle. European Journal of Neuroscience 62:e70241. https://doi.org/10.1111/ejn.70241</a:t>
            </a:r>
          </a:p>
          <a:p/>
          <a:p>
            <a:r>
              <a:t>Figure: Liu et al. (2025), Fig. 5(C). Adjusted distances during 45° adaptation and washout.</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aftereffect is a persisting behavioral change expressed after a perturbation is removed. When Liu restored the baseline steering mapping, fish initially made errors in the direction opposite to the earlier rotated error. The changed behavior outlasted the controller setting that had induced it.</a:t>
            </a:r>
          </a:p>
          <a:p>
            <a:r>
              <a:t>• The paper reports an early negative directional bias of roughly −6° in washout. Under the restored mapping, compensation appropriate for the previous rightward rotation misdirected the vehicle in the opposite direction. Subsequent experience returned performance toward the baseline relation.</a:t>
            </a:r>
          </a:p>
          <a:p>
            <a:r>
              <a:t>• The authors’ internal-model hypothesis links this persistence to a learned prediction of movement consequences. Compensation is retained briefly when the software no longer requires it. Opposite-direction errors therefore distinguish acquired adaptation from a response that exists only while the external perturbation is present.</a:t>
            </a:r>
          </a:p>
          <a:p/>
          <a:p>
            <a:r>
              <a:t>References:</a:t>
            </a:r>
          </a:p>
          <a:p>
            <a:r>
              <a:t>Liu Z, Givon S, Segev R, Donchin O (2025). Whole Body Motor Adaptation in Goldfish Using Fish Operated Vehicle. European Journal of Neuroscience 62:e70241. https://doi.org/10.1111/ejn.70241</a:t>
            </a:r>
          </a:p>
          <a:p/>
          <a:p>
            <a:r>
              <a:t>Figure: Liu et al. (2025), Fig. 5(B). Angular errors during 45° adaptation and washout.</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Washout is the reduction of an adapted response after the perturbation is removed. The vehicle again moved in the direction commanded by outward fish orientation, but the behavior carried over from rotation initially produced misdirected routes.</a:t>
            </a:r>
          </a:p>
          <a:p>
            <a:r>
              <a:t>• Late washout trajectories returned toward effective target approach. The same learning preparation now required reducing a compensation that had been useful in the preceding stage. Experience with the restored consequences brought behavior back toward the trained baseline pattern.</a:t>
            </a:r>
          </a:p>
          <a:p>
            <a:r>
              <a:t>• Adaptation and washout therefore involve different histories under the same physical apparatus. Baseline establishes useful control without prior rotation, while washout re-establishes it after a learned compensation. The difference between their early behavior identifies the lasting effect of the intervening rotated experience.</a:t>
            </a:r>
          </a:p>
          <a:p/>
          <a:p>
            <a:r>
              <a:t>References:</a:t>
            </a:r>
          </a:p>
          <a:p>
            <a:r>
              <a:t>Liu Z, Givon S, Segev R, Donchin O (2025). Whole Body Motor Adaptation in Goldfish Using Fish Operated Vehicle. European Journal of Neuroscience 62:e70241. https://doi.org/10.1111/ejn.70241</a:t>
            </a:r>
          </a:p>
          <a:p/>
          <a:p>
            <a:r>
              <a:t>Figure: Liu et al. (2025), Fig. 4(A). Early and late trajectories before, during and after rotation.</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separate condition rotated vehicle commands 90° relative to the fish’s orientation. The fitted typical endpoint error began at 57.0° and decreased to 7.3° during training. Goldfish adapted even when the changed movement direction was substantially larger than in the 45° condition.</a:t>
            </a:r>
          </a:p>
          <a:p>
            <a:r>
              <a:t>• The imposed rotation and endpoint error remain different quantities. The first is specified by the controller; the second includes the behavioral consequences of the fish’s movements throughout the trial. Improvement describes external steering performance under the continued perturbation.</a:t>
            </a:r>
          </a:p>
          <a:p>
            <a:r>
              <a:t>• The larger rotation challenged the established relation more severely. Compensation nevertheless brought the final displacement closer to the target direction. This condition extends the behavioral adaptation result beyond one perturbation size while retaining the same principle of changing software between detected posture and motor output.</a:t>
            </a:r>
          </a:p>
          <a:p/>
          <a:p>
            <a:r>
              <a:t>References:</a:t>
            </a:r>
          </a:p>
          <a:p>
            <a:r>
              <a:t>Liu Z, Givon S, Segev R, Donchin O (2025). Whole Body Motor Adaptation in Goldfish Using Fish Operated Vehicle. European Journal of Neuroscience 62:e70241. https://doi.org/10.1111/ejn.70241</a:t>
            </a:r>
          </a:p>
          <a:p/>
          <a:p>
            <a:r>
              <a:t>Figure: Liu et al. (2025), Fig. 6(B). Angular errors during 90° adaptation and washout.</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90° condition, fitted target success increased from approximately zero to 1.3 arrivals per session. Endpoint direction improved considerably during the same condition. Directional recovery and task completion therefore need not return to the same level together.</a:t>
            </a:r>
          </a:p>
          <a:p>
            <a:r>
              <a:t>• Angular error evaluates where a trajectory ends relative to the target direction, while successful arrival requires entering the target area. A vehicle can become better aligned yet still stop short, take an inefficient path or fail to complete the approach within the trial.</a:t>
            </a:r>
          </a:p>
          <a:p>
            <a:r>
              <a:t>• The larger perturbation separates these behavioral achievements. Improved steering direction changes the animal’s approach, but completed access to the food reward remains relatively infrequent. Measuring success together with angle preserves the difference between compensation for a directional mismatch and reliable completion of the whole task.</a:t>
            </a:r>
          </a:p>
          <a:p/>
          <a:p>
            <a:r>
              <a:t>References:</a:t>
            </a:r>
          </a:p>
          <a:p>
            <a:r>
              <a:t>Liu Z, Givon S, Segev R, Donchin O (2025). Whole Body Motor Adaptation in Goldfish Using Fish Operated Vehicle. European Journal of Neuroscience 62:e70241. https://doi.org/10.1111/ejn.70241</a:t>
            </a:r>
          </a:p>
          <a:p/>
          <a:p>
            <a:r>
              <a:t>Figure: Liu et al. (2025), Fig. 6(A). Target success during 90° adaptation and washout.</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Adjusted distance in the 90° condition decreased from 11.6 m to 4.6 m during adaptation. The direct start-to-target distance was 2.5 m. Training greatly reduced the excess movement while leaving a longer late route than the geometric minimum.</a:t>
            </a:r>
          </a:p>
          <a:p>
            <a:r>
              <a:t>• This measure includes the estimated remaining cost of unsuccessful trials, so its improvement combines shorter paths with endpoints that permit more effective completion. The decrease accompanied directional compensation under the larger rotated mapping.</a:t>
            </a:r>
          </a:p>
          <a:p>
            <a:r>
              <a:t>• The three outcomes describe different consequences of adaptation: the endpoint becomes better aligned, excess movement falls, and more trials reach the rewarded destination. Their incomplete recovery under 90° rotation preserves a measurable constraint on performance even though the animal learns a useful correction to the altered steering relationship.</a:t>
            </a:r>
          </a:p>
          <a:p/>
          <a:p>
            <a:r>
              <a:t>References:</a:t>
            </a:r>
          </a:p>
          <a:p>
            <a:r>
              <a:t>Liu Z, Givon S, Segev R, Donchin O (2025). Whole Body Motor Adaptation in Goldfish Using Fish Operated Vehicle. European Journal of Neuroscience 62:e70241. https://doi.org/10.1111/ejn.70241</a:t>
            </a:r>
          </a:p>
          <a:p/>
          <a:p>
            <a:r>
              <a:t>Figure: Liu et al. (2025), Fig. 6(C). Adjusted distances during 90° adaptation and washout.</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washout, Liu reintroduced the same 45° rotation. The animals had already experienced both adaptation and restoration of the baseline mapping. Re-exposure tested how that learning history affected another encounter with the same control change.</a:t>
            </a:r>
          </a:p>
          <a:p>
            <a:r>
              <a:t>• Early re-exposure again produced less effective trajectories, followed by more target-directed late routes. The software manipulation was repeated rather than replaced with a new angle. The behavioral comparison could therefore distinguish first acquisition from performance after earlier experience.</a:t>
            </a:r>
          </a:p>
          <a:p>
            <a:r>
              <a:t>• The following final stage removed rotation once more. This second restoration tested continued operation under the baseline relationship after re-exposure. The sequence preserves the external target while changing the history of the posture-to-vehicle mapping, allowing retained performance and learning rate to be examined separately.</a:t>
            </a:r>
          </a:p>
          <a:p/>
          <a:p>
            <a:r>
              <a:t>References:</a:t>
            </a:r>
          </a:p>
          <a:p>
            <a:r>
              <a:t>Liu Z, Givon S, Segev R, Donchin O (2025). Whole Body Motor Adaptation in Goldfish Using Fish Operated Vehicle. European Journal of Neuroscience 62:e70241. https://doi.org/10.1111/ejn.70241</a:t>
            </a:r>
          </a:p>
          <a:p/>
          <a:p>
            <a:r>
              <a:t>Figure: Liu et al. (2025), Fig. 7(A). Early and late trajectories during re-exposure and final washout.</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During re-exposure, fitted typical success increased from 2.4 to 3.7 arrivals per session. The animals again learned useful operation under the 45° rotation. Their starting performance was somewhat better than the corresponding estimate during the first rotation stage.</a:t>
            </a:r>
          </a:p>
          <a:p>
            <a:r>
              <a:t>• Improved performance at the beginning of an encounter is different from faster improvement during that encounter. Retained experience can change the starting point, the late achieved level or the rate connecting them. These quantities describe distinct consequences of prior learning.</a:t>
            </a:r>
          </a:p>
          <a:p>
            <a:r>
              <a:t>• The second-exposure routes became effective while the perturbation remained active. Repeated experience supported renewed access to the food reward through the altered steering relationship. Comparison with the first exposure must retain the separate behavioral meanings of initial success, late success and the speed of their change.</a:t>
            </a:r>
          </a:p>
          <a:p/>
          <a:p>
            <a:r>
              <a:t>References:</a:t>
            </a:r>
          </a:p>
          <a:p>
            <a:r>
              <a:t>Liu Z, Givon S, Segev R, Donchin O (2025). Whole Body Motor Adaptation in Goldfish Using Fish Operated Vehicle. European Journal of Neuroscience 62:e70241. https://doi.org/10.1111/ejn.70241</a:t>
            </a:r>
          </a:p>
          <a:p/>
          <a:p>
            <a:r>
              <a:t>Figure: Liu et al. (2025), Fig. 7(B). Target success during re-exposure and final washout.</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Fitted endpoint angular error changed from 11.0° to −3.0° during the second rotation exposure. The vehicle’s final displacement again became closely aligned with the target direction as the animal operated under the previously encountered perturbation.</a:t>
            </a:r>
          </a:p>
          <a:p>
            <a:r>
              <a:t>• The initial error was smaller than a complete uncorrected 45° command mismatch. Its value summarizes the external trajectory after the fish’s intervening movement and correction. The comparison therefore concerns achieved steering performance rather than treating endpoint angle as a direct measure of the imposed rotation.</a:t>
            </a:r>
          </a:p>
          <a:p>
            <a:r>
              <a:t>• Repeated exposure restored target-directed behavior, but its initial correction rate was slower than on first exposure. Directional performance and the speed of adaptation are separate observations. A fish can begin an encounter in a better state and still change more slowly over the following sessions.</a:t>
            </a:r>
          </a:p>
          <a:p/>
          <a:p>
            <a:r>
              <a:t>References:</a:t>
            </a:r>
          </a:p>
          <a:p>
            <a:r>
              <a:t>Liu Z, Givon S, Segev R, Donchin O (2025). Whole Body Motor Adaptation in Goldfish Using Fish Operated Vehicle. European Journal of Neuroscience 62:e70241. https://doi.org/10.1111/ejn.70241</a:t>
            </a:r>
          </a:p>
          <a:p/>
          <a:p>
            <a:r>
              <a:t>Figure: Liu et al. (2025), Fig. 7(C). Angular error during re-exposure and final washout.</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fitted typical adjusted distance decreased from 5.1 m to 3.6 m during re-exposure. The same target and start-to-target geometry were retained. The fish regained a relatively efficient external route while compensating for the repeated 45° mapping.</a:t>
            </a:r>
          </a:p>
          <a:p>
            <a:r>
              <a:t>• The decrease includes both actual successful route lengths and estimated completion costs for unsuccessful trials. It connects renewed steering skill with reduced excess movement across the session rather than assigning equal efficiency to every trial that earned food.</a:t>
            </a:r>
          </a:p>
          <a:p>
            <a:r>
              <a:t>• Late re-exposure distance was closer to late baseline than early re-exposure distance. Prior experience did not eliminate the need to adapt again, but useful performance returned under the altered controller. The achieved route and the rate of its recovery supply different information about retention of earlier learning.</a:t>
            </a:r>
          </a:p>
          <a:p/>
          <a:p>
            <a:r>
              <a:t>References:</a:t>
            </a:r>
          </a:p>
          <a:p>
            <a:r>
              <a:t>Liu Z, Givon S, Segev R, Donchin O (2025). Whole Body Motor Adaptation in Goldfish Using Fish Operated Vehicle. European Journal of Neuroscience 62:e70241. https://doi.org/10.1111/ejn.70241</a:t>
            </a:r>
          </a:p>
          <a:p/>
          <a:p>
            <a:r>
              <a:t>Figure: Liu et al. (2025), Fig. 7(D). Adjusted distance during re-exposure and final washout.</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Savings conventionally refers to faster relearning after an earlier encounter with a perturbation. Liu compared the initial learning rates of first rotation and re-exposure rather than judging savings only from the performance attained at the end of training.</a:t>
            </a:r>
          </a:p>
          <a:p>
            <a:r>
              <a:t>• Angular error initially improved by about 6.5° per session during first rotation and 2.4° per session during re-exposure. The second encounter therefore had a slower initial directional correction despite its somewhat improved starting and achieved performance.</a:t>
            </a:r>
          </a:p>
          <a:p>
            <a:r>
              <a:t>• The authors found no clear classical savings in this whole-body task. Their hypothesis is that better initial performance leaves less improvement available during the second exposure. The observations preserve improved retained performance while separating it from the faster adaptation that the savings prediction required.</a:t>
            </a:r>
          </a:p>
          <a:p/>
          <a:p>
            <a:r>
              <a:t>References:</a:t>
            </a:r>
          </a:p>
          <a:p>
            <a:r>
              <a:t>Liu Z, Givon S, Segev R, Donchin O (2025). Whole Body Motor Adaptation in Goldfish Using Fish Operated Vehicle. European Journal of Neuroscience 62:e70241. https://doi.org/10.1111/ejn.70241</a:t>
            </a:r>
          </a:p>
          <a:p/>
          <a:p>
            <a:r>
              <a:t>Figure: Liu et al. (2025), Fig. 8(C–D). Initial angular error, late angular error and initial learning rates.</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Adjusted distance initially improved by approximately 0.9 m per session on first rotation and 0.4 m per session on re-exposure. These rates describe change in the route-length measure, including its correction for unsuccessful trials.</a:t>
            </a:r>
          </a:p>
          <a:p>
            <a:r>
              <a:t>• A lower starting cost can coexist with a smaller initial rate of change. Re-exposure began with somewhat better performance, while late routes again approached trained efficiency. The history of adaptation therefore affected performance without producing a larger early reduction in distance.</a:t>
            </a:r>
          </a:p>
          <a:p>
            <a:r>
              <a:t>• Angle and distance provide complementary evidence against faster relearning. One measures start-to-end alignment and the other measures excess movement and estimated completion cost. Their shared pattern prevents retained skill from being equated automatically with an increased rate of adapting to the repeated software perturbation.</a:t>
            </a:r>
          </a:p>
          <a:p/>
          <a:p>
            <a:r>
              <a:t>References:</a:t>
            </a:r>
          </a:p>
          <a:p>
            <a:r>
              <a:t>Liu Z, Givon S, Segev R, Donchin O (2025). Whole Body Motor Adaptation in Goldfish Using Fish Operated Vehicle. European Journal of Neuroscience 62:e70241. https://doi.org/10.1111/ejn.70241</a:t>
            </a:r>
          </a:p>
          <a:p/>
          <a:p>
            <a:r>
              <a:t>Figure: Liu et al. (2025), Fig. 8(E–F). Initial adjusted distance, late distance and initial learning rates.</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Asymptotic performance is the late level approached as learning continues. Initial performance describes the state at the beginning of a stage. Liu fitted both quantities separately, preserving the difference between where learning starts and where it eventually settles.</a:t>
            </a:r>
          </a:p>
          <a:p>
            <a:r>
              <a:t>• Success during re-exposure began somewhat higher and reached a useful late level, but its initial improvement rate was about 0.5 arrivals per session, compared with about 0.6 on first rotation. Improved achieved performance therefore accompanied no faster early rise in successful completion.</a:t>
            </a:r>
          </a:p>
          <a:p>
            <a:r>
              <a:t>• The separation matters when evaluating the effect of experience. A stronger starting state can reflect retained consequences of previous training, while the later change describes adaptation during the current encounter. Their combination defines the learning trajectory without reducing memory to one final success count.</a:t>
            </a:r>
          </a:p>
          <a:p/>
          <a:p>
            <a:r>
              <a:t>References:</a:t>
            </a:r>
          </a:p>
          <a:p>
            <a:r>
              <a:t>Liu Z, Givon S, Segev R, Donchin O (2025). Whole Body Motor Adaptation in Goldfish Using Fish Operated Vehicle. European Journal of Neuroscience 62:e70241. https://doi.org/10.1111/ejn.70241</a:t>
            </a:r>
          </a:p>
          <a:p/>
          <a:p>
            <a:r>
              <a:t>Figure: Liu et al. (2025), Fig. 8(A–B). Initial success, late success and initial learning rates on two exposures.</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Liu’s trials ended when the vehicle reached the target, reached an arena boundary or exceeded 3 minutes. These conditions define which endpoint enters the angular-error and distance measurements. A completed recording can therefore represent successful arrival or an interrupted approach.</a:t>
            </a:r>
          </a:p>
          <a:p>
            <a:r>
              <a:t>• The adjusted-distance measure addresses one consequence of that boundary: stopping early does not automatically produce a favorable short distance. An estimate of the remaining route is added when the target has not been reached, based on the session’s measured efficiency.</a:t>
            </a:r>
          </a:p>
          <a:p>
            <a:r>
              <a:t>• Task completion, endpoint direction and adjusted length retain different information about the same bounded trial. Their combined use connects the controller’s learned operation with an external behavioral goal while accounting for movement that stops before reward. Interpretation follows the measured endpoint and the rule that ended its recording.</a:t>
            </a:r>
          </a:p>
          <a:p/>
          <a:p>
            <a:r>
              <a:t>References:</a:t>
            </a:r>
          </a:p>
          <a:p>
            <a:r>
              <a:t>Liu Z, Givon S, Segev R, Donchin O (2025). Whole Body Motor Adaptation in Goldfish Using Fish Operated Vehicle. European Journal of Neuroscience 62:e70241. https://doi.org/10.1111/ejn.70241</a:t>
            </a:r>
          </a:p>
          <a:p/>
          <a:p>
            <a:r>
              <a:t>Figure: Liu et al. (2025), Fig. 2. Definitions of success, endpoint angular error and adjusted route length.</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Givon’s task transfers target-directed movement into a terrestrial setting while the fish remains in water. Liu’s task changes the steering relationship after that interface has been learned. The first asks whether an animal can use a novel vehicle; the second asks how acquired control changes under perturbation.</a:t>
            </a:r>
          </a:p>
          <a:p>
            <a:r>
              <a:t>• The behavioral evidence separates goal choice from effective movement: a familiar destination can remain fixed while a software rotation disrupts approach. Recovery under rotation and opposite-direction errors after removal connect experience with a lasting change in the steering behavior.</a:t>
            </a:r>
          </a:p>
          <a:p>
            <a:r>
              <a:t>• An internal model is the authors’ hypothesis for that persistent compensation. The vehicle studies measured behavior and apparatus movement rather than recording the responsible neural circuit. Their direct findings are adapted steering, aftereffects and improved performance on re-exposure without faster classical relearning.</a:t>
            </a:r>
          </a:p>
          <a:p/>
          <a:p>
            <a:r>
              <a:t>References:</a:t>
            </a:r>
          </a:p>
          <a:p>
            <a:r>
              <a:t>Givon S, Samina M, Ben-Shahar O, Segev R (2022). From fish out of water to new insights on navigation mechanisms in animals. Behavioural Brain Research 419:113711. https://doi.org/10.1016/j.bbr.2021.113711</a:t>
            </a:r>
          </a:p>
          <a:p>
            <a:r>
              <a:t>Liu Z, Givon S, Segev R, Donchin O (2025). Whole Body Motor Adaptation in Goldfish Using Fish Operated Vehicle. European Journal of Neuroscience 62:e70241. https://doi.org/10.1111/ejn.70241</a:t>
            </a:r>
          </a:p>
          <a:p/>
          <a:p>
            <a:r>
              <a:t>Figure: Liu et al. (2025), Fig. 1(A–C). Vehicle hardware, fish-to-vehicle mapping and arena.</a:t>
            </a:r>
          </a:p>
          <a:p>
            <a:r>
              <a:t>Figure source: https://doi.org/10.1111/ejn.70241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Givon S, Samina M, Ben-Shahar O, Segev R (2022). From fish out of water to new insights on navigation mechanisms in animals. Behavioural Brain Research 419:113711. https://doi.org/10.1016/j.bbr.2021.113711</a:t>
            </a:r>
          </a:p>
          <a:p/>
          <a:p>
            <a:r>
              <a:t>Liu Z, Givon S, Segev R, Donchin O (2025). Whole Body Motor Adaptation in Goldfish Using Fish Operated Vehicle. European Journal of Neuroscience 62:e70241. https://doi.org/10.1111/ejn.70241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image" Target="../media/image3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865C66"/>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AE2E4"/>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AE2E4"/>
                </a:solidFill>
                <a:latin typeface="Arial"/>
              </a:rPr>
              <a:t>Lecture 79</a:t>
            </a:r>
          </a:p>
        </p:txBody>
      </p:sp>
      <p:sp>
        <p:nvSpPr>
          <p:cNvPr id="5" name="Lecture title"/>
          <p:cNvSpPr txBox="1"/>
          <p:nvPr/>
        </p:nvSpPr>
        <p:spPr>
          <a:xfrm>
            <a:off x="685800" y="2331720"/>
            <a:ext cx="4724247" cy="2468880"/>
          </a:xfrm>
          <a:prstGeom prst="rect">
            <a:avLst/>
          </a:prstGeom>
          <a:noFill/>
        </p:spPr>
        <p:txBody>
          <a:bodyPr wrap="square" lIns="0" rIns="0" tIns="0" bIns="0">
            <a:spAutoFit/>
          </a:bodyPr>
          <a:lstStyle/>
          <a:p>
            <a:pPr algn="l">
              <a:lnSpc>
                <a:spcPct val="108000"/>
              </a:lnSpc>
              <a:spcAft>
                <a:spcPts val="0"/>
              </a:spcAft>
            </a:pPr>
            <a:r>
              <a:rPr sz="2900" b="1" i="0">
                <a:solidFill>
                  <a:srgbClr val="FFFFFF"/>
                </a:solidFill>
                <a:latin typeface="Arial"/>
              </a:rPr>
              <a:t>Fish-Operated Vehicle II:</a:t>
            </a:r>
          </a:p>
          <a:p>
            <a:pPr algn="l">
              <a:lnSpc>
                <a:spcPct val="108000"/>
              </a:lnSpc>
              <a:spcAft>
                <a:spcPts val="0"/>
              </a:spcAft>
            </a:pPr>
            <a:r>
              <a:rPr sz="2900" b="1" i="0">
                <a:solidFill>
                  <a:srgbClr val="FFFFFF"/>
                </a:solidFill>
                <a:latin typeface="Arial"/>
              </a:rPr>
              <a:t>Sensing, Control Mapping, and Constraints (Givon &amp; Liu)</a:t>
            </a:r>
          </a:p>
        </p:txBody>
      </p:sp>
      <p:sp>
        <p:nvSpPr>
          <p:cNvPr id="6" name="TextBox 5"/>
          <p:cNvSpPr txBox="1"/>
          <p:nvPr/>
        </p:nvSpPr>
        <p:spPr>
          <a:xfrm>
            <a:off x="685800" y="4905019"/>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AE2E4"/>
                </a:solidFill>
                <a:latin typeface="Arial"/>
              </a:rPr>
              <a:t>Date TBD</a:t>
            </a:r>
          </a:p>
        </p:txBody>
      </p:sp>
      <p:sp>
        <p:nvSpPr>
          <p:cNvPr id="7" name="TextBox 6"/>
          <p:cNvSpPr txBox="1"/>
          <p:nvPr/>
        </p:nvSpPr>
        <p:spPr>
          <a:xfrm>
            <a:off x="685800" y="5590819"/>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AE2E4"/>
                </a:solidFill>
                <a:latin typeface="Arial"/>
              </a:rPr>
              <a:t>Jordan Lopez, Ph.D.</a:t>
            </a:r>
          </a:p>
          <a:p>
            <a:pPr algn="l">
              <a:lnSpc>
                <a:spcPct val="108000"/>
              </a:lnSpc>
              <a:spcAft>
                <a:spcPts val="200"/>
              </a:spcAft>
            </a:pPr>
            <a:r>
              <a:rPr sz="1200" b="0" i="0">
                <a:solidFill>
                  <a:srgbClr val="EAE2E4"/>
                </a:solidFill>
                <a:latin typeface="Arial"/>
              </a:rPr>
              <a:t>Professor of Neurobiology &amp; Biomedical Engineering</a:t>
            </a:r>
          </a:p>
        </p:txBody>
      </p:sp>
      <p:pic>
        <p:nvPicPr>
          <p:cNvPr id="8" name="Picture 7" descr="l1a.png"/>
          <p:cNvPicPr>
            <a:picLocks noChangeAspect="1"/>
          </p:cNvPicPr>
          <p:nvPr/>
        </p:nvPicPr>
        <p:blipFill>
          <a:blip r:embed="rId2"/>
          <a:stretch>
            <a:fillRect/>
          </a:stretch>
        </p:blipFill>
        <p:spPr>
          <a:xfrm>
            <a:off x="7335577" y="822960"/>
            <a:ext cx="3616387"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1(A). The goldfish and the instrumented vehicle.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Swimming actions control terrestrial displacement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Goldfish can move a wheeled vehicle through a room while remaining submerged in its water tank. A </a:t>
            </a:r>
            <a:r>
              <a:rPr sz="1500" b="1" i="0">
                <a:solidFill>
                  <a:srgbClr val="5B3E45"/>
                </a:solidFill>
                <a:latin typeface="Arial"/>
              </a:rPr>
              <a:t>fish-operated vehicle</a:t>
            </a:r>
            <a:r>
              <a:rPr sz="1500" b="0" i="0">
                <a:solidFill>
                  <a:srgbClr val="000000"/>
                </a:solidFill>
                <a:latin typeface="Arial"/>
              </a:rPr>
              <a:t>, or FOV, links the animal’s swimming position and orientation to electric motors. The motors move the tank, changing the animal’s location relative to objects outside the water.</a:t>
            </a:r>
          </a:p>
          <a:p>
            <a:pPr algn="l">
              <a:lnSpc>
                <a:spcPct val="108000"/>
              </a:lnSpc>
              <a:spcAft>
                <a:spcPts val="900"/>
              </a:spcAft>
            </a:pPr>
            <a:r>
              <a:rPr sz="1500" b="0" i="0">
                <a:solidFill>
                  <a:srgbClr val="000000"/>
                </a:solidFill>
                <a:latin typeface="Arial"/>
              </a:rPr>
              <a:t>Givon and colleagues rewarded arrival at a pink target with food. Training therefore joined two operations: selecting a useful swimming action inside the tank and directing the resulting vehicle displacement toward an external destination. The vehicle served as the physical connection between those operations.</a:t>
            </a:r>
          </a:p>
          <a:p>
            <a:pPr algn="l">
              <a:lnSpc>
                <a:spcPct val="108000"/>
              </a:lnSpc>
              <a:spcAft>
                <a:spcPts val="900"/>
              </a:spcAft>
            </a:pPr>
            <a:r>
              <a:rPr sz="1500" b="0" i="0">
                <a:solidFill>
                  <a:srgbClr val="000000"/>
                </a:solidFill>
                <a:latin typeface="Arial"/>
              </a:rPr>
              <a:t>Liu and colleagues later changed this connection by rotating the direction commanded to the wheels. Vehicle control could then be examined separately from adaptation to a changed action-to-movement relationship. Goal recognition remained useful even when the previously effective steering action became inaccurate.</a:t>
            </a:r>
          </a:p>
        </p:txBody>
      </p:sp>
      <p:pic>
        <p:nvPicPr>
          <p:cNvPr id="4" name="Picture 3" descr="g1.png"/>
          <p:cNvPicPr>
            <a:picLocks noChangeAspect="1"/>
          </p:cNvPicPr>
          <p:nvPr/>
        </p:nvPicPr>
        <p:blipFill>
          <a:blip r:embed="rId2"/>
          <a:stretch>
            <a:fillRect/>
          </a:stretch>
        </p:blipFill>
        <p:spPr>
          <a:xfrm>
            <a:off x="7153351" y="1280160"/>
            <a:ext cx="3652113" cy="4036708"/>
          </a:xfrm>
          <a:prstGeom prst="rect">
            <a:avLst/>
          </a:prstGeom>
        </p:spPr>
      </p:pic>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 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pic>
        <p:nvPicPr>
          <p:cNvPr id="9" name="Givon_author_side_view.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6419088" y="1280160"/>
            <a:ext cx="5120640" cy="4036708"/>
          </a:xfrm>
          <a:prstGeom prst="rect">
            <a:avLst/>
          </a:prstGeom>
        </p:spPr>
      </p:pic>
      <p:sp>
        <p:nvSpPr>
          <p:cNvPr id="10" name="TextBox 9"/>
          <p:cNvSpPr txBox="1"/>
          <p:nvPr/>
        </p:nvSpPr>
        <p:spPr>
          <a:xfrm>
            <a:off x="6419088" y="5440680"/>
            <a:ext cx="5120640" cy="347472"/>
          </a:xfrm>
          <a:prstGeom prst="rect">
            <a:avLst/>
          </a:prstGeom>
          <a:noFill/>
        </p:spPr>
        <p:txBody>
          <a:bodyPr wrap="none">
            <a:spAutoFit/>
          </a:bodyPr>
          <a:lstStyle/>
          <a:p>
            <a:pPr>
              <a:defRPr sz="900">
                <a:solidFill>
                  <a:srgbClr val="000000"/>
                </a:solidFill>
                <a:latin typeface="Arial"/>
              </a:defRPr>
            </a:pPr>
            <a:r>
              <a:t>Givon et al. (2022), Fig. 1(A–E). Static vehicle setup. Video: authors’ vehicle repository.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The animal stays in a shallow mobile tank</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FOV carries goldfish in a Perspex tank measuring 35 × 35 × 28 cm. Water depth was 15 cm, selected to reduce surface waves during vehicle movement. The animal remains in an aquatic preparation while the surrounding scene changes through terrestrial displacement.</a:t>
            </a:r>
          </a:p>
          <a:p>
            <a:pPr algn="l">
              <a:lnSpc>
                <a:spcPct val="108000"/>
              </a:lnSpc>
              <a:spcAft>
                <a:spcPts val="960"/>
              </a:spcAft>
            </a:pPr>
            <a:r>
              <a:rPr sz="1600" b="0" i="0">
                <a:solidFill>
                  <a:srgbClr val="000000"/>
                </a:solidFill>
                <a:latin typeface="Arial"/>
              </a:rPr>
              <a:t>The tank sits on a 40 × 40 × 19 cm chassis. A downward-facing camera monitors the fish, while a separate ranging instrument records the vehicle’s relation to the arena. These instruments measure the animal and the apparatus in different physical spaces.</a:t>
            </a:r>
          </a:p>
          <a:p>
            <a:pPr algn="l">
              <a:lnSpc>
                <a:spcPct val="108000"/>
              </a:lnSpc>
              <a:spcAft>
                <a:spcPts val="960"/>
              </a:spcAft>
            </a:pPr>
            <a:r>
              <a:rPr sz="1600" b="0" i="0">
                <a:solidFill>
                  <a:srgbClr val="000000"/>
                </a:solidFill>
                <a:latin typeface="Arial"/>
              </a:rPr>
              <a:t>Swimming inside the tank changes the control command; motor-driven motion changes the tank’s external position. The preparation preserves ordinary movement in water while adding an unfamiliar consequence to that movement. Learning concerns the relation between a swimming posture and an externally moving platform.</a:t>
            </a:r>
          </a:p>
        </p:txBody>
      </p:sp>
      <p:pic>
        <p:nvPicPr>
          <p:cNvPr id="4" name="Picture 3" descr="l1a.png"/>
          <p:cNvPicPr>
            <a:picLocks noChangeAspect="1"/>
          </p:cNvPicPr>
          <p:nvPr/>
        </p:nvPicPr>
        <p:blipFill>
          <a:blip r:embed="rId2"/>
          <a:stretch>
            <a:fillRect/>
          </a:stretch>
        </p:blipFill>
        <p:spPr>
          <a:xfrm>
            <a:off x="7399208" y="1280160"/>
            <a:ext cx="314759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1(A). The goldfish and the instrumented vehicle.</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Omni wheels translate the tank without steering it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Four electric motors power </a:t>
            </a:r>
            <a:r>
              <a:rPr sz="1600" b="1" i="0">
                <a:solidFill>
                  <a:srgbClr val="5B3E45"/>
                </a:solidFill>
                <a:latin typeface="Arial"/>
              </a:rPr>
              <a:t>omni wheels</a:t>
            </a:r>
            <a:r>
              <a:rPr sz="1600" b="0" i="0">
                <a:solidFill>
                  <a:srgbClr val="000000"/>
                </a:solidFill>
                <a:latin typeface="Arial"/>
              </a:rPr>
              <a:t>, wheels that permit movement in multiple horizontal directions. The platform can translate toward different sides of the arena rather than requiring the entire tank to turn before moving in a new direction.</a:t>
            </a:r>
          </a:p>
          <a:p>
            <a:pPr algn="l">
              <a:lnSpc>
                <a:spcPct val="108000"/>
              </a:lnSpc>
              <a:spcAft>
                <a:spcPts val="960"/>
              </a:spcAft>
            </a:pPr>
            <a:r>
              <a:rPr sz="1600" b="0" i="0">
                <a:solidFill>
                  <a:srgbClr val="000000"/>
                </a:solidFill>
                <a:latin typeface="Arial"/>
              </a:rPr>
              <a:t>This mechanical arrangement makes fish orientation available as a directional command. A fish near a tank wall and facing outward produces movement toward the corresponding external direction. Changing position or heading can therefore change the vehicle’s displacement without rotating the whole preparation.</a:t>
            </a:r>
          </a:p>
          <a:p>
            <a:pPr algn="l">
              <a:lnSpc>
                <a:spcPct val="108000"/>
              </a:lnSpc>
              <a:spcAft>
                <a:spcPts val="960"/>
              </a:spcAft>
            </a:pPr>
            <a:r>
              <a:rPr sz="1600" b="0" i="0">
                <a:solidFill>
                  <a:srgbClr val="000000"/>
                </a:solidFill>
                <a:latin typeface="Arial"/>
              </a:rPr>
              <a:t>The animal’s swimming motion and the platform’s motion are physically distinct. The fish supplies a control signal through its behavior, and the electric motors supply the force moving the apparatus. This division permits an experimenter to change the control relationship while leaving the animal’s aquatic movements available.</a:t>
            </a:r>
          </a:p>
        </p:txBody>
      </p:sp>
      <p:pic>
        <p:nvPicPr>
          <p:cNvPr id="4" name="Picture 3" descr="g1.png"/>
          <p:cNvPicPr>
            <a:picLocks noChangeAspect="1"/>
          </p:cNvPicPr>
          <p:nvPr/>
        </p:nvPicPr>
        <p:blipFill>
          <a:blip r:embed="rId2"/>
          <a:stretch>
            <a:fillRect/>
          </a:stretch>
        </p:blipFill>
        <p:spPr>
          <a:xfrm>
            <a:off x="7029934" y="1280160"/>
            <a:ext cx="388614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1(A–E). The vehicle, camera detection, arena and command conditions.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Computer vision extracts a directional command</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B3E45"/>
                </a:solidFill>
                <a:latin typeface="Arial"/>
              </a:rPr>
              <a:t>Computer vision</a:t>
            </a:r>
            <a:r>
              <a:rPr sz="1600" b="0" i="0">
                <a:solidFill>
                  <a:srgbClr val="000000"/>
                </a:solidFill>
                <a:latin typeface="Arial"/>
              </a:rPr>
              <a:t> is the extraction of useful information from camera images. The FOV’s downward-facing camera provides images of the fish in its tank. Image segmentation separates the animal’s contour from the surrounding water and tank background.</a:t>
            </a:r>
          </a:p>
          <a:p>
            <a:pPr algn="l">
              <a:lnSpc>
                <a:spcPct val="108000"/>
              </a:lnSpc>
              <a:spcAft>
                <a:spcPts val="960"/>
              </a:spcAft>
            </a:pPr>
            <a:r>
              <a:rPr sz="1600" b="0" i="0">
                <a:solidFill>
                  <a:srgbClr val="000000"/>
                </a:solidFill>
                <a:latin typeface="Arial"/>
              </a:rPr>
              <a:t>The controller detects fish location and orientation, including a direction derived from the body and tail. These quantities are translated into a command for the wheels. The camera measures swimming behavior rather than recording a neural signal directly from the animal.</a:t>
            </a:r>
          </a:p>
          <a:p>
            <a:pPr algn="l">
              <a:lnSpc>
                <a:spcPct val="108000"/>
              </a:lnSpc>
              <a:spcAft>
                <a:spcPts val="960"/>
              </a:spcAft>
            </a:pPr>
            <a:r>
              <a:rPr sz="1600" b="0" i="0">
                <a:solidFill>
                  <a:srgbClr val="000000"/>
                </a:solidFill>
                <a:latin typeface="Arial"/>
              </a:rPr>
              <a:t>Location and orientation contribute different information. Location determines whether the fish occupies an active region near a tank boundary, while orientation supplies the intended direction under the programmed rule. Their combination prevents every visible movement of the fish from automatically producing vehicle movement.</a:t>
            </a:r>
          </a:p>
        </p:txBody>
      </p:sp>
      <p:pic>
        <p:nvPicPr>
          <p:cNvPr id="4" name="Picture 3" descr="g1b.png"/>
          <p:cNvPicPr>
            <a:picLocks noChangeAspect="1"/>
          </p:cNvPicPr>
          <p:nvPr/>
        </p:nvPicPr>
        <p:blipFill>
          <a:blip r:embed="rId2"/>
          <a:stretch>
            <a:fillRect/>
          </a:stretch>
        </p:blipFill>
        <p:spPr>
          <a:xfrm>
            <a:off x="6347576" y="1280160"/>
            <a:ext cx="5250861"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1(B). Computer-vision extraction of fish contour and orientation.</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Near-wall posture gates vehicle movement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B3E45"/>
                </a:solidFill>
                <a:latin typeface="Arial"/>
              </a:rPr>
              <a:t>gated control rule</a:t>
            </a:r>
            <a:r>
              <a:rPr sz="1600" b="0" i="0">
                <a:solidFill>
                  <a:srgbClr val="000000"/>
                </a:solidFill>
                <a:latin typeface="Arial"/>
              </a:rPr>
              <a:t> activates an output only when its required conditions are satisfied. In the FOV, being visible to the camera is insufficient: the fish must be near a tank wall and facing outward for the vehicle to move in the corresponding direction.</a:t>
            </a:r>
          </a:p>
          <a:p>
            <a:pPr algn="l">
              <a:lnSpc>
                <a:spcPct val="108000"/>
              </a:lnSpc>
              <a:spcAft>
                <a:spcPts val="960"/>
              </a:spcAft>
            </a:pPr>
            <a:r>
              <a:rPr sz="1600" b="0" i="0">
                <a:solidFill>
                  <a:srgbClr val="000000"/>
                </a:solidFill>
                <a:latin typeface="Arial"/>
              </a:rPr>
              <a:t>The same outward heading has a different consequence when the fish is away from the tank boundary. The position requirement creates active and inactive parts of the tank. Vehicle control therefore involves moving into a useful control region as well as selecting a heading.</a:t>
            </a:r>
          </a:p>
          <a:p>
            <a:pPr algn="l">
              <a:lnSpc>
                <a:spcPct val="108000"/>
              </a:lnSpc>
              <a:spcAft>
                <a:spcPts val="960"/>
              </a:spcAft>
            </a:pPr>
            <a:r>
              <a:rPr sz="1600" b="0" i="0">
                <a:solidFill>
                  <a:srgbClr val="000000"/>
                </a:solidFill>
                <a:latin typeface="Arial"/>
              </a:rPr>
              <a:t>This rule couples swimming position to the availability of steering. The fish can remain in water and move freely, but only selected positions and orientations recruit the motors. Effective operation depends on the animal repeatedly producing the behavioral combination that advances the platform toward the reward.</a:t>
            </a:r>
          </a:p>
        </p:txBody>
      </p:sp>
      <p:pic>
        <p:nvPicPr>
          <p:cNvPr id="4" name="Picture 3" descr="g1.png"/>
          <p:cNvPicPr>
            <a:picLocks noChangeAspect="1"/>
          </p:cNvPicPr>
          <p:nvPr/>
        </p:nvPicPr>
        <p:blipFill>
          <a:blip r:embed="rId2"/>
          <a:stretch>
            <a:fillRect/>
          </a:stretch>
        </p:blipFill>
        <p:spPr>
          <a:xfrm>
            <a:off x="7029934" y="1280160"/>
            <a:ext cx="388614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1(A–E). The vehicle, camera detection, arena and command conditions.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Obstacle proximity overrides the fish command</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B3E45"/>
                </a:solidFill>
                <a:latin typeface="Arial"/>
              </a:rPr>
              <a:t>LIDAR</a:t>
            </a:r>
            <a:r>
              <a:rPr sz="1600" b="0" i="0">
                <a:solidFill>
                  <a:srgbClr val="000000"/>
                </a:solidFill>
                <a:latin typeface="Arial"/>
              </a:rPr>
              <a:t>, light detection and ranging, measures distances using emitted light and its return from surrounding surfaces. The FOV uses this instrument to monitor obstacles outside the tank, independently of the camera’s measurement of fish behavior.</a:t>
            </a:r>
          </a:p>
          <a:p>
            <a:pPr algn="l">
              <a:lnSpc>
                <a:spcPct val="108000"/>
              </a:lnSpc>
              <a:spcAft>
                <a:spcPts val="960"/>
              </a:spcAft>
            </a:pPr>
            <a:r>
              <a:rPr sz="1600" b="0" i="0">
                <a:solidFill>
                  <a:srgbClr val="000000"/>
                </a:solidFill>
                <a:latin typeface="Arial"/>
              </a:rPr>
              <a:t>When the platform came within 20 cm of a wall or another obstacle, the controller disallowed further movement toward it. This safety rule overrode the animal-derived command. A fish could continue occupying an active steering posture while the apparatus withheld movement in the blocked direction.</a:t>
            </a:r>
          </a:p>
          <a:p>
            <a:pPr algn="l">
              <a:lnSpc>
                <a:spcPct val="108000"/>
              </a:lnSpc>
              <a:spcAft>
                <a:spcPts val="960"/>
              </a:spcAft>
            </a:pPr>
            <a:r>
              <a:rPr sz="1600" b="0" i="0">
                <a:solidFill>
                  <a:srgbClr val="000000"/>
                </a:solidFill>
                <a:latin typeface="Arial"/>
              </a:rPr>
              <a:t>Consequently, vehicle displacement combines the swimming command with an external constraint. Near-wall stops are properties of the controller as well as possible changes in behavior. The recorded arena position allows the blocked movement to be distinguished from an animal that has left the active control region.</a:t>
            </a:r>
          </a:p>
        </p:txBody>
      </p:sp>
      <p:pic>
        <p:nvPicPr>
          <p:cNvPr id="4" name="Picture 3" descr="g1.png"/>
          <p:cNvPicPr>
            <a:picLocks noChangeAspect="1"/>
          </p:cNvPicPr>
          <p:nvPr/>
        </p:nvPicPr>
        <p:blipFill>
          <a:blip r:embed="rId2"/>
          <a:stretch>
            <a:fillRect/>
          </a:stretch>
        </p:blipFill>
        <p:spPr>
          <a:xfrm>
            <a:off x="7029934" y="1280160"/>
            <a:ext cx="388614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1(A–E). The vehicle, camera detection, arena and command conditions.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Fish position and vehicle position are separate records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onboard camera records the fish relative to the water tank. The LIDAR records the vehicle relative to the arena. A </a:t>
            </a:r>
            <a:r>
              <a:rPr sz="1600" b="1" i="0">
                <a:solidFill>
                  <a:srgbClr val="5B3E45"/>
                </a:solidFill>
                <a:latin typeface="Arial"/>
              </a:rPr>
              <a:t>coordinate frame</a:t>
            </a:r>
            <a:r>
              <a:rPr sz="1600" b="0" i="0">
                <a:solidFill>
                  <a:srgbClr val="000000"/>
                </a:solidFill>
                <a:latin typeface="Arial"/>
              </a:rPr>
              <a:t> is a reference system used to specify location; these two instruments measure movement in different coordinate frames.</a:t>
            </a:r>
          </a:p>
          <a:p>
            <a:pPr algn="l">
              <a:lnSpc>
                <a:spcPct val="108000"/>
              </a:lnSpc>
              <a:spcAft>
                <a:spcPts val="960"/>
              </a:spcAft>
            </a:pPr>
            <a:r>
              <a:rPr sz="1600" b="0" i="0">
                <a:solidFill>
                  <a:srgbClr val="000000"/>
                </a:solidFill>
                <a:latin typeface="Arial"/>
              </a:rPr>
              <a:t>Fish posture specifies the input available to the controller, whereas the arena trajectory specifies the output produced by the platform. A fish can swim inside a stationary tank, or maintain a useful posture while the platform moves through the room.</a:t>
            </a:r>
          </a:p>
          <a:p>
            <a:pPr algn="l">
              <a:lnSpc>
                <a:spcPct val="108000"/>
              </a:lnSpc>
              <a:spcAft>
                <a:spcPts val="960"/>
              </a:spcAft>
            </a:pPr>
            <a:r>
              <a:rPr sz="1600" b="0" i="0">
                <a:solidFill>
                  <a:srgbClr val="000000"/>
                </a:solidFill>
                <a:latin typeface="Arial"/>
              </a:rPr>
              <a:t>Liu’s rotation experiment changes the relation between these records. The animal’s local heading is retained as the input, but the output direction is rotated by software. Comparing local posture with external displacement therefore identifies the programmed perturbation without treating tank-relative swimming as the vehicle’s route.</a:t>
            </a:r>
          </a:p>
        </p:txBody>
      </p:sp>
      <p:pic>
        <p:nvPicPr>
          <p:cNvPr id="4" name="Picture 3" descr="l1abc.png"/>
          <p:cNvPicPr>
            <a:picLocks noChangeAspect="1"/>
          </p:cNvPicPr>
          <p:nvPr/>
        </p:nvPicPr>
        <p:blipFill>
          <a:blip r:embed="rId2"/>
          <a:stretch>
            <a:fillRect/>
          </a:stretch>
        </p:blipFill>
        <p:spPr>
          <a:xfrm>
            <a:off x="6321247" y="1280160"/>
            <a:ext cx="5303520" cy="2567033"/>
          </a:xfrm>
          <a:prstGeom prst="rect">
            <a:avLst/>
          </a:prstGeom>
        </p:spPr>
      </p:pic>
      <p:sp>
        <p:nvSpPr>
          <p:cNvPr id="5" name="Figure caption"/>
          <p:cNvSpPr txBox="1"/>
          <p:nvPr/>
        </p:nvSpPr>
        <p:spPr>
          <a:xfrm>
            <a:off x="6321247" y="393863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1(A–C). Vehicle hardware, fish-to-vehicle mapping and arena.</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Vehicle movement builds after a step command</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B3E45"/>
                </a:solidFill>
                <a:latin typeface="Arial"/>
              </a:rPr>
              <a:t>step command</a:t>
            </a:r>
            <a:r>
              <a:rPr sz="1600" b="0" i="0">
                <a:solidFill>
                  <a:srgbClr val="000000"/>
                </a:solidFill>
                <a:latin typeface="Arial"/>
              </a:rPr>
              <a:t> is an abrupt change from no command to a sustained movement command. Givon and colleagues applied this input to the vehicle and recorded its position over time, measuring the response of the apparatus independently of learning.</a:t>
            </a:r>
          </a:p>
          <a:p>
            <a:pPr algn="l">
              <a:lnSpc>
                <a:spcPct val="108000"/>
              </a:lnSpc>
              <a:spcAft>
                <a:spcPts val="960"/>
              </a:spcAft>
            </a:pPr>
            <a:r>
              <a:rPr sz="1600" b="0" i="0">
                <a:solidFill>
                  <a:srgbClr val="000000"/>
                </a:solidFill>
                <a:latin typeface="Arial"/>
              </a:rPr>
              <a:t>The platform’s distance increased slowly at first and more rapidly after motion developed. Its speed approached approximately 0.4 m/s in the published recording. The authors described a response time of about 1 second, connecting a steering command with a delayed mechanical consequence.</a:t>
            </a:r>
          </a:p>
          <a:p>
            <a:pPr algn="l">
              <a:lnSpc>
                <a:spcPct val="108000"/>
              </a:lnSpc>
              <a:spcAft>
                <a:spcPts val="960"/>
              </a:spcAft>
            </a:pPr>
            <a:r>
              <a:rPr sz="1600" b="0" i="0">
                <a:solidFill>
                  <a:srgbClr val="000000"/>
                </a:solidFill>
                <a:latin typeface="Arial"/>
              </a:rPr>
              <a:t>The fish therefore operates a system whose displacement builds over time rather than appearing instantaneously. The calibration assigns this time course to the vehicle itself. During behavioral training, a sustained useful posture allows the motors to produce movement long enough to approach the external target.</a:t>
            </a:r>
          </a:p>
        </p:txBody>
      </p:sp>
      <p:pic>
        <p:nvPicPr>
          <p:cNvPr id="4" name="Picture 3" descr="g2.png"/>
          <p:cNvPicPr>
            <a:picLocks noChangeAspect="1"/>
          </p:cNvPicPr>
          <p:nvPr/>
        </p:nvPicPr>
        <p:blipFill>
          <a:blip r:embed="rId2"/>
          <a:stretch>
            <a:fillRect/>
          </a:stretch>
        </p:blipFill>
        <p:spPr>
          <a:xfrm>
            <a:off x="6904029" y="1280160"/>
            <a:ext cx="413795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2(A–C). Vehicle acceleration and directional calibration.</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Calibration separates motor accuracy from learning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researchers placed an artificial fish model at different locations and orientations to test directional control. Eight headings, separated by 45°, sampled the vehicle’s available directions. The resulting displacement could be compared with the programmed command without relying on a live animal’s choices.</a:t>
            </a:r>
          </a:p>
          <a:p>
            <a:pPr algn="l">
              <a:lnSpc>
                <a:spcPct val="108000"/>
              </a:lnSpc>
              <a:spcAft>
                <a:spcPts val="900"/>
              </a:spcAft>
            </a:pPr>
            <a:r>
              <a:rPr sz="1500" b="0" i="0">
                <a:solidFill>
                  <a:srgbClr val="000000"/>
                </a:solidFill>
                <a:latin typeface="Arial"/>
              </a:rPr>
              <a:t>Command and movement directions closely agreed in the calibration. Together with the speed measurement, this establishes the apparatus’s directional and temporal response before navigation performance is interpreted. The control test concerns the vehicle’s operation rather than the animal’s experience of the reward.</a:t>
            </a:r>
          </a:p>
          <a:p>
            <a:pPr algn="l">
              <a:lnSpc>
                <a:spcPct val="108000"/>
              </a:lnSpc>
              <a:spcAft>
                <a:spcPts val="900"/>
              </a:spcAft>
            </a:pPr>
            <a:r>
              <a:rPr sz="1500" b="0" i="0">
                <a:solidFill>
                  <a:srgbClr val="000000"/>
                </a:solidFill>
                <a:latin typeface="Arial"/>
              </a:rPr>
              <a:t>Learning changes which postures the fish produces and how it uses their consequences. Calibration measures what the platform does when those postures are supplied. Separating these operations prevents a more direct route during training from being attributed to an unmeasured improvement in the robot’s mechanical steering.</a:t>
            </a:r>
          </a:p>
        </p:txBody>
      </p:sp>
      <p:pic>
        <p:nvPicPr>
          <p:cNvPr id="4" name="Picture 3" descr="g2.png"/>
          <p:cNvPicPr>
            <a:picLocks noChangeAspect="1"/>
          </p:cNvPicPr>
          <p:nvPr/>
        </p:nvPicPr>
        <p:blipFill>
          <a:blip r:embed="rId2"/>
          <a:stretch>
            <a:fillRect/>
          </a:stretch>
        </p:blipFill>
        <p:spPr>
          <a:xfrm>
            <a:off x="6904029" y="1280160"/>
            <a:ext cx="413795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2(A–C). Vehicle acceleration and directional calibration.</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The target supplies an external visual destination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pink rectangular board marked the rewarded destination in a 3 × 4 m arena. The board measured 60 × 40 cm and was placed on an arena wall. The goal was external to the water tank rather than an object the fish could reach by swimming across its own enclosure.</a:t>
            </a:r>
          </a:p>
          <a:p>
            <a:pPr algn="l">
              <a:lnSpc>
                <a:spcPct val="108000"/>
              </a:lnSpc>
              <a:spcAft>
                <a:spcPts val="960"/>
              </a:spcAft>
            </a:pPr>
            <a:r>
              <a:rPr sz="1600" b="0" i="0">
                <a:solidFill>
                  <a:srgbClr val="000000"/>
                </a:solidFill>
                <a:latin typeface="Arial"/>
              </a:rPr>
              <a:t>Arrival was defined by the vehicle touching the target board. At that moment, the experimenter delivered a food pellet into the tank. Vehicle displacement brought the aquatic preparation into contact with the rewarded location while the fish remained submerged.</a:t>
            </a:r>
          </a:p>
          <a:p>
            <a:pPr algn="l">
              <a:lnSpc>
                <a:spcPct val="108000"/>
              </a:lnSpc>
              <a:spcAft>
                <a:spcPts val="960"/>
              </a:spcAft>
            </a:pPr>
            <a:r>
              <a:rPr sz="1600" b="0" i="0">
                <a:solidFill>
                  <a:srgbClr val="000000"/>
                </a:solidFill>
                <a:latin typeface="Arial"/>
              </a:rPr>
              <a:t>The animal had to direct the platform toward a feature in the surrounding scene. Control of the motors provided a means of approaching that feature, while the food reward connected successful external movement to a consequence inside the tank. The goal and the reward occupied different physical spaces.</a:t>
            </a:r>
          </a:p>
        </p:txBody>
      </p:sp>
      <p:pic>
        <p:nvPicPr>
          <p:cNvPr id="4" name="Picture 3" descr="g1c.png"/>
          <p:cNvPicPr>
            <a:picLocks noChangeAspect="1"/>
          </p:cNvPicPr>
          <p:nvPr/>
        </p:nvPicPr>
        <p:blipFill>
          <a:blip r:embed="rId2"/>
          <a:stretch>
            <a:fillRect/>
          </a:stretch>
        </p:blipFill>
        <p:spPr>
          <a:xfrm>
            <a:off x="6321247" y="1280160"/>
            <a:ext cx="5303520" cy="3695665"/>
          </a:xfrm>
          <a:prstGeom prst="rect">
            <a:avLst/>
          </a:prstGeom>
        </p:spPr>
      </p:pic>
      <p:sp>
        <p:nvSpPr>
          <p:cNvPr id="5" name="Figure caption"/>
          <p:cNvSpPr txBox="1"/>
          <p:nvPr/>
        </p:nvSpPr>
        <p:spPr>
          <a:xfrm>
            <a:off x="6321247" y="506726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1(C). The terrestrial arena and rewarded target.</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Covering the tank removes feedback during return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bucket covered the water tank while the experimenter returned the FOV to its starting position. Removing the cover began the next trial. The procedure restricted the fish’s access to the surrounding visual scene during the manually controlled return.</a:t>
            </a:r>
          </a:p>
          <a:p>
            <a:pPr algn="l">
              <a:lnSpc>
                <a:spcPct val="108000"/>
              </a:lnSpc>
              <a:spcAft>
                <a:spcPts val="960"/>
              </a:spcAft>
            </a:pPr>
            <a:r>
              <a:rPr sz="1600" b="0" i="0">
                <a:solidFill>
                  <a:srgbClr val="000000"/>
                </a:solidFill>
                <a:latin typeface="Arial"/>
              </a:rPr>
              <a:t>In Liu’s experiment, time zero was assigned when the fish first appeared in the camera frame after the cover was removed. The starting event therefore aligned the analyzed trajectory with the resumption of the visible trial rather than with the entire handling sequence.</a:t>
            </a:r>
          </a:p>
          <a:p>
            <a:pPr algn="l">
              <a:lnSpc>
                <a:spcPct val="108000"/>
              </a:lnSpc>
              <a:spcAft>
                <a:spcPts val="960"/>
              </a:spcAft>
            </a:pPr>
            <a:r>
              <a:rPr sz="1600" b="0" i="0">
                <a:solidFill>
                  <a:srgbClr val="000000"/>
                </a:solidFill>
                <a:latin typeface="Arial"/>
              </a:rPr>
              <a:t>Training joined fish-controlled displacement with visual access to the arena. Covered return separated that movement from the experimenter’s repositioning of the vehicle. Each new trial again required the animal’s posture to generate movement toward the visible target through the currently programmed steering relationship.</a:t>
            </a:r>
          </a:p>
        </p:txBody>
      </p:sp>
      <p:pic>
        <p:nvPicPr>
          <p:cNvPr id="4" name="Picture 3" descr="l1abc.png"/>
          <p:cNvPicPr>
            <a:picLocks noChangeAspect="1"/>
          </p:cNvPicPr>
          <p:nvPr/>
        </p:nvPicPr>
        <p:blipFill>
          <a:blip r:embed="rId2"/>
          <a:stretch>
            <a:fillRect/>
          </a:stretch>
        </p:blipFill>
        <p:spPr>
          <a:xfrm>
            <a:off x="6321247" y="1280160"/>
            <a:ext cx="5303520" cy="2567033"/>
          </a:xfrm>
          <a:prstGeom prst="rect">
            <a:avLst/>
          </a:prstGeom>
        </p:spPr>
      </p:pic>
      <p:sp>
        <p:nvSpPr>
          <p:cNvPr id="5" name="Figure caption"/>
          <p:cNvSpPr txBox="1"/>
          <p:nvPr/>
        </p:nvSpPr>
        <p:spPr>
          <a:xfrm>
            <a:off x="6321247" y="393863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1(A–C). Vehicle hardware, fish-to-vehicle mapping and arena.</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Learning replaces wandering with targeted routes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At the beginning of training, vehicle trajectories included substantial wandering through the arena. In later high-performance sessions, routes repeatedly approached the rewarded target. The change concerned the external path generated by the fish’s steering behavior.</a:t>
            </a:r>
          </a:p>
          <a:p>
            <a:pPr algn="l">
              <a:lnSpc>
                <a:spcPct val="108000"/>
              </a:lnSpc>
              <a:spcAft>
                <a:spcPts val="960"/>
              </a:spcAft>
            </a:pPr>
            <a:r>
              <a:rPr sz="1600" b="0" i="0">
                <a:solidFill>
                  <a:srgbClr val="000000"/>
                </a:solidFill>
                <a:latin typeface="Arial"/>
              </a:rPr>
              <a:t>A route records the consequences of many local positions and headings inside the tank. The animal must repeatedly recruit an appropriate command as its relation to the target changes. A more direct route therefore reflects coordinated use of the interface over the course of a trial.</a:t>
            </a:r>
          </a:p>
          <a:p>
            <a:pPr algn="l">
              <a:lnSpc>
                <a:spcPct val="108000"/>
              </a:lnSpc>
              <a:spcAft>
                <a:spcPts val="960"/>
              </a:spcAft>
            </a:pPr>
            <a:r>
              <a:rPr sz="1600" b="0" i="0">
                <a:solidFill>
                  <a:srgbClr val="000000"/>
                </a:solidFill>
                <a:latin typeface="Arial"/>
              </a:rPr>
              <a:t>The published trajectories retain variation between trials and individuals. Goal-directed control was acquired through experience with the apparatus and reward. The route itself provides a behavioral record of the animal’s successful use of the camera-to-motor mapping in a terrestrial arena.</a:t>
            </a:r>
          </a:p>
        </p:txBody>
      </p:sp>
      <p:pic>
        <p:nvPicPr>
          <p:cNvPr id="4" name="Picture 3" descr="g3.png"/>
          <p:cNvPicPr>
            <a:picLocks noChangeAspect="1"/>
          </p:cNvPicPr>
          <p:nvPr/>
        </p:nvPicPr>
        <p:blipFill>
          <a:blip r:embed="rId2"/>
          <a:stretch>
            <a:fillRect/>
          </a:stretch>
        </p:blipFill>
        <p:spPr>
          <a:xfrm>
            <a:off x="6321247" y="1280160"/>
            <a:ext cx="5303520" cy="4099040"/>
          </a:xfrm>
          <a:prstGeom prst="rect">
            <a:avLst/>
          </a:prstGeom>
        </p:spPr>
      </p:pic>
      <p:sp>
        <p:nvSpPr>
          <p:cNvPr id="5" name="Figure caption"/>
          <p:cNvSpPr txBox="1"/>
          <p:nvPr/>
        </p:nvSpPr>
        <p:spPr>
          <a:xfrm>
            <a:off x="6321247" y="547064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3(A–D). Early and late navigation trajectories.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Changed starting points require new routes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Givon and colleagues moved the starting position after the fish had learned to approach the target. A different start changes the required route even though the rewarded board remains in the same place. A fixed replay of the original movement sequence would then lead away from the goal.</a:t>
            </a:r>
          </a:p>
          <a:p>
            <a:pPr algn="l">
              <a:lnSpc>
                <a:spcPct val="108000"/>
              </a:lnSpc>
              <a:spcAft>
                <a:spcPts val="960"/>
              </a:spcAft>
            </a:pPr>
            <a:r>
              <a:rPr sz="1600" b="0" i="0">
                <a:solidFill>
                  <a:srgbClr val="000000"/>
                </a:solidFill>
                <a:latin typeface="Arial"/>
              </a:rPr>
              <a:t>The fish still approached the target from the changed starting positions. The authors compared route efficiency relative to the direct distance available from each start, rather than treating a longer absolute path from a more distant start as poorer control.</a:t>
            </a:r>
          </a:p>
          <a:p>
            <a:pPr algn="l">
              <a:lnSpc>
                <a:spcPct val="108000"/>
              </a:lnSpc>
              <a:spcAft>
                <a:spcPts val="960"/>
              </a:spcAft>
            </a:pPr>
            <a:r>
              <a:rPr sz="1600" b="1" i="0">
                <a:solidFill>
                  <a:srgbClr val="5B3E45"/>
                </a:solidFill>
                <a:latin typeface="Arial"/>
              </a:rPr>
              <a:t>Route efficiency</a:t>
            </a:r>
            <a:r>
              <a:rPr sz="1600" b="0" i="0">
                <a:solidFill>
                  <a:srgbClr val="000000"/>
                </a:solidFill>
                <a:latin typeface="Arial"/>
              </a:rPr>
              <a:t> relates the distance actually traveled to the shortest start-to-target distance. This comparison separates the geometry of the task from excess movement. Successful approaches from different starts connect the learned steering interface to flexible target-directed movement rather than one repeated arena trajectory.</a:t>
            </a:r>
          </a:p>
        </p:txBody>
      </p:sp>
      <p:pic>
        <p:nvPicPr>
          <p:cNvPr id="4" name="Picture 3" descr="g5.png"/>
          <p:cNvPicPr>
            <a:picLocks noChangeAspect="1"/>
          </p:cNvPicPr>
          <p:nvPr/>
        </p:nvPicPr>
        <p:blipFill>
          <a:blip r:embed="rId2"/>
          <a:stretch>
            <a:fillRect/>
          </a:stretch>
        </p:blipFill>
        <p:spPr>
          <a:xfrm>
            <a:off x="7243680" y="1280160"/>
            <a:ext cx="3458653"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5(A–F). Changed starting points, colored decoys and target relocation.</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Decoys and relocation distinguish target cues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Rectangular decoy boards of other colors were placed around the arena while the pink target retained its rewarded role. Fish continued to approach the correct board. Merely detecting any rectangular object was therefore insufficient to account for the trained choice.</a:t>
            </a:r>
          </a:p>
          <a:p>
            <a:pPr algn="l">
              <a:lnSpc>
                <a:spcPct val="108000"/>
              </a:lnSpc>
              <a:spcAft>
                <a:spcPts val="960"/>
              </a:spcAft>
            </a:pPr>
            <a:r>
              <a:rPr sz="1600" b="0" i="0">
                <a:solidFill>
                  <a:srgbClr val="000000"/>
                </a:solidFill>
                <a:latin typeface="Arial"/>
              </a:rPr>
              <a:t>When the rewarded target moved to the opposite wall, fish initially visited its old location before reaching the new one. The changed behavior connects the visual target with a learned spatial location, rather than assigning navigation exclusively to the board’s current appearance.</a:t>
            </a:r>
          </a:p>
          <a:p>
            <a:pPr algn="l">
              <a:lnSpc>
                <a:spcPct val="108000"/>
              </a:lnSpc>
              <a:spcAft>
                <a:spcPts val="960"/>
              </a:spcAft>
            </a:pPr>
            <a:r>
              <a:rPr sz="1600" b="0" i="0">
                <a:solidFill>
                  <a:srgbClr val="000000"/>
                </a:solidFill>
                <a:latin typeface="Arial"/>
              </a:rPr>
              <a:t>The controls separate information about what the target is from information about where it has been rewarded. Changing the starting point preserves the destination, while relocating the board changes that destination. The animal’s route reflects the interaction of visual recognition, learned location and control of the moving platform.</a:t>
            </a:r>
          </a:p>
        </p:txBody>
      </p:sp>
      <p:pic>
        <p:nvPicPr>
          <p:cNvPr id="4" name="Picture 3" descr="g5.png"/>
          <p:cNvPicPr>
            <a:picLocks noChangeAspect="1"/>
          </p:cNvPicPr>
          <p:nvPr/>
        </p:nvPicPr>
        <p:blipFill>
          <a:blip r:embed="rId2"/>
          <a:stretch>
            <a:fillRect/>
          </a:stretch>
        </p:blipFill>
        <p:spPr>
          <a:xfrm>
            <a:off x="7243680" y="1280160"/>
            <a:ext cx="3458653"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Givon et al. (2022), Fig. 5(A–F). Changed starting points, colored decoys and target relocation.</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Software rotates the action-to-movement mapping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B3E45"/>
                </a:solidFill>
                <a:latin typeface="Arial"/>
              </a:rPr>
              <a:t>control mapping</a:t>
            </a:r>
            <a:r>
              <a:rPr sz="1600" b="0" i="0">
                <a:solidFill>
                  <a:srgbClr val="000000"/>
                </a:solidFill>
                <a:latin typeface="Arial"/>
              </a:rPr>
              <a:t> specifies how an input action determines an output movement. During baseline training, an outward-facing fish near a tank wall moved the FOV in the corresponding direction. Liu and colleagues then rotated the vehicle command 45° to the right of the fish’s orientation.</a:t>
            </a:r>
          </a:p>
          <a:p>
            <a:pPr algn="l">
              <a:lnSpc>
                <a:spcPct val="108000"/>
              </a:lnSpc>
              <a:spcAft>
                <a:spcPts val="960"/>
              </a:spcAft>
            </a:pPr>
            <a:r>
              <a:rPr sz="1600" b="0" i="0">
                <a:solidFill>
                  <a:srgbClr val="000000"/>
                </a:solidFill>
                <a:latin typeface="Arial"/>
              </a:rPr>
              <a:t>The tank, arena and rewarded target remained part of the same task. The changed relation was imposed by software between the detected swimming pose and wheel output. A posture that previously advanced the vehicle toward the goal now displaced it in a different direction.</a:t>
            </a:r>
          </a:p>
          <a:p>
            <a:pPr algn="l">
              <a:lnSpc>
                <a:spcPct val="108000"/>
              </a:lnSpc>
              <a:spcAft>
                <a:spcPts val="960"/>
              </a:spcAft>
            </a:pPr>
            <a:r>
              <a:rPr sz="1600" b="0" i="0">
                <a:solidFill>
                  <a:srgbClr val="000000"/>
                </a:solidFill>
                <a:latin typeface="Arial"/>
              </a:rPr>
              <a:t>Compensation required the fish to produce a different orientation for the same desired external movement. The manipulation therefore separated recognizing a destination from controlling approach to it. Familiarity with the goal could persist while the motor command needed to reach that goal changed.</a:t>
            </a:r>
          </a:p>
        </p:txBody>
      </p:sp>
      <p:pic>
        <p:nvPicPr>
          <p:cNvPr id="4" name="Picture 3" descr="l1b.png"/>
          <p:cNvPicPr>
            <a:picLocks noChangeAspect="1"/>
          </p:cNvPicPr>
          <p:nvPr/>
        </p:nvPicPr>
        <p:blipFill>
          <a:blip r:embed="rId2"/>
          <a:stretch>
            <a:fillRect/>
          </a:stretch>
        </p:blipFill>
        <p:spPr>
          <a:xfrm>
            <a:off x="7474236" y="1280160"/>
            <a:ext cx="2997541"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1(B). Fish orientation and vehicle direction under normal and rotated mappings.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Camera sampling and control updates have different rates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Liu’s onboard camera recorded fish posture at 30 frames/s with images of 320 × 240 pixels. The control loop ran at 12 updates/s. Acquisition of an image and updating the wheel command were therefore distinct operations with different rates.</a:t>
            </a:r>
          </a:p>
          <a:p>
            <a:pPr algn="l">
              <a:lnSpc>
                <a:spcPct val="108000"/>
              </a:lnSpc>
              <a:spcAft>
                <a:spcPts val="960"/>
              </a:spcAft>
            </a:pPr>
            <a:r>
              <a:rPr sz="1600" b="0" i="0">
                <a:solidFill>
                  <a:srgbClr val="000000"/>
                </a:solidFill>
                <a:latin typeface="Arial"/>
              </a:rPr>
              <a:t>A separate overhead camera recorded the arena from about 4 m above. Those recordings were reduced to 30 frames/s at 720 × 480 pixels for comparison with vehicle records. Camera observations of the arena helped validate tracking independently of the onboard view of the fish.</a:t>
            </a:r>
          </a:p>
          <a:p>
            <a:pPr algn="l">
              <a:lnSpc>
                <a:spcPct val="108000"/>
              </a:lnSpc>
              <a:spcAft>
                <a:spcPts val="960"/>
              </a:spcAft>
            </a:pPr>
            <a:r>
              <a:rPr sz="1600" b="0" i="0">
                <a:solidFill>
                  <a:srgbClr val="000000"/>
                </a:solidFill>
                <a:latin typeface="Arial"/>
              </a:rPr>
              <a:t>These measurements separate detection, command updating and observation of the resulting trajectory. Frame rate describes repeated sampling; the mechanical response time describes how movement develops after a command. The published hardware measurements characterize different stages connecting fish posture to externally observed platform displacement.</a:t>
            </a:r>
          </a:p>
        </p:txBody>
      </p:sp>
      <p:pic>
        <p:nvPicPr>
          <p:cNvPr id="4" name="Picture 3" descr="l1abc.png"/>
          <p:cNvPicPr>
            <a:picLocks noChangeAspect="1"/>
          </p:cNvPicPr>
          <p:nvPr/>
        </p:nvPicPr>
        <p:blipFill>
          <a:blip r:embed="rId2"/>
          <a:stretch>
            <a:fillRect/>
          </a:stretch>
        </p:blipFill>
        <p:spPr>
          <a:xfrm>
            <a:off x="6321247" y="1280160"/>
            <a:ext cx="5303520" cy="2567033"/>
          </a:xfrm>
          <a:prstGeom prst="rect">
            <a:avLst/>
          </a:prstGeom>
        </p:spPr>
      </p:pic>
      <p:sp>
        <p:nvSpPr>
          <p:cNvPr id="5" name="Figure caption"/>
          <p:cNvSpPr txBox="1"/>
          <p:nvPr/>
        </p:nvSpPr>
        <p:spPr>
          <a:xfrm>
            <a:off x="6321247" y="393863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1(A–C). Vehicle hardware, fish-to-vehicle mapping and arena.</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Feedback depends on the current steering relationship</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B3E45"/>
                </a:solidFill>
                <a:latin typeface="Arial"/>
              </a:rPr>
              <a:t>Sensorimotor feedback</a:t>
            </a:r>
            <a:r>
              <a:rPr sz="1600" b="0" i="0">
                <a:solidFill>
                  <a:srgbClr val="000000"/>
                </a:solidFill>
                <a:latin typeface="Arial"/>
              </a:rPr>
              <a:t> is sensory information produced as a consequence of an animal’s movement. In the FOV, a useful posture activates the wheels, and platform displacement changes the animal’s relation to the surrounding target and arena.</a:t>
            </a:r>
          </a:p>
          <a:p>
            <a:pPr algn="l">
              <a:lnSpc>
                <a:spcPct val="108000"/>
              </a:lnSpc>
              <a:spcAft>
                <a:spcPts val="960"/>
              </a:spcAft>
            </a:pPr>
            <a:r>
              <a:rPr sz="1600" b="0" i="0">
                <a:solidFill>
                  <a:srgbClr val="000000"/>
                </a:solidFill>
                <a:latin typeface="Arial"/>
              </a:rPr>
              <a:t>Rotating the mapping changes that consequence while leaving swimming in the water tank available. Continuing to use the previously effective posture produces an externally misdirected route. Compensation develops as the animal experiences the relationship between its commands and the vehicle’s changed movement.</a:t>
            </a:r>
          </a:p>
          <a:p>
            <a:pPr algn="l">
              <a:lnSpc>
                <a:spcPct val="108000"/>
              </a:lnSpc>
              <a:spcAft>
                <a:spcPts val="960"/>
              </a:spcAft>
            </a:pPr>
            <a:r>
              <a:rPr sz="1600" b="0" i="0">
                <a:solidFill>
                  <a:srgbClr val="000000"/>
                </a:solidFill>
                <a:latin typeface="Arial"/>
              </a:rPr>
              <a:t>The authors’ internal-model hypothesis proposes that goldfish acquire a predictive relation between posture and external displacement. An </a:t>
            </a:r>
            <a:r>
              <a:rPr sz="1600" b="1" i="0">
                <a:solidFill>
                  <a:srgbClr val="5B3E45"/>
                </a:solidFill>
                <a:latin typeface="Arial"/>
              </a:rPr>
              <a:t>internal model</a:t>
            </a:r>
            <a:r>
              <a:rPr sz="1600" b="0" i="0">
                <a:solidFill>
                  <a:srgbClr val="000000"/>
                </a:solidFill>
                <a:latin typeface="Arial"/>
              </a:rPr>
              <a:t> is a learned representation of how actions generate consequences. Oppositely directed errors after the rotation is removed provide behavioral evidence for persistence of the adapted relationship.</a:t>
            </a:r>
          </a:p>
        </p:txBody>
      </p:sp>
      <p:pic>
        <p:nvPicPr>
          <p:cNvPr id="4" name="Picture 3" descr="l1b.png"/>
          <p:cNvPicPr>
            <a:picLocks noChangeAspect="1"/>
          </p:cNvPicPr>
          <p:nvPr/>
        </p:nvPicPr>
        <p:blipFill>
          <a:blip r:embed="rId2"/>
          <a:stretch>
            <a:fillRect/>
          </a:stretch>
        </p:blipFill>
        <p:spPr>
          <a:xfrm>
            <a:off x="7474236" y="1280160"/>
            <a:ext cx="2997541"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1(B). Fish orientation and vehicle direction under normal and rotated mappings.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The five stages separate acquisition and readaptation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B3E45"/>
                </a:solidFill>
                <a:latin typeface="Arial"/>
              </a:rPr>
              <a:t>Baseline</a:t>
            </a:r>
            <a:r>
              <a:rPr sz="1600" b="0" i="0">
                <a:solidFill>
                  <a:srgbClr val="000000"/>
                </a:solidFill>
                <a:latin typeface="Arial"/>
              </a:rPr>
              <a:t> establishes vehicle operation under the original mapping. </a:t>
            </a:r>
            <a:r>
              <a:rPr sz="1600" b="1" i="0">
                <a:solidFill>
                  <a:srgbClr val="5B3E45"/>
                </a:solidFill>
                <a:latin typeface="Arial"/>
              </a:rPr>
              <a:t>Rotation</a:t>
            </a:r>
            <a:r>
              <a:rPr sz="1600" b="0" i="0">
                <a:solidFill>
                  <a:srgbClr val="000000"/>
                </a:solidFill>
                <a:latin typeface="Arial"/>
              </a:rPr>
              <a:t> introduces a changed command direction. </a:t>
            </a:r>
            <a:r>
              <a:rPr sz="1600" b="1" i="0">
                <a:solidFill>
                  <a:srgbClr val="5B3E45"/>
                </a:solidFill>
                <a:latin typeface="Arial"/>
              </a:rPr>
              <a:t>Washout</a:t>
            </a:r>
            <a:r>
              <a:rPr sz="1600" b="0" i="0">
                <a:solidFill>
                  <a:srgbClr val="000000"/>
                </a:solidFill>
                <a:latin typeface="Arial"/>
              </a:rPr>
              <a:t> restores the original mapping after adaptation, permitting the persistence and subsequent decay of the changed behavior to be examined.</a:t>
            </a:r>
          </a:p>
          <a:p>
            <a:pPr algn="l">
              <a:lnSpc>
                <a:spcPct val="108000"/>
              </a:lnSpc>
              <a:spcAft>
                <a:spcPts val="960"/>
              </a:spcAft>
            </a:pPr>
            <a:r>
              <a:rPr sz="1600" b="0" i="0">
                <a:solidFill>
                  <a:srgbClr val="000000"/>
                </a:solidFill>
                <a:latin typeface="Arial"/>
              </a:rPr>
              <a:t>The 45° experiment used 15 rotation sessions followed by 10 washout sessions. The same rotation then returned for 15 re-exposure sessions, followed by 10 final sessions with the original mapping. Each session contained six trials.</a:t>
            </a:r>
          </a:p>
          <a:p>
            <a:pPr algn="l">
              <a:lnSpc>
                <a:spcPct val="108000"/>
              </a:lnSpc>
              <a:spcAft>
                <a:spcPts val="960"/>
              </a:spcAft>
            </a:pPr>
            <a:r>
              <a:rPr sz="1600" b="0" i="0">
                <a:solidFill>
                  <a:srgbClr val="000000"/>
                </a:solidFill>
                <a:latin typeface="Arial"/>
              </a:rPr>
              <a:t>The authors called re-exposure the “savings” stage because it tested whether experience with the perturbation improved later learning. That stage name describes the question being tested. The observed rates and achieved performance must be compared with the first exposure to establish what kind of improvement occurred.</a:t>
            </a:r>
          </a:p>
        </p:txBody>
      </p:sp>
      <p:pic>
        <p:nvPicPr>
          <p:cNvPr id="4" name="Picture 3" descr="l1d.png"/>
          <p:cNvPicPr>
            <a:picLocks noChangeAspect="1"/>
          </p:cNvPicPr>
          <p:nvPr/>
        </p:nvPicPr>
        <p:blipFill>
          <a:blip r:embed="rId2"/>
          <a:stretch>
            <a:fillRect/>
          </a:stretch>
        </p:blipFill>
        <p:spPr>
          <a:xfrm>
            <a:off x="6321247" y="1280160"/>
            <a:ext cx="5303520" cy="2150172"/>
          </a:xfrm>
          <a:prstGeom prst="rect">
            <a:avLst/>
          </a:prstGeom>
        </p:spPr>
      </p:pic>
      <p:sp>
        <p:nvSpPr>
          <p:cNvPr id="5" name="Figure caption"/>
          <p:cNvSpPr txBox="1"/>
          <p:nvPr/>
        </p:nvSpPr>
        <p:spPr>
          <a:xfrm>
            <a:off x="6321247" y="35217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1(D). The authors’ predicted early and late behavior in the five training stages.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Success counts completed arrivals rather than precision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Liu defined success as arrival in the target area, followed by food reward. With six trials in a session, the success measure ranged from no completed arrivals to six. It describes completion of the rewarded task rather than every detail of the route.</a:t>
            </a:r>
          </a:p>
          <a:p>
            <a:pPr algn="l">
              <a:lnSpc>
                <a:spcPct val="108000"/>
              </a:lnSpc>
              <a:spcAft>
                <a:spcPts val="960"/>
              </a:spcAft>
            </a:pPr>
            <a:r>
              <a:rPr sz="1600" b="0" i="0">
                <a:solidFill>
                  <a:srgbClr val="000000"/>
                </a:solidFill>
                <a:latin typeface="Arial"/>
              </a:rPr>
              <a:t>A fish can reach the goal by a direct path or after substantial extra movement. Both routes contribute a successful arrival. Directional accuracy and traveled distance were therefore recorded separately, allowing task completion to be compared with how the animal achieved it.</a:t>
            </a:r>
          </a:p>
          <a:p>
            <a:pPr algn="l">
              <a:lnSpc>
                <a:spcPct val="108000"/>
              </a:lnSpc>
              <a:spcAft>
                <a:spcPts val="960"/>
              </a:spcAft>
            </a:pPr>
            <a:r>
              <a:rPr sz="1600" b="0" i="0">
                <a:solidFill>
                  <a:srgbClr val="000000"/>
                </a:solidFill>
                <a:latin typeface="Arial"/>
              </a:rPr>
              <a:t>The rotation changed all three measures during learning. A growing number of arrivals means that more trials end at the rewarded location, while changes in angle and distance describe recovery of target-directed steering. Successful completion and efficient control are related behavioral achievements with different measurements.</a:t>
            </a:r>
          </a:p>
        </p:txBody>
      </p:sp>
      <p:pic>
        <p:nvPicPr>
          <p:cNvPr id="4" name="Picture 3" descr="l2.png"/>
          <p:cNvPicPr>
            <a:picLocks noChangeAspect="1"/>
          </p:cNvPicPr>
          <p:nvPr/>
        </p:nvPicPr>
        <p:blipFill>
          <a:blip r:embed="rId2"/>
          <a:stretch>
            <a:fillRect/>
          </a:stretch>
        </p:blipFill>
        <p:spPr>
          <a:xfrm>
            <a:off x="6321247" y="1280160"/>
            <a:ext cx="5303520" cy="2623549"/>
          </a:xfrm>
          <a:prstGeom prst="rect">
            <a:avLst/>
          </a:prstGeom>
        </p:spPr>
      </p:pic>
      <p:sp>
        <p:nvSpPr>
          <p:cNvPr id="5" name="Figure caption"/>
          <p:cNvSpPr txBox="1"/>
          <p:nvPr/>
        </p:nvSpPr>
        <p:spPr>
          <a:xfrm>
            <a:off x="6321247" y="399514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2. Definitions of success, endpoint angular error and adjusted route length.</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Angular error describes start-to-end direction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B3E45"/>
                </a:solidFill>
                <a:latin typeface="Arial"/>
              </a:rPr>
              <a:t>Angular error</a:t>
            </a:r>
            <a:r>
              <a:rPr sz="1600" b="0" i="0">
                <a:solidFill>
                  <a:srgbClr val="000000"/>
                </a:solidFill>
                <a:latin typeface="Arial"/>
              </a:rPr>
              <a:t> is the angle between the direction from the starting point to the trial endpoint and the direction from the starting point to the target. In Liu’s task, 0° corresponds to an endpoint aligned with the target direction.</a:t>
            </a:r>
          </a:p>
          <a:p>
            <a:pPr algn="l">
              <a:lnSpc>
                <a:spcPct val="108000"/>
              </a:lnSpc>
              <a:spcAft>
                <a:spcPts val="960"/>
              </a:spcAft>
            </a:pPr>
            <a:r>
              <a:rPr sz="1600" b="0" i="0">
                <a:solidFill>
                  <a:srgbClr val="000000"/>
                </a:solidFill>
                <a:latin typeface="Arial"/>
              </a:rPr>
              <a:t>The measure uses the endpoint of the trajectory rather than the fish’s continuously changing body orientation. It summarizes where the platform finishes relative to the intended direction. Curved routes can therefore share a similar endpoint angular error even when their intermediate movements differ.</a:t>
            </a:r>
          </a:p>
          <a:p>
            <a:pPr algn="l">
              <a:lnSpc>
                <a:spcPct val="108000"/>
              </a:lnSpc>
              <a:spcAft>
                <a:spcPts val="960"/>
              </a:spcAft>
            </a:pPr>
            <a:r>
              <a:rPr sz="1600" b="0" i="0">
                <a:solidFill>
                  <a:srgbClr val="000000"/>
                </a:solidFill>
                <a:latin typeface="Arial"/>
              </a:rPr>
              <a:t>Route length retains the extra movement lost in that endpoint summary. After rotation, angular error moves toward the target direction as control improves, while distance describes the remaining detours. These complementary measures distinguish recovery of external directional alignment from acquisition of a short approach path.</a:t>
            </a:r>
          </a:p>
        </p:txBody>
      </p:sp>
      <p:pic>
        <p:nvPicPr>
          <p:cNvPr id="4" name="Picture 3" descr="l2.png"/>
          <p:cNvPicPr>
            <a:picLocks noChangeAspect="1"/>
          </p:cNvPicPr>
          <p:nvPr/>
        </p:nvPicPr>
        <p:blipFill>
          <a:blip r:embed="rId2"/>
          <a:stretch>
            <a:fillRect/>
          </a:stretch>
        </p:blipFill>
        <p:spPr>
          <a:xfrm>
            <a:off x="6321247" y="1280160"/>
            <a:ext cx="5303520" cy="2623549"/>
          </a:xfrm>
          <a:prstGeom prst="rect">
            <a:avLst/>
          </a:prstGeom>
        </p:spPr>
      </p:pic>
      <p:sp>
        <p:nvSpPr>
          <p:cNvPr id="5" name="Figure caption"/>
          <p:cNvSpPr txBox="1"/>
          <p:nvPr/>
        </p:nvSpPr>
        <p:spPr>
          <a:xfrm>
            <a:off x="6321247" y="399514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2. Definitions of success, endpoint angular error and adjusted route length.</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Failed trials receive an adjusted distance estimate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For a successful trial, distance traveled is the measured length of the vehicle route. For an unsuccessful trial, Liu added an estimate of the further movement needed to reach the target, using the endpoint-to-target distance and the fish’s efficiency during that session.</a:t>
            </a:r>
          </a:p>
          <a:p>
            <a:pPr algn="l">
              <a:lnSpc>
                <a:spcPct val="108000"/>
              </a:lnSpc>
              <a:spcAft>
                <a:spcPts val="960"/>
              </a:spcAft>
            </a:pPr>
            <a:r>
              <a:rPr sz="1600" b="0" i="0">
                <a:solidFill>
                  <a:srgbClr val="000000"/>
                </a:solidFill>
                <a:latin typeface="Arial"/>
              </a:rPr>
              <a:t>This </a:t>
            </a:r>
            <a:r>
              <a:rPr sz="1600" b="1" i="0">
                <a:solidFill>
                  <a:srgbClr val="5B3E45"/>
                </a:solidFill>
                <a:latin typeface="Arial"/>
              </a:rPr>
              <a:t>adjusted distance</a:t>
            </a:r>
            <a:r>
              <a:rPr sz="1600" b="0" i="0">
                <a:solidFill>
                  <a:srgbClr val="000000"/>
                </a:solidFill>
                <a:latin typeface="Arial"/>
              </a:rPr>
              <a:t> avoids treating an early unsuccessful stop as an efficient short route. A trial can end close to its starting point because steering failed, even though the animal still has far to travel to earn a reward.</a:t>
            </a:r>
          </a:p>
          <a:p>
            <a:pPr algn="l">
              <a:lnSpc>
                <a:spcPct val="108000"/>
              </a:lnSpc>
              <a:spcAft>
                <a:spcPts val="960"/>
              </a:spcAft>
            </a:pPr>
            <a:r>
              <a:rPr sz="1600" b="0" i="0">
                <a:solidFill>
                  <a:srgbClr val="000000"/>
                </a:solidFill>
                <a:latin typeface="Arial"/>
              </a:rPr>
              <a:t>The shortest start-to-target distance was 2.5 m. Adjusted lengths therefore express the measured successful routes or estimated completion cost of unsuccessful ones relative to the same destination. Reported decreases in this measure combine more effective target approach with the penalty assigned to stopping short of the goal.</a:t>
            </a:r>
          </a:p>
        </p:txBody>
      </p:sp>
      <p:pic>
        <p:nvPicPr>
          <p:cNvPr id="4" name="Picture 3" descr="l2.png"/>
          <p:cNvPicPr>
            <a:picLocks noChangeAspect="1"/>
          </p:cNvPicPr>
          <p:nvPr/>
        </p:nvPicPr>
        <p:blipFill>
          <a:blip r:embed="rId2"/>
          <a:stretch>
            <a:fillRect/>
          </a:stretch>
        </p:blipFill>
        <p:spPr>
          <a:xfrm>
            <a:off x="6321247" y="1280160"/>
            <a:ext cx="5303520" cy="2623549"/>
          </a:xfrm>
          <a:prstGeom prst="rect">
            <a:avLst/>
          </a:prstGeom>
        </p:spPr>
      </p:pic>
      <p:sp>
        <p:nvSpPr>
          <p:cNvPr id="5" name="Figure caption"/>
          <p:cNvSpPr txBox="1"/>
          <p:nvPr/>
        </p:nvSpPr>
        <p:spPr>
          <a:xfrm>
            <a:off x="6321247" y="399514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2. Definitions of success, endpoint angular error and adjusted route length.</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Baseline training establishes a usable interface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Goldfish began with the original relation between outward orientation and vehicle direction. Early baseline trials often ended away from the target, while late baseline trajectories generally reached it. The animal first had to acquire effective control before experiencing a changed mapping.</a:t>
            </a:r>
          </a:p>
          <a:p>
            <a:pPr algn="l">
              <a:lnSpc>
                <a:spcPct val="108000"/>
              </a:lnSpc>
              <a:spcAft>
                <a:spcPts val="960"/>
              </a:spcAft>
            </a:pPr>
            <a:r>
              <a:rPr sz="1600" b="0" i="0">
                <a:solidFill>
                  <a:srgbClr val="000000"/>
                </a:solidFill>
                <a:latin typeface="Arial"/>
              </a:rPr>
              <a:t>Fish advanced to rotation after maintaining good performance across consecutive sessions. The criterion combined successful arrivals, near-target endpoint direction and limited route length. These measures required more than occasional contact with the rewarded location.</a:t>
            </a:r>
          </a:p>
          <a:p>
            <a:pPr algn="l">
              <a:lnSpc>
                <a:spcPct val="108000"/>
              </a:lnSpc>
              <a:spcAft>
                <a:spcPts val="960"/>
              </a:spcAft>
            </a:pPr>
            <a:r>
              <a:rPr sz="1600" b="0" i="0">
                <a:solidFill>
                  <a:srgbClr val="000000"/>
                </a:solidFill>
                <a:latin typeface="Arial"/>
              </a:rPr>
              <a:t>Adaptation was consequently studied in animals that had already acquired the baseline skill. The baseline stage separated initial learning of the unusual interface from later compensation for rotation. Changes after the perturbation could then be related to an established posture-to-movement mapping rather than the first discovery of vehicle control.</a:t>
            </a:r>
          </a:p>
        </p:txBody>
      </p:sp>
      <p:pic>
        <p:nvPicPr>
          <p:cNvPr id="4" name="Picture 3" descr="l3ab.png"/>
          <p:cNvPicPr>
            <a:picLocks noChangeAspect="1"/>
          </p:cNvPicPr>
          <p:nvPr/>
        </p:nvPicPr>
        <p:blipFill>
          <a:blip r:embed="rId2"/>
          <a:stretch>
            <a:fillRect/>
          </a:stretch>
        </p:blipFill>
        <p:spPr>
          <a:xfrm>
            <a:off x="6321247" y="1280160"/>
            <a:ext cx="5303520" cy="1416468"/>
          </a:xfrm>
          <a:prstGeom prst="rect">
            <a:avLst/>
          </a:prstGeom>
        </p:spPr>
      </p:pic>
      <p:sp>
        <p:nvSpPr>
          <p:cNvPr id="5" name="Figure caption"/>
          <p:cNvSpPr txBox="1"/>
          <p:nvPr/>
        </p:nvSpPr>
        <p:spPr>
          <a:xfrm>
            <a:off x="6321247" y="278806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3(A–B). Early and late baseline trajectories with the published legend.</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Baseline routes become shorter with experience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Across baseline training, Liu’s fitted typical adjusted route length decreased from 6.0 m to 3.2 m. The direct start-to-target distance was 2.5 m. The change expresses a reduction in extra movement while the fish learned to operate the platform.</a:t>
            </a:r>
          </a:p>
          <a:p>
            <a:pPr algn="l">
              <a:lnSpc>
                <a:spcPct val="108000"/>
              </a:lnSpc>
              <a:spcAft>
                <a:spcPts val="960"/>
              </a:spcAft>
            </a:pPr>
            <a:r>
              <a:rPr sz="1600" b="0" i="0">
                <a:solidFill>
                  <a:srgbClr val="000000"/>
                </a:solidFill>
                <a:latin typeface="Arial"/>
              </a:rPr>
              <a:t>Long routes include detours and, for failed trials, an estimate of the remaining movement needed to complete the task. Shorter adjusted distances therefore indicate more efficient use of the interface rather than simply a shorter period of recording.</a:t>
            </a:r>
          </a:p>
          <a:p>
            <a:pPr algn="l">
              <a:lnSpc>
                <a:spcPct val="108000"/>
              </a:lnSpc>
              <a:spcAft>
                <a:spcPts val="960"/>
              </a:spcAft>
            </a:pPr>
            <a:r>
              <a:rPr sz="1600" b="0" i="0">
                <a:solidFill>
                  <a:srgbClr val="000000"/>
                </a:solidFill>
                <a:latin typeface="Arial"/>
              </a:rPr>
              <a:t>Late baseline provided a trained comparison for rotation and washout. Recovery toward a similar distance after a changed mapping means that the fish again approaches the same target with limited extra movement. Efficiency is evaluated against the animal’s acquired vehicle skill rather than an assumed ability to steer perfectly from its first trial.</a:t>
            </a:r>
          </a:p>
        </p:txBody>
      </p:sp>
      <p:pic>
        <p:nvPicPr>
          <p:cNvPr id="4" name="Picture 3" descr="l3fjk.png"/>
          <p:cNvPicPr>
            <a:picLocks noChangeAspect="1"/>
          </p:cNvPicPr>
          <p:nvPr/>
        </p:nvPicPr>
        <p:blipFill>
          <a:blip r:embed="rId2"/>
          <a:stretch>
            <a:fillRect/>
          </a:stretch>
        </p:blipFill>
        <p:spPr>
          <a:xfrm>
            <a:off x="6321247" y="1280160"/>
            <a:ext cx="5303520" cy="1936376"/>
          </a:xfrm>
          <a:prstGeom prst="rect">
            <a:avLst/>
          </a:prstGeom>
        </p:spPr>
      </p:pic>
      <p:sp>
        <p:nvSpPr>
          <p:cNvPr id="5" name="Figure caption"/>
          <p:cNvSpPr txBox="1"/>
          <p:nvPr/>
        </p:nvSpPr>
        <p:spPr>
          <a:xfrm>
            <a:off x="6321247" y="3307976"/>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3(F,J,K). Baseline adjusted distance and fitted performance parameters.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Arrival and endpoint consistency improve together</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Baseline training increased the fitted typical success count from 1.9 to 3.2 arrivals per session. Fish also produced more consistent endpoint directions and shorter adjusted routes. The acquisition of vehicle control therefore changed completion, directional variability and movement efficiency together.</a:t>
            </a:r>
          </a:p>
          <a:p>
            <a:pPr algn="l">
              <a:lnSpc>
                <a:spcPct val="108000"/>
              </a:lnSpc>
              <a:spcAft>
                <a:spcPts val="900"/>
              </a:spcAft>
            </a:pPr>
            <a:r>
              <a:rPr sz="1500" b="0" i="0">
                <a:solidFill>
                  <a:srgbClr val="000000"/>
                </a:solidFill>
                <a:latin typeface="Arial"/>
              </a:rPr>
              <a:t>Success counts describe whether the target was reached, whereas endpoint direction describes the alignment of the trial’s final displacement. The paper reports greater directional consistency during baseline rather than a large correction of the average angle.</a:t>
            </a:r>
          </a:p>
          <a:p>
            <a:pPr algn="l">
              <a:lnSpc>
                <a:spcPct val="108000"/>
              </a:lnSpc>
              <a:spcAft>
                <a:spcPts val="900"/>
              </a:spcAft>
            </a:pPr>
            <a:r>
              <a:rPr sz="1500" b="0" i="0">
                <a:solidFill>
                  <a:srgbClr val="000000"/>
                </a:solidFill>
                <a:latin typeface="Arial"/>
              </a:rPr>
              <a:t>This distinction separates variability from directional bias. Routes can become more consistently aligned with the goal even when their average signed direction changes little. The established baseline supplies both reliable target approach and a reference against which the later rotation-induced bias can be measured.</a:t>
            </a:r>
          </a:p>
        </p:txBody>
      </p:sp>
      <p:pic>
        <p:nvPicPr>
          <p:cNvPr id="4" name="Picture 3" descr="l3cde.png"/>
          <p:cNvPicPr>
            <a:picLocks noChangeAspect="1"/>
          </p:cNvPicPr>
          <p:nvPr/>
        </p:nvPicPr>
        <p:blipFill>
          <a:blip r:embed="rId2"/>
          <a:stretch>
            <a:fillRect/>
          </a:stretch>
        </p:blipFill>
        <p:spPr>
          <a:xfrm>
            <a:off x="6321247" y="1280160"/>
            <a:ext cx="5303520" cy="1748689"/>
          </a:xfrm>
          <a:prstGeom prst="rect">
            <a:avLst/>
          </a:prstGeom>
        </p:spPr>
      </p:pic>
      <p:sp>
        <p:nvSpPr>
          <p:cNvPr id="5" name="Figure caption"/>
          <p:cNvSpPr txBox="1"/>
          <p:nvPr/>
        </p:nvSpPr>
        <p:spPr>
          <a:xfrm>
            <a:off x="6321247" y="312028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3(C–E). Baseline target success and fitted performance parameters.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Early rotation disrupts a previously effective route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first rotated trials altered the route of a fish that had already learned to approach the target. A previously useful tank-relative heading now drove the platform to the right of its former direction. Early paths included detours and endpoints away from the goal.</a:t>
            </a:r>
          </a:p>
          <a:p>
            <a:pPr algn="l">
              <a:lnSpc>
                <a:spcPct val="108000"/>
              </a:lnSpc>
              <a:spcAft>
                <a:spcPts val="960"/>
              </a:spcAft>
            </a:pPr>
            <a:r>
              <a:rPr sz="1600" b="0" i="0">
                <a:solidFill>
                  <a:srgbClr val="000000"/>
                </a:solidFill>
                <a:latin typeface="Arial"/>
              </a:rPr>
              <a:t>With exposure to the changed mapping, late rotation trajectories again approached the target. The same external destination was reached through a changed relationship between detected swimming posture and vehicle movement, rather than by restoring the software to baseline.</a:t>
            </a:r>
          </a:p>
          <a:p>
            <a:pPr algn="l">
              <a:lnSpc>
                <a:spcPct val="108000"/>
              </a:lnSpc>
              <a:spcAft>
                <a:spcPts val="960"/>
              </a:spcAft>
            </a:pPr>
            <a:r>
              <a:rPr sz="1600" b="0" i="0">
                <a:solidFill>
                  <a:srgbClr val="000000"/>
                </a:solidFill>
                <a:latin typeface="Arial"/>
              </a:rPr>
              <a:t>The example fish’s early and late routes connect the imposed perturbation with a recovered behavior. The physical preparation remained available throughout the change. Adaptation concerned selecting useful commands under the rotated relationship, so target-directed performance returned while the altered controller was still active.</a:t>
            </a:r>
          </a:p>
        </p:txBody>
      </p:sp>
      <p:pic>
        <p:nvPicPr>
          <p:cNvPr id="4" name="Picture 3" descr="l4a.png"/>
          <p:cNvPicPr>
            <a:picLocks noChangeAspect="1"/>
          </p:cNvPicPr>
          <p:nvPr/>
        </p:nvPicPr>
        <p:blipFill>
          <a:blip r:embed="rId2"/>
          <a:stretch>
            <a:fillRect/>
          </a:stretch>
        </p:blipFill>
        <p:spPr>
          <a:xfrm>
            <a:off x="6321247" y="1280160"/>
            <a:ext cx="5303520" cy="2474280"/>
          </a:xfrm>
          <a:prstGeom prst="rect">
            <a:avLst/>
          </a:prstGeom>
        </p:spPr>
      </p:pic>
      <p:sp>
        <p:nvSpPr>
          <p:cNvPr id="5" name="Figure caption"/>
          <p:cNvSpPr txBox="1"/>
          <p:nvPr/>
        </p:nvSpPr>
        <p:spPr>
          <a:xfrm>
            <a:off x="6321247" y="38458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4(A). Early and late trajectories before, during and after rotation.</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Directional recovery occurs within the rotated mapping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 the published example fish, fitted endpoint angular error improved from 9.4° to −0.5° during rotation. The rotation remained active during this improvement. The animal therefore recovered an approximately target-aligned final displacement under the changed controller.</a:t>
            </a:r>
          </a:p>
          <a:p>
            <a:pPr algn="l">
              <a:lnSpc>
                <a:spcPct val="108000"/>
              </a:lnSpc>
              <a:spcAft>
                <a:spcPts val="960"/>
              </a:spcAft>
            </a:pPr>
            <a:r>
              <a:rPr sz="1600" b="0" i="0">
                <a:solidFill>
                  <a:srgbClr val="000000"/>
                </a:solidFill>
                <a:latin typeface="Arial"/>
              </a:rPr>
              <a:t>The external command rotation was 45°, but the measured endpoint error was smaller than that imposed angle. Endpoint direction summarizes the completed trajectory, including the animal’s intervening corrections. It is a behavioral outcome rather than a direct readout of the software parameter.</a:t>
            </a:r>
          </a:p>
          <a:p>
            <a:pPr algn="l">
              <a:lnSpc>
                <a:spcPct val="108000"/>
              </a:lnSpc>
              <a:spcAft>
                <a:spcPts val="960"/>
              </a:spcAft>
            </a:pPr>
            <a:r>
              <a:rPr sz="1600" b="0" i="0">
                <a:solidFill>
                  <a:srgbClr val="000000"/>
                </a:solidFill>
                <a:latin typeface="Arial"/>
              </a:rPr>
              <a:t>The distinction connects input perturbation with output performance. A known change is imposed between posture and wheels, and the resulting route changes through the fish’s behavior. Approaching 0° means recovery of endpoint alignment even while the platform still requires a posture different from the baseline steering action.</a:t>
            </a:r>
          </a:p>
        </p:txBody>
      </p:sp>
      <p:pic>
        <p:nvPicPr>
          <p:cNvPr id="4" name="Picture 3" descr="l4c.png"/>
          <p:cNvPicPr>
            <a:picLocks noChangeAspect="1"/>
          </p:cNvPicPr>
          <p:nvPr/>
        </p:nvPicPr>
        <p:blipFill>
          <a:blip r:embed="rId2"/>
          <a:stretch>
            <a:fillRect/>
          </a:stretch>
        </p:blipFill>
        <p:spPr>
          <a:xfrm>
            <a:off x="6321247" y="1280160"/>
            <a:ext cx="5303520" cy="2118808"/>
          </a:xfrm>
          <a:prstGeom prst="rect">
            <a:avLst/>
          </a:prstGeom>
        </p:spPr>
      </p:pic>
      <p:sp>
        <p:nvSpPr>
          <p:cNvPr id="5" name="Figure caption"/>
          <p:cNvSpPr txBox="1"/>
          <p:nvPr/>
        </p:nvSpPr>
        <p:spPr>
          <a:xfrm>
            <a:off x="6321247" y="349040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4(C). Endpoint angular error across baseline, rotation and washout.</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Adaptation reduces excess movement in an example fish</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example fish’s fitted adjusted distance decreased from 6.4 m to 3.7 m during the rotation stage. This improvement occurred as the animal learned to compensate for the changed steering relation. Less extra movement was needed to approach the same rewarded destination.</a:t>
            </a:r>
          </a:p>
          <a:p>
            <a:pPr algn="l">
              <a:lnSpc>
                <a:spcPct val="108000"/>
              </a:lnSpc>
              <a:spcAft>
                <a:spcPts val="960"/>
              </a:spcAft>
            </a:pPr>
            <a:r>
              <a:rPr sz="1600" b="0" i="0">
                <a:solidFill>
                  <a:srgbClr val="000000"/>
                </a:solidFill>
                <a:latin typeface="Arial"/>
              </a:rPr>
              <a:t>Adjusted distance combines actual trajectory length with estimated completion distance on failed trials. Its reduction therefore captures both shorter successful routes and movement that ends closer to effective completion. Directional error alone would not preserve that information about detours.</a:t>
            </a:r>
          </a:p>
          <a:p>
            <a:pPr algn="l">
              <a:lnSpc>
                <a:spcPct val="108000"/>
              </a:lnSpc>
              <a:spcAft>
                <a:spcPts val="960"/>
              </a:spcAft>
            </a:pPr>
            <a:r>
              <a:rPr sz="1600" b="0" i="0">
                <a:solidFill>
                  <a:srgbClr val="000000"/>
                </a:solidFill>
                <a:latin typeface="Arial"/>
              </a:rPr>
              <a:t>The vehicle’s mechanical response remains part of the task while behavior changes. The fish uses repeated posture commands to guide a moving platform rather than performing one instantaneous turn. Recovery of route efficiency describes the coordinated consequence of those commands across an entire target-directed trial.</a:t>
            </a:r>
          </a:p>
        </p:txBody>
      </p:sp>
      <p:pic>
        <p:nvPicPr>
          <p:cNvPr id="4" name="Picture 3" descr="l4d.png"/>
          <p:cNvPicPr>
            <a:picLocks noChangeAspect="1"/>
          </p:cNvPicPr>
          <p:nvPr/>
        </p:nvPicPr>
        <p:blipFill>
          <a:blip r:embed="rId2"/>
          <a:stretch>
            <a:fillRect/>
          </a:stretch>
        </p:blipFill>
        <p:spPr>
          <a:xfrm>
            <a:off x="6321247" y="1280160"/>
            <a:ext cx="5303520" cy="2289240"/>
          </a:xfrm>
          <a:prstGeom prst="rect">
            <a:avLst/>
          </a:prstGeom>
        </p:spPr>
      </p:pic>
      <p:sp>
        <p:nvSpPr>
          <p:cNvPr id="5" name="Figure caption"/>
          <p:cNvSpPr txBox="1"/>
          <p:nvPr/>
        </p:nvSpPr>
        <p:spPr>
          <a:xfrm>
            <a:off x="6321247" y="366084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4(D). Adjusted distance across baseline, rotation and washout.</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More trials reach the target during 45° adaptation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Across the 45° condition, the fitted typical number of successful arrivals increased from 1.9 to 3.4 per session during adaptation. Each session offered six trials. The changed command relationship initially disrupted task completion, followed by recovery with repeated exposure.</a:t>
            </a:r>
          </a:p>
          <a:p>
            <a:pPr algn="l">
              <a:lnSpc>
                <a:spcPct val="108000"/>
              </a:lnSpc>
              <a:spcAft>
                <a:spcPts val="960"/>
              </a:spcAft>
            </a:pPr>
            <a:r>
              <a:rPr sz="1600" b="0" i="0">
                <a:solidFill>
                  <a:srgbClr val="000000"/>
                </a:solidFill>
                <a:latin typeface="Arial"/>
              </a:rPr>
              <a:t>The reward location stayed fixed while the required steering action changed. A growing success count therefore reflects acquisition of useful control under the perturbation. The animal could continue recognizing the target even when its original action no longer advanced the platform directly toward it.</a:t>
            </a:r>
          </a:p>
          <a:p>
            <a:pPr algn="l">
              <a:lnSpc>
                <a:spcPct val="108000"/>
              </a:lnSpc>
              <a:spcAft>
                <a:spcPts val="960"/>
              </a:spcAft>
            </a:pPr>
            <a:r>
              <a:rPr sz="1600" b="0" i="0">
                <a:solidFill>
                  <a:srgbClr val="000000"/>
                </a:solidFill>
                <a:latin typeface="Arial"/>
              </a:rPr>
              <a:t>Late performance approached the trained baseline level. Recovery was expressed through the animal’s behavior while the rotated mapping remained active, rather than through removal of the challenge. Successful arrivals connect compensation for the changed movement consequences with continued access to the food reward.</a:t>
            </a:r>
          </a:p>
        </p:txBody>
      </p:sp>
      <p:pic>
        <p:nvPicPr>
          <p:cNvPr id="4" name="Picture 3" descr="l5a.png"/>
          <p:cNvPicPr>
            <a:picLocks noChangeAspect="1"/>
          </p:cNvPicPr>
          <p:nvPr/>
        </p:nvPicPr>
        <p:blipFill>
          <a:blip r:embed="rId2"/>
          <a:stretch>
            <a:fillRect/>
          </a:stretch>
        </p:blipFill>
        <p:spPr>
          <a:xfrm>
            <a:off x="6321247" y="1280160"/>
            <a:ext cx="5303520" cy="2048395"/>
          </a:xfrm>
          <a:prstGeom prst="rect">
            <a:avLst/>
          </a:prstGeom>
        </p:spPr>
      </p:pic>
      <p:sp>
        <p:nvSpPr>
          <p:cNvPr id="5" name="Figure caption"/>
          <p:cNvSpPr txBox="1"/>
          <p:nvPr/>
        </p:nvSpPr>
        <p:spPr>
          <a:xfrm>
            <a:off x="6321247" y="341999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5(A). Target success during 45° adaptation and washout.</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The 45° condition loses its directional bias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Liu reported a fitted typical endpoint angular error of 11.4° early in the 45° rotation stage and 0.1° later in that stage. The decrease represents recovery of target-aligned displacement during continued exposure to the perturbation.</a:t>
            </a:r>
          </a:p>
          <a:p>
            <a:pPr algn="l">
              <a:lnSpc>
                <a:spcPct val="108000"/>
              </a:lnSpc>
              <a:spcAft>
                <a:spcPts val="960"/>
              </a:spcAft>
            </a:pPr>
            <a:r>
              <a:rPr sz="1600" b="0" i="0">
                <a:solidFill>
                  <a:srgbClr val="000000"/>
                </a:solidFill>
                <a:latin typeface="Arial"/>
              </a:rPr>
              <a:t>The fish’s body orientation determines the wheel command, but angular error is measured from the arena trajectory’s start and endpoint. A correction in this measure means that the vehicle finishes in a more useful direction, not that the software rotation has become smaller.</a:t>
            </a:r>
          </a:p>
          <a:p>
            <a:pPr algn="l">
              <a:lnSpc>
                <a:spcPct val="108000"/>
              </a:lnSpc>
              <a:spcAft>
                <a:spcPts val="960"/>
              </a:spcAft>
            </a:pPr>
            <a:r>
              <a:rPr sz="1600" b="0" i="0">
                <a:solidFill>
                  <a:srgbClr val="000000"/>
                </a:solidFill>
                <a:latin typeface="Arial"/>
              </a:rPr>
              <a:t>Adaptation changes the command the animal supplies to an unchanged rotated controller. The target continues to define the desired external direction. Experience therefore restores the relationship between the chosen posture and successful approach by changing behavior within the altered action-to-movement mapping.</a:t>
            </a:r>
          </a:p>
        </p:txBody>
      </p:sp>
      <p:pic>
        <p:nvPicPr>
          <p:cNvPr id="4" name="Picture 3" descr="l5b.png"/>
          <p:cNvPicPr>
            <a:picLocks noChangeAspect="1"/>
          </p:cNvPicPr>
          <p:nvPr/>
        </p:nvPicPr>
        <p:blipFill>
          <a:blip r:embed="rId2"/>
          <a:stretch>
            <a:fillRect/>
          </a:stretch>
        </p:blipFill>
        <p:spPr>
          <a:xfrm>
            <a:off x="6321247" y="1280160"/>
            <a:ext cx="5303520" cy="1971821"/>
          </a:xfrm>
          <a:prstGeom prst="rect">
            <a:avLst/>
          </a:prstGeom>
        </p:spPr>
      </p:pic>
      <p:sp>
        <p:nvSpPr>
          <p:cNvPr id="5" name="Figure caption"/>
          <p:cNvSpPr txBox="1"/>
          <p:nvPr/>
        </p:nvSpPr>
        <p:spPr>
          <a:xfrm>
            <a:off x="6321247" y="334342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5(B). Angular errors during 45° adaptation and washout.</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Late rotated routes approach trained efficiency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fitted late adjusted distance in the 45° rotation condition was approximately 3.8 m, compared with 3.2 m at late baseline. Both values refer to approach toward the same target, whose direct distance from the start was 2.5 m.</a:t>
            </a:r>
          </a:p>
          <a:p>
            <a:pPr algn="l">
              <a:lnSpc>
                <a:spcPct val="108000"/>
              </a:lnSpc>
              <a:spcAft>
                <a:spcPts val="960"/>
              </a:spcAft>
            </a:pPr>
            <a:r>
              <a:rPr sz="1600" b="0" i="0">
                <a:solidFill>
                  <a:srgbClr val="000000"/>
                </a:solidFill>
                <a:latin typeface="Arial"/>
              </a:rPr>
              <a:t>Rotation learning reduced the extra movement associated with the changed control relationship. Success and endpoint direction recovered alongside this reduction. The animal regained a useful route through the arena rather than merely arriving by increasingly long exploratory paths.</a:t>
            </a:r>
          </a:p>
          <a:p>
            <a:pPr algn="l">
              <a:lnSpc>
                <a:spcPct val="108000"/>
              </a:lnSpc>
              <a:spcAft>
                <a:spcPts val="960"/>
              </a:spcAft>
            </a:pPr>
            <a:r>
              <a:rPr sz="1600" b="0" i="0">
                <a:solidFill>
                  <a:srgbClr val="000000"/>
                </a:solidFill>
                <a:latin typeface="Arial"/>
              </a:rPr>
              <a:t>Comparable late performance can emerge under different steering mappings. Baseline and rotation require different orientations to produce the desired external direction, yet each can support efficient approach after training. The learned behavior depends on the currently experienced relationship between aquatic posture and terrestrial displacement.</a:t>
            </a:r>
          </a:p>
        </p:txBody>
      </p:sp>
      <p:pic>
        <p:nvPicPr>
          <p:cNvPr id="4" name="Picture 3" descr="l5c.png"/>
          <p:cNvPicPr>
            <a:picLocks noChangeAspect="1"/>
          </p:cNvPicPr>
          <p:nvPr/>
        </p:nvPicPr>
        <p:blipFill>
          <a:blip r:embed="rId2"/>
          <a:stretch>
            <a:fillRect/>
          </a:stretch>
        </p:blipFill>
        <p:spPr>
          <a:xfrm>
            <a:off x="6321247" y="1280160"/>
            <a:ext cx="5303520" cy="2019230"/>
          </a:xfrm>
          <a:prstGeom prst="rect">
            <a:avLst/>
          </a:prstGeom>
        </p:spPr>
      </p:pic>
      <p:sp>
        <p:nvSpPr>
          <p:cNvPr id="5" name="Figure caption"/>
          <p:cNvSpPr txBox="1"/>
          <p:nvPr/>
        </p:nvSpPr>
        <p:spPr>
          <a:xfrm>
            <a:off x="6321247" y="339083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5(C). Adjusted distances during 45° adaptation and washout.</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Removing rotation exposes an opposite-direction error</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5B3E45"/>
                </a:solidFill>
                <a:latin typeface="Arial"/>
              </a:rPr>
              <a:t>aftereffect</a:t>
            </a:r>
            <a:r>
              <a:rPr sz="1600" b="0" i="0">
                <a:solidFill>
                  <a:srgbClr val="000000"/>
                </a:solidFill>
                <a:latin typeface="Arial"/>
              </a:rPr>
              <a:t> is a persisting behavioral change expressed after a perturbation is removed. When Liu restored the baseline steering mapping, fish initially made errors in the direction opposite to the earlier rotated error. The changed behavior outlasted the controller setting that had induced it.</a:t>
            </a:r>
          </a:p>
          <a:p>
            <a:pPr algn="l">
              <a:lnSpc>
                <a:spcPct val="108000"/>
              </a:lnSpc>
              <a:spcAft>
                <a:spcPts val="960"/>
              </a:spcAft>
            </a:pPr>
            <a:r>
              <a:rPr sz="1600" b="0" i="0">
                <a:solidFill>
                  <a:srgbClr val="000000"/>
                </a:solidFill>
                <a:latin typeface="Arial"/>
              </a:rPr>
              <a:t>The paper reports an early negative directional bias of roughly −6° in washout. Under the restored mapping, compensation appropriate for the previous rightward rotation misdirected the vehicle in the opposite direction. Subsequent experience returned performance toward the baseline relation.</a:t>
            </a:r>
          </a:p>
          <a:p>
            <a:pPr algn="l">
              <a:lnSpc>
                <a:spcPct val="108000"/>
              </a:lnSpc>
              <a:spcAft>
                <a:spcPts val="960"/>
              </a:spcAft>
            </a:pPr>
            <a:r>
              <a:rPr sz="1600" b="0" i="0">
                <a:solidFill>
                  <a:srgbClr val="000000"/>
                </a:solidFill>
                <a:latin typeface="Arial"/>
              </a:rPr>
              <a:t>The authors’ internal-model hypothesis links this persistence to a learned prediction of movement consequences. Compensation is retained briefly when the software no longer requires it. Opposite-direction errors therefore distinguish acquired adaptation from a response that exists only while the external perturbation is present.</a:t>
            </a:r>
          </a:p>
        </p:txBody>
      </p:sp>
      <p:pic>
        <p:nvPicPr>
          <p:cNvPr id="4" name="Picture 3" descr="l5b.png"/>
          <p:cNvPicPr>
            <a:picLocks noChangeAspect="1"/>
          </p:cNvPicPr>
          <p:nvPr/>
        </p:nvPicPr>
        <p:blipFill>
          <a:blip r:embed="rId2"/>
          <a:stretch>
            <a:fillRect/>
          </a:stretch>
        </p:blipFill>
        <p:spPr>
          <a:xfrm>
            <a:off x="6321247" y="1280160"/>
            <a:ext cx="5303520" cy="1971821"/>
          </a:xfrm>
          <a:prstGeom prst="rect">
            <a:avLst/>
          </a:prstGeom>
        </p:spPr>
      </p:pic>
      <p:sp>
        <p:nvSpPr>
          <p:cNvPr id="5" name="Figure caption"/>
          <p:cNvSpPr txBox="1"/>
          <p:nvPr/>
        </p:nvSpPr>
        <p:spPr>
          <a:xfrm>
            <a:off x="6321247" y="334342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5(B). Angular errors during 45° adaptation and washout.</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Washout relearns the restored command relationship</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B3E45"/>
                </a:solidFill>
                <a:latin typeface="Arial"/>
              </a:rPr>
              <a:t>Washout</a:t>
            </a:r>
            <a:r>
              <a:rPr sz="1600" b="0" i="0">
                <a:solidFill>
                  <a:srgbClr val="000000"/>
                </a:solidFill>
                <a:latin typeface="Arial"/>
              </a:rPr>
              <a:t> is the reduction of an adapted response after the perturbation is removed. The vehicle again moved in the direction commanded by outward fish orientation, but the behavior carried over from rotation initially produced misdirected routes.</a:t>
            </a:r>
          </a:p>
          <a:p>
            <a:pPr algn="l">
              <a:lnSpc>
                <a:spcPct val="108000"/>
              </a:lnSpc>
              <a:spcAft>
                <a:spcPts val="960"/>
              </a:spcAft>
            </a:pPr>
            <a:r>
              <a:rPr sz="1600" b="0" i="0">
                <a:solidFill>
                  <a:srgbClr val="000000"/>
                </a:solidFill>
                <a:latin typeface="Arial"/>
              </a:rPr>
              <a:t>Late washout trajectories returned toward effective target approach. The same learning preparation now required reducing a compensation that had been useful in the preceding stage. Experience with the restored consequences brought behavior back toward the trained baseline pattern.</a:t>
            </a:r>
          </a:p>
          <a:p>
            <a:pPr algn="l">
              <a:lnSpc>
                <a:spcPct val="108000"/>
              </a:lnSpc>
              <a:spcAft>
                <a:spcPts val="960"/>
              </a:spcAft>
            </a:pPr>
            <a:r>
              <a:rPr sz="1600" b="0" i="0">
                <a:solidFill>
                  <a:srgbClr val="000000"/>
                </a:solidFill>
                <a:latin typeface="Arial"/>
              </a:rPr>
              <a:t>Adaptation and washout therefore involve different histories under the same physical apparatus. Baseline establishes useful control without prior rotation, while washout re-establishes it after a learned compensation. The difference between their early behavior identifies the lasting effect of the intervening rotated experience.</a:t>
            </a:r>
          </a:p>
        </p:txBody>
      </p:sp>
      <p:pic>
        <p:nvPicPr>
          <p:cNvPr id="4" name="Picture 3" descr="l4a.png"/>
          <p:cNvPicPr>
            <a:picLocks noChangeAspect="1"/>
          </p:cNvPicPr>
          <p:nvPr/>
        </p:nvPicPr>
        <p:blipFill>
          <a:blip r:embed="rId2"/>
          <a:stretch>
            <a:fillRect/>
          </a:stretch>
        </p:blipFill>
        <p:spPr>
          <a:xfrm>
            <a:off x="6321247" y="1280160"/>
            <a:ext cx="5303520" cy="2474280"/>
          </a:xfrm>
          <a:prstGeom prst="rect">
            <a:avLst/>
          </a:prstGeom>
        </p:spPr>
      </p:pic>
      <p:sp>
        <p:nvSpPr>
          <p:cNvPr id="5" name="Figure caption"/>
          <p:cNvSpPr txBox="1"/>
          <p:nvPr/>
        </p:nvSpPr>
        <p:spPr>
          <a:xfrm>
            <a:off x="6321247" y="38458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4(A). Early and late trajectories before, during and after rotation.</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A 90° perturbation produces larger directional errors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separate condition rotated vehicle commands 90° relative to the fish’s orientation. The fitted typical endpoint error began at 57.0° and decreased to 7.3° during training. Goldfish adapted even when the changed movement direction was substantially larger than in the 45° condition.</a:t>
            </a:r>
          </a:p>
          <a:p>
            <a:pPr algn="l">
              <a:lnSpc>
                <a:spcPct val="108000"/>
              </a:lnSpc>
              <a:spcAft>
                <a:spcPts val="960"/>
              </a:spcAft>
            </a:pPr>
            <a:r>
              <a:rPr sz="1600" b="0" i="0">
                <a:solidFill>
                  <a:srgbClr val="000000"/>
                </a:solidFill>
                <a:latin typeface="Arial"/>
              </a:rPr>
              <a:t>The imposed rotation and endpoint error remain different quantities. The first is specified by the controller; the second includes the behavioral consequences of the fish’s movements throughout the trial. Improvement describes external steering performance under the continued perturbation.</a:t>
            </a:r>
          </a:p>
          <a:p>
            <a:pPr algn="l">
              <a:lnSpc>
                <a:spcPct val="108000"/>
              </a:lnSpc>
              <a:spcAft>
                <a:spcPts val="960"/>
              </a:spcAft>
            </a:pPr>
            <a:r>
              <a:rPr sz="1600" b="0" i="0">
                <a:solidFill>
                  <a:srgbClr val="000000"/>
                </a:solidFill>
                <a:latin typeface="Arial"/>
              </a:rPr>
              <a:t>The larger rotation challenged the established relation more severely. Compensation nevertheless brought the final displacement closer to the target direction. This condition extends the behavioral adaptation result beyond one perturbation size while retaining the same principle of changing software between detected posture and motor output.</a:t>
            </a:r>
          </a:p>
        </p:txBody>
      </p:sp>
      <p:pic>
        <p:nvPicPr>
          <p:cNvPr id="4" name="Picture 3" descr="l6b.png"/>
          <p:cNvPicPr>
            <a:picLocks noChangeAspect="1"/>
          </p:cNvPicPr>
          <p:nvPr/>
        </p:nvPicPr>
        <p:blipFill>
          <a:blip r:embed="rId2"/>
          <a:stretch>
            <a:fillRect/>
          </a:stretch>
        </p:blipFill>
        <p:spPr>
          <a:xfrm>
            <a:off x="6321247" y="1280160"/>
            <a:ext cx="5303520" cy="1996973"/>
          </a:xfrm>
          <a:prstGeom prst="rect">
            <a:avLst/>
          </a:prstGeom>
        </p:spPr>
      </p:pic>
      <p:sp>
        <p:nvSpPr>
          <p:cNvPr id="5" name="Figure caption"/>
          <p:cNvSpPr txBox="1"/>
          <p:nvPr/>
        </p:nvSpPr>
        <p:spPr>
          <a:xfrm>
            <a:off x="6321247" y="336857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6(B). Angular errors during 90° adaptation and washout.</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Directional adaptation can coexist with few arrivals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 the 90° condition, fitted target success increased from approximately zero to 1.3 arrivals per session. Endpoint direction improved considerably during the same condition. Directional recovery and task completion therefore need not return to the same level together.</a:t>
            </a:r>
          </a:p>
          <a:p>
            <a:pPr algn="l">
              <a:lnSpc>
                <a:spcPct val="108000"/>
              </a:lnSpc>
              <a:spcAft>
                <a:spcPts val="960"/>
              </a:spcAft>
            </a:pPr>
            <a:r>
              <a:rPr sz="1600" b="0" i="0">
                <a:solidFill>
                  <a:srgbClr val="000000"/>
                </a:solidFill>
                <a:latin typeface="Arial"/>
              </a:rPr>
              <a:t>Angular error evaluates where a trajectory ends relative to the target direction, while successful arrival requires entering the target area. A vehicle can become better aligned yet still stop short, take an inefficient path or fail to complete the approach within the trial.</a:t>
            </a:r>
          </a:p>
          <a:p>
            <a:pPr algn="l">
              <a:lnSpc>
                <a:spcPct val="108000"/>
              </a:lnSpc>
              <a:spcAft>
                <a:spcPts val="960"/>
              </a:spcAft>
            </a:pPr>
            <a:r>
              <a:rPr sz="1600" b="0" i="0">
                <a:solidFill>
                  <a:srgbClr val="000000"/>
                </a:solidFill>
                <a:latin typeface="Arial"/>
              </a:rPr>
              <a:t>The larger perturbation separates these behavioral achievements. Improved steering direction changes the animal’s approach, but completed access to the food reward remains relatively infrequent. Measuring success together with angle preserves the difference between compensation for a directional mismatch and reliable completion of the whole task.</a:t>
            </a:r>
          </a:p>
        </p:txBody>
      </p:sp>
      <p:pic>
        <p:nvPicPr>
          <p:cNvPr id="4" name="Picture 3" descr="l6a.png"/>
          <p:cNvPicPr>
            <a:picLocks noChangeAspect="1"/>
          </p:cNvPicPr>
          <p:nvPr/>
        </p:nvPicPr>
        <p:blipFill>
          <a:blip r:embed="rId2"/>
          <a:stretch>
            <a:fillRect/>
          </a:stretch>
        </p:blipFill>
        <p:spPr>
          <a:xfrm>
            <a:off x="6321247" y="1280160"/>
            <a:ext cx="5303520" cy="2035071"/>
          </a:xfrm>
          <a:prstGeom prst="rect">
            <a:avLst/>
          </a:prstGeom>
        </p:spPr>
      </p:pic>
      <p:sp>
        <p:nvSpPr>
          <p:cNvPr id="5" name="Figure caption"/>
          <p:cNvSpPr txBox="1"/>
          <p:nvPr/>
        </p:nvSpPr>
        <p:spPr>
          <a:xfrm>
            <a:off x="6321247" y="340667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6(A). Target success during 90° adaptation and washout.</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The 90° condition retains an efficiency cost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Adjusted distance in the 90° condition decreased from 11.6 m to 4.6 m during adaptation. The direct start-to-target distance was 2.5 m. Training greatly reduced the excess movement while leaving a longer late route than the geometric minimum.</a:t>
            </a:r>
          </a:p>
          <a:p>
            <a:pPr algn="l">
              <a:lnSpc>
                <a:spcPct val="108000"/>
              </a:lnSpc>
              <a:spcAft>
                <a:spcPts val="960"/>
              </a:spcAft>
            </a:pPr>
            <a:r>
              <a:rPr sz="1600" b="0" i="0">
                <a:solidFill>
                  <a:srgbClr val="000000"/>
                </a:solidFill>
                <a:latin typeface="Arial"/>
              </a:rPr>
              <a:t>This measure includes the estimated remaining cost of unsuccessful trials, so its improvement combines shorter paths with endpoints that permit more effective completion. The decrease accompanied directional compensation under the larger rotated mapping.</a:t>
            </a:r>
          </a:p>
          <a:p>
            <a:pPr algn="l">
              <a:lnSpc>
                <a:spcPct val="108000"/>
              </a:lnSpc>
              <a:spcAft>
                <a:spcPts val="960"/>
              </a:spcAft>
            </a:pPr>
            <a:r>
              <a:rPr sz="1600" b="0" i="0">
                <a:solidFill>
                  <a:srgbClr val="000000"/>
                </a:solidFill>
                <a:latin typeface="Arial"/>
              </a:rPr>
              <a:t>The three outcomes describe different consequences of adaptation: the endpoint becomes better aligned, excess movement falls, and more trials reach the rewarded destination. Their incomplete recovery under 90° rotation preserves a measurable constraint on performance even though the animal learns a useful correction to the altered steering relationship.</a:t>
            </a:r>
          </a:p>
        </p:txBody>
      </p:sp>
      <p:pic>
        <p:nvPicPr>
          <p:cNvPr id="4" name="Picture 3" descr="l6c.png"/>
          <p:cNvPicPr>
            <a:picLocks noChangeAspect="1"/>
          </p:cNvPicPr>
          <p:nvPr/>
        </p:nvPicPr>
        <p:blipFill>
          <a:blip r:embed="rId2"/>
          <a:stretch>
            <a:fillRect/>
          </a:stretch>
        </p:blipFill>
        <p:spPr>
          <a:xfrm>
            <a:off x="6321247" y="1280160"/>
            <a:ext cx="5303520" cy="1979722"/>
          </a:xfrm>
          <a:prstGeom prst="rect">
            <a:avLst/>
          </a:prstGeom>
        </p:spPr>
      </p:pic>
      <p:sp>
        <p:nvSpPr>
          <p:cNvPr id="5" name="Figure caption"/>
          <p:cNvSpPr txBox="1"/>
          <p:nvPr/>
        </p:nvSpPr>
        <p:spPr>
          <a:xfrm>
            <a:off x="6321247" y="335132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6(C). Adjusted distances during 90° adaptation and washout.</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Re-exposure tests the history of a learned perturbation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After washout, Liu reintroduced the same 45° rotation. The animals had already experienced both adaptation and restoration of the baseline mapping. Re-exposure tested how that learning history affected another encounter with the same control change.</a:t>
            </a:r>
          </a:p>
          <a:p>
            <a:pPr algn="l">
              <a:lnSpc>
                <a:spcPct val="108000"/>
              </a:lnSpc>
              <a:spcAft>
                <a:spcPts val="960"/>
              </a:spcAft>
            </a:pPr>
            <a:r>
              <a:rPr sz="1600" b="0" i="0">
                <a:solidFill>
                  <a:srgbClr val="000000"/>
                </a:solidFill>
                <a:latin typeface="Arial"/>
              </a:rPr>
              <a:t>Early re-exposure again produced less effective trajectories, followed by more target-directed late routes. The software manipulation was repeated rather than replaced with a new angle. The behavioral comparison could therefore distinguish first acquisition from performance after earlier experience.</a:t>
            </a:r>
          </a:p>
          <a:p>
            <a:pPr algn="l">
              <a:lnSpc>
                <a:spcPct val="108000"/>
              </a:lnSpc>
              <a:spcAft>
                <a:spcPts val="960"/>
              </a:spcAft>
            </a:pPr>
            <a:r>
              <a:rPr sz="1600" b="0" i="0">
                <a:solidFill>
                  <a:srgbClr val="000000"/>
                </a:solidFill>
                <a:latin typeface="Arial"/>
              </a:rPr>
              <a:t>The following final stage removed rotation once more. This second restoration tested continued operation under the baseline relationship after re-exposure. The sequence preserves the external target while changing the history of the posture-to-vehicle mapping, allowing retained performance and learning rate to be examined separately.</a:t>
            </a:r>
          </a:p>
        </p:txBody>
      </p:sp>
      <p:pic>
        <p:nvPicPr>
          <p:cNvPr id="4" name="Picture 3" descr="l7a.png"/>
          <p:cNvPicPr>
            <a:picLocks noChangeAspect="1"/>
          </p:cNvPicPr>
          <p:nvPr/>
        </p:nvPicPr>
        <p:blipFill>
          <a:blip r:embed="rId2"/>
          <a:stretch>
            <a:fillRect/>
          </a:stretch>
        </p:blipFill>
        <p:spPr>
          <a:xfrm>
            <a:off x="6321247" y="1280160"/>
            <a:ext cx="5303520" cy="2463673"/>
          </a:xfrm>
          <a:prstGeom prst="rect">
            <a:avLst/>
          </a:prstGeom>
        </p:spPr>
      </p:pic>
      <p:sp>
        <p:nvSpPr>
          <p:cNvPr id="5" name="Figure caption"/>
          <p:cNvSpPr txBox="1"/>
          <p:nvPr/>
        </p:nvSpPr>
        <p:spPr>
          <a:xfrm>
            <a:off x="6321247" y="383527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7(A). Early and late trajectories during re-exposure and final washout.</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Second exposure improves the achieved performance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During re-exposure, fitted typical success increased from 2.4 to 3.7 arrivals per session. The animals again learned useful operation under the 45° rotation. Their starting performance was somewhat better than the corresponding estimate during the first rotation stage.</a:t>
            </a:r>
          </a:p>
          <a:p>
            <a:pPr algn="l">
              <a:lnSpc>
                <a:spcPct val="108000"/>
              </a:lnSpc>
              <a:spcAft>
                <a:spcPts val="960"/>
              </a:spcAft>
            </a:pPr>
            <a:r>
              <a:rPr sz="1600" b="0" i="0">
                <a:solidFill>
                  <a:srgbClr val="000000"/>
                </a:solidFill>
                <a:latin typeface="Arial"/>
              </a:rPr>
              <a:t>Improved performance at the beginning of an encounter is different from faster improvement during that encounter. Retained experience can change the starting point, the late achieved level or the rate connecting them. These quantities describe distinct consequences of prior learning.</a:t>
            </a:r>
          </a:p>
          <a:p>
            <a:pPr algn="l">
              <a:lnSpc>
                <a:spcPct val="108000"/>
              </a:lnSpc>
              <a:spcAft>
                <a:spcPts val="960"/>
              </a:spcAft>
            </a:pPr>
            <a:r>
              <a:rPr sz="1600" b="0" i="0">
                <a:solidFill>
                  <a:srgbClr val="000000"/>
                </a:solidFill>
                <a:latin typeface="Arial"/>
              </a:rPr>
              <a:t>The second-exposure routes became effective while the perturbation remained active. Repeated experience supported renewed access to the food reward through the altered steering relationship. Comparison with the first exposure must retain the separate behavioral meanings of initial success, late success and the speed of their change.</a:t>
            </a:r>
          </a:p>
        </p:txBody>
      </p:sp>
      <p:pic>
        <p:nvPicPr>
          <p:cNvPr id="4" name="Picture 3" descr="l7b.png"/>
          <p:cNvPicPr>
            <a:picLocks noChangeAspect="1"/>
          </p:cNvPicPr>
          <p:nvPr/>
        </p:nvPicPr>
        <p:blipFill>
          <a:blip r:embed="rId2"/>
          <a:stretch>
            <a:fillRect/>
          </a:stretch>
        </p:blipFill>
        <p:spPr>
          <a:xfrm>
            <a:off x="6321247" y="1280160"/>
            <a:ext cx="5303520" cy="1469415"/>
          </a:xfrm>
          <a:prstGeom prst="rect">
            <a:avLst/>
          </a:prstGeom>
        </p:spPr>
      </p:pic>
      <p:sp>
        <p:nvSpPr>
          <p:cNvPr id="5" name="Figure caption"/>
          <p:cNvSpPr txBox="1"/>
          <p:nvPr/>
        </p:nvSpPr>
        <p:spPr>
          <a:xfrm>
            <a:off x="6321247" y="284101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7(B). Target success during re-exposure and final washout.</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Re-exposure again corrects endpoint direction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Fitted endpoint angular error changed from 11.0° to −3.0° during the second rotation exposure. The vehicle’s final displacement again became closely aligned with the target direction as the animal operated under the previously encountered perturbation.</a:t>
            </a:r>
          </a:p>
          <a:p>
            <a:pPr algn="l">
              <a:lnSpc>
                <a:spcPct val="108000"/>
              </a:lnSpc>
              <a:spcAft>
                <a:spcPts val="960"/>
              </a:spcAft>
            </a:pPr>
            <a:r>
              <a:rPr sz="1600" b="0" i="0">
                <a:solidFill>
                  <a:srgbClr val="000000"/>
                </a:solidFill>
                <a:latin typeface="Arial"/>
              </a:rPr>
              <a:t>The initial error was smaller than a complete uncorrected 45° command mismatch. Its value summarizes the external trajectory after the fish’s intervening movement and correction. The comparison therefore concerns achieved steering performance rather than treating endpoint angle as a direct measure of the imposed rotation.</a:t>
            </a:r>
          </a:p>
          <a:p>
            <a:pPr algn="l">
              <a:lnSpc>
                <a:spcPct val="108000"/>
              </a:lnSpc>
              <a:spcAft>
                <a:spcPts val="960"/>
              </a:spcAft>
            </a:pPr>
            <a:r>
              <a:rPr sz="1600" b="0" i="0">
                <a:solidFill>
                  <a:srgbClr val="000000"/>
                </a:solidFill>
                <a:latin typeface="Arial"/>
              </a:rPr>
              <a:t>Repeated exposure restored target-directed behavior, but its initial correction rate was slower than on first exposure. Directional performance and the speed of adaptation are separate observations. A fish can begin an encounter in a better state and still change more slowly over the following sessions.</a:t>
            </a:r>
          </a:p>
        </p:txBody>
      </p:sp>
      <p:pic>
        <p:nvPicPr>
          <p:cNvPr id="4" name="Picture 3" descr="l7c.png"/>
          <p:cNvPicPr>
            <a:picLocks noChangeAspect="1"/>
          </p:cNvPicPr>
          <p:nvPr/>
        </p:nvPicPr>
        <p:blipFill>
          <a:blip r:embed="rId2"/>
          <a:stretch>
            <a:fillRect/>
          </a:stretch>
        </p:blipFill>
        <p:spPr>
          <a:xfrm>
            <a:off x="6321247" y="1280160"/>
            <a:ext cx="5303520" cy="1428441"/>
          </a:xfrm>
          <a:prstGeom prst="rect">
            <a:avLst/>
          </a:prstGeom>
        </p:spPr>
      </p:pic>
      <p:sp>
        <p:nvSpPr>
          <p:cNvPr id="5" name="Figure caption"/>
          <p:cNvSpPr txBox="1"/>
          <p:nvPr/>
        </p:nvSpPr>
        <p:spPr>
          <a:xfrm>
            <a:off x="6321247" y="280004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7(C). Angular error during re-exposure and final washout.</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Repeated exposure reduces adjusted route length</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fitted typical adjusted distance decreased from 5.1 m to 3.6 m during re-exposure. The same target and start-to-target geometry were retained. The fish regained a relatively efficient external route while compensating for the repeated 45° mapping.</a:t>
            </a:r>
          </a:p>
          <a:p>
            <a:pPr algn="l">
              <a:lnSpc>
                <a:spcPct val="108000"/>
              </a:lnSpc>
              <a:spcAft>
                <a:spcPts val="960"/>
              </a:spcAft>
            </a:pPr>
            <a:r>
              <a:rPr sz="1600" b="0" i="0">
                <a:solidFill>
                  <a:srgbClr val="000000"/>
                </a:solidFill>
                <a:latin typeface="Arial"/>
              </a:rPr>
              <a:t>The decrease includes both actual successful route lengths and estimated completion costs for unsuccessful trials. It connects renewed steering skill with reduced excess movement across the session rather than assigning equal efficiency to every trial that earned food.</a:t>
            </a:r>
          </a:p>
          <a:p>
            <a:pPr algn="l">
              <a:lnSpc>
                <a:spcPct val="108000"/>
              </a:lnSpc>
              <a:spcAft>
                <a:spcPts val="960"/>
              </a:spcAft>
            </a:pPr>
            <a:r>
              <a:rPr sz="1600" b="0" i="0">
                <a:solidFill>
                  <a:srgbClr val="000000"/>
                </a:solidFill>
                <a:latin typeface="Arial"/>
              </a:rPr>
              <a:t>Late re-exposure distance was closer to late baseline than early re-exposure distance. Prior experience did not eliminate the need to adapt again, but useful performance returned under the altered controller. The achieved route and the rate of its recovery supply different information about retention of earlier learning.</a:t>
            </a:r>
          </a:p>
        </p:txBody>
      </p:sp>
      <p:pic>
        <p:nvPicPr>
          <p:cNvPr id="4" name="Picture 3" descr="l7d.png"/>
          <p:cNvPicPr>
            <a:picLocks noChangeAspect="1"/>
          </p:cNvPicPr>
          <p:nvPr/>
        </p:nvPicPr>
        <p:blipFill>
          <a:blip r:embed="rId2"/>
          <a:stretch>
            <a:fillRect/>
          </a:stretch>
        </p:blipFill>
        <p:spPr>
          <a:xfrm>
            <a:off x="6321247" y="1280160"/>
            <a:ext cx="5303520" cy="1605787"/>
          </a:xfrm>
          <a:prstGeom prst="rect">
            <a:avLst/>
          </a:prstGeom>
        </p:spPr>
      </p:pic>
      <p:sp>
        <p:nvSpPr>
          <p:cNvPr id="5" name="Figure caption"/>
          <p:cNvSpPr txBox="1"/>
          <p:nvPr/>
        </p:nvSpPr>
        <p:spPr>
          <a:xfrm>
            <a:off x="6321247" y="297738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7(D). Adjusted distance during re-exposure and final washout.</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Faster relearning is distinct from better performance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B3E45"/>
                </a:solidFill>
                <a:latin typeface="Arial"/>
              </a:rPr>
              <a:t>Savings</a:t>
            </a:r>
            <a:r>
              <a:rPr sz="1600" b="0" i="0">
                <a:solidFill>
                  <a:srgbClr val="000000"/>
                </a:solidFill>
                <a:latin typeface="Arial"/>
              </a:rPr>
              <a:t> conventionally refers to faster relearning after an earlier encounter with a perturbation. Liu compared the initial learning rates of first rotation and re-exposure rather than judging savings only from the performance attained at the end of training.</a:t>
            </a:r>
          </a:p>
          <a:p>
            <a:pPr algn="l">
              <a:lnSpc>
                <a:spcPct val="108000"/>
              </a:lnSpc>
              <a:spcAft>
                <a:spcPts val="960"/>
              </a:spcAft>
            </a:pPr>
            <a:r>
              <a:rPr sz="1600" b="0" i="0">
                <a:solidFill>
                  <a:srgbClr val="000000"/>
                </a:solidFill>
                <a:latin typeface="Arial"/>
              </a:rPr>
              <a:t>Angular error initially improved by about 6.5° per session during first rotation and 2.4° per session during re-exposure. The second encounter therefore had a slower initial directional correction despite its somewhat improved starting and achieved performance.</a:t>
            </a:r>
          </a:p>
          <a:p>
            <a:pPr algn="l">
              <a:lnSpc>
                <a:spcPct val="108000"/>
              </a:lnSpc>
              <a:spcAft>
                <a:spcPts val="960"/>
              </a:spcAft>
            </a:pPr>
            <a:r>
              <a:rPr sz="1600" b="0" i="0">
                <a:solidFill>
                  <a:srgbClr val="000000"/>
                </a:solidFill>
                <a:latin typeface="Arial"/>
              </a:rPr>
              <a:t>The authors found no clear classical savings in this whole-body task. Their hypothesis is that better initial performance leaves less improvement available during the second exposure. The observations preserve improved retained performance while separating it from the faster adaptation that the savings prediction required.</a:t>
            </a:r>
          </a:p>
        </p:txBody>
      </p:sp>
      <p:pic>
        <p:nvPicPr>
          <p:cNvPr id="4" name="Picture 3" descr="l8cd.png"/>
          <p:cNvPicPr>
            <a:picLocks noChangeAspect="1"/>
          </p:cNvPicPr>
          <p:nvPr/>
        </p:nvPicPr>
        <p:blipFill>
          <a:blip r:embed="rId2"/>
          <a:stretch>
            <a:fillRect/>
          </a:stretch>
        </p:blipFill>
        <p:spPr>
          <a:xfrm>
            <a:off x="6321247" y="1280160"/>
            <a:ext cx="5303520" cy="2416717"/>
          </a:xfrm>
          <a:prstGeom prst="rect">
            <a:avLst/>
          </a:prstGeom>
        </p:spPr>
      </p:pic>
      <p:sp>
        <p:nvSpPr>
          <p:cNvPr id="5" name="Figure caption"/>
          <p:cNvSpPr txBox="1"/>
          <p:nvPr/>
        </p:nvSpPr>
        <p:spPr>
          <a:xfrm>
            <a:off x="6321247" y="378831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8(C–D). Initial angular error, late angular error and initial learning rates.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Route improvement rate also falls on re-exposure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Adjusted distance initially improved by approximately 0.9 m per session on first rotation and 0.4 m per session on re-exposure. These rates describe change in the route-length measure, including its correction for unsuccessful trials.</a:t>
            </a:r>
          </a:p>
          <a:p>
            <a:pPr algn="l">
              <a:lnSpc>
                <a:spcPct val="108000"/>
              </a:lnSpc>
              <a:spcAft>
                <a:spcPts val="960"/>
              </a:spcAft>
            </a:pPr>
            <a:r>
              <a:rPr sz="1600" b="0" i="0">
                <a:solidFill>
                  <a:srgbClr val="000000"/>
                </a:solidFill>
                <a:latin typeface="Arial"/>
              </a:rPr>
              <a:t>A lower starting cost can coexist with a smaller initial rate of change. Re-exposure began with somewhat better performance, while late routes again approached trained efficiency. The history of adaptation therefore affected performance without producing a larger early reduction in distance.</a:t>
            </a:r>
          </a:p>
          <a:p>
            <a:pPr algn="l">
              <a:lnSpc>
                <a:spcPct val="108000"/>
              </a:lnSpc>
              <a:spcAft>
                <a:spcPts val="960"/>
              </a:spcAft>
            </a:pPr>
            <a:r>
              <a:rPr sz="1600" b="0" i="0">
                <a:solidFill>
                  <a:srgbClr val="000000"/>
                </a:solidFill>
                <a:latin typeface="Arial"/>
              </a:rPr>
              <a:t>Angle and distance provide complementary evidence against faster relearning. One measures start-to-end alignment and the other measures excess movement and estimated completion cost. Their shared pattern prevents retained skill from being equated automatically with an increased rate of adapting to the repeated software perturbation.</a:t>
            </a:r>
          </a:p>
        </p:txBody>
      </p:sp>
      <p:pic>
        <p:nvPicPr>
          <p:cNvPr id="4" name="Picture 3" descr="l8ef.png"/>
          <p:cNvPicPr>
            <a:picLocks noChangeAspect="1"/>
          </p:cNvPicPr>
          <p:nvPr/>
        </p:nvPicPr>
        <p:blipFill>
          <a:blip r:embed="rId2"/>
          <a:stretch>
            <a:fillRect/>
          </a:stretch>
        </p:blipFill>
        <p:spPr>
          <a:xfrm>
            <a:off x="6321247" y="1280160"/>
            <a:ext cx="5303520" cy="2496126"/>
          </a:xfrm>
          <a:prstGeom prst="rect">
            <a:avLst/>
          </a:prstGeom>
        </p:spPr>
      </p:pic>
      <p:sp>
        <p:nvSpPr>
          <p:cNvPr id="5" name="Figure caption"/>
          <p:cNvSpPr txBox="1"/>
          <p:nvPr/>
        </p:nvSpPr>
        <p:spPr>
          <a:xfrm>
            <a:off x="6321247" y="3867726"/>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8(E–F). Initial adjusted distance, late distance and initial learning rates.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Initial and late success answer different questions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5B3E45"/>
                </a:solidFill>
                <a:latin typeface="Arial"/>
              </a:rPr>
              <a:t>Asymptotic performance</a:t>
            </a:r>
            <a:r>
              <a:rPr sz="1600" b="0" i="0">
                <a:solidFill>
                  <a:srgbClr val="000000"/>
                </a:solidFill>
                <a:latin typeface="Arial"/>
              </a:rPr>
              <a:t> is the late level approached as learning continues. </a:t>
            </a:r>
            <a:r>
              <a:rPr sz="1600" b="1" i="0">
                <a:solidFill>
                  <a:srgbClr val="5B3E45"/>
                </a:solidFill>
                <a:latin typeface="Arial"/>
              </a:rPr>
              <a:t>Initial performance</a:t>
            </a:r>
            <a:r>
              <a:rPr sz="1600" b="0" i="0">
                <a:solidFill>
                  <a:srgbClr val="000000"/>
                </a:solidFill>
                <a:latin typeface="Arial"/>
              </a:rPr>
              <a:t> describes the state at the beginning of a stage. Liu fitted both quantities separately, preserving the difference between where learning starts and where it eventually settles.</a:t>
            </a:r>
          </a:p>
          <a:p>
            <a:pPr algn="l">
              <a:lnSpc>
                <a:spcPct val="108000"/>
              </a:lnSpc>
              <a:spcAft>
                <a:spcPts val="960"/>
              </a:spcAft>
            </a:pPr>
            <a:r>
              <a:rPr sz="1600" b="0" i="0">
                <a:solidFill>
                  <a:srgbClr val="000000"/>
                </a:solidFill>
                <a:latin typeface="Arial"/>
              </a:rPr>
              <a:t>Success during re-exposure began somewhat higher and reached a useful late level, but its initial improvement rate was about 0.5 arrivals per session, compared with about 0.6 on first rotation. Improved achieved performance therefore accompanied no faster early rise in successful completion.</a:t>
            </a:r>
          </a:p>
          <a:p>
            <a:pPr algn="l">
              <a:lnSpc>
                <a:spcPct val="108000"/>
              </a:lnSpc>
              <a:spcAft>
                <a:spcPts val="960"/>
              </a:spcAft>
            </a:pPr>
            <a:r>
              <a:rPr sz="1600" b="0" i="0">
                <a:solidFill>
                  <a:srgbClr val="000000"/>
                </a:solidFill>
                <a:latin typeface="Arial"/>
              </a:rPr>
              <a:t>The separation matters when evaluating the effect of experience. A stronger starting state can reflect retained consequences of previous training, while the later change describes adaptation during the current encounter. Their combination defines the learning trajectory without reducing memory to one final success count.</a:t>
            </a:r>
          </a:p>
        </p:txBody>
      </p:sp>
      <p:pic>
        <p:nvPicPr>
          <p:cNvPr id="4" name="Picture 3" descr="l8ab.png"/>
          <p:cNvPicPr>
            <a:picLocks noChangeAspect="1"/>
          </p:cNvPicPr>
          <p:nvPr/>
        </p:nvPicPr>
        <p:blipFill>
          <a:blip r:embed="rId2"/>
          <a:stretch>
            <a:fillRect/>
          </a:stretch>
        </p:blipFill>
        <p:spPr>
          <a:xfrm>
            <a:off x="6321247" y="1280160"/>
            <a:ext cx="5303520" cy="2437550"/>
          </a:xfrm>
          <a:prstGeom prst="rect">
            <a:avLst/>
          </a:prstGeom>
        </p:spPr>
      </p:pic>
      <p:sp>
        <p:nvSpPr>
          <p:cNvPr id="5" name="Figure caption"/>
          <p:cNvSpPr txBox="1"/>
          <p:nvPr/>
        </p:nvSpPr>
        <p:spPr>
          <a:xfrm>
            <a:off x="6321247" y="380915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8(A–B). Initial success, late success and initial learning rates on two exposures.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The trial endpoint reflects an experimental boundary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Liu’s trials ended when the vehicle reached the target, reached an arena boundary or exceeded 3 minutes. These conditions define which endpoint enters the angular-error and distance measurements. A completed recording can therefore represent successful arrival or an interrupted approach.</a:t>
            </a:r>
          </a:p>
          <a:p>
            <a:pPr algn="l">
              <a:lnSpc>
                <a:spcPct val="108000"/>
              </a:lnSpc>
              <a:spcAft>
                <a:spcPts val="900"/>
              </a:spcAft>
            </a:pPr>
            <a:r>
              <a:rPr sz="1500" b="0" i="0">
                <a:solidFill>
                  <a:srgbClr val="000000"/>
                </a:solidFill>
                <a:latin typeface="Arial"/>
              </a:rPr>
              <a:t>The adjusted-distance measure addresses one consequence of that boundary: stopping early does not automatically produce a favorable short distance. An estimate of the remaining route is added when the target has not been reached, based on the session’s measured efficiency.</a:t>
            </a:r>
          </a:p>
          <a:p>
            <a:pPr algn="l">
              <a:lnSpc>
                <a:spcPct val="108000"/>
              </a:lnSpc>
              <a:spcAft>
                <a:spcPts val="900"/>
              </a:spcAft>
            </a:pPr>
            <a:r>
              <a:rPr sz="1500" b="0" i="0">
                <a:solidFill>
                  <a:srgbClr val="000000"/>
                </a:solidFill>
                <a:latin typeface="Arial"/>
              </a:rPr>
              <a:t>Task completion, endpoint direction and adjusted length retain different information about the same bounded trial. Their combined use connects the controller’s learned operation with an external behavioral goal while accounting for movement that stops before reward. Interpretation follows the measured endpoint and the rule that ended its recording.</a:t>
            </a:r>
          </a:p>
        </p:txBody>
      </p:sp>
      <p:pic>
        <p:nvPicPr>
          <p:cNvPr id="4" name="Picture 3" descr="l2.png"/>
          <p:cNvPicPr>
            <a:picLocks noChangeAspect="1"/>
          </p:cNvPicPr>
          <p:nvPr/>
        </p:nvPicPr>
        <p:blipFill>
          <a:blip r:embed="rId2"/>
          <a:stretch>
            <a:fillRect/>
          </a:stretch>
        </p:blipFill>
        <p:spPr>
          <a:xfrm>
            <a:off x="6321247" y="1280160"/>
            <a:ext cx="5303520" cy="2623549"/>
          </a:xfrm>
          <a:prstGeom prst="rect">
            <a:avLst/>
          </a:prstGeom>
        </p:spPr>
      </p:pic>
      <p:sp>
        <p:nvSpPr>
          <p:cNvPr id="5" name="Figure caption"/>
          <p:cNvSpPr txBox="1"/>
          <p:nvPr/>
        </p:nvSpPr>
        <p:spPr>
          <a:xfrm>
            <a:off x="6321247" y="399514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2. Definitions of success, endpoint angular error and adjusted route length.</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Navigation transfer and motor adaptation are separable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Givon’s task transfers target-directed movement into a terrestrial setting while the fish remains in water. Liu’s task changes the steering relationship after that interface has been learned. The first asks whether an animal can use a novel vehicle; the second asks how acquired control changes under perturbation.</a:t>
            </a:r>
          </a:p>
          <a:p>
            <a:pPr algn="l">
              <a:lnSpc>
                <a:spcPct val="108000"/>
              </a:lnSpc>
              <a:spcAft>
                <a:spcPts val="960"/>
              </a:spcAft>
            </a:pPr>
            <a:r>
              <a:rPr sz="1600" b="0" i="0">
                <a:solidFill>
                  <a:srgbClr val="000000"/>
                </a:solidFill>
                <a:latin typeface="Arial"/>
              </a:rPr>
              <a:t>The behavioral evidence separates goal choice from effective movement: a familiar destination can remain fixed while a software rotation disrupts approach. Recovery under rotation and opposite-direction errors after removal connect experience with a lasting change in the steering behavior.</a:t>
            </a:r>
          </a:p>
          <a:p>
            <a:pPr algn="l">
              <a:lnSpc>
                <a:spcPct val="108000"/>
              </a:lnSpc>
              <a:spcAft>
                <a:spcPts val="960"/>
              </a:spcAft>
            </a:pPr>
            <a:r>
              <a:rPr sz="1600" b="0" i="0">
                <a:solidFill>
                  <a:srgbClr val="000000"/>
                </a:solidFill>
                <a:latin typeface="Arial"/>
              </a:rPr>
              <a:t>An internal model is the authors’ hypothesis for that persistent compensation. The vehicle studies measured behavior and apparatus movement rather than recording the responsible neural circuit. Their direct findings are adapted steering, aftereffects and improved performance on re-exposure without faster classical relearning.</a:t>
            </a:r>
          </a:p>
        </p:txBody>
      </p:sp>
      <p:pic>
        <p:nvPicPr>
          <p:cNvPr id="4" name="Picture 3" descr="l1abc.png"/>
          <p:cNvPicPr>
            <a:picLocks noChangeAspect="1"/>
          </p:cNvPicPr>
          <p:nvPr/>
        </p:nvPicPr>
        <p:blipFill>
          <a:blip r:embed="rId2"/>
          <a:stretch>
            <a:fillRect/>
          </a:stretch>
        </p:blipFill>
        <p:spPr>
          <a:xfrm>
            <a:off x="6321247" y="1280160"/>
            <a:ext cx="5303520" cy="2567033"/>
          </a:xfrm>
          <a:prstGeom prst="rect">
            <a:avLst/>
          </a:prstGeom>
        </p:spPr>
      </p:pic>
      <p:sp>
        <p:nvSpPr>
          <p:cNvPr id="5" name="Figure caption"/>
          <p:cNvSpPr txBox="1"/>
          <p:nvPr/>
        </p:nvSpPr>
        <p:spPr>
          <a:xfrm>
            <a:off x="6321247" y="393863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Liu et al. (2025), Fig. 1(A–C). Vehicle hardware, fish-to-vehicle mapping and arena.</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 Liu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B3E45"/>
                </a:solidFill>
                <a:latin typeface="Arial"/>
              </a:rPr>
              <a:t>Key takeaways</a:t>
            </a:r>
          </a:p>
        </p:txBody>
      </p:sp>
      <p:sp>
        <p:nvSpPr>
          <p:cNvPr id="3" name="Rectangle 2"/>
          <p:cNvSpPr/>
          <p:nvPr/>
        </p:nvSpPr>
        <p:spPr>
          <a:xfrm>
            <a:off x="566928" y="1234440"/>
            <a:ext cx="5391759" cy="1478279"/>
          </a:xfrm>
          <a:prstGeom prst="rect">
            <a:avLst/>
          </a:prstGeom>
          <a:solidFill>
            <a:srgbClr val="F7F3F4"/>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B3E45"/>
                </a:solidFill>
                <a:latin typeface="Arial"/>
              </a:rPr>
              <a:t>The interface</a:t>
            </a:r>
            <a:r>
              <a:rPr sz="1600" b="0" i="0">
                <a:solidFill>
                  <a:srgbClr val="000000"/>
                </a:solidFill>
                <a:latin typeface="Arial"/>
              </a:rPr>
              <a:t> Near-wall outward orientation activates a camera-controlled vehicle command; the fish remains in water while electric motors move its tank through the arena.</a:t>
            </a:r>
          </a:p>
        </p:txBody>
      </p:sp>
      <p:sp>
        <p:nvSpPr>
          <p:cNvPr id="5" name="Rectangle 4"/>
          <p:cNvSpPr/>
          <p:nvPr/>
        </p:nvSpPr>
        <p:spPr>
          <a:xfrm>
            <a:off x="6233007" y="1234440"/>
            <a:ext cx="5391759" cy="1478279"/>
          </a:xfrm>
          <a:prstGeom prst="rect">
            <a:avLst/>
          </a:prstGeom>
          <a:solidFill>
            <a:srgbClr val="F7F3F4"/>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B3E45"/>
                </a:solidFill>
                <a:latin typeface="Arial"/>
              </a:rPr>
              <a:t>Two spaces</a:t>
            </a:r>
            <a:r>
              <a:rPr sz="1600" b="0" i="0">
                <a:solidFill>
                  <a:srgbClr val="000000"/>
                </a:solidFill>
                <a:latin typeface="Arial"/>
              </a:rPr>
              <a:t> Tank-relative fish posture supplies the input, while arena-relative vehicle displacement is the output. A software rotation changes their relationship.</a:t>
            </a:r>
          </a:p>
        </p:txBody>
      </p:sp>
      <p:sp>
        <p:nvSpPr>
          <p:cNvPr id="7" name="Rectangle 6"/>
          <p:cNvSpPr/>
          <p:nvPr/>
        </p:nvSpPr>
        <p:spPr>
          <a:xfrm>
            <a:off x="566928" y="2987040"/>
            <a:ext cx="5391759" cy="1478279"/>
          </a:xfrm>
          <a:prstGeom prst="rect">
            <a:avLst/>
          </a:prstGeom>
          <a:solidFill>
            <a:srgbClr val="F7F3F4"/>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B3E45"/>
                </a:solidFill>
                <a:latin typeface="Arial"/>
              </a:rPr>
              <a:t>Complementary measures</a:t>
            </a:r>
            <a:r>
              <a:rPr sz="1600" b="0" i="0">
                <a:solidFill>
                  <a:srgbClr val="000000"/>
                </a:solidFill>
                <a:latin typeface="Arial"/>
              </a:rPr>
              <a:t> Success measures arrival, angular error measures endpoint alignment, and adjusted distance retains detours and an estimated completion cost for failed trials.</a:t>
            </a:r>
          </a:p>
        </p:txBody>
      </p:sp>
      <p:sp>
        <p:nvSpPr>
          <p:cNvPr id="9" name="Rectangle 8"/>
          <p:cNvSpPr/>
          <p:nvPr/>
        </p:nvSpPr>
        <p:spPr>
          <a:xfrm>
            <a:off x="6233007" y="2987040"/>
            <a:ext cx="5391759" cy="1478279"/>
          </a:xfrm>
          <a:prstGeom prst="rect">
            <a:avLst/>
          </a:prstGeom>
          <a:solidFill>
            <a:srgbClr val="F7F3F4"/>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B3E45"/>
                </a:solidFill>
                <a:latin typeface="Arial"/>
              </a:rPr>
              <a:t>Adaptation</a:t>
            </a:r>
            <a:r>
              <a:rPr sz="1600" b="0" i="0">
                <a:solidFill>
                  <a:srgbClr val="000000"/>
                </a:solidFill>
                <a:latin typeface="Arial"/>
              </a:rPr>
              <a:t> Goldfish recover target-directed steering while a rotated mapping remains active; compensation reduces directional error and excess movement.</a:t>
            </a:r>
          </a:p>
        </p:txBody>
      </p:sp>
      <p:sp>
        <p:nvSpPr>
          <p:cNvPr id="11" name="Rectangle 10"/>
          <p:cNvSpPr/>
          <p:nvPr/>
        </p:nvSpPr>
        <p:spPr>
          <a:xfrm>
            <a:off x="566928" y="4739640"/>
            <a:ext cx="5391759" cy="1478279"/>
          </a:xfrm>
          <a:prstGeom prst="rect">
            <a:avLst/>
          </a:prstGeom>
          <a:solidFill>
            <a:srgbClr val="F7F3F4"/>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B3E45"/>
                </a:solidFill>
                <a:latin typeface="Arial"/>
              </a:rPr>
              <a:t>Aftereffects</a:t>
            </a:r>
            <a:r>
              <a:rPr sz="1600" b="0" i="0">
                <a:solidFill>
                  <a:srgbClr val="000000"/>
                </a:solidFill>
                <a:latin typeface="Arial"/>
              </a:rPr>
              <a:t> Removing rotation initially produces an opposite-direction error, consistent with persistence of the acquired compensation and the authors’ internal-model hypothesis.</a:t>
            </a:r>
          </a:p>
        </p:txBody>
      </p:sp>
      <p:sp>
        <p:nvSpPr>
          <p:cNvPr id="13" name="Rectangle 12"/>
          <p:cNvSpPr/>
          <p:nvPr/>
        </p:nvSpPr>
        <p:spPr>
          <a:xfrm>
            <a:off x="6233007" y="4739640"/>
            <a:ext cx="5391759" cy="1478279"/>
          </a:xfrm>
          <a:prstGeom prst="rect">
            <a:avLst/>
          </a:prstGeom>
          <a:solidFill>
            <a:srgbClr val="F7F3F4"/>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B3E45"/>
                </a:solidFill>
                <a:latin typeface="Arial"/>
              </a:rPr>
              <a:t>Re-exposure</a:t>
            </a:r>
            <a:r>
              <a:rPr sz="1600" b="0" i="0">
                <a:solidFill>
                  <a:srgbClr val="000000"/>
                </a:solidFill>
                <a:latin typeface="Arial"/>
              </a:rPr>
              <a:t> Performance improves during a second exposure, but initial correction rates are slower. Retained performance and faster classical savings are different outcomes.</a:t>
            </a:r>
          </a:p>
        </p:txBody>
      </p:sp>
      <p:sp>
        <p:nvSpPr>
          <p:cNvPr id="15" name="Rectangle 14"/>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Givon et al. (2022); Liu et al. (2025)</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Fish-Operated Vehicle II: Sensing, Control Mapping, and Constraints (Givon &amp; Liu)</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