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Attention and impulsivity across species: comparative neural mechanisms of attentional control, dopamine and norepinephrine signaling, and animal models of ADHD</a:t>
            </a:r>
          </a:p>
          <a:p>
            <a:r>
              <a:rPr sz="1200">
                <a:solidFill>
                  <a:srgbClr val="000000"/>
                </a:solidFill>
                <a:latin typeface="Arial"/>
              </a:rPr>
              <a:t>Lecture 49. NEUR 411 · NEUROETHOLOGY · FALL 2026. Date TBD.</a:t>
            </a:r>
          </a:p>
          <a:p/>
          <a:p>
            <a:r>
              <a:rPr sz="1200">
                <a:solidFill>
                  <a:srgbClr val="000000"/>
                </a:solidFill>
                <a:latin typeface="Arial"/>
              </a:rPr>
              <a:t>Figure: Kim et al. (2012), Fig. 4(C). Recorded Wistar-Kyoto and spontaneously hypertensive rats in the drinking apparatus.</a:t>
            </a:r>
          </a:p>
          <a:p>
            <a:r>
              <a:rPr sz="1200">
                <a:solidFill>
                  <a:srgbClr val="000000"/>
                </a:solidFill>
                <a:latin typeface="Arial"/>
              </a:rPr>
              <a:t>Figure source: https://doi.org/10.4062/biomolther.2012.20.1.125</a:t>
            </a:r>
          </a:p>
          <a:p/>
          <a:p>
            <a:r>
              <a:rPr sz="1200">
                <a:solidFill>
                  <a:srgbClr val="000000"/>
                </a:solidFill>
                <a:latin typeface="Arial"/>
              </a:rPr>
              <a:t>References:</a:t>
            </a:r>
          </a:p>
          <a:p>
            <a:r>
              <a:rPr sz="1200">
                <a:solidFill>
                  <a:srgbClr val="000000"/>
                </a:solidFill>
                <a:latin typeface="Arial"/>
              </a:rPr>
              <a:t>Pitna Kim; In-Ha Choi; Ike Campomayor Dela Pena; Hee-Jin Kim; Kyung-Ja Kwon; Jin-Hee Park; Seol-Heui Han; Jong-Hoon Ryu; Jae-Hoon Cheong; Chan-Young Shin (2012). A Simple Behavioral Paradigm to Measure Impulsive Behavior in an Animal Model of Attention Deficit Hyperactivity Disorder (ADHD) of the Spontaneously Hypertensive Rats. Biomolecules and Therapeutics 20(1): 125-131. https://doi.org/10.4062/biomolther.2012.20.1.125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Attention selects information relevant to an ongoing goal; response inhibition withholds an action until it is appropriate. Bari and colleagues trained mice to wait 7 s for a light that appeared for 0.5 s in one of two apertures. A nose poke into the illuminated aperture earned food.</a:t>
            </a:r>
          </a:p>
          <a:p>
            <a:r>
              <a:rPr sz="1200">
                <a:solidFill>
                  <a:srgbClr val="000000"/>
                </a:solidFill>
                <a:latin typeface="Arial"/>
              </a:rPr>
              <a:t>• Correct-response proportion indexed target selection, whereas premature responses, nose pokes before target onset, indexed failure to wait. Incorrect choices and premature actions were therefore distinct outcomes within the same preparation. Light-driven neural activation altered both measures without changing response speed.</a:t>
            </a:r>
          </a:p>
          <a:p>
            <a:r>
              <a:rPr sz="1200">
                <a:solidFill>
                  <a:srgbClr val="000000"/>
                </a:solidFill>
                <a:latin typeface="Arial"/>
              </a:rPr>
              <a:t>  – An operant task links an animal’s action to a consequence such as food delivery. Accuracy concerns which aperture the mouse selects after the target appears. A premature nose poke concerns when it acts, so an improvement in waiting cannot be inferred simply from faster or more accurate choices.</a:t>
            </a:r>
          </a:p>
          <a:p>
            <a:r>
              <a:rPr sz="1200">
                <a:solidFill>
                  <a:srgbClr val="000000"/>
                </a:solidFill>
                <a:latin typeface="Arial"/>
              </a:rPr>
              <a:t>• A mouse can select the wrong location after waiting correctly, or respond too early before any target exists. The task separates these errors operationally; neither alone constitutes a clinical diagnosis of attention-deficit/hyperactivity disorder, or ADHD. Sensory, motivational and motor controls remain necessary when interpreting altered performance.</a:t>
            </a:r>
          </a:p>
          <a:p/>
          <a:p>
            <a:r>
              <a:rPr sz="1200">
                <a:solidFill>
                  <a:srgbClr val="000000"/>
                </a:solidFill>
                <a:latin typeface="Arial"/>
              </a:rPr>
              <a:t>References:</a:t>
            </a:r>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Figure: Bari et al. (2020), Fig. 2(A–C). Two-choice task timing and locus-coeruleus fiber placement.</a:t>
            </a:r>
          </a:p>
          <a:p>
            <a:r>
              <a:rPr sz="1200">
                <a:solidFill>
                  <a:srgbClr val="000000"/>
                </a:solidFill>
                <a:latin typeface="Arial"/>
              </a:rPr>
              <a:t>Figure source: https://doi.org/10.1073/pnas.2015635117</a:t>
            </a:r>
          </a:p>
          <a:p/>
          <a:p>
            <a:r>
              <a:rPr sz="1200">
                <a:solidFill>
                  <a:srgbClr val="000000"/>
                </a:solidFill>
                <a:latin typeface="Arial"/>
              </a:rPr>
              <a:t>Figure: Bari et al. (2020), Fig. 2(D–G). Locus-coeruleus activation changes accuracy and premature responses.</a:t>
            </a:r>
          </a:p>
          <a:p>
            <a:r>
              <a:rPr sz="1200">
                <a:solidFill>
                  <a:srgbClr val="000000"/>
                </a:solidFill>
                <a:latin typeface="Arial"/>
              </a:rPr>
              <a:t>Figure source: https://doi.org/10.1073/pnas.2015635117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Impulsive action refers to inadequate restraint of a response; impulsive choice refers to preference for an immediate outcome over a more valuable delayed outcome. Kim and colleagues examined action restraint in spontaneously hypertensive rats, or SHR, using drinking that incurred an aversive consequence.</a:t>
            </a:r>
          </a:p>
          <a:p>
            <a:r>
              <a:rPr sz="1200">
                <a:solidFill>
                  <a:srgbClr val="000000"/>
                </a:solidFill>
                <a:latin typeface="Arial"/>
              </a:rPr>
              <a:t>• After training, drinking for at least 5 s triggered a 0.5-s, 2-mA foot shock. SHR entered the water area and completed punished drinking more often than Wistar-Kyoto, or WKY, controls. The preparation measures persistence despite punishment rather than choosing between different reward delays.</a:t>
            </a:r>
          </a:p>
          <a:p>
            <a:r>
              <a:rPr sz="1200">
                <a:solidFill>
                  <a:srgbClr val="000000"/>
                </a:solidFill>
                <a:latin typeface="Arial"/>
              </a:rPr>
              <a:t>  – Delay-dependent choice requires comparing outcomes that differ in waiting time. The drinking task instead offers the same water source with a consequence for sustained drinking. Thirst, sensitivity to shock and knowledge of the apparatus can all influence that behavior, so they must be examined separately.</a:t>
            </a:r>
          </a:p>
          <a:p>
            <a:r>
              <a:rPr sz="1200">
                <a:solidFill>
                  <a:srgbClr val="000000"/>
                </a:solidFill>
                <a:latin typeface="Arial"/>
              </a:rPr>
              <a:t>• Premature nose pokes and punished drinking are related measures of action control, but their sensory cues, reinforcement and motivational demands differ. A phenotype is an observable characteristic under specified conditions. An animal phenotype resembling one ADHD-associated behavior does not reproduce the complete human disorder or identify its cause.</a:t>
            </a:r>
          </a:p>
          <a:p/>
          <a:p>
            <a:r>
              <a:rPr sz="1200">
                <a:solidFill>
                  <a:srgbClr val="000000"/>
                </a:solidFill>
                <a:latin typeface="Arial"/>
              </a:rPr>
              <a:t>References:</a:t>
            </a:r>
          </a:p>
          <a:p>
            <a:r>
              <a:rPr sz="1200">
                <a:solidFill>
                  <a:srgbClr val="000000"/>
                </a:solidFill>
                <a:latin typeface="Arial"/>
              </a:rPr>
              <a:t>Pitna Kim; In-Ha Choi; Ike Campomayor Dela Pena; Hee-Jin Kim; Kyung-Ja Kwon; Jin-Hee Park; Seol-Heui Han; Jong-Hoon Ryu; Jae-Hoon Cheong; Chan-Young Shin (2012). A Simple Behavioral Paradigm to Measure Impulsive Behavior in an Animal Model of Attention Deficit Hyperactivity Disorder (ADHD) of the Spontaneously Hypertensive Rats. Biomolecules and Therapeutics 20(1): 125-131. https://doi.org/10.4062/biomolther.2012.20.1.125</a:t>
            </a:r>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Figure: Kim et al. (2012), Fig. 1. Published aversive-drinking apparatus.</a:t>
            </a:r>
          </a:p>
          <a:p>
            <a:r>
              <a:rPr sz="1200">
                <a:solidFill>
                  <a:srgbClr val="000000"/>
                </a:solidFill>
                <a:latin typeface="Arial"/>
              </a:rPr>
              <a:t>Figure source: https://doi.org/10.4062/biomolther.2012.20.1.125</a:t>
            </a:r>
          </a:p>
          <a:p/>
          <a:p>
            <a:r>
              <a:rPr sz="1200">
                <a:solidFill>
                  <a:srgbClr val="000000"/>
                </a:solidFill>
                <a:latin typeface="Arial"/>
              </a:rPr>
              <a:t>Figure: Kim et al. (2012), Fig. 4(A–C). Area entries and punished drinking with methylphenidate treatment.</a:t>
            </a:r>
          </a:p>
          <a:p>
            <a:r>
              <a:rPr sz="1200">
                <a:solidFill>
                  <a:srgbClr val="000000"/>
                </a:solidFill>
                <a:latin typeface="Arial"/>
              </a:rPr>
              <a:t>Figure source: https://doi.org/10.4062/biomolther.2012.20.1.125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Selective attention prioritizes one information source while competing information is present. Wimmer and colleagues trained mice to choose a reward location from conflicting visual and auditory signals. A preceding sound instructed the animal which sensory modality, vision or hearing, should govern its response.</a:t>
            </a:r>
          </a:p>
          <a:p>
            <a:r>
              <a:rPr sz="1200">
                <a:solidFill>
                  <a:srgbClr val="000000"/>
                </a:solidFill>
                <a:latin typeface="Arial"/>
              </a:rPr>
              <a:t>• One cue used noise low-pass filtered at 10 kHz; another used noise high-pass filtered at 11 kHz. Their assignments were counterbalanced across animals. Visual trials required locating a light, whereas auditory trials required distinguishing an upward from a downward frequency sweep.</a:t>
            </a:r>
          </a:p>
          <a:p>
            <a:r>
              <a:rPr sz="1200">
                <a:solidFill>
                  <a:srgbClr val="000000"/>
                </a:solidFill>
                <a:latin typeface="Arial"/>
              </a:rPr>
              <a:t>  – The two target signals pointed toward competing response locations. A mouse that consistently followed the light would fail auditory-selection trials even if its vision were excellent. Cue-guided selection therefore concerns which information controls the response, rather than the presence of two detectable signals alone.</a:t>
            </a:r>
          </a:p>
          <a:p>
            <a:r>
              <a:rPr sz="1200">
                <a:solidFill>
                  <a:srgbClr val="000000"/>
                </a:solidFill>
                <a:latin typeface="Arial"/>
              </a:rPr>
              <a:t>• Successful performance required the instructed rule rather than following whichever stimulus was most salient. Counterbalancing reduced the possibility that one cue intrinsically favored one modality. Because visual detection and auditory discrimination differ computationally, balanced accuracy does not establish identical processing demands or identical sensory pathways.</a:t>
            </a:r>
          </a:p>
          <a:p/>
          <a:p>
            <a:r>
              <a:rPr sz="1200">
                <a:solidFill>
                  <a:srgbClr val="000000"/>
                </a:solidFill>
                <a:latin typeface="Arial"/>
              </a:rPr>
              <a:t>References:</a:t>
            </a:r>
          </a:p>
          <a:p>
            <a:r>
              <a:rPr sz="1200">
                <a:solidFill>
                  <a:srgbClr val="000000"/>
                </a:solidFill>
                <a:latin typeface="Arial"/>
              </a:rPr>
              <a:t>Ralf D. Wimmer; L. Ian Schmitt; Thomas J. Davidson; Miho Nakajima; Karl Deisseroth; Michael M. Halassa (2015). Thalamic control of sensory selection in divided attention. Nature 526(7575): 705-709. https://doi.org/10.1038/nature15398</a:t>
            </a:r>
          </a:p>
          <a:p/>
          <a:p>
            <a:r>
              <a:rPr sz="1200">
                <a:solidFill>
                  <a:srgbClr val="000000"/>
                </a:solidFill>
                <a:latin typeface="Arial"/>
              </a:rPr>
              <a:t>Figure: Wimmer et al. (2015), Fig. 1(a,b). Cross-modal sensory selection and mouse task structure.</a:t>
            </a:r>
          </a:p>
          <a:p>
            <a:r>
              <a:rPr sz="1200">
                <a:solidFill>
                  <a:srgbClr val="000000"/>
                </a:solidFill>
                <a:latin typeface="Arial"/>
              </a:rPr>
              <a:t>Figure source: https://doi.org/10.1038/nature15398</a:t>
            </a:r>
          </a:p>
          <a:p/>
          <a:p>
            <a:r>
              <a:rPr sz="1200">
                <a:solidFill>
                  <a:srgbClr val="000000"/>
                </a:solidFill>
                <a:latin typeface="Arial"/>
              </a:rPr>
              <a:t>Figure: Wimmer et al. (2015), Fig. 1(c–g). Modality performance and visual-detection functions under control conditions.</a:t>
            </a:r>
          </a:p>
          <a:p>
            <a:r>
              <a:rPr sz="1200">
                <a:solidFill>
                  <a:srgbClr val="000000"/>
                </a:solidFill>
                <a:latin typeface="Arial"/>
              </a:rPr>
              <a:t>Figure source: https://doi.org/10.1038/nature15398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Wimmer and colleagues measured a detection threshold, the stimulus strength associated with a specified level of visual performance. They varied light intensity while comparing visual-only trials with trials requiring a cue-dependent switch between vision and audition. Brief visual targets lasted 0.1 s during these measurements.</a:t>
            </a:r>
          </a:p>
          <a:p>
            <a:r>
              <a:rPr sz="1200">
                <a:solidFill>
                  <a:srgbClr val="000000"/>
                </a:solidFill>
                <a:latin typeface="Arial"/>
              </a:rPr>
              <a:t>• Visual detection required greater stimulus intensity under cross-modal conditions. Removing the conflicting auditory target did not restore the visual-only detection function. Conversely, learning over a session that auditory stimuli were unrewarded did not produce the same threshold change as trial-by-trial modality selection.</a:t>
            </a:r>
          </a:p>
          <a:p>
            <a:r>
              <a:rPr sz="1200">
                <a:solidFill>
                  <a:srgbClr val="000000"/>
                </a:solidFill>
                <a:latin typeface="Arial"/>
              </a:rPr>
              <a:t>  – A psychometric function relates stimulus intensity to the probability of a correct response. Omission of the auditory distractor preserves the preceding selection cue, so the animal still prepares for the instructed modality. That control separates preparation for a competing task from the immediate physical presence of the competing stimulus.</a:t>
            </a:r>
          </a:p>
          <a:p>
            <a:r>
              <a:rPr sz="1200">
                <a:solidFill>
                  <a:srgbClr val="000000"/>
                </a:solidFill>
                <a:latin typeface="Arial"/>
              </a:rPr>
              <a:t>• The cost therefore depends on the instructed task configuration, rather than merely acoustic interference from a simultaneous distractor. Expectation and sensory selection can modify measured visual sensitivity. This behavioral comparison does not by itself locate the circuit that changes sensitivity or distinguish every possible contribution of uncertainty and task switching.</a:t>
            </a:r>
          </a:p>
          <a:p/>
          <a:p>
            <a:r>
              <a:rPr sz="1200">
                <a:solidFill>
                  <a:srgbClr val="000000"/>
                </a:solidFill>
                <a:latin typeface="Arial"/>
              </a:rPr>
              <a:t>References:</a:t>
            </a:r>
          </a:p>
          <a:p>
            <a:r>
              <a:rPr sz="1200">
                <a:solidFill>
                  <a:srgbClr val="000000"/>
                </a:solidFill>
                <a:latin typeface="Arial"/>
              </a:rPr>
              <a:t>Ralf D. Wimmer; L. Ian Schmitt; Thomas J. Davidson; Miho Nakajima; Karl Deisseroth; Michael M. Halassa (2015). Thalamic control of sensory selection in divided attention. Nature 526(7575): 705-709. https://doi.org/10.1038/nature15398</a:t>
            </a:r>
          </a:p>
          <a:p/>
          <a:p>
            <a:r>
              <a:rPr sz="1200">
                <a:solidFill>
                  <a:srgbClr val="000000"/>
                </a:solidFill>
                <a:latin typeface="Arial"/>
              </a:rPr>
              <a:t>Figure: Wimmer et al. (2015), Fig. 1(c–g). Modality performance and visual-detection functions under control conditions.</a:t>
            </a:r>
          </a:p>
          <a:p>
            <a:r>
              <a:rPr sz="1200">
                <a:solidFill>
                  <a:srgbClr val="000000"/>
                </a:solidFill>
                <a:latin typeface="Arial"/>
              </a:rPr>
              <a:t>Figure source: https://doi.org/10.1038/nature15398</a:t>
            </a:r>
          </a:p>
          <a:p/>
          <a:p>
            <a:r>
              <a:rPr sz="1200">
                <a:solidFill>
                  <a:srgbClr val="000000"/>
                </a:solidFill>
                <a:latin typeface="Arial"/>
              </a:rPr>
              <a:t>Figure: Wimmer et al. (2015), Fig. 1(a,b). Cross-modal sensory selection and mouse task structure.</a:t>
            </a:r>
          </a:p>
          <a:p>
            <a:r>
              <a:rPr sz="1200">
                <a:solidFill>
                  <a:srgbClr val="000000"/>
                </a:solidFill>
                <a:latin typeface="Arial"/>
              </a:rPr>
              <a:t>Figure source: https://doi.org/10.1038/nature15398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Kirszenblat and colleagues measured visual selection in freely walking Drosophila melanogaster. Fixation was orientation toward a target stripe; an optomotor response was turning with wide-field motion. Wing-clipped flies walked on a platform inside an illuminated arena, allowing both behaviors to be measured in the same animal.</a:t>
            </a:r>
          </a:p>
          <a:p>
            <a:r>
              <a:rPr sz="1200">
                <a:solidFill>
                  <a:srgbClr val="000000"/>
                </a:solidFill>
                <a:latin typeface="Arial"/>
              </a:rPr>
              <a:t>• Targets flickered at 7 Hz, while a background grating moved at 54 degrees per second with a temporal frequency of 3 Hz. Target deviation, the angle between walking direction and the target, increased as distractor contrast increased. Angular turning velocity separately measured motion-following behavior.</a:t>
            </a:r>
          </a:p>
          <a:p>
            <a:r>
              <a:rPr sz="1200">
                <a:solidFill>
                  <a:srgbClr val="000000"/>
                </a:solidFill>
                <a:latin typeface="Arial"/>
              </a:rPr>
              <a:t>  – A smaller deviation angle means the fly walks more closely toward the target. Turning with the background is a separate response with units of degrees per second. The two readouts can change differently, allowing competition between orientation tendencies to be distinguished from a general inability to move or detect the display.</a:t>
            </a:r>
          </a:p>
          <a:p>
            <a:r>
              <a:rPr sz="1200">
                <a:solidFill>
                  <a:srgbClr val="000000"/>
                </a:solidFill>
                <a:latin typeface="Arial"/>
              </a:rPr>
              <a:t>• Competition altered orientation even though flies retained responses to isolated targets and motion. These measurements support attention-like selection in insects without assuming that their neural architecture duplicates mammalian frontal circuits. Target deviation measures behavior, not conscious experience, clinical inattention or a directly recorded attention neuron.</a:t>
            </a:r>
          </a:p>
          <a:p/>
          <a:p>
            <a:r>
              <a:rPr sz="1200">
                <a:solidFill>
                  <a:srgbClr val="000000"/>
                </a:solidFill>
                <a:latin typeface="Arial"/>
              </a:rPr>
              <a:t>References:</a:t>
            </a:r>
          </a:p>
          <a:p>
            <a:r>
              <a:rPr sz="1200">
                <a:solidFill>
                  <a:srgbClr val="000000"/>
                </a:solidFill>
                <a:latin typeface="Arial"/>
              </a:rPr>
              <a:t>Leonie Kirszenblat; Deniz Ertekin; Joseph Goodsell; Yanqiong Zhou; Paul J. Shaw; Bruno van Swinderen (2018). Sleep regulates visual selective attention in Drosophila. Journal of Experimental Biology 221(Pt 24): jeb191429. https://doi.org/10.1242/jeb.191429</a:t>
            </a:r>
          </a:p>
          <a:p/>
          <a:p>
            <a:r>
              <a:rPr sz="1200">
                <a:solidFill>
                  <a:srgbClr val="000000"/>
                </a:solidFill>
                <a:latin typeface="Arial"/>
              </a:rPr>
              <a:t>Figure: Kirszenblat et al. (2018), Fig. 1(A–E). Fly fixation and optomotor competition paradigm with recorded paths.</a:t>
            </a:r>
          </a:p>
          <a:p>
            <a:r>
              <a:rPr sz="1200">
                <a:solidFill>
                  <a:srgbClr val="000000"/>
                </a:solidFill>
                <a:latin typeface="Arial"/>
              </a:rPr>
              <a:t>Figure source: https://doi.org/10.1242/jeb.191429</a:t>
            </a:r>
          </a:p>
          <a:p/>
          <a:p>
            <a:r>
              <a:rPr sz="1200">
                <a:solidFill>
                  <a:srgbClr val="000000"/>
                </a:solidFill>
                <a:latin typeface="Arial"/>
              </a:rPr>
              <a:t>Figure: Kirszenblat et al. (2018), Fig. 1(F,G). Fixation deviation and angular velocity at different distractor contrasts.</a:t>
            </a:r>
          </a:p>
          <a:p>
            <a:r>
              <a:rPr sz="1200">
                <a:solidFill>
                  <a:srgbClr val="000000"/>
                </a:solidFill>
                <a:latin typeface="Arial"/>
              </a:rPr>
              <a:t>Figure source: https://doi.org/10.1242/jeb.191429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The locus coeruleus, or LC, is a brainstem nucleus whose neurons release norepinephrine, or NE, a chemical transmitter that modulates target-cell activity. NE and dopamine, or DA, belong to the catecholamine transmitter family. Bari and colleagues targeted LC neurons genetically and verified their identity in labeled tissue.</a:t>
            </a:r>
          </a:p>
          <a:p>
            <a:r>
              <a:rPr sz="1200">
                <a:solidFill>
                  <a:srgbClr val="000000"/>
                </a:solidFill>
                <a:latin typeface="Arial"/>
              </a:rPr>
              <a:t>• A transporter moves transmitter across a cell membrane. Expression of the norepinephrine transporter, or NET, helped identify the targeted neurons. Fluorescent markers localized light-sensitive proteins in LC cells and noradrenergic axon terminals in frontal cortex; source micrographs retain 100-µm and 50-µm reference scales.</a:t>
            </a:r>
          </a:p>
          <a:p>
            <a:r>
              <a:rPr sz="1200">
                <a:solidFill>
                  <a:srgbClr val="000000"/>
                </a:solidFill>
                <a:latin typeface="Arial"/>
              </a:rPr>
              <a:t>  – The nucleus contains the neuronal cell bodies, while their long axons reach distant cortical targets. A chemical transmitter can modify the operation of an existing circuit rather than specify one sensory feature. Anatomy establishes where that modulation is possible; release measurements and perturbation experiments establish additional functional properties.</a:t>
            </a:r>
          </a:p>
          <a:p>
            <a:r>
              <a:rPr sz="1200">
                <a:solidFill>
                  <a:srgbClr val="000000"/>
                </a:solidFill>
                <a:latin typeface="Arial"/>
              </a:rPr>
              <a:t>• The anatomical evidence links a transmitter-defined population to cortical projections. An axon terminal is the release-bearing ending of a neuronal process. Labeling establishes location and molecular identity, but it does not alone establish when release occurs, which receptor responds or whether a projection changes behavior.</a:t>
            </a:r>
          </a:p>
          <a:p/>
          <a:p>
            <a:r>
              <a:rPr sz="1200">
                <a:solidFill>
                  <a:srgbClr val="000000"/>
                </a:solidFill>
                <a:latin typeface="Arial"/>
              </a:rPr>
              <a:t>References:</a:t>
            </a:r>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Figure: Bari et al. (2020), Fig. 1(A–D). Opsin expression, firing-rate validation and locus-coeruleus recording site.</a:t>
            </a:r>
          </a:p>
          <a:p>
            <a:r>
              <a:rPr sz="1200">
                <a:solidFill>
                  <a:srgbClr val="000000"/>
                </a:solidFill>
                <a:latin typeface="Arial"/>
              </a:rPr>
              <a:t>Figure source: https://doi.org/10.1073/pnas.2015635117</a:t>
            </a:r>
          </a:p>
          <a:p/>
          <a:p>
            <a:r>
              <a:rPr sz="1200">
                <a:solidFill>
                  <a:srgbClr val="000000"/>
                </a:solidFill>
                <a:latin typeface="Arial"/>
              </a:rPr>
              <a:t>Figure: Bari et al. (2020), Fig. 5(D–F). Noradrenergic neuron and cortical terminal histology.</a:t>
            </a:r>
          </a:p>
          <a:p>
            <a:r>
              <a:rPr sz="1200">
                <a:solidFill>
                  <a:srgbClr val="000000"/>
                </a:solidFill>
                <a:latin typeface="Arial"/>
              </a:rPr>
              <a:t>Figure source: https://doi.org/10.1073/pnas.2015635117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Optogenetics controls genetically targeted cells with light-sensitive proteins. Bari and colleagues expressed channelrhodopsin-2, or ChR2, a light-activated ion channel, in noradrenergic neurons. Channel opening permitted depolarization, a shift of membrane voltage toward excitation, and increased LC firing during blue-light stimulation.</a:t>
            </a:r>
          </a:p>
          <a:p>
            <a:r>
              <a:rPr sz="1200">
                <a:solidFill>
                  <a:srgbClr val="000000"/>
                </a:solidFill>
                <a:latin typeface="Arial"/>
              </a:rPr>
              <a:t>• The investigators paired 7-s stimulation with 10-ms light pulses at different frequencies. At 20 Hz and 1.5 mW, stimulation produced elevated LC output and a robust prefrontal NE signal. A fluorescent NE sensor in medial prefrontal cortex reported transmitter-related changes during stimulation.</a:t>
            </a:r>
          </a:p>
          <a:p>
            <a:r>
              <a:rPr sz="1200">
                <a:solidFill>
                  <a:srgbClr val="000000"/>
                </a:solidFill>
                <a:latin typeface="Arial"/>
              </a:rPr>
              <a:t>  – Fiber photometry collects fluorescence from tissue through an optical fiber. The NE sensor responds to transmitter outside cells, whereas an electrode measures electrical spikes. Those measurements test different links between the light pulse, activity of the targeted neurons and chemical signaling at a distant target.</a:t>
            </a:r>
          </a:p>
          <a:p>
            <a:r>
              <a:rPr sz="1200">
                <a:solidFill>
                  <a:srgbClr val="000000"/>
                </a:solidFill>
                <a:latin typeface="Arial"/>
              </a:rPr>
              <a:t>• An imposed pulse frequency is not automatically the neuronal firing rate: this protocol elevated sustained LC firing to approximately 5 Hz. Sensor fluorescence provides an extracellular transmitter readout rather than a direct count of released molecules. Together, electrical recording and transmitter photometry validate the manipulation beyond protein expression alone.</a:t>
            </a:r>
          </a:p>
          <a:p/>
          <a:p>
            <a:r>
              <a:rPr sz="1200">
                <a:solidFill>
                  <a:srgbClr val="000000"/>
                </a:solidFill>
                <a:latin typeface="Arial"/>
              </a:rPr>
              <a:t>References:</a:t>
            </a:r>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Figure: Bari et al. (2020), Fig. 1(E–H). Prefrontal norepinephrine photometry during locus-coeruleus stimulation.</a:t>
            </a:r>
          </a:p>
          <a:p>
            <a:r>
              <a:rPr sz="1200">
                <a:solidFill>
                  <a:srgbClr val="000000"/>
                </a:solidFill>
                <a:latin typeface="Arial"/>
              </a:rPr>
              <a:t>Figure source: https://doi.org/10.1073/pnas.2015635117</a:t>
            </a:r>
          </a:p>
          <a:p/>
          <a:p>
            <a:r>
              <a:rPr sz="1200">
                <a:solidFill>
                  <a:srgbClr val="000000"/>
                </a:solidFill>
                <a:latin typeface="Arial"/>
              </a:rPr>
              <a:t>Figure: Bari et al. (2020), Fig. 1(A–D). Opsin expression, firing-rate validation and locus-coeruleus recording site.</a:t>
            </a:r>
          </a:p>
          <a:p>
            <a:r>
              <a:rPr sz="1200">
                <a:solidFill>
                  <a:srgbClr val="000000"/>
                </a:solidFill>
                <a:latin typeface="Arial"/>
              </a:rPr>
              <a:t>Figure source: https://doi.org/10.1073/pnas.2015635117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During the two-choice task, Bari and colleagues activated LC neurons over the 7-s delay preceding the target. ChR2-expressing mice made more correct choices and fewer premature responses with the laser on. Littermate controls lacking the active protein received comparable illumination.</a:t>
            </a:r>
          </a:p>
          <a:p>
            <a:r>
              <a:rPr sz="1200">
                <a:solidFill>
                  <a:srgbClr val="000000"/>
                </a:solidFill>
                <a:latin typeface="Arial"/>
              </a:rPr>
              <a:t>• The brief 0.5-s target challenged accurate detection and selection. Activation did not shorten response times, and the stimulation protocol did not increase open-field locomotor distance. Food-related controls also argued against a simple increase in reward motivation as the explanation for improved task performance.</a:t>
            </a:r>
          </a:p>
          <a:p>
            <a:r>
              <a:rPr sz="1200">
                <a:solidFill>
                  <a:srgbClr val="000000"/>
                </a:solidFill>
                <a:latin typeface="Arial"/>
              </a:rPr>
              <a:t>  – A laser-on versus laser-off comparison in the same task tests the immediate consequence of the manipulation. The protein-negative controls account for illumination itself. Unchanged movement and response speed constrain a motor explanation, while the dependence on the delay identifies a time window in which preparation can be altered.</a:t>
            </a:r>
          </a:p>
          <a:p>
            <a:r>
              <a:rPr sz="1200">
                <a:solidFill>
                  <a:srgbClr val="000000"/>
                </a:solidFill>
                <a:latin typeface="Arial"/>
              </a:rPr>
              <a:t>• Causal perturbation tests whether deliberately changing neural activity changes an outcome. These results support an influence of LC activity on selection and restraint during preparation. They do not establish that every frequency, duration or behavioral state of LC activation is beneficial, or identify one cortical receptor responsible for both effects.</a:t>
            </a:r>
          </a:p>
          <a:p/>
          <a:p>
            <a:r>
              <a:rPr sz="1200">
                <a:solidFill>
                  <a:srgbClr val="000000"/>
                </a:solidFill>
                <a:latin typeface="Arial"/>
              </a:rPr>
              <a:t>References:</a:t>
            </a:r>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Figure: Bari et al. (2020), Fig. 2(D–G). Locus-coeruleus activation changes accuracy and premature responses.</a:t>
            </a:r>
          </a:p>
          <a:p>
            <a:r>
              <a:rPr sz="1200">
                <a:solidFill>
                  <a:srgbClr val="000000"/>
                </a:solidFill>
                <a:latin typeface="Arial"/>
              </a:rPr>
              <a:t>Figure source: https://doi.org/10.1073/pnas.2015635117</a:t>
            </a:r>
          </a:p>
          <a:p/>
          <a:p>
            <a:r>
              <a:rPr sz="1200">
                <a:solidFill>
                  <a:srgbClr val="000000"/>
                </a:solidFill>
                <a:latin typeface="Arial"/>
              </a:rPr>
              <a:t>Figure: Bari et al. (2020), Fig. 1(I–N). Locomotor and anxiety-related behavioral controls.</a:t>
            </a:r>
          </a:p>
          <a:p>
            <a:r>
              <a:rPr sz="1200">
                <a:solidFill>
                  <a:srgbClr val="000000"/>
                </a:solidFill>
                <a:latin typeface="Arial"/>
              </a:rPr>
              <a:t>Figure source: https://doi.org/10.1073/pnas.2015635117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Bari and colleagues expressed archaerhodopsin, or Arch, a light-driven proton pump, in noradrenergic neurons. Its activation suppressed LC electrical activity. Applying continuous illumination during the delay provided a complementary manipulation to the ChR2 activation experiment.</a:t>
            </a:r>
          </a:p>
          <a:p>
            <a:r>
              <a:rPr sz="1200">
                <a:solidFill>
                  <a:srgbClr val="000000"/>
                </a:solidFill>
                <a:latin typeface="Arial"/>
              </a:rPr>
              <a:t>• In the task with a 7-s waiting period and a 0.5-s target, LC suppression reduced correct responses and increased premature nose pokes. Response times did not change. Animals lacking Arch served as illumination controls, while electrical recordings verified that the pump suppressed the targeted neurons.</a:t>
            </a:r>
          </a:p>
          <a:p>
            <a:r>
              <a:rPr sz="1200">
                <a:solidFill>
                  <a:srgbClr val="000000"/>
                </a:solidFill>
                <a:latin typeface="Arial"/>
              </a:rPr>
              <a:t>  – A proton pump moves charged particles across the membrane rather than forming the light-gated cation channel used for activation. The manipulation therefore changes excitability in the opposite direction. Verification of electrical suppression is essential because expression of the protein alone would not prove that the illumination successfully reduced firing.</a:t>
            </a:r>
          </a:p>
          <a:p>
            <a:r>
              <a:rPr sz="1200">
                <a:solidFill>
                  <a:srgbClr val="000000"/>
                </a:solidFill>
                <a:latin typeface="Arial"/>
              </a:rPr>
              <a:t>• Opposite behavioral effects of activation and suppression strengthen the causal connection between LC output and attentional control under these conditions. They do not imply that attention is a single variable determined by overall LC activity. The same nucleus has multiple projections, and suppressing its output can affect more than one downstream circuit.</a:t>
            </a:r>
          </a:p>
          <a:p/>
          <a:p>
            <a:r>
              <a:rPr sz="1200">
                <a:solidFill>
                  <a:srgbClr val="000000"/>
                </a:solidFill>
                <a:latin typeface="Arial"/>
              </a:rPr>
              <a:t>References:</a:t>
            </a:r>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Figure: Bari et al. (2020), Fig. 2(H–K). Locus-coeruleus inhibition changes accuracy and premature responses.</a:t>
            </a:r>
          </a:p>
          <a:p>
            <a:r>
              <a:rPr sz="1200">
                <a:solidFill>
                  <a:srgbClr val="000000"/>
                </a:solidFill>
                <a:latin typeface="Arial"/>
              </a:rPr>
              <a:t>Figure source: https://doi.org/10.1073/pnas.2015635117</a:t>
            </a:r>
          </a:p>
          <a:p/>
          <a:p>
            <a:r>
              <a:rPr sz="1200">
                <a:solidFill>
                  <a:srgbClr val="000000"/>
                </a:solidFill>
                <a:latin typeface="Arial"/>
              </a:rPr>
              <a:t>Figure: Bari et al. (2020), Fig. 1(A–D). Opsin expression, firing-rate validation and locus-coeruleus recording site.</a:t>
            </a:r>
          </a:p>
          <a:p>
            <a:r>
              <a:rPr sz="1200">
                <a:solidFill>
                  <a:srgbClr val="000000"/>
                </a:solidFill>
                <a:latin typeface="Arial"/>
              </a:rPr>
              <a:t>Figure source: https://doi.org/10.1073/pnas.2015635117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A valid cue appears on the future target side; an invalid cue appears on the opposite side. Bari and colleagues also used neutral and absent cues. The cue lasted 0.5 s and preceded a 3-s target, but its position did not predict where reward-relevant information would appear.</a:t>
            </a:r>
          </a:p>
          <a:p>
            <a:r>
              <a:rPr sz="1200">
                <a:solidFill>
                  <a:srgbClr val="000000"/>
                </a:solidFill>
                <a:latin typeface="Arial"/>
              </a:rPr>
              <a:t>• Control mice responded more slowly following invalid than neutral cues. The validity effect compared response timing after invalid and valid cues. LC activation reduced this timing difference, whereas LC suppression increased it. The uninformative cues could therefore bias orientation even when following them was not a reliable strategy.</a:t>
            </a:r>
          </a:p>
          <a:p>
            <a:r>
              <a:rPr sz="1200">
                <a:solidFill>
                  <a:srgbClr val="000000"/>
                </a:solidFill>
                <a:latin typeface="Arial"/>
              </a:rPr>
              <a:t>  – The target, rather than the preceding cue, determines which response earns food. A valid cue occasionally helps, but an invalid cue directs the animal away from the relevant location. Because the cue is uninformative overall, resistance to its influence can improve performance without making every response faster.</a:t>
            </a:r>
          </a:p>
          <a:p>
            <a:r>
              <a:rPr sz="1200">
                <a:solidFill>
                  <a:srgbClr val="000000"/>
                </a:solidFill>
                <a:latin typeface="Arial"/>
              </a:rPr>
              <a:t>• A smaller cue effect is consistent with stronger goal-directed selection of the target. Faster responding alone would not establish improved attention; changes must be interpreted relative to cue condition and accuracy. This preparation tests resistance to spatial distraction rather than all forms of vigilance, learning or impulsive choice.</a:t>
            </a:r>
          </a:p>
          <a:p/>
          <a:p>
            <a:r>
              <a:rPr sz="1200">
                <a:solidFill>
                  <a:srgbClr val="000000"/>
                </a:solidFill>
                <a:latin typeface="Arial"/>
              </a:rPr>
              <a:t>References:</a:t>
            </a:r>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Figure: Bari et al. (2020), Fig. 3(A,B). Valid, neutral and invalid spatial cues preceding the target.</a:t>
            </a:r>
          </a:p>
          <a:p>
            <a:r>
              <a:rPr sz="1200">
                <a:solidFill>
                  <a:srgbClr val="000000"/>
                </a:solidFill>
                <a:latin typeface="Arial"/>
              </a:rPr>
              <a:t>Figure source: https://doi.org/10.1073/pnas.2015635117</a:t>
            </a:r>
          </a:p>
          <a:p/>
          <a:p>
            <a:r>
              <a:rPr sz="1200">
                <a:solidFill>
                  <a:srgbClr val="000000"/>
                </a:solidFill>
                <a:latin typeface="Arial"/>
              </a:rPr>
              <a:t>Figure: Bari et al. (2020), Fig. 3(C–F). Response times and cue-validity effects during activation and inhibition.</a:t>
            </a:r>
          </a:p>
          <a:p>
            <a:r>
              <a:rPr sz="1200">
                <a:solidFill>
                  <a:srgbClr val="000000"/>
                </a:solidFill>
                <a:latin typeface="Arial"/>
              </a:rPr>
              <a:t>Figure source: https://doi.org/10.1073/pnas.2015635117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Goal-directed, or top-down, attention follows task requirements; stimulus-driven, or bottom-up, attention follows salient events. Bari and colleagues compared correct choices after valid and invalid spatial cues while changing LC activity during preparation. Cue position was irrelevant to the rule for obtaining food.</a:t>
            </a:r>
          </a:p>
          <a:p>
            <a:r>
              <a:rPr sz="1200">
                <a:solidFill>
                  <a:srgbClr val="000000"/>
                </a:solidFill>
                <a:latin typeface="Arial"/>
              </a:rPr>
              <a:t>• The difference in accuracy between valid and invalid trials was smaller during LC activation and larger during LC suppression. The target remained available for 3 s, so the comparison tested distraction by the preceding 0.5-s cue rather than detection of a uniformly brief target alone.</a:t>
            </a:r>
          </a:p>
          <a:p>
            <a:r>
              <a:rPr sz="1200">
                <a:solidFill>
                  <a:srgbClr val="000000"/>
                </a:solidFill>
                <a:latin typeface="Arial"/>
              </a:rPr>
              <a:t>  – A misleading cue can produce an incorrect choice without requiring a premature response. That distinction is preserved when target duration is increased to make selection under distraction the principal challenge. The experiment links controlled changes in the noradrenergic population to sensitivity to an irrelevant event, rather than to sensory detection alone.</a:t>
            </a:r>
          </a:p>
          <a:p>
            <a:r>
              <a:rPr sz="1200">
                <a:solidFill>
                  <a:srgbClr val="000000"/>
                </a:solidFill>
                <a:latin typeface="Arial"/>
              </a:rPr>
              <a:t>• The result supports LC modulation of the balance between goal-relevant and distracting information. It does not establish that a larger NE signal always eliminates distraction, or that every LC neuron has the same role. Accuracy and premature-response measures remain distinct even when one manipulation influences both.</a:t>
            </a:r>
          </a:p>
          <a:p/>
          <a:p>
            <a:r>
              <a:rPr sz="1200">
                <a:solidFill>
                  <a:srgbClr val="000000"/>
                </a:solidFill>
                <a:latin typeface="Arial"/>
              </a:rPr>
              <a:t>References:</a:t>
            </a:r>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Figure: Bari et al. (2020), Fig. 3(G–J). Accuracy depends on cue validity and locus-coeruleus manipulation.</a:t>
            </a:r>
          </a:p>
          <a:p>
            <a:r>
              <a:rPr sz="1200">
                <a:solidFill>
                  <a:srgbClr val="000000"/>
                </a:solidFill>
                <a:latin typeface="Arial"/>
              </a:rPr>
              <a:t>Figure source: https://doi.org/10.1073/pnas.2015635117</a:t>
            </a:r>
          </a:p>
          <a:p/>
          <a:p>
            <a:r>
              <a:rPr sz="1200">
                <a:solidFill>
                  <a:srgbClr val="000000"/>
                </a:solidFill>
                <a:latin typeface="Arial"/>
              </a:rPr>
              <a:t>Figure: Bari et al. (2020), Fig. 1(A–D). Opsin expression, firing-rate validation and locus-coeruleus recording site.</a:t>
            </a:r>
          </a:p>
          <a:p>
            <a:r>
              <a:rPr sz="1200">
                <a:solidFill>
                  <a:srgbClr val="000000"/>
                </a:solidFill>
                <a:latin typeface="Arial"/>
              </a:rPr>
              <a:t>Figure source: https://doi.org/10.1073/pnas.2015635117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Intracellular calcium is a signaling ion whose concentration often changes with neuronal activity. Bari and colleagues expressed GCaMP6f, a calcium-sensitive fluorescent protein, in NET-positive LC neurons. Fiber photometry recorded the population signal while mice performed the cue-dependent two-choice task.</a:t>
            </a:r>
          </a:p>
          <a:p>
            <a:r>
              <a:rPr sz="1200">
                <a:solidFill>
                  <a:srgbClr val="000000"/>
                </a:solidFill>
                <a:latin typeface="Arial"/>
              </a:rPr>
              <a:t>• Activity was aligned to target onset, separating delay-period signals from cue- and target-evoked responses. Sensory-evoked activity was measured over 0.5-s windows. A wavelength that did not depend on calcium provided a comparison channel for separating activity-related fluorescence from some optical artifacts.</a:t>
            </a:r>
          </a:p>
          <a:p>
            <a:r>
              <a:rPr sz="1200">
                <a:solidFill>
                  <a:srgbClr val="000000"/>
                </a:solidFill>
                <a:latin typeface="Arial"/>
              </a:rPr>
              <a:t>  – An action potential is a brief electrical spike, while the calcium sensor reports a biochemical consequence associated with activity. The sensor’s kinetics smooth the underlying events. Comparing spontaneous and event-locked signals requires specifying the analysis window, since a response to the target is different from activity before the target appears.</a:t>
            </a:r>
          </a:p>
          <a:p>
            <a:r>
              <a:rPr sz="1200">
                <a:solidFill>
                  <a:srgbClr val="000000"/>
                </a:solidFill>
                <a:latin typeface="Arial"/>
              </a:rPr>
              <a:t>• A calcium transient is a time-varying fluorescence response, rather than a direct measurement of every action potential. Population photometry averages signals from multiple cells and cannot establish whether individual projection-defined neurons respond identically. Its temporal relationship to behavior complements, but does not replace, electrical recording and causal manipulation.</a:t>
            </a:r>
          </a:p>
          <a:p/>
          <a:p>
            <a:r>
              <a:rPr sz="1200">
                <a:solidFill>
                  <a:srgbClr val="000000"/>
                </a:solidFill>
                <a:latin typeface="Arial"/>
              </a:rPr>
              <a:t>References:</a:t>
            </a:r>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Figure: Bari et al. (2020), Fig. 4(A–C). Calcium-sensor expression and sensory-evoked locus-coeruleus signal.</a:t>
            </a:r>
          </a:p>
          <a:p>
            <a:r>
              <a:rPr sz="1200">
                <a:solidFill>
                  <a:srgbClr val="000000"/>
                </a:solidFill>
                <a:latin typeface="Arial"/>
              </a:rPr>
              <a:t>Figure source: https://doi.org/10.1073/pnas.2015635117</a:t>
            </a:r>
          </a:p>
          <a:p/>
          <a:p>
            <a:r>
              <a:rPr sz="1200">
                <a:solidFill>
                  <a:srgbClr val="000000"/>
                </a:solidFill>
                <a:latin typeface="Arial"/>
              </a:rPr>
              <a:t>Figure: Bari et al. (2020), Fig. 4(D–F). Cue-task photometry and event-aligned calcium activity.</a:t>
            </a:r>
          </a:p>
          <a:p>
            <a:r>
              <a:rPr sz="1200">
                <a:solidFill>
                  <a:srgbClr val="000000"/>
                </a:solidFill>
                <a:latin typeface="Arial"/>
              </a:rPr>
              <a:t>Figure source: https://doi.org/10.1073/pnas.2015635117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Bari and colleagues compared LC calcium signals preceding correct, incorrect and premature responses. Activity during the latter portion of the waiting period was higher before correct responses and lower before errors or early nose pokes. The comparison concerned naturally occurring activity rather than imposed stimulation.</a:t>
            </a:r>
          </a:p>
          <a:p>
            <a:r>
              <a:rPr sz="1200">
                <a:solidFill>
                  <a:srgbClr val="000000"/>
                </a:solidFill>
                <a:latin typeface="Arial"/>
              </a:rPr>
              <a:t>• A 3-s pretarget analysis window reduced contamination by the animal turning toward the response panel. Cue-evoked activity was measured separately over 0.5 s. Premature responses were associated with lower preceding activity but stronger responses to the distracting cue, separating sustained preparation from stimulus-triggered activation.</a:t>
            </a:r>
          </a:p>
          <a:p>
            <a:r>
              <a:rPr sz="1200">
                <a:solidFill>
                  <a:srgbClr val="000000"/>
                </a:solidFill>
                <a:latin typeface="Arial"/>
              </a:rPr>
              <a:t>  – An event-evoked increase and elevated activity before an event need not have the same behavioral meaning. The distinction prevents the stronger response to a distractor from being equated with better task preparation. The recordings concern population activity, so the experiment does not identify the contribution of every individual LC neuron.</a:t>
            </a:r>
          </a:p>
          <a:p>
            <a:r>
              <a:rPr sz="1200">
                <a:solidFill>
                  <a:srgbClr val="000000"/>
                </a:solidFill>
                <a:latin typeface="Arial"/>
              </a:rPr>
              <a:t>• These associations support a relationship between LC state and successful restraint or selection. They do not prove that the measured calcium fluctuation causes each individual response. Other behavioral and neural variables can covary with the signal, while the separate optogenetic experiments establish a causal influence of the targeted population.</a:t>
            </a:r>
          </a:p>
          <a:p/>
          <a:p>
            <a:r>
              <a:rPr sz="1200">
                <a:solidFill>
                  <a:srgbClr val="000000"/>
                </a:solidFill>
                <a:latin typeface="Arial"/>
              </a:rPr>
              <a:t>References:</a:t>
            </a:r>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Figure: Bari et al. (2020), Fig. 4(G–I). Delay-period and cue-evoked calcium activity by response outcome.</a:t>
            </a:r>
          </a:p>
          <a:p>
            <a:r>
              <a:rPr sz="1200">
                <a:solidFill>
                  <a:srgbClr val="000000"/>
                </a:solidFill>
                <a:latin typeface="Arial"/>
              </a:rPr>
              <a:t>Figure source: https://doi.org/10.1073/pnas.2015635117</a:t>
            </a:r>
          </a:p>
          <a:p/>
          <a:p>
            <a:r>
              <a:rPr sz="1200">
                <a:solidFill>
                  <a:srgbClr val="000000"/>
                </a:solidFill>
                <a:latin typeface="Arial"/>
              </a:rPr>
              <a:t>Figure: Bari et al. (2020), Fig. 1(A–D). Opsin expression, firing-rate validation and locus-coeruleus recording site.</a:t>
            </a:r>
          </a:p>
          <a:p>
            <a:r>
              <a:rPr sz="1200">
                <a:solidFill>
                  <a:srgbClr val="000000"/>
                </a:solidFill>
                <a:latin typeface="Arial"/>
              </a:rPr>
              <a:t>Figure source: https://doi.org/10.1073/pnas.2015635117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The dorsomedial prefrontal cortex, or dmPFC, is a frontal cortical region receiving noradrenergic axons from the LC. Bari and colleagues expressed ChR2 in LC neurons using a dopamine-β-hydroxylase-based genetic strategy and verified labeled terminals and optical-fiber placement in cortical tissue.</a:t>
            </a:r>
          </a:p>
          <a:p>
            <a:r>
              <a:rPr sz="1200">
                <a:solidFill>
                  <a:srgbClr val="000000"/>
                </a:solidFill>
                <a:latin typeface="Arial"/>
              </a:rPr>
              <a:t>• Stimulation of LC terminals at 5 Hz during the pretarget delay increased correct responses on trials containing distractors. It did not alter premature-response frequency. Response times increased specifically under distraction, consistent with additional time being used for successful selection among competing stimuli.</a:t>
            </a:r>
          </a:p>
          <a:p>
            <a:r>
              <a:rPr sz="1200">
                <a:solidFill>
                  <a:srgbClr val="000000"/>
                </a:solidFill>
                <a:latin typeface="Arial"/>
              </a:rPr>
              <a:t>  – Dopamine-β-hydroxylase is the enzyme that converts dopamine into norepinephrine and provides a marker for noradrenergic neurons. Illuminating axon terminals in one cortical region restricts where the intervention is delivered. Nevertheless, terminal stimulation is not equivalent to isolating a single synapse or proving that no other branches of the same neurons are affected.</a:t>
            </a:r>
          </a:p>
          <a:p>
            <a:r>
              <a:rPr sz="1200">
                <a:solidFill>
                  <a:srgbClr val="000000"/>
                </a:solidFill>
                <a:latin typeface="Arial"/>
              </a:rPr>
              <a:t>• Terminal manipulation narrows the candidate pathway beyond whole-LC stimulation. The result supports a dmPFC contribution to target selection under distraction, rather than a general reduction of all forms of impulsivity. The experiment does not identify the postsynaptic receptor or local neuron class that mediates the behavioral improvement.</a:t>
            </a:r>
          </a:p>
          <a:p/>
          <a:p>
            <a:r>
              <a:rPr sz="1200">
                <a:solidFill>
                  <a:srgbClr val="000000"/>
                </a:solidFill>
                <a:latin typeface="Arial"/>
              </a:rPr>
              <a:t>References:</a:t>
            </a:r>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Figure: Bari et al. (2020), Fig. 5(G–J). Dorsomedial prefrontal anatomy and terminal-stimulation effects.</a:t>
            </a:r>
          </a:p>
          <a:p>
            <a:r>
              <a:rPr sz="1200">
                <a:solidFill>
                  <a:srgbClr val="000000"/>
                </a:solidFill>
                <a:latin typeface="Arial"/>
              </a:rPr>
              <a:t>Figure source: https://doi.org/10.1073/pnas.2015635117</a:t>
            </a:r>
          </a:p>
          <a:p/>
          <a:p>
            <a:r>
              <a:rPr sz="1200">
                <a:solidFill>
                  <a:srgbClr val="000000"/>
                </a:solidFill>
                <a:latin typeface="Arial"/>
              </a:rPr>
              <a:t>Figure: Bari et al. (2020), Fig. 5(D–F). Noradrenergic neuron and cortical terminal histology.</a:t>
            </a:r>
          </a:p>
          <a:p>
            <a:r>
              <a:rPr sz="1200">
                <a:solidFill>
                  <a:srgbClr val="000000"/>
                </a:solidFill>
                <a:latin typeface="Arial"/>
              </a:rPr>
              <a:t>Figure source: https://doi.org/10.1073/pnas.2015635117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The ventrolateral orbitofrontal cortex, or vlOFC, is a frontal region on the ventral and lateral cortical surface. Bari and colleagues verified noradrenergic terminal labeling and positioned optical fibers in this region, using the same LC-origin ChR2 strategy as for dmPFC targeting.</a:t>
            </a:r>
          </a:p>
          <a:p>
            <a:r>
              <a:rPr sz="1200">
                <a:solidFill>
                  <a:srgbClr val="000000"/>
                </a:solidFill>
                <a:latin typeface="Arial"/>
              </a:rPr>
              <a:t>• Terminal stimulation at 5 Hz decreased premature responding whether distractors were present or absent. It did not change correct-response proportion or response times. Histology supplied anatomical verification, including the original 400-µm scale reference for the cortical fiber-placement sections.</a:t>
            </a:r>
          </a:p>
          <a:p>
            <a:r>
              <a:rPr sz="1200">
                <a:solidFill>
                  <a:srgbClr val="000000"/>
                </a:solidFill>
                <a:latin typeface="Arial"/>
              </a:rPr>
              <a:t>  – The same transmitter can have different behavioral effects when delivered to different cortical circuits. Response restraint depends on withholding the nose poke until the target appears, while accuracy depends on selecting the target location. The dissociation is defined by those measured outcomes rather than by a general label such as improved cognition.</a:t>
            </a:r>
          </a:p>
          <a:p>
            <a:r>
              <a:rPr sz="1200">
                <a:solidFill>
                  <a:srgbClr val="000000"/>
                </a:solidFill>
                <a:latin typeface="Arial"/>
              </a:rPr>
              <a:t>• The vlOFC manipulation affected restraint, whereas dmPFC targeting primarily affected distractor-dependent accuracy. This double dissociation, different selective effects from two interventions, argues against treating attention and response inhibition as one behavioral process. It does not establish that either cortical region exclusively controls its associated function in every task.</a:t>
            </a:r>
          </a:p>
          <a:p/>
          <a:p>
            <a:r>
              <a:rPr sz="1200">
                <a:solidFill>
                  <a:srgbClr val="000000"/>
                </a:solidFill>
                <a:latin typeface="Arial"/>
              </a:rPr>
              <a:t>References:</a:t>
            </a:r>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Figure: Bari et al. (2020), Fig. 5(K–N). Ventrolateral orbitofrontal anatomy and terminal-stimulation effects.</a:t>
            </a:r>
          </a:p>
          <a:p>
            <a:r>
              <a:rPr sz="1200">
                <a:solidFill>
                  <a:srgbClr val="000000"/>
                </a:solidFill>
                <a:latin typeface="Arial"/>
              </a:rPr>
              <a:t>Figure source: https://doi.org/10.1073/pnas.2015635117</a:t>
            </a:r>
          </a:p>
          <a:p/>
          <a:p>
            <a:r>
              <a:rPr sz="1200">
                <a:solidFill>
                  <a:srgbClr val="000000"/>
                </a:solidFill>
                <a:latin typeface="Arial"/>
              </a:rPr>
              <a:t>Figure: Bari et al. (2020), Fig. 5(D–F). Noradrenergic neuron and cortical terminal histology.</a:t>
            </a:r>
          </a:p>
          <a:p>
            <a:r>
              <a:rPr sz="1200">
                <a:solidFill>
                  <a:srgbClr val="000000"/>
                </a:solidFill>
                <a:latin typeface="Arial"/>
              </a:rPr>
              <a:t>Figure source: https://doi.org/10.1073/pnas.2015635117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The prelimbic cortex is a medial prefrontal region in mice. Wimmer and colleagues disrupted its activity by stimulating local GABAergic neurons, cells that release the inhibitory transmitter gamma-aminobutyric acid, or GABA. Activation of these inhibitory cells reduced activity in the surrounding excitatory network.</a:t>
            </a:r>
          </a:p>
          <a:p>
            <a:r>
              <a:rPr sz="1200">
                <a:solidFill>
                  <a:srgbClr val="000000"/>
                </a:solidFill>
                <a:latin typeface="Arial"/>
              </a:rPr>
              <a:t>• Blue-light pulses at 50 Hz were delivered during either anticipation or target presentation. Prefrontal disruption impaired cross-modal performance when applied during anticipation. Comparable manipulation did not alter visual-only performance, even when the visual task was difficult; histology and light-spread measurements verified the targeted tissue.</a:t>
            </a:r>
          </a:p>
          <a:p>
            <a:r>
              <a:rPr sz="1200">
                <a:solidFill>
                  <a:srgbClr val="000000"/>
                </a:solidFill>
                <a:latin typeface="Arial"/>
              </a:rPr>
              <a:t>  – Inhibitory neurons were activated to suppress the local network, so light stimulation in this experiment has a different functional purpose from direct activation of noradrenergic cells. The visual-only comparison preserves a sensory decision while removing the requirement to select between modalities. That control constrains the role attributed to the prelimbic network.</a:t>
            </a:r>
          </a:p>
          <a:p>
            <a:r>
              <a:rPr sz="1200">
                <a:solidFill>
                  <a:srgbClr val="000000"/>
                </a:solidFill>
                <a:latin typeface="Arial"/>
              </a:rPr>
              <a:t>• The result supports a prefrontal requirement for preparing a cue-dependent sensory selection. It does not imply that all difficult visual decisions require the same frontal circuit. Timing-specific perturbations distinguish a preparatory contribution from direct sensory processing after the stimulus appears.</a:t>
            </a:r>
          </a:p>
          <a:p/>
          <a:p>
            <a:r>
              <a:rPr sz="1200">
                <a:solidFill>
                  <a:srgbClr val="000000"/>
                </a:solidFill>
                <a:latin typeface="Arial"/>
              </a:rPr>
              <a:t>References:</a:t>
            </a:r>
          </a:p>
          <a:p>
            <a:r>
              <a:rPr sz="1200">
                <a:solidFill>
                  <a:srgbClr val="000000"/>
                </a:solidFill>
                <a:latin typeface="Arial"/>
              </a:rPr>
              <a:t>Ralf D. Wimmer; L. Ian Schmitt; Thomas J. Davidson; Miho Nakajima; Karl Deisseroth; Michael M. Halassa (2015). Thalamic control of sensory selection in divided attention. Nature 526(7575): 705-709. https://doi.org/10.1038/nature15398</a:t>
            </a:r>
          </a:p>
          <a:p/>
          <a:p>
            <a:r>
              <a:rPr sz="1200">
                <a:solidFill>
                  <a:srgbClr val="000000"/>
                </a:solidFill>
                <a:latin typeface="Arial"/>
              </a:rPr>
              <a:t>Figure: Wimmer et al. (2015), Fig. 2(a,b). Prefrontal perturbation timing and visual-only control.</a:t>
            </a:r>
          </a:p>
          <a:p>
            <a:r>
              <a:rPr sz="1200">
                <a:solidFill>
                  <a:srgbClr val="000000"/>
                </a:solidFill>
                <a:latin typeface="Arial"/>
              </a:rPr>
              <a:t>Figure source: https://doi.org/10.1038/nature15398</a:t>
            </a:r>
          </a:p>
          <a:p/>
          <a:p>
            <a:r>
              <a:rPr sz="1200">
                <a:solidFill>
                  <a:srgbClr val="000000"/>
                </a:solidFill>
                <a:latin typeface="Arial"/>
              </a:rPr>
              <a:t>Figure: Wimmer et al. (2015), Fig. Extended Data 4(e,f). Prelimbic targeting, labeled inhibitory neurons and light spread.</a:t>
            </a:r>
          </a:p>
          <a:p>
            <a:r>
              <a:rPr sz="1200">
                <a:solidFill>
                  <a:srgbClr val="000000"/>
                </a:solidFill>
                <a:latin typeface="Arial"/>
              </a:rPr>
              <a:t>Figure source: https://doi.org/10.1038/nature15398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The primary visual cortex, or V1, is a cortical region that processes visual input. Wimmer and colleagues used light-driven local inhibition to compare its contribution during anticipation with its contribution during presentation of the visual target. The original anatomical targeting accompanies the perturbation results.</a:t>
            </a:r>
          </a:p>
          <a:p>
            <a:r>
              <a:rPr sz="1200">
                <a:solidFill>
                  <a:srgbClr val="000000"/>
                </a:solidFill>
                <a:latin typeface="Arial"/>
              </a:rPr>
              <a:t>• Disruption during target presentation impaired visual performance, whereas anticipatory disruption did not produce the prefrontal pattern. In a visual-only task, visual-cortex perturbation increased the detection threshold. The same general 50-Hz stimulation approach therefore produced different effects depending on location and timing.</a:t>
            </a:r>
          </a:p>
          <a:p>
            <a:r>
              <a:rPr sz="1200">
                <a:solidFill>
                  <a:srgbClr val="000000"/>
                </a:solidFill>
                <a:latin typeface="Arial"/>
              </a:rPr>
              <a:t>  – A region can be essential for detecting a stimulus without being the location where the animal prepares which modality to select. The perturbation window separates those functions. The same behavioral error can follow interruption at different stages, so anatomical location and the timing of disruption both contribute to the inference.</a:t>
            </a:r>
          </a:p>
          <a:p>
            <a:r>
              <a:rPr sz="1200">
                <a:solidFill>
                  <a:srgbClr val="000000"/>
                </a:solidFill>
                <a:latin typeface="Arial"/>
              </a:rPr>
              <a:t>• These results support a sensory-processing role for V1 under the tested conditions. They do not exclude cortical attentional modulation in other tasks or species. The absence of a preparatory effect here constrains a specific proposed route for sensory selection; it does not establish that V1 never participates in top-down processing.</a:t>
            </a:r>
          </a:p>
          <a:p/>
          <a:p>
            <a:r>
              <a:rPr sz="1200">
                <a:solidFill>
                  <a:srgbClr val="000000"/>
                </a:solidFill>
                <a:latin typeface="Arial"/>
              </a:rPr>
              <a:t>References:</a:t>
            </a:r>
          </a:p>
          <a:p>
            <a:r>
              <a:rPr sz="1200">
                <a:solidFill>
                  <a:srgbClr val="000000"/>
                </a:solidFill>
                <a:latin typeface="Arial"/>
              </a:rPr>
              <a:t>Ralf D. Wimmer; L. Ian Schmitt; Thomas J. Davidson; Miho Nakajima; Karl Deisseroth; Michael M. Halassa (2015). Thalamic control of sensory selection in divided attention. Nature 526(7575): 705-709. https://doi.org/10.1038/nature15398</a:t>
            </a:r>
          </a:p>
          <a:p/>
          <a:p>
            <a:r>
              <a:rPr sz="1200">
                <a:solidFill>
                  <a:srgbClr val="000000"/>
                </a:solidFill>
                <a:latin typeface="Arial"/>
              </a:rPr>
              <a:t>Figure: Wimmer et al. (2015), Fig. 2(c,d). Visual-cortex perturbation during anticipation and stimulus presentation.</a:t>
            </a:r>
          </a:p>
          <a:p>
            <a:r>
              <a:rPr sz="1200">
                <a:solidFill>
                  <a:srgbClr val="000000"/>
                </a:solidFill>
                <a:latin typeface="Arial"/>
              </a:rPr>
              <a:t>Figure source: https://doi.org/10.1038/nature15398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The thalamus contains nuclei linking sensory input with cortical processing. The lateral geniculate nucleus, or LGN, is a visual relay. The thalamic reticular nucleus, or TRN, is a surrounding population of inhibitory neurons; its visual sector, visTRN, projects to the LGN.</a:t>
            </a:r>
          </a:p>
          <a:p>
            <a:r>
              <a:rPr sz="1200">
                <a:solidFill>
                  <a:srgbClr val="000000"/>
                </a:solidFill>
                <a:latin typeface="Arial"/>
              </a:rPr>
              <a:t>• Wimmer and colleagues combined genetic identity with projection tracing to label GABAergic neurons connected to the LGN. Retrograde labeling identifies cells by transport from a projection target back toward their cell bodies. Original histology localized reticular and geniculate tissue with 100-µm reference scales.</a:t>
            </a:r>
          </a:p>
          <a:p>
            <a:r>
              <a:rPr sz="1200">
                <a:solidFill>
                  <a:srgbClr val="000000"/>
                </a:solidFill>
                <a:latin typeface="Arial"/>
              </a:rPr>
              <a:t>  – A relay neuron transmits information onward, while an inhibitory input can change how strongly that information reaches the next stage. The study selected reticular neurons by both their transmitter-related genetic marker and their connection to the visual thalamus. That intersection is more specific than recording from the thalamus without identifying the cells’ output target.</a:t>
            </a:r>
          </a:p>
          <a:p>
            <a:r>
              <a:rPr sz="1200">
                <a:solidFill>
                  <a:srgbClr val="000000"/>
                </a:solidFill>
                <a:latin typeface="Arial"/>
              </a:rPr>
              <a:t>• This preparation identifies a candidate inhibitory route for regulating visual transmission. It does not make the TRN a passive barrier or establish that every reticular cell performs the same computation. Projection identity must be combined with activity during selection and perturbation of those identified neurons.</a:t>
            </a:r>
          </a:p>
          <a:p/>
          <a:p>
            <a:r>
              <a:rPr sz="1200">
                <a:solidFill>
                  <a:srgbClr val="000000"/>
                </a:solidFill>
                <a:latin typeface="Arial"/>
              </a:rPr>
              <a:t>References:</a:t>
            </a:r>
          </a:p>
          <a:p>
            <a:r>
              <a:rPr sz="1200">
                <a:solidFill>
                  <a:srgbClr val="000000"/>
                </a:solidFill>
                <a:latin typeface="Arial"/>
              </a:rPr>
              <a:t>Ralf D. Wimmer; L. Ian Schmitt; Thomas J. Davidson; Miho Nakajima; Karl Deisseroth; Michael M. Halassa (2015). Thalamic control of sensory selection in divided attention. Nature 526(7575): 705-709. https://doi.org/10.1038/nature15398</a:t>
            </a:r>
          </a:p>
          <a:p/>
          <a:p>
            <a:r>
              <a:rPr sz="1200">
                <a:solidFill>
                  <a:srgbClr val="000000"/>
                </a:solidFill>
                <a:latin typeface="Arial"/>
              </a:rPr>
              <a:t>Figure: Wimmer et al. (2015), Fig. 3(a–e). Projection-defined reticular neurons and attention-dependent spike recordings.</a:t>
            </a:r>
          </a:p>
          <a:p>
            <a:r>
              <a:rPr sz="1200">
                <a:solidFill>
                  <a:srgbClr val="000000"/>
                </a:solidFill>
                <a:latin typeface="Arial"/>
              </a:rPr>
              <a:t>Figure source: https://doi.org/10.1038/nature15398</a:t>
            </a:r>
          </a:p>
          <a:p/>
          <a:p>
            <a:r>
              <a:rPr sz="1200">
                <a:solidFill>
                  <a:srgbClr val="000000"/>
                </a:solidFill>
                <a:latin typeface="Arial"/>
              </a:rPr>
              <a:t>Figure: Wimmer et al. (2015), Fig. Extended Data 5(a,b). Reticular and geniculate anatomical labeling.</a:t>
            </a:r>
          </a:p>
          <a:p>
            <a:r>
              <a:rPr sz="1200">
                <a:solidFill>
                  <a:srgbClr val="000000"/>
                </a:solidFill>
                <a:latin typeface="Arial"/>
              </a:rPr>
              <a:t>Figure source: https://doi.org/10.1038/nature15398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Wimmer and colleagues recorded spikes from projection-defined visTRN neurons while mice anticipated conflicting auditory and visual targets. Optogenetic identification linked the recorded cells to the previously labeled inhibitory population rather than relying only on electrode position. Firing rates were expressed in spikes per second, or hertz.</a:t>
            </a:r>
          </a:p>
          <a:p>
            <a:r>
              <a:rPr sz="1200">
                <a:solidFill>
                  <a:srgbClr val="000000"/>
                </a:solidFill>
                <a:latin typeface="Arial"/>
              </a:rPr>
              <a:t>• VisTRN activity decreased when the animal prepared to select vision and increased when it prepared to select audition. Disrupting prefrontal activity diminished this modality-dependent difference. The effect was not simply reproduced by naturally occurring errors, supporting a specific relationship to the preparatory frontal manipulation.</a:t>
            </a:r>
          </a:p>
          <a:p>
            <a:r>
              <a:rPr sz="1200">
                <a:solidFill>
                  <a:srgbClr val="000000"/>
                </a:solidFill>
                <a:latin typeface="Arial"/>
              </a:rPr>
              <a:t>  – A spike raster records the timing of individual electrical events across trials. The modality-dependent changes begin before the target, so they concern preparation rather than only a response to incoming light. Prefrontal disruption tests functional coupling, while the anatomical path between the two regions can still include intermediate neurons.</a:t>
            </a:r>
          </a:p>
          <a:p>
            <a:r>
              <a:rPr sz="1200">
                <a:solidFill>
                  <a:srgbClr val="000000"/>
                </a:solidFill>
                <a:latin typeface="Arial"/>
              </a:rPr>
              <a:t>• The pattern is consistent with reduced inhibition of the visual relay when vision is relevant and increased inhibition when it is distracting. Functional dependence on prefrontal activity does not by itself establish one direct monosynaptic connection. A monosynaptic connection is a link across a single synapse, which requires additional circuit evidence.</a:t>
            </a:r>
          </a:p>
          <a:p/>
          <a:p>
            <a:r>
              <a:rPr sz="1200">
                <a:solidFill>
                  <a:srgbClr val="000000"/>
                </a:solidFill>
                <a:latin typeface="Arial"/>
              </a:rPr>
              <a:t>References:</a:t>
            </a:r>
          </a:p>
          <a:p>
            <a:r>
              <a:rPr sz="1200">
                <a:solidFill>
                  <a:srgbClr val="000000"/>
                </a:solidFill>
                <a:latin typeface="Arial"/>
              </a:rPr>
              <a:t>Ralf D. Wimmer; L. Ian Schmitt; Thomas J. Davidson; Miho Nakajima; Karl Deisseroth; Michael M. Halassa (2015). Thalamic control of sensory selection in divided attention. Nature 526(7575): 705-709. https://doi.org/10.1038/nature15398</a:t>
            </a:r>
          </a:p>
          <a:p/>
          <a:p>
            <a:r>
              <a:rPr sz="1200">
                <a:solidFill>
                  <a:srgbClr val="000000"/>
                </a:solidFill>
                <a:latin typeface="Arial"/>
              </a:rPr>
              <a:t>Figure: Wimmer et al. (2015), Fig. 3(a–e). Projection-defined reticular neurons and attention-dependent spike recordings.</a:t>
            </a:r>
          </a:p>
          <a:p>
            <a:r>
              <a:rPr sz="1200">
                <a:solidFill>
                  <a:srgbClr val="000000"/>
                </a:solidFill>
                <a:latin typeface="Arial"/>
              </a:rPr>
              <a:t>Figure source: https://doi.org/10.1038/nature15398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Wimmer and colleagues activated or inhibited the LGN-projecting reticular population during the divided-attention task. ChR2 activation increased activity, whereas halorhodopsin, a light-driven chloride pump, suppressed it. Projection tracing and histology constrained the manipulated neurons to the visual inhibitory subnetwork.</a:t>
            </a:r>
          </a:p>
          <a:p>
            <a:r>
              <a:rPr sz="1200">
                <a:solidFill>
                  <a:srgbClr val="000000"/>
                </a:solidFill>
                <a:latin typeface="Arial"/>
              </a:rPr>
              <a:t>• Activation impaired visual-selection trials, consistent with excessive inhibition of the visual relay. Suppression preferentially impaired auditory-selection trials, when visual information needed to be disregarded. Perturbations were compared during anticipation and target presentation rather than treating the complete trial as one undifferentiated time period.</a:t>
            </a:r>
          </a:p>
          <a:p>
            <a:r>
              <a:rPr sz="1200">
                <a:solidFill>
                  <a:srgbClr val="000000"/>
                </a:solidFill>
                <a:latin typeface="Arial"/>
              </a:rPr>
              <a:t>  – An inhibitory circuit can improve one kind of trial while impairing another. When the rule requires audition, releasing the visual pathway from inhibition permits irrelevant visual information to compete more strongly. The consequence of a manipulation therefore depends on the instructed sensory goal rather than on a universal preference for stronger sensory responses.</a:t>
            </a:r>
          </a:p>
          <a:p>
            <a:r>
              <a:rPr sz="1200">
                <a:solidFill>
                  <a:srgbClr val="000000"/>
                </a:solidFill>
                <a:latin typeface="Arial"/>
              </a:rPr>
              <a:t>• The opposing effects support a causal role for regulated reticular inhibition in selecting the relevant modality. Simply increasing visual transmission is not beneficial when vision is the distractor. These results establish task-dependent behavioral consequences, while the precise downstream electrical and chemical changes require recordings from the relay itself.</a:t>
            </a:r>
          </a:p>
          <a:p/>
          <a:p>
            <a:r>
              <a:rPr sz="1200">
                <a:solidFill>
                  <a:srgbClr val="000000"/>
                </a:solidFill>
                <a:latin typeface="Arial"/>
              </a:rPr>
              <a:t>References:</a:t>
            </a:r>
          </a:p>
          <a:p>
            <a:r>
              <a:rPr sz="1200">
                <a:solidFill>
                  <a:srgbClr val="000000"/>
                </a:solidFill>
                <a:latin typeface="Arial"/>
              </a:rPr>
              <a:t>Ralf D. Wimmer; L. Ian Schmitt; Thomas J. Davidson; Miho Nakajima; Karl Deisseroth; Michael M. Halassa (2015). Thalamic control of sensory selection in divided attention. Nature 526(7575): 705-709. https://doi.org/10.1038/nature15398</a:t>
            </a:r>
          </a:p>
          <a:p/>
          <a:p>
            <a:r>
              <a:rPr sz="1200">
                <a:solidFill>
                  <a:srgbClr val="000000"/>
                </a:solidFill>
                <a:latin typeface="Arial"/>
              </a:rPr>
              <a:t>Figure: Wimmer et al. (2015), Fig. 3(f,g). Activation and inhibition of visual reticular neurons affect different trial types.</a:t>
            </a:r>
          </a:p>
          <a:p>
            <a:r>
              <a:rPr sz="1200">
                <a:solidFill>
                  <a:srgbClr val="000000"/>
                </a:solidFill>
                <a:latin typeface="Arial"/>
              </a:rPr>
              <a:t>Figure source: https://doi.org/10.1038/nature15398</a:t>
            </a:r>
          </a:p>
          <a:p/>
          <a:p>
            <a:r>
              <a:rPr sz="1200">
                <a:solidFill>
                  <a:srgbClr val="000000"/>
                </a:solidFill>
                <a:latin typeface="Arial"/>
              </a:rPr>
              <a:t>Figure: Wimmer et al. (2015), Fig. Extended Data 5(a,b). Reticular and geniculate anatomical labeling.</a:t>
            </a:r>
          </a:p>
          <a:p>
            <a:r>
              <a:rPr sz="1200">
                <a:solidFill>
                  <a:srgbClr val="000000"/>
                </a:solidFill>
                <a:latin typeface="Arial"/>
              </a:rPr>
              <a:t>Figure source: https://doi.org/10.1038/nature15398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Sensory gain describes the strength of a neural response to input under a particular processing state. Wimmer and colleagues recorded LGN neurons during the cross-modal task. Head-mounted lights reduced variability in retinal stimulation associated with changes in the animal’s position relative to wall-mounted targets.</a:t>
            </a:r>
          </a:p>
          <a:p>
            <a:r>
              <a:rPr sz="1200">
                <a:solidFill>
                  <a:srgbClr val="000000"/>
                </a:solidFill>
                <a:latin typeface="Arial"/>
              </a:rPr>
              <a:t>• LGN neurons had higher baseline and visually evoked firing when vision was selected than when audition was selected. The visual evoked potential, a stimulus-linked extracellular electrical signal, also increased. Recorded responses were aligned to light onset, with neuronal rates measured in hertz and evoked potentials in microvolts.</a:t>
            </a:r>
          </a:p>
          <a:p>
            <a:r>
              <a:rPr sz="1200">
                <a:solidFill>
                  <a:srgbClr val="000000"/>
                </a:solidFill>
                <a:latin typeface="Arial"/>
              </a:rPr>
              <a:t>  – Baseline activity precedes the visual stimulus; evoked activity follows it. Both can change with the selected modality. A population electrical potential and a single neuron’s spike train measure different aspects of activity, and their agreement supports a relay-level modulation without making them identical readouts.</a:t>
            </a:r>
          </a:p>
          <a:p>
            <a:r>
              <a:rPr sz="1200">
                <a:solidFill>
                  <a:srgbClr val="000000"/>
                </a:solidFill>
                <a:latin typeface="Arial"/>
              </a:rPr>
              <a:t>• The results locate attention-dependent modulation within the visual thalamus, rather than only in a behavioral score. They do not identify which input changes the gain. Increased excitation and reduced inhibition can both elevate firing, so the inhibitory mechanism requires an additional physiological measurement and intervention.</a:t>
            </a:r>
          </a:p>
          <a:p/>
          <a:p>
            <a:r>
              <a:rPr sz="1200">
                <a:solidFill>
                  <a:srgbClr val="000000"/>
                </a:solidFill>
                <a:latin typeface="Arial"/>
              </a:rPr>
              <a:t>References:</a:t>
            </a:r>
          </a:p>
          <a:p>
            <a:r>
              <a:rPr sz="1200">
                <a:solidFill>
                  <a:srgbClr val="000000"/>
                </a:solidFill>
                <a:latin typeface="Arial"/>
              </a:rPr>
              <a:t>Ralf D. Wimmer; L. Ian Schmitt; Thomas J. Davidson; Miho Nakajima; Karl Deisseroth; Michael M. Halassa (2015). Thalamic control of sensory selection in divided attention. Nature 526(7575): 705-709. https://doi.org/10.1038/nature15398</a:t>
            </a:r>
          </a:p>
          <a:p/>
          <a:p>
            <a:r>
              <a:rPr sz="1200">
                <a:solidFill>
                  <a:srgbClr val="000000"/>
                </a:solidFill>
                <a:latin typeface="Arial"/>
              </a:rPr>
              <a:t>Figure: Wimmer et al. (2015), Fig. 4(a–e). Geniculate anatomy, single-neuron activity and visual evoked potentials.</a:t>
            </a:r>
          </a:p>
          <a:p>
            <a:r>
              <a:rPr sz="1200">
                <a:solidFill>
                  <a:srgbClr val="000000"/>
                </a:solidFill>
                <a:latin typeface="Arial"/>
              </a:rPr>
              <a:t>Figure source: https://doi.org/10.1038/nature15398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The GABA-A receptor is a transmitter-gated ion channel that permits chloride movement. Wimmer and colleagues expressed SuperClomeleon, a chloride-sensitive fluorescent indicator, in LGN neurons. Its paired fluorescent proteins report fluorescence resonance energy transfer, or FRET, an energy-transfer signal that changes with intracellular chloride.</a:t>
            </a:r>
          </a:p>
          <a:p>
            <a:r>
              <a:rPr sz="1200">
                <a:solidFill>
                  <a:srgbClr val="000000"/>
                </a:solidFill>
                <a:latin typeface="Arial"/>
              </a:rPr>
              <a:t>• Excitation at 430 nm allowed a ratio of the two emission signals to be measured. Visual stimulation produced a larger chloride-related response when audition was selected. Reticular inactivation eliminated that modality-dependent difference; drug and fluorescent-protein controls supported the signal’s relationship to GABA-mediated inhibition.</a:t>
            </a:r>
          </a:p>
          <a:p>
            <a:r>
              <a:rPr sz="1200">
                <a:solidFill>
                  <a:srgbClr val="000000"/>
                </a:solidFill>
                <a:latin typeface="Arial"/>
              </a:rPr>
              <a:t>  – Chloride concentration is a chemical variable, whereas firing rate is an electrical output. Increased chloride-sensitive inhibition during auditory selection can suppress a competing visual signal. Eliminating the difference by reticular inactivation ties the chemical readout to a candidate source of inhibition, beyond the correlation between selected modality and relay firing.</a:t>
            </a:r>
          </a:p>
          <a:p>
            <a:r>
              <a:rPr sz="1200">
                <a:solidFill>
                  <a:srgbClr val="000000"/>
                </a:solidFill>
                <a:latin typeface="Arial"/>
              </a:rPr>
              <a:t>• The combined measurements support regulated inhibitory input as a mechanism of visual gain control. Bulk photometry does not isolate every synapse or supply a complete conductance measurement. A chloride-sensitive signal must be interpreted with its calibration and controls, rather than equating any fluorescence change with neuronal inhibition.</a:t>
            </a:r>
          </a:p>
          <a:p/>
          <a:p>
            <a:r>
              <a:rPr sz="1200">
                <a:solidFill>
                  <a:srgbClr val="000000"/>
                </a:solidFill>
                <a:latin typeface="Arial"/>
              </a:rPr>
              <a:t>References:</a:t>
            </a:r>
          </a:p>
          <a:p>
            <a:r>
              <a:rPr sz="1200">
                <a:solidFill>
                  <a:srgbClr val="000000"/>
                </a:solidFill>
                <a:latin typeface="Arial"/>
              </a:rPr>
              <a:t>Ralf D. Wimmer; L. Ian Schmitt; Thomas J. Davidson; Miho Nakajima; Karl Deisseroth; Michael M. Halassa (2015). Thalamic control of sensory selection in divided attention. Nature 526(7575): 705-709. https://doi.org/10.1038/nature15398</a:t>
            </a:r>
          </a:p>
          <a:p/>
          <a:p>
            <a:r>
              <a:rPr sz="1200">
                <a:solidFill>
                  <a:srgbClr val="000000"/>
                </a:solidFill>
                <a:latin typeface="Arial"/>
              </a:rPr>
              <a:t>Figure: Wimmer et al. (2015), Fig. 5(a–d). Chloride-sensitive photometry and geniculate expression.</a:t>
            </a:r>
          </a:p>
          <a:p>
            <a:r>
              <a:rPr sz="1200">
                <a:solidFill>
                  <a:srgbClr val="000000"/>
                </a:solidFill>
                <a:latin typeface="Arial"/>
              </a:rPr>
              <a:t>Figure source: https://doi.org/10.1038/nature15398</a:t>
            </a:r>
          </a:p>
          <a:p/>
          <a:p>
            <a:r>
              <a:rPr sz="1200">
                <a:solidFill>
                  <a:srgbClr val="000000"/>
                </a:solidFill>
                <a:latin typeface="Arial"/>
              </a:rPr>
              <a:t>Figure: Wimmer et al. (2015), Fig. 5(e,f). Visual-evoked chloride signals and reticular-inactivation control.</a:t>
            </a:r>
          </a:p>
          <a:p>
            <a:r>
              <a:rPr sz="1200">
                <a:solidFill>
                  <a:srgbClr val="000000"/>
                </a:solidFill>
                <a:latin typeface="Arial"/>
              </a:rPr>
              <a:t>Figure source: https://doi.org/10.1038/nature15398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Reuptake removes extracellular transmitter by transporting it into cells. The dopamine transporter, or DAT, and NET differ in their regional abundance and substrate selectivity. Morón and colleagues used mouse transporter deletions to test whether NET contributes to dopamine uptake in frontal cortex.</a:t>
            </a:r>
          </a:p>
          <a:p>
            <a:r>
              <a:rPr sz="1200">
                <a:solidFill>
                  <a:srgbClr val="000000"/>
                </a:solidFill>
                <a:latin typeface="Arial"/>
              </a:rPr>
              <a:t>• They measured radiolabeled dopamine accumulation in synaptosomes, isolated resealed nerve-terminal preparations. Incubation at 37°C was compared with a 4°C background control. Frontal dopamine uptake was retained after DAT deletion but reduced after NET deletion; the wild-type frontal rate was 0.45 pmol per minute per milligram of protein.</a:t>
            </a:r>
          </a:p>
          <a:p>
            <a:r>
              <a:rPr sz="1200">
                <a:solidFill>
                  <a:srgbClr val="000000"/>
                </a:solidFill>
                <a:latin typeface="Arial"/>
              </a:rPr>
              <a:t>  – A synaptosome retains part of a nerve terminal’s membrane machinery after tissue homogenization. Uptake of labeled dopamine tests membrane transport while separating it from an ongoing behavioral state. The low-temperature comparison estimates accumulation that is not due to normal active transporter function under the assay conditions.</a:t>
            </a:r>
          </a:p>
          <a:p>
            <a:r>
              <a:rPr sz="1200">
                <a:solidFill>
                  <a:srgbClr val="000000"/>
                </a:solidFill>
                <a:latin typeface="Arial"/>
              </a:rPr>
              <a:t>• The result establishes a transporter contribution to uptake in this isolated preparation. It does not directly measure dopamine release, ongoing behavior or receptor stimulation in an intact animal. A transporter’s name identifies its usual association, rather than guaranteeing that it transports only the corresponding transmitter.</a:t>
            </a:r>
          </a:p>
          <a:p/>
          <a:p>
            <a:r>
              <a:rPr sz="1200">
                <a:solidFill>
                  <a:srgbClr val="000000"/>
                </a:solidFill>
                <a:latin typeface="Arial"/>
              </a:rPr>
              <a:t>References:</a:t>
            </a:r>
          </a:p>
          <a:p>
            <a:r>
              <a:rPr sz="1200">
                <a:solidFill>
                  <a:srgbClr val="000000"/>
                </a:solidFill>
                <a:latin typeface="Arial"/>
              </a:rPr>
              <a:t>José A. Morón; Alicia Brockington; Roy A. Wise; Beatriz A. Rocha; Bruce T. Hope (2002). Dopamine Uptake through the Norepinephrine Transporter in Brain Regions with Low Levels of the Dopamine Transporter: Evidence from Knock-Out Mouse Lines. The Journal of Neuroscience 22(2): 389-395. https://doi.org/10.1523/jneurosci.22-02-00389.2002</a:t>
            </a:r>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Figure: Morón et al. (2002), Fig. 1. Regional dopamine uptake after dopamine- or norepinephrine-transporter deletion.</a:t>
            </a:r>
          </a:p>
          <a:p>
            <a:r>
              <a:rPr sz="1200">
                <a:solidFill>
                  <a:srgbClr val="000000"/>
                </a:solidFill>
                <a:latin typeface="Arial"/>
              </a:rPr>
              <a:t>Figure source: https://doi.org/10.1523/jneurosci.22-02-00389.2002</a:t>
            </a:r>
          </a:p>
          <a:p/>
          <a:p>
            <a:r>
              <a:rPr sz="1200">
                <a:solidFill>
                  <a:srgbClr val="000000"/>
                </a:solidFill>
                <a:latin typeface="Arial"/>
              </a:rPr>
              <a:t>Figure: Bari et al. (2020), Fig. 1(E–H). Prefrontal norepinephrine photometry during locus-coeruleus stimulation.</a:t>
            </a:r>
          </a:p>
          <a:p>
            <a:r>
              <a:rPr sz="1200">
                <a:solidFill>
                  <a:srgbClr val="000000"/>
                </a:solidFill>
                <a:latin typeface="Arial"/>
              </a:rPr>
              <a:t>Figure source: https://doi.org/10.1073/pnas.2015635117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Morón and colleagues compared frontal cortex with the caudate, part of the dorsal striatum, and the nucleus accumbens, a ventral striatal region. The striatum is a collection of interconnected forebrain nuclei. The accompanying rat sections provide comparative regional anatomy, rather than histology of the assayed mouse tissue.</a:t>
            </a:r>
          </a:p>
          <a:p>
            <a:r>
              <a:rPr sz="1200">
                <a:solidFill>
                  <a:srgbClr val="000000"/>
                </a:solidFill>
                <a:latin typeface="Arial"/>
              </a:rPr>
              <a:t>• Wild-type uptake rates were 3.44 pmol per minute per milligram in caudate and 2.70 in accumbens, compared with 0.45 in frontal cortex. Nisoxetine, a NET inhibitor, reduced dopamine uptake in wild-type tissue, while NET deletion removed the NET-specific component of that response.</a:t>
            </a:r>
          </a:p>
          <a:p>
            <a:r>
              <a:rPr sz="1200">
                <a:solidFill>
                  <a:srgbClr val="000000"/>
                </a:solidFill>
                <a:latin typeface="Arial"/>
              </a:rPr>
              <a:t>  – The mouse assay sampled accumbens core and shell together, while the rat recording study targeted the core. Those anatomical sampling boundaries differ. A regional comparison can establish that clearance machinery varies across the brain without making two species or two subregions interchangeable preparations.</a:t>
            </a:r>
          </a:p>
          <a:p>
            <a:r>
              <a:rPr sz="1200">
                <a:solidFill>
                  <a:srgbClr val="000000"/>
                </a:solidFill>
                <a:latin typeface="Arial"/>
              </a:rPr>
              <a:t>• Regional uptake depends on transporter abundance as well as binding affinity. The result prevents a striatal clearance mechanism from being assumed to operate identically in frontal cortex. Differences in isolated uptake rates do not alone determine the transmitter concentration experienced by receptors in a behaving animal.</a:t>
            </a:r>
          </a:p>
          <a:p/>
          <a:p>
            <a:r>
              <a:rPr sz="1200">
                <a:solidFill>
                  <a:srgbClr val="000000"/>
                </a:solidFill>
                <a:latin typeface="Arial"/>
              </a:rPr>
              <a:t>References:</a:t>
            </a:r>
          </a:p>
          <a:p>
            <a:r>
              <a:rPr sz="1200">
                <a:solidFill>
                  <a:srgbClr val="000000"/>
                </a:solidFill>
                <a:latin typeface="Arial"/>
              </a:rPr>
              <a:t>José A. Morón; Alicia Brockington; Roy A. Wise; Beatriz A. Rocha; Bruce T. Hope (2002). Dopamine Uptake through the Norepinephrine Transporter in Brain Regions with Low Levels of the Dopamine Transporter: Evidence from Knock-Out Mouse Lines. The Journal of Neuroscience 22(2): 389-395. https://doi.org/10.1523/jneurosci.22-02-00389.2002</a:t>
            </a:r>
          </a:p>
          <a:p>
            <a:r>
              <a:rPr sz="1200">
                <a:solidFill>
                  <a:srgbClr val="000000"/>
                </a:solidFill>
                <a:latin typeface="Arial"/>
              </a:rPr>
              <a:t>Helen J.K. Sable; Nicholas B. Paige; Patricia A. Nalan; Rachel L. Pace; Carina B. Hicks; Samantha L. Regan; Michael T. Williams; Charles V. Vorhees; Deranda B. Lester (2025). Phasic dopamine release in two different rat models of attention-deficit/hyperactivity disorder: Spontaneously hypertensive rats (SHR) versus Lphn3 knockout rats. Neuroscience 567: 150-162. https://doi.org/10.1016/j.neuroscience.2024.12.037</a:t>
            </a:r>
          </a:p>
          <a:p/>
          <a:p>
            <a:r>
              <a:rPr sz="1200">
                <a:solidFill>
                  <a:srgbClr val="000000"/>
                </a:solidFill>
                <a:latin typeface="Arial"/>
              </a:rPr>
              <a:t>Figure: Morón et al. (2002), Fig. 3. Nisoxetine-sensitive dopamine uptake across regions and genotypes.</a:t>
            </a:r>
          </a:p>
          <a:p>
            <a:r>
              <a:rPr sz="1200">
                <a:solidFill>
                  <a:srgbClr val="000000"/>
                </a:solidFill>
                <a:latin typeface="Arial"/>
              </a:rPr>
              <a:t>Figure source: https://doi.org/10.1523/jneurosci.22-02-00389.2002</a:t>
            </a:r>
          </a:p>
          <a:p/>
          <a:p>
            <a:r>
              <a:rPr sz="1200">
                <a:solidFill>
                  <a:srgbClr val="000000"/>
                </a:solidFill>
                <a:latin typeface="Arial"/>
              </a:rPr>
              <a:t>Figure: Sable et al. (2025), Fig. 1(A–C). Rat cortical, accumbens and medial-forebrain-bundle recording and stimulation regions.</a:t>
            </a:r>
          </a:p>
          <a:p>
            <a:r>
              <a:rPr sz="1200">
                <a:solidFill>
                  <a:srgbClr val="000000"/>
                </a:solidFill>
                <a:latin typeface="Arial"/>
              </a:rPr>
              <a:t>Figure source: https://doi.org/10.1016/j.neuroscience.2024.12.037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An inhibitor reduces a protein’s activity; pharmacological selectivity is the extent to which it acts on one target rather than alternatives. Morón and colleagues compared GBR12909, a DAT inhibitor, with nisoxetine and cocaine in mouse synaptosomes. Frontal, caudate and accumbens samples were assessed separately.</a:t>
            </a:r>
          </a:p>
          <a:p>
            <a:r>
              <a:rPr sz="1200">
                <a:solidFill>
                  <a:srgbClr val="000000"/>
                </a:solidFill>
                <a:latin typeface="Arial"/>
              </a:rPr>
              <a:t>• GBR12909 inhibited dopamine uptake strongly in caudate and accumbens but had little effect in frontal cortex over transporter-selective concentrations. Uptake in frontal tissue persisted after DAT deletion. Above approximately 100 nM, inhibitor effects could become less selective, as indicated by the original concentration-response plots.</a:t>
            </a:r>
          </a:p>
          <a:p>
            <a:r>
              <a:rPr sz="1200">
                <a:solidFill>
                  <a:srgbClr val="000000"/>
                </a:solidFill>
                <a:latin typeface="Arial"/>
              </a:rPr>
              <a:t>  – An antagonist of a receptor and an inhibitor of a transporter affect different proteins. Receptor antagonism alters a cell’s response to transmitter; uptake inhibition changes removal of transmitter from extracellular space. Neither should be described as measuring release directly, and high concentrations can introduce additional molecular targets.</a:t>
            </a:r>
          </a:p>
          <a:p>
            <a:r>
              <a:rPr sz="1200">
                <a:solidFill>
                  <a:srgbClr val="000000"/>
                </a:solidFill>
                <a:latin typeface="Arial"/>
              </a:rPr>
              <a:t>• Combining genetic deletion with drug concentration constrains which transporter accounts for uptake. A response to a high drug concentration alone does not prove a selective DAT or NET mechanism. The comparative rat anatomy identifies relevant regional relationships, while the molecular uptake evidence remains specific to the mouse preparations.</a:t>
            </a:r>
          </a:p>
          <a:p/>
          <a:p>
            <a:r>
              <a:rPr sz="1200">
                <a:solidFill>
                  <a:srgbClr val="000000"/>
                </a:solidFill>
                <a:latin typeface="Arial"/>
              </a:rPr>
              <a:t>References:</a:t>
            </a:r>
          </a:p>
          <a:p>
            <a:r>
              <a:rPr sz="1200">
                <a:solidFill>
                  <a:srgbClr val="000000"/>
                </a:solidFill>
                <a:latin typeface="Arial"/>
              </a:rPr>
              <a:t>José A. Morón; Alicia Brockington; Roy A. Wise; Beatriz A. Rocha; Bruce T. Hope (2002). Dopamine Uptake through the Norepinephrine Transporter in Brain Regions with Low Levels of the Dopamine Transporter: Evidence from Knock-Out Mouse Lines. The Journal of Neuroscience 22(2): 389-395. https://doi.org/10.1523/jneurosci.22-02-00389.2002</a:t>
            </a:r>
          </a:p>
          <a:p>
            <a:r>
              <a:rPr sz="1200">
                <a:solidFill>
                  <a:srgbClr val="000000"/>
                </a:solidFill>
                <a:latin typeface="Arial"/>
              </a:rPr>
              <a:t>Helen J.K. Sable; Nicholas B. Paige; Patricia A. Nalan; Rachel L. Pace; Carina B. Hicks; Samantha L. Regan; Michael T. Williams; Charles V. Vorhees; Deranda B. Lester (2025). Phasic dopamine release in two different rat models of attention-deficit/hyperactivity disorder: Spontaneously hypertensive rats (SHR) versus Lphn3 knockout rats. Neuroscience 567: 150-162. https://doi.org/10.1016/j.neuroscience.2024.12.037</a:t>
            </a:r>
          </a:p>
          <a:p/>
          <a:p>
            <a:r>
              <a:rPr sz="1200">
                <a:solidFill>
                  <a:srgbClr val="000000"/>
                </a:solidFill>
                <a:latin typeface="Arial"/>
              </a:rPr>
              <a:t>Figure: Morón et al. (2002), Fig. 5. Dopamine-transporter inhibitor effects across regions and genotypes.</a:t>
            </a:r>
          </a:p>
          <a:p>
            <a:r>
              <a:rPr sz="1200">
                <a:solidFill>
                  <a:srgbClr val="000000"/>
                </a:solidFill>
                <a:latin typeface="Arial"/>
              </a:rPr>
              <a:t>Figure source: https://doi.org/10.1523/jneurosci.22-02-00389.2002</a:t>
            </a:r>
          </a:p>
          <a:p/>
          <a:p>
            <a:r>
              <a:rPr sz="1200">
                <a:solidFill>
                  <a:srgbClr val="000000"/>
                </a:solidFill>
                <a:latin typeface="Arial"/>
              </a:rPr>
              <a:t>Figure: Sable et al. (2025), Fig. 1(A–C). Rat cortical, accumbens and medial-forebrain-bundle recording and stimulation regions.</a:t>
            </a:r>
          </a:p>
          <a:p>
            <a:r>
              <a:rPr sz="1200">
                <a:solidFill>
                  <a:srgbClr val="000000"/>
                </a:solidFill>
                <a:latin typeface="Arial"/>
              </a:rPr>
              <a:t>Figure source: https://doi.org/10.1016/j.neuroscience.2024.12.037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Working memory maintains information temporarily for an ongoing action. Gamo and colleagues recorded from rhesus macaque dorsolateral prefrontal cortex, or DLPFC, while animals remembered a visual cue location. A saccade is a rapid eye movement; the required saccade occurred only after the cue disappeared.</a:t>
            </a:r>
          </a:p>
          <a:p>
            <a:r>
              <a:rPr sz="1200">
                <a:solidFill>
                  <a:srgbClr val="000000"/>
                </a:solidFill>
                <a:latin typeface="Arial"/>
              </a:rPr>
              <a:t>• The cue appeared for 0.5 s and was followed by a 2.5-s delay. A preferred direction was the location associated with stronger firing by a recorded neuron. Some cells maintained firing during the delay for that direction, while firing was lower for nonpreferred directions.</a:t>
            </a:r>
          </a:p>
          <a:p>
            <a:r>
              <a:rPr sz="1200">
                <a:solidFill>
                  <a:srgbClr val="000000"/>
                </a:solidFill>
                <a:latin typeface="Arial"/>
              </a:rPr>
              <a:t>  – The monkey maintains gaze at the central fixation point during the delay, so the remembered location and the actual eye position differ. Direction-tuned delay firing cannot be reduced to the eye movement itself. The subsequent memory-guided saccade links the maintained representation to an observable behavioral report.</a:t>
            </a:r>
          </a:p>
          <a:p>
            <a:r>
              <a:rPr sz="1200">
                <a:solidFill>
                  <a:srgbClr val="000000"/>
                </a:solidFill>
                <a:latin typeface="Arial"/>
              </a:rPr>
              <a:t>• Persistent activity supplies a physiological correlate of maintained spatial information. The task measures working memory rather than resistance to an explicit competing sensory target. Shared prefrontal mechanisms can inform hypotheses about attentional control, but memory-related firing is not automatically a direct measurement of attention or an ADHD phenotype.</a:t>
            </a:r>
          </a:p>
          <a:p/>
          <a:p>
            <a:r>
              <a:rPr sz="1200">
                <a:solidFill>
                  <a:srgbClr val="000000"/>
                </a:solidFill>
                <a:latin typeface="Arial"/>
              </a:rPr>
              <a:t>References:</a:t>
            </a:r>
          </a:p>
          <a:p>
            <a:r>
              <a:rPr sz="1200">
                <a:solidFill>
                  <a:srgbClr val="000000"/>
                </a:solidFill>
                <a:latin typeface="Arial"/>
              </a:rPr>
              <a:t>Nao J. Gamo; Min Wang; Amy F.T. Arnsten (2010). Methylphenidate and Atomoxetine Enhance Prefrontal Function Through α2-Adrenergic and Dopamine D1 Receptors. Journal of the American Academy of Child &amp; Adolescent Psychiatry 49(10): 1011-1023. https://doi.org/10.1016/j.jaac.2010.06.015</a:t>
            </a:r>
          </a:p>
          <a:p/>
          <a:p>
            <a:r>
              <a:rPr sz="1200">
                <a:solidFill>
                  <a:srgbClr val="000000"/>
                </a:solidFill>
                <a:latin typeface="Arial"/>
              </a:rPr>
              <a:t>Figure: Gamo et al. (2010), Fig. 1(A–C). Delayed eye-movement task, prefrontal recording site and direction-tuned firing.</a:t>
            </a:r>
          </a:p>
          <a:p>
            <a:r>
              <a:rPr sz="1200">
                <a:solidFill>
                  <a:srgbClr val="000000"/>
                </a:solidFill>
                <a:latin typeface="Arial"/>
              </a:rPr>
              <a:t>Figure source: https://doi.org/10.1016/j.jaac.2010.06.015</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Gamo and colleagues tested methylphenidate, which inhibits catecholamine uptake, and atomoxetine, a relatively selective NET inhibitor, on macaque spatial working memory. Food was hidden in a well, and the animal selected its remembered location after an opaque screen interrupted visibility. Vehicle treatments controlled for administration without active drug.</a:t>
            </a:r>
          </a:p>
          <a:p>
            <a:r>
              <a:rPr sz="1200">
                <a:solidFill>
                  <a:srgbClr val="000000"/>
                </a:solidFill>
                <a:latin typeface="Arial"/>
              </a:rPr>
              <a:t>• Oral methylphenidate doses ranged from 0.1 to 2.0 mg/kg; atomoxetine ranged from 0.001 to 5.0 mg/kg. Individual dose-response curves generally formed an inverted U: intermediate exposure improved performance, whereas lower or higher exposure did not consistently help and could impair it.</a:t>
            </a:r>
          </a:p>
          <a:p>
            <a:r>
              <a:rPr sz="1200">
                <a:solidFill>
                  <a:srgbClr val="000000"/>
                </a:solidFill>
                <a:latin typeface="Arial"/>
              </a:rPr>
              <a:t>  – A vehicle contains the administration medium without the active compound. Comparing medication with its vehicle controls for the handling and delivery procedure. An inverted-U relationship means that increasing drug exposure beyond a beneficial range can reduce the same function that improved at a lower exposure.</a:t>
            </a:r>
          </a:p>
          <a:p>
            <a:r>
              <a:rPr sz="1200">
                <a:solidFill>
                  <a:srgbClr val="000000"/>
                </a:solidFill>
                <a:latin typeface="Arial"/>
              </a:rPr>
              <a:t>• The effective dose differed among animals, including age-related variation in atomoxetine sensitivity. These are experimental macaque doses, not human treatment recommendations. Improved performance establishes a working-memory effect under controlled conditions without identifying a unique receptor or proving a clinical mechanism in every person with ADHD.</a:t>
            </a:r>
          </a:p>
          <a:p/>
          <a:p>
            <a:r>
              <a:rPr sz="1200">
                <a:solidFill>
                  <a:srgbClr val="000000"/>
                </a:solidFill>
                <a:latin typeface="Arial"/>
              </a:rPr>
              <a:t>References:</a:t>
            </a:r>
          </a:p>
          <a:p>
            <a:r>
              <a:rPr sz="1200">
                <a:solidFill>
                  <a:srgbClr val="000000"/>
                </a:solidFill>
                <a:latin typeface="Arial"/>
              </a:rPr>
              <a:t>Nao J. Gamo; Min Wang; Amy F.T. Arnsten (2010). Methylphenidate and Atomoxetine Enhance Prefrontal Function Through α2-Adrenergic and Dopamine D1 Receptors. Journal of the American Academy of Child &amp; Adolescent Psychiatry 49(10): 1011-1023. https://doi.org/10.1016/j.jaac.2010.06.015</a:t>
            </a:r>
          </a:p>
          <a:p/>
          <a:p>
            <a:r>
              <a:rPr sz="1200">
                <a:solidFill>
                  <a:srgbClr val="000000"/>
                </a:solidFill>
                <a:latin typeface="Arial"/>
              </a:rPr>
              <a:t>Figure: Gamo et al. (2010), Fig. 2(A–F). Individual methylphenidate and atomoxetine dose-response curves.</a:t>
            </a:r>
          </a:p>
          <a:p>
            <a:r>
              <a:rPr sz="1200">
                <a:solidFill>
                  <a:srgbClr val="000000"/>
                </a:solidFill>
                <a:latin typeface="Arial"/>
              </a:rPr>
              <a:t>Figure source: https://doi.org/10.1016/j.jaac.2010.06.015</a:t>
            </a:r>
          </a:p>
          <a:p/>
          <a:p>
            <a:r>
              <a:rPr sz="1200">
                <a:solidFill>
                  <a:srgbClr val="000000"/>
                </a:solidFill>
                <a:latin typeface="Arial"/>
              </a:rPr>
              <a:t>Figure: Gamo et al. (2010), Fig. 1(A–C). Dorsolateral prefrontal recording region relative to principal and arcuate sulci.</a:t>
            </a:r>
          </a:p>
          <a:p>
            <a:r>
              <a:rPr sz="1200">
                <a:solidFill>
                  <a:srgbClr val="000000"/>
                </a:solidFill>
                <a:latin typeface="Arial"/>
              </a:rPr>
              <a:t>Figure source: https://doi.org/10.1016/j.jaac.2010.06.015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A receptor agonist activates a receptor, whereas a receptor antagonist blocks its activation. Gamo and colleagues challenged each macaque’s effective methylphenidate or atomoxetine dose with idazoxan, an α2-adrenergic receptor antagonist, or SCH23390, a dopamine D1 receptor antagonist.</a:t>
            </a:r>
          </a:p>
          <a:p>
            <a:r>
              <a:rPr sz="1200">
                <a:solidFill>
                  <a:srgbClr val="000000"/>
                </a:solidFill>
                <a:latin typeface="Arial"/>
              </a:rPr>
              <a:t>• Antagonist doses were selected to avoid impairment when administered alone. Idazoxan was tested over 0.01–0.5 mg/kg and SCH23390 over 0.001–0.06 mg/kg. Each antagonist reversed the medication-related improvement in remembered-location choices relative to the relevant drug-plus-vehicle condition.</a:t>
            </a:r>
          </a:p>
          <a:p>
            <a:r>
              <a:rPr sz="1200">
                <a:solidFill>
                  <a:srgbClr val="000000"/>
                </a:solidFill>
                <a:latin typeface="Arial"/>
              </a:rPr>
              <a:t>  – An interaction is interpretable when the antagonist itself does not substantially worsen the baseline task. Otherwise, loss of improvement could merely reflect an unrelated deficit added to the drug’s benefit. The behavioral experiment supports receptor involvement; local neuronal application provides a separate test of how firing changes within prefrontal tissue.</a:t>
            </a:r>
          </a:p>
          <a:p>
            <a:r>
              <a:rPr sz="1200">
                <a:solidFill>
                  <a:srgbClr val="000000"/>
                </a:solidFill>
                <a:latin typeface="Arial"/>
              </a:rPr>
              <a:t>• The controls support participation of both receptor families rather than simple addition of two independent impairments. They do not identify one receptor subtype at every relevant synapse, and systemic administration affects multiple locations. Medication-related improvement can depend on NE and DA receptor actions even when the uptake inhibitor is relatively NET-selective.</a:t>
            </a:r>
          </a:p>
          <a:p/>
          <a:p>
            <a:r>
              <a:rPr sz="1200">
                <a:solidFill>
                  <a:srgbClr val="000000"/>
                </a:solidFill>
                <a:latin typeface="Arial"/>
              </a:rPr>
              <a:t>References:</a:t>
            </a:r>
          </a:p>
          <a:p>
            <a:r>
              <a:rPr sz="1200">
                <a:solidFill>
                  <a:srgbClr val="000000"/>
                </a:solidFill>
                <a:latin typeface="Arial"/>
              </a:rPr>
              <a:t>Nao J. Gamo; Min Wang; Amy F.T. Arnsten (2010). Methylphenidate and Atomoxetine Enhance Prefrontal Function Through α2-Adrenergic and Dopamine D1 Receptors. Journal of the American Academy of Child &amp; Adolescent Psychiatry 49(10): 1011-1023. https://doi.org/10.1016/j.jaac.2010.06.015</a:t>
            </a:r>
          </a:p>
          <a:p/>
          <a:p>
            <a:r>
              <a:rPr sz="1200">
                <a:solidFill>
                  <a:srgbClr val="000000"/>
                </a:solidFill>
                <a:latin typeface="Arial"/>
              </a:rPr>
              <a:t>Figure: Gamo et al. (2010), Fig. 3(A–D). Adrenergic and dopamine-receptor antagonist challenges.</a:t>
            </a:r>
          </a:p>
          <a:p>
            <a:r>
              <a:rPr sz="1200">
                <a:solidFill>
                  <a:srgbClr val="000000"/>
                </a:solidFill>
                <a:latin typeface="Arial"/>
              </a:rPr>
              <a:t>Figure source: https://doi.org/10.1016/j.jaac.2010.06.015</a:t>
            </a:r>
          </a:p>
          <a:p/>
          <a:p>
            <a:r>
              <a:rPr sz="1200">
                <a:solidFill>
                  <a:srgbClr val="000000"/>
                </a:solidFill>
                <a:latin typeface="Arial"/>
              </a:rPr>
              <a:t>Figure: Gamo et al. (2010), Fig. 1(A–C). Dorsolateral prefrontal recording region relative to principal and arcuate sulci.</a:t>
            </a:r>
          </a:p>
          <a:p>
            <a:r>
              <a:rPr sz="1200">
                <a:solidFill>
                  <a:srgbClr val="000000"/>
                </a:solidFill>
                <a:latin typeface="Arial"/>
              </a:rPr>
              <a:t>Figure source: https://doi.org/10.1016/j.jaac.2010.06.015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Iontophoresis uses electrical current to deliver small quantities of a charged drug near a recorded neuron. Gamo and colleagues applied atomoxetine locally while recording macaque DLPFC cells during the delayed eye-movement task. The same neuron could be compared across control and drug conditions.</a:t>
            </a:r>
          </a:p>
          <a:p>
            <a:r>
              <a:rPr sz="1200">
                <a:solidFill>
                  <a:srgbClr val="000000"/>
                </a:solidFill>
                <a:latin typeface="Arial"/>
              </a:rPr>
              <a:t>• Low ejection currents, commonly 2–5 nA, increased preferred-direction delay firing or reduced nonpreferred-direction firing. Higher application, including 10 nA, suppressed delay activity more broadly. Ejection current controls local delivery; it is not a measured drug concentration in the tissue or a directly equivalent systemic dose.</a:t>
            </a:r>
          </a:p>
          <a:p>
            <a:r>
              <a:rPr sz="1200">
                <a:solidFill>
                  <a:srgbClr val="000000"/>
                </a:solidFill>
                <a:latin typeface="Arial"/>
              </a:rPr>
              <a:t>  – Local drug delivery reduces the spatial reach of the intervention compared with an oral dose. It still does not supply an exact concentration at every nearby receptor. The recorded firing pattern is the measured outcome, while the shape connecting low and high exposure is a model of the relationship rather than a new measurement at every point.</a:t>
            </a:r>
          </a:p>
          <a:p>
            <a:r>
              <a:rPr sz="1200">
                <a:solidFill>
                  <a:srgbClr val="000000"/>
                </a:solidFill>
                <a:latin typeface="Arial"/>
              </a:rPr>
              <a:t>• The bidirectional effect connects exposure to the neuronal representation rather than assuming uniform excitation. Increased catecholamine availability can sharpen or weaken persistent activity depending on exposure. The published panel includes a conceptual dose-response model and recorded responses; the conceptual curve is the authors’ interpretation, not an independently measured continuous function.</a:t>
            </a:r>
          </a:p>
          <a:p/>
          <a:p>
            <a:r>
              <a:rPr sz="1200">
                <a:solidFill>
                  <a:srgbClr val="000000"/>
                </a:solidFill>
                <a:latin typeface="Arial"/>
              </a:rPr>
              <a:t>References:</a:t>
            </a:r>
          </a:p>
          <a:p>
            <a:r>
              <a:rPr sz="1200">
                <a:solidFill>
                  <a:srgbClr val="000000"/>
                </a:solidFill>
                <a:latin typeface="Arial"/>
              </a:rPr>
              <a:t>Nao J. Gamo; Min Wang; Amy F.T. Arnsten (2010). Methylphenidate and Atomoxetine Enhance Prefrontal Function Through α2-Adrenergic and Dopamine D1 Receptors. Journal of the American Academy of Child &amp; Adolescent Psychiatry 49(10): 1011-1023. https://doi.org/10.1016/j.jaac.2010.06.015</a:t>
            </a:r>
          </a:p>
          <a:p/>
          <a:p>
            <a:r>
              <a:rPr sz="1200">
                <a:solidFill>
                  <a:srgbClr val="000000"/>
                </a:solidFill>
                <a:latin typeface="Arial"/>
              </a:rPr>
              <a:t>Figure: Gamo et al. (2010), Fig. 4(C). Atomoxetine concentration-dependent effects on delay firing.</a:t>
            </a:r>
          </a:p>
          <a:p>
            <a:r>
              <a:rPr sz="1200">
                <a:solidFill>
                  <a:srgbClr val="000000"/>
                </a:solidFill>
                <a:latin typeface="Arial"/>
              </a:rPr>
              <a:t>Figure source: https://doi.org/10.1016/j.jaac.2010.06.015</a:t>
            </a:r>
          </a:p>
          <a:p/>
          <a:p>
            <a:r>
              <a:rPr sz="1200">
                <a:solidFill>
                  <a:srgbClr val="000000"/>
                </a:solidFill>
                <a:latin typeface="Arial"/>
              </a:rPr>
              <a:t>Figure: Gamo et al. (2010), Fig. 1(A–C). Dorsolateral prefrontal recording region relative to principal and arcuate sulci.</a:t>
            </a:r>
          </a:p>
          <a:p>
            <a:r>
              <a:rPr sz="1200">
                <a:solidFill>
                  <a:srgbClr val="000000"/>
                </a:solidFill>
                <a:latin typeface="Arial"/>
              </a:rPr>
              <a:t>Figure source: https://doi.org/10.1016/j.jaac.2010.06.015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Gamo and colleagues combined atomoxetine with local receptor antagonists during macaque DLPFC recordings. Spatial tuning is a neuron’s unequal response to different cue locations. Enhanced preferred-direction firing and suppressed nonpreferred-direction firing can both improve tuning, but they are different changes in activity.</a:t>
            </a:r>
          </a:p>
          <a:p>
            <a:r>
              <a:rPr sz="1200">
                <a:solidFill>
                  <a:srgbClr val="000000"/>
                </a:solidFill>
                <a:latin typeface="Arial"/>
              </a:rPr>
              <a:t>• Yohimbine, an α2-receptor antagonist, blocked the atomoxetine-related increase in preferred-direction delay firing. SCH23390 reversed the reduction of nonpreferred-direction firing. Representative experiments used 5-nA atomoxetine application with 15-nA yohimbine or 25-nA SCH23390 delivery.</a:t>
            </a:r>
          </a:p>
          <a:p>
            <a:r>
              <a:rPr sz="1200">
                <a:solidFill>
                  <a:srgbClr val="000000"/>
                </a:solidFill>
                <a:latin typeface="Arial"/>
              </a:rPr>
              <a:t>  – A preferred-direction response carries the cue location favored by the recorded cell, while nonpreferred activity reduces selectivity if it becomes too strong. The antagonists distinguish effects on those two components. These experiments concern a selected population of delay-active neurons and should not be generalized to every cortical cell type.</a:t>
            </a:r>
          </a:p>
          <a:p>
            <a:r>
              <a:rPr sz="1200">
                <a:solidFill>
                  <a:srgbClr val="000000"/>
                </a:solidFill>
                <a:latin typeface="Arial"/>
              </a:rPr>
              <a:t>• The authors’ molecular model links α2A activation to reduced cyclic AMP, or cAMP, an intracellular messenger that regulates cellular proteins. This strengthens preferred network inputs. D1 signaling can raise cAMP and reduce competing activity. These are receptor- and exposure-dependent effects, rather than universal excitatory NE and inhibitory DA actions.</a:t>
            </a:r>
          </a:p>
          <a:p/>
          <a:p>
            <a:r>
              <a:rPr sz="1200">
                <a:solidFill>
                  <a:srgbClr val="000000"/>
                </a:solidFill>
                <a:latin typeface="Arial"/>
              </a:rPr>
              <a:t>References:</a:t>
            </a:r>
          </a:p>
          <a:p>
            <a:r>
              <a:rPr sz="1200">
                <a:solidFill>
                  <a:srgbClr val="000000"/>
                </a:solidFill>
                <a:latin typeface="Arial"/>
              </a:rPr>
              <a:t>Nao J. Gamo; Min Wang; Amy F.T. Arnsten (2010). Methylphenidate and Atomoxetine Enhance Prefrontal Function Through α2-Adrenergic and Dopamine D1 Receptors. Journal of the American Academy of Child &amp; Adolescent Psychiatry 49(10): 1011-1023. https://doi.org/10.1016/j.jaac.2010.06.015</a:t>
            </a:r>
          </a:p>
          <a:p/>
          <a:p>
            <a:r>
              <a:rPr sz="1200">
                <a:solidFill>
                  <a:srgbClr val="000000"/>
                </a:solidFill>
                <a:latin typeface="Arial"/>
              </a:rPr>
              <a:t>Figure: Gamo et al. (2010), Fig. 5(A,B). Receptor-specific reversal of atomoxetine effects on tuned firing.</a:t>
            </a:r>
          </a:p>
          <a:p>
            <a:r>
              <a:rPr sz="1200">
                <a:solidFill>
                  <a:srgbClr val="000000"/>
                </a:solidFill>
                <a:latin typeface="Arial"/>
              </a:rPr>
              <a:t>Figure source: https://doi.org/10.1016/j.jaac.2010.06.015</a:t>
            </a:r>
          </a:p>
          <a:p/>
          <a:p>
            <a:r>
              <a:rPr sz="1200">
                <a:solidFill>
                  <a:srgbClr val="000000"/>
                </a:solidFill>
                <a:latin typeface="Arial"/>
              </a:rPr>
              <a:t>Figure: Gamo et al. (2010), Fig. 1(A–C). Dorsolateral prefrontal recording region relative to principal and arcuate sulci.</a:t>
            </a:r>
          </a:p>
          <a:p>
            <a:r>
              <a:rPr sz="1200">
                <a:solidFill>
                  <a:srgbClr val="000000"/>
                </a:solidFill>
                <a:latin typeface="Arial"/>
              </a:rPr>
              <a:t>Figure source: https://doi.org/10.1016/j.jaac.2010.06.015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Recurrent excitation occurs when connected neurons reinforce one another’s activity. The published prefrontal network model describes pyramidal neurons with shared spatial preferences linked through excitatory synapses. A synapse is a specialized cell-to-cell signaling junction; a dendritic spine is a small postsynaptic protrusion receiving many such contacts.</a:t>
            </a:r>
          </a:p>
          <a:p>
            <a:r>
              <a:rPr sz="1200">
                <a:solidFill>
                  <a:srgbClr val="000000"/>
                </a:solidFill>
                <a:latin typeface="Arial"/>
              </a:rPr>
              <a:t>• The model includes glutamate, an excitatory transmitter, acting at NMDA receptors, transmitter-gated cation channels. GABAergic lateral inhibition limits competing activity. Gamo and colleagues recorded maintained firing through a 2.5-s memory delay, while anatomical and pharmacological experiments tested molecular components associated with these networks.</a:t>
            </a:r>
          </a:p>
          <a:p>
            <a:r>
              <a:rPr sz="1200">
                <a:solidFill>
                  <a:srgbClr val="000000"/>
                </a:solidFill>
                <a:latin typeface="Arial"/>
              </a:rPr>
              <a:t>  – A postsynaptic structure belongs to the receiving side of a synapse. Glutamatergic contacts can reinforce a population’s activity, while inhibitory cells constrain activity in competing populations. The authors’ original circuit panel is retained as a published model; it has not been redrawn or promoted to a complete experimentally mapped circuit.</a:t>
            </a:r>
          </a:p>
          <a:p>
            <a:r>
              <a:rPr sz="1200">
                <a:solidFill>
                  <a:srgbClr val="000000"/>
                </a:solidFill>
                <a:latin typeface="Arial"/>
              </a:rPr>
              <a:t>• This circuit organization provides an interpretation of persistent, direction-tuned activity. A single neuron’s delay response does not directly establish every recurrent connection in the published model. The anatomical and physiological evidence must remain distinct from the proposed network explanation of how a spatial representation persists.</a:t>
            </a:r>
          </a:p>
          <a:p/>
          <a:p>
            <a:r>
              <a:rPr sz="1200">
                <a:solidFill>
                  <a:srgbClr val="000000"/>
                </a:solidFill>
                <a:latin typeface="Arial"/>
              </a:rPr>
              <a:t>References:</a:t>
            </a:r>
          </a:p>
          <a:p>
            <a:r>
              <a:rPr sz="1200">
                <a:solidFill>
                  <a:srgbClr val="000000"/>
                </a:solidFill>
                <a:latin typeface="Arial"/>
              </a:rPr>
              <a:t>Nao J. Gamo; Gyorgy Lur; Michael J. Higley; Min Wang; Constantinos D. Paspalas; Susheel Vijayraghavan; Yang Yang; Brian P. Ramos; Kathy Peng; Anna Kata; Lindsay Boven; Faith Lin; Lisette Roman; Daeyeol Lee; Amy F.T. Arnsten (2015). Stress Impairs Prefrontal Cortical Function via D1 Dopamine Receptor Interactions With Hyperpolarization-Activated Cyclic Nucleotide-Gated Channels. Biological Psychiatry 78(12): 860-870. https://doi.org/10.1016/j.biopsych.2015.01.009</a:t>
            </a:r>
          </a:p>
          <a:p>
            <a:r>
              <a:rPr sz="1200">
                <a:solidFill>
                  <a:srgbClr val="000000"/>
                </a:solidFill>
                <a:latin typeface="Arial"/>
              </a:rPr>
              <a:t>Nao J. Gamo; Min Wang; Amy F.T. Arnsten (2010). Methylphenidate and Atomoxetine Enhance Prefrontal Function Through α2-Adrenergic and Dopamine D1 Receptors. Journal of the American Academy of Child &amp; Adolescent Psychiatry 49(10): 1011-1023. https://doi.org/10.1016/j.jaac.2010.06.015</a:t>
            </a:r>
          </a:p>
          <a:p/>
          <a:p>
            <a:r>
              <a:rPr sz="1200">
                <a:solidFill>
                  <a:srgbClr val="000000"/>
                </a:solidFill>
                <a:latin typeface="Arial"/>
              </a:rPr>
              <a:t>Figure: Gamo et al. (2015), Fig. 1(A–E). Prefrontal anatomy, direction-tuned firing and published recurrent-network model.</a:t>
            </a:r>
          </a:p>
          <a:p>
            <a:r>
              <a:rPr sz="1200">
                <a:solidFill>
                  <a:srgbClr val="000000"/>
                </a:solidFill>
                <a:latin typeface="Arial"/>
              </a:rPr>
              <a:t>Figure source: https://doi.org/10.1016/j.biopsych.2015.01.009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The D1 receptor is a G-protein-coupled receptor: ligand binding changes intracellular signaling through associated G proteins rather than directly opening a transmitter-gated channel. D1 signaling can increase the intracellular messenger cAMP, which regulates other proteins. Gamo and colleagues examined receptor proximity to candidate channel targets.</a:t>
            </a:r>
          </a:p>
          <a:p>
            <a:r>
              <a:rPr sz="1200">
                <a:solidFill>
                  <a:srgbClr val="000000"/>
                </a:solidFill>
                <a:latin typeface="Arial"/>
              </a:rPr>
              <a:t>• Dual-label immunoelectron microscopy, antibody-based protein localization at electron-microscope resolution, detected D1 receptors and hyperpolarization-activated cyclic nucleotide-gated channels, or HCN channels, in macaque layer-III DLPFC spines. Original panels retain 200-nm scale references and labels distinguishing spine head and neck.</a:t>
            </a:r>
          </a:p>
          <a:p>
            <a:r>
              <a:rPr sz="1200">
                <a:solidFill>
                  <a:srgbClr val="000000"/>
                </a:solidFill>
                <a:latin typeface="Arial"/>
              </a:rPr>
              <a:t>  – The spine head receives the synaptic contact, while the neck connects it to the dendrite. Molecular proximity can permit a local messenger to regulate nearby channels. Electron-microscopic labeling establishes where proteins occur, but channel-current recordings and selective pharmacological intervention are needed to test functional consequences.</a:t>
            </a:r>
          </a:p>
          <a:p>
            <a:r>
              <a:rPr sz="1200">
                <a:solidFill>
                  <a:srgbClr val="000000"/>
                </a:solidFill>
                <a:latin typeface="Arial"/>
              </a:rPr>
              <a:t>• HCN channels conduct cations and respond to membrane voltage and cyclic nucleotides. Nearby receptor and channel labeling provides a plausible location for local signaling. Colocalization means spatial association, not proof that the proteins bind directly or that every labeled spine changes its current during a behavioral task.</a:t>
            </a:r>
          </a:p>
          <a:p/>
          <a:p>
            <a:r>
              <a:rPr sz="1200">
                <a:solidFill>
                  <a:srgbClr val="000000"/>
                </a:solidFill>
                <a:latin typeface="Arial"/>
              </a:rPr>
              <a:t>References:</a:t>
            </a:r>
          </a:p>
          <a:p>
            <a:r>
              <a:rPr sz="1200">
                <a:solidFill>
                  <a:srgbClr val="000000"/>
                </a:solidFill>
                <a:latin typeface="Arial"/>
              </a:rPr>
              <a:t>Nao J. Gamo; Gyorgy Lur; Michael J. Higley; Min Wang; Constantinos D. Paspalas; Susheel Vijayraghavan; Yang Yang; Brian P. Ramos; Kathy Peng; Anna Kata; Lindsay Boven; Faith Lin; Lisette Roman; Daeyeol Lee; Amy F.T. Arnsten (2015). Stress Impairs Prefrontal Cortical Function via D1 Dopamine Receptor Interactions With Hyperpolarization-Activated Cyclic Nucleotide-Gated Channels. Biological Psychiatry 78(12): 860-870. https://doi.org/10.1016/j.biopsych.2015.01.009</a:t>
            </a:r>
          </a:p>
          <a:p/>
          <a:p>
            <a:r>
              <a:rPr sz="1200">
                <a:solidFill>
                  <a:srgbClr val="000000"/>
                </a:solidFill>
                <a:latin typeface="Arial"/>
              </a:rPr>
              <a:t>Figure: Gamo et al. (2015), Fig. 3(A–E). Dopamine D1 receptor and HCN-channel localization in dendritic spines.</a:t>
            </a:r>
          </a:p>
          <a:p>
            <a:r>
              <a:rPr sz="1200">
                <a:solidFill>
                  <a:srgbClr val="000000"/>
                </a:solidFill>
                <a:latin typeface="Arial"/>
              </a:rPr>
              <a:t>Figure source: https://doi.org/10.1016/j.biopsych.2015.01.009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Hyperpolarization shifts membrane voltage in the negative direction. HCN channels activate with hyperpolarization and carry an inward mixed-cation current, Ih. Cyclic AMP can increase their open probability, linking D1 receptor signaling to an electrical membrane property rather than only a change in transmitter concentration.</a:t>
            </a:r>
          </a:p>
          <a:p>
            <a:r>
              <a:rPr sz="1200">
                <a:solidFill>
                  <a:srgbClr val="000000"/>
                </a:solidFill>
                <a:latin typeface="Arial"/>
              </a:rPr>
              <a:t>• Gamo and colleagues recorded mouse prefrontal layer-V pyramidal neurons in slices. A 400-ms, −300-pA current pulse produced a voltage deflection followed by a partial return toward baseline, a voltage sag. Bath application of 10-µM SKF81297, a D1 agonist, increased the sag-related measure.</a:t>
            </a:r>
          </a:p>
          <a:p>
            <a:r>
              <a:rPr sz="1200">
                <a:solidFill>
                  <a:srgbClr val="000000"/>
                </a:solidFill>
                <a:latin typeface="Arial"/>
              </a:rPr>
              <a:t>  – An inward current can reduce the voltage impact of another synaptic input by increasing membrane conductance, even though it has a depolarizing direction. HCN action is therefore not equivalent to a simple excitatory drive. The slice experiment tests a membrane response under controlled current injection, not a maintained representation during an intact animal’s attention task.</a:t>
            </a:r>
          </a:p>
          <a:p>
            <a:r>
              <a:rPr sz="1200">
                <a:solidFill>
                  <a:srgbClr val="000000"/>
                </a:solidFill>
                <a:latin typeface="Arial"/>
              </a:rPr>
              <a:t>• The result supports D1 regulation of an HCN-associated response in this preparation. A sag measurement is not a direct recording of every spine channel, and these mouse layer-V cells differ from macaque layer-III spines. The proposed link to weakened recurrent signaling therefore requires complementary in vivo and behavioral evidence.</a:t>
            </a:r>
          </a:p>
          <a:p/>
          <a:p>
            <a:r>
              <a:rPr sz="1200">
                <a:solidFill>
                  <a:srgbClr val="000000"/>
                </a:solidFill>
                <a:latin typeface="Arial"/>
              </a:rPr>
              <a:t>References:</a:t>
            </a:r>
          </a:p>
          <a:p>
            <a:r>
              <a:rPr sz="1200">
                <a:solidFill>
                  <a:srgbClr val="000000"/>
                </a:solidFill>
                <a:latin typeface="Arial"/>
              </a:rPr>
              <a:t>Nao J. Gamo; Gyorgy Lur; Michael J. Higley; Min Wang; Constantinos D. Paspalas; Susheel Vijayraghavan; Yang Yang; Brian P. Ramos; Kathy Peng; Anna Kata; Lindsay Boven; Faith Lin; Lisette Roman; Daeyeol Lee; Amy F.T. Arnsten (2015). Stress Impairs Prefrontal Cortical Function via D1 Dopamine Receptor Interactions With Hyperpolarization-Activated Cyclic Nucleotide-Gated Channels. Biological Psychiatry 78(12): 860-870. https://doi.org/10.1016/j.biopsych.2015.01.009</a:t>
            </a:r>
          </a:p>
          <a:p/>
          <a:p>
            <a:r>
              <a:rPr sz="1200">
                <a:solidFill>
                  <a:srgbClr val="000000"/>
                </a:solidFill>
                <a:latin typeface="Arial"/>
              </a:rPr>
              <a:t>Figure: Gamo et al. (2015), Fig. 7(A–C). D1 agonist effects on the hyperpolarization-activated membrane response.</a:t>
            </a:r>
          </a:p>
          <a:p>
            <a:r>
              <a:rPr sz="1200">
                <a:solidFill>
                  <a:srgbClr val="000000"/>
                </a:solidFill>
                <a:latin typeface="Arial"/>
              </a:rPr>
              <a:t>Figure source: https://doi.org/10.1016/j.biopsych.2015.01.009</a:t>
            </a:r>
          </a:p>
          <a:p/>
          <a:p>
            <a:r>
              <a:rPr sz="1200">
                <a:solidFill>
                  <a:srgbClr val="000000"/>
                </a:solidFill>
                <a:latin typeface="Arial"/>
              </a:rPr>
              <a:t>Figure: Gamo et al. (2015), Fig. 1(A–E). Prefrontal anatomy, direction-tuned firing and published recurrent-network model.</a:t>
            </a:r>
          </a:p>
          <a:p>
            <a:r>
              <a:rPr sz="1200">
                <a:solidFill>
                  <a:srgbClr val="000000"/>
                </a:solidFill>
                <a:latin typeface="Arial"/>
              </a:rPr>
              <a:t>Figure source: https://doi.org/10.1016/j.biopsych.2015.01.009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An open channel changes membrane conductance, the ease with which ionic current crosses the membrane. In the authors’ model, excessive D1–cAMP signaling opens HCN channels and weakens the influence of recurrent synaptic inputs. Gamo and colleagues tested that mechanism during macaque working-memory recordings.</a:t>
            </a:r>
          </a:p>
          <a:p>
            <a:r>
              <a:rPr sz="1200">
                <a:solidFill>
                  <a:srgbClr val="000000"/>
                </a:solidFill>
                <a:latin typeface="Arial"/>
              </a:rPr>
              <a:t>• Local SKF38393, a D1 agonist, suppressed delay-related DLPFC firing. Co-application of ZD7288, an HCN-channel blocker, preserved firing closer to control levels. Representative delivery ranges were 20–25 nA for the agonist and 5–10 nA for the channel blocker; the published traces retain firing-rate and time axes.</a:t>
            </a:r>
          </a:p>
          <a:p>
            <a:r>
              <a:rPr sz="1200">
                <a:solidFill>
                  <a:srgbClr val="000000"/>
                </a:solidFill>
                <a:latin typeface="Arial"/>
              </a:rPr>
              <a:t>  – The rescue experiment changes two steps in a candidate mechanism: receptor stimulation is maintained while a downstream channel is blocked. Protection of firing is consistent with a required channel contribution. It does not mean that the blocker restores every aspect of the animal’s behavior, since the local recording applications were too small to test a whole-animal behavioral rescue.</a:t>
            </a:r>
          </a:p>
          <a:p>
            <a:r>
              <a:rPr sz="1200">
                <a:solidFill>
                  <a:srgbClr val="000000"/>
                </a:solidFill>
                <a:latin typeface="Arial"/>
              </a:rPr>
              <a:t>• Pharmacological rescue links the channel-sensitive mechanism to the effect of D1 stimulation. It does not establish that every D1 action uses HCN channels, or that all recorded neurons were affected identically. The analysis specifically examined neurons whose delay-related activity was suppressed by the agonist.</a:t>
            </a:r>
          </a:p>
          <a:p/>
          <a:p>
            <a:r>
              <a:rPr sz="1200">
                <a:solidFill>
                  <a:srgbClr val="000000"/>
                </a:solidFill>
                <a:latin typeface="Arial"/>
              </a:rPr>
              <a:t>References:</a:t>
            </a:r>
          </a:p>
          <a:p>
            <a:r>
              <a:rPr sz="1200">
                <a:solidFill>
                  <a:srgbClr val="000000"/>
                </a:solidFill>
                <a:latin typeface="Arial"/>
              </a:rPr>
              <a:t>Nao J. Gamo; Gyorgy Lur; Michael J. Higley; Min Wang; Constantinos D. Paspalas; Susheel Vijayraghavan; Yang Yang; Brian P. Ramos; Kathy Peng; Anna Kata; Lindsay Boven; Faith Lin; Lisette Roman; Daeyeol Lee; Amy F.T. Arnsten (2015). Stress Impairs Prefrontal Cortical Function via D1 Dopamine Receptor Interactions With Hyperpolarization-Activated Cyclic Nucleotide-Gated Channels. Biological Psychiatry 78(12): 860-870. https://doi.org/10.1016/j.biopsych.2015.01.009</a:t>
            </a:r>
          </a:p>
          <a:p>
            <a:r>
              <a:rPr sz="1200">
                <a:solidFill>
                  <a:srgbClr val="000000"/>
                </a:solidFill>
                <a:latin typeface="Arial"/>
              </a:rPr>
              <a:t>Nao J. Gamo; Min Wang; Amy F.T. Arnsten (2010). Methylphenidate and Atomoxetine Enhance Prefrontal Function Through α2-Adrenergic and Dopamine D1 Receptors. Journal of the American Academy of Child &amp; Adolescent Psychiatry 49(10): 1011-1023. https://doi.org/10.1016/j.jaac.2010.06.015</a:t>
            </a:r>
          </a:p>
          <a:p/>
          <a:p>
            <a:r>
              <a:rPr sz="1200">
                <a:solidFill>
                  <a:srgbClr val="000000"/>
                </a:solidFill>
                <a:latin typeface="Arial"/>
              </a:rPr>
              <a:t>Figure: Gamo et al. (2015), Fig. 4(A,B). HCN blockade protects prefrontal delay-related activity during D1 stimulation.</a:t>
            </a:r>
          </a:p>
          <a:p>
            <a:r>
              <a:rPr sz="1200">
                <a:solidFill>
                  <a:srgbClr val="000000"/>
                </a:solidFill>
                <a:latin typeface="Arial"/>
              </a:rPr>
              <a:t>Figure source: https://doi.org/10.1016/j.biopsych.2015.01.009</a:t>
            </a:r>
          </a:p>
          <a:p/>
          <a:p>
            <a:r>
              <a:rPr sz="1200">
                <a:solidFill>
                  <a:srgbClr val="000000"/>
                </a:solidFill>
                <a:latin typeface="Arial"/>
              </a:rPr>
              <a:t>Figure: Gamo et al. (2010), Fig. 1(A–C). Dorsolateral prefrontal recording region relative to principal and arcuate sulci.</a:t>
            </a:r>
          </a:p>
          <a:p>
            <a:r>
              <a:rPr sz="1200">
                <a:solidFill>
                  <a:srgbClr val="000000"/>
                </a:solidFill>
                <a:latin typeface="Arial"/>
              </a:rPr>
              <a:t>Figure source: https://doi.org/10.1016/j.jaac.2010.06.015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Gamo and colleagues trained rats to alternate choices in a delayed T-maze task, remembering the preceding arm choice. Drug infusions targeted prelimbic prefrontal cortex, while dorsal anterior cingulate cortex served as an anatomical control. The original source distinguishes the two locations within the same medial cortical section.</a:t>
            </a:r>
          </a:p>
          <a:p>
            <a:r>
              <a:rPr sz="1200">
                <a:solidFill>
                  <a:srgbClr val="000000"/>
                </a:solidFill>
                <a:latin typeface="Arial"/>
              </a:rPr>
              <a:t>• A 0.001-µg/0.5-µl ZD7288 infusion reversed impairment caused by local D1 stimulation or the pharmacological stressor FG7142. FG7142 is a partial inverse agonist at the benzodiazepine site associated with GABA-A receptors. Infusing the blocker into the control region did not protect performance.</a:t>
            </a:r>
          </a:p>
          <a:p>
            <a:r>
              <a:rPr sz="1200">
                <a:solidFill>
                  <a:srgbClr val="000000"/>
                </a:solidFill>
                <a:latin typeface="Arial"/>
              </a:rPr>
              <a:t>  – A partial inverse agonist reduces receptor-related signaling at its modulatory site rather than acting as the transmitter itself. The investigators used a pharmacological stressor to limit habituation associated with repeated physical stress. Anatomical control infusions test whether the protective effect requires delivery near the prefrontal region implicated in the task.</a:t>
            </a:r>
          </a:p>
          <a:p>
            <a:r>
              <a:rPr sz="1200">
                <a:solidFill>
                  <a:srgbClr val="000000"/>
                </a:solidFill>
                <a:latin typeface="Arial"/>
              </a:rPr>
              <a:t>• Channel-blocker-alone and response-time controls constrained nonspecific facilitation and motor impairment. The results support a prefrontal channel contribution under this experimental stress manipulation. They do not equate drug-induced stress with every natural stressor or establish HCN blockade as a validated human ADHD treatment.</a:t>
            </a:r>
          </a:p>
          <a:p/>
          <a:p>
            <a:r>
              <a:rPr sz="1200">
                <a:solidFill>
                  <a:srgbClr val="000000"/>
                </a:solidFill>
                <a:latin typeface="Arial"/>
              </a:rPr>
              <a:t>References:</a:t>
            </a:r>
          </a:p>
          <a:p>
            <a:r>
              <a:rPr sz="1200">
                <a:solidFill>
                  <a:srgbClr val="000000"/>
                </a:solidFill>
                <a:latin typeface="Arial"/>
              </a:rPr>
              <a:t>Nao J. Gamo; Gyorgy Lur; Michael J. Higley; Min Wang; Constantinos D. Paspalas; Susheel Vijayraghavan; Yang Yang; Brian P. Ramos; Kathy Peng; Anna Kata; Lindsay Boven; Faith Lin; Lisette Roman; Daeyeol Lee; Amy F.T. Arnsten (2015). Stress Impairs Prefrontal Cortical Function via D1 Dopamine Receptor Interactions With Hyperpolarization-Activated Cyclic Nucleotide-Gated Channels. Biological Psychiatry 78(12): 860-870. https://doi.org/10.1016/j.biopsych.2015.01.009</a:t>
            </a:r>
          </a:p>
          <a:p/>
          <a:p>
            <a:r>
              <a:rPr sz="1200">
                <a:solidFill>
                  <a:srgbClr val="000000"/>
                </a:solidFill>
                <a:latin typeface="Arial"/>
              </a:rPr>
              <a:t>Figure: Gamo et al. (2015), Fig. 2. Rat prelimbic and dorsal anterior cingulate infusion locations.</a:t>
            </a:r>
          </a:p>
          <a:p>
            <a:r>
              <a:rPr sz="1200">
                <a:solidFill>
                  <a:srgbClr val="000000"/>
                </a:solidFill>
                <a:latin typeface="Arial"/>
              </a:rPr>
              <a:t>Figure source: https://doi.org/10.1016/j.biopsych.2015.01.009</a:t>
            </a:r>
          </a:p>
          <a:p/>
          <a:p>
            <a:r>
              <a:rPr sz="1200">
                <a:solidFill>
                  <a:srgbClr val="000000"/>
                </a:solidFill>
                <a:latin typeface="Arial"/>
              </a:rPr>
              <a:t>Figure: Gamo et al. (2015), Fig. 8(A–C). Receptor, stressor and anatomical-control effects on working-memory performance.</a:t>
            </a:r>
          </a:p>
          <a:p>
            <a:r>
              <a:rPr sz="1200">
                <a:solidFill>
                  <a:srgbClr val="000000"/>
                </a:solidFill>
                <a:latin typeface="Arial"/>
              </a:rPr>
              <a:t>Figure source: https://doi.org/10.1016/j.biopsych.2015.01.009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Kim and colleagues used an electro-foot-shock aversive drinking task to examine action restraint in SHR and WKY rats. After two training days without punishment, animals could obtain water in a designated compartment. During testing, at least 5 s of drinking triggered a 0.5-s foot shock.</a:t>
            </a:r>
          </a:p>
          <a:p>
            <a:r>
              <a:rPr sz="1200">
                <a:solidFill>
                  <a:srgbClr val="000000"/>
                </a:solidFill>
                <a:latin typeface="Arial"/>
              </a:rPr>
              <a:t>• SHR entered the water area more often and completed punished drinking more frequently than WKY controls. Methylphenidate at 2 or 5 mg/kg reduced punished drinking but did not reduce water-area entry frequency. The same medication therefore affected two operational outcomes differently within this preparation.</a:t>
            </a:r>
          </a:p>
          <a:p>
            <a:r>
              <a:rPr sz="1200">
                <a:solidFill>
                  <a:srgbClr val="000000"/>
                </a:solidFill>
                <a:latin typeface="Arial"/>
              </a:rPr>
              <a:t>  – The rat can enter the compartment without drinking long enough to receive shock. Those stages involve different opportunities for restraint, so the medication’s selective effect cannot be summarized as a uniform suppression of all approach behavior. The control strain is part of the experimental comparison rather than a universal reference for every rat behavior.</a:t>
            </a:r>
          </a:p>
          <a:p>
            <a:r>
              <a:rPr sz="1200">
                <a:solidFill>
                  <a:srgbClr val="000000"/>
                </a:solidFill>
                <a:latin typeface="Arial"/>
              </a:rPr>
              <a:t>• Persistence in a punished action is consistent with impaired restraint, but entry into the area is not equivalent to completing that action. The test does not isolate delay-dependent choice or sustained visual attention. Its interpretation depends on excluding differences in thirst, punishment sensitivity and familiarity with the apparatus.</a:t>
            </a:r>
          </a:p>
          <a:p/>
          <a:p>
            <a:r>
              <a:rPr sz="1200">
                <a:solidFill>
                  <a:srgbClr val="000000"/>
                </a:solidFill>
                <a:latin typeface="Arial"/>
              </a:rPr>
              <a:t>References:</a:t>
            </a:r>
          </a:p>
          <a:p>
            <a:r>
              <a:rPr sz="1200">
                <a:solidFill>
                  <a:srgbClr val="000000"/>
                </a:solidFill>
                <a:latin typeface="Arial"/>
              </a:rPr>
              <a:t>Pitna Kim; In-Ha Choi; Ike Campomayor Dela Pena; Hee-Jin Kim; Kyung-Ja Kwon; Jin-Hee Park; Seol-Heui Han; Jong-Hoon Ryu; Jae-Hoon Cheong; Chan-Young Shin (2012). A Simple Behavioral Paradigm to Measure Impulsive Behavior in an Animal Model of Attention Deficit Hyperactivity Disorder (ADHD) of the Spontaneously Hypertensive Rats. Biomolecules and Therapeutics 20(1): 125-131. https://doi.org/10.4062/biomolther.2012.20.1.125</a:t>
            </a:r>
          </a:p>
          <a:p/>
          <a:p>
            <a:r>
              <a:rPr sz="1200">
                <a:solidFill>
                  <a:srgbClr val="000000"/>
                </a:solidFill>
                <a:latin typeface="Arial"/>
              </a:rPr>
              <a:t>Figure: Kim et al. (2012), Fig. 1. Published aversive-drinking apparatus.</a:t>
            </a:r>
          </a:p>
          <a:p>
            <a:r>
              <a:rPr sz="1200">
                <a:solidFill>
                  <a:srgbClr val="000000"/>
                </a:solidFill>
                <a:latin typeface="Arial"/>
              </a:rPr>
              <a:t>Figure source: https://doi.org/10.4062/biomolther.2012.20.1.125</a:t>
            </a:r>
          </a:p>
          <a:p/>
          <a:p>
            <a:r>
              <a:rPr sz="1200">
                <a:solidFill>
                  <a:srgbClr val="000000"/>
                </a:solidFill>
                <a:latin typeface="Arial"/>
              </a:rPr>
              <a:t>Figure: Kim et al. (2012), Fig. 4(A–C). Area entries and punished drinking with methylphenidate treatment.</a:t>
            </a:r>
          </a:p>
          <a:p>
            <a:r>
              <a:rPr sz="1200">
                <a:solidFill>
                  <a:srgbClr val="000000"/>
                </a:solidFill>
                <a:latin typeface="Arial"/>
              </a:rPr>
              <a:t>Figure source: https://doi.org/10.4062/biomolther.2012.20.1.125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A confound is an alternative factor that could account for a measured difference. Kim and colleagues assessed locomotion, water consumption, shock-related freezing, elevated-plus-maze behavior and water-area recognition. These controls tested alternatives to an action-restraint explanation of the punished-drinking result.</a:t>
            </a:r>
          </a:p>
          <a:p>
            <a:r>
              <a:rPr sz="1200">
                <a:solidFill>
                  <a:srgbClr val="000000"/>
                </a:solidFill>
                <a:latin typeface="Arial"/>
              </a:rPr>
              <a:t>• SHR traveled farther in a 20-min open-field test. However, the strains did not differ in locomotion during apparatus training, measured water consumption, shock-related freezing or the tested anxiety-related measures. Both located the water region during training, limiting a simple failure to learn the apparatus as an explanation.</a:t>
            </a:r>
          </a:p>
          <a:p>
            <a:r>
              <a:rPr sz="1200">
                <a:solidFill>
                  <a:srgbClr val="000000"/>
                </a:solidFill>
                <a:latin typeface="Arial"/>
              </a:rPr>
              <a:t>  – Anxiety-related behavior in an elevated plus maze is an operational measure, not a complete readout of emotional state. Shock-related freezing similarly tests one response to punishment. Their value lies in checking plausible alternatives with separate measurements while preserving the limits of each assay.</a:t>
            </a:r>
          </a:p>
          <a:p>
            <a:r>
              <a:rPr sz="1200">
                <a:solidFill>
                  <a:srgbClr val="000000"/>
                </a:solidFill>
                <a:latin typeface="Arial"/>
              </a:rPr>
              <a:t>• The controls support the authors’ interpretation without proving that every motivational or sensory variable is identical. Open-field hyperactivity and punished drinking remain distinct phenotypes. A negative result in one control assay constrains that measured factor under those conditions rather than excluding all effects of stress, learning or pain.</a:t>
            </a:r>
          </a:p>
          <a:p/>
          <a:p>
            <a:r>
              <a:rPr sz="1200">
                <a:solidFill>
                  <a:srgbClr val="000000"/>
                </a:solidFill>
                <a:latin typeface="Arial"/>
              </a:rPr>
              <a:t>References:</a:t>
            </a:r>
          </a:p>
          <a:p>
            <a:r>
              <a:rPr sz="1200">
                <a:solidFill>
                  <a:srgbClr val="000000"/>
                </a:solidFill>
                <a:latin typeface="Arial"/>
              </a:rPr>
              <a:t>Pitna Kim; In-Ha Choi; Ike Campomayor Dela Pena; Hee-Jin Kim; Kyung-Ja Kwon; Jin-Hee Park; Seol-Heui Han; Jong-Hoon Ryu; Jae-Hoon Cheong; Chan-Young Shin (2012). A Simple Behavioral Paradigm to Measure Impulsive Behavior in an Animal Model of Attention Deficit Hyperactivity Disorder (ADHD) of the Spontaneously Hypertensive Rats. Biomolecules and Therapeutics 20(1): 125-131. https://doi.org/10.4062/biomolther.2012.20.1.125</a:t>
            </a:r>
          </a:p>
          <a:p/>
          <a:p>
            <a:r>
              <a:rPr sz="1200">
                <a:solidFill>
                  <a:srgbClr val="000000"/>
                </a:solidFill>
                <a:latin typeface="Arial"/>
              </a:rPr>
              <a:t>Figure: Kim et al. (2012), Fig. 3(A–F). Locomotion, drinking, shock sensitivity, anxiety-related behavior and location controls.</a:t>
            </a:r>
          </a:p>
          <a:p>
            <a:r>
              <a:rPr sz="1200">
                <a:solidFill>
                  <a:srgbClr val="000000"/>
                </a:solidFill>
                <a:latin typeface="Arial"/>
              </a:rPr>
              <a:t>Figure source: https://doi.org/10.4062/biomolther.2012.20.1.125</a:t>
            </a:r>
          </a:p>
          <a:p/>
          <a:p>
            <a:r>
              <a:rPr sz="1200">
                <a:solidFill>
                  <a:srgbClr val="000000"/>
                </a:solidFill>
                <a:latin typeface="Arial"/>
              </a:rPr>
              <a:t>Figure: Kim et al. (2012), Fig. 4(C). Recorded Wistar-Kyoto and spontaneously hypertensive rats in the drinking apparatus.</a:t>
            </a:r>
          </a:p>
          <a:p>
            <a:r>
              <a:rPr sz="1200">
                <a:solidFill>
                  <a:srgbClr val="000000"/>
                </a:solidFill>
                <a:latin typeface="Arial"/>
              </a:rPr>
              <a:t>Figure source: https://doi.org/10.4062/biomolther.2012.20.1.125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A knockout removes functional expression of a gene. Leo and colleagues deleted functional DAT in rats and measured dopamine after electrical stimulation of striatal slices. Fast-scan cyclic voltammetry detects rapid electrochemical changes and uses the oxidation–reduction signature to identify dopamine-related signals.</a:t>
            </a:r>
          </a:p>
          <a:p>
            <a:r>
              <a:rPr sz="1200">
                <a:solidFill>
                  <a:srgbClr val="000000"/>
                </a:solidFill>
                <a:latin typeface="Arial"/>
              </a:rPr>
              <a:t>• Following a 1-ms stimulus, average clearance took approximately 1.3 s in wild-type slices, 10 s in heterozygotes and 50 s in knockout tissue. A heterozygote carries one disrupted and one functional gene copy. The prolonged signal links transporter loss to the persistence of extracellular transmitter.</a:t>
            </a:r>
          </a:p>
          <a:p>
            <a:r>
              <a:rPr sz="1200">
                <a:solidFill>
                  <a:srgbClr val="000000"/>
                </a:solidFill>
                <a:latin typeface="Arial"/>
              </a:rPr>
              <a:t>  – The color voltammetry panels are the authors’ original measurements, with applied potential and time preserved. The decay of an evoked signal reflects removal as well as the release that initiated it. Comparing wild-type, heterozygous and knockout tissue tests how functional transporter expression influences that decay.</a:t>
            </a:r>
          </a:p>
          <a:p>
            <a:r>
              <a:rPr sz="1200">
                <a:solidFill>
                  <a:srgbClr val="000000"/>
                </a:solidFill>
                <a:latin typeface="Arial"/>
              </a:rPr>
              <a:t>• Transporter deletion changes clearance rather than proving increased release per spike. Comparative rat sections provide forebrain context; they are not recordings from the slice experiment. Lifelong gene deletion can also alter synthesis, receptors and other compensatory processes, so the phenotype cannot be reduced to one acutely blocked transporter.</a:t>
            </a:r>
          </a:p>
          <a:p/>
          <a:p>
            <a:r>
              <a:rPr sz="1200">
                <a:solidFill>
                  <a:srgbClr val="000000"/>
                </a:solidFill>
                <a:latin typeface="Arial"/>
              </a:rPr>
              <a:t>References:</a:t>
            </a:r>
          </a:p>
          <a:p>
            <a:r>
              <a:rPr sz="1200">
                <a:solidFill>
                  <a:srgbClr val="000000"/>
                </a:solidFill>
                <a:latin typeface="Arial"/>
              </a:rPr>
              <a:t>Damiana Leo; Ilya Sukhanov; Francesca Zoratto; Placido Illiano; Lucia Caffino; Fabrizio Sanna; Giulia Messa; Marco Emanuele; Alessandro Esposito; Mariia Dorofeikova; Evgeny A. Budygin; Liudmila Mus; Evgenia V. Efimova; Marco Niello; Stefano Espinoza; Tatyana D. Sotnikova; Marius C. Hoener; Giovanni Laviola; Fabio Fumagalli; Walter Adriani; Raul R. Gainetdinov (2018). Pronounced Hyperactivity, Cognitive Dysfunctions, and BDNF Dysregulation in Dopamine Transporter Knock-out Rats. The Journal of Neuroscience 38(8): 1959-1972. https://doi.org/10.1523/jneurosci.1931-17.2018</a:t>
            </a:r>
          </a:p>
          <a:p>
            <a:r>
              <a:rPr sz="1200">
                <a:solidFill>
                  <a:srgbClr val="000000"/>
                </a:solidFill>
                <a:latin typeface="Arial"/>
              </a:rPr>
              <a:t>Helen J.K. Sable; Nicholas B. Paige; Patricia A. Nalan; Rachel L. Pace; Carina B. Hicks; Samantha L. Regan; Michael T. Williams; Charles V. Vorhees; Deranda B. Lester (2025). Phasic dopamine release in two different rat models of attention-deficit/hyperactivity disorder: Spontaneously hypertensive rats (SHR) versus Lphn3 knockout rats. Neuroscience 567: 150-162. https://doi.org/10.1016/j.neuroscience.2024.12.037</a:t>
            </a:r>
          </a:p>
          <a:p/>
          <a:p>
            <a:r>
              <a:rPr sz="1200">
                <a:solidFill>
                  <a:srgbClr val="000000"/>
                </a:solidFill>
                <a:latin typeface="Arial"/>
              </a:rPr>
              <a:t>Figure: Leo et al. (2018), Fig. 2(A,B). Original voltammetry plots and dopamine-clearance times after transporter deletion.</a:t>
            </a:r>
          </a:p>
          <a:p>
            <a:r>
              <a:rPr sz="1200">
                <a:solidFill>
                  <a:srgbClr val="000000"/>
                </a:solidFill>
                <a:latin typeface="Arial"/>
              </a:rPr>
              <a:t>Figure source: https://doi.org/10.1523/jneurosci.1931-17.2018</a:t>
            </a:r>
          </a:p>
          <a:p/>
          <a:p>
            <a:r>
              <a:rPr sz="1200">
                <a:solidFill>
                  <a:srgbClr val="000000"/>
                </a:solidFill>
                <a:latin typeface="Arial"/>
              </a:rPr>
              <a:t>Figure: Sable et al. (2025), Fig. 1(A–C). Rat cortical, accumbens and medial-forebrain-bundle recording and stimulation regions.</a:t>
            </a:r>
          </a:p>
          <a:p>
            <a:r>
              <a:rPr sz="1200">
                <a:solidFill>
                  <a:srgbClr val="000000"/>
                </a:solidFill>
                <a:latin typeface="Arial"/>
              </a:rPr>
              <a:t>Figure source: https://doi.org/10.1016/j.neuroscience.2024.12.037</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Leo and colleagues measured locomotion and cognition in DAT-knockout rats rather than treating one assay as the complete phenotype. Movement was elevated in both home-cage recordings and novel test chambers. Twenty-four-hour recordings also distinguished light- and dark-period activity.</a:t>
            </a:r>
          </a:p>
          <a:p>
            <a:r>
              <a:rPr sz="1200">
                <a:solidFill>
                  <a:srgbClr val="000000"/>
                </a:solidFill>
                <a:latin typeface="Arial"/>
              </a:rPr>
              <a:t>• Knockout animals displayed lower spontaneous alternation and impaired prepulse inhibition, reduced suppression of a startle response when a weaker sound precedes the startling stimulus. Methylphenidate at 1.5–5 mg/kg reduced knockout hyperlocomotion, whereas it increased locomotion in transporter-intact animals.</a:t>
            </a:r>
          </a:p>
          <a:p>
            <a:r>
              <a:rPr sz="1200">
                <a:solidFill>
                  <a:srgbClr val="000000"/>
                </a:solidFill>
                <a:latin typeface="Arial"/>
              </a:rPr>
              <a:t>  – Spontaneous alternation concerns the sequence of an animal’s exploratory choices, while prepulse inhibition concerns modulation of a reflexive startle. Hyperactivity is yet another measured output. Their coexistence supports a broad phenotype while preventing an improvement in one test from being assumed to rescue all the others.</a:t>
            </a:r>
          </a:p>
          <a:p>
            <a:r>
              <a:rPr sz="1200">
                <a:solidFill>
                  <a:srgbClr val="000000"/>
                </a:solidFill>
                <a:latin typeface="Arial"/>
              </a:rPr>
              <a:t>• A medication-related reduction in movement is not itself proof of restored attention or a diagnosis of ADHD. The same genetic manipulation changes transmitter clearance, behavior and developmental physiology. Spontaneous alternation and sensorimotor gating identify additional impairments, but neither directly establishes a premature-response deficit in the two-choice attention task.</a:t>
            </a:r>
          </a:p>
          <a:p/>
          <a:p>
            <a:r>
              <a:rPr sz="1200">
                <a:solidFill>
                  <a:srgbClr val="000000"/>
                </a:solidFill>
                <a:latin typeface="Arial"/>
              </a:rPr>
              <a:t>References:</a:t>
            </a:r>
          </a:p>
          <a:p>
            <a:r>
              <a:rPr sz="1200">
                <a:solidFill>
                  <a:srgbClr val="000000"/>
                </a:solidFill>
                <a:latin typeface="Arial"/>
              </a:rPr>
              <a:t>Damiana Leo; Ilya Sukhanov; Francesca Zoratto; Placido Illiano; Lucia Caffino; Fabrizio Sanna; Giulia Messa; Marco Emanuele; Alessandro Esposito; Mariia Dorofeikova; Evgeny A. Budygin; Liudmila Mus; Evgenia V. Efimova; Marco Niello; Stefano Espinoza; Tatyana D. Sotnikova; Marius C. Hoener; Giovanni Laviola; Fabio Fumagalli; Walter Adriani; Raul R. Gainetdinov (2018). Pronounced Hyperactivity, Cognitive Dysfunctions, and BDNF Dysregulation in Dopamine Transporter Knock-out Rats. The Journal of Neuroscience 38(8): 1959-1972. https://doi.org/10.1523/jneurosci.1931-17.2018</a:t>
            </a:r>
          </a:p>
          <a:p/>
          <a:p>
            <a:r>
              <a:rPr sz="1200">
                <a:solidFill>
                  <a:srgbClr val="000000"/>
                </a:solidFill>
                <a:latin typeface="Arial"/>
              </a:rPr>
              <a:t>Figure: Leo et al. (2018), Fig. 4(A–E). Home-cage and age-dependent locomotor activity after transporter deletion.</a:t>
            </a:r>
          </a:p>
          <a:p>
            <a:r>
              <a:rPr sz="1200">
                <a:solidFill>
                  <a:srgbClr val="000000"/>
                </a:solidFill>
                <a:latin typeface="Arial"/>
              </a:rPr>
              <a:t>Figure source: https://doi.org/10.1523/jneurosci.1931-17.2018</a:t>
            </a:r>
          </a:p>
          <a:p/>
          <a:p>
            <a:r>
              <a:rPr sz="1200">
                <a:solidFill>
                  <a:srgbClr val="000000"/>
                </a:solidFill>
                <a:latin typeface="Arial"/>
              </a:rPr>
              <a:t>Figure: Leo et al. (2018), Fig. 5(A–D). Spontaneous alternation, consumption and sensorimotor-gating tests.</a:t>
            </a:r>
          </a:p>
          <a:p>
            <a:r>
              <a:rPr sz="1200">
                <a:solidFill>
                  <a:srgbClr val="000000"/>
                </a:solidFill>
                <a:latin typeface="Arial"/>
              </a:rPr>
              <a:t>Figure source: https://doi.org/10.1523/jneurosci.1931-17.2018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Latrophilin-3, encoded by Lphn3, is an adhesion G-protein-coupled receptor associated with synapse formation. Sable and colleagues compared knockout rats with wild-type littermates using fixed-potential amperometry, an electrochemical method that records oxidation current at a constant electrode potential. Rats were anesthetized during these measurements.</a:t>
            </a:r>
          </a:p>
          <a:p>
            <a:r>
              <a:rPr sz="1200">
                <a:solidFill>
                  <a:srgbClr val="000000"/>
                </a:solidFill>
                <a:latin typeface="Arial"/>
              </a:rPr>
              <a:t>• The medial forebrain bundle was stimulated at 50 Hz; prefrontal measurements used 50 pulses of 0.5-ms duration. Medial-prefrontal dopamine peak amplitude did not differ by genotype, but the half-life, the time for the evoked increase to fall by half, was longer in knockout rats.</a:t>
            </a:r>
          </a:p>
          <a:p>
            <a:r>
              <a:rPr sz="1200">
                <a:solidFill>
                  <a:srgbClr val="000000"/>
                </a:solidFill>
                <a:latin typeface="Arial"/>
              </a:rPr>
              <a:t>  – The medial forebrain bundle contains axons linking midbrain dopamine populations with forebrain targets. Electrical stimulation evokes a controlled response but does not reproduce every naturally occurring burst during behavior. The genotype comparison separates the height of that response from its duration, which can change independently.</a:t>
            </a:r>
          </a:p>
          <a:p>
            <a:r>
              <a:rPr sz="1200">
                <a:solidFill>
                  <a:srgbClr val="000000"/>
                </a:solidFill>
                <a:latin typeface="Arial"/>
              </a:rPr>
              <a:t>• The result supports slower prefrontal signal decay without a detected difference in the measured release peak. Half-life is a clearance-related readout, not direct proof of a DAT-specific mechanism in low-DAT cortex. NET-mediated uptake and other removal processes complicate a transporter-specific interpretation; ongoing task-related attention was not measured during anesthesia.</a:t>
            </a:r>
          </a:p>
          <a:p/>
          <a:p>
            <a:r>
              <a:rPr sz="1200">
                <a:solidFill>
                  <a:srgbClr val="000000"/>
                </a:solidFill>
                <a:latin typeface="Arial"/>
              </a:rPr>
              <a:t>References:</a:t>
            </a:r>
          </a:p>
          <a:p>
            <a:r>
              <a:rPr sz="1200">
                <a:solidFill>
                  <a:srgbClr val="000000"/>
                </a:solidFill>
                <a:latin typeface="Arial"/>
              </a:rPr>
              <a:t>Helen J.K. Sable; Nicholas B. Paige; Patricia A. Nalan; Rachel L. Pace; Carina B. Hicks; Samantha L. Regan; Michael T. Williams; Charles V. Vorhees; Deranda B. Lester (2025). Phasic dopamine release in two different rat models of attention-deficit/hyperactivity disorder: Spontaneously hypertensive rats (SHR) versus Lphn3 knockout rats. Neuroscience 567: 150-162. https://doi.org/10.1016/j.neuroscience.2024.12.037</a:t>
            </a:r>
          </a:p>
          <a:p/>
          <a:p>
            <a:r>
              <a:rPr sz="1200">
                <a:solidFill>
                  <a:srgbClr val="000000"/>
                </a:solidFill>
                <a:latin typeface="Arial"/>
              </a:rPr>
              <a:t>Figure: Sable et al. (2025), Fig. 2(A–C). Medial-prefrontal dopamine release and clearance in Lphn3 knockout and control rats.</a:t>
            </a:r>
          </a:p>
          <a:p>
            <a:r>
              <a:rPr sz="1200">
                <a:solidFill>
                  <a:srgbClr val="000000"/>
                </a:solidFill>
                <a:latin typeface="Arial"/>
              </a:rPr>
              <a:t>Figure source: https://doi.org/10.1016/j.neuroscience.2024.12.037</a:t>
            </a:r>
          </a:p>
          <a:p/>
          <a:p>
            <a:r>
              <a:rPr sz="1200">
                <a:solidFill>
                  <a:srgbClr val="000000"/>
                </a:solidFill>
                <a:latin typeface="Arial"/>
              </a:rPr>
              <a:t>Figure: Sable et al. (2025), Fig. 1(A–C). Rat cortical, accumbens and medial-forebrain-bundle recording and stimulation regions.</a:t>
            </a:r>
          </a:p>
          <a:p>
            <a:r>
              <a:rPr sz="1200">
                <a:solidFill>
                  <a:srgbClr val="000000"/>
                </a:solidFill>
                <a:latin typeface="Arial"/>
              </a:rPr>
              <a:t>Figure source: https://doi.org/10.1016/j.neuroscience.2024.12.037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Sable and colleagues used the same stimulation-and-amperometry strategy to compare SHR with WKY controls. Phasic signaling is a transient change associated with brief neuronal activity, distinct from a sustained background concentration. Recordings sampled medial prefrontal cortex and nucleus accumbens core separately.</a:t>
            </a:r>
          </a:p>
          <a:p>
            <a:r>
              <a:rPr sz="1200">
                <a:solidFill>
                  <a:srgbClr val="000000"/>
                </a:solidFill>
                <a:latin typeface="Arial"/>
              </a:rPr>
              <a:t>• SHR had lower stimulation-evoked dopamine release in accumbens core, but no detected strain difference in prefrontal peak amplitude or half-life. Accumbens half-life also did not differ. Accumbens stimulation used 20 pulses at 50 Hz, whereas prefrontal stimulation used 50 pulses at the same frequency.</a:t>
            </a:r>
          </a:p>
          <a:p>
            <a:r>
              <a:rPr sz="1200">
                <a:solidFill>
                  <a:srgbClr val="000000"/>
                </a:solidFill>
                <a:latin typeface="Arial"/>
              </a:rPr>
              <a:t>  – A lower peak with unchanged decay time differs mechanistically from a preserved peak with prolonged decay. The SHR and Lphn3 comparisons therefore cannot be summarized as identical dopamine abnormalities. The assays examine an evoked response under anesthesia rather than transmitter fluctuations while the animal decides whether to wait or choose a delayed reward.</a:t>
            </a:r>
          </a:p>
          <a:p>
            <a:r>
              <a:rPr sz="1200">
                <a:solidFill>
                  <a:srgbClr val="000000"/>
                </a:solidFill>
                <a:latin typeface="Arial"/>
              </a:rPr>
              <a:t>• The result argues against a uniform dopamine deficit across the sampled regions. A regional release ratio is not a direct measurement of communication or electrical coherence between the regions. Different stimulation protocols and anatomical sampling must be retained when comparing the absolute sizes of cortical and accumbens signals.</a:t>
            </a:r>
          </a:p>
          <a:p/>
          <a:p>
            <a:r>
              <a:rPr sz="1200">
                <a:solidFill>
                  <a:srgbClr val="000000"/>
                </a:solidFill>
                <a:latin typeface="Arial"/>
              </a:rPr>
              <a:t>References:</a:t>
            </a:r>
          </a:p>
          <a:p>
            <a:r>
              <a:rPr sz="1200">
                <a:solidFill>
                  <a:srgbClr val="000000"/>
                </a:solidFill>
                <a:latin typeface="Arial"/>
              </a:rPr>
              <a:t>Helen J.K. Sable; Nicholas B. Paige; Patricia A. Nalan; Rachel L. Pace; Carina B. Hicks; Samantha L. Regan; Michael T. Williams; Charles V. Vorhees; Deranda B. Lester (2025). Phasic dopamine release in two different rat models of attention-deficit/hyperactivity disorder: Spontaneously hypertensive rats (SHR) versus Lphn3 knockout rats. Neuroscience 567: 150-162. https://doi.org/10.1016/j.neuroscience.2024.12.037</a:t>
            </a:r>
          </a:p>
          <a:p/>
          <a:p>
            <a:r>
              <a:rPr sz="1200">
                <a:solidFill>
                  <a:srgbClr val="000000"/>
                </a:solidFill>
                <a:latin typeface="Arial"/>
              </a:rPr>
              <a:t>Figure: Sable et al. (2025), Fig. 8(A–C). Accumbens dopamine release and decay in SHR and control rats.</a:t>
            </a:r>
          </a:p>
          <a:p>
            <a:r>
              <a:rPr sz="1200">
                <a:solidFill>
                  <a:srgbClr val="000000"/>
                </a:solidFill>
                <a:latin typeface="Arial"/>
              </a:rPr>
              <a:t>Figure source: https://doi.org/10.1016/j.neuroscience.2024.12.037</a:t>
            </a:r>
          </a:p>
          <a:p/>
          <a:p>
            <a:r>
              <a:rPr sz="1200">
                <a:solidFill>
                  <a:srgbClr val="000000"/>
                </a:solidFill>
                <a:latin typeface="Arial"/>
              </a:rPr>
              <a:t>Figure: Sable et al. (2025), Fig. 1(A–C). Rat cortical, accumbens and medial-forebrain-bundle recording and stimulation regions.</a:t>
            </a:r>
          </a:p>
          <a:p>
            <a:r>
              <a:rPr sz="1200">
                <a:solidFill>
                  <a:srgbClr val="000000"/>
                </a:solidFill>
                <a:latin typeface="Arial"/>
              </a:rPr>
              <a:t>Figure source: https://doi.org/10.1016/j.neuroscience.2024.12.037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Sable and colleagues administered nomifensine, a catecholamine uptake inhibitor used here to test dopamine-clearance-related responses. A 10-mg/kg intraperitoneal dose was followed by accumbens-core measurements, with the 20-min response compared against each animal’s predrug baseline. Intraperitoneal administration delivers a substance into the abdominal cavity.</a:t>
            </a:r>
          </a:p>
          <a:p>
            <a:r>
              <a:rPr sz="1200">
                <a:solidFill>
                  <a:srgbClr val="000000"/>
                </a:solidFill>
                <a:latin typeface="Arial"/>
              </a:rPr>
              <a:t>• Nomifensine increased the evoked dopamine peak proportionally more in Lphn3-knockout than wild-type rats. The corresponding percent change did not differ between SHR and WKY controls. The drug-related half-life change did not differ by genotype or strain, and the measured autoreceptor responses also lacked a group difference.</a:t>
            </a:r>
          </a:p>
          <a:p>
            <a:r>
              <a:rPr sz="1200">
                <a:solidFill>
                  <a:srgbClr val="000000"/>
                </a:solidFill>
                <a:latin typeface="Arial"/>
              </a:rPr>
              <a:t>  – The Lphn3 and SHR comparisons each use their own appropriate control population. A larger proportional increase can depend on the baseline as well as the postdrug response. The amperometric outcomes establish neurochemical differences; they do not directly test whether the same drug improves waiting, choice or distractor resistance.</a:t>
            </a:r>
          </a:p>
          <a:p>
            <a:r>
              <a:rPr sz="1200">
                <a:solidFill>
                  <a:srgbClr val="000000"/>
                </a:solidFill>
                <a:latin typeface="Arial"/>
              </a:rPr>
              <a:t>• An autoreceptor detects a neuron’s own transmitter and can regulate subsequent release. These results distinguish model-specific responses to the same intervention, rather than identifying one universal ADHD dopamine mechanism. Percent-of-baseline amplification does not establish identical absolute concentrations, clinical treatment efficacy or attention improvement.</a:t>
            </a:r>
          </a:p>
          <a:p/>
          <a:p>
            <a:r>
              <a:rPr sz="1200">
                <a:solidFill>
                  <a:srgbClr val="000000"/>
                </a:solidFill>
                <a:latin typeface="Arial"/>
              </a:rPr>
              <a:t>References:</a:t>
            </a:r>
          </a:p>
          <a:p>
            <a:r>
              <a:rPr sz="1200">
                <a:solidFill>
                  <a:srgbClr val="000000"/>
                </a:solidFill>
                <a:latin typeface="Arial"/>
              </a:rPr>
              <a:t>Helen J.K. Sable; Nicholas B. Paige; Patricia A. Nalan; Rachel L. Pace; Carina B. Hicks; Samantha L. Regan; Michael T. Williams; Charles V. Vorhees; Deranda B. Lester (2025). Phasic dopamine release in two different rat models of attention-deficit/hyperactivity disorder: Spontaneously hypertensive rats (SHR) versus Lphn3 knockout rats. Neuroscience 567: 150-162. https://doi.org/10.1016/j.neuroscience.2024.12.037</a:t>
            </a:r>
          </a:p>
          <a:p/>
          <a:p>
            <a:r>
              <a:rPr sz="1200">
                <a:solidFill>
                  <a:srgbClr val="000000"/>
                </a:solidFill>
                <a:latin typeface="Arial"/>
              </a:rPr>
              <a:t>Figure: Sable et al. (2025), Fig. 6(A–D). Accumbens dopamine response to nomifensine in Lphn3 knockout rats.</a:t>
            </a:r>
          </a:p>
          <a:p>
            <a:r>
              <a:rPr sz="1200">
                <a:solidFill>
                  <a:srgbClr val="000000"/>
                </a:solidFill>
                <a:latin typeface="Arial"/>
              </a:rPr>
              <a:t>Figure source: https://doi.org/10.1016/j.neuroscience.2024.12.037</a:t>
            </a:r>
          </a:p>
          <a:p/>
          <a:p>
            <a:r>
              <a:rPr sz="1200">
                <a:solidFill>
                  <a:srgbClr val="000000"/>
                </a:solidFill>
                <a:latin typeface="Arial"/>
              </a:rPr>
              <a:t>Figure: Sable et al. (2025), Fig. 11(A–C). Accumbens dopamine response to nomifensine in SHR rats.</a:t>
            </a:r>
          </a:p>
          <a:p>
            <a:r>
              <a:rPr sz="1200">
                <a:solidFill>
                  <a:srgbClr val="000000"/>
                </a:solidFill>
                <a:latin typeface="Arial"/>
              </a:rPr>
              <a:t>Figure source: https://doi.org/10.1016/j.neuroscience.2024.12.037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Kirszenblat and colleagues sleep-deprived flies for 24 h using repeated mechanical stimulation. Sleep was operationally scored as at least 5 min of immobility. Deprived animals exhibited subsequent sleep rebound, increased sleep following its loss, and were tested on target fixation competing with visual motion.</a:t>
            </a:r>
          </a:p>
          <a:p>
            <a:r>
              <a:rPr sz="1200">
                <a:solidFill>
                  <a:srgbClr val="000000"/>
                </a:solidFill>
                <a:latin typeface="Arial"/>
              </a:rPr>
              <a:t>• Sleep loss increased target deviation when the target and distractor were combined, while isolated fixation and optomotor responses were largely preserved. After 24 h of rest, attention-like behavior returned toward control levels. Matched mechanical stimulation with alternating rest periods did not produce the same impairment.</a:t>
            </a:r>
          </a:p>
          <a:p>
            <a:r>
              <a:rPr sz="1200">
                <a:solidFill>
                  <a:srgbClr val="000000"/>
                </a:solidFill>
                <a:latin typeface="Arial"/>
              </a:rPr>
              <a:t>  – A matched-stimulation control preserves the total number of mechanical events while allowing extended opportunities to sleep. That comparison constrains an explanation based solely on physical disturbance. Preserved responses to isolated stimuli also separate selection under competition from basic detection and turning.</a:t>
            </a:r>
          </a:p>
          <a:p>
            <a:r>
              <a:rPr sz="1200">
                <a:solidFill>
                  <a:srgbClr val="000000"/>
                </a:solidFill>
                <a:latin typeface="Arial"/>
              </a:rPr>
              <a:t>• These controls support state-dependent disruption of selection beyond a general motor or visual failure. They do not identify a specific transmitter pathway or establish that flies have ADHD. The fly preparation tests visual competition and sleep state, whereas the mammalian tasks measure cue-guided choice, restraint or spatial working memory.</a:t>
            </a:r>
          </a:p>
          <a:p/>
          <a:p>
            <a:r>
              <a:rPr sz="1200">
                <a:solidFill>
                  <a:srgbClr val="000000"/>
                </a:solidFill>
                <a:latin typeface="Arial"/>
              </a:rPr>
              <a:t>References:</a:t>
            </a:r>
          </a:p>
          <a:p>
            <a:r>
              <a:rPr sz="1200">
                <a:solidFill>
                  <a:srgbClr val="000000"/>
                </a:solidFill>
                <a:latin typeface="Arial"/>
              </a:rPr>
              <a:t>Leonie Kirszenblat; Deniz Ertekin; Joseph Goodsell; Yanqiong Zhou; Paul J. Shaw; Bruno van Swinderen (2018). Sleep regulates visual selective attention in Drosophila. Journal of Experimental Biology 221(Pt 24): jeb191429. https://doi.org/10.1242/jeb.191429</a:t>
            </a:r>
          </a:p>
          <a:p/>
          <a:p>
            <a:r>
              <a:rPr sz="1200">
                <a:solidFill>
                  <a:srgbClr val="000000"/>
                </a:solidFill>
                <a:latin typeface="Arial"/>
              </a:rPr>
              <a:t>Figure: Kirszenblat et al. (2018), Fig. 2(A–F). Sleep-deprivation protocol, behavioral competition and recovery.</a:t>
            </a:r>
          </a:p>
          <a:p>
            <a:r>
              <a:rPr sz="1200">
                <a:solidFill>
                  <a:srgbClr val="000000"/>
                </a:solidFill>
                <a:latin typeface="Arial"/>
              </a:rPr>
              <a:t>Figure source: https://doi.org/10.1242/jeb.191429</a:t>
            </a:r>
          </a:p>
          <a:p/>
          <a:p>
            <a:r>
              <a:rPr sz="1200">
                <a:solidFill>
                  <a:srgbClr val="000000"/>
                </a:solidFill>
                <a:latin typeface="Arial"/>
              </a:rPr>
              <a:t>Figure: Kirszenblat et al. (2018), Fig. 6(A,B). Heat and matched mechanical-stimulation controls.</a:t>
            </a:r>
          </a:p>
          <a:p>
            <a:r>
              <a:rPr sz="1200">
                <a:solidFill>
                  <a:srgbClr val="000000"/>
                </a:solidFill>
                <a:latin typeface="Arial"/>
              </a:rPr>
              <a:t>Figure source: https://doi.org/10.1242/jeb.191429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 Kirszenblat and colleagues compared wild-type flies with dunce and rutabaga, learning-related mutants with altered cAMP signaling. Dunce affects a cAMP-degrading phosphodiesterase; rutabaga affects a cAMP-producing adenylyl cyclase. Both mutants showed poorer visual selection and altered sleep relative to controls.</a:t>
            </a:r>
          </a:p>
          <a:p>
            <a:r>
              <a:rPr sz="1200">
                <a:solidFill>
                  <a:srgbClr val="000000"/>
                </a:solidFill>
                <a:latin typeface="Arial"/>
              </a:rPr>
              <a:t>• The sleep-promoting GABA-receptor agonist THIP was supplied at 0.1 mg/ml in food for 2 days and removed 1 h before testing. It increased sleep in both mutant backgrounds, but improved target selection in dunce rather than rutabaga. Wild-type improvement was not clearly established.</a:t>
            </a:r>
          </a:p>
          <a:p>
            <a:r>
              <a:rPr sz="1200">
                <a:solidFill>
                  <a:srgbClr val="000000"/>
                </a:solidFill>
                <a:latin typeface="Arial"/>
              </a:rPr>
              <a:t>  – A phosphodiesterase breaks down the intracellular messenger, while adenylyl cyclase produces it. Those mutations alter different steps in cAMP regulation. The behavioral rescue following increased sleep remains a distinct experiment from local receptor and channel manipulations in mammalian prefrontal tissue; the common messenger does not make the preparations equivalent.</a:t>
            </a:r>
          </a:p>
          <a:p>
            <a:r>
              <a:rPr sz="1200">
                <a:solidFill>
                  <a:srgbClr val="000000"/>
                </a:solidFill>
                <a:latin typeface="Arial"/>
              </a:rPr>
              <a:t>• Genotype-dependent rescue supports separable relationships among sleep, molecular state and selection. It does not establish that the fly mutations reproduce mammalian prefrontal D1–HCN circuitry, or that manipulating cAMP has the same effect across species. A shared molecule does not guarantee an identical circuit, task computation or treatment response.</a:t>
            </a:r>
          </a:p>
          <a:p/>
          <a:p>
            <a:r>
              <a:rPr sz="1200">
                <a:solidFill>
                  <a:srgbClr val="000000"/>
                </a:solidFill>
                <a:latin typeface="Arial"/>
              </a:rPr>
              <a:t>References:</a:t>
            </a:r>
          </a:p>
          <a:p>
            <a:r>
              <a:rPr sz="1200">
                <a:solidFill>
                  <a:srgbClr val="000000"/>
                </a:solidFill>
                <a:latin typeface="Arial"/>
              </a:rPr>
              <a:t>Leonie Kirszenblat; Deniz Ertekin; Joseph Goodsell; Yanqiong Zhou; Paul J. Shaw; Bruno van Swinderen (2018). Sleep regulates visual selective attention in Drosophila. Journal of Experimental Biology 221(Pt 24): jeb191429. https://doi.org/10.1242/jeb.191429</a:t>
            </a:r>
          </a:p>
          <a:p/>
          <a:p>
            <a:r>
              <a:rPr sz="1200">
                <a:solidFill>
                  <a:srgbClr val="000000"/>
                </a:solidFill>
                <a:latin typeface="Arial"/>
              </a:rPr>
              <a:t>Figure: Kirszenblat et al. (2018), Fig. 7(A–F). Sleep duration and selective-attention rescue across fly genotypes.</a:t>
            </a:r>
          </a:p>
          <a:p>
            <a:r>
              <a:rPr sz="1200">
                <a:solidFill>
                  <a:srgbClr val="000000"/>
                </a:solidFill>
                <a:latin typeface="Arial"/>
              </a:rPr>
              <a:t>Figure source: https://doi.org/10.1242/jeb.191429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solidFill>
                  <a:srgbClr val="000000"/>
                </a:solidFill>
                <a:latin typeface="Arial"/>
              </a:rPr>
              <a:t>References:</a:t>
            </a:r>
          </a:p>
          <a:p/>
          <a:p>
            <a:r>
              <a:rPr sz="1200">
                <a:solidFill>
                  <a:srgbClr val="000000"/>
                </a:solidFill>
                <a:latin typeface="Arial"/>
              </a:rPr>
              <a:t>Andrea Bari; Sangyu Xu; Michele Pignatelli; Daigo Takeuchi; Jiesi Feng; Yulong Li; Susumu Tonegawa (2020). Differential attentional control mechanisms by two distinct noradrenergic coeruleo-frontal cortical pathways. Proceedings of the National Academy of Sciences 117(46): 29080-29089. https://doi.org/10.1073/pnas.2015635117</a:t>
            </a:r>
          </a:p>
          <a:p/>
          <a:p>
            <a:r>
              <a:rPr sz="1200">
                <a:solidFill>
                  <a:srgbClr val="000000"/>
                </a:solidFill>
                <a:latin typeface="Arial"/>
              </a:rPr>
              <a:t>Leonie Kirszenblat; Deniz Ertekin; Joseph Goodsell; Yanqiong Zhou; Paul J. Shaw; Bruno van Swinderen (2018). Sleep regulates visual selective attention in Drosophila. Journal of Experimental Biology 221(Pt 24): jeb191429. https://doi.org/10.1242/jeb.191429</a:t>
            </a:r>
          </a:p>
          <a:p/>
          <a:p>
            <a:r>
              <a:rPr sz="1200">
                <a:solidFill>
                  <a:srgbClr val="000000"/>
                </a:solidFill>
                <a:latin typeface="Arial"/>
              </a:rPr>
              <a:t>José A. Morón; Alicia Brockington; Roy A. Wise; Beatriz A. Rocha; Bruce T. Hope (2002). Dopamine Uptake through the Norepinephrine Transporter in Brain Regions with Low Levels of the Dopamine Transporter: Evidence from Knock-Out Mouse Lines. The Journal of Neuroscience 22(2): 389-395. https://doi.org/10.1523/jneurosci.22-02-00389.2002</a:t>
            </a:r>
          </a:p>
          <a:p/>
          <a:p>
            <a:r>
              <a:rPr sz="1200">
                <a:solidFill>
                  <a:srgbClr val="000000"/>
                </a:solidFill>
                <a:latin typeface="Arial"/>
              </a:rPr>
              <a:t>Nao J. Gamo; Min Wang; Amy F.T. Arnsten (2010). Methylphenidate and Atomoxetine Enhance Prefrontal Function Through α2-Adrenergic and Dopamine D1 Receptors. Journal of the American Academy of Child &amp; Adolescent Psychiatry 49(10): 1011-1023. https://doi.org/10.1016/j.jaac.2010.06.015</a:t>
            </a:r>
          </a:p>
          <a:p/>
          <a:p>
            <a:r>
              <a:rPr sz="1200">
                <a:solidFill>
                  <a:srgbClr val="000000"/>
                </a:solidFill>
                <a:latin typeface="Arial"/>
              </a:rPr>
              <a:t>Ralf D. Wimmer; L. Ian Schmitt; Thomas J. Davidson; Miho Nakajima; Karl Deisseroth; Michael M. Halassa (2015). Thalamic control of sensory selection in divided attention. Nature 526(7575): 705-709. https://doi.org/10.1038/nature15398</a:t>
            </a:r>
          </a:p>
          <a:p/>
          <a:p>
            <a:r>
              <a:rPr sz="1200">
                <a:solidFill>
                  <a:srgbClr val="000000"/>
                </a:solidFill>
                <a:latin typeface="Arial"/>
              </a:rPr>
              <a:t>Pitna Kim; In-Ha Choi; Ike Campomayor Dela Pena; Hee-Jin Kim; Kyung-Ja Kwon; Jin-Hee Park; Seol-Heui Han; Jong-Hoon Ryu; Jae-Hoon Cheong; Chan-Young Shin (2012). A Simple Behavioral Paradigm to Measure Impulsive Behavior in an Animal Model of Attention Deficit Hyperactivity Disorder (ADHD) of the Spontaneously Hypertensive Rats. Biomolecules and Therapeutics 20(1): 125-131. https://doi.org/10.4062/biomolther.2012.20.1.125</a:t>
            </a:r>
          </a:p>
          <a:p/>
          <a:p>
            <a:r>
              <a:rPr sz="1200">
                <a:solidFill>
                  <a:srgbClr val="000000"/>
                </a:solidFill>
                <a:latin typeface="Arial"/>
              </a:rPr>
              <a:t>Damiana Leo; Ilya Sukhanov; Francesca Zoratto; Placido Illiano; Lucia Caffino; Fabrizio Sanna; Giulia Messa; Marco Emanuele; Alessandro Esposito; Mariia Dorofeikova; Evgeny A. Budygin; Liudmila Mus; Evgenia V. Efimova; Marco Niello; Stefano Espinoza; Tatyana D. Sotnikova; Marius C. Hoener; Giovanni Laviola; Fabio Fumagalli; Walter Adriani; Raul R. Gainetdinov (2018). Pronounced Hyperactivity, Cognitive Dysfunctions, and BDNF Dysregulation in Dopamine Transporter Knock-out Rats. The Journal of Neuroscience 38(8): 1959-1972. https://doi.org/10.1523/jneurosci.1931-17.2018</a:t>
            </a:r>
          </a:p>
          <a:p/>
          <a:p>
            <a:r>
              <a:rPr sz="1200">
                <a:solidFill>
                  <a:srgbClr val="000000"/>
                </a:solidFill>
                <a:latin typeface="Arial"/>
              </a:rPr>
              <a:t>Helen J.K. Sable; Nicholas B. Paige; Patricia A. Nalan; Rachel L. Pace; Carina B. Hicks; Samantha L. Regan; Michael T. Williams; Charles V. Vorhees; Deranda B. Lester (2025). Phasic dopamine release in two different rat models of attention-deficit/hyperactivity disorder: Spontaneously hypertensive rats (SHR) versus Lphn3 knockout rats. Neuroscience 567: 150-162. https://doi.org/10.1016/j.neuroscience.2024.12.037</a:t>
            </a:r>
          </a:p>
          <a:p/>
          <a:p>
            <a:r>
              <a:rPr sz="1200">
                <a:solidFill>
                  <a:srgbClr val="000000"/>
                </a:solidFill>
                <a:latin typeface="Arial"/>
              </a:rPr>
              <a:t>Nao J. Gamo; Gyorgy Lur; Michael J. Higley; Min Wang; Constantinos D. Paspalas; Susheel Vijayraghavan; Yang Yang; Brian P. Ramos; Kathy Peng; Anna Kata; Lindsay Boven; Faith Lin; Lisette Roman; Daeyeol Lee; Amy F.T. Arnsten (2015). Stress Impairs Prefrontal Cortical Function via D1 Dopamine Receptor Interactions With Hyperpolarization-Activated Cyclic Nucleotide-Gated Channels. Biological Psychiatry 78(12): 860-870. https://doi.org/10.1016/j.biopsych.2015.01.009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1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4.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6.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3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1.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34.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34.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34.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79565C"/>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EE0E2"/>
                </a:solidFill>
                <a:latin typeface="Arial"/>
              </a:rPr>
              <a:t>NEUR 411 · NEUROETHOLOGY · FALL 2026</a:t>
            </a:r>
          </a:p>
        </p:txBody>
      </p:sp>
      <p:sp>
        <p:nvSpPr>
          <p:cNvPr id="4" name="TextBox 3"/>
          <p:cNvSpPr txBox="1"/>
          <p:nvPr/>
        </p:nvSpPr>
        <p:spPr>
          <a:xfrm>
            <a:off x="685800" y="150876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EE0E2"/>
                </a:solidFill>
                <a:latin typeface="Arial"/>
              </a:rPr>
              <a:t>Lecture 49</a:t>
            </a:r>
          </a:p>
        </p:txBody>
      </p:sp>
      <p:sp>
        <p:nvSpPr>
          <p:cNvPr id="5" name="Lecture title"/>
          <p:cNvSpPr txBox="1"/>
          <p:nvPr/>
        </p:nvSpPr>
        <p:spPr>
          <a:xfrm>
            <a:off x="685800" y="2057400"/>
            <a:ext cx="4724247" cy="2834640"/>
          </a:xfrm>
          <a:prstGeom prst="rect">
            <a:avLst/>
          </a:prstGeom>
          <a:noFill/>
        </p:spPr>
        <p:txBody>
          <a:bodyPr wrap="square" lIns="0" rIns="0" tIns="0" bIns="0">
            <a:spAutoFit/>
          </a:bodyPr>
          <a:lstStyle/>
          <a:p>
            <a:pPr algn="l">
              <a:lnSpc>
                <a:spcPct val="108000"/>
              </a:lnSpc>
              <a:spcAft>
                <a:spcPts val="0"/>
              </a:spcAft>
            </a:pPr>
            <a:r>
              <a:rPr sz="2400" b="1" i="0">
                <a:solidFill>
                  <a:srgbClr val="FFFFFF"/>
                </a:solidFill>
                <a:latin typeface="Arial"/>
              </a:rPr>
              <a:t>Attention and impulsivity across species:</a:t>
            </a:r>
          </a:p>
          <a:p>
            <a:pPr algn="l">
              <a:lnSpc>
                <a:spcPct val="108000"/>
              </a:lnSpc>
              <a:spcAft>
                <a:spcPts val="0"/>
              </a:spcAft>
            </a:pPr>
            <a:r>
              <a:rPr sz="2400" b="1" i="0">
                <a:solidFill>
                  <a:srgbClr val="FFFFFF"/>
                </a:solidFill>
                <a:latin typeface="Arial"/>
              </a:rPr>
              <a:t>comparative neural mechanisms of attentional control, dopamine and norepinephrine signaling, and animal models of ADHD</a:t>
            </a:r>
          </a:p>
        </p:txBody>
      </p:sp>
      <p:sp>
        <p:nvSpPr>
          <p:cNvPr id="6" name="TextBox 5"/>
          <p:cNvSpPr txBox="1"/>
          <p:nvPr/>
        </p:nvSpPr>
        <p:spPr>
          <a:xfrm>
            <a:off x="685800" y="539496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EE0E2"/>
                </a:solidFill>
                <a:latin typeface="Arial"/>
              </a:rPr>
              <a:t>Date TBD</a:t>
            </a:r>
          </a:p>
        </p:txBody>
      </p:sp>
      <p:sp>
        <p:nvSpPr>
          <p:cNvPr id="7" name="TextBox 6"/>
          <p:cNvSpPr txBox="1"/>
          <p:nvPr/>
        </p:nvSpPr>
        <p:spPr>
          <a:xfrm>
            <a:off x="685800" y="60807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EE0E2"/>
                </a:solidFill>
                <a:latin typeface="Arial"/>
              </a:rPr>
              <a:t>Jordan Lopez, Ph.D.</a:t>
            </a:r>
          </a:p>
          <a:p>
            <a:pPr algn="l">
              <a:lnSpc>
                <a:spcPct val="108000"/>
              </a:lnSpc>
              <a:spcAft>
                <a:spcPts val="200"/>
              </a:spcAft>
            </a:pPr>
            <a:r>
              <a:rPr sz="1200" b="0" i="0">
                <a:solidFill>
                  <a:srgbClr val="EEE0E2"/>
                </a:solidFill>
                <a:latin typeface="Arial"/>
              </a:rPr>
              <a:t>Professor of Neurobiology &amp; Biomedical Engineering</a:t>
            </a:r>
          </a:p>
        </p:txBody>
      </p:sp>
      <p:pic>
        <p:nvPicPr>
          <p:cNvPr id="8" name="Picture 7" descr="shr_animals.png"/>
          <p:cNvPicPr>
            <a:picLocks noChangeAspect="1"/>
          </p:cNvPicPr>
          <p:nvPr/>
        </p:nvPicPr>
        <p:blipFill>
          <a:blip r:embed="rId2"/>
          <a:stretch>
            <a:fillRect/>
          </a:stretch>
        </p:blipFill>
        <p:spPr>
          <a:xfrm>
            <a:off x="7473722" y="822960"/>
            <a:ext cx="3340097"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Kim et al. (2012), Fig. 4(C). Recorded Wistar-Kyoto and spontaneously hypertensive rats in the drinking apparatus.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Accuracy and premature responding are distinct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1" i="0">
                <a:solidFill>
                  <a:srgbClr val="594044"/>
                </a:solidFill>
                <a:latin typeface="Arial"/>
              </a:rPr>
              <a:t>Attention</a:t>
            </a:r>
            <a:r>
              <a:rPr sz="1450" b="0" i="0">
                <a:solidFill>
                  <a:srgbClr val="000000"/>
                </a:solidFill>
                <a:latin typeface="Arial"/>
              </a:rPr>
              <a:t> selects information relevant to an ongoing goal; </a:t>
            </a:r>
            <a:r>
              <a:rPr sz="1450" b="1" i="0">
                <a:solidFill>
                  <a:srgbClr val="594044"/>
                </a:solidFill>
                <a:latin typeface="Arial"/>
              </a:rPr>
              <a:t>response inhibition</a:t>
            </a:r>
            <a:r>
              <a:rPr sz="1450" b="0" i="0">
                <a:solidFill>
                  <a:srgbClr val="000000"/>
                </a:solidFill>
                <a:latin typeface="Arial"/>
              </a:rPr>
              <a:t> withholds an action until it is appropriate. Bari and colleagues trained mice to wait 7 s for a light that appeared for 0.5 s in one of two apertures. A nose poke into the illuminated aperture earned food.</a:t>
            </a:r>
          </a:p>
          <a:p>
            <a:pPr algn="l">
              <a:lnSpc>
                <a:spcPct val="108000"/>
              </a:lnSpc>
              <a:spcAft>
                <a:spcPts val="900"/>
              </a:spcAft>
            </a:pPr>
            <a:r>
              <a:rPr sz="1450" b="0" i="0">
                <a:solidFill>
                  <a:srgbClr val="000000"/>
                </a:solidFill>
                <a:latin typeface="Arial"/>
              </a:rPr>
              <a:t>Correct-response proportion indexed target selection, whereas </a:t>
            </a:r>
            <a:r>
              <a:rPr sz="1450" b="1" i="0">
                <a:solidFill>
                  <a:srgbClr val="594044"/>
                </a:solidFill>
                <a:latin typeface="Arial"/>
              </a:rPr>
              <a:t>premature responses</a:t>
            </a:r>
            <a:r>
              <a:rPr sz="1450" b="0" i="0">
                <a:solidFill>
                  <a:srgbClr val="000000"/>
                </a:solidFill>
                <a:latin typeface="Arial"/>
              </a:rPr>
              <a:t>, nose pokes before target onset, indexed failure to wait. Incorrect choices and premature actions were therefore distinct outcomes within the same preparation. Light-driven neural activation altered both measures without changing response speed.</a:t>
            </a:r>
          </a:p>
          <a:p>
            <a:pPr algn="l">
              <a:lnSpc>
                <a:spcPct val="108000"/>
              </a:lnSpc>
              <a:spcAft>
                <a:spcPts val="900"/>
              </a:spcAft>
            </a:pPr>
            <a:r>
              <a:rPr sz="1450" b="0" i="0">
                <a:solidFill>
                  <a:srgbClr val="000000"/>
                </a:solidFill>
                <a:latin typeface="Arial"/>
              </a:rPr>
              <a:t>A mouse can select the wrong location after waiting correctly, or respond too early before any target exists. The task separates these errors operationally; neither alone constitutes a clinical diagnosis of attention-deficit/hyperactivity disorder, or </a:t>
            </a:r>
            <a:r>
              <a:rPr sz="1450" b="1" i="0">
                <a:solidFill>
                  <a:srgbClr val="594044"/>
                </a:solidFill>
                <a:latin typeface="Arial"/>
              </a:rPr>
              <a:t>ADHD</a:t>
            </a:r>
            <a:r>
              <a:rPr sz="1450" b="0" i="0">
                <a:solidFill>
                  <a:srgbClr val="000000"/>
                </a:solidFill>
                <a:latin typeface="Arial"/>
              </a:rPr>
              <a:t>. Sensory, motivational and motor controls remain necessary when interpreting altered performance.</a:t>
            </a:r>
          </a:p>
        </p:txBody>
      </p:sp>
      <p:pic>
        <p:nvPicPr>
          <p:cNvPr id="4" name="Picture 3" descr="bari_task.png"/>
          <p:cNvPicPr>
            <a:picLocks noChangeAspect="1"/>
          </p:cNvPicPr>
          <p:nvPr/>
        </p:nvPicPr>
        <p:blipFill>
          <a:blip r:embed="rId2"/>
          <a:stretch>
            <a:fillRect/>
          </a:stretch>
        </p:blipFill>
        <p:spPr>
          <a:xfrm>
            <a:off x="6138367" y="1280160"/>
            <a:ext cx="5486400" cy="1648026"/>
          </a:xfrm>
          <a:prstGeom prst="rect">
            <a:avLst/>
          </a:prstGeom>
        </p:spPr>
      </p:pic>
      <p:sp>
        <p:nvSpPr>
          <p:cNvPr id="5" name="Figure caption"/>
          <p:cNvSpPr txBox="1"/>
          <p:nvPr/>
        </p:nvSpPr>
        <p:spPr>
          <a:xfrm>
            <a:off x="6138367" y="301962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2(A–C). Two-choice task timing and locus-coeruleus fiber placement.</a:t>
            </a:r>
          </a:p>
        </p:txBody>
      </p:sp>
      <p:pic>
        <p:nvPicPr>
          <p:cNvPr id="6" name="Picture 5" descr="lc_activation.png"/>
          <p:cNvPicPr>
            <a:picLocks noChangeAspect="1"/>
          </p:cNvPicPr>
          <p:nvPr/>
        </p:nvPicPr>
        <p:blipFill>
          <a:blip r:embed="rId3"/>
          <a:stretch>
            <a:fillRect/>
          </a:stretch>
        </p:blipFill>
        <p:spPr>
          <a:xfrm>
            <a:off x="6138367" y="3794760"/>
            <a:ext cx="5486400" cy="1568328"/>
          </a:xfrm>
          <a:prstGeom prst="rect">
            <a:avLst/>
          </a:prstGeom>
        </p:spPr>
      </p:pic>
      <p:sp>
        <p:nvSpPr>
          <p:cNvPr id="7" name="Figure caption"/>
          <p:cNvSpPr txBox="1"/>
          <p:nvPr/>
        </p:nvSpPr>
        <p:spPr>
          <a:xfrm>
            <a:off x="6138367" y="54362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2(D–G). Locus-coeruleus activation changes accuracy and premature responses.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Impulsive action differs from impulsive choice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1" i="0">
                <a:solidFill>
                  <a:srgbClr val="594044"/>
                </a:solidFill>
                <a:latin typeface="Arial"/>
              </a:rPr>
              <a:t>Impulsive action</a:t>
            </a:r>
            <a:r>
              <a:rPr sz="1450" b="0" i="0">
                <a:solidFill>
                  <a:srgbClr val="000000"/>
                </a:solidFill>
                <a:latin typeface="Arial"/>
              </a:rPr>
              <a:t> refers to inadequate restraint of a response; </a:t>
            </a:r>
            <a:r>
              <a:rPr sz="1450" b="1" i="0">
                <a:solidFill>
                  <a:srgbClr val="594044"/>
                </a:solidFill>
                <a:latin typeface="Arial"/>
              </a:rPr>
              <a:t>impulsive choice</a:t>
            </a:r>
            <a:r>
              <a:rPr sz="1450" b="0" i="0">
                <a:solidFill>
                  <a:srgbClr val="000000"/>
                </a:solidFill>
                <a:latin typeface="Arial"/>
              </a:rPr>
              <a:t> refers to preference for an immediate outcome over a more valuable delayed outcome. Kim and colleagues examined action restraint in spontaneously hypertensive rats, or </a:t>
            </a:r>
            <a:r>
              <a:rPr sz="1450" b="1" i="0">
                <a:solidFill>
                  <a:srgbClr val="594044"/>
                </a:solidFill>
                <a:latin typeface="Arial"/>
              </a:rPr>
              <a:t>SHR</a:t>
            </a:r>
            <a:r>
              <a:rPr sz="1450" b="0" i="0">
                <a:solidFill>
                  <a:srgbClr val="000000"/>
                </a:solidFill>
                <a:latin typeface="Arial"/>
              </a:rPr>
              <a:t>, using drinking that incurred an aversive consequence.</a:t>
            </a:r>
          </a:p>
          <a:p>
            <a:pPr algn="l">
              <a:lnSpc>
                <a:spcPct val="108000"/>
              </a:lnSpc>
              <a:spcAft>
                <a:spcPts val="900"/>
              </a:spcAft>
            </a:pPr>
            <a:r>
              <a:rPr sz="1450" b="0" i="0">
                <a:solidFill>
                  <a:srgbClr val="000000"/>
                </a:solidFill>
                <a:latin typeface="Arial"/>
              </a:rPr>
              <a:t>After training, drinking for at least 5 s triggered a 0.5-s, 2-mA foot shock. SHR entered the water area and completed punished drinking more often than Wistar-Kyoto, or </a:t>
            </a:r>
            <a:r>
              <a:rPr sz="1450" b="1" i="0">
                <a:solidFill>
                  <a:srgbClr val="594044"/>
                </a:solidFill>
                <a:latin typeface="Arial"/>
              </a:rPr>
              <a:t>WKY</a:t>
            </a:r>
            <a:r>
              <a:rPr sz="1450" b="0" i="0">
                <a:solidFill>
                  <a:srgbClr val="000000"/>
                </a:solidFill>
                <a:latin typeface="Arial"/>
              </a:rPr>
              <a:t>, controls. The preparation measures persistence despite punishment rather than choosing between different reward delays.</a:t>
            </a:r>
          </a:p>
          <a:p>
            <a:pPr algn="l">
              <a:lnSpc>
                <a:spcPct val="108000"/>
              </a:lnSpc>
              <a:spcAft>
                <a:spcPts val="900"/>
              </a:spcAft>
            </a:pPr>
            <a:r>
              <a:rPr sz="1450" b="0" i="0">
                <a:solidFill>
                  <a:srgbClr val="000000"/>
                </a:solidFill>
                <a:latin typeface="Arial"/>
              </a:rPr>
              <a:t>Premature nose pokes and punished drinking are related measures of action control, but their sensory cues, reinforcement and motivational demands differ. A </a:t>
            </a:r>
            <a:r>
              <a:rPr sz="1450" b="1" i="0">
                <a:solidFill>
                  <a:srgbClr val="594044"/>
                </a:solidFill>
                <a:latin typeface="Arial"/>
              </a:rPr>
              <a:t>phenotype</a:t>
            </a:r>
            <a:r>
              <a:rPr sz="1450" b="0" i="0">
                <a:solidFill>
                  <a:srgbClr val="000000"/>
                </a:solidFill>
                <a:latin typeface="Arial"/>
              </a:rPr>
              <a:t> is an observable characteristic under specified conditions. An animal phenotype resembling one ADHD-associated behavior does not reproduce the complete human disorder or identify its cause.</a:t>
            </a:r>
          </a:p>
        </p:txBody>
      </p:sp>
      <p:pic>
        <p:nvPicPr>
          <p:cNvPr id="4" name="Picture 3" descr="shr_task.png"/>
          <p:cNvPicPr>
            <a:picLocks noChangeAspect="1"/>
          </p:cNvPicPr>
          <p:nvPr/>
        </p:nvPicPr>
        <p:blipFill>
          <a:blip r:embed="rId2"/>
          <a:stretch>
            <a:fillRect/>
          </a:stretch>
        </p:blipFill>
        <p:spPr>
          <a:xfrm>
            <a:off x="6138367" y="1280160"/>
            <a:ext cx="2286000" cy="1485720"/>
          </a:xfrm>
          <a:prstGeom prst="rect">
            <a:avLst/>
          </a:prstGeom>
        </p:spPr>
      </p:pic>
      <p:sp>
        <p:nvSpPr>
          <p:cNvPr id="5" name="Figure caption"/>
          <p:cNvSpPr txBox="1"/>
          <p:nvPr/>
        </p:nvSpPr>
        <p:spPr>
          <a:xfrm>
            <a:off x="6138367" y="2857320"/>
            <a:ext cx="22860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Kim et al. (2012), Fig. 1. Published aversive-drinking apparatus.</a:t>
            </a:r>
          </a:p>
        </p:txBody>
      </p:sp>
      <p:pic>
        <p:nvPicPr>
          <p:cNvPr id="6" name="Picture 5" descr="shr_drinking.png"/>
          <p:cNvPicPr>
            <a:picLocks noChangeAspect="1"/>
          </p:cNvPicPr>
          <p:nvPr/>
        </p:nvPicPr>
        <p:blipFill>
          <a:blip r:embed="rId3"/>
          <a:stretch>
            <a:fillRect/>
          </a:stretch>
        </p:blipFill>
        <p:spPr>
          <a:xfrm>
            <a:off x="8607247" y="2148840"/>
            <a:ext cx="3017520" cy="2807048"/>
          </a:xfrm>
          <a:prstGeom prst="rect">
            <a:avLst/>
          </a:prstGeom>
        </p:spPr>
      </p:pic>
      <p:sp>
        <p:nvSpPr>
          <p:cNvPr id="7" name="Figure caption"/>
          <p:cNvSpPr txBox="1"/>
          <p:nvPr/>
        </p:nvSpPr>
        <p:spPr>
          <a:xfrm>
            <a:off x="8607247" y="5029040"/>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Kim et al. (2012), Fig. 4(A–C). Area entries and punished drinking with methylphenidate treatment.</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Kim et al. (2012); Bari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 sensory rule determines which stimulus guides choice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594044"/>
                </a:solidFill>
                <a:latin typeface="Arial"/>
              </a:rPr>
              <a:t>Selective attention</a:t>
            </a:r>
            <a:r>
              <a:rPr sz="1400" b="0" i="0">
                <a:solidFill>
                  <a:srgbClr val="000000"/>
                </a:solidFill>
                <a:latin typeface="Arial"/>
              </a:rPr>
              <a:t> prioritizes one information source while competing information is present. Wimmer and colleagues trained mice to choose a reward location from conflicting visual and auditory signals. A preceding sound instructed the animal which sensory modality, vision or hearing, should govern its response.</a:t>
            </a:r>
          </a:p>
          <a:p>
            <a:pPr algn="l">
              <a:lnSpc>
                <a:spcPct val="108000"/>
              </a:lnSpc>
              <a:spcAft>
                <a:spcPts val="840"/>
              </a:spcAft>
            </a:pPr>
            <a:r>
              <a:rPr sz="1400" b="0" i="0">
                <a:solidFill>
                  <a:srgbClr val="000000"/>
                </a:solidFill>
                <a:latin typeface="Arial"/>
              </a:rPr>
              <a:t>One cue used noise low-pass filtered at 10 kHz; another used noise high-pass filtered at 11 kHz. Their assignments were counterbalanced across animals. Visual trials required locating a light, whereas auditory trials required distinguishing an upward from a downward frequency sweep.</a:t>
            </a:r>
          </a:p>
          <a:p>
            <a:pPr algn="l">
              <a:lnSpc>
                <a:spcPct val="108000"/>
              </a:lnSpc>
              <a:spcAft>
                <a:spcPts val="840"/>
              </a:spcAft>
            </a:pPr>
            <a:r>
              <a:rPr sz="1400" b="0" i="0">
                <a:solidFill>
                  <a:srgbClr val="000000"/>
                </a:solidFill>
                <a:latin typeface="Arial"/>
              </a:rPr>
              <a:t>Successful performance required the instructed rule rather than following whichever stimulus was most salient. Counterbalancing reduced the possibility that one cue intrinsically favored one modality. Because visual detection and auditory discrimination differ computationally, balanced accuracy does not establish identical processing demands or identical sensory pathways.</a:t>
            </a:r>
          </a:p>
        </p:txBody>
      </p:sp>
      <p:pic>
        <p:nvPicPr>
          <p:cNvPr id="4" name="Picture 3" descr="wimmer_task.png"/>
          <p:cNvPicPr>
            <a:picLocks noChangeAspect="1"/>
          </p:cNvPicPr>
          <p:nvPr/>
        </p:nvPicPr>
        <p:blipFill>
          <a:blip r:embed="rId2"/>
          <a:stretch>
            <a:fillRect/>
          </a:stretch>
        </p:blipFill>
        <p:spPr>
          <a:xfrm>
            <a:off x="6603366" y="1280160"/>
            <a:ext cx="4556401" cy="1965960"/>
          </a:xfrm>
          <a:prstGeom prst="rect">
            <a:avLst/>
          </a:prstGeom>
        </p:spPr>
      </p:pic>
      <p:sp>
        <p:nvSpPr>
          <p:cNvPr id="5" name="Figure caption"/>
          <p:cNvSpPr txBox="1"/>
          <p:nvPr/>
        </p:nvSpPr>
        <p:spPr>
          <a:xfrm>
            <a:off x="6138367" y="33375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1(a,b). Cross-modal sensory selection and mouse task structure.</a:t>
            </a:r>
          </a:p>
        </p:txBody>
      </p:sp>
      <p:pic>
        <p:nvPicPr>
          <p:cNvPr id="6" name="Picture 5" descr="wimmer_cost.png"/>
          <p:cNvPicPr>
            <a:picLocks noChangeAspect="1"/>
          </p:cNvPicPr>
          <p:nvPr/>
        </p:nvPicPr>
        <p:blipFill>
          <a:blip r:embed="rId3"/>
          <a:stretch>
            <a:fillRect/>
          </a:stretch>
        </p:blipFill>
        <p:spPr>
          <a:xfrm>
            <a:off x="6138367" y="3794760"/>
            <a:ext cx="5486400" cy="1911520"/>
          </a:xfrm>
          <a:prstGeom prst="rect">
            <a:avLst/>
          </a:prstGeom>
        </p:spPr>
      </p:pic>
      <p:sp>
        <p:nvSpPr>
          <p:cNvPr id="7" name="Figure caption"/>
          <p:cNvSpPr txBox="1"/>
          <p:nvPr/>
        </p:nvSpPr>
        <p:spPr>
          <a:xfrm>
            <a:off x="6138367" y="577943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1(c–g). Modality performance and visual-detection functions under control conditions.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Wimmer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Selection costs persist when a distractor is omitted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Wimmer and colleagues measured a </a:t>
            </a:r>
            <a:r>
              <a:rPr sz="1400" b="1" i="0">
                <a:solidFill>
                  <a:srgbClr val="594044"/>
                </a:solidFill>
                <a:latin typeface="Arial"/>
              </a:rPr>
              <a:t>detection threshold</a:t>
            </a:r>
            <a:r>
              <a:rPr sz="1400" b="0" i="0">
                <a:solidFill>
                  <a:srgbClr val="000000"/>
                </a:solidFill>
                <a:latin typeface="Arial"/>
              </a:rPr>
              <a:t>, the stimulus strength associated with a specified level of visual performance. They varied light intensity while comparing visual-only trials with trials requiring a cue-dependent switch between vision and audition. Brief visual targets lasted 0.1 s during these measurements.</a:t>
            </a:r>
          </a:p>
          <a:p>
            <a:pPr algn="l">
              <a:lnSpc>
                <a:spcPct val="108000"/>
              </a:lnSpc>
              <a:spcAft>
                <a:spcPts val="840"/>
              </a:spcAft>
            </a:pPr>
            <a:r>
              <a:rPr sz="1400" b="0" i="0">
                <a:solidFill>
                  <a:srgbClr val="000000"/>
                </a:solidFill>
                <a:latin typeface="Arial"/>
              </a:rPr>
              <a:t>Visual detection required greater stimulus intensity under cross-modal conditions. Removing the conflicting auditory target did not restore the visual-only detection function. Conversely, learning over a session that auditory stimuli were unrewarded did not produce the same threshold change as trial-by-trial modality selection.</a:t>
            </a:r>
          </a:p>
          <a:p>
            <a:pPr algn="l">
              <a:lnSpc>
                <a:spcPct val="108000"/>
              </a:lnSpc>
              <a:spcAft>
                <a:spcPts val="840"/>
              </a:spcAft>
            </a:pPr>
            <a:r>
              <a:rPr sz="1400" b="0" i="0">
                <a:solidFill>
                  <a:srgbClr val="000000"/>
                </a:solidFill>
                <a:latin typeface="Arial"/>
              </a:rPr>
              <a:t>The cost therefore depends on the instructed task configuration, rather than merely acoustic interference from a simultaneous distractor. Expectation and sensory selection can modify measured visual sensitivity. This behavioral comparison does not by itself locate the circuit that changes sensitivity or distinguish every possible contribution of uncertainty and task switching.</a:t>
            </a:r>
          </a:p>
        </p:txBody>
      </p:sp>
      <p:pic>
        <p:nvPicPr>
          <p:cNvPr id="4" name="Picture 3" descr="wimmer_cost.png"/>
          <p:cNvPicPr>
            <a:picLocks noChangeAspect="1"/>
          </p:cNvPicPr>
          <p:nvPr/>
        </p:nvPicPr>
        <p:blipFill>
          <a:blip r:embed="rId2"/>
          <a:stretch>
            <a:fillRect/>
          </a:stretch>
        </p:blipFill>
        <p:spPr>
          <a:xfrm>
            <a:off x="6138367" y="1280160"/>
            <a:ext cx="5486400" cy="1911520"/>
          </a:xfrm>
          <a:prstGeom prst="rect">
            <a:avLst/>
          </a:prstGeom>
        </p:spPr>
      </p:pic>
      <p:sp>
        <p:nvSpPr>
          <p:cNvPr id="5" name="Figure caption"/>
          <p:cNvSpPr txBox="1"/>
          <p:nvPr/>
        </p:nvSpPr>
        <p:spPr>
          <a:xfrm>
            <a:off x="6138367" y="3283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1(c–g). Modality performance and visual-detection functions under control conditions.</a:t>
            </a:r>
          </a:p>
        </p:txBody>
      </p:sp>
      <p:pic>
        <p:nvPicPr>
          <p:cNvPr id="6" name="Picture 5" descr="wimmer_task.png"/>
          <p:cNvPicPr>
            <a:picLocks noChangeAspect="1"/>
          </p:cNvPicPr>
          <p:nvPr/>
        </p:nvPicPr>
        <p:blipFill>
          <a:blip r:embed="rId3"/>
          <a:stretch>
            <a:fillRect/>
          </a:stretch>
        </p:blipFill>
        <p:spPr>
          <a:xfrm>
            <a:off x="6603366" y="3794760"/>
            <a:ext cx="4556401" cy="19659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1(a,b). Cross-modal sensory selection and mouse task structure.</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Wimmer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Flies balance fixation against wide-field motion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Kirszenblat and colleagues measured visual selection in freely walking </a:t>
            </a:r>
            <a:r>
              <a:rPr sz="1400" b="0" i="1">
                <a:solidFill>
                  <a:srgbClr val="000000"/>
                </a:solidFill>
                <a:latin typeface="Arial"/>
              </a:rPr>
              <a:t>Drosophila melanogaster</a:t>
            </a:r>
            <a:r>
              <a:rPr sz="1400" b="0" i="0">
                <a:solidFill>
                  <a:srgbClr val="000000"/>
                </a:solidFill>
                <a:latin typeface="Arial"/>
              </a:rPr>
              <a:t>. </a:t>
            </a:r>
            <a:r>
              <a:rPr sz="1400" b="1" i="0">
                <a:solidFill>
                  <a:srgbClr val="594044"/>
                </a:solidFill>
                <a:latin typeface="Arial"/>
              </a:rPr>
              <a:t>Fixation</a:t>
            </a:r>
            <a:r>
              <a:rPr sz="1400" b="0" i="0">
                <a:solidFill>
                  <a:srgbClr val="000000"/>
                </a:solidFill>
                <a:latin typeface="Arial"/>
              </a:rPr>
              <a:t> was orientation toward a target stripe; an </a:t>
            </a:r>
            <a:r>
              <a:rPr sz="1400" b="1" i="0">
                <a:solidFill>
                  <a:srgbClr val="594044"/>
                </a:solidFill>
                <a:latin typeface="Arial"/>
              </a:rPr>
              <a:t>optomotor response</a:t>
            </a:r>
            <a:r>
              <a:rPr sz="1400" b="0" i="0">
                <a:solidFill>
                  <a:srgbClr val="000000"/>
                </a:solidFill>
                <a:latin typeface="Arial"/>
              </a:rPr>
              <a:t> was turning with wide-field motion. Wing-clipped flies walked on a platform inside an illuminated arena, allowing both behaviors to be measured in the same animal.</a:t>
            </a:r>
          </a:p>
          <a:p>
            <a:pPr algn="l">
              <a:lnSpc>
                <a:spcPct val="108000"/>
              </a:lnSpc>
              <a:spcAft>
                <a:spcPts val="840"/>
              </a:spcAft>
            </a:pPr>
            <a:r>
              <a:rPr sz="1400" b="0" i="0">
                <a:solidFill>
                  <a:srgbClr val="000000"/>
                </a:solidFill>
                <a:latin typeface="Arial"/>
              </a:rPr>
              <a:t>Targets flickered at 7 Hz, while a background grating moved at 54 degrees per second with a temporal frequency of 3 Hz. </a:t>
            </a:r>
            <a:r>
              <a:rPr sz="1400" b="1" i="0">
                <a:solidFill>
                  <a:srgbClr val="594044"/>
                </a:solidFill>
                <a:latin typeface="Arial"/>
              </a:rPr>
              <a:t>Target deviation</a:t>
            </a:r>
            <a:r>
              <a:rPr sz="1400" b="0" i="0">
                <a:solidFill>
                  <a:srgbClr val="000000"/>
                </a:solidFill>
                <a:latin typeface="Arial"/>
              </a:rPr>
              <a:t>, the angle between walking direction and the target, increased as distractor contrast increased. Angular turning velocity separately measured motion-following behavior.</a:t>
            </a:r>
          </a:p>
          <a:p>
            <a:pPr algn="l">
              <a:lnSpc>
                <a:spcPct val="108000"/>
              </a:lnSpc>
              <a:spcAft>
                <a:spcPts val="840"/>
              </a:spcAft>
            </a:pPr>
            <a:r>
              <a:rPr sz="1400" b="0" i="0">
                <a:solidFill>
                  <a:srgbClr val="000000"/>
                </a:solidFill>
                <a:latin typeface="Arial"/>
              </a:rPr>
              <a:t>Competition altered orientation even though flies retained responses to isolated targets and motion. These measurements support attention-like selection in insects without assuming that their neural architecture duplicates mammalian frontal circuits. Target deviation measures behavior, not conscious experience, clinical inattention or a directly recorded attention neuron.</a:t>
            </a:r>
          </a:p>
        </p:txBody>
      </p:sp>
      <p:pic>
        <p:nvPicPr>
          <p:cNvPr id="4" name="Picture 3" descr="fly_task.png"/>
          <p:cNvPicPr>
            <a:picLocks noChangeAspect="1"/>
          </p:cNvPicPr>
          <p:nvPr/>
        </p:nvPicPr>
        <p:blipFill>
          <a:blip r:embed="rId2"/>
          <a:stretch>
            <a:fillRect/>
          </a:stretch>
        </p:blipFill>
        <p:spPr>
          <a:xfrm>
            <a:off x="7377161" y="1280160"/>
            <a:ext cx="3008811" cy="1965960"/>
          </a:xfrm>
          <a:prstGeom prst="rect">
            <a:avLst/>
          </a:prstGeom>
        </p:spPr>
      </p:pic>
      <p:sp>
        <p:nvSpPr>
          <p:cNvPr id="5" name="Figure caption"/>
          <p:cNvSpPr txBox="1"/>
          <p:nvPr/>
        </p:nvSpPr>
        <p:spPr>
          <a:xfrm>
            <a:off x="6138367" y="33375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Kirszenblat et al. (2018), Fig. 1(A–E). Fly fixation and optomotor competition paradigm with recorded paths.</a:t>
            </a:r>
          </a:p>
        </p:txBody>
      </p:sp>
      <p:pic>
        <p:nvPicPr>
          <p:cNvPr id="6" name="Picture 5" descr="fly_competition.png"/>
          <p:cNvPicPr>
            <a:picLocks noChangeAspect="1"/>
          </p:cNvPicPr>
          <p:nvPr/>
        </p:nvPicPr>
        <p:blipFill>
          <a:blip r:embed="rId3"/>
          <a:stretch>
            <a:fillRect/>
          </a:stretch>
        </p:blipFill>
        <p:spPr>
          <a:xfrm>
            <a:off x="6988636" y="3794760"/>
            <a:ext cx="3785860" cy="19659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Kirszenblat et al. (2018), Fig. 1(F,G). Fixation deviation and angular velocity at different distractor contrasts.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Kirszenblat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Locus-coeruleus neurons supply cortical norepinephrine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594044"/>
                </a:solidFill>
                <a:latin typeface="Arial"/>
              </a:rPr>
              <a:t>locus coeruleus</a:t>
            </a:r>
            <a:r>
              <a:rPr sz="1400" b="0" i="0">
                <a:solidFill>
                  <a:srgbClr val="000000"/>
                </a:solidFill>
                <a:latin typeface="Arial"/>
              </a:rPr>
              <a:t>, or LC, is a brainstem nucleus whose neurons release </a:t>
            </a:r>
            <a:r>
              <a:rPr sz="1400" b="1" i="0">
                <a:solidFill>
                  <a:srgbClr val="594044"/>
                </a:solidFill>
                <a:latin typeface="Arial"/>
              </a:rPr>
              <a:t>norepinephrine</a:t>
            </a:r>
            <a:r>
              <a:rPr sz="1400" b="0" i="0">
                <a:solidFill>
                  <a:srgbClr val="000000"/>
                </a:solidFill>
                <a:latin typeface="Arial"/>
              </a:rPr>
              <a:t>, or NE, a chemical transmitter that modulates target-cell activity. NE and </a:t>
            </a:r>
            <a:r>
              <a:rPr sz="1400" b="1" i="0">
                <a:solidFill>
                  <a:srgbClr val="594044"/>
                </a:solidFill>
                <a:latin typeface="Arial"/>
              </a:rPr>
              <a:t>dopamine</a:t>
            </a:r>
            <a:r>
              <a:rPr sz="1400" b="0" i="0">
                <a:solidFill>
                  <a:srgbClr val="000000"/>
                </a:solidFill>
                <a:latin typeface="Arial"/>
              </a:rPr>
              <a:t>, or DA, belong to the catecholamine transmitter family. Bari and colleagues targeted LC neurons genetically and verified their identity in labeled tissue.</a:t>
            </a:r>
          </a:p>
          <a:p>
            <a:pPr algn="l">
              <a:lnSpc>
                <a:spcPct val="108000"/>
              </a:lnSpc>
              <a:spcAft>
                <a:spcPts val="840"/>
              </a:spcAft>
            </a:pPr>
            <a:r>
              <a:rPr sz="1400" b="0" i="0">
                <a:solidFill>
                  <a:srgbClr val="000000"/>
                </a:solidFill>
                <a:latin typeface="Arial"/>
              </a:rPr>
              <a:t>A </a:t>
            </a:r>
            <a:r>
              <a:rPr sz="1400" b="1" i="0">
                <a:solidFill>
                  <a:srgbClr val="594044"/>
                </a:solidFill>
                <a:latin typeface="Arial"/>
              </a:rPr>
              <a:t>transporter</a:t>
            </a:r>
            <a:r>
              <a:rPr sz="1400" b="0" i="0">
                <a:solidFill>
                  <a:srgbClr val="000000"/>
                </a:solidFill>
                <a:latin typeface="Arial"/>
              </a:rPr>
              <a:t> moves transmitter across a cell membrane. Expression of the norepinephrine transporter, or </a:t>
            </a:r>
            <a:r>
              <a:rPr sz="1400" b="1" i="0">
                <a:solidFill>
                  <a:srgbClr val="594044"/>
                </a:solidFill>
                <a:latin typeface="Arial"/>
              </a:rPr>
              <a:t>NET</a:t>
            </a:r>
            <a:r>
              <a:rPr sz="1400" b="0" i="0">
                <a:solidFill>
                  <a:srgbClr val="000000"/>
                </a:solidFill>
                <a:latin typeface="Arial"/>
              </a:rPr>
              <a:t>, helped identify the targeted neurons. Fluorescent markers localized light-sensitive proteins in LC cells and noradrenergic axon terminals in frontal cortex; source micrographs retain 100-µm and 50-µm reference scales.</a:t>
            </a:r>
          </a:p>
          <a:p>
            <a:pPr algn="l">
              <a:lnSpc>
                <a:spcPct val="108000"/>
              </a:lnSpc>
              <a:spcAft>
                <a:spcPts val="840"/>
              </a:spcAft>
            </a:pPr>
            <a:r>
              <a:rPr sz="1400" b="0" i="0">
                <a:solidFill>
                  <a:srgbClr val="000000"/>
                </a:solidFill>
                <a:latin typeface="Arial"/>
              </a:rPr>
              <a:t>The anatomical evidence links a transmitter-defined population to cortical projections. An </a:t>
            </a:r>
            <a:r>
              <a:rPr sz="1400" b="1" i="0">
                <a:solidFill>
                  <a:srgbClr val="594044"/>
                </a:solidFill>
                <a:latin typeface="Arial"/>
              </a:rPr>
              <a:t>axon terminal</a:t>
            </a:r>
            <a:r>
              <a:rPr sz="1400" b="0" i="0">
                <a:solidFill>
                  <a:srgbClr val="000000"/>
                </a:solidFill>
                <a:latin typeface="Arial"/>
              </a:rPr>
              <a:t> is the release-bearing ending of a neuronal process. Labeling establishes location and molecular identity, but it does not alone establish when release occurs, which receptor responds or whether a projection changes behavior.</a:t>
            </a:r>
          </a:p>
        </p:txBody>
      </p:sp>
      <p:pic>
        <p:nvPicPr>
          <p:cNvPr id="4" name="Picture 3" descr="lc.png"/>
          <p:cNvPicPr>
            <a:picLocks noChangeAspect="1"/>
          </p:cNvPicPr>
          <p:nvPr/>
        </p:nvPicPr>
        <p:blipFill>
          <a:blip r:embed="rId2"/>
          <a:stretch>
            <a:fillRect/>
          </a:stretch>
        </p:blipFill>
        <p:spPr>
          <a:xfrm>
            <a:off x="6233072" y="1280160"/>
            <a:ext cx="5296988" cy="1965960"/>
          </a:xfrm>
          <a:prstGeom prst="rect">
            <a:avLst/>
          </a:prstGeom>
        </p:spPr>
      </p:pic>
      <p:sp>
        <p:nvSpPr>
          <p:cNvPr id="5" name="Figure caption"/>
          <p:cNvSpPr txBox="1"/>
          <p:nvPr/>
        </p:nvSpPr>
        <p:spPr>
          <a:xfrm>
            <a:off x="6138367" y="33375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1(A–D). Opsin expression, firing-rate validation and locus-coeruleus recording site.</a:t>
            </a:r>
          </a:p>
        </p:txBody>
      </p:sp>
      <p:pic>
        <p:nvPicPr>
          <p:cNvPr id="6" name="Picture 5" descr="terminals.png"/>
          <p:cNvPicPr>
            <a:picLocks noChangeAspect="1"/>
          </p:cNvPicPr>
          <p:nvPr/>
        </p:nvPicPr>
        <p:blipFill>
          <a:blip r:embed="rId3"/>
          <a:stretch>
            <a:fillRect/>
          </a:stretch>
        </p:blipFill>
        <p:spPr>
          <a:xfrm>
            <a:off x="6138367" y="3794760"/>
            <a:ext cx="5486400" cy="1152249"/>
          </a:xfrm>
          <a:prstGeom prst="rect">
            <a:avLst/>
          </a:prstGeom>
        </p:spPr>
      </p:pic>
      <p:sp>
        <p:nvSpPr>
          <p:cNvPr id="7" name="Figure caption"/>
          <p:cNvSpPr txBox="1"/>
          <p:nvPr/>
        </p:nvSpPr>
        <p:spPr>
          <a:xfrm>
            <a:off x="6138367" y="502016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5(D–F). Noradrenergic neuron and cortical terminal histology.</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Light-driven LC activity increases cortical NE release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594044"/>
                </a:solidFill>
                <a:latin typeface="Arial"/>
              </a:rPr>
              <a:t>Optogenetics</a:t>
            </a:r>
            <a:r>
              <a:rPr sz="1400" b="0" i="0">
                <a:solidFill>
                  <a:srgbClr val="000000"/>
                </a:solidFill>
                <a:latin typeface="Arial"/>
              </a:rPr>
              <a:t> controls genetically targeted cells with light-sensitive proteins. Bari and colleagues expressed </a:t>
            </a:r>
            <a:r>
              <a:rPr sz="1400" b="1" i="0">
                <a:solidFill>
                  <a:srgbClr val="594044"/>
                </a:solidFill>
                <a:latin typeface="Arial"/>
              </a:rPr>
              <a:t>channelrhodopsin-2</a:t>
            </a:r>
            <a:r>
              <a:rPr sz="1400" b="0" i="0">
                <a:solidFill>
                  <a:srgbClr val="000000"/>
                </a:solidFill>
                <a:latin typeface="Arial"/>
              </a:rPr>
              <a:t>, or ChR2, a light-activated ion channel, in noradrenergic neurons. Channel opening permitted depolarization, a shift of membrane voltage toward excitation, and increased LC firing during blue-light stimulation.</a:t>
            </a:r>
          </a:p>
          <a:p>
            <a:pPr algn="l">
              <a:lnSpc>
                <a:spcPct val="108000"/>
              </a:lnSpc>
              <a:spcAft>
                <a:spcPts val="840"/>
              </a:spcAft>
            </a:pPr>
            <a:r>
              <a:rPr sz="1400" b="0" i="0">
                <a:solidFill>
                  <a:srgbClr val="000000"/>
                </a:solidFill>
                <a:latin typeface="Arial"/>
              </a:rPr>
              <a:t>The investigators paired 7-s stimulation with 10-ms light pulses at different frequencies. At 20 Hz and 1.5 mW, stimulation produced elevated LC output and a robust prefrontal NE signal. A fluorescent NE sensor in medial prefrontal cortex reported transmitter-related changes during stimulation.</a:t>
            </a:r>
          </a:p>
          <a:p>
            <a:pPr algn="l">
              <a:lnSpc>
                <a:spcPct val="108000"/>
              </a:lnSpc>
              <a:spcAft>
                <a:spcPts val="840"/>
              </a:spcAft>
            </a:pPr>
            <a:r>
              <a:rPr sz="1400" b="0" i="0">
                <a:solidFill>
                  <a:srgbClr val="000000"/>
                </a:solidFill>
                <a:latin typeface="Arial"/>
              </a:rPr>
              <a:t>An imposed pulse frequency is not automatically the neuronal firing rate: this protocol elevated sustained LC firing to approximately 5 Hz. Sensor fluorescence provides an extracellular transmitter readout rather than a direct count of released molecules. Together, electrical recording and transmitter photometry validate the manipulation beyond protein expression alone.</a:t>
            </a:r>
          </a:p>
        </p:txBody>
      </p:sp>
      <p:pic>
        <p:nvPicPr>
          <p:cNvPr id="4" name="Picture 3" descr="ne.png"/>
          <p:cNvPicPr>
            <a:picLocks noChangeAspect="1"/>
          </p:cNvPicPr>
          <p:nvPr/>
        </p:nvPicPr>
        <p:blipFill>
          <a:blip r:embed="rId2"/>
          <a:stretch>
            <a:fillRect/>
          </a:stretch>
        </p:blipFill>
        <p:spPr>
          <a:xfrm>
            <a:off x="6138367" y="1280160"/>
            <a:ext cx="5486400" cy="1501253"/>
          </a:xfrm>
          <a:prstGeom prst="rect">
            <a:avLst/>
          </a:prstGeom>
        </p:spPr>
      </p:pic>
      <p:sp>
        <p:nvSpPr>
          <p:cNvPr id="5" name="Figure caption"/>
          <p:cNvSpPr txBox="1"/>
          <p:nvPr/>
        </p:nvSpPr>
        <p:spPr>
          <a:xfrm>
            <a:off x="6138367" y="2872853"/>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1(E–H). Prefrontal norepinephrine photometry during locus-coeruleus stimulation.</a:t>
            </a:r>
          </a:p>
        </p:txBody>
      </p:sp>
      <p:pic>
        <p:nvPicPr>
          <p:cNvPr id="6" name="Picture 5" descr="lc.png"/>
          <p:cNvPicPr>
            <a:picLocks noChangeAspect="1"/>
          </p:cNvPicPr>
          <p:nvPr/>
        </p:nvPicPr>
        <p:blipFill>
          <a:blip r:embed="rId3"/>
          <a:stretch>
            <a:fillRect/>
          </a:stretch>
        </p:blipFill>
        <p:spPr>
          <a:xfrm>
            <a:off x="6233072" y="3794760"/>
            <a:ext cx="5296988" cy="19659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1(A–D). Opsin expression, firing-rate validation and locus-coeruleus recording site.</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LC activation improves accuracy and waiting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During the two-choice task, Bari and colleagues activated LC neurons over the 7-s delay preceding the target. ChR2-expressing mice made more correct choices and fewer premature responses with the laser on. Littermate controls lacking the active protein received comparable illumination.</a:t>
            </a:r>
          </a:p>
          <a:p>
            <a:pPr algn="l">
              <a:lnSpc>
                <a:spcPct val="108000"/>
              </a:lnSpc>
              <a:spcAft>
                <a:spcPts val="840"/>
              </a:spcAft>
            </a:pPr>
            <a:r>
              <a:rPr sz="1400" b="0" i="0">
                <a:solidFill>
                  <a:srgbClr val="000000"/>
                </a:solidFill>
                <a:latin typeface="Arial"/>
              </a:rPr>
              <a:t>The brief 0.5-s target challenged accurate detection and selection. Activation did not shorten response times, and the stimulation protocol did not increase open-field locomotor distance. Food-related controls also argued against a simple increase in reward motivation as the explanation for improved task performance.</a:t>
            </a:r>
          </a:p>
          <a:p>
            <a:pPr algn="l">
              <a:lnSpc>
                <a:spcPct val="108000"/>
              </a:lnSpc>
              <a:spcAft>
                <a:spcPts val="840"/>
              </a:spcAft>
            </a:pPr>
            <a:r>
              <a:rPr sz="1400" b="1" i="0">
                <a:solidFill>
                  <a:srgbClr val="594044"/>
                </a:solidFill>
                <a:latin typeface="Arial"/>
              </a:rPr>
              <a:t>Causal perturbation</a:t>
            </a:r>
            <a:r>
              <a:rPr sz="1400" b="0" i="0">
                <a:solidFill>
                  <a:srgbClr val="000000"/>
                </a:solidFill>
                <a:latin typeface="Arial"/>
              </a:rPr>
              <a:t> tests whether deliberately changing neural activity changes an outcome. These results support an influence of LC activity on selection and restraint during preparation. They do not establish that every frequency, duration or behavioral state of LC activation is beneficial, or identify one cortical receptor responsible for both effects.</a:t>
            </a:r>
          </a:p>
        </p:txBody>
      </p:sp>
      <p:pic>
        <p:nvPicPr>
          <p:cNvPr id="4" name="Picture 3" descr="lc_activation.png"/>
          <p:cNvPicPr>
            <a:picLocks noChangeAspect="1"/>
          </p:cNvPicPr>
          <p:nvPr/>
        </p:nvPicPr>
        <p:blipFill>
          <a:blip r:embed="rId2"/>
          <a:stretch>
            <a:fillRect/>
          </a:stretch>
        </p:blipFill>
        <p:spPr>
          <a:xfrm>
            <a:off x="6138367" y="1280160"/>
            <a:ext cx="5486400" cy="1568328"/>
          </a:xfrm>
          <a:prstGeom prst="rect">
            <a:avLst/>
          </a:prstGeom>
        </p:spPr>
      </p:pic>
      <p:sp>
        <p:nvSpPr>
          <p:cNvPr id="5" name="Figure caption"/>
          <p:cNvSpPr txBox="1"/>
          <p:nvPr/>
        </p:nvSpPr>
        <p:spPr>
          <a:xfrm>
            <a:off x="6138367" y="293992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2(D–G). Locus-coeruleus activation changes accuracy and premature responses.</a:t>
            </a:r>
          </a:p>
        </p:txBody>
      </p:sp>
      <p:pic>
        <p:nvPicPr>
          <p:cNvPr id="6" name="Picture 5" descr="lc_control.png"/>
          <p:cNvPicPr>
            <a:picLocks noChangeAspect="1"/>
          </p:cNvPicPr>
          <p:nvPr/>
        </p:nvPicPr>
        <p:blipFill>
          <a:blip r:embed="rId3"/>
          <a:stretch>
            <a:fillRect/>
          </a:stretch>
        </p:blipFill>
        <p:spPr>
          <a:xfrm>
            <a:off x="6138367" y="3794760"/>
            <a:ext cx="5486400" cy="1466252"/>
          </a:xfrm>
          <a:prstGeom prst="rect">
            <a:avLst/>
          </a:prstGeom>
        </p:spPr>
      </p:pic>
      <p:sp>
        <p:nvSpPr>
          <p:cNvPr id="7" name="Figure caption"/>
          <p:cNvSpPr txBox="1"/>
          <p:nvPr/>
        </p:nvSpPr>
        <p:spPr>
          <a:xfrm>
            <a:off x="6138367" y="533416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1(I–N). Locomotor and anxiety-related behavioral controls.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LC suppression impairs accuracy and waiting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Bari and colleagues expressed </a:t>
            </a:r>
            <a:r>
              <a:rPr sz="1450" b="1" i="0">
                <a:solidFill>
                  <a:srgbClr val="594044"/>
                </a:solidFill>
                <a:latin typeface="Arial"/>
              </a:rPr>
              <a:t>archaerhodopsin</a:t>
            </a:r>
            <a:r>
              <a:rPr sz="1450" b="0" i="0">
                <a:solidFill>
                  <a:srgbClr val="000000"/>
                </a:solidFill>
                <a:latin typeface="Arial"/>
              </a:rPr>
              <a:t>, or Arch, a light-driven proton pump, in noradrenergic neurons. Its activation suppressed LC electrical activity. Applying continuous illumination during the delay provided a complementary manipulation to the ChR2 activation experiment.</a:t>
            </a:r>
          </a:p>
          <a:p>
            <a:pPr algn="l">
              <a:lnSpc>
                <a:spcPct val="108000"/>
              </a:lnSpc>
              <a:spcAft>
                <a:spcPts val="900"/>
              </a:spcAft>
            </a:pPr>
            <a:r>
              <a:rPr sz="1450" b="0" i="0">
                <a:solidFill>
                  <a:srgbClr val="000000"/>
                </a:solidFill>
                <a:latin typeface="Arial"/>
              </a:rPr>
              <a:t>In the task with a 7-s waiting period and a 0.5-s target, LC suppression reduced correct responses and increased premature nose pokes. Response times did not change. Animals lacking Arch served as illumination controls, while electrical recordings verified that the pump suppressed the targeted neurons.</a:t>
            </a:r>
          </a:p>
          <a:p>
            <a:pPr algn="l">
              <a:lnSpc>
                <a:spcPct val="108000"/>
              </a:lnSpc>
              <a:spcAft>
                <a:spcPts val="900"/>
              </a:spcAft>
            </a:pPr>
            <a:r>
              <a:rPr sz="1450" b="0" i="0">
                <a:solidFill>
                  <a:srgbClr val="000000"/>
                </a:solidFill>
                <a:latin typeface="Arial"/>
              </a:rPr>
              <a:t>Opposite behavioral effects of activation and suppression strengthen the causal connection between LC output and attentional control under these conditions. They do not imply that attention is a single variable determined by overall LC activity. The same nucleus has multiple projections, and suppressing its output can affect more than one downstream circuit.</a:t>
            </a:r>
          </a:p>
        </p:txBody>
      </p:sp>
      <p:pic>
        <p:nvPicPr>
          <p:cNvPr id="4" name="Picture 3" descr="lc_inhibition.png"/>
          <p:cNvPicPr>
            <a:picLocks noChangeAspect="1"/>
          </p:cNvPicPr>
          <p:nvPr/>
        </p:nvPicPr>
        <p:blipFill>
          <a:blip r:embed="rId2"/>
          <a:stretch>
            <a:fillRect/>
          </a:stretch>
        </p:blipFill>
        <p:spPr>
          <a:xfrm>
            <a:off x="6138367" y="1280160"/>
            <a:ext cx="5486400" cy="1469276"/>
          </a:xfrm>
          <a:prstGeom prst="rect">
            <a:avLst/>
          </a:prstGeom>
        </p:spPr>
      </p:pic>
      <p:sp>
        <p:nvSpPr>
          <p:cNvPr id="5" name="Figure caption"/>
          <p:cNvSpPr txBox="1"/>
          <p:nvPr/>
        </p:nvSpPr>
        <p:spPr>
          <a:xfrm>
            <a:off x="6138367" y="284087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2(H–K). Locus-coeruleus inhibition changes accuracy and premature responses.</a:t>
            </a:r>
          </a:p>
        </p:txBody>
      </p:sp>
      <p:pic>
        <p:nvPicPr>
          <p:cNvPr id="6" name="Picture 5" descr="lc.png"/>
          <p:cNvPicPr>
            <a:picLocks noChangeAspect="1"/>
          </p:cNvPicPr>
          <p:nvPr/>
        </p:nvPicPr>
        <p:blipFill>
          <a:blip r:embed="rId3"/>
          <a:stretch>
            <a:fillRect/>
          </a:stretch>
        </p:blipFill>
        <p:spPr>
          <a:xfrm>
            <a:off x="6233072" y="3794760"/>
            <a:ext cx="5296988" cy="19659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1(A–D). Opsin expression, firing-rate validation and locus-coeruleus recording site.</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Irrelevant spatial cues alter response timing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A </a:t>
            </a:r>
            <a:r>
              <a:rPr sz="1450" b="1" i="0">
                <a:solidFill>
                  <a:srgbClr val="594044"/>
                </a:solidFill>
                <a:latin typeface="Arial"/>
              </a:rPr>
              <a:t>valid cue</a:t>
            </a:r>
            <a:r>
              <a:rPr sz="1450" b="0" i="0">
                <a:solidFill>
                  <a:srgbClr val="000000"/>
                </a:solidFill>
                <a:latin typeface="Arial"/>
              </a:rPr>
              <a:t> appears on the future target side; an </a:t>
            </a:r>
            <a:r>
              <a:rPr sz="1450" b="1" i="0">
                <a:solidFill>
                  <a:srgbClr val="594044"/>
                </a:solidFill>
                <a:latin typeface="Arial"/>
              </a:rPr>
              <a:t>invalid cue</a:t>
            </a:r>
            <a:r>
              <a:rPr sz="1450" b="0" i="0">
                <a:solidFill>
                  <a:srgbClr val="000000"/>
                </a:solidFill>
                <a:latin typeface="Arial"/>
              </a:rPr>
              <a:t> appears on the opposite side. Bari and colleagues also used neutral and absent cues. The cue lasted 0.5 s and preceded a 3-s target, but its position did not predict where reward-relevant information would appear.</a:t>
            </a:r>
          </a:p>
          <a:p>
            <a:pPr algn="l">
              <a:lnSpc>
                <a:spcPct val="108000"/>
              </a:lnSpc>
              <a:spcAft>
                <a:spcPts val="900"/>
              </a:spcAft>
            </a:pPr>
            <a:r>
              <a:rPr sz="1450" b="0" i="0">
                <a:solidFill>
                  <a:srgbClr val="000000"/>
                </a:solidFill>
                <a:latin typeface="Arial"/>
              </a:rPr>
              <a:t>Control mice responded more slowly following invalid than neutral cues. The </a:t>
            </a:r>
            <a:r>
              <a:rPr sz="1450" b="1" i="0">
                <a:solidFill>
                  <a:srgbClr val="594044"/>
                </a:solidFill>
                <a:latin typeface="Arial"/>
              </a:rPr>
              <a:t>validity effect</a:t>
            </a:r>
            <a:r>
              <a:rPr sz="1450" b="0" i="0">
                <a:solidFill>
                  <a:srgbClr val="000000"/>
                </a:solidFill>
                <a:latin typeface="Arial"/>
              </a:rPr>
              <a:t> compared response timing after invalid and valid cues. LC activation reduced this timing difference, whereas LC suppression increased it. The uninformative cues could therefore bias orientation even when following them was not a reliable strategy.</a:t>
            </a:r>
          </a:p>
          <a:p>
            <a:pPr algn="l">
              <a:lnSpc>
                <a:spcPct val="108000"/>
              </a:lnSpc>
              <a:spcAft>
                <a:spcPts val="900"/>
              </a:spcAft>
            </a:pPr>
            <a:r>
              <a:rPr sz="1450" b="0" i="0">
                <a:solidFill>
                  <a:srgbClr val="000000"/>
                </a:solidFill>
                <a:latin typeface="Arial"/>
              </a:rPr>
              <a:t>A smaller cue effect is consistent with stronger goal-directed selection of the target. Faster responding alone would not establish improved attention; changes must be interpreted relative to cue condition and accuracy. This preparation tests resistance to spatial distraction rather than all forms of vigilance, learning or impulsive choice.</a:t>
            </a:r>
          </a:p>
        </p:txBody>
      </p:sp>
      <p:pic>
        <p:nvPicPr>
          <p:cNvPr id="4" name="Picture 3" descr="cue_task.png"/>
          <p:cNvPicPr>
            <a:picLocks noChangeAspect="1"/>
          </p:cNvPicPr>
          <p:nvPr/>
        </p:nvPicPr>
        <p:blipFill>
          <a:blip r:embed="rId2"/>
          <a:stretch>
            <a:fillRect/>
          </a:stretch>
        </p:blipFill>
        <p:spPr>
          <a:xfrm>
            <a:off x="6138367" y="1280160"/>
            <a:ext cx="5486400" cy="1541000"/>
          </a:xfrm>
          <a:prstGeom prst="rect">
            <a:avLst/>
          </a:prstGeom>
        </p:spPr>
      </p:pic>
      <p:sp>
        <p:nvSpPr>
          <p:cNvPr id="5" name="Figure caption"/>
          <p:cNvSpPr txBox="1"/>
          <p:nvPr/>
        </p:nvSpPr>
        <p:spPr>
          <a:xfrm>
            <a:off x="6138367" y="29126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3(A,B). Valid, neutral and invalid spatial cues preceding the target.</a:t>
            </a:r>
          </a:p>
        </p:txBody>
      </p:sp>
      <p:pic>
        <p:nvPicPr>
          <p:cNvPr id="6" name="Picture 5" descr="cue_rt.png"/>
          <p:cNvPicPr>
            <a:picLocks noChangeAspect="1"/>
          </p:cNvPicPr>
          <p:nvPr/>
        </p:nvPicPr>
        <p:blipFill>
          <a:blip r:embed="rId3"/>
          <a:stretch>
            <a:fillRect/>
          </a:stretch>
        </p:blipFill>
        <p:spPr>
          <a:xfrm>
            <a:off x="6138367" y="3794760"/>
            <a:ext cx="5486400" cy="1468634"/>
          </a:xfrm>
          <a:prstGeom prst="rect">
            <a:avLst/>
          </a:prstGeom>
        </p:spPr>
      </p:pic>
      <p:sp>
        <p:nvSpPr>
          <p:cNvPr id="7" name="Figure caption"/>
          <p:cNvSpPr txBox="1"/>
          <p:nvPr/>
        </p:nvSpPr>
        <p:spPr>
          <a:xfrm>
            <a:off x="6138367" y="533654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3(C–F). Response times and cue-validity effects during activation and inhibition.</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LC output changes susceptibility to misleading cues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1" i="0">
                <a:solidFill>
                  <a:srgbClr val="594044"/>
                </a:solidFill>
                <a:latin typeface="Arial"/>
              </a:rPr>
              <a:t>Goal-directed</a:t>
            </a:r>
            <a:r>
              <a:rPr sz="1450" b="0" i="0">
                <a:solidFill>
                  <a:srgbClr val="000000"/>
                </a:solidFill>
                <a:latin typeface="Arial"/>
              </a:rPr>
              <a:t>, or top-down, attention follows task requirements; </a:t>
            </a:r>
            <a:r>
              <a:rPr sz="1450" b="1" i="0">
                <a:solidFill>
                  <a:srgbClr val="594044"/>
                </a:solidFill>
                <a:latin typeface="Arial"/>
              </a:rPr>
              <a:t>stimulus-driven</a:t>
            </a:r>
            <a:r>
              <a:rPr sz="1450" b="0" i="0">
                <a:solidFill>
                  <a:srgbClr val="000000"/>
                </a:solidFill>
                <a:latin typeface="Arial"/>
              </a:rPr>
              <a:t>, or bottom-up, attention follows salient events. Bari and colleagues compared correct choices after valid and invalid spatial cues while changing LC activity during preparation. Cue position was irrelevant to the rule for obtaining food.</a:t>
            </a:r>
          </a:p>
          <a:p>
            <a:pPr algn="l">
              <a:lnSpc>
                <a:spcPct val="108000"/>
              </a:lnSpc>
              <a:spcAft>
                <a:spcPts val="900"/>
              </a:spcAft>
            </a:pPr>
            <a:r>
              <a:rPr sz="1450" b="0" i="0">
                <a:solidFill>
                  <a:srgbClr val="000000"/>
                </a:solidFill>
                <a:latin typeface="Arial"/>
              </a:rPr>
              <a:t>The difference in accuracy between valid and invalid trials was smaller during LC activation and larger during LC suppression. The target remained available for 3 s, so the comparison tested distraction by the preceding 0.5-s cue rather than detection of a uniformly brief target alone.</a:t>
            </a:r>
          </a:p>
          <a:p>
            <a:pPr algn="l">
              <a:lnSpc>
                <a:spcPct val="108000"/>
              </a:lnSpc>
              <a:spcAft>
                <a:spcPts val="900"/>
              </a:spcAft>
            </a:pPr>
            <a:r>
              <a:rPr sz="1450" b="0" i="0">
                <a:solidFill>
                  <a:srgbClr val="000000"/>
                </a:solidFill>
                <a:latin typeface="Arial"/>
              </a:rPr>
              <a:t>The result supports LC modulation of the balance between goal-relevant and distracting information. It does not establish that a larger NE signal always eliminates distraction, or that every LC neuron has the same role. Accuracy and premature-response measures remain distinct even when one manipulation influences both.</a:t>
            </a:r>
          </a:p>
        </p:txBody>
      </p:sp>
      <p:pic>
        <p:nvPicPr>
          <p:cNvPr id="4" name="Picture 3" descr="cue_accuracy.png"/>
          <p:cNvPicPr>
            <a:picLocks noChangeAspect="1"/>
          </p:cNvPicPr>
          <p:nvPr/>
        </p:nvPicPr>
        <p:blipFill>
          <a:blip r:embed="rId2"/>
          <a:stretch>
            <a:fillRect/>
          </a:stretch>
        </p:blipFill>
        <p:spPr>
          <a:xfrm>
            <a:off x="6138367" y="1280160"/>
            <a:ext cx="5486400" cy="1501045"/>
          </a:xfrm>
          <a:prstGeom prst="rect">
            <a:avLst/>
          </a:prstGeom>
        </p:spPr>
      </p:pic>
      <p:sp>
        <p:nvSpPr>
          <p:cNvPr id="5" name="Figure caption"/>
          <p:cNvSpPr txBox="1"/>
          <p:nvPr/>
        </p:nvSpPr>
        <p:spPr>
          <a:xfrm>
            <a:off x="6138367" y="2872645"/>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3(G–J). Accuracy depends on cue validity and locus-coeruleus manipulation.</a:t>
            </a:r>
          </a:p>
        </p:txBody>
      </p:sp>
      <p:pic>
        <p:nvPicPr>
          <p:cNvPr id="6" name="Picture 5" descr="lc.png"/>
          <p:cNvPicPr>
            <a:picLocks noChangeAspect="1"/>
          </p:cNvPicPr>
          <p:nvPr/>
        </p:nvPicPr>
        <p:blipFill>
          <a:blip r:embed="rId3"/>
          <a:stretch>
            <a:fillRect/>
          </a:stretch>
        </p:blipFill>
        <p:spPr>
          <a:xfrm>
            <a:off x="6233072" y="3794760"/>
            <a:ext cx="5296988" cy="19659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1(A–D). Opsin expression, firing-rate validation and locus-coeruleus recording site.</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Calcium photometry samples ongoing LC activity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594044"/>
                </a:solidFill>
                <a:latin typeface="Arial"/>
              </a:rPr>
              <a:t>Intracellular calcium</a:t>
            </a:r>
            <a:r>
              <a:rPr sz="1400" b="0" i="0">
                <a:solidFill>
                  <a:srgbClr val="000000"/>
                </a:solidFill>
                <a:latin typeface="Arial"/>
              </a:rPr>
              <a:t> is a signaling ion whose concentration often changes with neuronal activity. Bari and colleagues expressed </a:t>
            </a:r>
            <a:r>
              <a:rPr sz="1400" b="1" i="0">
                <a:solidFill>
                  <a:srgbClr val="594044"/>
                </a:solidFill>
                <a:latin typeface="Arial"/>
              </a:rPr>
              <a:t>GCaMP6f</a:t>
            </a:r>
            <a:r>
              <a:rPr sz="1400" b="0" i="0">
                <a:solidFill>
                  <a:srgbClr val="000000"/>
                </a:solidFill>
                <a:latin typeface="Arial"/>
              </a:rPr>
              <a:t>, a calcium-sensitive fluorescent protein, in NET-positive LC neurons. Fiber photometry recorded the population signal while mice performed the cue-dependent two-choice task.</a:t>
            </a:r>
          </a:p>
          <a:p>
            <a:pPr algn="l">
              <a:lnSpc>
                <a:spcPct val="108000"/>
              </a:lnSpc>
              <a:spcAft>
                <a:spcPts val="840"/>
              </a:spcAft>
            </a:pPr>
            <a:r>
              <a:rPr sz="1400" b="0" i="0">
                <a:solidFill>
                  <a:srgbClr val="000000"/>
                </a:solidFill>
                <a:latin typeface="Arial"/>
              </a:rPr>
              <a:t>Activity was aligned to target onset, separating delay-period signals from cue- and target-evoked responses. Sensory-evoked activity was measured over 0.5-s windows. A wavelength that did not depend on calcium provided a comparison channel for separating activity-related fluorescence from some optical artifacts.</a:t>
            </a:r>
          </a:p>
          <a:p>
            <a:pPr algn="l">
              <a:lnSpc>
                <a:spcPct val="108000"/>
              </a:lnSpc>
              <a:spcAft>
                <a:spcPts val="840"/>
              </a:spcAft>
            </a:pPr>
            <a:r>
              <a:rPr sz="1400" b="0" i="0">
                <a:solidFill>
                  <a:srgbClr val="000000"/>
                </a:solidFill>
                <a:latin typeface="Arial"/>
              </a:rPr>
              <a:t>A calcium transient is a time-varying fluorescence response, rather than a direct measurement of every action potential. Population photometry averages signals from multiple cells and cannot establish whether individual projection-defined neurons respond identically. Its temporal relationship to behavior complements, but does not replace, electrical recording and causal manipulation.</a:t>
            </a:r>
          </a:p>
        </p:txBody>
      </p:sp>
      <p:pic>
        <p:nvPicPr>
          <p:cNvPr id="4" name="Picture 3" descr="calcium.png"/>
          <p:cNvPicPr>
            <a:picLocks noChangeAspect="1"/>
          </p:cNvPicPr>
          <p:nvPr/>
        </p:nvPicPr>
        <p:blipFill>
          <a:blip r:embed="rId2"/>
          <a:stretch>
            <a:fillRect/>
          </a:stretch>
        </p:blipFill>
        <p:spPr>
          <a:xfrm>
            <a:off x="6138367" y="1280160"/>
            <a:ext cx="5486400" cy="1431234"/>
          </a:xfrm>
          <a:prstGeom prst="rect">
            <a:avLst/>
          </a:prstGeom>
        </p:spPr>
      </p:pic>
      <p:sp>
        <p:nvSpPr>
          <p:cNvPr id="5" name="Figure caption"/>
          <p:cNvSpPr txBox="1"/>
          <p:nvPr/>
        </p:nvSpPr>
        <p:spPr>
          <a:xfrm>
            <a:off x="6138367" y="280283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4(A–C). Calcium-sensor expression and sensory-evoked locus-coeruleus signal.</a:t>
            </a:r>
          </a:p>
        </p:txBody>
      </p:sp>
      <p:pic>
        <p:nvPicPr>
          <p:cNvPr id="6" name="Picture 5" descr="calcium_timing.png"/>
          <p:cNvPicPr>
            <a:picLocks noChangeAspect="1"/>
          </p:cNvPicPr>
          <p:nvPr/>
        </p:nvPicPr>
        <p:blipFill>
          <a:blip r:embed="rId3"/>
          <a:stretch>
            <a:fillRect/>
          </a:stretch>
        </p:blipFill>
        <p:spPr>
          <a:xfrm>
            <a:off x="6138367" y="3794760"/>
            <a:ext cx="5486400" cy="1608914"/>
          </a:xfrm>
          <a:prstGeom prst="rect">
            <a:avLst/>
          </a:prstGeom>
        </p:spPr>
      </p:pic>
      <p:sp>
        <p:nvSpPr>
          <p:cNvPr id="7" name="Figure caption"/>
          <p:cNvSpPr txBox="1"/>
          <p:nvPr/>
        </p:nvSpPr>
        <p:spPr>
          <a:xfrm>
            <a:off x="6138367" y="547682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4(D–F). Cue-task photometry and event-aligned calcium activity.</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Delay-period LC activity predicts response outcome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Bari and colleagues compared LC calcium signals preceding correct, incorrect and premature responses. Activity during the latter portion of the waiting period was higher before correct responses and lower before errors or early nose pokes. The comparison concerned naturally occurring activity rather than imposed stimulation.</a:t>
            </a:r>
          </a:p>
          <a:p>
            <a:pPr algn="l">
              <a:lnSpc>
                <a:spcPct val="108000"/>
              </a:lnSpc>
              <a:spcAft>
                <a:spcPts val="840"/>
              </a:spcAft>
            </a:pPr>
            <a:r>
              <a:rPr sz="1400" b="0" i="0">
                <a:solidFill>
                  <a:srgbClr val="000000"/>
                </a:solidFill>
                <a:latin typeface="Arial"/>
              </a:rPr>
              <a:t>A 3-s pretarget analysis window reduced contamination by the animal turning toward the response panel. Cue-evoked activity was measured separately over 0.5 s. Premature responses were associated with lower preceding activity but stronger responses to the distracting cue, separating sustained preparation from stimulus-triggered activation.</a:t>
            </a:r>
          </a:p>
          <a:p>
            <a:pPr algn="l">
              <a:lnSpc>
                <a:spcPct val="108000"/>
              </a:lnSpc>
              <a:spcAft>
                <a:spcPts val="840"/>
              </a:spcAft>
            </a:pPr>
            <a:r>
              <a:rPr sz="1400" b="0" i="0">
                <a:solidFill>
                  <a:srgbClr val="000000"/>
                </a:solidFill>
                <a:latin typeface="Arial"/>
              </a:rPr>
              <a:t>These associations support a relationship between LC state and successful restraint or selection. They do not prove that the measured calcium fluctuation causes each individual response. Other behavioral and neural variables can covary with the signal, while the separate optogenetic experiments establish a causal influence of the targeted population.</a:t>
            </a:r>
          </a:p>
        </p:txBody>
      </p:sp>
      <p:pic>
        <p:nvPicPr>
          <p:cNvPr id="4" name="Picture 3" descr="calcium_outcome.png"/>
          <p:cNvPicPr>
            <a:picLocks noChangeAspect="1"/>
          </p:cNvPicPr>
          <p:nvPr/>
        </p:nvPicPr>
        <p:blipFill>
          <a:blip r:embed="rId2"/>
          <a:stretch>
            <a:fillRect/>
          </a:stretch>
        </p:blipFill>
        <p:spPr>
          <a:xfrm>
            <a:off x="6138367" y="1280160"/>
            <a:ext cx="5486400" cy="1433632"/>
          </a:xfrm>
          <a:prstGeom prst="rect">
            <a:avLst/>
          </a:prstGeom>
        </p:spPr>
      </p:pic>
      <p:sp>
        <p:nvSpPr>
          <p:cNvPr id="5" name="Figure caption"/>
          <p:cNvSpPr txBox="1"/>
          <p:nvPr/>
        </p:nvSpPr>
        <p:spPr>
          <a:xfrm>
            <a:off x="6138367" y="280523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4(G–I). Delay-period and cue-evoked calcium activity by response outcome.</a:t>
            </a:r>
          </a:p>
        </p:txBody>
      </p:sp>
      <p:pic>
        <p:nvPicPr>
          <p:cNvPr id="6" name="Picture 5" descr="lc.png"/>
          <p:cNvPicPr>
            <a:picLocks noChangeAspect="1"/>
          </p:cNvPicPr>
          <p:nvPr/>
        </p:nvPicPr>
        <p:blipFill>
          <a:blip r:embed="rId3"/>
          <a:stretch>
            <a:fillRect/>
          </a:stretch>
        </p:blipFill>
        <p:spPr>
          <a:xfrm>
            <a:off x="6233072" y="3794760"/>
            <a:ext cx="5296988" cy="19659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1(A–D). Opsin expression, firing-rate validation and locus-coeruleus recording site.</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Dorsomedial NE terminals improve distractor resistance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The </a:t>
            </a:r>
            <a:r>
              <a:rPr sz="1450" b="1" i="0">
                <a:solidFill>
                  <a:srgbClr val="594044"/>
                </a:solidFill>
                <a:latin typeface="Arial"/>
              </a:rPr>
              <a:t>dorsomedial prefrontal cortex</a:t>
            </a:r>
            <a:r>
              <a:rPr sz="1450" b="0" i="0">
                <a:solidFill>
                  <a:srgbClr val="000000"/>
                </a:solidFill>
                <a:latin typeface="Arial"/>
              </a:rPr>
              <a:t>, or dmPFC, is a frontal cortical region receiving noradrenergic axons from the LC. Bari and colleagues expressed ChR2 in LC neurons using a dopamine-β-hydroxylase-based genetic strategy and verified labeled terminals and optical-fiber placement in cortical tissue.</a:t>
            </a:r>
          </a:p>
          <a:p>
            <a:pPr algn="l">
              <a:lnSpc>
                <a:spcPct val="108000"/>
              </a:lnSpc>
              <a:spcAft>
                <a:spcPts val="900"/>
              </a:spcAft>
            </a:pPr>
            <a:r>
              <a:rPr sz="1450" b="0" i="0">
                <a:solidFill>
                  <a:srgbClr val="000000"/>
                </a:solidFill>
                <a:latin typeface="Arial"/>
              </a:rPr>
              <a:t>Stimulation of LC terminals at 5 Hz during the pretarget delay increased correct responses on trials containing distractors. It did not alter premature-response frequency. Response times increased specifically under distraction, consistent with additional time being used for successful selection among competing stimuli.</a:t>
            </a:r>
          </a:p>
          <a:p>
            <a:pPr algn="l">
              <a:lnSpc>
                <a:spcPct val="108000"/>
              </a:lnSpc>
              <a:spcAft>
                <a:spcPts val="900"/>
              </a:spcAft>
            </a:pPr>
            <a:r>
              <a:rPr sz="1450" b="0" i="0">
                <a:solidFill>
                  <a:srgbClr val="000000"/>
                </a:solidFill>
                <a:latin typeface="Arial"/>
              </a:rPr>
              <a:t>Terminal manipulation narrows the candidate pathway beyond whole-LC stimulation. The result supports a dmPFC contribution to target selection under distraction, rather than a general reduction of all forms of impulsivity. The experiment does not identify the postsynaptic receptor or local neuron class that mediates the behavioral improvement.</a:t>
            </a:r>
          </a:p>
        </p:txBody>
      </p:sp>
      <p:pic>
        <p:nvPicPr>
          <p:cNvPr id="4" name="Picture 3" descr="dmpfc.png"/>
          <p:cNvPicPr>
            <a:picLocks noChangeAspect="1"/>
          </p:cNvPicPr>
          <p:nvPr/>
        </p:nvPicPr>
        <p:blipFill>
          <a:blip r:embed="rId2"/>
          <a:stretch>
            <a:fillRect/>
          </a:stretch>
        </p:blipFill>
        <p:spPr>
          <a:xfrm>
            <a:off x="6138367" y="1280160"/>
            <a:ext cx="5486400" cy="1197539"/>
          </a:xfrm>
          <a:prstGeom prst="rect">
            <a:avLst/>
          </a:prstGeom>
        </p:spPr>
      </p:pic>
      <p:sp>
        <p:nvSpPr>
          <p:cNvPr id="5" name="Figure caption"/>
          <p:cNvSpPr txBox="1"/>
          <p:nvPr/>
        </p:nvSpPr>
        <p:spPr>
          <a:xfrm>
            <a:off x="6138367" y="25691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5(G–J). Dorsomedial prefrontal anatomy and terminal-stimulation effects.</a:t>
            </a:r>
          </a:p>
        </p:txBody>
      </p:sp>
      <p:pic>
        <p:nvPicPr>
          <p:cNvPr id="6" name="Picture 5" descr="terminals.png"/>
          <p:cNvPicPr>
            <a:picLocks noChangeAspect="1"/>
          </p:cNvPicPr>
          <p:nvPr/>
        </p:nvPicPr>
        <p:blipFill>
          <a:blip r:embed="rId3"/>
          <a:stretch>
            <a:fillRect/>
          </a:stretch>
        </p:blipFill>
        <p:spPr>
          <a:xfrm>
            <a:off x="6138367" y="3794760"/>
            <a:ext cx="5486400" cy="1152249"/>
          </a:xfrm>
          <a:prstGeom prst="rect">
            <a:avLst/>
          </a:prstGeom>
        </p:spPr>
      </p:pic>
      <p:sp>
        <p:nvSpPr>
          <p:cNvPr id="7" name="Figure caption"/>
          <p:cNvSpPr txBox="1"/>
          <p:nvPr/>
        </p:nvSpPr>
        <p:spPr>
          <a:xfrm>
            <a:off x="6138367" y="502016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5(D–F). Noradrenergic neuron and cortical terminal histology.</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Orbitofrontal NE terminals reinforce response restraint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The </a:t>
            </a:r>
            <a:r>
              <a:rPr sz="1450" b="1" i="0">
                <a:solidFill>
                  <a:srgbClr val="594044"/>
                </a:solidFill>
                <a:latin typeface="Arial"/>
              </a:rPr>
              <a:t>ventrolateral orbitofrontal cortex</a:t>
            </a:r>
            <a:r>
              <a:rPr sz="1450" b="0" i="0">
                <a:solidFill>
                  <a:srgbClr val="000000"/>
                </a:solidFill>
                <a:latin typeface="Arial"/>
              </a:rPr>
              <a:t>, or vlOFC, is a frontal region on the ventral and lateral cortical surface. Bari and colleagues verified noradrenergic terminal labeling and positioned optical fibers in this region, using the same LC-origin ChR2 strategy as for dmPFC targeting.</a:t>
            </a:r>
          </a:p>
          <a:p>
            <a:pPr algn="l">
              <a:lnSpc>
                <a:spcPct val="108000"/>
              </a:lnSpc>
              <a:spcAft>
                <a:spcPts val="900"/>
              </a:spcAft>
            </a:pPr>
            <a:r>
              <a:rPr sz="1450" b="0" i="0">
                <a:solidFill>
                  <a:srgbClr val="000000"/>
                </a:solidFill>
                <a:latin typeface="Arial"/>
              </a:rPr>
              <a:t>Terminal stimulation at 5 Hz decreased premature responding whether distractors were present or absent. It did not change correct-response proportion or response times. Histology supplied anatomical verification, including the original 400-µm scale reference for the cortical fiber-placement sections.</a:t>
            </a:r>
          </a:p>
          <a:p>
            <a:pPr algn="l">
              <a:lnSpc>
                <a:spcPct val="108000"/>
              </a:lnSpc>
              <a:spcAft>
                <a:spcPts val="900"/>
              </a:spcAft>
            </a:pPr>
            <a:r>
              <a:rPr sz="1450" b="0" i="0">
                <a:solidFill>
                  <a:srgbClr val="000000"/>
                </a:solidFill>
                <a:latin typeface="Arial"/>
              </a:rPr>
              <a:t>The vlOFC manipulation affected restraint, whereas dmPFC targeting primarily affected distractor-dependent accuracy. This </a:t>
            </a:r>
            <a:r>
              <a:rPr sz="1450" b="1" i="0">
                <a:solidFill>
                  <a:srgbClr val="594044"/>
                </a:solidFill>
                <a:latin typeface="Arial"/>
              </a:rPr>
              <a:t>double dissociation</a:t>
            </a:r>
            <a:r>
              <a:rPr sz="1450" b="0" i="0">
                <a:solidFill>
                  <a:srgbClr val="000000"/>
                </a:solidFill>
                <a:latin typeface="Arial"/>
              </a:rPr>
              <a:t>, different selective effects from two interventions, argues against treating attention and response inhibition as one behavioral process. It does not establish that either cortical region exclusively controls its associated function in every task.</a:t>
            </a:r>
          </a:p>
        </p:txBody>
      </p:sp>
      <p:pic>
        <p:nvPicPr>
          <p:cNvPr id="4" name="Picture 3" descr="vlofc.png"/>
          <p:cNvPicPr>
            <a:picLocks noChangeAspect="1"/>
          </p:cNvPicPr>
          <p:nvPr/>
        </p:nvPicPr>
        <p:blipFill>
          <a:blip r:embed="rId2"/>
          <a:stretch>
            <a:fillRect/>
          </a:stretch>
        </p:blipFill>
        <p:spPr>
          <a:xfrm>
            <a:off x="6138367" y="1280160"/>
            <a:ext cx="5486400" cy="1228464"/>
          </a:xfrm>
          <a:prstGeom prst="rect">
            <a:avLst/>
          </a:prstGeom>
        </p:spPr>
      </p:pic>
      <p:sp>
        <p:nvSpPr>
          <p:cNvPr id="5" name="Figure caption"/>
          <p:cNvSpPr txBox="1"/>
          <p:nvPr/>
        </p:nvSpPr>
        <p:spPr>
          <a:xfrm>
            <a:off x="6138367" y="260006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5(K–N). Ventrolateral orbitofrontal anatomy and terminal-stimulation effects.</a:t>
            </a:r>
          </a:p>
        </p:txBody>
      </p:sp>
      <p:pic>
        <p:nvPicPr>
          <p:cNvPr id="6" name="Picture 5" descr="terminals.png"/>
          <p:cNvPicPr>
            <a:picLocks noChangeAspect="1"/>
          </p:cNvPicPr>
          <p:nvPr/>
        </p:nvPicPr>
        <p:blipFill>
          <a:blip r:embed="rId3"/>
          <a:stretch>
            <a:fillRect/>
          </a:stretch>
        </p:blipFill>
        <p:spPr>
          <a:xfrm>
            <a:off x="6138367" y="3794760"/>
            <a:ext cx="5486400" cy="1152249"/>
          </a:xfrm>
          <a:prstGeom prst="rect">
            <a:avLst/>
          </a:prstGeom>
        </p:spPr>
      </p:pic>
      <p:sp>
        <p:nvSpPr>
          <p:cNvPr id="7" name="Figure caption"/>
          <p:cNvSpPr txBox="1"/>
          <p:nvPr/>
        </p:nvSpPr>
        <p:spPr>
          <a:xfrm>
            <a:off x="6138367" y="502016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5(D–F). Noradrenergic neuron and cortical terminal histology.</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Prefrontal activity is required during sensory preparation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594044"/>
                </a:solidFill>
                <a:latin typeface="Arial"/>
              </a:rPr>
              <a:t>prelimbic cortex</a:t>
            </a:r>
            <a:r>
              <a:rPr sz="1400" b="0" i="0">
                <a:solidFill>
                  <a:srgbClr val="000000"/>
                </a:solidFill>
                <a:latin typeface="Arial"/>
              </a:rPr>
              <a:t> is a medial prefrontal region in mice. Wimmer and colleagues disrupted its activity by stimulating local </a:t>
            </a:r>
            <a:r>
              <a:rPr sz="1400" b="1" i="0">
                <a:solidFill>
                  <a:srgbClr val="594044"/>
                </a:solidFill>
                <a:latin typeface="Arial"/>
              </a:rPr>
              <a:t>GABAergic neurons</a:t>
            </a:r>
            <a:r>
              <a:rPr sz="1400" b="0" i="0">
                <a:solidFill>
                  <a:srgbClr val="000000"/>
                </a:solidFill>
                <a:latin typeface="Arial"/>
              </a:rPr>
              <a:t>, cells that release the inhibitory transmitter gamma-aminobutyric acid, or GABA. Activation of these inhibitory cells reduced activity in the surrounding excitatory network.</a:t>
            </a:r>
          </a:p>
          <a:p>
            <a:pPr algn="l">
              <a:lnSpc>
                <a:spcPct val="108000"/>
              </a:lnSpc>
              <a:spcAft>
                <a:spcPts val="840"/>
              </a:spcAft>
            </a:pPr>
            <a:r>
              <a:rPr sz="1400" b="0" i="0">
                <a:solidFill>
                  <a:srgbClr val="000000"/>
                </a:solidFill>
                <a:latin typeface="Arial"/>
              </a:rPr>
              <a:t>Blue-light pulses at 50 Hz were delivered during either anticipation or target presentation. Prefrontal disruption impaired cross-modal performance when applied during anticipation. Comparable manipulation did not alter visual-only performance, even when the visual task was difficult; histology and light-spread measurements verified the targeted tissue.</a:t>
            </a:r>
          </a:p>
          <a:p>
            <a:pPr algn="l">
              <a:lnSpc>
                <a:spcPct val="108000"/>
              </a:lnSpc>
              <a:spcAft>
                <a:spcPts val="840"/>
              </a:spcAft>
            </a:pPr>
            <a:r>
              <a:rPr sz="1400" b="0" i="0">
                <a:solidFill>
                  <a:srgbClr val="000000"/>
                </a:solidFill>
                <a:latin typeface="Arial"/>
              </a:rPr>
              <a:t>The result supports a prefrontal requirement for preparing a cue-dependent sensory selection. It does not imply that all difficult visual decisions require the same frontal circuit. Timing-specific perturbations distinguish a preparatory contribution from direct sensory processing after the stimulus appears.</a:t>
            </a:r>
          </a:p>
        </p:txBody>
      </p:sp>
      <p:pic>
        <p:nvPicPr>
          <p:cNvPr id="4" name="Picture 3" descr="pfc.png"/>
          <p:cNvPicPr>
            <a:picLocks noChangeAspect="1"/>
          </p:cNvPicPr>
          <p:nvPr/>
        </p:nvPicPr>
        <p:blipFill>
          <a:blip r:embed="rId2"/>
          <a:stretch>
            <a:fillRect/>
          </a:stretch>
        </p:blipFill>
        <p:spPr>
          <a:xfrm>
            <a:off x="6279169" y="1280160"/>
            <a:ext cx="5204795" cy="1965960"/>
          </a:xfrm>
          <a:prstGeom prst="rect">
            <a:avLst/>
          </a:prstGeom>
        </p:spPr>
      </p:pic>
      <p:sp>
        <p:nvSpPr>
          <p:cNvPr id="5" name="Figure caption"/>
          <p:cNvSpPr txBox="1"/>
          <p:nvPr/>
        </p:nvSpPr>
        <p:spPr>
          <a:xfrm>
            <a:off x="6138367" y="33375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2(a,b). Prefrontal perturbation timing and visual-only control.</a:t>
            </a:r>
          </a:p>
        </p:txBody>
      </p:sp>
      <p:pic>
        <p:nvPicPr>
          <p:cNvPr id="6" name="Picture 5" descr="pfc_hist.png"/>
          <p:cNvPicPr>
            <a:picLocks noChangeAspect="1"/>
          </p:cNvPicPr>
          <p:nvPr/>
        </p:nvPicPr>
        <p:blipFill>
          <a:blip r:embed="rId3"/>
          <a:stretch>
            <a:fillRect/>
          </a:stretch>
        </p:blipFill>
        <p:spPr>
          <a:xfrm>
            <a:off x="6138367" y="3794760"/>
            <a:ext cx="5486400" cy="1477365"/>
          </a:xfrm>
          <a:prstGeom prst="rect">
            <a:avLst/>
          </a:prstGeom>
        </p:spPr>
      </p:pic>
      <p:sp>
        <p:nvSpPr>
          <p:cNvPr id="7" name="Figure caption"/>
          <p:cNvSpPr txBox="1"/>
          <p:nvPr/>
        </p:nvSpPr>
        <p:spPr>
          <a:xfrm>
            <a:off x="6138367" y="534527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Extended Data 4(e,f). Prelimbic targeting, labeled inhibitory neurons and light spread.</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Wimmer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Visual cortex contributes when the stimulus is present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594044"/>
                </a:solidFill>
                <a:latin typeface="Arial"/>
              </a:rPr>
              <a:t>primary visual cortex</a:t>
            </a:r>
            <a:r>
              <a:rPr sz="1400" b="0" i="0">
                <a:solidFill>
                  <a:srgbClr val="000000"/>
                </a:solidFill>
                <a:latin typeface="Arial"/>
              </a:rPr>
              <a:t>, or V1, is a cortical region that processes visual input. Wimmer and colleagues used light-driven local inhibition to compare its contribution during anticipation with its contribution during presentation of the visual target. The original anatomical targeting accompanies the perturbation results.</a:t>
            </a:r>
          </a:p>
          <a:p>
            <a:pPr algn="l">
              <a:lnSpc>
                <a:spcPct val="108000"/>
              </a:lnSpc>
              <a:spcAft>
                <a:spcPts val="840"/>
              </a:spcAft>
            </a:pPr>
            <a:r>
              <a:rPr sz="1400" b="0" i="0">
                <a:solidFill>
                  <a:srgbClr val="000000"/>
                </a:solidFill>
                <a:latin typeface="Arial"/>
              </a:rPr>
              <a:t>Disruption during target presentation impaired visual performance, whereas anticipatory disruption did not produce the prefrontal pattern. In a visual-only task, visual-cortex perturbation increased the detection threshold. The same general 50-Hz stimulation approach therefore produced different effects depending on location and timing.</a:t>
            </a:r>
          </a:p>
          <a:p>
            <a:pPr algn="l">
              <a:lnSpc>
                <a:spcPct val="108000"/>
              </a:lnSpc>
              <a:spcAft>
                <a:spcPts val="840"/>
              </a:spcAft>
            </a:pPr>
            <a:r>
              <a:rPr sz="1400" b="0" i="0">
                <a:solidFill>
                  <a:srgbClr val="000000"/>
                </a:solidFill>
                <a:latin typeface="Arial"/>
              </a:rPr>
              <a:t>These results support a sensory-processing role for V1 under the tested conditions. They do not exclude cortical attentional modulation in other tasks or species. The absence of a preparatory effect here constrains a specific proposed route for sensory selection; it does not establish that V1 never participates in top-down processing.</a:t>
            </a:r>
          </a:p>
        </p:txBody>
      </p:sp>
      <p:pic>
        <p:nvPicPr>
          <p:cNvPr id="4" name="Picture 3" descr="v1.png"/>
          <p:cNvPicPr>
            <a:picLocks noChangeAspect="1"/>
          </p:cNvPicPr>
          <p:nvPr/>
        </p:nvPicPr>
        <p:blipFill>
          <a:blip r:embed="rId2"/>
          <a:stretch>
            <a:fillRect/>
          </a:stretch>
        </p:blipFill>
        <p:spPr>
          <a:xfrm>
            <a:off x="6138367" y="1280160"/>
            <a:ext cx="5486400" cy="1887490"/>
          </a:xfrm>
          <a:prstGeom prst="rect">
            <a:avLst/>
          </a:prstGeom>
        </p:spPr>
      </p:pic>
      <p:sp>
        <p:nvSpPr>
          <p:cNvPr id="5" name="Figure caption"/>
          <p:cNvSpPr txBox="1"/>
          <p:nvPr/>
        </p:nvSpPr>
        <p:spPr>
          <a:xfrm>
            <a:off x="6138367" y="325909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2(c,d). Visual-cortex perturbation during anticipation and stimulus presentation.</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Wimmer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Reticular neurons inhibit a visual thalamic relay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The </a:t>
            </a:r>
            <a:r>
              <a:rPr sz="1450" b="1" i="0">
                <a:solidFill>
                  <a:srgbClr val="594044"/>
                </a:solidFill>
                <a:latin typeface="Arial"/>
              </a:rPr>
              <a:t>thalamus</a:t>
            </a:r>
            <a:r>
              <a:rPr sz="1450" b="0" i="0">
                <a:solidFill>
                  <a:srgbClr val="000000"/>
                </a:solidFill>
                <a:latin typeface="Arial"/>
              </a:rPr>
              <a:t> contains nuclei linking sensory input with cortical processing. The </a:t>
            </a:r>
            <a:r>
              <a:rPr sz="1450" b="1" i="0">
                <a:solidFill>
                  <a:srgbClr val="594044"/>
                </a:solidFill>
                <a:latin typeface="Arial"/>
              </a:rPr>
              <a:t>lateral geniculate nucleus</a:t>
            </a:r>
            <a:r>
              <a:rPr sz="1450" b="0" i="0">
                <a:solidFill>
                  <a:srgbClr val="000000"/>
                </a:solidFill>
                <a:latin typeface="Arial"/>
              </a:rPr>
              <a:t>, or LGN, is a visual relay. The </a:t>
            </a:r>
            <a:r>
              <a:rPr sz="1450" b="1" i="0">
                <a:solidFill>
                  <a:srgbClr val="594044"/>
                </a:solidFill>
                <a:latin typeface="Arial"/>
              </a:rPr>
              <a:t>thalamic reticular nucleus</a:t>
            </a:r>
            <a:r>
              <a:rPr sz="1450" b="0" i="0">
                <a:solidFill>
                  <a:srgbClr val="000000"/>
                </a:solidFill>
                <a:latin typeface="Arial"/>
              </a:rPr>
              <a:t>, or TRN, is a surrounding population of inhibitory neurons; its visual sector, </a:t>
            </a:r>
            <a:r>
              <a:rPr sz="1450" b="1" i="0">
                <a:solidFill>
                  <a:srgbClr val="594044"/>
                </a:solidFill>
                <a:latin typeface="Arial"/>
              </a:rPr>
              <a:t>visTRN</a:t>
            </a:r>
            <a:r>
              <a:rPr sz="1450" b="0" i="0">
                <a:solidFill>
                  <a:srgbClr val="000000"/>
                </a:solidFill>
                <a:latin typeface="Arial"/>
              </a:rPr>
              <a:t>, projects to the LGN.</a:t>
            </a:r>
          </a:p>
          <a:p>
            <a:pPr algn="l">
              <a:lnSpc>
                <a:spcPct val="108000"/>
              </a:lnSpc>
              <a:spcAft>
                <a:spcPts val="900"/>
              </a:spcAft>
            </a:pPr>
            <a:r>
              <a:rPr sz="1450" b="0" i="0">
                <a:solidFill>
                  <a:srgbClr val="000000"/>
                </a:solidFill>
                <a:latin typeface="Arial"/>
              </a:rPr>
              <a:t>Wimmer and colleagues combined genetic identity with projection tracing to label GABAergic neurons connected to the LGN. </a:t>
            </a:r>
            <a:r>
              <a:rPr sz="1450" b="1" i="0">
                <a:solidFill>
                  <a:srgbClr val="594044"/>
                </a:solidFill>
                <a:latin typeface="Arial"/>
              </a:rPr>
              <a:t>Retrograde labeling</a:t>
            </a:r>
            <a:r>
              <a:rPr sz="1450" b="0" i="0">
                <a:solidFill>
                  <a:srgbClr val="000000"/>
                </a:solidFill>
                <a:latin typeface="Arial"/>
              </a:rPr>
              <a:t> identifies cells by transport from a projection target back toward their cell bodies. Original histology localized reticular and geniculate tissue with 100-µm reference scales.</a:t>
            </a:r>
          </a:p>
          <a:p>
            <a:pPr algn="l">
              <a:lnSpc>
                <a:spcPct val="108000"/>
              </a:lnSpc>
              <a:spcAft>
                <a:spcPts val="900"/>
              </a:spcAft>
            </a:pPr>
            <a:r>
              <a:rPr sz="1450" b="0" i="0">
                <a:solidFill>
                  <a:srgbClr val="000000"/>
                </a:solidFill>
                <a:latin typeface="Arial"/>
              </a:rPr>
              <a:t>This preparation identifies a candidate inhibitory route for regulating visual transmission. It does not make the TRN a passive barrier or establish that every reticular cell performs the same computation. Projection identity must be combined with activity during selection and perturbation of those identified neurons.</a:t>
            </a:r>
          </a:p>
        </p:txBody>
      </p:sp>
      <p:pic>
        <p:nvPicPr>
          <p:cNvPr id="4" name="Picture 3" descr="trn_tag.png"/>
          <p:cNvPicPr>
            <a:picLocks noChangeAspect="1"/>
          </p:cNvPicPr>
          <p:nvPr/>
        </p:nvPicPr>
        <p:blipFill>
          <a:blip r:embed="rId2"/>
          <a:stretch>
            <a:fillRect/>
          </a:stretch>
        </p:blipFill>
        <p:spPr>
          <a:xfrm>
            <a:off x="7164721" y="1280160"/>
            <a:ext cx="3433691" cy="2834640"/>
          </a:xfrm>
          <a:prstGeom prst="rect">
            <a:avLst/>
          </a:prstGeom>
        </p:spPr>
      </p:pic>
      <p:sp>
        <p:nvSpPr>
          <p:cNvPr id="5" name="Figure caption"/>
          <p:cNvSpPr txBox="1"/>
          <p:nvPr/>
        </p:nvSpPr>
        <p:spPr>
          <a:xfrm>
            <a:off x="6138367" y="42062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3(a–e). Projection-defined reticular neurons and attention-dependent spike recordings.</a:t>
            </a:r>
          </a:p>
        </p:txBody>
      </p:sp>
      <p:pic>
        <p:nvPicPr>
          <p:cNvPr id="6" name="Picture 5" descr="trn_anatomy.png"/>
          <p:cNvPicPr>
            <a:picLocks noChangeAspect="1"/>
          </p:cNvPicPr>
          <p:nvPr/>
        </p:nvPicPr>
        <p:blipFill>
          <a:blip r:embed="rId3"/>
          <a:stretch>
            <a:fillRect/>
          </a:stretch>
        </p:blipFill>
        <p:spPr>
          <a:xfrm>
            <a:off x="6856794" y="4663440"/>
            <a:ext cx="4049546" cy="10972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Extended Data 5(a,b). Reticular and geniculate anatomical labeling.</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Wimmer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Reticular activity depends on the selected modality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Wimmer and colleagues recorded spikes from projection-defined visTRN neurons while mice anticipated conflicting auditory and visual targets. Optogenetic identification linked the recorded cells to the previously labeled inhibitory population rather than relying only on electrode position. Firing rates were expressed in spikes per second, or hertz.</a:t>
            </a:r>
          </a:p>
          <a:p>
            <a:pPr algn="l">
              <a:lnSpc>
                <a:spcPct val="108000"/>
              </a:lnSpc>
              <a:spcAft>
                <a:spcPts val="840"/>
              </a:spcAft>
            </a:pPr>
            <a:r>
              <a:rPr sz="1400" b="0" i="0">
                <a:solidFill>
                  <a:srgbClr val="000000"/>
                </a:solidFill>
                <a:latin typeface="Arial"/>
              </a:rPr>
              <a:t>VisTRN activity decreased when the animal prepared to select vision and increased when it prepared to select audition. Disrupting prefrontal activity diminished this modality-dependent difference. The effect was not simply reproduced by naturally occurring errors, supporting a specific relationship to the preparatory frontal manipulation.</a:t>
            </a:r>
          </a:p>
          <a:p>
            <a:pPr algn="l">
              <a:lnSpc>
                <a:spcPct val="108000"/>
              </a:lnSpc>
              <a:spcAft>
                <a:spcPts val="840"/>
              </a:spcAft>
            </a:pPr>
            <a:r>
              <a:rPr sz="1400" b="0" i="0">
                <a:solidFill>
                  <a:srgbClr val="000000"/>
                </a:solidFill>
                <a:latin typeface="Arial"/>
              </a:rPr>
              <a:t>The pattern is consistent with reduced inhibition of the visual relay when vision is relevant and increased inhibition when it is distracting. Functional dependence on prefrontal activity does not by itself establish one direct monosynaptic connection. A </a:t>
            </a:r>
            <a:r>
              <a:rPr sz="1400" b="1" i="0">
                <a:solidFill>
                  <a:srgbClr val="594044"/>
                </a:solidFill>
                <a:latin typeface="Arial"/>
              </a:rPr>
              <a:t>monosynaptic connection</a:t>
            </a:r>
            <a:r>
              <a:rPr sz="1400" b="0" i="0">
                <a:solidFill>
                  <a:srgbClr val="000000"/>
                </a:solidFill>
                <a:latin typeface="Arial"/>
              </a:rPr>
              <a:t> is a link across a single synapse, which requires additional circuit evidence.</a:t>
            </a:r>
          </a:p>
        </p:txBody>
      </p:sp>
      <p:pic>
        <p:nvPicPr>
          <p:cNvPr id="4" name="Picture 3" descr="trn_tag.png"/>
          <p:cNvPicPr>
            <a:picLocks noChangeAspect="1"/>
          </p:cNvPicPr>
          <p:nvPr/>
        </p:nvPicPr>
        <p:blipFill>
          <a:blip r:embed="rId2"/>
          <a:stretch>
            <a:fillRect/>
          </a:stretch>
        </p:blipFill>
        <p:spPr>
          <a:xfrm>
            <a:off x="6278607" y="1280160"/>
            <a:ext cx="5205918"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3(a–e). Projection-defined reticular neurons and attention-dependent spike recordings.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Wimmer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Reticular perturbations bias sensory selection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Wimmer and colleagues activated or inhibited the LGN-projecting reticular population during the divided-attention task. ChR2 activation increased activity, whereas </a:t>
            </a:r>
            <a:r>
              <a:rPr sz="1400" b="1" i="0">
                <a:solidFill>
                  <a:srgbClr val="594044"/>
                </a:solidFill>
                <a:latin typeface="Arial"/>
              </a:rPr>
              <a:t>halorhodopsin</a:t>
            </a:r>
            <a:r>
              <a:rPr sz="1400" b="0" i="0">
                <a:solidFill>
                  <a:srgbClr val="000000"/>
                </a:solidFill>
                <a:latin typeface="Arial"/>
              </a:rPr>
              <a:t>, a light-driven chloride pump, suppressed it. Projection tracing and histology constrained the manipulated neurons to the visual inhibitory subnetwork.</a:t>
            </a:r>
          </a:p>
          <a:p>
            <a:pPr algn="l">
              <a:lnSpc>
                <a:spcPct val="108000"/>
              </a:lnSpc>
              <a:spcAft>
                <a:spcPts val="840"/>
              </a:spcAft>
            </a:pPr>
            <a:r>
              <a:rPr sz="1400" b="0" i="0">
                <a:solidFill>
                  <a:srgbClr val="000000"/>
                </a:solidFill>
                <a:latin typeface="Arial"/>
              </a:rPr>
              <a:t>Activation impaired visual-selection trials, consistent with excessive inhibition of the visual relay. Suppression preferentially impaired auditory-selection trials, when visual information needed to be disregarded. Perturbations were compared during anticipation and target presentation rather than treating the complete trial as one undifferentiated time period.</a:t>
            </a:r>
          </a:p>
          <a:p>
            <a:pPr algn="l">
              <a:lnSpc>
                <a:spcPct val="108000"/>
              </a:lnSpc>
              <a:spcAft>
                <a:spcPts val="840"/>
              </a:spcAft>
            </a:pPr>
            <a:r>
              <a:rPr sz="1400" b="0" i="0">
                <a:solidFill>
                  <a:srgbClr val="000000"/>
                </a:solidFill>
                <a:latin typeface="Arial"/>
              </a:rPr>
              <a:t>The opposing effects support a causal role for regulated reticular inhibition in selecting the relevant modality. Simply increasing visual transmission is not beneficial when vision is the distractor. These results establish task-dependent behavioral consequences, while the precise downstream electrical and chemical changes require recordings from the relay itself.</a:t>
            </a:r>
          </a:p>
        </p:txBody>
      </p:sp>
      <p:pic>
        <p:nvPicPr>
          <p:cNvPr id="4" name="Picture 3" descr="trn_bidirectional.png"/>
          <p:cNvPicPr>
            <a:picLocks noChangeAspect="1"/>
          </p:cNvPicPr>
          <p:nvPr/>
        </p:nvPicPr>
        <p:blipFill>
          <a:blip r:embed="rId2"/>
          <a:stretch>
            <a:fillRect/>
          </a:stretch>
        </p:blipFill>
        <p:spPr>
          <a:xfrm>
            <a:off x="6138367" y="1280160"/>
            <a:ext cx="5486400" cy="1527858"/>
          </a:xfrm>
          <a:prstGeom prst="rect">
            <a:avLst/>
          </a:prstGeom>
        </p:spPr>
      </p:pic>
      <p:sp>
        <p:nvSpPr>
          <p:cNvPr id="5" name="Figure caption"/>
          <p:cNvSpPr txBox="1"/>
          <p:nvPr/>
        </p:nvSpPr>
        <p:spPr>
          <a:xfrm>
            <a:off x="6138367" y="289945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3(f,g). Activation and inhibition of visual reticular neurons affect different trial types.</a:t>
            </a:r>
          </a:p>
        </p:txBody>
      </p:sp>
      <p:pic>
        <p:nvPicPr>
          <p:cNvPr id="6" name="Picture 5" descr="trn_anatomy.png"/>
          <p:cNvPicPr>
            <a:picLocks noChangeAspect="1"/>
          </p:cNvPicPr>
          <p:nvPr/>
        </p:nvPicPr>
        <p:blipFill>
          <a:blip r:embed="rId3"/>
          <a:stretch>
            <a:fillRect/>
          </a:stretch>
        </p:blipFill>
        <p:spPr>
          <a:xfrm>
            <a:off x="6138367" y="3474720"/>
            <a:ext cx="5486400" cy="1486615"/>
          </a:xfrm>
          <a:prstGeom prst="rect">
            <a:avLst/>
          </a:prstGeom>
        </p:spPr>
      </p:pic>
      <p:sp>
        <p:nvSpPr>
          <p:cNvPr id="7" name="Figure caption"/>
          <p:cNvSpPr txBox="1"/>
          <p:nvPr/>
        </p:nvSpPr>
        <p:spPr>
          <a:xfrm>
            <a:off x="6138367" y="503448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Extended Data 5(a,b). Reticular and geniculate anatomical labeling.</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Wimmer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Geniculate gain rises when vision is selected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594044"/>
                </a:solidFill>
                <a:latin typeface="Arial"/>
              </a:rPr>
              <a:t>Sensory gain</a:t>
            </a:r>
            <a:r>
              <a:rPr sz="1400" b="0" i="0">
                <a:solidFill>
                  <a:srgbClr val="000000"/>
                </a:solidFill>
                <a:latin typeface="Arial"/>
              </a:rPr>
              <a:t> describes the strength of a neural response to input under a particular processing state. Wimmer and colleagues recorded LGN neurons during the cross-modal task. Head-mounted lights reduced variability in retinal stimulation associated with changes in the animal’s position relative to wall-mounted targets.</a:t>
            </a:r>
          </a:p>
          <a:p>
            <a:pPr algn="l">
              <a:lnSpc>
                <a:spcPct val="108000"/>
              </a:lnSpc>
              <a:spcAft>
                <a:spcPts val="840"/>
              </a:spcAft>
            </a:pPr>
            <a:r>
              <a:rPr sz="1400" b="0" i="0">
                <a:solidFill>
                  <a:srgbClr val="000000"/>
                </a:solidFill>
                <a:latin typeface="Arial"/>
              </a:rPr>
              <a:t>LGN neurons had higher baseline and visually evoked firing when vision was selected than when audition was selected. The </a:t>
            </a:r>
            <a:r>
              <a:rPr sz="1400" b="1" i="0">
                <a:solidFill>
                  <a:srgbClr val="594044"/>
                </a:solidFill>
                <a:latin typeface="Arial"/>
              </a:rPr>
              <a:t>visual evoked potential</a:t>
            </a:r>
            <a:r>
              <a:rPr sz="1400" b="0" i="0">
                <a:solidFill>
                  <a:srgbClr val="000000"/>
                </a:solidFill>
                <a:latin typeface="Arial"/>
              </a:rPr>
              <a:t>, a stimulus-linked extracellular electrical signal, also increased. Recorded responses were aligned to light onset, with neuronal rates measured in hertz and evoked potentials in microvolts.</a:t>
            </a:r>
          </a:p>
          <a:p>
            <a:pPr algn="l">
              <a:lnSpc>
                <a:spcPct val="108000"/>
              </a:lnSpc>
              <a:spcAft>
                <a:spcPts val="840"/>
              </a:spcAft>
            </a:pPr>
            <a:r>
              <a:rPr sz="1400" b="0" i="0">
                <a:solidFill>
                  <a:srgbClr val="000000"/>
                </a:solidFill>
                <a:latin typeface="Arial"/>
              </a:rPr>
              <a:t>The results locate attention-dependent modulation within the visual thalamus, rather than only in a behavioral score. They do not identify which input changes the gain. Increased excitation and reduced inhibition can both elevate firing, so the inhibitory mechanism requires an additional physiological measurement and intervention.</a:t>
            </a:r>
          </a:p>
        </p:txBody>
      </p:sp>
      <p:pic>
        <p:nvPicPr>
          <p:cNvPr id="4" name="Picture 3" descr="lgn.png"/>
          <p:cNvPicPr>
            <a:picLocks noChangeAspect="1"/>
          </p:cNvPicPr>
          <p:nvPr/>
        </p:nvPicPr>
        <p:blipFill>
          <a:blip r:embed="rId2"/>
          <a:stretch>
            <a:fillRect/>
          </a:stretch>
        </p:blipFill>
        <p:spPr>
          <a:xfrm>
            <a:off x="6554599" y="1280160"/>
            <a:ext cx="4653935"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4(a–e). Geniculate anatomy, single-neuron activity and visual evoked potentials.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Wimmer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Chloride measurements connect selection to inhibition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594044"/>
                </a:solidFill>
                <a:latin typeface="Arial"/>
              </a:rPr>
              <a:t>GABA-A receptor</a:t>
            </a:r>
            <a:r>
              <a:rPr sz="1400" b="0" i="0">
                <a:solidFill>
                  <a:srgbClr val="000000"/>
                </a:solidFill>
                <a:latin typeface="Arial"/>
              </a:rPr>
              <a:t> is a transmitter-gated ion channel that permits chloride movement. Wimmer and colleagues expressed </a:t>
            </a:r>
            <a:r>
              <a:rPr sz="1400" b="1" i="0">
                <a:solidFill>
                  <a:srgbClr val="594044"/>
                </a:solidFill>
                <a:latin typeface="Arial"/>
              </a:rPr>
              <a:t>SuperClomeleon</a:t>
            </a:r>
            <a:r>
              <a:rPr sz="1400" b="0" i="0">
                <a:solidFill>
                  <a:srgbClr val="000000"/>
                </a:solidFill>
                <a:latin typeface="Arial"/>
              </a:rPr>
              <a:t>, a chloride-sensitive fluorescent indicator, in LGN neurons. Its paired fluorescent proteins report </a:t>
            </a:r>
            <a:r>
              <a:rPr sz="1400" b="1" i="0">
                <a:solidFill>
                  <a:srgbClr val="594044"/>
                </a:solidFill>
                <a:latin typeface="Arial"/>
              </a:rPr>
              <a:t>fluorescence resonance energy transfer</a:t>
            </a:r>
            <a:r>
              <a:rPr sz="1400" b="0" i="0">
                <a:solidFill>
                  <a:srgbClr val="000000"/>
                </a:solidFill>
                <a:latin typeface="Arial"/>
              </a:rPr>
              <a:t>, or FRET, an energy-transfer signal that changes with intracellular chloride.</a:t>
            </a:r>
          </a:p>
          <a:p>
            <a:pPr algn="l">
              <a:lnSpc>
                <a:spcPct val="108000"/>
              </a:lnSpc>
              <a:spcAft>
                <a:spcPts val="840"/>
              </a:spcAft>
            </a:pPr>
            <a:r>
              <a:rPr sz="1400" b="0" i="0">
                <a:solidFill>
                  <a:srgbClr val="000000"/>
                </a:solidFill>
                <a:latin typeface="Arial"/>
              </a:rPr>
              <a:t>Excitation at 430 nm allowed a ratio of the two emission signals to be measured. Visual stimulation produced a larger chloride-related response when audition was selected. Reticular inactivation eliminated that modality-dependent difference; drug and fluorescent-protein controls supported the signal’s relationship to GABA-mediated inhibition.</a:t>
            </a:r>
          </a:p>
          <a:p>
            <a:pPr algn="l">
              <a:lnSpc>
                <a:spcPct val="108000"/>
              </a:lnSpc>
              <a:spcAft>
                <a:spcPts val="840"/>
              </a:spcAft>
            </a:pPr>
            <a:r>
              <a:rPr sz="1400" b="0" i="0">
                <a:solidFill>
                  <a:srgbClr val="000000"/>
                </a:solidFill>
                <a:latin typeface="Arial"/>
              </a:rPr>
              <a:t>The combined measurements support regulated inhibitory input as a mechanism of visual gain control. Bulk photometry does not isolate every synapse or supply a complete conductance measurement. A chloride-sensitive signal must be interpreted with its calibration and controls, rather than equating any fluorescence change with neuronal inhibition.</a:t>
            </a:r>
          </a:p>
        </p:txBody>
      </p:sp>
      <p:pic>
        <p:nvPicPr>
          <p:cNvPr id="4" name="Picture 3" descr="chloride.png"/>
          <p:cNvPicPr>
            <a:picLocks noChangeAspect="1"/>
          </p:cNvPicPr>
          <p:nvPr/>
        </p:nvPicPr>
        <p:blipFill>
          <a:blip r:embed="rId2"/>
          <a:stretch>
            <a:fillRect/>
          </a:stretch>
        </p:blipFill>
        <p:spPr>
          <a:xfrm>
            <a:off x="7638340" y="1280160"/>
            <a:ext cx="2486453" cy="1965960"/>
          </a:xfrm>
          <a:prstGeom prst="rect">
            <a:avLst/>
          </a:prstGeom>
        </p:spPr>
      </p:pic>
      <p:sp>
        <p:nvSpPr>
          <p:cNvPr id="5" name="Figure caption"/>
          <p:cNvSpPr txBox="1"/>
          <p:nvPr/>
        </p:nvSpPr>
        <p:spPr>
          <a:xfrm>
            <a:off x="6138367" y="33375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5(a–d). Chloride-sensitive photometry and geniculate expression.</a:t>
            </a:r>
          </a:p>
        </p:txBody>
      </p:sp>
      <p:pic>
        <p:nvPicPr>
          <p:cNvPr id="6" name="Picture 5" descr="chloride_result.png"/>
          <p:cNvPicPr>
            <a:picLocks noChangeAspect="1"/>
          </p:cNvPicPr>
          <p:nvPr/>
        </p:nvPicPr>
        <p:blipFill>
          <a:blip r:embed="rId3"/>
          <a:stretch>
            <a:fillRect/>
          </a:stretch>
        </p:blipFill>
        <p:spPr>
          <a:xfrm>
            <a:off x="7240490" y="3794760"/>
            <a:ext cx="3282153" cy="19659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Wimmer et al. (2015), Fig. 5(e,f). Visual-evoked chloride signals and reticular-inactivation control.</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Wimmer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NET contributes to frontal dopamine clearance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1" i="0">
                <a:solidFill>
                  <a:srgbClr val="594044"/>
                </a:solidFill>
                <a:latin typeface="Arial"/>
              </a:rPr>
              <a:t>Reuptake</a:t>
            </a:r>
            <a:r>
              <a:rPr sz="1450" b="0" i="0">
                <a:solidFill>
                  <a:srgbClr val="000000"/>
                </a:solidFill>
                <a:latin typeface="Arial"/>
              </a:rPr>
              <a:t> removes extracellular transmitter by transporting it into cells. The </a:t>
            </a:r>
            <a:r>
              <a:rPr sz="1450" b="1" i="0">
                <a:solidFill>
                  <a:srgbClr val="594044"/>
                </a:solidFill>
                <a:latin typeface="Arial"/>
              </a:rPr>
              <a:t>dopamine transporter</a:t>
            </a:r>
            <a:r>
              <a:rPr sz="1450" b="0" i="0">
                <a:solidFill>
                  <a:srgbClr val="000000"/>
                </a:solidFill>
                <a:latin typeface="Arial"/>
              </a:rPr>
              <a:t>, or DAT, and NET differ in their regional abundance and substrate selectivity. Morón and colleagues used mouse transporter deletions to test whether NET contributes to dopamine uptake in frontal cortex.</a:t>
            </a:r>
          </a:p>
          <a:p>
            <a:pPr algn="l">
              <a:lnSpc>
                <a:spcPct val="108000"/>
              </a:lnSpc>
              <a:spcAft>
                <a:spcPts val="900"/>
              </a:spcAft>
            </a:pPr>
            <a:r>
              <a:rPr sz="1450" b="0" i="0">
                <a:solidFill>
                  <a:srgbClr val="000000"/>
                </a:solidFill>
                <a:latin typeface="Arial"/>
              </a:rPr>
              <a:t>They measured radiolabeled dopamine accumulation in </a:t>
            </a:r>
            <a:r>
              <a:rPr sz="1450" b="1" i="0">
                <a:solidFill>
                  <a:srgbClr val="594044"/>
                </a:solidFill>
                <a:latin typeface="Arial"/>
              </a:rPr>
              <a:t>synaptosomes</a:t>
            </a:r>
            <a:r>
              <a:rPr sz="1450" b="0" i="0">
                <a:solidFill>
                  <a:srgbClr val="000000"/>
                </a:solidFill>
                <a:latin typeface="Arial"/>
              </a:rPr>
              <a:t>, isolated resealed nerve-terminal preparations. Incubation at 37°C was compared with a 4°C background control. Frontal dopamine uptake was retained after DAT deletion but reduced after NET deletion; the wild-type frontal rate was 0.45 pmol per minute per milligram of protein.</a:t>
            </a:r>
          </a:p>
          <a:p>
            <a:pPr algn="l">
              <a:lnSpc>
                <a:spcPct val="108000"/>
              </a:lnSpc>
              <a:spcAft>
                <a:spcPts val="900"/>
              </a:spcAft>
            </a:pPr>
            <a:r>
              <a:rPr sz="1450" b="0" i="0">
                <a:solidFill>
                  <a:srgbClr val="000000"/>
                </a:solidFill>
                <a:latin typeface="Arial"/>
              </a:rPr>
              <a:t>The result establishes a transporter contribution to uptake in this isolated preparation. It does not directly measure dopamine release, ongoing behavior or receptor stimulation in an intact animal. A transporter’s name identifies its usual association, rather than guaranteeing that it transports only the corresponding transmitter.</a:t>
            </a:r>
          </a:p>
        </p:txBody>
      </p:sp>
      <p:pic>
        <p:nvPicPr>
          <p:cNvPr id="4" name="Picture 3" descr="moron_baseline.png"/>
          <p:cNvPicPr>
            <a:picLocks noChangeAspect="1"/>
          </p:cNvPicPr>
          <p:nvPr/>
        </p:nvPicPr>
        <p:blipFill>
          <a:blip r:embed="rId2"/>
          <a:stretch>
            <a:fillRect/>
          </a:stretch>
        </p:blipFill>
        <p:spPr>
          <a:xfrm>
            <a:off x="7387295" y="1280160"/>
            <a:ext cx="2988542" cy="1554480"/>
          </a:xfrm>
          <a:prstGeom prst="rect">
            <a:avLst/>
          </a:prstGeom>
        </p:spPr>
      </p:pic>
      <p:sp>
        <p:nvSpPr>
          <p:cNvPr id="5" name="Figure caption"/>
          <p:cNvSpPr txBox="1"/>
          <p:nvPr/>
        </p:nvSpPr>
        <p:spPr>
          <a:xfrm>
            <a:off x="6138367" y="29260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Morón et al. (2002), Fig. 1. Regional dopamine uptake after dopamine- or norepinephrine-transporter deletion.</a:t>
            </a:r>
          </a:p>
        </p:txBody>
      </p:sp>
      <p:pic>
        <p:nvPicPr>
          <p:cNvPr id="6" name="Picture 5" descr="ne.png"/>
          <p:cNvPicPr>
            <a:picLocks noChangeAspect="1"/>
          </p:cNvPicPr>
          <p:nvPr/>
        </p:nvPicPr>
        <p:blipFill>
          <a:blip r:embed="rId3"/>
          <a:stretch>
            <a:fillRect/>
          </a:stretch>
        </p:blipFill>
        <p:spPr>
          <a:xfrm>
            <a:off x="6138367" y="3383279"/>
            <a:ext cx="5486400" cy="1501253"/>
          </a:xfrm>
          <a:prstGeom prst="rect">
            <a:avLst/>
          </a:prstGeom>
        </p:spPr>
      </p:pic>
      <p:sp>
        <p:nvSpPr>
          <p:cNvPr id="7" name="Figure caption"/>
          <p:cNvSpPr txBox="1"/>
          <p:nvPr/>
        </p:nvSpPr>
        <p:spPr>
          <a:xfrm>
            <a:off x="6138367" y="4957685"/>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Bari et al. (2020), Fig. 1(E–H). Prefrontal norepinephrine photometry during locus-coeruleus stimulation.</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Morón et al. (2002); Bari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Dopamine uptake depends on the sampled brain region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Morón and colleagues compared frontal cortex with the </a:t>
            </a:r>
            <a:r>
              <a:rPr sz="1450" b="1" i="0">
                <a:solidFill>
                  <a:srgbClr val="594044"/>
                </a:solidFill>
                <a:latin typeface="Arial"/>
              </a:rPr>
              <a:t>caudate</a:t>
            </a:r>
            <a:r>
              <a:rPr sz="1450" b="0" i="0">
                <a:solidFill>
                  <a:srgbClr val="000000"/>
                </a:solidFill>
                <a:latin typeface="Arial"/>
              </a:rPr>
              <a:t>, part of the dorsal striatum, and the </a:t>
            </a:r>
            <a:r>
              <a:rPr sz="1450" b="1" i="0">
                <a:solidFill>
                  <a:srgbClr val="594044"/>
                </a:solidFill>
                <a:latin typeface="Arial"/>
              </a:rPr>
              <a:t>nucleus accumbens</a:t>
            </a:r>
            <a:r>
              <a:rPr sz="1450" b="0" i="0">
                <a:solidFill>
                  <a:srgbClr val="000000"/>
                </a:solidFill>
                <a:latin typeface="Arial"/>
              </a:rPr>
              <a:t>, a ventral striatal region. The striatum is a collection of interconnected forebrain nuclei. The accompanying rat sections provide comparative regional anatomy, rather than histology of the assayed mouse tissue.</a:t>
            </a:r>
          </a:p>
          <a:p>
            <a:pPr algn="l">
              <a:lnSpc>
                <a:spcPct val="108000"/>
              </a:lnSpc>
              <a:spcAft>
                <a:spcPts val="900"/>
              </a:spcAft>
            </a:pPr>
            <a:r>
              <a:rPr sz="1450" b="0" i="0">
                <a:solidFill>
                  <a:srgbClr val="000000"/>
                </a:solidFill>
                <a:latin typeface="Arial"/>
              </a:rPr>
              <a:t>Wild-type uptake rates were 3.44 pmol per minute per milligram in caudate and 2.70 in accumbens, compared with 0.45 in frontal cortex. Nisoxetine, a NET inhibitor, reduced dopamine uptake in wild-type tissue, while NET deletion removed the NET-specific component of that response.</a:t>
            </a:r>
          </a:p>
          <a:p>
            <a:pPr algn="l">
              <a:lnSpc>
                <a:spcPct val="108000"/>
              </a:lnSpc>
              <a:spcAft>
                <a:spcPts val="900"/>
              </a:spcAft>
            </a:pPr>
            <a:r>
              <a:rPr sz="1450" b="0" i="0">
                <a:solidFill>
                  <a:srgbClr val="000000"/>
                </a:solidFill>
                <a:latin typeface="Arial"/>
              </a:rPr>
              <a:t>Regional uptake depends on transporter abundance as well as binding affinity. The result prevents a striatal clearance mechanism from being assumed to operate identically in frontal cortex. Differences in isolated uptake rates do not alone determine the transmitter concentration experienced by receptors in a behaving animal.</a:t>
            </a:r>
          </a:p>
        </p:txBody>
      </p:sp>
      <p:pic>
        <p:nvPicPr>
          <p:cNvPr id="4" name="Picture 3" descr="moron_net.png"/>
          <p:cNvPicPr>
            <a:picLocks noChangeAspect="1"/>
          </p:cNvPicPr>
          <p:nvPr/>
        </p:nvPicPr>
        <p:blipFill>
          <a:blip r:embed="rId2"/>
          <a:stretch>
            <a:fillRect/>
          </a:stretch>
        </p:blipFill>
        <p:spPr>
          <a:xfrm>
            <a:off x="6403451" y="1280160"/>
            <a:ext cx="1572950" cy="4297679"/>
          </a:xfrm>
          <a:prstGeom prst="rect">
            <a:avLst/>
          </a:prstGeom>
        </p:spPr>
      </p:pic>
      <p:sp>
        <p:nvSpPr>
          <p:cNvPr id="5" name="Figure caption"/>
          <p:cNvSpPr txBox="1"/>
          <p:nvPr/>
        </p:nvSpPr>
        <p:spPr>
          <a:xfrm>
            <a:off x="6138367" y="5669279"/>
            <a:ext cx="21031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Morón et al. (2002), Fig. 3. Nisoxetine-sensitive dopamine uptake across regions and genotypes.</a:t>
            </a:r>
          </a:p>
        </p:txBody>
      </p:sp>
      <p:pic>
        <p:nvPicPr>
          <p:cNvPr id="6" name="Picture 5" descr="phasic_anatomy.png"/>
          <p:cNvPicPr>
            <a:picLocks noChangeAspect="1"/>
          </p:cNvPicPr>
          <p:nvPr/>
        </p:nvPicPr>
        <p:blipFill>
          <a:blip r:embed="rId3"/>
          <a:stretch>
            <a:fillRect/>
          </a:stretch>
        </p:blipFill>
        <p:spPr>
          <a:xfrm>
            <a:off x="8424367" y="2148840"/>
            <a:ext cx="3200400" cy="2096506"/>
          </a:xfrm>
          <a:prstGeom prst="rect">
            <a:avLst/>
          </a:prstGeom>
        </p:spPr>
      </p:pic>
      <p:sp>
        <p:nvSpPr>
          <p:cNvPr id="7" name="Figure caption"/>
          <p:cNvSpPr txBox="1"/>
          <p:nvPr/>
        </p:nvSpPr>
        <p:spPr>
          <a:xfrm>
            <a:off x="8424367" y="4318498"/>
            <a:ext cx="3200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Sable et al. (2025), Fig. 1(A–C). Rat cortical, accumbens and medial-forebrain-bundle recording and stimulation regions.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Morón et al. (2002); Sable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Transporter selectivity depends on drug concentration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An </a:t>
            </a:r>
            <a:r>
              <a:rPr sz="1400" b="1" i="0">
                <a:solidFill>
                  <a:srgbClr val="594044"/>
                </a:solidFill>
                <a:latin typeface="Arial"/>
              </a:rPr>
              <a:t>inhibitor</a:t>
            </a:r>
            <a:r>
              <a:rPr sz="1400" b="0" i="0">
                <a:solidFill>
                  <a:srgbClr val="000000"/>
                </a:solidFill>
                <a:latin typeface="Arial"/>
              </a:rPr>
              <a:t> reduces a protein’s activity; pharmacological selectivity is the extent to which it acts on one target rather than alternatives. Morón and colleagues compared GBR12909, a DAT inhibitor, with nisoxetine and cocaine in mouse synaptosomes. Frontal, caudate and accumbens samples were assessed separately.</a:t>
            </a:r>
          </a:p>
          <a:p>
            <a:pPr algn="l">
              <a:lnSpc>
                <a:spcPct val="108000"/>
              </a:lnSpc>
              <a:spcAft>
                <a:spcPts val="840"/>
              </a:spcAft>
            </a:pPr>
            <a:r>
              <a:rPr sz="1400" b="0" i="0">
                <a:solidFill>
                  <a:srgbClr val="000000"/>
                </a:solidFill>
                <a:latin typeface="Arial"/>
              </a:rPr>
              <a:t>GBR12909 inhibited dopamine uptake strongly in caudate and accumbens but had little effect in frontal cortex over transporter-selective concentrations. Uptake in frontal tissue persisted after DAT deletion. Above approximately 100 nM, inhibitor effects could become less selective, as indicated by the original concentration-response plots.</a:t>
            </a:r>
          </a:p>
          <a:p>
            <a:pPr algn="l">
              <a:lnSpc>
                <a:spcPct val="108000"/>
              </a:lnSpc>
              <a:spcAft>
                <a:spcPts val="840"/>
              </a:spcAft>
            </a:pPr>
            <a:r>
              <a:rPr sz="1400" b="0" i="0">
                <a:solidFill>
                  <a:srgbClr val="000000"/>
                </a:solidFill>
                <a:latin typeface="Arial"/>
              </a:rPr>
              <a:t>Combining genetic deletion with drug concentration constrains which transporter accounts for uptake. A response to a high drug concentration alone does not prove a selective DAT or NET mechanism. The comparative rat anatomy identifies relevant regional relationships, while the molecular uptake evidence remains specific to the mouse preparations.</a:t>
            </a:r>
          </a:p>
        </p:txBody>
      </p:sp>
      <p:pic>
        <p:nvPicPr>
          <p:cNvPr id="4" name="Picture 3" descr="moron_dat.png"/>
          <p:cNvPicPr>
            <a:picLocks noChangeAspect="1"/>
          </p:cNvPicPr>
          <p:nvPr/>
        </p:nvPicPr>
        <p:blipFill>
          <a:blip r:embed="rId2"/>
          <a:stretch>
            <a:fillRect/>
          </a:stretch>
        </p:blipFill>
        <p:spPr>
          <a:xfrm>
            <a:off x="6360415" y="1280160"/>
            <a:ext cx="1567582" cy="4297679"/>
          </a:xfrm>
          <a:prstGeom prst="rect">
            <a:avLst/>
          </a:prstGeom>
        </p:spPr>
      </p:pic>
      <p:sp>
        <p:nvSpPr>
          <p:cNvPr id="5" name="Figure caption"/>
          <p:cNvSpPr txBox="1"/>
          <p:nvPr/>
        </p:nvSpPr>
        <p:spPr>
          <a:xfrm>
            <a:off x="6138367" y="5669279"/>
            <a:ext cx="20116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Morón et al. (2002), Fig. 5. Dopamine-transporter inhibitor effects across regions and genotypes.</a:t>
            </a:r>
          </a:p>
        </p:txBody>
      </p:sp>
      <p:pic>
        <p:nvPicPr>
          <p:cNvPr id="6" name="Picture 5" descr="phasic_anatomy.png"/>
          <p:cNvPicPr>
            <a:picLocks noChangeAspect="1"/>
          </p:cNvPicPr>
          <p:nvPr/>
        </p:nvPicPr>
        <p:blipFill>
          <a:blip r:embed="rId3"/>
          <a:stretch>
            <a:fillRect/>
          </a:stretch>
        </p:blipFill>
        <p:spPr>
          <a:xfrm>
            <a:off x="8332927" y="2148840"/>
            <a:ext cx="3291839" cy="2156407"/>
          </a:xfrm>
          <a:prstGeom prst="rect">
            <a:avLst/>
          </a:prstGeom>
        </p:spPr>
      </p:pic>
      <p:sp>
        <p:nvSpPr>
          <p:cNvPr id="7" name="Figure caption"/>
          <p:cNvSpPr txBox="1"/>
          <p:nvPr/>
        </p:nvSpPr>
        <p:spPr>
          <a:xfrm>
            <a:off x="8332927" y="4378399"/>
            <a:ext cx="329183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Sable et al. (2025), Fig. 1(A–C). Rat cortical, accumbens and medial-forebrain-bundle recording and stimulation regions.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Morón et al. (2002); Sable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Prefrontal neurons retain spatial information during delay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1" i="0">
                <a:solidFill>
                  <a:srgbClr val="594044"/>
                </a:solidFill>
                <a:latin typeface="Arial"/>
              </a:rPr>
              <a:t>Working memory</a:t>
            </a:r>
            <a:r>
              <a:rPr sz="1450" b="0" i="0">
                <a:solidFill>
                  <a:srgbClr val="000000"/>
                </a:solidFill>
                <a:latin typeface="Arial"/>
              </a:rPr>
              <a:t> maintains information temporarily for an ongoing action. Gamo and colleagues recorded from rhesus macaque </a:t>
            </a:r>
            <a:r>
              <a:rPr sz="1450" b="1" i="0">
                <a:solidFill>
                  <a:srgbClr val="594044"/>
                </a:solidFill>
                <a:latin typeface="Arial"/>
              </a:rPr>
              <a:t>dorsolateral prefrontal cortex</a:t>
            </a:r>
            <a:r>
              <a:rPr sz="1450" b="0" i="0">
                <a:solidFill>
                  <a:srgbClr val="000000"/>
                </a:solidFill>
                <a:latin typeface="Arial"/>
              </a:rPr>
              <a:t>, or DLPFC, while animals remembered a visual cue location. A </a:t>
            </a:r>
            <a:r>
              <a:rPr sz="1450" b="1" i="0">
                <a:solidFill>
                  <a:srgbClr val="594044"/>
                </a:solidFill>
                <a:latin typeface="Arial"/>
              </a:rPr>
              <a:t>saccade</a:t>
            </a:r>
            <a:r>
              <a:rPr sz="1450" b="0" i="0">
                <a:solidFill>
                  <a:srgbClr val="000000"/>
                </a:solidFill>
                <a:latin typeface="Arial"/>
              </a:rPr>
              <a:t> is a rapid eye movement; the required saccade occurred only after the cue disappeared.</a:t>
            </a:r>
          </a:p>
          <a:p>
            <a:pPr algn="l">
              <a:lnSpc>
                <a:spcPct val="108000"/>
              </a:lnSpc>
              <a:spcAft>
                <a:spcPts val="900"/>
              </a:spcAft>
            </a:pPr>
            <a:r>
              <a:rPr sz="1450" b="0" i="0">
                <a:solidFill>
                  <a:srgbClr val="000000"/>
                </a:solidFill>
                <a:latin typeface="Arial"/>
              </a:rPr>
              <a:t>The cue appeared for 0.5 s and was followed by a 2.5-s delay. A </a:t>
            </a:r>
            <a:r>
              <a:rPr sz="1450" b="1" i="0">
                <a:solidFill>
                  <a:srgbClr val="594044"/>
                </a:solidFill>
                <a:latin typeface="Arial"/>
              </a:rPr>
              <a:t>preferred direction</a:t>
            </a:r>
            <a:r>
              <a:rPr sz="1450" b="0" i="0">
                <a:solidFill>
                  <a:srgbClr val="000000"/>
                </a:solidFill>
                <a:latin typeface="Arial"/>
              </a:rPr>
              <a:t> was the location associated with stronger firing by a recorded neuron. Some cells maintained firing during the delay for that direction, while firing was lower for nonpreferred directions.</a:t>
            </a:r>
          </a:p>
          <a:p>
            <a:pPr algn="l">
              <a:lnSpc>
                <a:spcPct val="108000"/>
              </a:lnSpc>
              <a:spcAft>
                <a:spcPts val="900"/>
              </a:spcAft>
            </a:pPr>
            <a:r>
              <a:rPr sz="1450" b="0" i="0">
                <a:solidFill>
                  <a:srgbClr val="000000"/>
                </a:solidFill>
                <a:latin typeface="Arial"/>
              </a:rPr>
              <a:t>Persistent activity supplies a physiological correlate of maintained spatial information. The task measures working memory rather than resistance to an explicit competing sensory target. Shared prefrontal mechanisms can inform hypotheses about attentional control, but memory-related firing is not automatically a direct measurement of attention or an ADHD phenotype.</a:t>
            </a:r>
          </a:p>
        </p:txBody>
      </p:sp>
      <p:pic>
        <p:nvPicPr>
          <p:cNvPr id="4" name="Picture 3" descr="monkey_wm.png"/>
          <p:cNvPicPr>
            <a:picLocks noChangeAspect="1"/>
          </p:cNvPicPr>
          <p:nvPr/>
        </p:nvPicPr>
        <p:blipFill>
          <a:blip r:embed="rId2"/>
          <a:stretch>
            <a:fillRect/>
          </a:stretch>
        </p:blipFill>
        <p:spPr>
          <a:xfrm>
            <a:off x="6138367" y="1280160"/>
            <a:ext cx="5486400" cy="2509002"/>
          </a:xfrm>
          <a:prstGeom prst="rect">
            <a:avLst/>
          </a:prstGeom>
        </p:spPr>
      </p:pic>
      <p:sp>
        <p:nvSpPr>
          <p:cNvPr id="5" name="Figure caption"/>
          <p:cNvSpPr txBox="1"/>
          <p:nvPr/>
        </p:nvSpPr>
        <p:spPr>
          <a:xfrm>
            <a:off x="6138367" y="388060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(2010), Fig. 1(A–C). Delayed eye-movement task, prefrontal recording site and direction-tuned firing.</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Gamo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Medication effects vary across dose and individual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Gamo and colleagues tested </a:t>
            </a:r>
            <a:r>
              <a:rPr sz="1400" b="1" i="0">
                <a:solidFill>
                  <a:srgbClr val="594044"/>
                </a:solidFill>
                <a:latin typeface="Arial"/>
              </a:rPr>
              <a:t>methylphenidate</a:t>
            </a:r>
            <a:r>
              <a:rPr sz="1400" b="0" i="0">
                <a:solidFill>
                  <a:srgbClr val="000000"/>
                </a:solidFill>
                <a:latin typeface="Arial"/>
              </a:rPr>
              <a:t>, which inhibits catecholamine uptake, and </a:t>
            </a:r>
            <a:r>
              <a:rPr sz="1400" b="1" i="0">
                <a:solidFill>
                  <a:srgbClr val="594044"/>
                </a:solidFill>
                <a:latin typeface="Arial"/>
              </a:rPr>
              <a:t>atomoxetine</a:t>
            </a:r>
            <a:r>
              <a:rPr sz="1400" b="0" i="0">
                <a:solidFill>
                  <a:srgbClr val="000000"/>
                </a:solidFill>
                <a:latin typeface="Arial"/>
              </a:rPr>
              <a:t>, a relatively selective NET inhibitor, on macaque spatial working memory. Food was hidden in a well, and the animal selected its remembered location after an opaque screen interrupted visibility. Vehicle treatments controlled for administration without active drug.</a:t>
            </a:r>
          </a:p>
          <a:p>
            <a:pPr algn="l">
              <a:lnSpc>
                <a:spcPct val="108000"/>
              </a:lnSpc>
              <a:spcAft>
                <a:spcPts val="840"/>
              </a:spcAft>
            </a:pPr>
            <a:r>
              <a:rPr sz="1400" b="0" i="0">
                <a:solidFill>
                  <a:srgbClr val="000000"/>
                </a:solidFill>
                <a:latin typeface="Arial"/>
              </a:rPr>
              <a:t>Oral methylphenidate doses ranged from 0.1 to 2.0 mg/kg; atomoxetine ranged from 0.001 to 5.0 mg/kg. Individual dose-response curves generally formed an </a:t>
            </a:r>
            <a:r>
              <a:rPr sz="1400" b="1" i="0">
                <a:solidFill>
                  <a:srgbClr val="594044"/>
                </a:solidFill>
                <a:latin typeface="Arial"/>
              </a:rPr>
              <a:t>inverted U</a:t>
            </a:r>
            <a:r>
              <a:rPr sz="1400" b="0" i="0">
                <a:solidFill>
                  <a:srgbClr val="000000"/>
                </a:solidFill>
                <a:latin typeface="Arial"/>
              </a:rPr>
              <a:t>: intermediate exposure improved performance, whereas lower or higher exposure did not consistently help and could impair it.</a:t>
            </a:r>
          </a:p>
          <a:p>
            <a:pPr algn="l">
              <a:lnSpc>
                <a:spcPct val="108000"/>
              </a:lnSpc>
              <a:spcAft>
                <a:spcPts val="840"/>
              </a:spcAft>
            </a:pPr>
            <a:r>
              <a:rPr sz="1400" b="0" i="0">
                <a:solidFill>
                  <a:srgbClr val="000000"/>
                </a:solidFill>
                <a:latin typeface="Arial"/>
              </a:rPr>
              <a:t>The effective dose differed among animals, including age-related variation in atomoxetine sensitivity. These are experimental macaque doses, not human treatment recommendations. Improved performance establishes a working-memory effect under controlled conditions without identifying a unique receptor or proving a clinical mechanism in every person with ADHD.</a:t>
            </a:r>
          </a:p>
        </p:txBody>
      </p:sp>
      <p:pic>
        <p:nvPicPr>
          <p:cNvPr id="4" name="Picture 3" descr="drug_doses.png"/>
          <p:cNvPicPr>
            <a:picLocks noChangeAspect="1"/>
          </p:cNvPicPr>
          <p:nvPr/>
        </p:nvPicPr>
        <p:blipFill>
          <a:blip r:embed="rId2"/>
          <a:stretch>
            <a:fillRect/>
          </a:stretch>
        </p:blipFill>
        <p:spPr>
          <a:xfrm>
            <a:off x="6872748" y="1280160"/>
            <a:ext cx="4017636" cy="1965960"/>
          </a:xfrm>
          <a:prstGeom prst="rect">
            <a:avLst/>
          </a:prstGeom>
        </p:spPr>
      </p:pic>
      <p:sp>
        <p:nvSpPr>
          <p:cNvPr id="5" name="Figure caption"/>
          <p:cNvSpPr txBox="1"/>
          <p:nvPr/>
        </p:nvSpPr>
        <p:spPr>
          <a:xfrm>
            <a:off x="6138367" y="33375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(2010), Fig. 2(A–F). Individual methylphenidate and atomoxetine dose-response curves.</a:t>
            </a:r>
          </a:p>
        </p:txBody>
      </p:sp>
      <p:pic>
        <p:nvPicPr>
          <p:cNvPr id="6" name="Picture 5" descr="monkey_wm.png"/>
          <p:cNvPicPr>
            <a:picLocks noChangeAspect="1"/>
          </p:cNvPicPr>
          <p:nvPr/>
        </p:nvPicPr>
        <p:blipFill>
          <a:blip r:embed="rId3"/>
          <a:stretch>
            <a:fillRect/>
          </a:stretch>
        </p:blipFill>
        <p:spPr>
          <a:xfrm>
            <a:off x="6732098" y="3794760"/>
            <a:ext cx="4298937" cy="19659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(2010), Fig. 1(A–C). Dorsolateral prefrontal recording region relative to principal and arcuate sulci.</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Gamo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Adrenergic and D1 receptors support medication benefits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A </a:t>
            </a:r>
            <a:r>
              <a:rPr sz="1450" b="1" i="0">
                <a:solidFill>
                  <a:srgbClr val="594044"/>
                </a:solidFill>
                <a:latin typeface="Arial"/>
              </a:rPr>
              <a:t>receptor agonist</a:t>
            </a:r>
            <a:r>
              <a:rPr sz="1450" b="0" i="0">
                <a:solidFill>
                  <a:srgbClr val="000000"/>
                </a:solidFill>
                <a:latin typeface="Arial"/>
              </a:rPr>
              <a:t> activates a receptor, whereas a </a:t>
            </a:r>
            <a:r>
              <a:rPr sz="1450" b="1" i="0">
                <a:solidFill>
                  <a:srgbClr val="594044"/>
                </a:solidFill>
                <a:latin typeface="Arial"/>
              </a:rPr>
              <a:t>receptor antagonist</a:t>
            </a:r>
            <a:r>
              <a:rPr sz="1450" b="0" i="0">
                <a:solidFill>
                  <a:srgbClr val="000000"/>
                </a:solidFill>
                <a:latin typeface="Arial"/>
              </a:rPr>
              <a:t> blocks its activation. Gamo and colleagues challenged each macaque’s effective methylphenidate or atomoxetine dose with idazoxan, an </a:t>
            </a:r>
            <a:r>
              <a:rPr sz="1450" b="1" i="0">
                <a:solidFill>
                  <a:srgbClr val="594044"/>
                </a:solidFill>
                <a:latin typeface="Arial"/>
              </a:rPr>
              <a:t>α2-adrenergic receptor</a:t>
            </a:r>
            <a:r>
              <a:rPr sz="1450" b="0" i="0">
                <a:solidFill>
                  <a:srgbClr val="000000"/>
                </a:solidFill>
                <a:latin typeface="Arial"/>
              </a:rPr>
              <a:t> antagonist, or SCH23390, a </a:t>
            </a:r>
            <a:r>
              <a:rPr sz="1450" b="1" i="0">
                <a:solidFill>
                  <a:srgbClr val="594044"/>
                </a:solidFill>
                <a:latin typeface="Arial"/>
              </a:rPr>
              <a:t>dopamine D1 receptor</a:t>
            </a:r>
            <a:r>
              <a:rPr sz="1450" b="0" i="0">
                <a:solidFill>
                  <a:srgbClr val="000000"/>
                </a:solidFill>
                <a:latin typeface="Arial"/>
              </a:rPr>
              <a:t> antagonist.</a:t>
            </a:r>
          </a:p>
          <a:p>
            <a:pPr algn="l">
              <a:lnSpc>
                <a:spcPct val="108000"/>
              </a:lnSpc>
              <a:spcAft>
                <a:spcPts val="900"/>
              </a:spcAft>
            </a:pPr>
            <a:r>
              <a:rPr sz="1450" b="0" i="0">
                <a:solidFill>
                  <a:srgbClr val="000000"/>
                </a:solidFill>
                <a:latin typeface="Arial"/>
              </a:rPr>
              <a:t>Antagonist doses were selected to avoid impairment when administered alone. Idazoxan was tested over 0.01–0.5 mg/kg and SCH23390 over 0.001–0.06 mg/kg. Each antagonist reversed the medication-related improvement in remembered-location choices relative to the relevant drug-plus-vehicle condition.</a:t>
            </a:r>
          </a:p>
          <a:p>
            <a:pPr algn="l">
              <a:lnSpc>
                <a:spcPct val="108000"/>
              </a:lnSpc>
              <a:spcAft>
                <a:spcPts val="900"/>
              </a:spcAft>
            </a:pPr>
            <a:r>
              <a:rPr sz="1450" b="0" i="0">
                <a:solidFill>
                  <a:srgbClr val="000000"/>
                </a:solidFill>
                <a:latin typeface="Arial"/>
              </a:rPr>
              <a:t>The controls support participation of both receptor families rather than simple addition of two independent impairments. They do not identify one receptor subtype at every relevant synapse, and systemic administration affects multiple locations. Medication-related improvement can depend on NE and DA receptor actions even when the uptake inhibitor is relatively NET-selective.</a:t>
            </a:r>
          </a:p>
        </p:txBody>
      </p:sp>
      <p:pic>
        <p:nvPicPr>
          <p:cNvPr id="4" name="Picture 3" descr="drug_receptors.png"/>
          <p:cNvPicPr>
            <a:picLocks noChangeAspect="1"/>
          </p:cNvPicPr>
          <p:nvPr/>
        </p:nvPicPr>
        <p:blipFill>
          <a:blip r:embed="rId2"/>
          <a:stretch>
            <a:fillRect/>
          </a:stretch>
        </p:blipFill>
        <p:spPr>
          <a:xfrm>
            <a:off x="7656518" y="1280160"/>
            <a:ext cx="2450097" cy="1965960"/>
          </a:xfrm>
          <a:prstGeom prst="rect">
            <a:avLst/>
          </a:prstGeom>
        </p:spPr>
      </p:pic>
      <p:sp>
        <p:nvSpPr>
          <p:cNvPr id="5" name="Figure caption"/>
          <p:cNvSpPr txBox="1"/>
          <p:nvPr/>
        </p:nvSpPr>
        <p:spPr>
          <a:xfrm>
            <a:off x="6138367" y="33375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(2010), Fig. 3(A–D). Adrenergic and dopamine-receptor antagonist challenges.</a:t>
            </a:r>
          </a:p>
        </p:txBody>
      </p:sp>
      <p:pic>
        <p:nvPicPr>
          <p:cNvPr id="6" name="Picture 5" descr="monkey_wm.png"/>
          <p:cNvPicPr>
            <a:picLocks noChangeAspect="1"/>
          </p:cNvPicPr>
          <p:nvPr/>
        </p:nvPicPr>
        <p:blipFill>
          <a:blip r:embed="rId3"/>
          <a:stretch>
            <a:fillRect/>
          </a:stretch>
        </p:blipFill>
        <p:spPr>
          <a:xfrm>
            <a:off x="6732098" y="3794760"/>
            <a:ext cx="4298937" cy="19659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(2010), Fig. 1(A–C). Dorsolateral prefrontal recording region relative to principal and arcuate sulci.</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Gamo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Atomoxetine can strengthen or suppress delay firing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594044"/>
                </a:solidFill>
                <a:latin typeface="Arial"/>
              </a:rPr>
              <a:t>Iontophoresis</a:t>
            </a:r>
            <a:r>
              <a:rPr sz="1400" b="0" i="0">
                <a:solidFill>
                  <a:srgbClr val="000000"/>
                </a:solidFill>
                <a:latin typeface="Arial"/>
              </a:rPr>
              <a:t> uses electrical current to deliver small quantities of a charged drug near a recorded neuron. Gamo and colleagues applied atomoxetine locally while recording macaque DLPFC cells during the delayed eye-movement task. The same neuron could be compared across control and drug conditions.</a:t>
            </a:r>
          </a:p>
          <a:p>
            <a:pPr algn="l">
              <a:lnSpc>
                <a:spcPct val="108000"/>
              </a:lnSpc>
              <a:spcAft>
                <a:spcPts val="840"/>
              </a:spcAft>
            </a:pPr>
            <a:r>
              <a:rPr sz="1400" b="0" i="0">
                <a:solidFill>
                  <a:srgbClr val="000000"/>
                </a:solidFill>
                <a:latin typeface="Arial"/>
              </a:rPr>
              <a:t>Low ejection currents, commonly 2–5 nA, increased preferred-direction delay firing or reduced nonpreferred-direction firing. Higher application, including 10 nA, suppressed delay activity more broadly. Ejection current controls local delivery; it is not a measured drug concentration in the tissue or a directly equivalent systemic dose.</a:t>
            </a:r>
          </a:p>
          <a:p>
            <a:pPr algn="l">
              <a:lnSpc>
                <a:spcPct val="108000"/>
              </a:lnSpc>
              <a:spcAft>
                <a:spcPts val="840"/>
              </a:spcAft>
            </a:pPr>
            <a:r>
              <a:rPr sz="1400" b="0" i="0">
                <a:solidFill>
                  <a:srgbClr val="000000"/>
                </a:solidFill>
                <a:latin typeface="Arial"/>
              </a:rPr>
              <a:t>The bidirectional effect connects exposure to the neuronal representation rather than assuming uniform excitation. Increased catecholamine availability can sharpen or weaken persistent activity depending on exposure. The published panel includes a conceptual dose-response model and recorded responses; the conceptual curve is the authors’ interpretation, not an independently measured continuous function.</a:t>
            </a:r>
          </a:p>
        </p:txBody>
      </p:sp>
      <p:pic>
        <p:nvPicPr>
          <p:cNvPr id="4" name="Picture 3" descr="atomoxetine.png"/>
          <p:cNvPicPr>
            <a:picLocks noChangeAspect="1"/>
          </p:cNvPicPr>
          <p:nvPr/>
        </p:nvPicPr>
        <p:blipFill>
          <a:blip r:embed="rId2"/>
          <a:stretch>
            <a:fillRect/>
          </a:stretch>
        </p:blipFill>
        <p:spPr>
          <a:xfrm>
            <a:off x="6507420" y="1280160"/>
            <a:ext cx="4748293" cy="1965960"/>
          </a:xfrm>
          <a:prstGeom prst="rect">
            <a:avLst/>
          </a:prstGeom>
        </p:spPr>
      </p:pic>
      <p:sp>
        <p:nvSpPr>
          <p:cNvPr id="5" name="Figure caption"/>
          <p:cNvSpPr txBox="1"/>
          <p:nvPr/>
        </p:nvSpPr>
        <p:spPr>
          <a:xfrm>
            <a:off x="6138367" y="33375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(2010), Fig. 4(C). Atomoxetine concentration-dependent effects on delay firing.</a:t>
            </a:r>
          </a:p>
        </p:txBody>
      </p:sp>
      <p:pic>
        <p:nvPicPr>
          <p:cNvPr id="6" name="Picture 5" descr="monkey_wm.png"/>
          <p:cNvPicPr>
            <a:picLocks noChangeAspect="1"/>
          </p:cNvPicPr>
          <p:nvPr/>
        </p:nvPicPr>
        <p:blipFill>
          <a:blip r:embed="rId3"/>
          <a:stretch>
            <a:fillRect/>
          </a:stretch>
        </p:blipFill>
        <p:spPr>
          <a:xfrm>
            <a:off x="6732098" y="3794760"/>
            <a:ext cx="4298937" cy="19659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(2010), Fig. 1(A–C). Dorsolateral prefrontal recording region relative to principal and arcuate sulci.</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Gamo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α2 and D1 actions modify different firing components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Gamo and colleagues combined atomoxetine with local receptor antagonists during macaque DLPFC recordings. </a:t>
            </a:r>
            <a:r>
              <a:rPr sz="1450" b="1" i="0">
                <a:solidFill>
                  <a:srgbClr val="594044"/>
                </a:solidFill>
                <a:latin typeface="Arial"/>
              </a:rPr>
              <a:t>Spatial tuning</a:t>
            </a:r>
            <a:r>
              <a:rPr sz="1450" b="0" i="0">
                <a:solidFill>
                  <a:srgbClr val="000000"/>
                </a:solidFill>
                <a:latin typeface="Arial"/>
              </a:rPr>
              <a:t> is a neuron’s unequal response to different cue locations. Enhanced preferred-direction firing and suppressed nonpreferred-direction firing can both improve tuning, but they are different changes in activity.</a:t>
            </a:r>
          </a:p>
          <a:p>
            <a:pPr algn="l">
              <a:lnSpc>
                <a:spcPct val="108000"/>
              </a:lnSpc>
              <a:spcAft>
                <a:spcPts val="900"/>
              </a:spcAft>
            </a:pPr>
            <a:r>
              <a:rPr sz="1450" b="0" i="0">
                <a:solidFill>
                  <a:srgbClr val="000000"/>
                </a:solidFill>
                <a:latin typeface="Arial"/>
              </a:rPr>
              <a:t>Yohimbine, an α2-receptor antagonist, blocked the atomoxetine-related increase in preferred-direction delay firing. SCH23390 reversed the reduction of nonpreferred-direction firing. Representative experiments used 5-nA atomoxetine application with 15-nA yohimbine or 25-nA SCH23390 delivery.</a:t>
            </a:r>
          </a:p>
          <a:p>
            <a:pPr algn="l">
              <a:lnSpc>
                <a:spcPct val="108000"/>
              </a:lnSpc>
              <a:spcAft>
                <a:spcPts val="900"/>
              </a:spcAft>
            </a:pPr>
            <a:r>
              <a:rPr sz="1450" b="0" i="0">
                <a:solidFill>
                  <a:srgbClr val="000000"/>
                </a:solidFill>
                <a:latin typeface="Arial"/>
              </a:rPr>
              <a:t>The authors’ molecular model links α2A activation to reduced </a:t>
            </a:r>
            <a:r>
              <a:rPr sz="1450" b="1" i="0">
                <a:solidFill>
                  <a:srgbClr val="594044"/>
                </a:solidFill>
                <a:latin typeface="Arial"/>
              </a:rPr>
              <a:t>cyclic AMP</a:t>
            </a:r>
            <a:r>
              <a:rPr sz="1450" b="0" i="0">
                <a:solidFill>
                  <a:srgbClr val="000000"/>
                </a:solidFill>
                <a:latin typeface="Arial"/>
              </a:rPr>
              <a:t>, or cAMP, an intracellular messenger that regulates cellular proteins. This strengthens preferred network inputs. D1 signaling can raise cAMP and reduce competing activity. These are receptor- and exposure-dependent effects, rather than universal excitatory NE and inhibitory DA actions.</a:t>
            </a:r>
          </a:p>
        </p:txBody>
      </p:sp>
      <p:pic>
        <p:nvPicPr>
          <p:cNvPr id="4" name="Picture 3" descr="receptor_firing.png"/>
          <p:cNvPicPr>
            <a:picLocks noChangeAspect="1"/>
          </p:cNvPicPr>
          <p:nvPr/>
        </p:nvPicPr>
        <p:blipFill>
          <a:blip r:embed="rId2"/>
          <a:stretch>
            <a:fillRect/>
          </a:stretch>
        </p:blipFill>
        <p:spPr>
          <a:xfrm>
            <a:off x="7408112" y="1280160"/>
            <a:ext cx="2946909" cy="1965960"/>
          </a:xfrm>
          <a:prstGeom prst="rect">
            <a:avLst/>
          </a:prstGeom>
        </p:spPr>
      </p:pic>
      <p:sp>
        <p:nvSpPr>
          <p:cNvPr id="5" name="Figure caption"/>
          <p:cNvSpPr txBox="1"/>
          <p:nvPr/>
        </p:nvSpPr>
        <p:spPr>
          <a:xfrm>
            <a:off x="6138367" y="33375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(2010), Fig. 5(A,B). Receptor-specific reversal of atomoxetine effects on tuned firing.</a:t>
            </a:r>
          </a:p>
        </p:txBody>
      </p:sp>
      <p:pic>
        <p:nvPicPr>
          <p:cNvPr id="6" name="Picture 5" descr="monkey_wm.png"/>
          <p:cNvPicPr>
            <a:picLocks noChangeAspect="1"/>
          </p:cNvPicPr>
          <p:nvPr/>
        </p:nvPicPr>
        <p:blipFill>
          <a:blip r:embed="rId3"/>
          <a:stretch>
            <a:fillRect/>
          </a:stretch>
        </p:blipFill>
        <p:spPr>
          <a:xfrm>
            <a:off x="6732098" y="3794760"/>
            <a:ext cx="4298937" cy="19659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(2010), Fig. 1(A–C). Dorsolateral prefrontal recording region relative to principal and arcuate sulci.</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Gamo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Recurrent excitation sustains prefrontal representations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594044"/>
                </a:solidFill>
                <a:latin typeface="Arial"/>
              </a:rPr>
              <a:t>Recurrent excitation</a:t>
            </a:r>
            <a:r>
              <a:rPr sz="1400" b="0" i="0">
                <a:solidFill>
                  <a:srgbClr val="000000"/>
                </a:solidFill>
                <a:latin typeface="Arial"/>
              </a:rPr>
              <a:t> occurs when connected neurons reinforce one another’s activity. The published prefrontal network model describes pyramidal neurons with shared spatial preferences linked through excitatory synapses. A </a:t>
            </a:r>
            <a:r>
              <a:rPr sz="1400" b="1" i="0">
                <a:solidFill>
                  <a:srgbClr val="594044"/>
                </a:solidFill>
                <a:latin typeface="Arial"/>
              </a:rPr>
              <a:t>synapse</a:t>
            </a:r>
            <a:r>
              <a:rPr sz="1400" b="0" i="0">
                <a:solidFill>
                  <a:srgbClr val="000000"/>
                </a:solidFill>
                <a:latin typeface="Arial"/>
              </a:rPr>
              <a:t> is a specialized cell-to-cell signaling junction; a </a:t>
            </a:r>
            <a:r>
              <a:rPr sz="1400" b="1" i="0">
                <a:solidFill>
                  <a:srgbClr val="594044"/>
                </a:solidFill>
                <a:latin typeface="Arial"/>
              </a:rPr>
              <a:t>dendritic spine</a:t>
            </a:r>
            <a:r>
              <a:rPr sz="1400" b="0" i="0">
                <a:solidFill>
                  <a:srgbClr val="000000"/>
                </a:solidFill>
                <a:latin typeface="Arial"/>
              </a:rPr>
              <a:t> is a small postsynaptic protrusion receiving many such contacts.</a:t>
            </a:r>
          </a:p>
          <a:p>
            <a:pPr algn="l">
              <a:lnSpc>
                <a:spcPct val="108000"/>
              </a:lnSpc>
              <a:spcAft>
                <a:spcPts val="840"/>
              </a:spcAft>
            </a:pPr>
            <a:r>
              <a:rPr sz="1400" b="0" i="0">
                <a:solidFill>
                  <a:srgbClr val="000000"/>
                </a:solidFill>
                <a:latin typeface="Arial"/>
              </a:rPr>
              <a:t>The model includes </a:t>
            </a:r>
            <a:r>
              <a:rPr sz="1400" b="1" i="0">
                <a:solidFill>
                  <a:srgbClr val="594044"/>
                </a:solidFill>
                <a:latin typeface="Arial"/>
              </a:rPr>
              <a:t>glutamate</a:t>
            </a:r>
            <a:r>
              <a:rPr sz="1400" b="0" i="0">
                <a:solidFill>
                  <a:srgbClr val="000000"/>
                </a:solidFill>
                <a:latin typeface="Arial"/>
              </a:rPr>
              <a:t>, an excitatory transmitter, acting at </a:t>
            </a:r>
            <a:r>
              <a:rPr sz="1400" b="1" i="0">
                <a:solidFill>
                  <a:srgbClr val="594044"/>
                </a:solidFill>
                <a:latin typeface="Arial"/>
              </a:rPr>
              <a:t>NMDA receptors</a:t>
            </a:r>
            <a:r>
              <a:rPr sz="1400" b="0" i="0">
                <a:solidFill>
                  <a:srgbClr val="000000"/>
                </a:solidFill>
                <a:latin typeface="Arial"/>
              </a:rPr>
              <a:t>, transmitter-gated cation channels. GABAergic lateral inhibition limits competing activity. Gamo and colleagues recorded maintained firing through a 2.5-s memory delay, while anatomical and pharmacological experiments tested molecular components associated with these networks.</a:t>
            </a:r>
          </a:p>
          <a:p>
            <a:pPr algn="l">
              <a:lnSpc>
                <a:spcPct val="108000"/>
              </a:lnSpc>
              <a:spcAft>
                <a:spcPts val="840"/>
              </a:spcAft>
            </a:pPr>
            <a:r>
              <a:rPr sz="1400" b="0" i="0">
                <a:solidFill>
                  <a:srgbClr val="000000"/>
                </a:solidFill>
                <a:latin typeface="Arial"/>
              </a:rPr>
              <a:t>This circuit organization provides an interpretation of persistent, direction-tuned activity. A single neuron’s delay response does not directly establish every recurrent connection in the published model. The anatomical and physiological evidence must remain distinct from the proposed network explanation of how a spatial representation persists.</a:t>
            </a:r>
          </a:p>
        </p:txBody>
      </p:sp>
      <p:pic>
        <p:nvPicPr>
          <p:cNvPr id="4" name="Picture 3" descr="spine_model.png"/>
          <p:cNvPicPr>
            <a:picLocks noChangeAspect="1"/>
          </p:cNvPicPr>
          <p:nvPr/>
        </p:nvPicPr>
        <p:blipFill>
          <a:blip r:embed="rId2"/>
          <a:stretch>
            <a:fillRect/>
          </a:stretch>
        </p:blipFill>
        <p:spPr>
          <a:xfrm>
            <a:off x="6138367" y="1280160"/>
            <a:ext cx="5486400" cy="3718673"/>
          </a:xfrm>
          <a:prstGeom prst="rect">
            <a:avLst/>
          </a:prstGeom>
        </p:spPr>
      </p:pic>
      <p:sp>
        <p:nvSpPr>
          <p:cNvPr id="5" name="Figure caption"/>
          <p:cNvSpPr txBox="1"/>
          <p:nvPr/>
        </p:nvSpPr>
        <p:spPr>
          <a:xfrm>
            <a:off x="6138367" y="5090273"/>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(2015), Fig. 1(A–E). Prefrontal anatomy, direction-tuned firing and published recurrent-network model.</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Gamo et al. (2015); Gamo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D1 receptors and HCN channels share spine locations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594044"/>
                </a:solidFill>
                <a:latin typeface="Arial"/>
              </a:rPr>
              <a:t>D1 receptor</a:t>
            </a:r>
            <a:r>
              <a:rPr sz="1400" b="0" i="0">
                <a:solidFill>
                  <a:srgbClr val="000000"/>
                </a:solidFill>
                <a:latin typeface="Arial"/>
              </a:rPr>
              <a:t> is a G-protein-coupled receptor: ligand binding changes intracellular signaling through associated G proteins rather than directly opening a transmitter-gated channel. D1 signaling can increase the intracellular messenger cAMP, which regulates other proteins. Gamo and colleagues examined receptor proximity to candidate channel targets.</a:t>
            </a:r>
          </a:p>
          <a:p>
            <a:pPr algn="l">
              <a:lnSpc>
                <a:spcPct val="108000"/>
              </a:lnSpc>
              <a:spcAft>
                <a:spcPts val="840"/>
              </a:spcAft>
            </a:pPr>
            <a:r>
              <a:rPr sz="1400" b="0" i="0">
                <a:solidFill>
                  <a:srgbClr val="000000"/>
                </a:solidFill>
                <a:latin typeface="Arial"/>
              </a:rPr>
              <a:t>Dual-label </a:t>
            </a:r>
            <a:r>
              <a:rPr sz="1400" b="1" i="0">
                <a:solidFill>
                  <a:srgbClr val="594044"/>
                </a:solidFill>
                <a:latin typeface="Arial"/>
              </a:rPr>
              <a:t>immunoelectron microscopy</a:t>
            </a:r>
            <a:r>
              <a:rPr sz="1400" b="0" i="0">
                <a:solidFill>
                  <a:srgbClr val="000000"/>
                </a:solidFill>
                <a:latin typeface="Arial"/>
              </a:rPr>
              <a:t>, antibody-based protein localization at electron-microscope resolution, detected D1 receptors and </a:t>
            </a:r>
            <a:r>
              <a:rPr sz="1400" b="1" i="0">
                <a:solidFill>
                  <a:srgbClr val="594044"/>
                </a:solidFill>
                <a:latin typeface="Arial"/>
              </a:rPr>
              <a:t>hyperpolarization-activated cyclic nucleotide-gated channels</a:t>
            </a:r>
            <a:r>
              <a:rPr sz="1400" b="0" i="0">
                <a:solidFill>
                  <a:srgbClr val="000000"/>
                </a:solidFill>
                <a:latin typeface="Arial"/>
              </a:rPr>
              <a:t>, or HCN channels, in macaque layer-III DLPFC spines. Original panels retain 200-nm scale references and labels distinguishing spine head and neck.</a:t>
            </a:r>
          </a:p>
          <a:p>
            <a:pPr algn="l">
              <a:lnSpc>
                <a:spcPct val="108000"/>
              </a:lnSpc>
              <a:spcAft>
                <a:spcPts val="840"/>
              </a:spcAft>
            </a:pPr>
            <a:r>
              <a:rPr sz="1400" b="0" i="0">
                <a:solidFill>
                  <a:srgbClr val="000000"/>
                </a:solidFill>
                <a:latin typeface="Arial"/>
              </a:rPr>
              <a:t>HCN channels conduct cations and respond to membrane voltage and cyclic nucleotides. Nearby receptor and channel labeling provides a plausible location for local signaling. Colocalization means spatial association, not proof that the proteins bind directly or that every labeled spine changes its current during a behavioral task.</a:t>
            </a:r>
          </a:p>
        </p:txBody>
      </p:sp>
      <p:pic>
        <p:nvPicPr>
          <p:cNvPr id="4" name="Picture 3" descr="spines.png"/>
          <p:cNvPicPr>
            <a:picLocks noChangeAspect="1"/>
          </p:cNvPicPr>
          <p:nvPr/>
        </p:nvPicPr>
        <p:blipFill>
          <a:blip r:embed="rId2"/>
          <a:stretch>
            <a:fillRect/>
          </a:stretch>
        </p:blipFill>
        <p:spPr>
          <a:xfrm>
            <a:off x="7435359" y="1280160"/>
            <a:ext cx="2892415"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(2015), Fig. 3(A–E). Dopamine D1 receptor and HCN-channel localization in dendritic spines.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Gamo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D1 stimulation enhances the HCN-related voltage sag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1" i="0">
                <a:solidFill>
                  <a:srgbClr val="594044"/>
                </a:solidFill>
                <a:latin typeface="Arial"/>
              </a:rPr>
              <a:t>Hyperpolarization</a:t>
            </a:r>
            <a:r>
              <a:rPr sz="1450" b="0" i="0">
                <a:solidFill>
                  <a:srgbClr val="000000"/>
                </a:solidFill>
                <a:latin typeface="Arial"/>
              </a:rPr>
              <a:t> shifts membrane voltage in the negative direction. HCN channels activate with hyperpolarization and carry an inward mixed-cation current, </a:t>
            </a:r>
            <a:r>
              <a:rPr sz="1450" b="1" i="0">
                <a:solidFill>
                  <a:srgbClr val="594044"/>
                </a:solidFill>
                <a:latin typeface="Arial"/>
              </a:rPr>
              <a:t>Ih</a:t>
            </a:r>
            <a:r>
              <a:rPr sz="1450" b="0" i="0">
                <a:solidFill>
                  <a:srgbClr val="000000"/>
                </a:solidFill>
                <a:latin typeface="Arial"/>
              </a:rPr>
              <a:t>. Cyclic AMP can increase their open probability, linking D1 receptor signaling to an electrical membrane property rather than only a change in transmitter concentration.</a:t>
            </a:r>
          </a:p>
          <a:p>
            <a:pPr algn="l">
              <a:lnSpc>
                <a:spcPct val="108000"/>
              </a:lnSpc>
              <a:spcAft>
                <a:spcPts val="900"/>
              </a:spcAft>
            </a:pPr>
            <a:r>
              <a:rPr sz="1450" b="0" i="0">
                <a:solidFill>
                  <a:srgbClr val="000000"/>
                </a:solidFill>
                <a:latin typeface="Arial"/>
              </a:rPr>
              <a:t>Gamo and colleagues recorded mouse prefrontal layer-V pyramidal neurons in slices. A 400-ms, −300-pA current pulse produced a voltage deflection followed by a partial return toward baseline, a </a:t>
            </a:r>
            <a:r>
              <a:rPr sz="1450" b="1" i="0">
                <a:solidFill>
                  <a:srgbClr val="594044"/>
                </a:solidFill>
                <a:latin typeface="Arial"/>
              </a:rPr>
              <a:t>voltage sag</a:t>
            </a:r>
            <a:r>
              <a:rPr sz="1450" b="0" i="0">
                <a:solidFill>
                  <a:srgbClr val="000000"/>
                </a:solidFill>
                <a:latin typeface="Arial"/>
              </a:rPr>
              <a:t>. Bath application of 10-µM SKF81297, a D1 agonist, increased the sag-related measure.</a:t>
            </a:r>
          </a:p>
          <a:p>
            <a:pPr algn="l">
              <a:lnSpc>
                <a:spcPct val="108000"/>
              </a:lnSpc>
              <a:spcAft>
                <a:spcPts val="900"/>
              </a:spcAft>
            </a:pPr>
            <a:r>
              <a:rPr sz="1450" b="0" i="0">
                <a:solidFill>
                  <a:srgbClr val="000000"/>
                </a:solidFill>
                <a:latin typeface="Arial"/>
              </a:rPr>
              <a:t>The result supports D1 regulation of an HCN-associated response in this preparation. A sag measurement is not a direct recording of every spine channel, and these mouse layer-V cells differ from macaque layer-III spines. The proposed link to weakened recurrent signaling therefore requires complementary in vivo and behavioral evidence.</a:t>
            </a:r>
          </a:p>
        </p:txBody>
      </p:sp>
      <p:pic>
        <p:nvPicPr>
          <p:cNvPr id="4" name="Picture 3" descr="hcnsag.png"/>
          <p:cNvPicPr>
            <a:picLocks noChangeAspect="1"/>
          </p:cNvPicPr>
          <p:nvPr/>
        </p:nvPicPr>
        <p:blipFill>
          <a:blip r:embed="rId2"/>
          <a:stretch>
            <a:fillRect/>
          </a:stretch>
        </p:blipFill>
        <p:spPr>
          <a:xfrm>
            <a:off x="6576471" y="1280160"/>
            <a:ext cx="4610190"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(2015), Fig. 7(A–C). D1 agonist effects on the hyperpolarization-activated membrane response.</a:t>
            </a:r>
          </a:p>
        </p:txBody>
      </p:sp>
      <p:pic>
        <p:nvPicPr>
          <p:cNvPr id="6" name="Picture 5" descr="spine_model.png"/>
          <p:cNvPicPr>
            <a:picLocks noChangeAspect="1"/>
          </p:cNvPicPr>
          <p:nvPr/>
        </p:nvPicPr>
        <p:blipFill>
          <a:blip r:embed="rId3"/>
          <a:stretch>
            <a:fillRect/>
          </a:stretch>
        </p:blipFill>
        <p:spPr>
          <a:xfrm>
            <a:off x="7734854" y="4206240"/>
            <a:ext cx="2293425"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(2015), Fig. 1(A–E). Prefrontal anatomy, direction-tuned firing and published recurrent-network model.</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Gamo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HCN blockade protects delay activity from D1 stimulation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An open channel changes </a:t>
            </a:r>
            <a:r>
              <a:rPr sz="1450" b="1" i="0">
                <a:solidFill>
                  <a:srgbClr val="594044"/>
                </a:solidFill>
                <a:latin typeface="Arial"/>
              </a:rPr>
              <a:t>membrane conductance</a:t>
            </a:r>
            <a:r>
              <a:rPr sz="1450" b="0" i="0">
                <a:solidFill>
                  <a:srgbClr val="000000"/>
                </a:solidFill>
                <a:latin typeface="Arial"/>
              </a:rPr>
              <a:t>, the ease with which ionic current crosses the membrane. In the authors’ model, excessive D1–cAMP signaling opens HCN channels and weakens the influence of recurrent synaptic inputs. Gamo and colleagues tested that mechanism during macaque working-memory recordings.</a:t>
            </a:r>
          </a:p>
          <a:p>
            <a:pPr algn="l">
              <a:lnSpc>
                <a:spcPct val="108000"/>
              </a:lnSpc>
              <a:spcAft>
                <a:spcPts val="900"/>
              </a:spcAft>
            </a:pPr>
            <a:r>
              <a:rPr sz="1450" b="0" i="0">
                <a:solidFill>
                  <a:srgbClr val="000000"/>
                </a:solidFill>
                <a:latin typeface="Arial"/>
              </a:rPr>
              <a:t>Local SKF38393, a D1 agonist, suppressed delay-related DLPFC firing. Co-application of </a:t>
            </a:r>
            <a:r>
              <a:rPr sz="1450" b="1" i="0">
                <a:solidFill>
                  <a:srgbClr val="594044"/>
                </a:solidFill>
                <a:latin typeface="Arial"/>
              </a:rPr>
              <a:t>ZD7288</a:t>
            </a:r>
            <a:r>
              <a:rPr sz="1450" b="0" i="0">
                <a:solidFill>
                  <a:srgbClr val="000000"/>
                </a:solidFill>
                <a:latin typeface="Arial"/>
              </a:rPr>
              <a:t>, an HCN-channel blocker, preserved firing closer to control levels. Representative delivery ranges were 20–25 nA for the agonist and 5–10 nA for the channel blocker; the published traces retain firing-rate and time axes.</a:t>
            </a:r>
          </a:p>
          <a:p>
            <a:pPr algn="l">
              <a:lnSpc>
                <a:spcPct val="108000"/>
              </a:lnSpc>
              <a:spcAft>
                <a:spcPts val="900"/>
              </a:spcAft>
            </a:pPr>
            <a:r>
              <a:rPr sz="1450" b="0" i="0">
                <a:solidFill>
                  <a:srgbClr val="000000"/>
                </a:solidFill>
                <a:latin typeface="Arial"/>
              </a:rPr>
              <a:t>Pharmacological rescue links the channel-sensitive mechanism to the effect of D1 stimulation. It does not establish that every D1 action uses HCN channels, or that all recorded neurons were affected identically. The analysis specifically examined neurons whose delay-related activity was suppressed by the agonist.</a:t>
            </a:r>
          </a:p>
        </p:txBody>
      </p:sp>
      <p:pic>
        <p:nvPicPr>
          <p:cNvPr id="4" name="Picture 3" descr="hcn_firing.png"/>
          <p:cNvPicPr>
            <a:picLocks noChangeAspect="1"/>
          </p:cNvPicPr>
          <p:nvPr/>
        </p:nvPicPr>
        <p:blipFill>
          <a:blip r:embed="rId2"/>
          <a:stretch>
            <a:fillRect/>
          </a:stretch>
        </p:blipFill>
        <p:spPr>
          <a:xfrm>
            <a:off x="6378878" y="1280160"/>
            <a:ext cx="5005377" cy="1965960"/>
          </a:xfrm>
          <a:prstGeom prst="rect">
            <a:avLst/>
          </a:prstGeom>
        </p:spPr>
      </p:pic>
      <p:sp>
        <p:nvSpPr>
          <p:cNvPr id="5" name="Figure caption"/>
          <p:cNvSpPr txBox="1"/>
          <p:nvPr/>
        </p:nvSpPr>
        <p:spPr>
          <a:xfrm>
            <a:off x="6138367" y="33375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(2015), Fig. 4(A,B). HCN blockade protects prefrontal delay-related activity during D1 stimulation.</a:t>
            </a:r>
          </a:p>
        </p:txBody>
      </p:sp>
      <p:pic>
        <p:nvPicPr>
          <p:cNvPr id="6" name="Picture 5" descr="monkey_wm.png"/>
          <p:cNvPicPr>
            <a:picLocks noChangeAspect="1"/>
          </p:cNvPicPr>
          <p:nvPr/>
        </p:nvPicPr>
        <p:blipFill>
          <a:blip r:embed="rId3"/>
          <a:stretch>
            <a:fillRect/>
          </a:stretch>
        </p:blipFill>
        <p:spPr>
          <a:xfrm>
            <a:off x="6732098" y="3794760"/>
            <a:ext cx="4298937" cy="19659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(2010), Fig. 1(A–C). Dorsolateral prefrontal recording region relative to principal and arcuate sulci.</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Gamo et al. (2015); Gamo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Prefrontal HCN blockade protects memory under stress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Gamo and colleagues trained rats to alternate choices in a delayed T-maze task, remembering the preceding arm choice. Drug infusions targeted </a:t>
            </a:r>
            <a:r>
              <a:rPr sz="1450" b="1" i="0">
                <a:solidFill>
                  <a:srgbClr val="594044"/>
                </a:solidFill>
                <a:latin typeface="Arial"/>
              </a:rPr>
              <a:t>prelimbic prefrontal cortex</a:t>
            </a:r>
            <a:r>
              <a:rPr sz="1450" b="0" i="0">
                <a:solidFill>
                  <a:srgbClr val="000000"/>
                </a:solidFill>
                <a:latin typeface="Arial"/>
              </a:rPr>
              <a:t>, while dorsal anterior cingulate cortex served as an anatomical control. The original source distinguishes the two locations within the same medial cortical section.</a:t>
            </a:r>
          </a:p>
          <a:p>
            <a:pPr algn="l">
              <a:lnSpc>
                <a:spcPct val="108000"/>
              </a:lnSpc>
              <a:spcAft>
                <a:spcPts val="900"/>
              </a:spcAft>
            </a:pPr>
            <a:r>
              <a:rPr sz="1450" b="0" i="0">
                <a:solidFill>
                  <a:srgbClr val="000000"/>
                </a:solidFill>
                <a:latin typeface="Arial"/>
              </a:rPr>
              <a:t>A 0.001-µg/0.5-µl ZD7288 infusion reversed impairment caused by local D1 stimulation or the </a:t>
            </a:r>
            <a:r>
              <a:rPr sz="1450" b="1" i="0">
                <a:solidFill>
                  <a:srgbClr val="594044"/>
                </a:solidFill>
                <a:latin typeface="Arial"/>
              </a:rPr>
              <a:t>pharmacological stressor</a:t>
            </a:r>
            <a:r>
              <a:rPr sz="1450" b="0" i="0">
                <a:solidFill>
                  <a:srgbClr val="000000"/>
                </a:solidFill>
                <a:latin typeface="Arial"/>
              </a:rPr>
              <a:t> FG7142. FG7142 is a partial inverse agonist at the benzodiazepine site associated with GABA-A receptors. Infusing the blocker into the control region did not protect performance.</a:t>
            </a:r>
          </a:p>
          <a:p>
            <a:pPr algn="l">
              <a:lnSpc>
                <a:spcPct val="108000"/>
              </a:lnSpc>
              <a:spcAft>
                <a:spcPts val="900"/>
              </a:spcAft>
            </a:pPr>
            <a:r>
              <a:rPr sz="1450" b="0" i="0">
                <a:solidFill>
                  <a:srgbClr val="000000"/>
                </a:solidFill>
                <a:latin typeface="Arial"/>
              </a:rPr>
              <a:t>Channel-blocker-alone and response-time controls constrained nonspecific facilitation and motor impairment. The results support a prefrontal channel contribution under this experimental stress manipulation. They do not equate drug-induced stress with every natural stressor or establish HCN blockade as a validated human ADHD treatment.</a:t>
            </a:r>
          </a:p>
        </p:txBody>
      </p:sp>
      <p:pic>
        <p:nvPicPr>
          <p:cNvPr id="4" name="Picture 3" descr="rat_pfc.png"/>
          <p:cNvPicPr>
            <a:picLocks noChangeAspect="1"/>
          </p:cNvPicPr>
          <p:nvPr/>
        </p:nvPicPr>
        <p:blipFill>
          <a:blip r:embed="rId2"/>
          <a:stretch>
            <a:fillRect/>
          </a:stretch>
        </p:blipFill>
        <p:spPr>
          <a:xfrm>
            <a:off x="6138367" y="1280160"/>
            <a:ext cx="2743200" cy="3893343"/>
          </a:xfrm>
          <a:prstGeom prst="rect">
            <a:avLst/>
          </a:prstGeom>
        </p:spPr>
      </p:pic>
      <p:sp>
        <p:nvSpPr>
          <p:cNvPr id="5" name="Figure caption"/>
          <p:cNvSpPr txBox="1"/>
          <p:nvPr/>
        </p:nvSpPr>
        <p:spPr>
          <a:xfrm>
            <a:off x="6138367" y="5264943"/>
            <a:ext cx="27432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(2015), Fig. 2. Rat prelimbic and dorsal anterior cingulate infusion locations.</a:t>
            </a:r>
          </a:p>
        </p:txBody>
      </p:sp>
      <p:pic>
        <p:nvPicPr>
          <p:cNvPr id="6" name="Picture 5" descr="rat_stress.png"/>
          <p:cNvPicPr>
            <a:picLocks noChangeAspect="1"/>
          </p:cNvPicPr>
          <p:nvPr/>
        </p:nvPicPr>
        <p:blipFill>
          <a:blip r:embed="rId3"/>
          <a:stretch>
            <a:fillRect/>
          </a:stretch>
        </p:blipFill>
        <p:spPr>
          <a:xfrm>
            <a:off x="9475422" y="2148840"/>
            <a:ext cx="1738370" cy="3383279"/>
          </a:xfrm>
          <a:prstGeom prst="rect">
            <a:avLst/>
          </a:prstGeom>
        </p:spPr>
      </p:pic>
      <p:sp>
        <p:nvSpPr>
          <p:cNvPr id="7" name="Figure caption"/>
          <p:cNvSpPr txBox="1"/>
          <p:nvPr/>
        </p:nvSpPr>
        <p:spPr>
          <a:xfrm>
            <a:off x="9064447" y="5605272"/>
            <a:ext cx="25603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Gamo et al. (2015), Fig. 8(A–C). Receptor, stressor and anatomical-control effects on working-memory performance.</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Gamo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SHR persist in drinking despite an aversive consequence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Kim and colleagues used an </a:t>
            </a:r>
            <a:r>
              <a:rPr sz="1450" b="1" i="0">
                <a:solidFill>
                  <a:srgbClr val="594044"/>
                </a:solidFill>
                <a:latin typeface="Arial"/>
              </a:rPr>
              <a:t>electro-foot-shock aversive drinking task</a:t>
            </a:r>
            <a:r>
              <a:rPr sz="1450" b="0" i="0">
                <a:solidFill>
                  <a:srgbClr val="000000"/>
                </a:solidFill>
                <a:latin typeface="Arial"/>
              </a:rPr>
              <a:t> to examine action restraint in SHR and WKY rats. After two training days without punishment, animals could obtain water in a designated compartment. During testing, at least 5 s of drinking triggered a 0.5-s foot shock.</a:t>
            </a:r>
          </a:p>
          <a:p>
            <a:pPr algn="l">
              <a:lnSpc>
                <a:spcPct val="108000"/>
              </a:lnSpc>
              <a:spcAft>
                <a:spcPts val="900"/>
              </a:spcAft>
            </a:pPr>
            <a:r>
              <a:rPr sz="1450" b="0" i="0">
                <a:solidFill>
                  <a:srgbClr val="000000"/>
                </a:solidFill>
                <a:latin typeface="Arial"/>
              </a:rPr>
              <a:t>SHR entered the water area more often and completed punished drinking more frequently than WKY controls. Methylphenidate at 2 or 5 mg/kg reduced punished drinking but did not reduce water-area entry frequency. The same medication therefore affected two operational outcomes differently within this preparation.</a:t>
            </a:r>
          </a:p>
          <a:p>
            <a:pPr algn="l">
              <a:lnSpc>
                <a:spcPct val="108000"/>
              </a:lnSpc>
              <a:spcAft>
                <a:spcPts val="900"/>
              </a:spcAft>
            </a:pPr>
            <a:r>
              <a:rPr sz="1450" b="0" i="0">
                <a:solidFill>
                  <a:srgbClr val="000000"/>
                </a:solidFill>
                <a:latin typeface="Arial"/>
              </a:rPr>
              <a:t>Persistence in a punished action is consistent with impaired restraint, but entry into the area is not equivalent to completing that action. The test does not isolate delay-dependent choice or sustained visual attention. Its interpretation depends on excluding differences in thirst, punishment sensitivity and familiarity with the apparatus.</a:t>
            </a:r>
          </a:p>
        </p:txBody>
      </p:sp>
      <p:pic>
        <p:nvPicPr>
          <p:cNvPr id="4" name="Picture 3" descr="shr_task.png"/>
          <p:cNvPicPr>
            <a:picLocks noChangeAspect="1"/>
          </p:cNvPicPr>
          <p:nvPr/>
        </p:nvPicPr>
        <p:blipFill>
          <a:blip r:embed="rId2"/>
          <a:stretch>
            <a:fillRect/>
          </a:stretch>
        </p:blipFill>
        <p:spPr>
          <a:xfrm>
            <a:off x="6138367" y="1280160"/>
            <a:ext cx="2103120" cy="1366862"/>
          </a:xfrm>
          <a:prstGeom prst="rect">
            <a:avLst/>
          </a:prstGeom>
        </p:spPr>
      </p:pic>
      <p:sp>
        <p:nvSpPr>
          <p:cNvPr id="5" name="Figure caption"/>
          <p:cNvSpPr txBox="1"/>
          <p:nvPr/>
        </p:nvSpPr>
        <p:spPr>
          <a:xfrm>
            <a:off x="6138367" y="2738462"/>
            <a:ext cx="21031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Kim et al. (2012), Fig. 1. Published aversive-drinking apparatus.</a:t>
            </a:r>
          </a:p>
        </p:txBody>
      </p:sp>
      <p:pic>
        <p:nvPicPr>
          <p:cNvPr id="6" name="Picture 5" descr="shr_drinking.png"/>
          <p:cNvPicPr>
            <a:picLocks noChangeAspect="1"/>
          </p:cNvPicPr>
          <p:nvPr/>
        </p:nvPicPr>
        <p:blipFill>
          <a:blip r:embed="rId3"/>
          <a:stretch>
            <a:fillRect/>
          </a:stretch>
        </p:blipFill>
        <p:spPr>
          <a:xfrm>
            <a:off x="8424367" y="2148840"/>
            <a:ext cx="3200400" cy="2977172"/>
          </a:xfrm>
          <a:prstGeom prst="rect">
            <a:avLst/>
          </a:prstGeom>
        </p:spPr>
      </p:pic>
      <p:sp>
        <p:nvSpPr>
          <p:cNvPr id="7" name="Figure caption"/>
          <p:cNvSpPr txBox="1"/>
          <p:nvPr/>
        </p:nvSpPr>
        <p:spPr>
          <a:xfrm>
            <a:off x="8424367" y="5199164"/>
            <a:ext cx="3200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Kim et al. (2012), Fig. 4(A–C). Area entries and punished drinking with methylphenidate treatment.</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Kim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Behavioral controls constrain the SHR interpretation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594044"/>
                </a:solidFill>
                <a:latin typeface="Arial"/>
              </a:rPr>
              <a:t>confound</a:t>
            </a:r>
            <a:r>
              <a:rPr sz="1400" b="0" i="0">
                <a:solidFill>
                  <a:srgbClr val="000000"/>
                </a:solidFill>
                <a:latin typeface="Arial"/>
              </a:rPr>
              <a:t> is an alternative factor that could account for a measured difference. Kim and colleagues assessed locomotion, water consumption, shock-related freezing, elevated-plus-maze behavior and water-area recognition. These controls tested alternatives to an action-restraint explanation of the punished-drinking result.</a:t>
            </a:r>
          </a:p>
          <a:p>
            <a:pPr algn="l">
              <a:lnSpc>
                <a:spcPct val="108000"/>
              </a:lnSpc>
              <a:spcAft>
                <a:spcPts val="840"/>
              </a:spcAft>
            </a:pPr>
            <a:r>
              <a:rPr sz="1400" b="0" i="0">
                <a:solidFill>
                  <a:srgbClr val="000000"/>
                </a:solidFill>
                <a:latin typeface="Arial"/>
              </a:rPr>
              <a:t>SHR traveled farther in a 20-min open-field test. However, the strains did not differ in locomotion during apparatus training, measured water consumption, shock-related freezing or the tested anxiety-related measures. Both located the water region during training, limiting a simple failure to learn the apparatus as an explanation.</a:t>
            </a:r>
          </a:p>
          <a:p>
            <a:pPr algn="l">
              <a:lnSpc>
                <a:spcPct val="108000"/>
              </a:lnSpc>
              <a:spcAft>
                <a:spcPts val="840"/>
              </a:spcAft>
            </a:pPr>
            <a:r>
              <a:rPr sz="1400" b="0" i="0">
                <a:solidFill>
                  <a:srgbClr val="000000"/>
                </a:solidFill>
                <a:latin typeface="Arial"/>
              </a:rPr>
              <a:t>The controls support the authors’ interpretation without proving that every motivational or sensory variable is identical. Open-field hyperactivity and punished drinking remain distinct phenotypes. A negative result in one control assay constrains that measured factor under those conditions rather than excluding all effects of stress, learning or pain.</a:t>
            </a:r>
          </a:p>
        </p:txBody>
      </p:sp>
      <p:pic>
        <p:nvPicPr>
          <p:cNvPr id="4" name="Picture 3" descr="shr_controls.png"/>
          <p:cNvPicPr>
            <a:picLocks noChangeAspect="1"/>
          </p:cNvPicPr>
          <p:nvPr/>
        </p:nvPicPr>
        <p:blipFill>
          <a:blip r:embed="rId2"/>
          <a:stretch>
            <a:fillRect/>
          </a:stretch>
        </p:blipFill>
        <p:spPr>
          <a:xfrm>
            <a:off x="6138367" y="1280160"/>
            <a:ext cx="3291840" cy="3780258"/>
          </a:xfrm>
          <a:prstGeom prst="rect">
            <a:avLst/>
          </a:prstGeom>
        </p:spPr>
      </p:pic>
      <p:sp>
        <p:nvSpPr>
          <p:cNvPr id="5" name="Figure caption"/>
          <p:cNvSpPr txBox="1"/>
          <p:nvPr/>
        </p:nvSpPr>
        <p:spPr>
          <a:xfrm>
            <a:off x="6138367" y="5151858"/>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Kim et al. (2012), Fig. 3(A–F). Locomotion, drinking, shock sensitivity, anxiety-related behavior and location controls.</a:t>
            </a:r>
          </a:p>
        </p:txBody>
      </p:sp>
      <p:pic>
        <p:nvPicPr>
          <p:cNvPr id="6" name="Picture 5" descr="shr_animals.png"/>
          <p:cNvPicPr>
            <a:picLocks noChangeAspect="1"/>
          </p:cNvPicPr>
          <p:nvPr/>
        </p:nvPicPr>
        <p:blipFill>
          <a:blip r:embed="rId3"/>
          <a:stretch>
            <a:fillRect/>
          </a:stretch>
        </p:blipFill>
        <p:spPr>
          <a:xfrm>
            <a:off x="9613087" y="2148840"/>
            <a:ext cx="2011679" cy="2973923"/>
          </a:xfrm>
          <a:prstGeom prst="rect">
            <a:avLst/>
          </a:prstGeom>
        </p:spPr>
      </p:pic>
      <p:sp>
        <p:nvSpPr>
          <p:cNvPr id="7" name="Figure caption"/>
          <p:cNvSpPr txBox="1"/>
          <p:nvPr/>
        </p:nvSpPr>
        <p:spPr>
          <a:xfrm>
            <a:off x="9613087" y="5195915"/>
            <a:ext cx="201167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Kim et al. (2012), Fig. 4(C). Recorded Wistar-Kyoto and spontaneously hypertensive rats in the drinking apparatus.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Kim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DAT deletion greatly prolongs extracellular dopamine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A </a:t>
            </a:r>
            <a:r>
              <a:rPr sz="1450" b="1" i="0">
                <a:solidFill>
                  <a:srgbClr val="594044"/>
                </a:solidFill>
                <a:latin typeface="Arial"/>
              </a:rPr>
              <a:t>knockout</a:t>
            </a:r>
            <a:r>
              <a:rPr sz="1450" b="0" i="0">
                <a:solidFill>
                  <a:srgbClr val="000000"/>
                </a:solidFill>
                <a:latin typeface="Arial"/>
              </a:rPr>
              <a:t> removes functional expression of a gene. Leo and colleagues deleted functional DAT in rats and measured dopamine after electrical stimulation of striatal slices. </a:t>
            </a:r>
            <a:r>
              <a:rPr sz="1450" b="1" i="0">
                <a:solidFill>
                  <a:srgbClr val="594044"/>
                </a:solidFill>
                <a:latin typeface="Arial"/>
              </a:rPr>
              <a:t>Fast-scan cyclic voltammetry</a:t>
            </a:r>
            <a:r>
              <a:rPr sz="1450" b="0" i="0">
                <a:solidFill>
                  <a:srgbClr val="000000"/>
                </a:solidFill>
                <a:latin typeface="Arial"/>
              </a:rPr>
              <a:t> detects rapid electrochemical changes and uses the oxidation–reduction signature to identify dopamine-related signals.</a:t>
            </a:r>
          </a:p>
          <a:p>
            <a:pPr algn="l">
              <a:lnSpc>
                <a:spcPct val="108000"/>
              </a:lnSpc>
              <a:spcAft>
                <a:spcPts val="900"/>
              </a:spcAft>
            </a:pPr>
            <a:r>
              <a:rPr sz="1450" b="0" i="0">
                <a:solidFill>
                  <a:srgbClr val="000000"/>
                </a:solidFill>
                <a:latin typeface="Arial"/>
              </a:rPr>
              <a:t>Following a 1-ms stimulus, average clearance took approximately 1.3 s in wild-type slices, 10 s in heterozygotes and 50 s in knockout tissue. A </a:t>
            </a:r>
            <a:r>
              <a:rPr sz="1450" b="1" i="0">
                <a:solidFill>
                  <a:srgbClr val="594044"/>
                </a:solidFill>
                <a:latin typeface="Arial"/>
              </a:rPr>
              <a:t>heterozygote</a:t>
            </a:r>
            <a:r>
              <a:rPr sz="1450" b="0" i="0">
                <a:solidFill>
                  <a:srgbClr val="000000"/>
                </a:solidFill>
                <a:latin typeface="Arial"/>
              </a:rPr>
              <a:t> carries one disrupted and one functional gene copy. The prolonged signal links transporter loss to the persistence of extracellular transmitter.</a:t>
            </a:r>
          </a:p>
          <a:p>
            <a:pPr algn="l">
              <a:lnSpc>
                <a:spcPct val="108000"/>
              </a:lnSpc>
              <a:spcAft>
                <a:spcPts val="900"/>
              </a:spcAft>
            </a:pPr>
            <a:r>
              <a:rPr sz="1450" b="0" i="0">
                <a:solidFill>
                  <a:srgbClr val="000000"/>
                </a:solidFill>
                <a:latin typeface="Arial"/>
              </a:rPr>
              <a:t>Transporter deletion changes clearance rather than proving increased release per spike. Comparative rat sections provide forebrain context; they are not recordings from the slice experiment. Lifelong gene deletion can also alter synthesis, receptors and other compensatory processes, so the phenotype cannot be reduced to one acutely blocked transporter.</a:t>
            </a:r>
          </a:p>
        </p:txBody>
      </p:sp>
      <p:pic>
        <p:nvPicPr>
          <p:cNvPr id="4" name="Picture 3" descr="dat_clearance.png"/>
          <p:cNvPicPr>
            <a:picLocks noChangeAspect="1"/>
          </p:cNvPicPr>
          <p:nvPr/>
        </p:nvPicPr>
        <p:blipFill>
          <a:blip r:embed="rId2"/>
          <a:stretch>
            <a:fillRect/>
          </a:stretch>
        </p:blipFill>
        <p:spPr>
          <a:xfrm>
            <a:off x="6223287" y="1280160"/>
            <a:ext cx="5316560" cy="1920240"/>
          </a:xfrm>
          <a:prstGeom prst="rect">
            <a:avLst/>
          </a:prstGeom>
        </p:spPr>
      </p:pic>
      <p:sp>
        <p:nvSpPr>
          <p:cNvPr id="5" name="Figure caption"/>
          <p:cNvSpPr txBox="1"/>
          <p:nvPr/>
        </p:nvSpPr>
        <p:spPr>
          <a:xfrm>
            <a:off x="6138367" y="32918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Leo et al. (2018), Fig. 2(A,B). Original voltammetry plots and dopamine-clearance times after transporter deletion.</a:t>
            </a:r>
          </a:p>
        </p:txBody>
      </p:sp>
      <p:pic>
        <p:nvPicPr>
          <p:cNvPr id="6" name="Picture 5" descr="phasic_anatomy.png"/>
          <p:cNvPicPr>
            <a:picLocks noChangeAspect="1"/>
          </p:cNvPicPr>
          <p:nvPr/>
        </p:nvPicPr>
        <p:blipFill>
          <a:blip r:embed="rId3"/>
          <a:stretch>
            <a:fillRect/>
          </a:stretch>
        </p:blipFill>
        <p:spPr>
          <a:xfrm>
            <a:off x="7346112" y="3749040"/>
            <a:ext cx="3070908" cy="20116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Sable et al. (2025), Fig. 1(A–C). Rat cortical, accumbens and medial-forebrain-bundle recording and stimulation regions.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Leo et al. (2018); Sable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Hyperactivity and cognitive deficits can coexist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Leo and colleagues measured locomotion and cognition in DAT-knockout rats rather than treating one assay as the complete phenotype. Movement was elevated in both home-cage recordings and novel test chambers. Twenty-four-hour recordings also distinguished light- and dark-period activity.</a:t>
            </a:r>
          </a:p>
          <a:p>
            <a:pPr algn="l">
              <a:lnSpc>
                <a:spcPct val="108000"/>
              </a:lnSpc>
              <a:spcAft>
                <a:spcPts val="900"/>
              </a:spcAft>
            </a:pPr>
            <a:r>
              <a:rPr sz="1450" b="0" i="0">
                <a:solidFill>
                  <a:srgbClr val="000000"/>
                </a:solidFill>
                <a:latin typeface="Arial"/>
              </a:rPr>
              <a:t>Knockout animals displayed lower spontaneous alternation and impaired </a:t>
            </a:r>
            <a:r>
              <a:rPr sz="1450" b="1" i="0">
                <a:solidFill>
                  <a:srgbClr val="594044"/>
                </a:solidFill>
                <a:latin typeface="Arial"/>
              </a:rPr>
              <a:t>prepulse inhibition</a:t>
            </a:r>
            <a:r>
              <a:rPr sz="1450" b="0" i="0">
                <a:solidFill>
                  <a:srgbClr val="000000"/>
                </a:solidFill>
                <a:latin typeface="Arial"/>
              </a:rPr>
              <a:t>, reduced suppression of a startle response when a weaker sound precedes the startling stimulus. Methylphenidate at 1.5–5 mg/kg reduced knockout hyperlocomotion, whereas it increased locomotion in transporter-intact animals.</a:t>
            </a:r>
          </a:p>
          <a:p>
            <a:pPr algn="l">
              <a:lnSpc>
                <a:spcPct val="108000"/>
              </a:lnSpc>
              <a:spcAft>
                <a:spcPts val="900"/>
              </a:spcAft>
            </a:pPr>
            <a:r>
              <a:rPr sz="1450" b="0" i="0">
                <a:solidFill>
                  <a:srgbClr val="000000"/>
                </a:solidFill>
                <a:latin typeface="Arial"/>
              </a:rPr>
              <a:t>A medication-related reduction in movement is not itself proof of restored attention or a diagnosis of ADHD. The same genetic manipulation changes transmitter clearance, behavior and developmental physiology. Spontaneous alternation and sensorimotor gating identify additional impairments, but neither directly establishes a premature-response deficit in the two-choice attention task.</a:t>
            </a:r>
          </a:p>
        </p:txBody>
      </p:sp>
      <p:pic>
        <p:nvPicPr>
          <p:cNvPr id="4" name="Picture 3" descr="dat_activity.png"/>
          <p:cNvPicPr>
            <a:picLocks noChangeAspect="1"/>
          </p:cNvPicPr>
          <p:nvPr/>
        </p:nvPicPr>
        <p:blipFill>
          <a:blip r:embed="rId2"/>
          <a:stretch>
            <a:fillRect/>
          </a:stretch>
        </p:blipFill>
        <p:spPr>
          <a:xfrm>
            <a:off x="6160512" y="1280160"/>
            <a:ext cx="3156108" cy="4297679"/>
          </a:xfrm>
          <a:prstGeom prst="rect">
            <a:avLst/>
          </a:prstGeom>
        </p:spPr>
      </p:pic>
      <p:sp>
        <p:nvSpPr>
          <p:cNvPr id="5" name="Figure caption"/>
          <p:cNvSpPr txBox="1"/>
          <p:nvPr/>
        </p:nvSpPr>
        <p:spPr>
          <a:xfrm>
            <a:off x="6138367" y="5669279"/>
            <a:ext cx="3200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Leo et al. (2018), Fig. 4(A–E). Home-cage and age-dependent locomotor activity after transporter deletion.</a:t>
            </a:r>
          </a:p>
        </p:txBody>
      </p:sp>
      <p:pic>
        <p:nvPicPr>
          <p:cNvPr id="6" name="Picture 5" descr="dat_cognition.png"/>
          <p:cNvPicPr>
            <a:picLocks noChangeAspect="1"/>
          </p:cNvPicPr>
          <p:nvPr/>
        </p:nvPicPr>
        <p:blipFill>
          <a:blip r:embed="rId3"/>
          <a:stretch>
            <a:fillRect/>
          </a:stretch>
        </p:blipFill>
        <p:spPr>
          <a:xfrm>
            <a:off x="9521647" y="2148840"/>
            <a:ext cx="2103120" cy="705598"/>
          </a:xfrm>
          <a:prstGeom prst="rect">
            <a:avLst/>
          </a:prstGeom>
        </p:spPr>
      </p:pic>
      <p:sp>
        <p:nvSpPr>
          <p:cNvPr id="7" name="Figure caption"/>
          <p:cNvSpPr txBox="1"/>
          <p:nvPr/>
        </p:nvSpPr>
        <p:spPr>
          <a:xfrm>
            <a:off x="9521647" y="2927590"/>
            <a:ext cx="21031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Leo et al. (2018), Fig. 5(A–D). Spontaneous alternation, consumption and sensorimotor-gating tests.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Leo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Lphn3 loss changes prefrontal dopamine decay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594044"/>
                </a:solidFill>
                <a:latin typeface="Arial"/>
              </a:rPr>
              <a:t>Latrophilin-3</a:t>
            </a:r>
            <a:r>
              <a:rPr sz="1400" b="0" i="0">
                <a:solidFill>
                  <a:srgbClr val="000000"/>
                </a:solidFill>
                <a:latin typeface="Arial"/>
              </a:rPr>
              <a:t>, encoded by </a:t>
            </a:r>
            <a:r>
              <a:rPr sz="1400" b="0" i="1">
                <a:solidFill>
                  <a:srgbClr val="000000"/>
                </a:solidFill>
                <a:latin typeface="Arial"/>
              </a:rPr>
              <a:t>Lphn3</a:t>
            </a:r>
            <a:r>
              <a:rPr sz="1400" b="0" i="0">
                <a:solidFill>
                  <a:srgbClr val="000000"/>
                </a:solidFill>
                <a:latin typeface="Arial"/>
              </a:rPr>
              <a:t>, is an adhesion G-protein-coupled receptor associated with synapse formation. Sable and colleagues compared knockout rats with wild-type littermates using </a:t>
            </a:r>
            <a:r>
              <a:rPr sz="1400" b="1" i="0">
                <a:solidFill>
                  <a:srgbClr val="594044"/>
                </a:solidFill>
                <a:latin typeface="Arial"/>
              </a:rPr>
              <a:t>fixed-potential amperometry</a:t>
            </a:r>
            <a:r>
              <a:rPr sz="1400" b="0" i="0">
                <a:solidFill>
                  <a:srgbClr val="000000"/>
                </a:solidFill>
                <a:latin typeface="Arial"/>
              </a:rPr>
              <a:t>, an electrochemical method that records oxidation current at a constant electrode potential. Rats were anesthetized during these measurements.</a:t>
            </a:r>
          </a:p>
          <a:p>
            <a:pPr algn="l">
              <a:lnSpc>
                <a:spcPct val="108000"/>
              </a:lnSpc>
              <a:spcAft>
                <a:spcPts val="840"/>
              </a:spcAft>
            </a:pPr>
            <a:r>
              <a:rPr sz="1400" b="0" i="0">
                <a:solidFill>
                  <a:srgbClr val="000000"/>
                </a:solidFill>
                <a:latin typeface="Arial"/>
              </a:rPr>
              <a:t>The medial forebrain bundle was stimulated at 50 Hz; prefrontal measurements used 50 pulses of 0.5-ms duration. Medial-prefrontal dopamine peak amplitude did not differ by genotype, but the </a:t>
            </a:r>
            <a:r>
              <a:rPr sz="1400" b="1" i="0">
                <a:solidFill>
                  <a:srgbClr val="594044"/>
                </a:solidFill>
                <a:latin typeface="Arial"/>
              </a:rPr>
              <a:t>half-life</a:t>
            </a:r>
            <a:r>
              <a:rPr sz="1400" b="0" i="0">
                <a:solidFill>
                  <a:srgbClr val="000000"/>
                </a:solidFill>
                <a:latin typeface="Arial"/>
              </a:rPr>
              <a:t>, the time for the evoked increase to fall by half, was longer in knockout rats.</a:t>
            </a:r>
          </a:p>
          <a:p>
            <a:pPr algn="l">
              <a:lnSpc>
                <a:spcPct val="108000"/>
              </a:lnSpc>
              <a:spcAft>
                <a:spcPts val="840"/>
              </a:spcAft>
            </a:pPr>
            <a:r>
              <a:rPr sz="1400" b="0" i="0">
                <a:solidFill>
                  <a:srgbClr val="000000"/>
                </a:solidFill>
                <a:latin typeface="Arial"/>
              </a:rPr>
              <a:t>The result supports slower prefrontal signal decay without a detected difference in the measured release peak. Half-life is a clearance-related readout, not direct proof of a DAT-specific mechanism in low-DAT cortex. NET-mediated uptake and other removal processes complicate a transporter-specific interpretation; ongoing task-related attention was not measured during anesthesia.</a:t>
            </a:r>
          </a:p>
        </p:txBody>
      </p:sp>
      <p:pic>
        <p:nvPicPr>
          <p:cNvPr id="4" name="Picture 3" descr="lphn3.png"/>
          <p:cNvPicPr>
            <a:picLocks noChangeAspect="1"/>
          </p:cNvPicPr>
          <p:nvPr/>
        </p:nvPicPr>
        <p:blipFill>
          <a:blip r:embed="rId2"/>
          <a:stretch>
            <a:fillRect/>
          </a:stretch>
        </p:blipFill>
        <p:spPr>
          <a:xfrm>
            <a:off x="6138367" y="1280160"/>
            <a:ext cx="3291840" cy="2561587"/>
          </a:xfrm>
          <a:prstGeom prst="rect">
            <a:avLst/>
          </a:prstGeom>
        </p:spPr>
      </p:pic>
      <p:sp>
        <p:nvSpPr>
          <p:cNvPr id="5" name="Figure caption"/>
          <p:cNvSpPr txBox="1"/>
          <p:nvPr/>
        </p:nvSpPr>
        <p:spPr>
          <a:xfrm>
            <a:off x="6138367" y="3933187"/>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Sable et al. (2025), Fig. 2(A–C). Medial-prefrontal dopamine release and clearance in Lphn3 knockout and control rats.</a:t>
            </a:r>
          </a:p>
        </p:txBody>
      </p:sp>
      <p:pic>
        <p:nvPicPr>
          <p:cNvPr id="6" name="Picture 5" descr="phasic_anatomy.png"/>
          <p:cNvPicPr>
            <a:picLocks noChangeAspect="1"/>
          </p:cNvPicPr>
          <p:nvPr/>
        </p:nvPicPr>
        <p:blipFill>
          <a:blip r:embed="rId3"/>
          <a:stretch>
            <a:fillRect/>
          </a:stretch>
        </p:blipFill>
        <p:spPr>
          <a:xfrm>
            <a:off x="9613087" y="2148840"/>
            <a:ext cx="2011679" cy="1317804"/>
          </a:xfrm>
          <a:prstGeom prst="rect">
            <a:avLst/>
          </a:prstGeom>
        </p:spPr>
      </p:pic>
      <p:sp>
        <p:nvSpPr>
          <p:cNvPr id="7" name="Figure caption"/>
          <p:cNvSpPr txBox="1"/>
          <p:nvPr/>
        </p:nvSpPr>
        <p:spPr>
          <a:xfrm>
            <a:off x="9613087" y="3539796"/>
            <a:ext cx="201167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Sable et al. (2025), Fig. 1(A–C). Rat cortical, accumbens and medial-forebrain-bundle recording and stimulation regions.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Sable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SHR dopamine differences are region-specific</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Sable and colleagues used the same stimulation-and-amperometry strategy to compare SHR with WKY controls. </a:t>
            </a:r>
            <a:r>
              <a:rPr sz="1450" b="1" i="0">
                <a:solidFill>
                  <a:srgbClr val="594044"/>
                </a:solidFill>
                <a:latin typeface="Arial"/>
              </a:rPr>
              <a:t>Phasic signaling</a:t>
            </a:r>
            <a:r>
              <a:rPr sz="1450" b="0" i="0">
                <a:solidFill>
                  <a:srgbClr val="000000"/>
                </a:solidFill>
                <a:latin typeface="Arial"/>
              </a:rPr>
              <a:t> is a transient change associated with brief neuronal activity, distinct from a sustained background concentration. Recordings sampled medial prefrontal cortex and nucleus accumbens core separately.</a:t>
            </a:r>
          </a:p>
          <a:p>
            <a:pPr algn="l">
              <a:lnSpc>
                <a:spcPct val="108000"/>
              </a:lnSpc>
              <a:spcAft>
                <a:spcPts val="900"/>
              </a:spcAft>
            </a:pPr>
            <a:r>
              <a:rPr sz="1450" b="0" i="0">
                <a:solidFill>
                  <a:srgbClr val="000000"/>
                </a:solidFill>
                <a:latin typeface="Arial"/>
              </a:rPr>
              <a:t>SHR had lower stimulation-evoked dopamine release in accumbens core, but no detected strain difference in prefrontal peak amplitude or half-life. Accumbens half-life also did not differ. Accumbens stimulation used 20 pulses at 50 Hz, whereas prefrontal stimulation used 50 pulses at the same frequency.</a:t>
            </a:r>
          </a:p>
          <a:p>
            <a:pPr algn="l">
              <a:lnSpc>
                <a:spcPct val="108000"/>
              </a:lnSpc>
              <a:spcAft>
                <a:spcPts val="900"/>
              </a:spcAft>
            </a:pPr>
            <a:r>
              <a:rPr sz="1450" b="0" i="0">
                <a:solidFill>
                  <a:srgbClr val="000000"/>
                </a:solidFill>
                <a:latin typeface="Arial"/>
              </a:rPr>
              <a:t>The result argues against a uniform dopamine deficit across the sampled regions. A regional release ratio is not a direct measurement of communication or electrical coherence between the regions. Different stimulation protocols and anatomical sampling must be retained when comparing the absolute sizes of cortical and accumbens signals.</a:t>
            </a:r>
          </a:p>
        </p:txBody>
      </p:sp>
      <p:pic>
        <p:nvPicPr>
          <p:cNvPr id="4" name="Picture 3" descr="shr_release.png"/>
          <p:cNvPicPr>
            <a:picLocks noChangeAspect="1"/>
          </p:cNvPicPr>
          <p:nvPr/>
        </p:nvPicPr>
        <p:blipFill>
          <a:blip r:embed="rId2"/>
          <a:stretch>
            <a:fillRect/>
          </a:stretch>
        </p:blipFill>
        <p:spPr>
          <a:xfrm>
            <a:off x="6138367" y="1280160"/>
            <a:ext cx="3383280" cy="2608830"/>
          </a:xfrm>
          <a:prstGeom prst="rect">
            <a:avLst/>
          </a:prstGeom>
        </p:spPr>
      </p:pic>
      <p:sp>
        <p:nvSpPr>
          <p:cNvPr id="5" name="Figure caption"/>
          <p:cNvSpPr txBox="1"/>
          <p:nvPr/>
        </p:nvSpPr>
        <p:spPr>
          <a:xfrm>
            <a:off x="6138367" y="3980430"/>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Sable et al. (2025), Fig. 8(A–C). Accumbens dopamine release and decay in SHR and control rats.</a:t>
            </a:r>
          </a:p>
        </p:txBody>
      </p:sp>
      <p:pic>
        <p:nvPicPr>
          <p:cNvPr id="6" name="Picture 5" descr="phasic_anatomy.png"/>
          <p:cNvPicPr>
            <a:picLocks noChangeAspect="1"/>
          </p:cNvPicPr>
          <p:nvPr/>
        </p:nvPicPr>
        <p:blipFill>
          <a:blip r:embed="rId3"/>
          <a:stretch>
            <a:fillRect/>
          </a:stretch>
        </p:blipFill>
        <p:spPr>
          <a:xfrm>
            <a:off x="9704527" y="2148840"/>
            <a:ext cx="1920239" cy="1257904"/>
          </a:xfrm>
          <a:prstGeom prst="rect">
            <a:avLst/>
          </a:prstGeom>
        </p:spPr>
      </p:pic>
      <p:sp>
        <p:nvSpPr>
          <p:cNvPr id="7" name="Figure caption"/>
          <p:cNvSpPr txBox="1"/>
          <p:nvPr/>
        </p:nvSpPr>
        <p:spPr>
          <a:xfrm>
            <a:off x="9704527" y="3479896"/>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Sable et al. (2025), Fig. 1(A–C). Rat cortical, accumbens and medial-forebrain-bundle recording and stimulation regions.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Sable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Rat models respond differently to uptake inhibition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Sable and colleagues administered </a:t>
            </a:r>
            <a:r>
              <a:rPr sz="1400" b="1" i="0">
                <a:solidFill>
                  <a:srgbClr val="594044"/>
                </a:solidFill>
                <a:latin typeface="Arial"/>
              </a:rPr>
              <a:t>nomifensine</a:t>
            </a:r>
            <a:r>
              <a:rPr sz="1400" b="0" i="0">
                <a:solidFill>
                  <a:srgbClr val="000000"/>
                </a:solidFill>
                <a:latin typeface="Arial"/>
              </a:rPr>
              <a:t>, a catecholamine uptake inhibitor used here to test dopamine-clearance-related responses. A 10-mg/kg intraperitoneal dose was followed by accumbens-core measurements, with the 20-min response compared against each animal’s predrug baseline. </a:t>
            </a:r>
            <a:r>
              <a:rPr sz="1400" b="1" i="0">
                <a:solidFill>
                  <a:srgbClr val="594044"/>
                </a:solidFill>
                <a:latin typeface="Arial"/>
              </a:rPr>
              <a:t>Intraperitoneal</a:t>
            </a:r>
            <a:r>
              <a:rPr sz="1400" b="0" i="0">
                <a:solidFill>
                  <a:srgbClr val="000000"/>
                </a:solidFill>
                <a:latin typeface="Arial"/>
              </a:rPr>
              <a:t> administration delivers a substance into the abdominal cavity.</a:t>
            </a:r>
          </a:p>
          <a:p>
            <a:pPr algn="l">
              <a:lnSpc>
                <a:spcPct val="108000"/>
              </a:lnSpc>
              <a:spcAft>
                <a:spcPts val="840"/>
              </a:spcAft>
            </a:pPr>
            <a:r>
              <a:rPr sz="1400" b="0" i="0">
                <a:solidFill>
                  <a:srgbClr val="000000"/>
                </a:solidFill>
                <a:latin typeface="Arial"/>
              </a:rPr>
              <a:t>Nomifensine increased the evoked dopamine peak proportionally more in Lphn3-knockout than wild-type rats. The corresponding percent change did not differ between SHR and WKY controls. The drug-related half-life change did not differ by genotype or strain, and the measured autoreceptor responses also lacked a group difference.</a:t>
            </a:r>
          </a:p>
          <a:p>
            <a:pPr algn="l">
              <a:lnSpc>
                <a:spcPct val="108000"/>
              </a:lnSpc>
              <a:spcAft>
                <a:spcPts val="840"/>
              </a:spcAft>
            </a:pPr>
            <a:r>
              <a:rPr sz="1400" b="0" i="0">
                <a:solidFill>
                  <a:srgbClr val="000000"/>
                </a:solidFill>
                <a:latin typeface="Arial"/>
              </a:rPr>
              <a:t>An </a:t>
            </a:r>
            <a:r>
              <a:rPr sz="1400" b="1" i="0">
                <a:solidFill>
                  <a:srgbClr val="594044"/>
                </a:solidFill>
                <a:latin typeface="Arial"/>
              </a:rPr>
              <a:t>autoreceptor</a:t>
            </a:r>
            <a:r>
              <a:rPr sz="1400" b="0" i="0">
                <a:solidFill>
                  <a:srgbClr val="000000"/>
                </a:solidFill>
                <a:latin typeface="Arial"/>
              </a:rPr>
              <a:t> detects a neuron’s own transmitter and can regulate subsequent release. These results distinguish model-specific responses to the same intervention, rather than identifying one universal ADHD dopamine mechanism. Percent-of-baseline amplification does not establish identical absolute concentrations, clinical treatment efficacy or attention improvement.</a:t>
            </a:r>
          </a:p>
        </p:txBody>
      </p:sp>
      <p:pic>
        <p:nvPicPr>
          <p:cNvPr id="4" name="Picture 3" descr="lphn3_drug.png"/>
          <p:cNvPicPr>
            <a:picLocks noChangeAspect="1"/>
          </p:cNvPicPr>
          <p:nvPr/>
        </p:nvPicPr>
        <p:blipFill>
          <a:blip r:embed="rId2"/>
          <a:stretch>
            <a:fillRect/>
          </a:stretch>
        </p:blipFill>
        <p:spPr>
          <a:xfrm>
            <a:off x="7739774" y="1280160"/>
            <a:ext cx="2283584"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Sable et al. (2025), Fig. 6(A–D). Accumbens dopamine response to nomifensine in Lphn3 knockout rats.</a:t>
            </a:r>
          </a:p>
        </p:txBody>
      </p:sp>
      <p:pic>
        <p:nvPicPr>
          <p:cNvPr id="6" name="Picture 5" descr="shr_drug.png"/>
          <p:cNvPicPr>
            <a:picLocks noChangeAspect="1"/>
          </p:cNvPicPr>
          <p:nvPr/>
        </p:nvPicPr>
        <p:blipFill>
          <a:blip r:embed="rId3"/>
          <a:stretch>
            <a:fillRect/>
          </a:stretch>
        </p:blipFill>
        <p:spPr>
          <a:xfrm>
            <a:off x="8106068" y="4572000"/>
            <a:ext cx="1550996"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Sable et al. (2025), Fig. 11(A–C). Accumbens dopamine response to nomifensine in SHR rats.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Sable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Sleep loss selectively weakens competition performance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Kirszenblat and colleagues sleep-deprived flies for 24 h using repeated mechanical stimulation. Sleep was operationally scored as at least 5 min of immobility. Deprived animals exhibited subsequent </a:t>
            </a:r>
            <a:r>
              <a:rPr sz="1450" b="1" i="0">
                <a:solidFill>
                  <a:srgbClr val="594044"/>
                </a:solidFill>
                <a:latin typeface="Arial"/>
              </a:rPr>
              <a:t>sleep rebound</a:t>
            </a:r>
            <a:r>
              <a:rPr sz="1450" b="0" i="0">
                <a:solidFill>
                  <a:srgbClr val="000000"/>
                </a:solidFill>
                <a:latin typeface="Arial"/>
              </a:rPr>
              <a:t>, increased sleep following its loss, and were tested on target fixation competing with visual motion.</a:t>
            </a:r>
          </a:p>
          <a:p>
            <a:pPr algn="l">
              <a:lnSpc>
                <a:spcPct val="108000"/>
              </a:lnSpc>
              <a:spcAft>
                <a:spcPts val="900"/>
              </a:spcAft>
            </a:pPr>
            <a:r>
              <a:rPr sz="1450" b="0" i="0">
                <a:solidFill>
                  <a:srgbClr val="000000"/>
                </a:solidFill>
                <a:latin typeface="Arial"/>
              </a:rPr>
              <a:t>Sleep loss increased target deviation when the target and distractor were combined, while isolated fixation and optomotor responses were largely preserved. After 24 h of rest, attention-like behavior returned toward control levels. Matched mechanical stimulation with alternating rest periods did not produce the same impairment.</a:t>
            </a:r>
          </a:p>
          <a:p>
            <a:pPr algn="l">
              <a:lnSpc>
                <a:spcPct val="108000"/>
              </a:lnSpc>
              <a:spcAft>
                <a:spcPts val="900"/>
              </a:spcAft>
            </a:pPr>
            <a:r>
              <a:rPr sz="1450" b="0" i="0">
                <a:solidFill>
                  <a:srgbClr val="000000"/>
                </a:solidFill>
                <a:latin typeface="Arial"/>
              </a:rPr>
              <a:t>These controls support state-dependent disruption of selection beyond a general motor or visual failure. They do not identify a specific transmitter pathway or establish that flies have ADHD. The fly preparation tests visual competition and sleep state, whereas the mammalian tasks measure cue-guided choice, restraint or spatial working memory.</a:t>
            </a:r>
          </a:p>
        </p:txBody>
      </p:sp>
      <p:pic>
        <p:nvPicPr>
          <p:cNvPr id="4" name="Picture 3" descr="fly_sleep.png"/>
          <p:cNvPicPr>
            <a:picLocks noChangeAspect="1"/>
          </p:cNvPicPr>
          <p:nvPr/>
        </p:nvPicPr>
        <p:blipFill>
          <a:blip r:embed="rId2"/>
          <a:stretch>
            <a:fillRect/>
          </a:stretch>
        </p:blipFill>
        <p:spPr>
          <a:xfrm>
            <a:off x="7633969" y="1280160"/>
            <a:ext cx="2495195" cy="1965960"/>
          </a:xfrm>
          <a:prstGeom prst="rect">
            <a:avLst/>
          </a:prstGeom>
        </p:spPr>
      </p:pic>
      <p:sp>
        <p:nvSpPr>
          <p:cNvPr id="5" name="Figure caption"/>
          <p:cNvSpPr txBox="1"/>
          <p:nvPr/>
        </p:nvSpPr>
        <p:spPr>
          <a:xfrm>
            <a:off x="6138367" y="33375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Kirszenblat et al. (2018), Fig. 2(A–F). Sleep-deprivation protocol, behavioral competition and recovery.</a:t>
            </a:r>
          </a:p>
        </p:txBody>
      </p:sp>
      <p:pic>
        <p:nvPicPr>
          <p:cNvPr id="6" name="Picture 5" descr="fly_control.png"/>
          <p:cNvPicPr>
            <a:picLocks noChangeAspect="1"/>
          </p:cNvPicPr>
          <p:nvPr/>
        </p:nvPicPr>
        <p:blipFill>
          <a:blip r:embed="rId3"/>
          <a:stretch>
            <a:fillRect/>
          </a:stretch>
        </p:blipFill>
        <p:spPr>
          <a:xfrm>
            <a:off x="7474154" y="3794760"/>
            <a:ext cx="2814825" cy="19659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Kirszenblat et al. (2018), Fig. 6(A,B). Heat and matched mechanical-stimulation controls.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Kirszenblat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Sleep-related rescue depends on fly genotype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000000"/>
                </a:solidFill>
                <a:latin typeface="Arial"/>
              </a:rPr>
              <a:t>Kirszenblat and colleagues compared wild-type flies with </a:t>
            </a:r>
            <a:r>
              <a:rPr sz="1450" b="1" i="0">
                <a:solidFill>
                  <a:srgbClr val="594044"/>
                </a:solidFill>
                <a:latin typeface="Arial"/>
              </a:rPr>
              <a:t>dunce</a:t>
            </a:r>
            <a:r>
              <a:rPr sz="1450" b="0" i="0">
                <a:solidFill>
                  <a:srgbClr val="000000"/>
                </a:solidFill>
                <a:latin typeface="Arial"/>
              </a:rPr>
              <a:t> and </a:t>
            </a:r>
            <a:r>
              <a:rPr sz="1450" b="1" i="0">
                <a:solidFill>
                  <a:srgbClr val="594044"/>
                </a:solidFill>
                <a:latin typeface="Arial"/>
              </a:rPr>
              <a:t>rutabaga</a:t>
            </a:r>
            <a:r>
              <a:rPr sz="1450" b="0" i="0">
                <a:solidFill>
                  <a:srgbClr val="000000"/>
                </a:solidFill>
                <a:latin typeface="Arial"/>
              </a:rPr>
              <a:t>, learning-related mutants with altered cAMP signaling. Dunce affects a cAMP-degrading phosphodiesterase; rutabaga affects a cAMP-producing adenylyl cyclase. Both mutants showed poorer visual selection and altered sleep relative to controls.</a:t>
            </a:r>
          </a:p>
          <a:p>
            <a:pPr algn="l">
              <a:lnSpc>
                <a:spcPct val="108000"/>
              </a:lnSpc>
              <a:spcAft>
                <a:spcPts val="900"/>
              </a:spcAft>
            </a:pPr>
            <a:r>
              <a:rPr sz="1450" b="0" i="0">
                <a:solidFill>
                  <a:srgbClr val="000000"/>
                </a:solidFill>
                <a:latin typeface="Arial"/>
              </a:rPr>
              <a:t>The sleep-promoting GABA-receptor agonist </a:t>
            </a:r>
            <a:r>
              <a:rPr sz="1450" b="1" i="0">
                <a:solidFill>
                  <a:srgbClr val="594044"/>
                </a:solidFill>
                <a:latin typeface="Arial"/>
              </a:rPr>
              <a:t>THIP</a:t>
            </a:r>
            <a:r>
              <a:rPr sz="1450" b="0" i="0">
                <a:solidFill>
                  <a:srgbClr val="000000"/>
                </a:solidFill>
                <a:latin typeface="Arial"/>
              </a:rPr>
              <a:t> was supplied at 0.1 mg/ml in food for 2 days and removed 1 h before testing. It increased sleep in both mutant backgrounds, but improved target selection in dunce rather than rutabaga. Wild-type improvement was not clearly established.</a:t>
            </a:r>
          </a:p>
          <a:p>
            <a:pPr algn="l">
              <a:lnSpc>
                <a:spcPct val="108000"/>
              </a:lnSpc>
              <a:spcAft>
                <a:spcPts val="900"/>
              </a:spcAft>
            </a:pPr>
            <a:r>
              <a:rPr sz="1450" b="0" i="0">
                <a:solidFill>
                  <a:srgbClr val="000000"/>
                </a:solidFill>
                <a:latin typeface="Arial"/>
              </a:rPr>
              <a:t>Genotype-dependent rescue supports separable relationships among sleep, molecular state and selection. It does not establish that the fly mutations reproduce mammalian prefrontal D1–HCN circuitry, or that manipulating cAMP has the same effect across species. A shared molecule does not guarantee an identical circuit, task computation or treatment response.</a:t>
            </a:r>
          </a:p>
        </p:txBody>
      </p:sp>
      <p:pic>
        <p:nvPicPr>
          <p:cNvPr id="4" name="Picture 3" descr="fly_rescue.png"/>
          <p:cNvPicPr>
            <a:picLocks noChangeAspect="1"/>
          </p:cNvPicPr>
          <p:nvPr/>
        </p:nvPicPr>
        <p:blipFill>
          <a:blip r:embed="rId2"/>
          <a:stretch>
            <a:fillRect/>
          </a:stretch>
        </p:blipFill>
        <p:spPr>
          <a:xfrm>
            <a:off x="7105328" y="1280160"/>
            <a:ext cx="3552476"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Kirszenblat et al. (2018), Fig. 7(A–F). Sleep duration and selective-attention rescue across fly genotypes.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Kirszenblat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Key takeaways</a:t>
            </a:r>
          </a:p>
        </p:txBody>
      </p:sp>
      <p:sp>
        <p:nvSpPr>
          <p:cNvPr id="3" name="Rectangle 2"/>
          <p:cNvSpPr/>
          <p:nvPr/>
        </p:nvSpPr>
        <p:spPr>
          <a:xfrm>
            <a:off x="566928" y="1234440"/>
            <a:ext cx="5391759" cy="1478279"/>
          </a:xfrm>
          <a:prstGeom prst="rect">
            <a:avLst/>
          </a:prstGeom>
          <a:solidFill>
            <a:srgbClr val="F7F3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94044"/>
                </a:solidFill>
                <a:latin typeface="Arial"/>
              </a:rPr>
              <a:t>Operational measures:</a:t>
            </a:r>
            <a:r>
              <a:rPr sz="1500" b="0" i="0">
                <a:solidFill>
                  <a:srgbClr val="000000"/>
                </a:solidFill>
                <a:latin typeface="Arial"/>
              </a:rPr>
              <a:t> Accuracy, premature responses, delayed choice, working memory and locomotion measure different functions; an animal task phenotype does not establish a human ADHD diagnosis.</a:t>
            </a:r>
          </a:p>
        </p:txBody>
      </p:sp>
      <p:sp>
        <p:nvSpPr>
          <p:cNvPr id="5" name="Rectangle 4"/>
          <p:cNvSpPr/>
          <p:nvPr/>
        </p:nvSpPr>
        <p:spPr>
          <a:xfrm>
            <a:off x="6233007" y="1234440"/>
            <a:ext cx="5391759" cy="1478279"/>
          </a:xfrm>
          <a:prstGeom prst="rect">
            <a:avLst/>
          </a:prstGeom>
          <a:solidFill>
            <a:srgbClr val="F7F3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94044"/>
                </a:solidFill>
                <a:latin typeface="Arial"/>
              </a:rPr>
              <a:t>Noradrenergic pathways:</a:t>
            </a:r>
            <a:r>
              <a:rPr sz="1500" b="0" i="0">
                <a:solidFill>
                  <a:srgbClr val="000000"/>
                </a:solidFill>
                <a:latin typeface="Arial"/>
              </a:rPr>
              <a:t> In the tested mouse task, LC projections to dorsomedial prefrontal cortex improved distractor resistance, while ventrolateral orbitofrontal targeting reduced premature responses.</a:t>
            </a:r>
          </a:p>
        </p:txBody>
      </p:sp>
      <p:sp>
        <p:nvSpPr>
          <p:cNvPr id="7" name="Rectangle 6"/>
          <p:cNvSpPr/>
          <p:nvPr/>
        </p:nvSpPr>
        <p:spPr>
          <a:xfrm>
            <a:off x="566928" y="2987040"/>
            <a:ext cx="5391759" cy="1478279"/>
          </a:xfrm>
          <a:prstGeom prst="rect">
            <a:avLst/>
          </a:prstGeom>
          <a:solidFill>
            <a:srgbClr val="F7F3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Thalamic selection:</a:t>
            </a:r>
            <a:r>
              <a:rPr sz="1600" b="0" i="0">
                <a:solidFill>
                  <a:srgbClr val="000000"/>
                </a:solidFill>
                <a:latin typeface="Arial"/>
              </a:rPr>
              <a:t> Prefrontal-dependent reticular modulation changes geniculate inhibition and visual gain according to the selected sensory modality.</a:t>
            </a:r>
          </a:p>
        </p:txBody>
      </p:sp>
      <p:sp>
        <p:nvSpPr>
          <p:cNvPr id="9" name="Rectangle 8"/>
          <p:cNvSpPr/>
          <p:nvPr/>
        </p:nvSpPr>
        <p:spPr>
          <a:xfrm>
            <a:off x="6233007" y="2987040"/>
            <a:ext cx="5391759" cy="1478279"/>
          </a:xfrm>
          <a:prstGeom prst="rect">
            <a:avLst/>
          </a:prstGeom>
          <a:solidFill>
            <a:srgbClr val="F7F3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94044"/>
                </a:solidFill>
                <a:latin typeface="Arial"/>
              </a:rPr>
              <a:t>Receptor and channel context:</a:t>
            </a:r>
            <a:r>
              <a:rPr sz="1500" b="0" i="0">
                <a:solidFill>
                  <a:srgbClr val="000000"/>
                </a:solidFill>
                <a:latin typeface="Arial"/>
              </a:rPr>
              <a:t> Adrenergic and D1 actions can sharpen prefrontal firing at suitable exposure; excessive D1 signaling can suppress delay activity through an HCN-sensitive mechanism.</a:t>
            </a:r>
          </a:p>
        </p:txBody>
      </p:sp>
      <p:sp>
        <p:nvSpPr>
          <p:cNvPr id="11" name="Rectangle 10"/>
          <p:cNvSpPr/>
          <p:nvPr/>
        </p:nvSpPr>
        <p:spPr>
          <a:xfrm>
            <a:off x="566928" y="4739640"/>
            <a:ext cx="5391759" cy="1478279"/>
          </a:xfrm>
          <a:prstGeom prst="rect">
            <a:avLst/>
          </a:prstGeom>
          <a:solidFill>
            <a:srgbClr val="F7F3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Regional dopamine regulation:</a:t>
            </a:r>
            <a:r>
              <a:rPr sz="1600" b="0" i="0">
                <a:solidFill>
                  <a:srgbClr val="000000"/>
                </a:solidFill>
                <a:latin typeface="Arial"/>
              </a:rPr>
              <a:t> NET contributes to frontal dopamine uptake; DAT deletion prolongs striatal signals, while SHR and Lphn3 models have distinct regional and drug-response profiles.</a:t>
            </a:r>
          </a:p>
        </p:txBody>
      </p:sp>
      <p:sp>
        <p:nvSpPr>
          <p:cNvPr id="13" name="Rectangle 12"/>
          <p:cNvSpPr/>
          <p:nvPr/>
        </p:nvSpPr>
        <p:spPr>
          <a:xfrm>
            <a:off x="6233007" y="4739640"/>
            <a:ext cx="5391759" cy="1478279"/>
          </a:xfrm>
          <a:prstGeom prst="rect">
            <a:avLst/>
          </a:prstGeom>
          <a:solidFill>
            <a:srgbClr val="F7F3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94044"/>
                </a:solidFill>
                <a:latin typeface="Arial"/>
              </a:rPr>
              <a:t>Comparative limits:</a:t>
            </a:r>
            <a:r>
              <a:rPr sz="1500" b="0" i="0">
                <a:solidFill>
                  <a:srgbClr val="000000"/>
                </a:solidFill>
                <a:latin typeface="Arial"/>
              </a:rPr>
              <a:t> Sleep loss weakens fly selection under visual competition, and sleep-related rescue depends on genotype; shared behavioral measures or molecules do not establish identical circuits across species.</a:t>
            </a:r>
          </a:p>
        </p:txBody>
      </p:sp>
      <p:sp>
        <p:nvSpPr>
          <p:cNvPr id="15" name="Rectangle 14"/>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Bari et al. (2020); Wimmer et al. (2015); Gamo et al. (2010); Gamo et al. (2015); Morón et al. (2002); Sable et al. (2025); Kirszenblat et al. (2018)</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Attention and impulsivity across species: comparative neural mechanisms of attentional control, dopamine and norepinephrine signaling, and animal models of ADHD</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