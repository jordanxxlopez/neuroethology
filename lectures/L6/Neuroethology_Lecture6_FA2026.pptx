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Central pattern generators I: leech swimming and crawling (Kristan)</a:t>
            </a:r>
          </a:p>
          <a:p>
            <a:r>
              <a:t>Lecture 6. NEUR 411 · NEUROETHOLOGY · FALL 2026. Friday, September 4, 2026.</a:t>
            </a:r>
          </a:p>
          <a:p/>
          <a:p>
            <a:r>
              <a:t>Figure: Ashaber et al. (2021), Fig. 1. Medicinal leech Hirudo verbana; original 1 cm scale bar.</a:t>
            </a:r>
          </a:p>
          <a:p>
            <a:r>
              <a:t>Figure source: https://doi.org/10.7554/eLife.61881</a:t>
            </a:r>
          </a:p>
          <a:p/>
          <a:p>
            <a:r>
              <a:t>References:</a:t>
            </a:r>
          </a:p>
          <a:p>
            <a:r>
              <a:t>M. Ashaber; Y. Tomina; P. Kassraian; E. A. Bushong; W. B. Kristan Jr; M. H. Ellisman; D. A. Wagenaar (2021). Anatomy and activity patterns in a multifunctional motor neuron and its surrounding circuits. eLife 10:e61881. https://doi.org/10.7554/eLife.61881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Leech swimming consists of alternating contractions of dorsal and ventral longitudinal muscles, producing a wave that travels toward the tail. Crawling instead alternates elongation, driven by circular muscles, with shortening, driven by longitudinal muscles. The front and rear suckers attach and release to convert these changes into forward movement.</a:t>
            </a:r>
          </a:p>
          <a:p>
            <a:r>
              <a:t>• Briggman and Kristan elicited both motor patterns in the same isolated nervous system while monitoring motor nerves and recording individual neurons. Swimming occurred at approximately 1–1.5 Hz, whereas crawling oscillations occurred at approximately 0.04–0.1 Hz. The different rhythms reorganized common motor outputs.</a:t>
            </a:r>
          </a:p>
          <a:p>
            <a:r>
              <a:t>• A central pattern generator, or CPG, is a neural circuit capable of producing a patterned rhythm without requiring rhythmic sensory input. Central generation does not imply that sensory feedback, descending signals, or the mechanical environment are irrelevant to the realized movement.</a:t>
            </a:r>
          </a:p>
          <a:p>
            <a:r>
              <a:t>• Dorsal refers to the back surface and ventral to the belly surface. Longitudinal muscle contraction shortens the body; circular muscle contraction contributes to elongation. These muscle arrangements give the same animal two distinct forms of locomotion.</a:t>
            </a:r>
          </a:p>
          <a:p/>
          <a:p>
            <a:r>
              <a:t>References:</a:t>
            </a:r>
          </a:p>
          <a:p>
            <a:r>
              <a:t>K. L. Briggman; W. B. Kristan Jr (2006). Imaging dedicated and multifunctional neural circuits generating distinct behaviors. Journal of Neuroscience 26(42):10925–10933. https://doi.org/10.1523/JNEUROSCI.3265-06.2006</a:t>
            </a:r>
          </a:p>
          <a:p/>
          <a:p>
            <a:r>
              <a:t>Figure: Briggman &amp; Kristan (2006), Fig. 1(A,B). Published swimming and crawling movement sequences.</a:t>
            </a:r>
          </a:p>
          <a:p>
            <a:r>
              <a:t>Figure source: https://doi.org/10.1523/JNEUROSCI.3265-06.2006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Kinematics describes movement without assigning its underlying forces or neural causes. Cacciatore and colleagues attached small thread markers to segment boundaries in adult leeches and recorded crawling from above. Their analysis used vermiform steps, in which the body remained near the substrate, rather than steps with a raised body loop.</a:t>
            </a:r>
          </a:p>
          <a:p>
            <a:r>
              <a:t>• Video was digitized at 4–10 frames per second, with at least 25 frames per step. Distances between markers yielded segmental length changes. Anterior segments generally elongated earlier than posterior ones; the reverse transition to shortening also propagated toward the tail.</a:t>
            </a:r>
          </a:p>
          <a:p>
            <a:r>
              <a:t>• The preparation connects whole-animal movement to regional timing. Marker displacement measures body deformation, not motor-neuron firing. The investigators excluded searching movements, so these results characterize stereotyped steps on a smooth surface rather than every possible form of crawling.</a:t>
            </a:r>
          </a:p>
          <a:p>
            <a:r>
              <a:t>• The study used adults weighing 2–4 g, allowed recovery after marker implantation, and calibrated spatial measurements with a visible grid. These controls reduced confusion between image scale, recovery effects, and actual changes in movement.</a:t>
            </a:r>
          </a:p>
          <a:p/>
          <a:p>
            <a:r>
              <a:t>References:</a:t>
            </a:r>
          </a:p>
          <a:p>
            <a:r>
              <a:t>T. W. Cacciatore; R. Rozenshteyn; W. B. Kristan Jr (2000). Kinematics and modeling of leech crawling: evidence for an oscillatory behavior produced by propagating waves of excitation. Journal of Neuroscience 20(4):1643–1655. https://doi.org/10.1523/JNEUROSCI.20-04-01643.2000</a:t>
            </a:r>
          </a:p>
          <a:p/>
          <a:p>
            <a:r>
              <a:t>Figure: Cacciatore et al. (2000), Fig. 2(A). Marked leech and measured regional length changes.</a:t>
            </a:r>
          </a:p>
          <a:p>
            <a:r>
              <a:t>Figure source: https://doi.org/10.1523/JNEUROSCI.20-04-01643.2000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Cacciatore and colleagues compared segmental length changes during fast and slow crawling steps. Propagation means that a change begins in successive body regions at different times. Both elongation and contraction propagated from anterior to posterior segments rather than occurring simultaneously throughout the body.</a:t>
            </a:r>
          </a:p>
          <a:p>
            <a:r>
              <a:t>• Typical stereotyped steps lasted approximately 2–10 s. Slower steps contained slower wave propagation and changes in the interval between elongation and contraction. Anterior regions could begin contracting while posterior regions were still elongating, so whole-body elongation and contraction were not strictly separate blocks.</a:t>
            </a:r>
          </a:p>
          <a:p>
            <a:r>
              <a:t>• These observations constrain a neural explanation of crawling to account for regional timing and variable step duration. The recorded waves are behavioral data. The paper’s proposed excitation-chain model is an explanatory construction and does not establish that its specific simulated neurons exist in the leech.</a:t>
            </a:r>
          </a:p>
          <a:p>
            <a:r>
              <a:t>• A contour representation of measured length preserves the sequence of local lengthening and shortening. The important experimental relationship is that different portions of the body can occupy different movement phases during one step.</a:t>
            </a:r>
          </a:p>
          <a:p/>
          <a:p>
            <a:r>
              <a:t>References:</a:t>
            </a:r>
          </a:p>
          <a:p>
            <a:r>
              <a:t>T. W. Cacciatore; R. Rozenshteyn; W. B. Kristan Jr (2000). Kinematics and modeling of leech crawling: evidence for an oscillatory behavior produced by propagating waves of excitation. Journal of Neuroscience 20(4):1643–1655. https://doi.org/10.1523/JNEUROSCI.20-04-01643.2000</a:t>
            </a:r>
          </a:p>
          <a:p/>
          <a:p>
            <a:r>
              <a:t>Figure: Cacciatore et al. (2000), Fig. 3. Measured segment-length sequences during fast and slow steps.</a:t>
            </a:r>
          </a:p>
          <a:p>
            <a:r>
              <a:t>Figure source: https://doi.org/10.1523/JNEUROSCI.20-04-01643.2000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Cacciatore and colleagues severed the peripheral nerve roots of segments 7–12 while preserving the central connectives between ganglia. Denervation removes neural communication with the body wall. In this preparation it removed both sensory input and motor output in the operated segments, rather than selectively removing sensory neurons.</a:t>
            </a:r>
          </a:p>
          <a:p>
            <a:r>
              <a:t>• The denervated segments became flaccid, but elongation and contraction waves continued in the innervated regions on either side. Segmental delays and their relationship to step duration did not acquire a marked discontinuity across the operated region. The comparison used each animal’s movements before and after surgery.</a:t>
            </a:r>
          </a:p>
          <a:p>
            <a:r>
              <a:t>• Central communication can therefore coordinate crawl timing across a region deprived of its normal peripheral loop. This result does not establish that sensory feedback has no role in intact crawling, and it does not identify the central neurons that carry coordination across the lesion.</a:t>
            </a:r>
          </a:p>
          <a:p>
            <a:r>
              <a:t>• Connectives are axon bundles linking successive ganglia. Preserving them was essential: cutting both the nerve roots and the connectives would have confounded loss of peripheral feedback with loss of communication along the nervous system.</a:t>
            </a:r>
          </a:p>
          <a:p/>
          <a:p>
            <a:r>
              <a:t>References:</a:t>
            </a:r>
          </a:p>
          <a:p>
            <a:r>
              <a:t>T. W. Cacciatore; R. Rozenshteyn; W. B. Kristan Jr (2000). Kinematics and modeling of leech crawling: evidence for an oscillatory behavior produced by propagating waves of excitation. Journal of Neuroscience 20(4):1643–1655. https://doi.org/10.1523/JNEUROSCI.20-04-01643.2000</a:t>
            </a:r>
          </a:p>
          <a:p/>
          <a:p>
            <a:r>
              <a:t>Figure: Cacciatore et al. (2000), Fig. 7(A,B). Movement timing after removal of peripheral innervation.</a:t>
            </a:r>
          </a:p>
          <a:p>
            <a:r>
              <a:t>Figure source: https://doi.org/10.1523/JNEUROSCI.20-04-01643.2000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Kristan and Calabrese removed the nerve cord from the body wall and recorded from segmental nerves in physiological saline. Brief electrical stimulation initiated repeated bursts in dorsal and ventral motor pathways. The isolated cord had no attached body capable of producing the usual stretch feedback.</a:t>
            </a:r>
          </a:p>
          <a:p>
            <a:r>
              <a:t>• A stimulus train of approximately 10–20 Hz for 0.5–1 s could initiate an episode that continued after the stimulation ended. Rhythmic motor activity resembled the pattern recorded during swimming in semi-intact animals. Intracellular motor-neuron recordings contained rhythmic membrane-potential changes associated with the nerve bursts.</a:t>
            </a:r>
          </a:p>
          <a:p>
            <a:r>
              <a:t>• The persistence of patterned activity without the peripheral body establishes a central source for the basic swim rhythm. It does not establish normal propulsion, intact sensory calibration, or a particular identified pacemaker neuron. A motor program recorded without the corresponding movement is called fictive locomotion.</a:t>
            </a:r>
          </a:p>
          <a:p>
            <a:r>
              <a:t>• An intracellular electrode records voltage within an individual neuron; an extracellular electrode records signals outside cells, here from nerve bundles. The two methods connect membrane-potential oscillations to motor impulses without requiring actual movement.</a:t>
            </a:r>
          </a:p>
          <a:p/>
          <a:p>
            <a:r>
              <a:t>References:</a:t>
            </a:r>
          </a:p>
          <a:p>
            <a:r>
              <a:t>W. B. Kristan Jr; R. L. Calabrese (1976). Rhythmic swimming activity in neurones of the isolated nerve cord of the leech. Journal of Experimental Biology 65(3):643–668. https://doi.org/10.1242/jeb.65.3.643</a:t>
            </a:r>
          </a:p>
          <a:p>
            <a:r>
              <a:t>M. Ashaber; Y. Tomina; P. Kassraian; E. A. Bushong; W. B. Kristan Jr; M. H. Ellisman; D. A. Wagenaar (2021). Anatomy and activity patterns in a multifunctional motor neuron and its surrounding circuits. eLife 10:e61881. https://doi.org/10.7554/eLife.61881</a:t>
            </a:r>
          </a:p>
          <a:p/>
          <a:p>
            <a:r>
              <a:t>Figure: Kristan &amp; Calabrese (1976), Fig. 1(A). Motor-nerve bursts and intracellular oscillations in an isolated cord.</a:t>
            </a:r>
          </a:p>
          <a:p>
            <a:r>
              <a:t>Figure source: https://doi.org/10.1242/jeb.65.3.643</a:t>
            </a:r>
          </a:p>
          <a:p/>
          <a:p>
            <a:r>
              <a:t>Figure: Ashaber et al. (2021), Fig. 7(a). Reconstructed DE-3 arbor over a dorsal micro-CT image.</a:t>
            </a:r>
          </a:p>
          <a:p>
            <a:r>
              <a:t>Figure source: https://doi.org/10.7554/eLife.61881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Kristan and Calabrese first recorded a swimming rhythm from a semi-intact preparation and then disconnected its remaining body wall. Semi-intact means that part of the animal remains capable of movement while another part is opened for recording. Keeping the same recording nerves permitted comparison before and after isolation.</a:t>
            </a:r>
          </a:p>
          <a:p>
            <a:r>
              <a:t>• Dorsal-excitor and ventral-excitor bursts continued to alternate after the cord was separated from peripheral tissue. In the illustrated semi-intact recording the cycle period was about 1 s, and homologous dorsal bursts in two segments were separated by approximately 50 ms.</a:t>
            </a:r>
          </a:p>
          <a:p>
            <a:r>
              <a:t>• The within-preparation comparison strengthens the interpretation that central circuitry can generate the alternating pattern. It also reveals why preserving a recognizable rhythm is different from preserving every aspect of normal timing. Peripheral removal can alter phase relationships even when the central oscillation remains active.</a:t>
            </a:r>
          </a:p>
          <a:p>
            <a:r>
              <a:t>• A cycle period is the interval between successive equivalent events in one rhythm. The investigators used burst midpoints rather than the first spike alone, making their timing definition consistent across bursts of differing duration.</a:t>
            </a:r>
          </a:p>
          <a:p/>
          <a:p>
            <a:r>
              <a:t>References:</a:t>
            </a:r>
          </a:p>
          <a:p>
            <a:r>
              <a:t>W. B. Kristan Jr; R. L. Calabrese (1976). Rhythmic swimming activity in neurones of the isolated nerve cord of the leech. Journal of Experimental Biology 65(3):643–668. https://doi.org/10.1242/jeb.65.3.643</a:t>
            </a:r>
          </a:p>
          <a:p>
            <a:r>
              <a:t>M. Ashaber; Y. Tomina; P. Kassraian; E. A. Bushong; W. B. Kristan Jr; M. H. Ellisman; D. A. Wagenaar (2021). Anatomy and activity patterns in a multifunctional motor neuron and its surrounding circuits. eLife 10:e61881. https://doi.org/10.7554/eLife.61881</a:t>
            </a:r>
          </a:p>
          <a:p/>
          <a:p>
            <a:r>
              <a:t>Figure: Kristan &amp; Calabrese (1976), Fig. 2(A,B). Semi-intact and subsequently isolated motor-nerve recordings.</a:t>
            </a:r>
          </a:p>
          <a:p>
            <a:r>
              <a:t>Figure source: https://doi.org/10.1242/jeb.65.3.643</a:t>
            </a:r>
          </a:p>
          <a:p/>
          <a:p>
            <a:r>
              <a:t>Figure: Ashaber et al. (2021), Fig. 7(a). Reconstructed DE-3 arbor over a dorsal micro-CT image.</a:t>
            </a:r>
          </a:p>
          <a:p>
            <a:r>
              <a:t>Figure source: https://doi.org/10.7554/eLife.61881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Kristan and Calabrese retained one innervated body segment while separating the rest of the nerve cord from the periphery. Tension transducers measured the dorsal and ventral longitudinal muscle contractions in that segment. Motor-nerve activity was recorded from another ganglion along the cord.</a:t>
            </a:r>
          </a:p>
          <a:p>
            <a:r>
              <a:t>• Dorsal and ventral tension rose in alternating phases. Bursts in the corresponding excitatory motor pathways were related to the matching muscle contractions. The body-wall segment and recorded ganglion were separated spatially, so their events included the delay associated with propagation along the cord.</a:t>
            </a:r>
          </a:p>
          <a:p>
            <a:r>
              <a:t>• An excitor is a motor neuron whose output promotes contraction of its target muscle. The agreement between nerve timing and tension links the electrical pattern to the expected motor action. It does not make an isolated nerve recording a direct measure of swimming thrust or whole-animal displacement.</a:t>
            </a:r>
          </a:p>
          <a:p>
            <a:r>
              <a:t>• An inhibitory motor neuron can relax the matching muscle territory and inhibit its excitatory motor neurons. Alternating excitation and inhibition organize contraction across the dorsal and ventral body wall rather than simply turning every motor neuron on together.</a:t>
            </a:r>
          </a:p>
          <a:p/>
          <a:p>
            <a:r>
              <a:t>References:</a:t>
            </a:r>
          </a:p>
          <a:p>
            <a:r>
              <a:t>W. B. Kristan Jr; R. L. Calabrese (1976). Rhythmic swimming activity in neurones of the isolated nerve cord of the leech. Journal of Experimental Biology 65(3):643–668. https://doi.org/10.1242/jeb.65.3.643</a:t>
            </a:r>
          </a:p>
          <a:p>
            <a:r>
              <a:t>M. Ashaber; Y. Tomina; P. Kassraian; E. A. Bushong; W. B. Kristan Jr; M. H. Ellisman; D. A. Wagenaar (2021). Anatomy and activity patterns in a multifunctional motor neuron and its surrounding circuits. eLife 10:e61881. https://doi.org/10.7554/eLife.61881</a:t>
            </a:r>
          </a:p>
          <a:p/>
          <a:p>
            <a:r>
              <a:t>Figure: Kristan &amp; Calabrese (1976), Fig. 3(A). Body-wall tension and motor-nerve activity in a nearly isolated preparation.</a:t>
            </a:r>
          </a:p>
          <a:p>
            <a:r>
              <a:t>Figure source: https://doi.org/10.1242/jeb.65.3.643</a:t>
            </a:r>
          </a:p>
          <a:p/>
          <a:p>
            <a:r>
              <a:t>Figure: Ashaber et al. (2021), Fig. 7(a). Reconstructed DE-3 arbor over a dorsal micro-CT image.</a:t>
            </a:r>
          </a:p>
          <a:p>
            <a:r>
              <a:t>Figure source: https://doi.org/10.7554/eLife.61881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Phase describes the position of an event within a repeating cycle. Kristan and Calabrese compared dorsal-to-ventral burst delays over different swim periods. Some isolated preparations retained period-dependent delays, whereas others expressed an approximately constant fractional phase lag.</a:t>
            </a:r>
          </a:p>
          <a:p>
            <a:r>
              <a:t>• In semi-intact preparations, dorsal-excitor burst duration increased more strongly with cycle period. In constant-phase isolated preparations, its dependence on period was weaker. Ventral-excitor burst duration was comparatively less dependent on cycle period and did not distinguish the two timing states in the same way.</a:t>
            </a:r>
          </a:p>
          <a:p>
            <a:r>
              <a:t>• Central rhythm production and normal phase calibration are separate properties. The study supports a contribution of peripheral input to the timing relationships expressed during swimming. Isolation does not force every preparation into an identical state, and the comparisons do not identify a single receptor or synaptic connection responsible for the change.</a:t>
            </a:r>
          </a:p>
          <a:p>
            <a:r>
              <a:t>• A time delay in milliseconds and a phase lag as a fraction of the cycle are related measurements, but they answer different questions. A fixed fraction requires the absolute delay to grow when the cycle becomes longer.</a:t>
            </a:r>
          </a:p>
          <a:p/>
          <a:p>
            <a:r>
              <a:t>References:</a:t>
            </a:r>
          </a:p>
          <a:p>
            <a:r>
              <a:t>W. B. Kristan Jr; R. L. Calabrese (1976). Rhythmic swimming activity in neurones of the isolated nerve cord of the leech. Journal of Experimental Biology 65(3):643–668. https://doi.org/10.1242/jeb.65.3.643</a:t>
            </a:r>
          </a:p>
          <a:p>
            <a:r>
              <a:t>M. Ashaber; Y. Tomina; P. Kassraian; E. A. Bushong; W. B. Kristan Jr; M. H. Ellisman; D. A. Wagenaar (2021). Anatomy and activity patterns in a multifunctional motor neuron and its surrounding circuits. eLife 10:e61881. https://doi.org/10.7554/eLife.61881</a:t>
            </a:r>
          </a:p>
          <a:p/>
          <a:p>
            <a:r>
              <a:t>Figure: Kristan &amp; Calabrese (1976), Fig. 5(A–C). Measured phase-delay and burst-duration relationships.</a:t>
            </a:r>
          </a:p>
          <a:p>
            <a:r>
              <a:t>Figure source: https://doi.org/10.1242/jeb.65.3.643</a:t>
            </a:r>
          </a:p>
          <a:p/>
          <a:p>
            <a:r>
              <a:t>Figure: Ashaber et al. (2021), Fig. 7(a). Reconstructed DE-3 arbor over a dorsal micro-CT image.</a:t>
            </a:r>
          </a:p>
          <a:p>
            <a:r>
              <a:t>Figure source: https://doi.org/10.7554/eLife.61881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Intersegmental delay is the time separating equivalent activity in different segments. Kristan and Calabrese recorded homologous dorsal-excitor bursts from separated ganglia and expressed the resulting delay per segment. Posterior bursts generally followed anterior bursts, consistent with a rearward-moving motor pattern.</a:t>
            </a:r>
          </a:p>
          <a:p>
            <a:r>
              <a:t>• Delays in semi-intact and isolated cords were shorter than the delays inferred from intact swimming movements. The clear increase of intact movement delay with cycle period was absent in the reduced preparations. Their delay distributions remained variable despite a recognizable central rhythm.</a:t>
            </a:r>
          </a:p>
          <a:p>
            <a:r>
              <a:t>• A chain of centrally coupled neurons can generate directional timing without recreating the complete intact body wave. Peripheral feedback can adjust the relationship between propagation and period. The preparation comparison supports that contribution, but differences in movement and nerve-recording measures also limit a direct numerical equivalence.</a:t>
            </a:r>
          </a:p>
          <a:p>
            <a:r>
              <a:t>• In intact animals the traveling wave is measured through body movement; in the isolated cord it is measured through motor impulses. The study explicitly compares these related levels without treating their delays as automatically identical.</a:t>
            </a:r>
          </a:p>
          <a:p/>
          <a:p>
            <a:r>
              <a:t>References:</a:t>
            </a:r>
          </a:p>
          <a:p>
            <a:r>
              <a:t>W. B. Kristan Jr; R. L. Calabrese (1976). Rhythmic swimming activity in neurones of the isolated nerve cord of the leech. Journal of Experimental Biology 65(3):643–668. https://doi.org/10.1242/jeb.65.3.643</a:t>
            </a:r>
          </a:p>
          <a:p>
            <a:r>
              <a:t>M. Ashaber; Y. Tomina; P. Kassraian; E. A. Bushong; W. B. Kristan Jr; M. H. Ellisman; D. A. Wagenaar (2021). Anatomy and activity patterns in a multifunctional motor neuron and its surrounding circuits. eLife 10:e61881. https://doi.org/10.7554/eLife.61881</a:t>
            </a:r>
          </a:p>
          <a:p/>
          <a:p>
            <a:r>
              <a:t>Figure: Kristan &amp; Calabrese (1976), Fig. 6(A,B). Intersegmental motor-burst delay versus swim period.</a:t>
            </a:r>
          </a:p>
          <a:p>
            <a:r>
              <a:t>Figure source: https://doi.org/10.1242/jeb.65.3.643</a:t>
            </a:r>
          </a:p>
          <a:p/>
          <a:p>
            <a:r>
              <a:t>Figure: Ashaber et al. (2021), Fig. 7(a). Reconstructed DE-3 arbor over a dorsal micro-CT image.</a:t>
            </a:r>
          </a:p>
          <a:p>
            <a:r>
              <a:t>Figure source: https://doi.org/10.7554/eLife.61881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Kristan and Calabrese attached a dorsal body-wall flap to a tension transducer and imposed longitudinal stretch during swimming activity. Sensory feedback is information generated by the body or environment that returns to the neural controller. Stretch provided a controlled perturbation rather than relying on spontaneous changes in movement.</a:t>
            </a:r>
          </a:p>
          <a:p>
            <a:r>
              <a:t>• In the semi-intact preparation, stretch prolonged dorsal-excitor bursts and shortened, or sometimes abolished, ventral-excitor bursts without changing the cycle period. In a nearly isolated preparation retaining one innervated segment, moderate stretch changed burst durations and could lengthen the overall period.</a:t>
            </a:r>
          </a:p>
          <a:p>
            <a:r>
              <a:t>• Feedback can alter both the motor output and, under reduced conditions, the rhythm-generating network. The experiment does not establish one uniform effect of stretch under every condition. The remaining innervation and the extent of peripheral removal determine which feedback pathways can influence the rhythm.</a:t>
            </a:r>
          </a:p>
          <a:p>
            <a:r>
              <a:t>• A weak or moderate stretch and a strong stretch need not produce the same outcome. The source reports that stronger perturbations could stop the rhythm, so period lengthening is not an unrestricted linear rule.</a:t>
            </a:r>
          </a:p>
          <a:p/>
          <a:p>
            <a:r>
              <a:t>References:</a:t>
            </a:r>
          </a:p>
          <a:p>
            <a:r>
              <a:t>W. B. Kristan Jr; R. L. Calabrese (1976). Rhythmic swimming activity in neurones of the isolated nerve cord of the leech. Journal of Experimental Biology 65(3):643–668. https://doi.org/10.1242/jeb.65.3.643</a:t>
            </a:r>
          </a:p>
          <a:p>
            <a:r>
              <a:t>M. Ashaber; Y. Tomina; P. Kassraian; E. A. Bushong; W. B. Kristan Jr; M. H. Ellisman; D. A. Wagenaar (2021). Anatomy and activity patterns in a multifunctional motor neuron and its surrounding circuits. eLife 10:e61881. https://doi.org/10.7554/eLife.61881</a:t>
            </a:r>
          </a:p>
          <a:p/>
          <a:p>
            <a:r>
              <a:t>Figure: Kristan &amp; Calabrese (1976), Fig. 9(A,B). Body-wall stretch during semi-intact and nearly isolated rhythms.</a:t>
            </a:r>
          </a:p>
          <a:p>
            <a:r>
              <a:t>Figure source: https://doi.org/10.1242/jeb.65.3.643</a:t>
            </a:r>
          </a:p>
          <a:p/>
          <a:p>
            <a:r>
              <a:t>Figure: Ashaber et al. (2021), Fig. 7(a). Reconstructed DE-3 arbor over a dorsal micro-CT image.</a:t>
            </a:r>
          </a:p>
          <a:p>
            <a:r>
              <a:t>Figure source: https://doi.org/10.7554/eLife.61881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Kristan and Calabrese injected depolarizing current into identified motor neurons during an isolated-cord swim episode. Depolarization moves membrane voltage toward a less negative value and can increase firing. The dorsal inhibitor, cell 1, was stimulated strongly enough to suppress the associated dorsal excitor locally.</a:t>
            </a:r>
          </a:p>
          <a:p>
            <a:r>
              <a:t>• Cell 1 stimulation lengthened the period across the cord, including a recording two segments away. In one episode, the period increased from approximately 825 to 940 ms during the first current passage. Comparable stimulation of the ventral inhibitor, cell 2, did not produce the same period change.</a:t>
            </a:r>
          </a:p>
          <a:p>
            <a:r>
              <a:t>• The effect is specific evidence that cell 1 can influence the isolated oscillator, rather than proof that every motor neuron is a rhythm generator. The same manipulation did not reset period in the semi-intact preparation. Network state and peripheral input therefore constrain the behavioral significance of this feedback route.</a:t>
            </a:r>
          </a:p>
          <a:p>
            <a:r>
              <a:t>• An inhibitor can influence the motor pattern through more than its peripheral muscle connection. Current injection tests the functional effect of activating the identified cell; it does not by itself reveal all intervening synapses.</a:t>
            </a:r>
          </a:p>
          <a:p/>
          <a:p>
            <a:r>
              <a:t>References:</a:t>
            </a:r>
          </a:p>
          <a:p>
            <a:r>
              <a:t>W. B. Kristan Jr; R. L. Calabrese (1976). Rhythmic swimming activity in neurones of the isolated nerve cord of the leech. Journal of Experimental Biology 65(3):643–668. https://doi.org/10.1242/jeb.65.3.643</a:t>
            </a:r>
          </a:p>
          <a:p>
            <a:r>
              <a:t>M. Ashaber; Y. Tomina; P. Kassraian; E. A. Bushong; W. B. Kristan Jr; M. H. Ellisman; D. A. Wagenaar (2021). Anatomy and activity patterns in a multifunctional motor neuron and its surrounding circuits. eLife 10:e61881. https://doi.org/10.7554/eLife.61881</a:t>
            </a:r>
          </a:p>
          <a:p/>
          <a:p>
            <a:r>
              <a:t>Figure: Kristan &amp; Calabrese (1976), Fig. 8(A–C). Effects of current injection into identified inhibitory motor neurons.</a:t>
            </a:r>
          </a:p>
          <a:p>
            <a:r>
              <a:t>Figure source: https://doi.org/10.1242/jeb.65.3.643</a:t>
            </a:r>
          </a:p>
          <a:p/>
          <a:p>
            <a:r>
              <a:t>Figure: Ashaber et al. (2021), Fig. 7(a). Reconstructed DE-3 arbor over a dorsal micro-CT image.</a:t>
            </a:r>
          </a:p>
          <a:p>
            <a:r>
              <a:t>Figure source: https://doi.org/10.7554/eLife.61881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Yu and colleagues implanted hook electrodes on dorsal posterior nerves in leeches whose bodies could still move. The largest motor unit in these nerves was used to monitor the dorsal excitor DE-3. Video and electrical recordings linked the progression of the body wave with activity on either side of a central cord transection.</a:t>
            </a:r>
          </a:p>
          <a:p>
            <a:r>
              <a:t>• The cord was cut between midbody ganglia M10 and M11. Recording sites at M7 and M14 bracketed the interruption. Intact preparations and preparations with a severed cord provided the critical comparison while retaining peripheral muscles and sensory receptors.</a:t>
            </a:r>
          </a:p>
          <a:p>
            <a:r>
              <a:t>• This design tests whether coordination can cross a central interruption through routes associated with the moving body. It does not isolate one stretch receptor or one reflex pathway. The implanted signals provide direct motor timing while the behavioral records establish whether the body remained coordinated.</a:t>
            </a:r>
          </a:p>
          <a:p>
            <a:r>
              <a:t>• A transection is a surgical cut through a neural pathway. The lesion severed the connecting nerve cord while leaving the surrounding body continuous, which differs fundamentally from separating the animal into two physical halves.</a:t>
            </a:r>
          </a:p>
          <a:p/>
          <a:p>
            <a:r>
              <a:t>References:</a:t>
            </a:r>
          </a:p>
          <a:p>
            <a:r>
              <a:t>X. Yu; B. Nguyen; W. O. Friesen (1999). Sensory feedback can coordinate the swimming activity of the leech. Journal of Neuroscience 19(11):4634–4643. https://doi.org/10.1523/JNEUROSCI.19-11-04634.1999</a:t>
            </a:r>
          </a:p>
          <a:p>
            <a:r>
              <a:t>M. Ashaber; Y. Tomina; P. Kassraian; E. A. Bushong; W. B. Kristan Jr; M. H. Ellisman; D. A. Wagenaar (2021). Anatomy and activity patterns in a multifunctional motor neuron and its surrounding circuits. eLife 10:e61881. https://doi.org/10.7554/eLife.61881</a:t>
            </a:r>
          </a:p>
          <a:p/>
          <a:p>
            <a:r>
              <a:t>Figure: Yu et al. (1999), Fig. 2(A,B). Original recording preparation and implanted-electrode experiment.</a:t>
            </a:r>
          </a:p>
          <a:p>
            <a:r>
              <a:t>Figure source: https://doi.org/10.1523/JNEUROSCI.19-11-04634.1999</a:t>
            </a:r>
          </a:p>
          <a:p/>
          <a:p>
            <a:r>
              <a:t>Figure: Ashaber et al. (2021), Fig. 7(a). Reconstructed DE-3 arbor over a dorsal micro-CT image.</a:t>
            </a:r>
          </a:p>
          <a:p>
            <a:r>
              <a:t>Figure source: https://doi.org/10.7554/eLife.61881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Yu and colleagues videotaped the same leeches before and after cutting the nerve cord between M10 and M11. Beads placed at M7 and M14 allowed timing of troughs and crests at defined body locations. Unimplanted controls and animals with beads helped separate surgery effects from effects of the movement markers.</a:t>
            </a:r>
          </a:p>
          <a:p>
            <a:r>
              <a:t>• The severed-cord animals could retain a rearward-progressing body wave spanning the lesion. Their phase lag between M7 and M14 increased from roughly 147° before the cut to roughly 170° afterward. They also swam more slowly, so persistence of coordination did not mean normal performance was fully preserved.</a:t>
            </a:r>
          </a:p>
          <a:p>
            <a:r>
              <a:t>• A continuous body provides a route through which movement-dependent feedback can coordinate separated central regions. The result supports peripheral coordination when direct central communication is interrupted. It does not imply that the intact animal normally dispenses with central intersegmental connections.</a:t>
            </a:r>
          </a:p>
          <a:p>
            <a:r>
              <a:t>• The investigators later cut the animals physically into anterior and posterior halves. Those halves lacked the coordinated whole-body wave, strengthening the interpretation that continuity of the peripheral body matters after the neural lesion.</a:t>
            </a:r>
          </a:p>
          <a:p/>
          <a:p>
            <a:r>
              <a:t>References:</a:t>
            </a:r>
          </a:p>
          <a:p>
            <a:r>
              <a:t>X. Yu; B. Nguyen; W. O. Friesen (1999). Sensory feedback can coordinate the swimming activity of the leech. Journal of Neuroscience 19(11):4634–4643. https://doi.org/10.1523/JNEUROSCI.19-11-04634.1999</a:t>
            </a:r>
          </a:p>
          <a:p/>
          <a:p>
            <a:r>
              <a:t>Figure: Yu et al. (1999), Fig. 3(A,B). Measured body-wave sequences before and after a central cut.</a:t>
            </a:r>
          </a:p>
          <a:p>
            <a:r>
              <a:t>Figure source: https://doi.org/10.1523/JNEUROSCI.19-11-04634.1999</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Yu and colleagues compared DE-3 burst timing at M7 and M14 while the body moved. This electrical measurement tested whether apparent coordination in video corresponded to coordinated neural output. The same implanted sites could be examined before and after the midbody nerve cord was cut.</a:t>
            </a:r>
          </a:p>
          <a:p>
            <a:r>
              <a:t>• Motor bursts remained phase related across the cut while the animal expressed coordinated swimming. The lag was larger and more variable than in intact preparations. Isolated cords whose direct intersegmental connections were severed lacked the comparable coordination available when the body was present.</a:t>
            </a:r>
          </a:p>
          <a:p>
            <a:r>
              <a:t>• The combined electrical and behavioral evidence supports feedback-dependent coupling between disconnected central regions. It does not establish that muscles alone transmit the signal without sensory neurons. The relevant peripheral route includes body mechanics and the return of movement-related information to each remaining neural circuit.</a:t>
            </a:r>
          </a:p>
          <a:p>
            <a:r>
              <a:t>• A motor rhythm can remain centrally generated within each cord region while sensory signals coordinate the regions. Central generation and feedback-dependent coordination are compatible properties of the same behavior.</a:t>
            </a:r>
          </a:p>
          <a:p/>
          <a:p>
            <a:r>
              <a:t>References:</a:t>
            </a:r>
          </a:p>
          <a:p>
            <a:r>
              <a:t>X. Yu; B. Nguyen; W. O. Friesen (1999). Sensory feedback can coordinate the swimming activity of the leech. Journal of Neuroscience 19(11):4634–4643. https://doi.org/10.1523/JNEUROSCI.19-11-04634.1999</a:t>
            </a:r>
          </a:p>
          <a:p>
            <a:r>
              <a:t>M. Ashaber; Y. Tomina; P. Kassraian; E. A. Bushong; W. B. Kristan Jr; M. H. Ellisman; D. A. Wagenaar (2021). Anatomy and activity patterns in a multifunctional motor neuron and its surrounding circuits. eLife 10:e61881. https://doi.org/10.7554/eLife.61881</a:t>
            </a:r>
          </a:p>
          <a:p/>
          <a:p>
            <a:r>
              <a:t>Figure: Yu et al. (1999), Fig. 6(A–C). In situ motor-nerve records in intact and severed-cord leeches.</a:t>
            </a:r>
          </a:p>
          <a:p>
            <a:r>
              <a:t>Figure source: https://doi.org/10.1523/JNEUROSCI.19-11-04634.1999</a:t>
            </a:r>
          </a:p>
          <a:p/>
          <a:p>
            <a:r>
              <a:t>Figure: Ashaber et al. (2021), Fig. 7(a). Reconstructed DE-3 arbor over a dorsal micro-CT image.</a:t>
            </a:r>
          </a:p>
          <a:p>
            <a:r>
              <a:t>Figure source: https://doi.org/10.7554/eLife.61881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Serotonin, also called 5-hydroxytryptamine or 5-HT, is a neurotransmitter that can modulate circuit activity. Willard applied serotonin to isolated leech nerve cords and monitored swim bursts in motor nerves. This preparation tested a neural effect without requiring a moving body.</a:t>
            </a:r>
          </a:p>
          <a:p>
            <a:r>
              <a:t>• Serotonin promoted repeated swimming episodes without additional electrical stimulation and increased responses to stimuli that previously evoked only one episode. Approximately 0.5–10 μM induced spontaneous swimming; concentrations as low as 50 nM elicited additional episodes after stimulation. Exposure and washout separated the drug effect from baseline excitability.</a:t>
            </a:r>
          </a:p>
          <a:p>
            <a:r>
              <a:t>• Serotonin changes the likelihood that a patterned program is expressed, rather than supplying a sequence of timed muscle commands. This pharmacology does not establish a particular serotonin receptor subtype or ion-channel target. The central circuit still supplies the rhythm once the modulated state permits its expression.</a:t>
            </a:r>
          </a:p>
          <a:p>
            <a:r>
              <a:t>• A neuromodulator changes the operation of a circuit over a broader interval than a single precisely timed synaptic event. The observation concerns access to the swim pattern and should not be converted into an unsupported molecular receptor assignment.</a:t>
            </a:r>
          </a:p>
          <a:p/>
          <a:p>
            <a:r>
              <a:t>References:</a:t>
            </a:r>
          </a:p>
          <a:p>
            <a:r>
              <a:t>A. L. Willard (1981). Effects of serotonin on the generation of the motor program for swimming by the medicinal leech. Journal of Neuroscience 1(9):936–944. https://doi.org/10.1523/JNEUROSCI.01-09-00936.1981</a:t>
            </a:r>
          </a:p>
          <a:p>
            <a:r>
              <a:t>M. Ashaber; Y. Tomina; P. Kassraian; E. A. Bushong; W. B. Kristan Jr; M. H. Ellisman; D. A. Wagenaar (2021). Anatomy and activity patterns in a multifunctional motor neuron and its surrounding circuits. eLife 10:e61881. https://doi.org/10.7554/eLife.61881</a:t>
            </a:r>
          </a:p>
          <a:p/>
          <a:p>
            <a:r>
              <a:t>Figure: Willard (1981), Fig. 1. Swim episodes before, during and after serotonin exposure.</a:t>
            </a:r>
          </a:p>
          <a:p>
            <a:r>
              <a:t>Figure source: https://doi.org/10.1523/JNEUROSCI.01-09-00936.1981</a:t>
            </a:r>
          </a:p>
          <a:p/>
          <a:p>
            <a:r>
              <a:t>Figure: Ashaber et al. (2021), Fig. 7(a). Reconstructed DE-3 arbor over a dorsal micro-CT image.</a:t>
            </a:r>
          </a:p>
          <a:p>
            <a:r>
              <a:t>Figure source: https://doi.org/10.7554/eLife.61881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Willard placed a barrier around two ganglia and applied serotonin only to that region of an isolated cord. Peripheral tissue was absent, and the remainder of the cord was maintained in normal saline. This localized exposure tested whether the drug had to reach every segment directly.</a:t>
            </a:r>
          </a:p>
          <a:p>
            <a:r>
              <a:t>• After serotonin reached the restricted chamber, the larger cord could generate swimming episodes. Crushing connectives between the exposed region and the remaining cord interrupted the relevant communication. The exposed region could therefore influence distant parts through connections along the central nervous system.</a:t>
            </a:r>
          </a:p>
          <a:p>
            <a:r>
              <a:t>• A local modulatory action can recruit a distributed motor circuit. The experiment does not establish that the two exposed ganglia contain the sole rhythm-generating kernel. The effect depends on their access to other ganglia, and crushing a connective interrupts many axons rather than a single identified pathway.</a:t>
            </a:r>
          </a:p>
          <a:p>
            <a:r>
              <a:t>• The preparation separates the site of chemical exposure from the site of distributed motor expression. Keeping the bathing solutions separate made this a test of communication along the cord rather than simple drug diffusion throughout the dish.</a:t>
            </a:r>
          </a:p>
          <a:p/>
          <a:p>
            <a:r>
              <a:t>References:</a:t>
            </a:r>
          </a:p>
          <a:p>
            <a:r>
              <a:t>A. L. Willard (1981). Effects of serotonin on the generation of the motor program for swimming by the medicinal leech. Journal of Neuroscience 1(9):936–944. https://doi.org/10.1523/JNEUROSCI.01-09-00936.1981</a:t>
            </a:r>
          </a:p>
          <a:p>
            <a:r>
              <a:t>M. Ashaber; Y. Tomina; P. Kassraian; E. A. Bushong; W. B. Kristan Jr; M. H. Ellisman; D. A. Wagenaar (2021). Anatomy and activity patterns in a multifunctional motor neuron and its surrounding circuits. eLife 10:e61881. https://doi.org/10.7554/eLife.61881</a:t>
            </a:r>
          </a:p>
          <a:p/>
          <a:p>
            <a:r>
              <a:t>Figure: Willard (1981), Fig. 3. Restricted serotonin application and cord-disconnection tests.</a:t>
            </a:r>
          </a:p>
          <a:p>
            <a:r>
              <a:t>Figure source: https://doi.org/10.1523/JNEUROSCI.01-09-00936.1981</a:t>
            </a:r>
          </a:p>
          <a:p/>
          <a:p>
            <a:r>
              <a:t>Figure: Ashaber et al. (2021), Fig. 7(a). Reconstructed DE-3 arbor over a dorsal micro-CT image.</a:t>
            </a:r>
          </a:p>
          <a:p>
            <a:r>
              <a:t>Figure source: https://doi.org/10.7554/eLife.61881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Willard stimulated identified Retzius neurons, serotonin-containing cells in leech ganglia, while recording the swim program. A small chamber confined the saline around the stimulated cells. This design tested whether neuronal release could reproduce the effect of bath-applied serotonin.</a:t>
            </a:r>
          </a:p>
          <a:p>
            <a:r>
              <a:t>• Stimulation evoked swimming when the surrounding volume was small, less than approximately 50 μl. Serotonin was detected in the bathing solution after stimulation. Larger surrounding volumes did not provide the same reliable effect, consistent with dilution of a released substance.</a:t>
            </a:r>
          </a:p>
          <a:p>
            <a:r>
              <a:t>• The results link an identified serotonergic source with circuit modulation and chemical release. They do not prove that Retzius cells provide all serotonin acting during intact swimming. Willard also found serotonin in the blood sinus surrounding the cord, indicating that neuronal and circulating access must be distinguished.</a:t>
            </a:r>
          </a:p>
          <a:p>
            <a:r>
              <a:t>• The source used biochemical purification followed by a calibrated snail-heart bioassay to detect serotonin. Detecting released substance supplies evidence beyond simply observing that current injection into a cell altered motor output.</a:t>
            </a:r>
          </a:p>
          <a:p/>
          <a:p>
            <a:r>
              <a:t>References:</a:t>
            </a:r>
          </a:p>
          <a:p>
            <a:r>
              <a:t>A. L. Willard (1981). Effects of serotonin on the generation of the motor program for swimming by the medicinal leech. Journal of Neuroscience 1(9):936–944. https://doi.org/10.1523/JNEUROSCI.01-09-00936.1981</a:t>
            </a:r>
          </a:p>
          <a:p>
            <a:r>
              <a:t>M. Ashaber; Y. Tomina; P. Kassraian; E. A. Bushong; W. B. Kristan Jr; M. H. Ellisman; D. A. Wagenaar (2021). Anatomy and activity patterns in a multifunctional motor neuron and its surrounding circuits. eLife 10:e61881. https://doi.org/10.7554/eLife.61881</a:t>
            </a:r>
          </a:p>
          <a:p/>
          <a:p>
            <a:r>
              <a:t>Figure: Willard (1981), Fig. 4. Retzius stimulation in a small chamber and resulting swim episodes.</a:t>
            </a:r>
          </a:p>
          <a:p>
            <a:r>
              <a:t>Figure source: https://doi.org/10.1523/JNEUROSCI.01-09-00936.1981</a:t>
            </a:r>
          </a:p>
          <a:p/>
          <a:p>
            <a:r>
              <a:t>Figure: Ashaber et al. (2021), Fig. 7(a). Reconstructed DE-3 arbor over a dorsal micro-CT image.</a:t>
            </a:r>
          </a:p>
          <a:p>
            <a:r>
              <a:t>Figure source: https://doi.org/10.7554/eLife.61881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voltage-sensitive dye changes its optical signal with membrane voltage. Briggman and Kristan imaged an exposed segmental ganglion while eliciting swimming and crawling in the same isolated cord. Intracellular recordings from cells 1 and 3 checked whether the optical signals tracked the identified neurons.</a:t>
            </a:r>
          </a:p>
          <a:p>
            <a:r>
              <a:t>• Optical and electrical records preserved the different rhythms and phase relationships. Cell 1 and cell 3 oscillated approximately 180° apart during crawling but approximately 90° apart during swimming. Example frequencies were 0.09 Hz for crawling and 1.3 Hz for swimming.</a:t>
            </a:r>
          </a:p>
          <a:p>
            <a:r>
              <a:t>• The calibration supports interpreting optical fluctuations as neuronal activity rather than assuming every fluorescence change is a spike. Dye kinetics introduce a temporal lag, and the optical sampling was slower than the electrical recording. Phase-associated imaging is therefore evidence about population dynamics, not a substitute for every intracellular waveform.</a:t>
            </a:r>
          </a:p>
          <a:p>
            <a:r>
              <a:t>• The investigators acquired swimming images at 20 frames per second and formed ratioed signals at 10 Hz. Crawling was slower and could be sampled less frequently. Simultaneous electrical records supplied the faster reference.</a:t>
            </a:r>
          </a:p>
          <a:p/>
          <a:p>
            <a:r>
              <a:t>References:</a:t>
            </a:r>
          </a:p>
          <a:p>
            <a:r>
              <a:t>K. L. Briggman; W. B. Kristan Jr (2006). Imaging dedicated and multifunctional neural circuits generating distinct behaviors. Journal of Neuroscience 26(42):10925–10933. https://doi.org/10.1523/JNEUROSCI.3265-06.2006</a:t>
            </a:r>
          </a:p>
          <a:p/>
          <a:p>
            <a:r>
              <a:t>Figure: Briggman &amp; Kristan (2006), Fig. 1(D,E). Simultaneous optical and intracellular motor-cell signals.</a:t>
            </a:r>
          </a:p>
          <a:p>
            <a:r>
              <a:t>Figure source: https://doi.org/10.1523/JNEUROSCI.3265-06.2006</a:t>
            </a:r>
          </a:p>
          <a:p/>
          <a:p>
            <a:r>
              <a:t>Figure: Briggman &amp; Kristan (2006), Fig. 1(C). Dorsal ganglion surface with identified recording cells.</a:t>
            </a:r>
          </a:p>
          <a:p>
            <a:r>
              <a:t>Figure source: https://doi.org/10.1523/JNEUROSCI.3265-06.2006</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Briggman and Kristan calculated the phase of each optically recorded cell relative to a reference motor neuron. Coherence measures how consistently two signals share an oscillation at a specified frequency. Cells that oscillated consistently could be assigned a phase within the corresponding motor cycle.</a:t>
            </a:r>
          </a:p>
          <a:p>
            <a:r>
              <a:t>• The dorsal ganglion contained cells active during both rhythms, but their phases were reorganized. The relationship between longitudinal excitors and inhibitors differed because swimming alternates dorsal and ventral contraction whereas crawling coactivates longitudinal muscle groups during shortening. The measured phase maps came from the same preparation.</a:t>
            </a:r>
          </a:p>
          <a:p>
            <a:r>
              <a:t>• A cell’s participation in both rhythms does not imply that it serves the same functional role in each. Phase maps constrain which neurons are candidates for shared circuitry. They do not establish the direction or transmitter of a connection, which requires additional anatomical or physiological evidence.</a:t>
            </a:r>
          </a:p>
          <a:p>
            <a:r>
              <a:t>• The displayed panels are the measured maps. The paper also contains predicted maps based on previously known motor functions, but predicted and recorded activity are different kinds of evidence and are kept separate.</a:t>
            </a:r>
          </a:p>
          <a:p/>
          <a:p>
            <a:r>
              <a:t>References:</a:t>
            </a:r>
          </a:p>
          <a:p>
            <a:r>
              <a:t>K. L. Briggman; W. B. Kristan Jr (2006). Imaging dedicated and multifunctional neural circuits generating distinct behaviors. Journal of Neuroscience 26(42):10925–10933. https://doi.org/10.1523/JNEUROSCI.3265-06.2006</a:t>
            </a:r>
          </a:p>
          <a:p/>
          <a:p>
            <a:r>
              <a:t>Figure: Briggman &amp; Kristan (2006), Fig. 2(A,B). Measured dorsal-surface phase maps for crawling and swimming.</a:t>
            </a:r>
          </a:p>
          <a:p>
            <a:r>
              <a:t>Figure source: https://doi.org/10.1523/JNEUROSCI.3265-06.2006</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Briggman and Kristan recorded the ventral ganglion surface and simultaneously impaled cells CV and AE. CV is a circular-muscle excitor associated with body elongation. AE, the annulus erector motor neuron, provides a recognizable output associated with crawling and changes in body form.</a:t>
            </a:r>
          </a:p>
          <a:p>
            <a:r>
              <a:t>• CV and AE oscillated approximately 180° apart during crawling. Neither displayed the corresponding rhythmic oscillation during swimming in the same preparation. The optical and intracellular records agreed on this distinction, providing a control against mistaking a weak optical signal for behavioral inactivity.</a:t>
            </a:r>
          </a:p>
          <a:p>
            <a:r>
              <a:t>• Shared muscle and neural resources coexist with selectively participating cells. The absence of a coherent swim oscillation in these records does not mean that a neuron is permanently silent or incapable of responding to another stimulus. It specifies its recorded contribution under the elicited motor conditions.</a:t>
            </a:r>
          </a:p>
          <a:p>
            <a:r>
              <a:t>• A dedicated component participates in one of the compared rhythms; a multifunctional component participates in more than one. These labels describe the tested behaviors and should not be extended automatically to all possible actions of the animal.</a:t>
            </a:r>
          </a:p>
          <a:p/>
          <a:p>
            <a:r>
              <a:t>References:</a:t>
            </a:r>
          </a:p>
          <a:p>
            <a:r>
              <a:t>K. L. Briggman; W. B. Kristan Jr (2006). Imaging dedicated and multifunctional neural circuits generating distinct behaviors. Journal of Neuroscience 26(42):10925–10933. https://doi.org/10.1523/JNEUROSCI.3265-06.2006</a:t>
            </a:r>
          </a:p>
          <a:p/>
          <a:p>
            <a:r>
              <a:t>Figure: Briggman &amp; Kristan (2006), Fig. 3(A–C). Ventral ganglion and motor-cell activity during the two rhythms.</a:t>
            </a:r>
          </a:p>
          <a:p>
            <a:r>
              <a:t>Figure source: https://doi.org/10.1523/JNEUROSCI.3265-06.2006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Briggman and Kristan combined reproducible phase-associated activity across dorsal and ventral imaging experiments. The summary distinguished cells active in both rhythms from cells coherent with only swimming or only crawling. Cells lacking reliable activity were not assigned a behavior merely from anatomical position.</a:t>
            </a:r>
          </a:p>
          <a:p>
            <a:r>
              <a:t>• The identified population included about 90 swimming-associated and 188 crawling-associated cells. Of the swimming-associated cells, 84 also oscillated with crawling. Thus most of the observed swim population participated in the slower crawl rhythm, while crawling recruited many additional cells.</a:t>
            </a:r>
          </a:p>
          <a:p>
            <a:r>
              <a:t>• The numerical overlap describes recorded rhythmic participation, not proof that every participating neuron generates the rhythm. Some cells may receive the pattern rather than construct it. Nevertheless, the data reject a simple account in which the two behaviors use entirely separate, nonoverlapping neuronal populations.</a:t>
            </a:r>
          </a:p>
          <a:p>
            <a:r>
              <a:t>• The summary maps merge measured participation across preparations. They provide a guide to shared network membership; they are not a complete synaptic wiring diagram and do not determine which connections are causally necessary.</a:t>
            </a:r>
          </a:p>
          <a:p/>
          <a:p>
            <a:r>
              <a:t>References:</a:t>
            </a:r>
          </a:p>
          <a:p>
            <a:r>
              <a:t>K. L. Briggman; W. B. Kristan Jr (2006). Imaging dedicated and multifunctional neural circuits generating distinct behaviors. Journal of Neuroscience 26(42):10925–10933. https://doi.org/10.1523/JNEUROSCI.3265-06.2006</a:t>
            </a:r>
          </a:p>
          <a:p/>
          <a:p>
            <a:r>
              <a:t>Figure: Briggman &amp; Kristan (2006), Fig. 5(A,B). Summary maps of measured shared and selective participation.</a:t>
            </a:r>
          </a:p>
          <a:p>
            <a:r>
              <a:t>Figure source: https://doi.org/10.1523/JNEUROSCI.3265-06.2006</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Briggman and Kristan observed switches between crawling and swimming while maintaining recordings from identified motor cells. This comparison follows individual neurons across a state change rather than comparing separate animals assigned to different behaviors. Motor-nerve output identified the behavior expressed on either side of the switch.</a:t>
            </a:r>
          </a:p>
          <a:p>
            <a:r>
              <a:t>• Cells 3 and 4 were in phase during crawl-related longitudinal contraction but became approximately out of phase during swimming. The transition could occur within 1–2 s. Their relationship therefore changed on a time scale much shorter than any anatomical rebuilding of the neurons.</a:t>
            </a:r>
          </a:p>
          <a:p>
            <a:r>
              <a:t>• The shared circuit can express alternative dynamical configurations through changes in active interactions and input. The recordings establish rapid reorganization but do not identify its complete molecular trigger. Structural overlap permits flexible use of the same cells; it does not by itself specify the mechanism selecting one motor pattern.</a:t>
            </a:r>
          </a:p>
          <a:p>
            <a:r>
              <a:t>• A dynamical configuration describes the timing and relationships of active neurons. The interpretation concerns changes in circuit operation, not a claim that the neuron’s anatomical identity changes when the animal switches locomotor behavior.</a:t>
            </a:r>
          </a:p>
          <a:p/>
          <a:p>
            <a:r>
              <a:t>References:</a:t>
            </a:r>
          </a:p>
          <a:p>
            <a:r>
              <a:t>K. L. Briggman; W. B. Kristan Jr (2006). Imaging dedicated and multifunctional neural circuits generating distinct behaviors. Journal of Neuroscience 26(42):10925–10933. https://doi.org/10.1523/JNEUROSCI.3265-06.2006</a:t>
            </a:r>
          </a:p>
          <a:p/>
          <a:p>
            <a:r>
              <a:t>Figure: Briggman &amp; Kristan (2006), Fig. 6(E). Motor and intracellular signals at a crawl-to-swim transition.</a:t>
            </a:r>
          </a:p>
          <a:p>
            <a:r>
              <a:t>Figure source: https://doi.org/10.1523/JNEUROSCI.3265-06.2006</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Briggman and Kristan identified cell 255 by its ventral soma position, morphology, and activity. An interneuron communicates within the nervous system rather than directly innervating a peripheral muscle. Cell 255 had bilateral arbors and projected through a central connective, supporting its interneuronal identity.</a:t>
            </a:r>
          </a:p>
          <a:p>
            <a:r>
              <a:t>• Cell 255 depolarized during crawl elongation and oscillated during swimming. Depolarizing it during crawl contraction ended that phase early and shortened the step period by approximately 21%. Depolarization during elongation did not change the period; stimulation during swimming could slow or terminate the episode.</a:t>
            </a:r>
          </a:p>
          <a:p>
            <a:r>
              <a:t>• Current injection supplies causal evidence beyond correlation with a rhythm. The phase specificity argues that the effect depends on the current circuit state. The absence of a consistent effect from hyperpolarizing the cell prevents treating this experiment as proof that cell 255 alone is necessary for either rhythm.</a:t>
            </a:r>
          </a:p>
          <a:p>
            <a:r>
              <a:t>• The original figure includes the filled cell and recordings during both behaviors. A cell can influence two patterns in different ways: accelerating a transition in one and reducing or terminating activity in the other.</a:t>
            </a:r>
          </a:p>
          <a:p/>
          <a:p>
            <a:r>
              <a:t>References:</a:t>
            </a:r>
          </a:p>
          <a:p>
            <a:r>
              <a:t>K. L. Briggman; W. B. Kristan Jr (2006). Imaging dedicated and multifunctional neural circuits generating distinct behaviors. Journal of Neuroscience 26(42):10925–10933. https://doi.org/10.1523/JNEUROSCI.3265-06.2006</a:t>
            </a:r>
          </a:p>
          <a:p/>
          <a:p>
            <a:r>
              <a:t>Figure: Briggman &amp; Kristan (2006), Fig. 7(A–E). Identified cell 255 morphology and recordings with perturbations.</a:t>
            </a:r>
          </a:p>
          <a:p>
            <a:r>
              <a:t>Figure source: https://doi.org/10.1523/JNEUROSCI.3265-06.2006</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Briggman and Kristan identified cell 257 as a ventral interneuron with a projection through an anterior connective. Its morphology differed from cell 255, and its activity was recorded together with the annulus erector cell. The comparison used crawling and swimming in the same preparation.</a:t>
            </a:r>
          </a:p>
          <a:p>
            <a:r>
              <a:t>• During crawling, cell 257 depolarized and fired with the elongation phase. During swimming it became strongly hyperpolarized and did not express a coherent swim rhythm. The published recordings preserve a 20 mV calibration and a 2 s time bar for the swimming comparison.</a:t>
            </a:r>
          </a:p>
          <a:p>
            <a:r>
              <a:t>• This pattern supports selectively crawl-associated participation. Depolarizing or hyperpolarizing a single cell 257 did not consistently perturb either rhythm, so participation does not establish an initiating or indispensable role. The distinction between observing a cell’s phase and causally controlling the pattern is essential to interpreting population maps.</a:t>
            </a:r>
          </a:p>
          <a:p>
            <a:r>
              <a:t>• Hyperpolarization moves membrane voltage toward a more negative value and can reduce spiking. The recording establishes behavior-dependent suppression of cell 257, while leaving the full source of that inhibition unresolved.</a:t>
            </a:r>
          </a:p>
          <a:p/>
          <a:p>
            <a:r>
              <a:t>References:</a:t>
            </a:r>
          </a:p>
          <a:p>
            <a:r>
              <a:t>K. L. Briggman; W. B. Kristan Jr (2006). Imaging dedicated and multifunctional neural circuits generating distinct behaviors. Journal of Neuroscience 26(42):10925–10933. https://doi.org/10.1523/JNEUROSCI.3265-06.2006</a:t>
            </a:r>
          </a:p>
          <a:p/>
          <a:p>
            <a:r>
              <a:t>Figure: Briggman &amp; Kristan (2006), Fig. 8(A–C). Cell 257 anatomy and crawl-versus-swim intracellular recordings.</a:t>
            </a:r>
          </a:p>
          <a:p>
            <a:r>
              <a:t>Figure source: https://doi.org/10.1523/JNEUROSCI.3265-06.2006</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Dopamine is a neurotransmitter that can alter the functional state of locomotor circuits. Puhl and Mesce superfused isolated whole leech nervous systems with dopamine while monitoring motor nerves and an identified motor neuron. The preparation retained the cephalic and segmental ganglia but lacked the peripheral body.</a:t>
            </a:r>
          </a:p>
          <a:p>
            <a:r>
              <a:t>• At approximately 75 μM dopamine, previously quiet motor nerves developed repeated DE-3 bursts. Crawl-like activity could emerge after about 3 min and later acquire anterior-to-posterior propagation. Some preparations became coordinated during dopamine exposure, while others did so during washout.</a:t>
            </a:r>
          </a:p>
          <a:p>
            <a:r>
              <a:t>• Dopamine is sufficient to make a crawl-like motor program available in this preparation. The result is not a measurement of natural dopamine concentration at each receptor or proof that dopamine alone determines intact behavioral choice. Local pattern activation and intersegmental coordination remain distinguishable outcomes.</a:t>
            </a:r>
          </a:p>
          <a:p>
            <a:r>
              <a:t>• The supplied concentration is a bath concentration chosen for the experimental preparation. It should not be equated with a measured concentration at an endogenous release site.</a:t>
            </a:r>
          </a:p>
          <a:p/>
          <a:p>
            <a:r>
              <a:t>References:</a:t>
            </a:r>
          </a:p>
          <a:p>
            <a:r>
              <a:t>J. G. Puhl; K. A. Mesce (2008). Dopamine activates the motor pattern for crawling in the medicinal leech. Journal of Neuroscience 28(16):4192–4200. https://doi.org/10.1523/JNEUROSCI.0136-08.2008</a:t>
            </a:r>
          </a:p>
          <a:p>
            <a:r>
              <a:t>M. Ashaber; Y. Tomina; P. Kassraian; E. A. Bushong; W. B. Kristan Jr; M. H. Ellisman; D. A. Wagenaar (2021). Anatomy and activity patterns in a multifunctional motor neuron and its surrounding circuits. eLife 10:e61881. https://doi.org/10.7554/eLife.61881</a:t>
            </a:r>
          </a:p>
          <a:p/>
          <a:p>
            <a:r>
              <a:t>Figure: Puhl &amp; Mesce (2008), Fig. 1(B,C). Motor activity before and during dopamine exposure.</a:t>
            </a:r>
          </a:p>
          <a:p>
            <a:r>
              <a:t>Figure source: https://doi.org/10.1523/JNEUROSCI.0136-08.2008</a:t>
            </a:r>
          </a:p>
          <a:p/>
          <a:p>
            <a:r>
              <a:t>Figure: Ashaber et al. (2021), Fig. 7(a). Reconstructed DE-3 arbor over a dorsal micro-CT image.</a:t>
            </a:r>
          </a:p>
          <a:p>
            <a:r>
              <a:t>Figure source: https://doi.org/10.7554/eLife.61881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Puhl and Mesce recorded intracellularly from the circular excitor CV and the ventral longitudinal excitor VE-4 during dopamine-induced fictive crawling. Simultaneous dorsal posterior nerve recordings monitored DE-3, the dorsal longitudinal excitor. This pairing identified the motor pattern through several muscle-related outputs.</a:t>
            </a:r>
          </a:p>
          <a:p>
            <a:r>
              <a:t>• CV activity was approximately 180° out of phase with DE-3. During the DE-3 burst, CV hyperpolarized by approximately 2–4 mV and its spikes were suppressed. VE-4 instead depolarized and fired in phase with DE-3, consistent with coordinated dorsal and ventral shortening.</a:t>
            </a:r>
          </a:p>
          <a:p>
            <a:r>
              <a:t>• Correct muscle-group phasing is stronger evidence for a crawl program than a slow DE-3 burst alone. The recordings establish patterned excitation and suppression in the motor outputs. They do not identify every interneuron that imposes the phase relationships or directly measure the resulting muscle force.</a:t>
            </a:r>
          </a:p>
          <a:p>
            <a:r>
              <a:t>• Antagonist muscle actions have opposing mechanical effects. Here circular-muscle activity favors elongation while longitudinal-muscle activity favors shortening; their alternating recruitment is part of the definition of the crawl pattern.</a:t>
            </a:r>
          </a:p>
          <a:p/>
          <a:p>
            <a:r>
              <a:t>References:</a:t>
            </a:r>
          </a:p>
          <a:p>
            <a:r>
              <a:t>J. G. Puhl; K. A. Mesce (2008). Dopamine activates the motor pattern for crawling in the medicinal leech. Journal of Neuroscience 28(16):4192–4200. https://doi.org/10.1523/JNEUROSCI.0136-08.2008</a:t>
            </a:r>
          </a:p>
          <a:p>
            <a:r>
              <a:t>M. Ashaber; Y. Tomina; P. Kassraian; E. A. Bushong; W. B. Kristan Jr; M. H. Ellisman; D. A. Wagenaar (2021). Anatomy and activity patterns in a multifunctional motor neuron and its surrounding circuits. eLife 10:e61881. https://doi.org/10.7554/eLife.61881</a:t>
            </a:r>
          </a:p>
          <a:p/>
          <a:p>
            <a:r>
              <a:t>Figure: Puhl &amp; Mesce (2008), Fig. 2(D,E). CV and VE-4 activity relative to the DE-3 motor burst.</a:t>
            </a:r>
          </a:p>
          <a:p>
            <a:r>
              <a:t>Figure source: https://doi.org/10.1523/JNEUROSCI.0136-08.2008</a:t>
            </a:r>
          </a:p>
          <a:p/>
          <a:p>
            <a:r>
              <a:t>Figure: Ashaber et al. (2021), Fig. 7(a). Reconstructed DE-3 arbor over a dorsal micro-CT image.</a:t>
            </a:r>
          </a:p>
          <a:p>
            <a:r>
              <a:t>Figure source: https://doi.org/10.7554/eLife.61881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Puhl and Mesce separated individual segmental ganglia from the rest of the nerve cord and applied dopamine. This reduction removed descending input and intersegmental communication. Intracellular recordings identified DE-3, VE-4, and CV while a motor-nerve recording monitored the local output.</a:t>
            </a:r>
          </a:p>
          <a:p>
            <a:r>
              <a:t>• Dopamine induced repeated, appropriately phased activity in all three motor-cell classes. DE-3 depolarizations reached approximately 12–16 mV, with smaller spikes riding on the slow voltage wave. Intracellular DE-3 spikes matched the largest extracellular motor unit one for one, validating the nerve-based monitor.</a:t>
            </a:r>
          </a:p>
          <a:p>
            <a:r>
              <a:t>• A segmental ganglion contains circuitry sufficient for local crawl-like pattern production under these conditions. A single ganglion cannot establish a full front-to-back behavioral sequence by itself. Local rhythm-generating capacity therefore does not settle how the intact cord coordinates segments or chooses the next movement.</a:t>
            </a:r>
          </a:p>
          <a:p>
            <a:r>
              <a:t>• A slow wave is a membrane-potential fluctuation on which faster action potentials can ride. The agreement between intracellular spikes and the nerve unit checks cell identity, while the slow wave reflects the patterned drive reaching that motor neuron.</a:t>
            </a:r>
          </a:p>
          <a:p/>
          <a:p>
            <a:r>
              <a:t>References:</a:t>
            </a:r>
          </a:p>
          <a:p>
            <a:r>
              <a:t>J. G. Puhl; K. A. Mesce (2008). Dopamine activates the motor pattern for crawling in the medicinal leech. Journal of Neuroscience 28(16):4192–4200. https://doi.org/10.1523/JNEUROSCI.0136-08.2008</a:t>
            </a:r>
          </a:p>
          <a:p>
            <a:r>
              <a:t>M. Ashaber; Y. Tomina; P. Kassraian; E. A. Bushong; W. B. Kristan Jr; M. H. Ellisman; D. A. Wagenaar (2021). Anatomy and activity patterns in a multifunctional motor neuron and its surrounding circuits. eLife 10:e61881. https://doi.org/10.7554/eLife.61881</a:t>
            </a:r>
          </a:p>
          <a:p/>
          <a:p>
            <a:r>
              <a:t>Figure: Puhl &amp; Mesce (2008), Fig. 3(A–C). Identified excitatory motor-cell activity in isolated ganglia.</a:t>
            </a:r>
          </a:p>
          <a:p>
            <a:r>
              <a:t>Figure source: https://doi.org/10.1523/JNEUROSCI.0136-08.2008</a:t>
            </a:r>
          </a:p>
          <a:p/>
          <a:p>
            <a:r>
              <a:t>Figure: Ashaber et al. (2021), Fig. 7(a). Reconstructed DE-3 arbor over a dorsal micro-CT image.</a:t>
            </a:r>
          </a:p>
          <a:p>
            <a:r>
              <a:t>Figure source: https://doi.org/10.7554/eLife.61881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Puhl and Mesce recorded the dorsal inhibitor DI-1 and ventral inhibitor VI-2 in isolated ganglia during dopamine-induced crawling. Both are motor neurons associated with inhibition of longitudinal muscle pathways. Simultaneous DE-3 recording identified the contraction-related output of the same local circuit.</a:t>
            </a:r>
          </a:p>
          <a:p>
            <a:r>
              <a:t>• Their activity was largely opposite to DE-3 bursting. DI-1 was suppressed during the contraction phase and became more active toward its termination. VI-2 could produce inhibitory potentials in VE-4, directly connecting an inhibitory motor pathway with reduced activity in a longitudinal excitor.</a:t>
            </a:r>
          </a:p>
          <a:p>
            <a:r>
              <a:t>• An inhibitory postsynaptic potential is a synaptic voltage change that reduces the likelihood of firing in the receiving neuron. These recordings support coordinated inhibitory and excitatory contributions to alternating movement phases. The experiment does not assign a transmitter or receptor subtype solely from the direction of the voltage change.</a:t>
            </a:r>
          </a:p>
          <a:p>
            <a:r>
              <a:t>• Postsynaptic refers to the receiving side of a synapse. Recording a voltage change in VE-4 while identifying VI-2 activity links cell timing to inhibition, but molecular identification requires evidence beyond a membrane-potential trace.</a:t>
            </a:r>
          </a:p>
          <a:p/>
          <a:p>
            <a:r>
              <a:t>References:</a:t>
            </a:r>
          </a:p>
          <a:p>
            <a:r>
              <a:t>J. G. Puhl; K. A. Mesce (2008). Dopamine activates the motor pattern for crawling in the medicinal leech. Journal of Neuroscience 28(16):4192–4200. https://doi.org/10.1523/JNEUROSCI.0136-08.2008</a:t>
            </a:r>
          </a:p>
          <a:p>
            <a:r>
              <a:t>M. Ashaber; Y. Tomina; P. Kassraian; E. A. Bushong; W. B. Kristan Jr; M. H. Ellisman; D. A. Wagenaar (2021). Anatomy and activity patterns in a multifunctional motor neuron and its surrounding circuits. eLife 10:e61881. https://doi.org/10.7554/eLife.61881</a:t>
            </a:r>
          </a:p>
          <a:p/>
          <a:p>
            <a:r>
              <a:t>Figure: Puhl &amp; Mesce (2008), Fig. 4(A,B). DI-1 and VI-2 activity relative to DE-3 during fictive crawling.</a:t>
            </a:r>
          </a:p>
          <a:p>
            <a:r>
              <a:t>Figure source: https://doi.org/10.1523/JNEUROSCI.0136-08.2008</a:t>
            </a:r>
          </a:p>
          <a:p/>
          <a:p>
            <a:r>
              <a:t>Figure: Ashaber et al. (2021), Fig. 7(a). Reconstructed DE-3 arbor over a dorsal micro-CT image.</a:t>
            </a:r>
          </a:p>
          <a:p>
            <a:r>
              <a:t>Figure source: https://doi.org/10.7554/eLife.61881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Puhl and Mesce compared dopamine-induced rhythms in whole cords and single ganglia with spontaneous or electrically induced fictive crawling. They also measured overt crawling from video. The comparisons used cycle period and the duration of contraction-related DE-3 bursts to test similarity of motor organization.</a:t>
            </a:r>
          </a:p>
          <a:p>
            <a:r>
              <a:t>• Fictive crawling had periods on the order of 10–15 s in these preparations, whereas overt crawling averaged approximately 3.3 s. The fraction of a fictive cycle occupied by DE-3 bursting was broadly similar across the neural preparations despite their differences in size and induction method.</a:t>
            </a:r>
          </a:p>
          <a:p>
            <a:r>
              <a:t>• A duty cycle is the fraction of a repeating cycle occupied by a defined active phase. Comparable duty cycles support a shared pattern, but slower fictive periods limit equivalence with intact movement. The reduced preparation exposes central activity without recreating every sensory, mechanical, or motivational condition of natural crawling.</a:t>
            </a:r>
          </a:p>
          <a:p>
            <a:r>
              <a:t>• The overt contraction measurement used sucker release and attachment, while the fictive contraction proxy used DE-3 activity. Those measurements are related but not identical, so the result supports a motor-pattern comparison rather than complete behavioral identity.</a:t>
            </a:r>
          </a:p>
          <a:p/>
          <a:p>
            <a:r>
              <a:t>References:</a:t>
            </a:r>
          </a:p>
          <a:p>
            <a:r>
              <a:t>J. G. Puhl; K. A. Mesce (2008). Dopamine activates the motor pattern for crawling in the medicinal leech. Journal of Neuroscience 28(16):4192–4200. https://doi.org/10.1523/JNEUROSCI.0136-08.2008</a:t>
            </a:r>
          </a:p>
          <a:p>
            <a:r>
              <a:t>M. Ashaber; Y. Tomina; P. Kassraian; E. A. Bushong; W. B. Kristan Jr; M. H. Ellisman; D. A. Wagenaar (2021). Anatomy and activity patterns in a multifunctional motor neuron and its surrounding circuits. eLife 10:e61881. https://doi.org/10.7554/eLife.61881</a:t>
            </a:r>
          </a:p>
          <a:p/>
          <a:p>
            <a:r>
              <a:t>Figure: Puhl &amp; Mesce (2008), Fig. 7. Original quantitative comparisons of crawl period and duty cycle.</a:t>
            </a:r>
          </a:p>
          <a:p>
            <a:r>
              <a:t>Figure source: https://doi.org/10.1523/JNEUROSCI.0136-08.2008</a:t>
            </a:r>
          </a:p>
          <a:p/>
          <a:p>
            <a:r>
              <a:t>Figure: Ashaber et al. (2021), Fig. 7(a). Reconstructed DE-3 arbor over a dorsal micro-CT image.</a:t>
            </a:r>
          </a:p>
          <a:p>
            <a:r>
              <a:t>Figure source: https://doi.org/10.7554/eLife.61881</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Crisp and colleagues tested whether cyclic AMP signaling could contribute to dopamine-associated crawling. Cyclic AMP, or cAMP, is an intracellular signaling molecule. A phosphodiesterase is an enzyme that breaks down cyclic nucleotides; inhibiting it can prolong their intracellular availability.</a:t>
            </a:r>
          </a:p>
          <a:p>
            <a:r>
              <a:t>• Bath application of 4.4 mM theophylline caused DE-3 bursting after approximately 10–20 min in isolated ganglia. A polar theophylline-related compound that blocked extracellular adenosine receptors without reproducing intracellular phosphodiesterase inhibition did not induce the same rhythm. Normal-saline recordings supplied the untreated comparison.</a:t>
            </a:r>
          </a:p>
          <a:p>
            <a:r>
              <a:t>• The control supports an intracellular contribution rather than attributing bursting simply to adenosine receptor blockade. It does not prove that theophylline acts exclusively through one enzyme or that dopamine uses an identical pathway. The measured endpoint is slow motor bursting, whose complete phase organization must be tested separately.</a:t>
            </a:r>
          </a:p>
          <a:p>
            <a:r>
              <a:t>• A polar drug may cross membranes less readily than a related nonpolar compound. The control used this distinction to separate extracellular receptor effects from the intracellular effects being investigated.</a:t>
            </a:r>
          </a:p>
          <a:p/>
          <a:p>
            <a:r>
              <a:t>References:</a:t>
            </a:r>
          </a:p>
          <a:p>
            <a:r>
              <a:t>K. M. Crisp; B. R. Gallagher; K. A. Mesce (2012). Mechanisms contributing to the dopamine induction of crawl-like bursting in leech motoneurons. Journal of Experimental Biology 215(17):3028–3036. https://doi.org/10.1242/jeb.069245</a:t>
            </a:r>
          </a:p>
          <a:p>
            <a:r>
              <a:t>M. Ashaber; Y. Tomina; P. Kassraian; E. A. Bushong; W. B. Kristan Jr; M. H. Ellisman; D. A. Wagenaar (2021). Anatomy and activity patterns in a multifunctional motor neuron and its surrounding circuits. eLife 10:e61881. https://doi.org/10.7554/eLife.61881</a:t>
            </a:r>
          </a:p>
          <a:p/>
          <a:p>
            <a:r>
              <a:t>Figure: Crisp et al. (2012), Fig. 1(A). Theophylline, saline and extracellular-action control recordings.</a:t>
            </a:r>
          </a:p>
          <a:p>
            <a:r>
              <a:t>Figure source: https://doi.org/10.1242/jeb.069245</a:t>
            </a:r>
          </a:p>
          <a:p/>
          <a:p>
            <a:r>
              <a:t>Figure: Ashaber et al. (2021), Fig. 7(a). Reconstructed DE-3 arbor over a dorsal micro-CT image.</a:t>
            </a:r>
          </a:p>
          <a:p>
            <a:r>
              <a:t>Figure source: https://doi.org/10.7554/eLife.61881</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Crisp and colleagues applied the phosphodiesterase inhibitor IBMX to leech neural tissue and measured cAMP using an enzyme immunoassay. An immunoassay uses molecular binding to quantify a target substance. This measurement checked whether the proposed intracellular signal actually increased after treatment.</a:t>
            </a:r>
          </a:p>
          <a:p>
            <a:r>
              <a:t>• After 30 min in 0.5 mM IBMX, extract cAMP increased from approximately 12.9 to 29.4 pmol per ml. IBMX and dopamine could each support DE-3 bursts with periods near 20 s, and their coapplication did not abolish rhythmic bursting.</a:t>
            </a:r>
          </a:p>
          <a:p>
            <a:r>
              <a:t>• The biochemical and physiological results are consistent with a cAMP-associated route to rhythmicity. They do not directly identify a DA1-like receptor or prove that dopamine and IBMX converge on one molecular pathway. That receptor-based explanation remains a proposal requiring receptor-specific evidence in the relevant circuit cells.</a:t>
            </a:r>
          </a:p>
          <a:p>
            <a:r>
              <a:t>• DA1-like signaling often involves increases in cAMP, but similarity of downstream effects is not a receptor-identification assay. The original paper explicitly separates possible common pathways from mechanisms that could operate in parallel.</a:t>
            </a:r>
          </a:p>
          <a:p/>
          <a:p>
            <a:r>
              <a:t>References:</a:t>
            </a:r>
          </a:p>
          <a:p>
            <a:r>
              <a:t>K. M. Crisp; B. R. Gallagher; K. A. Mesce (2012). Mechanisms contributing to the dopamine induction of crawl-like bursting in leech motoneurons. Journal of Experimental Biology 215(17):3028–3036. https://doi.org/10.1242/jeb.069245</a:t>
            </a:r>
          </a:p>
          <a:p>
            <a:r>
              <a:t>M. Ashaber; Y. Tomina; P. Kassraian; E. A. Bushong; W. B. Kristan Jr; M. H. Ellisman; D. A. Wagenaar (2021). Anatomy and activity patterns in a multifunctional motor neuron and its surrounding circuits. eLife 10:e61881. https://doi.org/10.7554/eLife.61881</a:t>
            </a:r>
          </a:p>
          <a:p/>
          <a:p>
            <a:r>
              <a:t>Figure: Crisp et al. (2012), Fig. 1(B). Measured burst periods and durations across experimental conditions.</a:t>
            </a:r>
          </a:p>
          <a:p>
            <a:r>
              <a:t>Figure source: https://doi.org/10.1242/jeb.069245</a:t>
            </a:r>
          </a:p>
          <a:p/>
          <a:p>
            <a:r>
              <a:t>Figure: Ashaber et al. (2021), Fig. 7(a). Reconstructed DE-3 arbor over a dorsal micro-CT image.</a:t>
            </a:r>
          </a:p>
          <a:p>
            <a:r>
              <a:t>Figure source: https://doi.org/10.7554/eLife.61881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Crisp and colleagues tested IBMX-induced bursting with riluzole, a drug used to inhibit a persistent sodium-current component. A persistent current continues beyond the brief inward current associated with an action potential. Sustained sodium entry can support a prolonged depolarization on which spikes occur.</a:t>
            </a:r>
          </a:p>
          <a:p>
            <a:r>
              <a:t>• Application of 200 μM riluzole stopped the rhythmic DE-3 bursts despite continued IBMX exposure. The preparations could still fire impulses, and washing out riluzole while retaining IBMX restored bursting. The within-preparation recovery distinguishes rhythm disruption from irreversible loss of neuronal viability.</a:t>
            </a:r>
          </a:p>
          <a:p>
            <a:r>
              <a:t>• The result supports a sodium-dependent contribution to the induced timing mechanism. It does not directly measure the persistent current in an identified oscillator neuron or establish a channel gene. Pharmacological sensitivity and preserved spiking constrain the explanation without completing its molecular identification.</a:t>
            </a:r>
          </a:p>
          <a:p>
            <a:r>
              <a:t>• Riluzole was applied at 200 μM. Continued action potentials after loss of repetitive bursting help separate excitability from the slower dynamics that generate a rhythm; pharmacology still cannot establish the responsible sodium-channel gene.</a:t>
            </a:r>
          </a:p>
          <a:p/>
          <a:p>
            <a:r>
              <a:t>References:</a:t>
            </a:r>
          </a:p>
          <a:p>
            <a:r>
              <a:t>K. M. Crisp; B. R. Gallagher; K. A. Mesce (2012). Mechanisms contributing to the dopamine induction of crawl-like bursting in leech motoneurons. Journal of Experimental Biology 215(17):3028–3036. https://doi.org/10.1242/jeb.069245</a:t>
            </a:r>
          </a:p>
          <a:p>
            <a:r>
              <a:t>M. Ashaber; Y. Tomina; P. Kassraian; E. A. Bushong; W. B. Kristan Jr; M. H. Ellisman; D. A. Wagenaar (2021). Anatomy and activity patterns in a multifunctional motor neuron and its surrounding circuits. eLife 10:e61881. https://doi.org/10.7554/eLife.61881</a:t>
            </a:r>
          </a:p>
          <a:p/>
          <a:p>
            <a:r>
              <a:t>Figure: Crisp et al. (2012), Fig. 2(A–C). IBMX-induced bursts, riluzole blockade and washout recovery.</a:t>
            </a:r>
          </a:p>
          <a:p>
            <a:r>
              <a:t>Figure source: https://doi.org/10.1242/jeb.069245</a:t>
            </a:r>
          </a:p>
          <a:p/>
          <a:p>
            <a:r>
              <a:t>Figure: Ashaber et al. (2021), Fig. 7(a). Reconstructed DE-3 arbor over a dorsal micro-CT image.</a:t>
            </a:r>
          </a:p>
          <a:p>
            <a:r>
              <a:t>Figure source: https://doi.org/10.7554/eLife.61881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Crisp and colleagues replaced extracellular calcium with an equimolar concentration of nickel or cobalt while testing theophylline-induced DE-3 bursting. Calcium entry normally participates in several membrane and synaptic processes. Ion substitution tested whether normal calcium influx was required for the observed rhythmic output.</a:t>
            </a:r>
          </a:p>
          <a:p>
            <a:r>
              <a:t>• Bursting persisted in saline with 1.8 mM nickel replacing 1.8 mM calcium. Example average cycle periods were approximately 20.4 s in calcium-containing saline and 22.3 s in nickel-containing saline. Burst durations also remained in a similar range.</a:t>
            </a:r>
          </a:p>
          <a:p>
            <a:r>
              <a:t>• These observations favor a timing contribution that can operate without normal calcium entry under the experimental treatment. They do not imply that calcium is unnecessary for every synapse or for natural crawling. Ion substitution alters several processes, and the result must remain specific to the drug-induced bursting tested in the isolated preparation.</a:t>
            </a:r>
          </a:p>
          <a:p>
            <a:r>
              <a:t>• The comparative timing panel contextualizes the induced bursts, while the ion-replacement result is reported in the article text. The timing comparison does not independently test the ion-replacement condition.</a:t>
            </a:r>
          </a:p>
          <a:p/>
          <a:p>
            <a:r>
              <a:t>References:</a:t>
            </a:r>
          </a:p>
          <a:p>
            <a:r>
              <a:t>K. M. Crisp; B. R. Gallagher; K. A. Mesce (2012). Mechanisms contributing to the dopamine induction of crawl-like bursting in leech motoneurons. Journal of Experimental Biology 215(17):3028–3036. https://doi.org/10.1242/jeb.069245</a:t>
            </a:r>
          </a:p>
          <a:p>
            <a:r>
              <a:t>M. Ashaber; Y. Tomina; P. Kassraian; E. A. Bushong; W. B. Kristan Jr; M. H. Ellisman; D. A. Wagenaar (2021). Anatomy and activity patterns in a multifunctional motor neuron and its surrounding circuits. eLife 10:e61881. https://doi.org/10.7554/eLife.61881</a:t>
            </a:r>
          </a:p>
          <a:p/>
          <a:p>
            <a:r>
              <a:t>Figure: Crisp et al. (2012), Fig. 1(B). Original comparison of induced burst timing across treatments.</a:t>
            </a:r>
          </a:p>
          <a:p>
            <a:r>
              <a:t>Figure source: https://doi.org/10.1242/jeb.069245</a:t>
            </a:r>
          </a:p>
          <a:p/>
          <a:p>
            <a:r>
              <a:t>Figure: Ashaber et al. (2021), Fig. 7(a). Reconstructed DE-3 arbor over a dorsal micro-CT image.</a:t>
            </a:r>
          </a:p>
          <a:p>
            <a:r>
              <a:t>Figure source: https://doi.org/10.7554/eLife.61881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Crisp and colleagues tested clotrimazole, a blocker associated with intermediate-conductance calcium-dependent potassium channels. Potassium efflux generally opposes depolarization under these conditions. Removing an outward current can therefore alter how long an excitable cell remains active during a burst.</a:t>
            </a:r>
          </a:p>
          <a:p>
            <a:r>
              <a:t>• At 25 μM clotrimazole, DE-3 bursts occurred with cycle periods near 20 s, comparable to the other induction methods. Their duration increased to approximately 13.5 s, compared with approximately 5 s under dopamine or phosphodiesterase inhibition. The active fraction of the cycle was consequently much larger.</a:t>
            </a:r>
          </a:p>
          <a:p>
            <a:r>
              <a:t>• The result separates period from burst termination and supports an outward-current contribution to pattern shape. Clotrimazole can also affect sodium–potassium pump activity, so this experiment does not uniquely identify one potassium-channel subtype as the endogenous dopamine target. The channel account remains pharmacologically supported and incomplete.</a:t>
            </a:r>
          </a:p>
          <a:p>
            <a:r>
              <a:t>• The sodium–potassium pump uses energy to maintain ionic gradients and can contribute an outward electrical effect. A drug that influences both a channel and the pump requires caution when assigning its entire physiological effect to one target.</a:t>
            </a:r>
          </a:p>
          <a:p/>
          <a:p>
            <a:r>
              <a:t>References:</a:t>
            </a:r>
          </a:p>
          <a:p>
            <a:r>
              <a:t>K. M. Crisp; B. R. Gallagher; K. A. Mesce (2012). Mechanisms contributing to the dopamine induction of crawl-like bursting in leech motoneurons. Journal of Experimental Biology 215(17):3028–3036. https://doi.org/10.1242/jeb.069245</a:t>
            </a:r>
          </a:p>
          <a:p>
            <a:r>
              <a:t>M. Ashaber; Y. Tomina; P. Kassraian; E. A. Bushong; W. B. Kristan Jr; M. H. Ellisman; D. A. Wagenaar (2021). Anatomy and activity patterns in a multifunctional motor neuron and its surrounding circuits. eLife 10:e61881. https://doi.org/10.7554/eLife.61881</a:t>
            </a:r>
          </a:p>
          <a:p/>
          <a:p>
            <a:r>
              <a:t>Figure: Crisp et al. (2012), Fig. 1(B). Published burst-period and burst-duration comparison.</a:t>
            </a:r>
          </a:p>
          <a:p>
            <a:r>
              <a:t>Figure source: https://doi.org/10.1242/jeb.069245</a:t>
            </a:r>
          </a:p>
          <a:p/>
          <a:p>
            <a:r>
              <a:t>Figure: Ashaber et al. (2021), Fig. 7(a). Reconstructed DE-3 arbor over a dorsal micro-CT image.</a:t>
            </a:r>
          </a:p>
          <a:p>
            <a:r>
              <a:t>Figure source: https://doi.org/10.7554/eLife.61881</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Crisp and colleagues recorded several identified motor cells while IBMX induced DE-3 bursts in isolated ganglia. This tested whether a drug that reproduced approximate crawl timing also reproduced the full crawl motor pattern. Simultaneous intracellular and motor-nerve recordings established relative phase within the same cycle.</a:t>
            </a:r>
          </a:p>
          <a:p>
            <a:r>
              <a:t>• The longitudinal excitor VE-4 depolarized with DE-3, while inhibitors DI-1 and VI-2 were hyperpolarized during those bursts. However, the circular excitor CV fired in phase with DE-3 under IBMX. During the usual dopamine-induced crawl pattern, CV instead participates in the opposing elongation phase.</a:t>
            </a:r>
          </a:p>
          <a:p>
            <a:r>
              <a:t>• Rhythm generation and correct motor patterning are separable. Reproducing a slow period does not establish that every muscle group will be activated appropriately. The mismatch supports additional dopamine actions beyond the phosphodiesterase-sensitive timing route, without identifying all of the responsible receptor subtypes or interneurons.</a:t>
            </a:r>
          </a:p>
          <a:p>
            <a:r>
              <a:t>• If circular and longitudinal excitors fire together, their usual antagonistic mechanical actions can conflict. The preparation records neural outputs rather than intact muscle deformation, so the predicted movement consequence remains distinct from the measured phase error.</a:t>
            </a:r>
          </a:p>
          <a:p/>
          <a:p>
            <a:r>
              <a:t>References:</a:t>
            </a:r>
          </a:p>
          <a:p>
            <a:r>
              <a:t>K. M. Crisp; B. R. Gallagher; K. A. Mesce (2012). Mechanisms contributing to the dopamine induction of crawl-like bursting in leech motoneurons. Journal of Experimental Biology 215(17):3028–3036. https://doi.org/10.1242/jeb.069245</a:t>
            </a:r>
          </a:p>
          <a:p>
            <a:r>
              <a:t>M. Ashaber; Y. Tomina; P. Kassraian; E. A. Bushong; W. B. Kristan Jr; M. H. Ellisman; D. A. Wagenaar (2021). Anatomy and activity patterns in a multifunctional motor neuron and its surrounding circuits. eLife 10:e61881. https://doi.org/10.7554/eLife.61881</a:t>
            </a:r>
          </a:p>
          <a:p/>
          <a:p>
            <a:r>
              <a:t>Figure: Crisp et al. (2012), Fig. 3(A–D). Identified motor-cell activity during IBMX-induced bursting.</a:t>
            </a:r>
          </a:p>
          <a:p>
            <a:r>
              <a:t>Figure source: https://doi.org/10.1242/jeb.069245</a:t>
            </a:r>
          </a:p>
          <a:p/>
          <a:p>
            <a:r>
              <a:t>Figure: Ashaber et al. (2021), Fig. 7(a). Reconstructed DE-3 arbor over a dorsal micro-CT image.</a:t>
            </a:r>
          </a:p>
          <a:p>
            <a:r>
              <a:t>Figure source: https://doi.org/10.7554/eLife.61881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Crisp and colleagues applied hyperpolarizing current pulses to CV and AE motor neurons before and during dopamine exposure. Post-inhibitory rebound is increased depolarization or firing after an inhibitory influence ends. An afterhyperpolarization is a more negative voltage following activity or a rebound response.</a:t>
            </a:r>
          </a:p>
          <a:p>
            <a:r>
              <a:t>• At 75 μM dopamine, CV had a larger rebound peak but a shorter rebound duration and enhanced afterhyperpolarization. AE also had a shortened rebound response. Current pulses of −1 nA for 500 ms provided a defined perturbation rather than relying on variable network inhibition.</a:t>
            </a:r>
          </a:p>
          <a:p>
            <a:r>
              <a:t>• The effect shows that peak voltage, response duration, and subsequent inhibition can change differently under one modulator. It does not support a simple rule that dopamine uniformly increases excitability. The channel processes responsible for each component were not isolated directly by these current-pulse measurements.</a:t>
            </a:r>
          </a:p>
          <a:p>
            <a:r>
              <a:t>• A sharper but shorter rebound can change when a motor neuron fires without increasing its total activity. The experiment measures the cell’s response to a controlled input, while its actual phase in the network also depends on synaptic drive.</a:t>
            </a:r>
          </a:p>
          <a:p/>
          <a:p>
            <a:r>
              <a:t>References:</a:t>
            </a:r>
          </a:p>
          <a:p>
            <a:r>
              <a:t>K. M. Crisp; B. R. Gallagher; K. A. Mesce (2012). Mechanisms contributing to the dopamine induction of crawl-like bursting in leech motoneurons. Journal of Experimental Biology 215(17):3028–3036. https://doi.org/10.1242/jeb.069245</a:t>
            </a:r>
          </a:p>
          <a:p>
            <a:r>
              <a:t>M. Ashaber; Y. Tomina; P. Kassraian; E. A. Bushong; W. B. Kristan Jr; M. H. Ellisman; D. A. Wagenaar (2021). Anatomy and activity patterns in a multifunctional motor neuron and its surrounding circuits. eLife 10:e61881. https://doi.org/10.7554/eLife.61881</a:t>
            </a:r>
          </a:p>
          <a:p/>
          <a:p>
            <a:r>
              <a:t>Figure: Crisp et al. (2012), Fig. 4(A,B). Current pulses and rebound responses in CV and AE.</a:t>
            </a:r>
          </a:p>
          <a:p>
            <a:r>
              <a:t>Figure source: https://doi.org/10.1242/jeb.069245</a:t>
            </a:r>
          </a:p>
          <a:p/>
          <a:p>
            <a:r>
              <a:t>Figure: Ashaber et al. (2021), Fig. 7(a). Reconstructed DE-3 arbor over a dorsal micro-CT image.</a:t>
            </a:r>
          </a:p>
          <a:p>
            <a:r>
              <a:t>Figure source: https://doi.org/10.7554/eLife.61881</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Crisp and colleagues injected depolarizing current into CV and AE and compared firing before and during dopamine exposure. Excitability here refers to the relationship between injected current and the resulting discharge. Testing that relationship separates direct cellular responsiveness from the presence of a network rhythm.</a:t>
            </a:r>
          </a:p>
          <a:p>
            <a:r>
              <a:t>• For a +1 nA input, average AE firing fell from approximately 18 to 12.6 Hz during dopamine; average CV firing fell from approximately 41.2 to 23 Hz. Theophylline did not reproduce the same reduction and instead increased resting discharge in the tested cells.</a:t>
            </a:r>
          </a:p>
          <a:p>
            <a:r>
              <a:t>• Dopamine can favor a patterned output while reducing the response of particular motor neurons to steady excitation. Timing, phase, and input responsiveness are different properties. The mismatch with theophylline supports multiple modulatory effects, but does not prove which receptor or conductance accounts for each difference.</a:t>
            </a:r>
          </a:p>
          <a:p>
            <a:r>
              <a:t>• The traces in the original figure represent individual examples, while the text here uses the article’s average current-response values. The distinction prevents an illustrative trace from being treated as the population average.</a:t>
            </a:r>
          </a:p>
          <a:p/>
          <a:p>
            <a:r>
              <a:t>References:</a:t>
            </a:r>
          </a:p>
          <a:p>
            <a:r>
              <a:t>K. M. Crisp; B. R. Gallagher; K. A. Mesce (2012). Mechanisms contributing to the dopamine induction of crawl-like bursting in leech motoneurons. Journal of Experimental Biology 215(17):3028–3036. https://doi.org/10.1242/jeb.069245</a:t>
            </a:r>
          </a:p>
          <a:p>
            <a:r>
              <a:t>M. Ashaber; Y. Tomina; P. Kassraian; E. A. Bushong; W. B. Kristan Jr; M. H. Ellisman; D. A. Wagenaar (2021). Anatomy and activity patterns in a multifunctional motor neuron and its surrounding circuits. eLife 10:e61881. https://doi.org/10.7554/eLife.61881</a:t>
            </a:r>
          </a:p>
          <a:p/>
          <a:p>
            <a:r>
              <a:t>Figure: Crisp et al. (2012), Fig. 5(A–D). Motor-cell firing responses and original current–frequency plots.</a:t>
            </a:r>
          </a:p>
          <a:p>
            <a:r>
              <a:t>Figure source: https://doi.org/10.1242/jeb.069245</a:t>
            </a:r>
          </a:p>
          <a:p/>
          <a:p>
            <a:r>
              <a:t>Figure: Ashaber et al. (2021), Fig. 7(a). Reconstructed DE-3 arbor over a dorsal micro-CT image.</a:t>
            </a:r>
          </a:p>
          <a:p>
            <a:r>
              <a:t>Figure source: https://doi.org/10.7554/eLife.61881</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Puhl and colleagues identified the paired descending neuron R3b-1 within the subesophageal ganglion. A descending projection carries signals from an anterior neural region toward more posterior circuitry. Neurobiotin filling and confocal imaging established the cell’s soma and arborization in the cephalic region.</a:t>
            </a:r>
          </a:p>
          <a:p>
            <a:r>
              <a:t>• R3b-1 has an axon that extends through the nerve cord, with branches in segmental ganglia. Some processes cross the midline, providing anatomical access to both sides. The published cephalic and segmental images preserve 100 μm scale bars.</a:t>
            </a:r>
          </a:p>
          <a:p>
            <a:r>
              <a:t>• The anatomy permits one cell to influence many local motor circuits, but a visible arbor is not proof of a synapse onto every nearby neuron. Its functional role must be tested with recording and perturbation. The descending arrangement also does not make R3b-1 the sole possible source of local crawl rhythmicity.</a:t>
            </a:r>
          </a:p>
          <a:p>
            <a:r>
              <a:t>• The subesophageal ganglion is a fused cephalic neural region below the esophagus. The bilateral pairing matters because manipulating one cell without excluding its counterpart could leave a parallel source of descending influence.</a:t>
            </a:r>
          </a:p>
          <a:p/>
          <a:p>
            <a:r>
              <a:t>References:</a:t>
            </a:r>
          </a:p>
          <a:p>
            <a:r>
              <a:t>J. G. Puhl; M. A. Masino; K. A. Mesce (2012). Necessary, sufficient and permissive: a single locomotor command neuron important for intersegmental coordination. Journal of Neuroscience 32(49):17646–17657. https://doi.org/10.1523/JNEUROSCI.2249-12.2012</a:t>
            </a:r>
          </a:p>
          <a:p/>
          <a:p>
            <a:r>
              <a:t>Figure: Puhl et al. (2012), Fig. 2(B). Confocal anatomy of the identified descending R3b-1 neuron.</a:t>
            </a:r>
          </a:p>
          <a:p>
            <a:r>
              <a:t>Figure source: https://doi.org/10.1523/JNEUROSCI.2249-12.2012</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Puhl and colleagues excluded the contralateral R3b-1 influence and recorded DE-3 output from several segments while manipulating the remaining cell. Dopamine biased the preparation toward crawling. This design tested one descending neuron’s effect on a distributed rhythm under specified conditions.</a:t>
            </a:r>
          </a:p>
          <a:p>
            <a:r>
              <a:t>• A +3 nA current increased R3b-1 spiking and converted irregular segmental bursting into coordinated fictive crawling. In one example, periods changed from roughly 27–29 s to approximately 10 s across the recording sites. A −4 nA current disrupted their common period and crawl-specific coordination, even when some local bursts continued.</a:t>
            </a:r>
          </a:p>
          <a:p>
            <a:r>
              <a:t>• R3b-1 activity was sufficient and necessary for coordinated output in the tested preparation and state. Local burst persistence prevents equating disruption of coordination with complete abolition of every segmental oscillator. The result is a conditional causal role, not a universal claim that this cell is required for all rhythms under all conditions.</a:t>
            </a:r>
          </a:p>
          <a:p>
            <a:r>
              <a:t>• The extracellular connective recording verified changes in R3b-1 spiking during intracellular current injection. This control separates an intended voltage manipulation from evidence that the neuron’s propagated activity actually changed.</a:t>
            </a:r>
          </a:p>
          <a:p/>
          <a:p>
            <a:r>
              <a:t>References:</a:t>
            </a:r>
          </a:p>
          <a:p>
            <a:r>
              <a:t>J. G. Puhl; M. A. Masino; K. A. Mesce (2012). Necessary, sufficient and permissive: a single locomotor command neuron important for intersegmental coordination. Journal of Neuroscience 32(49):17646–17657. https://doi.org/10.1523/JNEUROSCI.2249-12.2012</a:t>
            </a:r>
          </a:p>
          <a:p/>
          <a:p>
            <a:r>
              <a:t>Figure: Puhl et al. (2012), Fig. 4(C–H). Depolarization and hyperpolarization with multisegment recordings.</a:t>
            </a:r>
          </a:p>
          <a:p>
            <a:r>
              <a:t>Figure source: https://doi.org/10.1523/JNEUROSCI.2249-12.2012</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Puhl and colleagues tested whether R3b-1 commands coordination directly or must interact with local segmental circuits. High-magnesium, low-calcium saline blocked chemical transmission in a restricted region while the axon remained capable of conducting. Motor recordings sampled ganglia within and outside the blocked region.</a:t>
            </a:r>
          </a:p>
          <a:p>
            <a:r>
              <a:t>• The synaptic blockade altered the coordinated pattern. Depolarizing R3b-1 did not restore ordinary crawl coordination simply by sending more descending spikes through the affected region. Appropriate rhythmic activity could remain elsewhere without the expected full intersegmental organization.</a:t>
            </a:r>
          </a:p>
          <a:p>
            <a:r>
              <a:t>• A permissive signal enables a local network to operate rather than specifying every event independently. The results support cooperation between descending input and segmental circuitry. Regional saline blockade affects many synapses, so it does not identify a single local relay or prove that every coordinating interaction is chemical.</a:t>
            </a:r>
          </a:p>
          <a:p>
            <a:r>
              <a:t>• In this experiment, preserving axonal conduction while reducing synaptic transmission made it possible to distinguish passage of the command neuron’s signal from successful interaction with the circuits that organize the rhythm.</a:t>
            </a:r>
          </a:p>
          <a:p/>
          <a:p>
            <a:r>
              <a:t>References:</a:t>
            </a:r>
          </a:p>
          <a:p>
            <a:r>
              <a:t>J. G. Puhl; M. A. Masino; K. A. Mesce (2012). Necessary, sufficient and permissive: a single locomotor command neuron important for intersegmental coordination. Journal of Neuroscience 32(49):17646–17657. https://doi.org/10.1523/JNEUROSCI.2249-12.2012</a:t>
            </a:r>
          </a:p>
          <a:p/>
          <a:p>
            <a:r>
              <a:t>Figure: Puhl et al. (2012), Fig. 6(A–C). Regional synaptic blockade during descending-neuron stimulation.</a:t>
            </a:r>
          </a:p>
          <a:p>
            <a:r>
              <a:t>Figure source: https://doi.org/10.1523/JNEUROSCI.2249-12.2012</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Puhl and colleagues recorded R3b-1 together with CV while applying regional synaptic blockade and stimulating the descending cell. CV is a crawl-related circular-muscle excitor. A defined presynaptic spike train permits testing a more specific connection than simply observing that both cells oscillate during crawling.</a:t>
            </a:r>
          </a:p>
          <a:p>
            <a:r>
              <a:t>• R3b-1 stimulation produced excitatory responses in CV consistent with a synaptic follower relationship. The published expanded recording retains the relationship between the descending spike and the subsequent motor-cell potential. Comparing the response under reduced-transmission conditions supplied evidence about the connecting route.</a:t>
            </a:r>
          </a:p>
          <a:p>
            <a:r>
              <a:t>• This supports a functional pathway from descending input to a motor output associated with elongation. It does not establish that R3b-1 directly controls every crawl neuron or that this connection alone generates the entire rhythm. The broader pattern still depends on interactions among local circuits and motor pathways.</a:t>
            </a:r>
          </a:p>
          <a:p>
            <a:r>
              <a:t>• An excitatory postsynaptic potential is a voltage change that promotes firing in a receiving neuron. A reproducible response to a defined presynaptic event is stronger evidence for connectivity than a shared phase during a long motor episode.</a:t>
            </a:r>
          </a:p>
          <a:p/>
          <a:p>
            <a:r>
              <a:t>References:</a:t>
            </a:r>
          </a:p>
          <a:p>
            <a:r>
              <a:t>J. G. Puhl; M. A. Masino; K. A. Mesce (2012). Necessary, sufficient and permissive: a single locomotor command neuron important for intersegmental coordination. Journal of Neuroscience 32(49):17646–17657. https://doi.org/10.1523/JNEUROSCI.2249-12.2012</a:t>
            </a:r>
          </a:p>
          <a:p/>
          <a:p>
            <a:r>
              <a:t>Figure: Puhl et al. (2012), Fig. 7(A–C). R3b-1 stimulation and the response of circular excitor CV.</a:t>
            </a:r>
          </a:p>
          <a:p>
            <a:r>
              <a:t>Figure source: https://doi.org/10.1523/JNEUROSCI.2249-12.2012</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Kearney and colleagues studied dopamine-induced crawling in isolated chains of three ganglia. This preparation lacked both the cephalic brain and the moving peripheral body. Motor-nerve recordings tested whether local circuits could express a coordinated sequence through their remaining central connections.</a:t>
            </a:r>
          </a:p>
          <a:p>
            <a:r>
              <a:t>• DE-3 bursts followed a consistent order through the chain, with a median phase lag near 0.12 of a cycle per segment. Combining recordings from different chains in a scrambled control eliminated the strong temporal relationship. The coordination therefore could not be explained simply by independent rhythms of similar average frequency.</a:t>
            </a:r>
          </a:p>
          <a:p>
            <a:r>
              <a:t>• The result establishes central coordination without a descending command in this reduced context. It qualifies broader necessity claims based on different preparations. The intact animal and a short, dopamine-treated chain need not use identical coordination mechanisms, and additional descending or sensory input may improve speed and flexibility.</a:t>
            </a:r>
          </a:p>
          <a:p>
            <a:r>
              <a:t>• A scrambled comparison preserves individual recordings but removes their shared experimental timing. It tests whether a temporal relationship depends on the cells having been active together, rather than on common average properties.</a:t>
            </a:r>
          </a:p>
          <a:p/>
          <a:p>
            <a:r>
              <a:t>References:</a:t>
            </a:r>
          </a:p>
          <a:p>
            <a:r>
              <a:t>G. Kearney; M. Radice; A. Sanchez Merlinsky; L. Szczupak (2022). Intersegmental interactions give rise to a global network. Frontiers in Neural Circuits 16:843731. https://doi.org/10.3389/fncir.2022.843731</a:t>
            </a:r>
          </a:p>
          <a:p>
            <a:r>
              <a:t>M. Ashaber; Y. Tomina; P. Kassraian; E. A. Bushong; W. B. Kristan Jr; M. H. Ellisman; D. A. Wagenaar (2021). Anatomy and activity patterns in a multifunctional motor neuron and its surrounding circuits. eLife 10:e61881. https://doi.org/10.7554/eLife.61881</a:t>
            </a:r>
          </a:p>
          <a:p/>
          <a:p>
            <a:r>
              <a:t>Figure: Kearney et al. (2022), Fig. 3(A–D). Measured chain activity and scrambled-recording comparisons.</a:t>
            </a:r>
          </a:p>
          <a:p>
            <a:r>
              <a:t>Figure source: https://doi.org/10.3389/fncir.2022.843731</a:t>
            </a:r>
          </a:p>
          <a:p/>
          <a:p>
            <a:r>
              <a:t>Figure: Ashaber et al. (2021), Fig. 7(a). Reconstructed DE-3 arbor over a dorsal micro-CT image.</a:t>
            </a:r>
          </a:p>
          <a:p>
            <a:r>
              <a:t>Figure source: https://doi.org/10.7554/eLife.61881</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Ashaber and colleagues combined voltage-sensitive imaging with serial blockface electron microscopy in the same leech ganglion. Electron microscopy resolves fine cellular structure using electron-based imaging. The same-tissue design connects functional identity with an anatomical reconstruction rather than comparing unrelated specimens.</a:t>
            </a:r>
          </a:p>
          <a:p>
            <a:r>
              <a:t>• They reconstructed the DE-3 motor neuron and identified 531 input synapses. Presynaptic partners could be traced toward their somata, linking contacts to candidate neurons. Distinct terminal appearances were examined, and transmission electron microscopy from another ganglion helped check the interpretation of small vesicles.</a:t>
            </a:r>
          </a:p>
          <a:p>
            <a:r>
              <a:t>• A synapse is a specialized communication site between neurons. Structural contacts establish where anatomical input can reach DE-3, but their appearance alone does not identify transmitter, receptor, sign, or functional strength. Those assignments require physiological or independently established cell information.</a:t>
            </a:r>
          </a:p>
          <a:p>
            <a:r>
              <a:t>• Serial blockface imaging repeatedly images and removes a thin surface layer from an embedded sample. The published electron micrographs preserve micrometer scale bars and distinguish an actual contact from a mere crossing of reconstructed processes.</a:t>
            </a:r>
          </a:p>
          <a:p/>
          <a:p>
            <a:r>
              <a:t>References:</a:t>
            </a:r>
          </a:p>
          <a:p>
            <a:r>
              <a:t>M. Ashaber; Y. Tomina; P. Kassraian; E. A. Bushong; W. B. Kristan Jr; M. H. Ellisman; D. A. Wagenaar (2021). Anatomy and activity patterns in a multifunctional motor neuron and its surrounding circuits. eLife 10:e61881. https://doi.org/10.7554/eLife.61881</a:t>
            </a:r>
          </a:p>
          <a:p/>
          <a:p>
            <a:r>
              <a:t>Figure: Ashaber et al. (2021), Fig. 6(a–d). Electron-microscopic neurites and synaptic contacts onto DE-3.</a:t>
            </a:r>
          </a:p>
          <a:p>
            <a:r>
              <a:t>Figure source: https://doi.org/10.7554/eLife.61881</a:t>
            </a:r>
          </a:p>
          <a:p/>
          <a:p>
            <a:r>
              <a:t>Figure: Ashaber et al. (2021), Fig. 7(a). Reconstructed DE-3 arbor over a dorsal micro-CT image.</a:t>
            </a:r>
          </a:p>
          <a:p>
            <a:r>
              <a:t>Figure source: https://doi.org/10.7554/eLife.61881</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Ashaber and colleagues matched presynaptic neurons in the anatomical reconstruction with their voltage-sensitive activity during fictive swimming and crawling. They then asked whether inputs associated with different behaviors occupied distinct regions of the shared DE-3 arbor. This combines functional participation with measured synapse locations.</a:t>
            </a:r>
          </a:p>
          <a:p>
            <a:r>
              <a:t>• Behavior-associated inputs were distributed across the motor neuron rather than segregated into separate large branches for swimming and crawling. Likewise, excitatory and inhibitory input categories did not form the simple large-scale spatial separation expected from a compartmentalized account. The activity and anatomical measurements came from the same ganglion.</a:t>
            </a:r>
          </a:p>
          <a:p>
            <a:r>
              <a:t>• A multifunctional motor neuron receives convergent inputs whose active relationships change with behavior. Distribution along the arbor does not mean that every synapse has equal effect or that local dendritic interactions are absent. The anatomy constrains spatial explanations while leaving state-dependent synaptic operation and conductance mechanisms for further testing.</a:t>
            </a:r>
          </a:p>
          <a:p>
            <a:r>
              <a:t>• The functional association was based on measured activity during the elicited patterns, not a new simulated motor circuit. Anatomical input count is also not identical to physiological synaptic strength, so the two kinds of evidence remain distinct.</a:t>
            </a:r>
          </a:p>
          <a:p/>
          <a:p>
            <a:r>
              <a:t>References:</a:t>
            </a:r>
          </a:p>
          <a:p>
            <a:r>
              <a:t>M. Ashaber; Y. Tomina; P. Kassraian; E. A. Bushong; W. B. Kristan Jr; M. H. Ellisman; D. A. Wagenaar (2021). Anatomy and activity patterns in a multifunctional motor neuron and its surrounding circuits. eLife 10:e61881. https://doi.org/10.7554/eLife.61881</a:t>
            </a:r>
          </a:p>
          <a:p/>
          <a:p>
            <a:r>
              <a:t>Figure: Ashaber et al. (2021), Fig. 10(a–e). Original anatomical distribution of synapses and behavior-associated inputs.</a:t>
            </a:r>
          </a:p>
          <a:p>
            <a:r>
              <a:t>Figure source: https://doi.org/10.7554/eLife.61881</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 B. Kristan Jr; R. L. Calabrese (1976). Rhythmic swimming activity in neurones of the isolated nerve cord of the leech. Journal of Experimental Biology 65(3):643–668. https://doi.org/10.1242/jeb.65.3.643</a:t>
            </a:r>
          </a:p>
          <a:p/>
          <a:p>
            <a:r>
              <a:t>X. Yu; B. Nguyen; W. O. Friesen (1999). Sensory feedback can coordinate the swimming activity of the leech. Journal of Neuroscience 19(11):4634–4643. https://doi.org/10.1523/JNEUROSCI.19-11-04634.1999</a:t>
            </a:r>
          </a:p>
          <a:p/>
          <a:p>
            <a:r>
              <a:t>K. L. Briggman; W. B. Kristan Jr (2006). Imaging dedicated and multifunctional neural circuits generating distinct behaviors. Journal of Neuroscience 26(42):10925–10933. https://doi.org/10.1523/JNEUROSCI.3265-06.2006</a:t>
            </a:r>
          </a:p>
          <a:p/>
          <a:p>
            <a:r>
              <a:t>J. G. Puhl; K. A. Mesce (2008). Dopamine activates the motor pattern for crawling in the medicinal leech. Journal of Neuroscience 28(16):4192–4200. https://doi.org/10.1523/JNEUROSCI.0136-08.2008</a:t>
            </a:r>
          </a:p>
          <a:p/>
          <a:p>
            <a:r>
              <a:t>K. M. Crisp; B. R. Gallagher; K. A. Mesce (2012). Mechanisms contributing to the dopamine induction of crawl-like bursting in leech motoneurons. Journal of Experimental Biology 215(17):3028–3036. https://doi.org/10.1242/jeb.069245</a:t>
            </a:r>
          </a:p>
          <a:p/>
          <a:p>
            <a:r>
              <a:t>J. G. Puhl; M. A. Masino; K. A. Mesce (2012). Necessary, sufficient and permissive: a single locomotor command neuron important for intersegmental coordination. Journal of Neuroscience 32(49):17646–17657. https://doi.org/10.1523/JNEUROSCI.2249-12.2012</a:t>
            </a:r>
          </a:p>
          <a:p/>
          <a:p>
            <a:r>
              <a:t>M. Ashaber; Y. Tomina; P. Kassraian; E. A. Bushong; W. B. Kristan Jr; M. H. Ellisman; D. A. Wagenaar (2021). Anatomy and activity patterns in a multifunctional motor neuron and its surrounding circuits. eLife 10:e61881. https://doi.org/10.7554/eLife.61881</a:t>
            </a:r>
          </a:p>
          <a:p/>
          <a:p>
            <a:r>
              <a:t>G. Kearney; M. Radice; A. Sanchez Merlinsky; L. Szczupak (2022). Intersegmental interactions give rise to a global network. Frontiers in Neural Circuits 16:843731. https://doi.org/10.3389/fncir.2022.843731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7.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7.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7.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7.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7.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7.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7.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7.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7.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7.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7.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7.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7.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7.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7.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7.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7.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7.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7.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7.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7.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7.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E7F0F5"/>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396B86"/>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396B86"/>
                </a:solidFill>
                <a:latin typeface="Arial"/>
              </a:rPr>
              <a:t>Lecture 6</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700" b="1" i="0">
                <a:solidFill>
                  <a:srgbClr val="183E52"/>
                </a:solidFill>
                <a:latin typeface="Arial"/>
              </a:rPr>
              <a:t>Central pattern generators I:</a:t>
            </a:r>
          </a:p>
          <a:p>
            <a:pPr algn="l">
              <a:lnSpc>
                <a:spcPct val="108000"/>
              </a:lnSpc>
              <a:spcAft>
                <a:spcPts val="0"/>
              </a:spcAft>
            </a:pPr>
            <a:r>
              <a:rPr sz="2700" b="1" i="0">
                <a:solidFill>
                  <a:srgbClr val="183E52"/>
                </a:solidFill>
                <a:latin typeface="Arial"/>
              </a:rPr>
              <a:t>leech swimming and crawling (Kristan)</a:t>
            </a:r>
          </a:p>
        </p:txBody>
      </p:sp>
      <p:sp>
        <p:nvSpPr>
          <p:cNvPr id="6" name="TextBox 5"/>
          <p:cNvSpPr txBox="1"/>
          <p:nvPr/>
        </p:nvSpPr>
        <p:spPr>
          <a:xfrm>
            <a:off x="685800" y="4749622"/>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396B86"/>
                </a:solidFill>
                <a:latin typeface="Arial"/>
              </a:rPr>
              <a:t>Friday, September 4, 2026</a:t>
            </a:r>
          </a:p>
        </p:txBody>
      </p:sp>
      <p:sp>
        <p:nvSpPr>
          <p:cNvPr id="7" name="TextBox 6"/>
          <p:cNvSpPr txBox="1"/>
          <p:nvPr/>
        </p:nvSpPr>
        <p:spPr>
          <a:xfrm>
            <a:off x="685800" y="5435422"/>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396B86"/>
                </a:solidFill>
                <a:latin typeface="Arial"/>
              </a:rPr>
              <a:t>Jordan Lopez, Ph.D.</a:t>
            </a:r>
          </a:p>
          <a:p>
            <a:pPr algn="l">
              <a:lnSpc>
                <a:spcPct val="108000"/>
              </a:lnSpc>
              <a:spcAft>
                <a:spcPts val="200"/>
              </a:spcAft>
            </a:pPr>
            <a:r>
              <a:rPr sz="1200" b="0" i="0">
                <a:solidFill>
                  <a:srgbClr val="396B86"/>
                </a:solidFill>
                <a:latin typeface="Arial"/>
              </a:rPr>
              <a:t>Professor of Neurobiology &amp; Biomedical Engineering</a:t>
            </a:r>
          </a:p>
        </p:txBody>
      </p:sp>
      <p:pic>
        <p:nvPicPr>
          <p:cNvPr id="8" name="Picture 7" descr="A21_animal.png"/>
          <p:cNvPicPr>
            <a:picLocks noChangeAspect="1"/>
          </p:cNvPicPr>
          <p:nvPr/>
        </p:nvPicPr>
        <p:blipFill>
          <a:blip r:embed="rId2"/>
          <a:stretch>
            <a:fillRect/>
          </a:stretch>
        </p:blipFill>
        <p:spPr>
          <a:xfrm>
            <a:off x="6553047" y="822960"/>
            <a:ext cx="5181447" cy="1205166"/>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Ashaber et al. (2021), Fig. 1. Medicinal leech Hirudo verbana; original 1 cm scale bar.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Swimming and crawling reorganize the same muscles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02A32"/>
                </a:solidFill>
                <a:latin typeface="Arial"/>
              </a:rPr>
              <a:t>Leech swimming consists of alternating contractions of dorsal and ventral longitudinal muscles, producing a wave that travels toward the tail. Crawling instead alternates elongation, driven by circular muscles, with shortening, driven by longitudinal muscles. The front and rear suckers attach and release to convert these changes into forward movement.</a:t>
            </a:r>
          </a:p>
          <a:p>
            <a:pPr algn="l">
              <a:lnSpc>
                <a:spcPct val="108000"/>
              </a:lnSpc>
              <a:spcAft>
                <a:spcPts val="900"/>
              </a:spcAft>
            </a:pPr>
            <a:r>
              <a:rPr sz="1500" b="0" i="0">
                <a:solidFill>
                  <a:srgbClr val="202A32"/>
                </a:solidFill>
                <a:latin typeface="Arial"/>
              </a:rPr>
              <a:t>Briggman and Kristan elicited both motor patterns in the same isolated nervous system while monitoring motor nerves and recording individual neurons. Swimming occurred at approximately 1–1.5 Hz, whereas crawling oscillations occurred at approximately 0.04–0.1 Hz. The different rhythms reorganized common motor outputs.</a:t>
            </a:r>
          </a:p>
          <a:p>
            <a:pPr algn="l">
              <a:lnSpc>
                <a:spcPct val="108000"/>
              </a:lnSpc>
              <a:spcAft>
                <a:spcPts val="900"/>
              </a:spcAft>
            </a:pPr>
            <a:r>
              <a:rPr sz="1500" b="0" i="0">
                <a:solidFill>
                  <a:srgbClr val="202A32"/>
                </a:solidFill>
                <a:latin typeface="Arial"/>
              </a:rPr>
              <a:t>A </a:t>
            </a:r>
            <a:r>
              <a:rPr sz="1500" b="1" i="0">
                <a:solidFill>
                  <a:srgbClr val="006B91"/>
                </a:solidFill>
                <a:latin typeface="Arial"/>
              </a:rPr>
              <a:t>central pattern generator</a:t>
            </a:r>
            <a:r>
              <a:rPr sz="1500" b="0" i="0">
                <a:solidFill>
                  <a:srgbClr val="202A32"/>
                </a:solidFill>
                <a:latin typeface="Arial"/>
              </a:rPr>
              <a:t>, or CPG, is a neural circuit capable of producing a patterned rhythm without requiring rhythmic sensory input. Central generation does not imply that sensory feedback, descending signals, or the mechanical environment are irrelevant to the realized movement.</a:t>
            </a:r>
          </a:p>
        </p:txBody>
      </p:sp>
      <p:pic>
        <p:nvPicPr>
          <p:cNvPr id="4" name="Picture 3" descr="B06_1AB.png"/>
          <p:cNvPicPr>
            <a:picLocks noChangeAspect="1"/>
          </p:cNvPicPr>
          <p:nvPr/>
        </p:nvPicPr>
        <p:blipFill>
          <a:blip r:embed="rId2"/>
          <a:stretch>
            <a:fillRect/>
          </a:stretch>
        </p:blipFill>
        <p:spPr>
          <a:xfrm>
            <a:off x="6504127" y="1280160"/>
            <a:ext cx="5120640" cy="4121490"/>
          </a:xfrm>
          <a:prstGeom prst="rect">
            <a:avLst/>
          </a:prstGeom>
        </p:spPr>
      </p:pic>
      <p:sp>
        <p:nvSpPr>
          <p:cNvPr id="5" name="Figure caption"/>
          <p:cNvSpPr txBox="1"/>
          <p:nvPr/>
        </p:nvSpPr>
        <p:spPr>
          <a:xfrm>
            <a:off x="6504127" y="549309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Briggman &amp; Kristan (2006), Fig. 1(A,B). Published swimming and crawling movement sequences.</a:t>
            </a:r>
          </a:p>
        </p:txBody>
      </p:sp>
      <p:sp>
        <p:nvSpPr>
          <p:cNvPr id="6" name="Rectangle 5"/>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Briggman &amp; Kristan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Segmental markers resolve the components of a crawl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006B91"/>
                </a:solidFill>
                <a:latin typeface="Arial"/>
              </a:rPr>
              <a:t>Kinematics</a:t>
            </a:r>
            <a:r>
              <a:rPr sz="1600" b="0" i="0">
                <a:solidFill>
                  <a:srgbClr val="202A32"/>
                </a:solidFill>
                <a:latin typeface="Arial"/>
              </a:rPr>
              <a:t> describes movement without assigning its underlying forces or neural causes. Cacciatore and colleagues attached small thread markers to segment boundaries in adult leeches and recorded crawling from above. Their analysis used vermiform steps, in which the body remained near the substrate, rather than steps with a raised body loop.</a:t>
            </a:r>
          </a:p>
          <a:p>
            <a:pPr algn="l">
              <a:lnSpc>
                <a:spcPct val="108000"/>
              </a:lnSpc>
              <a:spcAft>
                <a:spcPts val="960"/>
              </a:spcAft>
            </a:pPr>
            <a:r>
              <a:rPr sz="1600" b="0" i="0">
                <a:solidFill>
                  <a:srgbClr val="202A32"/>
                </a:solidFill>
                <a:latin typeface="Arial"/>
              </a:rPr>
              <a:t>Video was digitized at 4–10 frames per second, with at least 25 frames per step. Distances between markers yielded segmental length changes. Anterior segments generally elongated earlier than posterior ones; the reverse transition to shortening also propagated toward the tail.</a:t>
            </a:r>
          </a:p>
          <a:p>
            <a:pPr algn="l">
              <a:lnSpc>
                <a:spcPct val="108000"/>
              </a:lnSpc>
              <a:spcAft>
                <a:spcPts val="960"/>
              </a:spcAft>
            </a:pPr>
            <a:r>
              <a:rPr sz="1600" b="0" i="0">
                <a:solidFill>
                  <a:srgbClr val="202A32"/>
                </a:solidFill>
                <a:latin typeface="Arial"/>
              </a:rPr>
              <a:t>The preparation connects whole-animal movement to regional timing. Marker displacement measures body deformation, not motor-neuron firing. The investigators excluded searching movements, so these results characterize stereotyped steps on a smooth surface rather than every possible form of crawling.</a:t>
            </a:r>
          </a:p>
        </p:txBody>
      </p:sp>
      <p:pic>
        <p:nvPicPr>
          <p:cNvPr id="4" name="Picture 3" descr="C00_2A.png"/>
          <p:cNvPicPr>
            <a:picLocks noChangeAspect="1"/>
          </p:cNvPicPr>
          <p:nvPr/>
        </p:nvPicPr>
        <p:blipFill>
          <a:blip r:embed="rId2"/>
          <a:stretch>
            <a:fillRect/>
          </a:stretch>
        </p:blipFill>
        <p:spPr>
          <a:xfrm>
            <a:off x="7215579" y="1280160"/>
            <a:ext cx="369773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Cacciatore et al. (2000), Fig. 2(A). Marked leech and measured regional length changes.</a:t>
            </a:r>
          </a:p>
        </p:txBody>
      </p:sp>
      <p:sp>
        <p:nvSpPr>
          <p:cNvPr id="6" name="Rectangle 5"/>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Cacciatore et al.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Crawl duration changes the speed of traveling waves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02A32"/>
                </a:solidFill>
                <a:latin typeface="Arial"/>
              </a:rPr>
              <a:t>Cacciatore and colleagues compared segmental length changes during fast and slow crawling steps. </a:t>
            </a:r>
            <a:r>
              <a:rPr sz="1500" b="1" i="0">
                <a:solidFill>
                  <a:srgbClr val="006B91"/>
                </a:solidFill>
                <a:latin typeface="Arial"/>
              </a:rPr>
              <a:t>Propagation</a:t>
            </a:r>
            <a:r>
              <a:rPr sz="1500" b="0" i="0">
                <a:solidFill>
                  <a:srgbClr val="202A32"/>
                </a:solidFill>
                <a:latin typeface="Arial"/>
              </a:rPr>
              <a:t> means that a change begins in successive body regions at different times. Both elongation and contraction propagated from anterior to posterior segments rather than occurring simultaneously throughout the body.</a:t>
            </a:r>
          </a:p>
          <a:p>
            <a:pPr algn="l">
              <a:lnSpc>
                <a:spcPct val="108000"/>
              </a:lnSpc>
              <a:spcAft>
                <a:spcPts val="900"/>
              </a:spcAft>
            </a:pPr>
            <a:r>
              <a:rPr sz="1500" b="0" i="0">
                <a:solidFill>
                  <a:srgbClr val="202A32"/>
                </a:solidFill>
                <a:latin typeface="Arial"/>
              </a:rPr>
              <a:t>Typical stereotyped steps lasted approximately 2–10 s. Slower steps contained slower wave propagation and changes in the interval between elongation and contraction. Anterior regions could begin contracting while posterior regions were still elongating, so whole-body elongation and contraction were not strictly separate blocks.</a:t>
            </a:r>
          </a:p>
          <a:p>
            <a:pPr algn="l">
              <a:lnSpc>
                <a:spcPct val="108000"/>
              </a:lnSpc>
              <a:spcAft>
                <a:spcPts val="900"/>
              </a:spcAft>
            </a:pPr>
            <a:r>
              <a:rPr sz="1500" b="0" i="0">
                <a:solidFill>
                  <a:srgbClr val="202A32"/>
                </a:solidFill>
                <a:latin typeface="Arial"/>
              </a:rPr>
              <a:t>These observations constrain a neural explanation of crawling to account for regional timing and variable step duration. The recorded waves are behavioral data. The paper’s proposed excitation-chain model is an explanatory construction and does not establish that its specific simulated neurons exist in the leech.</a:t>
            </a:r>
          </a:p>
        </p:txBody>
      </p:sp>
      <p:pic>
        <p:nvPicPr>
          <p:cNvPr id="4" name="Picture 3" descr="C00_3.png"/>
          <p:cNvPicPr>
            <a:picLocks noChangeAspect="1"/>
          </p:cNvPicPr>
          <p:nvPr/>
        </p:nvPicPr>
        <p:blipFill>
          <a:blip r:embed="rId2"/>
          <a:stretch>
            <a:fillRect/>
          </a:stretch>
        </p:blipFill>
        <p:spPr>
          <a:xfrm>
            <a:off x="6504127" y="1280160"/>
            <a:ext cx="5120640" cy="2719377"/>
          </a:xfrm>
          <a:prstGeom prst="rect">
            <a:avLst/>
          </a:prstGeom>
        </p:spPr>
      </p:pic>
      <p:sp>
        <p:nvSpPr>
          <p:cNvPr id="5" name="Figure caption"/>
          <p:cNvSpPr txBox="1"/>
          <p:nvPr/>
        </p:nvSpPr>
        <p:spPr>
          <a:xfrm>
            <a:off x="6504127" y="409097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Cacciatore et al. (2000), Fig. 3. Measured segment-length sequences during fast and slow steps.</a:t>
            </a:r>
          </a:p>
        </p:txBody>
      </p:sp>
      <p:sp>
        <p:nvSpPr>
          <p:cNvPr id="6" name="Rectangle 5"/>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Cacciatore et al.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Crawl waves can cross denervated body segments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02A32"/>
                </a:solidFill>
                <a:latin typeface="Arial"/>
              </a:rPr>
              <a:t>Cacciatore and colleagues severed the peripheral nerve roots of segments 7–12 while preserving the central connectives between ganglia. </a:t>
            </a:r>
            <a:r>
              <a:rPr sz="1500" b="1" i="0">
                <a:solidFill>
                  <a:srgbClr val="006B91"/>
                </a:solidFill>
                <a:latin typeface="Arial"/>
              </a:rPr>
              <a:t>Denervation</a:t>
            </a:r>
            <a:r>
              <a:rPr sz="1500" b="0" i="0">
                <a:solidFill>
                  <a:srgbClr val="202A32"/>
                </a:solidFill>
                <a:latin typeface="Arial"/>
              </a:rPr>
              <a:t> removes neural communication with the body wall. In this preparation it removed both sensory input and motor output in the operated segments, rather than selectively removing sensory neurons.</a:t>
            </a:r>
          </a:p>
          <a:p>
            <a:pPr algn="l">
              <a:lnSpc>
                <a:spcPct val="108000"/>
              </a:lnSpc>
              <a:spcAft>
                <a:spcPts val="900"/>
              </a:spcAft>
            </a:pPr>
            <a:r>
              <a:rPr sz="1500" b="0" i="0">
                <a:solidFill>
                  <a:srgbClr val="202A32"/>
                </a:solidFill>
                <a:latin typeface="Arial"/>
              </a:rPr>
              <a:t>The denervated segments became flaccid, but elongation and contraction waves continued in the innervated regions on either side. Segmental delays and their relationship to step duration did not acquire a marked discontinuity across the operated region. The comparison used each animal’s movements before and after surgery.</a:t>
            </a:r>
          </a:p>
          <a:p>
            <a:pPr algn="l">
              <a:lnSpc>
                <a:spcPct val="108000"/>
              </a:lnSpc>
              <a:spcAft>
                <a:spcPts val="900"/>
              </a:spcAft>
            </a:pPr>
            <a:r>
              <a:rPr sz="1500" b="0" i="0">
                <a:solidFill>
                  <a:srgbClr val="202A32"/>
                </a:solidFill>
                <a:latin typeface="Arial"/>
              </a:rPr>
              <a:t>Central communication can therefore coordinate crawl timing across a region deprived of its normal peripheral loop. This result does not establish that sensory feedback has no role in intact crawling, and it does not identify the central neurons that carry coordination across the lesion.</a:t>
            </a:r>
          </a:p>
        </p:txBody>
      </p:sp>
      <p:pic>
        <p:nvPicPr>
          <p:cNvPr id="4" name="Picture 3" descr="C00_7.png"/>
          <p:cNvPicPr>
            <a:picLocks noChangeAspect="1"/>
          </p:cNvPicPr>
          <p:nvPr/>
        </p:nvPicPr>
        <p:blipFill>
          <a:blip r:embed="rId2"/>
          <a:stretch>
            <a:fillRect/>
          </a:stretch>
        </p:blipFill>
        <p:spPr>
          <a:xfrm>
            <a:off x="7527444" y="1280160"/>
            <a:ext cx="307400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Cacciatore et al. (2000), Fig. 7(A,B). Movement timing after removal of peripheral innervation.</a:t>
            </a:r>
          </a:p>
        </p:txBody>
      </p:sp>
      <p:sp>
        <p:nvSpPr>
          <p:cNvPr id="6" name="Rectangle 5"/>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Cacciatore et al.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An isolated cord generates a swim-like motor rhythm</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02A32"/>
                </a:solidFill>
                <a:latin typeface="Arial"/>
              </a:rPr>
              <a:t>Kristan and Calabrese removed the nerve cord from the body wall and recorded from segmental nerves in physiological saline. Brief electrical stimulation initiated repeated bursts in dorsal and ventral motor pathways. The isolated cord had no attached body capable of producing the usual stretch feedback.</a:t>
            </a:r>
          </a:p>
          <a:p>
            <a:pPr algn="l">
              <a:lnSpc>
                <a:spcPct val="108000"/>
              </a:lnSpc>
              <a:spcAft>
                <a:spcPts val="900"/>
              </a:spcAft>
            </a:pPr>
            <a:r>
              <a:rPr sz="1500" b="0" i="0">
                <a:solidFill>
                  <a:srgbClr val="202A32"/>
                </a:solidFill>
                <a:latin typeface="Arial"/>
              </a:rPr>
              <a:t>A stimulus train of approximately 10–20 Hz for 0.5–1 s could initiate an episode that continued after the stimulation ended. Rhythmic motor activity resembled the pattern recorded during swimming in semi-intact animals. Intracellular motor-neuron recordings contained rhythmic membrane-potential changes associated with the nerve bursts.</a:t>
            </a:r>
          </a:p>
          <a:p>
            <a:pPr algn="l">
              <a:lnSpc>
                <a:spcPct val="108000"/>
              </a:lnSpc>
              <a:spcAft>
                <a:spcPts val="900"/>
              </a:spcAft>
            </a:pPr>
            <a:r>
              <a:rPr sz="1500" b="0" i="0">
                <a:solidFill>
                  <a:srgbClr val="202A32"/>
                </a:solidFill>
                <a:latin typeface="Arial"/>
              </a:rPr>
              <a:t>The persistence of patterned activity without the peripheral body establishes a central source for the basic swim rhythm. It does not establish normal propulsion, intact sensory calibration, or a particular identified pacemaker neuron. A motor program recorded without the corresponding movement is called </a:t>
            </a:r>
            <a:r>
              <a:rPr sz="1500" b="1" i="0">
                <a:solidFill>
                  <a:srgbClr val="006B91"/>
                </a:solidFill>
                <a:latin typeface="Arial"/>
              </a:rPr>
              <a:t>fictive locomotion</a:t>
            </a:r>
            <a:r>
              <a:rPr sz="1500" b="0" i="0">
                <a:solidFill>
                  <a:srgbClr val="202A32"/>
                </a:solidFill>
                <a:latin typeface="Arial"/>
              </a:rPr>
              <a:t>.</a:t>
            </a:r>
          </a:p>
        </p:txBody>
      </p:sp>
      <p:pic>
        <p:nvPicPr>
          <p:cNvPr id="4" name="Picture 3" descr="KC76_1.png"/>
          <p:cNvPicPr>
            <a:picLocks noChangeAspect="1"/>
          </p:cNvPicPr>
          <p:nvPr/>
        </p:nvPicPr>
        <p:blipFill>
          <a:blip r:embed="rId2"/>
          <a:stretch>
            <a:fillRect/>
          </a:stretch>
        </p:blipFill>
        <p:spPr>
          <a:xfrm>
            <a:off x="7019663" y="1280160"/>
            <a:ext cx="3723808"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Kristan &amp; Calabrese (1976), Fig. 1(A). Motor-nerve bursts and intracellular oscillations in an isolated cord.</a:t>
            </a:r>
          </a:p>
        </p:txBody>
      </p:sp>
      <p:pic>
        <p:nvPicPr>
          <p:cNvPr id="6" name="Picture 5" descr="A21_DE3.png"/>
          <p:cNvPicPr>
            <a:picLocks noChangeAspect="1"/>
          </p:cNvPicPr>
          <p:nvPr/>
        </p:nvPicPr>
        <p:blipFill>
          <a:blip r:embed="rId3"/>
          <a:stretch>
            <a:fillRect/>
          </a:stretch>
        </p:blipFill>
        <p:spPr>
          <a:xfrm>
            <a:off x="8163957" y="4754880"/>
            <a:ext cx="143521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Ashaber et al. (2021), Fig. 7(a). Reconstructed DE-3 arbor over a dorsal micro-CT image.</a:t>
            </a:r>
          </a:p>
        </p:txBody>
      </p:sp>
      <p:sp>
        <p:nvSpPr>
          <p:cNvPr id="8" name="Rectangle 7"/>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Kristan &amp; Calabrese (1976); Ashaber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The same preparation retains rhythm after isolation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02A32"/>
                </a:solidFill>
                <a:latin typeface="Arial"/>
              </a:rPr>
              <a:t>Kristan and Calabrese first recorded a swimming rhythm from a semi-intact preparation and then disconnected its remaining body wall. </a:t>
            </a:r>
            <a:r>
              <a:rPr sz="1500" b="1" i="0">
                <a:solidFill>
                  <a:srgbClr val="006B91"/>
                </a:solidFill>
                <a:latin typeface="Arial"/>
              </a:rPr>
              <a:t>Semi-intact</a:t>
            </a:r>
            <a:r>
              <a:rPr sz="1500" b="0" i="0">
                <a:solidFill>
                  <a:srgbClr val="202A32"/>
                </a:solidFill>
                <a:latin typeface="Arial"/>
              </a:rPr>
              <a:t> means that part of the animal remains capable of movement while another part is opened for recording. Keeping the same recording nerves permitted comparison before and after isolation.</a:t>
            </a:r>
          </a:p>
          <a:p>
            <a:pPr algn="l">
              <a:lnSpc>
                <a:spcPct val="108000"/>
              </a:lnSpc>
              <a:spcAft>
                <a:spcPts val="900"/>
              </a:spcAft>
            </a:pPr>
            <a:r>
              <a:rPr sz="1500" b="0" i="0">
                <a:solidFill>
                  <a:srgbClr val="202A32"/>
                </a:solidFill>
                <a:latin typeface="Arial"/>
              </a:rPr>
              <a:t>Dorsal-excitor and ventral-excitor bursts continued to alternate after the cord was separated from peripheral tissue. In the illustrated semi-intact recording the cycle period was about 1 s, and homologous dorsal bursts in two segments were separated by approximately 50 ms.</a:t>
            </a:r>
          </a:p>
          <a:p>
            <a:pPr algn="l">
              <a:lnSpc>
                <a:spcPct val="108000"/>
              </a:lnSpc>
              <a:spcAft>
                <a:spcPts val="900"/>
              </a:spcAft>
            </a:pPr>
            <a:r>
              <a:rPr sz="1500" b="0" i="0">
                <a:solidFill>
                  <a:srgbClr val="202A32"/>
                </a:solidFill>
                <a:latin typeface="Arial"/>
              </a:rPr>
              <a:t>The within-preparation comparison strengthens the interpretation that central circuitry can generate the alternating pattern. It also reveals why preserving a recognizable rhythm is different from preserving every aspect of normal timing. Peripheral removal can alter phase relationships even when the central oscillation remains active.</a:t>
            </a:r>
          </a:p>
        </p:txBody>
      </p:sp>
      <p:pic>
        <p:nvPicPr>
          <p:cNvPr id="4" name="Picture 3" descr="KC76_2AB.png"/>
          <p:cNvPicPr>
            <a:picLocks noChangeAspect="1"/>
          </p:cNvPicPr>
          <p:nvPr/>
        </p:nvPicPr>
        <p:blipFill>
          <a:blip r:embed="rId2"/>
          <a:stretch>
            <a:fillRect/>
          </a:stretch>
        </p:blipFill>
        <p:spPr>
          <a:xfrm>
            <a:off x="6227269" y="1280160"/>
            <a:ext cx="3662675" cy="4297679"/>
          </a:xfrm>
          <a:prstGeom prst="rect">
            <a:avLst/>
          </a:prstGeom>
        </p:spPr>
      </p:pic>
      <p:sp>
        <p:nvSpPr>
          <p:cNvPr id="5" name="Figure caption"/>
          <p:cNvSpPr txBox="1"/>
          <p:nvPr/>
        </p:nvSpPr>
        <p:spPr>
          <a:xfrm>
            <a:off x="6138367" y="5669279"/>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Kristan &amp; Calabrese (1976), Fig. 2(A,B). Semi-intact and subsequently isolated motor-nerve recordings.</a:t>
            </a:r>
          </a:p>
        </p:txBody>
      </p:sp>
      <p:pic>
        <p:nvPicPr>
          <p:cNvPr id="6" name="Picture 5" descr="A21_DE3.png"/>
          <p:cNvPicPr>
            <a:picLocks noChangeAspect="1"/>
          </p:cNvPicPr>
          <p:nvPr/>
        </p:nvPicPr>
        <p:blipFill>
          <a:blip r:embed="rId3"/>
          <a:stretch>
            <a:fillRect/>
          </a:stretch>
        </p:blipFill>
        <p:spPr>
          <a:xfrm>
            <a:off x="10161727" y="2148840"/>
            <a:ext cx="1463039" cy="1025337"/>
          </a:xfrm>
          <a:prstGeom prst="rect">
            <a:avLst/>
          </a:prstGeom>
        </p:spPr>
      </p:pic>
      <p:sp>
        <p:nvSpPr>
          <p:cNvPr id="7" name="Figure caption"/>
          <p:cNvSpPr txBox="1"/>
          <p:nvPr/>
        </p:nvSpPr>
        <p:spPr>
          <a:xfrm>
            <a:off x="10161727" y="3247329"/>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Ashaber et al. (2021), Fig. 7(a). Reconstructed DE-3 arbor over a dorsal micro-CT image.</a:t>
            </a:r>
          </a:p>
        </p:txBody>
      </p:sp>
      <p:sp>
        <p:nvSpPr>
          <p:cNvPr id="8" name="Rectangle 7"/>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Kristan &amp; Calabrese (1976); Ashaber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Motor bursts predict alternating muscle contractions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02A32"/>
                </a:solidFill>
                <a:latin typeface="Arial"/>
              </a:rPr>
              <a:t>Kristan and Calabrese retained one innervated body segment while separating the rest of the nerve cord from the periphery. Tension transducers measured the dorsal and ventral longitudinal muscle contractions in that segment. Motor-nerve activity was recorded from another ganglion along the cord.</a:t>
            </a:r>
          </a:p>
          <a:p>
            <a:pPr algn="l">
              <a:lnSpc>
                <a:spcPct val="108000"/>
              </a:lnSpc>
              <a:spcAft>
                <a:spcPts val="900"/>
              </a:spcAft>
            </a:pPr>
            <a:r>
              <a:rPr sz="1500" b="0" i="0">
                <a:solidFill>
                  <a:srgbClr val="202A32"/>
                </a:solidFill>
                <a:latin typeface="Arial"/>
              </a:rPr>
              <a:t>Dorsal and ventral tension rose in alternating phases. Bursts in the corresponding excitatory motor pathways were related to the matching muscle contractions. The body-wall segment and recorded ganglion were separated spatially, so their events included the delay associated with propagation along the cord.</a:t>
            </a:r>
          </a:p>
          <a:p>
            <a:pPr algn="l">
              <a:lnSpc>
                <a:spcPct val="108000"/>
              </a:lnSpc>
              <a:spcAft>
                <a:spcPts val="900"/>
              </a:spcAft>
            </a:pPr>
            <a:r>
              <a:rPr sz="1500" b="0" i="0">
                <a:solidFill>
                  <a:srgbClr val="202A32"/>
                </a:solidFill>
                <a:latin typeface="Arial"/>
              </a:rPr>
              <a:t>An </a:t>
            </a:r>
            <a:r>
              <a:rPr sz="1500" b="1" i="0">
                <a:solidFill>
                  <a:srgbClr val="006B91"/>
                </a:solidFill>
                <a:latin typeface="Arial"/>
              </a:rPr>
              <a:t>excitor</a:t>
            </a:r>
            <a:r>
              <a:rPr sz="1500" b="0" i="0">
                <a:solidFill>
                  <a:srgbClr val="202A32"/>
                </a:solidFill>
                <a:latin typeface="Arial"/>
              </a:rPr>
              <a:t> is a motor neuron whose output promotes contraction of its target muscle. The agreement between nerve timing and tension links the electrical pattern to the expected motor action. It does not make an isolated nerve recording a direct measure of swimming thrust or whole-animal displacement.</a:t>
            </a:r>
          </a:p>
        </p:txBody>
      </p:sp>
      <p:pic>
        <p:nvPicPr>
          <p:cNvPr id="4" name="Picture 3" descr="KC76_3A.png"/>
          <p:cNvPicPr>
            <a:picLocks noChangeAspect="1"/>
          </p:cNvPicPr>
          <p:nvPr/>
        </p:nvPicPr>
        <p:blipFill>
          <a:blip r:embed="rId2"/>
          <a:stretch>
            <a:fillRect/>
          </a:stretch>
        </p:blipFill>
        <p:spPr>
          <a:xfrm>
            <a:off x="6138367" y="1280160"/>
            <a:ext cx="3840480" cy="3187487"/>
          </a:xfrm>
          <a:prstGeom prst="rect">
            <a:avLst/>
          </a:prstGeom>
        </p:spPr>
      </p:pic>
      <p:sp>
        <p:nvSpPr>
          <p:cNvPr id="5" name="Figure caption"/>
          <p:cNvSpPr txBox="1"/>
          <p:nvPr/>
        </p:nvSpPr>
        <p:spPr>
          <a:xfrm>
            <a:off x="6138367" y="4559087"/>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Kristan &amp; Calabrese (1976), Fig. 3(A). Body-wall tension and motor-nerve activity in a nearly isolated preparation.</a:t>
            </a:r>
          </a:p>
        </p:txBody>
      </p:sp>
      <p:pic>
        <p:nvPicPr>
          <p:cNvPr id="6" name="Picture 5" descr="A21_DE3.png"/>
          <p:cNvPicPr>
            <a:picLocks noChangeAspect="1"/>
          </p:cNvPicPr>
          <p:nvPr/>
        </p:nvPicPr>
        <p:blipFill>
          <a:blip r:embed="rId3"/>
          <a:stretch>
            <a:fillRect/>
          </a:stretch>
        </p:blipFill>
        <p:spPr>
          <a:xfrm>
            <a:off x="10161727" y="2148840"/>
            <a:ext cx="1463039" cy="1025337"/>
          </a:xfrm>
          <a:prstGeom prst="rect">
            <a:avLst/>
          </a:prstGeom>
        </p:spPr>
      </p:pic>
      <p:sp>
        <p:nvSpPr>
          <p:cNvPr id="7" name="Figure caption"/>
          <p:cNvSpPr txBox="1"/>
          <p:nvPr/>
        </p:nvSpPr>
        <p:spPr>
          <a:xfrm>
            <a:off x="10161727" y="3247329"/>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Ashaber et al. (2021), Fig. 7(a). Reconstructed DE-3 arbor over a dorsal micro-CT image.</a:t>
            </a:r>
          </a:p>
        </p:txBody>
      </p:sp>
      <p:sp>
        <p:nvSpPr>
          <p:cNvPr id="8" name="Rectangle 7"/>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Kristan &amp; Calabrese (1976); Ashaber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Isolation changes dorsal–ventral timing relationships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006B91"/>
                </a:solidFill>
                <a:latin typeface="Arial"/>
              </a:rPr>
              <a:t>Phase</a:t>
            </a:r>
            <a:r>
              <a:rPr sz="1400" b="0" i="0">
                <a:solidFill>
                  <a:srgbClr val="202A32"/>
                </a:solidFill>
                <a:latin typeface="Arial"/>
              </a:rPr>
              <a:t> describes the position of an event within a repeating cycle. Kristan and Calabrese compared dorsal-to-ventral burst delays over different swim periods. Some isolated preparations retained period-dependent delays, whereas others expressed an approximately constant fractional phase lag.</a:t>
            </a:r>
          </a:p>
          <a:p>
            <a:pPr algn="l">
              <a:lnSpc>
                <a:spcPct val="108000"/>
              </a:lnSpc>
              <a:spcAft>
                <a:spcPts val="840"/>
              </a:spcAft>
            </a:pPr>
            <a:r>
              <a:rPr sz="1400" b="0" i="0">
                <a:solidFill>
                  <a:srgbClr val="202A32"/>
                </a:solidFill>
                <a:latin typeface="Arial"/>
              </a:rPr>
              <a:t>In semi-intact preparations, dorsal-excitor burst duration increased more strongly with cycle period. In constant-phase isolated preparations, its dependence on period was weaker. Ventral-excitor burst duration was comparatively less dependent on cycle period and did not distinguish the two timing states in the same way.</a:t>
            </a:r>
          </a:p>
          <a:p>
            <a:pPr algn="l">
              <a:lnSpc>
                <a:spcPct val="108000"/>
              </a:lnSpc>
              <a:spcAft>
                <a:spcPts val="840"/>
              </a:spcAft>
            </a:pPr>
            <a:r>
              <a:rPr sz="1400" b="0" i="0">
                <a:solidFill>
                  <a:srgbClr val="202A32"/>
                </a:solidFill>
                <a:latin typeface="Arial"/>
              </a:rPr>
              <a:t>Central rhythm production and normal phase calibration are separate properties. The study supports a contribution of peripheral input to the timing relationships expressed during swimming. Isolation does not force every preparation into an identical state, and the comparisons do not identify a single receptor or synaptic connection responsible for the change.</a:t>
            </a:r>
          </a:p>
        </p:txBody>
      </p:sp>
      <p:pic>
        <p:nvPicPr>
          <p:cNvPr id="4" name="Picture 3" descr="KC76_5.png"/>
          <p:cNvPicPr>
            <a:picLocks noChangeAspect="1"/>
          </p:cNvPicPr>
          <p:nvPr/>
        </p:nvPicPr>
        <p:blipFill>
          <a:blip r:embed="rId2"/>
          <a:stretch>
            <a:fillRect/>
          </a:stretch>
        </p:blipFill>
        <p:spPr>
          <a:xfrm>
            <a:off x="6762583" y="1280160"/>
            <a:ext cx="2592048" cy="4297679"/>
          </a:xfrm>
          <a:prstGeom prst="rect">
            <a:avLst/>
          </a:prstGeom>
        </p:spPr>
      </p:pic>
      <p:sp>
        <p:nvSpPr>
          <p:cNvPr id="5" name="Figure caption"/>
          <p:cNvSpPr txBox="1"/>
          <p:nvPr/>
        </p:nvSpPr>
        <p:spPr>
          <a:xfrm>
            <a:off x="6138367" y="5669279"/>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Kristan &amp; Calabrese (1976), Fig. 5(A–C). Measured phase-delay and burst-duration relationships.</a:t>
            </a:r>
          </a:p>
        </p:txBody>
      </p:sp>
      <p:pic>
        <p:nvPicPr>
          <p:cNvPr id="6" name="Picture 5" descr="A21_DE3.png"/>
          <p:cNvPicPr>
            <a:picLocks noChangeAspect="1"/>
          </p:cNvPicPr>
          <p:nvPr/>
        </p:nvPicPr>
        <p:blipFill>
          <a:blip r:embed="rId3"/>
          <a:stretch>
            <a:fillRect/>
          </a:stretch>
        </p:blipFill>
        <p:spPr>
          <a:xfrm>
            <a:off x="10161727" y="2148840"/>
            <a:ext cx="1463039" cy="1025337"/>
          </a:xfrm>
          <a:prstGeom prst="rect">
            <a:avLst/>
          </a:prstGeom>
        </p:spPr>
      </p:pic>
      <p:sp>
        <p:nvSpPr>
          <p:cNvPr id="7" name="Figure caption"/>
          <p:cNvSpPr txBox="1"/>
          <p:nvPr/>
        </p:nvSpPr>
        <p:spPr>
          <a:xfrm>
            <a:off x="10161727" y="3247329"/>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Ashaber et al. (2021), Fig. 7(a). Reconstructed DE-3 arbor over a dorsal micro-CT image.</a:t>
            </a:r>
          </a:p>
        </p:txBody>
      </p:sp>
      <p:sp>
        <p:nvSpPr>
          <p:cNvPr id="8" name="Rectangle 7"/>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Kristan &amp; Calabrese (1976); Ashaber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Central delays do not fully reproduce the intact wave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006B91"/>
                </a:solidFill>
                <a:latin typeface="Arial"/>
              </a:rPr>
              <a:t>Intersegmental delay</a:t>
            </a:r>
            <a:r>
              <a:rPr sz="1500" b="0" i="0">
                <a:solidFill>
                  <a:srgbClr val="202A32"/>
                </a:solidFill>
                <a:latin typeface="Arial"/>
              </a:rPr>
              <a:t> is the time separating equivalent activity in different segments. Kristan and Calabrese recorded homologous dorsal-excitor bursts from separated ganglia and expressed the resulting delay per segment. Posterior bursts generally followed anterior bursts, consistent with a rearward-moving motor pattern.</a:t>
            </a:r>
          </a:p>
          <a:p>
            <a:pPr algn="l">
              <a:lnSpc>
                <a:spcPct val="108000"/>
              </a:lnSpc>
              <a:spcAft>
                <a:spcPts val="900"/>
              </a:spcAft>
            </a:pPr>
            <a:r>
              <a:rPr sz="1500" b="0" i="0">
                <a:solidFill>
                  <a:srgbClr val="202A32"/>
                </a:solidFill>
                <a:latin typeface="Arial"/>
              </a:rPr>
              <a:t>Delays in semi-intact and isolated cords were shorter than the delays inferred from intact swimming movements. The clear increase of intact movement delay with cycle period was absent in the reduced preparations. Their delay distributions remained variable despite a recognizable central rhythm.</a:t>
            </a:r>
          </a:p>
          <a:p>
            <a:pPr algn="l">
              <a:lnSpc>
                <a:spcPct val="108000"/>
              </a:lnSpc>
              <a:spcAft>
                <a:spcPts val="900"/>
              </a:spcAft>
            </a:pPr>
            <a:r>
              <a:rPr sz="1500" b="0" i="0">
                <a:solidFill>
                  <a:srgbClr val="202A32"/>
                </a:solidFill>
                <a:latin typeface="Arial"/>
              </a:rPr>
              <a:t>A chain of centrally coupled neurons can generate directional timing without recreating the complete intact body wave. Peripheral feedback can adjust the relationship between propagation and period. The preparation comparison supports that contribution, but differences in movement and nerve-recording measures also limit a direct numerical equivalence.</a:t>
            </a:r>
          </a:p>
        </p:txBody>
      </p:sp>
      <p:pic>
        <p:nvPicPr>
          <p:cNvPr id="4" name="Picture 3" descr="KC76_6.png"/>
          <p:cNvPicPr>
            <a:picLocks noChangeAspect="1"/>
          </p:cNvPicPr>
          <p:nvPr/>
        </p:nvPicPr>
        <p:blipFill>
          <a:blip r:embed="rId2"/>
          <a:stretch>
            <a:fillRect/>
          </a:stretch>
        </p:blipFill>
        <p:spPr>
          <a:xfrm>
            <a:off x="6752096" y="1280160"/>
            <a:ext cx="2613021" cy="4297679"/>
          </a:xfrm>
          <a:prstGeom prst="rect">
            <a:avLst/>
          </a:prstGeom>
        </p:spPr>
      </p:pic>
      <p:sp>
        <p:nvSpPr>
          <p:cNvPr id="5" name="Figure caption"/>
          <p:cNvSpPr txBox="1"/>
          <p:nvPr/>
        </p:nvSpPr>
        <p:spPr>
          <a:xfrm>
            <a:off x="6138367" y="5669279"/>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Kristan &amp; Calabrese (1976), Fig. 6(A,B). Intersegmental motor-burst delay versus swim period.</a:t>
            </a:r>
          </a:p>
        </p:txBody>
      </p:sp>
      <p:pic>
        <p:nvPicPr>
          <p:cNvPr id="6" name="Picture 5" descr="A21_DE3.png"/>
          <p:cNvPicPr>
            <a:picLocks noChangeAspect="1"/>
          </p:cNvPicPr>
          <p:nvPr/>
        </p:nvPicPr>
        <p:blipFill>
          <a:blip r:embed="rId3"/>
          <a:stretch>
            <a:fillRect/>
          </a:stretch>
        </p:blipFill>
        <p:spPr>
          <a:xfrm>
            <a:off x="10161727" y="2148840"/>
            <a:ext cx="1463039" cy="1025337"/>
          </a:xfrm>
          <a:prstGeom prst="rect">
            <a:avLst/>
          </a:prstGeom>
        </p:spPr>
      </p:pic>
      <p:sp>
        <p:nvSpPr>
          <p:cNvPr id="7" name="Figure caption"/>
          <p:cNvSpPr txBox="1"/>
          <p:nvPr/>
        </p:nvSpPr>
        <p:spPr>
          <a:xfrm>
            <a:off x="10161727" y="3247329"/>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Ashaber et al. (2021), Fig. 7(a). Reconstructed DE-3 arbor over a dorsal micro-CT image.</a:t>
            </a:r>
          </a:p>
        </p:txBody>
      </p:sp>
      <p:sp>
        <p:nvSpPr>
          <p:cNvPr id="8" name="Rectangle 7"/>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Kristan &amp; Calabrese (1976); Ashaber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Stretch modifies bursts differently across preparations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202A32"/>
                </a:solidFill>
                <a:latin typeface="Arial"/>
              </a:rPr>
              <a:t>Kristan and Calabrese attached a dorsal body-wall flap to a tension transducer and imposed longitudinal stretch during swimming activity. </a:t>
            </a:r>
            <a:r>
              <a:rPr sz="1400" b="1" i="0">
                <a:solidFill>
                  <a:srgbClr val="006B91"/>
                </a:solidFill>
                <a:latin typeface="Arial"/>
              </a:rPr>
              <a:t>Sensory feedback</a:t>
            </a:r>
            <a:r>
              <a:rPr sz="1400" b="0" i="0">
                <a:solidFill>
                  <a:srgbClr val="202A32"/>
                </a:solidFill>
                <a:latin typeface="Arial"/>
              </a:rPr>
              <a:t> is information generated by the body or environment that returns to the neural controller. Stretch provided a controlled perturbation rather than relying on spontaneous changes in movement.</a:t>
            </a:r>
          </a:p>
          <a:p>
            <a:pPr algn="l">
              <a:lnSpc>
                <a:spcPct val="108000"/>
              </a:lnSpc>
              <a:spcAft>
                <a:spcPts val="840"/>
              </a:spcAft>
            </a:pPr>
            <a:r>
              <a:rPr sz="1400" b="0" i="0">
                <a:solidFill>
                  <a:srgbClr val="202A32"/>
                </a:solidFill>
                <a:latin typeface="Arial"/>
              </a:rPr>
              <a:t>In the semi-intact preparation, stretch prolonged dorsal-excitor bursts and shortened, or sometimes abolished, ventral-excitor bursts without changing the cycle period. In a nearly isolated preparation retaining one innervated segment, moderate stretch changed burst durations and could lengthen the overall period.</a:t>
            </a:r>
          </a:p>
          <a:p>
            <a:pPr algn="l">
              <a:lnSpc>
                <a:spcPct val="108000"/>
              </a:lnSpc>
              <a:spcAft>
                <a:spcPts val="840"/>
              </a:spcAft>
            </a:pPr>
            <a:r>
              <a:rPr sz="1400" b="0" i="0">
                <a:solidFill>
                  <a:srgbClr val="202A32"/>
                </a:solidFill>
                <a:latin typeface="Arial"/>
              </a:rPr>
              <a:t>Feedback can alter both the motor output and, under reduced conditions, the rhythm-generating network. The experiment does not establish one uniform effect of stretch under every condition. The remaining innervation and the extent of peripheral removal determine which feedback pathways can influence the rhythm.</a:t>
            </a:r>
          </a:p>
        </p:txBody>
      </p:sp>
      <p:pic>
        <p:nvPicPr>
          <p:cNvPr id="4" name="Picture 3" descr="KC76_9.png"/>
          <p:cNvPicPr>
            <a:picLocks noChangeAspect="1"/>
          </p:cNvPicPr>
          <p:nvPr/>
        </p:nvPicPr>
        <p:blipFill>
          <a:blip r:embed="rId2"/>
          <a:stretch>
            <a:fillRect/>
          </a:stretch>
        </p:blipFill>
        <p:spPr>
          <a:xfrm>
            <a:off x="6138367" y="1280160"/>
            <a:ext cx="3840480" cy="4139336"/>
          </a:xfrm>
          <a:prstGeom prst="rect">
            <a:avLst/>
          </a:prstGeom>
        </p:spPr>
      </p:pic>
      <p:sp>
        <p:nvSpPr>
          <p:cNvPr id="5" name="Figure caption"/>
          <p:cNvSpPr txBox="1"/>
          <p:nvPr/>
        </p:nvSpPr>
        <p:spPr>
          <a:xfrm>
            <a:off x="6138367" y="5510936"/>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Kristan &amp; Calabrese (1976), Fig. 9(A,B). Body-wall stretch during semi-intact and nearly isolated rhythms.</a:t>
            </a:r>
          </a:p>
        </p:txBody>
      </p:sp>
      <p:pic>
        <p:nvPicPr>
          <p:cNvPr id="6" name="Picture 5" descr="A21_DE3.png"/>
          <p:cNvPicPr>
            <a:picLocks noChangeAspect="1"/>
          </p:cNvPicPr>
          <p:nvPr/>
        </p:nvPicPr>
        <p:blipFill>
          <a:blip r:embed="rId3"/>
          <a:stretch>
            <a:fillRect/>
          </a:stretch>
        </p:blipFill>
        <p:spPr>
          <a:xfrm>
            <a:off x="10161727" y="2148840"/>
            <a:ext cx="1463039" cy="1025337"/>
          </a:xfrm>
          <a:prstGeom prst="rect">
            <a:avLst/>
          </a:prstGeom>
        </p:spPr>
      </p:pic>
      <p:sp>
        <p:nvSpPr>
          <p:cNvPr id="7" name="Figure caption"/>
          <p:cNvSpPr txBox="1"/>
          <p:nvPr/>
        </p:nvSpPr>
        <p:spPr>
          <a:xfrm>
            <a:off x="10161727" y="3247329"/>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Ashaber et al. (2021), Fig. 7(a). Reconstructed DE-3 arbor over a dorsal micro-CT image.</a:t>
            </a:r>
          </a:p>
        </p:txBody>
      </p:sp>
      <p:sp>
        <p:nvSpPr>
          <p:cNvPr id="8" name="Rectangle 7"/>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Kristan &amp; Calabrese (1976); Ashaber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A dorsal inhibitor can slow the isolated swim rhythm</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02A32"/>
                </a:solidFill>
                <a:latin typeface="Arial"/>
              </a:rPr>
              <a:t>Kristan and Calabrese injected depolarizing current into identified motor neurons during an isolated-cord swim episode. </a:t>
            </a:r>
            <a:r>
              <a:rPr sz="1500" b="1" i="0">
                <a:solidFill>
                  <a:srgbClr val="006B91"/>
                </a:solidFill>
                <a:latin typeface="Arial"/>
              </a:rPr>
              <a:t>Depolarization</a:t>
            </a:r>
            <a:r>
              <a:rPr sz="1500" b="0" i="0">
                <a:solidFill>
                  <a:srgbClr val="202A32"/>
                </a:solidFill>
                <a:latin typeface="Arial"/>
              </a:rPr>
              <a:t> moves membrane voltage toward a less negative value and can increase firing. The dorsal inhibitor, cell 1, was stimulated strongly enough to suppress the associated dorsal excitor locally.</a:t>
            </a:r>
          </a:p>
          <a:p>
            <a:pPr algn="l">
              <a:lnSpc>
                <a:spcPct val="108000"/>
              </a:lnSpc>
              <a:spcAft>
                <a:spcPts val="900"/>
              </a:spcAft>
            </a:pPr>
            <a:r>
              <a:rPr sz="1500" b="0" i="0">
                <a:solidFill>
                  <a:srgbClr val="202A32"/>
                </a:solidFill>
                <a:latin typeface="Arial"/>
              </a:rPr>
              <a:t>Cell 1 stimulation lengthened the period across the cord, including a recording two segments away. In one episode, the period increased from approximately 825 to 940 ms during the first current passage. Comparable stimulation of the ventral inhibitor, cell 2, did not produce the same period change.</a:t>
            </a:r>
          </a:p>
          <a:p>
            <a:pPr algn="l">
              <a:lnSpc>
                <a:spcPct val="108000"/>
              </a:lnSpc>
              <a:spcAft>
                <a:spcPts val="900"/>
              </a:spcAft>
            </a:pPr>
            <a:r>
              <a:rPr sz="1500" b="0" i="0">
                <a:solidFill>
                  <a:srgbClr val="202A32"/>
                </a:solidFill>
                <a:latin typeface="Arial"/>
              </a:rPr>
              <a:t>The effect is specific evidence that cell 1 can influence the isolated oscillator, rather than proof that every motor neuron is a rhythm generator. The same manipulation did not reset period in the semi-intact preparation. Network state and peripheral input therefore constrain the behavioral significance of this feedback route.</a:t>
            </a:r>
          </a:p>
        </p:txBody>
      </p:sp>
      <p:pic>
        <p:nvPicPr>
          <p:cNvPr id="4" name="Picture 3" descr="KC76_8.png"/>
          <p:cNvPicPr>
            <a:picLocks noChangeAspect="1"/>
          </p:cNvPicPr>
          <p:nvPr/>
        </p:nvPicPr>
        <p:blipFill>
          <a:blip r:embed="rId2"/>
          <a:stretch>
            <a:fillRect/>
          </a:stretch>
        </p:blipFill>
        <p:spPr>
          <a:xfrm>
            <a:off x="6338518" y="1280160"/>
            <a:ext cx="3440177" cy="4297679"/>
          </a:xfrm>
          <a:prstGeom prst="rect">
            <a:avLst/>
          </a:prstGeom>
        </p:spPr>
      </p:pic>
      <p:sp>
        <p:nvSpPr>
          <p:cNvPr id="5" name="Figure caption"/>
          <p:cNvSpPr txBox="1"/>
          <p:nvPr/>
        </p:nvSpPr>
        <p:spPr>
          <a:xfrm>
            <a:off x="6138367" y="5669279"/>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Kristan &amp; Calabrese (1976), Fig. 8(A–C). Effects of current injection into identified inhibitory motor neurons.</a:t>
            </a:r>
          </a:p>
        </p:txBody>
      </p:sp>
      <p:pic>
        <p:nvPicPr>
          <p:cNvPr id="6" name="Picture 5" descr="A21_DE3.png"/>
          <p:cNvPicPr>
            <a:picLocks noChangeAspect="1"/>
          </p:cNvPicPr>
          <p:nvPr/>
        </p:nvPicPr>
        <p:blipFill>
          <a:blip r:embed="rId3"/>
          <a:stretch>
            <a:fillRect/>
          </a:stretch>
        </p:blipFill>
        <p:spPr>
          <a:xfrm>
            <a:off x="10161727" y="2148840"/>
            <a:ext cx="1463039" cy="1025337"/>
          </a:xfrm>
          <a:prstGeom prst="rect">
            <a:avLst/>
          </a:prstGeom>
        </p:spPr>
      </p:pic>
      <p:sp>
        <p:nvSpPr>
          <p:cNvPr id="7" name="Figure caption"/>
          <p:cNvSpPr txBox="1"/>
          <p:nvPr/>
        </p:nvSpPr>
        <p:spPr>
          <a:xfrm>
            <a:off x="10161727" y="3247329"/>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Ashaber et al. (2021), Fig. 7(a). Reconstructed DE-3 arbor over a dorsal micro-CT image.</a:t>
            </a:r>
          </a:p>
        </p:txBody>
      </p:sp>
      <p:sp>
        <p:nvSpPr>
          <p:cNvPr id="8" name="Rectangle 7"/>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Kristan &amp; Calabrese (1976); Ashaber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Implanted electrodes connect swim impulses to movement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02A32"/>
                </a:solidFill>
                <a:latin typeface="Arial"/>
              </a:rPr>
              <a:t>Yu and colleagues implanted hook electrodes on dorsal posterior nerves in leeches whose bodies could still move. The largest motor unit in these nerves was used to monitor the dorsal excitor DE-3. Video and electrical recordings linked the progression of the body wave with activity on either side of a central cord transection.</a:t>
            </a:r>
          </a:p>
          <a:p>
            <a:pPr algn="l">
              <a:lnSpc>
                <a:spcPct val="108000"/>
              </a:lnSpc>
              <a:spcAft>
                <a:spcPts val="900"/>
              </a:spcAft>
            </a:pPr>
            <a:r>
              <a:rPr sz="1500" b="0" i="0">
                <a:solidFill>
                  <a:srgbClr val="202A32"/>
                </a:solidFill>
                <a:latin typeface="Arial"/>
              </a:rPr>
              <a:t>The cord was cut between midbody ganglia M10 and M11. Recording sites at M7 and M14 bracketed the interruption. Intact preparations and preparations with a severed cord provided the critical comparison while retaining peripheral muscles and sensory receptors.</a:t>
            </a:r>
          </a:p>
          <a:p>
            <a:pPr algn="l">
              <a:lnSpc>
                <a:spcPct val="108000"/>
              </a:lnSpc>
              <a:spcAft>
                <a:spcPts val="900"/>
              </a:spcAft>
            </a:pPr>
            <a:r>
              <a:rPr sz="1500" b="0" i="0">
                <a:solidFill>
                  <a:srgbClr val="202A32"/>
                </a:solidFill>
                <a:latin typeface="Arial"/>
              </a:rPr>
              <a:t>This design tests whether coordination can cross a central interruption through routes associated with the moving body. It does not isolate one stretch receptor or one reflex pathway. The implanted signals provide direct motor timing while the behavioral records establish whether the body remained coordinated.</a:t>
            </a:r>
          </a:p>
        </p:txBody>
      </p:sp>
      <p:pic>
        <p:nvPicPr>
          <p:cNvPr id="4" name="Picture 3" descr="YN99_2.png"/>
          <p:cNvPicPr>
            <a:picLocks noChangeAspect="1"/>
          </p:cNvPicPr>
          <p:nvPr/>
        </p:nvPicPr>
        <p:blipFill>
          <a:blip r:embed="rId2"/>
          <a:stretch>
            <a:fillRect/>
          </a:stretch>
        </p:blipFill>
        <p:spPr>
          <a:xfrm>
            <a:off x="6138367" y="1280160"/>
            <a:ext cx="3840480" cy="3674405"/>
          </a:xfrm>
          <a:prstGeom prst="rect">
            <a:avLst/>
          </a:prstGeom>
        </p:spPr>
      </p:pic>
      <p:sp>
        <p:nvSpPr>
          <p:cNvPr id="5" name="Figure caption"/>
          <p:cNvSpPr txBox="1"/>
          <p:nvPr/>
        </p:nvSpPr>
        <p:spPr>
          <a:xfrm>
            <a:off x="6138367" y="5046005"/>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Yu et al. (1999), Fig. 2(A,B). Original recording preparation and implanted-electrode experiment.</a:t>
            </a:r>
          </a:p>
        </p:txBody>
      </p:sp>
      <p:pic>
        <p:nvPicPr>
          <p:cNvPr id="6" name="Picture 5" descr="A21_DE3.png"/>
          <p:cNvPicPr>
            <a:picLocks noChangeAspect="1"/>
          </p:cNvPicPr>
          <p:nvPr/>
        </p:nvPicPr>
        <p:blipFill>
          <a:blip r:embed="rId3"/>
          <a:stretch>
            <a:fillRect/>
          </a:stretch>
        </p:blipFill>
        <p:spPr>
          <a:xfrm>
            <a:off x="10161727" y="2148840"/>
            <a:ext cx="1463039" cy="1025337"/>
          </a:xfrm>
          <a:prstGeom prst="rect">
            <a:avLst/>
          </a:prstGeom>
        </p:spPr>
      </p:pic>
      <p:sp>
        <p:nvSpPr>
          <p:cNvPr id="7" name="Figure caption"/>
          <p:cNvSpPr txBox="1"/>
          <p:nvPr/>
        </p:nvSpPr>
        <p:spPr>
          <a:xfrm>
            <a:off x="10161727" y="3247329"/>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Ashaber et al. (2021), Fig. 7(a). Reconstructed DE-3 arbor over a dorsal micro-CT image.</a:t>
            </a:r>
          </a:p>
        </p:txBody>
      </p:sp>
      <p:sp>
        <p:nvSpPr>
          <p:cNvPr id="8" name="Rectangle 7"/>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Yu et al. (1999); Ashaber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Body continuity permits swimming after cord transection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02A32"/>
                </a:solidFill>
                <a:latin typeface="Arial"/>
              </a:rPr>
              <a:t>Yu and colleagues videotaped the same leeches before and after cutting the nerve cord between M10 and M11. Beads placed at M7 and M14 allowed timing of troughs and crests at defined body locations. Unimplanted controls and animals with beads helped separate surgery effects from effects of the movement markers.</a:t>
            </a:r>
          </a:p>
          <a:p>
            <a:pPr algn="l">
              <a:lnSpc>
                <a:spcPct val="108000"/>
              </a:lnSpc>
              <a:spcAft>
                <a:spcPts val="900"/>
              </a:spcAft>
            </a:pPr>
            <a:r>
              <a:rPr sz="1500" b="0" i="0">
                <a:solidFill>
                  <a:srgbClr val="202A32"/>
                </a:solidFill>
                <a:latin typeface="Arial"/>
              </a:rPr>
              <a:t>The severed-cord animals could retain a rearward-progressing body wave spanning the lesion. Their phase lag between M7 and M14 increased from roughly 147° before the cut to roughly 170° afterward. They also swam more slowly, so persistence of coordination did not mean normal performance was fully preserved.</a:t>
            </a:r>
          </a:p>
          <a:p>
            <a:pPr algn="l">
              <a:lnSpc>
                <a:spcPct val="108000"/>
              </a:lnSpc>
              <a:spcAft>
                <a:spcPts val="900"/>
              </a:spcAft>
            </a:pPr>
            <a:r>
              <a:rPr sz="1500" b="0" i="0">
                <a:solidFill>
                  <a:srgbClr val="202A32"/>
                </a:solidFill>
                <a:latin typeface="Arial"/>
              </a:rPr>
              <a:t>A continuous body provides a route through which movement-dependent feedback can coordinate separated central regions. The result supports peripheral coordination when direct central communication is interrupted. It does not imply that the intact animal normally dispenses with central intersegmental connections.</a:t>
            </a:r>
          </a:p>
        </p:txBody>
      </p:sp>
      <p:pic>
        <p:nvPicPr>
          <p:cNvPr id="4" name="Picture 3" descr="YN99_3.png"/>
          <p:cNvPicPr>
            <a:picLocks noChangeAspect="1"/>
          </p:cNvPicPr>
          <p:nvPr/>
        </p:nvPicPr>
        <p:blipFill>
          <a:blip r:embed="rId2"/>
          <a:stretch>
            <a:fillRect/>
          </a:stretch>
        </p:blipFill>
        <p:spPr>
          <a:xfrm>
            <a:off x="7798030" y="1280160"/>
            <a:ext cx="253283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Yu et al. (1999), Fig. 3(A,B). Measured body-wave sequences before and after a central cut.</a:t>
            </a:r>
          </a:p>
        </p:txBody>
      </p:sp>
      <p:sp>
        <p:nvSpPr>
          <p:cNvPr id="6" name="Rectangle 5"/>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Yu et al. (1999)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Motor recordings confirm coordination across the lesion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02A32"/>
                </a:solidFill>
                <a:latin typeface="Arial"/>
              </a:rPr>
              <a:t>Yu and colleagues compared DE-3 burst timing at M7 and M14 while the body moved. This electrical measurement tested whether apparent coordination in video corresponded to coordinated neural output. The same implanted sites could be examined before and after the midbody nerve cord was cut.</a:t>
            </a:r>
          </a:p>
          <a:p>
            <a:pPr algn="l">
              <a:lnSpc>
                <a:spcPct val="108000"/>
              </a:lnSpc>
              <a:spcAft>
                <a:spcPts val="900"/>
              </a:spcAft>
            </a:pPr>
            <a:r>
              <a:rPr sz="1500" b="0" i="0">
                <a:solidFill>
                  <a:srgbClr val="202A32"/>
                </a:solidFill>
                <a:latin typeface="Arial"/>
              </a:rPr>
              <a:t>Motor bursts remained phase related across the cut while the animal expressed coordinated swimming. The lag was larger and more variable than in intact preparations. Isolated cords whose direct intersegmental connections were severed lacked the comparable coordination available when the body was present.</a:t>
            </a:r>
          </a:p>
          <a:p>
            <a:pPr algn="l">
              <a:lnSpc>
                <a:spcPct val="108000"/>
              </a:lnSpc>
              <a:spcAft>
                <a:spcPts val="900"/>
              </a:spcAft>
            </a:pPr>
            <a:r>
              <a:rPr sz="1500" b="0" i="0">
                <a:solidFill>
                  <a:srgbClr val="202A32"/>
                </a:solidFill>
                <a:latin typeface="Arial"/>
              </a:rPr>
              <a:t>The combined electrical and behavioral evidence supports feedback-dependent coupling between disconnected central regions. It does not establish that muscles alone transmit the signal without sensory neurons. The relevant peripheral route includes body mechanics and the return of movement-related information to each remaining neural circuit.</a:t>
            </a:r>
          </a:p>
        </p:txBody>
      </p:sp>
      <p:pic>
        <p:nvPicPr>
          <p:cNvPr id="4" name="Picture 3" descr="YN99_6.png"/>
          <p:cNvPicPr>
            <a:picLocks noChangeAspect="1"/>
          </p:cNvPicPr>
          <p:nvPr/>
        </p:nvPicPr>
        <p:blipFill>
          <a:blip r:embed="rId2"/>
          <a:stretch>
            <a:fillRect/>
          </a:stretch>
        </p:blipFill>
        <p:spPr>
          <a:xfrm>
            <a:off x="6223178" y="1280160"/>
            <a:ext cx="5316778"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Yu et al. (1999), Fig. 6(A–C). In situ motor-nerve records in intact and severed-cord leeches.</a:t>
            </a:r>
          </a:p>
        </p:txBody>
      </p:sp>
      <p:pic>
        <p:nvPicPr>
          <p:cNvPr id="6" name="Picture 5" descr="A21_DE3.png"/>
          <p:cNvPicPr>
            <a:picLocks noChangeAspect="1"/>
          </p:cNvPicPr>
          <p:nvPr/>
        </p:nvPicPr>
        <p:blipFill>
          <a:blip r:embed="rId3"/>
          <a:stretch>
            <a:fillRect/>
          </a:stretch>
        </p:blipFill>
        <p:spPr>
          <a:xfrm>
            <a:off x="8163957" y="4754880"/>
            <a:ext cx="143521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Ashaber et al. (2021), Fig. 7(a). Reconstructed DE-3 arbor over a dorsal micro-CT image.</a:t>
            </a:r>
          </a:p>
        </p:txBody>
      </p:sp>
      <p:sp>
        <p:nvSpPr>
          <p:cNvPr id="8" name="Rectangle 7"/>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Yu et al. (1999); Ashaber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Serotonin increases the availability of the swim program</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006B91"/>
                </a:solidFill>
                <a:latin typeface="Arial"/>
              </a:rPr>
              <a:t>Serotonin</a:t>
            </a:r>
            <a:r>
              <a:rPr sz="1400" b="0" i="0">
                <a:solidFill>
                  <a:srgbClr val="202A32"/>
                </a:solidFill>
                <a:latin typeface="Arial"/>
              </a:rPr>
              <a:t>, also called 5-hydroxytryptamine or 5-HT, is a neurotransmitter that can modulate circuit activity. Willard applied serotonin to isolated leech nerve cords and monitored swim bursts in motor nerves. This preparation tested a neural effect without requiring a moving body.</a:t>
            </a:r>
          </a:p>
          <a:p>
            <a:pPr algn="l">
              <a:lnSpc>
                <a:spcPct val="108000"/>
              </a:lnSpc>
              <a:spcAft>
                <a:spcPts val="840"/>
              </a:spcAft>
            </a:pPr>
            <a:r>
              <a:rPr sz="1400" b="0" i="0">
                <a:solidFill>
                  <a:srgbClr val="202A32"/>
                </a:solidFill>
                <a:latin typeface="Arial"/>
              </a:rPr>
              <a:t>Serotonin promoted repeated swimming episodes without additional electrical stimulation and increased responses to stimuli that previously evoked only one episode. Approximately 0.5–10 μM induced spontaneous swimming; concentrations as low as 50 nM elicited additional episodes after stimulation. Exposure and washout separated the drug effect from baseline excitability.</a:t>
            </a:r>
          </a:p>
          <a:p>
            <a:pPr algn="l">
              <a:lnSpc>
                <a:spcPct val="108000"/>
              </a:lnSpc>
              <a:spcAft>
                <a:spcPts val="840"/>
              </a:spcAft>
            </a:pPr>
            <a:r>
              <a:rPr sz="1400" b="0" i="0">
                <a:solidFill>
                  <a:srgbClr val="202A32"/>
                </a:solidFill>
                <a:latin typeface="Arial"/>
              </a:rPr>
              <a:t>Serotonin changes the likelihood that a patterned program is expressed, rather than supplying a sequence of timed muscle commands. This pharmacology does not establish a particular serotonin receptor subtype or ion-channel target. The central circuit still supplies the rhythm once the modulated state permits its expression.</a:t>
            </a:r>
          </a:p>
        </p:txBody>
      </p:sp>
      <p:pic>
        <p:nvPicPr>
          <p:cNvPr id="4" name="Picture 3" descr="WP81_1.png"/>
          <p:cNvPicPr>
            <a:picLocks noChangeAspect="1"/>
          </p:cNvPicPr>
          <p:nvPr/>
        </p:nvPicPr>
        <p:blipFill>
          <a:blip r:embed="rId2"/>
          <a:stretch>
            <a:fillRect/>
          </a:stretch>
        </p:blipFill>
        <p:spPr>
          <a:xfrm>
            <a:off x="6138367" y="1280160"/>
            <a:ext cx="5486400" cy="2767661"/>
          </a:xfrm>
          <a:prstGeom prst="rect">
            <a:avLst/>
          </a:prstGeom>
        </p:spPr>
      </p:pic>
      <p:sp>
        <p:nvSpPr>
          <p:cNvPr id="5" name="Figure caption"/>
          <p:cNvSpPr txBox="1"/>
          <p:nvPr/>
        </p:nvSpPr>
        <p:spPr>
          <a:xfrm>
            <a:off x="6138367" y="4139261"/>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Willard (1981), Fig. 1. Swim episodes before, during and after serotonin exposure.</a:t>
            </a:r>
          </a:p>
        </p:txBody>
      </p:sp>
      <p:pic>
        <p:nvPicPr>
          <p:cNvPr id="6" name="Picture 5" descr="A21_DE3.png"/>
          <p:cNvPicPr>
            <a:picLocks noChangeAspect="1"/>
          </p:cNvPicPr>
          <p:nvPr/>
        </p:nvPicPr>
        <p:blipFill>
          <a:blip r:embed="rId3"/>
          <a:stretch>
            <a:fillRect/>
          </a:stretch>
        </p:blipFill>
        <p:spPr>
          <a:xfrm>
            <a:off x="8163957" y="4754880"/>
            <a:ext cx="143521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Ashaber et al. (2021), Fig. 7(a). Reconstructed DE-3 arbor over a dorsal micro-CT image.</a:t>
            </a:r>
          </a:p>
        </p:txBody>
      </p:sp>
      <p:sp>
        <p:nvSpPr>
          <p:cNvPr id="8" name="Rectangle 7"/>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Willard (1981); Ashaber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Serotonin can act on a restricted region of the cord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02A32"/>
                </a:solidFill>
                <a:latin typeface="Arial"/>
              </a:rPr>
              <a:t>Willard placed a barrier around two ganglia and applied serotonin only to that region of an isolated cord. Peripheral tissue was absent, and the remainder of the cord was maintained in normal saline. This localized exposure tested whether the drug had to reach every segment directly.</a:t>
            </a:r>
          </a:p>
          <a:p>
            <a:pPr algn="l">
              <a:lnSpc>
                <a:spcPct val="108000"/>
              </a:lnSpc>
              <a:spcAft>
                <a:spcPts val="900"/>
              </a:spcAft>
            </a:pPr>
            <a:r>
              <a:rPr sz="1500" b="0" i="0">
                <a:solidFill>
                  <a:srgbClr val="202A32"/>
                </a:solidFill>
                <a:latin typeface="Arial"/>
              </a:rPr>
              <a:t>After serotonin reached the restricted chamber, the larger cord could generate swimming episodes. Crushing connectives between the exposed region and the remaining cord interrupted the relevant communication. The exposed region could therefore influence distant parts through connections along the central nervous system.</a:t>
            </a:r>
          </a:p>
          <a:p>
            <a:pPr algn="l">
              <a:lnSpc>
                <a:spcPct val="108000"/>
              </a:lnSpc>
              <a:spcAft>
                <a:spcPts val="900"/>
              </a:spcAft>
            </a:pPr>
            <a:r>
              <a:rPr sz="1500" b="0" i="0">
                <a:solidFill>
                  <a:srgbClr val="202A32"/>
                </a:solidFill>
                <a:latin typeface="Arial"/>
              </a:rPr>
              <a:t>A local modulatory action can recruit a distributed motor circuit. The experiment does not establish that the two exposed ganglia contain the sole rhythm-generating kernel. The effect depends on their access to other ganglia, and crushing a connective interrupts many axons rather than a single identified pathway.</a:t>
            </a:r>
          </a:p>
        </p:txBody>
      </p:sp>
      <p:pic>
        <p:nvPicPr>
          <p:cNvPr id="4" name="Picture 3" descr="WP81_3.png"/>
          <p:cNvPicPr>
            <a:picLocks noChangeAspect="1"/>
          </p:cNvPicPr>
          <p:nvPr/>
        </p:nvPicPr>
        <p:blipFill>
          <a:blip r:embed="rId2"/>
          <a:stretch>
            <a:fillRect/>
          </a:stretch>
        </p:blipFill>
        <p:spPr>
          <a:xfrm>
            <a:off x="6274759" y="1280160"/>
            <a:ext cx="5213614"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Willard (1981), Fig. 3. Restricted serotonin application and cord-disconnection tests.</a:t>
            </a:r>
          </a:p>
        </p:txBody>
      </p:sp>
      <p:pic>
        <p:nvPicPr>
          <p:cNvPr id="6" name="Picture 5" descr="A21_DE3.png"/>
          <p:cNvPicPr>
            <a:picLocks noChangeAspect="1"/>
          </p:cNvPicPr>
          <p:nvPr/>
        </p:nvPicPr>
        <p:blipFill>
          <a:blip r:embed="rId3"/>
          <a:stretch>
            <a:fillRect/>
          </a:stretch>
        </p:blipFill>
        <p:spPr>
          <a:xfrm>
            <a:off x="8163957" y="4754880"/>
            <a:ext cx="143521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Ashaber et al. (2021), Fig. 7(a). Reconstructed DE-3 arbor over a dorsal micro-CT image.</a:t>
            </a:r>
          </a:p>
        </p:txBody>
      </p:sp>
      <p:sp>
        <p:nvSpPr>
          <p:cNvPr id="8" name="Rectangle 7"/>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Willard (1981); Ashaber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Retzius-cell stimulation releases an effective modulator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02A32"/>
                </a:solidFill>
                <a:latin typeface="Arial"/>
              </a:rPr>
              <a:t>Willard stimulated identified </a:t>
            </a:r>
            <a:r>
              <a:rPr sz="1600" b="1" i="0">
                <a:solidFill>
                  <a:srgbClr val="006B91"/>
                </a:solidFill>
                <a:latin typeface="Arial"/>
              </a:rPr>
              <a:t>Retzius neurons</a:t>
            </a:r>
            <a:r>
              <a:rPr sz="1600" b="0" i="0">
                <a:solidFill>
                  <a:srgbClr val="202A32"/>
                </a:solidFill>
                <a:latin typeface="Arial"/>
              </a:rPr>
              <a:t>, serotonin-containing cells in leech ganglia, while recording the swim program. A small chamber confined the saline around the stimulated cells. This design tested whether neuronal release could reproduce the effect of bath-applied serotonin.</a:t>
            </a:r>
          </a:p>
          <a:p>
            <a:pPr algn="l">
              <a:lnSpc>
                <a:spcPct val="108000"/>
              </a:lnSpc>
              <a:spcAft>
                <a:spcPts val="960"/>
              </a:spcAft>
            </a:pPr>
            <a:r>
              <a:rPr sz="1600" b="0" i="0">
                <a:solidFill>
                  <a:srgbClr val="202A32"/>
                </a:solidFill>
                <a:latin typeface="Arial"/>
              </a:rPr>
              <a:t>Stimulation evoked swimming when the surrounding volume was small, less than approximately 50 μl. Serotonin was detected in the bathing solution after stimulation. Larger surrounding volumes did not provide the same reliable effect, consistent with dilution of a released substance.</a:t>
            </a:r>
          </a:p>
          <a:p>
            <a:pPr algn="l">
              <a:lnSpc>
                <a:spcPct val="108000"/>
              </a:lnSpc>
              <a:spcAft>
                <a:spcPts val="960"/>
              </a:spcAft>
            </a:pPr>
            <a:r>
              <a:rPr sz="1600" b="0" i="0">
                <a:solidFill>
                  <a:srgbClr val="202A32"/>
                </a:solidFill>
                <a:latin typeface="Arial"/>
              </a:rPr>
              <a:t>The results link an identified serotonergic source with circuit modulation and chemical release. They do not prove that Retzius cells provide all serotonin acting during intact swimming. Willard also found serotonin in the blood sinus surrounding the cord, indicating that neuronal and circulating access must be distinguished.</a:t>
            </a:r>
          </a:p>
        </p:txBody>
      </p:sp>
      <p:pic>
        <p:nvPicPr>
          <p:cNvPr id="4" name="Picture 3" descr="WP81_4.png"/>
          <p:cNvPicPr>
            <a:picLocks noChangeAspect="1"/>
          </p:cNvPicPr>
          <p:nvPr/>
        </p:nvPicPr>
        <p:blipFill>
          <a:blip r:embed="rId2"/>
          <a:stretch>
            <a:fillRect/>
          </a:stretch>
        </p:blipFill>
        <p:spPr>
          <a:xfrm>
            <a:off x="6727233" y="1280160"/>
            <a:ext cx="4308667"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Willard (1981), Fig. 4. Retzius stimulation in a small chamber and resulting swim episodes.</a:t>
            </a:r>
          </a:p>
        </p:txBody>
      </p:sp>
      <p:pic>
        <p:nvPicPr>
          <p:cNvPr id="6" name="Picture 5" descr="A21_DE3.png"/>
          <p:cNvPicPr>
            <a:picLocks noChangeAspect="1"/>
          </p:cNvPicPr>
          <p:nvPr/>
        </p:nvPicPr>
        <p:blipFill>
          <a:blip r:embed="rId3"/>
          <a:stretch>
            <a:fillRect/>
          </a:stretch>
        </p:blipFill>
        <p:spPr>
          <a:xfrm>
            <a:off x="8163957" y="4754880"/>
            <a:ext cx="143521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Ashaber et al. (2021), Fig. 7(a). Reconstructed DE-3 arbor over a dorsal micro-CT image.</a:t>
            </a:r>
          </a:p>
        </p:txBody>
      </p:sp>
      <p:sp>
        <p:nvSpPr>
          <p:cNvPr id="8" name="Rectangle 7"/>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Willard (1981); Ashaber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Voltage-sensitive imaging captures two rhythms in one cord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02A32"/>
                </a:solidFill>
                <a:latin typeface="Arial"/>
              </a:rPr>
              <a:t>A </a:t>
            </a:r>
            <a:r>
              <a:rPr sz="1500" b="1" i="0">
                <a:solidFill>
                  <a:srgbClr val="006B91"/>
                </a:solidFill>
                <a:latin typeface="Arial"/>
              </a:rPr>
              <a:t>voltage-sensitive dye</a:t>
            </a:r>
            <a:r>
              <a:rPr sz="1500" b="0" i="0">
                <a:solidFill>
                  <a:srgbClr val="202A32"/>
                </a:solidFill>
                <a:latin typeface="Arial"/>
              </a:rPr>
              <a:t> changes its optical signal with membrane voltage. Briggman and Kristan imaged an exposed segmental ganglion while eliciting swimming and crawling in the same isolated cord. Intracellular recordings from cells 1 and 3 checked whether the optical signals tracked the identified neurons.</a:t>
            </a:r>
          </a:p>
          <a:p>
            <a:pPr algn="l">
              <a:lnSpc>
                <a:spcPct val="108000"/>
              </a:lnSpc>
              <a:spcAft>
                <a:spcPts val="900"/>
              </a:spcAft>
            </a:pPr>
            <a:r>
              <a:rPr sz="1500" b="0" i="0">
                <a:solidFill>
                  <a:srgbClr val="202A32"/>
                </a:solidFill>
                <a:latin typeface="Arial"/>
              </a:rPr>
              <a:t>Optical and electrical records preserved the different rhythms and phase relationships. Cell 1 and cell 3 oscillated approximately 180° apart during crawling but approximately 90° apart during swimming. Example frequencies were 0.09 Hz for crawling and 1.3 Hz for swimming.</a:t>
            </a:r>
          </a:p>
          <a:p>
            <a:pPr algn="l">
              <a:lnSpc>
                <a:spcPct val="108000"/>
              </a:lnSpc>
              <a:spcAft>
                <a:spcPts val="900"/>
              </a:spcAft>
            </a:pPr>
            <a:r>
              <a:rPr sz="1500" b="0" i="0">
                <a:solidFill>
                  <a:srgbClr val="202A32"/>
                </a:solidFill>
                <a:latin typeface="Arial"/>
              </a:rPr>
              <a:t>The calibration supports interpreting optical fluctuations as neuronal activity rather than assuming every fluorescence change is a spike. Dye kinetics introduce a temporal lag, and the optical sampling was slower than the electrical recording. Phase-associated imaging is therefore evidence about population dynamics, not a substitute for every intracellular waveform.</a:t>
            </a:r>
          </a:p>
        </p:txBody>
      </p:sp>
      <p:pic>
        <p:nvPicPr>
          <p:cNvPr id="4" name="Picture 3" descr="B06_1DE.png"/>
          <p:cNvPicPr>
            <a:picLocks noChangeAspect="1"/>
          </p:cNvPicPr>
          <p:nvPr/>
        </p:nvPicPr>
        <p:blipFill>
          <a:blip r:embed="rId2"/>
          <a:stretch>
            <a:fillRect/>
          </a:stretch>
        </p:blipFill>
        <p:spPr>
          <a:xfrm>
            <a:off x="6138367" y="1280160"/>
            <a:ext cx="5486400" cy="2365593"/>
          </a:xfrm>
          <a:prstGeom prst="rect">
            <a:avLst/>
          </a:prstGeom>
        </p:spPr>
      </p:pic>
      <p:sp>
        <p:nvSpPr>
          <p:cNvPr id="5" name="Figure caption"/>
          <p:cNvSpPr txBox="1"/>
          <p:nvPr/>
        </p:nvSpPr>
        <p:spPr>
          <a:xfrm>
            <a:off x="6138367" y="3737193"/>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Briggman &amp; Kristan (2006), Fig. 1(D,E). Simultaneous optical and intracellular motor-cell signals.</a:t>
            </a:r>
          </a:p>
        </p:txBody>
      </p:sp>
      <p:pic>
        <p:nvPicPr>
          <p:cNvPr id="6" name="Picture 5" descr="B06_1C.png"/>
          <p:cNvPicPr>
            <a:picLocks noChangeAspect="1"/>
          </p:cNvPicPr>
          <p:nvPr/>
        </p:nvPicPr>
        <p:blipFill>
          <a:blip r:embed="rId3"/>
          <a:stretch>
            <a:fillRect/>
          </a:stretch>
        </p:blipFill>
        <p:spPr>
          <a:xfrm>
            <a:off x="8180579" y="4754880"/>
            <a:ext cx="1401975"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Briggman &amp; Kristan (2006), Fig. 1(C). Dorsal ganglion surface with identified recording cells.</a:t>
            </a:r>
          </a:p>
        </p:txBody>
      </p:sp>
      <p:sp>
        <p:nvSpPr>
          <p:cNvPr id="8" name="Rectangle 7"/>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Briggman &amp; Kristan (2006)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Dorsal neurons change their phase across behaviors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02A32"/>
                </a:solidFill>
                <a:latin typeface="Arial"/>
              </a:rPr>
              <a:t>Briggman and Kristan calculated the phase of each optically recorded cell relative to a reference motor neuron. </a:t>
            </a:r>
            <a:r>
              <a:rPr sz="1600" b="1" i="0">
                <a:solidFill>
                  <a:srgbClr val="006B91"/>
                </a:solidFill>
                <a:latin typeface="Arial"/>
              </a:rPr>
              <a:t>Coherence</a:t>
            </a:r>
            <a:r>
              <a:rPr sz="1600" b="0" i="0">
                <a:solidFill>
                  <a:srgbClr val="202A32"/>
                </a:solidFill>
                <a:latin typeface="Arial"/>
              </a:rPr>
              <a:t> measures how consistently two signals share an oscillation at a specified frequency. Cells that oscillated consistently could be assigned a phase within the corresponding motor cycle.</a:t>
            </a:r>
          </a:p>
          <a:p>
            <a:pPr algn="l">
              <a:lnSpc>
                <a:spcPct val="108000"/>
              </a:lnSpc>
              <a:spcAft>
                <a:spcPts val="960"/>
              </a:spcAft>
            </a:pPr>
            <a:r>
              <a:rPr sz="1600" b="0" i="0">
                <a:solidFill>
                  <a:srgbClr val="202A32"/>
                </a:solidFill>
                <a:latin typeface="Arial"/>
              </a:rPr>
              <a:t>The dorsal ganglion contained cells active during both rhythms, but their phases were reorganized. The relationship between longitudinal excitors and inhibitors differed because swimming alternates dorsal and ventral contraction whereas crawling coactivates longitudinal muscle groups during shortening. The measured phase maps came from the same preparation.</a:t>
            </a:r>
          </a:p>
          <a:p>
            <a:pPr algn="l">
              <a:lnSpc>
                <a:spcPct val="108000"/>
              </a:lnSpc>
              <a:spcAft>
                <a:spcPts val="960"/>
              </a:spcAft>
            </a:pPr>
            <a:r>
              <a:rPr sz="1600" b="0" i="0">
                <a:solidFill>
                  <a:srgbClr val="202A32"/>
                </a:solidFill>
                <a:latin typeface="Arial"/>
              </a:rPr>
              <a:t>A cell’s participation in both rhythms does not imply that it serves the same functional role in each. Phase maps constrain which neurons are candidates for shared circuitry. They do not establish the direction or transmitter of a connection, which requires additional anatomical or physiological evidence.</a:t>
            </a:r>
          </a:p>
        </p:txBody>
      </p:sp>
      <p:pic>
        <p:nvPicPr>
          <p:cNvPr id="4" name="Picture 3" descr="B06_2AB.png"/>
          <p:cNvPicPr>
            <a:picLocks noChangeAspect="1"/>
          </p:cNvPicPr>
          <p:nvPr/>
        </p:nvPicPr>
        <p:blipFill>
          <a:blip r:embed="rId2"/>
          <a:stretch>
            <a:fillRect/>
          </a:stretch>
        </p:blipFill>
        <p:spPr>
          <a:xfrm>
            <a:off x="6504127" y="1280160"/>
            <a:ext cx="5120640" cy="2628246"/>
          </a:xfrm>
          <a:prstGeom prst="rect">
            <a:avLst/>
          </a:prstGeom>
        </p:spPr>
      </p:pic>
      <p:sp>
        <p:nvSpPr>
          <p:cNvPr id="5" name="Figure caption"/>
          <p:cNvSpPr txBox="1"/>
          <p:nvPr/>
        </p:nvSpPr>
        <p:spPr>
          <a:xfrm>
            <a:off x="6504127" y="399984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Briggman &amp; Kristan (2006), Fig. 2(A,B). Measured dorsal-surface phase maps for crawling and swimming.</a:t>
            </a:r>
          </a:p>
        </p:txBody>
      </p:sp>
      <p:sp>
        <p:nvSpPr>
          <p:cNvPr id="6" name="Rectangle 5"/>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Briggman &amp; Kristan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Circular-muscle cells participate selectively in crawling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02A32"/>
                </a:solidFill>
                <a:latin typeface="Arial"/>
              </a:rPr>
              <a:t>Briggman and Kristan recorded the ventral ganglion surface and simultaneously impaled cells CV and AE. CV is a circular-muscle excitor associated with body elongation. AE, the annulus erector motor neuron, provides a recognizable output associated with crawling and changes in body form.</a:t>
            </a:r>
          </a:p>
          <a:p>
            <a:pPr algn="l">
              <a:lnSpc>
                <a:spcPct val="108000"/>
              </a:lnSpc>
              <a:spcAft>
                <a:spcPts val="960"/>
              </a:spcAft>
            </a:pPr>
            <a:r>
              <a:rPr sz="1600" b="0" i="0">
                <a:solidFill>
                  <a:srgbClr val="202A32"/>
                </a:solidFill>
                <a:latin typeface="Arial"/>
              </a:rPr>
              <a:t>CV and AE oscillated approximately 180° apart during crawling. Neither displayed the corresponding rhythmic oscillation during swimming in the same preparation. The optical and intracellular records agreed on this distinction, providing a control against mistaking a weak optical signal for behavioral inactivity.</a:t>
            </a:r>
          </a:p>
          <a:p>
            <a:pPr algn="l">
              <a:lnSpc>
                <a:spcPct val="108000"/>
              </a:lnSpc>
              <a:spcAft>
                <a:spcPts val="960"/>
              </a:spcAft>
            </a:pPr>
            <a:r>
              <a:rPr sz="1600" b="0" i="0">
                <a:solidFill>
                  <a:srgbClr val="202A32"/>
                </a:solidFill>
                <a:latin typeface="Arial"/>
              </a:rPr>
              <a:t>Shared muscle and neural resources coexist with selectively participating cells. The absence of a coherent swim oscillation in these records does not mean that a neuron is permanently silent or incapable of responding to another stimulus. It specifies its recorded contribution under the elicited motor conditions.</a:t>
            </a:r>
          </a:p>
        </p:txBody>
      </p:sp>
      <p:pic>
        <p:nvPicPr>
          <p:cNvPr id="4" name="Picture 3" descr="B06_3ABC.png"/>
          <p:cNvPicPr>
            <a:picLocks noChangeAspect="1"/>
          </p:cNvPicPr>
          <p:nvPr/>
        </p:nvPicPr>
        <p:blipFill>
          <a:blip r:embed="rId2"/>
          <a:stretch>
            <a:fillRect/>
          </a:stretch>
        </p:blipFill>
        <p:spPr>
          <a:xfrm>
            <a:off x="6504127" y="1280160"/>
            <a:ext cx="5120640" cy="3816083"/>
          </a:xfrm>
          <a:prstGeom prst="rect">
            <a:avLst/>
          </a:prstGeom>
        </p:spPr>
      </p:pic>
      <p:sp>
        <p:nvSpPr>
          <p:cNvPr id="5" name="Figure caption"/>
          <p:cNvSpPr txBox="1"/>
          <p:nvPr/>
        </p:nvSpPr>
        <p:spPr>
          <a:xfrm>
            <a:off x="6504127" y="518768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Briggman &amp; Kristan (2006), Fig. 3(A–C). Ventral ganglion and motor-cell activity during the two rhythms.</a:t>
            </a:r>
          </a:p>
        </p:txBody>
      </p:sp>
      <p:sp>
        <p:nvSpPr>
          <p:cNvPr id="6" name="Rectangle 5"/>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Briggman &amp; Kristan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Swimming neurons overlap the crawl population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02A32"/>
                </a:solidFill>
                <a:latin typeface="Arial"/>
              </a:rPr>
              <a:t>Briggman and Kristan combined reproducible phase-associated activity across dorsal and ventral imaging experiments. The summary distinguished cells active in both rhythms from cells coherent with only swimming or only crawling. Cells lacking reliable activity were not assigned a behavior merely from anatomical position.</a:t>
            </a:r>
          </a:p>
          <a:p>
            <a:pPr algn="l">
              <a:lnSpc>
                <a:spcPct val="108000"/>
              </a:lnSpc>
              <a:spcAft>
                <a:spcPts val="900"/>
              </a:spcAft>
            </a:pPr>
            <a:r>
              <a:rPr sz="1500" b="0" i="0">
                <a:solidFill>
                  <a:srgbClr val="202A32"/>
                </a:solidFill>
                <a:latin typeface="Arial"/>
              </a:rPr>
              <a:t>The identified population included about 90 swimming-associated and 188 crawling-associated cells. Of the swimming-associated cells, 84 also oscillated with crawling. Thus most of the observed swim population participated in the slower crawl rhythm, while crawling recruited many additional cells.</a:t>
            </a:r>
          </a:p>
          <a:p>
            <a:pPr algn="l">
              <a:lnSpc>
                <a:spcPct val="108000"/>
              </a:lnSpc>
              <a:spcAft>
                <a:spcPts val="900"/>
              </a:spcAft>
            </a:pPr>
            <a:r>
              <a:rPr sz="1500" b="0" i="0">
                <a:solidFill>
                  <a:srgbClr val="202A32"/>
                </a:solidFill>
                <a:latin typeface="Arial"/>
              </a:rPr>
              <a:t>The numerical overlap describes recorded rhythmic participation, not proof that every participating neuron generates the rhythm. Some cells may receive the pattern rather than construct it. Nevertheless, the data reject a simple account in which the two behaviors use entirely separate, nonoverlapping neuronal populations.</a:t>
            </a:r>
          </a:p>
        </p:txBody>
      </p:sp>
      <p:pic>
        <p:nvPicPr>
          <p:cNvPr id="4" name="Picture 3" descr="B06_5AB.png"/>
          <p:cNvPicPr>
            <a:picLocks noChangeAspect="1"/>
          </p:cNvPicPr>
          <p:nvPr/>
        </p:nvPicPr>
        <p:blipFill>
          <a:blip r:embed="rId2"/>
          <a:stretch>
            <a:fillRect/>
          </a:stretch>
        </p:blipFill>
        <p:spPr>
          <a:xfrm>
            <a:off x="6504127" y="1280160"/>
            <a:ext cx="5120640" cy="2035254"/>
          </a:xfrm>
          <a:prstGeom prst="rect">
            <a:avLst/>
          </a:prstGeom>
        </p:spPr>
      </p:pic>
      <p:sp>
        <p:nvSpPr>
          <p:cNvPr id="5" name="Figure caption"/>
          <p:cNvSpPr txBox="1"/>
          <p:nvPr/>
        </p:nvSpPr>
        <p:spPr>
          <a:xfrm>
            <a:off x="6504127" y="340685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Briggman &amp; Kristan (2006), Fig. 5(A,B). Summary maps of measured shared and selective participation.</a:t>
            </a:r>
          </a:p>
        </p:txBody>
      </p:sp>
      <p:sp>
        <p:nvSpPr>
          <p:cNvPr id="6" name="Rectangle 5"/>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Briggman &amp; Kristan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Shared cells change phase at a behavioral switch</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02A32"/>
                </a:solidFill>
                <a:latin typeface="Arial"/>
              </a:rPr>
              <a:t>Briggman and Kristan observed switches between crawling and swimming while maintaining recordings from identified motor cells. This comparison follows individual neurons across a state change rather than comparing separate animals assigned to different behaviors. Motor-nerve output identified the behavior expressed on either side of the switch.</a:t>
            </a:r>
          </a:p>
          <a:p>
            <a:pPr algn="l">
              <a:lnSpc>
                <a:spcPct val="108000"/>
              </a:lnSpc>
              <a:spcAft>
                <a:spcPts val="900"/>
              </a:spcAft>
            </a:pPr>
            <a:r>
              <a:rPr sz="1500" b="0" i="0">
                <a:solidFill>
                  <a:srgbClr val="202A32"/>
                </a:solidFill>
                <a:latin typeface="Arial"/>
              </a:rPr>
              <a:t>Cells 3 and 4 were in phase during crawl-related longitudinal contraction but became approximately out of phase during swimming. The transition could occur within 1–2 s. Their relationship therefore changed on a time scale much shorter than any anatomical rebuilding of the neurons.</a:t>
            </a:r>
          </a:p>
          <a:p>
            <a:pPr algn="l">
              <a:lnSpc>
                <a:spcPct val="108000"/>
              </a:lnSpc>
              <a:spcAft>
                <a:spcPts val="900"/>
              </a:spcAft>
            </a:pPr>
            <a:r>
              <a:rPr sz="1500" b="0" i="0">
                <a:solidFill>
                  <a:srgbClr val="202A32"/>
                </a:solidFill>
                <a:latin typeface="Arial"/>
              </a:rPr>
              <a:t>The shared circuit can express alternative dynamical configurations through changes in active interactions and input. The recordings establish rapid reorganization but do not identify its complete molecular trigger. Structural overlap permits flexible use of the same cells; it does not by itself specify the mechanism selecting one motor pattern.</a:t>
            </a:r>
          </a:p>
        </p:txBody>
      </p:sp>
      <p:pic>
        <p:nvPicPr>
          <p:cNvPr id="4" name="Picture 3" descr="B06_6E.png"/>
          <p:cNvPicPr>
            <a:picLocks noChangeAspect="1"/>
          </p:cNvPicPr>
          <p:nvPr/>
        </p:nvPicPr>
        <p:blipFill>
          <a:blip r:embed="rId2"/>
          <a:stretch>
            <a:fillRect/>
          </a:stretch>
        </p:blipFill>
        <p:spPr>
          <a:xfrm>
            <a:off x="6504127" y="1280160"/>
            <a:ext cx="5120640" cy="2144329"/>
          </a:xfrm>
          <a:prstGeom prst="rect">
            <a:avLst/>
          </a:prstGeom>
        </p:spPr>
      </p:pic>
      <p:sp>
        <p:nvSpPr>
          <p:cNvPr id="5" name="Figure caption"/>
          <p:cNvSpPr txBox="1"/>
          <p:nvPr/>
        </p:nvSpPr>
        <p:spPr>
          <a:xfrm>
            <a:off x="6504127" y="351592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Briggman &amp; Kristan (2006), Fig. 6(E). Motor and intracellular signals at a crawl-to-swim transition.</a:t>
            </a:r>
          </a:p>
        </p:txBody>
      </p:sp>
      <p:sp>
        <p:nvSpPr>
          <p:cNvPr id="6" name="Rectangle 5"/>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Briggman &amp; Kristan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Cell 255 can perturb both locomotor rhythms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02A32"/>
                </a:solidFill>
                <a:latin typeface="Arial"/>
              </a:rPr>
              <a:t>Briggman and Kristan identified cell 255 by its ventral soma position, morphology, and activity. An </a:t>
            </a:r>
            <a:r>
              <a:rPr sz="1500" b="1" i="0">
                <a:solidFill>
                  <a:srgbClr val="006B91"/>
                </a:solidFill>
                <a:latin typeface="Arial"/>
              </a:rPr>
              <a:t>interneuron</a:t>
            </a:r>
            <a:r>
              <a:rPr sz="1500" b="0" i="0">
                <a:solidFill>
                  <a:srgbClr val="202A32"/>
                </a:solidFill>
                <a:latin typeface="Arial"/>
              </a:rPr>
              <a:t> communicates within the nervous system rather than directly innervating a peripheral muscle. Cell 255 had bilateral arbors and projected through a central connective, supporting its interneuronal identity.</a:t>
            </a:r>
          </a:p>
          <a:p>
            <a:pPr algn="l">
              <a:lnSpc>
                <a:spcPct val="108000"/>
              </a:lnSpc>
              <a:spcAft>
                <a:spcPts val="900"/>
              </a:spcAft>
            </a:pPr>
            <a:r>
              <a:rPr sz="1500" b="0" i="0">
                <a:solidFill>
                  <a:srgbClr val="202A32"/>
                </a:solidFill>
                <a:latin typeface="Arial"/>
              </a:rPr>
              <a:t>Cell 255 depolarized during crawl elongation and oscillated during swimming. Depolarizing it during crawl contraction ended that phase early and shortened the step period by approximately 21%. Depolarization during elongation did not change the period; stimulation during swimming could slow or terminate the episode.</a:t>
            </a:r>
          </a:p>
          <a:p>
            <a:pPr algn="l">
              <a:lnSpc>
                <a:spcPct val="108000"/>
              </a:lnSpc>
              <a:spcAft>
                <a:spcPts val="900"/>
              </a:spcAft>
            </a:pPr>
            <a:r>
              <a:rPr sz="1500" b="0" i="0">
                <a:solidFill>
                  <a:srgbClr val="202A32"/>
                </a:solidFill>
                <a:latin typeface="Arial"/>
              </a:rPr>
              <a:t>Current injection supplies causal evidence beyond correlation with a rhythm. The phase specificity argues that the effect depends on the current circuit state. The absence of a consistent effect from hyperpolarizing the cell prevents treating this experiment as proof that cell 255 alone is necessary for either rhythm.</a:t>
            </a:r>
          </a:p>
        </p:txBody>
      </p:sp>
      <p:pic>
        <p:nvPicPr>
          <p:cNvPr id="4" name="Picture 3" descr="B06_7AD.png"/>
          <p:cNvPicPr>
            <a:picLocks noChangeAspect="1"/>
          </p:cNvPicPr>
          <p:nvPr/>
        </p:nvPicPr>
        <p:blipFill>
          <a:blip r:embed="rId2"/>
          <a:stretch>
            <a:fillRect/>
          </a:stretch>
        </p:blipFill>
        <p:spPr>
          <a:xfrm>
            <a:off x="7380887" y="1280160"/>
            <a:ext cx="336711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Briggman &amp; Kristan (2006), Fig. 7(A–E). Identified cell 255 morphology and recordings with perturbations.</a:t>
            </a:r>
          </a:p>
        </p:txBody>
      </p:sp>
      <p:sp>
        <p:nvSpPr>
          <p:cNvPr id="6" name="Rectangle 5"/>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Briggman &amp; Kristan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Cell 257 is crawl-associated without a proven command role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02A32"/>
                </a:solidFill>
                <a:latin typeface="Arial"/>
              </a:rPr>
              <a:t>Briggman and Kristan identified cell 257 as a ventral interneuron with a projection through an anterior connective. Its morphology differed from cell 255, and its activity was recorded together with the annulus erector cell. The comparison used crawling and swimming in the same preparation.</a:t>
            </a:r>
          </a:p>
          <a:p>
            <a:pPr algn="l">
              <a:lnSpc>
                <a:spcPct val="108000"/>
              </a:lnSpc>
              <a:spcAft>
                <a:spcPts val="900"/>
              </a:spcAft>
            </a:pPr>
            <a:r>
              <a:rPr sz="1500" b="0" i="0">
                <a:solidFill>
                  <a:srgbClr val="202A32"/>
                </a:solidFill>
                <a:latin typeface="Arial"/>
              </a:rPr>
              <a:t>During crawling, cell 257 depolarized and fired with the elongation phase. During swimming it became strongly hyperpolarized and did not express a coherent swim rhythm. The published recordings preserve a 20 mV calibration and a 2 s time bar for the swimming comparison.</a:t>
            </a:r>
          </a:p>
          <a:p>
            <a:pPr algn="l">
              <a:lnSpc>
                <a:spcPct val="108000"/>
              </a:lnSpc>
              <a:spcAft>
                <a:spcPts val="900"/>
              </a:spcAft>
            </a:pPr>
            <a:r>
              <a:rPr sz="1500" b="0" i="0">
                <a:solidFill>
                  <a:srgbClr val="202A32"/>
                </a:solidFill>
                <a:latin typeface="Arial"/>
              </a:rPr>
              <a:t>This pattern supports selectively crawl-associated participation. Depolarizing or hyperpolarizing a single cell 257 did not consistently perturb either rhythm, so participation does not establish an initiating or indispensable role. The distinction between observing a cell’s phase and causally controlling the pattern is essential to interpreting population maps.</a:t>
            </a:r>
          </a:p>
        </p:txBody>
      </p:sp>
      <p:pic>
        <p:nvPicPr>
          <p:cNvPr id="4" name="Picture 3" descr="B06_8.png"/>
          <p:cNvPicPr>
            <a:picLocks noChangeAspect="1"/>
          </p:cNvPicPr>
          <p:nvPr/>
        </p:nvPicPr>
        <p:blipFill>
          <a:blip r:embed="rId2"/>
          <a:stretch>
            <a:fillRect/>
          </a:stretch>
        </p:blipFill>
        <p:spPr>
          <a:xfrm>
            <a:off x="6581289" y="1280160"/>
            <a:ext cx="496631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Briggman &amp; Kristan (2006), Fig. 8(A–C). Cell 257 anatomy and crawl-versus-swim intracellular recordings.</a:t>
            </a:r>
          </a:p>
        </p:txBody>
      </p:sp>
      <p:sp>
        <p:nvSpPr>
          <p:cNvPr id="6" name="Rectangle 5"/>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Briggman &amp; Kristan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Dopamine recruits crawl-like activity in an isolated CNS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006B91"/>
                </a:solidFill>
                <a:latin typeface="Arial"/>
              </a:rPr>
              <a:t>Dopamine</a:t>
            </a:r>
            <a:r>
              <a:rPr sz="1500" b="0" i="0">
                <a:solidFill>
                  <a:srgbClr val="202A32"/>
                </a:solidFill>
                <a:latin typeface="Arial"/>
              </a:rPr>
              <a:t> is a neurotransmitter that can alter the functional state of locomotor circuits. Puhl and Mesce superfused isolated whole leech nervous systems with dopamine while monitoring motor nerves and an identified motor neuron. The preparation retained the cephalic and segmental ganglia but lacked the peripheral body.</a:t>
            </a:r>
          </a:p>
          <a:p>
            <a:pPr algn="l">
              <a:lnSpc>
                <a:spcPct val="108000"/>
              </a:lnSpc>
              <a:spcAft>
                <a:spcPts val="900"/>
              </a:spcAft>
            </a:pPr>
            <a:r>
              <a:rPr sz="1500" b="0" i="0">
                <a:solidFill>
                  <a:srgbClr val="202A32"/>
                </a:solidFill>
                <a:latin typeface="Arial"/>
              </a:rPr>
              <a:t>At approximately 75 μM dopamine, previously quiet motor nerves developed repeated DE-3 bursts. Crawl-like activity could emerge after about 3 min and later acquire anterior-to-posterior propagation. Some preparations became coordinated during dopamine exposure, while others did so during washout.</a:t>
            </a:r>
          </a:p>
          <a:p>
            <a:pPr algn="l">
              <a:lnSpc>
                <a:spcPct val="108000"/>
              </a:lnSpc>
              <a:spcAft>
                <a:spcPts val="900"/>
              </a:spcAft>
            </a:pPr>
            <a:r>
              <a:rPr sz="1500" b="0" i="0">
                <a:solidFill>
                  <a:srgbClr val="202A32"/>
                </a:solidFill>
                <a:latin typeface="Arial"/>
              </a:rPr>
              <a:t>Dopamine is sufficient to make a crawl-like motor program available in this preparation. The result is not a measurement of natural dopamine concentration at each receptor or proof that dopamine alone determines intact behavioral choice. Local pattern activation and intersegmental coordination remain distinguishable outcomes.</a:t>
            </a:r>
          </a:p>
        </p:txBody>
      </p:sp>
      <p:pic>
        <p:nvPicPr>
          <p:cNvPr id="4" name="Picture 3" descr="PM08_1BC.png"/>
          <p:cNvPicPr>
            <a:picLocks noChangeAspect="1"/>
          </p:cNvPicPr>
          <p:nvPr/>
        </p:nvPicPr>
        <p:blipFill>
          <a:blip r:embed="rId2"/>
          <a:stretch>
            <a:fillRect/>
          </a:stretch>
        </p:blipFill>
        <p:spPr>
          <a:xfrm>
            <a:off x="6138367" y="1280160"/>
            <a:ext cx="5486400" cy="1831460"/>
          </a:xfrm>
          <a:prstGeom prst="rect">
            <a:avLst/>
          </a:prstGeom>
        </p:spPr>
      </p:pic>
      <p:sp>
        <p:nvSpPr>
          <p:cNvPr id="5" name="Figure caption"/>
          <p:cNvSpPr txBox="1"/>
          <p:nvPr/>
        </p:nvSpPr>
        <p:spPr>
          <a:xfrm>
            <a:off x="6138367" y="32030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Puhl &amp; Mesce (2008), Fig. 1(B,C). Motor activity before and during dopamine exposure.</a:t>
            </a:r>
          </a:p>
        </p:txBody>
      </p:sp>
      <p:pic>
        <p:nvPicPr>
          <p:cNvPr id="6" name="Picture 5" descr="A21_DE3.png"/>
          <p:cNvPicPr>
            <a:picLocks noChangeAspect="1"/>
          </p:cNvPicPr>
          <p:nvPr/>
        </p:nvPicPr>
        <p:blipFill>
          <a:blip r:embed="rId3"/>
          <a:stretch>
            <a:fillRect/>
          </a:stretch>
        </p:blipFill>
        <p:spPr>
          <a:xfrm>
            <a:off x="8163957" y="4754880"/>
            <a:ext cx="143521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Ashaber et al. (2021), Fig. 7(a). Reconstructed DE-3 arbor over a dorsal micro-CT image.</a:t>
            </a:r>
          </a:p>
        </p:txBody>
      </p:sp>
      <p:sp>
        <p:nvSpPr>
          <p:cNvPr id="8" name="Rectangle 7"/>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Puhl &amp; Mesce (2008); Ashaber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Crawling alternates circular and longitudinal excitation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02A32"/>
                </a:solidFill>
                <a:latin typeface="Arial"/>
              </a:rPr>
              <a:t>Puhl and Mesce recorded intracellularly from the circular excitor CV and the ventral longitudinal excitor VE-4 during dopamine-induced fictive crawling. Simultaneous dorsal posterior nerve recordings monitored DE-3, the dorsal longitudinal excitor. This pairing identified the motor pattern through several muscle-related outputs.</a:t>
            </a:r>
          </a:p>
          <a:p>
            <a:pPr algn="l">
              <a:lnSpc>
                <a:spcPct val="108000"/>
              </a:lnSpc>
              <a:spcAft>
                <a:spcPts val="900"/>
              </a:spcAft>
            </a:pPr>
            <a:r>
              <a:rPr sz="1500" b="0" i="0">
                <a:solidFill>
                  <a:srgbClr val="202A32"/>
                </a:solidFill>
                <a:latin typeface="Arial"/>
              </a:rPr>
              <a:t>CV activity was approximately 180° out of phase with DE-3. During the DE-3 burst, CV hyperpolarized by approximately 2–4 mV and its spikes were suppressed. VE-4 instead depolarized and fired in phase with DE-3, consistent with coordinated dorsal and ventral shortening.</a:t>
            </a:r>
          </a:p>
          <a:p>
            <a:pPr algn="l">
              <a:lnSpc>
                <a:spcPct val="108000"/>
              </a:lnSpc>
              <a:spcAft>
                <a:spcPts val="900"/>
              </a:spcAft>
            </a:pPr>
            <a:r>
              <a:rPr sz="1500" b="0" i="0">
                <a:solidFill>
                  <a:srgbClr val="202A32"/>
                </a:solidFill>
                <a:latin typeface="Arial"/>
              </a:rPr>
              <a:t>Correct muscle-group phasing is stronger evidence for a crawl program than a slow DE-3 burst alone. The recordings establish patterned excitation and suppression in the motor outputs. They do not identify every interneuron that imposes the phase relationships or directly measure the resulting muscle force.</a:t>
            </a:r>
          </a:p>
        </p:txBody>
      </p:sp>
      <p:pic>
        <p:nvPicPr>
          <p:cNvPr id="4" name="Picture 3" descr="PM08_2DE.png"/>
          <p:cNvPicPr>
            <a:picLocks noChangeAspect="1"/>
          </p:cNvPicPr>
          <p:nvPr/>
        </p:nvPicPr>
        <p:blipFill>
          <a:blip r:embed="rId2"/>
          <a:stretch>
            <a:fillRect/>
          </a:stretch>
        </p:blipFill>
        <p:spPr>
          <a:xfrm>
            <a:off x="6548317" y="1280160"/>
            <a:ext cx="4666499"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Puhl &amp; Mesce (2008), Fig. 2(D,E). CV and VE-4 activity relative to the DE-3 motor burst.</a:t>
            </a:r>
          </a:p>
        </p:txBody>
      </p:sp>
      <p:pic>
        <p:nvPicPr>
          <p:cNvPr id="6" name="Picture 5" descr="A21_DE3.png"/>
          <p:cNvPicPr>
            <a:picLocks noChangeAspect="1"/>
          </p:cNvPicPr>
          <p:nvPr/>
        </p:nvPicPr>
        <p:blipFill>
          <a:blip r:embed="rId3"/>
          <a:stretch>
            <a:fillRect/>
          </a:stretch>
        </p:blipFill>
        <p:spPr>
          <a:xfrm>
            <a:off x="8163957" y="4754880"/>
            <a:ext cx="143521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Ashaber et al. (2021), Fig. 7(a). Reconstructed DE-3 arbor over a dorsal micro-CT image.</a:t>
            </a:r>
          </a:p>
        </p:txBody>
      </p:sp>
      <p:sp>
        <p:nvSpPr>
          <p:cNvPr id="8" name="Rectangle 7"/>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Puhl &amp; Mesce (2008); Ashaber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A single ganglion can express the local crawl pattern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02A32"/>
                </a:solidFill>
                <a:latin typeface="Arial"/>
              </a:rPr>
              <a:t>Puhl and Mesce separated individual segmental ganglia from the rest of the nerve cord and applied dopamine. This reduction removed descending input and intersegmental communication. Intracellular recordings identified DE-3, VE-4, and CV while a motor-nerve recording monitored the local output.</a:t>
            </a:r>
          </a:p>
          <a:p>
            <a:pPr algn="l">
              <a:lnSpc>
                <a:spcPct val="108000"/>
              </a:lnSpc>
              <a:spcAft>
                <a:spcPts val="900"/>
              </a:spcAft>
            </a:pPr>
            <a:r>
              <a:rPr sz="1500" b="0" i="0">
                <a:solidFill>
                  <a:srgbClr val="202A32"/>
                </a:solidFill>
                <a:latin typeface="Arial"/>
              </a:rPr>
              <a:t>Dopamine induced repeated, appropriately phased activity in all three motor-cell classes. DE-3 depolarizations reached approximately 12–16 mV, with smaller spikes riding on the slow voltage wave. Intracellular DE-3 spikes matched the largest extracellular motor unit one for one, validating the nerve-based monitor.</a:t>
            </a:r>
          </a:p>
          <a:p>
            <a:pPr algn="l">
              <a:lnSpc>
                <a:spcPct val="108000"/>
              </a:lnSpc>
              <a:spcAft>
                <a:spcPts val="900"/>
              </a:spcAft>
            </a:pPr>
            <a:r>
              <a:rPr sz="1500" b="0" i="0">
                <a:solidFill>
                  <a:srgbClr val="202A32"/>
                </a:solidFill>
                <a:latin typeface="Arial"/>
              </a:rPr>
              <a:t>A segmental ganglion contains circuitry sufficient for local crawl-like pattern production under these conditions. A single ganglion cannot establish a full front-to-back behavioral sequence by itself. Local rhythm-generating capacity therefore does not settle how the intact cord coordinates segments or chooses the next movement.</a:t>
            </a:r>
          </a:p>
        </p:txBody>
      </p:sp>
      <p:pic>
        <p:nvPicPr>
          <p:cNvPr id="4" name="Picture 3" descr="PM08_3.png"/>
          <p:cNvPicPr>
            <a:picLocks noChangeAspect="1"/>
          </p:cNvPicPr>
          <p:nvPr/>
        </p:nvPicPr>
        <p:blipFill>
          <a:blip r:embed="rId2"/>
          <a:stretch>
            <a:fillRect/>
          </a:stretch>
        </p:blipFill>
        <p:spPr>
          <a:xfrm>
            <a:off x="6771001" y="1280160"/>
            <a:ext cx="2575210" cy="4297679"/>
          </a:xfrm>
          <a:prstGeom prst="rect">
            <a:avLst/>
          </a:prstGeom>
        </p:spPr>
      </p:pic>
      <p:sp>
        <p:nvSpPr>
          <p:cNvPr id="5" name="Figure caption"/>
          <p:cNvSpPr txBox="1"/>
          <p:nvPr/>
        </p:nvSpPr>
        <p:spPr>
          <a:xfrm>
            <a:off x="6138367" y="5669279"/>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Puhl &amp; Mesce (2008), Fig. 3(A–C). Identified excitatory motor-cell activity in isolated ganglia.</a:t>
            </a:r>
          </a:p>
        </p:txBody>
      </p:sp>
      <p:pic>
        <p:nvPicPr>
          <p:cNvPr id="6" name="Picture 5" descr="A21_DE3.png"/>
          <p:cNvPicPr>
            <a:picLocks noChangeAspect="1"/>
          </p:cNvPicPr>
          <p:nvPr/>
        </p:nvPicPr>
        <p:blipFill>
          <a:blip r:embed="rId3"/>
          <a:stretch>
            <a:fillRect/>
          </a:stretch>
        </p:blipFill>
        <p:spPr>
          <a:xfrm>
            <a:off x="10161727" y="2148840"/>
            <a:ext cx="1463039" cy="1025337"/>
          </a:xfrm>
          <a:prstGeom prst="rect">
            <a:avLst/>
          </a:prstGeom>
        </p:spPr>
      </p:pic>
      <p:sp>
        <p:nvSpPr>
          <p:cNvPr id="7" name="Figure caption"/>
          <p:cNvSpPr txBox="1"/>
          <p:nvPr/>
        </p:nvSpPr>
        <p:spPr>
          <a:xfrm>
            <a:off x="10161727" y="3247329"/>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Ashaber et al. (2021), Fig. 7(a). Reconstructed DE-3 arbor over a dorsal micro-CT image.</a:t>
            </a:r>
          </a:p>
        </p:txBody>
      </p:sp>
      <p:sp>
        <p:nvSpPr>
          <p:cNvPr id="8" name="Rectangle 7"/>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Puhl &amp; Mesce (2008); Ashaber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Inhibitory motor cells alternate with contraction outputs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02A32"/>
                </a:solidFill>
                <a:latin typeface="Arial"/>
              </a:rPr>
              <a:t>Puhl and Mesce recorded the dorsal inhibitor DI-1 and ventral inhibitor VI-2 in isolated ganglia during dopamine-induced crawling. Both are motor neurons associated with inhibition of longitudinal muscle pathways. Simultaneous DE-3 recording identified the contraction-related output of the same local circuit.</a:t>
            </a:r>
          </a:p>
          <a:p>
            <a:pPr algn="l">
              <a:lnSpc>
                <a:spcPct val="108000"/>
              </a:lnSpc>
              <a:spcAft>
                <a:spcPts val="900"/>
              </a:spcAft>
            </a:pPr>
            <a:r>
              <a:rPr sz="1500" b="0" i="0">
                <a:solidFill>
                  <a:srgbClr val="202A32"/>
                </a:solidFill>
                <a:latin typeface="Arial"/>
              </a:rPr>
              <a:t>Their activity was largely opposite to DE-3 bursting. DI-1 was suppressed during the contraction phase and became more active toward its termination. VI-2 could produce inhibitory potentials in VE-4, directly connecting an inhibitory motor pathway with reduced activity in a longitudinal excitor.</a:t>
            </a:r>
          </a:p>
          <a:p>
            <a:pPr algn="l">
              <a:lnSpc>
                <a:spcPct val="108000"/>
              </a:lnSpc>
              <a:spcAft>
                <a:spcPts val="900"/>
              </a:spcAft>
            </a:pPr>
            <a:r>
              <a:rPr sz="1500" b="0" i="0">
                <a:solidFill>
                  <a:srgbClr val="202A32"/>
                </a:solidFill>
                <a:latin typeface="Arial"/>
              </a:rPr>
              <a:t>An </a:t>
            </a:r>
            <a:r>
              <a:rPr sz="1500" b="1" i="0">
                <a:solidFill>
                  <a:srgbClr val="006B91"/>
                </a:solidFill>
                <a:latin typeface="Arial"/>
              </a:rPr>
              <a:t>inhibitory postsynaptic potential</a:t>
            </a:r>
            <a:r>
              <a:rPr sz="1500" b="0" i="0">
                <a:solidFill>
                  <a:srgbClr val="202A32"/>
                </a:solidFill>
                <a:latin typeface="Arial"/>
              </a:rPr>
              <a:t> is a synaptic voltage change that reduces the likelihood of firing in the receiving neuron. These recordings support coordinated inhibitory and excitatory contributions to alternating movement phases. The experiment does not assign a transmitter or receptor subtype solely from the direction of the voltage change.</a:t>
            </a:r>
          </a:p>
        </p:txBody>
      </p:sp>
      <p:pic>
        <p:nvPicPr>
          <p:cNvPr id="4" name="Picture 3" descr="PM08_4.png"/>
          <p:cNvPicPr>
            <a:picLocks noChangeAspect="1"/>
          </p:cNvPicPr>
          <p:nvPr/>
        </p:nvPicPr>
        <p:blipFill>
          <a:blip r:embed="rId2"/>
          <a:stretch>
            <a:fillRect/>
          </a:stretch>
        </p:blipFill>
        <p:spPr>
          <a:xfrm>
            <a:off x="6138367" y="1280160"/>
            <a:ext cx="3840480" cy="3496479"/>
          </a:xfrm>
          <a:prstGeom prst="rect">
            <a:avLst/>
          </a:prstGeom>
        </p:spPr>
      </p:pic>
      <p:sp>
        <p:nvSpPr>
          <p:cNvPr id="5" name="Figure caption"/>
          <p:cNvSpPr txBox="1"/>
          <p:nvPr/>
        </p:nvSpPr>
        <p:spPr>
          <a:xfrm>
            <a:off x="6138367" y="4868079"/>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Puhl &amp; Mesce (2008), Fig. 4(A,B). DI-1 and VI-2 activity relative to DE-3 during fictive crawling.</a:t>
            </a:r>
          </a:p>
        </p:txBody>
      </p:sp>
      <p:pic>
        <p:nvPicPr>
          <p:cNvPr id="6" name="Picture 5" descr="A21_DE3.png"/>
          <p:cNvPicPr>
            <a:picLocks noChangeAspect="1"/>
          </p:cNvPicPr>
          <p:nvPr/>
        </p:nvPicPr>
        <p:blipFill>
          <a:blip r:embed="rId3"/>
          <a:stretch>
            <a:fillRect/>
          </a:stretch>
        </p:blipFill>
        <p:spPr>
          <a:xfrm>
            <a:off x="10161727" y="2148840"/>
            <a:ext cx="1463039" cy="1025337"/>
          </a:xfrm>
          <a:prstGeom prst="rect">
            <a:avLst/>
          </a:prstGeom>
        </p:spPr>
      </p:pic>
      <p:sp>
        <p:nvSpPr>
          <p:cNvPr id="7" name="Figure caption"/>
          <p:cNvSpPr txBox="1"/>
          <p:nvPr/>
        </p:nvSpPr>
        <p:spPr>
          <a:xfrm>
            <a:off x="10161727" y="3247329"/>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Ashaber et al. (2021), Fig. 7(a). Reconstructed DE-3 arbor over a dorsal micro-CT image.</a:t>
            </a:r>
          </a:p>
        </p:txBody>
      </p:sp>
      <p:sp>
        <p:nvSpPr>
          <p:cNvPr id="8" name="Rectangle 7"/>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Puhl &amp; Mesce (2008); Ashaber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Fictive crawl rhythms resemble spontaneous crawling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02A32"/>
                </a:solidFill>
                <a:latin typeface="Arial"/>
              </a:rPr>
              <a:t>Puhl and Mesce compared dopamine-induced rhythms in whole cords and single ganglia with spontaneous or electrically induced fictive crawling. They also measured overt crawling from video. The comparisons used cycle period and the duration of contraction-related DE-3 bursts to test similarity of motor organization.</a:t>
            </a:r>
          </a:p>
          <a:p>
            <a:pPr algn="l">
              <a:lnSpc>
                <a:spcPct val="108000"/>
              </a:lnSpc>
              <a:spcAft>
                <a:spcPts val="900"/>
              </a:spcAft>
            </a:pPr>
            <a:r>
              <a:rPr sz="1500" b="0" i="0">
                <a:solidFill>
                  <a:srgbClr val="202A32"/>
                </a:solidFill>
                <a:latin typeface="Arial"/>
              </a:rPr>
              <a:t>Fictive crawling had periods on the order of 10–15 s in these preparations, whereas overt crawling averaged approximately 3.3 s. The fraction of a fictive cycle occupied by DE-3 bursting was broadly similar across the neural preparations despite their differences in size and induction method.</a:t>
            </a:r>
          </a:p>
          <a:p>
            <a:pPr algn="l">
              <a:lnSpc>
                <a:spcPct val="108000"/>
              </a:lnSpc>
              <a:spcAft>
                <a:spcPts val="900"/>
              </a:spcAft>
            </a:pPr>
            <a:r>
              <a:rPr sz="1500" b="0" i="0">
                <a:solidFill>
                  <a:srgbClr val="202A32"/>
                </a:solidFill>
                <a:latin typeface="Arial"/>
              </a:rPr>
              <a:t>A </a:t>
            </a:r>
            <a:r>
              <a:rPr sz="1500" b="1" i="0">
                <a:solidFill>
                  <a:srgbClr val="006B91"/>
                </a:solidFill>
                <a:latin typeface="Arial"/>
              </a:rPr>
              <a:t>duty cycle</a:t>
            </a:r>
            <a:r>
              <a:rPr sz="1500" b="0" i="0">
                <a:solidFill>
                  <a:srgbClr val="202A32"/>
                </a:solidFill>
                <a:latin typeface="Arial"/>
              </a:rPr>
              <a:t> is the fraction of a repeating cycle occupied by a defined active phase. Comparable duty cycles support a shared pattern, but slower fictive periods limit equivalence with intact movement. The reduced preparation exposes central activity without recreating every sensory, mechanical, or motivational condition of natural crawling.</a:t>
            </a:r>
          </a:p>
        </p:txBody>
      </p:sp>
      <p:pic>
        <p:nvPicPr>
          <p:cNvPr id="4" name="Picture 3" descr="PM08_7.png"/>
          <p:cNvPicPr>
            <a:picLocks noChangeAspect="1"/>
          </p:cNvPicPr>
          <p:nvPr/>
        </p:nvPicPr>
        <p:blipFill>
          <a:blip r:embed="rId2"/>
          <a:stretch>
            <a:fillRect/>
          </a:stretch>
        </p:blipFill>
        <p:spPr>
          <a:xfrm>
            <a:off x="6767941" y="1280160"/>
            <a:ext cx="2581332" cy="4297679"/>
          </a:xfrm>
          <a:prstGeom prst="rect">
            <a:avLst/>
          </a:prstGeom>
        </p:spPr>
      </p:pic>
      <p:sp>
        <p:nvSpPr>
          <p:cNvPr id="5" name="Figure caption"/>
          <p:cNvSpPr txBox="1"/>
          <p:nvPr/>
        </p:nvSpPr>
        <p:spPr>
          <a:xfrm>
            <a:off x="6138367" y="5669279"/>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Puhl &amp; Mesce (2008), Fig. 7. Original quantitative comparisons of crawl period and duty cycle.</a:t>
            </a:r>
          </a:p>
        </p:txBody>
      </p:sp>
      <p:pic>
        <p:nvPicPr>
          <p:cNvPr id="6" name="Picture 5" descr="A21_DE3.png"/>
          <p:cNvPicPr>
            <a:picLocks noChangeAspect="1"/>
          </p:cNvPicPr>
          <p:nvPr/>
        </p:nvPicPr>
        <p:blipFill>
          <a:blip r:embed="rId3"/>
          <a:stretch>
            <a:fillRect/>
          </a:stretch>
        </p:blipFill>
        <p:spPr>
          <a:xfrm>
            <a:off x="10161727" y="2148840"/>
            <a:ext cx="1463039" cy="1025337"/>
          </a:xfrm>
          <a:prstGeom prst="rect">
            <a:avLst/>
          </a:prstGeom>
        </p:spPr>
      </p:pic>
      <p:sp>
        <p:nvSpPr>
          <p:cNvPr id="7" name="Figure caption"/>
          <p:cNvSpPr txBox="1"/>
          <p:nvPr/>
        </p:nvSpPr>
        <p:spPr>
          <a:xfrm>
            <a:off x="10161727" y="3247329"/>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Ashaber et al. (2021), Fig. 7(a). Reconstructed DE-3 arbor over a dorsal micro-CT image.</a:t>
            </a:r>
          </a:p>
        </p:txBody>
      </p:sp>
      <p:sp>
        <p:nvSpPr>
          <p:cNvPr id="8" name="Rectangle 7"/>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Puhl &amp; Mesce (2008); Ashaber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Phosphodiesterase inhibition can recruit slow bursting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02A32"/>
                </a:solidFill>
                <a:latin typeface="Arial"/>
              </a:rPr>
              <a:t>Crisp and colleagues tested whether cyclic AMP signaling could contribute to dopamine-associated crawling. </a:t>
            </a:r>
            <a:r>
              <a:rPr sz="1500" b="1" i="0">
                <a:solidFill>
                  <a:srgbClr val="006B91"/>
                </a:solidFill>
                <a:latin typeface="Arial"/>
              </a:rPr>
              <a:t>Cyclic AMP</a:t>
            </a:r>
            <a:r>
              <a:rPr sz="1500" b="0" i="0">
                <a:solidFill>
                  <a:srgbClr val="202A32"/>
                </a:solidFill>
                <a:latin typeface="Arial"/>
              </a:rPr>
              <a:t>, or cAMP, is an intracellular signaling molecule. A </a:t>
            </a:r>
            <a:r>
              <a:rPr sz="1500" b="1" i="0">
                <a:solidFill>
                  <a:srgbClr val="006B91"/>
                </a:solidFill>
                <a:latin typeface="Arial"/>
              </a:rPr>
              <a:t>phosphodiesterase</a:t>
            </a:r>
            <a:r>
              <a:rPr sz="1500" b="0" i="0">
                <a:solidFill>
                  <a:srgbClr val="202A32"/>
                </a:solidFill>
                <a:latin typeface="Arial"/>
              </a:rPr>
              <a:t> is an enzyme that breaks down cyclic nucleotides; inhibiting it can prolong their intracellular availability.</a:t>
            </a:r>
          </a:p>
          <a:p>
            <a:pPr algn="l">
              <a:lnSpc>
                <a:spcPct val="108000"/>
              </a:lnSpc>
              <a:spcAft>
                <a:spcPts val="900"/>
              </a:spcAft>
            </a:pPr>
            <a:r>
              <a:rPr sz="1500" b="0" i="0">
                <a:solidFill>
                  <a:srgbClr val="202A32"/>
                </a:solidFill>
                <a:latin typeface="Arial"/>
              </a:rPr>
              <a:t>Bath application of 4.4 mM theophylline caused DE-3 bursting after approximately 10–20 min in isolated ganglia. A polar theophylline-related compound that blocked extracellular adenosine receptors without reproducing intracellular phosphodiesterase inhibition did not induce the same rhythm. Normal-saline recordings supplied the untreated comparison.</a:t>
            </a:r>
          </a:p>
          <a:p>
            <a:pPr algn="l">
              <a:lnSpc>
                <a:spcPct val="108000"/>
              </a:lnSpc>
              <a:spcAft>
                <a:spcPts val="900"/>
              </a:spcAft>
            </a:pPr>
            <a:r>
              <a:rPr sz="1500" b="0" i="0">
                <a:solidFill>
                  <a:srgbClr val="202A32"/>
                </a:solidFill>
                <a:latin typeface="Arial"/>
              </a:rPr>
              <a:t>The control supports an intracellular contribution rather than attributing bursting simply to adenosine receptor blockade. It does not prove that theophylline acts exclusively through one enzyme or that dopamine uses an identical pathway. The measured endpoint is slow motor bursting, whose complete phase organization must be tested separately.</a:t>
            </a:r>
          </a:p>
        </p:txBody>
      </p:sp>
      <p:pic>
        <p:nvPicPr>
          <p:cNvPr id="4" name="Picture 3" descr="CM12_1A.png"/>
          <p:cNvPicPr>
            <a:picLocks noChangeAspect="1"/>
          </p:cNvPicPr>
          <p:nvPr/>
        </p:nvPicPr>
        <p:blipFill>
          <a:blip r:embed="rId2"/>
          <a:stretch>
            <a:fillRect/>
          </a:stretch>
        </p:blipFill>
        <p:spPr>
          <a:xfrm>
            <a:off x="6715912" y="1280160"/>
            <a:ext cx="4331309"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Crisp et al. (2012), Fig. 1(A). Theophylline, saline and extracellular-action control recordings.</a:t>
            </a:r>
          </a:p>
        </p:txBody>
      </p:sp>
      <p:pic>
        <p:nvPicPr>
          <p:cNvPr id="6" name="Picture 5" descr="A21_DE3.png"/>
          <p:cNvPicPr>
            <a:picLocks noChangeAspect="1"/>
          </p:cNvPicPr>
          <p:nvPr/>
        </p:nvPicPr>
        <p:blipFill>
          <a:blip r:embed="rId3"/>
          <a:stretch>
            <a:fillRect/>
          </a:stretch>
        </p:blipFill>
        <p:spPr>
          <a:xfrm>
            <a:off x="8163957" y="4754880"/>
            <a:ext cx="143521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Ashaber et al. (2021), Fig. 7(a). Reconstructed DE-3 arbor over a dorsal micro-CT image.</a:t>
            </a:r>
          </a:p>
        </p:txBody>
      </p:sp>
      <p:sp>
        <p:nvSpPr>
          <p:cNvPr id="8" name="Rectangle 7"/>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Crisp et al. (2012); Ashaber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Elevating cyclic AMP does not identify a dopamine receptor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02A32"/>
                </a:solidFill>
                <a:latin typeface="Arial"/>
              </a:rPr>
              <a:t>Crisp and colleagues applied the phosphodiesterase inhibitor IBMX to leech neural tissue and measured cAMP using an enzyme immunoassay. An </a:t>
            </a:r>
            <a:r>
              <a:rPr sz="1500" b="1" i="0">
                <a:solidFill>
                  <a:srgbClr val="006B91"/>
                </a:solidFill>
                <a:latin typeface="Arial"/>
              </a:rPr>
              <a:t>immunoassay</a:t>
            </a:r>
            <a:r>
              <a:rPr sz="1500" b="0" i="0">
                <a:solidFill>
                  <a:srgbClr val="202A32"/>
                </a:solidFill>
                <a:latin typeface="Arial"/>
              </a:rPr>
              <a:t> uses molecular binding to quantify a target substance. This measurement checked whether the proposed intracellular signal actually increased after treatment.</a:t>
            </a:r>
          </a:p>
          <a:p>
            <a:pPr algn="l">
              <a:lnSpc>
                <a:spcPct val="108000"/>
              </a:lnSpc>
              <a:spcAft>
                <a:spcPts val="900"/>
              </a:spcAft>
            </a:pPr>
            <a:r>
              <a:rPr sz="1500" b="0" i="0">
                <a:solidFill>
                  <a:srgbClr val="202A32"/>
                </a:solidFill>
                <a:latin typeface="Arial"/>
              </a:rPr>
              <a:t>After 30 min in 0.5 mM IBMX, extract cAMP increased from approximately 12.9 to 29.4 pmol per ml. IBMX and dopamine could each support DE-3 bursts with periods near 20 s, and their coapplication did not abolish rhythmic bursting.</a:t>
            </a:r>
          </a:p>
          <a:p>
            <a:pPr algn="l">
              <a:lnSpc>
                <a:spcPct val="108000"/>
              </a:lnSpc>
              <a:spcAft>
                <a:spcPts val="900"/>
              </a:spcAft>
            </a:pPr>
            <a:r>
              <a:rPr sz="1500" b="0" i="0">
                <a:solidFill>
                  <a:srgbClr val="202A32"/>
                </a:solidFill>
                <a:latin typeface="Arial"/>
              </a:rPr>
              <a:t>The biochemical and physiological results are consistent with a cAMP-associated route to rhythmicity. They do not directly identify a DA1-like receptor or prove that dopamine and IBMX converge on one molecular pathway. That receptor-based explanation remains a proposal requiring receptor-specific evidence in the relevant circuit cells.</a:t>
            </a:r>
          </a:p>
        </p:txBody>
      </p:sp>
      <p:pic>
        <p:nvPicPr>
          <p:cNvPr id="4" name="Picture 3" descr="CM12_1B.png"/>
          <p:cNvPicPr>
            <a:picLocks noChangeAspect="1"/>
          </p:cNvPicPr>
          <p:nvPr/>
        </p:nvPicPr>
        <p:blipFill>
          <a:blip r:embed="rId2"/>
          <a:stretch>
            <a:fillRect/>
          </a:stretch>
        </p:blipFill>
        <p:spPr>
          <a:xfrm>
            <a:off x="6138367" y="1280160"/>
            <a:ext cx="3840480" cy="3098476"/>
          </a:xfrm>
          <a:prstGeom prst="rect">
            <a:avLst/>
          </a:prstGeom>
        </p:spPr>
      </p:pic>
      <p:sp>
        <p:nvSpPr>
          <p:cNvPr id="5" name="Figure caption"/>
          <p:cNvSpPr txBox="1"/>
          <p:nvPr/>
        </p:nvSpPr>
        <p:spPr>
          <a:xfrm>
            <a:off x="6138367" y="4470076"/>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Crisp et al. (2012), Fig. 1(B). Measured burst periods and durations across experimental conditions.</a:t>
            </a:r>
          </a:p>
        </p:txBody>
      </p:sp>
      <p:pic>
        <p:nvPicPr>
          <p:cNvPr id="6" name="Picture 5" descr="A21_DE3.png"/>
          <p:cNvPicPr>
            <a:picLocks noChangeAspect="1"/>
          </p:cNvPicPr>
          <p:nvPr/>
        </p:nvPicPr>
        <p:blipFill>
          <a:blip r:embed="rId3"/>
          <a:stretch>
            <a:fillRect/>
          </a:stretch>
        </p:blipFill>
        <p:spPr>
          <a:xfrm>
            <a:off x="10161727" y="2148840"/>
            <a:ext cx="1463039" cy="1025337"/>
          </a:xfrm>
          <a:prstGeom prst="rect">
            <a:avLst/>
          </a:prstGeom>
        </p:spPr>
      </p:pic>
      <p:sp>
        <p:nvSpPr>
          <p:cNvPr id="7" name="Figure caption"/>
          <p:cNvSpPr txBox="1"/>
          <p:nvPr/>
        </p:nvSpPr>
        <p:spPr>
          <a:xfrm>
            <a:off x="10161727" y="3247329"/>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Ashaber et al. (2021), Fig. 7(a). Reconstructed DE-3 arbor over a dorsal micro-CT image.</a:t>
            </a:r>
          </a:p>
        </p:txBody>
      </p:sp>
      <p:sp>
        <p:nvSpPr>
          <p:cNvPr id="8" name="Rectangle 7"/>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Crisp et al. (2012); Ashaber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Persistent sodium entry contributes to induced bursting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202A32"/>
                </a:solidFill>
                <a:latin typeface="Arial"/>
              </a:rPr>
              <a:t>Crisp and colleagues tested IBMX-induced bursting with </a:t>
            </a:r>
            <a:r>
              <a:rPr sz="1400" b="1" i="0">
                <a:solidFill>
                  <a:srgbClr val="006B91"/>
                </a:solidFill>
                <a:latin typeface="Arial"/>
              </a:rPr>
              <a:t>riluzole</a:t>
            </a:r>
            <a:r>
              <a:rPr sz="1400" b="0" i="0">
                <a:solidFill>
                  <a:srgbClr val="202A32"/>
                </a:solidFill>
                <a:latin typeface="Arial"/>
              </a:rPr>
              <a:t>, a drug used to inhibit a persistent sodium-current component. A persistent current continues beyond the brief inward current associated with an action potential. Sustained sodium entry can support a prolonged depolarization on which spikes occur.</a:t>
            </a:r>
          </a:p>
          <a:p>
            <a:pPr algn="l">
              <a:lnSpc>
                <a:spcPct val="108000"/>
              </a:lnSpc>
              <a:spcAft>
                <a:spcPts val="840"/>
              </a:spcAft>
            </a:pPr>
            <a:r>
              <a:rPr sz="1400" b="0" i="0">
                <a:solidFill>
                  <a:srgbClr val="202A32"/>
                </a:solidFill>
                <a:latin typeface="Arial"/>
              </a:rPr>
              <a:t>Application of 200 μM riluzole stopped the rhythmic DE-3 bursts despite continued IBMX exposure. The preparations could still fire impulses, and washing out riluzole while retaining IBMX restored bursting. The within-preparation recovery distinguishes rhythm disruption from irreversible loss of neuronal viability.</a:t>
            </a:r>
          </a:p>
          <a:p>
            <a:pPr algn="l">
              <a:lnSpc>
                <a:spcPct val="108000"/>
              </a:lnSpc>
              <a:spcAft>
                <a:spcPts val="840"/>
              </a:spcAft>
            </a:pPr>
            <a:r>
              <a:rPr sz="1400" b="0" i="0">
                <a:solidFill>
                  <a:srgbClr val="202A32"/>
                </a:solidFill>
                <a:latin typeface="Arial"/>
              </a:rPr>
              <a:t>The result supports a sodium-dependent contribution to the induced timing mechanism. It does not directly measure the persistent current in an identified oscillator neuron or establish a channel gene. Pharmacological sensitivity and preserved spiking constrain the explanation without completing its molecular identification.</a:t>
            </a:r>
          </a:p>
        </p:txBody>
      </p:sp>
      <p:pic>
        <p:nvPicPr>
          <p:cNvPr id="4" name="Picture 3" descr="CM12_2.png"/>
          <p:cNvPicPr>
            <a:picLocks noChangeAspect="1"/>
          </p:cNvPicPr>
          <p:nvPr/>
        </p:nvPicPr>
        <p:blipFill>
          <a:blip r:embed="rId2"/>
          <a:stretch>
            <a:fillRect/>
          </a:stretch>
        </p:blipFill>
        <p:spPr>
          <a:xfrm>
            <a:off x="6138367" y="1280160"/>
            <a:ext cx="3840480" cy="3785687"/>
          </a:xfrm>
          <a:prstGeom prst="rect">
            <a:avLst/>
          </a:prstGeom>
        </p:spPr>
      </p:pic>
      <p:sp>
        <p:nvSpPr>
          <p:cNvPr id="5" name="Figure caption"/>
          <p:cNvSpPr txBox="1"/>
          <p:nvPr/>
        </p:nvSpPr>
        <p:spPr>
          <a:xfrm>
            <a:off x="6138367" y="5157287"/>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Crisp et al. (2012), Fig. 2(A–C). IBMX-induced bursts, riluzole blockade and washout recovery.</a:t>
            </a:r>
          </a:p>
        </p:txBody>
      </p:sp>
      <p:pic>
        <p:nvPicPr>
          <p:cNvPr id="6" name="Picture 5" descr="A21_DE3.png"/>
          <p:cNvPicPr>
            <a:picLocks noChangeAspect="1"/>
          </p:cNvPicPr>
          <p:nvPr/>
        </p:nvPicPr>
        <p:blipFill>
          <a:blip r:embed="rId3"/>
          <a:stretch>
            <a:fillRect/>
          </a:stretch>
        </p:blipFill>
        <p:spPr>
          <a:xfrm>
            <a:off x="10161727" y="2148840"/>
            <a:ext cx="1463039" cy="1025337"/>
          </a:xfrm>
          <a:prstGeom prst="rect">
            <a:avLst/>
          </a:prstGeom>
        </p:spPr>
      </p:pic>
      <p:sp>
        <p:nvSpPr>
          <p:cNvPr id="7" name="Figure caption"/>
          <p:cNvSpPr txBox="1"/>
          <p:nvPr/>
        </p:nvSpPr>
        <p:spPr>
          <a:xfrm>
            <a:off x="10161727" y="3247329"/>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Ashaber et al. (2021), Fig. 7(a). Reconstructed DE-3 arbor over a dorsal micro-CT image.</a:t>
            </a:r>
          </a:p>
        </p:txBody>
      </p:sp>
      <p:sp>
        <p:nvSpPr>
          <p:cNvPr id="8" name="Rectangle 7"/>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Crisp et al. (2012); Ashaber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Crawl-like bursting persists without normal calcium influx</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202A32"/>
                </a:solidFill>
                <a:latin typeface="Arial"/>
              </a:rPr>
              <a:t>Crisp and colleagues replaced extracellular calcium with an equimolar concentration of nickel or cobalt while testing theophylline-induced DE-3 bursting. Calcium entry normally participates in several membrane and synaptic processes. Ion substitution tested whether normal calcium influx was required for the observed rhythmic output.</a:t>
            </a:r>
          </a:p>
          <a:p>
            <a:pPr algn="l">
              <a:lnSpc>
                <a:spcPct val="108000"/>
              </a:lnSpc>
              <a:spcAft>
                <a:spcPts val="840"/>
              </a:spcAft>
            </a:pPr>
            <a:r>
              <a:rPr sz="1400" b="0" i="0">
                <a:solidFill>
                  <a:srgbClr val="202A32"/>
                </a:solidFill>
                <a:latin typeface="Arial"/>
              </a:rPr>
              <a:t>Bursting persisted in saline with 1.8 mM nickel replacing 1.8 mM calcium. Example average cycle periods were approximately 20.4 s in calcium-containing saline and 22.3 s in nickel-containing saline. Burst durations also remained in a similar range.</a:t>
            </a:r>
          </a:p>
          <a:p>
            <a:pPr algn="l">
              <a:lnSpc>
                <a:spcPct val="108000"/>
              </a:lnSpc>
              <a:spcAft>
                <a:spcPts val="840"/>
              </a:spcAft>
            </a:pPr>
            <a:r>
              <a:rPr sz="1400" b="0" i="0">
                <a:solidFill>
                  <a:srgbClr val="202A32"/>
                </a:solidFill>
                <a:latin typeface="Arial"/>
              </a:rPr>
              <a:t>These observations favor a timing contribution that can operate without normal calcium entry under the experimental treatment. They do not imply that calcium is unnecessary for every synapse or for natural crawling. Ion substitution alters several processes, and the result must remain specific to the drug-induced bursting tested in the isolated preparation.</a:t>
            </a:r>
          </a:p>
        </p:txBody>
      </p:sp>
      <p:pic>
        <p:nvPicPr>
          <p:cNvPr id="4" name="Picture 3" descr="CM12_1B.png"/>
          <p:cNvPicPr>
            <a:picLocks noChangeAspect="1"/>
          </p:cNvPicPr>
          <p:nvPr/>
        </p:nvPicPr>
        <p:blipFill>
          <a:blip r:embed="rId2"/>
          <a:stretch>
            <a:fillRect/>
          </a:stretch>
        </p:blipFill>
        <p:spPr>
          <a:xfrm>
            <a:off x="6138367" y="1280160"/>
            <a:ext cx="3840480" cy="3098476"/>
          </a:xfrm>
          <a:prstGeom prst="rect">
            <a:avLst/>
          </a:prstGeom>
        </p:spPr>
      </p:pic>
      <p:sp>
        <p:nvSpPr>
          <p:cNvPr id="5" name="Figure caption"/>
          <p:cNvSpPr txBox="1"/>
          <p:nvPr/>
        </p:nvSpPr>
        <p:spPr>
          <a:xfrm>
            <a:off x="6138367" y="4470076"/>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Crisp et al. (2012), Fig. 1(B). Original comparison of induced burst timing across treatments.</a:t>
            </a:r>
          </a:p>
        </p:txBody>
      </p:sp>
      <p:pic>
        <p:nvPicPr>
          <p:cNvPr id="6" name="Picture 5" descr="A21_DE3.png"/>
          <p:cNvPicPr>
            <a:picLocks noChangeAspect="1"/>
          </p:cNvPicPr>
          <p:nvPr/>
        </p:nvPicPr>
        <p:blipFill>
          <a:blip r:embed="rId3"/>
          <a:stretch>
            <a:fillRect/>
          </a:stretch>
        </p:blipFill>
        <p:spPr>
          <a:xfrm>
            <a:off x="10161727" y="2148840"/>
            <a:ext cx="1463039" cy="1025337"/>
          </a:xfrm>
          <a:prstGeom prst="rect">
            <a:avLst/>
          </a:prstGeom>
        </p:spPr>
      </p:pic>
      <p:sp>
        <p:nvSpPr>
          <p:cNvPr id="7" name="Figure caption"/>
          <p:cNvSpPr txBox="1"/>
          <p:nvPr/>
        </p:nvSpPr>
        <p:spPr>
          <a:xfrm>
            <a:off x="10161727" y="3247329"/>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Ashaber et al. (2021), Fig. 7(a). Reconstructed DE-3 arbor over a dorsal micro-CT image.</a:t>
            </a:r>
          </a:p>
        </p:txBody>
      </p:sp>
      <p:sp>
        <p:nvSpPr>
          <p:cNvPr id="8" name="Rectangle 7"/>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Crisp et al. (2012); Ashaber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Potassium-current blockade changes the active fraction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02A32"/>
                </a:solidFill>
                <a:latin typeface="Arial"/>
              </a:rPr>
              <a:t>Crisp and colleagues tested </a:t>
            </a:r>
            <a:r>
              <a:rPr sz="1500" b="1" i="0">
                <a:solidFill>
                  <a:srgbClr val="006B91"/>
                </a:solidFill>
                <a:latin typeface="Arial"/>
              </a:rPr>
              <a:t>clotrimazole</a:t>
            </a:r>
            <a:r>
              <a:rPr sz="1500" b="0" i="0">
                <a:solidFill>
                  <a:srgbClr val="202A32"/>
                </a:solidFill>
                <a:latin typeface="Arial"/>
              </a:rPr>
              <a:t>, a blocker associated with intermediate-conductance calcium-dependent potassium channels. Potassium efflux generally opposes depolarization under these conditions. Removing an outward current can therefore alter how long an excitable cell remains active during a burst.</a:t>
            </a:r>
          </a:p>
          <a:p>
            <a:pPr algn="l">
              <a:lnSpc>
                <a:spcPct val="108000"/>
              </a:lnSpc>
              <a:spcAft>
                <a:spcPts val="900"/>
              </a:spcAft>
            </a:pPr>
            <a:r>
              <a:rPr sz="1500" b="0" i="0">
                <a:solidFill>
                  <a:srgbClr val="202A32"/>
                </a:solidFill>
                <a:latin typeface="Arial"/>
              </a:rPr>
              <a:t>At 25 μM clotrimazole, DE-3 bursts occurred with cycle periods near 20 s, comparable to the other induction methods. Their duration increased to approximately 13.5 s, compared with approximately 5 s under dopamine or phosphodiesterase inhibition. The active fraction of the cycle was consequently much larger.</a:t>
            </a:r>
          </a:p>
          <a:p>
            <a:pPr algn="l">
              <a:lnSpc>
                <a:spcPct val="108000"/>
              </a:lnSpc>
              <a:spcAft>
                <a:spcPts val="900"/>
              </a:spcAft>
            </a:pPr>
            <a:r>
              <a:rPr sz="1500" b="0" i="0">
                <a:solidFill>
                  <a:srgbClr val="202A32"/>
                </a:solidFill>
                <a:latin typeface="Arial"/>
              </a:rPr>
              <a:t>The result separates period from burst termination and supports an outward-current contribution to pattern shape. Clotrimazole can also affect sodium–potassium pump activity, so this experiment does not uniquely identify one potassium-channel subtype as the endogenous dopamine target. The channel account remains pharmacologically supported and incomplete.</a:t>
            </a:r>
          </a:p>
        </p:txBody>
      </p:sp>
      <p:pic>
        <p:nvPicPr>
          <p:cNvPr id="4" name="Picture 3" descr="CM12_1B.png"/>
          <p:cNvPicPr>
            <a:picLocks noChangeAspect="1"/>
          </p:cNvPicPr>
          <p:nvPr/>
        </p:nvPicPr>
        <p:blipFill>
          <a:blip r:embed="rId2"/>
          <a:stretch>
            <a:fillRect/>
          </a:stretch>
        </p:blipFill>
        <p:spPr>
          <a:xfrm>
            <a:off x="6138367" y="1280160"/>
            <a:ext cx="3840480" cy="3098476"/>
          </a:xfrm>
          <a:prstGeom prst="rect">
            <a:avLst/>
          </a:prstGeom>
        </p:spPr>
      </p:pic>
      <p:sp>
        <p:nvSpPr>
          <p:cNvPr id="5" name="Figure caption"/>
          <p:cNvSpPr txBox="1"/>
          <p:nvPr/>
        </p:nvSpPr>
        <p:spPr>
          <a:xfrm>
            <a:off x="6138367" y="4470076"/>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Crisp et al. (2012), Fig. 1(B). Published burst-period and burst-duration comparison.</a:t>
            </a:r>
          </a:p>
        </p:txBody>
      </p:sp>
      <p:pic>
        <p:nvPicPr>
          <p:cNvPr id="6" name="Picture 5" descr="A21_DE3.png"/>
          <p:cNvPicPr>
            <a:picLocks noChangeAspect="1"/>
          </p:cNvPicPr>
          <p:nvPr/>
        </p:nvPicPr>
        <p:blipFill>
          <a:blip r:embed="rId3"/>
          <a:stretch>
            <a:fillRect/>
          </a:stretch>
        </p:blipFill>
        <p:spPr>
          <a:xfrm>
            <a:off x="10161727" y="2148840"/>
            <a:ext cx="1463039" cy="1025337"/>
          </a:xfrm>
          <a:prstGeom prst="rect">
            <a:avLst/>
          </a:prstGeom>
        </p:spPr>
      </p:pic>
      <p:sp>
        <p:nvSpPr>
          <p:cNvPr id="7" name="Figure caption"/>
          <p:cNvSpPr txBox="1"/>
          <p:nvPr/>
        </p:nvSpPr>
        <p:spPr>
          <a:xfrm>
            <a:off x="10161727" y="3247329"/>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Ashaber et al. (2021), Fig. 7(a). Reconstructed DE-3 arbor over a dorsal micro-CT image.</a:t>
            </a:r>
          </a:p>
        </p:txBody>
      </p:sp>
      <p:sp>
        <p:nvSpPr>
          <p:cNvPr id="8" name="Rectangle 7"/>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Crisp et al. (2012); Ashaber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A slow rhythm can retain the wrong motor-cell phase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202A32"/>
                </a:solidFill>
                <a:latin typeface="Arial"/>
              </a:rPr>
              <a:t>Crisp and colleagues recorded several identified motor cells while IBMX induced DE-3 bursts in isolated ganglia. This tested whether a drug that reproduced approximate crawl timing also reproduced the full crawl motor pattern. Simultaneous intracellular and motor-nerve recordings established relative phase within the same cycle.</a:t>
            </a:r>
          </a:p>
          <a:p>
            <a:pPr algn="l">
              <a:lnSpc>
                <a:spcPct val="108000"/>
              </a:lnSpc>
              <a:spcAft>
                <a:spcPts val="840"/>
              </a:spcAft>
            </a:pPr>
            <a:r>
              <a:rPr sz="1400" b="0" i="0">
                <a:solidFill>
                  <a:srgbClr val="202A32"/>
                </a:solidFill>
                <a:latin typeface="Arial"/>
              </a:rPr>
              <a:t>The longitudinal excitor VE-4 depolarized with DE-3, while inhibitors DI-1 and VI-2 were hyperpolarized during those bursts. However, the circular excitor CV fired in phase with DE-3 under IBMX. During the usual dopamine-induced crawl pattern, CV instead participates in the opposing elongation phase.</a:t>
            </a:r>
          </a:p>
          <a:p>
            <a:pPr algn="l">
              <a:lnSpc>
                <a:spcPct val="108000"/>
              </a:lnSpc>
              <a:spcAft>
                <a:spcPts val="840"/>
              </a:spcAft>
            </a:pPr>
            <a:r>
              <a:rPr sz="1400" b="0" i="0">
                <a:solidFill>
                  <a:srgbClr val="202A32"/>
                </a:solidFill>
                <a:latin typeface="Arial"/>
              </a:rPr>
              <a:t>Rhythm generation and correct motor patterning are separable. Reproducing a slow period does not establish that every muscle group will be activated appropriately. The mismatch supports additional dopamine actions beyond the phosphodiesterase-sensitive timing route, without identifying all of the responsible receptor subtypes or interneurons.</a:t>
            </a:r>
          </a:p>
        </p:txBody>
      </p:sp>
      <p:pic>
        <p:nvPicPr>
          <p:cNvPr id="4" name="Picture 3" descr="CM12_3.png"/>
          <p:cNvPicPr>
            <a:picLocks noChangeAspect="1"/>
          </p:cNvPicPr>
          <p:nvPr/>
        </p:nvPicPr>
        <p:blipFill>
          <a:blip r:embed="rId2"/>
          <a:stretch>
            <a:fillRect/>
          </a:stretch>
        </p:blipFill>
        <p:spPr>
          <a:xfrm>
            <a:off x="6987784" y="1280160"/>
            <a:ext cx="3787565"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Crisp et al. (2012), Fig. 3(A–D). Identified motor-cell activity during IBMX-induced bursting.</a:t>
            </a:r>
          </a:p>
        </p:txBody>
      </p:sp>
      <p:pic>
        <p:nvPicPr>
          <p:cNvPr id="6" name="Picture 5" descr="A21_DE3.png"/>
          <p:cNvPicPr>
            <a:picLocks noChangeAspect="1"/>
          </p:cNvPicPr>
          <p:nvPr/>
        </p:nvPicPr>
        <p:blipFill>
          <a:blip r:embed="rId3"/>
          <a:stretch>
            <a:fillRect/>
          </a:stretch>
        </p:blipFill>
        <p:spPr>
          <a:xfrm>
            <a:off x="8163957" y="4754880"/>
            <a:ext cx="143521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Ashaber et al. (2021), Fig. 7(a). Reconstructed DE-3 arbor over a dorsal micro-CT image.</a:t>
            </a:r>
          </a:p>
        </p:txBody>
      </p:sp>
      <p:sp>
        <p:nvSpPr>
          <p:cNvPr id="8" name="Rectangle 7"/>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Crisp et al. (2012); Ashaber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Dopamine reshapes rebound after inhibition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02A32"/>
                </a:solidFill>
                <a:latin typeface="Arial"/>
              </a:rPr>
              <a:t>Crisp and colleagues applied hyperpolarizing current pulses to CV and AE motor neurons before and during dopamine exposure. </a:t>
            </a:r>
            <a:r>
              <a:rPr sz="1500" b="1" i="0">
                <a:solidFill>
                  <a:srgbClr val="006B91"/>
                </a:solidFill>
                <a:latin typeface="Arial"/>
              </a:rPr>
              <a:t>Post-inhibitory rebound</a:t>
            </a:r>
            <a:r>
              <a:rPr sz="1500" b="0" i="0">
                <a:solidFill>
                  <a:srgbClr val="202A32"/>
                </a:solidFill>
                <a:latin typeface="Arial"/>
              </a:rPr>
              <a:t> is increased depolarization or firing after an inhibitory influence ends. An </a:t>
            </a:r>
            <a:r>
              <a:rPr sz="1500" b="1" i="0">
                <a:solidFill>
                  <a:srgbClr val="006B91"/>
                </a:solidFill>
                <a:latin typeface="Arial"/>
              </a:rPr>
              <a:t>afterhyperpolarization</a:t>
            </a:r>
            <a:r>
              <a:rPr sz="1500" b="0" i="0">
                <a:solidFill>
                  <a:srgbClr val="202A32"/>
                </a:solidFill>
                <a:latin typeface="Arial"/>
              </a:rPr>
              <a:t> is a more negative voltage following activity or a rebound response.</a:t>
            </a:r>
          </a:p>
          <a:p>
            <a:pPr algn="l">
              <a:lnSpc>
                <a:spcPct val="108000"/>
              </a:lnSpc>
              <a:spcAft>
                <a:spcPts val="900"/>
              </a:spcAft>
            </a:pPr>
            <a:r>
              <a:rPr sz="1500" b="0" i="0">
                <a:solidFill>
                  <a:srgbClr val="202A32"/>
                </a:solidFill>
                <a:latin typeface="Arial"/>
              </a:rPr>
              <a:t>At 75 μM dopamine, CV had a larger rebound peak but a shorter rebound duration and enhanced afterhyperpolarization. AE also had a shortened rebound response. Current pulses of −1 nA for 500 ms provided a defined perturbation rather than relying on variable network inhibition.</a:t>
            </a:r>
          </a:p>
          <a:p>
            <a:pPr algn="l">
              <a:lnSpc>
                <a:spcPct val="108000"/>
              </a:lnSpc>
              <a:spcAft>
                <a:spcPts val="900"/>
              </a:spcAft>
            </a:pPr>
            <a:r>
              <a:rPr sz="1500" b="0" i="0">
                <a:solidFill>
                  <a:srgbClr val="202A32"/>
                </a:solidFill>
                <a:latin typeface="Arial"/>
              </a:rPr>
              <a:t>The effect shows that peak voltage, response duration, and subsequent inhibition can change differently under one modulator. It does not support a simple rule that dopamine uniformly increases excitability. The channel processes responsible for each component were not isolated directly by these current-pulse measurements.</a:t>
            </a:r>
          </a:p>
        </p:txBody>
      </p:sp>
      <p:pic>
        <p:nvPicPr>
          <p:cNvPr id="4" name="Picture 3" descr="CM12_4AB.png"/>
          <p:cNvPicPr>
            <a:picLocks noChangeAspect="1"/>
          </p:cNvPicPr>
          <p:nvPr/>
        </p:nvPicPr>
        <p:blipFill>
          <a:blip r:embed="rId2"/>
          <a:stretch>
            <a:fillRect/>
          </a:stretch>
        </p:blipFill>
        <p:spPr>
          <a:xfrm>
            <a:off x="6330939" y="1280160"/>
            <a:ext cx="3455334" cy="4297679"/>
          </a:xfrm>
          <a:prstGeom prst="rect">
            <a:avLst/>
          </a:prstGeom>
        </p:spPr>
      </p:pic>
      <p:sp>
        <p:nvSpPr>
          <p:cNvPr id="5" name="Figure caption"/>
          <p:cNvSpPr txBox="1"/>
          <p:nvPr/>
        </p:nvSpPr>
        <p:spPr>
          <a:xfrm>
            <a:off x="6138367" y="5669279"/>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Crisp et al. (2012), Fig. 4(A,B). Current pulses and rebound responses in CV and AE.</a:t>
            </a:r>
          </a:p>
        </p:txBody>
      </p:sp>
      <p:pic>
        <p:nvPicPr>
          <p:cNvPr id="6" name="Picture 5" descr="A21_DE3.png"/>
          <p:cNvPicPr>
            <a:picLocks noChangeAspect="1"/>
          </p:cNvPicPr>
          <p:nvPr/>
        </p:nvPicPr>
        <p:blipFill>
          <a:blip r:embed="rId3"/>
          <a:stretch>
            <a:fillRect/>
          </a:stretch>
        </p:blipFill>
        <p:spPr>
          <a:xfrm>
            <a:off x="10161727" y="2148840"/>
            <a:ext cx="1463039" cy="1025337"/>
          </a:xfrm>
          <a:prstGeom prst="rect">
            <a:avLst/>
          </a:prstGeom>
        </p:spPr>
      </p:pic>
      <p:sp>
        <p:nvSpPr>
          <p:cNvPr id="7" name="Figure caption"/>
          <p:cNvSpPr txBox="1"/>
          <p:nvPr/>
        </p:nvSpPr>
        <p:spPr>
          <a:xfrm>
            <a:off x="10161727" y="3247329"/>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Ashaber et al. (2021), Fig. 7(a). Reconstructed DE-3 arbor over a dorsal micro-CT image.</a:t>
            </a:r>
          </a:p>
        </p:txBody>
      </p:sp>
      <p:sp>
        <p:nvSpPr>
          <p:cNvPr id="8" name="Rectangle 7"/>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Crisp et al. (2012); Ashaber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Dopamine can promote pattern while reducing excitability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02A32"/>
                </a:solidFill>
                <a:latin typeface="Arial"/>
              </a:rPr>
              <a:t>Crisp and colleagues injected depolarizing current into CV and AE and compared firing before and during dopamine exposure. </a:t>
            </a:r>
            <a:r>
              <a:rPr sz="1500" b="1" i="0">
                <a:solidFill>
                  <a:srgbClr val="006B91"/>
                </a:solidFill>
                <a:latin typeface="Arial"/>
              </a:rPr>
              <a:t>Excitability</a:t>
            </a:r>
            <a:r>
              <a:rPr sz="1500" b="0" i="0">
                <a:solidFill>
                  <a:srgbClr val="202A32"/>
                </a:solidFill>
                <a:latin typeface="Arial"/>
              </a:rPr>
              <a:t> here refers to the relationship between injected current and the resulting discharge. Testing that relationship separates direct cellular responsiveness from the presence of a network rhythm.</a:t>
            </a:r>
          </a:p>
          <a:p>
            <a:pPr algn="l">
              <a:lnSpc>
                <a:spcPct val="108000"/>
              </a:lnSpc>
              <a:spcAft>
                <a:spcPts val="900"/>
              </a:spcAft>
            </a:pPr>
            <a:r>
              <a:rPr sz="1500" b="0" i="0">
                <a:solidFill>
                  <a:srgbClr val="202A32"/>
                </a:solidFill>
                <a:latin typeface="Arial"/>
              </a:rPr>
              <a:t>For a +1 nA input, average AE firing fell from approximately 18 to 12.6 Hz during dopamine; average CV firing fell from approximately 41.2 to 23 Hz. Theophylline did not reproduce the same reduction and instead increased resting discharge in the tested cells.</a:t>
            </a:r>
          </a:p>
          <a:p>
            <a:pPr algn="l">
              <a:lnSpc>
                <a:spcPct val="108000"/>
              </a:lnSpc>
              <a:spcAft>
                <a:spcPts val="900"/>
              </a:spcAft>
            </a:pPr>
            <a:r>
              <a:rPr sz="1500" b="0" i="0">
                <a:solidFill>
                  <a:srgbClr val="202A32"/>
                </a:solidFill>
                <a:latin typeface="Arial"/>
              </a:rPr>
              <a:t>Dopamine can favor a patterned output while reducing the response of particular motor neurons to steady excitation. Timing, phase, and input responsiveness are different properties. The mismatch with theophylline supports multiple modulatory effects, but does not prove which receptor or conductance accounts for each difference.</a:t>
            </a:r>
          </a:p>
        </p:txBody>
      </p:sp>
      <p:pic>
        <p:nvPicPr>
          <p:cNvPr id="4" name="Picture 3" descr="CM12_5.png"/>
          <p:cNvPicPr>
            <a:picLocks noChangeAspect="1"/>
          </p:cNvPicPr>
          <p:nvPr/>
        </p:nvPicPr>
        <p:blipFill>
          <a:blip r:embed="rId2"/>
          <a:stretch>
            <a:fillRect/>
          </a:stretch>
        </p:blipFill>
        <p:spPr>
          <a:xfrm>
            <a:off x="6859243" y="1280160"/>
            <a:ext cx="4044647"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Crisp et al. (2012), Fig. 5(A–D). Motor-cell firing responses and original current–frequency plots.</a:t>
            </a:r>
          </a:p>
        </p:txBody>
      </p:sp>
      <p:pic>
        <p:nvPicPr>
          <p:cNvPr id="6" name="Picture 5" descr="A21_DE3.png"/>
          <p:cNvPicPr>
            <a:picLocks noChangeAspect="1"/>
          </p:cNvPicPr>
          <p:nvPr/>
        </p:nvPicPr>
        <p:blipFill>
          <a:blip r:embed="rId3"/>
          <a:stretch>
            <a:fillRect/>
          </a:stretch>
        </p:blipFill>
        <p:spPr>
          <a:xfrm>
            <a:off x="8163957" y="4754880"/>
            <a:ext cx="143521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Ashaber et al. (2021), Fig. 7(a). Reconstructed DE-3 arbor over a dorsal micro-CT image.</a:t>
            </a:r>
          </a:p>
        </p:txBody>
      </p:sp>
      <p:sp>
        <p:nvSpPr>
          <p:cNvPr id="8" name="Rectangle 7"/>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Crisp et al. (2012); Ashaber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A descending neuron reaches distributed crawl circuitry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02A32"/>
                </a:solidFill>
                <a:latin typeface="Arial"/>
              </a:rPr>
              <a:t>Puhl and colleagues identified the paired descending neuron R3b-1 within the subesophageal ganglion. A </a:t>
            </a:r>
            <a:r>
              <a:rPr sz="1600" b="1" i="0">
                <a:solidFill>
                  <a:srgbClr val="006B91"/>
                </a:solidFill>
                <a:latin typeface="Arial"/>
              </a:rPr>
              <a:t>descending projection</a:t>
            </a:r>
            <a:r>
              <a:rPr sz="1600" b="0" i="0">
                <a:solidFill>
                  <a:srgbClr val="202A32"/>
                </a:solidFill>
                <a:latin typeface="Arial"/>
              </a:rPr>
              <a:t> carries signals from an anterior neural region toward more posterior circuitry. Neurobiotin filling and confocal imaging established the cell’s soma and arborization in the cephalic region.</a:t>
            </a:r>
          </a:p>
          <a:p>
            <a:pPr algn="l">
              <a:lnSpc>
                <a:spcPct val="108000"/>
              </a:lnSpc>
              <a:spcAft>
                <a:spcPts val="960"/>
              </a:spcAft>
            </a:pPr>
            <a:r>
              <a:rPr sz="1600" b="0" i="0">
                <a:solidFill>
                  <a:srgbClr val="202A32"/>
                </a:solidFill>
                <a:latin typeface="Arial"/>
              </a:rPr>
              <a:t>R3b-1 has an axon that extends through the nerve cord, with branches in segmental ganglia. Some processes cross the midline, providing anatomical access to both sides. The published cephalic and segmental images preserve 100 μm scale bars.</a:t>
            </a:r>
          </a:p>
          <a:p>
            <a:pPr algn="l">
              <a:lnSpc>
                <a:spcPct val="108000"/>
              </a:lnSpc>
              <a:spcAft>
                <a:spcPts val="960"/>
              </a:spcAft>
            </a:pPr>
            <a:r>
              <a:rPr sz="1600" b="0" i="0">
                <a:solidFill>
                  <a:srgbClr val="202A32"/>
                </a:solidFill>
                <a:latin typeface="Arial"/>
              </a:rPr>
              <a:t>The anatomy permits one cell to influence many local motor circuits, but a visible arbor is not proof of a synapse onto every nearby neuron. Its functional role must be tested with recording and perturbation. The descending arrangement also does not make R3b-1 the sole possible source of local crawl rhythmicity.</a:t>
            </a:r>
          </a:p>
        </p:txBody>
      </p:sp>
      <p:pic>
        <p:nvPicPr>
          <p:cNvPr id="4" name="Picture 3" descr="P12_2B.png"/>
          <p:cNvPicPr>
            <a:picLocks noChangeAspect="1"/>
          </p:cNvPicPr>
          <p:nvPr/>
        </p:nvPicPr>
        <p:blipFill>
          <a:blip r:embed="rId2"/>
          <a:stretch>
            <a:fillRect/>
          </a:stretch>
        </p:blipFill>
        <p:spPr>
          <a:xfrm>
            <a:off x="6649379" y="1280160"/>
            <a:ext cx="483013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Puhl et al. (2012), Fig. 2(B). Confocal anatomy of the identified descending R3b-1 neuron.</a:t>
            </a:r>
          </a:p>
        </p:txBody>
      </p:sp>
      <p:sp>
        <p:nvSpPr>
          <p:cNvPr id="6" name="Rectangle 5"/>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Puhl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R3b-1 activity controls coordination in a defined state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02A32"/>
                </a:solidFill>
                <a:latin typeface="Arial"/>
              </a:rPr>
              <a:t>Puhl and colleagues excluded the contralateral R3b-1 influence and recorded DE-3 output from several segments while manipulating the remaining cell. Dopamine biased the preparation toward crawling. This design tested one descending neuron’s effect on a distributed rhythm under specified conditions.</a:t>
            </a:r>
          </a:p>
          <a:p>
            <a:pPr algn="l">
              <a:lnSpc>
                <a:spcPct val="108000"/>
              </a:lnSpc>
              <a:spcAft>
                <a:spcPts val="900"/>
              </a:spcAft>
            </a:pPr>
            <a:r>
              <a:rPr sz="1500" b="0" i="0">
                <a:solidFill>
                  <a:srgbClr val="202A32"/>
                </a:solidFill>
                <a:latin typeface="Arial"/>
              </a:rPr>
              <a:t>A +3 nA current increased R3b-1 spiking and converted irregular segmental bursting into coordinated fictive crawling. In one example, periods changed from roughly 27–29 s to approximately 10 s across the recording sites. A −4 nA current disrupted their common period and crawl-specific coordination, even when some local bursts continued.</a:t>
            </a:r>
          </a:p>
          <a:p>
            <a:pPr algn="l">
              <a:lnSpc>
                <a:spcPct val="108000"/>
              </a:lnSpc>
              <a:spcAft>
                <a:spcPts val="900"/>
              </a:spcAft>
            </a:pPr>
            <a:r>
              <a:rPr sz="1500" b="0" i="0">
                <a:solidFill>
                  <a:srgbClr val="202A32"/>
                </a:solidFill>
                <a:latin typeface="Arial"/>
              </a:rPr>
              <a:t>R3b-1 activity was sufficient and necessary for coordinated output in the tested preparation and state. Local burst persistence prevents equating disruption of coordination with complete abolition of every segmental oscillator. The result is a conditional causal role, not a universal claim that this cell is required for all rhythms under all conditions.</a:t>
            </a:r>
          </a:p>
        </p:txBody>
      </p:sp>
      <p:pic>
        <p:nvPicPr>
          <p:cNvPr id="4" name="Picture 3" descr="P12_4CF.png"/>
          <p:cNvPicPr>
            <a:picLocks noChangeAspect="1"/>
          </p:cNvPicPr>
          <p:nvPr/>
        </p:nvPicPr>
        <p:blipFill>
          <a:blip r:embed="rId2"/>
          <a:stretch>
            <a:fillRect/>
          </a:stretch>
        </p:blipFill>
        <p:spPr>
          <a:xfrm>
            <a:off x="7440379" y="1280160"/>
            <a:ext cx="324813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Puhl et al. (2012), Fig. 4(C–H). Depolarization and hyperpolarization with multisegment recordings.</a:t>
            </a:r>
          </a:p>
        </p:txBody>
      </p:sp>
      <p:sp>
        <p:nvSpPr>
          <p:cNvPr id="6" name="Rectangle 5"/>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Puhl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A command signal must interact with segmental networks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02A32"/>
                </a:solidFill>
                <a:latin typeface="Arial"/>
              </a:rPr>
              <a:t>Puhl and colleagues tested whether R3b-1 commands coordination directly or must interact with local segmental circuits. High-magnesium, low-calcium saline blocked chemical transmission in a restricted region while the axon remained capable of conducting. Motor recordings sampled ganglia within and outside the blocked region.</a:t>
            </a:r>
          </a:p>
          <a:p>
            <a:pPr algn="l">
              <a:lnSpc>
                <a:spcPct val="108000"/>
              </a:lnSpc>
              <a:spcAft>
                <a:spcPts val="900"/>
              </a:spcAft>
            </a:pPr>
            <a:r>
              <a:rPr sz="1500" b="0" i="0">
                <a:solidFill>
                  <a:srgbClr val="202A32"/>
                </a:solidFill>
                <a:latin typeface="Arial"/>
              </a:rPr>
              <a:t>The synaptic blockade altered the coordinated pattern. Depolarizing R3b-1 did not restore ordinary crawl coordination simply by sending more descending spikes through the affected region. Appropriate rhythmic activity could remain elsewhere without the expected full intersegmental organization.</a:t>
            </a:r>
          </a:p>
          <a:p>
            <a:pPr algn="l">
              <a:lnSpc>
                <a:spcPct val="108000"/>
              </a:lnSpc>
              <a:spcAft>
                <a:spcPts val="900"/>
              </a:spcAft>
            </a:pPr>
            <a:r>
              <a:rPr sz="1500" b="0" i="0">
                <a:solidFill>
                  <a:srgbClr val="202A32"/>
                </a:solidFill>
                <a:latin typeface="Arial"/>
              </a:rPr>
              <a:t>A </a:t>
            </a:r>
            <a:r>
              <a:rPr sz="1500" b="1" i="0">
                <a:solidFill>
                  <a:srgbClr val="006B91"/>
                </a:solidFill>
                <a:latin typeface="Arial"/>
              </a:rPr>
              <a:t>permissive signal</a:t>
            </a:r>
            <a:r>
              <a:rPr sz="1500" b="0" i="0">
                <a:solidFill>
                  <a:srgbClr val="202A32"/>
                </a:solidFill>
                <a:latin typeface="Arial"/>
              </a:rPr>
              <a:t> enables a local network to operate rather than specifying every event independently. The results support cooperation between descending input and segmental circuitry. Regional saline blockade affects many synapses, so it does not identify a single local relay or prove that every coordinating interaction is chemical.</a:t>
            </a:r>
          </a:p>
        </p:txBody>
      </p:sp>
      <p:pic>
        <p:nvPicPr>
          <p:cNvPr id="4" name="Picture 3" descr="P12_6.png"/>
          <p:cNvPicPr>
            <a:picLocks noChangeAspect="1"/>
          </p:cNvPicPr>
          <p:nvPr/>
        </p:nvPicPr>
        <p:blipFill>
          <a:blip r:embed="rId2"/>
          <a:stretch>
            <a:fillRect/>
          </a:stretch>
        </p:blipFill>
        <p:spPr>
          <a:xfrm>
            <a:off x="6504127" y="1280160"/>
            <a:ext cx="5120640" cy="2463766"/>
          </a:xfrm>
          <a:prstGeom prst="rect">
            <a:avLst/>
          </a:prstGeom>
        </p:spPr>
      </p:pic>
      <p:sp>
        <p:nvSpPr>
          <p:cNvPr id="5" name="Figure caption"/>
          <p:cNvSpPr txBox="1"/>
          <p:nvPr/>
        </p:nvSpPr>
        <p:spPr>
          <a:xfrm>
            <a:off x="6504127" y="383536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Puhl et al. (2012), Fig. 6(A–C). Regional synaptic blockade during descending-neuron stimulation.</a:t>
            </a:r>
          </a:p>
        </p:txBody>
      </p:sp>
      <p:sp>
        <p:nvSpPr>
          <p:cNvPr id="6" name="Rectangle 5"/>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Puhl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A motor follower tests a specific descending connection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02A32"/>
                </a:solidFill>
                <a:latin typeface="Arial"/>
              </a:rPr>
              <a:t>Puhl and colleagues recorded R3b-1 together with CV while applying regional synaptic blockade and stimulating the descending cell. CV is a crawl-related circular-muscle excitor. A defined presynaptic spike train permits testing a more specific connection than simply observing that both cells oscillate during crawling.</a:t>
            </a:r>
          </a:p>
          <a:p>
            <a:pPr algn="l">
              <a:lnSpc>
                <a:spcPct val="108000"/>
              </a:lnSpc>
              <a:spcAft>
                <a:spcPts val="900"/>
              </a:spcAft>
            </a:pPr>
            <a:r>
              <a:rPr sz="1500" b="0" i="0">
                <a:solidFill>
                  <a:srgbClr val="202A32"/>
                </a:solidFill>
                <a:latin typeface="Arial"/>
              </a:rPr>
              <a:t>R3b-1 stimulation produced excitatory responses in CV consistent with a synaptic follower relationship. The published expanded recording retains the relationship between the descending spike and the subsequent motor-cell potential. Comparing the response under reduced-transmission conditions supplied evidence about the connecting route.</a:t>
            </a:r>
          </a:p>
          <a:p>
            <a:pPr algn="l">
              <a:lnSpc>
                <a:spcPct val="108000"/>
              </a:lnSpc>
              <a:spcAft>
                <a:spcPts val="900"/>
              </a:spcAft>
            </a:pPr>
            <a:r>
              <a:rPr sz="1500" b="0" i="0">
                <a:solidFill>
                  <a:srgbClr val="202A32"/>
                </a:solidFill>
                <a:latin typeface="Arial"/>
              </a:rPr>
              <a:t>This supports a functional pathway from descending input to a motor output associated with elongation. It does not establish that R3b-1 directly controls every crawl neuron or that this connection alone generates the entire rhythm. The broader pattern still depends on interactions among local circuits and motor pathways.</a:t>
            </a:r>
          </a:p>
        </p:txBody>
      </p:sp>
      <p:pic>
        <p:nvPicPr>
          <p:cNvPr id="4" name="Picture 3" descr="P12_7.png"/>
          <p:cNvPicPr>
            <a:picLocks noChangeAspect="1"/>
          </p:cNvPicPr>
          <p:nvPr/>
        </p:nvPicPr>
        <p:blipFill>
          <a:blip r:embed="rId2"/>
          <a:stretch>
            <a:fillRect/>
          </a:stretch>
        </p:blipFill>
        <p:spPr>
          <a:xfrm>
            <a:off x="6558962" y="1280160"/>
            <a:ext cx="501096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Puhl et al. (2012), Fig. 7(A–C). R3b-1 stimulation and the response of circular excitor CV.</a:t>
            </a:r>
          </a:p>
        </p:txBody>
      </p:sp>
      <p:sp>
        <p:nvSpPr>
          <p:cNvPr id="6" name="Rectangle 5"/>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Puhl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Short ganglion chains can coordinate without the brain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02A32"/>
                </a:solidFill>
                <a:latin typeface="Arial"/>
              </a:rPr>
              <a:t>Kearney and colleagues studied dopamine-induced crawling in isolated chains of three ganglia. This preparation lacked both the cephalic brain and the moving peripheral body. Motor-nerve recordings tested whether local circuits could express a coordinated sequence through their remaining central connections.</a:t>
            </a:r>
          </a:p>
          <a:p>
            <a:pPr algn="l">
              <a:lnSpc>
                <a:spcPct val="108000"/>
              </a:lnSpc>
              <a:spcAft>
                <a:spcPts val="900"/>
              </a:spcAft>
            </a:pPr>
            <a:r>
              <a:rPr sz="1500" b="0" i="0">
                <a:solidFill>
                  <a:srgbClr val="202A32"/>
                </a:solidFill>
                <a:latin typeface="Arial"/>
              </a:rPr>
              <a:t>DE-3 bursts followed a consistent order through the chain, with a median phase lag near 0.12 of a cycle per segment. Combining recordings from different chains in a scrambled control eliminated the strong temporal relationship. The coordination therefore could not be explained simply by independent rhythms of similar average frequency.</a:t>
            </a:r>
          </a:p>
          <a:p>
            <a:pPr algn="l">
              <a:lnSpc>
                <a:spcPct val="108000"/>
              </a:lnSpc>
              <a:spcAft>
                <a:spcPts val="900"/>
              </a:spcAft>
            </a:pPr>
            <a:r>
              <a:rPr sz="1500" b="0" i="0">
                <a:solidFill>
                  <a:srgbClr val="202A32"/>
                </a:solidFill>
                <a:latin typeface="Arial"/>
              </a:rPr>
              <a:t>The result establishes central coordination without a descending command in this reduced context. It qualifies broader necessity claims based on different preparations. The intact animal and a short, dopamine-treated chain need not use identical coordination mechanisms, and additional descending or sensory input may improve speed and flexibility.</a:t>
            </a:r>
          </a:p>
        </p:txBody>
      </p:sp>
      <p:pic>
        <p:nvPicPr>
          <p:cNvPr id="4" name="Picture 3" descr="K22_3.png"/>
          <p:cNvPicPr>
            <a:picLocks noChangeAspect="1"/>
          </p:cNvPicPr>
          <p:nvPr/>
        </p:nvPicPr>
        <p:blipFill>
          <a:blip r:embed="rId2"/>
          <a:stretch>
            <a:fillRect/>
          </a:stretch>
        </p:blipFill>
        <p:spPr>
          <a:xfrm>
            <a:off x="6436509" y="1280160"/>
            <a:ext cx="4890115"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Kearney et al. (2022), Fig. 3(A–D). Measured chain activity and scrambled-recording comparisons.</a:t>
            </a:r>
          </a:p>
        </p:txBody>
      </p:sp>
      <p:pic>
        <p:nvPicPr>
          <p:cNvPr id="6" name="Picture 5" descr="A21_DE3.png"/>
          <p:cNvPicPr>
            <a:picLocks noChangeAspect="1"/>
          </p:cNvPicPr>
          <p:nvPr/>
        </p:nvPicPr>
        <p:blipFill>
          <a:blip r:embed="rId3"/>
          <a:stretch>
            <a:fillRect/>
          </a:stretch>
        </p:blipFill>
        <p:spPr>
          <a:xfrm>
            <a:off x="8163957" y="4754880"/>
            <a:ext cx="143521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Ashaber et al. (2021), Fig. 7(a). Reconstructed DE-3 arbor over a dorsal micro-CT image.</a:t>
            </a:r>
          </a:p>
        </p:txBody>
      </p:sp>
      <p:sp>
        <p:nvSpPr>
          <p:cNvPr id="8" name="Rectangle 7"/>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Kearney et al. (2022); Ashaber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Electron microscopy locates inputs onto a motor neuron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202A32"/>
                </a:solidFill>
                <a:latin typeface="Arial"/>
              </a:rPr>
              <a:t>Ashaber and colleagues combined voltage-sensitive imaging with serial blockface electron microscopy in the same leech ganglion. </a:t>
            </a:r>
            <a:r>
              <a:rPr sz="1400" b="1" i="0">
                <a:solidFill>
                  <a:srgbClr val="006B91"/>
                </a:solidFill>
                <a:latin typeface="Arial"/>
              </a:rPr>
              <a:t>Electron microscopy</a:t>
            </a:r>
            <a:r>
              <a:rPr sz="1400" b="0" i="0">
                <a:solidFill>
                  <a:srgbClr val="202A32"/>
                </a:solidFill>
                <a:latin typeface="Arial"/>
              </a:rPr>
              <a:t> resolves fine cellular structure using electron-based imaging. The same-tissue design connects functional identity with an anatomical reconstruction rather than comparing unrelated specimens.</a:t>
            </a:r>
          </a:p>
          <a:p>
            <a:pPr algn="l">
              <a:lnSpc>
                <a:spcPct val="108000"/>
              </a:lnSpc>
              <a:spcAft>
                <a:spcPts val="840"/>
              </a:spcAft>
            </a:pPr>
            <a:r>
              <a:rPr sz="1400" b="0" i="0">
                <a:solidFill>
                  <a:srgbClr val="202A32"/>
                </a:solidFill>
                <a:latin typeface="Arial"/>
              </a:rPr>
              <a:t>They reconstructed the DE-3 motor neuron and identified 531 input synapses. Presynaptic partners could be traced toward their somata, linking contacts to candidate neurons. Distinct terminal appearances were examined, and transmission electron microscopy from another ganglion helped check the interpretation of small vesicles.</a:t>
            </a:r>
          </a:p>
          <a:p>
            <a:pPr algn="l">
              <a:lnSpc>
                <a:spcPct val="108000"/>
              </a:lnSpc>
              <a:spcAft>
                <a:spcPts val="840"/>
              </a:spcAft>
            </a:pPr>
            <a:r>
              <a:rPr sz="1400" b="0" i="0">
                <a:solidFill>
                  <a:srgbClr val="202A32"/>
                </a:solidFill>
                <a:latin typeface="Arial"/>
              </a:rPr>
              <a:t>A </a:t>
            </a:r>
            <a:r>
              <a:rPr sz="1400" b="1" i="0">
                <a:solidFill>
                  <a:srgbClr val="006B91"/>
                </a:solidFill>
                <a:latin typeface="Arial"/>
              </a:rPr>
              <a:t>synapse</a:t>
            </a:r>
            <a:r>
              <a:rPr sz="1400" b="0" i="0">
                <a:solidFill>
                  <a:srgbClr val="202A32"/>
                </a:solidFill>
                <a:latin typeface="Arial"/>
              </a:rPr>
              <a:t> is a specialized communication site between neurons. Structural contacts establish where anatomical input can reach DE-3, but their appearance alone does not identify transmitter, receptor, sign, or functional strength. Those assignments require physiological or independently established cell information.</a:t>
            </a:r>
          </a:p>
        </p:txBody>
      </p:sp>
      <p:pic>
        <p:nvPicPr>
          <p:cNvPr id="4" name="Picture 3" descr="A21_6.png"/>
          <p:cNvPicPr>
            <a:picLocks noChangeAspect="1"/>
          </p:cNvPicPr>
          <p:nvPr/>
        </p:nvPicPr>
        <p:blipFill>
          <a:blip r:embed="rId2"/>
          <a:stretch>
            <a:fillRect/>
          </a:stretch>
        </p:blipFill>
        <p:spPr>
          <a:xfrm>
            <a:off x="6138367" y="1280160"/>
            <a:ext cx="3840480" cy="3394153"/>
          </a:xfrm>
          <a:prstGeom prst="rect">
            <a:avLst/>
          </a:prstGeom>
        </p:spPr>
      </p:pic>
      <p:sp>
        <p:nvSpPr>
          <p:cNvPr id="5" name="Figure caption"/>
          <p:cNvSpPr txBox="1"/>
          <p:nvPr/>
        </p:nvSpPr>
        <p:spPr>
          <a:xfrm>
            <a:off x="6138367" y="4765753"/>
            <a:ext cx="384048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Ashaber et al. (2021), Fig. 6(a–d). Electron-microscopic neurites and synaptic contacts onto DE-3.</a:t>
            </a:r>
          </a:p>
        </p:txBody>
      </p:sp>
      <p:pic>
        <p:nvPicPr>
          <p:cNvPr id="6" name="Picture 5" descr="A21_DE3.png"/>
          <p:cNvPicPr>
            <a:picLocks noChangeAspect="1"/>
          </p:cNvPicPr>
          <p:nvPr/>
        </p:nvPicPr>
        <p:blipFill>
          <a:blip r:embed="rId3"/>
          <a:stretch>
            <a:fillRect/>
          </a:stretch>
        </p:blipFill>
        <p:spPr>
          <a:xfrm>
            <a:off x="10161727" y="2148840"/>
            <a:ext cx="1463039" cy="1025337"/>
          </a:xfrm>
          <a:prstGeom prst="rect">
            <a:avLst/>
          </a:prstGeom>
        </p:spPr>
      </p:pic>
      <p:sp>
        <p:nvSpPr>
          <p:cNvPr id="7" name="Figure caption"/>
          <p:cNvSpPr txBox="1"/>
          <p:nvPr/>
        </p:nvSpPr>
        <p:spPr>
          <a:xfrm>
            <a:off x="10161727" y="3247329"/>
            <a:ext cx="1463039"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Ashaber et al. (2021), Fig. 7(a). Reconstructed DE-3 arbor over a dorsal micro-CT image.</a:t>
            </a:r>
          </a:p>
        </p:txBody>
      </p:sp>
      <p:sp>
        <p:nvSpPr>
          <p:cNvPr id="8" name="Rectangle 7"/>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Ashaber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Behavior-specific inputs remain distributed along DE-3</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202A32"/>
                </a:solidFill>
                <a:latin typeface="Arial"/>
              </a:rPr>
              <a:t>Ashaber and colleagues matched presynaptic neurons in the anatomical reconstruction with their voltage-sensitive activity during fictive swimming and crawling. They then asked whether inputs associated with different behaviors occupied distinct regions of the shared DE-3 arbor. This combines functional participation with measured synapse locations.</a:t>
            </a:r>
          </a:p>
          <a:p>
            <a:pPr algn="l">
              <a:lnSpc>
                <a:spcPct val="108000"/>
              </a:lnSpc>
              <a:spcAft>
                <a:spcPts val="840"/>
              </a:spcAft>
            </a:pPr>
            <a:r>
              <a:rPr sz="1400" b="0" i="0">
                <a:solidFill>
                  <a:srgbClr val="202A32"/>
                </a:solidFill>
                <a:latin typeface="Arial"/>
              </a:rPr>
              <a:t>Behavior-associated inputs were distributed across the motor neuron rather than segregated into separate large branches for swimming and crawling. Likewise, excitatory and inhibitory input categories did not form the simple large-scale spatial separation expected from a compartmentalized account. The activity and anatomical measurements came from the same ganglion.</a:t>
            </a:r>
          </a:p>
          <a:p>
            <a:pPr algn="l">
              <a:lnSpc>
                <a:spcPct val="108000"/>
              </a:lnSpc>
              <a:spcAft>
                <a:spcPts val="840"/>
              </a:spcAft>
            </a:pPr>
            <a:r>
              <a:rPr sz="1400" b="0" i="0">
                <a:solidFill>
                  <a:srgbClr val="202A32"/>
                </a:solidFill>
                <a:latin typeface="Arial"/>
              </a:rPr>
              <a:t>A multifunctional motor neuron receives convergent inputs whose active relationships change with behavior. Distribution along the arbor does not mean that every synapse has equal effect or that local dendritic interactions are absent. The anatomy constrains spatial explanations while leaving state-dependent synaptic operation and conductance mechanisms for further testing.</a:t>
            </a:r>
          </a:p>
        </p:txBody>
      </p:sp>
      <p:pic>
        <p:nvPicPr>
          <p:cNvPr id="4" name="Picture 3" descr="A21_10.png"/>
          <p:cNvPicPr>
            <a:picLocks noChangeAspect="1"/>
          </p:cNvPicPr>
          <p:nvPr/>
        </p:nvPicPr>
        <p:blipFill>
          <a:blip r:embed="rId2"/>
          <a:stretch>
            <a:fillRect/>
          </a:stretch>
        </p:blipFill>
        <p:spPr>
          <a:xfrm>
            <a:off x="7450927" y="1280160"/>
            <a:ext cx="322703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86975"/>
                </a:solidFill>
                <a:latin typeface="Arial"/>
              </a:rPr>
              <a:t>Ashaber et al. (2021), Fig. 10(a–e). Original anatomical distribution of synapses and behavior-associated inputs.</a:t>
            </a:r>
          </a:p>
        </p:txBody>
      </p:sp>
      <p:sp>
        <p:nvSpPr>
          <p:cNvPr id="6" name="Rectangle 5"/>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Ashaber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006B91"/>
                </a:solidFill>
                <a:latin typeface="Arial"/>
              </a:rPr>
              <a:t>Key takeaways</a:t>
            </a:r>
          </a:p>
        </p:txBody>
      </p:sp>
      <p:sp>
        <p:nvSpPr>
          <p:cNvPr id="3" name="Rectangle 2"/>
          <p:cNvSpPr/>
          <p:nvPr/>
        </p:nvSpPr>
        <p:spPr>
          <a:xfrm>
            <a:off x="566928" y="1234440"/>
            <a:ext cx="5391759" cy="1478279"/>
          </a:xfrm>
          <a:prstGeom prst="rect">
            <a:avLst/>
          </a:prstGeom>
          <a:solidFill>
            <a:srgbClr val="EDF5F8"/>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006B91"/>
                </a:solidFill>
                <a:latin typeface="Arial"/>
              </a:rPr>
              <a:t>Central generation.</a:t>
            </a:r>
            <a:r>
              <a:rPr sz="1600" b="0" i="0">
                <a:solidFill>
                  <a:srgbClr val="202A32"/>
                </a:solidFill>
                <a:latin typeface="Arial"/>
              </a:rPr>
              <a:t> The isolated cord produces a swim-like motor rhythm after brief stimulation, establishing central rhythmic capability without requiring a repeating peripheral stimulus.</a:t>
            </a:r>
          </a:p>
        </p:txBody>
      </p:sp>
      <p:sp>
        <p:nvSpPr>
          <p:cNvPr id="5" name="Rectangle 4"/>
          <p:cNvSpPr/>
          <p:nvPr/>
        </p:nvSpPr>
        <p:spPr>
          <a:xfrm>
            <a:off x="6233007" y="1234440"/>
            <a:ext cx="5391759" cy="1478279"/>
          </a:xfrm>
          <a:prstGeom prst="rect">
            <a:avLst/>
          </a:prstGeom>
          <a:solidFill>
            <a:srgbClr val="EDF5F8"/>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006B91"/>
                </a:solidFill>
                <a:latin typeface="Arial"/>
              </a:rPr>
              <a:t>Feedback and coordination.</a:t>
            </a:r>
            <a:r>
              <a:rPr sz="1600" b="0" i="0">
                <a:solidFill>
                  <a:srgbClr val="202A32"/>
                </a:solidFill>
                <a:latin typeface="Arial"/>
              </a:rPr>
              <a:t> Sensory input adjusts phase, burst shape and body-wave timing; central rhythm generation does not make feedback unnecessary for normal locomotion.</a:t>
            </a:r>
          </a:p>
        </p:txBody>
      </p:sp>
      <p:sp>
        <p:nvSpPr>
          <p:cNvPr id="7" name="Rectangle 6"/>
          <p:cNvSpPr/>
          <p:nvPr/>
        </p:nvSpPr>
        <p:spPr>
          <a:xfrm>
            <a:off x="566928" y="2987040"/>
            <a:ext cx="5391759" cy="1478279"/>
          </a:xfrm>
          <a:prstGeom prst="rect">
            <a:avLst/>
          </a:prstGeom>
          <a:solidFill>
            <a:srgbClr val="EDF5F8"/>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006B91"/>
                </a:solidFill>
                <a:latin typeface="Arial"/>
              </a:rPr>
              <a:t>Shared neurons, different patterns.</a:t>
            </a:r>
            <a:r>
              <a:rPr sz="1600" b="0" i="0">
                <a:solidFill>
                  <a:srgbClr val="202A32"/>
                </a:solidFill>
                <a:latin typeface="Arial"/>
              </a:rPr>
              <a:t> Swimming and crawling reorganize overlapping neuronal populations: longitudinal excitors alternate in swimming but cooperate during crawl shortening.</a:t>
            </a:r>
          </a:p>
        </p:txBody>
      </p:sp>
      <p:sp>
        <p:nvSpPr>
          <p:cNvPr id="9" name="Rectangle 8"/>
          <p:cNvSpPr/>
          <p:nvPr/>
        </p:nvSpPr>
        <p:spPr>
          <a:xfrm>
            <a:off x="6233007" y="2987040"/>
            <a:ext cx="5391759" cy="1478279"/>
          </a:xfrm>
          <a:prstGeom prst="rect">
            <a:avLst/>
          </a:prstGeom>
          <a:solidFill>
            <a:srgbClr val="EDF5F8"/>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006B91"/>
                </a:solidFill>
                <a:latin typeface="Arial"/>
              </a:rPr>
              <a:t>Timing differs from patterning.</a:t>
            </a:r>
            <a:r>
              <a:rPr sz="1600" b="0" i="0">
                <a:solidFill>
                  <a:srgbClr val="202A32"/>
                </a:solidFill>
                <a:latin typeface="Arial"/>
              </a:rPr>
              <a:t> Drug-induced slow bursting can retain an incorrect circular-muscle phase, so matching period alone does not establish the complete crawl motor program.</a:t>
            </a:r>
          </a:p>
        </p:txBody>
      </p:sp>
      <p:sp>
        <p:nvSpPr>
          <p:cNvPr id="11" name="Rectangle 10"/>
          <p:cNvSpPr/>
          <p:nvPr/>
        </p:nvSpPr>
        <p:spPr>
          <a:xfrm>
            <a:off x="566928" y="4739640"/>
            <a:ext cx="5391759" cy="1478279"/>
          </a:xfrm>
          <a:prstGeom prst="rect">
            <a:avLst/>
          </a:prstGeom>
          <a:solidFill>
            <a:srgbClr val="EDF5F8"/>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006B91"/>
                </a:solidFill>
                <a:latin typeface="Arial"/>
              </a:rPr>
              <a:t>Modulation changes circuit state.</a:t>
            </a:r>
            <a:r>
              <a:rPr sz="1500" b="0" i="0">
                <a:solidFill>
                  <a:srgbClr val="202A32"/>
                </a:solidFill>
                <a:latin typeface="Arial"/>
              </a:rPr>
              <a:t> Serotonin promotes swim expression; dopamine promotes crawling through effects that include rhythm availability, motor-cell phase and altered membrane responsiveness.</a:t>
            </a:r>
          </a:p>
        </p:txBody>
      </p:sp>
      <p:sp>
        <p:nvSpPr>
          <p:cNvPr id="13" name="Rectangle 12"/>
          <p:cNvSpPr/>
          <p:nvPr/>
        </p:nvSpPr>
        <p:spPr>
          <a:xfrm>
            <a:off x="6233007" y="4739640"/>
            <a:ext cx="5391759" cy="1478279"/>
          </a:xfrm>
          <a:prstGeom prst="rect">
            <a:avLst/>
          </a:prstGeom>
          <a:solidFill>
            <a:srgbClr val="EDF5F8"/>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006B91"/>
                </a:solidFill>
                <a:latin typeface="Arial"/>
              </a:rPr>
              <a:t>Causality depends on preparation.</a:t>
            </a:r>
            <a:r>
              <a:rPr sz="1500" b="0" i="0">
                <a:solidFill>
                  <a:srgbClr val="202A32"/>
                </a:solidFill>
                <a:latin typeface="Arial"/>
              </a:rPr>
              <a:t> Descending R3b-1 controls coordination in defined whole-cord conditions, while short ganglion chains can coordinate centrally without the brain; anatomical input maps do not alone establish synaptic function.</a:t>
            </a:r>
          </a:p>
        </p:txBody>
      </p:sp>
      <p:sp>
        <p:nvSpPr>
          <p:cNvPr id="15" name="Rectangle 14"/>
          <p:cNvSpPr/>
          <p:nvPr/>
        </p:nvSpPr>
        <p:spPr>
          <a:xfrm>
            <a:off x="566928" y="6382512"/>
            <a:ext cx="11057839" cy="9144"/>
          </a:xfrm>
          <a:prstGeom prst="rect">
            <a:avLst/>
          </a:prstGeom>
          <a:solidFill>
            <a:srgbClr val="C8DCE5"/>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86975"/>
                </a:solidFill>
                <a:latin typeface="Arial"/>
              </a:rPr>
              <a:t>Kristan &amp; Calabrese (1976); Briggman &amp; Kristan (2006); Crisp et al. (2012); Kearney et al. (2022)</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86975"/>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Central pattern generators I: leech swimming and crawling (Kristan)</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