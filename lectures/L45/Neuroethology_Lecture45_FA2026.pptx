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098/rsos.19122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371/journal.pone.0299291" TargetMode="External"/><Relationship Id="rId4" Type="http://schemas.openxmlformats.org/officeDocument/2006/relationships/hyperlink" Target="https://doi.org/10.1139/z91-206"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002/ar.a.20075"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4814/phy2.70651"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002/ar.a.20075"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4814/phy2.70651"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002/ar.a.2007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02/ar.a.20075"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4814/phy2.70651"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121/1.427121"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121/1.42712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121/1.42712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121/1.427121"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121/1.427121"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98/rsos.191228" TargetMode="External"/><Relationship Id="rId4" Type="http://schemas.openxmlformats.org/officeDocument/2006/relationships/hyperlink" Target="https://doi.org/10.1139/z91-206" TargetMode="External"/><Relationship Id="rId5" Type="http://schemas.openxmlformats.org/officeDocument/2006/relationships/hyperlink" Target="https://doi.org/10.7717/peerj.12085"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139/z91-206"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139/z91-206"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139/z91-206"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7717/peerj.12085"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371/journal.pone.0236749" TargetMode="External"/><Relationship Id="rId4" Type="http://schemas.openxmlformats.org/officeDocument/2006/relationships/hyperlink" Target="https://doi.org/10.1098/rsos.191228"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371/journal.pone.0236749"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371/journal.pone.0236749" TargetMode="External"/><Relationship Id="rId4" Type="http://schemas.openxmlformats.org/officeDocument/2006/relationships/hyperlink" Target="https://doi.org/10.1121/1.427121"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06/anbe.2000.1454"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006/anbe.2000.1454"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006/anbe.2000.1454"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98/rspb.2017.2171"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98/rspb.2017.2171"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098/rspb.2017.2171"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098/rspb.2017.2171"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007/s10071-022-01635-3"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098/rspb.2021.0617"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098/rspb.2024.0524"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098/rsos.191228"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111/j.1748-7692.2010.00453.x"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111/j.1748-7692.2010.00453.x"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111/j.1748-7692.2010.00453.x"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111/j.1748-7692.2010.00453.x"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111/j.1748-7692.2010.00453.x"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371/journal.pone.0299291"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371/journal.pone.0299291"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371/journal.pone.0299291"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371/journal.pone.0299291"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371/journal.pone.0299291" TargetMode="External"/><Relationship Id="rId4" Type="http://schemas.openxmlformats.org/officeDocument/2006/relationships/hyperlink" Target="https://doi.org/10.1111/j.1748-7692.2010.00453.x"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038/s41598-026-35574-7"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038/s41598-026-35574-7"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139/z91-206" TargetMode="External"/><Relationship Id="rId4" Type="http://schemas.openxmlformats.org/officeDocument/2006/relationships/hyperlink" Target="https://doi.org/10.1002/ar.a.20075" TargetMode="External"/><Relationship Id="rId5" Type="http://schemas.openxmlformats.org/officeDocument/2006/relationships/hyperlink" Target="https://doi.org/10.14814/phy2.70651" TargetMode="External"/><Relationship Id="rId6" Type="http://schemas.openxmlformats.org/officeDocument/2006/relationships/hyperlink" Target="https://doi.org/10.1121/1.427121" TargetMode="External"/><Relationship Id="rId7" Type="http://schemas.openxmlformats.org/officeDocument/2006/relationships/hyperlink" Target="https://doi.org/10.1006/anbe.2000.1454" TargetMode="External"/><Relationship Id="rId8" Type="http://schemas.openxmlformats.org/officeDocument/2006/relationships/hyperlink" Target="https://doi.org/10.1098/rspb.2017.2171" TargetMode="External"/><Relationship Id="rId9" Type="http://schemas.openxmlformats.org/officeDocument/2006/relationships/hyperlink" Target="https://doi.org/10.1111/j.1748-7692.2010.00453.x" TargetMode="External"/><Relationship Id="rId10" Type="http://schemas.openxmlformats.org/officeDocument/2006/relationships/hyperlink" Target="https://doi.org/10.1371/journal.pone.0299291" TargetMode="External"/><Relationship Id="rId11" Type="http://schemas.openxmlformats.org/officeDocument/2006/relationships/hyperlink" Target="https://doi.org/10.1038/s41598-026-35574-7"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Killer whales: brain organization and auditory specializations, vocal traditions, social learning, and coordination of cooperative hunting</a:t>
            </a:r>
          </a:p>
          <a:p>
            <a:r>
              <a:rPr sz="1200">
                <a:latin typeface="Arial"/>
              </a:rPr>
              <a:t>Lecture 45. NEUR 411 · NEUROETHOLOGY · FALL 2026. Date TBD.</a:t>
            </a:r>
          </a:p>
          <a:p/>
          <a:p>
            <a:r>
              <a:rPr sz="1200">
                <a:latin typeface="Arial"/>
              </a:rPr>
              <a:t>Figure: Wellard et al. (2020), Fig. 4. Type C killer whale encountered during acoustic fieldwork</a:t>
            </a:r>
          </a:p>
          <a:p>
            <a:r>
              <a:rPr sz="1200">
                <a:latin typeface="Arial"/>
              </a:rPr>
              <a:t>Figure source: </a:t>
            </a:r>
            <a:r>
              <a:rPr sz="1200">
                <a:latin typeface="Arial"/>
                <a:hlinkClick r:id="rId3"/>
              </a:rPr>
              <a:t>https://doi.org/10.1098/rsos.191228</a:t>
            </a:r>
          </a:p>
          <a:p/>
          <a:p>
            <a:r>
              <a:rPr sz="1200">
                <a:latin typeface="Arial"/>
              </a:rPr>
              <a:t>References:</a:t>
            </a:r>
          </a:p>
          <a:p>
            <a:r>
              <a:rPr sz="1200">
                <a:latin typeface="Arial"/>
              </a:rPr>
              <a:t>Rebecca Wellard; Robert L. Pitman; John Durban; Christine Erbe (2020). Cold call: the acoustic repertoire of Ross Sea killer whales (Orcinus orca,Type C) in McMurdo Sound, Antarctica. Royal Society Open Science 7(2): 191228. </a:t>
            </a:r>
            <a:r>
              <a:rPr sz="1200">
                <a:latin typeface="Arial"/>
                <a:hlinkClick r:id="rId3"/>
              </a:rPr>
              <a:t>https://doi.org/10.1098/rsos.191228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killer-whale ecotype is a population-associated form distinguished by ecological and behavioral characteristics. In the northeastern Pacific, resident whales specialize on fish, whereas transient whales hunt marine mammals. These feeding differences coexist with distinctive social and acoustic patterns; they are not merely differences in the prey encountered during one trip.</a:t>
            </a:r>
          </a:p>
          <a:p>
            <a:r>
              <a:rPr sz="1200">
                <a:latin typeface="Arial"/>
              </a:rPr>
              <a:t>• McInnes and colleagues followed identifiable transient groups around Monterey Canyon and documented coordinated attacks on sea lions, seals and cetaceans. Natural dorsal-fin shapes and scars allowed researchers to recognize individuals across encounters. Focal follows linked group movements with searching, pursuit and feeding rather than treating every sighting as a successful hunt.</a:t>
            </a:r>
          </a:p>
          <a:p>
            <a:r>
              <a:rPr sz="1200">
                <a:latin typeface="Arial"/>
              </a:rPr>
              <a:t>• Ford’s resident-whale recordings instead linked stable social groups with shared call repertoires. Ecological specialization and vocal tradition must be attributed to the population studied. Neither dataset establishes that every killer-whale population organizes hunting or communication in the same way.</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r>
              <a:rPr sz="1200">
                <a:latin typeface="Arial"/>
              </a:rPr>
              <a:t>John K. B. Ford (1991). Vocal traditions among resident killer whales (Orcinus orca) in coastal waters of British Columbia. Canadian Journal of Zoology 69(6): 1454-1483. </a:t>
            </a:r>
            <a:r>
              <a:rPr sz="1200">
                <a:latin typeface="Arial"/>
                <a:hlinkClick r:id="rId4"/>
              </a:rPr>
              <a:t>https://doi.org/10.1139/z91-206</a:t>
            </a:r>
          </a:p>
          <a:p/>
          <a:p>
            <a:r>
              <a:rPr sz="1200">
                <a:latin typeface="Arial"/>
              </a:rPr>
              <a:t>Figure: McInnes et al. (2024), Fig. 8(A). Coordinated attack on a California sea lion</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Magnetic resonance imaging, or MRI, distinguishes tissues using their responses in a magnetic field. Marino and colleagues scanned an adult male killer-whale brain obtained after death from natural causes and preserved in buffered formalin. This preparation preserved gross internal relationships without requiring the brain to be sliced physically for every anatomical view.</a:t>
            </a:r>
          </a:p>
          <a:p>
            <a:r>
              <a:rPr sz="1200">
                <a:latin typeface="Arial"/>
              </a:rPr>
              <a:t>• A 1.5-T scanner acquired contiguous coronal and axial sections, representing frontal and horizontal viewing planes. The images had 2-mm section thickness and approximately 0.63-mm resolution within each plane. Researchers identified structures by comparison with published odontocete photographs, illustrations and MRI atlases.</a:t>
            </a:r>
          </a:p>
          <a:p>
            <a:r>
              <a:rPr sz="1200">
                <a:latin typeface="Arial"/>
              </a:rPr>
              <a:t>• The resulting labels establish the positions and visible proportions of brain regions in this specimen. They do not measure neuronal firing during communication, synaptic connections or learning-related activity. Fixation and examination of one postmortem brain also limit conclusions about living tissue properties and variation among individuals.</a:t>
            </a:r>
          </a:p>
          <a:p/>
          <a:p>
            <a:r>
              <a:rPr sz="1200">
                <a:latin typeface="Arial"/>
              </a:rPr>
              <a:t>References:</a:t>
            </a:r>
          </a:p>
          <a:p>
            <a:r>
              <a:rPr sz="1200">
                <a:latin typeface="Arial"/>
              </a:rPr>
              <a:t>Lori Marino; Chet C. Sherwood; Bradley N. Delman; Cheuk Y. Tang; Thomas P. Naidich; Patrick R. Hof (2004). Neuroanatomy of the killer whale (Orcinus orca) from magnetic resonance images. The Anatomical Record Part A: Discoveries in Molecular, Cellular, and Evolutionary Biology 281A(2): 1256-1263. </a:t>
            </a:r>
            <a:r>
              <a:rPr sz="1200">
                <a:latin typeface="Arial"/>
                <a:hlinkClick r:id="rId3"/>
              </a:rPr>
              <a:t>https://doi.org/10.1002/ar.a.20075</a:t>
            </a:r>
          </a:p>
          <a:p/>
          <a:p>
            <a:r>
              <a:rPr sz="1200">
                <a:latin typeface="Arial"/>
              </a:rPr>
              <a:t>Figure: Marino et al. (2004), Fig. 1. Labeled rostral coronal brain section</a:t>
            </a:r>
          </a:p>
          <a:p>
            <a:r>
              <a:rPr sz="1200">
                <a:latin typeface="Arial"/>
              </a:rPr>
              <a:t>Figure source: </a:t>
            </a:r>
            <a:r>
              <a:rPr sz="1200">
                <a:latin typeface="Arial"/>
                <a:hlinkClick r:id="rId3"/>
              </a:rPr>
              <a:t>https://doi.org/10.1002/ar.a.20075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Astrocytes are glial cells that support the cellular environment of neurons. Venkatesh and colleagues examined formalin-fixed cortical tissue from several cetaceans, including killer-whale motor and auditory cortex. Paraffin sections were 6 μm thick, permitting cellular measurements that complement the larger-scale regional relationships resolved by MRI.</a:t>
            </a:r>
          </a:p>
          <a:p>
            <a:r>
              <a:rPr sz="1200">
                <a:latin typeface="Arial"/>
              </a:rPr>
              <a:t>• Antibodies labeled glial fibrillary acidic protein, or GFAP, an intermediate-filament protein used to identify astrocytes. A fluorescent secondary antibody detected the bound primary antibody, while DAPI counterstaining labeled nuclei. Sections processed without primary antibody controlled for nonspecific fluorescence. Tissue identity was concealed during image thresholding, reducing expectations about species or cortical region.</a:t>
            </a:r>
          </a:p>
          <a:p>
            <a:r>
              <a:rPr sz="1200">
                <a:latin typeface="Arial"/>
              </a:rPr>
              <a:t>• The killer-whale motor cortex contained prominent GFAP-positive labeling in superficial layer 1. This establishes the distribution of the detected marker, rather than measuring astrocyte activity during hearing or learning. GFAP does not identify every astrocyte, and fixed tissue cannot reveal moment-to-moment neurotransmitter handling. Marker distribution therefore requires interpretation alongside the preparation and its controls.</a:t>
            </a:r>
          </a:p>
          <a:p/>
          <a:p>
            <a:r>
              <a:rPr sz="1200">
                <a:latin typeface="Arial"/>
              </a:rPr>
              <a:t>References:</a:t>
            </a:r>
          </a:p>
          <a:p>
            <a:r>
              <a:rPr sz="1200">
                <a:latin typeface="Arial"/>
              </a:rPr>
              <a:t>Venkatesh, A., McClain, A. M., Le-Bert, C. R., Musser, W. B., &amp; Ridgway, S. H. (2025). Astrocyte properties in cetacean cortices. Physiological Reports, 13(21), e70651. </a:t>
            </a:r>
            <a:r>
              <a:rPr sz="1200">
                <a:latin typeface="Arial"/>
                <a:hlinkClick r:id="rId3"/>
              </a:rPr>
              <a:t>https://doi.org/10.14814/phy2.70651</a:t>
            </a:r>
          </a:p>
          <a:p/>
          <a:p>
            <a:r>
              <a:rPr sz="1200">
                <a:latin typeface="Arial"/>
              </a:rPr>
              <a:t>Figure: Venkatesh et al. (2025), Fig. 4(a). GFAP-labeled layer 1 in killer-whale motor cortex</a:t>
            </a:r>
          </a:p>
          <a:p>
            <a:r>
              <a:rPr sz="1200">
                <a:latin typeface="Arial"/>
              </a:rPr>
              <a:t>Figure source: </a:t>
            </a:r>
            <a:r>
              <a:rPr sz="1200">
                <a:latin typeface="Arial"/>
                <a:hlinkClick r:id="rId3"/>
              </a:rPr>
              <a:t>https://doi.org/10.14814/phy2.70651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insula is cortex situated within the lateral cerebral region. An operculum is an overlying cortical fold that covers a deeper region. Marino and colleagues identified marked elaboration of the insular cortex and surrounding temporal operculum in coronal sections of the killer-whale brain, using established anatomical comparisons to assign labels.</a:t>
            </a:r>
          </a:p>
          <a:p>
            <a:r>
              <a:rPr sz="1200">
                <a:latin typeface="Arial"/>
              </a:rPr>
              <a:t>• The MRI sections distinguish insular tissue, surrounding cortex and nearby internal structures. The authors proposed that this elaboration might relate to cetacean sensory or communicative specialization. They also emphasized that the arrangement of cortical functional maps differs across mammalian lineages, so a human regional function cannot simply be transferred to a whale.</a:t>
            </a:r>
          </a:p>
          <a:p>
            <a:r>
              <a:rPr sz="1200">
                <a:latin typeface="Arial"/>
              </a:rPr>
              <a:t>• No auditory stimulation, vocal production task or lesion experiment was performed in this preparation. Consequently, assigning a specific call-learning role to the operculum remains a hypothesis. The observed anatomical elaboration is established; its contribution to recognizing group calls or controlling vocal imitation is unresolved.</a:t>
            </a:r>
          </a:p>
          <a:p/>
          <a:p>
            <a:r>
              <a:rPr sz="1200">
                <a:latin typeface="Arial"/>
              </a:rPr>
              <a:t>References:</a:t>
            </a:r>
          </a:p>
          <a:p>
            <a:r>
              <a:rPr sz="1200">
                <a:latin typeface="Arial"/>
              </a:rPr>
              <a:t>Lori Marino; Chet C. Sherwood; Bradley N. Delman; Cheuk Y. Tang; Thomas P. Naidich; Patrick R. Hof (2004). Neuroanatomy of the killer whale (Orcinus orca) from magnetic resonance images. The Anatomical Record Part A: Discoveries in Molecular, Cellular, and Evolutionary Biology 281A(2): 1256-1263. </a:t>
            </a:r>
            <a:r>
              <a:rPr sz="1200">
                <a:latin typeface="Arial"/>
                <a:hlinkClick r:id="rId3"/>
              </a:rPr>
              <a:t>https://doi.org/10.1002/ar.a.20075</a:t>
            </a:r>
          </a:p>
          <a:p/>
          <a:p>
            <a:r>
              <a:rPr sz="1200">
                <a:latin typeface="Arial"/>
              </a:rPr>
              <a:t>Figure: Marino et al. (2004), Fig. 4. Insula, operculum and cortical fields</a:t>
            </a:r>
          </a:p>
          <a:p>
            <a:r>
              <a:rPr sz="1200">
                <a:latin typeface="Arial"/>
              </a:rPr>
              <a:t>Figure source: </a:t>
            </a:r>
            <a:r>
              <a:rPr sz="1200">
                <a:latin typeface="Arial"/>
                <a:hlinkClick r:id="rId3"/>
              </a:rPr>
              <a:t>https://doi.org/10.1002/ar.a.20075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cortical layer is a depth-defined subdivision of cortex with characteristic cellular organization. Venkatesh and colleagues identified layer 1, combined layers 2/3, layer 5 and underlying white matter using GFAP labeling, Nissl staining and myelin staining. Nissl staining marks cellular material rich in ribosomal RNA and provides landmarks for identifying neuron-containing tissue.</a:t>
            </a:r>
          </a:p>
          <a:p>
            <a:r>
              <a:rPr sz="1200">
                <a:latin typeface="Arial"/>
              </a:rPr>
              <a:t>• Motor-cortex comparisons found greater GFAP-positive area in layer 1 and white matter than in layers 2/3 and 5. Across the sampled species, the corresponding mean labeled fractions were approximately 4.17%, 4.06%, 1.66% and 0.87%. These are percentages of measured tissue area occupied by the marker, not percentages of all cells that are astrocytes.</a:t>
            </a:r>
          </a:p>
          <a:p>
            <a:r>
              <a:rPr sz="1200">
                <a:latin typeface="Arial"/>
              </a:rPr>
              <a:t>• Killer-whale tissue retained the contrasting superficial and deeper labeling pattern. Layer 1 had relatively sparse Nissl staining alongside greater GFAP labeling. Tissue from one animal per species limits population-level generalization, and stain intensity does not measure synaptic strength. The result establishes a laminar cellular organization without identifying a circuit for vocal tradition.</a:t>
            </a:r>
          </a:p>
          <a:p/>
          <a:p>
            <a:r>
              <a:rPr sz="1200">
                <a:latin typeface="Arial"/>
              </a:rPr>
              <a:t>References:</a:t>
            </a:r>
          </a:p>
          <a:p>
            <a:r>
              <a:rPr sz="1200">
                <a:latin typeface="Arial"/>
              </a:rPr>
              <a:t>Venkatesh, A., McClain, A. M., Le-Bert, C. R., Musser, W. B., &amp; Ridgway, S. H. (2025). Astrocyte properties in cetacean cortices. Physiological Reports, 13(21), e70651. </a:t>
            </a:r>
            <a:r>
              <a:rPr sz="1200">
                <a:latin typeface="Arial"/>
                <a:hlinkClick r:id="rId3"/>
              </a:rPr>
              <a:t>https://doi.org/10.14814/phy2.70651</a:t>
            </a:r>
          </a:p>
          <a:p/>
          <a:p>
            <a:r>
              <a:rPr sz="1200">
                <a:latin typeface="Arial"/>
              </a:rPr>
              <a:t>Figure: Venkatesh et al. (2025), Fig. 5(a). Nissl-stained layers of killer-whale motor cortex</a:t>
            </a:r>
          </a:p>
          <a:p>
            <a:r>
              <a:rPr sz="1200">
                <a:latin typeface="Arial"/>
              </a:rPr>
              <a:t>Figure source: </a:t>
            </a:r>
            <a:r>
              <a:rPr sz="1200">
                <a:latin typeface="Arial"/>
                <a:hlinkClick r:id="rId3"/>
              </a:rPr>
              <a:t>https://doi.org/10.14814/phy2.70651</a:t>
            </a:r>
          </a:p>
          <a:p/>
          <a:p>
            <a:r>
              <a:rPr sz="1200">
                <a:latin typeface="Arial"/>
              </a:rPr>
              <a:t>Figure: Venkatesh et al. (2025), Fig. 4(a). GFAP-labeled layer 1 in killer-whale motor cortex</a:t>
            </a:r>
          </a:p>
          <a:p>
            <a:r>
              <a:rPr sz="1200">
                <a:latin typeface="Arial"/>
              </a:rPr>
              <a:t>Figure source: </a:t>
            </a:r>
            <a:r>
              <a:rPr sz="1200">
                <a:latin typeface="Arial"/>
                <a:hlinkClick r:id="rId3"/>
              </a:rPr>
              <a:t>https://doi.org/10.14814/phy2.70651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cerebellum is a hindbrain structure whose hemispheres flank a central region called the vermis. Marino and colleagues identified large cerebellar hemispheres and a comparatively narrow vermis in the killer-whale brain. Coronal MRI sections also retained the relationship between the cerebellum, brainstem and cerebral tissue above it.</a:t>
            </a:r>
          </a:p>
          <a:p>
            <a:r>
              <a:rPr sz="1200">
                <a:latin typeface="Arial"/>
              </a:rPr>
              <a:t>• The authors compared these proportions with other odontocete descriptions and found the arrangement consistent with that lineage. Their labeled sections identify cerebellar peduncles, the bundles that connect cerebellar tissue with the brainstem. These gross features provide a structural description rather than a measurement of a hunting-specific motor computation.</a:t>
            </a:r>
          </a:p>
          <a:p>
            <a:r>
              <a:rPr sz="1200">
                <a:latin typeface="Arial"/>
              </a:rPr>
              <a:t>• Coordinated swimming and precise prey attacks require controlled movement, but this MRI preparation did not measure those behaviors or perturb cerebellar activity. The anatomical result therefore supports comparison of hindbrain organization across species. It does not establish that the observed vermis proportions explain wave washing or coordinated attack timing.</a:t>
            </a:r>
          </a:p>
          <a:p/>
          <a:p>
            <a:r>
              <a:rPr sz="1200">
                <a:latin typeface="Arial"/>
              </a:rPr>
              <a:t>References:</a:t>
            </a:r>
          </a:p>
          <a:p>
            <a:r>
              <a:rPr sz="1200">
                <a:latin typeface="Arial"/>
              </a:rPr>
              <a:t>Lori Marino; Chet C. Sherwood; Bradley N. Delman; Cheuk Y. Tang; Thomas P. Naidich; Patrick R. Hof (2004). Neuroanatomy of the killer whale (Orcinus orca) from magnetic resonance images. The Anatomical Record Part A: Discoveries in Molecular, Cellular, and Evolutionary Biology 281A(2): 1256-1263. </a:t>
            </a:r>
            <a:r>
              <a:rPr sz="1200">
                <a:latin typeface="Arial"/>
                <a:hlinkClick r:id="rId3"/>
              </a:rPr>
              <a:t>https://doi.org/10.1002/ar.a.20075</a:t>
            </a:r>
          </a:p>
          <a:p/>
          <a:p>
            <a:r>
              <a:rPr sz="1200">
                <a:latin typeface="Arial"/>
              </a:rPr>
              <a:t>Figure: Marino et al. (2004), Fig. 7. Cerebellar hemispheres, vermis and brainstem</a:t>
            </a:r>
          </a:p>
          <a:p>
            <a:r>
              <a:rPr sz="1200">
                <a:latin typeface="Arial"/>
              </a:rPr>
              <a:t>Figure source: </a:t>
            </a:r>
            <a:r>
              <a:rPr sz="1200">
                <a:latin typeface="Arial"/>
                <a:hlinkClick r:id="rId3"/>
              </a:rPr>
              <a:t>https://doi.org/10.1002/ar.a.20075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tectum is the dorsal midbrain region containing the superior and inferior colliculi. Marino and colleagues identified well-developed inferior colliculi in the killer-whale specimen, with a spatial arrangement resembling other odontocetes. Axial sections retained the positions of both collicular pairs relative to the cerebellum and nearby brainstem tissue.</a:t>
            </a:r>
          </a:p>
          <a:p>
            <a:r>
              <a:rPr sz="1200">
                <a:latin typeface="Arial"/>
              </a:rPr>
              <a:t>• The inferior colliculus is associated with auditory processing in mammalian neuroanatomy. Its identification provides an anatomical candidate within the hearing pathway, but the MRI signal does not reveal frequency tuning, response timing or the identity of active neurons. Labels were assigned through comparison with established anatomical material rather than functional stimulation.</a:t>
            </a:r>
          </a:p>
          <a:p>
            <a:r>
              <a:rPr sz="1200">
                <a:latin typeface="Arial"/>
              </a:rPr>
              <a:t>• The study also described an unusual lateral position of the cerebral peduncle, a major fiber-bundle region. Neither regional position nor gross size identifies how group-specific calls are encoded. Establishing those mechanisms would require direct physiological or connectivity evidence beyond this postmortem anatomical preparation.</a:t>
            </a:r>
          </a:p>
          <a:p/>
          <a:p>
            <a:r>
              <a:rPr sz="1200">
                <a:latin typeface="Arial"/>
              </a:rPr>
              <a:t>References:</a:t>
            </a:r>
          </a:p>
          <a:p>
            <a:r>
              <a:rPr sz="1200">
                <a:latin typeface="Arial"/>
              </a:rPr>
              <a:t>Lori Marino; Chet C. Sherwood; Bradley N. Delman; Cheuk Y. Tang; Thomas P. Naidich; Patrick R. Hof (2004). Neuroanatomy of the killer whale (Orcinus orca) from magnetic resonance images. The Anatomical Record Part A: Discoveries in Molecular, Cellular, and Evolutionary Biology 281A(2): 1256-1263. </a:t>
            </a:r>
            <a:r>
              <a:rPr sz="1200">
                <a:latin typeface="Arial"/>
                <a:hlinkClick r:id="rId3"/>
              </a:rPr>
              <a:t>https://doi.org/10.1002/ar.a.20075</a:t>
            </a:r>
          </a:p>
          <a:p/>
          <a:p>
            <a:r>
              <a:rPr sz="1200">
                <a:latin typeface="Arial"/>
              </a:rPr>
              <a:t>Figure: Marino et al. (2004), Fig. 13. Superior and inferior colliculi in an axial section</a:t>
            </a:r>
          </a:p>
          <a:p>
            <a:r>
              <a:rPr sz="1200">
                <a:latin typeface="Arial"/>
              </a:rPr>
              <a:t>Figure source: </a:t>
            </a:r>
            <a:r>
              <a:rPr sz="1200">
                <a:latin typeface="Arial"/>
                <a:hlinkClick r:id="rId3"/>
              </a:rPr>
              <a:t>https://doi.org/10.1002/ar.a.20075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Venkatesh and colleagues measured fibrous astrocytes, the relatively sparsely branched astrocytes associated with white matter. Cells were selected for consistent GFAP labeling, an in-plane cell body and expected morphology. The soma, or cell body, was measured along its longest visible axis, rather than treating the extent of branching processes as cell-body diameter.</a:t>
            </a:r>
          </a:p>
          <a:p>
            <a:r>
              <a:rPr sz="1200">
                <a:latin typeface="Arial"/>
              </a:rPr>
              <a:t>• The mean measured killer-whale soma diameter was approximately 11.54 μm, compared with 7.53 μm in the pygmy sperm whale and 12.50 μm in the false killer whale. The rodent comparison was approximately 10.34 μm and did not differ detectably from the sampled cetaceans. Brain regions were pooled when one region lacked enough suitable cells for measurement.</a:t>
            </a:r>
          </a:p>
          <a:p>
            <a:r>
              <a:rPr sz="1200">
                <a:latin typeface="Arial"/>
              </a:rPr>
              <a:t>• Different cell-body sizes are established morphological observations. They do not directly quantify neurotransmitter clearance, ion regulation or learning ability. Formalin-fixed sections and limited tissue availability constrain the comparison, while GFAP-negative cells are not represented equally. Proposed relationships between astrocyte morphology and complex behavior therefore require functional experiments beyond the measurements in this study.</a:t>
            </a:r>
          </a:p>
          <a:p/>
          <a:p>
            <a:r>
              <a:rPr sz="1200">
                <a:latin typeface="Arial"/>
              </a:rPr>
              <a:t>References:</a:t>
            </a:r>
          </a:p>
          <a:p>
            <a:r>
              <a:rPr sz="1200">
                <a:latin typeface="Arial"/>
              </a:rPr>
              <a:t>Venkatesh, A., McClain, A. M., Le-Bert, C. R., Musser, W. B., &amp; Ridgway, S. H. (2025). Astrocyte properties in cetacean cortices. Physiological Reports, 13(21), e70651. </a:t>
            </a:r>
            <a:r>
              <a:rPr sz="1200">
                <a:latin typeface="Arial"/>
                <a:hlinkClick r:id="rId3"/>
              </a:rPr>
              <a:t>https://doi.org/10.14814/phy2.70651</a:t>
            </a:r>
          </a:p>
          <a:p/>
          <a:p>
            <a:r>
              <a:rPr sz="1200">
                <a:latin typeface="Arial"/>
              </a:rPr>
              <a:t>Figure: Venkatesh et al. (2025), Fig. 3. White-matter astrocyte cell-body diameters across species</a:t>
            </a:r>
          </a:p>
          <a:p>
            <a:r>
              <a:rPr sz="1200">
                <a:latin typeface="Arial"/>
              </a:rPr>
              <a:t>Figure source: </a:t>
            </a:r>
            <a:r>
              <a:rPr sz="1200">
                <a:latin typeface="Arial"/>
                <a:hlinkClick r:id="rId3"/>
              </a:rPr>
              <a:t>https://doi.org/10.14814/phy2.70651</a:t>
            </a:r>
          </a:p>
          <a:p/>
          <a:p>
            <a:r>
              <a:rPr sz="1200">
                <a:latin typeface="Arial"/>
              </a:rPr>
              <a:t>Figure: Venkatesh et al. (2025), Fig. 4(a). GFAP-labeled layer 1 in killer-whale motor cortex</a:t>
            </a:r>
          </a:p>
          <a:p>
            <a:r>
              <a:rPr sz="1200">
                <a:latin typeface="Arial"/>
              </a:rPr>
              <a:t>Figure source: </a:t>
            </a:r>
            <a:r>
              <a:rPr sz="1200">
                <a:latin typeface="Arial"/>
                <a:hlinkClick r:id="rId3"/>
              </a:rPr>
              <a:t>https://doi.org/10.14814/phy2.70651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audiogram records the lowest sound level detected at each tested frequency. Szymanski and colleagues trained adult killer whales to respond to tones at an underwater station; physiological recordings used a separate surface station. A go/no-go task requires an action when the signal is present and withholding that action when it is absent.</a:t>
            </a:r>
          </a:p>
          <a:p>
            <a:r>
              <a:rPr sz="1200">
                <a:latin typeface="Arial"/>
              </a:rPr>
              <a:t>• During behavioral testing, a 2-s tone occurred after a variable delay, and the whale had 4 s to respond. Sound level decreased after detections and increased after misses. Threshold required repeated detections at one level and failures at the next lower level, linking the estimate to a reproducible behavioral criterion.</a:t>
            </a:r>
          </a:p>
          <a:p>
            <a:r>
              <a:rPr sz="1200">
                <a:latin typeface="Arial"/>
              </a:rPr>
              <a:t>• Silent trials, disconnected equipment and frequencies the projector could not produce tested responses without a valid acoustic signal. An observer unaware of signal timing judged behavior, and personnel were varied to reduce inadvertent cues. These controls distinguish hearing from responses to trainers, although motivation and the response criterion still influence threshold estimates.</a:t>
            </a:r>
          </a:p>
          <a:p/>
          <a:p>
            <a:r>
              <a:rPr sz="1200">
                <a:latin typeface="Arial"/>
              </a:rPr>
              <a:t>References:</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3"/>
              </a:rPr>
              <a:t>https://doi.org/10.1121/1.427121</a:t>
            </a:r>
          </a:p>
          <a:p/>
          <a:p>
            <a:r>
              <a:rPr sz="1200">
                <a:latin typeface="Arial"/>
              </a:rPr>
              <a:t>Figure: Szymanski et al. (1999), Fig. 1. Whale position, acoustic projectors and recording electrodes</a:t>
            </a:r>
          </a:p>
          <a:p>
            <a:r>
              <a:rPr sz="1200">
                <a:latin typeface="Arial"/>
              </a:rPr>
              <a:t>Figure source: </a:t>
            </a:r>
            <a:r>
              <a:rPr sz="1200">
                <a:latin typeface="Arial"/>
                <a:hlinkClick r:id="rId3"/>
              </a:rPr>
              <a:t>https://doi.org/10.1121/1.427121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Szymanski and colleagues measured both conditioned detection and auditory brainstem responses in the same killer whales. Their frequency-dependent threshold curves were approximately U-shaped: low and very high frequencies required greater sound levels than the most sensitive middle range. Sound frequency is expressed in kilohertz, with 1 kHz corresponding to 1,000 cycles per second.</a:t>
            </a:r>
          </a:p>
          <a:p>
            <a:r>
              <a:rPr sz="1200">
                <a:latin typeface="Arial"/>
              </a:rPr>
              <a:t>• The combined mean audiogram had its minimum near 20 kHz, at approximately 36 dB referenced to 1 µPa. This reference expresses underwater sound-pressure level; it is not directly interchangeable with an airborne sound level. The most sensitive band, defined within 10 dB of the minimum, extended approximately from 18 to 42 kHz.</a:t>
            </a:r>
          </a:p>
          <a:p>
            <a:r>
              <a:rPr sz="1200">
                <a:latin typeface="Arial"/>
              </a:rPr>
              <a:t>• These measurements establish a broad region of effective hearing under the tested conditions. They do not imply that calls outside that band are inaudible. Detectability also depends on signal level, duration and background noise, which were controlled differently in the behavioral and physiological procedures.</a:t>
            </a:r>
          </a:p>
          <a:p/>
          <a:p>
            <a:r>
              <a:rPr sz="1200">
                <a:latin typeface="Arial"/>
              </a:rPr>
              <a:t>References:</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3"/>
              </a:rPr>
              <a:t>https://doi.org/10.1121/1.427121</a:t>
            </a:r>
          </a:p>
          <a:p/>
          <a:p>
            <a:r>
              <a:rPr sz="1200">
                <a:latin typeface="Arial"/>
              </a:rPr>
              <a:t>Figure: Szymanski et al. (1999), Fig. 5(c). Mean frequency-dependent hearing thresholds</a:t>
            </a:r>
          </a:p>
          <a:p>
            <a:r>
              <a:rPr sz="1200">
                <a:latin typeface="Arial"/>
              </a:rPr>
              <a:t>Figure source: </a:t>
            </a:r>
            <a:r>
              <a:rPr sz="1200">
                <a:latin typeface="Arial"/>
                <a:hlinkClick r:id="rId3"/>
              </a:rPr>
              <a:t>https://doi.org/10.1121/1.427121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auditory brainstem response, or ABR, is an electrical potential recorded after sound stimulation. It reflects synchronized population activity rather than a recording from one identified neuron. Szymanski and colleagues placed suction-cup electrodes on the head and body while trained whales maintained a stationary position near an underwater sound projector.</a:t>
            </a:r>
          </a:p>
          <a:p>
            <a:r>
              <a:rPr sz="1200">
                <a:latin typeface="Arial"/>
              </a:rPr>
              <a:t>• Short tone bursts were delivered at 30 per second, and responses were averaged to distinguish stimulus-linked activity from ongoing electrical noise. The principal waveform peaks occurred within 10 ms of tone onset. At 32 kHz, recorded responses became smaller as the acoustic stimulus was reduced, and later peaks persisted after smaller early components disappeared into background activity.</a:t>
            </a:r>
          </a:p>
          <a:p>
            <a:r>
              <a:rPr sz="1200">
                <a:latin typeface="Arial"/>
              </a:rPr>
              <a:t>• The authors used the largest late peak-to-trough component for threshold estimation. Averaging and artifact rejection improved detection of reproducible responses, but the scalp potential does not identify a cortical call-recognition circuit. Its amplitude depends on synchrony, electrode placement and stimulus conditions as well as auditory sensitivity.</a:t>
            </a:r>
          </a:p>
          <a:p/>
          <a:p>
            <a:r>
              <a:rPr sz="1200">
                <a:latin typeface="Arial"/>
              </a:rPr>
              <a:t>References:</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3"/>
              </a:rPr>
              <a:t>https://doi.org/10.1121/1.427121</a:t>
            </a:r>
          </a:p>
          <a:p/>
          <a:p>
            <a:r>
              <a:rPr sz="1200">
                <a:latin typeface="Arial"/>
              </a:rPr>
              <a:t>Figure: Szymanski et al. (1999), Fig. 3(a). Auditory brainstem waveforms at three sound levels</a:t>
            </a:r>
          </a:p>
          <a:p>
            <a:r>
              <a:rPr sz="1200">
                <a:latin typeface="Arial"/>
              </a:rPr>
              <a:t>Figure source: </a:t>
            </a:r>
            <a:r>
              <a:rPr sz="1200">
                <a:latin typeface="Arial"/>
                <a:hlinkClick r:id="rId3"/>
              </a:rPr>
              <a:t>https://doi.org/10.1121/1.427121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Szymanski and colleagues compared brainstem and behavioral audiograms from the same individuals, reducing uncertainty caused by comparing different animals. The physiological threshold was the minimum level producing a repeatable response above averaged electrical background. The behavioral threshold depended on the trained detection response to a much longer tone.</a:t>
            </a:r>
          </a:p>
          <a:p>
            <a:r>
              <a:rPr sz="1200">
                <a:latin typeface="Arial"/>
              </a:rPr>
              <a:t>• Across tested frequencies, the brainstem audiogram was on average approximately 12 dB less sensitive than the behavioral audiogram. Agreement was closest in the 18–42-kHz sensitive band, where the difference was approximately 5 dB. At 60–100 kHz, disagreement reached approximately 22 dB rather than remaining a fixed offset across the hearing range.</a:t>
            </a:r>
          </a:p>
          <a:p>
            <a:r>
              <a:rPr sz="1200">
                <a:latin typeface="Arial"/>
              </a:rPr>
              <a:t>• Brief tone bursts and 2-s behavioral tones differ in the time available for auditory integration. The authors discussed this difference as one contribution to the discrepancy. A brainstem threshold can therefore estimate hearing while still exceeding the behavioral detection threshold; the two measures are not interchangeable readings of identical stimulus processing.</a:t>
            </a:r>
          </a:p>
          <a:p/>
          <a:p>
            <a:r>
              <a:rPr sz="1200">
                <a:latin typeface="Arial"/>
              </a:rPr>
              <a:t>References:</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3"/>
              </a:rPr>
              <a:t>https://doi.org/10.1121/1.427121</a:t>
            </a:r>
          </a:p>
          <a:p/>
          <a:p>
            <a:r>
              <a:rPr sz="1200">
                <a:latin typeface="Arial"/>
              </a:rPr>
              <a:t>Figure: Szymanski et al. (1999), Fig. 5(c). Mean frequency-dependent hearing thresholds</a:t>
            </a:r>
          </a:p>
          <a:p>
            <a:r>
              <a:rPr sz="1200">
                <a:latin typeface="Arial"/>
              </a:rPr>
              <a:t>Figure source: </a:t>
            </a:r>
            <a:r>
              <a:rPr sz="1200">
                <a:latin typeface="Arial"/>
                <a:hlinkClick r:id="rId3"/>
              </a:rPr>
              <a:t>https://doi.org/10.1121/1.427121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Both killer whales in Szymanski and colleagues’ study responded behaviorally to tones at 100 kHz, and one also responded at 120 kHz. These direct detections extended beyond the approximately 32-kHz upper limit reported in an earlier individual. A hearing limit is consequently an empirical boundary for a tested animal and procedure, not a universal species constant.</a:t>
            </a:r>
          </a:p>
          <a:p>
            <a:r>
              <a:rPr sz="1200">
                <a:latin typeface="Arial"/>
              </a:rPr>
              <a:t>• The authors monitored the stimulus near the lower jaw, where the whale’s receiving region was positioned, and checked spectral content and level. Silent and disconnected-equipment trials helped exclude responses to nonacoustic cues. Calibrating the underwater projector was essential because a nominal high-frequency setting alone does not establish the sound actually reaching the animal.</a:t>
            </a:r>
          </a:p>
          <a:p>
            <a:r>
              <a:rPr sz="1200">
                <a:latin typeface="Arial"/>
              </a:rPr>
              <a:t>• High-frequency thresholds were substantially elevated relative to the sensitive middle band, and physiological thresholds exceeded behavioral thresholds. The result establishes ultrasonic detection in the tested whales. It does not establish identical sensitivity across ages, individuals or natural noise conditions, nor a sharp frequency boundary shared by all killer whales.</a:t>
            </a:r>
          </a:p>
          <a:p/>
          <a:p>
            <a:r>
              <a:rPr sz="1200">
                <a:latin typeface="Arial"/>
              </a:rPr>
              <a:t>References:</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3"/>
              </a:rPr>
              <a:t>https://doi.org/10.1121/1.427121</a:t>
            </a:r>
          </a:p>
          <a:p/>
          <a:p>
            <a:r>
              <a:rPr sz="1200">
                <a:latin typeface="Arial"/>
              </a:rPr>
              <a:t>Figure: Szymanski et al. (1999), Fig. 5(b). Vigga’s behavioral and brainstem hearing thresholds</a:t>
            </a:r>
          </a:p>
          <a:p>
            <a:r>
              <a:rPr sz="1200">
                <a:latin typeface="Arial"/>
              </a:rPr>
              <a:t>Figure source: </a:t>
            </a:r>
            <a:r>
              <a:rPr sz="1200">
                <a:latin typeface="Arial"/>
                <a:hlinkClick r:id="rId3"/>
              </a:rPr>
              <a:t>https://doi.org/10.1121/1.427121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Killer-whale recordings contain clicks, brief broadband signals associated with echolocation; whistles, tonal signals with a frequency contour; and pulsed calls, repeated pulses whose timing contributes to their audible character. Ford classified resident communication using recurring call structure, whereas later studies separately examined whistle repertoires and Antarctic call categories.</a:t>
            </a:r>
          </a:p>
          <a:p>
            <a:r>
              <a:rPr sz="1200">
                <a:latin typeface="Arial"/>
              </a:rPr>
              <a:t>• A spectrogram represents sound energy across frequency and time. Wellard and colleagues recorded Type C whales in McMurdo Sound and segmented calls according to changing acoustic components. Their published color recordings retain the original frequency and time axes, allowing particular call categories to be distinguished by their temporal and spectral organization.</a:t>
            </a:r>
          </a:p>
          <a:p>
            <a:r>
              <a:rPr sz="1200">
                <a:latin typeface="Arial"/>
              </a:rPr>
              <a:t>• These categories describe recorded signals rather than proving a message’s meaning. A call type can remain recognizable while varying among groups or renditions. Type C recordings also concern a different population from northeastern-Pacific residents, so the same broad signal class does not imply a shared dialect or identical behavioral use.</a:t>
            </a:r>
          </a:p>
          <a:p/>
          <a:p>
            <a:r>
              <a:rPr sz="1200">
                <a:latin typeface="Arial"/>
              </a:rPr>
              <a:t>References:</a:t>
            </a:r>
          </a:p>
          <a:p>
            <a:r>
              <a:rPr sz="1200">
                <a:latin typeface="Arial"/>
              </a:rPr>
              <a:t>Rebecca Wellard; Robert L. Pitman; John Durban; Christine Erbe (2020). Cold call: the acoustic repertoire of Ross Sea killer whales (Orcinus orca,Type C) in McMurdo Sound, Antarctica. Royal Society Open Science 7(2): 191228. </a:t>
            </a:r>
            <a:r>
              <a:rPr sz="1200">
                <a:latin typeface="Arial"/>
                <a:hlinkClick r:id="rId3"/>
              </a:rPr>
              <a:t>https://doi.org/10.1098/rsos.191228</a:t>
            </a:r>
          </a:p>
          <a:p>
            <a:r>
              <a:rPr sz="1200">
                <a:latin typeface="Arial"/>
              </a:rPr>
              <a:t>John K. B. Ford (1991). Vocal traditions among resident killer whales (Orcinus orca) in coastal waters of British Columbia. Canadian Journal of Zoology 69(6): 1454-1483. </a:t>
            </a:r>
            <a:r>
              <a:rPr sz="1200">
                <a:latin typeface="Arial"/>
                <a:hlinkClick r:id="rId4"/>
              </a:rPr>
              <a:t>https://doi.org/10.1139/z91-206</a:t>
            </a:r>
          </a:p>
          <a:p>
            <a:r>
              <a:rPr sz="1200">
                <a:latin typeface="Arial"/>
              </a:rPr>
              <a:t>Marie Souhaut; Monika W. Shields (2021). Stereotyped whistles in southern resident killer whales. PeerJ 9: e12085. </a:t>
            </a:r>
            <a:r>
              <a:rPr sz="1200">
                <a:latin typeface="Arial"/>
                <a:hlinkClick r:id="rId5"/>
              </a:rPr>
              <a:t>https://doi.org/10.7717/peerj.12085</a:t>
            </a:r>
          </a:p>
          <a:p/>
          <a:p>
            <a:r>
              <a:rPr sz="1200">
                <a:latin typeface="Arial"/>
              </a:rPr>
              <a:t>Figure: Wellard et al. (2020), Fig. 5(a–d). Published color spectrograms of Type C call categories</a:t>
            </a:r>
          </a:p>
          <a:p>
            <a:r>
              <a:rPr sz="1200">
                <a:latin typeface="Arial"/>
              </a:rPr>
              <a:t>Figure source: </a:t>
            </a:r>
            <a:r>
              <a:rPr sz="1200">
                <a:latin typeface="Arial"/>
                <a:hlinkClick r:id="rId3"/>
              </a:rPr>
              <a:t>https://doi.org/10.1098/rsos.191228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discrete call type is a recurring acoustic pattern that can be distinguished from other patterns within a repertoire. Ford recorded resident killer-whale pods during repeated encounters and identified the groups using natural individual markings. This connected acoustic samples to known social units rather than assigning every recording to an unidentified population.</a:t>
            </a:r>
          </a:p>
          <a:p>
            <a:r>
              <a:rPr sz="1200">
                <a:latin typeface="Arial"/>
              </a:rPr>
              <a:t>• Pods produced repertoires of approximately 7–17 discrete call types. Related versions of a call retained recognizable structure while differing in features such as frequency modulation or the arrangement of call segments. Classification therefore separated a shared call category from the more detailed variants associated with particular pods.</a:t>
            </a:r>
          </a:p>
          <a:p>
            <a:r>
              <a:rPr sz="1200">
                <a:latin typeface="Arial"/>
              </a:rPr>
              <a:t>• Repeated sampling across encounters helped establish that a repertoire was persistent rather than an incidental collection from one recording session. The study nevertheless inferred learning from patterns of stability and group-specific variation. It did not experimentally demonstrate how a calf copied each type or identify the neural machinery that stored the repertoire.</a:t>
            </a:r>
          </a:p>
          <a:p/>
          <a:p>
            <a:r>
              <a:rPr sz="1200">
                <a:latin typeface="Arial"/>
              </a:rPr>
              <a:t>References:</a:t>
            </a:r>
          </a:p>
          <a:p>
            <a:r>
              <a:rPr sz="1200">
                <a:latin typeface="Arial"/>
              </a:rPr>
              <a:t>John K. B. Ford (1991). Vocal traditions among resident killer whales (Orcinus orca) in coastal waters of British Columbia. Canadian Journal of Zoology 69(6): 1454-1483. </a:t>
            </a:r>
            <a:r>
              <a:rPr sz="1200">
                <a:latin typeface="Arial"/>
                <a:hlinkClick r:id="rId3"/>
              </a:rPr>
              <a:t>https://doi.org/10.1139/z91-206</a:t>
            </a:r>
          </a:p>
          <a:p/>
          <a:p>
            <a:r>
              <a:rPr sz="1200">
                <a:latin typeface="Arial"/>
              </a:rPr>
              <a:t>Figure: Ford (1991), Fig. 3. Related but distinguishable discrete call variants</a:t>
            </a:r>
          </a:p>
          <a:p>
            <a:r>
              <a:rPr sz="1200">
                <a:latin typeface="Arial"/>
              </a:rPr>
              <a:t>Figure source: </a:t>
            </a:r>
            <a:r>
              <a:rPr sz="1200">
                <a:latin typeface="Arial"/>
                <a:hlinkClick r:id="rId3"/>
              </a:rPr>
              <a:t>https://doi.org/10.1139/z91-206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acoustic clan is a set of pods sharing a vocal tradition, distinguished from other clans by their call repertoires. Ford compared resident pods in coastal British Columbia and recognized four such associations. Pods within a clan shared several discrete call types, whereas the clans in the study did not share those repertoire elements.</a:t>
            </a:r>
          </a:p>
          <a:p>
            <a:r>
              <a:rPr sz="1200">
                <a:latin typeface="Arial"/>
              </a:rPr>
              <a:t>• Shared calls could still contain pod-specific structural variants. Consequently, dialect refers to a patterned group difference within a broader vocal tradition, rather than requiring every signal to be unique to one pod. Acoustic relationships were evaluated alongside known pod identities and repeated recordings.</a:t>
            </a:r>
          </a:p>
          <a:p>
            <a:r>
              <a:rPr sz="1200">
                <a:latin typeface="Arial"/>
              </a:rPr>
              <a:t>• Pods from different clans sometimes traveled together, and observed association patterns did not always match acoustic similarity. The author proposed descent from ancestral groups and gradual dialect divergence through learning-related change. Those historical mechanisms were interpretations of the observed repertoire organization, not direct records of the founding events or controlled tests of call acquisition.</a:t>
            </a:r>
          </a:p>
          <a:p/>
          <a:p>
            <a:r>
              <a:rPr sz="1200">
                <a:latin typeface="Arial"/>
              </a:rPr>
              <a:t>References:</a:t>
            </a:r>
          </a:p>
          <a:p>
            <a:r>
              <a:rPr sz="1200">
                <a:latin typeface="Arial"/>
              </a:rPr>
              <a:t>John K. B. Ford (1991). Vocal traditions among resident killer whales (Orcinus orca) in coastal waters of British Columbia. Canadian Journal of Zoology 69(6): 1454-1483. </a:t>
            </a:r>
            <a:r>
              <a:rPr sz="1200">
                <a:latin typeface="Arial"/>
                <a:hlinkClick r:id="rId3"/>
              </a:rPr>
              <a:t>https://doi.org/10.1139/z91-206</a:t>
            </a:r>
          </a:p>
          <a:p/>
          <a:p>
            <a:r>
              <a:rPr sz="1200">
                <a:latin typeface="Arial"/>
              </a:rPr>
              <a:t>Figure: Ford (1991), Fig. 2. Acoustic relationships among resident pods and clans</a:t>
            </a:r>
          </a:p>
          <a:p>
            <a:r>
              <a:rPr sz="1200">
                <a:latin typeface="Arial"/>
              </a:rPr>
              <a:t>Figure source: </a:t>
            </a:r>
            <a:r>
              <a:rPr sz="1200">
                <a:latin typeface="Arial"/>
                <a:hlinkClick r:id="rId3"/>
              </a:rPr>
              <a:t>https://doi.org/10.1139/z91-206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Ford compared contemporary resident-whale repertoires with older recordings whose group identities could be assessed. Historical material associated with southern resident pod J from 1958–1961 contained 14 of the 17 call types used by that group in 1979–1983. The recurring repertoire therefore persisted across a period exceeding two decades.</a:t>
            </a:r>
          </a:p>
          <a:p>
            <a:r>
              <a:rPr sz="1200">
                <a:latin typeface="Arial"/>
              </a:rPr>
              <a:t>• Comparisons distinguished the presence of recognizable call types from their relative frequency of production. Recordings made during foraging and traveling need not contain the same proportions even when the group retains the same repertoire. Behavioral context and recording opportunity were relevant controls when interpreting differences between old and recent samples.</a:t>
            </a:r>
          </a:p>
          <a:p>
            <a:r>
              <a:rPr sz="1200">
                <a:latin typeface="Arial"/>
              </a:rPr>
              <a:t>• Long-term continuity is consistent with a vocal tradition maintained across generations. It does not establish that every rendition is acoustically unchanged, and it cannot by itself separate inherited predispositions from social learning. The stable group repertoire and later demonstrations of vocal copying provide different forms of evidence rather than duplicating the same experimental test.</a:t>
            </a:r>
          </a:p>
          <a:p/>
          <a:p>
            <a:r>
              <a:rPr sz="1200">
                <a:latin typeface="Arial"/>
              </a:rPr>
              <a:t>References:</a:t>
            </a:r>
          </a:p>
          <a:p>
            <a:r>
              <a:rPr sz="1200">
                <a:latin typeface="Arial"/>
              </a:rPr>
              <a:t>John K. B. Ford (1991). Vocal traditions among resident killer whales (Orcinus orca) in coastal waters of British Columbia. Canadian Journal of Zoology 69(6): 1454-1483. </a:t>
            </a:r>
            <a:r>
              <a:rPr sz="1200">
                <a:latin typeface="Arial"/>
                <a:hlinkClick r:id="rId3"/>
              </a:rPr>
              <a:t>https://doi.org/10.1139/z91-206</a:t>
            </a:r>
          </a:p>
          <a:p/>
          <a:p>
            <a:r>
              <a:rPr sz="1200">
                <a:latin typeface="Arial"/>
              </a:rPr>
              <a:t>Figure: Ford (1991), Fig. 18. Historical and later repertoires of southern resident pod J</a:t>
            </a:r>
          </a:p>
          <a:p>
            <a:r>
              <a:rPr sz="1200">
                <a:latin typeface="Arial"/>
              </a:rPr>
              <a:t>Figure source: </a:t>
            </a:r>
            <a:r>
              <a:rPr sz="1200">
                <a:latin typeface="Arial"/>
                <a:hlinkClick r:id="rId3"/>
              </a:rPr>
              <a:t>https://doi.org/10.1139/z91-206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Souhaut and Shields examined southern resident whistles recorded in 2006–2007 and 2015–2017 and compared them with stereotyped forms described from 1979–1982. A stereotyped whistle is a recurring tonal contour distinguishable from the more variable whistle forms also present in recordings. Boat and shore recording opportunities supplied acoustic material from the population.</a:t>
            </a:r>
          </a:p>
          <a:p>
            <a:r>
              <a:rPr sz="1200">
                <a:latin typeface="Arial"/>
              </a:rPr>
              <a:t>• Approximately 53.5% of the analyzed whistles belonged to stereotyped categories. Three of four previously recognized types were still detected, extending the documented persistence of particular contours beyond 35 years. Additional stereotyped forms were identified, so continuity did not require an entirely unchanging catalog.</a:t>
            </a:r>
          </a:p>
          <a:p>
            <a:r>
              <a:rPr sz="1200">
                <a:latin typeface="Arial"/>
              </a:rPr>
              <a:t>• The failure to detect an older category does not establish that it disappeared, because whistles occur less frequently than pulsed calls and sampling differs across periods. These comparisons establish persistence of recorded forms. They support whistle traditions but do not directly reveal which social partners transmitted a contour or whether a new type originated by imitation.</a:t>
            </a:r>
          </a:p>
          <a:p/>
          <a:p>
            <a:r>
              <a:rPr sz="1200">
                <a:latin typeface="Arial"/>
              </a:rPr>
              <a:t>References:</a:t>
            </a:r>
          </a:p>
          <a:p>
            <a:r>
              <a:rPr sz="1200">
                <a:latin typeface="Arial"/>
              </a:rPr>
              <a:t>Marie Souhaut; Monika W. Shields (2021). Stereotyped whistles in southern resident killer whales. PeerJ 9: e12085. </a:t>
            </a:r>
            <a:r>
              <a:rPr sz="1200">
                <a:latin typeface="Arial"/>
                <a:hlinkClick r:id="rId3"/>
              </a:rPr>
              <a:t>https://doi.org/10.7717/peerj.12085</a:t>
            </a:r>
          </a:p>
          <a:p/>
          <a:p>
            <a:r>
              <a:rPr sz="1200">
                <a:latin typeface="Arial"/>
              </a:rPr>
              <a:t>Figure: Souhaut &amp; Shields (2021), Fig. 1. Historical and recent stereotyped whistle forms</a:t>
            </a:r>
          </a:p>
          <a:p>
            <a:r>
              <a:rPr sz="1200">
                <a:latin typeface="Arial"/>
              </a:rPr>
              <a:t>Figure source: </a:t>
            </a:r>
            <a:r>
              <a:rPr sz="1200">
                <a:latin typeface="Arial"/>
                <a:hlinkClick r:id="rId3"/>
              </a:rPr>
              <a:t>https://doi.org/10.7717/peerj.12085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biphonic call contains two frequency components that can vary independently. Filatova analyzed lower- and higher-frequency contours in resident-type calls, treating their acoustic information separately rather than assuming that the upper component simply repeated the lower one at a harmonic multiple. A harmonic is a component at an integer multiple of a fundamental frequency.</a:t>
            </a:r>
          </a:p>
          <a:p>
            <a:r>
              <a:rPr sz="1200">
                <a:latin typeface="Arial"/>
              </a:rPr>
              <a:t>• Amplitude measurements were taken from defined locations within each component. Separating contour shape from received amplitude allowed the study to compare acoustic differences among family groups and evaluate how the components might remain detectable. Independent modulation supplies additional potential distinctions between calls that otherwise sound similar in one component.</a:t>
            </a:r>
          </a:p>
          <a:p>
            <a:r>
              <a:rPr sz="1200">
                <a:latin typeface="Arial"/>
              </a:rPr>
              <a:t>• Wellard and colleagues also documented biphonic forms in Type C whales using color spectrograms. This comparative evidence establishes the signal structure across particular recordings, not one universal family code. Neither study directly recorded the sound-producing tissues during the sampled calls or experimentally mapped the brain regions that distinguish their components.</a:t>
            </a:r>
          </a:p>
          <a:p/>
          <a:p>
            <a:r>
              <a:rPr sz="1200">
                <a:latin typeface="Arial"/>
              </a:rPr>
              <a:t>References:</a:t>
            </a:r>
          </a:p>
          <a:p>
            <a:r>
              <a:rPr sz="1200">
                <a:latin typeface="Arial"/>
              </a:rPr>
              <a:t>Olga A. Filatova (2020). Independent acoustic variation of the higher- and lower-frequency components of biphonic calls can facilitate call recognition and social affiliation in killer whales. PLOS ONE 15(7): e0236749. </a:t>
            </a:r>
            <a:r>
              <a:rPr sz="1200">
                <a:latin typeface="Arial"/>
                <a:hlinkClick r:id="rId3"/>
              </a:rPr>
              <a:t>https://doi.org/10.1371/journal.pone.0236749</a:t>
            </a:r>
          </a:p>
          <a:p>
            <a:r>
              <a:rPr sz="1200">
                <a:latin typeface="Arial"/>
              </a:rPr>
              <a:t>Rebecca Wellard; Robert L. Pitman; John Durban; Christine Erbe (2020). Cold call: the acoustic repertoire of Ross Sea killer whales (Orcinus orca,Type C) in McMurdo Sound, Antarctica. Royal Society Open Science 7(2): 191228. </a:t>
            </a:r>
            <a:r>
              <a:rPr sz="1200">
                <a:latin typeface="Arial"/>
                <a:hlinkClick r:id="rId4"/>
              </a:rPr>
              <a:t>https://doi.org/10.1098/rsos.191228</a:t>
            </a:r>
          </a:p>
          <a:p/>
          <a:p>
            <a:r>
              <a:rPr sz="1200">
                <a:latin typeface="Arial"/>
              </a:rPr>
              <a:t>Figure: Wellard et al. (2020), Fig. 7(a–f). Biphonic Type C calls with distinct spectral components</a:t>
            </a:r>
          </a:p>
          <a:p>
            <a:r>
              <a:rPr sz="1200">
                <a:latin typeface="Arial"/>
              </a:rPr>
              <a:t>Figure source: </a:t>
            </a:r>
            <a:r>
              <a:rPr sz="1200">
                <a:latin typeface="Arial"/>
                <a:hlinkClick r:id="rId4"/>
              </a:rPr>
              <a:t>https://doi.org/10.1098/rsos.191228</a:t>
            </a:r>
          </a:p>
          <a:p/>
          <a:p>
            <a:r>
              <a:rPr sz="1200">
                <a:latin typeface="Arial"/>
              </a:rPr>
              <a:t>Figure: Filatova (2020), Fig. 1. Amplitude measurement locations on biphonic call components</a:t>
            </a:r>
          </a:p>
          <a:p>
            <a:r>
              <a:rPr sz="1200">
                <a:latin typeface="Arial"/>
              </a:rPr>
              <a:t>Figure source: </a:t>
            </a:r>
            <a:r>
              <a:rPr sz="1200">
                <a:latin typeface="Arial"/>
                <a:hlinkClick r:id="rId3"/>
              </a:rPr>
              <a:t>https://doi.org/10.1371/journal.pone.0236749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Filatova quantified differences between the lower- and higher-frequency contours of resident-type biphonic calls. Dynamic time warping compares the shapes of sequences while allowing local adjustments in their temporal alignment. This analytical method avoids treating small timing differences as if they necessarily changed the identity of the overall acoustic pattern.</a:t>
            </a:r>
          </a:p>
          <a:p>
            <a:r>
              <a:rPr sz="1200">
                <a:latin typeface="Arial"/>
              </a:rPr>
              <a:t>• Distances between family groups calculated from the lower component were largely unrelated to distances calculated from the higher component. Classifying calls using both contours assigned them to their family more accurately than relying on either contour alone. Two acoustic dimensions can therefore contain complementary group information rather than redundant copies of the same distinction.</a:t>
            </a:r>
          </a:p>
          <a:p>
            <a:r>
              <a:rPr sz="1200">
                <a:latin typeface="Arial"/>
              </a:rPr>
              <a:t>• This result concerns acoustic classification performed by the analysis. It supports the proposed availability of family cues to a listener, but it does not demonstrate that whales use the same algorithm or distinguish families from these recordings in a playback task. Behavioral recognition remains a separate experimental question.</a:t>
            </a:r>
          </a:p>
          <a:p/>
          <a:p>
            <a:r>
              <a:rPr sz="1200">
                <a:latin typeface="Arial"/>
              </a:rPr>
              <a:t>References:</a:t>
            </a:r>
          </a:p>
          <a:p>
            <a:r>
              <a:rPr sz="1200">
                <a:latin typeface="Arial"/>
              </a:rPr>
              <a:t>Olga A. Filatova (2020). Independent acoustic variation of the higher- and lower-frequency components of biphonic calls can facilitate call recognition and social affiliation in killer whales. PLOS ONE 15(7): e0236749. </a:t>
            </a:r>
            <a:r>
              <a:rPr sz="1200">
                <a:latin typeface="Arial"/>
                <a:hlinkClick r:id="rId3"/>
              </a:rPr>
              <a:t>https://doi.org/10.1371/journal.pone.0236749</a:t>
            </a:r>
          </a:p>
          <a:p/>
          <a:p>
            <a:r>
              <a:rPr sz="1200">
                <a:latin typeface="Arial"/>
              </a:rPr>
              <a:t>Figure: Filatova (2020), Fig. 2. Independent acoustic distances of the two call components</a:t>
            </a:r>
          </a:p>
          <a:p>
            <a:r>
              <a:rPr sz="1200">
                <a:latin typeface="Arial"/>
              </a:rPr>
              <a:t>Figure source: </a:t>
            </a:r>
            <a:r>
              <a:rPr sz="1200">
                <a:latin typeface="Arial"/>
                <a:hlinkClick r:id="rId3"/>
              </a:rPr>
              <a:t>https://doi.org/10.1371/journal.pone.0236749</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Filatova compared received amplitudes of the two biphonic call components and adjusted them using killer-whale hearing sensitivity across frequencies. Sensation level expresses how far a received signal lies above the hearing threshold at its frequency. Equal measured sound pressure need not provide equal perceptual accessibility if thresholds differ.</a:t>
            </a:r>
          </a:p>
          <a:p>
            <a:r>
              <a:rPr sz="1200">
                <a:latin typeface="Arial"/>
              </a:rPr>
              <a:t>• The higher-frequency component had a greater hearing-adjusted sensation level than the lower component in the analyzed recordings. This contrasts with an interpretation based only on raw amplitude. The authors proposed that the higher component could preserve family information when low-frequency environmental noise masks the lower component.</a:t>
            </a:r>
          </a:p>
          <a:p>
            <a:r>
              <a:rPr sz="1200">
                <a:latin typeface="Arial"/>
              </a:rPr>
              <a:t>• Masking occurs when background sound makes another signal harder to detect. The proposed benefit depends on the actual noise spectrum, propagation and hearing conditions. The study did not experimentally expose whales to masked calls and test recognition, so hearing adjustment supports a plausible sensory explanation rather than establishing successful family recognition under natural noise.</a:t>
            </a:r>
          </a:p>
          <a:p/>
          <a:p>
            <a:r>
              <a:rPr sz="1200">
                <a:latin typeface="Arial"/>
              </a:rPr>
              <a:t>References:</a:t>
            </a:r>
          </a:p>
          <a:p>
            <a:r>
              <a:rPr sz="1200">
                <a:latin typeface="Arial"/>
              </a:rPr>
              <a:t>Olga A. Filatova (2020). Independent acoustic variation of the higher- and lower-frequency components of biphonic calls can facilitate call recognition and social affiliation in killer whales. PLOS ONE 15(7): e0236749. </a:t>
            </a:r>
            <a:r>
              <a:rPr sz="1200">
                <a:latin typeface="Arial"/>
                <a:hlinkClick r:id="rId3"/>
              </a:rPr>
              <a:t>https://doi.org/10.1371/journal.pone.0236749</a:t>
            </a:r>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4"/>
              </a:rPr>
              <a:t>https://doi.org/10.1121/1.427121</a:t>
            </a:r>
          </a:p>
          <a:p/>
          <a:p>
            <a:r>
              <a:rPr sz="1200">
                <a:latin typeface="Arial"/>
              </a:rPr>
              <a:t>Figure: Filatova (2020), Fig. 3. Received and hearing-adjusted component amplitudes</a:t>
            </a:r>
          </a:p>
          <a:p>
            <a:r>
              <a:rPr sz="1200">
                <a:latin typeface="Arial"/>
              </a:rPr>
              <a:t>Figure source: </a:t>
            </a:r>
            <a:r>
              <a:rPr sz="1200">
                <a:latin typeface="Arial"/>
                <a:hlinkClick r:id="rId3"/>
              </a:rPr>
              <a:t>https://doi.org/10.1371/journal.pone.0236749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Deecke, Ford and Spong compared calls N4 and N9 from the A12 and A30 resident matrilines across 12–13 years. A matriline contains individuals connected through maternal ancestry. Repeated recordings from known groups allowed the analysis to distinguish change within a social lineage from acoustic differences between the lineages.</a:t>
            </a:r>
          </a:p>
          <a:p>
            <a:r>
              <a:rPr sz="1200">
                <a:latin typeface="Arial"/>
              </a:rPr>
              <a:t>• The investigators extracted pulse-repetition-rate contours at evenly spaced positions along each call and included call duration separately. A trained artificial neural network supplied an acoustic similarity index. This was a computer classification tool; it was not a recording of biological neurons or a model established as the whale’s recognition mechanism.</a:t>
            </a:r>
          </a:p>
          <a:p>
            <a:r>
              <a:rPr sz="1200">
                <a:latin typeface="Arial"/>
              </a:rPr>
              <a:t>• N4 changed detectably within both matrilines, whereas N9 did not show comparable modification during the observation period. Using two call types constrained the idea that all recordings shifted in the same way. The result establishes selective temporal change in a repertoire, rather than uniform replacement of the entire dialect.</a:t>
            </a:r>
          </a:p>
          <a:p/>
          <a:p>
            <a:r>
              <a:rPr sz="1200">
                <a:latin typeface="Arial"/>
              </a:rPr>
              <a:t>References:</a:t>
            </a:r>
          </a:p>
          <a:p>
            <a:r>
              <a:rPr sz="1200">
                <a:latin typeface="Arial"/>
              </a:rPr>
              <a:t>V.B Deecke; J.K.B Ford; P Spong (2000). Dialect change in resident killer whales: implications for vocal learning and cultural transmission. Animal Behaviour 60(5): 629-638. </a:t>
            </a:r>
            <a:r>
              <a:rPr sz="1200">
                <a:latin typeface="Arial"/>
                <a:hlinkClick r:id="rId3"/>
              </a:rPr>
              <a:t>https://doi.org/10.1006/anbe.2000.1454</a:t>
            </a:r>
          </a:p>
          <a:p/>
          <a:p>
            <a:r>
              <a:rPr sz="1200">
                <a:latin typeface="Arial"/>
              </a:rPr>
              <a:t>Figure: Deecke et al. (2000), Fig. 1. Parameters used to quantify the structure of call N4</a:t>
            </a:r>
          </a:p>
          <a:p>
            <a:r>
              <a:rPr sz="1200">
                <a:latin typeface="Arial"/>
              </a:rPr>
              <a:t>Figure source: </a:t>
            </a:r>
            <a:r>
              <a:rPr sz="1200">
                <a:latin typeface="Arial"/>
                <a:hlinkClick r:id="rId3"/>
              </a:rPr>
              <a:t>https://doi.org/10.1006/anbe.2000.1454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Deecke and colleagues compared modification of N4 within each matriline with divergence of N4 between matrilines. Modification is change in a group’s call over time; divergence is an increasing difference between groups. These processes can occur at different rates even when both groups continue producing a recognizable call type.</a:t>
            </a:r>
          </a:p>
          <a:p>
            <a:r>
              <a:rPr sz="1200">
                <a:latin typeface="Arial"/>
              </a:rPr>
              <a:t>• The acoustic similarity of N4 recordings decreased as the years separating samples increased within each matriline. Between-group differences changed less than the calls changed within either group. Thus, the two lineages modified their calls in sufficiently similar ways that within-group temporal change did not become equally large separation between lineages.</a:t>
            </a:r>
          </a:p>
          <a:p>
            <a:r>
              <a:rPr sz="1200">
                <a:latin typeface="Arial"/>
              </a:rPr>
              <a:t>• The authors considered horizontal transmission, meaning transfer between social lineages rather than exclusively from mother to offspring. Correlated call change supports that possibility, but it does not directly document an individual listening and copying. Parallel maturational change remained an alternative explanation that the longitudinal observations could not eliminate.</a:t>
            </a:r>
          </a:p>
          <a:p/>
          <a:p>
            <a:r>
              <a:rPr sz="1200">
                <a:latin typeface="Arial"/>
              </a:rPr>
              <a:t>References:</a:t>
            </a:r>
          </a:p>
          <a:p>
            <a:r>
              <a:rPr sz="1200">
                <a:latin typeface="Arial"/>
              </a:rPr>
              <a:t>V.B Deecke; J.K.B Ford; P Spong (2000). Dialect change in resident killer whales: implications for vocal learning and cultural transmission. Animal Behaviour 60(5): 629-638. </a:t>
            </a:r>
            <a:r>
              <a:rPr sz="1200">
                <a:latin typeface="Arial"/>
                <a:hlinkClick r:id="rId3"/>
              </a:rPr>
              <a:t>https://doi.org/10.1006/anbe.2000.1454</a:t>
            </a:r>
          </a:p>
          <a:p/>
          <a:p>
            <a:r>
              <a:rPr sz="1200">
                <a:latin typeface="Arial"/>
              </a:rPr>
              <a:t>Figure: Deecke et al. (2000), Fig. 2(a–c). Within-matriline change and between-matriline divergence of N4</a:t>
            </a:r>
          </a:p>
          <a:p>
            <a:r>
              <a:rPr sz="1200">
                <a:latin typeface="Arial"/>
              </a:rPr>
              <a:t>Figure source: </a:t>
            </a:r>
            <a:r>
              <a:rPr sz="1200">
                <a:latin typeface="Arial"/>
                <a:hlinkClick r:id="rId3"/>
              </a:rPr>
              <a:t>https://doi.org/10.1006/anbe.2000.1454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Cultural drift is change in socially transmitted behavior that can accumulate without a consistent directional advantage. Deecke and colleagues examined structural features of N4, including plateau pulse rate, maximum pulse rate, duration and the timing of the maximum. These measurements tested whether call change followed a clear directional trajectory.</a:t>
            </a:r>
          </a:p>
          <a:p>
            <a:r>
              <a:rPr sz="1200">
                <a:latin typeface="Arial"/>
              </a:rPr>
              <a:t>• The structural changes lacked strong overall directionality. The authors discussed drift combined with horizontal transmission as one explanation for similar modification in two matrilines. However, maturational changes in vocal production could also generate parallel changes if individuals in the groups experienced related age-dependent effects.</a:t>
            </a:r>
          </a:p>
          <a:p>
            <a:r>
              <a:rPr sz="1200">
                <a:latin typeface="Arial"/>
              </a:rPr>
              <a:t>• The recordings did not assign each call to a known individual or experimentally manipulate exposure to another lineage’s calls. Consequently, the study does not isolate learning from maturation as the sole cause. Its strongest result is that a call can change over years while maintaining relatively stable between-group relationships, with the transmission mechanism remaining partly unresolved.</a:t>
            </a:r>
          </a:p>
          <a:p/>
          <a:p>
            <a:r>
              <a:rPr sz="1200">
                <a:latin typeface="Arial"/>
              </a:rPr>
              <a:t>References:</a:t>
            </a:r>
          </a:p>
          <a:p>
            <a:r>
              <a:rPr sz="1200">
                <a:latin typeface="Arial"/>
              </a:rPr>
              <a:t>V.B Deecke; J.K.B Ford; P Spong (2000). Dialect change in resident killer whales: implications for vocal learning and cultural transmission. Animal Behaviour 60(5): 629-638. </a:t>
            </a:r>
            <a:r>
              <a:rPr sz="1200">
                <a:latin typeface="Arial"/>
                <a:hlinkClick r:id="rId3"/>
              </a:rPr>
              <a:t>https://doi.org/10.1006/anbe.2000.1454</a:t>
            </a:r>
          </a:p>
          <a:p/>
          <a:p>
            <a:r>
              <a:rPr sz="1200">
                <a:latin typeface="Arial"/>
              </a:rPr>
              <a:t>Figure: Deecke et al. (2000), Fig. 4(a–d). Longitudinal pulse-rate and duration measurements</a:t>
            </a:r>
          </a:p>
          <a:p>
            <a:r>
              <a:rPr sz="1200">
                <a:latin typeface="Arial"/>
              </a:rPr>
              <a:t>Figure source: </a:t>
            </a:r>
            <a:r>
              <a:rPr sz="1200">
                <a:latin typeface="Arial"/>
                <a:hlinkClick r:id="rId3"/>
              </a:rPr>
              <a:t>https://doi.org/10.1006/anbe.2000.1454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Vocal production learning means acquiring or modifying a sound through auditory experience, rather than merely learning when to produce an existing signal. Abramson and colleagues tested a trained female killer whale using a previously learned gesture requesting imitation. Familiar actions and sounds established that the subject understood the copying procedure.</a:t>
            </a:r>
          </a:p>
          <a:p>
            <a:r>
              <a:rPr sz="1200">
                <a:latin typeface="Arial"/>
              </a:rPr>
              <a:t>• Novel conspecific and human models were then presented in live or recorded conditions. During tests of novel sounds, the subject received no reward or corrective feedback for matching the model. Familiar control trials were reinforced, and familiar actions without a copying request helped separate the experimental response from an unrestricted stream of vocalizations.</a:t>
            </a:r>
          </a:p>
          <a:p>
            <a:r>
              <a:rPr sz="1200">
                <a:latin typeface="Arial"/>
              </a:rPr>
              <a:t>• Recognizable copies of the tested novel sounds support a capacity to match auditory models. This direct experimental result is stronger evidence for imitation than dialect similarity alone. Nevertheless, performance by a trained subject in air does not establish how calves acquire underwater dialects in the wild or identify the neuronal changes underlying a copied sound.</a:t>
            </a:r>
          </a:p>
          <a:p/>
          <a:p>
            <a:r>
              <a:rPr sz="1200">
                <a:latin typeface="Arial"/>
              </a:rPr>
              <a:t>References:</a:t>
            </a:r>
          </a:p>
          <a:p>
            <a:r>
              <a:rPr sz="1200">
                <a:latin typeface="Arial"/>
              </a:rPr>
              <a:t>José Z. Abramson; Mª Victoria Hernández-Lloreda; Lino García; Fernando Colmenares; Francisco Aboitiz; Josep Call (2018). Imitation of novel conspecific and human speech sounds in the killer whale ( Orcinus orca ). Proceedings of the Royal Society B: Biological Sciences 285(1871): 20172171. </a:t>
            </a:r>
            <a:r>
              <a:rPr sz="1200">
                <a:latin typeface="Arial"/>
                <a:hlinkClick r:id="rId3"/>
              </a:rPr>
              <a:t>https://doi.org/10.1098/rspb.2017.2171</a:t>
            </a:r>
          </a:p>
          <a:p/>
          <a:p>
            <a:r>
              <a:rPr sz="1200">
                <a:latin typeface="Arial"/>
              </a:rPr>
              <a:t>Figure: Abramson et al. (2018), Fig. 2(c,d). Novel conspecific breathy-raspberry model and killer-whale copy</a:t>
            </a:r>
          </a:p>
          <a:p>
            <a:r>
              <a:rPr sz="1200">
                <a:latin typeface="Arial"/>
              </a:rPr>
              <a:t>Figure source: </a:t>
            </a:r>
            <a:r>
              <a:rPr sz="1200">
                <a:latin typeface="Arial"/>
                <a:hlinkClick r:id="rId3"/>
              </a:rPr>
              <a:t>https://doi.org/10.1098/rspb.2017.2171</a:t>
            </a:r>
          </a:p>
          <a:p/>
          <a:p>
            <a:r>
              <a:rPr sz="1200">
                <a:latin typeface="Arial"/>
              </a:rPr>
              <a:t>Figure: Abramson et al. (2018), Fig. 1(a–c). Original experimental arrangement for vocal copying</a:t>
            </a:r>
          </a:p>
          <a:p>
            <a:r>
              <a:rPr sz="1200">
                <a:latin typeface="Arial"/>
              </a:rPr>
              <a:t>Figure source: </a:t>
            </a:r>
            <a:r>
              <a:rPr sz="1200">
                <a:latin typeface="Arial"/>
                <a:hlinkClick r:id="rId3"/>
              </a:rPr>
              <a:t>https://doi.org/10.1098/rspb.2017.2171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Abramson and colleagues selected novel sounds that were absent from the subject’s known trained repertoire and checked spontaneous in-air recordings before testing. The model could be another killer whale or a loudspeaker recording. Novelty was therefore evaluated relative to the subject’s prior production, not assumed simply because a signal had an unfamiliar human label.</a:t>
            </a:r>
          </a:p>
          <a:p>
            <a:r>
              <a:rPr sz="1200">
                <a:latin typeface="Arial"/>
              </a:rPr>
              <a:t>• The whale produced recognizable versions of novel conspecific sounds, often within the first ten trials. Some were copied on the first attempt. Familiar conspecific signals supplied comparison examples in the acoustic analysis, including signals labeled “blow” and “birdy,” whose feature sequences could be aligned with the subject’s copies.</a:t>
            </a:r>
          </a:p>
          <a:p>
            <a:r>
              <a:rPr sz="1200">
                <a:latin typeface="Arial"/>
              </a:rPr>
              <a:t>• A rapid match without reward on the novel test trial supports production learning rather than gradual trial-by-trial shaping of that sound. The prior imitation training still matters: the study tested a learned copying context. It did not show that every untrained whale spontaneously copies every unfamiliar signal after one exposure.</a:t>
            </a:r>
          </a:p>
          <a:p/>
          <a:p>
            <a:r>
              <a:rPr sz="1200">
                <a:latin typeface="Arial"/>
              </a:rPr>
              <a:t>References:</a:t>
            </a:r>
          </a:p>
          <a:p>
            <a:r>
              <a:rPr sz="1200">
                <a:latin typeface="Arial"/>
              </a:rPr>
              <a:t>José Z. Abramson; Mª Victoria Hernández-Lloreda; Lino García; Fernando Colmenares; Francisco Aboitiz; Josep Call (2018). Imitation of novel conspecific and human speech sounds in the killer whale ( Orcinus orca ). Proceedings of the Royal Society B: Biological Sciences 285(1871): 20172171. </a:t>
            </a:r>
            <a:r>
              <a:rPr sz="1200">
                <a:latin typeface="Arial"/>
                <a:hlinkClick r:id="rId3"/>
              </a:rPr>
              <a:t>https://doi.org/10.1098/rspb.2017.2171</a:t>
            </a:r>
          </a:p>
          <a:p/>
          <a:p>
            <a:r>
              <a:rPr sz="1200">
                <a:latin typeface="Arial"/>
              </a:rPr>
              <a:t>Figure: Abramson et al. (2018), Fig. 3(a,b). Alignment of familiar conspecific sound features</a:t>
            </a:r>
          </a:p>
          <a:p>
            <a:r>
              <a:rPr sz="1200">
                <a:latin typeface="Arial"/>
              </a:rPr>
              <a:t>Figure source: </a:t>
            </a:r>
            <a:r>
              <a:rPr sz="1200">
                <a:latin typeface="Arial"/>
                <a:hlinkClick r:id="rId3"/>
              </a:rPr>
              <a:t>https://doi.org/10.1098/rspb.2017.2171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Vocal mimicry is imitation of an acoustic model produced by another species. Abramson and colleagues asked the killer whale to copy human sounds, including the word-like model “hello.” Model and response recordings were compared using waveform, spectrogram and acoustic-feature analyses rather than relying exclusively on a listener’s impression.</a:t>
            </a:r>
          </a:p>
          <a:p>
            <a:r>
              <a:rPr sz="1200">
                <a:latin typeface="Arial"/>
              </a:rPr>
              <a:t>• The whale produced recognizable versions of the tested human models. Copies were imperfect: matching a coarse sequence of acoustic features did not require identical timbre or every spectral detail. “Hello” was among the novel sounds copied on an early attempt, supporting flexibility of production beyond the existing conspecific repertoire.</a:t>
            </a:r>
          </a:p>
          <a:p>
            <a:r>
              <a:rPr sz="1200">
                <a:latin typeface="Arial"/>
              </a:rPr>
              <a:t>• These results concern sound matching, not the meaning of human words. The subject was not tested on the semantic interpretation of “hello” or human syntax. Moreover, the signals were produced in air during a trained task. The experiment establishes vocal flexibility under those conditions while leaving underwater natural-language-like interpretation and population-wide performance untested.</a:t>
            </a:r>
          </a:p>
          <a:p/>
          <a:p>
            <a:r>
              <a:rPr sz="1200">
                <a:latin typeface="Arial"/>
              </a:rPr>
              <a:t>References:</a:t>
            </a:r>
          </a:p>
          <a:p>
            <a:r>
              <a:rPr sz="1200">
                <a:latin typeface="Arial"/>
              </a:rPr>
              <a:t>José Z. Abramson; Mª Victoria Hernández-Lloreda; Lino García; Fernando Colmenares; Francisco Aboitiz; Josep Call (2018). Imitation of novel conspecific and human speech sounds in the killer whale ( Orcinus orca ). Proceedings of the Royal Society B: Biological Sciences 285(1871): 20172171. </a:t>
            </a:r>
            <a:r>
              <a:rPr sz="1200">
                <a:latin typeface="Arial"/>
                <a:hlinkClick r:id="rId3"/>
              </a:rPr>
              <a:t>https://doi.org/10.1098/rspb.2017.2171</a:t>
            </a:r>
          </a:p>
          <a:p/>
          <a:p>
            <a:r>
              <a:rPr sz="1200">
                <a:latin typeface="Arial"/>
              </a:rPr>
              <a:t>Figure: Abramson et al. (2018), Fig. 2(a,b). Human “hello” model and killer-whale copy</a:t>
            </a:r>
          </a:p>
          <a:p>
            <a:r>
              <a:rPr sz="1200">
                <a:latin typeface="Arial"/>
              </a:rPr>
              <a:t>Figure source: </a:t>
            </a:r>
            <a:r>
              <a:rPr sz="1200">
                <a:latin typeface="Arial"/>
                <a:hlinkClick r:id="rId3"/>
              </a:rPr>
              <a:t>https://doi.org/10.1098/rspb.2017.2171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Abramson and colleagues supplemented human judgments with comparisons of acoustic feature sequences. The analysis estimated how dissimilar a model and its proposed copy were after dynamic time alignment. Dissimilarity here measures differences in the extracted sound features, not a directly measured perceptual distance inside a whale’s nervous system.</a:t>
            </a:r>
          </a:p>
          <a:p>
            <a:r>
              <a:rPr sz="1200">
                <a:latin typeface="Arial"/>
              </a:rPr>
              <a:t>• Model–copy comparisons were assessed alongside mismatched sounds and repeated models. The copied sounds generally resembled their intended models more closely than unrelated sounds. Human judges who were unaware of the model’s identity also evaluated pairings, reducing dependence on the expectations of the trainers conducting the copying trials.</a:t>
            </a:r>
          </a:p>
          <a:p>
            <a:r>
              <a:rPr sz="1200">
                <a:latin typeface="Arial"/>
              </a:rPr>
              <a:t>• Some copies retained less detail than others, and the method’s result depends on the features selected for comparison. Agreement between acoustic analysis and independent judgments supports recognizable copying. It does not establish that the copies convey the same social information as the model or that the animal comprehends the meaning of a human utterance.</a:t>
            </a:r>
          </a:p>
          <a:p/>
          <a:p>
            <a:r>
              <a:rPr sz="1200">
                <a:latin typeface="Arial"/>
              </a:rPr>
              <a:t>References:</a:t>
            </a:r>
          </a:p>
          <a:p>
            <a:r>
              <a:rPr sz="1200">
                <a:latin typeface="Arial"/>
              </a:rPr>
              <a:t>José Z. Abramson; Mª Victoria Hernández-Lloreda; Lino García; Fernando Colmenares; Francisco Aboitiz; Josep Call (2018). Imitation of novel conspecific and human speech sounds in the killer whale ( Orcinus orca ). Proceedings of the Royal Society B: Biological Sciences 285(1871): 20172171. </a:t>
            </a:r>
            <a:r>
              <a:rPr sz="1200">
                <a:latin typeface="Arial"/>
                <a:hlinkClick r:id="rId3"/>
              </a:rPr>
              <a:t>https://doi.org/10.1098/rspb.2017.2171</a:t>
            </a:r>
          </a:p>
          <a:p/>
          <a:p>
            <a:r>
              <a:rPr sz="1200">
                <a:latin typeface="Arial"/>
              </a:rPr>
              <a:t>Figure: Abramson et al. (2018), Fig. 4. Dissimilarity of model–copy and mismatched sound pairs</a:t>
            </a:r>
          </a:p>
          <a:p>
            <a:r>
              <a:rPr sz="1200">
                <a:latin typeface="Arial"/>
              </a:rPr>
              <a:t>Figure source: </a:t>
            </a:r>
            <a:r>
              <a:rPr sz="1200">
                <a:latin typeface="Arial"/>
                <a:hlinkClick r:id="rId3"/>
              </a:rPr>
              <a:t>https://doi.org/10.1098/rspb.2017.2171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Hill and colleagues trained killer whales to respond to an innovation cue, a signal requesting a behavior different from those already performed in that session. Familiar trained behaviors could be recombined or replaced by other responses. Reinforcement depended on avoiding repetition, so the preparation tested flexible selection rather than acquisition of a single new movement.</a:t>
            </a:r>
          </a:p>
          <a:p>
            <a:r>
              <a:rPr sz="1200">
                <a:latin typeface="Arial"/>
              </a:rPr>
              <a:t>• The investigators evaluated the number of responses before repetition, variation in behavioral categories and whether actions were combined in sequences or simultaneously. Whales produced diverse responses under the cue, with individual differences in fluency and complexity. Repeated sessions allowed performance to be evaluated beyond one isolated unusual action.</a:t>
            </a:r>
          </a:p>
          <a:p>
            <a:r>
              <a:rPr sz="1200">
                <a:latin typeface="Arial"/>
              </a:rPr>
              <a:t>• The result establishes flexibility within a trained and reinforced context. It is not a direct test of a whale inventing a novel wild hunting tactic or teaching it to companions. Age, prior experience and physical capacity also constrain available responses, so individual performance cannot be interpreted as a simple ranking of general intelligence.</a:t>
            </a:r>
          </a:p>
          <a:p/>
          <a:p>
            <a:r>
              <a:rPr sz="1200">
                <a:latin typeface="Arial"/>
              </a:rPr>
              <a:t>References:</a:t>
            </a:r>
          </a:p>
          <a:p>
            <a:r>
              <a:rPr sz="1200">
                <a:latin typeface="Arial"/>
              </a:rPr>
              <a:t>Heather Manitzas Hill; Myriam Weiss; Isabelle Brasseur; Alexander Manibusan; Irene R. Sandoval; Todd Robeck; Julie Sigman; Kristen Werner; Kathleen M. Dudzinski (2022). Killer whale innovation: teaching animals to use their creativity upon request. Animal Cognition 25(5): 1091-1108. </a:t>
            </a:r>
            <a:r>
              <a:rPr sz="1200">
                <a:latin typeface="Arial"/>
                <a:hlinkClick r:id="rId3"/>
              </a:rPr>
              <a:t>https://doi.org/10.1007/s10071-022-01635-3</a:t>
            </a:r>
          </a:p>
          <a:p/>
          <a:p>
            <a:r>
              <a:rPr sz="1200">
                <a:latin typeface="Arial"/>
              </a:rPr>
              <a:t>Figure: Hill et al. (2022), Fig. 2. Trials before behavior repetition across animals and sessions</a:t>
            </a:r>
          </a:p>
          <a:p>
            <a:r>
              <a:rPr sz="1200">
                <a:latin typeface="Arial"/>
              </a:rPr>
              <a:t>Figure source: </a:t>
            </a:r>
            <a:r>
              <a:rPr sz="1200">
                <a:latin typeface="Arial"/>
                <a:hlinkClick r:id="rId3"/>
              </a:rPr>
              <a:t>https://doi.org/10.1007/s10071-022-01635-3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Association means that individuals occur together with an opportunity to interact. Interaction requires a particular behavior between them. Weiss and colleagues used unoccupied aerial aircraft to observe southern resident whales, distinguishing simultaneous presence, synchronous surfacing and physical contact. Recognizable markings connected those actions to identified individuals.</a:t>
            </a:r>
          </a:p>
          <a:p>
            <a:r>
              <a:rPr sz="1200">
                <a:latin typeface="Arial"/>
              </a:rPr>
              <a:t>• The contact and surfacing networks differed from the association network. Age and sex shaped interaction patterns even when those characteristics did not detectably structure simple association. Females and younger individuals were more central in the contact network, meaning that they occupied more connected positions under that specific definition of a social relationship.</a:t>
            </a:r>
          </a:p>
          <a:p>
            <a:r>
              <a:rPr sz="1200">
                <a:latin typeface="Arial"/>
              </a:rPr>
              <a:t>• A broad measure of traveling together can therefore miss selective social behavior within an associated group. Aerial views improved access to contact that is difficult to observe from boats, but visibility and the selection of focal subgroups still limited sampling. These data establish patterned interactions; they do not identify the neural representation of social partners.</a:t>
            </a:r>
          </a:p>
          <a:p/>
          <a:p>
            <a:r>
              <a:rPr sz="1200">
                <a:latin typeface="Arial"/>
              </a:rPr>
              <a:t>References:</a:t>
            </a:r>
          </a:p>
          <a:p>
            <a:r>
              <a:rPr sz="1200">
                <a:latin typeface="Arial"/>
              </a:rPr>
              <a:t>Michael N. Weiss; Daniel W. Franks; Deborah A. Giles; Sadie Youngstrom; Samuel K. Wasser; Kenneth C. Balcomb; David K. Ellifrit; Paolo Domenici; Michael A. Cant; Samuel Ellis; Mia L. K. Nielsen; Charli Grimes; Darren P. Croft (2021). Age and sex influence social interactions, but not associations, within a killer whale pod. Proceedings of the Royal Society B: Biological Sciences 288(1953): 20210617. </a:t>
            </a:r>
            <a:r>
              <a:rPr sz="1200">
                <a:latin typeface="Arial"/>
                <a:hlinkClick r:id="rId3"/>
              </a:rPr>
              <a:t>https://doi.org/10.1098/rspb.2021.0617</a:t>
            </a:r>
          </a:p>
          <a:p/>
          <a:p>
            <a:r>
              <a:rPr sz="1200">
                <a:latin typeface="Arial"/>
              </a:rPr>
              <a:t>Figure: Weiss et al. (2021), Fig. 2(a–f). Different networks for association, synchrony and contact</a:t>
            </a:r>
          </a:p>
          <a:p>
            <a:r>
              <a:rPr sz="1200">
                <a:latin typeface="Arial"/>
              </a:rPr>
              <a:t>Figure source: </a:t>
            </a:r>
            <a:r>
              <a:rPr sz="1200">
                <a:latin typeface="Arial"/>
                <a:hlinkClick r:id="rId3"/>
              </a:rPr>
              <a:t>https://doi.org/10.1098/rspb.2021.0617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Jourdain and colleagues combined photo-identification, dietary information and genetic data from killer whales in Norway. Genetic relatedness estimates shared inherited variation, whereas an association index records how frequently identified animals occur together. Keeping these measures separate allowed diet-based categories to be evaluated alongside kinship and social connectivity.</a:t>
            </a:r>
          </a:p>
          <a:p>
            <a:r>
              <a:rPr sz="1200">
                <a:latin typeface="Arial"/>
              </a:rPr>
              <a:t>• Whales observed eating both fish and mammals were embedded in a larger network that included exclusive fish-eaters. Relatedness was an important correlate of social ties, and dietary difference did not produce complete social or genetic segregation. Flexible contact across groups therefore coexisted with individual variation in prey use.</a:t>
            </a:r>
          </a:p>
          <a:p>
            <a:r>
              <a:rPr sz="1200">
                <a:latin typeface="Arial"/>
              </a:rPr>
              <a:t>• The authors proposed that cultural diffusion could contribute to ecological breadth within this connected population. Network overlap supplies opportunities for information transfer, but it does not directly demonstrate the copying of a hunting tactic. These Norwegian results also cannot be assumed to describe the stronger ecotype boundaries documented in every northeastern-Pacific population.</a:t>
            </a:r>
          </a:p>
          <a:p/>
          <a:p>
            <a:r>
              <a:rPr sz="1200">
                <a:latin typeface="Arial"/>
              </a:rPr>
              <a:t>References:</a:t>
            </a:r>
          </a:p>
          <a:p>
            <a:r>
              <a:rPr sz="1200">
                <a:latin typeface="Arial"/>
              </a:rPr>
              <a:t>Eve Jourdain; Richard Karoliussen; Sarah L. Fordyce Martin; Øystein Langangen; Todd Robeck; Katrine Borgå; Anders Ruus; Andrew D. Foote (2024). Social and genetic connectivity despite ecological variation in a killer whale network. Proceedings of the Royal Society B: Biological Sciences 291(2021): 20240524. </a:t>
            </a:r>
            <a:r>
              <a:rPr sz="1200">
                <a:latin typeface="Arial"/>
                <a:hlinkClick r:id="rId3"/>
              </a:rPr>
              <a:t>https://doi.org/10.1098/rspb.2024.0524</a:t>
            </a:r>
          </a:p>
          <a:p/>
          <a:p>
            <a:r>
              <a:rPr sz="1200">
                <a:latin typeface="Arial"/>
              </a:rPr>
              <a:t>Figure: Jourdain et al. (2024), Fig. 3. Mixed-diet whales within a connected social network</a:t>
            </a:r>
          </a:p>
          <a:p>
            <a:r>
              <a:rPr sz="1200">
                <a:latin typeface="Arial"/>
              </a:rPr>
              <a:t>Figure source: </a:t>
            </a:r>
            <a:r>
              <a:rPr sz="1200">
                <a:latin typeface="Arial"/>
                <a:hlinkClick r:id="rId3"/>
              </a:rPr>
              <a:t>https://doi.org/10.1098/rspb.2024.0524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Wellard and colleagues recorded Type C killer whales in McMurdo Sound and identified recurring call categories from their spectral and temporal organization. Type C designates an Antarctic form whose ecology differs from the seal-specialist pack-ice whales used in the wave-washing study. Population identity is therefore part of the experimental context, not an interchangeable label.</a:t>
            </a:r>
          </a:p>
          <a:p>
            <a:r>
              <a:rPr sz="1200">
                <a:latin typeface="Arial"/>
              </a:rPr>
              <a:t>• The acoustic study used hydrophone recordings and accompanying encounters with whales to classify calls, including multi-component and biphonic forms. The analysis linked particular sound categories with identifiable recording sessions rather than treating every Antarctic vocalization as one undifferentiated repertoire.</a:t>
            </a:r>
          </a:p>
          <a:p>
            <a:r>
              <a:rPr sz="1200">
                <a:latin typeface="Arial"/>
              </a:rPr>
              <a:t>• The observed category diversity establishes a repertoire for the sampled Type C recordings. Similar broad acoustic structures across ecotypes do not demonstrate shared call meaning or a common hunting tradition. Comparing populations requires attention to recorder characteristics, encounter conditions and categorization methods, as well as genuine differences in the animals’ sound production and behavioral use.</a:t>
            </a:r>
          </a:p>
          <a:p/>
          <a:p>
            <a:r>
              <a:rPr sz="1200">
                <a:latin typeface="Arial"/>
              </a:rPr>
              <a:t>References:</a:t>
            </a:r>
          </a:p>
          <a:p>
            <a:r>
              <a:rPr sz="1200">
                <a:latin typeface="Arial"/>
              </a:rPr>
              <a:t>Rebecca Wellard; Robert L. Pitman; John Durban; Christine Erbe (2020). Cold call: the acoustic repertoire of Ross Sea killer whales (Orcinus orca,Type C) in McMurdo Sound, Antarctica. Royal Society Open Science 7(2): 191228. </a:t>
            </a:r>
            <a:r>
              <a:rPr sz="1200">
                <a:latin typeface="Arial"/>
                <a:hlinkClick r:id="rId3"/>
              </a:rPr>
              <a:t>https://doi.org/10.1098/rsos.191228</a:t>
            </a:r>
          </a:p>
          <a:p/>
          <a:p>
            <a:r>
              <a:rPr sz="1200">
                <a:latin typeface="Arial"/>
              </a:rPr>
              <a:t>Figure: Wellard et al. (2020), Fig. 4. Type C killer whale encountered during acoustic fieldwork</a:t>
            </a:r>
          </a:p>
          <a:p>
            <a:r>
              <a:rPr sz="1200">
                <a:latin typeface="Arial"/>
              </a:rPr>
              <a:t>Figure source: </a:t>
            </a:r>
            <a:r>
              <a:rPr sz="1200">
                <a:latin typeface="Arial"/>
                <a:hlinkClick r:id="rId3"/>
              </a:rPr>
              <a:t>https://doi.org/10.1098/rsos.191228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Pitman and Durban directly followed pack-ice killer whales hunting off the Antarctic Peninsula and compared observed seal kills with the seals available on ice floes. Prey selectivity means that consumption differs from availability; an abundant potential prey species need not be the species most often attacked successfully.</a:t>
            </a:r>
          </a:p>
          <a:p>
            <a:r>
              <a:rPr sz="1200">
                <a:latin typeface="Arial"/>
              </a:rPr>
              <a:t>• Weddell seals accounted for approximately 93% of identified seal kills despite comprising only approximately 15% of seals identified on floes. Crabeater seals were much more abundant in the observations but were not taken. Identifying both prey availability and the prey consumed constrained the explanation that the hunters simply encountered mostly Weddell seals.</a:t>
            </a:r>
          </a:p>
          <a:p>
            <a:r>
              <a:rPr sz="1200">
                <a:latin typeface="Arial"/>
              </a:rPr>
              <a:t>• This observational contrast establishes marked selectivity during the study. It does not experimentally separate prey handling difficulty, energetic reward and learned preferences as causes. The photographed approach to a floe documents a hunting encounter, while the population-specific prey pattern remains distinct from the broader marine-mammal diet of Monterey transient whales.</a:t>
            </a:r>
          </a:p>
          <a:p/>
          <a:p>
            <a:r>
              <a:rPr sz="1200">
                <a:latin typeface="Arial"/>
              </a:rPr>
              <a:t>References:</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3"/>
              </a:rPr>
              <a:t>https://doi.org/10.1111/j.1748-7692.2010.00453.x</a:t>
            </a:r>
          </a:p>
          <a:p/>
          <a:p>
            <a:r>
              <a:rPr sz="1200">
                <a:latin typeface="Arial"/>
              </a:rPr>
              <a:t>Figure: Pitman &amp; Durban (2012), Fig. 3. Whales approach an ice floe during wave washing</a:t>
            </a:r>
          </a:p>
          <a:p>
            <a:r>
              <a:rPr sz="1200">
                <a:latin typeface="Arial"/>
              </a:rPr>
              <a:t>Figure source: </a:t>
            </a:r>
            <a:r>
              <a:rPr sz="1200">
                <a:latin typeface="Arial"/>
                <a:hlinkClick r:id="rId3"/>
              </a:rPr>
              <a:t>https://doi.org/10.1111/j.1748-7692.2010.00453.x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During wave washing, multiple killer whales swim in coordinated formation toward an ice floe, producing a wave that can wash over the surface and dislodge a seal. Pitman and Durban followed attack sequences directly, recording the animals’ approaches, the waves produced and the fate of the prey rather than inferring hunting from proximity to ice.</a:t>
            </a:r>
          </a:p>
          <a:p>
            <a:r>
              <a:rPr sz="1200">
                <a:latin typeface="Arial"/>
              </a:rPr>
              <a:t>• Whales sometimes submerged together beneath a floe and generated a wave as they approached or passed it. The photographed wave-producing event retained the relationship between the swimmers, water movement and seal position. The behavior couples collective movement with a physical disturbance of the prey’s refuge.</a:t>
            </a:r>
          </a:p>
          <a:p>
            <a:r>
              <a:rPr sz="1200">
                <a:latin typeface="Arial"/>
              </a:rPr>
              <a:t>• The observations establish spatially and temporally coordinated action with a common hunting outcome. They do not identify whether particular calls issued a command, whether every participant represented a shared plan or which neural pathway synchronized the swimming. Acoustic control of the formation remains a separate question from the directly observed movement coordination.</a:t>
            </a:r>
          </a:p>
          <a:p/>
          <a:p>
            <a:r>
              <a:rPr sz="1200">
                <a:latin typeface="Arial"/>
              </a:rPr>
              <a:t>References:</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3"/>
              </a:rPr>
              <a:t>https://doi.org/10.1111/j.1748-7692.2010.00453.x</a:t>
            </a:r>
          </a:p>
          <a:p/>
          <a:p>
            <a:r>
              <a:rPr sz="1200">
                <a:latin typeface="Arial"/>
              </a:rPr>
              <a:t>Figure: Pitman &amp; Durban (2012), Fig. 2. A coordinated wave dislodges a Weddell seal</a:t>
            </a:r>
          </a:p>
          <a:p>
            <a:r>
              <a:rPr sz="1200">
                <a:latin typeface="Arial"/>
              </a:rPr>
              <a:t>Figure source: </a:t>
            </a:r>
            <a:r>
              <a:rPr sz="1200">
                <a:latin typeface="Arial"/>
                <a:hlinkClick r:id="rId3"/>
              </a:rPr>
              <a:t>https://doi.org/10.1111/j.1748-7692.2010.00453.x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ice floe protects a resting seal by separating it from underwater predators. Wave washing changes that physical relationship: water sweeping across the floe can move the seal into the sea. Pitman and Durban recorded repeated waves during attacks rather than treating the first wave as the complete hunting sequence.</a:t>
            </a:r>
          </a:p>
          <a:p>
            <a:r>
              <a:rPr sz="1200">
                <a:latin typeface="Arial"/>
              </a:rPr>
              <a:t>• The hunters produced approximately 4.1 waves per successful attack on average, with successful sequences ranging from one to ten waves. Repetition could be accompanied by changes in approach and prey position. Some seals regained the ice or avoided immediate capture, so dislodgment and final consumption were distinct observable events.</a:t>
            </a:r>
          </a:p>
          <a:p>
            <a:r>
              <a:rPr sz="1200">
                <a:latin typeface="Arial"/>
              </a:rPr>
              <a:t>• Successful hunting therefore depended on more than generating a wave once. The observed sequences are compatible with flexible adjustments to prey behavior and floe conditions, but the study did not experimentally manipulate those variables. It establishes repeated coordinated attacks; it does not prove that every adjustment was socially learned or communicated through a particular vocal signal.</a:t>
            </a:r>
          </a:p>
          <a:p/>
          <a:p>
            <a:r>
              <a:rPr sz="1200">
                <a:latin typeface="Arial"/>
              </a:rPr>
              <a:t>References:</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3"/>
              </a:rPr>
              <a:t>https://doi.org/10.1111/j.1748-7692.2010.00453.x</a:t>
            </a:r>
          </a:p>
          <a:p/>
          <a:p>
            <a:r>
              <a:rPr sz="1200">
                <a:latin typeface="Arial"/>
              </a:rPr>
              <a:t>Figure: Pitman &amp; Durban (2012), Fig. 3. Whales approach an ice floe during wave washing</a:t>
            </a:r>
          </a:p>
          <a:p>
            <a:r>
              <a:rPr sz="1200">
                <a:latin typeface="Arial"/>
              </a:rPr>
              <a:t>Figure source: </a:t>
            </a:r>
            <a:r>
              <a:rPr sz="1200">
                <a:latin typeface="Arial"/>
                <a:hlinkClick r:id="rId3"/>
              </a:rPr>
              <a:t>https://doi.org/10.1111/j.1748-7692.2010.00453.x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Pitman and Durban recorded both unsuccessful and successful attempts to remove Weddell seals from ice. Approximately 75% of the Weddell seals attacked during the observations were taken. Capture success refers to the final prey outcome, whereas a successful wave or temporary dislodgment can occur without an immediate kill.</a:t>
            </a:r>
          </a:p>
          <a:p>
            <a:r>
              <a:rPr sz="1200">
                <a:latin typeface="Arial"/>
              </a:rPr>
              <a:t>• Successful attacks lasted approximately 30.4 min on average and ranged from 15 to 62 min. These durations include repeated approaches and interactions with an active prey animal. The hunters’ coordinated behavior therefore operated across extended sequences, rather than being limited to one brief synchronized movement.</a:t>
            </a:r>
          </a:p>
          <a:p>
            <a:r>
              <a:rPr sz="1200">
                <a:latin typeface="Arial"/>
              </a:rPr>
              <a:t>• The observations constrain descriptions of the tactic as uniformly instantaneous or guaranteed. However, the study did not compare experimentally trained and untrained hunters or control prey motivation and floe geometry. Duration and success quantify natural attack outcomes while leaving the contributions of individual experience, group composition and specific communication signals incompletely resolved.</a:t>
            </a:r>
          </a:p>
          <a:p/>
          <a:p>
            <a:r>
              <a:rPr sz="1200">
                <a:latin typeface="Arial"/>
              </a:rPr>
              <a:t>References:</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3"/>
              </a:rPr>
              <a:t>https://doi.org/10.1111/j.1748-7692.2010.00453.x</a:t>
            </a:r>
          </a:p>
          <a:p/>
          <a:p>
            <a:r>
              <a:rPr sz="1200">
                <a:latin typeface="Arial"/>
              </a:rPr>
              <a:t>Figure: Pitman &amp; Durban (2012), Fig. 2. A coordinated wave dislodges a Weddell seal</a:t>
            </a:r>
          </a:p>
          <a:p>
            <a:r>
              <a:rPr sz="1200">
                <a:latin typeface="Arial"/>
              </a:rPr>
              <a:t>Figure source: </a:t>
            </a:r>
            <a:r>
              <a:rPr sz="1200">
                <a:latin typeface="Arial"/>
                <a:hlinkClick r:id="rId3"/>
              </a:rPr>
              <a:t>https://doi.org/10.1111/j.1748-7692.2010.00453.x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Pitman and Durban examined seal remains associated with a kill and described careful postmortem processing, including removal of selected tissue rather than indiscriminate swallowing of an intact carcass. Prey handling includes the actions after capture that make food accessible, as well as the movements used to seize the animal.</a:t>
            </a:r>
          </a:p>
          <a:p>
            <a:r>
              <a:rPr sz="1200">
                <a:latin typeface="Arial"/>
              </a:rPr>
              <a:t>• The evidence came from directly observed hunting and recovered remains, not an experimentally supplied carcass. It therefore connects natural wave-washing encounters with subsequent consumption. The anatomical condition of the remains supported the description of meticulous processing, while observation opportunities limited how completely the sequence could be reconstructed.</a:t>
            </a:r>
          </a:p>
          <a:p>
            <a:r>
              <a:rPr sz="1200">
                <a:latin typeface="Arial"/>
              </a:rPr>
              <a:t>• Coordinated capture and selective processing need not have identical learning mechanisms. The paper discussed the possibility of experience and social transmission, but observing adults handle prey does not establish deliberate teaching of younger whales. Demonstrating teaching would require evidence that a tutor changes behavior in a way that facilitates another animal’s acquisition of the skill.</a:t>
            </a:r>
          </a:p>
          <a:p/>
          <a:p>
            <a:r>
              <a:rPr sz="1200">
                <a:latin typeface="Arial"/>
              </a:rPr>
              <a:t>References:</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3"/>
              </a:rPr>
              <a:t>https://doi.org/10.1111/j.1748-7692.2010.00453.x</a:t>
            </a:r>
          </a:p>
          <a:p/>
          <a:p>
            <a:r>
              <a:rPr sz="1200">
                <a:latin typeface="Arial"/>
              </a:rPr>
              <a:t>Figure: Pitman &amp; Durban (2012), Fig. 3. Whales approach an ice floe during wave washing</a:t>
            </a:r>
          </a:p>
          <a:p>
            <a:r>
              <a:rPr sz="1200">
                <a:latin typeface="Arial"/>
              </a:rPr>
              <a:t>Figure source: </a:t>
            </a:r>
            <a:r>
              <a:rPr sz="1200">
                <a:latin typeface="Arial"/>
                <a:hlinkClick r:id="rId3"/>
              </a:rPr>
              <a:t>https://doi.org/10.1111/j.1748-7692.2010.00453.x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McInnes and colleagues followed transient killer-whale groups around Monterey Canyon and mapped their movements against bathymetry. Bathymetry describes the depth and shape of the seafloor. The continental shelf break and upper canyon slope supplied a spatial context for distinguishing searching, traveling and feeding during focal follows.</a:t>
            </a:r>
          </a:p>
          <a:p>
            <a:r>
              <a:rPr sz="1200">
                <a:latin typeface="Arial"/>
              </a:rPr>
              <a:t>• Groups often followed canyon contours while searching in open water. Recorded tracks connected routes with locations where prey were encountered or feeding occurred, rather than classifying every segment as an attack. Whales spent approximately 26% of observed time searching along the shelf break and upper slope and approximately 25% searching elsewhere in open water.</a:t>
            </a:r>
          </a:p>
          <a:p>
            <a:r>
              <a:rPr sz="1200">
                <a:latin typeface="Arial"/>
              </a:rPr>
              <a:t>• These tracks establish repeated use of particular habitat features during foraging. They do not determine whether whales followed remembered routes, detected current acoustic cues or used several sensory sources together. The study measured natural movement and behavioral context, leaving the underlying spatial-memory and sensory computations unrecorded.</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p>
            <a:r>
              <a:rPr sz="1200">
                <a:latin typeface="Arial"/>
              </a:rPr>
              <a:t>Figure: McInnes et al. (2024), Fig. 6(A–D). Tracks of groups searching and feeding around canyon contours</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McInnes and colleagues classified activity during focal follows using observable behavioral criteria. Searching described movement while seeking prey; pursuit began when the whales actively chased an encountered animal; feeding followed successful prey capture. Separating these states prevented all time spent in a foraging area from being counted as direct predation.</a:t>
            </a:r>
          </a:p>
          <a:p>
            <a:r>
              <a:rPr sz="1200">
                <a:latin typeface="Arial"/>
              </a:rPr>
              <a:t>• Searching occupied approximately 51% of the observed activity, compared with approximately 10% pursuing prey and 23% feeding. The remaining time included traveling, socializing and resting. Search routes and feeding locations were retained in the spatial record, linking the time budget to particular encounters and habitat features.</a:t>
            </a:r>
          </a:p>
          <a:p>
            <a:r>
              <a:rPr sz="1200">
                <a:latin typeface="Arial"/>
              </a:rPr>
              <a:t>• A hunt therefore includes substantial information acquisition before attack and consumption. These proportions are observations from the sampled groups and conditions, not fixed species-wide constants. They also do not reveal which sensory channel supplied each prey detection, because the investigators did not experimentally remove hearing or vision during natural searches.</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p>
            <a:r>
              <a:rPr sz="1200">
                <a:latin typeface="Arial"/>
              </a:rPr>
              <a:t>Figure: McInnes et al. (2024), Fig. 6(D). A focal-follow track linking search and feeding</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McInnes and colleagues documented transient killer whales attacking grey-whale calves accompanied by their mothers. A calf is not an isolated stationary target: maternal defense, prey movement and the surrounding group influence the attack. The recorded sequence retained identifiable interactions between hunters, mother and calf through pursuit and feeding.</a:t>
            </a:r>
          </a:p>
          <a:p>
            <a:r>
              <a:rPr sz="1200">
                <a:latin typeface="Arial"/>
              </a:rPr>
              <a:t>• Hunters coordinated approaches and physical contacts while attempting to separate or restrain the calf. Feeding followed successful attacks, but the presence of multiple whales near a mother–calf pair alone was not sufficient to classify an encounter as a kill. Sequential observations distinguished attack actions from the final outcome.</a:t>
            </a:r>
          </a:p>
          <a:p>
            <a:r>
              <a:rPr sz="1200">
                <a:latin typeface="Arial"/>
              </a:rPr>
              <a:t>• These natural records establish coordination against large, defended prey. They do not prove that participants held explicit complementary roles from the start or that a particular call directed each action. The observable tactic differs from ice-floe wave washing, even though both combine individual movements into a group hunting outcome.</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p>
            <a:r>
              <a:rPr sz="1200">
                <a:latin typeface="Arial"/>
              </a:rPr>
              <a:t>Figure: McInnes et al. (2024), Fig. 9(A–D). Attack sequence and feeding on a grey-whale calf</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McInnes and colleagues compared seasonal transient-whale encounters with the availability of different marine-mammal prey around Monterey Canyon. Phenology describes the seasonal timing of biological events. Grey whales moving northward from breeding areas create a changing spring opportunity to encounter mothers and calves rather than a constant year-round prey distribution.</a:t>
            </a:r>
          </a:p>
          <a:p>
            <a:r>
              <a:rPr sz="1200">
                <a:latin typeface="Arial"/>
              </a:rPr>
              <a:t>• Transient-whale encounters increased during spring, and observations linked some attacks with the migrating grey-whale calves. The study also documented other prey, including sea lions, elephant seals and small cetaceans. Seasonal presence therefore reflected a broader predatory context rather than exclusive dependence on one prey species.</a:t>
            </a:r>
          </a:p>
          <a:p>
            <a:r>
              <a:rPr sz="1200">
                <a:latin typeface="Arial"/>
              </a:rPr>
              <a:t>• The temporal association supports the interpretation that prey opportunities contribute to predator occurrence. It does not establish prey availability as the only driver, because sighting effort, environmental conditions and movements outside the study area also matter. Observed seasonal patterns constrain ecological interpretations without identifying a single neural calendar or learned migration rule.</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p>
            <a:r>
              <a:rPr sz="1200">
                <a:latin typeface="Arial"/>
              </a:rPr>
              <a:t>Figure: McInnes et al. (2024), Fig. 5. Seasonal occurrence of transient whales and grey-whale calves</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McInnes and colleagues recorded different attack sequences against sea lions, harbor seals and small cetaceans. Coordination describes a relationship among observable actions in space and time; shared intent would require a stronger claim about what participants represent internally. Successful group predation does not make those terms equivalent.</a:t>
            </a:r>
          </a:p>
          <a:p>
            <a:r>
              <a:rPr sz="1200">
                <a:latin typeface="Arial"/>
              </a:rPr>
              <a:t>• Photographs and focal observations retained attacks on particular prey rather than combining all marine-mammal encounters into a generic cooperative tactic. The methods could establish who was present, how movements related to the prey and whether feeding occurred. They could not directly establish the internal goals or expectations of every participant.</a:t>
            </a:r>
          </a:p>
          <a:p>
            <a:r>
              <a:rPr sz="1200">
                <a:latin typeface="Arial"/>
              </a:rPr>
              <a:t>• Repeated group behavior provides opportunities for younger animals to observe experienced hunters, making social learning a plausible explanation for persistent tactics. The recorded hunts nevertheless lacked a controlled manipulation of learning opportunities. Cooperation, ecological specialization and cultural transmission are related hypotheses whose strongest evidence comes from different observations or experimental preparations.</a:t>
            </a:r>
          </a:p>
          <a:p/>
          <a:p>
            <a:r>
              <a:rPr sz="1200">
                <a:latin typeface="Arial"/>
              </a:rPr>
              <a:t>References:</a:t>
            </a:r>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3"/>
              </a:rPr>
              <a:t>https://doi.org/10.1371/journal.pone.0299291</a:t>
            </a:r>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4"/>
              </a:rPr>
              <a:t>https://doi.org/10.1111/j.1748-7692.2010.00453.x</a:t>
            </a:r>
          </a:p>
          <a:p/>
          <a:p>
            <a:r>
              <a:rPr sz="1200">
                <a:latin typeface="Arial"/>
              </a:rPr>
              <a:t>Figure: McInnes et al. (2024), Fig. 8(A–D). Predation on different marine-mammal prey</a:t>
            </a:r>
          </a:p>
          <a:p>
            <a:r>
              <a:rPr sz="1200">
                <a:latin typeface="Arial"/>
              </a:rPr>
              <a:t>Figure source: </a:t>
            </a:r>
            <a:r>
              <a:rPr sz="1200">
                <a:latin typeface="Arial"/>
                <a:hlinkClick r:id="rId3"/>
              </a:rPr>
              <a:t>https://doi.org/10.1371/journal.pone.0299291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playback experiment presents a controlled recording to test whether sound changes behavior. Selbmann and colleagues exposed tagged killer whales near an Icelandic herring spawning ground to long-finned pilot-whale sounds and control stimuli. Multi-sensor tags recorded movement, diving and acoustic activity, linking the stimulus interval with the whale’s subsequent actions.</a:t>
            </a:r>
          </a:p>
          <a:p>
            <a:r>
              <a:rPr sz="1200">
                <a:latin typeface="Arial"/>
              </a:rPr>
              <a:t>• Pilot-whale playback commonly elicited faster, more directed movement away from the sound source, accompanied by changes in group cohesion and alignment. Calling often increased initially and then decreased. Comparing these responses with noise controls constrained the explanation that any broadcast sound would produce the same movement.</a:t>
            </a:r>
          </a:p>
          <a:p>
            <a:r>
              <a:rPr sz="1200">
                <a:latin typeface="Arial"/>
              </a:rPr>
              <a:t>• The experiment establishes that acoustic information can alter individual and group behavior without a live pilot whale approaching. It does not identify the brain circuitry producing avoidance or prove that the listeners experienced a particular emotion. Interpretation as anticipated harassment or threat is supported by ecological context but remains distinct from the measured movement response.</a:t>
            </a:r>
          </a:p>
          <a:p/>
          <a:p>
            <a:r>
              <a:rPr sz="1200">
                <a:latin typeface="Arial"/>
              </a:rPr>
              <a:t>References:</a:t>
            </a:r>
          </a:p>
          <a:p>
            <a:r>
              <a:rPr sz="1200">
                <a:latin typeface="Arial"/>
              </a:rPr>
              <a:t>Anna Selbmann; Filipa I. P. Samarra; Lucie Barluet de Beauchesne; Tatiana M. J. Marchon; Ellen Hayward; Jörundur Svavarsson; Patrick J. O. Miller; Paul J. Wensveen; Charlotte Curé (2026). Aversive behavioural responses of killer whales to sounds of long-finned pilot whales. Scientific Reports 16(1): 4716. </a:t>
            </a:r>
            <a:r>
              <a:rPr sz="1200">
                <a:latin typeface="Arial"/>
                <a:hlinkClick r:id="rId3"/>
              </a:rPr>
              <a:t>https://doi.org/10.1038/s41598-026-35574-7</a:t>
            </a:r>
          </a:p>
          <a:p/>
          <a:p>
            <a:r>
              <a:rPr sz="1200">
                <a:latin typeface="Arial"/>
              </a:rPr>
              <a:t>Figure: Selbmann et al. (2026), Fig. 1. Tagged movement and acoustic activity across controlled playbacks</a:t>
            </a:r>
          </a:p>
          <a:p>
            <a:r>
              <a:rPr sz="1200">
                <a:latin typeface="Arial"/>
              </a:rPr>
              <a:t>Figure source: </a:t>
            </a:r>
            <a:r>
              <a:rPr sz="1200">
                <a:latin typeface="Arial"/>
                <a:hlinkClick r:id="rId3"/>
              </a:rPr>
              <a:t>https://doi.org/10.1038/s41598-026-35574-7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Selbmann and colleagues evaluated horizontal movement, acoustic output and group organization before, during and after playback. Noise control recordings and a 1–2-kHz upsweep stimulus provided comparisons with pilot-whale sounds. Group cohesion concerns how closely individuals remain together, whereas alignment concerns similarity in their movement direction.</a:t>
            </a:r>
          </a:p>
          <a:p>
            <a:r>
              <a:rPr sz="1200">
                <a:latin typeface="Arial"/>
              </a:rPr>
              <a:t>• Responses to pilot-whale sounds included movement away from the source and more coordinated group organization. The upsweep control was used too sparingly for the same inferential treatment as the better-sampled noise comparison, so the authors distinguished descriptive observations from their principal analysis. Stimulus identity and available controls therefore shaped the strength of each conclusion.</a:t>
            </a:r>
          </a:p>
          <a:p>
            <a:r>
              <a:rPr sz="1200">
                <a:latin typeface="Arial"/>
              </a:rPr>
              <a:t>• Acoustically triggered alignment supplies direct evidence linking hearing with a group action, but it is an avoidance response rather than a hunt. It cannot establish that the same control mechanism organizes cooperative prey capture. The causal sensory manipulation and the observational hunting studies answer complementary questions about sound-guided social behavior.</a:t>
            </a:r>
          </a:p>
          <a:p/>
          <a:p>
            <a:r>
              <a:rPr sz="1200">
                <a:latin typeface="Arial"/>
              </a:rPr>
              <a:t>References:</a:t>
            </a:r>
          </a:p>
          <a:p>
            <a:r>
              <a:rPr sz="1200">
                <a:latin typeface="Arial"/>
              </a:rPr>
              <a:t>Anna Selbmann; Filipa I. P. Samarra; Lucie Barluet de Beauchesne; Tatiana M. J. Marchon; Ellen Hayward; Jörundur Svavarsson; Patrick J. O. Miller; Paul J. Wensveen; Charlotte Curé (2026). Aversive behavioural responses of killer whales to sounds of long-finned pilot whales. Scientific Reports 16(1): 4716. </a:t>
            </a:r>
            <a:r>
              <a:rPr sz="1200">
                <a:latin typeface="Arial"/>
                <a:hlinkClick r:id="rId3"/>
              </a:rPr>
              <a:t>https://doi.org/10.1038/s41598-026-35574-7</a:t>
            </a:r>
          </a:p>
          <a:p/>
          <a:p>
            <a:r>
              <a:rPr sz="1200">
                <a:latin typeface="Arial"/>
              </a:rPr>
              <a:t>Figure: Selbmann et al. (2026), Fig. 5(a–e). Group cohesion and movement changes during playbacks</a:t>
            </a:r>
          </a:p>
          <a:p>
            <a:r>
              <a:rPr sz="1200">
                <a:latin typeface="Arial"/>
              </a:rPr>
              <a:t>Figure source: </a:t>
            </a:r>
            <a:r>
              <a:rPr sz="1200">
                <a:latin typeface="Arial"/>
                <a:hlinkClick r:id="rId3"/>
              </a:rPr>
              <a:t>https://doi.org/10.1038/s41598-026-35574-7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Anatomy and function differ. Killer-whale MRI establishes regional organization; it does not identify the synaptic circuit for dialect learning or hunting coordination.</a:t>
            </a:r>
          </a:p>
          <a:p>
            <a:r>
              <a:rPr sz="1200">
                <a:latin typeface="Arial"/>
              </a:rPr>
              <a:t>• Hearing is frequency dependent. Behavioral and brainstem audiograms reveal ultrasonic detection, but physiological thresholds exceed behavioral thresholds and depend on stimulus conditions.</a:t>
            </a:r>
          </a:p>
          <a:p>
            <a:r>
              <a:rPr sz="1200">
                <a:latin typeface="Arial"/>
              </a:rPr>
              <a:t>• Dialects are group traditions. Shared discrete calls define acoustic clans, while historical recordings establish repertoire persistence without directly isolating the learning mechanism.</a:t>
            </a:r>
          </a:p>
          <a:p>
            <a:r>
              <a:rPr sz="1200">
                <a:latin typeface="Arial"/>
              </a:rPr>
              <a:t>• Learning evidence has levels. Longitudinal call change permits maturation as an alternative; controlled copying of novel sounds directly supports vocal production learning.</a:t>
            </a:r>
          </a:p>
          <a:p>
            <a:r>
              <a:rPr sz="1200">
                <a:latin typeface="Arial"/>
              </a:rPr>
              <a:t>• Hunting involves coordinated action. Wave washing and large-prey attacks link group movements with capture outcomes, without proving deliberate teaching, shared intent or a specific call command.</a:t>
            </a:r>
          </a:p>
          <a:p>
            <a:r>
              <a:rPr sz="1200">
                <a:latin typeface="Arial"/>
              </a:rPr>
              <a:t>• Playback tests acoustic causation. Pilot-whale recordings alter movement and group organization; this avoidance result does not establish the mechanism coordinating prey capture.</a:t>
            </a:r>
          </a:p>
          <a:p/>
          <a:p>
            <a:r>
              <a:rPr sz="1200">
                <a:latin typeface="Arial"/>
              </a:rPr>
              <a:t>References:</a:t>
            </a:r>
          </a:p>
          <a:p>
            <a:r>
              <a:rPr sz="1200">
                <a:latin typeface="Arial"/>
              </a:rPr>
              <a:t>John K. B. Ford (1991). Vocal traditions among resident killer whales (Orcinus orca) in coastal waters of British Columbia. Canadian Journal of Zoology 69(6): 1454-1483. </a:t>
            </a:r>
            <a:r>
              <a:rPr sz="1200">
                <a:latin typeface="Arial"/>
                <a:hlinkClick r:id="rId3"/>
              </a:rPr>
              <a:t>https://doi.org/10.1139/z91-206</a:t>
            </a:r>
          </a:p>
          <a:p/>
          <a:p>
            <a:r>
              <a:rPr sz="1200">
                <a:latin typeface="Arial"/>
              </a:rPr>
              <a:t>Lori Marino; Chet C. Sherwood; Bradley N. Delman; Cheuk Y. Tang; Thomas P. Naidich; Patrick R. Hof (2004). Neuroanatomy of the killer whale (Orcinus orca) from magnetic resonance images. The Anatomical Record Part A: Discoveries in Molecular, Cellular, and Evolutionary Biology 281A(2): 1256-1263. </a:t>
            </a:r>
            <a:r>
              <a:rPr sz="1200">
                <a:latin typeface="Arial"/>
                <a:hlinkClick r:id="rId4"/>
              </a:rPr>
              <a:t>https://doi.org/10.1002/ar.a.20075</a:t>
            </a:r>
          </a:p>
          <a:p/>
          <a:p>
            <a:r>
              <a:rPr sz="1200">
                <a:latin typeface="Arial"/>
              </a:rPr>
              <a:t>Venkatesh, A., McClain, A. M., Le-Bert, C. R., Musser, W. B., &amp; Ridgway, S. H. (2025). Astrocyte properties in cetacean cortices. Physiological Reports, 13(21), e70651. </a:t>
            </a:r>
            <a:r>
              <a:rPr sz="1200">
                <a:latin typeface="Arial"/>
                <a:hlinkClick r:id="rId5"/>
              </a:rPr>
              <a:t>https://doi.org/10.14814/phy2.70651</a:t>
            </a:r>
          </a:p>
          <a:p/>
          <a:p>
            <a:r>
              <a:rPr sz="1200">
                <a:latin typeface="Arial"/>
              </a:rPr>
              <a:t>Michael D. Szymanski; David E. Bain; Kent Kiehl; Scott Pennington; Scott Wong; Kenneth R. Henry (1999). Killer whale (Orcinus orca) hearing: Auditory brainstem response and behavioral audiograms. Journal of the Acoustical Society of America 106(2): 1134–1141. </a:t>
            </a:r>
            <a:r>
              <a:rPr sz="1200">
                <a:latin typeface="Arial"/>
                <a:hlinkClick r:id="rId6"/>
              </a:rPr>
              <a:t>https://doi.org/10.1121/1.427121</a:t>
            </a:r>
          </a:p>
          <a:p/>
          <a:p>
            <a:r>
              <a:rPr sz="1200">
                <a:latin typeface="Arial"/>
              </a:rPr>
              <a:t>V.B Deecke; J.K.B Ford; P Spong (2000). Dialect change in resident killer whales: implications for vocal learning and cultural transmission. Animal Behaviour 60(5): 629-638. </a:t>
            </a:r>
            <a:r>
              <a:rPr sz="1200">
                <a:latin typeface="Arial"/>
                <a:hlinkClick r:id="rId7"/>
              </a:rPr>
              <a:t>https://doi.org/10.1006/anbe.2000.1454</a:t>
            </a:r>
          </a:p>
          <a:p/>
          <a:p>
            <a:r>
              <a:rPr sz="1200">
                <a:latin typeface="Arial"/>
              </a:rPr>
              <a:t>José Z. Abramson; Mª Victoria Hernández-Lloreda; Lino García; Fernando Colmenares; Francisco Aboitiz; Josep Call (2018). Imitation of novel conspecific and human speech sounds in the killer whale ( Orcinus orca ). Proceedings of the Royal Society B: Biological Sciences 285(1871): 20172171. </a:t>
            </a:r>
            <a:r>
              <a:rPr sz="1200">
                <a:latin typeface="Arial"/>
                <a:hlinkClick r:id="rId8"/>
              </a:rPr>
              <a:t>https://doi.org/10.1098/rspb.2017.2171</a:t>
            </a:r>
          </a:p>
          <a:p/>
          <a:p>
            <a:r>
              <a:rPr sz="1200">
                <a:latin typeface="Arial"/>
              </a:rPr>
              <a:t>Robert L. Pitman; John W. Durban (2012). Cooperative hunting behavior, prey selectivity and prey handling by pack ice killer whales ( Orcinus orca ), type B, in Antarctic Peninsula waters. Marine Mammal Science 28(1): 16-36. </a:t>
            </a:r>
            <a:r>
              <a:rPr sz="1200">
                <a:latin typeface="Arial"/>
                <a:hlinkClick r:id="rId9"/>
              </a:rPr>
              <a:t>https://doi.org/10.1111/j.1748-7692.2010.00453.x</a:t>
            </a:r>
          </a:p>
          <a:p/>
          <a:p>
            <a:r>
              <a:rPr sz="1200">
                <a:latin typeface="Arial"/>
              </a:rPr>
              <a:t>Josh D. McInnes; Kevin M. Lester; Lawrence M. Dill; Chelsea R. Mathieson; Peggy J. West-Stap; Stephanie L. Marcos; Andrew W. Trites (2024). Foraging behaviour and ecology of transient killer whales within a deep submarine canyon system. PLOS ONE 19(3): e0299291. </a:t>
            </a:r>
            <a:r>
              <a:rPr sz="1200">
                <a:latin typeface="Arial"/>
                <a:hlinkClick r:id="rId10"/>
              </a:rPr>
              <a:t>https://doi.org/10.1371/journal.pone.0299291</a:t>
            </a:r>
          </a:p>
          <a:p/>
          <a:p>
            <a:r>
              <a:rPr sz="1200">
                <a:latin typeface="Arial"/>
              </a:rPr>
              <a:t>Anna Selbmann; Filipa I. P. Samarra; Lucie Barluet de Beauchesne; Tatiana M. J. Marchon; Ellen Hayward; Jörundur Svavarsson; Patrick J. O. Miller; Paul J. Wensveen; Charlotte Curé (2026). Aversive behavioural responses of killer whales to sounds of long-finned pilot whales. Scientific Reports 16(1): 4716. </a:t>
            </a:r>
            <a:r>
              <a:rPr sz="1200">
                <a:latin typeface="Arial"/>
                <a:hlinkClick r:id="rId11"/>
              </a:rPr>
              <a:t>https://doi.org/10.1038/s41598-026-35574-7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9565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EE0E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EE0E2"/>
                </a:solidFill>
                <a:latin typeface="Arial"/>
              </a:rPr>
              <a:t>Lecture 45</a:t>
            </a:r>
          </a:p>
        </p:txBody>
      </p:sp>
      <p:sp>
        <p:nvSpPr>
          <p:cNvPr id="5" name="Lecture title"/>
          <p:cNvSpPr txBox="1"/>
          <p:nvPr/>
        </p:nvSpPr>
        <p:spPr>
          <a:xfrm>
            <a:off x="685800" y="2194560"/>
            <a:ext cx="4724247" cy="2788920"/>
          </a:xfrm>
          <a:prstGeom prst="rect">
            <a:avLst/>
          </a:prstGeom>
          <a:noFill/>
        </p:spPr>
        <p:txBody>
          <a:bodyPr wrap="square" lIns="0" rIns="0" tIns="0" bIns="0">
            <a:spAutoFit/>
          </a:bodyPr>
          <a:lstStyle/>
          <a:p>
            <a:pPr algn="l">
              <a:lnSpc>
                <a:spcPct val="105000"/>
              </a:lnSpc>
              <a:spcAft>
                <a:spcPts val="0"/>
              </a:spcAft>
            </a:pPr>
            <a:r>
              <a:rPr sz="2600" b="1">
                <a:solidFill>
                  <a:srgbClr val="FFFFFF"/>
                </a:solidFill>
                <a:latin typeface="Arial"/>
              </a:rPr>
              <a:t>Killer whales: brain organization and auditory specializations, vocal traditions, social learning, and coordination of cooperative hunting</a:t>
            </a:r>
          </a:p>
        </p:txBody>
      </p:sp>
      <p:sp>
        <p:nvSpPr>
          <p:cNvPr id="6" name="TextBox 5"/>
          <p:cNvSpPr txBox="1"/>
          <p:nvPr/>
        </p:nvSpPr>
        <p:spPr>
          <a:xfrm>
            <a:off x="685800" y="534924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EE0E2"/>
                </a:solidFill>
                <a:latin typeface="Arial"/>
              </a:rPr>
              <a:t>Date TBD</a:t>
            </a:r>
          </a:p>
        </p:txBody>
      </p:sp>
      <p:sp>
        <p:nvSpPr>
          <p:cNvPr id="7" name="TextBox 6"/>
          <p:cNvSpPr txBox="1"/>
          <p:nvPr/>
        </p:nvSpPr>
        <p:spPr>
          <a:xfrm>
            <a:off x="685800" y="594360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EE0E2"/>
                </a:solidFill>
                <a:latin typeface="Arial"/>
              </a:rPr>
              <a:t>Jordan Lopez, Ph.D.</a:t>
            </a:r>
          </a:p>
          <a:p>
            <a:pPr algn="l">
              <a:lnSpc>
                <a:spcPct val="108000"/>
              </a:lnSpc>
              <a:spcAft>
                <a:spcPts val="200"/>
              </a:spcAft>
            </a:pPr>
            <a:r>
              <a:rPr sz="1200" b="0" i="0">
                <a:solidFill>
                  <a:srgbClr val="EEE0E2"/>
                </a:solidFill>
                <a:latin typeface="Arial"/>
              </a:rPr>
              <a:t>Professor of Neurobiology &amp; Biomedical Engineering</a:t>
            </a:r>
          </a:p>
        </p:txBody>
      </p:sp>
      <p:pic>
        <p:nvPicPr>
          <p:cNvPr id="8" name="Picture 7" descr="typeC4.png"/>
          <p:cNvPicPr>
            <a:picLocks noChangeAspect="1"/>
          </p:cNvPicPr>
          <p:nvPr/>
        </p:nvPicPr>
        <p:blipFill>
          <a:blip r:embed="rId2"/>
          <a:stretch>
            <a:fillRect/>
          </a:stretch>
        </p:blipFill>
        <p:spPr>
          <a:xfrm>
            <a:off x="6553047" y="822960"/>
            <a:ext cx="5181447" cy="344970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Wellard et al. (2020), Fig. 4. Type C killer whale encountered during acoustic fieldwork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Ecotypes differ in prey and social behavior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killer-whale </a:t>
            </a:r>
            <a:r>
              <a:rPr sz="1400" b="1" i="0">
                <a:solidFill>
                  <a:srgbClr val="594044"/>
                </a:solidFill>
                <a:latin typeface="Arial"/>
              </a:rPr>
              <a:t>ecotype</a:t>
            </a:r>
            <a:r>
              <a:rPr sz="1400" b="0" i="0">
                <a:solidFill>
                  <a:srgbClr val="000000"/>
                </a:solidFill>
                <a:latin typeface="Arial"/>
              </a:rPr>
              <a:t> is a population-associated form distinguished by ecological and behavioral characteristics. In the northeastern Pacific, resident whales specialize on fish, whereas transient whales hunt marine mammals. These feeding differences coexist with distinctive social and acoustic patterns; they are not merely differences in the prey encountered during one trip.</a:t>
            </a:r>
          </a:p>
          <a:p>
            <a:pPr algn="l">
              <a:lnSpc>
                <a:spcPct val="108000"/>
              </a:lnSpc>
              <a:spcAft>
                <a:spcPts val="840"/>
              </a:spcAft>
            </a:pPr>
            <a:r>
              <a:rPr sz="1400" b="0" i="0">
                <a:solidFill>
                  <a:srgbClr val="000000"/>
                </a:solidFill>
                <a:latin typeface="Arial"/>
              </a:rPr>
              <a:t>McInnes and colleagues followed identifiable transient groups around Monterey Canyon and documented coordinated attacks on sea lions, seals and cetaceans. Natural dorsal-fin shapes and scars allowed researchers to recognize individuals across encounters. Focal follows linked group movements with searching, pursuit and feeding rather than treating every sighting as a successful hunt.</a:t>
            </a:r>
          </a:p>
          <a:p>
            <a:pPr algn="l">
              <a:lnSpc>
                <a:spcPct val="108000"/>
              </a:lnSpc>
              <a:spcAft>
                <a:spcPts val="840"/>
              </a:spcAft>
            </a:pPr>
            <a:r>
              <a:rPr sz="1400" b="0" i="0">
                <a:solidFill>
                  <a:srgbClr val="000000"/>
                </a:solidFill>
                <a:latin typeface="Arial"/>
              </a:rPr>
              <a:t>Ford’s resident-whale recordings instead linked stable social groups with shared call repertoires. Ecological specialization and vocal tradition must be attributed to the population studied. Neither dataset establishes that every killer-whale population organizes hunting or communication in the same way.</a:t>
            </a:r>
          </a:p>
        </p:txBody>
      </p:sp>
      <p:pic>
        <p:nvPicPr>
          <p:cNvPr id="4" name="Picture 3" descr="hunt8a.png"/>
          <p:cNvPicPr>
            <a:picLocks noChangeAspect="1"/>
          </p:cNvPicPr>
          <p:nvPr/>
        </p:nvPicPr>
        <p:blipFill>
          <a:blip r:embed="rId2"/>
          <a:stretch>
            <a:fillRect/>
          </a:stretch>
        </p:blipFill>
        <p:spPr>
          <a:xfrm>
            <a:off x="6412687" y="1280160"/>
            <a:ext cx="5212080" cy="1727284"/>
          </a:xfrm>
          <a:prstGeom prst="rect">
            <a:avLst/>
          </a:prstGeom>
        </p:spPr>
      </p:pic>
      <p:sp>
        <p:nvSpPr>
          <p:cNvPr id="5" name="Figure caption"/>
          <p:cNvSpPr txBox="1"/>
          <p:nvPr/>
        </p:nvSpPr>
        <p:spPr>
          <a:xfrm>
            <a:off x="6412687" y="309888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8(A). Coordinated attack on a California sea lion</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 Ford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Postmortem MRI resolves brain organization</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Magnetic resonance imaging</a:t>
            </a:r>
            <a:r>
              <a:rPr sz="1400" b="0" i="0">
                <a:solidFill>
                  <a:srgbClr val="000000"/>
                </a:solidFill>
                <a:latin typeface="Arial"/>
              </a:rPr>
              <a:t>, or MRI, distinguishes tissues using their responses in a magnetic field. Marino and colleagues scanned an adult male killer-whale brain obtained after death from natural causes and preserved in buffered formalin. This preparation preserved gross internal relationships without requiring the brain to be sliced physically for every anatomical view.</a:t>
            </a:r>
          </a:p>
          <a:p>
            <a:pPr algn="l">
              <a:lnSpc>
                <a:spcPct val="108000"/>
              </a:lnSpc>
              <a:spcAft>
                <a:spcPts val="840"/>
              </a:spcAft>
            </a:pPr>
            <a:r>
              <a:rPr sz="1400" b="0" i="0">
                <a:solidFill>
                  <a:srgbClr val="000000"/>
                </a:solidFill>
                <a:latin typeface="Arial"/>
              </a:rPr>
              <a:t>A 1.5-T scanner acquired contiguous coronal and axial sections, representing frontal and horizontal viewing planes. The images had 2-mm section thickness and approximately 0.63-mm resolution within each plane. Researchers identified structures by comparison with published odontocete photographs, illustrations and MRI atlases.</a:t>
            </a:r>
          </a:p>
          <a:p>
            <a:pPr algn="l">
              <a:lnSpc>
                <a:spcPct val="108000"/>
              </a:lnSpc>
              <a:spcAft>
                <a:spcPts val="840"/>
              </a:spcAft>
            </a:pPr>
            <a:r>
              <a:rPr sz="1400" b="0" i="0">
                <a:solidFill>
                  <a:srgbClr val="000000"/>
                </a:solidFill>
                <a:latin typeface="Arial"/>
              </a:rPr>
              <a:t>The resulting labels establish the positions and visible proportions of brain regions in this specimen. They do not measure neuronal firing during communication, synaptic connections or learning-related activity. Fixation and examination of one postmortem brain also limit conclusions about living tissue properties and variation among individuals.</a:t>
            </a:r>
          </a:p>
        </p:txBody>
      </p:sp>
      <p:pic>
        <p:nvPicPr>
          <p:cNvPr id="4" name="Picture 3" descr="mri1.png"/>
          <p:cNvPicPr>
            <a:picLocks noChangeAspect="1"/>
          </p:cNvPicPr>
          <p:nvPr/>
        </p:nvPicPr>
        <p:blipFill>
          <a:blip r:embed="rId2"/>
          <a:stretch>
            <a:fillRect/>
          </a:stretch>
        </p:blipFill>
        <p:spPr>
          <a:xfrm>
            <a:off x="1066072" y="1280160"/>
            <a:ext cx="4213791"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Marino et al. (2004), Fig. 1. Labeled rostral coronal brain section</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Marino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Antibody labeling resolves cortical astrocytes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780"/>
              </a:spcAft>
            </a:pPr>
            <a:r>
              <a:rPr sz="1300" b="1" i="0">
                <a:solidFill>
                  <a:srgbClr val="594044"/>
                </a:solidFill>
                <a:latin typeface="Arial"/>
              </a:rPr>
              <a:t>Astrocytes</a:t>
            </a:r>
            <a:r>
              <a:rPr sz="1300" b="0" i="0">
                <a:solidFill>
                  <a:srgbClr val="000000"/>
                </a:solidFill>
                <a:latin typeface="Arial"/>
              </a:rPr>
              <a:t> are glial cells that support the cellular environment of neurons. Venkatesh and colleagues examined formalin-fixed cortical tissue from several cetaceans, including killer-whale motor and auditory cortex. Paraffin sections were 6 μm thick, permitting cellular measurements that complement the larger-scale regional relationships resolved by MRI.</a:t>
            </a:r>
          </a:p>
          <a:p>
            <a:pPr algn="l">
              <a:lnSpc>
                <a:spcPct val="108000"/>
              </a:lnSpc>
              <a:spcAft>
                <a:spcPts val="780"/>
              </a:spcAft>
            </a:pPr>
            <a:r>
              <a:rPr sz="1300" b="0" i="0">
                <a:solidFill>
                  <a:srgbClr val="000000"/>
                </a:solidFill>
                <a:latin typeface="Arial"/>
              </a:rPr>
              <a:t>Antibodies labeled </a:t>
            </a:r>
            <a:r>
              <a:rPr sz="1300" b="1" i="0">
                <a:solidFill>
                  <a:srgbClr val="594044"/>
                </a:solidFill>
                <a:latin typeface="Arial"/>
              </a:rPr>
              <a:t>glial fibrillary acidic protein</a:t>
            </a:r>
            <a:r>
              <a:rPr sz="1300" b="0" i="0">
                <a:solidFill>
                  <a:srgbClr val="000000"/>
                </a:solidFill>
                <a:latin typeface="Arial"/>
              </a:rPr>
              <a:t>, or GFAP, an intermediate-filament protein used to identify astrocytes. A fluorescent secondary antibody detected the bound primary antibody, while DAPI counterstaining labeled nuclei. Sections processed without primary antibody controlled for nonspecific fluorescence. Tissue identity was concealed during image thresholding, reducing expectations about species or cortical region.</a:t>
            </a:r>
          </a:p>
          <a:p>
            <a:pPr algn="l">
              <a:lnSpc>
                <a:spcPct val="108000"/>
              </a:lnSpc>
              <a:spcAft>
                <a:spcPts val="780"/>
              </a:spcAft>
            </a:pPr>
            <a:r>
              <a:rPr sz="1300" b="0" i="0">
                <a:solidFill>
                  <a:srgbClr val="000000"/>
                </a:solidFill>
                <a:latin typeface="Arial"/>
              </a:rPr>
              <a:t>The killer-whale motor cortex contained prominent GFAP-positive labeling in superficial layer 1. This establishes the distribution of the detected marker, rather than measuring astrocyte activity during hearing or learning. GFAP does not identify every astrocyte, and fixed tissue cannot reveal moment-to-moment neurotransmitter handling. Marker distribution therefore requires interpretation alongside the preparation and its controls.</a:t>
            </a:r>
          </a:p>
        </p:txBody>
      </p:sp>
      <p:pic>
        <p:nvPicPr>
          <p:cNvPr id="4" name="Picture 3" descr="astro4a.png"/>
          <p:cNvPicPr>
            <a:picLocks noChangeAspect="1"/>
          </p:cNvPicPr>
          <p:nvPr/>
        </p:nvPicPr>
        <p:blipFill>
          <a:blip r:embed="rId2"/>
          <a:stretch>
            <a:fillRect/>
          </a:stretch>
        </p:blipFill>
        <p:spPr>
          <a:xfrm>
            <a:off x="6412687" y="1280160"/>
            <a:ext cx="5212080" cy="2284117"/>
          </a:xfrm>
          <a:prstGeom prst="rect">
            <a:avLst/>
          </a:prstGeom>
        </p:spPr>
      </p:pic>
      <p:sp>
        <p:nvSpPr>
          <p:cNvPr id="5" name="Figure caption"/>
          <p:cNvSpPr txBox="1"/>
          <p:nvPr/>
        </p:nvSpPr>
        <p:spPr>
          <a:xfrm>
            <a:off x="6412687" y="36557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Venkatesh et al. (2025), Fig. 4(a). GFAP-labeled layer 1 in killer-whale motor cortex</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Venkatesh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The insula lies within an elaborate operculum</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insula</a:t>
            </a:r>
            <a:r>
              <a:rPr sz="1400" b="0" i="0">
                <a:solidFill>
                  <a:srgbClr val="000000"/>
                </a:solidFill>
                <a:latin typeface="Arial"/>
              </a:rPr>
              <a:t> is cortex situated within the lateral cerebral region. An </a:t>
            </a:r>
            <a:r>
              <a:rPr sz="1400" b="1" i="0">
                <a:solidFill>
                  <a:srgbClr val="594044"/>
                </a:solidFill>
                <a:latin typeface="Arial"/>
              </a:rPr>
              <a:t>operculum</a:t>
            </a:r>
            <a:r>
              <a:rPr sz="1400" b="0" i="0">
                <a:solidFill>
                  <a:srgbClr val="000000"/>
                </a:solidFill>
                <a:latin typeface="Arial"/>
              </a:rPr>
              <a:t> is an overlying cortical fold that covers a deeper region. Marino and colleagues identified marked elaboration of the insular cortex and surrounding temporal operculum in coronal sections of the killer-whale brain, using established anatomical comparisons to assign labels.</a:t>
            </a:r>
          </a:p>
          <a:p>
            <a:pPr algn="l">
              <a:lnSpc>
                <a:spcPct val="108000"/>
              </a:lnSpc>
              <a:spcAft>
                <a:spcPts val="840"/>
              </a:spcAft>
            </a:pPr>
            <a:r>
              <a:rPr sz="1400" b="0" i="0">
                <a:solidFill>
                  <a:srgbClr val="000000"/>
                </a:solidFill>
                <a:latin typeface="Arial"/>
              </a:rPr>
              <a:t>The MRI sections distinguish insular tissue, surrounding cortex and nearby internal structures. The authors proposed that this elaboration might relate to cetacean sensory or communicative specialization. They also emphasized that the arrangement of cortical functional maps differs across mammalian lineages, so a human regional function cannot simply be transferred to a whale.</a:t>
            </a:r>
          </a:p>
          <a:p>
            <a:pPr algn="l">
              <a:lnSpc>
                <a:spcPct val="108000"/>
              </a:lnSpc>
              <a:spcAft>
                <a:spcPts val="840"/>
              </a:spcAft>
            </a:pPr>
            <a:r>
              <a:rPr sz="1400" b="0" i="0">
                <a:solidFill>
                  <a:srgbClr val="000000"/>
                </a:solidFill>
                <a:latin typeface="Arial"/>
              </a:rPr>
              <a:t>No auditory stimulation, vocal production task or lesion experiment was performed in this preparation. Consequently, assigning a specific call-learning role to the operculum remains a hypothesis. The observed anatomical elaboration is established; its contribution to recognizing group calls or controlling vocal imitation is unresolved.</a:t>
            </a:r>
          </a:p>
        </p:txBody>
      </p:sp>
      <p:pic>
        <p:nvPicPr>
          <p:cNvPr id="4" name="Picture 3" descr="mri4.png"/>
          <p:cNvPicPr>
            <a:picLocks noChangeAspect="1"/>
          </p:cNvPicPr>
          <p:nvPr/>
        </p:nvPicPr>
        <p:blipFill>
          <a:blip r:embed="rId2"/>
          <a:stretch>
            <a:fillRect/>
          </a:stretch>
        </p:blipFill>
        <p:spPr>
          <a:xfrm>
            <a:off x="983837" y="1280160"/>
            <a:ext cx="4378261"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Marino et al. (2004), Fig. 4. Insula, operculum and cortical fields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Marino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Cortical layers differ in glial labeling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94044"/>
                </a:solidFill>
                <a:latin typeface="Arial"/>
              </a:rPr>
              <a:t>cortical layer</a:t>
            </a:r>
            <a:r>
              <a:rPr sz="1400" b="0" i="0">
                <a:solidFill>
                  <a:srgbClr val="000000"/>
                </a:solidFill>
                <a:latin typeface="Arial"/>
              </a:rPr>
              <a:t> is a depth-defined subdivision of cortex with characteristic cellular organization. Venkatesh and colleagues identified layer 1, combined layers 2/3, layer 5 and underlying white matter using GFAP labeling, Nissl staining and myelin staining. </a:t>
            </a:r>
            <a:r>
              <a:rPr sz="1400" b="1" i="0">
                <a:solidFill>
                  <a:srgbClr val="594044"/>
                </a:solidFill>
                <a:latin typeface="Arial"/>
              </a:rPr>
              <a:t>Nissl staining</a:t>
            </a:r>
            <a:r>
              <a:rPr sz="1400" b="0" i="0">
                <a:solidFill>
                  <a:srgbClr val="000000"/>
                </a:solidFill>
                <a:latin typeface="Arial"/>
              </a:rPr>
              <a:t> marks cellular material rich in ribosomal RNA and provides landmarks for identifying neuron-containing tissue.</a:t>
            </a:r>
          </a:p>
          <a:p>
            <a:pPr algn="l">
              <a:lnSpc>
                <a:spcPct val="108000"/>
              </a:lnSpc>
              <a:spcAft>
                <a:spcPts val="840"/>
              </a:spcAft>
            </a:pPr>
            <a:r>
              <a:rPr sz="1400" b="0" i="0">
                <a:solidFill>
                  <a:srgbClr val="000000"/>
                </a:solidFill>
                <a:latin typeface="Arial"/>
              </a:rPr>
              <a:t>Motor-cortex comparisons found greater GFAP-positive area in layer 1 and white matter than in layers 2/3 and 5. Across the sampled species, the corresponding mean labeled fractions were approximately 4.17%, 4.06%, 1.66% and 0.87%. These are percentages of measured tissue area occupied by the marker, not percentages of all cells that are astrocytes.</a:t>
            </a:r>
          </a:p>
          <a:p>
            <a:pPr algn="l">
              <a:lnSpc>
                <a:spcPct val="108000"/>
              </a:lnSpc>
              <a:spcAft>
                <a:spcPts val="840"/>
              </a:spcAft>
            </a:pPr>
            <a:r>
              <a:rPr sz="1400" b="0" i="0">
                <a:solidFill>
                  <a:srgbClr val="000000"/>
                </a:solidFill>
                <a:latin typeface="Arial"/>
              </a:rPr>
              <a:t>Killer-whale tissue retained the contrasting superficial and deeper labeling pattern. Layer 1 had relatively sparse Nissl staining alongside greater GFAP labeling. Tissue from one animal per species limits population-level generalization, and stain intensity does not measure synaptic strength. The result establishes a laminar cellular organization without identifying a circuit for vocal tradition.</a:t>
            </a:r>
          </a:p>
        </p:txBody>
      </p:sp>
      <p:pic>
        <p:nvPicPr>
          <p:cNvPr id="4" name="Picture 3" descr="astro5a.png"/>
          <p:cNvPicPr>
            <a:picLocks noChangeAspect="1"/>
          </p:cNvPicPr>
          <p:nvPr/>
        </p:nvPicPr>
        <p:blipFill>
          <a:blip r:embed="rId2"/>
          <a:stretch>
            <a:fillRect/>
          </a:stretch>
        </p:blipFill>
        <p:spPr>
          <a:xfrm>
            <a:off x="6795314" y="1280160"/>
            <a:ext cx="444682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Venkatesh et al. (2025), Fig. 5(a). Nissl-stained layers of killer-whale motor cortex</a:t>
            </a:r>
          </a:p>
        </p:txBody>
      </p:sp>
      <p:pic>
        <p:nvPicPr>
          <p:cNvPr id="6" name="Picture 5" descr="astro4a.png"/>
          <p:cNvPicPr>
            <a:picLocks noChangeAspect="1"/>
          </p:cNvPicPr>
          <p:nvPr/>
        </p:nvPicPr>
        <p:blipFill>
          <a:blip r:embed="rId3"/>
          <a:stretch>
            <a:fillRect/>
          </a:stretch>
        </p:blipFill>
        <p:spPr>
          <a:xfrm>
            <a:off x="7297323" y="4251960"/>
            <a:ext cx="344280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Venkatesh et al. (2025), Fig. 4(a). GFAP-labeled layer 1 in killer-whale motor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Venkatesh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Cerebellar hemispheres flank a narrow vermis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cerebellum</a:t>
            </a:r>
            <a:r>
              <a:rPr sz="1400" b="0" i="0">
                <a:solidFill>
                  <a:srgbClr val="000000"/>
                </a:solidFill>
                <a:latin typeface="Arial"/>
              </a:rPr>
              <a:t> is a hindbrain structure whose hemispheres flank a central region called the </a:t>
            </a:r>
            <a:r>
              <a:rPr sz="1400" b="1" i="0">
                <a:solidFill>
                  <a:srgbClr val="594044"/>
                </a:solidFill>
                <a:latin typeface="Arial"/>
              </a:rPr>
              <a:t>vermis</a:t>
            </a:r>
            <a:r>
              <a:rPr sz="1400" b="0" i="0">
                <a:solidFill>
                  <a:srgbClr val="000000"/>
                </a:solidFill>
                <a:latin typeface="Arial"/>
              </a:rPr>
              <a:t>. Marino and colleagues identified large cerebellar hemispheres and a comparatively narrow vermis in the killer-whale brain. Coronal MRI sections also retained the relationship between the cerebellum, brainstem and cerebral tissue above it.</a:t>
            </a:r>
          </a:p>
          <a:p>
            <a:pPr algn="l">
              <a:lnSpc>
                <a:spcPct val="108000"/>
              </a:lnSpc>
              <a:spcAft>
                <a:spcPts val="840"/>
              </a:spcAft>
            </a:pPr>
            <a:r>
              <a:rPr sz="1400" b="0" i="0">
                <a:solidFill>
                  <a:srgbClr val="000000"/>
                </a:solidFill>
                <a:latin typeface="Arial"/>
              </a:rPr>
              <a:t>The authors compared these proportions with other odontocete descriptions and found the arrangement consistent with that lineage. Their labeled sections identify cerebellar peduncles, the bundles that connect cerebellar tissue with the brainstem. These gross features provide a structural description rather than a measurement of a hunting-specific motor computation.</a:t>
            </a:r>
          </a:p>
          <a:p>
            <a:pPr algn="l">
              <a:lnSpc>
                <a:spcPct val="108000"/>
              </a:lnSpc>
              <a:spcAft>
                <a:spcPts val="840"/>
              </a:spcAft>
            </a:pPr>
            <a:r>
              <a:rPr sz="1400" b="0" i="0">
                <a:solidFill>
                  <a:srgbClr val="000000"/>
                </a:solidFill>
                <a:latin typeface="Arial"/>
              </a:rPr>
              <a:t>Coordinated swimming and precise prey attacks require controlled movement, but this MRI preparation did not measure those behaviors or perturb cerebellar activity. The anatomical result therefore supports comparison of hindbrain organization across species. It does not establish that the observed vermis proportions explain wave washing or coordinated attack timing.</a:t>
            </a:r>
          </a:p>
        </p:txBody>
      </p:sp>
      <p:pic>
        <p:nvPicPr>
          <p:cNvPr id="4" name="Picture 3" descr="mri7.png"/>
          <p:cNvPicPr>
            <a:picLocks noChangeAspect="1"/>
          </p:cNvPicPr>
          <p:nvPr/>
        </p:nvPicPr>
        <p:blipFill>
          <a:blip r:embed="rId2"/>
          <a:stretch>
            <a:fillRect/>
          </a:stretch>
        </p:blipFill>
        <p:spPr>
          <a:xfrm>
            <a:off x="1059726" y="1280160"/>
            <a:ext cx="4226483"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Marino et al. (2004), Fig. 7. Cerebellar hemispheres, vermis and brainstem</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Marino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The inferior colliculi occupy a distinct midbrain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tectum</a:t>
            </a:r>
            <a:r>
              <a:rPr sz="1400" b="0" i="0">
                <a:solidFill>
                  <a:srgbClr val="000000"/>
                </a:solidFill>
                <a:latin typeface="Arial"/>
              </a:rPr>
              <a:t> is the dorsal midbrain region containing the superior and inferior colliculi. Marino and colleagues identified well-developed inferior colliculi in the killer-whale specimen, with a spatial arrangement resembling other odontocetes. Axial sections retained the positions of both collicular pairs relative to the cerebellum and nearby brainstem tissue.</a:t>
            </a:r>
          </a:p>
          <a:p>
            <a:pPr algn="l">
              <a:lnSpc>
                <a:spcPct val="108000"/>
              </a:lnSpc>
              <a:spcAft>
                <a:spcPts val="840"/>
              </a:spcAft>
            </a:pPr>
            <a:r>
              <a:rPr sz="1400" b="0" i="0">
                <a:solidFill>
                  <a:srgbClr val="000000"/>
                </a:solidFill>
                <a:latin typeface="Arial"/>
              </a:rPr>
              <a:t>The </a:t>
            </a:r>
            <a:r>
              <a:rPr sz="1400" b="1" i="0">
                <a:solidFill>
                  <a:srgbClr val="594044"/>
                </a:solidFill>
                <a:latin typeface="Arial"/>
              </a:rPr>
              <a:t>inferior colliculus</a:t>
            </a:r>
            <a:r>
              <a:rPr sz="1400" b="0" i="0">
                <a:solidFill>
                  <a:srgbClr val="000000"/>
                </a:solidFill>
                <a:latin typeface="Arial"/>
              </a:rPr>
              <a:t> is associated with auditory processing in mammalian neuroanatomy. Its identification provides an anatomical candidate within the hearing pathway, but the MRI signal does not reveal frequency tuning, response timing or the identity of active neurons. Labels were assigned through comparison with established anatomical material rather than functional stimulation.</a:t>
            </a:r>
          </a:p>
          <a:p>
            <a:pPr algn="l">
              <a:lnSpc>
                <a:spcPct val="108000"/>
              </a:lnSpc>
              <a:spcAft>
                <a:spcPts val="840"/>
              </a:spcAft>
            </a:pPr>
            <a:r>
              <a:rPr sz="1400" b="0" i="0">
                <a:solidFill>
                  <a:srgbClr val="000000"/>
                </a:solidFill>
                <a:latin typeface="Arial"/>
              </a:rPr>
              <a:t>The study also described an unusual lateral position of the cerebral peduncle, a major fiber-bundle region. Neither regional position nor gross size identifies how group-specific calls are encoded. Establishing those mechanisms would require direct physiological or connectivity evidence beyond this postmortem anatomical preparation.</a:t>
            </a:r>
          </a:p>
        </p:txBody>
      </p:sp>
      <p:pic>
        <p:nvPicPr>
          <p:cNvPr id="4" name="Picture 3" descr="mri13.png"/>
          <p:cNvPicPr>
            <a:picLocks noChangeAspect="1"/>
          </p:cNvPicPr>
          <p:nvPr/>
        </p:nvPicPr>
        <p:blipFill>
          <a:blip r:embed="rId2"/>
          <a:stretch>
            <a:fillRect/>
          </a:stretch>
        </p:blipFill>
        <p:spPr>
          <a:xfrm>
            <a:off x="6946517" y="1280160"/>
            <a:ext cx="414441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Marino et al. (2004), Fig. 13. Superior and inferior colliculi in an axial section</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Marino et al.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Astrocyte size is a cellular measurement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Venkatesh and colleagues measured </a:t>
            </a:r>
            <a:r>
              <a:rPr sz="1400" b="1" i="0">
                <a:solidFill>
                  <a:srgbClr val="594044"/>
                </a:solidFill>
                <a:latin typeface="Arial"/>
              </a:rPr>
              <a:t>fibrous astrocytes</a:t>
            </a:r>
            <a:r>
              <a:rPr sz="1400" b="0" i="0">
                <a:solidFill>
                  <a:srgbClr val="000000"/>
                </a:solidFill>
                <a:latin typeface="Arial"/>
              </a:rPr>
              <a:t>, the relatively sparsely branched astrocytes associated with white matter. Cells were selected for consistent GFAP labeling, an in-plane cell body and expected morphology. The </a:t>
            </a:r>
            <a:r>
              <a:rPr sz="1400" b="1" i="0">
                <a:solidFill>
                  <a:srgbClr val="594044"/>
                </a:solidFill>
                <a:latin typeface="Arial"/>
              </a:rPr>
              <a:t>soma</a:t>
            </a:r>
            <a:r>
              <a:rPr sz="1400" b="0" i="0">
                <a:solidFill>
                  <a:srgbClr val="000000"/>
                </a:solidFill>
                <a:latin typeface="Arial"/>
              </a:rPr>
              <a:t>, or cell body, was measured along its longest visible axis, rather than treating the extent of branching processes as cell-body diameter.</a:t>
            </a:r>
          </a:p>
          <a:p>
            <a:pPr algn="l">
              <a:lnSpc>
                <a:spcPct val="108000"/>
              </a:lnSpc>
              <a:spcAft>
                <a:spcPts val="840"/>
              </a:spcAft>
            </a:pPr>
            <a:r>
              <a:rPr sz="1400" b="0" i="0">
                <a:solidFill>
                  <a:srgbClr val="000000"/>
                </a:solidFill>
                <a:latin typeface="Arial"/>
              </a:rPr>
              <a:t>The mean measured killer-whale soma diameter was approximately 11.54 μm, compared with 7.53 μm in the pygmy sperm whale and 12.50 μm in the false killer whale. The rodent comparison was approximately 10.34 μm and did not differ detectably from the sampled cetaceans. Brain regions were pooled when one region lacked enough suitable cells for measurement.</a:t>
            </a:r>
          </a:p>
          <a:p>
            <a:pPr algn="l">
              <a:lnSpc>
                <a:spcPct val="108000"/>
              </a:lnSpc>
              <a:spcAft>
                <a:spcPts val="840"/>
              </a:spcAft>
            </a:pPr>
            <a:r>
              <a:rPr sz="1400" b="0" i="0">
                <a:solidFill>
                  <a:srgbClr val="000000"/>
                </a:solidFill>
                <a:latin typeface="Arial"/>
              </a:rPr>
              <a:t>Different cell-body sizes are established morphological observations. They do not directly quantify neurotransmitter clearance, ion regulation or learning ability. Formalin-fixed sections and limited tissue availability constrain the comparison, while GFAP-negative cells are not represented equally. Proposed relationships between astrocyte morphology and complex behavior therefore require functional experiments beyond the measurements in this study.</a:t>
            </a:r>
          </a:p>
        </p:txBody>
      </p:sp>
      <p:pic>
        <p:nvPicPr>
          <p:cNvPr id="4" name="Picture 3" descr="astro3.png"/>
          <p:cNvPicPr>
            <a:picLocks noChangeAspect="1"/>
          </p:cNvPicPr>
          <p:nvPr/>
        </p:nvPicPr>
        <p:blipFill>
          <a:blip r:embed="rId2"/>
          <a:stretch>
            <a:fillRect/>
          </a:stretch>
        </p:blipFill>
        <p:spPr>
          <a:xfrm>
            <a:off x="8096062" y="1280160"/>
            <a:ext cx="1845329"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Venkatesh et al. (2025), Fig. 3. White-matter astrocyte cell-body diameters across species</a:t>
            </a:r>
          </a:p>
        </p:txBody>
      </p:sp>
      <p:pic>
        <p:nvPicPr>
          <p:cNvPr id="6" name="Picture 5" descr="astro4a.png"/>
          <p:cNvPicPr>
            <a:picLocks noChangeAspect="1"/>
          </p:cNvPicPr>
          <p:nvPr/>
        </p:nvPicPr>
        <p:blipFill>
          <a:blip r:embed="rId3"/>
          <a:stretch>
            <a:fillRect/>
          </a:stretch>
        </p:blipFill>
        <p:spPr>
          <a:xfrm>
            <a:off x="7297323" y="4251960"/>
            <a:ext cx="344280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Venkatesh et al. (2025), Fig. 4(a). GFAP-labeled layer 1 in killer-whale motor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Venkatesh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Conditioned responses measure hearing thresholds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t>
            </a:r>
            <a:r>
              <a:rPr sz="1400" b="1" i="0">
                <a:solidFill>
                  <a:srgbClr val="594044"/>
                </a:solidFill>
                <a:latin typeface="Arial"/>
              </a:rPr>
              <a:t>audiogram</a:t>
            </a:r>
            <a:r>
              <a:rPr sz="1400" b="0" i="0">
                <a:solidFill>
                  <a:srgbClr val="000000"/>
                </a:solidFill>
                <a:latin typeface="Arial"/>
              </a:rPr>
              <a:t> records the lowest sound level detected at each tested frequency. Szymanski and colleagues trained adult killer whales to respond to tones at an underwater station; physiological recordings used a separate surface station. A </a:t>
            </a:r>
            <a:r>
              <a:rPr sz="1400" b="1" i="0">
                <a:solidFill>
                  <a:srgbClr val="594044"/>
                </a:solidFill>
                <a:latin typeface="Arial"/>
              </a:rPr>
              <a:t>go/no-go task</a:t>
            </a:r>
            <a:r>
              <a:rPr sz="1400" b="0" i="0">
                <a:solidFill>
                  <a:srgbClr val="000000"/>
                </a:solidFill>
                <a:latin typeface="Arial"/>
              </a:rPr>
              <a:t> requires an action when the signal is present and withholding that action when it is absent.</a:t>
            </a:r>
          </a:p>
          <a:p>
            <a:pPr algn="l">
              <a:lnSpc>
                <a:spcPct val="108000"/>
              </a:lnSpc>
              <a:spcAft>
                <a:spcPts val="840"/>
              </a:spcAft>
            </a:pPr>
            <a:r>
              <a:rPr sz="1400" b="0" i="0">
                <a:solidFill>
                  <a:srgbClr val="000000"/>
                </a:solidFill>
                <a:latin typeface="Arial"/>
              </a:rPr>
              <a:t>During behavioral testing, a 2-s tone occurred after a variable delay, and the whale had 4 s to respond. Sound level decreased after detections and increased after misses. Threshold required repeated detections at one level and failures at the next lower level, linking the estimate to a reproducible behavioral criterion.</a:t>
            </a:r>
          </a:p>
          <a:p>
            <a:pPr algn="l">
              <a:lnSpc>
                <a:spcPct val="108000"/>
              </a:lnSpc>
              <a:spcAft>
                <a:spcPts val="840"/>
              </a:spcAft>
            </a:pPr>
            <a:r>
              <a:rPr sz="1400" b="0" i="0">
                <a:solidFill>
                  <a:srgbClr val="000000"/>
                </a:solidFill>
                <a:latin typeface="Arial"/>
              </a:rPr>
              <a:t>Silent trials, disconnected equipment and frequencies the projector could not produce tested responses without a valid acoustic signal. An observer unaware of signal timing judged behavior, and personnel were varied to reduce inadvertent cues. These controls distinguish hearing from responses to trainers, although motivation and the response criterion still influence threshold estimates.</a:t>
            </a:r>
          </a:p>
        </p:txBody>
      </p:sp>
      <p:pic>
        <p:nvPicPr>
          <p:cNvPr id="4" name="Picture 3" descr="hearing1.png"/>
          <p:cNvPicPr>
            <a:picLocks noChangeAspect="1"/>
          </p:cNvPicPr>
          <p:nvPr/>
        </p:nvPicPr>
        <p:blipFill>
          <a:blip r:embed="rId2"/>
          <a:stretch>
            <a:fillRect/>
          </a:stretch>
        </p:blipFill>
        <p:spPr>
          <a:xfrm>
            <a:off x="6412687" y="1280160"/>
            <a:ext cx="5212080" cy="1792639"/>
          </a:xfrm>
          <a:prstGeom prst="rect">
            <a:avLst/>
          </a:prstGeom>
        </p:spPr>
      </p:pic>
      <p:sp>
        <p:nvSpPr>
          <p:cNvPr id="5" name="Figure caption"/>
          <p:cNvSpPr txBox="1"/>
          <p:nvPr/>
        </p:nvSpPr>
        <p:spPr>
          <a:xfrm>
            <a:off x="6412687" y="31642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Szymanski et al. (1999), Fig. 1. Whale position, acoustic projectors and recording electrodes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Hearing sensitivity varies with sound frequency</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Szymanski and colleagues measured both conditioned detection and auditory brainstem responses in the same killer whales. Their </a:t>
            </a:r>
            <a:r>
              <a:rPr sz="1500" b="1" i="0">
                <a:solidFill>
                  <a:srgbClr val="594044"/>
                </a:solidFill>
                <a:latin typeface="Arial"/>
              </a:rPr>
              <a:t>frequency-dependent threshold</a:t>
            </a:r>
            <a:r>
              <a:rPr sz="1500" b="0" i="0">
                <a:solidFill>
                  <a:srgbClr val="000000"/>
                </a:solidFill>
                <a:latin typeface="Arial"/>
              </a:rPr>
              <a:t> curves were approximately U-shaped: low and very high frequencies required greater sound levels than the most sensitive middle range. Sound frequency is expressed in kilohertz, with 1 kHz corresponding to 1,000 cycles per second.</a:t>
            </a:r>
          </a:p>
          <a:p>
            <a:pPr algn="l">
              <a:lnSpc>
                <a:spcPct val="108000"/>
              </a:lnSpc>
              <a:spcAft>
                <a:spcPts val="900"/>
              </a:spcAft>
            </a:pPr>
            <a:r>
              <a:rPr sz="1500" b="0" i="0">
                <a:solidFill>
                  <a:srgbClr val="000000"/>
                </a:solidFill>
                <a:latin typeface="Arial"/>
              </a:rPr>
              <a:t>The combined mean audiogram had its minimum near 20 kHz, at approximately 36 dB referenced to 1 µPa. This reference expresses underwater sound-pressure level; it is not directly interchangeable with an airborne sound level. The most sensitive band, defined within 10 dB of the minimum, extended approximately from 18 to 42 kHz.</a:t>
            </a:r>
          </a:p>
          <a:p>
            <a:pPr algn="l">
              <a:lnSpc>
                <a:spcPct val="108000"/>
              </a:lnSpc>
              <a:spcAft>
                <a:spcPts val="900"/>
              </a:spcAft>
            </a:pPr>
            <a:r>
              <a:rPr sz="1500" b="0" i="0">
                <a:solidFill>
                  <a:srgbClr val="000000"/>
                </a:solidFill>
                <a:latin typeface="Arial"/>
              </a:rPr>
              <a:t>These measurements establish a broad region of effective hearing under the tested conditions. They do not imply that calls outside that band are inaudible. Detectability also depends on signal level, duration and background noise, which were controlled differently in the behavioral and physiological procedures.</a:t>
            </a:r>
          </a:p>
        </p:txBody>
      </p:sp>
      <p:pic>
        <p:nvPicPr>
          <p:cNvPr id="4" name="Picture 3" descr="hearing5c.png"/>
          <p:cNvPicPr>
            <a:picLocks noChangeAspect="1"/>
          </p:cNvPicPr>
          <p:nvPr/>
        </p:nvPicPr>
        <p:blipFill>
          <a:blip r:embed="rId2"/>
          <a:stretch>
            <a:fillRect/>
          </a:stretch>
        </p:blipFill>
        <p:spPr>
          <a:xfrm>
            <a:off x="566927" y="1280160"/>
            <a:ext cx="5212080" cy="3398496"/>
          </a:xfrm>
          <a:prstGeom prst="rect">
            <a:avLst/>
          </a:prstGeom>
        </p:spPr>
      </p:pic>
      <p:sp>
        <p:nvSpPr>
          <p:cNvPr id="5" name="Figure caption"/>
          <p:cNvSpPr txBox="1"/>
          <p:nvPr/>
        </p:nvSpPr>
        <p:spPr>
          <a:xfrm>
            <a:off x="566928" y="477009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Szymanski et al. (1999), Fig. 5(c). Mean frequency-dependent hearing thresholds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Brainstem responses track synchronized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t>
            </a:r>
            <a:r>
              <a:rPr sz="1400" b="1" i="0">
                <a:solidFill>
                  <a:srgbClr val="594044"/>
                </a:solidFill>
                <a:latin typeface="Arial"/>
              </a:rPr>
              <a:t>auditory brainstem response</a:t>
            </a:r>
            <a:r>
              <a:rPr sz="1400" b="0" i="0">
                <a:solidFill>
                  <a:srgbClr val="000000"/>
                </a:solidFill>
                <a:latin typeface="Arial"/>
              </a:rPr>
              <a:t>, or ABR, is an electrical potential recorded after sound stimulation. It reflects synchronized population activity rather than a recording from one identified neuron. Szymanski and colleagues placed suction-cup electrodes on the head and body while trained whales maintained a stationary position near an underwater sound projector.</a:t>
            </a:r>
          </a:p>
          <a:p>
            <a:pPr algn="l">
              <a:lnSpc>
                <a:spcPct val="108000"/>
              </a:lnSpc>
              <a:spcAft>
                <a:spcPts val="840"/>
              </a:spcAft>
            </a:pPr>
            <a:r>
              <a:rPr sz="1400" b="0" i="0">
                <a:solidFill>
                  <a:srgbClr val="000000"/>
                </a:solidFill>
                <a:latin typeface="Arial"/>
              </a:rPr>
              <a:t>Short tone bursts were delivered at 30 per second, and responses were averaged to distinguish stimulus-linked activity from ongoing electrical noise. The principal waveform peaks occurred within 10 ms of tone onset. At 32 kHz, recorded responses became smaller as the acoustic stimulus was reduced, and later peaks persisted after smaller early components disappeared into background activity.</a:t>
            </a:r>
          </a:p>
          <a:p>
            <a:pPr algn="l">
              <a:lnSpc>
                <a:spcPct val="108000"/>
              </a:lnSpc>
              <a:spcAft>
                <a:spcPts val="840"/>
              </a:spcAft>
            </a:pPr>
            <a:r>
              <a:rPr sz="1400" b="0" i="0">
                <a:solidFill>
                  <a:srgbClr val="000000"/>
                </a:solidFill>
                <a:latin typeface="Arial"/>
              </a:rPr>
              <a:t>The authors used the largest late peak-to-trough component for threshold estimation. Averaging and artifact rejection improved detection of reproducible responses, but the scalp potential does not identify a cortical call-recognition circuit. Its amplitude depends on synchrony, electrode placement and stimulus conditions as well as auditory sensitivity.</a:t>
            </a:r>
          </a:p>
        </p:txBody>
      </p:sp>
      <p:pic>
        <p:nvPicPr>
          <p:cNvPr id="4" name="Picture 3" descr="hearing3a.png"/>
          <p:cNvPicPr>
            <a:picLocks noChangeAspect="1"/>
          </p:cNvPicPr>
          <p:nvPr/>
        </p:nvPicPr>
        <p:blipFill>
          <a:blip r:embed="rId2"/>
          <a:stretch>
            <a:fillRect/>
          </a:stretch>
        </p:blipFill>
        <p:spPr>
          <a:xfrm>
            <a:off x="7051662" y="1280160"/>
            <a:ext cx="393413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Szymanski et al. (1999), Fig. 3(a). Auditory brainstem waveforms at three sound levels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Physiological and behavioral thresholds differ</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Szymanski and colleagues compared brainstem and behavioral audiograms from the same individuals, reducing uncertainty caused by comparing different animals. The </a:t>
            </a:r>
            <a:r>
              <a:rPr sz="1400" b="1" i="0">
                <a:solidFill>
                  <a:srgbClr val="594044"/>
                </a:solidFill>
                <a:latin typeface="Arial"/>
              </a:rPr>
              <a:t>physiological threshold</a:t>
            </a:r>
            <a:r>
              <a:rPr sz="1400" b="0" i="0">
                <a:solidFill>
                  <a:srgbClr val="000000"/>
                </a:solidFill>
                <a:latin typeface="Arial"/>
              </a:rPr>
              <a:t> was the minimum level producing a repeatable response above averaged electrical background. The behavioral threshold depended on the trained detection response to a much longer tone.</a:t>
            </a:r>
          </a:p>
          <a:p>
            <a:pPr algn="l">
              <a:lnSpc>
                <a:spcPct val="108000"/>
              </a:lnSpc>
              <a:spcAft>
                <a:spcPts val="840"/>
              </a:spcAft>
            </a:pPr>
            <a:r>
              <a:rPr sz="1400" b="0" i="0">
                <a:solidFill>
                  <a:srgbClr val="000000"/>
                </a:solidFill>
                <a:latin typeface="Arial"/>
              </a:rPr>
              <a:t>Across tested frequencies, the brainstem audiogram was on average approximately 12 dB less sensitive than the behavioral audiogram. Agreement was closest in the 18–42-kHz sensitive band, where the difference was approximately 5 dB. At 60–100 kHz, disagreement reached approximately 22 dB rather than remaining a fixed offset across the hearing range.</a:t>
            </a:r>
          </a:p>
          <a:p>
            <a:pPr algn="l">
              <a:lnSpc>
                <a:spcPct val="108000"/>
              </a:lnSpc>
              <a:spcAft>
                <a:spcPts val="840"/>
              </a:spcAft>
            </a:pPr>
            <a:r>
              <a:rPr sz="1400" b="0" i="0">
                <a:solidFill>
                  <a:srgbClr val="000000"/>
                </a:solidFill>
                <a:latin typeface="Arial"/>
              </a:rPr>
              <a:t>Brief tone bursts and 2-s behavioral tones differ in the time available for auditory integration. The authors discussed this difference as one contribution to the discrepancy. A brainstem threshold can therefore estimate hearing while still exceeding the behavioral detection threshold; the two measures are not interchangeable readings of identical stimulus processing.</a:t>
            </a:r>
          </a:p>
        </p:txBody>
      </p:sp>
      <p:pic>
        <p:nvPicPr>
          <p:cNvPr id="4" name="Picture 3" descr="hearing5c.png"/>
          <p:cNvPicPr>
            <a:picLocks noChangeAspect="1"/>
          </p:cNvPicPr>
          <p:nvPr/>
        </p:nvPicPr>
        <p:blipFill>
          <a:blip r:embed="rId2"/>
          <a:stretch>
            <a:fillRect/>
          </a:stretch>
        </p:blipFill>
        <p:spPr>
          <a:xfrm>
            <a:off x="566927" y="1280160"/>
            <a:ext cx="5212080" cy="3398496"/>
          </a:xfrm>
          <a:prstGeom prst="rect">
            <a:avLst/>
          </a:prstGeom>
        </p:spPr>
      </p:pic>
      <p:sp>
        <p:nvSpPr>
          <p:cNvPr id="5" name="Figure caption"/>
          <p:cNvSpPr txBox="1"/>
          <p:nvPr/>
        </p:nvSpPr>
        <p:spPr>
          <a:xfrm>
            <a:off x="566928" y="477009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Szymanski et al. (1999), Fig. 5(c). Mean frequency-dependent hearing thresholds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High-frequency detection extends beyond 32 kHz</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Both killer whales in Szymanski and colleagues’ study responded behaviorally to tones at 100 kHz, and one also responded at 120 kHz. These direct detections extended beyond the approximately 32-kHz upper limit reported in an earlier individual. A </a:t>
            </a:r>
            <a:r>
              <a:rPr sz="1400" b="1" i="0">
                <a:solidFill>
                  <a:srgbClr val="594044"/>
                </a:solidFill>
                <a:latin typeface="Arial"/>
              </a:rPr>
              <a:t>hearing limit</a:t>
            </a:r>
            <a:r>
              <a:rPr sz="1400" b="0" i="0">
                <a:solidFill>
                  <a:srgbClr val="000000"/>
                </a:solidFill>
                <a:latin typeface="Arial"/>
              </a:rPr>
              <a:t> is consequently an empirical boundary for a tested animal and procedure, not a universal species constant.</a:t>
            </a:r>
          </a:p>
          <a:p>
            <a:pPr algn="l">
              <a:lnSpc>
                <a:spcPct val="108000"/>
              </a:lnSpc>
              <a:spcAft>
                <a:spcPts val="840"/>
              </a:spcAft>
            </a:pPr>
            <a:r>
              <a:rPr sz="1400" b="0" i="0">
                <a:solidFill>
                  <a:srgbClr val="000000"/>
                </a:solidFill>
                <a:latin typeface="Arial"/>
              </a:rPr>
              <a:t>The authors monitored the stimulus near the lower jaw, where the whale’s receiving region was positioned, and checked spectral content and level. Silent and disconnected-equipment trials helped exclude responses to nonacoustic cues. Calibrating the underwater projector was essential because a nominal high-frequency setting alone does not establish the sound actually reaching the animal.</a:t>
            </a:r>
          </a:p>
          <a:p>
            <a:pPr algn="l">
              <a:lnSpc>
                <a:spcPct val="108000"/>
              </a:lnSpc>
              <a:spcAft>
                <a:spcPts val="840"/>
              </a:spcAft>
            </a:pPr>
            <a:r>
              <a:rPr sz="1400" b="0" i="0">
                <a:solidFill>
                  <a:srgbClr val="000000"/>
                </a:solidFill>
                <a:latin typeface="Arial"/>
              </a:rPr>
              <a:t>High-frequency thresholds were substantially elevated relative to the sensitive middle band, and physiological thresholds exceeded behavioral thresholds. The result establishes ultrasonic detection in the tested whales. It does not establish identical sensitivity across ages, individuals or natural noise conditions, nor a sharp frequency boundary shared by all killer whales.</a:t>
            </a:r>
          </a:p>
        </p:txBody>
      </p:sp>
      <p:pic>
        <p:nvPicPr>
          <p:cNvPr id="4" name="Picture 3" descr="hearing5b.png"/>
          <p:cNvPicPr>
            <a:picLocks noChangeAspect="1"/>
          </p:cNvPicPr>
          <p:nvPr/>
        </p:nvPicPr>
        <p:blipFill>
          <a:blip r:embed="rId2"/>
          <a:stretch>
            <a:fillRect/>
          </a:stretch>
        </p:blipFill>
        <p:spPr>
          <a:xfrm>
            <a:off x="6412687" y="1280160"/>
            <a:ext cx="5212080" cy="3393534"/>
          </a:xfrm>
          <a:prstGeom prst="rect">
            <a:avLst/>
          </a:prstGeom>
        </p:spPr>
      </p:pic>
      <p:sp>
        <p:nvSpPr>
          <p:cNvPr id="5" name="Figure caption"/>
          <p:cNvSpPr txBox="1"/>
          <p:nvPr/>
        </p:nvSpPr>
        <p:spPr>
          <a:xfrm>
            <a:off x="6412687" y="476513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Szymanski et al. (1999), Fig. 5(b). Vigga’s behavioral and brainstem hearing thresholds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Calls, whistles and clicks differ acoustically</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Killer-whale recordings contain </a:t>
            </a:r>
            <a:r>
              <a:rPr sz="1400" b="1" i="0">
                <a:solidFill>
                  <a:srgbClr val="594044"/>
                </a:solidFill>
                <a:latin typeface="Arial"/>
              </a:rPr>
              <a:t>clicks</a:t>
            </a:r>
            <a:r>
              <a:rPr sz="1400" b="0" i="0">
                <a:solidFill>
                  <a:srgbClr val="000000"/>
                </a:solidFill>
                <a:latin typeface="Arial"/>
              </a:rPr>
              <a:t>, brief broadband signals associated with echolocation; </a:t>
            </a:r>
            <a:r>
              <a:rPr sz="1400" b="1" i="0">
                <a:solidFill>
                  <a:srgbClr val="594044"/>
                </a:solidFill>
                <a:latin typeface="Arial"/>
              </a:rPr>
              <a:t>whistles</a:t>
            </a:r>
            <a:r>
              <a:rPr sz="1400" b="0" i="0">
                <a:solidFill>
                  <a:srgbClr val="000000"/>
                </a:solidFill>
                <a:latin typeface="Arial"/>
              </a:rPr>
              <a:t>, tonal signals with a frequency contour; and </a:t>
            </a:r>
            <a:r>
              <a:rPr sz="1400" b="1" i="0">
                <a:solidFill>
                  <a:srgbClr val="594044"/>
                </a:solidFill>
                <a:latin typeface="Arial"/>
              </a:rPr>
              <a:t>pulsed calls</a:t>
            </a:r>
            <a:r>
              <a:rPr sz="1400" b="0" i="0">
                <a:solidFill>
                  <a:srgbClr val="000000"/>
                </a:solidFill>
                <a:latin typeface="Arial"/>
              </a:rPr>
              <a:t>, repeated pulses whose timing contributes to their audible character. Ford classified resident communication using recurring call structure, whereas later studies separately examined whistle repertoires and Antarctic call categories.</a:t>
            </a:r>
          </a:p>
          <a:p>
            <a:pPr algn="l">
              <a:lnSpc>
                <a:spcPct val="108000"/>
              </a:lnSpc>
              <a:spcAft>
                <a:spcPts val="840"/>
              </a:spcAft>
            </a:pPr>
            <a:r>
              <a:rPr sz="1400" b="0" i="0">
                <a:solidFill>
                  <a:srgbClr val="000000"/>
                </a:solidFill>
                <a:latin typeface="Arial"/>
              </a:rPr>
              <a:t>A </a:t>
            </a:r>
            <a:r>
              <a:rPr sz="1400" b="1" i="0">
                <a:solidFill>
                  <a:srgbClr val="594044"/>
                </a:solidFill>
                <a:latin typeface="Arial"/>
              </a:rPr>
              <a:t>spectrogram</a:t>
            </a:r>
            <a:r>
              <a:rPr sz="1400" b="0" i="0">
                <a:solidFill>
                  <a:srgbClr val="000000"/>
                </a:solidFill>
                <a:latin typeface="Arial"/>
              </a:rPr>
              <a:t> represents sound energy across frequency and time. Wellard and colleagues recorded Type C whales in McMurdo Sound and segmented calls according to changing acoustic components. Their published color recordings retain the original frequency and time axes, allowing particular call categories to be distinguished by their temporal and spectral organization.</a:t>
            </a:r>
          </a:p>
          <a:p>
            <a:pPr algn="l">
              <a:lnSpc>
                <a:spcPct val="108000"/>
              </a:lnSpc>
              <a:spcAft>
                <a:spcPts val="840"/>
              </a:spcAft>
            </a:pPr>
            <a:r>
              <a:rPr sz="1400" b="0" i="0">
                <a:solidFill>
                  <a:srgbClr val="000000"/>
                </a:solidFill>
                <a:latin typeface="Arial"/>
              </a:rPr>
              <a:t>These categories describe recorded signals rather than proving a message’s meaning. A call type can remain recognizable while varying among groups or renditions. Type C recordings also concern a different population from northeastern-Pacific residents, so the same broad signal class does not imply a shared dialect or identical behavioral use.</a:t>
            </a:r>
          </a:p>
        </p:txBody>
      </p:sp>
      <p:pic>
        <p:nvPicPr>
          <p:cNvPr id="4" name="Picture 3" descr="typeC5.png"/>
          <p:cNvPicPr>
            <a:picLocks noChangeAspect="1"/>
          </p:cNvPicPr>
          <p:nvPr/>
        </p:nvPicPr>
        <p:blipFill>
          <a:blip r:embed="rId2"/>
          <a:stretch>
            <a:fillRect/>
          </a:stretch>
        </p:blipFill>
        <p:spPr>
          <a:xfrm>
            <a:off x="566928" y="1280160"/>
            <a:ext cx="5212080" cy="3156282"/>
          </a:xfrm>
          <a:prstGeom prst="rect">
            <a:avLst/>
          </a:prstGeom>
        </p:spPr>
      </p:pic>
      <p:sp>
        <p:nvSpPr>
          <p:cNvPr id="5" name="Figure caption"/>
          <p:cNvSpPr txBox="1"/>
          <p:nvPr/>
        </p:nvSpPr>
        <p:spPr>
          <a:xfrm>
            <a:off x="566928" y="452788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Wellard et al. (2020), Fig. 5(a–d). Published color spectrograms of Type C call categories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Wellard et al. (2020); Ford (1991); Souhaut &amp; Shields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Discrete repertoires contain persistent call types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94044"/>
                </a:solidFill>
                <a:latin typeface="Arial"/>
              </a:rPr>
              <a:t>discrete call type</a:t>
            </a:r>
            <a:r>
              <a:rPr sz="1400" b="0" i="0">
                <a:solidFill>
                  <a:srgbClr val="000000"/>
                </a:solidFill>
                <a:latin typeface="Arial"/>
              </a:rPr>
              <a:t> is a recurring acoustic pattern that can be distinguished from other patterns within a repertoire. Ford recorded resident killer-whale pods during repeated encounters and identified the groups using natural individual markings. This connected acoustic samples to known social units rather than assigning every recording to an unidentified population.</a:t>
            </a:r>
          </a:p>
          <a:p>
            <a:pPr algn="l">
              <a:lnSpc>
                <a:spcPct val="108000"/>
              </a:lnSpc>
              <a:spcAft>
                <a:spcPts val="840"/>
              </a:spcAft>
            </a:pPr>
            <a:r>
              <a:rPr sz="1400" b="0" i="0">
                <a:solidFill>
                  <a:srgbClr val="000000"/>
                </a:solidFill>
                <a:latin typeface="Arial"/>
              </a:rPr>
              <a:t>Pods produced repertoires of approximately 7–17 discrete call types. Related versions of a call retained recognizable structure while differing in features such as frequency modulation or the arrangement of call segments. Classification therefore separated a shared call category from the more detailed variants associated with particular pods.</a:t>
            </a:r>
          </a:p>
          <a:p>
            <a:pPr algn="l">
              <a:lnSpc>
                <a:spcPct val="108000"/>
              </a:lnSpc>
              <a:spcAft>
                <a:spcPts val="840"/>
              </a:spcAft>
            </a:pPr>
            <a:r>
              <a:rPr sz="1400" b="0" i="0">
                <a:solidFill>
                  <a:srgbClr val="000000"/>
                </a:solidFill>
                <a:latin typeface="Arial"/>
              </a:rPr>
              <a:t>Repeated sampling across encounters helped establish that a repertoire was persistent rather than an incidental collection from one recording session. The study nevertheless inferred learning from patterns of stability and group-specific variation. It did not experimentally demonstrate how a calf copied each type or identify the neural machinery that stored the repertoire.</a:t>
            </a:r>
          </a:p>
        </p:txBody>
      </p:sp>
      <p:pic>
        <p:nvPicPr>
          <p:cNvPr id="4" name="Picture 3" descr="ford3.png"/>
          <p:cNvPicPr>
            <a:picLocks noChangeAspect="1"/>
          </p:cNvPicPr>
          <p:nvPr/>
        </p:nvPicPr>
        <p:blipFill>
          <a:blip r:embed="rId2"/>
          <a:stretch>
            <a:fillRect/>
          </a:stretch>
        </p:blipFill>
        <p:spPr>
          <a:xfrm>
            <a:off x="7687085" y="1280160"/>
            <a:ext cx="266328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Ford (1991), Fig. 3. Related but distinguishable discrete call variants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Ford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Shared call types define acoustic clans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t>
            </a:r>
            <a:r>
              <a:rPr sz="1400" b="1" i="0">
                <a:solidFill>
                  <a:srgbClr val="594044"/>
                </a:solidFill>
                <a:latin typeface="Arial"/>
              </a:rPr>
              <a:t>acoustic clan</a:t>
            </a:r>
            <a:r>
              <a:rPr sz="1400" b="0" i="0">
                <a:solidFill>
                  <a:srgbClr val="000000"/>
                </a:solidFill>
                <a:latin typeface="Arial"/>
              </a:rPr>
              <a:t> is a set of pods sharing a vocal tradition, distinguished from other clans by their call repertoires. Ford compared resident pods in coastal British Columbia and recognized four such associations. Pods within a clan shared several discrete call types, whereas the clans in the study did not share those repertoire elements.</a:t>
            </a:r>
          </a:p>
          <a:p>
            <a:pPr algn="l">
              <a:lnSpc>
                <a:spcPct val="108000"/>
              </a:lnSpc>
              <a:spcAft>
                <a:spcPts val="840"/>
              </a:spcAft>
            </a:pPr>
            <a:r>
              <a:rPr sz="1400" b="0" i="0">
                <a:solidFill>
                  <a:srgbClr val="000000"/>
                </a:solidFill>
                <a:latin typeface="Arial"/>
              </a:rPr>
              <a:t>Shared calls could still contain pod-specific structural variants. Consequently, </a:t>
            </a:r>
            <a:r>
              <a:rPr sz="1400" b="1" i="0">
                <a:solidFill>
                  <a:srgbClr val="594044"/>
                </a:solidFill>
                <a:latin typeface="Arial"/>
              </a:rPr>
              <a:t>dialect</a:t>
            </a:r>
            <a:r>
              <a:rPr sz="1400" b="0" i="0">
                <a:solidFill>
                  <a:srgbClr val="000000"/>
                </a:solidFill>
                <a:latin typeface="Arial"/>
              </a:rPr>
              <a:t> refers to a patterned group difference within a broader vocal tradition, rather than requiring every signal to be unique to one pod. Acoustic relationships were evaluated alongside known pod identities and repeated recordings.</a:t>
            </a:r>
          </a:p>
          <a:p>
            <a:pPr algn="l">
              <a:lnSpc>
                <a:spcPct val="108000"/>
              </a:lnSpc>
              <a:spcAft>
                <a:spcPts val="840"/>
              </a:spcAft>
            </a:pPr>
            <a:r>
              <a:rPr sz="1400" b="0" i="0">
                <a:solidFill>
                  <a:srgbClr val="000000"/>
                </a:solidFill>
                <a:latin typeface="Arial"/>
              </a:rPr>
              <a:t>Pods from different clans sometimes traveled together, and observed association patterns did not always match acoustic similarity. The author proposed descent from ancestral groups and gradual dialect divergence through learning-related change. Those historical mechanisms were interpretations of the observed repertoire organization, not direct records of the founding events or controlled tests of call acquisition.</a:t>
            </a:r>
          </a:p>
        </p:txBody>
      </p:sp>
      <p:pic>
        <p:nvPicPr>
          <p:cNvPr id="4" name="Picture 3" descr="ford2.png"/>
          <p:cNvPicPr>
            <a:picLocks noChangeAspect="1"/>
          </p:cNvPicPr>
          <p:nvPr/>
        </p:nvPicPr>
        <p:blipFill>
          <a:blip r:embed="rId2"/>
          <a:stretch>
            <a:fillRect/>
          </a:stretch>
        </p:blipFill>
        <p:spPr>
          <a:xfrm>
            <a:off x="1405534" y="1280160"/>
            <a:ext cx="3534866"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Ford (1991), Fig. 2. Acoustic relationships among resident pods and clans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Ford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Historical recordings retain repertoire continuity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Ford compared contemporary resident-whale repertoires with older recordings whose group identities could be assessed. Historical material associated with southern resident pod J from 1958–1961 contained 14 of the 17 call types used by that group in 1979–1983. The recurring repertoire therefore persisted across a period exceeding two decades.</a:t>
            </a:r>
          </a:p>
          <a:p>
            <a:pPr algn="l">
              <a:lnSpc>
                <a:spcPct val="108000"/>
              </a:lnSpc>
              <a:spcAft>
                <a:spcPts val="840"/>
              </a:spcAft>
            </a:pPr>
            <a:r>
              <a:rPr sz="1400" b="0" i="0">
                <a:solidFill>
                  <a:srgbClr val="000000"/>
                </a:solidFill>
                <a:latin typeface="Arial"/>
              </a:rPr>
              <a:t>Comparisons distinguished the presence of recognizable call types from their relative frequency of production. Recordings made during foraging and traveling need not contain the same proportions even when the group retains the same repertoire. Behavioral context and recording opportunity were relevant controls when interpreting differences between old and recent samples.</a:t>
            </a:r>
          </a:p>
          <a:p>
            <a:pPr algn="l">
              <a:lnSpc>
                <a:spcPct val="108000"/>
              </a:lnSpc>
              <a:spcAft>
                <a:spcPts val="840"/>
              </a:spcAft>
            </a:pPr>
            <a:r>
              <a:rPr sz="1400" b="0" i="0">
                <a:solidFill>
                  <a:srgbClr val="000000"/>
                </a:solidFill>
                <a:latin typeface="Arial"/>
              </a:rPr>
              <a:t>Long-term continuity is consistent with a vocal tradition maintained across generations. It does not establish that every rendition is acoustically unchanged, and it cannot by itself separate inherited predispositions from social learning. The stable group repertoire and later demonstrations of vocal copying provide different forms of evidence rather than duplicating the same experimental test.</a:t>
            </a:r>
          </a:p>
        </p:txBody>
      </p:sp>
      <p:pic>
        <p:nvPicPr>
          <p:cNvPr id="4" name="Picture 3" descr="ford18.png"/>
          <p:cNvPicPr>
            <a:picLocks noChangeAspect="1"/>
          </p:cNvPicPr>
          <p:nvPr/>
        </p:nvPicPr>
        <p:blipFill>
          <a:blip r:embed="rId2"/>
          <a:stretch>
            <a:fillRect/>
          </a:stretch>
        </p:blipFill>
        <p:spPr>
          <a:xfrm>
            <a:off x="6412687" y="1280160"/>
            <a:ext cx="5212080" cy="4285795"/>
          </a:xfrm>
          <a:prstGeom prst="rect">
            <a:avLst/>
          </a:prstGeom>
        </p:spPr>
      </p:pic>
      <p:sp>
        <p:nvSpPr>
          <p:cNvPr id="5" name="Figure caption"/>
          <p:cNvSpPr txBox="1"/>
          <p:nvPr/>
        </p:nvSpPr>
        <p:spPr>
          <a:xfrm>
            <a:off x="6412687" y="565739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Ford (1991), Fig. 18. Historical and later repertoires of southern resident pod J</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Ford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Whistle forms persist across more than 35 years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Souhaut and Shields examined southern resident whistles recorded in 2006–2007 and 2015–2017 and compared them with stereotyped forms described from 1979–1982. A </a:t>
            </a:r>
            <a:r>
              <a:rPr sz="1400" b="1" i="0">
                <a:solidFill>
                  <a:srgbClr val="594044"/>
                </a:solidFill>
                <a:latin typeface="Arial"/>
              </a:rPr>
              <a:t>stereotyped whistle</a:t>
            </a:r>
            <a:r>
              <a:rPr sz="1400" b="0" i="0">
                <a:solidFill>
                  <a:srgbClr val="000000"/>
                </a:solidFill>
                <a:latin typeface="Arial"/>
              </a:rPr>
              <a:t> is a recurring tonal contour distinguishable from the more variable whistle forms also present in recordings. Boat and shore recording opportunities supplied acoustic material from the population.</a:t>
            </a:r>
          </a:p>
          <a:p>
            <a:pPr algn="l">
              <a:lnSpc>
                <a:spcPct val="108000"/>
              </a:lnSpc>
              <a:spcAft>
                <a:spcPts val="840"/>
              </a:spcAft>
            </a:pPr>
            <a:r>
              <a:rPr sz="1400" b="0" i="0">
                <a:solidFill>
                  <a:srgbClr val="000000"/>
                </a:solidFill>
                <a:latin typeface="Arial"/>
              </a:rPr>
              <a:t>Approximately 53.5% of the analyzed whistles belonged to stereotyped categories. Three of four previously recognized types were still detected, extending the documented persistence of particular contours beyond 35 years. Additional stereotyped forms were identified, so continuity did not require an entirely unchanging catalog.</a:t>
            </a:r>
          </a:p>
          <a:p>
            <a:pPr algn="l">
              <a:lnSpc>
                <a:spcPct val="108000"/>
              </a:lnSpc>
              <a:spcAft>
                <a:spcPts val="840"/>
              </a:spcAft>
            </a:pPr>
            <a:r>
              <a:rPr sz="1400" b="0" i="0">
                <a:solidFill>
                  <a:srgbClr val="000000"/>
                </a:solidFill>
                <a:latin typeface="Arial"/>
              </a:rPr>
              <a:t>The failure to detect an older category does not establish that it disappeared, because whistles occur less frequently than pulsed calls and sampling differs across periods. These comparisons establish persistence of recorded forms. They support whistle traditions but do not directly reveal which social partners transmitted a contour or whether a new type originated by imitation.</a:t>
            </a:r>
          </a:p>
        </p:txBody>
      </p:sp>
      <p:pic>
        <p:nvPicPr>
          <p:cNvPr id="4" name="Picture 3" descr="whistle1.png"/>
          <p:cNvPicPr>
            <a:picLocks noChangeAspect="1"/>
          </p:cNvPicPr>
          <p:nvPr/>
        </p:nvPicPr>
        <p:blipFill>
          <a:blip r:embed="rId2"/>
          <a:stretch>
            <a:fillRect/>
          </a:stretch>
        </p:blipFill>
        <p:spPr>
          <a:xfrm>
            <a:off x="566928" y="1280160"/>
            <a:ext cx="5212080" cy="1935915"/>
          </a:xfrm>
          <a:prstGeom prst="rect">
            <a:avLst/>
          </a:prstGeom>
        </p:spPr>
      </p:pic>
      <p:sp>
        <p:nvSpPr>
          <p:cNvPr id="5" name="Figure caption"/>
          <p:cNvSpPr txBox="1"/>
          <p:nvPr/>
        </p:nvSpPr>
        <p:spPr>
          <a:xfrm>
            <a:off x="566928" y="330751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Souhaut &amp; Shields (2021), Fig. 1. Historical and recent stereotyped whistle forms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Souhaut &amp; Shields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Biphonic calls contain separately modulated contours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94044"/>
                </a:solidFill>
                <a:latin typeface="Arial"/>
              </a:rPr>
              <a:t>biphonic call</a:t>
            </a:r>
            <a:r>
              <a:rPr sz="1400" b="0" i="0">
                <a:solidFill>
                  <a:srgbClr val="000000"/>
                </a:solidFill>
                <a:latin typeface="Arial"/>
              </a:rPr>
              <a:t> contains two frequency components that can vary independently. Filatova analyzed lower- and higher-frequency contours in resident-type calls, treating their acoustic information separately rather than assuming that the upper component simply repeated the lower one at a harmonic multiple. A </a:t>
            </a:r>
            <a:r>
              <a:rPr sz="1400" b="1" i="0">
                <a:solidFill>
                  <a:srgbClr val="594044"/>
                </a:solidFill>
                <a:latin typeface="Arial"/>
              </a:rPr>
              <a:t>harmonic</a:t>
            </a:r>
            <a:r>
              <a:rPr sz="1400" b="0" i="0">
                <a:solidFill>
                  <a:srgbClr val="000000"/>
                </a:solidFill>
                <a:latin typeface="Arial"/>
              </a:rPr>
              <a:t> is a component at an integer multiple of a fundamental frequency.</a:t>
            </a:r>
          </a:p>
          <a:p>
            <a:pPr algn="l">
              <a:lnSpc>
                <a:spcPct val="108000"/>
              </a:lnSpc>
              <a:spcAft>
                <a:spcPts val="840"/>
              </a:spcAft>
            </a:pPr>
            <a:r>
              <a:rPr sz="1400" b="0" i="0">
                <a:solidFill>
                  <a:srgbClr val="000000"/>
                </a:solidFill>
                <a:latin typeface="Arial"/>
              </a:rPr>
              <a:t>Amplitude measurements were taken from defined locations within each component. Separating contour shape from received amplitude allowed the study to compare acoustic differences among family groups and evaluate how the components might remain detectable. Independent modulation supplies additional potential distinctions between calls that otherwise sound similar in one component.</a:t>
            </a:r>
          </a:p>
          <a:p>
            <a:pPr algn="l">
              <a:lnSpc>
                <a:spcPct val="108000"/>
              </a:lnSpc>
              <a:spcAft>
                <a:spcPts val="840"/>
              </a:spcAft>
            </a:pPr>
            <a:r>
              <a:rPr sz="1400" b="0" i="0">
                <a:solidFill>
                  <a:srgbClr val="000000"/>
                </a:solidFill>
                <a:latin typeface="Arial"/>
              </a:rPr>
              <a:t>Wellard and colleagues also documented biphonic forms in Type C whales using color spectrograms. This comparative evidence establishes the signal structure across particular recordings, not one universal family code. Neither study directly recorded the sound-producing tissues during the sampled calls or experimentally mapped the brain regions that distinguish their components.</a:t>
            </a:r>
          </a:p>
        </p:txBody>
      </p:sp>
      <p:pic>
        <p:nvPicPr>
          <p:cNvPr id="4" name="Picture 3" descr="typeC7.png"/>
          <p:cNvPicPr>
            <a:picLocks noChangeAspect="1"/>
          </p:cNvPicPr>
          <p:nvPr/>
        </p:nvPicPr>
        <p:blipFill>
          <a:blip r:embed="rId2"/>
          <a:stretch>
            <a:fillRect/>
          </a:stretch>
        </p:blipFill>
        <p:spPr>
          <a:xfrm>
            <a:off x="7493732" y="1280160"/>
            <a:ext cx="3049989"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Wellard et al. (2020), Fig. 7(a–f). Biphonic Type C calls with distinct spectral components</a:t>
            </a:r>
          </a:p>
        </p:txBody>
      </p:sp>
      <p:pic>
        <p:nvPicPr>
          <p:cNvPr id="6" name="Picture 5" descr="biphonic1.png"/>
          <p:cNvPicPr>
            <a:picLocks noChangeAspect="1"/>
          </p:cNvPicPr>
          <p:nvPr/>
        </p:nvPicPr>
        <p:blipFill>
          <a:blip r:embed="rId3"/>
          <a:stretch>
            <a:fillRect/>
          </a:stretch>
        </p:blipFill>
        <p:spPr>
          <a:xfrm>
            <a:off x="8214055" y="4251960"/>
            <a:ext cx="16093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Filatova (2020), Fig. 1. Amplitude measurement locations on biphonic call components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Filatova (2020); Wellard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Combining contours improves family classification</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Filatova quantified differences between the lower- and higher-frequency contours of resident-type biphonic calls. </a:t>
            </a:r>
            <a:r>
              <a:rPr sz="1400" b="1" i="0">
                <a:solidFill>
                  <a:srgbClr val="594044"/>
                </a:solidFill>
                <a:latin typeface="Arial"/>
              </a:rPr>
              <a:t>Dynamic time warping</a:t>
            </a:r>
            <a:r>
              <a:rPr sz="1400" b="0" i="0">
                <a:solidFill>
                  <a:srgbClr val="000000"/>
                </a:solidFill>
                <a:latin typeface="Arial"/>
              </a:rPr>
              <a:t> compares the shapes of sequences while allowing local adjustments in their temporal alignment. This analytical method avoids treating small timing differences as if they necessarily changed the identity of the overall acoustic pattern.</a:t>
            </a:r>
          </a:p>
          <a:p>
            <a:pPr algn="l">
              <a:lnSpc>
                <a:spcPct val="108000"/>
              </a:lnSpc>
              <a:spcAft>
                <a:spcPts val="840"/>
              </a:spcAft>
            </a:pPr>
            <a:r>
              <a:rPr sz="1400" b="0" i="0">
                <a:solidFill>
                  <a:srgbClr val="000000"/>
                </a:solidFill>
                <a:latin typeface="Arial"/>
              </a:rPr>
              <a:t>Distances between family groups calculated from the lower component were largely unrelated to distances calculated from the higher component. Classifying calls using both contours assigned them to their family more accurately than relying on either contour alone. Two acoustic dimensions can therefore contain complementary group information rather than redundant copies of the same distinction.</a:t>
            </a:r>
          </a:p>
          <a:p>
            <a:pPr algn="l">
              <a:lnSpc>
                <a:spcPct val="108000"/>
              </a:lnSpc>
              <a:spcAft>
                <a:spcPts val="840"/>
              </a:spcAft>
            </a:pPr>
            <a:r>
              <a:rPr sz="1400" b="0" i="0">
                <a:solidFill>
                  <a:srgbClr val="000000"/>
                </a:solidFill>
                <a:latin typeface="Arial"/>
              </a:rPr>
              <a:t>This result concerns acoustic classification performed by the analysis. It supports the proposed availability of family cues to a listener, but it does not demonstrate that whales use the same algorithm or distinguish families from these recordings in a playback task. Behavioral recognition remains a separate experimental question.</a:t>
            </a:r>
          </a:p>
        </p:txBody>
      </p:sp>
      <p:pic>
        <p:nvPicPr>
          <p:cNvPr id="4" name="Picture 3" descr="biphonic2.png"/>
          <p:cNvPicPr>
            <a:picLocks noChangeAspect="1"/>
          </p:cNvPicPr>
          <p:nvPr/>
        </p:nvPicPr>
        <p:blipFill>
          <a:blip r:embed="rId2"/>
          <a:stretch>
            <a:fillRect/>
          </a:stretch>
        </p:blipFill>
        <p:spPr>
          <a:xfrm>
            <a:off x="1702466" y="1280160"/>
            <a:ext cx="2941003"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Filatova (2020), Fig. 2. Independent acoustic distances of the two call components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Filatova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Hearing sensitivity changes effective call contrast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Filatova compared received amplitudes of the two biphonic call components and adjusted them using killer-whale hearing sensitivity across frequencies. </a:t>
            </a:r>
            <a:r>
              <a:rPr sz="1400" b="1" i="0">
                <a:solidFill>
                  <a:srgbClr val="594044"/>
                </a:solidFill>
                <a:latin typeface="Arial"/>
              </a:rPr>
              <a:t>Sensation level</a:t>
            </a:r>
            <a:r>
              <a:rPr sz="1400" b="0" i="0">
                <a:solidFill>
                  <a:srgbClr val="000000"/>
                </a:solidFill>
                <a:latin typeface="Arial"/>
              </a:rPr>
              <a:t> expresses how far a received signal lies above the hearing threshold at its frequency. Equal measured sound pressure need not provide equal perceptual accessibility if thresholds differ.</a:t>
            </a:r>
          </a:p>
          <a:p>
            <a:pPr algn="l">
              <a:lnSpc>
                <a:spcPct val="108000"/>
              </a:lnSpc>
              <a:spcAft>
                <a:spcPts val="840"/>
              </a:spcAft>
            </a:pPr>
            <a:r>
              <a:rPr sz="1400" b="0" i="0">
                <a:solidFill>
                  <a:srgbClr val="000000"/>
                </a:solidFill>
                <a:latin typeface="Arial"/>
              </a:rPr>
              <a:t>The higher-frequency component had a greater hearing-adjusted sensation level than the lower component in the analyzed recordings. This contrasts with an interpretation based only on raw amplitude. The authors proposed that the higher component could preserve family information when low-frequency environmental noise masks the lower component.</a:t>
            </a:r>
          </a:p>
          <a:p>
            <a:pPr algn="l">
              <a:lnSpc>
                <a:spcPct val="108000"/>
              </a:lnSpc>
              <a:spcAft>
                <a:spcPts val="840"/>
              </a:spcAft>
            </a:pPr>
            <a:r>
              <a:rPr sz="1400" b="1" i="0">
                <a:solidFill>
                  <a:srgbClr val="594044"/>
                </a:solidFill>
                <a:latin typeface="Arial"/>
              </a:rPr>
              <a:t>Masking</a:t>
            </a:r>
            <a:r>
              <a:rPr sz="1400" b="0" i="0">
                <a:solidFill>
                  <a:srgbClr val="000000"/>
                </a:solidFill>
                <a:latin typeface="Arial"/>
              </a:rPr>
              <a:t> occurs when background sound makes another signal harder to detect. The proposed benefit depends on the actual noise spectrum, propagation and hearing conditions. The study did not experimentally expose whales to masked calls and test recognition, so hearing adjustment supports a plausible sensory explanation rather than establishing successful family recognition under natural noise.</a:t>
            </a:r>
          </a:p>
        </p:txBody>
      </p:sp>
      <p:pic>
        <p:nvPicPr>
          <p:cNvPr id="4" name="Picture 3" descr="biphonic3.png"/>
          <p:cNvPicPr>
            <a:picLocks noChangeAspect="1"/>
          </p:cNvPicPr>
          <p:nvPr/>
        </p:nvPicPr>
        <p:blipFill>
          <a:blip r:embed="rId2"/>
          <a:stretch>
            <a:fillRect/>
          </a:stretch>
        </p:blipFill>
        <p:spPr>
          <a:xfrm>
            <a:off x="7428989" y="1280160"/>
            <a:ext cx="317947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Filatova (2020), Fig. 3. Received and hearing-adjusted component amplitudes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Filatova (2020); Szymanski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Longitudinal recordings quantify call modification</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Deecke, Ford and Spong compared calls N4 and N9 from the A12 and A30 resident matrilines across 12–13 years. A </a:t>
            </a:r>
            <a:r>
              <a:rPr sz="1500" b="1" i="0">
                <a:solidFill>
                  <a:srgbClr val="594044"/>
                </a:solidFill>
                <a:latin typeface="Arial"/>
              </a:rPr>
              <a:t>matriline</a:t>
            </a:r>
            <a:r>
              <a:rPr sz="1500" b="0" i="0">
                <a:solidFill>
                  <a:srgbClr val="000000"/>
                </a:solidFill>
                <a:latin typeface="Arial"/>
              </a:rPr>
              <a:t> contains individuals connected through maternal ancestry. Repeated recordings from known groups allowed the analysis to distinguish change within a social lineage from acoustic differences between the lineages.</a:t>
            </a:r>
          </a:p>
          <a:p>
            <a:pPr algn="l">
              <a:lnSpc>
                <a:spcPct val="108000"/>
              </a:lnSpc>
              <a:spcAft>
                <a:spcPts val="900"/>
              </a:spcAft>
            </a:pPr>
            <a:r>
              <a:rPr sz="1500" b="0" i="0">
                <a:solidFill>
                  <a:srgbClr val="000000"/>
                </a:solidFill>
                <a:latin typeface="Arial"/>
              </a:rPr>
              <a:t>The investigators extracted pulse-repetition-rate contours at evenly spaced positions along each call and included call duration separately. A trained artificial neural network supplied an acoustic similarity index. This was a computer classification tool; it was not a recording of biological neurons or a model established as the whale’s recognition mechanism.</a:t>
            </a:r>
          </a:p>
          <a:p>
            <a:pPr algn="l">
              <a:lnSpc>
                <a:spcPct val="108000"/>
              </a:lnSpc>
              <a:spcAft>
                <a:spcPts val="900"/>
              </a:spcAft>
            </a:pPr>
            <a:r>
              <a:rPr sz="1500" b="0" i="0">
                <a:solidFill>
                  <a:srgbClr val="000000"/>
                </a:solidFill>
                <a:latin typeface="Arial"/>
              </a:rPr>
              <a:t>N4 changed detectably within both matrilines, whereas N9 did not show comparable modification during the observation period. Using two call types constrained the idea that all recordings shifted in the same way. The result establishes selective temporal change in a repertoire, rather than uniform replacement of the entire dialect.</a:t>
            </a:r>
          </a:p>
        </p:txBody>
      </p:sp>
      <p:pic>
        <p:nvPicPr>
          <p:cNvPr id="4" name="Picture 3" descr="deecke1.png"/>
          <p:cNvPicPr>
            <a:picLocks noChangeAspect="1"/>
          </p:cNvPicPr>
          <p:nvPr/>
        </p:nvPicPr>
        <p:blipFill>
          <a:blip r:embed="rId2"/>
          <a:stretch>
            <a:fillRect/>
          </a:stretch>
        </p:blipFill>
        <p:spPr>
          <a:xfrm>
            <a:off x="566928" y="1280160"/>
            <a:ext cx="5212080" cy="2427679"/>
          </a:xfrm>
          <a:prstGeom prst="rect">
            <a:avLst/>
          </a:prstGeom>
        </p:spPr>
      </p:pic>
      <p:sp>
        <p:nvSpPr>
          <p:cNvPr id="5" name="Figure caption"/>
          <p:cNvSpPr txBox="1"/>
          <p:nvPr/>
        </p:nvSpPr>
        <p:spPr>
          <a:xfrm>
            <a:off x="566928" y="379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Deecke et al. (2000), Fig. 1. Parameters used to quantify the structure of call N4</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Deecke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Call change need not produce group divergence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Deecke and colleagues compared modification of N4 within each matriline with divergence of N4 between matrilines. </a:t>
            </a:r>
            <a:r>
              <a:rPr sz="1500" b="1" i="0">
                <a:solidFill>
                  <a:srgbClr val="594044"/>
                </a:solidFill>
                <a:latin typeface="Arial"/>
              </a:rPr>
              <a:t>Modification</a:t>
            </a:r>
            <a:r>
              <a:rPr sz="1500" b="0" i="0">
                <a:solidFill>
                  <a:srgbClr val="000000"/>
                </a:solidFill>
                <a:latin typeface="Arial"/>
              </a:rPr>
              <a:t> is change in a group’s call over time; </a:t>
            </a:r>
            <a:r>
              <a:rPr sz="1500" b="1" i="0">
                <a:solidFill>
                  <a:srgbClr val="594044"/>
                </a:solidFill>
                <a:latin typeface="Arial"/>
              </a:rPr>
              <a:t>divergence</a:t>
            </a:r>
            <a:r>
              <a:rPr sz="1500" b="0" i="0">
                <a:solidFill>
                  <a:srgbClr val="000000"/>
                </a:solidFill>
                <a:latin typeface="Arial"/>
              </a:rPr>
              <a:t> is an increasing difference between groups. These processes can occur at different rates even when both groups continue producing a recognizable call type.</a:t>
            </a:r>
          </a:p>
          <a:p>
            <a:pPr algn="l">
              <a:lnSpc>
                <a:spcPct val="108000"/>
              </a:lnSpc>
              <a:spcAft>
                <a:spcPts val="900"/>
              </a:spcAft>
            </a:pPr>
            <a:r>
              <a:rPr sz="1500" b="0" i="0">
                <a:solidFill>
                  <a:srgbClr val="000000"/>
                </a:solidFill>
                <a:latin typeface="Arial"/>
              </a:rPr>
              <a:t>The acoustic similarity of N4 recordings decreased as the years separating samples increased within each matriline. Between-group differences changed less than the calls changed within either group. Thus, the two lineages modified their calls in sufficiently similar ways that within-group temporal change did not become equally large separation between lineages.</a:t>
            </a:r>
          </a:p>
          <a:p>
            <a:pPr algn="l">
              <a:lnSpc>
                <a:spcPct val="108000"/>
              </a:lnSpc>
              <a:spcAft>
                <a:spcPts val="900"/>
              </a:spcAft>
            </a:pPr>
            <a:r>
              <a:rPr sz="1500" b="0" i="0">
                <a:solidFill>
                  <a:srgbClr val="000000"/>
                </a:solidFill>
                <a:latin typeface="Arial"/>
              </a:rPr>
              <a:t>The authors considered horizontal transmission, meaning transfer between social lineages rather than exclusively from mother to offspring. Correlated call change supports that possibility, but it does not directly document an individual listening and copying. Parallel maturational change remained an alternative explanation that the longitudinal observations could not eliminate.</a:t>
            </a:r>
          </a:p>
        </p:txBody>
      </p:sp>
      <p:pic>
        <p:nvPicPr>
          <p:cNvPr id="4" name="Picture 3" descr="deecke2.png"/>
          <p:cNvPicPr>
            <a:picLocks noChangeAspect="1"/>
          </p:cNvPicPr>
          <p:nvPr/>
        </p:nvPicPr>
        <p:blipFill>
          <a:blip r:embed="rId2"/>
          <a:stretch>
            <a:fillRect/>
          </a:stretch>
        </p:blipFill>
        <p:spPr>
          <a:xfrm>
            <a:off x="7802131" y="1280160"/>
            <a:ext cx="243319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Deecke et al. (2000), Fig. 2(a–c). Within-matriline change and between-matriline divergence of N4</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Deecke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Maturation remains an alternative to cultural drift</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Cultural drift</a:t>
            </a:r>
            <a:r>
              <a:rPr sz="1400" b="0" i="0">
                <a:solidFill>
                  <a:srgbClr val="000000"/>
                </a:solidFill>
                <a:latin typeface="Arial"/>
              </a:rPr>
              <a:t> is change in socially transmitted behavior that can accumulate without a consistent directional advantage. Deecke and colleagues examined structural features of N4, including plateau pulse rate, maximum pulse rate, duration and the timing of the maximum. These measurements tested whether call change followed a clear directional trajectory.</a:t>
            </a:r>
          </a:p>
          <a:p>
            <a:pPr algn="l">
              <a:lnSpc>
                <a:spcPct val="108000"/>
              </a:lnSpc>
              <a:spcAft>
                <a:spcPts val="840"/>
              </a:spcAft>
            </a:pPr>
            <a:r>
              <a:rPr sz="1400" b="0" i="0">
                <a:solidFill>
                  <a:srgbClr val="000000"/>
                </a:solidFill>
                <a:latin typeface="Arial"/>
              </a:rPr>
              <a:t>The structural changes lacked strong overall directionality. The authors discussed drift combined with horizontal transmission as one explanation for similar modification in two matrilines. However, maturational changes in vocal production could also generate parallel changes if individuals in the groups experienced related age-dependent effects.</a:t>
            </a:r>
          </a:p>
          <a:p>
            <a:pPr algn="l">
              <a:lnSpc>
                <a:spcPct val="108000"/>
              </a:lnSpc>
              <a:spcAft>
                <a:spcPts val="840"/>
              </a:spcAft>
            </a:pPr>
            <a:r>
              <a:rPr sz="1400" b="0" i="0">
                <a:solidFill>
                  <a:srgbClr val="000000"/>
                </a:solidFill>
                <a:latin typeface="Arial"/>
              </a:rPr>
              <a:t>The recordings did not assign each call to a known individual or experimentally manipulate exposure to another lineage’s calls. Consequently, the study does not isolate learning from maturation as the sole cause. Its strongest result is that a call can change over years while maintaining relatively stable between-group relationships, with the transmission mechanism remaining partly unresolved.</a:t>
            </a:r>
          </a:p>
        </p:txBody>
      </p:sp>
      <p:pic>
        <p:nvPicPr>
          <p:cNvPr id="4" name="Picture 3" descr="deecke4.png"/>
          <p:cNvPicPr>
            <a:picLocks noChangeAspect="1"/>
          </p:cNvPicPr>
          <p:nvPr/>
        </p:nvPicPr>
        <p:blipFill>
          <a:blip r:embed="rId2"/>
          <a:stretch>
            <a:fillRect/>
          </a:stretch>
        </p:blipFill>
        <p:spPr>
          <a:xfrm>
            <a:off x="566928" y="1280160"/>
            <a:ext cx="5212080" cy="3289491"/>
          </a:xfrm>
          <a:prstGeom prst="rect">
            <a:avLst/>
          </a:prstGeom>
        </p:spPr>
      </p:pic>
      <p:sp>
        <p:nvSpPr>
          <p:cNvPr id="5" name="Figure caption"/>
          <p:cNvSpPr txBox="1"/>
          <p:nvPr/>
        </p:nvSpPr>
        <p:spPr>
          <a:xfrm>
            <a:off x="566928" y="46610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Deecke et al. (2000), Fig. 4(a–d). Longitudinal pulse-rate and duration measurements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Deecke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 copying cue tests vocal production learning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Vocal production learning</a:t>
            </a:r>
            <a:r>
              <a:rPr sz="1400" b="0" i="0">
                <a:solidFill>
                  <a:srgbClr val="000000"/>
                </a:solidFill>
                <a:latin typeface="Arial"/>
              </a:rPr>
              <a:t> means acquiring or modifying a sound through auditory experience, rather than merely learning when to produce an existing signal. Abramson and colleagues tested a trained female killer whale using a previously learned gesture requesting imitation. Familiar actions and sounds established that the subject understood the copying procedure.</a:t>
            </a:r>
          </a:p>
          <a:p>
            <a:pPr algn="l">
              <a:lnSpc>
                <a:spcPct val="108000"/>
              </a:lnSpc>
              <a:spcAft>
                <a:spcPts val="840"/>
              </a:spcAft>
            </a:pPr>
            <a:r>
              <a:rPr sz="1400" b="0" i="0">
                <a:solidFill>
                  <a:srgbClr val="000000"/>
                </a:solidFill>
                <a:latin typeface="Arial"/>
              </a:rPr>
              <a:t>Novel conspecific and human models were then presented in live or recorded conditions. During tests of novel sounds, the subject received no reward or corrective feedback for matching the model. Familiar control trials were reinforced, and familiar actions without a copying request helped separate the experimental response from an unrestricted stream of vocalizations.</a:t>
            </a:r>
          </a:p>
          <a:p>
            <a:pPr algn="l">
              <a:lnSpc>
                <a:spcPct val="108000"/>
              </a:lnSpc>
              <a:spcAft>
                <a:spcPts val="840"/>
              </a:spcAft>
            </a:pPr>
            <a:r>
              <a:rPr sz="1400" b="0" i="0">
                <a:solidFill>
                  <a:srgbClr val="000000"/>
                </a:solidFill>
                <a:latin typeface="Arial"/>
              </a:rPr>
              <a:t>Recognizable copies of the tested novel sounds support a capacity to match auditory models. This direct experimental result is stronger evidence for imitation than dialect similarity alone. Nevertheless, performance by a trained subject in air does not establish how calves acquire underwater dialects in the wild or identify the neuronal changes underlying a copied sound.</a:t>
            </a:r>
          </a:p>
        </p:txBody>
      </p:sp>
      <p:pic>
        <p:nvPicPr>
          <p:cNvPr id="4" name="Picture 3" descr="imitate2b.png"/>
          <p:cNvPicPr>
            <a:picLocks noChangeAspect="1"/>
          </p:cNvPicPr>
          <p:nvPr/>
        </p:nvPicPr>
        <p:blipFill>
          <a:blip r:embed="rId2"/>
          <a:stretch>
            <a:fillRect/>
          </a:stretch>
        </p:blipFill>
        <p:spPr>
          <a:xfrm>
            <a:off x="7548766" y="1280160"/>
            <a:ext cx="2939922"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Abramson et al. (2018), Fig. 2(c,d). Novel conspecific breathy-raspberry model and killer-whale copy</a:t>
            </a:r>
          </a:p>
        </p:txBody>
      </p:sp>
      <p:pic>
        <p:nvPicPr>
          <p:cNvPr id="6" name="Picture 5" descr="imitate1.png"/>
          <p:cNvPicPr>
            <a:picLocks noChangeAspect="1"/>
          </p:cNvPicPr>
          <p:nvPr/>
        </p:nvPicPr>
        <p:blipFill>
          <a:blip r:embed="rId3"/>
          <a:stretch>
            <a:fillRect/>
          </a:stretch>
        </p:blipFill>
        <p:spPr>
          <a:xfrm>
            <a:off x="7631711" y="4251960"/>
            <a:ext cx="277403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Abramson et al. (2018), Fig. 1(a–c). Original experimental arrangement for vocal copying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Abramson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Novel sound models test rapid acoustic matching</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Abramson and colleagues selected novel sounds that were absent from the subject’s known trained repertoire and checked spontaneous in-air recordings before testing. The model could be another killer whale or a loudspeaker recording. </a:t>
            </a:r>
            <a:r>
              <a:rPr sz="1400" b="1" i="0">
                <a:solidFill>
                  <a:srgbClr val="594044"/>
                </a:solidFill>
                <a:latin typeface="Arial"/>
              </a:rPr>
              <a:t>Novelty</a:t>
            </a:r>
            <a:r>
              <a:rPr sz="1400" b="0" i="0">
                <a:solidFill>
                  <a:srgbClr val="000000"/>
                </a:solidFill>
                <a:latin typeface="Arial"/>
              </a:rPr>
              <a:t> was therefore evaluated relative to the subject’s prior production, not assumed simply because a signal had an unfamiliar human label.</a:t>
            </a:r>
          </a:p>
          <a:p>
            <a:pPr algn="l">
              <a:lnSpc>
                <a:spcPct val="108000"/>
              </a:lnSpc>
              <a:spcAft>
                <a:spcPts val="840"/>
              </a:spcAft>
            </a:pPr>
            <a:r>
              <a:rPr sz="1400" b="0" i="0">
                <a:solidFill>
                  <a:srgbClr val="000000"/>
                </a:solidFill>
                <a:latin typeface="Arial"/>
              </a:rPr>
              <a:t>The whale produced recognizable versions of novel conspecific sounds, often within the first ten trials. Some were copied on the first attempt. Familiar conspecific signals supplied comparison examples in the acoustic analysis, including signals labeled “blow” and “birdy,” whose feature sequences could be aligned with the subject’s copies.</a:t>
            </a:r>
          </a:p>
          <a:p>
            <a:pPr algn="l">
              <a:lnSpc>
                <a:spcPct val="108000"/>
              </a:lnSpc>
              <a:spcAft>
                <a:spcPts val="840"/>
              </a:spcAft>
            </a:pPr>
            <a:r>
              <a:rPr sz="1400" b="0" i="0">
                <a:solidFill>
                  <a:srgbClr val="000000"/>
                </a:solidFill>
                <a:latin typeface="Arial"/>
              </a:rPr>
              <a:t>A rapid match without reward on the novel test trial supports production learning rather than gradual trial-by-trial shaping of that sound. The prior imitation training still matters: the study tested a learned copying context. It did not show that every untrained whale spontaneously copies every unfamiliar signal after one exposure.</a:t>
            </a:r>
          </a:p>
        </p:txBody>
      </p:sp>
      <p:pic>
        <p:nvPicPr>
          <p:cNvPr id="4" name="Picture 3" descr="imitate3ab.png"/>
          <p:cNvPicPr>
            <a:picLocks noChangeAspect="1"/>
          </p:cNvPicPr>
          <p:nvPr/>
        </p:nvPicPr>
        <p:blipFill>
          <a:blip r:embed="rId2"/>
          <a:stretch>
            <a:fillRect/>
          </a:stretch>
        </p:blipFill>
        <p:spPr>
          <a:xfrm>
            <a:off x="566928" y="1280160"/>
            <a:ext cx="5212079" cy="1980745"/>
          </a:xfrm>
          <a:prstGeom prst="rect">
            <a:avLst/>
          </a:prstGeom>
        </p:spPr>
      </p:pic>
      <p:sp>
        <p:nvSpPr>
          <p:cNvPr id="5" name="Figure caption"/>
          <p:cNvSpPr txBox="1"/>
          <p:nvPr/>
        </p:nvSpPr>
        <p:spPr>
          <a:xfrm>
            <a:off x="566928" y="335234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Abramson et al. (2018), Fig. 3(a,b). Alignment of familiar conspecific sound features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Abramson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Human models test mimicry without language claims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Vocal mimicry</a:t>
            </a:r>
            <a:r>
              <a:rPr sz="1400" b="0" i="0">
                <a:solidFill>
                  <a:srgbClr val="000000"/>
                </a:solidFill>
                <a:latin typeface="Arial"/>
              </a:rPr>
              <a:t> is imitation of an acoustic model produced by another species. Abramson and colleagues asked the killer whale to copy human sounds, including the word-like model “hello.” Model and response recordings were compared using waveform, spectrogram and acoustic-feature analyses rather than relying exclusively on a listener’s impression.</a:t>
            </a:r>
          </a:p>
          <a:p>
            <a:pPr algn="l">
              <a:lnSpc>
                <a:spcPct val="108000"/>
              </a:lnSpc>
              <a:spcAft>
                <a:spcPts val="840"/>
              </a:spcAft>
            </a:pPr>
            <a:r>
              <a:rPr sz="1400" b="0" i="0">
                <a:solidFill>
                  <a:srgbClr val="000000"/>
                </a:solidFill>
                <a:latin typeface="Arial"/>
              </a:rPr>
              <a:t>The whale produced recognizable versions of the tested human models. Copies were imperfect: matching a coarse sequence of acoustic features did not require identical timbre or every spectral detail. “Hello” was among the novel sounds copied on an early attempt, supporting flexibility of production beyond the existing conspecific repertoire.</a:t>
            </a:r>
          </a:p>
          <a:p>
            <a:pPr algn="l">
              <a:lnSpc>
                <a:spcPct val="108000"/>
              </a:lnSpc>
              <a:spcAft>
                <a:spcPts val="840"/>
              </a:spcAft>
            </a:pPr>
            <a:r>
              <a:rPr sz="1400" b="0" i="0">
                <a:solidFill>
                  <a:srgbClr val="000000"/>
                </a:solidFill>
                <a:latin typeface="Arial"/>
              </a:rPr>
              <a:t>These results concern sound matching, not the meaning of human words. The subject was not tested on the semantic interpretation of “hello” or human syntax. Moreover, the signals were produced in air during a trained task. The experiment establishes vocal flexibility under those conditions while leaving underwater natural-language-like interpretation and population-wide performance untested.</a:t>
            </a:r>
          </a:p>
        </p:txBody>
      </p:sp>
      <p:pic>
        <p:nvPicPr>
          <p:cNvPr id="4" name="Picture 3" descr="imitate2a.png"/>
          <p:cNvPicPr>
            <a:picLocks noChangeAspect="1"/>
          </p:cNvPicPr>
          <p:nvPr/>
        </p:nvPicPr>
        <p:blipFill>
          <a:blip r:embed="rId2"/>
          <a:stretch>
            <a:fillRect/>
          </a:stretch>
        </p:blipFill>
        <p:spPr>
          <a:xfrm>
            <a:off x="6412687" y="1280160"/>
            <a:ext cx="5212080" cy="4227418"/>
          </a:xfrm>
          <a:prstGeom prst="rect">
            <a:avLst/>
          </a:prstGeom>
        </p:spPr>
      </p:pic>
      <p:sp>
        <p:nvSpPr>
          <p:cNvPr id="5" name="Figure caption"/>
          <p:cNvSpPr txBox="1"/>
          <p:nvPr/>
        </p:nvSpPr>
        <p:spPr>
          <a:xfrm>
            <a:off x="6412687" y="559901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Abramson et al. (2018), Fig. 2(a,b). Human “hello” model and killer-whale copy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Abramson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Acoustic comparisons constrain imitation judgments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Abramson and colleagues supplemented human judgments with comparisons of acoustic feature sequences. The analysis estimated how dissimilar a model and its proposed copy were after dynamic time alignment. </a:t>
            </a:r>
            <a:r>
              <a:rPr sz="1400" b="1" i="0">
                <a:solidFill>
                  <a:srgbClr val="594044"/>
                </a:solidFill>
                <a:latin typeface="Arial"/>
              </a:rPr>
              <a:t>Dissimilarity</a:t>
            </a:r>
            <a:r>
              <a:rPr sz="1400" b="0" i="0">
                <a:solidFill>
                  <a:srgbClr val="000000"/>
                </a:solidFill>
                <a:latin typeface="Arial"/>
              </a:rPr>
              <a:t> here measures differences in the extracted sound features, not a directly measured perceptual distance inside a whale’s nervous system.</a:t>
            </a:r>
          </a:p>
          <a:p>
            <a:pPr algn="l">
              <a:lnSpc>
                <a:spcPct val="108000"/>
              </a:lnSpc>
              <a:spcAft>
                <a:spcPts val="840"/>
              </a:spcAft>
            </a:pPr>
            <a:r>
              <a:rPr sz="1400" b="0" i="0">
                <a:solidFill>
                  <a:srgbClr val="000000"/>
                </a:solidFill>
                <a:latin typeface="Arial"/>
              </a:rPr>
              <a:t>Model–copy comparisons were assessed alongside mismatched sounds and repeated models. The copied sounds generally resembled their intended models more closely than unrelated sounds. Human judges who were unaware of the model’s identity also evaluated pairings, reducing dependence on the expectations of the trainers conducting the copying trials.</a:t>
            </a:r>
          </a:p>
          <a:p>
            <a:pPr algn="l">
              <a:lnSpc>
                <a:spcPct val="108000"/>
              </a:lnSpc>
              <a:spcAft>
                <a:spcPts val="840"/>
              </a:spcAft>
            </a:pPr>
            <a:r>
              <a:rPr sz="1400" b="0" i="0">
                <a:solidFill>
                  <a:srgbClr val="000000"/>
                </a:solidFill>
                <a:latin typeface="Arial"/>
              </a:rPr>
              <a:t>Some copies retained less detail than others, and the method’s result depends on the features selected for comparison. Agreement between acoustic analysis and independent judgments supports recognizable copying. It does not establish that the copies convey the same social information as the model or that the animal comprehends the meaning of a human utterance.</a:t>
            </a:r>
          </a:p>
        </p:txBody>
      </p:sp>
      <p:pic>
        <p:nvPicPr>
          <p:cNvPr id="4" name="Picture 3" descr="imitate4.png"/>
          <p:cNvPicPr>
            <a:picLocks noChangeAspect="1"/>
          </p:cNvPicPr>
          <p:nvPr/>
        </p:nvPicPr>
        <p:blipFill>
          <a:blip r:embed="rId2"/>
          <a:stretch>
            <a:fillRect/>
          </a:stretch>
        </p:blipFill>
        <p:spPr>
          <a:xfrm>
            <a:off x="830464" y="1280160"/>
            <a:ext cx="4685006"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Abramson et al. (2018), Fig. 4. Dissimilarity of model–copy and mismatched sound pairs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Abramson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An innovation cue rewards behavioral novelty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Hill and colleagues trained killer whales to respond to an </a:t>
            </a:r>
            <a:r>
              <a:rPr sz="1400" b="1" i="0">
                <a:solidFill>
                  <a:srgbClr val="594044"/>
                </a:solidFill>
                <a:latin typeface="Arial"/>
              </a:rPr>
              <a:t>innovation cue</a:t>
            </a:r>
            <a:r>
              <a:rPr sz="1400" b="0" i="0">
                <a:solidFill>
                  <a:srgbClr val="000000"/>
                </a:solidFill>
                <a:latin typeface="Arial"/>
              </a:rPr>
              <a:t>, a signal requesting a behavior different from those already performed in that session. Familiar trained behaviors could be recombined or replaced by other responses. Reinforcement depended on avoiding repetition, so the preparation tested flexible selection rather than acquisition of a single new movement.</a:t>
            </a:r>
          </a:p>
          <a:p>
            <a:pPr algn="l">
              <a:lnSpc>
                <a:spcPct val="108000"/>
              </a:lnSpc>
              <a:spcAft>
                <a:spcPts val="840"/>
              </a:spcAft>
            </a:pPr>
            <a:r>
              <a:rPr sz="1400" b="0" i="0">
                <a:solidFill>
                  <a:srgbClr val="000000"/>
                </a:solidFill>
                <a:latin typeface="Arial"/>
              </a:rPr>
              <a:t>The investigators evaluated the number of responses before repetition, variation in behavioral categories and whether actions were combined in sequences or simultaneously. Whales produced diverse responses under the cue, with individual differences in fluency and complexity. Repeated sessions allowed performance to be evaluated beyond one isolated unusual action.</a:t>
            </a:r>
          </a:p>
          <a:p>
            <a:pPr algn="l">
              <a:lnSpc>
                <a:spcPct val="108000"/>
              </a:lnSpc>
              <a:spcAft>
                <a:spcPts val="840"/>
              </a:spcAft>
            </a:pPr>
            <a:r>
              <a:rPr sz="1400" b="0" i="0">
                <a:solidFill>
                  <a:srgbClr val="000000"/>
                </a:solidFill>
                <a:latin typeface="Arial"/>
              </a:rPr>
              <a:t>The result establishes flexibility within a trained and reinforced context. It is not a direct test of a whale inventing a novel wild hunting tactic or teaching it to companions. Age, prior experience and physical capacity also constrain available responses, so individual performance cannot be interpreted as a simple ranking of general intelligence.</a:t>
            </a:r>
          </a:p>
        </p:txBody>
      </p:sp>
      <p:pic>
        <p:nvPicPr>
          <p:cNvPr id="4" name="Picture 3" descr="innovate2.png"/>
          <p:cNvPicPr>
            <a:picLocks noChangeAspect="1"/>
          </p:cNvPicPr>
          <p:nvPr/>
        </p:nvPicPr>
        <p:blipFill>
          <a:blip r:embed="rId2"/>
          <a:stretch>
            <a:fillRect/>
          </a:stretch>
        </p:blipFill>
        <p:spPr>
          <a:xfrm>
            <a:off x="6412687" y="1280160"/>
            <a:ext cx="5212080" cy="3752085"/>
          </a:xfrm>
          <a:prstGeom prst="rect">
            <a:avLst/>
          </a:prstGeom>
        </p:spPr>
      </p:pic>
      <p:sp>
        <p:nvSpPr>
          <p:cNvPr id="5" name="Figure caption"/>
          <p:cNvSpPr txBox="1"/>
          <p:nvPr/>
        </p:nvSpPr>
        <p:spPr>
          <a:xfrm>
            <a:off x="6412687" y="512368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Hill et al. (2022), Fig. 2. Trials before behavior repetition across animals and sessions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Hill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Social contacts differ from simple association</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Association</a:t>
            </a:r>
            <a:r>
              <a:rPr sz="1400" b="0" i="0">
                <a:solidFill>
                  <a:srgbClr val="000000"/>
                </a:solidFill>
                <a:latin typeface="Arial"/>
              </a:rPr>
              <a:t> means that individuals occur together with an opportunity to interact. </a:t>
            </a:r>
            <a:r>
              <a:rPr sz="1400" b="1" i="0">
                <a:solidFill>
                  <a:srgbClr val="594044"/>
                </a:solidFill>
                <a:latin typeface="Arial"/>
              </a:rPr>
              <a:t>Interaction</a:t>
            </a:r>
            <a:r>
              <a:rPr sz="1400" b="0" i="0">
                <a:solidFill>
                  <a:srgbClr val="000000"/>
                </a:solidFill>
                <a:latin typeface="Arial"/>
              </a:rPr>
              <a:t> requires a particular behavior between them. Weiss and colleagues used unoccupied aerial aircraft to observe southern resident whales, distinguishing simultaneous presence, synchronous surfacing and physical contact. Recognizable markings connected those actions to identified individuals.</a:t>
            </a:r>
          </a:p>
          <a:p>
            <a:pPr algn="l">
              <a:lnSpc>
                <a:spcPct val="108000"/>
              </a:lnSpc>
              <a:spcAft>
                <a:spcPts val="840"/>
              </a:spcAft>
            </a:pPr>
            <a:r>
              <a:rPr sz="1400" b="0" i="0">
                <a:solidFill>
                  <a:srgbClr val="000000"/>
                </a:solidFill>
                <a:latin typeface="Arial"/>
              </a:rPr>
              <a:t>The contact and surfacing networks differed from the association network. Age and sex shaped interaction patterns even when those characteristics did not detectably structure simple association. Females and younger individuals were more central in the contact network, meaning that they occupied more connected positions under that specific definition of a social relationship.</a:t>
            </a:r>
          </a:p>
          <a:p>
            <a:pPr algn="l">
              <a:lnSpc>
                <a:spcPct val="108000"/>
              </a:lnSpc>
              <a:spcAft>
                <a:spcPts val="840"/>
              </a:spcAft>
            </a:pPr>
            <a:r>
              <a:rPr sz="1400" b="0" i="0">
                <a:solidFill>
                  <a:srgbClr val="000000"/>
                </a:solidFill>
                <a:latin typeface="Arial"/>
              </a:rPr>
              <a:t>A broad measure of traveling together can therefore miss selective social behavior within an associated group. Aerial views improved access to contact that is difficult to observe from boats, but visibility and the selection of focal subgroups still limited sampling. These data establish patterned interactions; they do not identify the neural representation of social partners.</a:t>
            </a:r>
          </a:p>
        </p:txBody>
      </p:sp>
      <p:pic>
        <p:nvPicPr>
          <p:cNvPr id="4" name="Picture 3" descr="social2.png"/>
          <p:cNvPicPr>
            <a:picLocks noChangeAspect="1"/>
          </p:cNvPicPr>
          <p:nvPr/>
        </p:nvPicPr>
        <p:blipFill>
          <a:blip r:embed="rId2"/>
          <a:stretch>
            <a:fillRect/>
          </a:stretch>
        </p:blipFill>
        <p:spPr>
          <a:xfrm>
            <a:off x="566928" y="1280160"/>
            <a:ext cx="5212080" cy="3129637"/>
          </a:xfrm>
          <a:prstGeom prst="rect">
            <a:avLst/>
          </a:prstGeom>
        </p:spPr>
      </p:pic>
      <p:sp>
        <p:nvSpPr>
          <p:cNvPr id="5" name="Figure caption"/>
          <p:cNvSpPr txBox="1"/>
          <p:nvPr/>
        </p:nvSpPr>
        <p:spPr>
          <a:xfrm>
            <a:off x="566928" y="45012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Weiss et al. (2021), Fig. 2(a–f). Different networks for association, synchrony and contact</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Weiss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Diet boundaries need not isolate social networks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Jourdain and colleagues combined photo-identification, dietary information and genetic data from killer whales in Norway. </a:t>
            </a:r>
            <a:r>
              <a:rPr sz="1400" b="1" i="0">
                <a:solidFill>
                  <a:srgbClr val="594044"/>
                </a:solidFill>
                <a:latin typeface="Arial"/>
              </a:rPr>
              <a:t>Genetic relatedness</a:t>
            </a:r>
            <a:r>
              <a:rPr sz="1400" b="0" i="0">
                <a:solidFill>
                  <a:srgbClr val="000000"/>
                </a:solidFill>
                <a:latin typeface="Arial"/>
              </a:rPr>
              <a:t> estimates shared inherited variation, whereas an association index records how frequently identified animals occur together. Keeping these measures separate allowed diet-based categories to be evaluated alongside kinship and social connectivity.</a:t>
            </a:r>
          </a:p>
          <a:p>
            <a:pPr algn="l">
              <a:lnSpc>
                <a:spcPct val="108000"/>
              </a:lnSpc>
              <a:spcAft>
                <a:spcPts val="840"/>
              </a:spcAft>
            </a:pPr>
            <a:r>
              <a:rPr sz="1400" b="0" i="0">
                <a:solidFill>
                  <a:srgbClr val="000000"/>
                </a:solidFill>
                <a:latin typeface="Arial"/>
              </a:rPr>
              <a:t>Whales observed eating both fish and mammals were embedded in a larger network that included exclusive fish-eaters. Relatedness was an important correlate of social ties, and dietary difference did not produce complete social or genetic segregation. Flexible contact across groups therefore coexisted with individual variation in prey use.</a:t>
            </a:r>
          </a:p>
          <a:p>
            <a:pPr algn="l">
              <a:lnSpc>
                <a:spcPct val="108000"/>
              </a:lnSpc>
              <a:spcAft>
                <a:spcPts val="840"/>
              </a:spcAft>
            </a:pPr>
            <a:r>
              <a:rPr sz="1400" b="0" i="0">
                <a:solidFill>
                  <a:srgbClr val="000000"/>
                </a:solidFill>
                <a:latin typeface="Arial"/>
              </a:rPr>
              <a:t>The authors proposed that cultural diffusion could contribute to ecological breadth within this connected population. Network overlap supplies opportunities for information transfer, but it does not directly demonstrate the copying of a hunting tactic. These Norwegian results also cannot be assumed to describe the stronger ecotype boundaries documented in every northeastern-Pacific population.</a:t>
            </a:r>
          </a:p>
        </p:txBody>
      </p:sp>
      <p:pic>
        <p:nvPicPr>
          <p:cNvPr id="4" name="Picture 3" descr="network3.png"/>
          <p:cNvPicPr>
            <a:picLocks noChangeAspect="1"/>
          </p:cNvPicPr>
          <p:nvPr/>
        </p:nvPicPr>
        <p:blipFill>
          <a:blip r:embed="rId2"/>
          <a:stretch>
            <a:fillRect/>
          </a:stretch>
        </p:blipFill>
        <p:spPr>
          <a:xfrm>
            <a:off x="6412687" y="1280160"/>
            <a:ext cx="5212080" cy="3456473"/>
          </a:xfrm>
          <a:prstGeom prst="rect">
            <a:avLst/>
          </a:prstGeom>
        </p:spPr>
      </p:pic>
      <p:sp>
        <p:nvSpPr>
          <p:cNvPr id="5" name="Figure caption"/>
          <p:cNvSpPr txBox="1"/>
          <p:nvPr/>
        </p:nvSpPr>
        <p:spPr>
          <a:xfrm>
            <a:off x="6412687" y="482807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Jourdain et al. (2024), Fig. 3. Mixed-diet whales within a connected social network</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Jourdain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Antarctic call repertoires vary with population context</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Wellard and colleagues recorded Type C killer whales in McMurdo Sound and identified recurring call categories from their spectral and temporal organization. </a:t>
            </a:r>
            <a:r>
              <a:rPr sz="1400" b="1" i="0">
                <a:solidFill>
                  <a:srgbClr val="594044"/>
                </a:solidFill>
                <a:latin typeface="Arial"/>
              </a:rPr>
              <a:t>Type C</a:t>
            </a:r>
            <a:r>
              <a:rPr sz="1400" b="0" i="0">
                <a:solidFill>
                  <a:srgbClr val="000000"/>
                </a:solidFill>
                <a:latin typeface="Arial"/>
              </a:rPr>
              <a:t> designates an Antarctic form whose ecology differs from the seal-specialist pack-ice whales used in the wave-washing study. Population identity is therefore part of the experimental context, not an interchangeable label.</a:t>
            </a:r>
          </a:p>
          <a:p>
            <a:pPr algn="l">
              <a:lnSpc>
                <a:spcPct val="108000"/>
              </a:lnSpc>
              <a:spcAft>
                <a:spcPts val="840"/>
              </a:spcAft>
            </a:pPr>
            <a:r>
              <a:rPr sz="1400" b="0" i="0">
                <a:solidFill>
                  <a:srgbClr val="000000"/>
                </a:solidFill>
                <a:latin typeface="Arial"/>
              </a:rPr>
              <a:t>The acoustic study used hydrophone recordings and accompanying encounters with whales to classify calls, including multi-component and biphonic forms. The analysis linked particular sound categories with identifiable recording sessions rather than treating every Antarctic vocalization as one undifferentiated repertoire.</a:t>
            </a:r>
          </a:p>
          <a:p>
            <a:pPr algn="l">
              <a:lnSpc>
                <a:spcPct val="108000"/>
              </a:lnSpc>
              <a:spcAft>
                <a:spcPts val="840"/>
              </a:spcAft>
            </a:pPr>
            <a:r>
              <a:rPr sz="1400" b="0" i="0">
                <a:solidFill>
                  <a:srgbClr val="000000"/>
                </a:solidFill>
                <a:latin typeface="Arial"/>
              </a:rPr>
              <a:t>The observed category diversity establishes a repertoire for the sampled Type C recordings. Similar broad acoustic structures across ecotypes do not demonstrate shared call meaning or a common hunting tradition. Comparing populations requires attention to recorder characteristics, encounter conditions and categorization methods, as well as genuine differences in the animals’ sound production and behavioral use.</a:t>
            </a:r>
          </a:p>
        </p:txBody>
      </p:sp>
      <p:pic>
        <p:nvPicPr>
          <p:cNvPr id="4" name="Picture 3" descr="typeC4.png"/>
          <p:cNvPicPr>
            <a:picLocks noChangeAspect="1"/>
          </p:cNvPicPr>
          <p:nvPr/>
        </p:nvPicPr>
        <p:blipFill>
          <a:blip r:embed="rId2"/>
          <a:stretch>
            <a:fillRect/>
          </a:stretch>
        </p:blipFill>
        <p:spPr>
          <a:xfrm>
            <a:off x="566928" y="1280160"/>
            <a:ext cx="5212080" cy="3470099"/>
          </a:xfrm>
          <a:prstGeom prst="rect">
            <a:avLst/>
          </a:prstGeom>
        </p:spPr>
      </p:pic>
      <p:sp>
        <p:nvSpPr>
          <p:cNvPr id="5" name="Figure caption"/>
          <p:cNvSpPr txBox="1"/>
          <p:nvPr/>
        </p:nvSpPr>
        <p:spPr>
          <a:xfrm>
            <a:off x="566928" y="484169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Wellard et al. (2020), Fig. 4. Type C killer whale encountered during acoustic fieldwork</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Wellard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Pack-ice hunters select particular seal prey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Pitman and Durban directly followed pack-ice killer whales hunting off the Antarctic Peninsula and compared observed seal kills with the seals available on ice floes. </a:t>
            </a:r>
            <a:r>
              <a:rPr sz="1400" b="1" i="0">
                <a:solidFill>
                  <a:srgbClr val="594044"/>
                </a:solidFill>
                <a:latin typeface="Arial"/>
              </a:rPr>
              <a:t>Prey selectivity</a:t>
            </a:r>
            <a:r>
              <a:rPr sz="1400" b="0" i="0">
                <a:solidFill>
                  <a:srgbClr val="000000"/>
                </a:solidFill>
                <a:latin typeface="Arial"/>
              </a:rPr>
              <a:t> means that consumption differs from availability; an abundant potential prey species need not be the species most often attacked successfully.</a:t>
            </a:r>
          </a:p>
          <a:p>
            <a:pPr algn="l">
              <a:lnSpc>
                <a:spcPct val="108000"/>
              </a:lnSpc>
              <a:spcAft>
                <a:spcPts val="840"/>
              </a:spcAft>
            </a:pPr>
            <a:r>
              <a:rPr sz="1400" b="0" i="0">
                <a:solidFill>
                  <a:srgbClr val="000000"/>
                </a:solidFill>
                <a:latin typeface="Arial"/>
              </a:rPr>
              <a:t>Weddell seals accounted for approximately 93% of identified seal kills despite comprising only approximately 15% of seals identified on floes. Crabeater seals were much more abundant in the observations but were not taken. Identifying both prey availability and the prey consumed constrained the explanation that the hunters simply encountered mostly Weddell seals.</a:t>
            </a:r>
          </a:p>
          <a:p>
            <a:pPr algn="l">
              <a:lnSpc>
                <a:spcPct val="108000"/>
              </a:lnSpc>
              <a:spcAft>
                <a:spcPts val="840"/>
              </a:spcAft>
            </a:pPr>
            <a:r>
              <a:rPr sz="1400" b="0" i="0">
                <a:solidFill>
                  <a:srgbClr val="000000"/>
                </a:solidFill>
                <a:latin typeface="Arial"/>
              </a:rPr>
              <a:t>This observational contrast establishes marked selectivity during the study. It does not experimentally separate prey handling difficulty, energetic reward and learned preferences as causes. The photographed approach to a floe documents a hunting encounter, while the population-specific prey pattern remains distinct from the broader marine-mammal diet of Monterey transient whales.</a:t>
            </a:r>
          </a:p>
        </p:txBody>
      </p:sp>
      <p:pic>
        <p:nvPicPr>
          <p:cNvPr id="4" name="Picture 3" descr="wave3.png"/>
          <p:cNvPicPr>
            <a:picLocks noChangeAspect="1"/>
          </p:cNvPicPr>
          <p:nvPr/>
        </p:nvPicPr>
        <p:blipFill>
          <a:blip r:embed="rId2"/>
          <a:stretch>
            <a:fillRect/>
          </a:stretch>
        </p:blipFill>
        <p:spPr>
          <a:xfrm>
            <a:off x="6412687" y="1280160"/>
            <a:ext cx="5212080" cy="3452588"/>
          </a:xfrm>
          <a:prstGeom prst="rect">
            <a:avLst/>
          </a:prstGeom>
        </p:spPr>
      </p:pic>
      <p:sp>
        <p:nvSpPr>
          <p:cNvPr id="5" name="Figure caption"/>
          <p:cNvSpPr txBox="1"/>
          <p:nvPr/>
        </p:nvSpPr>
        <p:spPr>
          <a:xfrm>
            <a:off x="6412687" y="482418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Pitman &amp; Durban (2012), Fig. 3. Whales approach an ice floe during wave washing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Aligned swimmers generate coordinated waves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During </a:t>
            </a:r>
            <a:r>
              <a:rPr sz="1500" b="1" i="0">
                <a:solidFill>
                  <a:srgbClr val="594044"/>
                </a:solidFill>
                <a:latin typeface="Arial"/>
              </a:rPr>
              <a:t>wave washing</a:t>
            </a:r>
            <a:r>
              <a:rPr sz="1500" b="0" i="0">
                <a:solidFill>
                  <a:srgbClr val="000000"/>
                </a:solidFill>
                <a:latin typeface="Arial"/>
              </a:rPr>
              <a:t>, multiple killer whales swim in coordinated formation toward an ice floe, producing a wave that can wash over the surface and dislodge a seal. Pitman and Durban followed attack sequences directly, recording the animals’ approaches, the waves produced and the fate of the prey rather than inferring hunting from proximity to ice.</a:t>
            </a:r>
          </a:p>
          <a:p>
            <a:pPr algn="l">
              <a:lnSpc>
                <a:spcPct val="108000"/>
              </a:lnSpc>
              <a:spcAft>
                <a:spcPts val="900"/>
              </a:spcAft>
            </a:pPr>
            <a:r>
              <a:rPr sz="1500" b="0" i="0">
                <a:solidFill>
                  <a:srgbClr val="000000"/>
                </a:solidFill>
                <a:latin typeface="Arial"/>
              </a:rPr>
              <a:t>Whales sometimes submerged together beneath a floe and generated a wave as they approached or passed it. The photographed wave-producing event retained the relationship between the swimmers, water movement and seal position. The behavior couples collective movement with a physical disturbance of the prey’s refuge.</a:t>
            </a:r>
          </a:p>
          <a:p>
            <a:pPr algn="l">
              <a:lnSpc>
                <a:spcPct val="108000"/>
              </a:lnSpc>
              <a:spcAft>
                <a:spcPts val="900"/>
              </a:spcAft>
            </a:pPr>
            <a:r>
              <a:rPr sz="1500" b="0" i="0">
                <a:solidFill>
                  <a:srgbClr val="000000"/>
                </a:solidFill>
                <a:latin typeface="Arial"/>
              </a:rPr>
              <a:t>The observations establish spatially and temporally coordinated action with a common hunting outcome. They do not identify whether particular calls issued a command, whether every participant represented a shared plan or which neural pathway synchronized the swimming. Acoustic control of the formation remains a separate question from the directly observed movement coordination.</a:t>
            </a:r>
          </a:p>
        </p:txBody>
      </p:sp>
      <p:pic>
        <p:nvPicPr>
          <p:cNvPr id="4" name="Picture 3" descr="wave2.png"/>
          <p:cNvPicPr>
            <a:picLocks noChangeAspect="1"/>
          </p:cNvPicPr>
          <p:nvPr/>
        </p:nvPicPr>
        <p:blipFill>
          <a:blip r:embed="rId2"/>
          <a:stretch>
            <a:fillRect/>
          </a:stretch>
        </p:blipFill>
        <p:spPr>
          <a:xfrm>
            <a:off x="566928" y="1280160"/>
            <a:ext cx="5212080" cy="3518983"/>
          </a:xfrm>
          <a:prstGeom prst="rect">
            <a:avLst/>
          </a:prstGeom>
        </p:spPr>
      </p:pic>
      <p:sp>
        <p:nvSpPr>
          <p:cNvPr id="5" name="Figure caption"/>
          <p:cNvSpPr txBox="1"/>
          <p:nvPr/>
        </p:nvSpPr>
        <p:spPr>
          <a:xfrm>
            <a:off x="566928" y="489058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Pitman &amp; Durban (2012), Fig. 2. A coordinated wave dislodges a Weddell seal</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Repeated waves can dislodge seals from ice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ice floe protects a resting seal by separating it from underwater predators. Wave washing changes that physical relationship: water sweeping across the floe can move the seal into the sea. Pitman and Durban recorded repeated waves during attacks rather than treating the first wave as the complete hunting sequence.</a:t>
            </a:r>
          </a:p>
          <a:p>
            <a:pPr algn="l">
              <a:lnSpc>
                <a:spcPct val="108000"/>
              </a:lnSpc>
              <a:spcAft>
                <a:spcPts val="840"/>
              </a:spcAft>
            </a:pPr>
            <a:r>
              <a:rPr sz="1400" b="0" i="0">
                <a:solidFill>
                  <a:srgbClr val="000000"/>
                </a:solidFill>
                <a:latin typeface="Arial"/>
              </a:rPr>
              <a:t>The hunters produced approximately 4.1 waves per successful attack on average, with successful sequences ranging from one to ten waves. Repetition could be accompanied by changes in approach and prey position. Some seals regained the ice or avoided immediate capture, so dislodgment and final consumption were distinct observable events.</a:t>
            </a:r>
          </a:p>
          <a:p>
            <a:pPr algn="l">
              <a:lnSpc>
                <a:spcPct val="108000"/>
              </a:lnSpc>
              <a:spcAft>
                <a:spcPts val="840"/>
              </a:spcAft>
            </a:pPr>
            <a:r>
              <a:rPr sz="1400" b="0" i="0">
                <a:solidFill>
                  <a:srgbClr val="000000"/>
                </a:solidFill>
                <a:latin typeface="Arial"/>
              </a:rPr>
              <a:t>Successful hunting therefore depended on more than generating a wave once. The observed sequences are compatible with flexible adjustments to prey behavior and floe conditions, but the study did not experimentally manipulate those variables. It establishes repeated coordinated attacks; it does not prove that every adjustment was socially learned or communicated through a particular vocal signal.</a:t>
            </a:r>
          </a:p>
        </p:txBody>
      </p:sp>
      <p:pic>
        <p:nvPicPr>
          <p:cNvPr id="4" name="Picture 3" descr="wave3.png"/>
          <p:cNvPicPr>
            <a:picLocks noChangeAspect="1"/>
          </p:cNvPicPr>
          <p:nvPr/>
        </p:nvPicPr>
        <p:blipFill>
          <a:blip r:embed="rId2"/>
          <a:stretch>
            <a:fillRect/>
          </a:stretch>
        </p:blipFill>
        <p:spPr>
          <a:xfrm>
            <a:off x="6412687" y="1280160"/>
            <a:ext cx="5212080" cy="3452588"/>
          </a:xfrm>
          <a:prstGeom prst="rect">
            <a:avLst/>
          </a:prstGeom>
        </p:spPr>
      </p:pic>
      <p:sp>
        <p:nvSpPr>
          <p:cNvPr id="5" name="Figure caption"/>
          <p:cNvSpPr txBox="1"/>
          <p:nvPr/>
        </p:nvSpPr>
        <p:spPr>
          <a:xfrm>
            <a:off x="6412687" y="482418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Pitman &amp; Durban (2012), Fig. 3. Whales approach an ice floe during wave washing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Attack duration constrains hunting interpretations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Pitman and Durban recorded both unsuccessful and successful attempts to remove Weddell seals from ice. Approximately 75% of the Weddell seals attacked during the observations were taken. </a:t>
            </a:r>
            <a:r>
              <a:rPr sz="1400" b="1" i="0">
                <a:solidFill>
                  <a:srgbClr val="594044"/>
                </a:solidFill>
                <a:latin typeface="Arial"/>
              </a:rPr>
              <a:t>Capture success</a:t>
            </a:r>
            <a:r>
              <a:rPr sz="1400" b="0" i="0">
                <a:solidFill>
                  <a:srgbClr val="000000"/>
                </a:solidFill>
                <a:latin typeface="Arial"/>
              </a:rPr>
              <a:t> refers to the final prey outcome, whereas a successful wave or temporary dislodgment can occur without an immediate kill.</a:t>
            </a:r>
          </a:p>
          <a:p>
            <a:pPr algn="l">
              <a:lnSpc>
                <a:spcPct val="108000"/>
              </a:lnSpc>
              <a:spcAft>
                <a:spcPts val="840"/>
              </a:spcAft>
            </a:pPr>
            <a:r>
              <a:rPr sz="1400" b="0" i="0">
                <a:solidFill>
                  <a:srgbClr val="000000"/>
                </a:solidFill>
                <a:latin typeface="Arial"/>
              </a:rPr>
              <a:t>Successful attacks lasted approximately 30.4 min on average and ranged from 15 to 62 min. These durations include repeated approaches and interactions with an active prey animal. The hunters’ coordinated behavior therefore operated across extended sequences, rather than being limited to one brief synchronized movement.</a:t>
            </a:r>
          </a:p>
          <a:p>
            <a:pPr algn="l">
              <a:lnSpc>
                <a:spcPct val="108000"/>
              </a:lnSpc>
              <a:spcAft>
                <a:spcPts val="840"/>
              </a:spcAft>
            </a:pPr>
            <a:r>
              <a:rPr sz="1400" b="0" i="0">
                <a:solidFill>
                  <a:srgbClr val="000000"/>
                </a:solidFill>
                <a:latin typeface="Arial"/>
              </a:rPr>
              <a:t>The observations constrain descriptions of the tactic as uniformly instantaneous or guaranteed. However, the study did not compare experimentally trained and untrained hunters or control prey motivation and floe geometry. Duration and success quantify natural attack outcomes while leaving the contributions of individual experience, group composition and specific communication signals incompletely resolved.</a:t>
            </a:r>
          </a:p>
        </p:txBody>
      </p:sp>
      <p:pic>
        <p:nvPicPr>
          <p:cNvPr id="4" name="Picture 3" descr="wave2.png"/>
          <p:cNvPicPr>
            <a:picLocks noChangeAspect="1"/>
          </p:cNvPicPr>
          <p:nvPr/>
        </p:nvPicPr>
        <p:blipFill>
          <a:blip r:embed="rId2"/>
          <a:stretch>
            <a:fillRect/>
          </a:stretch>
        </p:blipFill>
        <p:spPr>
          <a:xfrm>
            <a:off x="566928" y="1280160"/>
            <a:ext cx="5212080" cy="3518983"/>
          </a:xfrm>
          <a:prstGeom prst="rect">
            <a:avLst/>
          </a:prstGeom>
        </p:spPr>
      </p:pic>
      <p:sp>
        <p:nvSpPr>
          <p:cNvPr id="5" name="Figure caption"/>
          <p:cNvSpPr txBox="1"/>
          <p:nvPr/>
        </p:nvSpPr>
        <p:spPr>
          <a:xfrm>
            <a:off x="566928" y="489058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Pitman &amp; Durban (2012), Fig. 2. A coordinated wave dislodges a Weddell seal</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Prey processing continues after capture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Pitman and Durban examined seal remains associated with a kill and described careful postmortem processing, including removal of selected tissue rather than indiscriminate swallowing of an intact carcass. </a:t>
            </a:r>
            <a:r>
              <a:rPr sz="1400" b="1" i="0">
                <a:solidFill>
                  <a:srgbClr val="594044"/>
                </a:solidFill>
                <a:latin typeface="Arial"/>
              </a:rPr>
              <a:t>Prey handling</a:t>
            </a:r>
            <a:r>
              <a:rPr sz="1400" b="0" i="0">
                <a:solidFill>
                  <a:srgbClr val="000000"/>
                </a:solidFill>
                <a:latin typeface="Arial"/>
              </a:rPr>
              <a:t> includes the actions after capture that make food accessible, as well as the movements used to seize the animal.</a:t>
            </a:r>
          </a:p>
          <a:p>
            <a:pPr algn="l">
              <a:lnSpc>
                <a:spcPct val="108000"/>
              </a:lnSpc>
              <a:spcAft>
                <a:spcPts val="840"/>
              </a:spcAft>
            </a:pPr>
            <a:r>
              <a:rPr sz="1400" b="0" i="0">
                <a:solidFill>
                  <a:srgbClr val="000000"/>
                </a:solidFill>
                <a:latin typeface="Arial"/>
              </a:rPr>
              <a:t>The evidence came from directly observed hunting and recovered remains, not an experimentally supplied carcass. It therefore connects natural wave-washing encounters with subsequent consumption. The anatomical condition of the remains supported the description of meticulous processing, while observation opportunities limited how completely the sequence could be reconstructed.</a:t>
            </a:r>
          </a:p>
          <a:p>
            <a:pPr algn="l">
              <a:lnSpc>
                <a:spcPct val="108000"/>
              </a:lnSpc>
              <a:spcAft>
                <a:spcPts val="840"/>
              </a:spcAft>
            </a:pPr>
            <a:r>
              <a:rPr sz="1400" b="0" i="0">
                <a:solidFill>
                  <a:srgbClr val="000000"/>
                </a:solidFill>
                <a:latin typeface="Arial"/>
              </a:rPr>
              <a:t>Coordinated capture and selective processing need not have identical learning mechanisms. The paper discussed the possibility of experience and social transmission, but observing adults handle prey does not establish deliberate teaching of younger whales. Demonstrating teaching would require evidence that a tutor changes behavior in a way that facilitates another animal’s acquisition of the skill.</a:t>
            </a:r>
          </a:p>
        </p:txBody>
      </p:sp>
      <p:pic>
        <p:nvPicPr>
          <p:cNvPr id="4" name="Picture 3" descr="wave3.png"/>
          <p:cNvPicPr>
            <a:picLocks noChangeAspect="1"/>
          </p:cNvPicPr>
          <p:nvPr/>
        </p:nvPicPr>
        <p:blipFill>
          <a:blip r:embed="rId2"/>
          <a:stretch>
            <a:fillRect/>
          </a:stretch>
        </p:blipFill>
        <p:spPr>
          <a:xfrm>
            <a:off x="6412687" y="1280160"/>
            <a:ext cx="5212080" cy="3452588"/>
          </a:xfrm>
          <a:prstGeom prst="rect">
            <a:avLst/>
          </a:prstGeom>
        </p:spPr>
      </p:pic>
      <p:sp>
        <p:nvSpPr>
          <p:cNvPr id="5" name="Figure caption"/>
          <p:cNvSpPr txBox="1"/>
          <p:nvPr/>
        </p:nvSpPr>
        <p:spPr>
          <a:xfrm>
            <a:off x="6412687" y="482418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Pitman &amp; Durban (2012), Fig. 3. Whales approach an ice floe during wave washing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Canyon contours accompany prey-search routes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McInnes and colleagues followed transient killer-whale groups around Monterey Canyon and mapped their movements against bathymetry. </a:t>
            </a:r>
            <a:r>
              <a:rPr sz="1400" b="1" i="0">
                <a:solidFill>
                  <a:srgbClr val="594044"/>
                </a:solidFill>
                <a:latin typeface="Arial"/>
              </a:rPr>
              <a:t>Bathymetry</a:t>
            </a:r>
            <a:r>
              <a:rPr sz="1400" b="0" i="0">
                <a:solidFill>
                  <a:srgbClr val="000000"/>
                </a:solidFill>
                <a:latin typeface="Arial"/>
              </a:rPr>
              <a:t> describes the depth and shape of the seafloor. The continental shelf break and upper canyon slope supplied a spatial context for distinguishing searching, traveling and feeding during focal follows.</a:t>
            </a:r>
          </a:p>
          <a:p>
            <a:pPr algn="l">
              <a:lnSpc>
                <a:spcPct val="108000"/>
              </a:lnSpc>
              <a:spcAft>
                <a:spcPts val="840"/>
              </a:spcAft>
            </a:pPr>
            <a:r>
              <a:rPr sz="1400" b="0" i="0">
                <a:solidFill>
                  <a:srgbClr val="000000"/>
                </a:solidFill>
                <a:latin typeface="Arial"/>
              </a:rPr>
              <a:t>Groups often followed canyon contours while searching in open water. Recorded tracks connected routes with locations where prey were encountered or feeding occurred, rather than classifying every segment as an attack. Whales spent approximately 26% of observed time searching along the shelf break and upper slope and approximately 25% searching elsewhere in open water.</a:t>
            </a:r>
          </a:p>
          <a:p>
            <a:pPr algn="l">
              <a:lnSpc>
                <a:spcPct val="108000"/>
              </a:lnSpc>
              <a:spcAft>
                <a:spcPts val="840"/>
              </a:spcAft>
            </a:pPr>
            <a:r>
              <a:rPr sz="1400" b="0" i="0">
                <a:solidFill>
                  <a:srgbClr val="000000"/>
                </a:solidFill>
                <a:latin typeface="Arial"/>
              </a:rPr>
              <a:t>These tracks establish repeated use of particular habitat features during foraging. They do not determine whether whales followed remembered routes, detected current acoustic cues or used several sensory sources together. The study measured natural movement and behavioral context, leaving the underlying spatial-memory and sensory computations unrecorded.</a:t>
            </a:r>
          </a:p>
        </p:txBody>
      </p:sp>
      <p:pic>
        <p:nvPicPr>
          <p:cNvPr id="4" name="Picture 3" descr="hunt6.png"/>
          <p:cNvPicPr>
            <a:picLocks noChangeAspect="1"/>
          </p:cNvPicPr>
          <p:nvPr/>
        </p:nvPicPr>
        <p:blipFill>
          <a:blip r:embed="rId2"/>
          <a:stretch>
            <a:fillRect/>
          </a:stretch>
        </p:blipFill>
        <p:spPr>
          <a:xfrm>
            <a:off x="1069726" y="1280160"/>
            <a:ext cx="4206482"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6(A–D). Tracks of groups searching and feeding around canyon contours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Search occupies more time than prey pursuit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McInnes and colleagues classified activity during focal follows using observable behavioral criteria. </a:t>
            </a:r>
            <a:r>
              <a:rPr sz="1400" b="1" i="0">
                <a:solidFill>
                  <a:srgbClr val="594044"/>
                </a:solidFill>
                <a:latin typeface="Arial"/>
              </a:rPr>
              <a:t>Searching</a:t>
            </a:r>
            <a:r>
              <a:rPr sz="1400" b="0" i="0">
                <a:solidFill>
                  <a:srgbClr val="000000"/>
                </a:solidFill>
                <a:latin typeface="Arial"/>
              </a:rPr>
              <a:t> described movement while seeking prey; </a:t>
            </a:r>
            <a:r>
              <a:rPr sz="1400" b="1" i="0">
                <a:solidFill>
                  <a:srgbClr val="594044"/>
                </a:solidFill>
                <a:latin typeface="Arial"/>
              </a:rPr>
              <a:t>pursuit</a:t>
            </a:r>
            <a:r>
              <a:rPr sz="1400" b="0" i="0">
                <a:solidFill>
                  <a:srgbClr val="000000"/>
                </a:solidFill>
                <a:latin typeface="Arial"/>
              </a:rPr>
              <a:t> began when the whales actively chased an encountered animal; </a:t>
            </a:r>
            <a:r>
              <a:rPr sz="1400" b="1" i="0">
                <a:solidFill>
                  <a:srgbClr val="594044"/>
                </a:solidFill>
                <a:latin typeface="Arial"/>
              </a:rPr>
              <a:t>feeding</a:t>
            </a:r>
            <a:r>
              <a:rPr sz="1400" b="0" i="0">
                <a:solidFill>
                  <a:srgbClr val="000000"/>
                </a:solidFill>
                <a:latin typeface="Arial"/>
              </a:rPr>
              <a:t> followed successful prey capture. Separating these states prevented all time spent in a foraging area from being counted as direct predation.</a:t>
            </a:r>
          </a:p>
          <a:p>
            <a:pPr algn="l">
              <a:lnSpc>
                <a:spcPct val="108000"/>
              </a:lnSpc>
              <a:spcAft>
                <a:spcPts val="840"/>
              </a:spcAft>
            </a:pPr>
            <a:r>
              <a:rPr sz="1400" b="0" i="0">
                <a:solidFill>
                  <a:srgbClr val="000000"/>
                </a:solidFill>
                <a:latin typeface="Arial"/>
              </a:rPr>
              <a:t>Searching occupied approximately 51% of the observed activity, compared with approximately 10% pursuing prey and 23% feeding. The remaining time included traveling, socializing and resting. Search routes and feeding locations were retained in the spatial record, linking the time budget to particular encounters and habitat features.</a:t>
            </a:r>
          </a:p>
          <a:p>
            <a:pPr algn="l">
              <a:lnSpc>
                <a:spcPct val="108000"/>
              </a:lnSpc>
              <a:spcAft>
                <a:spcPts val="840"/>
              </a:spcAft>
            </a:pPr>
            <a:r>
              <a:rPr sz="1400" b="0" i="0">
                <a:solidFill>
                  <a:srgbClr val="000000"/>
                </a:solidFill>
                <a:latin typeface="Arial"/>
              </a:rPr>
              <a:t>A hunt therefore includes substantial information acquisition before attack and consumption. These proportions are observations from the sampled groups and conditions, not fixed species-wide constants. They also do not reveal which sensory channel supplied each prey detection, because the investigators did not experimentally remove hearing or vision during natural searches.</a:t>
            </a:r>
          </a:p>
        </p:txBody>
      </p:sp>
      <p:pic>
        <p:nvPicPr>
          <p:cNvPr id="4" name="Picture 3" descr="hunt6d.png"/>
          <p:cNvPicPr>
            <a:picLocks noChangeAspect="1"/>
          </p:cNvPicPr>
          <p:nvPr/>
        </p:nvPicPr>
        <p:blipFill>
          <a:blip r:embed="rId2"/>
          <a:stretch>
            <a:fillRect/>
          </a:stretch>
        </p:blipFill>
        <p:spPr>
          <a:xfrm>
            <a:off x="6668433" y="1280160"/>
            <a:ext cx="470058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6(D). A focal-follow track linking search and feeding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Large prey recruit extended coordinated attacks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McInnes and colleagues documented transient killer whales attacking grey-whale calves accompanied by their mothers. A calf is not an isolated stationary target: maternal defense, prey movement and the surrounding group influence the attack. The recorded sequence retained identifiable interactions between hunters, mother and calf through pursuit and feeding.</a:t>
            </a:r>
          </a:p>
          <a:p>
            <a:pPr algn="l">
              <a:lnSpc>
                <a:spcPct val="108000"/>
              </a:lnSpc>
              <a:spcAft>
                <a:spcPts val="840"/>
              </a:spcAft>
            </a:pPr>
            <a:r>
              <a:rPr sz="1400" b="0" i="0">
                <a:solidFill>
                  <a:srgbClr val="000000"/>
                </a:solidFill>
                <a:latin typeface="Arial"/>
              </a:rPr>
              <a:t>Hunters coordinated approaches and physical contacts while attempting to separate or restrain the calf. Feeding followed successful attacks, but the presence of multiple whales near a mother–calf pair alone was not sufficient to classify an encounter as a kill. Sequential observations distinguished attack actions from the final outcome.</a:t>
            </a:r>
          </a:p>
          <a:p>
            <a:pPr algn="l">
              <a:lnSpc>
                <a:spcPct val="108000"/>
              </a:lnSpc>
              <a:spcAft>
                <a:spcPts val="840"/>
              </a:spcAft>
            </a:pPr>
            <a:r>
              <a:rPr sz="1400" b="0" i="0">
                <a:solidFill>
                  <a:srgbClr val="000000"/>
                </a:solidFill>
                <a:latin typeface="Arial"/>
              </a:rPr>
              <a:t>These natural records establish coordination against large, defended prey. They do not prove that participants held explicit complementary roles from the start or that a particular call directed each action. The observable tactic differs from ice-floe wave washing, even though both combine individual movements into a group hunting outcome.</a:t>
            </a:r>
          </a:p>
        </p:txBody>
      </p:sp>
      <p:pic>
        <p:nvPicPr>
          <p:cNvPr id="4" name="Picture 3" descr="hunt9.png"/>
          <p:cNvPicPr>
            <a:picLocks noChangeAspect="1"/>
          </p:cNvPicPr>
          <p:nvPr/>
        </p:nvPicPr>
        <p:blipFill>
          <a:blip r:embed="rId2"/>
          <a:stretch>
            <a:fillRect/>
          </a:stretch>
        </p:blipFill>
        <p:spPr>
          <a:xfrm>
            <a:off x="1432908" y="1280160"/>
            <a:ext cx="3480118"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9(A–D). Attack sequence and feeding on a grey-whale calf</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Seasonal prey opportunities accompany whale occurrence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McInnes and colleagues compared seasonal transient-whale encounters with the availability of different marine-mammal prey around Monterey Canyon. </a:t>
            </a:r>
            <a:r>
              <a:rPr sz="1400" b="1" i="0">
                <a:solidFill>
                  <a:srgbClr val="594044"/>
                </a:solidFill>
                <a:latin typeface="Arial"/>
              </a:rPr>
              <a:t>Phenology</a:t>
            </a:r>
            <a:r>
              <a:rPr sz="1400" b="0" i="0">
                <a:solidFill>
                  <a:srgbClr val="000000"/>
                </a:solidFill>
                <a:latin typeface="Arial"/>
              </a:rPr>
              <a:t> describes the seasonal timing of biological events. Grey whales moving northward from breeding areas create a changing spring opportunity to encounter mothers and calves rather than a constant year-round prey distribution.</a:t>
            </a:r>
          </a:p>
          <a:p>
            <a:pPr algn="l">
              <a:lnSpc>
                <a:spcPct val="108000"/>
              </a:lnSpc>
              <a:spcAft>
                <a:spcPts val="840"/>
              </a:spcAft>
            </a:pPr>
            <a:r>
              <a:rPr sz="1400" b="0" i="0">
                <a:solidFill>
                  <a:srgbClr val="000000"/>
                </a:solidFill>
                <a:latin typeface="Arial"/>
              </a:rPr>
              <a:t>Transient-whale encounters increased during spring, and observations linked some attacks with the migrating grey-whale calves. The study also documented other prey, including sea lions, elephant seals and small cetaceans. Seasonal presence therefore reflected a broader predatory context rather than exclusive dependence on one prey species.</a:t>
            </a:r>
          </a:p>
          <a:p>
            <a:pPr algn="l">
              <a:lnSpc>
                <a:spcPct val="108000"/>
              </a:lnSpc>
              <a:spcAft>
                <a:spcPts val="840"/>
              </a:spcAft>
            </a:pPr>
            <a:r>
              <a:rPr sz="1400" b="0" i="0">
                <a:solidFill>
                  <a:srgbClr val="000000"/>
                </a:solidFill>
                <a:latin typeface="Arial"/>
              </a:rPr>
              <a:t>The temporal association supports the interpretation that prey opportunities contribute to predator occurrence. It does not establish prey availability as the only driver, because sighting effort, environmental conditions and movements outside the study area also matter. Observed seasonal patterns constrain ecological interpretations without identifying a single neural calendar or learned migration rule.</a:t>
            </a:r>
          </a:p>
        </p:txBody>
      </p:sp>
      <p:pic>
        <p:nvPicPr>
          <p:cNvPr id="4" name="Picture 3" descr="hunt5.png"/>
          <p:cNvPicPr>
            <a:picLocks noChangeAspect="1"/>
          </p:cNvPicPr>
          <p:nvPr/>
        </p:nvPicPr>
        <p:blipFill>
          <a:blip r:embed="rId2"/>
          <a:stretch>
            <a:fillRect/>
          </a:stretch>
        </p:blipFill>
        <p:spPr>
          <a:xfrm>
            <a:off x="6412687" y="1280160"/>
            <a:ext cx="5212080" cy="4166901"/>
          </a:xfrm>
          <a:prstGeom prst="rect">
            <a:avLst/>
          </a:prstGeom>
        </p:spPr>
      </p:pic>
      <p:sp>
        <p:nvSpPr>
          <p:cNvPr id="5" name="Figure caption"/>
          <p:cNvSpPr txBox="1"/>
          <p:nvPr/>
        </p:nvSpPr>
        <p:spPr>
          <a:xfrm>
            <a:off x="6412687" y="553850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5. Seasonal occurrence of transient whales and grey-whale calves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Observed coordination does not establish shared intent</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McInnes and colleagues recorded different attack sequences against sea lions, harbor seals and small cetaceans. </a:t>
            </a:r>
            <a:r>
              <a:rPr sz="1400" b="1" i="0">
                <a:solidFill>
                  <a:srgbClr val="594044"/>
                </a:solidFill>
                <a:latin typeface="Arial"/>
              </a:rPr>
              <a:t>Coordination</a:t>
            </a:r>
            <a:r>
              <a:rPr sz="1400" b="0" i="0">
                <a:solidFill>
                  <a:srgbClr val="000000"/>
                </a:solidFill>
                <a:latin typeface="Arial"/>
              </a:rPr>
              <a:t> describes a relationship among observable actions in space and time; </a:t>
            </a:r>
            <a:r>
              <a:rPr sz="1400" b="1" i="0">
                <a:solidFill>
                  <a:srgbClr val="594044"/>
                </a:solidFill>
                <a:latin typeface="Arial"/>
              </a:rPr>
              <a:t>shared intent</a:t>
            </a:r>
            <a:r>
              <a:rPr sz="1400" b="0" i="0">
                <a:solidFill>
                  <a:srgbClr val="000000"/>
                </a:solidFill>
                <a:latin typeface="Arial"/>
              </a:rPr>
              <a:t> would require a stronger claim about what participants represent internally. Successful group predation does not make those terms equivalent.</a:t>
            </a:r>
          </a:p>
          <a:p>
            <a:pPr algn="l">
              <a:lnSpc>
                <a:spcPct val="108000"/>
              </a:lnSpc>
              <a:spcAft>
                <a:spcPts val="840"/>
              </a:spcAft>
            </a:pPr>
            <a:r>
              <a:rPr sz="1400" b="0" i="0">
                <a:solidFill>
                  <a:srgbClr val="000000"/>
                </a:solidFill>
                <a:latin typeface="Arial"/>
              </a:rPr>
              <a:t>Photographs and focal observations retained attacks on particular prey rather than combining all marine-mammal encounters into a generic cooperative tactic. The methods could establish who was present, how movements related to the prey and whether feeding occurred. They could not directly establish the internal goals or expectations of every participant.</a:t>
            </a:r>
          </a:p>
          <a:p>
            <a:pPr algn="l">
              <a:lnSpc>
                <a:spcPct val="108000"/>
              </a:lnSpc>
              <a:spcAft>
                <a:spcPts val="840"/>
              </a:spcAft>
            </a:pPr>
            <a:r>
              <a:rPr sz="1400" b="0" i="0">
                <a:solidFill>
                  <a:srgbClr val="000000"/>
                </a:solidFill>
                <a:latin typeface="Arial"/>
              </a:rPr>
              <a:t>Repeated group behavior provides opportunities for younger animals to observe experienced hunters, making social learning a plausible explanation for persistent tactics. The recorded hunts nevertheless lacked a controlled manipulation of learning opportunities. Cooperation, ecological specialization and cultural transmission are related hypotheses whose strongest evidence comes from different observations or experimental preparations.</a:t>
            </a:r>
          </a:p>
        </p:txBody>
      </p:sp>
      <p:pic>
        <p:nvPicPr>
          <p:cNvPr id="4" name="Picture 3" descr="hunt8.png"/>
          <p:cNvPicPr>
            <a:picLocks noChangeAspect="1"/>
          </p:cNvPicPr>
          <p:nvPr/>
        </p:nvPicPr>
        <p:blipFill>
          <a:blip r:embed="rId2"/>
          <a:stretch>
            <a:fillRect/>
          </a:stretch>
        </p:blipFill>
        <p:spPr>
          <a:xfrm>
            <a:off x="1318677" y="1280160"/>
            <a:ext cx="3708580" cy="4297679"/>
          </a:xfrm>
          <a:prstGeom prst="rect">
            <a:avLst/>
          </a:prstGeom>
        </p:spPr>
      </p:pic>
      <p:sp>
        <p:nvSpPr>
          <p:cNvPr id="5" name="Figure caption"/>
          <p:cNvSpPr txBox="1"/>
          <p:nvPr/>
        </p:nvSpPr>
        <p:spPr>
          <a:xfrm>
            <a:off x="566928"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McInnes et al. (2024), Fig. 8(A–D). Predation on different marine-mammal prey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McInnes et al. (2024); Pitman &amp; Durban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Playback links acoustic input with group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94044"/>
                </a:solidFill>
                <a:latin typeface="Arial"/>
              </a:rPr>
              <a:t>playback experiment</a:t>
            </a:r>
            <a:r>
              <a:rPr sz="1400" b="0" i="0">
                <a:solidFill>
                  <a:srgbClr val="000000"/>
                </a:solidFill>
                <a:latin typeface="Arial"/>
              </a:rPr>
              <a:t> presents a controlled recording to test whether sound changes behavior. Selbmann and colleagues exposed tagged killer whales near an Icelandic herring spawning ground to long-finned pilot-whale sounds and control stimuli. </a:t>
            </a:r>
            <a:r>
              <a:rPr sz="1400" b="1" i="0">
                <a:solidFill>
                  <a:srgbClr val="594044"/>
                </a:solidFill>
                <a:latin typeface="Arial"/>
              </a:rPr>
              <a:t>Multi-sensor tags</a:t>
            </a:r>
            <a:r>
              <a:rPr sz="1400" b="0" i="0">
                <a:solidFill>
                  <a:srgbClr val="000000"/>
                </a:solidFill>
                <a:latin typeface="Arial"/>
              </a:rPr>
              <a:t> recorded movement, diving and acoustic activity, linking the stimulus interval with the whale’s subsequent actions.</a:t>
            </a:r>
          </a:p>
          <a:p>
            <a:pPr algn="l">
              <a:lnSpc>
                <a:spcPct val="108000"/>
              </a:lnSpc>
              <a:spcAft>
                <a:spcPts val="840"/>
              </a:spcAft>
            </a:pPr>
            <a:r>
              <a:rPr sz="1400" b="0" i="0">
                <a:solidFill>
                  <a:srgbClr val="000000"/>
                </a:solidFill>
                <a:latin typeface="Arial"/>
              </a:rPr>
              <a:t>Pilot-whale playback commonly elicited faster, more directed movement away from the sound source, accompanied by changes in group cohesion and alignment. Calling often increased initially and then decreased. Comparing these responses with noise controls constrained the explanation that any broadcast sound would produce the same movement.</a:t>
            </a:r>
          </a:p>
          <a:p>
            <a:pPr algn="l">
              <a:lnSpc>
                <a:spcPct val="108000"/>
              </a:lnSpc>
              <a:spcAft>
                <a:spcPts val="840"/>
              </a:spcAft>
            </a:pPr>
            <a:r>
              <a:rPr sz="1400" b="0" i="0">
                <a:solidFill>
                  <a:srgbClr val="000000"/>
                </a:solidFill>
                <a:latin typeface="Arial"/>
              </a:rPr>
              <a:t>The experiment establishes that acoustic information can alter individual and group behavior without a live pilot whale approaching. It does not identify the brain circuitry producing avoidance or prove that the listeners experienced a particular emotion. Interpretation as anticipated harassment or threat is supported by ecological context but remains distinct from the measured movement response.</a:t>
            </a:r>
          </a:p>
        </p:txBody>
      </p:sp>
      <p:pic>
        <p:nvPicPr>
          <p:cNvPr id="4" name="Picture 3" descr="pilot1.png"/>
          <p:cNvPicPr>
            <a:picLocks noChangeAspect="1"/>
          </p:cNvPicPr>
          <p:nvPr/>
        </p:nvPicPr>
        <p:blipFill>
          <a:blip r:embed="rId2"/>
          <a:stretch>
            <a:fillRect/>
          </a:stretch>
        </p:blipFill>
        <p:spPr>
          <a:xfrm>
            <a:off x="6412687" y="1280160"/>
            <a:ext cx="5212080" cy="3696673"/>
          </a:xfrm>
          <a:prstGeom prst="rect">
            <a:avLst/>
          </a:prstGeom>
        </p:spPr>
      </p:pic>
      <p:sp>
        <p:nvSpPr>
          <p:cNvPr id="5" name="Figure caption"/>
          <p:cNvSpPr txBox="1"/>
          <p:nvPr/>
        </p:nvSpPr>
        <p:spPr>
          <a:xfrm>
            <a:off x="6412687" y="506827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Selbmann et al. (2026), Fig. 1. Tagged movement and acoustic activity across controlled playbacks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Selbmann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Controls constrain acoustic-response explanations</a:t>
            </a:r>
          </a:p>
        </p:txBody>
      </p:sp>
      <p:sp>
        <p:nvSpPr>
          <p:cNvPr id="3" name="Body"/>
          <p:cNvSpPr txBox="1"/>
          <p:nvPr/>
        </p:nvSpPr>
        <p:spPr>
          <a:xfrm>
            <a:off x="614476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Selbmann and colleagues evaluated horizontal movement, acoustic output and group organization before, during and after playback. Noise control recordings and a 1–2-kHz upsweep stimulus provided comparisons with pilot-whale sounds. </a:t>
            </a:r>
            <a:r>
              <a:rPr sz="1400" b="1" i="0">
                <a:solidFill>
                  <a:srgbClr val="594044"/>
                </a:solidFill>
                <a:latin typeface="Arial"/>
              </a:rPr>
              <a:t>Group cohesion</a:t>
            </a:r>
            <a:r>
              <a:rPr sz="1400" b="0" i="0">
                <a:solidFill>
                  <a:srgbClr val="000000"/>
                </a:solidFill>
                <a:latin typeface="Arial"/>
              </a:rPr>
              <a:t> concerns how closely individuals remain together, whereas </a:t>
            </a:r>
            <a:r>
              <a:rPr sz="1400" b="1" i="0">
                <a:solidFill>
                  <a:srgbClr val="594044"/>
                </a:solidFill>
                <a:latin typeface="Arial"/>
              </a:rPr>
              <a:t>alignment</a:t>
            </a:r>
            <a:r>
              <a:rPr sz="1400" b="0" i="0">
                <a:solidFill>
                  <a:srgbClr val="000000"/>
                </a:solidFill>
                <a:latin typeface="Arial"/>
              </a:rPr>
              <a:t> concerns similarity in their movement direction.</a:t>
            </a:r>
          </a:p>
          <a:p>
            <a:pPr algn="l">
              <a:lnSpc>
                <a:spcPct val="108000"/>
              </a:lnSpc>
              <a:spcAft>
                <a:spcPts val="840"/>
              </a:spcAft>
            </a:pPr>
            <a:r>
              <a:rPr sz="1400" b="0" i="0">
                <a:solidFill>
                  <a:srgbClr val="000000"/>
                </a:solidFill>
                <a:latin typeface="Arial"/>
              </a:rPr>
              <a:t>Responses to pilot-whale sounds included movement away from the source and more coordinated group organization. The upsweep control was used too sparingly for the same inferential treatment as the better-sampled noise comparison, so the authors distinguished descriptive observations from their principal analysis. Stimulus identity and available controls therefore shaped the strength of each conclusion.</a:t>
            </a:r>
          </a:p>
          <a:p>
            <a:pPr algn="l">
              <a:lnSpc>
                <a:spcPct val="108000"/>
              </a:lnSpc>
              <a:spcAft>
                <a:spcPts val="840"/>
              </a:spcAft>
            </a:pPr>
            <a:r>
              <a:rPr sz="1400" b="0" i="0">
                <a:solidFill>
                  <a:srgbClr val="000000"/>
                </a:solidFill>
                <a:latin typeface="Arial"/>
              </a:rPr>
              <a:t>Acoustically triggered alignment supplies direct evidence linking hearing with a group action, but it is an avoidance response rather than a hunt. It cannot establish that the same control mechanism organizes cooperative prey capture. The causal sensory manipulation and the observational hunting studies answer complementary questions about sound-guided social behavior.</a:t>
            </a:r>
          </a:p>
        </p:txBody>
      </p:sp>
      <p:pic>
        <p:nvPicPr>
          <p:cNvPr id="4" name="Picture 3" descr="pilot5.png"/>
          <p:cNvPicPr>
            <a:picLocks noChangeAspect="1"/>
          </p:cNvPicPr>
          <p:nvPr/>
        </p:nvPicPr>
        <p:blipFill>
          <a:blip r:embed="rId2"/>
          <a:stretch>
            <a:fillRect/>
          </a:stretch>
        </p:blipFill>
        <p:spPr>
          <a:xfrm>
            <a:off x="566928" y="1280160"/>
            <a:ext cx="5212080" cy="2895600"/>
          </a:xfrm>
          <a:prstGeom prst="rect">
            <a:avLst/>
          </a:prstGeom>
        </p:spPr>
      </p:pic>
      <p:sp>
        <p:nvSpPr>
          <p:cNvPr id="5" name="Figure caption"/>
          <p:cNvSpPr txBox="1"/>
          <p:nvPr/>
        </p:nvSpPr>
        <p:spPr>
          <a:xfrm>
            <a:off x="566928" y="426720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Selbmann et al. (2026), Fig. 5(a–e). Group cohesion and movement changes during playbacks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Selbmann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Key takeaways</a:t>
            </a:r>
          </a:p>
        </p:txBody>
      </p:sp>
      <p:sp>
        <p:nvSpPr>
          <p:cNvPr id="3" name="Rectangle 2"/>
          <p:cNvSpPr/>
          <p:nvPr/>
        </p:nvSpPr>
        <p:spPr>
          <a:xfrm>
            <a:off x="566928" y="1234440"/>
            <a:ext cx="5391759" cy="1478279"/>
          </a:xfrm>
          <a:prstGeom prst="rect">
            <a:avLst/>
          </a:prstGeom>
          <a:solidFill>
            <a:srgbClr val="F7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Anatomy and function differ.</a:t>
            </a:r>
            <a:r>
              <a:rPr sz="1600" b="0" i="0">
                <a:solidFill>
                  <a:srgbClr val="000000"/>
                </a:solidFill>
                <a:latin typeface="Arial"/>
              </a:rPr>
              <a:t> Killer-whale MRI establishes regional organization; it does not identify the synaptic circuit for dialect learning or hunting coordination.</a:t>
            </a:r>
          </a:p>
        </p:txBody>
      </p:sp>
      <p:sp>
        <p:nvSpPr>
          <p:cNvPr id="5" name="Rectangle 4"/>
          <p:cNvSpPr/>
          <p:nvPr/>
        </p:nvSpPr>
        <p:spPr>
          <a:xfrm>
            <a:off x="6233007" y="1234440"/>
            <a:ext cx="5391759" cy="1478279"/>
          </a:xfrm>
          <a:prstGeom prst="rect">
            <a:avLst/>
          </a:prstGeom>
          <a:solidFill>
            <a:srgbClr val="F7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Hearing is frequency dependent.</a:t>
            </a:r>
            <a:r>
              <a:rPr sz="1600" b="0" i="0">
                <a:solidFill>
                  <a:srgbClr val="000000"/>
                </a:solidFill>
                <a:latin typeface="Arial"/>
              </a:rPr>
              <a:t> Behavioral and brainstem audiograms reveal ultrasonic detection, but physiological thresholds exceed behavioral thresholds and depend on stimulus conditions.</a:t>
            </a:r>
          </a:p>
        </p:txBody>
      </p:sp>
      <p:sp>
        <p:nvSpPr>
          <p:cNvPr id="7" name="Rectangle 6"/>
          <p:cNvSpPr/>
          <p:nvPr/>
        </p:nvSpPr>
        <p:spPr>
          <a:xfrm>
            <a:off x="566928" y="2987040"/>
            <a:ext cx="5391759" cy="1478279"/>
          </a:xfrm>
          <a:prstGeom prst="rect">
            <a:avLst/>
          </a:prstGeom>
          <a:solidFill>
            <a:srgbClr val="F7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Dialects are group traditions.</a:t>
            </a:r>
            <a:r>
              <a:rPr sz="1500" b="0" i="0">
                <a:solidFill>
                  <a:srgbClr val="000000"/>
                </a:solidFill>
                <a:latin typeface="Arial"/>
              </a:rPr>
              <a:t> Shared discrete calls define acoustic clans, while historical recordings establish repertoire persistence without directly isolating the learning mechanism.</a:t>
            </a:r>
          </a:p>
        </p:txBody>
      </p:sp>
      <p:sp>
        <p:nvSpPr>
          <p:cNvPr id="9" name="Rectangle 8"/>
          <p:cNvSpPr/>
          <p:nvPr/>
        </p:nvSpPr>
        <p:spPr>
          <a:xfrm>
            <a:off x="6233007" y="2987040"/>
            <a:ext cx="5391759" cy="1478279"/>
          </a:xfrm>
          <a:prstGeom prst="rect">
            <a:avLst/>
          </a:prstGeom>
          <a:solidFill>
            <a:srgbClr val="F7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Learning evidence has levels.</a:t>
            </a:r>
            <a:r>
              <a:rPr sz="1600" b="0" i="0">
                <a:solidFill>
                  <a:srgbClr val="000000"/>
                </a:solidFill>
                <a:latin typeface="Arial"/>
              </a:rPr>
              <a:t> Longitudinal call change permits maturation as an alternative; controlled copying of novel sounds directly supports vocal production learning.</a:t>
            </a:r>
          </a:p>
        </p:txBody>
      </p:sp>
      <p:sp>
        <p:nvSpPr>
          <p:cNvPr id="11" name="Rectangle 10"/>
          <p:cNvSpPr/>
          <p:nvPr/>
        </p:nvSpPr>
        <p:spPr>
          <a:xfrm>
            <a:off x="566928" y="4739640"/>
            <a:ext cx="5391759" cy="1478279"/>
          </a:xfrm>
          <a:prstGeom prst="rect">
            <a:avLst/>
          </a:prstGeom>
          <a:solidFill>
            <a:srgbClr val="F7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Hunting involves coordinated action.</a:t>
            </a:r>
            <a:r>
              <a:rPr sz="1500" b="0" i="0">
                <a:solidFill>
                  <a:srgbClr val="000000"/>
                </a:solidFill>
                <a:latin typeface="Arial"/>
              </a:rPr>
              <a:t> Wave washing and large-prey attacks link group movements with capture outcomes, without proving deliberate teaching, shared intent or a specific call command.</a:t>
            </a:r>
          </a:p>
        </p:txBody>
      </p:sp>
      <p:sp>
        <p:nvSpPr>
          <p:cNvPr id="13" name="Rectangle 12"/>
          <p:cNvSpPr/>
          <p:nvPr/>
        </p:nvSpPr>
        <p:spPr>
          <a:xfrm>
            <a:off x="6233007" y="4739640"/>
            <a:ext cx="5391759" cy="1478279"/>
          </a:xfrm>
          <a:prstGeom prst="rect">
            <a:avLst/>
          </a:prstGeom>
          <a:solidFill>
            <a:srgbClr val="F7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Playback tests acoustic causation.</a:t>
            </a:r>
            <a:r>
              <a:rPr sz="1600" b="0" i="0">
                <a:solidFill>
                  <a:srgbClr val="000000"/>
                </a:solidFill>
                <a:latin typeface="Arial"/>
              </a:rPr>
              <a:t> Pilot-whale recordings alter movement and group organization; this avoidance result does not establish the mechanism coordinating prey capture.</a:t>
            </a:r>
          </a:p>
        </p:txBody>
      </p:sp>
      <p:sp>
        <p:nvSpPr>
          <p:cNvPr id="15" name="Rectangle 14"/>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Ford (1991); Marino et al. (2004); Venkatesh et al. (2025); Szymanski et al. (1999); Deecke et al. (2000); Abramson et al. (2018); Pitman &amp; Durban (2012); McInnes et al. (2024); Selbmann et al. (2026)</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Killer whales: brain organization and auditory specializations, vocal traditions, social learning, and coordination of cooperative hunting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