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Prairie voles III: partner separation, stress signaling, and behavioral and nucleus accumbens adaptations following social loss</a:t>
            </a:r>
          </a:p>
          <a:p>
            <a:r>
              <a:t>Lecture 59. NEUR 411 · NEUROETHOLOGY · FALL 2026. Date TBD.</a:t>
            </a:r>
          </a:p>
          <a:p/>
          <a:p>
            <a:r>
              <a:t>Image: Photo: Prairie vole (Microtus ochrogaster). Credit: Nastacia Goodwin. License: CC BY-SA 4.0. Source: https://commons.wikimedia.org/wiki/File:Prairie_Vole_Nastacia_Goodwin_CC_BY-SA.png</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r>
              <a:t>Sadino JM, Bradeen XG, Kelly CJ, Brusman LE, Walker DM, Donaldson ZR (2023). Prolonged partner separation erodes nucleus accumbens transcriptional signatures of pair bonding in male prairie voles. eLife 12: e80517. https://doi.org/10.7554/eLife.80517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Prairie voles, Microtus ochrogaster, form selective social attachments. Bosch and colleagues housed males with a female partner or male sibling for 5 days, then either maintained the pair or separated the animals. This comparison distinguishes the consequences of losing a bonded mate from those of losing another familiar cage-mate.</a:t>
            </a:r>
          </a:p>
          <a:p>
            <a:r>
              <a:t>• After several days apart, males separated from the female spent more time floating during forced swimming and more time immobile during tail suspension. Passive coping means reduced active movement during these inescapable challenges, rather than a measurement of the animal's subjective grief.</a:t>
            </a:r>
          </a:p>
          <a:p>
            <a:r>
              <a:t>• Males separated from a sibling retained coping behavior resembling paired controls. Relationship history therefore changes the response to social removal: the same housing manipulation has different behavioral consequences when it interrupts a mating partnership.</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2a–b. Passive coping after partner or sibling separation.</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forced swim test places a vole in water and measures active swimming, struggling, and floating. Floating conserves movement while keeping the animal above water. The tail suspension test instead measures periods without active escape movements while the animal is suspended, providing a second physical challenge.</a:t>
            </a:r>
          </a:p>
          <a:p>
            <a:r>
              <a:t>• Bosch and colleagues measured these behaviors after 4–5 days of separation. The original plots express floating and immobility in seconds. Female-partner separation increased both measures, whereas sibling separation did not produce the same shift.</a:t>
            </a:r>
          </a:p>
          <a:p>
            <a:r>
              <a:t>• Convergence across water exposure and suspension links partner loss to coping strategy across different challenges. The shared result concerns allocation of active versus passive behavior, so interpreting the tasks as a direct diagnosis of human depression would change the biological meaning of the measurement.</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2a–b. Floating and immobility measured in seconds.</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elevated plus-maze has exposed open arms and enclosed arms. A vole can explore either, allowing investigators to measure avoidance of exposed space separately from floating or immobility. Open-arm time and the proportion of arm entries sample related but distinct features of exploration.</a:t>
            </a:r>
          </a:p>
          <a:p>
            <a:r>
              <a:t>• In the Bosch study, separation left the proportion of time in the open arms unchanged. Open-arm entry patterns showed a broader separation-related tendency rather than the clear female-partner specificity observed during forced swimming and tail suspension. Closed-arm entry counts were similar across the groups.</a:t>
            </a:r>
          </a:p>
          <a:p>
            <a:r>
              <a:t>• Social removal therefore modifies some behavioral responses more strongly than others. The passive-coping effect tracks loss of the female partner, while exposed-space exploration provides a different response profile. A single behavioral score would collapse these distinct consequences of separation.</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2c–d. Open-arm exploration after social separation.</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hypothalamo–pituitary–adrenal axis coordinates endocrine responses to challenge. Corticotropin-releasing factor, or CRF, stimulates pituitary secretion of adrenocorticotropic hormone, or ACTH, which stimulates the adrenal cortex to produce glucocorticoids. In these rodents, corticosterone is the measured circulating glucocorticoid.</a:t>
            </a:r>
          </a:p>
          <a:p>
            <a:r>
              <a:t>• Bosch and colleagues sampled males that had remained undisturbed rather than exposing them to the behavioral tests first. After 5 days apart, males separated from a female had higher basal corticosterone than males still housed with that female. Sibling separation produced a different endocrine profile.</a:t>
            </a:r>
          </a:p>
          <a:p>
            <a:r>
              <a:t>• The corticosterone result connects social relationship disruption to a persistent physiological state outside the test apparatus. ACTH measurements were more variable and lacked a clear group difference, so the two sampled hormones should not be taught as showing identical separation effects.</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3a–b. Circulating corticosterone and ACTH after separation.</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bed nucleus of the stria terminalis, or BNST, is a forebrain structure involved in sustained responses to social and stress-related conditions. Bosch and colleagues examined CRF messenger RNA in its medial division. Messenger RNA carries gene-derived information used to synthesize a protein or peptide.</a:t>
            </a:r>
          </a:p>
          <a:p>
            <a:r>
              <a:t>• In situ hybridization labels a target RNA within tissue. Counts of labeled grains were higher in males with female-pairing experience than in sibling-housed males, whether the female was still present or had been removed. The tissue preparation links the signal to the medial BNST rather than to the entire brain.</a:t>
            </a:r>
          </a:p>
          <a:p>
            <a:r>
              <a:t>• The transcriptional difference therefore follows pairing history, while passive coping emerges especially after separation. The authors proposed that a bonding-associated CRF system can contribute to aversive responses when contact with the partner is interrupted.</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4a–b. CRF transcript labeling in the medial BNST.</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receptor antagonist occupies or interferes with a receptor so that its usual ligand produces less signaling. Bosch and colleagues delivered the nonselective CRF receptor antagonist d-phe-CRF into the lateral ventricle, allowing central exposure during the separation period rather than giving a single dose immediately before testing.</a:t>
            </a:r>
          </a:p>
          <a:p>
            <a:r>
              <a:t>• The infusion began when the partner was removed after 5 days of cohabitation. Separated vehicle-treated males showed increased floating and immobility. Antagonist-treated separated males had lower passive-coping scores, whereas males whose partner remained present changed little with treatment.</a:t>
            </a:r>
          </a:p>
          <a:p>
            <a:r>
              <a:t>• The behavioral effect depends on both receptor signaling and relationship condition. Reducing central CRF signaling primarily altered the coping response associated with separation, linking an experimentally manipulated peptide system to how the animal behaves during subsequent challenge.</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5a–c. CRF blockade and coping after partner separation.</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partner preference test gives a vole access to its familiar partner and an unfamiliar animal. Time spent huddling with each measures selective affiliation. Huddling is sustained close physical contact, so a preference compares allocation of social contact rather than the effort needed to obtain it.</a:t>
            </a:r>
          </a:p>
          <a:p>
            <a:r>
              <a:t>• Males in the CRF-antagonist experiment continued to huddle more with the original female than with a stranger. This preference survived both several days of separation and antagonist treatment. At the same time, the antagonist reduced separation-associated floating and immobility.</a:t>
            </a:r>
          </a:p>
          <a:p>
            <a:r>
              <a:t>• Selective affiliation and passive coping can therefore move independently. The drug altered the stress response while preserving an already established social preference, allowing students to distinguish the mechanism expressing distress from the behavioral expression of partner recognition and attachment.</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5a–c. Coping and partner contact under CRF blockade.</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CRF acts through two receptor classes, CRFR1 and CRFR2. To separate their contributions, Bosch and colleagues used CP-154526 to antagonize CRFR1 and astressin-2B to antagonize CRFR2. Binding experiments checked that these compounds had the intended receptor selectivity in prairie vole tissue.</a:t>
            </a:r>
          </a:p>
          <a:p>
            <a:r>
              <a:t>• During separation, either selective antagonist reduced floating in the forced swim test and immobility during tail suspension. The corresponding treatments had little effect in males that remained with their female partner. The effect therefore extends beyond a single nonselective drug.</a:t>
            </a:r>
          </a:p>
          <a:p>
            <a:r>
              <a:t>• Because the compounds were delivered centrally, the result identifies receptor involvement across the exposed brain rather than assigning both receptors to one nucleus. Later local manipulations of the accumbens shell isolate a more specific CRFR2 contribution to separation-related behavior.</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p>
            <a:r>
              <a:t>Figure: Bosch et al. (2009), Fig. 6a–b. Selective CRFR1 and CRFR2 blockade after separation.</a:t>
            </a:r>
          </a:p>
          <a:p>
            <a:r>
              <a:t>Figure source: https://doi.org/10.1038/npp.2008.154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nucleus accumbens is a ventral striatal region involved in motivated behavior, with core and shell subdivisions. Bosch and colleagues targeted the shell with bilateral drug infusions after males had cohabited with a female for 5 days. Animals were then tested after 3 days with the female present or removed.</a:t>
            </a:r>
          </a:p>
          <a:p>
            <a:r>
              <a:t>• Astressin-2B blocked CRFR2 locally and reduced the increased floating observed after partner separation. Vehicle-infused separated males retained greater passive coping. Infusions outside the intended accumbens target lacked the corresponding behavioral effect.</a:t>
            </a:r>
          </a:p>
          <a:p>
            <a:r>
              <a:t>• This local comparison narrows the central CRFR2 result to an accumbens-shell mechanism. The shell receives oxytocin-containing fibers, providing an anatomical substrate through which stress-related peptide signaling can alter an attachment-related neuromodulatory system.</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1. Local CRFR2 manipulations change floating.</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agonist activates a receptor and can reproduce part of its normal ligand's effect. Stresscopin was used to activate CRFR2 in the accumbens shell while paired and separated male voles were compared. The drug and vehicle infusions continued through the experimental period.</a:t>
            </a:r>
          </a:p>
          <a:p>
            <a:r>
              <a:t>• Stresscopin increased floating in males that still lived with their female partner. The antagonist produced the complementary reduction in floating after separation. Outside-target infusions supplied an anatomical comparison for the local effects.</a:t>
            </a:r>
          </a:p>
          <a:p>
            <a:r>
              <a:t>• These opposing manipulations connect accumbens CRFR2 activity to the balance of active and passive coping. Partner presence is ordinarily associated with lower floating, but experimentally increasing receptor activation can shift behavior even while that social condition remains intact.</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1. CRFR2 activation and blockade have opposing effects.</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Oxytocin is a peptide made by hypothalamic neurons and released at sites involved in social behavior. Its receptor, OTR, permits target cells to respond to the peptide. Bosch and colleagues measured oxytocin transcripts in the paraventricular nucleus and receptor binding in the accumbens after partner separation.</a:t>
            </a:r>
          </a:p>
          <a:p>
            <a:r>
              <a:t>• The accumbens shell showed lower OTR binding after 3 days apart from the female partner. Binding in the accumbens core lacked the same difference. Female-partner and male-sibling conditions helped distinguish relationship-related changes from removal of any cage-mate.</a:t>
            </a:r>
          </a:p>
          <a:p>
            <a:r>
              <a:t>• The hypothalamic transcript decrease was weaker and depended on a planned comparison, so it should be treated as tentative. The regional receptor-binding result motivates testing whether changing oxytocin signaling within the shell directly changes the coping response.</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2(top). Oxytocin transcripts and receptor binding.</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Bosch and colleagues supplied synthetic oxytocin directly to the accumbens shell during partner separation. This manipulation increases peptide availability near local receptors instead of changing the amount of contact with the missing partner. Vehicle-treated males provided the comparison under the same separation condition.</a:t>
            </a:r>
          </a:p>
          <a:p>
            <a:r>
              <a:t>• Oxytocin infusion eliminated the increase in floating after separation. Conversely, blocking OTR increased floating in males that remained with their partner. The behavioral directions match an oxytocin contribution that favors more active coping in this preparation.</a:t>
            </a:r>
          </a:p>
          <a:p>
            <a:r>
              <a:t>• The local manipulations connect peptide availability, receptor activation, and behavior. Partner contact is one route associated with the oxytocin system, while experimentally restoring local signaling can modify a separation response even without restoring the social relationship during the treatment period.</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2(middle). Oxytocin delivery and receptor blockade alter coping.</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interference reduces expression of a selected gene by targeting its messenger RNA. Bosch and colleagues used a viral vector carrying a short hairpin RNA directed against the prairie vole oxytocin receptor. A scrambled sequence provided a control with the same delivery procedure but a different RNA target.</a:t>
            </a:r>
          </a:p>
          <a:p>
            <a:r>
              <a:t>• The treatment reduced receptor binding in the accumbens shell and immediate surroundings by about 63%. Binding in the caudate putamen and prefrontal cortex was preserved. Males with reduced accumbens OTR showed increased floating even during cohabitation with a female.</a:t>
            </a:r>
          </a:p>
          <a:p>
            <a:r>
              <a:t>• The genetic manipulation converges with local receptor blockade: lowering the capacity to respond to oxytocin changes coping while the partner remains available. Receptor abundance therefore participates in the local pathway linking the social environment to behavioral responses under challenge.</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2(bottom). Receptor knockdown and floating behavior.</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paraventricular nucleus, or PVN, lies in the hypothalamus beside the third ventricle. Oxytocin-producing neurons have cell bodies and dendrites there. Immunofluorescence uses fluorescently labeled antibodies to locate a target molecule in fixed tissue, making the positions of two labels directly comparable.</a:t>
            </a:r>
          </a:p>
          <a:p>
            <a:r>
              <a:t>• Bosch and colleagues labeled oxytocin and CRFR2 in prairie vole PVN tissue. The labels overlapped in many oxytocin-positive cells, with receptor and peptide signals occupying related but nonidentical locations. The published panels preserve the cell distribution and a 20 µm scale bar.</a:t>
            </a:r>
          </a:p>
          <a:p>
            <a:r>
              <a:t>• The co-labeling supplies an anatomical basis for interactions between stress signaling and the oxytocin system. Receptor presence within this neuronal population motivated physiological recordings to determine how receptor activation changes its electrical inputs.</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3A–C. Oxytocin and CRFR2 labeling in the PVN.</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axon carries signals from a neuronal cell body toward its targets, and axonal branches distribute transmitter or peptide release across a target region. Sparse large-caliber oxytocin-positive fibers course through the prairie vole accumbens shell, bringing a hypothalamic peptide system into a motivated-behavior circuit.</a:t>
            </a:r>
          </a:p>
          <a:p>
            <a:r>
              <a:t>• The original tissue panels contain oxytocin and CRFR2 labeling along these fibers, including overlapping puncta. Their 20 µm scale bars place the labeled structures at the level of neuronal processes rather than whole brain subdivisions.</a:t>
            </a:r>
          </a:p>
          <a:p>
            <a:r>
              <a:t>• This arrangement supports the hypothesis that CRFR2 signaling can regulate oxytocin locally along its axonal pathway. The behavioral shell infusions and fiber labeling address the same region through complementary approaches: one manipulates signaling during coping, while the other identifies a candidate anatomical substrate.</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3D–F. Co-labeled oxytocin fibers in the accumbens shell.</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fluorescent reporter marks cells expressing a chosen genetic construct. Bosch and colleagues introduced a construct that expresses Venus in oxytocin neurons of the PVN. Labeling for both the reporter and oxytocin checks that the experimental marker identifies the intended neuronal population.</a:t>
            </a:r>
          </a:p>
          <a:p>
            <a:r>
              <a:t>• In the hypothalamus, Venus and oxytocin overlapped within a plume of labeled neurons. In the accumbens shell, reporter-positive fibers also overlapped with oxytocin labeling. The source panels use a 200 µm scale bar for the broader hypothalamic distribution and smaller scales for axonal labeling.</a:t>
            </a:r>
          </a:p>
          <a:p>
            <a:r>
              <a:t>• Reporter targeting connects identifiable cell bodies to fibers carrying the same peptide marker. It also makes living candidate oxytocin neurons visible during slice experiments, where investigators can record membrane currents from selected cells rather than from an unidentified mixture of hypothalamic neurons.</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3G–I. Oxytocin and Venus labeling in the PVN.</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hypothalamic reporter experiment also examined the accumbens shell, a target outside the injection site. Fibers labeled for Venus overlapped with oxytocin staining there. The 20 µm scale bars distinguish the sparse processes from the much larger PVN field examined in the same study.</a:t>
            </a:r>
          </a:p>
          <a:p>
            <a:r>
              <a:t>• This shared labeling links the hypothalamic targeting procedure to an oxytocin-containing projection field in the accumbens. It places the cells used for electrophysiology within the peptide system implicated by the local coping experiments.</a:t>
            </a:r>
          </a:p>
          <a:p>
            <a:r>
              <a:t>• The authors' hypothesis combines two possible regulatory sites: CRFR2 can influence the oxytocin population's excitatory drive in the PVN, and receptor labeling along accumbens fibers offers a second possible site for regulating local peptide availability. Both involve the same distributed neuronal system.</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3J–L. Reporter and oxytocin co-labeling in accumbens fibers.</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Microdialysis samples extracellular molecules through a small probe membrane, allowing peptide concentrations to be measured near living brain tissue. Bosch and colleagues placed the probe in the accumbens shell and collected 30-minute samples before and after a central CRFR2 drug infusion.</a:t>
            </a:r>
          </a:p>
          <a:p>
            <a:r>
              <a:t>• Oxytocin in each sample was measured by radioimmunoassay, a binding-based method for detecting peptide concentration. Two pre-infusion samples defined the baseline, and later samples covered 90 minutes after infusion. The published graph expresses subsequent measurements relative to that baseline.</a:t>
            </a:r>
          </a:p>
          <a:p>
            <a:r>
              <a:t>• This temporal sampling connects receptor manipulation to local peptide availability. The signal averages release, movement, and removal over many minutes, so it represents extracellular oxytocin dynamics across a sampling interval rather than the firing of an individual oxytocin neuron.</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4. Accumbens oxytocin measurements after CRFR2 drugs.</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microdialysis experiment, CRFR2 agonist treatment was associated with lower accumbens oxytocin relative to the preceding sample. The reported immediate decrease was about 24%, followed by a decrease of about 20% in the next interval. Vehicle infusion lacked a comparable directional change.</a:t>
            </a:r>
          </a:p>
          <a:p>
            <a:r>
              <a:t>• CRFR2 antagonist treatment was associated with an approximately 48% increase after a 30-minute delay. These estimates arose from planned within-group comparisons; the overall treatment-by-time analysis was inconclusive. The directional effect therefore remains tentative rather than a settled measurement of a complete release mechanism.</a:t>
            </a:r>
          </a:p>
          <a:p>
            <a:r>
              <a:t>• The authors proposed that increased CRFR2 signaling reduces the local oxytocin support for active coping. This hypothesis connects the sampled peptide changes to the opposing behavioral effects of receptor activation and blockade in the accumbens shell.</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p>
            <a:r>
              <a:t>Figure: Bosch et al. (2016), Fig. 4. Opposing oxytocin changes after receptor manipulation.</a:t>
            </a:r>
          </a:p>
          <a:p>
            <a:r>
              <a:t>Figure source: https://doi.org/10.1016/j.psyneuen.2015.11.011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brain slice preserves local tissue and synaptic connections for electrical recording outside the animal. To target oxytocin neurons, Bosch and colleagues used Venus fluorescence in the PVN. Antibody labeling confirmed that reporter-positive neurons overlapped with oxytocin rather than with neighboring vasopressin-positive cells.</a:t>
            </a:r>
          </a:p>
          <a:p>
            <a:r>
              <a:t>• Patch-clamp recording creates an electrical connection through a fine pipette at the neuronal membrane. In voltage clamp, the experimenter controls membrane voltage and records the currents required to hold it there, allowing small incoming synaptic events to be measured.</a:t>
            </a:r>
          </a:p>
          <a:p>
            <a:r>
              <a:t>• Cell identification is essential because nearby peptide-producing neurons can have different functions. The reporter makes the physiological response attributable to the selected oxytocin population, connecting receptor pharmacology to a defined cell type in the hypothalamic source of the accumbens peptide pathway.</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5A. Venus labeling distinguishes oxytocin from vasopressin cells.</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spontaneous excitatory postsynaptic current, or sEPSC, is an inward synaptic current recorded without deliberately stimulating an incoming axon. Its frequency describes how often detectable excitatory events arrive, while its amplitude describes the size of each event at the recorded membrane voltage.</a:t>
            </a:r>
          </a:p>
          <a:p>
            <a:r>
              <a:t>• Applying 200 nM stresscopin for 10 minutes reduced the mean sEPSC frequency in identified oxytocin neurons from about 6.64 to 4.76 Hz. Following washout, frequency recovered partly to about 5.83 Hz. Event amplitudes retained a similar distribution during treatment.</a:t>
            </a:r>
          </a:p>
          <a:p>
            <a:r>
              <a:t>• The frequency change means the cells received fewer excitatory events during receptor activation. The authors interpreted the combination of reduced frequency and stable amplitude as consistent with presynaptic regulation of excitatory drive, linking CRFR2 signaling to input onto the oxytocin-producing population.</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5B–C. Excitatory synaptic events during stresscopin exposure.</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Intrinsic membrane properties describe how a neuron responds electrically apart from changes in its incoming synaptic activity. The Bosch study examined input resistance, membrane charging, action-potential threshold, and spike kinetics in reporter-positive PVN neurons during stresscopin exposure.</a:t>
            </a:r>
          </a:p>
          <a:p>
            <a:r>
              <a:t>• These intrinsic measures were broadly preserved at the tested 200 nM concentration. In contrast, excitatory events became less frequent and the distribution of intervals between events shifted toward longer gaps. Event amplitude was preserved, separating the timing of incoming excitation from its individual size.</a:t>
            </a:r>
          </a:p>
          <a:p>
            <a:r>
              <a:t>• The physiological response therefore centers on synaptic drive rather than a broad suppression of membrane excitability. The authors' proposed pathway links reduced excitation of oxytocin neurons with altered peptide support for active coping, alongside possible regulation at their accumbens fibers.</a:t>
            </a:r>
          </a:p>
          <a:p/>
          <a:p>
            <a:r>
              <a:t>References:</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Figure: Bosch et al. (2016), Fig. 5B–C. Event intervals and amplitudes under CRFR2 activation.</a:t>
            </a:r>
          </a:p>
          <a:p>
            <a:r>
              <a:t>Figure source: https://doi.org/10.1016/j.psyneuen.2015.11.011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Dopamine is a neuromodulator involved in motivation and reward-related behavior. Pierce and colleagues tested established prairie vole bonds using antagonists of D1-class and D2-class dopamine receptors. The partner preference test offered low-effort access to a partner and an unfamiliar animal.</a:t>
            </a:r>
          </a:p>
          <a:p>
            <a:r>
              <a:t>• Systemic SCH-23390 at 0.5 mg/kg blocked D1-class receptors, while eticlopride at 2 mg/kg targeted D2-class receptors. Neither treatment eliminated the established partner preference during the first test hour. D2 antagonism increased the proportion of partner huddling while also reducing locomotion.</a:t>
            </a:r>
          </a:p>
          <a:p>
            <a:r>
              <a:t>• The retained preference separates expression of an established social choice from dopamine-dependent processes engaged during bond formation or active seeking. Once access is freely available, selective contact can persist while receptor pharmacology changes other aspects of behavior.</a:t>
            </a:r>
          </a:p>
          <a:p/>
          <a:p>
            <a:r>
              <a:t>References:</a:t>
            </a:r>
          </a:p>
          <a:p>
            <a:r>
              <a:t>Pierce AF, Protter DSW, Watanabe YL, Chapel GD, Cameron RT, Donaldson ZR (2024). Nucleus accumbens dopamine release reflects the selective nature of pair bonds. Current Biology 34: 519–530.e5. https://doi.org/10.1016/j.cub.2023.12.041</a:t>
            </a:r>
          </a:p>
          <a:p/>
          <a:p>
            <a:r>
              <a:t>Figure: Pierce et al. (2024), Fig. 1A–H. Partner preference under D1- and D2-class antagonism.</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operant task makes an outcome depend on an animal's action. In the Pierce study, female voles learned to press a lever to gain access to a partner or novel vole. Lever pressing measures willingness to perform an action for social access rather than preference when both animals are freely available.</a:t>
            </a:r>
          </a:p>
          <a:p>
            <a:r>
              <a:t>• After learning, systemic D1-class antagonism reduced pressing for both partner and novel access and increased the latency to press. Latency to enter the social chamber after opening was preserved. The drug therefore affected initiation of the access-seeking action more than subsequent entry.</a:t>
            </a:r>
          </a:p>
          <a:p>
            <a:r>
              <a:t>• This behavioral separation connects dopamine signaling to the appetitive phase of social interaction. Appetitive behavior obtains a desired outcome, whereas consummatory behavior occurs once it is available; lever pressing and freely available huddling engage different requirements.</a:t>
            </a:r>
          </a:p>
          <a:p/>
          <a:p>
            <a:r>
              <a:t>References:</a:t>
            </a:r>
          </a:p>
          <a:p>
            <a:r>
              <a:t>Pierce AF, Protter DSW, Watanabe YL, Chapel GD, Cameron RT, Donaldson ZR (2024). Nucleus accumbens dopamine release reflects the selective nature of pair bonds. Current Biology 34: 519–530.e5. https://doi.org/10.1016/j.cub.2023.12.041</a:t>
            </a:r>
          </a:p>
          <a:p/>
          <a:p>
            <a:r>
              <a:t>Figure: Pierce et al. (2024), Fig. 2F–H. Lever pressing and response latencies under D1 blockade.</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Pierce and colleagues compared D2-class antagonism with the D1-class manipulation using the learned social access task. The animal could earn encounters with either its partner or an unfamiliar vole, allowing receptor effects to be compared across two social outcomes under the same response requirement.</a:t>
            </a:r>
          </a:p>
          <a:p>
            <a:r>
              <a:t>• D2 blockade preserved lever pressing, latency to press, and latency to enter the social chamber. This contrasts with the reduction in pressing caused by D1 antagonism. D2 treatment nevertheless reduced locomotion in the separate partner preference test.</a:t>
            </a:r>
          </a:p>
          <a:p>
            <a:r>
              <a:t>• The receptor comparison distinguishes social seeking from a simple measure of overall movement. Reduced free locomotion under D2 treatment coexisted with retained operant responding, whereas D1 treatment reduced effortful social actions without broadly suppressing movement in the preference apparatus.</a:t>
            </a:r>
          </a:p>
          <a:p/>
          <a:p>
            <a:r>
              <a:t>References:</a:t>
            </a:r>
          </a:p>
          <a:p>
            <a:r>
              <a:t>Pierce AF, Protter DSW, Watanabe YL, Chapel GD, Cameron RT, Donaldson ZR (2024). Nucleus accumbens dopamine release reflects the selective nature of pair bonds. Current Biology 34: 519–530.e5. https://doi.org/10.1016/j.cub.2023.12.041</a:t>
            </a:r>
          </a:p>
          <a:p/>
          <a:p>
            <a:r>
              <a:t>Figure: Pierce et al. (2024), Fig. 2I–K. Social operant behavior under D2 blockade.</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Prairie voles will climb a mesh barrier to obtain access to a bonded partner. This response uses an immediate obstacle rather than a learned lever-action rule. Pierce and colleagues measured climbing attempts under vehicle, D1-class antagonist, and D2-class antagonist conditions.</a:t>
            </a:r>
          </a:p>
          <a:p>
            <a:r>
              <a:t>• D1 antagonism reduced attempts to climb, while D2 antagonism preserved them. The animals had an independently confirmed partner preference. Real photographs in the source document the climbing behavior, linking the access-seeking measure to the animal's physical actions.</a:t>
            </a:r>
          </a:p>
          <a:p>
            <a:r>
              <a:t>• The shared effect across climbing and lever pressing connects D1-class signaling to effortful social pursuit under different task demands. Both behaviors obtain contact, whereas huddling after unrestricted access can retain partner selectivity under the same broad receptor manipulation.</a:t>
            </a:r>
          </a:p>
          <a:p/>
          <a:p>
            <a:r>
              <a:t>References:</a:t>
            </a:r>
          </a:p>
          <a:p>
            <a:r>
              <a:t>Pierce AF, Protter DSW, Watanabe YL, Chapel GD, Cameron RT, Donaldson ZR (2024). Nucleus accumbens dopamine release reflects the selective nature of pair bonds. Current Biology 34: 519–530.e5. https://doi.org/10.1016/j.cub.2023.12.041</a:t>
            </a:r>
          </a:p>
          <a:p/>
          <a:p>
            <a:r>
              <a:t>Figure: Pierce et al. (2024), Fig. 2L–N. Voles climb toward a partner under receptor treatments.</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GRABDA is a genetically encoded fluorescent sensor that changes its signal in response to dopamine. Pierce and colleagues expressed it in the accumbens shell and used an implanted optical fiber to collect fluorescence during social behavior. This fiber photometry measurement tracks a local population-level optical signal over time.</a:t>
            </a:r>
          </a:p>
          <a:p>
            <a:r>
              <a:t>• Histology verified sensor expression and the recording track within the intended region. A second fluorescent marker aided localization. The published micrographs preserve the accumbens tissue and 500 µm scale bars, connecting the recorded signal to the actual brain preparation.</a:t>
            </a:r>
          </a:p>
          <a:p>
            <a:r>
              <a:t>• The sensor allowed dopamine-related responses to be aligned to lever presentation, pressing, door opening, and chamber entry with subsecond timing. Event-resolved measurements separate motivation before access from the subsequent encounter with a partner or novel animal.</a:t>
            </a:r>
          </a:p>
          <a:p/>
          <a:p>
            <a:r>
              <a:t>References:</a:t>
            </a:r>
          </a:p>
          <a:p>
            <a:r>
              <a:t>Pierce AF, Protter DSW, Watanabe YL, Chapel GD, Cameron RT, Donaldson ZR (2024). Nucleus accumbens dopamine release reflects the selective nature of pair bonds. Current Biology 34: 519–530.e5. https://doi.org/10.1016/j.cub.2023.12.041</a:t>
            </a:r>
          </a:p>
          <a:p/>
          <a:p>
            <a:r>
              <a:t>Figure: Pierce et al. (2024), Fig. 3B. Sensor expression and recording track in the accumbens.</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social operant task, voles encountered a sequence of events: a lever appeared, a press earned access, a door opened, and the animal entered the social chamber. These events were time-stamped so dopamine-sensor fluorescence could be compared at equivalent moments on early and late training days.</a:t>
            </a:r>
          </a:p>
          <a:p>
            <a:r>
              <a:t>• By day 6, dopamine responses were greater around lever presentation, pressing, and chamber opening than on day 1. Chamber-entry responses were more stable across learning. The authors summarized event-associated fluorescence over the 2 seconds following each event.</a:t>
            </a:r>
          </a:p>
          <a:p>
            <a:r>
              <a:t>• The temporal redistribution links dopamine dynamics to learning that particular actions and cues predict social access. The signal changes before contact becomes available, connecting the access-seeking phase with anticipation of a social outcome.</a:t>
            </a:r>
          </a:p>
          <a:p/>
          <a:p>
            <a:r>
              <a:t>References:</a:t>
            </a:r>
          </a:p>
          <a:p>
            <a:r>
              <a:t>Pierce AF, Protter DSW, Watanabe YL, Chapel GD, Cameron RT, Donaldson ZR (2024). Nucleus accumbens dopamine release reflects the selective nature of pair bonds. Current Biology 34: 519–530.e5. https://doi.org/10.1016/j.cub.2023.12.041</a:t>
            </a:r>
          </a:p>
          <a:p>
            <a:r>
              <a:t>Pierce AF, Protter DSW, Watanabe YL, Chapel GD, Cameron RT, Donaldson ZR (2024). Nucleus accumbens dopamine release reflects the selective nature of pair bonds. Current Biology 34: 519–530.e5. https://doi.org/10.1016/j.cub.2023.12.041</a:t>
            </a:r>
          </a:p>
          <a:p/>
          <a:p>
            <a:r>
              <a:t>Figure: Pierce et al. (2024), Fig. 3J–K. Event-aligned dopamine signals during task learning.</a:t>
            </a:r>
          </a:p>
          <a:p>
            <a:r>
              <a:t>Figure source: https://doi.org/10.1016/j.cub.2023.12.041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Pierce and colleagues alternated blocks in which pressing earned access to the bonded partner or to a novel vole. Pressing rates and response latencies were similar for the two social targets once the task was learned, making it possible to compare neural signals during matched actions.</a:t>
            </a:r>
          </a:p>
          <a:p>
            <a:r>
              <a:t>• Partner-directed pressing and door opening elicited greater accumbens dopamine responses than the same events during novel trials. Differences were less evident at lever presentation and immediately after chamber entry. The effect therefore depended on the specific event within the access sequence.</a:t>
            </a:r>
          </a:p>
          <a:p>
            <a:r>
              <a:t>• The authors proposed that dopamine responses reflect the motivational value assigned to the bonded partner. Target identity changed the signal even when overt access-seeking performance was similar, providing a neural distinction that a simple count of lever presses would miss.</a:t>
            </a:r>
          </a:p>
          <a:p/>
          <a:p>
            <a:r>
              <a:t>References:</a:t>
            </a:r>
          </a:p>
          <a:p>
            <a:r>
              <a:t>Pierce AF, Protter DSW, Watanabe YL, Chapel GD, Cameron RT, Donaldson ZR (2024). Nucleus accumbens dopamine release reflects the selective nature of pair bonds. Current Biology 34: 519–530.e5. https://doi.org/10.1016/j.cub.2023.12.041</a:t>
            </a:r>
          </a:p>
          <a:p>
            <a:r>
              <a:t>Pierce AF, Protter DSW, Watanabe YL, Chapel GD, Cameron RT, Donaldson ZR (2024). Nucleus accumbens dopamine release reflects the selective nature of pair bonds. Current Biology 34: 519–530.e5. https://doi.org/10.1016/j.cub.2023.12.041</a:t>
            </a:r>
          </a:p>
          <a:p/>
          <a:p>
            <a:r>
              <a:t>Figure: Pierce et al. (2024), Fig. 4F–G. Dopamine during partner and novel access events.</a:t>
            </a:r>
          </a:p>
          <a:p>
            <a:r>
              <a:t>Figure source: https://doi.org/10.1016/j.cub.2023.12.041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confirming the bond and recording stable operant performance, Pierce and colleagues separated pairs for 4 weeks. The same animals then completed a probe session with the familiar partner and a novel animal. This design compares the social signals of an individual before and after prolonged loss of contact.</a:t>
            </a:r>
          </a:p>
          <a:p>
            <a:r>
              <a:t>• Partner-associated dopamine responses decreased at lever presentation, door opening, and chamber entry. Pressing still occurred, although total presses fell and entry became slower. The relative dopamine advantage for partner over novel access was reduced.</a:t>
            </a:r>
          </a:p>
          <a:p>
            <a:r>
              <a:t>• The within-animal comparison connects prolonged separation to remodeling of partner-related reward signals. A previously distinctive social target elicited a smaller response at several access events, even though the vole could still execute the learned action sequence.</a:t>
            </a:r>
          </a:p>
          <a:p/>
          <a:p>
            <a:r>
              <a:t>References:</a:t>
            </a:r>
          </a:p>
          <a:p>
            <a:r>
              <a:t>Pierce AF, Protter DSW, Watanabe YL, Chapel GD, Cameron RT, Donaldson ZR (2024). Nucleus accumbens dopamine release reflects the selective nature of pair bonds. Current Biology 34: 519–530.e5. https://doi.org/10.1016/j.cub.2023.12.041</a:t>
            </a:r>
          </a:p>
          <a:p>
            <a:r>
              <a:t>Pierce AF, Protter DSW, Watanabe YL, Chapel GD, Cameron RT, Donaldson ZR (2024). Nucleus accumbens dopamine release reflects the selective nature of pair bonds. Current Biology 34: 519–530.e5. https://doi.org/10.1016/j.cub.2023.12.041</a:t>
            </a:r>
          </a:p>
          <a:p/>
          <a:p>
            <a:r>
              <a:t>Figure: Pierce et al. (2024), Fig. 4K–L. Partner-event dopamine before and after separation.</a:t>
            </a:r>
          </a:p>
          <a:p>
            <a:r>
              <a:t>Figure source: https://doi.org/10.1016/j.cub.2023.12.041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post-separation session retained novel-vole trials as well as trials with the former partner. These novel trials provided a comparison for the same recording preparation, task events, and time interval. The contrast tests whether prolonged separation changes every social dopamine response in the same direction.</a:t>
            </a:r>
          </a:p>
          <a:p>
            <a:r>
              <a:t>• Dopamine responses during novel-target lever presentation, pressing, chamber opening, and entry were comparatively stable across the separation interval. The reduction was concentrated in partner-associated responses rather than a uniform decrease across all recorded social events.</a:t>
            </a:r>
          </a:p>
          <a:p>
            <a:r>
              <a:t>• This target-specific pattern supports the authors' hypothesis of reduced partner-related motivational value. Continued sensor responses to novel access and continued task performance distinguish changes in social selectivity from a general loss of detectable fluorescence or complete disappearance of the learned task.</a:t>
            </a:r>
          </a:p>
          <a:p/>
          <a:p>
            <a:r>
              <a:t>References:</a:t>
            </a:r>
          </a:p>
          <a:p>
            <a:r>
              <a:t>Pierce AF, Protter DSW, Watanabe YL, Chapel GD, Cameron RT, Donaldson ZR (2024). Nucleus accumbens dopamine release reflects the selective nature of pair bonds. Current Biology 34: 519–530.e5. https://doi.org/10.1016/j.cub.2023.12.041</a:t>
            </a:r>
          </a:p>
          <a:p>
            <a:r>
              <a:t>Pierce AF, Protter DSW, Watanabe YL, Chapel GD, Cameron RT, Donaldson ZR (2024). Nucleus accumbens dopamine release reflects the selective nature of pair bonds. Current Biology 34: 519–530.e5. https://doi.org/10.1016/j.cub.2023.12.041</a:t>
            </a:r>
          </a:p>
          <a:p/>
          <a:p>
            <a:r>
              <a:t>Figure: Pierce et al. (2024), Fig. 4M–N. Novel-event dopamine before and after separation.</a:t>
            </a:r>
          </a:p>
          <a:p>
            <a:r>
              <a:t>Figure source: https://doi.org/10.1016/j.cub.2023.12.041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 contact investigation includes sniffing the other animal's head, body, and anogenital region. Pierce and colleagues scored these encounters after social chamber entry while recording dopamine-sensor fluorescence. Partner and novel investigations can thus be compared during similar types of physical contact.</a:t>
            </a:r>
          </a:p>
          <a:p>
            <a:r>
              <a:t>• Before separation, direct contact with the partner produced greater dopamine responses than comparable contact with a novel vole. After 4 weeks apart, that difference was absent. Contact investigation itself continued and its overall duration increased following separation.</a:t>
            </a:r>
          </a:p>
          <a:p>
            <a:r>
              <a:t>• The neural adaptation therefore accompanies a change in the relative signal attached to contact rather than elimination of social investigation. The same broad behavior can persist while its partner-specific dopamine association weakens, separating overt social engagement from selective reward signaling.</a:t>
            </a:r>
          </a:p>
          <a:p/>
          <a:p>
            <a:r>
              <a:t>References:</a:t>
            </a:r>
          </a:p>
          <a:p>
            <a:r>
              <a:t>Pierce AF, Protter DSW, Watanabe YL, Chapel GD, Cameron RT, Donaldson ZR (2024). Nucleus accumbens dopamine release reflects the selective nature of pair bonds. Current Biology 34: 519–530.e5. https://doi.org/10.1016/j.cub.2023.12.041</a:t>
            </a:r>
          </a:p>
          <a:p>
            <a:r>
              <a:t>Pierce AF, Protter DSW, Watanabe YL, Chapel GD, Cameron RT, Donaldson ZR (2024). Nucleus accumbens dopamine release reflects the selective nature of pair bonds. Current Biology 34: 519–530.e5. https://doi.org/10.1016/j.cub.2023.12.041</a:t>
            </a:r>
          </a:p>
          <a:p/>
          <a:p>
            <a:r>
              <a:t>Figure: Pierce et al. (2024), Fig. 5D–E. Dopamine during direct social contact before and after loss.</a:t>
            </a:r>
          </a:p>
          <a:p>
            <a:r>
              <a:t>Figure source: https://doi.org/10.1016/j.cub.2023.12.041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Huddling is sustained affiliative contact, distinct from brief sniffing or approach. Pierce and colleagues measured both huddling bouts and the dopamine response associated with huddle onset. Before separation, partner huddling produced a greater dopamine response than huddling with a novel vole.</a:t>
            </a:r>
          </a:p>
          <a:p>
            <a:r>
              <a:t>• After 4 weeks apart, the partner-specific neural difference disappeared. Nevertheless, animals retained a greater cumulative number of huddling bouts with the partner. Total huddle duration changed little, so bout counts and summed contact time described different aspects of social allocation.</a:t>
            </a:r>
          </a:p>
          <a:p>
            <a:r>
              <a:t>• Partner familiarity and some selective affiliation therefore persist while dopamine responses become less differentiated. The result teaches loss adaptation as a change in multiple components of a relationship, with neural reward selectivity and behavioral recognition following partially different trajectories.</a:t>
            </a:r>
          </a:p>
          <a:p/>
          <a:p>
            <a:r>
              <a:t>References:</a:t>
            </a:r>
          </a:p>
          <a:p>
            <a:r>
              <a:t>Pierce AF, Protter DSW, Watanabe YL, Chapel GD, Cameron RT, Donaldson ZR (2024). Nucleus accumbens dopamine release reflects the selective nature of pair bonds. Current Biology 34: 519–530.e5. https://doi.org/10.1016/j.cub.2023.12.041</a:t>
            </a:r>
          </a:p>
          <a:p>
            <a:r>
              <a:t>Pierce AF, Protter DSW, Watanabe YL, Chapel GD, Cameron RT, Donaldson ZR (2024). Nucleus accumbens dopamine release reflects the selective nature of pair bonds. Current Biology 34: 519–530.e5. https://doi.org/10.1016/j.cub.2023.12.041</a:t>
            </a:r>
          </a:p>
          <a:p/>
          <a:p>
            <a:r>
              <a:t>Figure: Pierce et al. (2024), Fig. 5H–I. Huddling-related dopamine before and after separation.</a:t>
            </a:r>
          </a:p>
          <a:p>
            <a:r>
              <a:t>Figure source: https://doi.org/10.1016/j.cub.2023.12.041</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Non-contact investigation occurs when a vole orients and sniffs toward another animal without direct physical contact. This distinguishes remote sampling from body investigation and huddling. Pierce and colleagues scored each behavior separately instead of combining all social activity into one total.</a:t>
            </a:r>
          </a:p>
          <a:p>
            <a:r>
              <a:t>• Before separation, non-contact investigation occurred more often toward novel animals, unlike the partner bias in direct contact and huddling. After separation, non-contact investigation became shorter and the difference in bout accumulation between targets was reduced.</a:t>
            </a:r>
          </a:p>
          <a:p>
            <a:r>
              <a:t>• Different social acts therefore organize around different features of an encounter. Novelty favors remote investigation, while familiarity favors close affiliative contact. Separation changes this behavioral allocation alongside the weakening of partner-associated dopamine responses measured during seeking and contact.</a:t>
            </a:r>
          </a:p>
          <a:p/>
          <a:p>
            <a:r>
              <a:t>References:</a:t>
            </a:r>
          </a:p>
          <a:p>
            <a:r>
              <a:t>Pierce AF, Protter DSW, Watanabe YL, Chapel GD, Cameron RT, Donaldson ZR (2024). Nucleus accumbens dopamine release reflects the selective nature of pair bonds. Current Biology 34: 519–530.e5. https://doi.org/10.1016/j.cub.2023.12.041</a:t>
            </a:r>
          </a:p>
          <a:p/>
          <a:p>
            <a:r>
              <a:t>Figure: Pierce et al. (2024), Fig. 5J–K. Non-contact investigation before and after separation.</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Sadino and colleagues paired male prairie voles with an opposite-sex partner or a same-sex sibling for 2 weeks. Partner preference was measured before separation and again after 48 hours or 4 weeks apart. Removed partners were housed in another room, eliminating ongoing contact through sight, smell, or sound.</a:t>
            </a:r>
          </a:p>
          <a:p>
            <a:r>
              <a:t>• Both opposite-sex and same-sex pairs retained greater huddling with the familiar animal than with a novel one after prolonged separation. The baseline affiliation was therefore more persistent than the authors had initially hypothesized.</a:t>
            </a:r>
          </a:p>
          <a:p>
            <a:r>
              <a:t>• This behavioral persistence provides a reference for interpreting molecular adaptation to loss. Changes in accumbens gene expression can occur while a familiar partner still attracts selective contact, so separation-related neural remodeling need not wait until the preference test becomes indifferent.</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p>
            <a:r>
              <a:t>Figure: Sadino et al. (2023), Fig. 1B. Partner preference across pairing and separation.</a:t>
            </a:r>
          </a:p>
          <a:p>
            <a:r>
              <a:t>Figure source: https://doi.org/10.7554/eLife.80517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Sadino and colleagues followed animals that remained together over the same interval used for the separation groups. This comparison distinguishes changes caused by prolonged separation from the ongoing maturation of a relationship during continued cohabitation.</a:t>
            </a:r>
          </a:p>
          <a:p>
            <a:r>
              <a:t>• Partner huddle duration increased over time in the remain-paired animals, while novel huddling changed little. Males separated from the partner lacked the same overall strengthening of partner-directed contact. Initial preference could persist even as its normal growth was interrupted.</a:t>
            </a:r>
          </a:p>
          <a:p>
            <a:r>
              <a:t>• Relationship maintenance therefore includes continued behavioral change rather than preservation of a single fixed score. Repeated cohabitation can increase selective contact, and partner removal can halt this trajectory while leaving the earlier familiar-partner preference measurable.</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p>
            <a:r>
              <a:t>Figure: Sadino et al. (2023), Fig. 1C. Partner and novel huddling during continued pairing.</a:t>
            </a:r>
          </a:p>
          <a:p>
            <a:r>
              <a:t>Figure source: https://doi.org/10.7554/eLife.80517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Transcription produces RNA from a gene, and RNA sequencing measures the representation of many transcripts in a tissue sample. Sadino and colleagues sampled the nucleus accumbens after 2 or 6 weeks of cohabitation, comparing opposite-sex pairs with same-sex pairs to identify expression differences associated with mating partnerships.</a:t>
            </a:r>
          </a:p>
          <a:p>
            <a:r>
              <a:t>• Patterns of relative transcript expression were similar at the two pairing durations. Genes elevated in opposite-sex pairs tended to remain elevated, while genes reduced relative to same-sex pairs retained that direction. The published heatmap summarizes these relationships across transcripts.</a:t>
            </a:r>
          </a:p>
          <a:p>
            <a:r>
              <a:t>• This consistent transcriptional signature provides a molecular reference for the intact bond. Subsequent separation-related changes can be evaluated against a pattern that normally persists during continued cohabitation rather than against an arbitrary single-timepoint sample.</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2D. Gene-expression differences at two pairing durations.</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Glia are non-neuronal brain cells that support, regulate, and interact with neurons. Tissue-level RNA sequencing includes glial transcripts as well as neuronal ones. Sadino and colleagues analyzed which biological processes were associated with the genes differing between opposite-sex and same-sex paired males.</a:t>
            </a:r>
          </a:p>
          <a:p>
            <a:r>
              <a:t>• Elevated transcripts in opposite-sex pairs were associated with glial differentiation and related developmental processes. Other transcript groups implicated synaptic organization and vesicle docking, the positioning of transmitter-containing vesicles for release at synapses.</a:t>
            </a:r>
          </a:p>
          <a:p>
            <a:r>
              <a:t>• The expression profile therefore distributes across several cellular functions rather than a single peptide receptor. The authors proposed a glial contribution to bond-associated accumbens adaptation, motivating a second analysis that isolates neuronal transcripts from the mixed-cell tissue measurement.</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2H. Biological processes associated with bond-related genes.</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Sadino and colleagues compared the intact-bond expression pattern with accumbens samples collected after 48 hours or 4 weeks of separation. Both separation groups began with the same 2-week pairing period, allowing the duration without the partner to define the later comparison.</a:t>
            </a:r>
          </a:p>
          <a:p>
            <a:r>
              <a:t>• After 48 hours, many transcripts retained directions of change consistent with the intact bond. The same pattern was much less concordant after 4 weeks. Concordance here means that genes tending to be elevated or reduced in the bond also tend to change in the same direction in the comparison condition.</a:t>
            </a:r>
          </a:p>
          <a:p>
            <a:r>
              <a:t>• The molecular adaptation develops across time rather than appearing as an immediate complete erasure. A short absence preserves much of the coordinated expression pattern, while prolonged absence reorganizes it despite continued behavioral preference for the familiar partner.</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3E. Transcriptional concordance after short and long separation.</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Transcriptional erosion in the Sadino study means weakening or reversal of the expression pattern associated with an intact pair bond. It describes coordinated differences across RNA measurements, rather than a literal loss of brain tissue or disappearance of every transcript.</a:t>
            </a:r>
          </a:p>
          <a:p>
            <a:r>
              <a:t>• Some genes elevated during pairing and short separation became reduced after prolonged separation. A complementary group that was reduced during the intact bond shifted in the opposite direction. The published heatmaps retain the source's expression scales and display the two trajectories separately.</a:t>
            </a:r>
          </a:p>
          <a:p>
            <a:r>
              <a:t>• The adaptation therefore involves bidirectional reorganization of the accumbens molecular state. Both previously elevated and previously reduced transcript groups change over time, linking social loss to a broad remodeling process instead of a single uniform decrease in gene activity.</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3H–I. Eroded gene groups across bonding and separation.</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Sadino and colleagues identified biological processes associated with transcript groups whose bond-related pattern eroded after separation. This analysis groups genes by known functional annotations, allowing a coordinated expression change to be related to candidate cellular functions rather than to isolated gene names.</a:t>
            </a:r>
          </a:p>
          <a:p>
            <a:r>
              <a:t>• The eroded groups included glial-associated processes, synapse organization, and vesicle docking. Proposed upstream regulators included factors involved in developmental signaling and cellular regulation. These are associations within the expression analysis, not direct measurements of synapse number or transmitter release.</a:t>
            </a:r>
          </a:p>
          <a:p>
            <a:r>
              <a:t>• The authors' hypothesis is that the accumbens gradually reorganizes functions supporting the intact bond as the animal adapts to prolonged absence. Separating annotated functions from directly measured physiology keeps the cellular interpretation tied to what RNA sequencing actually samples.</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3J–K. Processes associated with eroded bond-related transcripts.</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Translating ribosome affinity purification, adapted for voles as vTRAP, isolates messenger RNAs attached to genetically tagged ribosomes in selected cells. Ribosomes are the cellular structures that build proteins from RNA instructions. A neuron-selective construct allowed Sadino and colleagues to enrich transcripts being translated in neurons.</a:t>
            </a:r>
          </a:p>
          <a:p>
            <a:r>
              <a:t>• The enriched transcript set included dopamine-receptor and other neuronal genes, while reducing the contribution of glial-associated transcripts. Comparison with a rat accumbens single-nucleus dataset placed the selected genes predominantly in neuronal cell classes, including medium spiny neurons, striatal projection cells with spine-bearing dendrites.</a:t>
            </a:r>
          </a:p>
          <a:p>
            <a:r>
              <a:t>• This cellular separation complements tissue-level sequencing. Mixed accumbens tissue reveals the overall social-loss signature, while neuron-enriched analysis resolves expression programs that might otherwise be obscured by the strong glial component of the bond-associated pattern.</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4E. Cell-type expression of neuron-enriched transcripts.</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gene-expression cluster groups transcripts with related trajectories across experimental conditions. Sadino and colleagues identified three neuronal clusters with distinct changes across intact pairing, short separation, and long separation. The trajectories distinguish early responses to loss from later molecular adaptation.</a:t>
            </a:r>
          </a:p>
          <a:p>
            <a:r>
              <a:t>• One cluster rose during bonding and short separation but declined after prolonged loss. Another increased rapidly after separation and included dopamine-related genes such as Drd1a and Drd2. A third increased mainly after long separation and was associated with mitochondrial and other metabolic processes.</a:t>
            </a:r>
          </a:p>
          <a:p>
            <a:r>
              <a:t>• The neuronal response therefore contains both signaling-related and cellular-energy components. The authors proposed that these temporally distinct programs participate in loss adaptation and readiness for future bonding, rather than treating every transcript change as the same acute stress response.</a:t>
            </a:r>
          </a:p>
          <a:p/>
          <a:p>
            <a:r>
              <a:t>References:</a:t>
            </a:r>
          </a:p>
          <a:p>
            <a:r>
              <a:t>Sadino JM, Bradeen XG, Kelly CJ, Brusman LE, Walker DM, Donaldson ZR (2023). Prolonged partner separation erodes nucleus accumbens transcriptional signatures of pair bonding in male prairie voles. eLife 12: e80517. https://doi.org/10.7554/eLife.80517</a:t>
            </a:r>
          </a:p>
          <a:p>
            <a:r>
              <a:t>Pierce AF, Protter DSW, Watanabe YL, Chapel GD, Cameron RT, Donaldson ZR (2024). Nucleus accumbens dopamine release reflects the selective nature of pair bonds. Current Biology 34: 519–530.e5. https://doi.org/10.1016/j.cub.2023.12.041</a:t>
            </a:r>
          </a:p>
          <a:p/>
          <a:p>
            <a:r>
              <a:t>Figure: Sadino et al. (2023), Fig. 4G. Functional annotations of three neuronal gene clusters.</a:t>
            </a:r>
          </a:p>
          <a:p>
            <a:r>
              <a:t>Figure source: https://doi.org/10.7554/eLife.80517</a:t>
            </a:r>
          </a:p>
          <a:p/>
          <a:p>
            <a:r>
              <a:t>Figure: Pierce et al. (2024), Fig. 3B. Histological localization in the accumbens shell.</a:t>
            </a:r>
          </a:p>
          <a:p>
            <a:r>
              <a:t>Figure source: 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Prairie vole partner separation engages several experimentally distinguishable responses. Within days, male coping behavior changes with CRF and oxytocin manipulations. Over weeks, accumbens dopamine responses to a partner weaken and bond-associated transcript patterns reorganize. These findings describe different physiological measurements and social tasks.</a:t>
            </a:r>
          </a:p>
          <a:p>
            <a:r>
              <a:t>• The Sadino study nevertheless found continued familiar-partner preference after 4 weeks apart. Pierce and colleagues also observed retained partner-biased contact bouts despite reduced partner-specific dopamine responses. Selective affiliation therefore persists alongside changes in reward signaling and molecular state.</a:t>
            </a:r>
          </a:p>
          <a:p>
            <a:r>
              <a:t>• Loss adaptation is a coordinated but uneven process across the attachment system. Stress-related coping, motivation to obtain contact, recognition of a familiar animal, and accumbens cellular programs each supply a distinct part of the biological account of separation.</a:t>
            </a:r>
          </a:p>
          <a:p/>
          <a:p>
            <a:r>
              <a:t>References:</a:t>
            </a:r>
          </a:p>
          <a:p>
            <a:r>
              <a:t>Bosch OJ, Nair HP, Ahern TH, Neumann ID, Young LJ (2009). The CRF system mediates increased passive stress-coping behavior following the loss of a bonded partner in a monogamous rodent. Neuropsychopharmacology 34: 1406–1415. https://doi.org/10.1038/npp.2008.154</a:t>
            </a:r>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r>
              <a:t>Pierce AF, Protter DSW, Watanabe YL, Chapel GD, Cameron RT, Donaldson ZR (2024). Nucleus accumbens dopamine release reflects the selective nature of pair bonds. Current Biology 34: 519–530.e5. https://doi.org/10.1016/j.cub.2023.12.041</a:t>
            </a:r>
          </a:p>
          <a:p>
            <a:r>
              <a:t>Sadino JM, Bradeen XG, Kelly CJ, Brusman LE, Walker DM, Donaldson ZR (2023). Prolonged partner separation erodes nucleus accumbens transcriptional signatures of pair bonding in male prairie voles. eLife 12: e80517. https://doi.org/10.7554/eLife.80517</a:t>
            </a:r>
          </a:p>
          <a:p/>
          <a:p>
            <a:r>
              <a:t>Figure: Sadino et al. (2023), Fig. 1D–E. Partner and novel huddling following separation.</a:t>
            </a:r>
          </a:p>
          <a:p>
            <a:r>
              <a:t>Figure source: https://doi.org/10.7554/eLife.80517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Bosch OJ, Nair HP, Ahern TH, Neumann ID, Young LJ (2009). The CRF system mediates increased passive stress-coping behavior following the loss of a bonded partner in a monogamous rodent. Neuropsychopharmacology 34: 1406–1415. https://doi.org/10.1038/npp.2008.154</a:t>
            </a:r>
          </a:p>
          <a:p/>
          <a:p>
            <a:r>
              <a:t>Bosch OJ, Dabrowska J, Modi ME, Johnson ZV, Keebaugh AC, Barrett CE, Ahern TH, Guo J, Grinevich V, Rainnie DG, Neumann ID, Young LJ (2016). Oxytocin in the nucleus accumbens shell reverses CRFR2-evoked passive stress-coping after partner loss in monogamous male prairie voles. Psychoneuroendocrinology 64: 66–78. https://doi.org/10.1016/j.psyneuen.2015.11.011</a:t>
            </a:r>
          </a:p>
          <a:p/>
          <a:p>
            <a:r>
              <a:t>Pierce AF, Protter DSW, Watanabe YL, Chapel GD, Cameron RT, Donaldson ZR (2024). Nucleus accumbens dopamine release reflects the selective nature of pair bonds. Current Biology 34: 519–530.e5. https://doi.org/10.1016/j.cub.2023.12.041</a:t>
            </a:r>
          </a:p>
          <a:p/>
          <a:p>
            <a:r>
              <a:t>Sadino JM, Bradeen XG, Kelly CJ, Brusman LE, Walker DM, Donaldson ZR (2023). Prolonged partner separation erodes nucleus accumbens transcriptional signatures of pair bonding in male prairie voles. eLife 12: e80517. https://doi.org/10.7554/eLife.80517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9.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9.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9.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9.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9.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8B646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F2E7E9"/>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F2E7E9"/>
                </a:solidFill>
                <a:latin typeface="Arial"/>
              </a:rPr>
              <a:t>Lecture 59</a:t>
            </a:r>
          </a:p>
        </p:txBody>
      </p:sp>
      <p:sp>
        <p:nvSpPr>
          <p:cNvPr id="5" name="Lecture title"/>
          <p:cNvSpPr txBox="1"/>
          <p:nvPr/>
        </p:nvSpPr>
        <p:spPr>
          <a:xfrm>
            <a:off x="685800" y="2331720"/>
            <a:ext cx="4724247" cy="2834640"/>
          </a:xfrm>
          <a:prstGeom prst="rect">
            <a:avLst/>
          </a:prstGeom>
          <a:noFill/>
        </p:spPr>
        <p:txBody>
          <a:bodyPr wrap="square" lIns="0" rIns="0" tIns="0" bIns="0">
            <a:spAutoFit/>
          </a:bodyPr>
          <a:lstStyle/>
          <a:p>
            <a:pPr algn="l">
              <a:lnSpc>
                <a:spcPct val="108000"/>
              </a:lnSpc>
              <a:spcAft>
                <a:spcPts val="0"/>
              </a:spcAft>
            </a:pPr>
            <a:r>
              <a:rPr sz="2800" b="1" i="0">
                <a:solidFill>
                  <a:srgbClr val="FFFFFF"/>
                </a:solidFill>
                <a:latin typeface="Arial"/>
              </a:rPr>
              <a:t>Prairie voles III:</a:t>
            </a:r>
          </a:p>
          <a:p>
            <a:pPr algn="l">
              <a:lnSpc>
                <a:spcPct val="108000"/>
              </a:lnSpc>
              <a:spcAft>
                <a:spcPts val="0"/>
              </a:spcAft>
            </a:pPr>
            <a:r>
              <a:rPr sz="2800" b="1" i="0">
                <a:solidFill>
                  <a:srgbClr val="FFFFFF"/>
                </a:solidFill>
                <a:latin typeface="Arial"/>
              </a:rPr>
              <a:t>partner separation, stress signaling, and behavioral and nucleus accumbens adaptations following social loss</a:t>
            </a:r>
          </a:p>
        </p:txBody>
      </p:sp>
      <p:sp>
        <p:nvSpPr>
          <p:cNvPr id="6" name="TextBox 5"/>
          <p:cNvSpPr txBox="1"/>
          <p:nvPr/>
        </p:nvSpPr>
        <p:spPr>
          <a:xfrm>
            <a:off x="685800" y="5792419"/>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F2E7E9"/>
                </a:solidFill>
                <a:latin typeface="Arial"/>
              </a:rPr>
              <a:t>Date TBD</a:t>
            </a:r>
          </a:p>
        </p:txBody>
      </p:sp>
      <p:sp>
        <p:nvSpPr>
          <p:cNvPr id="7" name="TextBox 6"/>
          <p:cNvSpPr txBox="1"/>
          <p:nvPr/>
        </p:nvSpPr>
        <p:spPr>
          <a:xfrm>
            <a:off x="685800" y="6263640"/>
            <a:ext cx="4724247" cy="548640"/>
          </a:xfrm>
          <a:prstGeom prst="rect">
            <a:avLst/>
          </a:prstGeom>
          <a:noFill/>
        </p:spPr>
        <p:txBody>
          <a:bodyPr wrap="square" lIns="0" rIns="0" tIns="0" bIns="0">
            <a:spAutoFit/>
          </a:bodyPr>
          <a:lstStyle/>
          <a:p>
            <a:pPr algn="l">
              <a:lnSpc>
                <a:spcPct val="108000"/>
              </a:lnSpc>
              <a:spcAft>
                <a:spcPts val="200"/>
              </a:spcAft>
            </a:pPr>
            <a:r>
              <a:rPr sz="1200" b="0" i="0">
                <a:solidFill>
                  <a:srgbClr val="F2E7E9"/>
                </a:solidFill>
                <a:latin typeface="Arial"/>
              </a:rPr>
              <a:t>Jordan Lopez, Ph.D.</a:t>
            </a:r>
          </a:p>
          <a:p>
            <a:pPr algn="l">
              <a:lnSpc>
                <a:spcPct val="108000"/>
              </a:lnSpc>
              <a:spcAft>
                <a:spcPts val="200"/>
              </a:spcAft>
            </a:pPr>
            <a:r>
              <a:rPr sz="1200" b="0" i="0">
                <a:solidFill>
                  <a:srgbClr val="F2E7E9"/>
                </a:solidFill>
                <a:latin typeface="Arial"/>
              </a:rPr>
              <a:t>Professor of Neurobiology &amp; Biomedical Engineering</a:t>
            </a:r>
          </a:p>
        </p:txBody>
      </p:sp>
      <p:pic>
        <p:nvPicPr>
          <p:cNvPr id="8" name="Picture 7" descr="prairie_vole.png"/>
          <p:cNvPicPr>
            <a:picLocks noChangeAspect="1"/>
          </p:cNvPicPr>
          <p:nvPr/>
        </p:nvPicPr>
        <p:blipFill>
          <a:blip r:embed="rId2"/>
          <a:stretch>
            <a:fillRect/>
          </a:stretch>
        </p:blipFill>
        <p:spPr>
          <a:xfrm>
            <a:off x="6553047" y="822960"/>
            <a:ext cx="5181447" cy="388608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Prairie vole (Microtus ochrogaster).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Losing a bonded partner changes stress coping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Prairie voles, </a:t>
            </a:r>
            <a:r>
              <a:rPr sz="1600" b="0" i="1">
                <a:solidFill>
                  <a:srgbClr val="000000"/>
                </a:solidFill>
                <a:latin typeface="Arial"/>
              </a:rPr>
              <a:t>Microtus ochrogaster</a:t>
            </a:r>
            <a:r>
              <a:rPr sz="1600" b="0" i="0">
                <a:solidFill>
                  <a:srgbClr val="000000"/>
                </a:solidFill>
                <a:latin typeface="Arial"/>
              </a:rPr>
              <a:t>, form selective social attachments. Bosch and colleagues housed males with a female partner or male sibling for 5 days, then either maintained the pair or separated the animals. This comparison distinguishes the consequences of losing a bonded mate from those of losing another familiar cage-mate.</a:t>
            </a:r>
          </a:p>
          <a:p>
            <a:pPr algn="l">
              <a:lnSpc>
                <a:spcPct val="108000"/>
              </a:lnSpc>
              <a:spcAft>
                <a:spcPts val="960"/>
              </a:spcAft>
            </a:pPr>
            <a:r>
              <a:rPr sz="1600" b="0" i="0">
                <a:solidFill>
                  <a:srgbClr val="000000"/>
                </a:solidFill>
                <a:latin typeface="Arial"/>
              </a:rPr>
              <a:t>After several days apart, males separated from the female spent more time floating during forced swimming and more time immobile during tail suspension. </a:t>
            </a:r>
            <a:r>
              <a:rPr sz="1600" b="1" i="0">
                <a:solidFill>
                  <a:srgbClr val="594045"/>
                </a:solidFill>
                <a:latin typeface="Arial"/>
              </a:rPr>
              <a:t>Passive coping</a:t>
            </a:r>
            <a:r>
              <a:rPr sz="1600" b="0" i="0">
                <a:solidFill>
                  <a:srgbClr val="000000"/>
                </a:solidFill>
                <a:latin typeface="Arial"/>
              </a:rPr>
              <a:t> means reduced active movement during these inescapable challenges, rather than a measurement of the animal's subjective grief.</a:t>
            </a:r>
          </a:p>
          <a:p>
            <a:pPr algn="l">
              <a:lnSpc>
                <a:spcPct val="108000"/>
              </a:lnSpc>
              <a:spcAft>
                <a:spcPts val="960"/>
              </a:spcAft>
            </a:pPr>
            <a:r>
              <a:rPr sz="1600" b="0" i="0">
                <a:solidFill>
                  <a:srgbClr val="000000"/>
                </a:solidFill>
                <a:latin typeface="Arial"/>
              </a:rPr>
              <a:t>Males separated from a sibling retained coping behavior resembling paired controls. Relationship history therefore changes the response to social removal: the same housing manipulation has different behavioral consequences when it interrupts a mating partnership.</a:t>
            </a:r>
          </a:p>
        </p:txBody>
      </p:sp>
      <p:pic>
        <p:nvPicPr>
          <p:cNvPr id="4" name="Picture 3" descr="b09_2ab.png"/>
          <p:cNvPicPr>
            <a:picLocks noChangeAspect="1"/>
          </p:cNvPicPr>
          <p:nvPr/>
        </p:nvPicPr>
        <p:blipFill>
          <a:blip r:embed="rId2"/>
          <a:stretch>
            <a:fillRect/>
          </a:stretch>
        </p:blipFill>
        <p:spPr>
          <a:xfrm>
            <a:off x="6504127" y="1280160"/>
            <a:ext cx="5120640" cy="3777650"/>
          </a:xfrm>
          <a:prstGeom prst="rect">
            <a:avLst/>
          </a:prstGeom>
        </p:spPr>
      </p:pic>
      <p:sp>
        <p:nvSpPr>
          <p:cNvPr id="5" name="Figure caption"/>
          <p:cNvSpPr txBox="1"/>
          <p:nvPr/>
        </p:nvSpPr>
        <p:spPr>
          <a:xfrm>
            <a:off x="6504127" y="51492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2a–b. Passive coping after partner or sibling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Floating and immobility measure passive coping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94045"/>
                </a:solidFill>
                <a:latin typeface="Arial"/>
              </a:rPr>
              <a:t>forced swim test</a:t>
            </a:r>
            <a:r>
              <a:rPr sz="1600" b="0" i="0">
                <a:solidFill>
                  <a:srgbClr val="000000"/>
                </a:solidFill>
                <a:latin typeface="Arial"/>
              </a:rPr>
              <a:t> places a vole in water and measures active swimming, struggling, and floating. Floating conserves movement while keeping the animal above water. The </a:t>
            </a:r>
            <a:r>
              <a:rPr sz="1600" b="1" i="0">
                <a:solidFill>
                  <a:srgbClr val="594045"/>
                </a:solidFill>
                <a:latin typeface="Arial"/>
              </a:rPr>
              <a:t>tail suspension test</a:t>
            </a:r>
            <a:r>
              <a:rPr sz="1600" b="0" i="0">
                <a:solidFill>
                  <a:srgbClr val="000000"/>
                </a:solidFill>
                <a:latin typeface="Arial"/>
              </a:rPr>
              <a:t> instead measures periods without active escape movements while the animal is suspended, providing a second physical challenge.</a:t>
            </a:r>
          </a:p>
          <a:p>
            <a:pPr algn="l">
              <a:lnSpc>
                <a:spcPct val="108000"/>
              </a:lnSpc>
              <a:spcAft>
                <a:spcPts val="960"/>
              </a:spcAft>
            </a:pPr>
            <a:r>
              <a:rPr sz="1600" b="0" i="0">
                <a:solidFill>
                  <a:srgbClr val="000000"/>
                </a:solidFill>
                <a:latin typeface="Arial"/>
              </a:rPr>
              <a:t>Bosch and colleagues measured these behaviors after 4–5 days of separation. The original plots express floating and immobility in seconds. Female-partner separation increased both measures, whereas sibling separation did not produce the same shift.</a:t>
            </a:r>
          </a:p>
          <a:p>
            <a:pPr algn="l">
              <a:lnSpc>
                <a:spcPct val="108000"/>
              </a:lnSpc>
              <a:spcAft>
                <a:spcPts val="960"/>
              </a:spcAft>
            </a:pPr>
            <a:r>
              <a:rPr sz="1600" b="0" i="0">
                <a:solidFill>
                  <a:srgbClr val="000000"/>
                </a:solidFill>
                <a:latin typeface="Arial"/>
              </a:rPr>
              <a:t>Convergence across water exposure and suspension links partner loss to coping strategy across different challenges. The shared result concerns allocation of active versus passive behavior, so interpreting the tasks as a direct diagnosis of human depression would change the biological meaning of the measurement.</a:t>
            </a:r>
          </a:p>
        </p:txBody>
      </p:sp>
      <p:pic>
        <p:nvPicPr>
          <p:cNvPr id="4" name="Picture 3" descr="b09_2ab.png"/>
          <p:cNvPicPr>
            <a:picLocks noChangeAspect="1"/>
          </p:cNvPicPr>
          <p:nvPr/>
        </p:nvPicPr>
        <p:blipFill>
          <a:blip r:embed="rId2"/>
          <a:stretch>
            <a:fillRect/>
          </a:stretch>
        </p:blipFill>
        <p:spPr>
          <a:xfrm>
            <a:off x="6504127" y="1280160"/>
            <a:ext cx="5120640" cy="3777650"/>
          </a:xfrm>
          <a:prstGeom prst="rect">
            <a:avLst/>
          </a:prstGeom>
        </p:spPr>
      </p:pic>
      <p:sp>
        <p:nvSpPr>
          <p:cNvPr id="5" name="Figure caption"/>
          <p:cNvSpPr txBox="1"/>
          <p:nvPr/>
        </p:nvSpPr>
        <p:spPr>
          <a:xfrm>
            <a:off x="6504127" y="51492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2a–b. Floating and immobility measured in seconds.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Separation affects different defensive measures differently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94045"/>
                </a:solidFill>
                <a:latin typeface="Arial"/>
              </a:rPr>
              <a:t>elevated plus-maze</a:t>
            </a:r>
            <a:r>
              <a:rPr sz="1500" b="0" i="0">
                <a:solidFill>
                  <a:srgbClr val="000000"/>
                </a:solidFill>
                <a:latin typeface="Arial"/>
              </a:rPr>
              <a:t> has exposed open arms and enclosed arms. A vole can explore either, allowing investigators to measure avoidance of exposed space separately from floating or immobility. Open-arm time and the proportion of arm entries sample related but distinct features of exploration.</a:t>
            </a:r>
          </a:p>
          <a:p>
            <a:pPr algn="l">
              <a:lnSpc>
                <a:spcPct val="108000"/>
              </a:lnSpc>
              <a:spcAft>
                <a:spcPts val="900"/>
              </a:spcAft>
            </a:pPr>
            <a:r>
              <a:rPr sz="1500" b="0" i="0">
                <a:solidFill>
                  <a:srgbClr val="000000"/>
                </a:solidFill>
                <a:latin typeface="Arial"/>
              </a:rPr>
              <a:t>In the Bosch study, separation left the proportion of time in the open arms unchanged. Open-arm entry patterns showed a broader separation-related tendency rather than the clear female-partner specificity observed during forced swimming and tail suspension. Closed-arm entry counts were similar across the groups.</a:t>
            </a:r>
          </a:p>
          <a:p>
            <a:pPr algn="l">
              <a:lnSpc>
                <a:spcPct val="108000"/>
              </a:lnSpc>
              <a:spcAft>
                <a:spcPts val="900"/>
              </a:spcAft>
            </a:pPr>
            <a:r>
              <a:rPr sz="1500" b="0" i="0">
                <a:solidFill>
                  <a:srgbClr val="000000"/>
                </a:solidFill>
                <a:latin typeface="Arial"/>
              </a:rPr>
              <a:t>Social removal therefore modifies some behavioral responses more strongly than others. The passive-coping effect tracks loss of the female partner, while exposed-space exploration provides a different response profile. A single behavioral score would collapse these distinct consequences of separation.</a:t>
            </a:r>
          </a:p>
        </p:txBody>
      </p:sp>
      <p:pic>
        <p:nvPicPr>
          <p:cNvPr id="4" name="Picture 3" descr="b09_2cd.png"/>
          <p:cNvPicPr>
            <a:picLocks noChangeAspect="1"/>
          </p:cNvPicPr>
          <p:nvPr/>
        </p:nvPicPr>
        <p:blipFill>
          <a:blip r:embed="rId2"/>
          <a:stretch>
            <a:fillRect/>
          </a:stretch>
        </p:blipFill>
        <p:spPr>
          <a:xfrm>
            <a:off x="6504127" y="1280160"/>
            <a:ext cx="5120640" cy="2871019"/>
          </a:xfrm>
          <a:prstGeom prst="rect">
            <a:avLst/>
          </a:prstGeom>
        </p:spPr>
      </p:pic>
      <p:sp>
        <p:nvSpPr>
          <p:cNvPr id="5" name="Figure caption"/>
          <p:cNvSpPr txBox="1"/>
          <p:nvPr/>
        </p:nvSpPr>
        <p:spPr>
          <a:xfrm>
            <a:off x="6504127" y="424261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2c–d. Open-arm exploration after social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Partner loss elevates basal corticosterone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94045"/>
                </a:solidFill>
                <a:latin typeface="Arial"/>
              </a:rPr>
              <a:t>hypothalamo–pituitary–adrenal axis</a:t>
            </a:r>
            <a:r>
              <a:rPr sz="1500" b="0" i="0">
                <a:solidFill>
                  <a:srgbClr val="000000"/>
                </a:solidFill>
                <a:latin typeface="Arial"/>
              </a:rPr>
              <a:t> coordinates endocrine responses to challenge. Corticotropin-releasing factor, or </a:t>
            </a:r>
            <a:r>
              <a:rPr sz="1500" b="1" i="0">
                <a:solidFill>
                  <a:srgbClr val="594045"/>
                </a:solidFill>
                <a:latin typeface="Arial"/>
              </a:rPr>
              <a:t>CRF</a:t>
            </a:r>
            <a:r>
              <a:rPr sz="1500" b="0" i="0">
                <a:solidFill>
                  <a:srgbClr val="000000"/>
                </a:solidFill>
                <a:latin typeface="Arial"/>
              </a:rPr>
              <a:t>, stimulates pituitary secretion of adrenocorticotropic hormone, or </a:t>
            </a:r>
            <a:r>
              <a:rPr sz="1500" b="1" i="0">
                <a:solidFill>
                  <a:srgbClr val="594045"/>
                </a:solidFill>
                <a:latin typeface="Arial"/>
              </a:rPr>
              <a:t>ACTH</a:t>
            </a:r>
            <a:r>
              <a:rPr sz="1500" b="0" i="0">
                <a:solidFill>
                  <a:srgbClr val="000000"/>
                </a:solidFill>
                <a:latin typeface="Arial"/>
              </a:rPr>
              <a:t>, which stimulates the adrenal cortex to produce glucocorticoids. In these rodents, corticosterone is the measured circulating glucocorticoid.</a:t>
            </a:r>
          </a:p>
          <a:p>
            <a:pPr algn="l">
              <a:lnSpc>
                <a:spcPct val="108000"/>
              </a:lnSpc>
              <a:spcAft>
                <a:spcPts val="900"/>
              </a:spcAft>
            </a:pPr>
            <a:r>
              <a:rPr sz="1500" b="0" i="0">
                <a:solidFill>
                  <a:srgbClr val="000000"/>
                </a:solidFill>
                <a:latin typeface="Arial"/>
              </a:rPr>
              <a:t>Bosch and colleagues sampled males that had remained undisturbed rather than exposing them to the behavioral tests first. After 5 days apart, males separated from a female had higher basal corticosterone than males still housed with that female. Sibling separation produced a different endocrine profile.</a:t>
            </a:r>
          </a:p>
          <a:p>
            <a:pPr algn="l">
              <a:lnSpc>
                <a:spcPct val="108000"/>
              </a:lnSpc>
              <a:spcAft>
                <a:spcPts val="900"/>
              </a:spcAft>
            </a:pPr>
            <a:r>
              <a:rPr sz="1500" b="0" i="0">
                <a:solidFill>
                  <a:srgbClr val="000000"/>
                </a:solidFill>
                <a:latin typeface="Arial"/>
              </a:rPr>
              <a:t>The corticosterone result connects social relationship disruption to a persistent physiological state outside the test apparatus. ACTH measurements were more variable and lacked a clear group difference, so the two sampled hormones should not be taught as showing identical separation effects.</a:t>
            </a:r>
          </a:p>
        </p:txBody>
      </p:sp>
      <p:pic>
        <p:nvPicPr>
          <p:cNvPr id="4" name="Picture 3" descr="b09_3.png"/>
          <p:cNvPicPr>
            <a:picLocks noChangeAspect="1"/>
          </p:cNvPicPr>
          <p:nvPr/>
        </p:nvPicPr>
        <p:blipFill>
          <a:blip r:embed="rId2"/>
          <a:stretch>
            <a:fillRect/>
          </a:stretch>
        </p:blipFill>
        <p:spPr>
          <a:xfrm>
            <a:off x="6504127" y="1280160"/>
            <a:ext cx="5120640" cy="3595021"/>
          </a:xfrm>
          <a:prstGeom prst="rect">
            <a:avLst/>
          </a:prstGeom>
        </p:spPr>
      </p:pic>
      <p:sp>
        <p:nvSpPr>
          <p:cNvPr id="5" name="Figure caption"/>
          <p:cNvSpPr txBox="1"/>
          <p:nvPr/>
        </p:nvSpPr>
        <p:spPr>
          <a:xfrm>
            <a:off x="6504127" y="496662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3a–b. Circulating corticosterone and ACTH after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Pairing raises CRF transcription in the medial BNST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94045"/>
                </a:solidFill>
                <a:latin typeface="Arial"/>
              </a:rPr>
              <a:t>bed nucleus of the stria terminalis</a:t>
            </a:r>
            <a:r>
              <a:rPr sz="1600" b="0" i="0">
                <a:solidFill>
                  <a:srgbClr val="000000"/>
                </a:solidFill>
                <a:latin typeface="Arial"/>
              </a:rPr>
              <a:t>, or </a:t>
            </a:r>
            <a:r>
              <a:rPr sz="1600" b="1" i="0">
                <a:solidFill>
                  <a:srgbClr val="594045"/>
                </a:solidFill>
                <a:latin typeface="Arial"/>
              </a:rPr>
              <a:t>BNST</a:t>
            </a:r>
            <a:r>
              <a:rPr sz="1600" b="0" i="0">
                <a:solidFill>
                  <a:srgbClr val="000000"/>
                </a:solidFill>
                <a:latin typeface="Arial"/>
              </a:rPr>
              <a:t>, is a forebrain structure involved in sustained responses to social and stress-related conditions. Bosch and colleagues examined CRF messenger RNA in its medial division. </a:t>
            </a:r>
            <a:r>
              <a:rPr sz="1600" b="1" i="0">
                <a:solidFill>
                  <a:srgbClr val="594045"/>
                </a:solidFill>
                <a:latin typeface="Arial"/>
              </a:rPr>
              <a:t>Messenger RNA</a:t>
            </a:r>
            <a:r>
              <a:rPr sz="1600" b="0" i="0">
                <a:solidFill>
                  <a:srgbClr val="000000"/>
                </a:solidFill>
                <a:latin typeface="Arial"/>
              </a:rPr>
              <a:t> carries gene-derived information used to synthesize a protein or peptide.</a:t>
            </a:r>
          </a:p>
          <a:p>
            <a:pPr algn="l">
              <a:lnSpc>
                <a:spcPct val="108000"/>
              </a:lnSpc>
              <a:spcAft>
                <a:spcPts val="960"/>
              </a:spcAft>
            </a:pPr>
            <a:r>
              <a:rPr sz="1600" b="0" i="0">
                <a:solidFill>
                  <a:srgbClr val="000000"/>
                </a:solidFill>
                <a:latin typeface="Arial"/>
              </a:rPr>
              <a:t>In situ hybridization labels a target RNA within tissue. Counts of labeled grains were higher in males with female-pairing experience than in sibling-housed males, whether the female was still present or had been removed. The tissue preparation links the signal to the medial BNST rather than to the entire brain.</a:t>
            </a:r>
          </a:p>
          <a:p>
            <a:pPr algn="l">
              <a:lnSpc>
                <a:spcPct val="108000"/>
              </a:lnSpc>
              <a:spcAft>
                <a:spcPts val="960"/>
              </a:spcAft>
            </a:pPr>
            <a:r>
              <a:rPr sz="1600" b="0" i="0">
                <a:solidFill>
                  <a:srgbClr val="000000"/>
                </a:solidFill>
                <a:latin typeface="Arial"/>
              </a:rPr>
              <a:t>The transcriptional difference therefore follows pairing history, while passive coping emerges especially after separation. The authors proposed that a bonding-associated CRF system can contribute to aversive responses when contact with the partner is interrupted.</a:t>
            </a:r>
          </a:p>
        </p:txBody>
      </p:sp>
      <p:pic>
        <p:nvPicPr>
          <p:cNvPr id="4" name="Picture 3" descr="b09_4.png"/>
          <p:cNvPicPr>
            <a:picLocks noChangeAspect="1"/>
          </p:cNvPicPr>
          <p:nvPr/>
        </p:nvPicPr>
        <p:blipFill>
          <a:blip r:embed="rId2"/>
          <a:stretch>
            <a:fillRect/>
          </a:stretch>
        </p:blipFill>
        <p:spPr>
          <a:xfrm>
            <a:off x="7571812" y="1280160"/>
            <a:ext cx="298527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4a–b. CRF transcript labeling in the medial BNST.</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CRF receptor blockade reduces separation-induced coping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94045"/>
                </a:solidFill>
                <a:latin typeface="Arial"/>
              </a:rPr>
              <a:t>receptor antagonist</a:t>
            </a:r>
            <a:r>
              <a:rPr sz="1600" b="0" i="0">
                <a:solidFill>
                  <a:srgbClr val="000000"/>
                </a:solidFill>
                <a:latin typeface="Arial"/>
              </a:rPr>
              <a:t> occupies or interferes with a receptor so that its usual ligand produces less signaling. Bosch and colleagues delivered the nonselective CRF receptor antagonist d-phe-CRF into the lateral ventricle, allowing central exposure during the separation period rather than giving a single dose immediately before testing.</a:t>
            </a:r>
          </a:p>
          <a:p>
            <a:pPr algn="l">
              <a:lnSpc>
                <a:spcPct val="108000"/>
              </a:lnSpc>
              <a:spcAft>
                <a:spcPts val="960"/>
              </a:spcAft>
            </a:pPr>
            <a:r>
              <a:rPr sz="1600" b="0" i="0">
                <a:solidFill>
                  <a:srgbClr val="000000"/>
                </a:solidFill>
                <a:latin typeface="Arial"/>
              </a:rPr>
              <a:t>The infusion began when the partner was removed after 5 days of cohabitation. Separated vehicle-treated males showed increased floating and immobility. Antagonist-treated separated males had lower passive-coping scores, whereas males whose partner remained present changed little with treatment.</a:t>
            </a:r>
          </a:p>
          <a:p>
            <a:pPr algn="l">
              <a:lnSpc>
                <a:spcPct val="108000"/>
              </a:lnSpc>
              <a:spcAft>
                <a:spcPts val="960"/>
              </a:spcAft>
            </a:pPr>
            <a:r>
              <a:rPr sz="1600" b="0" i="0">
                <a:solidFill>
                  <a:srgbClr val="000000"/>
                </a:solidFill>
                <a:latin typeface="Arial"/>
              </a:rPr>
              <a:t>The behavioral effect depends on both receptor signaling and relationship condition. Reducing central CRF signaling primarily altered the coping response associated with separation, linking an experimentally manipulated peptide system to how the animal behaves during subsequent challenge.</a:t>
            </a:r>
          </a:p>
        </p:txBody>
      </p:sp>
      <p:pic>
        <p:nvPicPr>
          <p:cNvPr id="4" name="Picture 3" descr="b09_5.png"/>
          <p:cNvPicPr>
            <a:picLocks noChangeAspect="1"/>
          </p:cNvPicPr>
          <p:nvPr/>
        </p:nvPicPr>
        <p:blipFill>
          <a:blip r:embed="rId2"/>
          <a:stretch>
            <a:fillRect/>
          </a:stretch>
        </p:blipFill>
        <p:spPr>
          <a:xfrm>
            <a:off x="7406407" y="1280160"/>
            <a:ext cx="331607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5a–c. CRF blockade and coping after partner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CRF blockade preserves an established partner preference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94045"/>
                </a:solidFill>
                <a:latin typeface="Arial"/>
              </a:rPr>
              <a:t>partner preference test</a:t>
            </a:r>
            <a:r>
              <a:rPr sz="1600" b="0" i="0">
                <a:solidFill>
                  <a:srgbClr val="000000"/>
                </a:solidFill>
                <a:latin typeface="Arial"/>
              </a:rPr>
              <a:t> gives a vole access to its familiar partner and an unfamiliar animal. Time spent huddling with each measures selective affiliation. Huddling is sustained close physical contact, so a preference compares allocation of social contact rather than the effort needed to obtain it.</a:t>
            </a:r>
          </a:p>
          <a:p>
            <a:pPr algn="l">
              <a:lnSpc>
                <a:spcPct val="108000"/>
              </a:lnSpc>
              <a:spcAft>
                <a:spcPts val="960"/>
              </a:spcAft>
            </a:pPr>
            <a:r>
              <a:rPr sz="1600" b="0" i="0">
                <a:solidFill>
                  <a:srgbClr val="000000"/>
                </a:solidFill>
                <a:latin typeface="Arial"/>
              </a:rPr>
              <a:t>Males in the CRF-antagonist experiment continued to huddle more with the original female than with a stranger. This preference survived both several days of separation and antagonist treatment. At the same time, the antagonist reduced separation-associated floating and immobility.</a:t>
            </a:r>
          </a:p>
          <a:p>
            <a:pPr algn="l">
              <a:lnSpc>
                <a:spcPct val="108000"/>
              </a:lnSpc>
              <a:spcAft>
                <a:spcPts val="960"/>
              </a:spcAft>
            </a:pPr>
            <a:r>
              <a:rPr sz="1600" b="0" i="0">
                <a:solidFill>
                  <a:srgbClr val="000000"/>
                </a:solidFill>
                <a:latin typeface="Arial"/>
              </a:rPr>
              <a:t>Selective affiliation and passive coping can therefore move independently. The drug altered the stress response while preserving an already established social preference, allowing students to distinguish the mechanism expressing distress from the behavioral expression of partner recognition and attachment.</a:t>
            </a:r>
          </a:p>
        </p:txBody>
      </p:sp>
      <p:pic>
        <p:nvPicPr>
          <p:cNvPr id="4" name="Picture 3" descr="b09_5.png"/>
          <p:cNvPicPr>
            <a:picLocks noChangeAspect="1"/>
          </p:cNvPicPr>
          <p:nvPr/>
        </p:nvPicPr>
        <p:blipFill>
          <a:blip r:embed="rId2"/>
          <a:stretch>
            <a:fillRect/>
          </a:stretch>
        </p:blipFill>
        <p:spPr>
          <a:xfrm>
            <a:off x="7406407" y="1280160"/>
            <a:ext cx="331607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5a–c. Coping and partner contact under CRF blockade.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Both central CRF receptor types influence passive coping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CRF acts through two receptor classes, </a:t>
            </a:r>
            <a:r>
              <a:rPr sz="1600" b="1" i="0">
                <a:solidFill>
                  <a:srgbClr val="594045"/>
                </a:solidFill>
                <a:latin typeface="Arial"/>
              </a:rPr>
              <a:t>CRFR1</a:t>
            </a:r>
            <a:r>
              <a:rPr sz="1600" b="0" i="0">
                <a:solidFill>
                  <a:srgbClr val="000000"/>
                </a:solidFill>
                <a:latin typeface="Arial"/>
              </a:rPr>
              <a:t> and </a:t>
            </a:r>
            <a:r>
              <a:rPr sz="1600" b="1" i="0">
                <a:solidFill>
                  <a:srgbClr val="594045"/>
                </a:solidFill>
                <a:latin typeface="Arial"/>
              </a:rPr>
              <a:t>CRFR2</a:t>
            </a:r>
            <a:r>
              <a:rPr sz="1600" b="0" i="0">
                <a:solidFill>
                  <a:srgbClr val="000000"/>
                </a:solidFill>
                <a:latin typeface="Arial"/>
              </a:rPr>
              <a:t>. To separate their contributions, Bosch and colleagues used CP-154526 to antagonize CRFR1 and astressin-2B to antagonize CRFR2. Binding experiments checked that these compounds had the intended receptor selectivity in prairie vole tissue.</a:t>
            </a:r>
          </a:p>
          <a:p>
            <a:pPr algn="l">
              <a:lnSpc>
                <a:spcPct val="108000"/>
              </a:lnSpc>
              <a:spcAft>
                <a:spcPts val="960"/>
              </a:spcAft>
            </a:pPr>
            <a:r>
              <a:rPr sz="1600" b="0" i="0">
                <a:solidFill>
                  <a:srgbClr val="000000"/>
                </a:solidFill>
                <a:latin typeface="Arial"/>
              </a:rPr>
              <a:t>During separation, either selective antagonist reduced floating in the forced swim test and immobility during tail suspension. The corresponding treatments had little effect in males that remained with their female partner. The effect therefore extends beyond a single nonselective drug.</a:t>
            </a:r>
          </a:p>
          <a:p>
            <a:pPr algn="l">
              <a:lnSpc>
                <a:spcPct val="108000"/>
              </a:lnSpc>
              <a:spcAft>
                <a:spcPts val="960"/>
              </a:spcAft>
            </a:pPr>
            <a:r>
              <a:rPr sz="1600" b="0" i="0">
                <a:solidFill>
                  <a:srgbClr val="000000"/>
                </a:solidFill>
                <a:latin typeface="Arial"/>
              </a:rPr>
              <a:t>Because the compounds were delivered centrally, the result identifies receptor involvement across the exposed brain rather than assigning both receptors to one nucleus. Later local manipulations of the accumbens shell isolate a more specific CRFR2 contribution to separation-related behavior.</a:t>
            </a:r>
          </a:p>
        </p:txBody>
      </p:sp>
      <p:pic>
        <p:nvPicPr>
          <p:cNvPr id="4" name="Picture 3" descr="b09_6.png"/>
          <p:cNvPicPr>
            <a:picLocks noChangeAspect="1"/>
          </p:cNvPicPr>
          <p:nvPr/>
        </p:nvPicPr>
        <p:blipFill>
          <a:blip r:embed="rId2"/>
          <a:stretch>
            <a:fillRect/>
          </a:stretch>
        </p:blipFill>
        <p:spPr>
          <a:xfrm>
            <a:off x="7859228" y="1280160"/>
            <a:ext cx="241043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(2009), Fig. 6a–b. Selective CRFR1 and CRFR2 blockade after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Accumbens CRFR2 blockade reduces passive coping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94045"/>
                </a:solidFill>
                <a:latin typeface="Arial"/>
              </a:rPr>
              <a:t>nucleus accumbens</a:t>
            </a:r>
            <a:r>
              <a:rPr sz="1600" b="0" i="0">
                <a:solidFill>
                  <a:srgbClr val="000000"/>
                </a:solidFill>
                <a:latin typeface="Arial"/>
              </a:rPr>
              <a:t> is a ventral striatal region involved in motivated behavior, with core and shell subdivisions. Bosch and colleagues targeted the shell with bilateral drug infusions after males had cohabited with a female for 5 days. Animals were then tested after 3 days with the female present or removed.</a:t>
            </a:r>
          </a:p>
          <a:p>
            <a:pPr algn="l">
              <a:lnSpc>
                <a:spcPct val="108000"/>
              </a:lnSpc>
              <a:spcAft>
                <a:spcPts val="960"/>
              </a:spcAft>
            </a:pPr>
            <a:r>
              <a:rPr sz="1600" b="0" i="0">
                <a:solidFill>
                  <a:srgbClr val="000000"/>
                </a:solidFill>
                <a:latin typeface="Arial"/>
              </a:rPr>
              <a:t>Astressin-2B blocked CRFR2 locally and reduced the increased floating observed after partner separation. Vehicle-infused separated males retained greater passive coping. Infusions outside the intended accumbens target lacked the corresponding behavioral effect.</a:t>
            </a:r>
          </a:p>
          <a:p>
            <a:pPr algn="l">
              <a:lnSpc>
                <a:spcPct val="108000"/>
              </a:lnSpc>
              <a:spcAft>
                <a:spcPts val="960"/>
              </a:spcAft>
            </a:pPr>
            <a:r>
              <a:rPr sz="1600" b="0" i="0">
                <a:solidFill>
                  <a:srgbClr val="000000"/>
                </a:solidFill>
                <a:latin typeface="Arial"/>
              </a:rPr>
              <a:t>This local comparison narrows the central CRFR2 result to an accumbens-shell mechanism. The shell receives oxytocin-containing fibers, providing an anatomical substrate through which stress-related peptide signaling can alter an attachment-related neuromodulatory system.</a:t>
            </a:r>
          </a:p>
        </p:txBody>
      </p:sp>
      <p:pic>
        <p:nvPicPr>
          <p:cNvPr id="4" name="Picture 3" descr="b16_1.png"/>
          <p:cNvPicPr>
            <a:picLocks noChangeAspect="1"/>
          </p:cNvPicPr>
          <p:nvPr/>
        </p:nvPicPr>
        <p:blipFill>
          <a:blip r:embed="rId2"/>
          <a:stretch>
            <a:fillRect/>
          </a:stretch>
        </p:blipFill>
        <p:spPr>
          <a:xfrm>
            <a:off x="7382604" y="1280160"/>
            <a:ext cx="299792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1. Local CRFR2 manipulations change floating.</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CRFR2 activation shifts coping with the partner present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94045"/>
                </a:solidFill>
                <a:latin typeface="Arial"/>
              </a:rPr>
              <a:t>agonist</a:t>
            </a:r>
            <a:r>
              <a:rPr sz="1600" b="0" i="0">
                <a:solidFill>
                  <a:srgbClr val="000000"/>
                </a:solidFill>
                <a:latin typeface="Arial"/>
              </a:rPr>
              <a:t> activates a receptor and can reproduce part of its normal ligand's effect. Stresscopin was used to activate CRFR2 in the accumbens shell while paired and separated male voles were compared. The drug and vehicle infusions continued through the experimental period.</a:t>
            </a:r>
          </a:p>
          <a:p>
            <a:pPr algn="l">
              <a:lnSpc>
                <a:spcPct val="108000"/>
              </a:lnSpc>
              <a:spcAft>
                <a:spcPts val="960"/>
              </a:spcAft>
            </a:pPr>
            <a:r>
              <a:rPr sz="1600" b="0" i="0">
                <a:solidFill>
                  <a:srgbClr val="000000"/>
                </a:solidFill>
                <a:latin typeface="Arial"/>
              </a:rPr>
              <a:t>Stresscopin increased floating in males that still lived with their female partner. The antagonist produced the complementary reduction in floating after separation. Outside-target infusions supplied an anatomical comparison for the local effects.</a:t>
            </a:r>
          </a:p>
          <a:p>
            <a:pPr algn="l">
              <a:lnSpc>
                <a:spcPct val="108000"/>
              </a:lnSpc>
              <a:spcAft>
                <a:spcPts val="960"/>
              </a:spcAft>
            </a:pPr>
            <a:r>
              <a:rPr sz="1600" b="0" i="0">
                <a:solidFill>
                  <a:srgbClr val="000000"/>
                </a:solidFill>
                <a:latin typeface="Arial"/>
              </a:rPr>
              <a:t>These opposing manipulations connect accumbens CRFR2 activity to the balance of active and passive coping. Partner presence is ordinarily associated with lower floating, but experimentally increasing receptor activation can shift behavior even while that social condition remains intact.</a:t>
            </a:r>
          </a:p>
        </p:txBody>
      </p:sp>
      <p:pic>
        <p:nvPicPr>
          <p:cNvPr id="4" name="Picture 3" descr="b16_1.png"/>
          <p:cNvPicPr>
            <a:picLocks noChangeAspect="1"/>
          </p:cNvPicPr>
          <p:nvPr/>
        </p:nvPicPr>
        <p:blipFill>
          <a:blip r:embed="rId2"/>
          <a:stretch>
            <a:fillRect/>
          </a:stretch>
        </p:blipFill>
        <p:spPr>
          <a:xfrm>
            <a:off x="7382604" y="1280160"/>
            <a:ext cx="299792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1. CRFR2 activation and blockade have opposing effects.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Oxytocin receptor binding changes after partner loss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Oxytocin</a:t>
            </a:r>
            <a:r>
              <a:rPr sz="1600" b="0" i="0">
                <a:solidFill>
                  <a:srgbClr val="000000"/>
                </a:solidFill>
                <a:latin typeface="Arial"/>
              </a:rPr>
              <a:t> is a peptide made by hypothalamic neurons and released at sites involved in social behavior. Its receptor, </a:t>
            </a:r>
            <a:r>
              <a:rPr sz="1600" b="1" i="0">
                <a:solidFill>
                  <a:srgbClr val="594045"/>
                </a:solidFill>
                <a:latin typeface="Arial"/>
              </a:rPr>
              <a:t>OTR</a:t>
            </a:r>
            <a:r>
              <a:rPr sz="1600" b="0" i="0">
                <a:solidFill>
                  <a:srgbClr val="000000"/>
                </a:solidFill>
                <a:latin typeface="Arial"/>
              </a:rPr>
              <a:t>, permits target cells to respond to the peptide. Bosch and colleagues measured oxytocin transcripts in the paraventricular nucleus and receptor binding in the accumbens after partner separation.</a:t>
            </a:r>
          </a:p>
          <a:p>
            <a:pPr algn="l">
              <a:lnSpc>
                <a:spcPct val="108000"/>
              </a:lnSpc>
              <a:spcAft>
                <a:spcPts val="960"/>
              </a:spcAft>
            </a:pPr>
            <a:r>
              <a:rPr sz="1600" b="0" i="0">
                <a:solidFill>
                  <a:srgbClr val="000000"/>
                </a:solidFill>
                <a:latin typeface="Arial"/>
              </a:rPr>
              <a:t>The accumbens shell showed lower OTR binding after 3 days apart from the female partner. Binding in the accumbens core lacked the same difference. Female-partner and male-sibling conditions helped distinguish relationship-related changes from removal of any cage-mate.</a:t>
            </a:r>
          </a:p>
          <a:p>
            <a:pPr algn="l">
              <a:lnSpc>
                <a:spcPct val="108000"/>
              </a:lnSpc>
              <a:spcAft>
                <a:spcPts val="960"/>
              </a:spcAft>
            </a:pPr>
            <a:r>
              <a:rPr sz="1600" b="0" i="0">
                <a:solidFill>
                  <a:srgbClr val="000000"/>
                </a:solidFill>
                <a:latin typeface="Arial"/>
              </a:rPr>
              <a:t>The hypothalamic transcript decrease was weaker and depended on a planned comparison, so it should be treated as tentative. The regional receptor-binding result motivates testing whether changing oxytocin signaling within the shell directly changes the coping response.</a:t>
            </a:r>
          </a:p>
        </p:txBody>
      </p:sp>
      <p:pic>
        <p:nvPicPr>
          <p:cNvPr id="4" name="Picture 3" descr="b16_2top.png"/>
          <p:cNvPicPr>
            <a:picLocks noChangeAspect="1"/>
          </p:cNvPicPr>
          <p:nvPr/>
        </p:nvPicPr>
        <p:blipFill>
          <a:blip r:embed="rId2"/>
          <a:stretch>
            <a:fillRect/>
          </a:stretch>
        </p:blipFill>
        <p:spPr>
          <a:xfrm>
            <a:off x="7029907" y="1280160"/>
            <a:ext cx="37033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2(top). Oxytocin transcripts and receptor binding.</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Local oxytocin reverses separation-associated floating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Bosch and colleagues supplied synthetic oxytocin directly to the accumbens shell during partner separation. This manipulation increases peptide availability near local receptors instead of changing the amount of contact with the missing partner. Vehicle-treated males provided the comparison under the same separation condition.</a:t>
            </a:r>
          </a:p>
          <a:p>
            <a:pPr algn="l">
              <a:lnSpc>
                <a:spcPct val="108000"/>
              </a:lnSpc>
              <a:spcAft>
                <a:spcPts val="900"/>
              </a:spcAft>
            </a:pPr>
            <a:r>
              <a:rPr sz="1500" b="0" i="0">
                <a:solidFill>
                  <a:srgbClr val="000000"/>
                </a:solidFill>
                <a:latin typeface="Arial"/>
              </a:rPr>
              <a:t>Oxytocin infusion eliminated the increase in floating after separation. Conversely, blocking OTR increased floating in males that remained with their partner. The behavioral directions match an oxytocin contribution that favors more active coping in this preparation.</a:t>
            </a:r>
          </a:p>
          <a:p>
            <a:pPr algn="l">
              <a:lnSpc>
                <a:spcPct val="108000"/>
              </a:lnSpc>
              <a:spcAft>
                <a:spcPts val="900"/>
              </a:spcAft>
            </a:pPr>
            <a:r>
              <a:rPr sz="1500" b="0" i="0">
                <a:solidFill>
                  <a:srgbClr val="000000"/>
                </a:solidFill>
                <a:latin typeface="Arial"/>
              </a:rPr>
              <a:t>The local manipulations connect peptide availability, receptor activation, and behavior. Partner contact is one route associated with the oxytocin system, while experimentally restoring local signaling can modify a separation response even without restoring the social relationship during the treatment period.</a:t>
            </a:r>
          </a:p>
        </p:txBody>
      </p:sp>
      <p:pic>
        <p:nvPicPr>
          <p:cNvPr id="4" name="Picture 3" descr="b16_2mid.png"/>
          <p:cNvPicPr>
            <a:picLocks noChangeAspect="1"/>
          </p:cNvPicPr>
          <p:nvPr/>
        </p:nvPicPr>
        <p:blipFill>
          <a:blip r:embed="rId2"/>
          <a:stretch>
            <a:fillRect/>
          </a:stretch>
        </p:blipFill>
        <p:spPr>
          <a:xfrm>
            <a:off x="7661601" y="1280160"/>
            <a:ext cx="243993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2(middle). Oxytocin delivery and receptor blockade alter coping.</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Reducing accumbens OTR increases passive coping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RNA interference</a:t>
            </a:r>
            <a:r>
              <a:rPr sz="1500" b="0" i="0">
                <a:solidFill>
                  <a:srgbClr val="000000"/>
                </a:solidFill>
                <a:latin typeface="Arial"/>
              </a:rPr>
              <a:t> reduces expression of a selected gene by targeting its messenger RNA. Bosch and colleagues used a viral vector carrying a short hairpin RNA directed against the prairie vole oxytocin receptor. A scrambled sequence provided a control with the same delivery procedure but a different RNA target.</a:t>
            </a:r>
          </a:p>
          <a:p>
            <a:pPr algn="l">
              <a:lnSpc>
                <a:spcPct val="108000"/>
              </a:lnSpc>
              <a:spcAft>
                <a:spcPts val="900"/>
              </a:spcAft>
            </a:pPr>
            <a:r>
              <a:rPr sz="1500" b="0" i="0">
                <a:solidFill>
                  <a:srgbClr val="000000"/>
                </a:solidFill>
                <a:latin typeface="Arial"/>
              </a:rPr>
              <a:t>The treatment reduced receptor binding in the accumbens shell and immediate surroundings by about 63%. Binding in the caudate putamen and prefrontal cortex was preserved. Males with reduced accumbens OTR showed increased floating even during cohabitation with a female.</a:t>
            </a:r>
          </a:p>
          <a:p>
            <a:pPr algn="l">
              <a:lnSpc>
                <a:spcPct val="108000"/>
              </a:lnSpc>
              <a:spcAft>
                <a:spcPts val="900"/>
              </a:spcAft>
            </a:pPr>
            <a:r>
              <a:rPr sz="1500" b="0" i="0">
                <a:solidFill>
                  <a:srgbClr val="000000"/>
                </a:solidFill>
                <a:latin typeface="Arial"/>
              </a:rPr>
              <a:t>The genetic manipulation converges with local receptor blockade: lowering the capacity to respond to oxytocin changes coping while the partner remains available. Receptor abundance therefore participates in the local pathway linking the social environment to behavioral responses under challenge.</a:t>
            </a:r>
          </a:p>
        </p:txBody>
      </p:sp>
      <p:pic>
        <p:nvPicPr>
          <p:cNvPr id="4" name="Picture 3" descr="b16_2bottom.png"/>
          <p:cNvPicPr>
            <a:picLocks noChangeAspect="1"/>
          </p:cNvPicPr>
          <p:nvPr/>
        </p:nvPicPr>
        <p:blipFill>
          <a:blip r:embed="rId2"/>
          <a:stretch>
            <a:fillRect/>
          </a:stretch>
        </p:blipFill>
        <p:spPr>
          <a:xfrm>
            <a:off x="6767890" y="1280160"/>
            <a:ext cx="422735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2(bottom). Receptor knockdown and floating behavior.</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Hypothalamic oxytocin neurons also label for CRFR2</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94045"/>
                </a:solidFill>
                <a:latin typeface="Arial"/>
              </a:rPr>
              <a:t>paraventricular nucleus</a:t>
            </a:r>
            <a:r>
              <a:rPr sz="1600" b="0" i="0">
                <a:solidFill>
                  <a:srgbClr val="000000"/>
                </a:solidFill>
                <a:latin typeface="Arial"/>
              </a:rPr>
              <a:t>, or </a:t>
            </a:r>
            <a:r>
              <a:rPr sz="1600" b="1" i="0">
                <a:solidFill>
                  <a:srgbClr val="594045"/>
                </a:solidFill>
                <a:latin typeface="Arial"/>
              </a:rPr>
              <a:t>PVN</a:t>
            </a:r>
            <a:r>
              <a:rPr sz="1600" b="0" i="0">
                <a:solidFill>
                  <a:srgbClr val="000000"/>
                </a:solidFill>
                <a:latin typeface="Arial"/>
              </a:rPr>
              <a:t>, lies in the hypothalamus beside the third ventricle. Oxytocin-producing neurons have cell bodies and dendrites there. </a:t>
            </a:r>
            <a:r>
              <a:rPr sz="1600" b="1" i="0">
                <a:solidFill>
                  <a:srgbClr val="594045"/>
                </a:solidFill>
                <a:latin typeface="Arial"/>
              </a:rPr>
              <a:t>Immunofluorescence</a:t>
            </a:r>
            <a:r>
              <a:rPr sz="1600" b="0" i="0">
                <a:solidFill>
                  <a:srgbClr val="000000"/>
                </a:solidFill>
                <a:latin typeface="Arial"/>
              </a:rPr>
              <a:t> uses fluorescently labeled antibodies to locate a target molecule in fixed tissue, making the positions of two labels directly comparable.</a:t>
            </a:r>
          </a:p>
          <a:p>
            <a:pPr algn="l">
              <a:lnSpc>
                <a:spcPct val="108000"/>
              </a:lnSpc>
              <a:spcAft>
                <a:spcPts val="960"/>
              </a:spcAft>
            </a:pPr>
            <a:r>
              <a:rPr sz="1600" b="0" i="0">
                <a:solidFill>
                  <a:srgbClr val="000000"/>
                </a:solidFill>
                <a:latin typeface="Arial"/>
              </a:rPr>
              <a:t>Bosch and colleagues labeled oxytocin and CRFR2 in prairie vole PVN tissue. The labels overlapped in many oxytocin-positive cells, with receptor and peptide signals occupying related but nonidentical locations. The published panels preserve the cell distribution and a 20 µm scale bar.</a:t>
            </a:r>
          </a:p>
          <a:p>
            <a:pPr algn="l">
              <a:lnSpc>
                <a:spcPct val="108000"/>
              </a:lnSpc>
              <a:spcAft>
                <a:spcPts val="960"/>
              </a:spcAft>
            </a:pPr>
            <a:r>
              <a:rPr sz="1600" b="0" i="0">
                <a:solidFill>
                  <a:srgbClr val="000000"/>
                </a:solidFill>
                <a:latin typeface="Arial"/>
              </a:rPr>
              <a:t>The co-labeling supplies an anatomical basis for interactions between stress signaling and the oxytocin system. Receptor presence within this neuronal population motivated physiological recordings to determine how receptor activation changes its electrical inputs.</a:t>
            </a:r>
          </a:p>
        </p:txBody>
      </p:sp>
      <p:pic>
        <p:nvPicPr>
          <p:cNvPr id="4" name="Picture 3" descr="b16_3abc.png"/>
          <p:cNvPicPr>
            <a:picLocks noChangeAspect="1"/>
          </p:cNvPicPr>
          <p:nvPr/>
        </p:nvPicPr>
        <p:blipFill>
          <a:blip r:embed="rId2"/>
          <a:stretch>
            <a:fillRect/>
          </a:stretch>
        </p:blipFill>
        <p:spPr>
          <a:xfrm>
            <a:off x="6504127" y="1280160"/>
            <a:ext cx="5120640" cy="1226940"/>
          </a:xfrm>
          <a:prstGeom prst="rect">
            <a:avLst/>
          </a:prstGeom>
        </p:spPr>
      </p:pic>
      <p:sp>
        <p:nvSpPr>
          <p:cNvPr id="5" name="Figure caption"/>
          <p:cNvSpPr txBox="1"/>
          <p:nvPr/>
        </p:nvSpPr>
        <p:spPr>
          <a:xfrm>
            <a:off x="6504127" y="259854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3A–C. Oxytocin and CRFR2 labeling in the PVN.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Accumbens oxytocin fibers carry CRFR2 labeling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94045"/>
                </a:solidFill>
                <a:latin typeface="Arial"/>
              </a:rPr>
              <a:t>axon</a:t>
            </a:r>
            <a:r>
              <a:rPr sz="1600" b="0" i="0">
                <a:solidFill>
                  <a:srgbClr val="000000"/>
                </a:solidFill>
                <a:latin typeface="Arial"/>
              </a:rPr>
              <a:t> carries signals from a neuronal cell body toward its targets, and axonal branches distribute transmitter or peptide release across a target region. Sparse large-caliber oxytocin-positive fibers course through the prairie vole accumbens shell, bringing a hypothalamic peptide system into a motivated-behavior circuit.</a:t>
            </a:r>
          </a:p>
          <a:p>
            <a:pPr algn="l">
              <a:lnSpc>
                <a:spcPct val="108000"/>
              </a:lnSpc>
              <a:spcAft>
                <a:spcPts val="960"/>
              </a:spcAft>
            </a:pPr>
            <a:r>
              <a:rPr sz="1600" b="0" i="0">
                <a:solidFill>
                  <a:srgbClr val="000000"/>
                </a:solidFill>
                <a:latin typeface="Arial"/>
              </a:rPr>
              <a:t>The original tissue panels contain oxytocin and CRFR2 labeling along these fibers, including overlapping puncta. Their 20 µm scale bars place the labeled structures at the level of neuronal processes rather than whole brain subdivisions.</a:t>
            </a:r>
          </a:p>
          <a:p>
            <a:pPr algn="l">
              <a:lnSpc>
                <a:spcPct val="108000"/>
              </a:lnSpc>
              <a:spcAft>
                <a:spcPts val="960"/>
              </a:spcAft>
            </a:pPr>
            <a:r>
              <a:rPr sz="1600" b="0" i="0">
                <a:solidFill>
                  <a:srgbClr val="000000"/>
                </a:solidFill>
                <a:latin typeface="Arial"/>
              </a:rPr>
              <a:t>This arrangement supports the hypothesis that CRFR2 signaling can regulate oxytocin locally along its axonal pathway. The behavioral shell infusions and fiber labeling address the same region through complementary approaches: one manipulates signaling during coping, while the other identifies a candidate anatomical substrate.</a:t>
            </a:r>
          </a:p>
        </p:txBody>
      </p:sp>
      <p:pic>
        <p:nvPicPr>
          <p:cNvPr id="4" name="Picture 3" descr="b16_3def.png"/>
          <p:cNvPicPr>
            <a:picLocks noChangeAspect="1"/>
          </p:cNvPicPr>
          <p:nvPr/>
        </p:nvPicPr>
        <p:blipFill>
          <a:blip r:embed="rId2"/>
          <a:stretch>
            <a:fillRect/>
          </a:stretch>
        </p:blipFill>
        <p:spPr>
          <a:xfrm>
            <a:off x="6504127" y="1280160"/>
            <a:ext cx="5120640" cy="2225523"/>
          </a:xfrm>
          <a:prstGeom prst="rect">
            <a:avLst/>
          </a:prstGeom>
        </p:spPr>
      </p:pic>
      <p:sp>
        <p:nvSpPr>
          <p:cNvPr id="5" name="Figure caption"/>
          <p:cNvSpPr txBox="1"/>
          <p:nvPr/>
        </p:nvSpPr>
        <p:spPr>
          <a:xfrm>
            <a:off x="6504127" y="35971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3D–F. Co-labeled oxytocin fibers in the accumbens shell.</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 reporter identifies oxytocin neurons and their fibers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94045"/>
                </a:solidFill>
                <a:latin typeface="Arial"/>
              </a:rPr>
              <a:t>fluorescent reporter</a:t>
            </a:r>
            <a:r>
              <a:rPr sz="1600" b="0" i="0">
                <a:solidFill>
                  <a:srgbClr val="000000"/>
                </a:solidFill>
                <a:latin typeface="Arial"/>
              </a:rPr>
              <a:t> marks cells expressing a chosen genetic construct. Bosch and colleagues introduced a construct that expresses Venus in oxytocin neurons of the PVN. Labeling for both the reporter and oxytocin checks that the experimental marker identifies the intended neuronal population.</a:t>
            </a:r>
          </a:p>
          <a:p>
            <a:pPr algn="l">
              <a:lnSpc>
                <a:spcPct val="108000"/>
              </a:lnSpc>
              <a:spcAft>
                <a:spcPts val="960"/>
              </a:spcAft>
            </a:pPr>
            <a:r>
              <a:rPr sz="1600" b="0" i="0">
                <a:solidFill>
                  <a:srgbClr val="000000"/>
                </a:solidFill>
                <a:latin typeface="Arial"/>
              </a:rPr>
              <a:t>In the hypothalamus, Venus and oxytocin overlapped within a plume of labeled neurons. In the accumbens shell, reporter-positive fibers also overlapped with oxytocin labeling. The source panels use a 200 µm scale bar for the broader hypothalamic distribution and smaller scales for axonal labeling.</a:t>
            </a:r>
          </a:p>
          <a:p>
            <a:pPr algn="l">
              <a:lnSpc>
                <a:spcPct val="108000"/>
              </a:lnSpc>
              <a:spcAft>
                <a:spcPts val="960"/>
              </a:spcAft>
            </a:pPr>
            <a:r>
              <a:rPr sz="1600" b="0" i="0">
                <a:solidFill>
                  <a:srgbClr val="000000"/>
                </a:solidFill>
                <a:latin typeface="Arial"/>
              </a:rPr>
              <a:t>Reporter targeting connects identifiable cell bodies to fibers carrying the same peptide marker. It also makes living candidate oxytocin neurons visible during slice experiments, where investigators can record membrane currents from selected cells rather than from an unidentified mixture of hypothalamic neurons.</a:t>
            </a:r>
          </a:p>
        </p:txBody>
      </p:sp>
      <p:pic>
        <p:nvPicPr>
          <p:cNvPr id="4" name="Picture 3" descr="b16_3ghi.png"/>
          <p:cNvPicPr>
            <a:picLocks noChangeAspect="1"/>
          </p:cNvPicPr>
          <p:nvPr/>
        </p:nvPicPr>
        <p:blipFill>
          <a:blip r:embed="rId2"/>
          <a:stretch>
            <a:fillRect/>
          </a:stretch>
        </p:blipFill>
        <p:spPr>
          <a:xfrm>
            <a:off x="6504127" y="1280160"/>
            <a:ext cx="5120640" cy="2461771"/>
          </a:xfrm>
          <a:prstGeom prst="rect">
            <a:avLst/>
          </a:prstGeom>
        </p:spPr>
      </p:pic>
      <p:sp>
        <p:nvSpPr>
          <p:cNvPr id="5" name="Figure caption"/>
          <p:cNvSpPr txBox="1"/>
          <p:nvPr/>
        </p:nvSpPr>
        <p:spPr>
          <a:xfrm>
            <a:off x="6504127" y="38333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3G–I. Oxytocin and Venus labeling in the PVN.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Oxytocin reporter fibers reach the accumbens shell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hypothalamic reporter experiment also examined the accumbens shell, a target outside the injection site. Fibers labeled for Venus overlapped with oxytocin staining there. The 20 µm scale bars distinguish the sparse processes from the much larger PVN field examined in the same study.</a:t>
            </a:r>
          </a:p>
          <a:p>
            <a:pPr algn="l">
              <a:lnSpc>
                <a:spcPct val="108000"/>
              </a:lnSpc>
              <a:spcAft>
                <a:spcPts val="960"/>
              </a:spcAft>
            </a:pPr>
            <a:r>
              <a:rPr sz="1600" b="0" i="0">
                <a:solidFill>
                  <a:srgbClr val="000000"/>
                </a:solidFill>
                <a:latin typeface="Arial"/>
              </a:rPr>
              <a:t>This shared labeling links the hypothalamic targeting procedure to an oxytocin-containing projection field in the accumbens. It places the cells used for electrophysiology within the peptide system implicated by the local coping experiments.</a:t>
            </a:r>
          </a:p>
          <a:p>
            <a:pPr algn="l">
              <a:lnSpc>
                <a:spcPct val="108000"/>
              </a:lnSpc>
              <a:spcAft>
                <a:spcPts val="960"/>
              </a:spcAft>
            </a:pPr>
            <a:r>
              <a:rPr sz="1600" b="0" i="0">
                <a:solidFill>
                  <a:srgbClr val="000000"/>
                </a:solidFill>
                <a:latin typeface="Arial"/>
              </a:rPr>
              <a:t>The authors' hypothesis combines two possible regulatory sites: CRFR2 can influence the oxytocin population's excitatory drive in the PVN, and receptor labeling along accumbens fibers offers a second possible site for regulating local peptide availability. Both involve the same distributed neuronal system.</a:t>
            </a:r>
          </a:p>
        </p:txBody>
      </p:sp>
      <p:pic>
        <p:nvPicPr>
          <p:cNvPr id="4" name="Picture 3" descr="b16_3jkl.png"/>
          <p:cNvPicPr>
            <a:picLocks noChangeAspect="1"/>
          </p:cNvPicPr>
          <p:nvPr/>
        </p:nvPicPr>
        <p:blipFill>
          <a:blip r:embed="rId2"/>
          <a:stretch>
            <a:fillRect/>
          </a:stretch>
        </p:blipFill>
        <p:spPr>
          <a:xfrm>
            <a:off x="6504127" y="1280160"/>
            <a:ext cx="5120640" cy="1240547"/>
          </a:xfrm>
          <a:prstGeom prst="rect">
            <a:avLst/>
          </a:prstGeom>
        </p:spPr>
      </p:pic>
      <p:sp>
        <p:nvSpPr>
          <p:cNvPr id="5" name="Figure caption"/>
          <p:cNvSpPr txBox="1"/>
          <p:nvPr/>
        </p:nvSpPr>
        <p:spPr>
          <a:xfrm>
            <a:off x="6504127" y="26121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3J–L. Reporter and oxytocin co-labeling in accumbens fibers.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Microdialysis measures local oxytocin availability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Microdialysis</a:t>
            </a:r>
            <a:r>
              <a:rPr sz="1600" b="0" i="0">
                <a:solidFill>
                  <a:srgbClr val="000000"/>
                </a:solidFill>
                <a:latin typeface="Arial"/>
              </a:rPr>
              <a:t> samples extracellular molecules through a small probe membrane, allowing peptide concentrations to be measured near living brain tissue. Bosch and colleagues placed the probe in the accumbens shell and collected 30-minute samples before and after a central CRFR2 drug infusion.</a:t>
            </a:r>
          </a:p>
          <a:p>
            <a:pPr algn="l">
              <a:lnSpc>
                <a:spcPct val="108000"/>
              </a:lnSpc>
              <a:spcAft>
                <a:spcPts val="960"/>
              </a:spcAft>
            </a:pPr>
            <a:r>
              <a:rPr sz="1600" b="0" i="0">
                <a:solidFill>
                  <a:srgbClr val="000000"/>
                </a:solidFill>
                <a:latin typeface="Arial"/>
              </a:rPr>
              <a:t>Oxytocin in each sample was measured by radioimmunoassay, a binding-based method for detecting peptide concentration. Two pre-infusion samples defined the baseline, and later samples covered 90 minutes after infusion. The published graph expresses subsequent measurements relative to that baseline.</a:t>
            </a:r>
          </a:p>
          <a:p>
            <a:pPr algn="l">
              <a:lnSpc>
                <a:spcPct val="108000"/>
              </a:lnSpc>
              <a:spcAft>
                <a:spcPts val="960"/>
              </a:spcAft>
            </a:pPr>
            <a:r>
              <a:rPr sz="1600" b="0" i="0">
                <a:solidFill>
                  <a:srgbClr val="000000"/>
                </a:solidFill>
                <a:latin typeface="Arial"/>
              </a:rPr>
              <a:t>This temporal sampling connects receptor manipulation to local peptide availability. The signal averages release, movement, and removal over many minutes, so it represents extracellular oxytocin dynamics across a sampling interval rather than the firing of an individual oxytocin neuron.</a:t>
            </a:r>
          </a:p>
        </p:txBody>
      </p:sp>
      <p:pic>
        <p:nvPicPr>
          <p:cNvPr id="4" name="Picture 3" descr="b16_4.png"/>
          <p:cNvPicPr>
            <a:picLocks noChangeAspect="1"/>
          </p:cNvPicPr>
          <p:nvPr/>
        </p:nvPicPr>
        <p:blipFill>
          <a:blip r:embed="rId2"/>
          <a:stretch>
            <a:fillRect/>
          </a:stretch>
        </p:blipFill>
        <p:spPr>
          <a:xfrm>
            <a:off x="7260875" y="1280160"/>
            <a:ext cx="324138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4. Accumbens oxytocin measurements after CRFR2 drugs.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CRFR2 drugs shift sampled oxytocin in opposing directions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the microdialysis experiment, CRFR2 agonist treatment was associated with lower accumbens oxytocin relative to the preceding sample. The reported immediate decrease was about 24%, followed by a decrease of about 20% in the next interval. Vehicle infusion lacked a comparable directional change.</a:t>
            </a:r>
          </a:p>
          <a:p>
            <a:pPr algn="l">
              <a:lnSpc>
                <a:spcPct val="108000"/>
              </a:lnSpc>
              <a:spcAft>
                <a:spcPts val="900"/>
              </a:spcAft>
            </a:pPr>
            <a:r>
              <a:rPr sz="1500" b="0" i="0">
                <a:solidFill>
                  <a:srgbClr val="000000"/>
                </a:solidFill>
                <a:latin typeface="Arial"/>
              </a:rPr>
              <a:t>CRFR2 antagonist treatment was associated with an approximately 48% increase after a 30-minute delay. These estimates arose from planned within-group comparisons; the overall treatment-by-time analysis was inconclusive. The directional effect therefore remains tentative rather than a settled measurement of a complete release mechanism.</a:t>
            </a:r>
          </a:p>
          <a:p>
            <a:pPr algn="l">
              <a:lnSpc>
                <a:spcPct val="108000"/>
              </a:lnSpc>
              <a:spcAft>
                <a:spcPts val="900"/>
              </a:spcAft>
            </a:pPr>
            <a:r>
              <a:rPr sz="1500" b="0" i="0">
                <a:solidFill>
                  <a:srgbClr val="000000"/>
                </a:solidFill>
                <a:latin typeface="Arial"/>
              </a:rPr>
              <a:t>The authors proposed that increased CRFR2 signaling reduces the local oxytocin support for active coping. This hypothesis connects the sampled peptide changes to the opposing behavioral effects of receptor activation and blockade in the accumbens shell.</a:t>
            </a:r>
          </a:p>
        </p:txBody>
      </p:sp>
      <p:pic>
        <p:nvPicPr>
          <p:cNvPr id="4" name="Picture 3" descr="b16_4.png"/>
          <p:cNvPicPr>
            <a:picLocks noChangeAspect="1"/>
          </p:cNvPicPr>
          <p:nvPr/>
        </p:nvPicPr>
        <p:blipFill>
          <a:blip r:embed="rId2"/>
          <a:stretch>
            <a:fillRect/>
          </a:stretch>
        </p:blipFill>
        <p:spPr>
          <a:xfrm>
            <a:off x="7260875" y="1280160"/>
            <a:ext cx="324138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4. Opposing oxytocin changes after receptor manipulation.</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Selective labeling enables oxytocin-cell recordings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94045"/>
                </a:solidFill>
                <a:latin typeface="Arial"/>
              </a:rPr>
              <a:t>brain slice</a:t>
            </a:r>
            <a:r>
              <a:rPr sz="1500" b="0" i="0">
                <a:solidFill>
                  <a:srgbClr val="000000"/>
                </a:solidFill>
                <a:latin typeface="Arial"/>
              </a:rPr>
              <a:t> preserves local tissue and synaptic connections for electrical recording outside the animal. To target oxytocin neurons, Bosch and colleagues used Venus fluorescence in the PVN. Antibody labeling confirmed that reporter-positive neurons overlapped with oxytocin rather than with neighboring vasopressin-positive cells.</a:t>
            </a:r>
          </a:p>
          <a:p>
            <a:pPr algn="l">
              <a:lnSpc>
                <a:spcPct val="108000"/>
              </a:lnSpc>
              <a:spcAft>
                <a:spcPts val="900"/>
              </a:spcAft>
            </a:pPr>
            <a:r>
              <a:rPr sz="1500" b="1" i="0">
                <a:solidFill>
                  <a:srgbClr val="594045"/>
                </a:solidFill>
                <a:latin typeface="Arial"/>
              </a:rPr>
              <a:t>Patch-clamp recording</a:t>
            </a:r>
            <a:r>
              <a:rPr sz="1500" b="0" i="0">
                <a:solidFill>
                  <a:srgbClr val="000000"/>
                </a:solidFill>
                <a:latin typeface="Arial"/>
              </a:rPr>
              <a:t> creates an electrical connection through a fine pipette at the neuronal membrane. In voltage clamp, the experimenter controls membrane voltage and records the currents required to hold it there, allowing small incoming synaptic events to be measured.</a:t>
            </a:r>
          </a:p>
          <a:p>
            <a:pPr algn="l">
              <a:lnSpc>
                <a:spcPct val="108000"/>
              </a:lnSpc>
              <a:spcAft>
                <a:spcPts val="900"/>
              </a:spcAft>
            </a:pPr>
            <a:r>
              <a:rPr sz="1500" b="0" i="0">
                <a:solidFill>
                  <a:srgbClr val="000000"/>
                </a:solidFill>
                <a:latin typeface="Arial"/>
              </a:rPr>
              <a:t>Cell identification is essential because nearby peptide-producing neurons can have different functions. The reporter makes the physiological response attributable to the selected oxytocin population, connecting receptor pharmacology to a defined cell type in the hypothalamic source of the accumbens peptide pathway.</a:t>
            </a:r>
          </a:p>
        </p:txBody>
      </p:sp>
      <p:pic>
        <p:nvPicPr>
          <p:cNvPr id="4" name="Picture 3" descr="b16_5a.png"/>
          <p:cNvPicPr>
            <a:picLocks noChangeAspect="1"/>
          </p:cNvPicPr>
          <p:nvPr/>
        </p:nvPicPr>
        <p:blipFill>
          <a:blip r:embed="rId2"/>
          <a:stretch>
            <a:fillRect/>
          </a:stretch>
        </p:blipFill>
        <p:spPr>
          <a:xfrm>
            <a:off x="6504127" y="1280160"/>
            <a:ext cx="5120640" cy="2275839"/>
          </a:xfrm>
          <a:prstGeom prst="rect">
            <a:avLst/>
          </a:prstGeom>
        </p:spPr>
      </p:pic>
      <p:sp>
        <p:nvSpPr>
          <p:cNvPr id="5" name="Figure caption"/>
          <p:cNvSpPr txBox="1"/>
          <p:nvPr/>
        </p:nvSpPr>
        <p:spPr>
          <a:xfrm>
            <a:off x="6504127" y="36474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5A. Venus labeling distinguishes oxytocin from vasopressin cells.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CRFR2 activation reduces excitatory input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94045"/>
                </a:solidFill>
                <a:latin typeface="Arial"/>
              </a:rPr>
              <a:t>spontaneous excitatory postsynaptic current</a:t>
            </a:r>
            <a:r>
              <a:rPr sz="1600" b="0" i="0">
                <a:solidFill>
                  <a:srgbClr val="000000"/>
                </a:solidFill>
                <a:latin typeface="Arial"/>
              </a:rPr>
              <a:t>, or </a:t>
            </a:r>
            <a:r>
              <a:rPr sz="1600" b="1" i="0">
                <a:solidFill>
                  <a:srgbClr val="594045"/>
                </a:solidFill>
                <a:latin typeface="Arial"/>
              </a:rPr>
              <a:t>sEPSC</a:t>
            </a:r>
            <a:r>
              <a:rPr sz="1600" b="0" i="0">
                <a:solidFill>
                  <a:srgbClr val="000000"/>
                </a:solidFill>
                <a:latin typeface="Arial"/>
              </a:rPr>
              <a:t>, is an inward synaptic current recorded without deliberately stimulating an incoming axon. Its frequency describes how often detectable excitatory events arrive, while its amplitude describes the size of each event at the recorded membrane voltage.</a:t>
            </a:r>
          </a:p>
          <a:p>
            <a:pPr algn="l">
              <a:lnSpc>
                <a:spcPct val="108000"/>
              </a:lnSpc>
              <a:spcAft>
                <a:spcPts val="960"/>
              </a:spcAft>
            </a:pPr>
            <a:r>
              <a:rPr sz="1600" b="0" i="0">
                <a:solidFill>
                  <a:srgbClr val="000000"/>
                </a:solidFill>
                <a:latin typeface="Arial"/>
              </a:rPr>
              <a:t>Applying 200 nM stresscopin for 10 minutes reduced the mean sEPSC frequency in identified oxytocin neurons from about 6.64 to 4.76 Hz. Following washout, frequency recovered partly to about 5.83 Hz. Event amplitudes retained a similar distribution during treatment.</a:t>
            </a:r>
          </a:p>
          <a:p>
            <a:pPr algn="l">
              <a:lnSpc>
                <a:spcPct val="108000"/>
              </a:lnSpc>
              <a:spcAft>
                <a:spcPts val="960"/>
              </a:spcAft>
            </a:pPr>
            <a:r>
              <a:rPr sz="1600" b="0" i="0">
                <a:solidFill>
                  <a:srgbClr val="000000"/>
                </a:solidFill>
                <a:latin typeface="Arial"/>
              </a:rPr>
              <a:t>The frequency change means the cells received fewer excitatory events during receptor activation. The authors interpreted the combination of reduced frequency and stable amplitude as consistent with presynaptic regulation of excitatory drive, linking CRFR2 signaling to input onto the oxytocin-producing population.</a:t>
            </a:r>
          </a:p>
        </p:txBody>
      </p:sp>
      <p:pic>
        <p:nvPicPr>
          <p:cNvPr id="4" name="Picture 3" descr="b16_5bc.png"/>
          <p:cNvPicPr>
            <a:picLocks noChangeAspect="1"/>
          </p:cNvPicPr>
          <p:nvPr/>
        </p:nvPicPr>
        <p:blipFill>
          <a:blip r:embed="rId2"/>
          <a:stretch>
            <a:fillRect/>
          </a:stretch>
        </p:blipFill>
        <p:spPr>
          <a:xfrm>
            <a:off x="6504127" y="1280160"/>
            <a:ext cx="5120640" cy="3770982"/>
          </a:xfrm>
          <a:prstGeom prst="rect">
            <a:avLst/>
          </a:prstGeom>
        </p:spPr>
      </p:pic>
      <p:sp>
        <p:nvSpPr>
          <p:cNvPr id="5" name="Figure caption"/>
          <p:cNvSpPr txBox="1"/>
          <p:nvPr/>
        </p:nvSpPr>
        <p:spPr>
          <a:xfrm>
            <a:off x="6504127" y="51425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5B–C. Excitatory synaptic events during stresscopin exposure.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Synaptic input changes without a broad membrane shift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Intrinsic membrane properties</a:t>
            </a:r>
            <a:r>
              <a:rPr sz="1600" b="0" i="0">
                <a:solidFill>
                  <a:srgbClr val="000000"/>
                </a:solidFill>
                <a:latin typeface="Arial"/>
              </a:rPr>
              <a:t> describe how a neuron responds electrically apart from changes in its incoming synaptic activity. The Bosch study examined input resistance, membrane charging, action-potential threshold, and spike kinetics in reporter-positive PVN neurons during stresscopin exposure.</a:t>
            </a:r>
          </a:p>
          <a:p>
            <a:pPr algn="l">
              <a:lnSpc>
                <a:spcPct val="108000"/>
              </a:lnSpc>
              <a:spcAft>
                <a:spcPts val="960"/>
              </a:spcAft>
            </a:pPr>
            <a:r>
              <a:rPr sz="1600" b="0" i="0">
                <a:solidFill>
                  <a:srgbClr val="000000"/>
                </a:solidFill>
                <a:latin typeface="Arial"/>
              </a:rPr>
              <a:t>These intrinsic measures were broadly preserved at the tested 200 nM concentration. In contrast, excitatory events became less frequent and the distribution of intervals between events shifted toward longer gaps. Event amplitude was preserved, separating the timing of incoming excitation from its individual size.</a:t>
            </a:r>
          </a:p>
          <a:p>
            <a:pPr algn="l">
              <a:lnSpc>
                <a:spcPct val="108000"/>
              </a:lnSpc>
              <a:spcAft>
                <a:spcPts val="960"/>
              </a:spcAft>
            </a:pPr>
            <a:r>
              <a:rPr sz="1600" b="0" i="0">
                <a:solidFill>
                  <a:srgbClr val="000000"/>
                </a:solidFill>
                <a:latin typeface="Arial"/>
              </a:rPr>
              <a:t>The physiological response therefore centers on synaptic drive rather than a broad suppression of membrane excitability. The authors' proposed pathway links reduced excitation of oxytocin neurons with altered peptide support for active coping, alongside possible regulation at their accumbens fibers.</a:t>
            </a:r>
          </a:p>
        </p:txBody>
      </p:sp>
      <p:pic>
        <p:nvPicPr>
          <p:cNvPr id="4" name="Picture 3" descr="b16_5bc.png"/>
          <p:cNvPicPr>
            <a:picLocks noChangeAspect="1"/>
          </p:cNvPicPr>
          <p:nvPr/>
        </p:nvPicPr>
        <p:blipFill>
          <a:blip r:embed="rId2"/>
          <a:stretch>
            <a:fillRect/>
          </a:stretch>
        </p:blipFill>
        <p:spPr>
          <a:xfrm>
            <a:off x="6504127" y="1280160"/>
            <a:ext cx="5120640" cy="3770982"/>
          </a:xfrm>
          <a:prstGeom prst="rect">
            <a:avLst/>
          </a:prstGeom>
        </p:spPr>
      </p:pic>
      <p:sp>
        <p:nvSpPr>
          <p:cNvPr id="5" name="Figure caption"/>
          <p:cNvSpPr txBox="1"/>
          <p:nvPr/>
        </p:nvSpPr>
        <p:spPr>
          <a:xfrm>
            <a:off x="6504127" y="51425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Bosch et al. (2016), Fig. 5B–C. Event intervals and amplitudes under CRFR2 activation.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Established preference survives dopamine antagonism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Dopamine</a:t>
            </a:r>
            <a:r>
              <a:rPr sz="1600" b="0" i="0">
                <a:solidFill>
                  <a:srgbClr val="000000"/>
                </a:solidFill>
                <a:latin typeface="Arial"/>
              </a:rPr>
              <a:t> is a neuromodulator involved in motivation and reward-related behavior. Pierce and colleagues tested established prairie vole bonds using antagonists of D1-class and D2-class dopamine receptors. The partner preference test offered low-effort access to a partner and an unfamiliar animal.</a:t>
            </a:r>
          </a:p>
          <a:p>
            <a:pPr algn="l">
              <a:lnSpc>
                <a:spcPct val="108000"/>
              </a:lnSpc>
              <a:spcAft>
                <a:spcPts val="960"/>
              </a:spcAft>
            </a:pPr>
            <a:r>
              <a:rPr sz="1600" b="0" i="0">
                <a:solidFill>
                  <a:srgbClr val="000000"/>
                </a:solidFill>
                <a:latin typeface="Arial"/>
              </a:rPr>
              <a:t>Systemic SCH-23390 at 0.5 mg/kg blocked D1-class receptors, while eticlopride at 2 mg/kg targeted D2-class receptors. Neither treatment eliminated the established partner preference during the first test hour. D2 antagonism increased the proportion of partner huddling while also reducing locomotion.</a:t>
            </a:r>
          </a:p>
          <a:p>
            <a:pPr algn="l">
              <a:lnSpc>
                <a:spcPct val="108000"/>
              </a:lnSpc>
              <a:spcAft>
                <a:spcPts val="960"/>
              </a:spcAft>
            </a:pPr>
            <a:r>
              <a:rPr sz="1600" b="0" i="0">
                <a:solidFill>
                  <a:srgbClr val="000000"/>
                </a:solidFill>
                <a:latin typeface="Arial"/>
              </a:rPr>
              <a:t>The retained preference separates expression of an established social choice from dopamine-dependent processes engaged during bond formation or active seeking. Once access is freely available, selective contact can persist while receptor pharmacology changes other aspects of behavior.</a:t>
            </a:r>
          </a:p>
        </p:txBody>
      </p:sp>
      <p:pic>
        <p:nvPicPr>
          <p:cNvPr id="4" name="Picture 3" descr="p24_1.png"/>
          <p:cNvPicPr>
            <a:picLocks noChangeAspect="1"/>
          </p:cNvPicPr>
          <p:nvPr/>
        </p:nvPicPr>
        <p:blipFill>
          <a:blip r:embed="rId2"/>
          <a:stretch>
            <a:fillRect/>
          </a:stretch>
        </p:blipFill>
        <p:spPr>
          <a:xfrm>
            <a:off x="6504127" y="1280160"/>
            <a:ext cx="5120640" cy="2999452"/>
          </a:xfrm>
          <a:prstGeom prst="rect">
            <a:avLst/>
          </a:prstGeom>
        </p:spPr>
      </p:pic>
      <p:sp>
        <p:nvSpPr>
          <p:cNvPr id="5" name="Figure caption"/>
          <p:cNvSpPr txBox="1"/>
          <p:nvPr/>
        </p:nvSpPr>
        <p:spPr>
          <a:xfrm>
            <a:off x="6504127" y="43710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1A–H. Partner preference under D1- and D2-class antagonism.</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D1 blockade reduces effortful social seeking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94045"/>
                </a:solidFill>
                <a:latin typeface="Arial"/>
              </a:rPr>
              <a:t>operant task</a:t>
            </a:r>
            <a:r>
              <a:rPr sz="1600" b="0" i="0">
                <a:solidFill>
                  <a:srgbClr val="000000"/>
                </a:solidFill>
                <a:latin typeface="Arial"/>
              </a:rPr>
              <a:t> makes an outcome depend on an animal's action. In the Pierce study, female voles learned to press a lever to gain access to a partner or novel vole. Lever pressing measures willingness to perform an action for social access rather than preference when both animals are freely available.</a:t>
            </a:r>
          </a:p>
          <a:p>
            <a:pPr algn="l">
              <a:lnSpc>
                <a:spcPct val="108000"/>
              </a:lnSpc>
              <a:spcAft>
                <a:spcPts val="960"/>
              </a:spcAft>
            </a:pPr>
            <a:r>
              <a:rPr sz="1600" b="0" i="0">
                <a:solidFill>
                  <a:srgbClr val="000000"/>
                </a:solidFill>
                <a:latin typeface="Arial"/>
              </a:rPr>
              <a:t>After learning, systemic D1-class antagonism reduced pressing for both partner and novel access and increased the latency to press. Latency to enter the social chamber after opening was preserved. The drug therefore affected initiation of the access-seeking action more than subsequent entry.</a:t>
            </a:r>
          </a:p>
          <a:p>
            <a:pPr algn="l">
              <a:lnSpc>
                <a:spcPct val="108000"/>
              </a:lnSpc>
              <a:spcAft>
                <a:spcPts val="960"/>
              </a:spcAft>
            </a:pPr>
            <a:r>
              <a:rPr sz="1600" b="0" i="0">
                <a:solidFill>
                  <a:srgbClr val="000000"/>
                </a:solidFill>
                <a:latin typeface="Arial"/>
              </a:rPr>
              <a:t>This behavioral separation connects dopamine signaling to the appetitive phase of social interaction. </a:t>
            </a:r>
            <a:r>
              <a:rPr sz="1600" b="1" i="0">
                <a:solidFill>
                  <a:srgbClr val="594045"/>
                </a:solidFill>
                <a:latin typeface="Arial"/>
              </a:rPr>
              <a:t>Appetitive behavior</a:t>
            </a:r>
            <a:r>
              <a:rPr sz="1600" b="0" i="0">
                <a:solidFill>
                  <a:srgbClr val="000000"/>
                </a:solidFill>
                <a:latin typeface="Arial"/>
              </a:rPr>
              <a:t> obtains a desired outcome, whereas </a:t>
            </a:r>
            <a:r>
              <a:rPr sz="1600" b="1" i="0">
                <a:solidFill>
                  <a:srgbClr val="594045"/>
                </a:solidFill>
                <a:latin typeface="Arial"/>
              </a:rPr>
              <a:t>consummatory behavior</a:t>
            </a:r>
            <a:r>
              <a:rPr sz="1600" b="0" i="0">
                <a:solidFill>
                  <a:srgbClr val="000000"/>
                </a:solidFill>
                <a:latin typeface="Arial"/>
              </a:rPr>
              <a:t> occurs once it is available; lever pressing and freely available huddling engage different requirements.</a:t>
            </a:r>
          </a:p>
        </p:txBody>
      </p:sp>
      <p:pic>
        <p:nvPicPr>
          <p:cNvPr id="4" name="Picture 3" descr="p24_2fgh.png"/>
          <p:cNvPicPr>
            <a:picLocks noChangeAspect="1"/>
          </p:cNvPicPr>
          <p:nvPr/>
        </p:nvPicPr>
        <p:blipFill>
          <a:blip r:embed="rId2"/>
          <a:stretch>
            <a:fillRect/>
          </a:stretch>
        </p:blipFill>
        <p:spPr>
          <a:xfrm>
            <a:off x="6504127" y="1280160"/>
            <a:ext cx="5120640" cy="1682364"/>
          </a:xfrm>
          <a:prstGeom prst="rect">
            <a:avLst/>
          </a:prstGeom>
        </p:spPr>
      </p:pic>
      <p:sp>
        <p:nvSpPr>
          <p:cNvPr id="5" name="Figure caption"/>
          <p:cNvSpPr txBox="1"/>
          <p:nvPr/>
        </p:nvSpPr>
        <p:spPr>
          <a:xfrm>
            <a:off x="6504127" y="305396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2F–H. Lever pressing and response latencies under D1 blockade.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D2 blockade preserves pressing for social access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Pierce and colleagues compared D2-class antagonism with the D1-class manipulation using the learned social access task. The animal could earn encounters with either its partner or an unfamiliar vole, allowing receptor effects to be compared across two social outcomes under the same response requirement.</a:t>
            </a:r>
          </a:p>
          <a:p>
            <a:pPr algn="l">
              <a:lnSpc>
                <a:spcPct val="108000"/>
              </a:lnSpc>
              <a:spcAft>
                <a:spcPts val="960"/>
              </a:spcAft>
            </a:pPr>
            <a:r>
              <a:rPr sz="1600" b="0" i="0">
                <a:solidFill>
                  <a:srgbClr val="000000"/>
                </a:solidFill>
                <a:latin typeface="Arial"/>
              </a:rPr>
              <a:t>D2 blockade preserved lever pressing, latency to press, and latency to enter the social chamber. This contrasts with the reduction in pressing caused by D1 antagonism. D2 treatment nevertheless reduced locomotion in the separate partner preference test.</a:t>
            </a:r>
          </a:p>
          <a:p>
            <a:pPr algn="l">
              <a:lnSpc>
                <a:spcPct val="108000"/>
              </a:lnSpc>
              <a:spcAft>
                <a:spcPts val="960"/>
              </a:spcAft>
            </a:pPr>
            <a:r>
              <a:rPr sz="1600" b="0" i="0">
                <a:solidFill>
                  <a:srgbClr val="000000"/>
                </a:solidFill>
                <a:latin typeface="Arial"/>
              </a:rPr>
              <a:t>The receptor comparison distinguishes social seeking from a simple measure of overall movement. Reduced free locomotion under D2 treatment coexisted with retained operant responding, whereas D1 treatment reduced effortful social actions without broadly suppressing movement in the preference apparatus.</a:t>
            </a:r>
          </a:p>
        </p:txBody>
      </p:sp>
      <p:pic>
        <p:nvPicPr>
          <p:cNvPr id="4" name="Picture 3" descr="p24_2ijk.png"/>
          <p:cNvPicPr>
            <a:picLocks noChangeAspect="1"/>
          </p:cNvPicPr>
          <p:nvPr/>
        </p:nvPicPr>
        <p:blipFill>
          <a:blip r:embed="rId2"/>
          <a:stretch>
            <a:fillRect/>
          </a:stretch>
        </p:blipFill>
        <p:spPr>
          <a:xfrm>
            <a:off x="6504127" y="1280160"/>
            <a:ext cx="5120640" cy="1693261"/>
          </a:xfrm>
          <a:prstGeom prst="rect">
            <a:avLst/>
          </a:prstGeom>
        </p:spPr>
      </p:pic>
      <p:sp>
        <p:nvSpPr>
          <p:cNvPr id="5" name="Figure caption"/>
          <p:cNvSpPr txBox="1"/>
          <p:nvPr/>
        </p:nvSpPr>
        <p:spPr>
          <a:xfrm>
            <a:off x="6504127" y="306486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2I–K. Social operant behavior under D2 blockade.</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Barrier climbing also depends on D1-class signaling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Prairie voles will climb a mesh barrier to obtain access to a bonded partner. This response uses an immediate obstacle rather than a learned lever-action rule. Pierce and colleagues measured climbing attempts under vehicle, D1-class antagonist, and D2-class antagonist conditions.</a:t>
            </a:r>
          </a:p>
          <a:p>
            <a:pPr algn="l">
              <a:lnSpc>
                <a:spcPct val="108000"/>
              </a:lnSpc>
              <a:spcAft>
                <a:spcPts val="960"/>
              </a:spcAft>
            </a:pPr>
            <a:r>
              <a:rPr sz="1600" b="0" i="0">
                <a:solidFill>
                  <a:srgbClr val="000000"/>
                </a:solidFill>
                <a:latin typeface="Arial"/>
              </a:rPr>
              <a:t>D1 antagonism reduced attempts to climb, while D2 antagonism preserved them. The animals had an independently confirmed partner preference. Real photographs in the source document the climbing behavior, linking the access-seeking measure to the animal's physical actions.</a:t>
            </a:r>
          </a:p>
          <a:p>
            <a:pPr algn="l">
              <a:lnSpc>
                <a:spcPct val="108000"/>
              </a:lnSpc>
              <a:spcAft>
                <a:spcPts val="960"/>
              </a:spcAft>
            </a:pPr>
            <a:r>
              <a:rPr sz="1600" b="0" i="0">
                <a:solidFill>
                  <a:srgbClr val="000000"/>
                </a:solidFill>
                <a:latin typeface="Arial"/>
              </a:rPr>
              <a:t>The shared effect across climbing and lever pressing connects D1-class signaling to effortful social pursuit under different task demands. Both behaviors obtain contact, whereas huddling after unrestricted access can retain partner selectivity under the same broad receptor manipulation.</a:t>
            </a:r>
          </a:p>
        </p:txBody>
      </p:sp>
      <p:pic>
        <p:nvPicPr>
          <p:cNvPr id="4" name="Picture 3" descr="p24_2lmn.png"/>
          <p:cNvPicPr>
            <a:picLocks noChangeAspect="1"/>
          </p:cNvPicPr>
          <p:nvPr/>
        </p:nvPicPr>
        <p:blipFill>
          <a:blip r:embed="rId2"/>
          <a:stretch>
            <a:fillRect/>
          </a:stretch>
        </p:blipFill>
        <p:spPr>
          <a:xfrm>
            <a:off x="6504127" y="1280160"/>
            <a:ext cx="5120640" cy="1890415"/>
          </a:xfrm>
          <a:prstGeom prst="rect">
            <a:avLst/>
          </a:prstGeom>
        </p:spPr>
      </p:pic>
      <p:sp>
        <p:nvSpPr>
          <p:cNvPr id="5" name="Figure caption"/>
          <p:cNvSpPr txBox="1"/>
          <p:nvPr/>
        </p:nvSpPr>
        <p:spPr>
          <a:xfrm>
            <a:off x="6504127" y="326201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2L–N. Voles climb toward a partner under receptor treatments.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 fluorescent sensor tracks accumbens dopamine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GRABDA</a:t>
            </a:r>
            <a:r>
              <a:rPr sz="1600" b="0" i="0">
                <a:solidFill>
                  <a:srgbClr val="000000"/>
                </a:solidFill>
                <a:latin typeface="Arial"/>
              </a:rPr>
              <a:t> is a genetically encoded fluorescent sensor that changes its signal in response to dopamine. Pierce and colleagues expressed it in the accumbens shell and used an implanted optical fiber to collect fluorescence during social behavior. This </a:t>
            </a:r>
            <a:r>
              <a:rPr sz="1600" b="1" i="0">
                <a:solidFill>
                  <a:srgbClr val="594045"/>
                </a:solidFill>
                <a:latin typeface="Arial"/>
              </a:rPr>
              <a:t>fiber photometry</a:t>
            </a:r>
            <a:r>
              <a:rPr sz="1600" b="0" i="0">
                <a:solidFill>
                  <a:srgbClr val="000000"/>
                </a:solidFill>
                <a:latin typeface="Arial"/>
              </a:rPr>
              <a:t> measurement tracks a local population-level optical signal over time.</a:t>
            </a:r>
          </a:p>
          <a:p>
            <a:pPr algn="l">
              <a:lnSpc>
                <a:spcPct val="108000"/>
              </a:lnSpc>
              <a:spcAft>
                <a:spcPts val="960"/>
              </a:spcAft>
            </a:pPr>
            <a:r>
              <a:rPr sz="1600" b="0" i="0">
                <a:solidFill>
                  <a:srgbClr val="000000"/>
                </a:solidFill>
                <a:latin typeface="Arial"/>
              </a:rPr>
              <a:t>Histology verified sensor expression and the recording track within the intended region. A second fluorescent marker aided localization. The published micrographs preserve the accumbens tissue and 500 µm scale bars, connecting the recorded signal to the actual brain preparation.</a:t>
            </a:r>
          </a:p>
          <a:p>
            <a:pPr algn="l">
              <a:lnSpc>
                <a:spcPct val="108000"/>
              </a:lnSpc>
              <a:spcAft>
                <a:spcPts val="960"/>
              </a:spcAft>
            </a:pPr>
            <a:r>
              <a:rPr sz="1600" b="0" i="0">
                <a:solidFill>
                  <a:srgbClr val="000000"/>
                </a:solidFill>
                <a:latin typeface="Arial"/>
              </a:rPr>
              <a:t>The sensor allowed dopamine-related responses to be aligned to lever presentation, pressing, door opening, and chamber entry with subsecond timing. Event-resolved measurements separate motivation before access from the subsequent encounter with a partner or novel animal.</a:t>
            </a:r>
          </a:p>
        </p:txBody>
      </p:sp>
      <p:pic>
        <p:nvPicPr>
          <p:cNvPr id="4" name="Picture 3" descr="p24_3b.png"/>
          <p:cNvPicPr>
            <a:picLocks noChangeAspect="1"/>
          </p:cNvPicPr>
          <p:nvPr/>
        </p:nvPicPr>
        <p:blipFill>
          <a:blip r:embed="rId2"/>
          <a:stretch>
            <a:fillRect/>
          </a:stretch>
        </p:blipFill>
        <p:spPr>
          <a:xfrm>
            <a:off x="6504127" y="1280160"/>
            <a:ext cx="5120640" cy="4103147"/>
          </a:xfrm>
          <a:prstGeom prst="rect">
            <a:avLst/>
          </a:prstGeom>
        </p:spPr>
      </p:pic>
      <p:sp>
        <p:nvSpPr>
          <p:cNvPr id="5" name="Figure caption"/>
          <p:cNvSpPr txBox="1"/>
          <p:nvPr/>
        </p:nvSpPr>
        <p:spPr>
          <a:xfrm>
            <a:off x="6504127" y="54747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Sensor expression and recording track in the accumbens.</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Learning increases dopamine responses to access cues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social operant task, voles encountered a sequence of events: a lever appeared, a press earned access, a door opened, and the animal entered the social chamber. These events were time-stamped so dopamine-sensor fluorescence could be compared at equivalent moments on early and late training days.</a:t>
            </a:r>
          </a:p>
          <a:p>
            <a:pPr algn="l">
              <a:lnSpc>
                <a:spcPct val="108000"/>
              </a:lnSpc>
              <a:spcAft>
                <a:spcPts val="960"/>
              </a:spcAft>
            </a:pPr>
            <a:r>
              <a:rPr sz="1600" b="0" i="0">
                <a:solidFill>
                  <a:srgbClr val="000000"/>
                </a:solidFill>
                <a:latin typeface="Arial"/>
              </a:rPr>
              <a:t>By day 6, dopamine responses were greater around lever presentation, pressing, and chamber opening than on day 1. Chamber-entry responses were more stable across learning. The authors summarized event-associated fluorescence over the 2 seconds following each event.</a:t>
            </a:r>
          </a:p>
          <a:p>
            <a:pPr algn="l">
              <a:lnSpc>
                <a:spcPct val="108000"/>
              </a:lnSpc>
              <a:spcAft>
                <a:spcPts val="960"/>
              </a:spcAft>
            </a:pPr>
            <a:r>
              <a:rPr sz="1600" b="0" i="0">
                <a:solidFill>
                  <a:srgbClr val="000000"/>
                </a:solidFill>
                <a:latin typeface="Arial"/>
              </a:rPr>
              <a:t>The temporal redistribution links dopamine dynamics to learning that particular actions and cues predict social access. The signal changes before contact becomes available, connecting the access-seeking phase with anticipation of a social outcome.</a:t>
            </a:r>
          </a:p>
        </p:txBody>
      </p:sp>
      <p:pic>
        <p:nvPicPr>
          <p:cNvPr id="4" name="Picture 3" descr="p24_3jk.png"/>
          <p:cNvPicPr>
            <a:picLocks noChangeAspect="1"/>
          </p:cNvPicPr>
          <p:nvPr/>
        </p:nvPicPr>
        <p:blipFill>
          <a:blip r:embed="rId2"/>
          <a:stretch>
            <a:fillRect/>
          </a:stretch>
        </p:blipFill>
        <p:spPr>
          <a:xfrm>
            <a:off x="6426252" y="1280160"/>
            <a:ext cx="491062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3J–K. Event-aligned dopamine signals during task learning.</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Partner seeking evokes larger dopamine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Pierce and colleagues alternated blocks in which pressing earned access to the bonded partner or to a novel vole. Pressing rates and response latencies were similar for the two social targets once the task was learned, making it possible to compare neural signals during matched actions.</a:t>
            </a:r>
          </a:p>
          <a:p>
            <a:pPr algn="l">
              <a:lnSpc>
                <a:spcPct val="108000"/>
              </a:lnSpc>
              <a:spcAft>
                <a:spcPts val="960"/>
              </a:spcAft>
            </a:pPr>
            <a:r>
              <a:rPr sz="1600" b="0" i="0">
                <a:solidFill>
                  <a:srgbClr val="000000"/>
                </a:solidFill>
                <a:latin typeface="Arial"/>
              </a:rPr>
              <a:t>Partner-directed pressing and door opening elicited greater accumbens dopamine responses than the same events during novel trials. Differences were less evident at lever presentation and immediately after chamber entry. The effect therefore depended on the specific event within the access sequence.</a:t>
            </a:r>
          </a:p>
          <a:p>
            <a:pPr algn="l">
              <a:lnSpc>
                <a:spcPct val="108000"/>
              </a:lnSpc>
              <a:spcAft>
                <a:spcPts val="960"/>
              </a:spcAft>
            </a:pPr>
            <a:r>
              <a:rPr sz="1600" b="0" i="0">
                <a:solidFill>
                  <a:srgbClr val="000000"/>
                </a:solidFill>
                <a:latin typeface="Arial"/>
              </a:rPr>
              <a:t>The authors proposed that dopamine responses reflect the motivational value assigned to the bonded partner. Target identity changed the signal even when overt access-seeking performance was similar, providing a neural distinction that a simple count of lever presses would miss.</a:t>
            </a:r>
          </a:p>
        </p:txBody>
      </p:sp>
      <p:pic>
        <p:nvPicPr>
          <p:cNvPr id="4" name="Picture 3" descr="p24_4fg.png"/>
          <p:cNvPicPr>
            <a:picLocks noChangeAspect="1"/>
          </p:cNvPicPr>
          <p:nvPr/>
        </p:nvPicPr>
        <p:blipFill>
          <a:blip r:embed="rId2"/>
          <a:stretch>
            <a:fillRect/>
          </a:stretch>
        </p:blipFill>
        <p:spPr>
          <a:xfrm>
            <a:off x="7474494" y="1280160"/>
            <a:ext cx="281414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4F–G. Dopamine during partner and novel access events.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Four weeks apart reduces partner-associated dopamine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confirming the bond and recording stable operant performance, Pierce and colleagues separated pairs for 4 weeks. The same animals then completed a probe session with the familiar partner and a novel animal. This design compares the social signals of an individual before and after prolonged loss of contact.</a:t>
            </a:r>
          </a:p>
          <a:p>
            <a:pPr algn="l">
              <a:lnSpc>
                <a:spcPct val="108000"/>
              </a:lnSpc>
              <a:spcAft>
                <a:spcPts val="960"/>
              </a:spcAft>
            </a:pPr>
            <a:r>
              <a:rPr sz="1600" b="0" i="0">
                <a:solidFill>
                  <a:srgbClr val="000000"/>
                </a:solidFill>
                <a:latin typeface="Arial"/>
              </a:rPr>
              <a:t>Partner-associated dopamine responses decreased at lever presentation, door opening, and chamber entry. Pressing still occurred, although total presses fell and entry became slower. The relative dopamine advantage for partner over novel access was reduced.</a:t>
            </a:r>
          </a:p>
          <a:p>
            <a:pPr algn="l">
              <a:lnSpc>
                <a:spcPct val="108000"/>
              </a:lnSpc>
              <a:spcAft>
                <a:spcPts val="960"/>
              </a:spcAft>
            </a:pPr>
            <a:r>
              <a:rPr sz="1600" b="0" i="0">
                <a:solidFill>
                  <a:srgbClr val="000000"/>
                </a:solidFill>
                <a:latin typeface="Arial"/>
              </a:rPr>
              <a:t>The within-animal comparison connects prolonged separation to remodeling of partner-related reward signals. A previously distinctive social target elicited a smaller response at several access events, even though the vole could still execute the learned action sequence.</a:t>
            </a:r>
          </a:p>
        </p:txBody>
      </p:sp>
      <p:pic>
        <p:nvPicPr>
          <p:cNvPr id="4" name="Picture 3" descr="p24_4kl.png"/>
          <p:cNvPicPr>
            <a:picLocks noChangeAspect="1"/>
          </p:cNvPicPr>
          <p:nvPr/>
        </p:nvPicPr>
        <p:blipFill>
          <a:blip r:embed="rId2"/>
          <a:stretch>
            <a:fillRect/>
          </a:stretch>
        </p:blipFill>
        <p:spPr>
          <a:xfrm>
            <a:off x="7287830" y="1280160"/>
            <a:ext cx="318747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4K–L. Partner-event dopamine before and after separation.</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Novel-target responses remain comparatively stable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post-separation session retained novel-vole trials as well as trials with the former partner. These novel trials provided a comparison for the same recording preparation, task events, and time interval. The contrast tests whether prolonged separation changes every social dopamine response in the same direction.</a:t>
            </a:r>
          </a:p>
          <a:p>
            <a:pPr algn="l">
              <a:lnSpc>
                <a:spcPct val="108000"/>
              </a:lnSpc>
              <a:spcAft>
                <a:spcPts val="900"/>
              </a:spcAft>
            </a:pPr>
            <a:r>
              <a:rPr sz="1500" b="0" i="0">
                <a:solidFill>
                  <a:srgbClr val="000000"/>
                </a:solidFill>
                <a:latin typeface="Arial"/>
              </a:rPr>
              <a:t>Dopamine responses during novel-target lever presentation, pressing, chamber opening, and entry were comparatively stable across the separation interval. The reduction was concentrated in partner-associated responses rather than a uniform decrease across all recorded social events.</a:t>
            </a:r>
          </a:p>
          <a:p>
            <a:pPr algn="l">
              <a:lnSpc>
                <a:spcPct val="108000"/>
              </a:lnSpc>
              <a:spcAft>
                <a:spcPts val="900"/>
              </a:spcAft>
            </a:pPr>
            <a:r>
              <a:rPr sz="1500" b="0" i="0">
                <a:solidFill>
                  <a:srgbClr val="000000"/>
                </a:solidFill>
                <a:latin typeface="Arial"/>
              </a:rPr>
              <a:t>This target-specific pattern supports the authors' hypothesis of reduced partner-related motivational value. Continued sensor responses to novel access and continued task performance distinguish changes in social selectivity from a general loss of detectable fluorescence or complete disappearance of the learned task.</a:t>
            </a:r>
          </a:p>
        </p:txBody>
      </p:sp>
      <p:pic>
        <p:nvPicPr>
          <p:cNvPr id="4" name="Picture 3" descr="p24_4mn.png"/>
          <p:cNvPicPr>
            <a:picLocks noChangeAspect="1"/>
          </p:cNvPicPr>
          <p:nvPr/>
        </p:nvPicPr>
        <p:blipFill>
          <a:blip r:embed="rId2"/>
          <a:stretch>
            <a:fillRect/>
          </a:stretch>
        </p:blipFill>
        <p:spPr>
          <a:xfrm>
            <a:off x="7267299" y="1280160"/>
            <a:ext cx="322853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4M–N. Novel-event dopamine before and after separation.</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Partner contact loses its dopamine advantage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Direct contact investigation</a:t>
            </a:r>
            <a:r>
              <a:rPr sz="1500" b="0" i="0">
                <a:solidFill>
                  <a:srgbClr val="000000"/>
                </a:solidFill>
                <a:latin typeface="Arial"/>
              </a:rPr>
              <a:t> includes sniffing the other animal's head, body, and anogenital region. Pierce and colleagues scored these encounters after social chamber entry while recording dopamine-sensor fluorescence. Partner and novel investigations can thus be compared during similar types of physical contact.</a:t>
            </a:r>
          </a:p>
          <a:p>
            <a:pPr algn="l">
              <a:lnSpc>
                <a:spcPct val="108000"/>
              </a:lnSpc>
              <a:spcAft>
                <a:spcPts val="900"/>
              </a:spcAft>
            </a:pPr>
            <a:r>
              <a:rPr sz="1500" b="0" i="0">
                <a:solidFill>
                  <a:srgbClr val="000000"/>
                </a:solidFill>
                <a:latin typeface="Arial"/>
              </a:rPr>
              <a:t>Before separation, direct contact with the partner produced greater dopamine responses than comparable contact with a novel vole. After 4 weeks apart, that difference was absent. Contact investigation itself continued and its overall duration increased following separation.</a:t>
            </a:r>
          </a:p>
          <a:p>
            <a:pPr algn="l">
              <a:lnSpc>
                <a:spcPct val="108000"/>
              </a:lnSpc>
              <a:spcAft>
                <a:spcPts val="900"/>
              </a:spcAft>
            </a:pPr>
            <a:r>
              <a:rPr sz="1500" b="0" i="0">
                <a:solidFill>
                  <a:srgbClr val="000000"/>
                </a:solidFill>
                <a:latin typeface="Arial"/>
              </a:rPr>
              <a:t>The neural adaptation therefore accompanies a change in the relative signal attached to contact rather than elimination of social investigation. The same broad behavior can persist while its partner-specific dopamine association weakens, separating overt social engagement from selective reward signaling.</a:t>
            </a:r>
          </a:p>
        </p:txBody>
      </p:sp>
      <p:pic>
        <p:nvPicPr>
          <p:cNvPr id="4" name="Picture 3" descr="p24_5de.png"/>
          <p:cNvPicPr>
            <a:picLocks noChangeAspect="1"/>
          </p:cNvPicPr>
          <p:nvPr/>
        </p:nvPicPr>
        <p:blipFill>
          <a:blip r:embed="rId2"/>
          <a:stretch>
            <a:fillRect/>
          </a:stretch>
        </p:blipFill>
        <p:spPr>
          <a:xfrm>
            <a:off x="6138367" y="1280160"/>
            <a:ext cx="5486400" cy="1670787"/>
          </a:xfrm>
          <a:prstGeom prst="rect">
            <a:avLst/>
          </a:prstGeom>
        </p:spPr>
      </p:pic>
      <p:sp>
        <p:nvSpPr>
          <p:cNvPr id="5" name="Figure caption"/>
          <p:cNvSpPr txBox="1"/>
          <p:nvPr/>
        </p:nvSpPr>
        <p:spPr>
          <a:xfrm>
            <a:off x="6138367" y="304238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5D–E. Dopamine during direct social contact before and after loss.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Partner huddling persists as dopamine selectivity weakens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Huddling is sustained affiliative contact, distinct from brief sniffing or approach. Pierce and colleagues measured both huddling bouts and the dopamine response associated with huddle onset. Before separation, partner huddling produced a greater dopamine response than huddling with a novel vole.</a:t>
            </a:r>
          </a:p>
          <a:p>
            <a:pPr algn="l">
              <a:lnSpc>
                <a:spcPct val="108000"/>
              </a:lnSpc>
              <a:spcAft>
                <a:spcPts val="900"/>
              </a:spcAft>
            </a:pPr>
            <a:r>
              <a:rPr sz="1500" b="0" i="0">
                <a:solidFill>
                  <a:srgbClr val="000000"/>
                </a:solidFill>
                <a:latin typeface="Arial"/>
              </a:rPr>
              <a:t>After 4 weeks apart, the partner-specific neural difference disappeared. Nevertheless, animals retained a greater cumulative number of huddling bouts with the partner. Total huddle duration changed little, so bout counts and summed contact time described different aspects of social allocation.</a:t>
            </a:r>
          </a:p>
          <a:p>
            <a:pPr algn="l">
              <a:lnSpc>
                <a:spcPct val="108000"/>
              </a:lnSpc>
              <a:spcAft>
                <a:spcPts val="900"/>
              </a:spcAft>
            </a:pPr>
            <a:r>
              <a:rPr sz="1500" b="0" i="0">
                <a:solidFill>
                  <a:srgbClr val="000000"/>
                </a:solidFill>
                <a:latin typeface="Arial"/>
              </a:rPr>
              <a:t>Partner familiarity and some selective affiliation therefore persist while dopamine responses become less differentiated. The result teaches loss adaptation as a change in multiple components of a relationship, with neural reward selectivity and behavioral recognition following partially different trajectories.</a:t>
            </a:r>
          </a:p>
        </p:txBody>
      </p:sp>
      <p:pic>
        <p:nvPicPr>
          <p:cNvPr id="4" name="Picture 3" descr="p24_5hi.png"/>
          <p:cNvPicPr>
            <a:picLocks noChangeAspect="1"/>
          </p:cNvPicPr>
          <p:nvPr/>
        </p:nvPicPr>
        <p:blipFill>
          <a:blip r:embed="rId2"/>
          <a:stretch>
            <a:fillRect/>
          </a:stretch>
        </p:blipFill>
        <p:spPr>
          <a:xfrm>
            <a:off x="6138367" y="1280160"/>
            <a:ext cx="5486400" cy="1593076"/>
          </a:xfrm>
          <a:prstGeom prst="rect">
            <a:avLst/>
          </a:prstGeom>
        </p:spPr>
      </p:pic>
      <p:sp>
        <p:nvSpPr>
          <p:cNvPr id="5" name="Figure caption"/>
          <p:cNvSpPr txBox="1"/>
          <p:nvPr/>
        </p:nvSpPr>
        <p:spPr>
          <a:xfrm>
            <a:off x="6138367" y="29646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5H–I. Huddling-related dopamine before and after separation.</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Investigation without contact follows a different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Non-contact investigation</a:t>
            </a:r>
            <a:r>
              <a:rPr sz="1600" b="0" i="0">
                <a:solidFill>
                  <a:srgbClr val="000000"/>
                </a:solidFill>
                <a:latin typeface="Arial"/>
              </a:rPr>
              <a:t> occurs when a vole orients and sniffs toward another animal without direct physical contact. This distinguishes remote sampling from body investigation and huddling. Pierce and colleagues scored each behavior separately instead of combining all social activity into one total.</a:t>
            </a:r>
          </a:p>
          <a:p>
            <a:pPr algn="l">
              <a:lnSpc>
                <a:spcPct val="108000"/>
              </a:lnSpc>
              <a:spcAft>
                <a:spcPts val="960"/>
              </a:spcAft>
            </a:pPr>
            <a:r>
              <a:rPr sz="1600" b="0" i="0">
                <a:solidFill>
                  <a:srgbClr val="000000"/>
                </a:solidFill>
                <a:latin typeface="Arial"/>
              </a:rPr>
              <a:t>Before separation, non-contact investigation occurred more often toward novel animals, unlike the partner bias in direct contact and huddling. After separation, non-contact investigation became shorter and the difference in bout accumulation between targets was reduced.</a:t>
            </a:r>
          </a:p>
          <a:p>
            <a:pPr algn="l">
              <a:lnSpc>
                <a:spcPct val="108000"/>
              </a:lnSpc>
              <a:spcAft>
                <a:spcPts val="960"/>
              </a:spcAft>
            </a:pPr>
            <a:r>
              <a:rPr sz="1600" b="0" i="0">
                <a:solidFill>
                  <a:srgbClr val="000000"/>
                </a:solidFill>
                <a:latin typeface="Arial"/>
              </a:rPr>
              <a:t>Different social acts therefore organize around different features of an encounter. Novelty favors remote investigation, while familiarity favors close affiliative contact. Separation changes this behavioral allocation alongside the weakening of partner-associated dopamine responses measured during seeking and contact.</a:t>
            </a:r>
          </a:p>
        </p:txBody>
      </p:sp>
      <p:pic>
        <p:nvPicPr>
          <p:cNvPr id="4" name="Picture 3" descr="p24_5jk.png"/>
          <p:cNvPicPr>
            <a:picLocks noChangeAspect="1"/>
          </p:cNvPicPr>
          <p:nvPr/>
        </p:nvPicPr>
        <p:blipFill>
          <a:blip r:embed="rId2"/>
          <a:stretch>
            <a:fillRect/>
          </a:stretch>
        </p:blipFill>
        <p:spPr>
          <a:xfrm>
            <a:off x="6504127" y="1280160"/>
            <a:ext cx="5120640" cy="1579565"/>
          </a:xfrm>
          <a:prstGeom prst="rect">
            <a:avLst/>
          </a:prstGeom>
        </p:spPr>
      </p:pic>
      <p:sp>
        <p:nvSpPr>
          <p:cNvPr id="5" name="Figure caption"/>
          <p:cNvSpPr txBox="1"/>
          <p:nvPr/>
        </p:nvSpPr>
        <p:spPr>
          <a:xfrm>
            <a:off x="6504127" y="295116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5J–K. Non-contact investigation before and after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Partner preference can outlast prolonged separation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Sadino and colleagues paired male prairie voles with an opposite-sex partner or a same-sex sibling for 2 weeks. Partner preference was measured before separation and again after 48 hours or 4 weeks apart. Removed partners were housed in another room, eliminating ongoing contact through sight, smell, or sound.</a:t>
            </a:r>
          </a:p>
          <a:p>
            <a:pPr algn="l">
              <a:lnSpc>
                <a:spcPct val="108000"/>
              </a:lnSpc>
              <a:spcAft>
                <a:spcPts val="960"/>
              </a:spcAft>
            </a:pPr>
            <a:r>
              <a:rPr sz="1600" b="0" i="0">
                <a:solidFill>
                  <a:srgbClr val="000000"/>
                </a:solidFill>
                <a:latin typeface="Arial"/>
              </a:rPr>
              <a:t>Both opposite-sex and same-sex pairs retained greater huddling with the familiar animal than with a novel one after prolonged separation. The baseline affiliation was therefore more persistent than the authors had initially hypothesized.</a:t>
            </a:r>
          </a:p>
          <a:p>
            <a:pPr algn="l">
              <a:lnSpc>
                <a:spcPct val="108000"/>
              </a:lnSpc>
              <a:spcAft>
                <a:spcPts val="960"/>
              </a:spcAft>
            </a:pPr>
            <a:r>
              <a:rPr sz="1600" b="0" i="0">
                <a:solidFill>
                  <a:srgbClr val="000000"/>
                </a:solidFill>
                <a:latin typeface="Arial"/>
              </a:rPr>
              <a:t>This behavioral persistence provides a reference for interpreting molecular adaptation to loss. Changes in accumbens gene expression can occur while a familiar partner still attracts selective contact, so separation-related neural remodeling need not wait until the preference test becomes indifferent.</a:t>
            </a:r>
          </a:p>
        </p:txBody>
      </p:sp>
      <p:pic>
        <p:nvPicPr>
          <p:cNvPr id="4" name="Picture 3" descr="s23_1b.png"/>
          <p:cNvPicPr>
            <a:picLocks noChangeAspect="1"/>
          </p:cNvPicPr>
          <p:nvPr/>
        </p:nvPicPr>
        <p:blipFill>
          <a:blip r:embed="rId2"/>
          <a:stretch>
            <a:fillRect/>
          </a:stretch>
        </p:blipFill>
        <p:spPr>
          <a:xfrm>
            <a:off x="6504127" y="1280160"/>
            <a:ext cx="5120640" cy="2044224"/>
          </a:xfrm>
          <a:prstGeom prst="rect">
            <a:avLst/>
          </a:prstGeom>
        </p:spPr>
      </p:pic>
      <p:sp>
        <p:nvSpPr>
          <p:cNvPr id="5" name="Figure caption"/>
          <p:cNvSpPr txBox="1"/>
          <p:nvPr/>
        </p:nvSpPr>
        <p:spPr>
          <a:xfrm>
            <a:off x="6504127" y="341582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1B. Partner preference across pairing and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Continued cohabitation strengthens partner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Sadino and colleagues followed animals that remained together over the same interval used for the separation groups. This comparison distinguishes changes caused by prolonged separation from the ongoing maturation of a relationship during continued cohabitation.</a:t>
            </a:r>
          </a:p>
          <a:p>
            <a:pPr algn="l">
              <a:lnSpc>
                <a:spcPct val="108000"/>
              </a:lnSpc>
              <a:spcAft>
                <a:spcPts val="960"/>
              </a:spcAft>
            </a:pPr>
            <a:r>
              <a:rPr sz="1600" b="0" i="0">
                <a:solidFill>
                  <a:srgbClr val="000000"/>
                </a:solidFill>
                <a:latin typeface="Arial"/>
              </a:rPr>
              <a:t>Partner huddle duration increased over time in the remain-paired animals, while novel huddling changed little. Males separated from the partner lacked the same overall strengthening of partner-directed contact. Initial preference could persist even as its normal growth was interrupted.</a:t>
            </a:r>
          </a:p>
          <a:p>
            <a:pPr algn="l">
              <a:lnSpc>
                <a:spcPct val="108000"/>
              </a:lnSpc>
              <a:spcAft>
                <a:spcPts val="960"/>
              </a:spcAft>
            </a:pPr>
            <a:r>
              <a:rPr sz="1600" b="0" i="0">
                <a:solidFill>
                  <a:srgbClr val="000000"/>
                </a:solidFill>
                <a:latin typeface="Arial"/>
              </a:rPr>
              <a:t>Relationship maintenance therefore includes continued behavioral change rather than preservation of a single fixed score. Repeated cohabitation can increase selective contact, and partner removal can halt this trajectory while leaving the earlier familiar-partner preference measurable.</a:t>
            </a:r>
          </a:p>
        </p:txBody>
      </p:sp>
      <p:pic>
        <p:nvPicPr>
          <p:cNvPr id="4" name="Picture 3" descr="s23_1c.png"/>
          <p:cNvPicPr>
            <a:picLocks noChangeAspect="1"/>
          </p:cNvPicPr>
          <p:nvPr/>
        </p:nvPicPr>
        <p:blipFill>
          <a:blip r:embed="rId2"/>
          <a:stretch>
            <a:fillRect/>
          </a:stretch>
        </p:blipFill>
        <p:spPr>
          <a:xfrm>
            <a:off x="6504127" y="1280160"/>
            <a:ext cx="5120639" cy="1508433"/>
          </a:xfrm>
          <a:prstGeom prst="rect">
            <a:avLst/>
          </a:prstGeom>
        </p:spPr>
      </p:pic>
      <p:sp>
        <p:nvSpPr>
          <p:cNvPr id="5" name="Figure caption"/>
          <p:cNvSpPr txBox="1"/>
          <p:nvPr/>
        </p:nvSpPr>
        <p:spPr>
          <a:xfrm>
            <a:off x="6504127" y="288003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1C. Partner and novel huddling during continued pairing.</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Accumbens transcription remains stable during pairing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Transcription</a:t>
            </a:r>
            <a:r>
              <a:rPr sz="1500" b="0" i="0">
                <a:solidFill>
                  <a:srgbClr val="000000"/>
                </a:solidFill>
                <a:latin typeface="Arial"/>
              </a:rPr>
              <a:t> produces RNA from a gene, and </a:t>
            </a:r>
            <a:r>
              <a:rPr sz="1500" b="1" i="0">
                <a:solidFill>
                  <a:srgbClr val="594045"/>
                </a:solidFill>
                <a:latin typeface="Arial"/>
              </a:rPr>
              <a:t>RNA sequencing</a:t>
            </a:r>
            <a:r>
              <a:rPr sz="1500" b="0" i="0">
                <a:solidFill>
                  <a:srgbClr val="000000"/>
                </a:solidFill>
                <a:latin typeface="Arial"/>
              </a:rPr>
              <a:t> measures the representation of many transcripts in a tissue sample. Sadino and colleagues sampled the nucleus accumbens after 2 or 6 weeks of cohabitation, comparing opposite-sex pairs with same-sex pairs to identify expression differences associated with mating partnerships.</a:t>
            </a:r>
          </a:p>
          <a:p>
            <a:pPr algn="l">
              <a:lnSpc>
                <a:spcPct val="108000"/>
              </a:lnSpc>
              <a:spcAft>
                <a:spcPts val="900"/>
              </a:spcAft>
            </a:pPr>
            <a:r>
              <a:rPr sz="1500" b="0" i="0">
                <a:solidFill>
                  <a:srgbClr val="000000"/>
                </a:solidFill>
                <a:latin typeface="Arial"/>
              </a:rPr>
              <a:t>Patterns of relative transcript expression were similar at the two pairing durations. Genes elevated in opposite-sex pairs tended to remain elevated, while genes reduced relative to same-sex pairs retained that direction. The published heatmap summarizes these relationships across transcripts.</a:t>
            </a:r>
          </a:p>
          <a:p>
            <a:pPr algn="l">
              <a:lnSpc>
                <a:spcPct val="108000"/>
              </a:lnSpc>
              <a:spcAft>
                <a:spcPts val="900"/>
              </a:spcAft>
            </a:pPr>
            <a:r>
              <a:rPr sz="1500" b="0" i="0">
                <a:solidFill>
                  <a:srgbClr val="000000"/>
                </a:solidFill>
                <a:latin typeface="Arial"/>
              </a:rPr>
              <a:t>This consistent </a:t>
            </a:r>
            <a:r>
              <a:rPr sz="1500" b="1" i="0">
                <a:solidFill>
                  <a:srgbClr val="594045"/>
                </a:solidFill>
                <a:latin typeface="Arial"/>
              </a:rPr>
              <a:t>transcriptional signature</a:t>
            </a:r>
            <a:r>
              <a:rPr sz="1500" b="0" i="0">
                <a:solidFill>
                  <a:srgbClr val="000000"/>
                </a:solidFill>
                <a:latin typeface="Arial"/>
              </a:rPr>
              <a:t> provides a molecular reference for the intact bond. Subsequent separation-related changes can be evaluated against a pattern that normally persists during continued cohabitation rather than against an arbitrary single-timepoint sample.</a:t>
            </a:r>
          </a:p>
        </p:txBody>
      </p:sp>
      <p:pic>
        <p:nvPicPr>
          <p:cNvPr id="4" name="Picture 3" descr="s23_2d.png"/>
          <p:cNvPicPr>
            <a:picLocks noChangeAspect="1"/>
          </p:cNvPicPr>
          <p:nvPr/>
        </p:nvPicPr>
        <p:blipFill>
          <a:blip r:embed="rId2"/>
          <a:stretch>
            <a:fillRect/>
          </a:stretch>
        </p:blipFill>
        <p:spPr>
          <a:xfrm>
            <a:off x="6138367" y="1280160"/>
            <a:ext cx="5486400" cy="635807"/>
          </a:xfrm>
          <a:prstGeom prst="rect">
            <a:avLst/>
          </a:prstGeom>
        </p:spPr>
      </p:pic>
      <p:sp>
        <p:nvSpPr>
          <p:cNvPr id="5" name="Figure caption"/>
          <p:cNvSpPr txBox="1"/>
          <p:nvPr/>
        </p:nvSpPr>
        <p:spPr>
          <a:xfrm>
            <a:off x="6138367" y="200740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2D. Gene-expression differences at two pairing durations.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Bond-associated transcripts include glial processes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Glia</a:t>
            </a:r>
            <a:r>
              <a:rPr sz="1500" b="0" i="0">
                <a:solidFill>
                  <a:srgbClr val="000000"/>
                </a:solidFill>
                <a:latin typeface="Arial"/>
              </a:rPr>
              <a:t> are non-neuronal brain cells that support, regulate, and interact with neurons. Tissue-level RNA sequencing includes glial transcripts as well as neuronal ones. Sadino and colleagues analyzed which biological processes were associated with the genes differing between opposite-sex and same-sex paired males.</a:t>
            </a:r>
          </a:p>
          <a:p>
            <a:pPr algn="l">
              <a:lnSpc>
                <a:spcPct val="108000"/>
              </a:lnSpc>
              <a:spcAft>
                <a:spcPts val="900"/>
              </a:spcAft>
            </a:pPr>
            <a:r>
              <a:rPr sz="1500" b="0" i="0">
                <a:solidFill>
                  <a:srgbClr val="000000"/>
                </a:solidFill>
                <a:latin typeface="Arial"/>
              </a:rPr>
              <a:t>Elevated transcripts in opposite-sex pairs were associated with glial differentiation and related developmental processes. Other transcript groups implicated synaptic organization and vesicle docking, the positioning of transmitter-containing vesicles for release at synapses.</a:t>
            </a:r>
          </a:p>
          <a:p>
            <a:pPr algn="l">
              <a:lnSpc>
                <a:spcPct val="108000"/>
              </a:lnSpc>
              <a:spcAft>
                <a:spcPts val="900"/>
              </a:spcAft>
            </a:pPr>
            <a:r>
              <a:rPr sz="1500" b="0" i="0">
                <a:solidFill>
                  <a:srgbClr val="000000"/>
                </a:solidFill>
                <a:latin typeface="Arial"/>
              </a:rPr>
              <a:t>The expression profile therefore distributes across several cellular functions rather than a single peptide receptor. The authors proposed a glial contribution to bond-associated accumbens adaptation, motivating a second analysis that isolates neuronal transcripts from the mixed-cell tissue measurement.</a:t>
            </a:r>
          </a:p>
        </p:txBody>
      </p:sp>
      <p:pic>
        <p:nvPicPr>
          <p:cNvPr id="4" name="Picture 3" descr="s23_2h.png"/>
          <p:cNvPicPr>
            <a:picLocks noChangeAspect="1"/>
          </p:cNvPicPr>
          <p:nvPr/>
        </p:nvPicPr>
        <p:blipFill>
          <a:blip r:embed="rId2"/>
          <a:stretch>
            <a:fillRect/>
          </a:stretch>
        </p:blipFill>
        <p:spPr>
          <a:xfrm>
            <a:off x="6833187" y="1280160"/>
            <a:ext cx="409675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2H. Biological processes associated with bond-related genes.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Short separation preserves much of the bond signature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Sadino and colleagues compared the intact-bond expression pattern with accumbens samples collected after 48 hours or 4 weeks of separation. Both separation groups began with the same 2-week pairing period, allowing the duration without the partner to define the later comparison.</a:t>
            </a:r>
          </a:p>
          <a:p>
            <a:pPr algn="l">
              <a:lnSpc>
                <a:spcPct val="108000"/>
              </a:lnSpc>
              <a:spcAft>
                <a:spcPts val="960"/>
              </a:spcAft>
            </a:pPr>
            <a:r>
              <a:rPr sz="1600" b="0" i="0">
                <a:solidFill>
                  <a:srgbClr val="000000"/>
                </a:solidFill>
                <a:latin typeface="Arial"/>
              </a:rPr>
              <a:t>After 48 hours, many transcripts retained directions of change consistent with the intact bond. The same pattern was much less concordant after 4 weeks. </a:t>
            </a:r>
            <a:r>
              <a:rPr sz="1600" b="1" i="0">
                <a:solidFill>
                  <a:srgbClr val="594045"/>
                </a:solidFill>
                <a:latin typeface="Arial"/>
              </a:rPr>
              <a:t>Concordance</a:t>
            </a:r>
            <a:r>
              <a:rPr sz="1600" b="0" i="0">
                <a:solidFill>
                  <a:srgbClr val="000000"/>
                </a:solidFill>
                <a:latin typeface="Arial"/>
              </a:rPr>
              <a:t> here means that genes tending to be elevated or reduced in the bond also tend to change in the same direction in the comparison condition.</a:t>
            </a:r>
          </a:p>
          <a:p>
            <a:pPr algn="l">
              <a:lnSpc>
                <a:spcPct val="108000"/>
              </a:lnSpc>
              <a:spcAft>
                <a:spcPts val="960"/>
              </a:spcAft>
            </a:pPr>
            <a:r>
              <a:rPr sz="1600" b="0" i="0">
                <a:solidFill>
                  <a:srgbClr val="000000"/>
                </a:solidFill>
                <a:latin typeface="Arial"/>
              </a:rPr>
              <a:t>The molecular adaptation develops across time rather than appearing as an immediate complete erasure. A short absence preserves much of the coordinated expression pattern, while prolonged absence reorganizes it despite continued behavioral preference for the familiar partner.</a:t>
            </a:r>
          </a:p>
        </p:txBody>
      </p:sp>
      <p:pic>
        <p:nvPicPr>
          <p:cNvPr id="4" name="Picture 3" descr="s23_3e.png"/>
          <p:cNvPicPr>
            <a:picLocks noChangeAspect="1"/>
          </p:cNvPicPr>
          <p:nvPr/>
        </p:nvPicPr>
        <p:blipFill>
          <a:blip r:embed="rId2"/>
          <a:stretch>
            <a:fillRect/>
          </a:stretch>
        </p:blipFill>
        <p:spPr>
          <a:xfrm>
            <a:off x="6138367" y="1280160"/>
            <a:ext cx="5486400" cy="2142544"/>
          </a:xfrm>
          <a:prstGeom prst="rect">
            <a:avLst/>
          </a:prstGeom>
        </p:spPr>
      </p:pic>
      <p:sp>
        <p:nvSpPr>
          <p:cNvPr id="5" name="Figure caption"/>
          <p:cNvSpPr txBox="1"/>
          <p:nvPr/>
        </p:nvSpPr>
        <p:spPr>
          <a:xfrm>
            <a:off x="6138367" y="351414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3E. Transcriptional concordance after short and long separation.</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Prolonged loss erodes coordinated expression patterns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Transcriptional erosion</a:t>
            </a:r>
            <a:r>
              <a:rPr sz="1600" b="0" i="0">
                <a:solidFill>
                  <a:srgbClr val="000000"/>
                </a:solidFill>
                <a:latin typeface="Arial"/>
              </a:rPr>
              <a:t> in the Sadino study means weakening or reversal of the expression pattern associated with an intact pair bond. It describes coordinated differences across RNA measurements, rather than a literal loss of brain tissue or disappearance of every transcript.</a:t>
            </a:r>
          </a:p>
          <a:p>
            <a:pPr algn="l">
              <a:lnSpc>
                <a:spcPct val="108000"/>
              </a:lnSpc>
              <a:spcAft>
                <a:spcPts val="960"/>
              </a:spcAft>
            </a:pPr>
            <a:r>
              <a:rPr sz="1600" b="0" i="0">
                <a:solidFill>
                  <a:srgbClr val="000000"/>
                </a:solidFill>
                <a:latin typeface="Arial"/>
              </a:rPr>
              <a:t>Some genes elevated during pairing and short separation became reduced after prolonged separation. A complementary group that was reduced during the intact bond shifted in the opposite direction. The published heatmaps retain the source's expression scales and display the two trajectories separately.</a:t>
            </a:r>
          </a:p>
          <a:p>
            <a:pPr algn="l">
              <a:lnSpc>
                <a:spcPct val="108000"/>
              </a:lnSpc>
              <a:spcAft>
                <a:spcPts val="960"/>
              </a:spcAft>
            </a:pPr>
            <a:r>
              <a:rPr sz="1600" b="0" i="0">
                <a:solidFill>
                  <a:srgbClr val="000000"/>
                </a:solidFill>
                <a:latin typeface="Arial"/>
              </a:rPr>
              <a:t>The adaptation therefore involves bidirectional reorganization of the accumbens molecular state. Both previously elevated and previously reduced transcript groups change over time, linking social loss to a broad remodeling process instead of a single uniform decrease in gene activity.</a:t>
            </a:r>
          </a:p>
        </p:txBody>
      </p:sp>
      <p:pic>
        <p:nvPicPr>
          <p:cNvPr id="4" name="Picture 3" descr="s23_3hi.png"/>
          <p:cNvPicPr>
            <a:picLocks noChangeAspect="1"/>
          </p:cNvPicPr>
          <p:nvPr/>
        </p:nvPicPr>
        <p:blipFill>
          <a:blip r:embed="rId2"/>
          <a:stretch>
            <a:fillRect/>
          </a:stretch>
        </p:blipFill>
        <p:spPr>
          <a:xfrm>
            <a:off x="6138367" y="1280160"/>
            <a:ext cx="5486400" cy="707564"/>
          </a:xfrm>
          <a:prstGeom prst="rect">
            <a:avLst/>
          </a:prstGeom>
        </p:spPr>
      </p:pic>
      <p:sp>
        <p:nvSpPr>
          <p:cNvPr id="5" name="Figure caption"/>
          <p:cNvSpPr txBox="1"/>
          <p:nvPr/>
        </p:nvSpPr>
        <p:spPr>
          <a:xfrm>
            <a:off x="6138367" y="207916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3H–I. Eroded gene groups across bonding and separation.</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Loss alters glial and synaptic expression programs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Sadino and colleagues identified biological processes associated with transcript groups whose bond-related pattern eroded after separation. This analysis groups genes by known functional annotations, allowing a coordinated expression change to be related to candidate cellular functions rather than to isolated gene names.</a:t>
            </a:r>
          </a:p>
          <a:p>
            <a:pPr algn="l">
              <a:lnSpc>
                <a:spcPct val="108000"/>
              </a:lnSpc>
              <a:spcAft>
                <a:spcPts val="900"/>
              </a:spcAft>
            </a:pPr>
            <a:r>
              <a:rPr sz="1500" b="0" i="0">
                <a:solidFill>
                  <a:srgbClr val="000000"/>
                </a:solidFill>
                <a:latin typeface="Arial"/>
              </a:rPr>
              <a:t>The eroded groups included glial-associated processes, synapse organization, and vesicle docking. Proposed upstream regulators included factors involved in developmental signaling and cellular regulation. These are associations within the expression analysis, not direct measurements of synapse number or transmitter release.</a:t>
            </a:r>
          </a:p>
          <a:p>
            <a:pPr algn="l">
              <a:lnSpc>
                <a:spcPct val="108000"/>
              </a:lnSpc>
              <a:spcAft>
                <a:spcPts val="900"/>
              </a:spcAft>
            </a:pPr>
            <a:r>
              <a:rPr sz="1500" b="0" i="0">
                <a:solidFill>
                  <a:srgbClr val="000000"/>
                </a:solidFill>
                <a:latin typeface="Arial"/>
              </a:rPr>
              <a:t>The authors' hypothesis is that the accumbens gradually reorganizes functions supporting the intact bond as the animal adapts to prolonged absence. Separating annotated functions from directly measured physiology keeps the cellular interpretation tied to what RNA sequencing actually samples.</a:t>
            </a:r>
          </a:p>
        </p:txBody>
      </p:sp>
      <p:pic>
        <p:nvPicPr>
          <p:cNvPr id="4" name="Picture 3" descr="s23_3jk.png"/>
          <p:cNvPicPr>
            <a:picLocks noChangeAspect="1"/>
          </p:cNvPicPr>
          <p:nvPr/>
        </p:nvPicPr>
        <p:blipFill>
          <a:blip r:embed="rId2"/>
          <a:stretch>
            <a:fillRect/>
          </a:stretch>
        </p:blipFill>
        <p:spPr>
          <a:xfrm>
            <a:off x="6138367" y="1280160"/>
            <a:ext cx="5486400" cy="2463717"/>
          </a:xfrm>
          <a:prstGeom prst="rect">
            <a:avLst/>
          </a:prstGeom>
        </p:spPr>
      </p:pic>
      <p:sp>
        <p:nvSpPr>
          <p:cNvPr id="5" name="Figure caption"/>
          <p:cNvSpPr txBox="1"/>
          <p:nvPr/>
        </p:nvSpPr>
        <p:spPr>
          <a:xfrm>
            <a:off x="6138367" y="383531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3J–K. Processes associated with eroded bond-related transcripts.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Neuron-enriched transcripts separate mixed-cell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Translating ribosome affinity purification</a:t>
            </a:r>
            <a:r>
              <a:rPr sz="1500" b="0" i="0">
                <a:solidFill>
                  <a:srgbClr val="000000"/>
                </a:solidFill>
                <a:latin typeface="Arial"/>
              </a:rPr>
              <a:t>, adapted for voles as </a:t>
            </a:r>
            <a:r>
              <a:rPr sz="1500" b="1" i="0">
                <a:solidFill>
                  <a:srgbClr val="594045"/>
                </a:solidFill>
                <a:latin typeface="Arial"/>
              </a:rPr>
              <a:t>vTRAP</a:t>
            </a:r>
            <a:r>
              <a:rPr sz="1500" b="0" i="0">
                <a:solidFill>
                  <a:srgbClr val="000000"/>
                </a:solidFill>
                <a:latin typeface="Arial"/>
              </a:rPr>
              <a:t>, isolates messenger RNAs attached to genetically tagged ribosomes in selected cells. Ribosomes are the cellular structures that build proteins from RNA instructions. A neuron-selective construct allowed Sadino and colleagues to enrich transcripts being translated in neurons.</a:t>
            </a:r>
          </a:p>
          <a:p>
            <a:pPr algn="l">
              <a:lnSpc>
                <a:spcPct val="108000"/>
              </a:lnSpc>
              <a:spcAft>
                <a:spcPts val="900"/>
              </a:spcAft>
            </a:pPr>
            <a:r>
              <a:rPr sz="1500" b="0" i="0">
                <a:solidFill>
                  <a:srgbClr val="000000"/>
                </a:solidFill>
                <a:latin typeface="Arial"/>
              </a:rPr>
              <a:t>The enriched transcript set included dopamine-receptor and other neuronal genes, while reducing the contribution of glial-associated transcripts. Comparison with a rat accumbens single-nucleus dataset placed the selected genes predominantly in neuronal cell classes, including </a:t>
            </a:r>
            <a:r>
              <a:rPr sz="1500" b="1" i="0">
                <a:solidFill>
                  <a:srgbClr val="594045"/>
                </a:solidFill>
                <a:latin typeface="Arial"/>
              </a:rPr>
              <a:t>medium spiny neurons</a:t>
            </a:r>
            <a:r>
              <a:rPr sz="1500" b="0" i="0">
                <a:solidFill>
                  <a:srgbClr val="000000"/>
                </a:solidFill>
                <a:latin typeface="Arial"/>
              </a:rPr>
              <a:t>, striatal projection cells with spine-bearing dendrites.</a:t>
            </a:r>
          </a:p>
          <a:p>
            <a:pPr algn="l">
              <a:lnSpc>
                <a:spcPct val="108000"/>
              </a:lnSpc>
              <a:spcAft>
                <a:spcPts val="900"/>
              </a:spcAft>
            </a:pPr>
            <a:r>
              <a:rPr sz="1500" b="0" i="0">
                <a:solidFill>
                  <a:srgbClr val="000000"/>
                </a:solidFill>
                <a:latin typeface="Arial"/>
              </a:rPr>
              <a:t>This cellular separation complements tissue-level sequencing. Mixed accumbens tissue reveals the overall social-loss signature, while neuron-enriched analysis resolves expression programs that might otherwise be obscured by the strong glial component of the bond-associated pattern.</a:t>
            </a:r>
          </a:p>
        </p:txBody>
      </p:sp>
      <p:pic>
        <p:nvPicPr>
          <p:cNvPr id="4" name="Picture 3" descr="s23_4e.png"/>
          <p:cNvPicPr>
            <a:picLocks noChangeAspect="1"/>
          </p:cNvPicPr>
          <p:nvPr/>
        </p:nvPicPr>
        <p:blipFill>
          <a:blip r:embed="rId2"/>
          <a:stretch>
            <a:fillRect/>
          </a:stretch>
        </p:blipFill>
        <p:spPr>
          <a:xfrm>
            <a:off x="7607905" y="1280160"/>
            <a:ext cx="254732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4E. Cell-type expression of neuron-enriched transcripts.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Neuronal gene programs follow different loss timescales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94045"/>
                </a:solidFill>
                <a:latin typeface="Arial"/>
              </a:rPr>
              <a:t>gene-expression cluster</a:t>
            </a:r>
            <a:r>
              <a:rPr sz="1500" b="0" i="0">
                <a:solidFill>
                  <a:srgbClr val="000000"/>
                </a:solidFill>
                <a:latin typeface="Arial"/>
              </a:rPr>
              <a:t> groups transcripts with related trajectories across experimental conditions. Sadino and colleagues identified three neuronal clusters with distinct changes across intact pairing, short separation, and long separation. The trajectories distinguish early responses to loss from later molecular adaptation.</a:t>
            </a:r>
          </a:p>
          <a:p>
            <a:pPr algn="l">
              <a:lnSpc>
                <a:spcPct val="108000"/>
              </a:lnSpc>
              <a:spcAft>
                <a:spcPts val="900"/>
              </a:spcAft>
            </a:pPr>
            <a:r>
              <a:rPr sz="1500" b="0" i="0">
                <a:solidFill>
                  <a:srgbClr val="000000"/>
                </a:solidFill>
                <a:latin typeface="Arial"/>
              </a:rPr>
              <a:t>One cluster rose during bonding and short separation but declined after prolonged loss. Another increased rapidly after separation and included dopamine-related genes such as Drd1a and Drd2. A third increased mainly after long separation and was associated with mitochondrial and other metabolic processes.</a:t>
            </a:r>
          </a:p>
          <a:p>
            <a:pPr algn="l">
              <a:lnSpc>
                <a:spcPct val="108000"/>
              </a:lnSpc>
              <a:spcAft>
                <a:spcPts val="900"/>
              </a:spcAft>
            </a:pPr>
            <a:r>
              <a:rPr sz="1500" b="0" i="0">
                <a:solidFill>
                  <a:srgbClr val="000000"/>
                </a:solidFill>
                <a:latin typeface="Arial"/>
              </a:rPr>
              <a:t>The neuronal response therefore contains both signaling-related and cellular-energy components. The authors proposed that these temporally distinct programs participate in loss adaptation and readiness for future bonding, rather than treating every transcript change as the same acute stress response.</a:t>
            </a:r>
          </a:p>
        </p:txBody>
      </p:sp>
      <p:pic>
        <p:nvPicPr>
          <p:cNvPr id="4" name="Picture 3" descr="s23_4g.png"/>
          <p:cNvPicPr>
            <a:picLocks noChangeAspect="1"/>
          </p:cNvPicPr>
          <p:nvPr/>
        </p:nvPicPr>
        <p:blipFill>
          <a:blip r:embed="rId2"/>
          <a:stretch>
            <a:fillRect/>
          </a:stretch>
        </p:blipFill>
        <p:spPr>
          <a:xfrm>
            <a:off x="6138367" y="1280160"/>
            <a:ext cx="5486400" cy="1349000"/>
          </a:xfrm>
          <a:prstGeom prst="rect">
            <a:avLst/>
          </a:prstGeom>
        </p:spPr>
      </p:pic>
      <p:sp>
        <p:nvSpPr>
          <p:cNvPr id="5" name="Figure caption"/>
          <p:cNvSpPr txBox="1"/>
          <p:nvPr/>
        </p:nvSpPr>
        <p:spPr>
          <a:xfrm>
            <a:off x="6138367" y="27206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4G. Functional annotations of three neuronal gene clusters.</a:t>
            </a:r>
          </a:p>
        </p:txBody>
      </p:sp>
      <p:pic>
        <p:nvPicPr>
          <p:cNvPr id="6" name="Picture 5" descr="p24_3b.png"/>
          <p:cNvPicPr>
            <a:picLocks noChangeAspect="1"/>
          </p:cNvPicPr>
          <p:nvPr/>
        </p:nvPicPr>
        <p:blipFill>
          <a:blip r:embed="rId3"/>
          <a:stretch>
            <a:fillRect/>
          </a:stretch>
        </p:blipFill>
        <p:spPr>
          <a:xfrm>
            <a:off x="7968646" y="4297680"/>
            <a:ext cx="182584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3B. Histological localization in the accumbens shell.</a:t>
            </a:r>
          </a:p>
        </p:txBody>
      </p:sp>
      <p:sp>
        <p:nvSpPr>
          <p:cNvPr id="8" name="Rectangle 7"/>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Pierce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Social loss separates coping, reward, and affiliation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Prairie vole partner separation engages several experimentally distinguishable responses. Within days, male coping behavior changes with CRF and oxytocin manipulations. Over weeks, accumbens dopamine responses to a partner weaken and bond-associated transcript patterns reorganize. These findings describe different physiological measurements and social tasks.</a:t>
            </a:r>
          </a:p>
          <a:p>
            <a:pPr algn="l">
              <a:lnSpc>
                <a:spcPct val="108000"/>
              </a:lnSpc>
              <a:spcAft>
                <a:spcPts val="900"/>
              </a:spcAft>
            </a:pPr>
            <a:r>
              <a:rPr sz="1500" b="0" i="0">
                <a:solidFill>
                  <a:srgbClr val="000000"/>
                </a:solidFill>
                <a:latin typeface="Arial"/>
              </a:rPr>
              <a:t>The Sadino study nevertheless found continued familiar-partner preference after 4 weeks apart. Pierce and colleagues also observed retained partner-biased contact bouts despite reduced partner-specific dopamine responses. Selective affiliation therefore persists alongside changes in reward signaling and molecular state.</a:t>
            </a:r>
          </a:p>
          <a:p>
            <a:pPr algn="l">
              <a:lnSpc>
                <a:spcPct val="108000"/>
              </a:lnSpc>
              <a:spcAft>
                <a:spcPts val="900"/>
              </a:spcAft>
            </a:pPr>
            <a:r>
              <a:rPr sz="1500" b="0" i="0">
                <a:solidFill>
                  <a:srgbClr val="000000"/>
                </a:solidFill>
                <a:latin typeface="Arial"/>
              </a:rPr>
              <a:t>Loss adaptation is a coordinated but uneven process across the attachment system. Stress-related coping, motivation to obtain contact, recognition of a familiar animal, and accumbens cellular programs each supply a distinct part of the biological account of separation.</a:t>
            </a:r>
          </a:p>
        </p:txBody>
      </p:sp>
      <p:pic>
        <p:nvPicPr>
          <p:cNvPr id="4" name="Picture 3" descr="s23_1de.png"/>
          <p:cNvPicPr>
            <a:picLocks noChangeAspect="1"/>
          </p:cNvPicPr>
          <p:nvPr/>
        </p:nvPicPr>
        <p:blipFill>
          <a:blip r:embed="rId2"/>
          <a:stretch>
            <a:fillRect/>
          </a:stretch>
        </p:blipFill>
        <p:spPr>
          <a:xfrm>
            <a:off x="6504127" y="1280160"/>
            <a:ext cx="5120639" cy="1734881"/>
          </a:xfrm>
          <a:prstGeom prst="rect">
            <a:avLst/>
          </a:prstGeom>
        </p:spPr>
      </p:pic>
      <p:sp>
        <p:nvSpPr>
          <p:cNvPr id="5" name="Figure caption"/>
          <p:cNvSpPr txBox="1"/>
          <p:nvPr/>
        </p:nvSpPr>
        <p:spPr>
          <a:xfrm>
            <a:off x="6504127" y="31064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1D–E. Partner and novel huddling following separation.</a:t>
            </a:r>
          </a:p>
        </p:txBody>
      </p:sp>
      <p:sp>
        <p:nvSpPr>
          <p:cNvPr id="6" name="Rectangle 5"/>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 2016); Pierce et al. (2024); Sadino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5"/>
                </a:solidFill>
                <a:latin typeface="Arial"/>
              </a:rPr>
              <a:t>Key takeaways</a:t>
            </a:r>
          </a:p>
        </p:txBody>
      </p:sp>
      <p:sp>
        <p:nvSpPr>
          <p:cNvPr id="3" name="Rectangle 2"/>
          <p:cNvSpPr/>
          <p:nvPr/>
        </p:nvSpPr>
        <p:spPr>
          <a:xfrm>
            <a:off x="566928" y="1234440"/>
            <a:ext cx="5391759" cy="1478279"/>
          </a:xfrm>
          <a:prstGeom prst="rect">
            <a:avLst/>
          </a:prstGeom>
          <a:solidFill>
            <a:srgbClr val="F6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Relationship specificity</a:t>
            </a:r>
            <a:r>
              <a:rPr sz="1600" b="0" i="0">
                <a:solidFill>
                  <a:srgbClr val="000000"/>
                </a:solidFill>
                <a:latin typeface="Arial"/>
              </a:rPr>
              <a:t> Female-partner separation increases passive coping more clearly than sibling separation in the male vole preparation.</a:t>
            </a:r>
          </a:p>
        </p:txBody>
      </p:sp>
      <p:sp>
        <p:nvSpPr>
          <p:cNvPr id="5" name="Rectangle 4"/>
          <p:cNvSpPr/>
          <p:nvPr/>
        </p:nvSpPr>
        <p:spPr>
          <a:xfrm>
            <a:off x="6233007" y="1234440"/>
            <a:ext cx="5391759" cy="1478279"/>
          </a:xfrm>
          <a:prstGeom prst="rect">
            <a:avLst/>
          </a:prstGeom>
          <a:solidFill>
            <a:srgbClr val="F6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CRF and oxytocin</a:t>
            </a:r>
            <a:r>
              <a:rPr sz="1600" b="0" i="0">
                <a:solidFill>
                  <a:srgbClr val="000000"/>
                </a:solidFill>
                <a:latin typeface="Arial"/>
              </a:rPr>
              <a:t> Accumbens-shell CRFR2 activation favors passive coping, while local oxytocin signaling supports more active coping.</a:t>
            </a:r>
          </a:p>
        </p:txBody>
      </p:sp>
      <p:sp>
        <p:nvSpPr>
          <p:cNvPr id="7" name="Rectangle 6"/>
          <p:cNvSpPr/>
          <p:nvPr/>
        </p:nvSpPr>
        <p:spPr>
          <a:xfrm>
            <a:off x="566928" y="2987040"/>
            <a:ext cx="5391759" cy="1478279"/>
          </a:xfrm>
          <a:prstGeom prst="rect">
            <a:avLst/>
          </a:prstGeom>
          <a:solidFill>
            <a:srgbClr val="F6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Defined neuronal inputs</a:t>
            </a:r>
            <a:r>
              <a:rPr sz="1600" b="0" i="0">
                <a:solidFill>
                  <a:srgbClr val="000000"/>
                </a:solidFill>
                <a:latin typeface="Arial"/>
              </a:rPr>
              <a:t> CRFR2 activation reduces excitatory-event frequency in identified hypothalamic oxytocin neurons while broadly preserving intrinsic membrane properties.</a:t>
            </a:r>
          </a:p>
        </p:txBody>
      </p:sp>
      <p:sp>
        <p:nvSpPr>
          <p:cNvPr id="9" name="Rectangle 8"/>
          <p:cNvSpPr/>
          <p:nvPr/>
        </p:nvSpPr>
        <p:spPr>
          <a:xfrm>
            <a:off x="6233007" y="2987040"/>
            <a:ext cx="5391759" cy="1478279"/>
          </a:xfrm>
          <a:prstGeom prst="rect">
            <a:avLst/>
          </a:prstGeom>
          <a:solidFill>
            <a:srgbClr val="F6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Seeking versus contact</a:t>
            </a:r>
            <a:r>
              <a:rPr sz="1600" b="0" i="0">
                <a:solidFill>
                  <a:srgbClr val="000000"/>
                </a:solidFill>
                <a:latin typeface="Arial"/>
              </a:rPr>
              <a:t> D1-class signaling supports effortful social seeking, while an established low-effort partner preference can survive receptor antagonism.</a:t>
            </a:r>
          </a:p>
        </p:txBody>
      </p:sp>
      <p:sp>
        <p:nvSpPr>
          <p:cNvPr id="11" name="Rectangle 10"/>
          <p:cNvSpPr/>
          <p:nvPr/>
        </p:nvSpPr>
        <p:spPr>
          <a:xfrm>
            <a:off x="566928" y="4739640"/>
            <a:ext cx="5391759" cy="1478279"/>
          </a:xfrm>
          <a:prstGeom prst="rect">
            <a:avLst/>
          </a:prstGeom>
          <a:solidFill>
            <a:srgbClr val="F6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5"/>
                </a:solidFill>
                <a:latin typeface="Arial"/>
              </a:rPr>
              <a:t>Partner-related dopamine</a:t>
            </a:r>
            <a:r>
              <a:rPr sz="1600" b="0" i="0">
                <a:solidFill>
                  <a:srgbClr val="000000"/>
                </a:solidFill>
                <a:latin typeface="Arial"/>
              </a:rPr>
              <a:t> Prolonged separation reduces the dopamine advantage associated with partner seeking and contact, alongside continued social engagement.</a:t>
            </a:r>
          </a:p>
        </p:txBody>
      </p:sp>
      <p:sp>
        <p:nvSpPr>
          <p:cNvPr id="13" name="Rectangle 12"/>
          <p:cNvSpPr/>
          <p:nvPr/>
        </p:nvSpPr>
        <p:spPr>
          <a:xfrm>
            <a:off x="6233007" y="4739640"/>
            <a:ext cx="5391759" cy="1478279"/>
          </a:xfrm>
          <a:prstGeom prst="rect">
            <a:avLst/>
          </a:prstGeom>
          <a:solidFill>
            <a:srgbClr val="F6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94045"/>
                </a:solidFill>
                <a:latin typeface="Arial"/>
              </a:rPr>
              <a:t>Time-dependent remodeling</a:t>
            </a:r>
            <a:r>
              <a:rPr sz="1500" b="0" i="0">
                <a:solidFill>
                  <a:srgbClr val="000000"/>
                </a:solidFill>
                <a:latin typeface="Arial"/>
              </a:rPr>
              <a:t> Accumbens bond-related transcription erodes across prolonged separation; neuronal signaling and metabolic programs follow different trajectories while familiar-partner preference can persist.</a:t>
            </a:r>
          </a:p>
        </p:txBody>
      </p:sp>
      <p:sp>
        <p:nvSpPr>
          <p:cNvPr id="15" name="Rectangle 14"/>
          <p:cNvSpPr/>
          <p:nvPr/>
        </p:nvSpPr>
        <p:spPr>
          <a:xfrm>
            <a:off x="566928" y="6382512"/>
            <a:ext cx="11057839" cy="9144"/>
          </a:xfrm>
          <a:prstGeom prst="rect">
            <a:avLst/>
          </a:prstGeom>
          <a:solidFill>
            <a:srgbClr val="DDD0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Bosch et al. (2009, 2016); Pierce et al. (2024); Sadino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Prairie voles III: partner separation, stress signaling, and behavioral and nucleus accumbens adaptations following social loss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