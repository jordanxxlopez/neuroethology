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Insect vision II: jumping spider eyes and predatory tracking (Land)</a:t>
            </a:r>
          </a:p>
          <a:p>
            <a:r>
              <a:t>Lecture 12. NEUR 411 · NEUROETHOLOGY · FALL 2026. Monday, September 21,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Land MF (1969b). Movements of the retinae of jumping spiders (Salticidae: Dendryphantinae) in response to visual stimuli. Journal of Experimental Biology 51: 471–493. https://doi.org/10.1242/jeb.51.2.471</a:t>
            </a:r>
          </a:p>
          <a:p/>
          <a:p>
            <a:r>
              <a:t>Forster LM (1977). A qualitative analysis of hunting behaviour in jumping spiders (Araneae: Salticidae). New Zealand Journal of Zoology 4: 51–62. https://doi.org/10.1080/03014223.1977.9517936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Forster LM (1977). A qualitative analysis of hunting behaviour in jumping spiders (Araneae: Salticidae). New Zealand Journal of Zoology 4: 51–62. https://doi.org/10.1080/03014223.1977.9517936</a:t>
            </a:r>
          </a:p>
          <a:p/>
          <a:p>
            <a:r>
              <a:t>Figure: Hunting sequence of salticids: response patterns and their motor elements. Diagram drawn from the classification in Forster (1977).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(1985). Fields of view of the eyes of primitive jumping spiders. Journal of Experimental Biology 119: 381–384. https://doi.org/10.1242/jeb.119.1.381</a:t>
            </a:r>
          </a:p>
          <a:p/>
          <a:p>
            <a:r>
              <a:t>Zurek DB, Nelson XJ (2012a). Hyperacute motion detection by the lateral eyes of jumping spiders. Vision Research 66: 26–30. https://doi.org/10.1016/j.visres.2012.06.011</a:t>
            </a:r>
          </a:p>
          <a:p/>
          <a:p>
            <a:r>
              <a:t>Land MF (1969a). Structure of the retinae of the principal eyes of jumping spiders (Salticidae: Dendryphantinae) in relation to visual optics. Journal of Experimental Biology 51: 443–470. https://doi.org/10.1242/jeb.51.2.443</a:t>
            </a:r>
          </a:p>
          <a:p/>
          <a:p>
            <a:r>
              <a:t>Figure: Schematic top view of the visual fields. ALE field (±50°) from Zurek &amp; Nelson (2012a); secondary-eye coverage and principal-eye scanning from Land (1985) and Land (1969b).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(1985). Fields of view of the eyes of primitive jumping spiders. Journal of Experimental Biology 119: 381–384. https://doi.org/10.1242/jeb.119.1.381</a:t>
            </a:r>
          </a:p>
          <a:p/>
          <a:p>
            <a:r>
              <a:t>Figure: Angular sampling of salticid eyes. Values re-plotted from Land (1985), Land (1969a; minimum spacing 11 arcmin) and Cerveira et al. (2021; 12.4 arcmin).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Williams DS, McIntyre P (1980). The principal eyes of a jumping spider have a telephoto component. Nature 288: 578–580. https://doi.org/10.1038/288578a0</a:t>
            </a:r>
          </a:p>
          <a:p/>
          <a:p>
            <a:r>
              <a:t>Figure: Schematic of the salticid principal eye: corneal lens, movable tube, pit, and four-tiered retina. Drawn from the descriptions in Land (1969a) and Williams &amp; McIntyre (1980).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Williams DS, McIntyre P (1980). The principal eyes of a jumping spider have a telephoto component. Nature 288: 578–580. https://doi.org/10.1038/288578a0</a:t>
            </a:r>
          </a:p>
          <a:p/>
          <a:p>
            <a:r>
              <a:t>Figure: Ray diagram of a converging lens followed by a diverging element. Thin-lens schematic illustrating the telephoto principle reported by Williams &amp; McIntyre (1980); not to scale.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Land MF (1985). Fields of view of the eyes of primitive jumping spiders. Journal of Experimental Biology 119: 381–384. https://doi.org/10.1242/jeb.119.1.381</a:t>
            </a:r>
          </a:p>
          <a:p/>
          <a:p>
            <a:r>
              <a:t>Cerveira AM, Nelson XJ, Jackson RR (2021). Spatial acuity–sensitivity trade-off in the principal eyes of a jumping spider: possible adaptations to a ‘blended’ lifestyle. Journal of Comparative Physiology A 207: 437–448. https://doi.org/10.1007/s00359-021-01486-2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Figure: Object planes calculated to be in focus on layers 1 and 2. Values from Land (1969a); schematic axis, not to scale.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DeVoe RD (1975). Ultraviolet and green receptors in principal eyes of jumping spiders. Journal of General Physiology 66: 193–207. https://doi.org/10.1085/jgp.66.2.193</a:t>
            </a:r>
          </a:p>
          <a:p/>
          <a:p>
            <a:r>
              <a:t>Govardovskii VI, Fyhrquist N, Reuter T, Kuzmin DG, Donner K (2000). In search of the visual pigment template. Visual Neuroscience 17: 509–528. https://doi.org/10.1017/S0952523800174036</a:t>
            </a:r>
          </a:p>
          <a:p/>
          <a:p>
            <a:r>
              <a:t>Figure: Spectral classes reported by DeVoe (1975). Curves are standard visual-pigment templates (Govardovskii et al. 2000) drawn at the reported peak wavelengths, not recorded traces.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Blest AD, Hardie RC, McIntyre P, Williams DS (1981). The spectral sensitivities of identified receptors and the function of retinal tiering in the principal eyes of a jumping spider. Journal of Comparative Physiology A 145: 227–239. https://doi.org/10.1007/BF00605035</a:t>
            </a:r>
          </a:p>
          <a:p/>
          <a:p>
            <a:r>
              <a:t>Koyanagi M, Nagata T, Katoh K, Yamashita S, Tokunaga F (2008). Molecular evolution of arthropod color vision deduced from multiple opsin genes of jumping spiders. Journal of Molecular Evolution 66: 130–137. https://doi.org/10.1007/s00239-008-9065-9</a:t>
            </a:r>
          </a:p>
          <a:p/>
          <a:p>
            <a:r>
              <a:t>Nagata T, Koyanagi M, Tsukamoto H, Saeki S, Isono K, Shichida Y, Tokunaga F, Kinoshita M, Arikawa K, Terakita A (2012). Depth perception from image defocus in a jumping spider. Science 335: 469–471. https://doi.org/10.1126/science.1211667</a:t>
            </a:r>
          </a:p>
          <a:p/>
          <a:p>
            <a:r>
              <a:t>Land MF (1969a). Structure of the retinae of the principal eyes of jumping spiders (Salticidae: Dendryphantinae) in relation to visual optics. Journal of Experimental Biology 51: 443–470. https://doi.org/10.1242/jeb.51.2.443</a:t>
            </a:r>
          </a:p>
          <a:p/>
          <a:p>
            <a:r>
              <a:t>Figure: Pigment predicted for each tier by Land (1969a) compared with later spectral and opsin evidence in Hasarius adansoni (Koyanagi et al. 2008; Nagata et al. 2012). Summary table, not original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Koyanagi M, Nagata T, Katoh K, Yamashita S, Tokunaga F (2008). Molecular evolution of arthropod color vision deduced from multiple opsin genes of jumping spiders. Journal of Molecular Evolution 66: 130–137. https://doi.org/10.1007/s00239-008-9065-9</a:t>
            </a:r>
          </a:p>
          <a:p/>
          <a:p>
            <a:r>
              <a:t>Nagata T, Koyanagi M, Tsukamoto H, Saeki S, Isono K, Shichida Y, Tokunaga F, Kinoshita M, Arikawa K, Terakita A (2012). Depth perception from image defocus in a jumping spider. Science 335: 469–471. https://doi.org/10.1126/science.1211667</a:t>
            </a:r>
          </a:p>
          <a:p/>
          <a:p>
            <a:r>
              <a:t>Figure: Salticid opsins and their reported locations, summarized from Koyanagi et al. (2008) and Nagata et al. (2012). Summary table, not original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Nagata T, Koyanagi M, Tsukamoto H, Saeki S, Isono K, Shichida Y, Tokunaga F, Kinoshita M, Arikawa K, Terakita A (2012). Depth perception from image defocus in a jumping spider. Science 335: 469–471. https://doi.org/10.1126/science.1211667</a:t>
            </a:r>
          </a:p>
          <a:p/>
          <a:p>
            <a:r>
              <a:t>Figure: Schematic of the defocus mechanism: green light focused on layer 1 and blurred on layer 2. Drawn from the model described in Nagata et al. (2012); not to scale.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Nagata T, Koyanagi M, Tsukamoto H, Saeki S, Isono K, Shichida Y, Tokunaga F, Kinoshita M, Arikawa K, Terakita A (2012). Depth perception from image defocus in a jumping spider. Science 335: 469–471. https://doi.org/10.1126/science.1211667</a:t>
            </a:r>
          </a:p>
          <a:p/>
          <a:p>
            <a:r>
              <a:t>Figure: Logic of the green–red test: identical targets, different predicted blur, accurate versus short jumps. Schematic summarizing results in Nagata et al. (2012); arc lengths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Cronin TW, Taylor LA, Byrne K, Sullivan MLG, Morehouse NI (2015). Spectral filtering enables trichromatic vision in colorful jumping spiders. Current Biology 25: R403–R404. https://doi.org/10.1016/j.cub.2015.03.033</a:t>
            </a:r>
          </a:p>
          <a:p/>
          <a:p>
            <a:r>
              <a:t>Govardovskii VI, Fyhrquist N, Reuter T, Kuzmin DG, Donner K (2000). In search of the visual pigment template. Visual Neuroscience 17: 509–528. https://doi.org/10.1017/S0952523800174036</a:t>
            </a:r>
          </a:p>
          <a:p/>
          <a:p>
            <a:r>
              <a:t>Figure: Spectral shift produced by the tier-1 filter in Habronattus pyrrithrix. Peak values from Zurek et al. (2015); curves are pigment templates (Govardovskii et al. 2000), not measured spectra.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Elias DO, Mason AC, Maddison WP, Hoy RR (2003). Seismic signals in a courting male jumping spider (Araneae: Salticidae). Journal of Experimental Biology 206: 4029–4039. https://doi.org/10.1242/jeb.00634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Figure: Schematic of the principal-eye muscles: four translators and two torsion bands, six motor axons. Muscle positions simplified; drawn from Land (1969b).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Land MF (1972). Mechanisms of orientation and pattern recognition by jumping spiders (Salticidae). In: Wehner R (ed.), Information Processing in the Visual Systems of Arthropods. Springer, Berlin, pp. 231–247. https://doi.org/10.1007/978-3-642-65477-0_34</a:t>
            </a:r>
          </a:p>
          <a:p/>
          <a:p>
            <a:r>
              <a:t>Figure: Frequencies of the two scanning components. Values re-plotted from Land (1969b) and Land (1972, chapter); periods computed from the frequencies.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Land MF (1972). Mechanisms of orientation and pattern recognition by jumping spiders (Salticidae). In: Wehner R (ed.), Information Processing in the Visual Systems of Arthropods. Springer, Berlin, pp. 231–247. https://doi.org/10.1007/978-3-642-65477-0_34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Jakob EM, Long SM, Harland DP, Jackson RR, Carey A, Searles ME, Porter AH, Canavesi C, Rolland JP (2018). Lateral eyes direct principal eyes as jumping spiders track objects. Current Biology 28: R1092–R1093. https://doi.org/10.1016/j.cub.2018.07.065</a:t>
            </a:r>
          </a:p>
          <a:p/>
          <a:p>
            <a:r>
              <a:t>Figure: Schematic of an infrared eye tracker for jumping spiders, after the system described in Jakob et al. (2018). Components simplified.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Taylor AJ, Evans CS, Nelson XJ (2010). The role of the anterior lateral eyes in the vision-based behaviour of jumping spiders. Journal of Experimental Biology 213: 2372–2378. https://doi.org/10.1242/jeb.042382</a:t>
            </a:r>
          </a:p>
          <a:p/>
          <a:p>
            <a:r>
              <a:t>Figure: Most effective dot parameters for ALE-mediated orienting. Values from Zurek et al. (2010).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Nelson XJ (2012a). Hyperacute motion detection by the lateral eyes of jumping spiders. Vision Research 66: 26–30. https://doi.org/10.1016/j.visres.2012.06.011</a:t>
            </a:r>
          </a:p>
          <a:p/>
          <a:p>
            <a:r>
              <a:t>Land MF (1985). Fields of view of the eyes of primitive jumping spiders. Journal of Experimental Biology 119: 381–384. https://doi.org/10.1242/jeb.119.1.381</a:t>
            </a:r>
          </a:p>
          <a:p/>
          <a:p>
            <a:r>
              <a:t>Figure: Receptor spacing compared with the displacement the ALEs can detect. Ratio from Zurek &amp; Nelson (2012a); spacing from Land (1985); schematic.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Nelson XJ (2012b). Saccadic tracking of targets mediated by the anterior-lateral eyes of jumping spiders. Journal of Comparative Physiology A 198: 411–417. https://doi.org/10.1007/s00359-012-0719-0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(1971). Orientation by jumping spiders in the absence of visual feedback. Journal of Experimental Biology 54: 119–139. https://doi.org/10.1242/jeb.54.1.119</a:t>
            </a:r>
          </a:p>
          <a:p/>
          <a:p>
            <a:r>
              <a:t>Figure: Ring paradigm: the carapace is fixed and the legs rotate a light ring. Schematic drawn from the method described in Land (1971) and Land (1972, chapter).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(1972). Stepping movements made by jumping spiders during turns mediated by the lateral eyes. Journal of Experimental Biology 57: 15–40. https://doi.org/10.1242/jeb.57.1.15</a:t>
            </a:r>
          </a:p>
          <a:p/>
          <a:p>
            <a:r>
              <a:t>Zurek DB, Nelson XJ (2012b). Saccadic tracking of targets mediated by the anterior-lateral eyes of jumping spiders. Journal of Comparative Physiology A 198: 411–417. https://doi.org/10.1007/s00359-012-0719-0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Duelli P (1978). Movement detection in the posterolateral eyes of jumping spiders (Evarcha arcuata, Salticidae). Journal of Comparative Physiology 124: 15–26. https://doi.org/10.1007/BF00656387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Jakob EM, Long SM, Harland DP, Jackson RR, Carey A, Searles ME, Porter AH, Canavesi C, Rolland JP (2018). Lateral eyes direct principal eyes as jumping spiders track objects. Current Biology 28: R1092–R1093. https://doi.org/10.1016/j.cub.2018.07.065</a:t>
            </a:r>
          </a:p>
          <a:p/>
          <a:p>
            <a:r>
              <a:t>Figure: Design and outcome of the ALE-masking experiment. Stimulus values and qualitative outcomes from Jakob et al. (2018); summary diagram, not original data.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Bruce M, Daye D, Long SM, Winsor AM, Menda G, Hoy RR, Jakob EM (2021). Attention and distraction in the modular visual system of a jumping spider. Journal of Experimental Biology 224: jeb231035. https://doi.org/10.1242/jeb.231035</a:t>
            </a:r>
          </a:p>
          <a:p/>
          <a:p>
            <a:r>
              <a:t>Figure: Distractor paradigm. Schematic of the design and main result in Bruce et al. (2021).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Bruce M, Daye D, Long SM, Winsor AM, Menda G, Hoy RR, Jakob EM (2021). Attention and distraction in the modular visual system of a jumping spider. Journal of Experimental Biology 224: jeb231035. https://doi.org/10.1242/jeb.231035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Loconsole M, Ferrante F, Giacomazzi D, De Agrò M (2024). Independence and synergy of spatial attention in the two visual systems of jumping spiders. Journal of Experimental Biology 227: jeb246199. https://doi.org/10.1242/jeb.246199</a:t>
            </a:r>
          </a:p>
          <a:p/>
          <a:p>
            <a:r>
              <a:t>Figure: Cue–target design and main result. Schematic summarizing Loconsole et al. (2024).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Strausfeld NJ, Barth FG (1993). Two visual systems in one brain: neuropils serving the secondary eyes of the spider Cupiennius salei. Journal of Comparative Neurology 328: 43–62. https://doi.org/10.1002/cne.903280104</a:t>
            </a:r>
          </a:p>
          <a:p/>
          <a:p>
            <a:r>
              <a:t>Strausfeld NJ, Weltzien P, Barth FG (1993). Two visual systems in one brain: neuropils serving the principal eyes of the spider Cupiennius salei. Journal of Comparative Neurology 328: 63–75. https://doi.org/10.1002/cne.903280105</a:t>
            </a:r>
          </a:p>
          <a:p/>
          <a:p>
            <a:r>
              <a:t>Steinhoff POM, Uhl G, Harzsch S, Sombke A (2020). Visual pathways in the brain of the jumping spider Marpissa muscosa. Journal of Comparative Neurology 528: 1883–1902. https://doi.org/10.1002/cne.24861</a:t>
            </a:r>
          </a:p>
          <a:p/>
          <a:p>
            <a:r>
              <a:t>Figure: Simplified wiring of the principal- and secondary-eye pathways in Marpissa muscosa. Diagram drawn from Steinhoff et al. (2020) and Strausfeld &amp; Barth (1993).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Steinhoff POM, Uhl G, Harzsch S, Sombke A (2020). Visual pathways in the brain of the jumping spider Marpissa muscosa. Journal of Comparative Neurology 528: 1883–1902. https://doi.org/10.1002/cne.24861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Menda G, Shamble PS, Nitzany EI, Golden JR, Hoy RR (2014). Visual perception in the brain of a jumping spider. Current Biology 24: 2580–2585.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Menda G, Shamble PS, Nitzany EI, Golden JR, Hoy RR (2014). Visual perception in the brain of a jumping spider. Current Biology 24: 2580–2585. https://doi.org/10.1016/j.cub.2014.09.029</a:t>
            </a:r>
          </a:p>
          <a:p/>
          <a:p>
            <a:r>
              <a:t>Figure: Time window in which spiking became linked to the prey-like stimulus. Values from Menda et al. (2014); schematic timeline, not a recorded trace.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Agrò M, Rößler DC, Kim K, Shamble PS (2021). Perception of biological motion by jumping spiders. PLoS Biology 19: e3001172. https://doi.org/10.1371/journal.pbio.3001172</a:t>
            </a:r>
          </a:p>
          <a:p/>
          <a:p>
            <a:r>
              <a:t>Figure: Comparisons and outcomes in the point-light experiment. Summary of De Agrò et al. (2021); not original data.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Dolev Y, Nelson XJ (2014). Innate pattern recognition and categorization in a jumping spider. PLoS ONE 9: e97819. https://doi.org/10.1371/journal.pone.0097819</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Harland DP, Jackson RR, Macnab AM (1999). Distances at which jumping spiders (Araneae: Salticidae) distinguish between prey and conspecific rivals. Journal of Zoology 247: 357–364. https://doi.org/10.1111/j.1469-7998.1999.tb00998.x</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Tarsitano MS, Jackson RR (1997). Araneophagic jumping spiders discriminate between detour routes that do and do not lead to prey. Animal Behaviour 53: 257–266. https://doi.org/10.1006/anbe.1996.0372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Parry DA, Brown RHJ (1959). The jumping mechanism of salticid spiders. Journal of Experimental Biology 36: 654–664. https://doi.org/10.1242/jeb.36.4.654</a:t>
            </a:r>
          </a:p>
          <a:p/>
          <a:p>
            <a:r>
              <a:t>Nabawy MRA, Sivalingam G, Garwood RJ, Crowther WJ, Sellers WI (2018). Energy and time optimal trajectories in exploratory jumps of the spider Phidippus regius. Scientific Reports 8: 7142. https://doi.org/10.1038/s41598-018-25227-9</a:t>
            </a:r>
          </a:p>
          <a:p/>
          <a:p>
            <a:r>
              <a:t>Figure: Joint pressures (Parry &amp; Brown 1959) and take-off kinematics (Nabawy et al. 2018). Ranges re-plotted from the values reported in each paper.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Cerveira AM, Jackson RR, Nelson XJ (2019). Dim-light vision in jumping spiders (Araneae, Salticidae): identification of prey and rivals. Journal of Experimental Biology 222: jeb198069. https://doi.org/10.1242/jeb.198069</a:t>
            </a:r>
          </a:p>
          <a:p/>
          <a:p>
            <a:r>
              <a:t>Cerveira AM, Nelson XJ, Jackson RR (2021). Spatial acuity–sensitivity trade-off in the principal eyes of a jumping spider: possible adaptations to a ‘blended’ lifestyle. Journal of Comparative Physiology A 207: 437–448. https://doi.org/10.1007/s00359-021-01486-2</a:t>
            </a:r>
          </a:p>
          <a:p/>
          <a:p>
            <a:r>
              <a:t>Figure: Prey and rival identification at four luminances. Values from Cerveira et al. (2019), re-plotted on a log scale.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Goté JT, Butler PM, Zurek DB, Buschbeck EK, Morehouse NI (2019). Growing tiny eyes: how juvenile jumping spiders retain high visual performance in the face of size limitations and developmental constraints. Vision Research 160: 24–36. https://doi.org/10.1016/j.visres.2019.04.006</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Rößler DC, Kim K, De Agrò M, Jordan A, Galizia CG, Shamble PS (2022). Regularly occurring bouts of retinal movements suggest an REM sleep–like state in jumping spiders. Proceedings of the National Academy of Sciences USA 119: e2204754119. https://doi.org/10.1073/pnas.2204754119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Jakob EM, Long SM, Harland DP, Jackson RR, Carey A, Searles ME, Porter AH, Canavesi C, Rolland JP (2018). Lateral eyes direct principal eyes as jumping spiders track objects. Current Biology 28: R1092–R1093. https://doi.org/10.1016/j.cub.2018.07.065</a:t>
            </a:r>
          </a:p>
          <a:p/>
          <a:p>
            <a:r>
              <a:t>Menda G, Shamble PS, Nitzany EI, Golden JR, Hoy RR (2014). Visual perception in the brain of a jumping spider. Current Biology 24: 2580–2585. https://doi.org/10.1016/j.cub.2014.09.029</a:t>
            </a:r>
          </a:p>
          <a:p/>
          <a:p>
            <a:r>
              <a:t>Steinhoff POM, Uhl G, Harzsch S, Sombke A (2020). Visual pathways in the brain of the jumping spider Marpissa muscosa. Journal of Comparative Neurology 528: 1883–1902. https://doi.org/10.1002/cne.24861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Nagata T, Koyanagi M, Tsukamoto H, Saeki S, Isono K, Shichida Y, Tokunaga F, Kinoshita M, Arikawa K, Terakita A (2012). Depth perception from image defocus in a jumping spider. Science 335: 469–471. https://doi.org/10.1126/science.1211667</a:t>
            </a:r>
          </a:p>
          <a:p/>
          <a:p>
            <a:r>
              <a:t>Jakob EM, Long SM, Harland DP, Jackson RR, Carey A, Searles ME, Porter AH, Canavesi C, Rolland JP (2018). Lateral eyes direct principal eyes as jumping spiders track objects. Current Biology 28: R1092–R1093. https://doi.org/10.1016/j.cub.2018.07.065</a:t>
            </a:r>
          </a:p>
          <a:p/>
          <a:p>
            <a:r>
              <a:t>Menda G, Shamble PS, Nitzany EI, Golden JR, Hoy RR (2014). Visual perception in the brain of a jumping spider. Current Biology 24: 2580–2585.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Land MF (1969b). Movements of the retinae of jumping spiders (Salticidae: Dendryphantinae) in response to visual stimuli. Journal of Experimental Biology 51: 471–493. https://doi.org/10.1242/jeb.51.2.471</a:t>
            </a:r>
          </a:p>
          <a:p/>
          <a:p>
            <a:r>
              <a:t>Land MF (1971). Orientation by jumping spiders in the absence of visual feedback. Journal of Experimental Biology 54: 119–139. https://doi.org/10.1242/jeb.54.1.119</a:t>
            </a:r>
          </a:p>
          <a:p/>
          <a:p>
            <a:r>
              <a:t>Nagata T, Koyanagi M, Tsukamoto H, Saeki S, Isono K, Shichida Y, Tokunaga F, Kinoshita M, Arikawa K, Terakita A (2012). Depth perception from image defocus in a jumping spider. Science 335: 469–471. https://doi.org/10.1126/science.1211667</a:t>
            </a:r>
          </a:p>
          <a:p/>
          <a:p>
            <a:r>
              <a:t>Zurek DB, Cronin TW, Taylor LA, Byrne K, Sullivan MLG, Morehouse NI (2015). Spectral filtering enables trichromatic vision in colorful jumping spiders. Current Biology 25: R403–R404. https://doi.org/10.1016/j.cub.2015.03.033</a:t>
            </a:r>
          </a:p>
          <a:p/>
          <a:p>
            <a:r>
              <a:t>Jakob EM, Long SM, Harland DP, Jackson RR, Carey A, Searles ME, Porter AH, Canavesi C, Rolland JP (2018). Lateral eyes direct principal eyes as jumping spiders track objects. Current Biology 28: R1092–R1093. https://doi.org/10.1016/j.cub.2018.07.065</a:t>
            </a:r>
          </a:p>
          <a:p/>
          <a:p>
            <a:r>
              <a:t>Bruce M, Daye D, Long SM, Winsor AM, Menda G, Hoy RR, Jakob EM (2021). Attention and distraction in the modular visual system of a jumping spider. Journal of Experimental Biology 224: jeb231035. https://doi.org/10.1242/jeb.231035</a:t>
            </a:r>
          </a:p>
          <a:p/>
          <a:p>
            <a:r>
              <a:t>Steinhoff POM, Uhl G, Harzsch S, Sombke A (2020). Visual pathways in the brain of the jumping spider Marpissa muscosa. Journal of Comparative Neurology 528: 1883–1902. https://doi.org/10.1002/cne.24861</a:t>
            </a:r>
          </a:p>
          <a:p/>
          <a:p>
            <a:r>
              <a:t>Menda G, Shamble PS, Nitzany EI, Golden JR, Hoy RR (2014). Visual perception in the brain of a jumping spider. Current Biology 24: 2580–2585. https://doi.org/10.1016/j.cub.2014.09.029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8EEFB"/>
          </a:solidFill>
          <a:ln>
            <a:noFill/>
          </a:ln>
          <a:effectLst/>
        </p:spPr>
        <p:txBody>
          <a:bodyPr rtlCol="0" anchor="ctr"/>
          <a:lstStyle/>
          <a:p>
            <a:pPr algn="ctr"/>
          </a:p>
        </p:txBody>
      </p:sp>
      <p:sp>
        <p:nvSpPr>
          <p:cNvPr id="3" name="TextBox 2"/>
          <p:cNvSpPr txBox="1"/>
          <p:nvPr/>
        </p:nvSpPr>
        <p:spPr>
          <a:xfrm>
            <a:off x="685800" y="822960"/>
            <a:ext cx="10820095" cy="320040"/>
          </a:xfrm>
          <a:prstGeom prst="rect">
            <a:avLst/>
          </a:prstGeom>
          <a:noFill/>
        </p:spPr>
        <p:txBody>
          <a:bodyPr wrap="square" lIns="0" rIns="0" tIns="0" bIns="0">
            <a:spAutoFit/>
          </a:bodyPr>
          <a:lstStyle/>
          <a:p>
            <a:pPr algn="l">
              <a:lnSpc>
                <a:spcPct val="108000"/>
              </a:lnSpc>
              <a:spcAft>
                <a:spcPts val="0"/>
              </a:spcAft>
            </a:pPr>
            <a:r>
              <a:rPr sz="1200" b="0" i="0">
                <a:solidFill>
                  <a:srgbClr val="3A55A4"/>
                </a:solidFill>
                <a:latin typeface="Arial"/>
              </a:rPr>
              <a:t>NEUR 411 · NEUROETHOLOGY · FALL 2026</a:t>
            </a:r>
          </a:p>
        </p:txBody>
      </p:sp>
      <p:sp>
        <p:nvSpPr>
          <p:cNvPr id="4" name="TextBox 3"/>
          <p:cNvSpPr txBox="1"/>
          <p:nvPr/>
        </p:nvSpPr>
        <p:spPr>
          <a:xfrm>
            <a:off x="685800" y="1783080"/>
            <a:ext cx="10820095" cy="411480"/>
          </a:xfrm>
          <a:prstGeom prst="rect">
            <a:avLst/>
          </a:prstGeom>
          <a:noFill/>
        </p:spPr>
        <p:txBody>
          <a:bodyPr wrap="square" lIns="0" rIns="0" tIns="0" bIns="0">
            <a:spAutoFit/>
          </a:bodyPr>
          <a:lstStyle/>
          <a:p>
            <a:pPr algn="l">
              <a:lnSpc>
                <a:spcPct val="108000"/>
              </a:lnSpc>
              <a:spcAft>
                <a:spcPts val="0"/>
              </a:spcAft>
            </a:pPr>
            <a:r>
              <a:rPr sz="1800" b="0" i="0">
                <a:solidFill>
                  <a:srgbClr val="3A55A4"/>
                </a:solidFill>
                <a:latin typeface="Arial"/>
              </a:rPr>
              <a:t>Lecture 12</a:t>
            </a:r>
          </a:p>
        </p:txBody>
      </p:sp>
      <p:sp>
        <p:nvSpPr>
          <p:cNvPr id="5" name="Lecture title"/>
          <p:cNvSpPr txBox="1"/>
          <p:nvPr/>
        </p:nvSpPr>
        <p:spPr>
          <a:xfrm>
            <a:off x="685800" y="2331720"/>
            <a:ext cx="10820095" cy="1920240"/>
          </a:xfrm>
          <a:prstGeom prst="rect">
            <a:avLst/>
          </a:prstGeom>
          <a:noFill/>
        </p:spPr>
        <p:txBody>
          <a:bodyPr wrap="square" lIns="0" rIns="0" tIns="0" bIns="0">
            <a:spAutoFit/>
          </a:bodyPr>
          <a:lstStyle/>
          <a:p>
            <a:pPr algn="l">
              <a:lnSpc>
                <a:spcPct val="108000"/>
              </a:lnSpc>
              <a:spcAft>
                <a:spcPts val="0"/>
              </a:spcAft>
            </a:pPr>
            <a:r>
              <a:rPr sz="3000" b="1" i="0">
                <a:solidFill>
                  <a:srgbClr val="12245C"/>
                </a:solidFill>
                <a:latin typeface="Arial"/>
              </a:rPr>
              <a:t>Insect vision II:</a:t>
            </a:r>
          </a:p>
          <a:p>
            <a:pPr algn="l">
              <a:lnSpc>
                <a:spcPct val="108000"/>
              </a:lnSpc>
              <a:spcAft>
                <a:spcPts val="0"/>
              </a:spcAft>
            </a:pPr>
            <a:r>
              <a:rPr sz="3000" b="1" i="0">
                <a:solidFill>
                  <a:srgbClr val="12245C"/>
                </a:solidFill>
                <a:latin typeface="Arial"/>
              </a:rPr>
              <a:t>jumping spider eyes and predatory tracking (Land)</a:t>
            </a:r>
          </a:p>
        </p:txBody>
      </p:sp>
      <p:sp>
        <p:nvSpPr>
          <p:cNvPr id="6" name="TextBox 5"/>
          <p:cNvSpPr txBox="1"/>
          <p:nvPr/>
        </p:nvSpPr>
        <p:spPr>
          <a:xfrm>
            <a:off x="685800" y="4617720"/>
            <a:ext cx="10820095" cy="365760"/>
          </a:xfrm>
          <a:prstGeom prst="rect">
            <a:avLst/>
          </a:prstGeom>
          <a:noFill/>
        </p:spPr>
        <p:txBody>
          <a:bodyPr wrap="square" lIns="0" rIns="0" tIns="0" bIns="0">
            <a:spAutoFit/>
          </a:bodyPr>
          <a:lstStyle/>
          <a:p>
            <a:pPr algn="l">
              <a:lnSpc>
                <a:spcPct val="108000"/>
              </a:lnSpc>
              <a:spcAft>
                <a:spcPts val="0"/>
              </a:spcAft>
            </a:pPr>
            <a:r>
              <a:rPr sz="1600" b="0" i="0">
                <a:solidFill>
                  <a:srgbClr val="3A55A4"/>
                </a:solidFill>
                <a:latin typeface="Arial"/>
              </a:rPr>
              <a:t>Monday, September 21, 2026</a:t>
            </a:r>
          </a:p>
        </p:txBody>
      </p:sp>
      <p:sp>
        <p:nvSpPr>
          <p:cNvPr id="7" name="TextBox 6"/>
          <p:cNvSpPr txBox="1"/>
          <p:nvPr/>
        </p:nvSpPr>
        <p:spPr>
          <a:xfrm>
            <a:off x="685800" y="5394960"/>
            <a:ext cx="10820095" cy="640080"/>
          </a:xfrm>
          <a:prstGeom prst="rect">
            <a:avLst/>
          </a:prstGeom>
          <a:noFill/>
        </p:spPr>
        <p:txBody>
          <a:bodyPr wrap="square" lIns="0" rIns="0" tIns="0" bIns="0">
            <a:spAutoFit/>
          </a:bodyPr>
          <a:lstStyle/>
          <a:p>
            <a:pPr algn="l">
              <a:lnSpc>
                <a:spcPct val="108000"/>
              </a:lnSpc>
              <a:spcAft>
                <a:spcPts val="200"/>
              </a:spcAft>
            </a:pPr>
            <a:r>
              <a:rPr sz="1200" b="0" i="0">
                <a:solidFill>
                  <a:srgbClr val="3A55A4"/>
                </a:solidFill>
                <a:latin typeface="Arial"/>
              </a:rPr>
              <a:t>Jordan Lopez, Ph.D.</a:t>
            </a:r>
          </a:p>
          <a:p>
            <a:pPr algn="l">
              <a:lnSpc>
                <a:spcPct val="108000"/>
              </a:lnSpc>
              <a:spcAft>
                <a:spcPts val="200"/>
              </a:spcAft>
            </a:pPr>
            <a:r>
              <a:rPr sz="1200" b="0" i="0">
                <a:solidFill>
                  <a:srgbClr val="3A55A4"/>
                </a:solidFill>
                <a:latin typeface="Arial"/>
              </a:rPr>
              <a:t>Professor of Neurobiology &amp; Biomedical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Salticids hunt by sight rather than by web</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Jumping spiders (family </a:t>
            </a:r>
            <a:r>
              <a:rPr sz="1800" b="1" i="0">
                <a:solidFill>
                  <a:srgbClr val="1F3FA0"/>
                </a:solidFill>
                <a:latin typeface="Arial"/>
              </a:rPr>
              <a:t>Salticidae</a:t>
            </a:r>
            <a:r>
              <a:rPr sz="1800" b="0" i="0">
                <a:solidFill>
                  <a:srgbClr val="1E2330"/>
                </a:solidFill>
                <a:latin typeface="Arial"/>
              </a:rPr>
              <a:t>) are cursorial predators: they locate, approach, and capture prey by walking and leaping, not by waiting in a web. Most species are only a few millimeters long, yet they respond to prey, rivals, and mates many body lengths away.</a:t>
            </a:r>
          </a:p>
          <a:p>
            <a:pPr algn="l">
              <a:lnSpc>
                <a:spcPct val="108000"/>
              </a:lnSpc>
              <a:spcAft>
                <a:spcPts val="1080"/>
              </a:spcAft>
            </a:pPr>
            <a:r>
              <a:rPr sz="1800" b="0" i="0">
                <a:solidFill>
                  <a:srgbClr val="1E2330"/>
                </a:solidFill>
                <a:latin typeface="Arial"/>
              </a:rPr>
              <a:t>Their visual system is </a:t>
            </a:r>
            <a:r>
              <a:rPr sz="1800" b="1" i="0">
                <a:solidFill>
                  <a:srgbClr val="1F3FA0"/>
                </a:solidFill>
                <a:latin typeface="Arial"/>
              </a:rPr>
              <a:t>modular</a:t>
            </a:r>
            <a:r>
              <a:rPr sz="1800" b="0" i="0">
                <a:solidFill>
                  <a:srgbClr val="1E2330"/>
                </a:solidFill>
                <a:latin typeface="Arial"/>
              </a:rPr>
              <a:t>. Eight eyes are divided into one forward-facing pair of </a:t>
            </a:r>
            <a:r>
              <a:rPr sz="1800" b="1" i="0">
                <a:solidFill>
                  <a:srgbClr val="1F3FA0"/>
                </a:solidFill>
                <a:latin typeface="Arial"/>
              </a:rPr>
              <a:t>principal eyes</a:t>
            </a:r>
            <a:r>
              <a:rPr sz="1800" b="0" i="0">
                <a:solidFill>
                  <a:srgbClr val="1E2330"/>
                </a:solidFill>
                <a:latin typeface="Arial"/>
              </a:rPr>
              <a:t> (the anterior median eyes, AMEs) and three pairs of </a:t>
            </a:r>
            <a:r>
              <a:rPr sz="1800" b="1" i="0">
                <a:solidFill>
                  <a:srgbClr val="1F3FA0"/>
                </a:solidFill>
                <a:latin typeface="Arial"/>
              </a:rPr>
              <a:t>secondary eyes</a:t>
            </a:r>
            <a:r>
              <a:rPr sz="1800" b="0" i="0">
                <a:solidFill>
                  <a:srgbClr val="1E2330"/>
                </a:solidFill>
                <a:latin typeface="Arial"/>
              </a:rPr>
              <a:t> (anterior lateral, posterior median, and posterior lateral eyes: ALEs, PMEs, PLEs). Each eye type has a distinct optical design and a distinct behavioral role.</a:t>
            </a:r>
          </a:p>
          <a:p>
            <a:pPr algn="l">
              <a:lnSpc>
                <a:spcPct val="108000"/>
              </a:lnSpc>
              <a:spcAft>
                <a:spcPts val="1080"/>
              </a:spcAft>
            </a:pPr>
            <a:r>
              <a:rPr sz="1800" b="0" i="0">
                <a:solidFill>
                  <a:srgbClr val="1E2330"/>
                </a:solidFill>
                <a:latin typeface="Arial"/>
              </a:rPr>
              <a:t>Land’s experiments on Californian salticids in 1969 established the central questions: how a camera-type eye only a fraction of a millimeter across reaches high spatial acuity, and how a narrow, movable retina is directed to the right part of the scene. Both questions connect optics, motor control, and neural selection of targets.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1969b); Forster (1977)</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Predatory behavior follows a structured sequence</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Forster divided salticid hunting into three </a:t>
            </a:r>
            <a:r>
              <a:rPr sz="1600" b="1" i="0">
                <a:solidFill>
                  <a:srgbClr val="1F3FA0"/>
                </a:solidFill>
                <a:latin typeface="Arial"/>
              </a:rPr>
              <a:t>response patterns</a:t>
            </a:r>
            <a:r>
              <a:rPr sz="1600" b="0" i="0">
                <a:solidFill>
                  <a:srgbClr val="1E2330"/>
                </a:solidFill>
                <a:latin typeface="Arial"/>
              </a:rPr>
              <a:t>, each built from recognizable motor elements. </a:t>
            </a:r>
            <a:r>
              <a:rPr sz="1600" b="1" i="0">
                <a:solidFill>
                  <a:srgbClr val="1F3FA0"/>
                </a:solidFill>
                <a:latin typeface="Arial"/>
              </a:rPr>
              <a:t>Orientation</a:t>
            </a:r>
            <a:r>
              <a:rPr sz="1600" b="0" i="0">
                <a:solidFill>
                  <a:srgbClr val="1E2330"/>
                </a:solidFill>
                <a:latin typeface="Arial"/>
              </a:rPr>
              <a:t> comprises alerting, swiveling the body toward the stimulus, and aligning the principal eyes with it. </a:t>
            </a:r>
            <a:r>
              <a:rPr sz="1600" b="1" i="0">
                <a:solidFill>
                  <a:srgbClr val="1F3FA0"/>
                </a:solidFill>
                <a:latin typeface="Arial"/>
              </a:rPr>
              <a:t>Pursuit</a:t>
            </a:r>
            <a:r>
              <a:rPr sz="1600" b="0" i="0">
                <a:solidFill>
                  <a:srgbClr val="1E2330"/>
                </a:solidFill>
                <a:latin typeface="Arial"/>
              </a:rPr>
              <a:t> comprises following, running, and stalking. </a:t>
            </a:r>
            <a:r>
              <a:rPr sz="1600" b="1" i="0">
                <a:solidFill>
                  <a:srgbClr val="1F3FA0"/>
                </a:solidFill>
                <a:latin typeface="Arial"/>
              </a:rPr>
              <a:t>Capture</a:t>
            </a:r>
            <a:r>
              <a:rPr sz="1600" b="0" i="0">
                <a:solidFill>
                  <a:srgbClr val="1E2330"/>
                </a:solidFill>
                <a:latin typeface="Arial"/>
              </a:rPr>
              <a:t> comprises a pre-crouch, a crouch, and the jump.</a:t>
            </a:r>
          </a:p>
          <a:p>
            <a:pPr algn="l">
              <a:lnSpc>
                <a:spcPct val="108000"/>
              </a:lnSpc>
              <a:spcAft>
                <a:spcPts val="960"/>
              </a:spcAft>
            </a:pPr>
            <a:r>
              <a:rPr sz="1600" b="0" i="0">
                <a:solidFill>
                  <a:srgbClr val="1E2330"/>
                </a:solidFill>
                <a:latin typeface="Arial"/>
              </a:rPr>
              <a:t>The sequence is not a fixed chain. Distance to the prey determines which pattern is expressed: a nearby target may be captured after a brief stalk, whereas a distant one requires extended pursuit.</a:t>
            </a:r>
          </a:p>
          <a:p>
            <a:pPr algn="l">
              <a:lnSpc>
                <a:spcPct val="108000"/>
              </a:lnSpc>
              <a:spcAft>
                <a:spcPts val="960"/>
              </a:spcAft>
            </a:pPr>
            <a:r>
              <a:rPr sz="1600" b="0" i="0">
                <a:solidFill>
                  <a:srgbClr val="1E2330"/>
                </a:solidFill>
                <a:latin typeface="Arial"/>
              </a:rPr>
              <a:t>Before jumping, many salticids attach a silk </a:t>
            </a:r>
            <a:r>
              <a:rPr sz="1600" b="1" i="0">
                <a:solidFill>
                  <a:srgbClr val="1F3FA0"/>
                </a:solidFill>
                <a:latin typeface="Arial"/>
              </a:rPr>
              <a:t>dragline</a:t>
            </a:r>
            <a:r>
              <a:rPr sz="1600" b="0" i="0">
                <a:solidFill>
                  <a:srgbClr val="1E2330"/>
                </a:solidFill>
                <a:latin typeface="Arial"/>
              </a:rPr>
              <a:t> to the substrate. The line acts as a safety tether if the jump misses and can be used to brake during approach.</a:t>
            </a:r>
          </a:p>
          <a:p>
            <a:pPr algn="l">
              <a:lnSpc>
                <a:spcPct val="108000"/>
              </a:lnSpc>
              <a:spcAft>
                <a:spcPts val="960"/>
              </a:spcAft>
            </a:pPr>
            <a:r>
              <a:rPr sz="1600" b="0" i="0">
                <a:solidFill>
                  <a:srgbClr val="1E2330"/>
                </a:solidFill>
                <a:latin typeface="Arial"/>
              </a:rPr>
              <a:t>Each element provides a measurable behavioral output, such as turn angle or jump distance, that later experiments relate to specific eyes and neural pathways.</a:t>
            </a:r>
          </a:p>
        </p:txBody>
      </p:sp>
      <p:pic>
        <p:nvPicPr>
          <p:cNvPr id="4" name="Picture 3" descr="f01_hunt_sequence.png"/>
          <p:cNvPicPr>
            <a:picLocks noChangeAspect="1"/>
          </p:cNvPicPr>
          <p:nvPr/>
        </p:nvPicPr>
        <p:blipFill>
          <a:blip r:embed="rId2"/>
          <a:stretch>
            <a:fillRect/>
          </a:stretch>
        </p:blipFill>
        <p:spPr>
          <a:xfrm>
            <a:off x="6687007" y="1280160"/>
            <a:ext cx="4937760" cy="2421583"/>
          </a:xfrm>
          <a:prstGeom prst="rect">
            <a:avLst/>
          </a:prstGeom>
        </p:spPr>
      </p:pic>
      <p:sp>
        <p:nvSpPr>
          <p:cNvPr id="5" name="Figure caption"/>
          <p:cNvSpPr txBox="1"/>
          <p:nvPr/>
        </p:nvSpPr>
        <p:spPr>
          <a:xfrm>
            <a:off x="6687007" y="3793183"/>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Hunting sequence of salticids: response patterns and their motor elements. Diagram drawn from the classification in Forster (1977).</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Forster (1977)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Two eye systems divide the visual field</a:t>
            </a:r>
          </a:p>
        </p:txBody>
      </p:sp>
      <p:sp>
        <p:nvSpPr>
          <p:cNvPr id="3" name="Body"/>
          <p:cNvSpPr txBox="1"/>
          <p:nvPr/>
        </p:nvSpPr>
        <p:spPr>
          <a:xfrm>
            <a:off x="566928" y="1234440"/>
            <a:ext cx="648583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The </a:t>
            </a:r>
            <a:r>
              <a:rPr sz="1700" b="1" i="0">
                <a:solidFill>
                  <a:srgbClr val="1F3FA0"/>
                </a:solidFill>
                <a:latin typeface="Arial"/>
              </a:rPr>
              <a:t>secondary eyes</a:t>
            </a:r>
            <a:r>
              <a:rPr sz="1700" b="0" i="0">
                <a:solidFill>
                  <a:srgbClr val="1E2330"/>
                </a:solidFill>
                <a:latin typeface="Arial"/>
              </a:rPr>
              <a:t> together cover almost the entire horizon around the spider. The ALEs face forward with a field of roughly ±50° and overlap the field of the principal eyes; the PLEs extend coverage to the sides and rear.</a:t>
            </a:r>
          </a:p>
          <a:p>
            <a:pPr algn="l">
              <a:lnSpc>
                <a:spcPct val="108000"/>
              </a:lnSpc>
              <a:spcAft>
                <a:spcPts val="1019"/>
              </a:spcAft>
            </a:pPr>
            <a:r>
              <a:rPr sz="1700" b="0" i="0">
                <a:solidFill>
                  <a:srgbClr val="1E2330"/>
                </a:solidFill>
                <a:latin typeface="Arial"/>
              </a:rPr>
              <a:t>The </a:t>
            </a:r>
            <a:r>
              <a:rPr sz="1700" b="1" i="0">
                <a:solidFill>
                  <a:srgbClr val="1F3FA0"/>
                </a:solidFill>
                <a:latin typeface="Arial"/>
              </a:rPr>
              <a:t>principal eyes</a:t>
            </a:r>
            <a:r>
              <a:rPr sz="1700" b="0" i="0">
                <a:solidFill>
                  <a:srgbClr val="1E2330"/>
                </a:solidFill>
                <a:latin typeface="Arial"/>
              </a:rPr>
              <a:t> see a far smaller region. Each retina is a narrow vertical strip, about 20° tall but only about 1° wide at its center, so at any instant it samples a thin slice of the scene. Because the retina can be moved, the principal eyes can survey a forward region of roughly 60°.</a:t>
            </a:r>
          </a:p>
          <a:p>
            <a:pPr algn="l">
              <a:lnSpc>
                <a:spcPct val="108000"/>
              </a:lnSpc>
              <a:spcAft>
                <a:spcPts val="1019"/>
              </a:spcAft>
            </a:pPr>
            <a:r>
              <a:rPr sz="1700" b="0" i="0">
                <a:solidFill>
                  <a:srgbClr val="1E2330"/>
                </a:solidFill>
                <a:latin typeface="Arial"/>
              </a:rPr>
              <a:t>This arrangement separates </a:t>
            </a:r>
            <a:r>
              <a:rPr sz="1700" b="1" i="0">
                <a:solidFill>
                  <a:srgbClr val="1F3FA0"/>
                </a:solidFill>
                <a:latin typeface="Arial"/>
              </a:rPr>
              <a:t>detection</a:t>
            </a:r>
            <a:r>
              <a:rPr sz="1700" b="0" i="0">
                <a:solidFill>
                  <a:srgbClr val="1E2330"/>
                </a:solidFill>
                <a:latin typeface="Arial"/>
              </a:rPr>
              <a:t> from </a:t>
            </a:r>
            <a:r>
              <a:rPr sz="1700" b="1" i="0">
                <a:solidFill>
                  <a:srgbClr val="1F3FA0"/>
                </a:solidFill>
                <a:latin typeface="Arial"/>
              </a:rPr>
              <a:t>inspection</a:t>
            </a:r>
            <a:r>
              <a:rPr sz="1700" b="0" i="0">
                <a:solidFill>
                  <a:srgbClr val="1E2330"/>
                </a:solidFill>
                <a:latin typeface="Arial"/>
              </a:rPr>
              <a:t>. Wide-field secondary eyes detect that something has moved; the principal eyes then examine what it is. The division predicts that disabling one eye type should impair one stage of behavior while sparing the other, a prediction tested on later slides.</a:t>
            </a:r>
          </a:p>
        </p:txBody>
      </p:sp>
      <p:pic>
        <p:nvPicPr>
          <p:cNvPr id="4" name="Picture 3" descr="f02_fields_of_view.png"/>
          <p:cNvPicPr>
            <a:picLocks noChangeAspect="1"/>
          </p:cNvPicPr>
          <p:nvPr/>
        </p:nvPicPr>
        <p:blipFill>
          <a:blip r:embed="rId2"/>
          <a:stretch>
            <a:fillRect/>
          </a:stretch>
        </p:blipFill>
        <p:spPr>
          <a:xfrm>
            <a:off x="7418527" y="1280160"/>
            <a:ext cx="4206240" cy="4234319"/>
          </a:xfrm>
          <a:prstGeom prst="rect">
            <a:avLst/>
          </a:prstGeom>
        </p:spPr>
      </p:pic>
      <p:sp>
        <p:nvSpPr>
          <p:cNvPr id="5" name="Figure caption"/>
          <p:cNvSpPr txBox="1"/>
          <p:nvPr/>
        </p:nvSpPr>
        <p:spPr>
          <a:xfrm>
            <a:off x="7418527" y="5605919"/>
            <a:ext cx="42062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Schematic top view of the visual fields. ALE field (±50°) from Zurek &amp; Nelson (2012a); secondary-eye coverage and principal-eye scanning from Land (1985) and Land (1969b).</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(1985); Zurek &amp; Nelson (2012a)</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Secondary eyes sample space coarsely but widely</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Land measured the angular spacing between neighboring receptors (the </a:t>
            </a:r>
            <a:r>
              <a:rPr sz="1600" b="1" i="0">
                <a:solidFill>
                  <a:srgbClr val="1F3FA0"/>
                </a:solidFill>
                <a:latin typeface="Arial"/>
              </a:rPr>
              <a:t>interreceptor angle</a:t>
            </a:r>
            <a:r>
              <a:rPr sz="1600" b="0" i="0">
                <a:solidFill>
                  <a:srgbClr val="1E2330"/>
                </a:solidFill>
                <a:latin typeface="Arial"/>
              </a:rPr>
              <a:t>) in the secondary eyes of </a:t>
            </a:r>
            <a:r>
              <a:rPr sz="1600" b="0" i="1">
                <a:solidFill>
                  <a:srgbClr val="1E2330"/>
                </a:solidFill>
                <a:latin typeface="Arial"/>
              </a:rPr>
              <a:t>Portia</a:t>
            </a:r>
            <a:r>
              <a:rPr sz="1600" b="0" i="0">
                <a:solidFill>
                  <a:srgbClr val="1E2330"/>
                </a:solidFill>
                <a:latin typeface="Arial"/>
              </a:rPr>
              <a:t>. The spacing sets the finest pattern an eye can resolve: two points closer than about one interreceptor angle fall on the same receptor.</a:t>
            </a:r>
          </a:p>
          <a:p>
            <a:pPr algn="l">
              <a:lnSpc>
                <a:spcPct val="108000"/>
              </a:lnSpc>
              <a:spcAft>
                <a:spcPts val="960"/>
              </a:spcAft>
            </a:pPr>
            <a:r>
              <a:rPr sz="1600" b="0" i="0">
                <a:solidFill>
                  <a:srgbClr val="1E2330"/>
                </a:solidFill>
                <a:latin typeface="Arial"/>
              </a:rPr>
              <a:t>Values were about 0.55–0.97° for the ALEs, almost exactly 1.0° for the PMEs, and about 1.49° for the PLEs. These are coarse compared with the principal eyes, whose best resolution is about 0.04–0.1°.</a:t>
            </a:r>
          </a:p>
          <a:p>
            <a:pPr algn="l">
              <a:lnSpc>
                <a:spcPct val="108000"/>
              </a:lnSpc>
              <a:spcAft>
                <a:spcPts val="960"/>
              </a:spcAft>
            </a:pPr>
            <a:r>
              <a:rPr sz="1600" b="0" i="0">
                <a:solidFill>
                  <a:srgbClr val="1E2330"/>
                </a:solidFill>
                <a:latin typeface="Arial"/>
              </a:rPr>
              <a:t>Coarse sampling is compatible with the main secondary-eye task. Detecting that an object has moved, and where, does not require resolving its shape. The principal eyes trade field of view for acuity; the secondary eyes make the opposite trade.</a:t>
            </a:r>
          </a:p>
          <a:p>
            <a:pPr algn="l">
              <a:lnSpc>
                <a:spcPct val="108000"/>
              </a:lnSpc>
              <a:spcAft>
                <a:spcPts val="960"/>
              </a:spcAft>
            </a:pPr>
            <a:r>
              <a:rPr sz="1600" b="0" i="0">
                <a:solidFill>
                  <a:srgbClr val="1E2330"/>
                </a:solidFill>
                <a:latin typeface="Arial"/>
              </a:rPr>
              <a:t>Salticid secondary eyes have </a:t>
            </a:r>
            <a:r>
              <a:rPr sz="1600" b="1" i="0">
                <a:solidFill>
                  <a:srgbClr val="1F3FA0"/>
                </a:solidFill>
                <a:latin typeface="Arial"/>
              </a:rPr>
              <a:t>inverted</a:t>
            </a:r>
            <a:r>
              <a:rPr sz="1600" b="0" i="0">
                <a:solidFill>
                  <a:srgbClr val="1E2330"/>
                </a:solidFill>
                <a:latin typeface="Arial"/>
              </a:rPr>
              <a:t> retinas and, unlike those of many other spiders, lack a reflective </a:t>
            </a:r>
            <a:r>
              <a:rPr sz="1600" b="1" i="0">
                <a:solidFill>
                  <a:srgbClr val="1F3FA0"/>
                </a:solidFill>
                <a:latin typeface="Arial"/>
              </a:rPr>
              <a:t>tapetum</a:t>
            </a:r>
            <a:r>
              <a:rPr sz="1600" b="0" i="0">
                <a:solidFill>
                  <a:srgbClr val="1E2330"/>
                </a:solidFill>
                <a:latin typeface="Arial"/>
              </a:rPr>
              <a:t>, a layer that returns unabsorbed light through the receptors.</a:t>
            </a:r>
          </a:p>
        </p:txBody>
      </p:sp>
      <p:pic>
        <p:nvPicPr>
          <p:cNvPr id="4" name="Picture 3" descr="f03_receptor_spacing.png"/>
          <p:cNvPicPr>
            <a:picLocks noChangeAspect="1"/>
          </p:cNvPicPr>
          <p:nvPr/>
        </p:nvPicPr>
        <p:blipFill>
          <a:blip r:embed="rId2"/>
          <a:stretch>
            <a:fillRect/>
          </a:stretch>
        </p:blipFill>
        <p:spPr>
          <a:xfrm>
            <a:off x="6687007" y="1280160"/>
            <a:ext cx="4937760" cy="2385127"/>
          </a:xfrm>
          <a:prstGeom prst="rect">
            <a:avLst/>
          </a:prstGeom>
        </p:spPr>
      </p:pic>
      <p:sp>
        <p:nvSpPr>
          <p:cNvPr id="5" name="Figure caption"/>
          <p:cNvSpPr txBox="1"/>
          <p:nvPr/>
        </p:nvSpPr>
        <p:spPr>
          <a:xfrm>
            <a:off x="6687007" y="3756727"/>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Angular sampling of salticid eyes. Values re-plotted from Land (1985), Land (1969a; minimum spacing 11 arcmin) and Cerveira et al. (2021; 12.4 arcmin).</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(1985)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The principal eye is a movable telescope tube</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Each principal eye consists of a fixed </a:t>
            </a:r>
            <a:r>
              <a:rPr sz="1600" b="1" i="0">
                <a:solidFill>
                  <a:srgbClr val="1F3FA0"/>
                </a:solidFill>
                <a:latin typeface="Arial"/>
              </a:rPr>
              <a:t>corneal lens</a:t>
            </a:r>
            <a:r>
              <a:rPr sz="1600" b="0" i="0">
                <a:solidFill>
                  <a:srgbClr val="1E2330"/>
                </a:solidFill>
                <a:latin typeface="Arial"/>
              </a:rPr>
              <a:t> in the carapace, a long tube, and a retina at the tube’s rear. The lens does not move; the tube and retina do. Changing the position of the retina changes which part of the lens image falls on the receptors.</a:t>
            </a:r>
          </a:p>
          <a:p>
            <a:pPr algn="l">
              <a:lnSpc>
                <a:spcPct val="108000"/>
              </a:lnSpc>
              <a:spcAft>
                <a:spcPts val="960"/>
              </a:spcAft>
            </a:pPr>
            <a:r>
              <a:rPr sz="1600" b="0" i="0">
                <a:solidFill>
                  <a:srgbClr val="1E2330"/>
                </a:solidFill>
                <a:latin typeface="Arial"/>
              </a:rPr>
              <a:t>Land’s anatomical work showed that the retina contains </a:t>
            </a:r>
            <a:r>
              <a:rPr sz="1600" b="1" i="0">
                <a:solidFill>
                  <a:srgbClr val="1F3FA0"/>
                </a:solidFill>
                <a:latin typeface="Arial"/>
              </a:rPr>
              <a:t>four layers (tiers)</a:t>
            </a:r>
            <a:r>
              <a:rPr sz="1600" b="0" i="0">
                <a:solidFill>
                  <a:srgbClr val="1E2330"/>
                </a:solidFill>
                <a:latin typeface="Arial"/>
              </a:rPr>
              <a:t> of receptors arranged one behind another along the path of light. The two deepest layers, 1 and 2, cover the whole retina and contain the highest receptor density.</a:t>
            </a:r>
          </a:p>
          <a:p>
            <a:pPr algn="l">
              <a:lnSpc>
                <a:spcPct val="108000"/>
              </a:lnSpc>
              <a:spcAft>
                <a:spcPts val="960"/>
              </a:spcAft>
            </a:pPr>
            <a:r>
              <a:rPr sz="1600" b="0" i="0">
                <a:solidFill>
                  <a:srgbClr val="1E2330"/>
                </a:solidFill>
                <a:latin typeface="Arial"/>
              </a:rPr>
              <a:t>At the front of the retina lies a </a:t>
            </a:r>
            <a:r>
              <a:rPr sz="1600" b="1" i="0">
                <a:solidFill>
                  <a:srgbClr val="1F3FA0"/>
                </a:solidFill>
                <a:latin typeface="Arial"/>
              </a:rPr>
              <a:t>pit</a:t>
            </a:r>
            <a:r>
              <a:rPr sz="1600" b="0" i="0">
                <a:solidFill>
                  <a:srgbClr val="1E2330"/>
                </a:solidFill>
                <a:latin typeface="Arial"/>
              </a:rPr>
              <a:t>, a concave depression whose refractive boundary acts as a second, diverging lens. This element is the basis of the telephoto arrangement described on the next slide.</a:t>
            </a:r>
          </a:p>
          <a:p>
            <a:pPr algn="l">
              <a:lnSpc>
                <a:spcPct val="108000"/>
              </a:lnSpc>
              <a:spcAft>
                <a:spcPts val="960"/>
              </a:spcAft>
            </a:pPr>
            <a:r>
              <a:rPr sz="1600" b="0" i="0">
                <a:solidFill>
                  <a:srgbClr val="1E2330"/>
                </a:solidFill>
                <a:latin typeface="Arial"/>
              </a:rPr>
              <a:t>A camera eye forms one continuous image through one lens, as in vertebrates. The insect compound eye studied in Lecture 11 instead divides the image among many separate optical units, each with its own lens.</a:t>
            </a:r>
          </a:p>
        </p:txBody>
      </p:sp>
      <p:pic>
        <p:nvPicPr>
          <p:cNvPr id="4" name="Picture 3" descr="f04_principal_eye.png"/>
          <p:cNvPicPr>
            <a:picLocks noChangeAspect="1"/>
          </p:cNvPicPr>
          <p:nvPr/>
        </p:nvPicPr>
        <p:blipFill>
          <a:blip r:embed="rId2"/>
          <a:stretch>
            <a:fillRect/>
          </a:stretch>
        </p:blipFill>
        <p:spPr>
          <a:xfrm>
            <a:off x="6687007" y="1280160"/>
            <a:ext cx="4937760" cy="2244835"/>
          </a:xfrm>
          <a:prstGeom prst="rect">
            <a:avLst/>
          </a:prstGeom>
        </p:spPr>
      </p:pic>
      <p:sp>
        <p:nvSpPr>
          <p:cNvPr id="5" name="Figure caption"/>
          <p:cNvSpPr txBox="1"/>
          <p:nvPr/>
        </p:nvSpPr>
        <p:spPr>
          <a:xfrm>
            <a:off x="6687007" y="3616435"/>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Schematic of the salticid principal eye: corneal lens, movable tube, pit, and four-tiered retina. Drawn from the descriptions in Land (1969a) and Williams &amp; McIntyre (1980).</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Williams &amp; McIntyre (1980)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 diverging pit adds a telephoto component</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Spatial acuity</a:t>
            </a:r>
            <a:r>
              <a:rPr sz="1600" b="0" i="0">
                <a:solidFill>
                  <a:srgbClr val="1E2330"/>
                </a:solidFill>
                <a:latin typeface="Arial"/>
              </a:rPr>
              <a:t> depends on how large the image is relative to the spacing of receptors. A longer </a:t>
            </a:r>
            <a:r>
              <a:rPr sz="1600" b="1" i="0">
                <a:solidFill>
                  <a:srgbClr val="1F3FA0"/>
                </a:solidFill>
                <a:latin typeface="Arial"/>
              </a:rPr>
              <a:t>focal length</a:t>
            </a:r>
            <a:r>
              <a:rPr sz="1600" b="0" i="0">
                <a:solidFill>
                  <a:srgbClr val="1E2330"/>
                </a:solidFill>
                <a:latin typeface="Arial"/>
              </a:rPr>
              <a:t> spreads a given visual angle over more retinal distance, so more receptors sample it.</a:t>
            </a:r>
          </a:p>
          <a:p>
            <a:pPr algn="l">
              <a:lnSpc>
                <a:spcPct val="108000"/>
              </a:lnSpc>
              <a:spcAft>
                <a:spcPts val="960"/>
              </a:spcAft>
            </a:pPr>
            <a:r>
              <a:rPr sz="1600" b="0" i="0">
                <a:solidFill>
                  <a:srgbClr val="1E2330"/>
                </a:solidFill>
                <a:latin typeface="Arial"/>
              </a:rPr>
              <a:t>Williams and McIntyre showed that the pit in front of the retina acts as a negative (diverging) lens. Combined with the positive corneal lens, it forms a </a:t>
            </a:r>
            <a:r>
              <a:rPr sz="1600" b="1" i="0">
                <a:solidFill>
                  <a:srgbClr val="1F3FA0"/>
                </a:solidFill>
                <a:latin typeface="Arial"/>
              </a:rPr>
              <a:t>telephoto system</a:t>
            </a:r>
            <a:r>
              <a:rPr sz="1600" b="0" i="0">
                <a:solidFill>
                  <a:srgbClr val="1E2330"/>
                </a:solidFill>
                <a:latin typeface="Arial"/>
              </a:rPr>
              <a:t>, the arrangement of a Galilean telescope, that magnifies the image formed by the cornea before it reaches the receptors.</a:t>
            </a:r>
          </a:p>
          <a:p>
            <a:pPr algn="l">
              <a:lnSpc>
                <a:spcPct val="108000"/>
              </a:lnSpc>
              <a:spcAft>
                <a:spcPts val="960"/>
              </a:spcAft>
            </a:pPr>
            <a:r>
              <a:rPr sz="1600" b="0" i="0">
                <a:solidFill>
                  <a:srgbClr val="1E2330"/>
                </a:solidFill>
                <a:latin typeface="Arial"/>
              </a:rPr>
              <a:t>The effective focal length therefore exceeds the physical length of the eye tube. This explains how an eye with a lens only a fraction of a millimeter wide can achieve angular resolution comparable to much larger eyes.</a:t>
            </a:r>
          </a:p>
          <a:p>
            <a:pPr algn="l">
              <a:lnSpc>
                <a:spcPct val="108000"/>
              </a:lnSpc>
              <a:spcAft>
                <a:spcPts val="960"/>
              </a:spcAft>
            </a:pPr>
            <a:r>
              <a:rPr sz="1600" b="0" i="0">
                <a:solidFill>
                  <a:srgbClr val="1E2330"/>
                </a:solidFill>
                <a:latin typeface="Arial"/>
              </a:rPr>
              <a:t>The design has a cost. Magnification spreads light over more receptors and narrows the field of view, which is one reason the retina must be moved to inspect a scene.</a:t>
            </a:r>
          </a:p>
        </p:txBody>
      </p:sp>
      <p:pic>
        <p:nvPicPr>
          <p:cNvPr id="4" name="Picture 3" descr="f05_telephoto.png"/>
          <p:cNvPicPr>
            <a:picLocks noChangeAspect="1"/>
          </p:cNvPicPr>
          <p:nvPr/>
        </p:nvPicPr>
        <p:blipFill>
          <a:blip r:embed="rId2"/>
          <a:stretch>
            <a:fillRect/>
          </a:stretch>
        </p:blipFill>
        <p:spPr>
          <a:xfrm>
            <a:off x="6687007" y="1280160"/>
            <a:ext cx="4937760" cy="1634104"/>
          </a:xfrm>
          <a:prstGeom prst="rect">
            <a:avLst/>
          </a:prstGeom>
        </p:spPr>
      </p:pic>
      <p:sp>
        <p:nvSpPr>
          <p:cNvPr id="5" name="Figure caption"/>
          <p:cNvSpPr txBox="1"/>
          <p:nvPr/>
        </p:nvSpPr>
        <p:spPr>
          <a:xfrm>
            <a:off x="6687007" y="3005704"/>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Ray diagram of a converging lens followed by a diverging element. Thin-lens schematic illustrating the telephoto principle reported by Williams &amp; McIntyre (1980); not to scale.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Williams &amp; McIntyre (1980)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Receptor spacing sets the limit of resolution</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Land measured a minimum center-to-center receptor separation of 1.7 µm in the principal retina, corresponding to about 11 arcmin of visual angle in the species he examined. Later work on other salticids reported principal-eye resolution as fine as 0.04°, about 2.4 arcmin, with the telephoto component included.</a:t>
            </a:r>
          </a:p>
          <a:p>
            <a:pPr algn="l">
              <a:lnSpc>
                <a:spcPct val="108000"/>
              </a:lnSpc>
              <a:spcAft>
                <a:spcPts val="1080"/>
              </a:spcAft>
            </a:pPr>
            <a:r>
              <a:rPr sz="1800" b="0" i="0">
                <a:solidFill>
                  <a:srgbClr val="1E2330"/>
                </a:solidFill>
                <a:latin typeface="Arial"/>
              </a:rPr>
              <a:t>These values make the principal eyes among the most acute known for an eye of their size. Resolution is limited by two factors: the spacing of receptors and the blur imposed by </a:t>
            </a:r>
            <a:r>
              <a:rPr sz="1800" b="1" i="0">
                <a:solidFill>
                  <a:srgbClr val="1F3FA0"/>
                </a:solidFill>
                <a:latin typeface="Arial"/>
              </a:rPr>
              <a:t>diffraction</a:t>
            </a:r>
            <a:r>
              <a:rPr sz="1800" b="0" i="0">
                <a:solidFill>
                  <a:srgbClr val="1E2330"/>
                </a:solidFill>
                <a:latin typeface="Arial"/>
              </a:rPr>
              <a:t>, the spreading of light that passes through a small aperture.</a:t>
            </a:r>
          </a:p>
          <a:p>
            <a:pPr algn="l">
              <a:lnSpc>
                <a:spcPct val="108000"/>
              </a:lnSpc>
              <a:spcAft>
                <a:spcPts val="1080"/>
              </a:spcAft>
            </a:pPr>
            <a:r>
              <a:rPr sz="1800" b="0" i="0">
                <a:solidFill>
                  <a:srgbClr val="1E2330"/>
                </a:solidFill>
                <a:latin typeface="Arial"/>
              </a:rPr>
              <a:t>Acuity varies with ecology. </a:t>
            </a:r>
            <a:r>
              <a:rPr sz="1800" b="0" i="1">
                <a:solidFill>
                  <a:srgbClr val="1E2330"/>
                </a:solidFill>
                <a:latin typeface="Arial"/>
              </a:rPr>
              <a:t>Cyrba algerina</a:t>
            </a:r>
            <a:r>
              <a:rPr sz="1800" b="0" i="0">
                <a:solidFill>
                  <a:srgbClr val="1E2330"/>
                </a:solidFill>
                <a:latin typeface="Arial"/>
              </a:rPr>
              <a:t> hunts under stones in dim light; its principal eyes have a short focal length and wide paired receptors that pool light. Their acuity is 12.4 arcmin, coarser than that of bright-light species, with higher </a:t>
            </a:r>
            <a:r>
              <a:rPr sz="1800" b="1" i="0">
                <a:solidFill>
                  <a:srgbClr val="1F3FA0"/>
                </a:solidFill>
                <a:latin typeface="Arial"/>
              </a:rPr>
              <a:t>sensitivity</a:t>
            </a:r>
            <a:r>
              <a:rPr sz="1800" b="0" i="0">
                <a:solidFill>
                  <a:srgbClr val="1E2330"/>
                </a:solidFill>
                <a:latin typeface="Arial"/>
              </a:rPr>
              <a:t>.</a:t>
            </a:r>
          </a:p>
          <a:p>
            <a:pPr algn="l">
              <a:lnSpc>
                <a:spcPct val="108000"/>
              </a:lnSpc>
              <a:spcAft>
                <a:spcPts val="1080"/>
              </a:spcAft>
            </a:pPr>
            <a:r>
              <a:rPr sz="1800" b="0" i="0">
                <a:solidFill>
                  <a:srgbClr val="1E2330"/>
                </a:solidFill>
                <a:latin typeface="Arial"/>
              </a:rPr>
              <a:t>Acuity and sensitivity therefore trade off within the same optical design. Small eyes cannot maximize both.</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Cerveira et al. (2021)</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Four tiers raise a question about wavelength and focus</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00"/>
              </a:spcAft>
            </a:pPr>
            <a:r>
              <a:rPr sz="1500" b="0" i="0">
                <a:solidFill>
                  <a:srgbClr val="1E2330"/>
                </a:solidFill>
                <a:latin typeface="Arial"/>
              </a:rPr>
              <a:t>A lens with </a:t>
            </a:r>
            <a:r>
              <a:rPr sz="1500" b="1" i="0">
                <a:solidFill>
                  <a:srgbClr val="1F3FA0"/>
                </a:solidFill>
                <a:latin typeface="Arial"/>
              </a:rPr>
              <a:t>chromatic aberration</a:t>
            </a:r>
            <a:r>
              <a:rPr sz="1500" b="0" i="0">
                <a:solidFill>
                  <a:srgbClr val="1E2330"/>
                </a:solidFill>
                <a:latin typeface="Arial"/>
              </a:rPr>
              <a:t> brings different wavelengths into focus at different distances behind it: short wavelengths focus closer to the lens, long wavelengths farther away. Land proposed that the tiered retina exploits this property.</a:t>
            </a:r>
          </a:p>
          <a:p>
            <a:pPr algn="l">
              <a:lnSpc>
                <a:spcPct val="108000"/>
              </a:lnSpc>
              <a:spcAft>
                <a:spcPts val="900"/>
              </a:spcAft>
            </a:pPr>
            <a:r>
              <a:rPr sz="1500" b="0" i="0">
                <a:solidFill>
                  <a:srgbClr val="1E2330"/>
                </a:solidFill>
                <a:latin typeface="Arial"/>
              </a:rPr>
              <a:t>From the optics, he calculated that for blue-green light the best image of distant objects falls on layer 2, whereas layer 1 is focused on a plane about 2 cm in front of the animal. For red light, layer 1 would be focused at infinity.</a:t>
            </a:r>
          </a:p>
          <a:p>
            <a:pPr algn="l">
              <a:lnSpc>
                <a:spcPct val="108000"/>
              </a:lnSpc>
              <a:spcAft>
                <a:spcPts val="900"/>
              </a:spcAft>
            </a:pPr>
            <a:r>
              <a:rPr sz="1500" b="0" i="0">
                <a:solidFill>
                  <a:srgbClr val="1E2330"/>
                </a:solidFill>
                <a:latin typeface="Arial"/>
              </a:rPr>
              <a:t>He therefore predicted pigment differences among tiers: red-sensitive receptors in layer 1, blue-green in layer 2, and violet–ultraviolet in layer 3. This was a hypothesis derived from geometry, not a measurement of receptor sensitivity.</a:t>
            </a:r>
          </a:p>
          <a:p>
            <a:pPr algn="l">
              <a:lnSpc>
                <a:spcPct val="108000"/>
              </a:lnSpc>
              <a:spcAft>
                <a:spcPts val="900"/>
              </a:spcAft>
            </a:pPr>
            <a:r>
              <a:rPr sz="1500" b="0" i="0">
                <a:solidFill>
                  <a:srgbClr val="1E2330"/>
                </a:solidFill>
                <a:latin typeface="Arial"/>
              </a:rPr>
              <a:t>Later intracellular recordings and opsin studies tested the prediction directly. Part of it held, layered spectral sensitivity, and part did not, red receptors in layer 1, as the following slides show.</a:t>
            </a:r>
          </a:p>
        </p:txBody>
      </p:sp>
      <p:pic>
        <p:nvPicPr>
          <p:cNvPr id="4" name="Picture 3" descr="f07_conjugate_planes.png"/>
          <p:cNvPicPr>
            <a:picLocks noChangeAspect="1"/>
          </p:cNvPicPr>
          <p:nvPr/>
        </p:nvPicPr>
        <p:blipFill>
          <a:blip r:embed="rId2"/>
          <a:stretch>
            <a:fillRect/>
          </a:stretch>
        </p:blipFill>
        <p:spPr>
          <a:xfrm>
            <a:off x="6687007" y="1280160"/>
            <a:ext cx="4937760" cy="1878402"/>
          </a:xfrm>
          <a:prstGeom prst="rect">
            <a:avLst/>
          </a:prstGeom>
        </p:spPr>
      </p:pic>
      <p:sp>
        <p:nvSpPr>
          <p:cNvPr id="5" name="Figure caption"/>
          <p:cNvSpPr txBox="1"/>
          <p:nvPr/>
        </p:nvSpPr>
        <p:spPr>
          <a:xfrm>
            <a:off x="6687007" y="3250002"/>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Object planes calculated to be in focus on layers 1 and 2. Values from Land (1969a); schematic axis, not to scale.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Intracellular recordings found UV and green receptors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DeVoe recorded intracellularly from photoreceptors in the principal eyes of </a:t>
            </a:r>
            <a:r>
              <a:rPr sz="1600" b="0" i="1">
                <a:solidFill>
                  <a:srgbClr val="1E2330"/>
                </a:solidFill>
                <a:latin typeface="Arial"/>
              </a:rPr>
              <a:t>Phidippus</a:t>
            </a:r>
            <a:r>
              <a:rPr sz="1600" b="0" i="0">
                <a:solidFill>
                  <a:srgbClr val="1E2330"/>
                </a:solidFill>
                <a:latin typeface="Arial"/>
              </a:rPr>
              <a:t> and measured each cell’s </a:t>
            </a:r>
            <a:r>
              <a:rPr sz="1600" b="1" i="0">
                <a:solidFill>
                  <a:srgbClr val="1F3FA0"/>
                </a:solidFill>
                <a:latin typeface="Arial"/>
              </a:rPr>
              <a:t>spectral sensitivity</a:t>
            </a:r>
            <a:r>
              <a:rPr sz="1600" b="0" i="0">
                <a:solidFill>
                  <a:srgbClr val="1E2330"/>
                </a:solidFill>
                <a:latin typeface="Arial"/>
              </a:rPr>
              <a:t>, the relative response to equal-energy flashes across wavelengths.</a:t>
            </a:r>
          </a:p>
          <a:p>
            <a:pPr algn="l">
              <a:lnSpc>
                <a:spcPct val="108000"/>
              </a:lnSpc>
              <a:spcAft>
                <a:spcPts val="960"/>
              </a:spcAft>
            </a:pPr>
            <a:r>
              <a:rPr sz="1600" b="0" i="0">
                <a:solidFill>
                  <a:srgbClr val="1E2330"/>
                </a:solidFill>
                <a:latin typeface="Arial"/>
              </a:rPr>
              <a:t>Three response classes appeared. </a:t>
            </a:r>
            <a:r>
              <a:rPr sz="1600" b="1" i="0">
                <a:solidFill>
                  <a:srgbClr val="1F3FA0"/>
                </a:solidFill>
                <a:latin typeface="Arial"/>
              </a:rPr>
              <a:t>UV cells</a:t>
            </a:r>
            <a:r>
              <a:rPr sz="1600" b="0" i="0">
                <a:solidFill>
                  <a:srgbClr val="1E2330"/>
                </a:solidFill>
                <a:latin typeface="Arial"/>
              </a:rPr>
              <a:t> peaked at about 370 nm. </a:t>
            </a:r>
            <a:r>
              <a:rPr sz="1600" b="1" i="0">
                <a:solidFill>
                  <a:srgbClr val="1F3FA0"/>
                </a:solidFill>
                <a:latin typeface="Arial"/>
              </a:rPr>
              <a:t>Green cells</a:t>
            </a:r>
            <a:r>
              <a:rPr sz="1600" b="0" i="0">
                <a:solidFill>
                  <a:srgbClr val="1E2330"/>
                </a:solidFill>
                <a:latin typeface="Arial"/>
              </a:rPr>
              <a:t> were well fit by visual-pigment templates peaking at 532 nm. A third class showed two peaks, near 370 and 525 nm.</a:t>
            </a:r>
          </a:p>
          <a:p>
            <a:pPr algn="l">
              <a:lnSpc>
                <a:spcPct val="108000"/>
              </a:lnSpc>
              <a:spcAft>
                <a:spcPts val="960"/>
              </a:spcAft>
            </a:pPr>
            <a:r>
              <a:rPr sz="1600" b="0" i="0">
                <a:solidFill>
                  <a:srgbClr val="1E2330"/>
                </a:solidFill>
                <a:latin typeface="Arial"/>
              </a:rPr>
              <a:t>A visual pigment absorbs light over a broad band, so one receptor class cannot distinguish wavelength from intensity. Discriminating color requires comparing at least two classes with different spectral sensitivities.</a:t>
            </a:r>
          </a:p>
          <a:p>
            <a:pPr algn="l">
              <a:lnSpc>
                <a:spcPct val="108000"/>
              </a:lnSpc>
              <a:spcAft>
                <a:spcPts val="960"/>
              </a:spcAft>
            </a:pPr>
            <a:r>
              <a:rPr sz="1600" b="0" i="0">
                <a:solidFill>
                  <a:srgbClr val="1E2330"/>
                </a:solidFill>
                <a:latin typeface="Arial"/>
              </a:rPr>
              <a:t>The data established ultraviolet and green channels in the principal eyes. They did not show which tier each cell belonged to, because the recording electrode does not reveal the cell’s depth in the retina without separate marking.</a:t>
            </a:r>
          </a:p>
        </p:txBody>
      </p:sp>
      <p:pic>
        <p:nvPicPr>
          <p:cNvPr id="4" name="Picture 3" descr="f08_devoe_spectral.png"/>
          <p:cNvPicPr>
            <a:picLocks noChangeAspect="1"/>
          </p:cNvPicPr>
          <p:nvPr/>
        </p:nvPicPr>
        <p:blipFill>
          <a:blip r:embed="rId2"/>
          <a:stretch>
            <a:fillRect/>
          </a:stretch>
        </p:blipFill>
        <p:spPr>
          <a:xfrm>
            <a:off x="6504127" y="1280160"/>
            <a:ext cx="5120640" cy="3607196"/>
          </a:xfrm>
          <a:prstGeom prst="rect">
            <a:avLst/>
          </a:prstGeom>
        </p:spPr>
      </p:pic>
      <p:sp>
        <p:nvSpPr>
          <p:cNvPr id="5" name="Figure caption"/>
          <p:cNvSpPr txBox="1"/>
          <p:nvPr/>
        </p:nvSpPr>
        <p:spPr>
          <a:xfrm>
            <a:off x="6504127" y="497879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Spectral classes reported by DeVoe (1975). Curves are standard visual-pigment templates (Govardovskii et al. 2000) drawn at the reported peak wavelengths, not recorded traces.</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DeVoe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Identified receptors link tiers to spectral classes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Blest and colleagues combined intracellular recording with dye marking to identify the tier of each recorded receptor. Green cells peaked at about 520 nm and UV cells at about 360 nm, close to DeVoe’s values.</a:t>
            </a:r>
          </a:p>
          <a:p>
            <a:pPr algn="l">
              <a:lnSpc>
                <a:spcPct val="108000"/>
              </a:lnSpc>
              <a:spcAft>
                <a:spcPts val="960"/>
              </a:spcAft>
            </a:pPr>
            <a:r>
              <a:rPr sz="1600" b="0" i="0">
                <a:solidFill>
                  <a:srgbClr val="1E2330"/>
                </a:solidFill>
                <a:latin typeface="Arial"/>
              </a:rPr>
              <a:t>Molecular work in </a:t>
            </a:r>
            <a:r>
              <a:rPr sz="1600" b="0" i="1">
                <a:solidFill>
                  <a:srgbClr val="1E2330"/>
                </a:solidFill>
                <a:latin typeface="Arial"/>
              </a:rPr>
              <a:t>Hasarius adansoni</a:t>
            </a:r>
            <a:r>
              <a:rPr sz="1600" b="0" i="0">
                <a:solidFill>
                  <a:srgbClr val="1E2330"/>
                </a:solidFill>
                <a:latin typeface="Arial"/>
              </a:rPr>
              <a:t> later localized green-sensitive opsin to layers 1 and 2 and ultraviolet-sensitive opsin to the more distal layers 3 and 4. Layer 1 therefore does not contain the red-sensitive pigment Land predicted.</a:t>
            </a:r>
          </a:p>
          <a:p>
            <a:pPr algn="l">
              <a:lnSpc>
                <a:spcPct val="108000"/>
              </a:lnSpc>
              <a:spcAft>
                <a:spcPts val="960"/>
              </a:spcAft>
            </a:pPr>
            <a:r>
              <a:rPr sz="1600" b="0" i="0">
                <a:solidFill>
                  <a:srgbClr val="1E2330"/>
                </a:solidFill>
                <a:latin typeface="Arial"/>
              </a:rPr>
              <a:t>Land’s geometric reasoning about focal planes remained useful, but the pigment assignment changed. The layered design reflects both wavelength sensitivity and focus, without the specific red channel his model proposed.</a:t>
            </a:r>
          </a:p>
          <a:p>
            <a:pPr algn="l">
              <a:lnSpc>
                <a:spcPct val="108000"/>
              </a:lnSpc>
              <a:spcAft>
                <a:spcPts val="960"/>
              </a:spcAft>
            </a:pPr>
            <a:r>
              <a:rPr sz="1600" b="0" i="0">
                <a:solidFill>
                  <a:srgbClr val="1E2330"/>
                </a:solidFill>
                <a:latin typeface="Arial"/>
              </a:rPr>
              <a:t>The result shows how an optical model generates testable predictions, and how direct measurement of identified cells is required to confirm them.</a:t>
            </a:r>
          </a:p>
        </p:txBody>
      </p:sp>
      <p:pic>
        <p:nvPicPr>
          <p:cNvPr id="4" name="Picture 3" descr="f06_retina_tiers.png"/>
          <p:cNvPicPr>
            <a:picLocks noChangeAspect="1"/>
          </p:cNvPicPr>
          <p:nvPr/>
        </p:nvPicPr>
        <p:blipFill>
          <a:blip r:embed="rId2"/>
          <a:stretch>
            <a:fillRect/>
          </a:stretch>
        </p:blipFill>
        <p:spPr>
          <a:xfrm>
            <a:off x="6504127" y="1280160"/>
            <a:ext cx="5120640" cy="2702559"/>
          </a:xfrm>
          <a:prstGeom prst="rect">
            <a:avLst/>
          </a:prstGeom>
        </p:spPr>
      </p:pic>
      <p:sp>
        <p:nvSpPr>
          <p:cNvPr id="5" name="Figure caption"/>
          <p:cNvSpPr txBox="1"/>
          <p:nvPr/>
        </p:nvSpPr>
        <p:spPr>
          <a:xfrm>
            <a:off x="6504127" y="407416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Pigment predicted for each tier by Land (1969a) compared with later spectral and opsin evidence in Hasarius adansoni (Koyanagi et al. 2008; Nagata et al. 2012). Summary table, not original data.</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Blest et al. (1981); Koyanagi et al. (2008); 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Opsin genes define the spectral channels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1E2330"/>
                </a:solidFill>
                <a:latin typeface="Arial"/>
              </a:rPr>
              <a:t>An </a:t>
            </a:r>
            <a:r>
              <a:rPr sz="1400" b="1" i="0">
                <a:solidFill>
                  <a:srgbClr val="1F3FA0"/>
                </a:solidFill>
                <a:latin typeface="Arial"/>
              </a:rPr>
              <a:t>opsin</a:t>
            </a:r>
            <a:r>
              <a:rPr sz="1400" b="0" i="0">
                <a:solidFill>
                  <a:srgbClr val="1E2330"/>
                </a:solidFill>
                <a:latin typeface="Arial"/>
              </a:rPr>
              <a:t> is the protein part of a visual pigment. It binds a chromophore (a retinal derivative) whose photoisomerization activates the receptor. The amino-acid sequence of the opsin tunes the wavelength of peak absorption.</a:t>
            </a:r>
          </a:p>
          <a:p>
            <a:pPr algn="l">
              <a:lnSpc>
                <a:spcPct val="108000"/>
              </a:lnSpc>
              <a:spcAft>
                <a:spcPts val="840"/>
              </a:spcAft>
            </a:pPr>
            <a:r>
              <a:rPr sz="1400" b="0" i="0">
                <a:solidFill>
                  <a:srgbClr val="1E2330"/>
                </a:solidFill>
                <a:latin typeface="Arial"/>
              </a:rPr>
              <a:t>Koyanagi and colleagues cloned opsin genes from </a:t>
            </a:r>
            <a:r>
              <a:rPr sz="1400" b="0" i="1">
                <a:solidFill>
                  <a:srgbClr val="1E2330"/>
                </a:solidFill>
                <a:latin typeface="Arial"/>
              </a:rPr>
              <a:t>Hasarius adansoni</a:t>
            </a:r>
            <a:r>
              <a:rPr sz="1400" b="0" i="0">
                <a:solidFill>
                  <a:srgbClr val="1E2330"/>
                </a:solidFill>
                <a:latin typeface="Arial"/>
              </a:rPr>
              <a:t>. Later work assigned a green-sensitive opsin (</a:t>
            </a:r>
            <a:r>
              <a:rPr sz="1400" b="1" i="0">
                <a:solidFill>
                  <a:srgbClr val="1F3FA0"/>
                </a:solidFill>
                <a:latin typeface="Arial"/>
              </a:rPr>
              <a:t>Rh1</a:t>
            </a:r>
            <a:r>
              <a:rPr sz="1400" b="0" i="0">
                <a:solidFill>
                  <a:srgbClr val="1E2330"/>
                </a:solidFill>
                <a:latin typeface="Arial"/>
              </a:rPr>
              <a:t>), a blue-sensitive opsin (</a:t>
            </a:r>
            <a:r>
              <a:rPr sz="1400" b="1" i="0">
                <a:solidFill>
                  <a:srgbClr val="1F3FA0"/>
                </a:solidFill>
                <a:latin typeface="Arial"/>
              </a:rPr>
              <a:t>Rh2</a:t>
            </a:r>
            <a:r>
              <a:rPr sz="1400" b="0" i="0">
                <a:solidFill>
                  <a:srgbClr val="1E2330"/>
                </a:solidFill>
                <a:latin typeface="Arial"/>
              </a:rPr>
              <a:t>), and ultraviolet-sensitive opsins (</a:t>
            </a:r>
            <a:r>
              <a:rPr sz="1400" b="1" i="0">
                <a:solidFill>
                  <a:srgbClr val="1F3FA0"/>
                </a:solidFill>
                <a:latin typeface="Arial"/>
              </a:rPr>
              <a:t>Rh3</a:t>
            </a:r>
            <a:r>
              <a:rPr sz="1400" b="0" i="0">
                <a:solidFill>
                  <a:srgbClr val="1E2330"/>
                </a:solidFill>
                <a:latin typeface="Arial"/>
              </a:rPr>
              <a:t>, </a:t>
            </a:r>
            <a:r>
              <a:rPr sz="1400" b="1" i="0">
                <a:solidFill>
                  <a:srgbClr val="1F3FA0"/>
                </a:solidFill>
                <a:latin typeface="Arial"/>
              </a:rPr>
              <a:t>Rh4</a:t>
            </a:r>
            <a:r>
              <a:rPr sz="1400" b="0" i="0">
                <a:solidFill>
                  <a:srgbClr val="1E2330"/>
                </a:solidFill>
                <a:latin typeface="Arial"/>
              </a:rPr>
              <a:t>). Rh1 is expressed in most eyes; most eyes use two opsins, in combinations that differ by eye type.</a:t>
            </a:r>
          </a:p>
          <a:p>
            <a:pPr algn="l">
              <a:lnSpc>
                <a:spcPct val="108000"/>
              </a:lnSpc>
              <a:spcAft>
                <a:spcPts val="840"/>
              </a:spcAft>
            </a:pPr>
            <a:r>
              <a:rPr sz="1400" b="0" i="0">
                <a:solidFill>
                  <a:srgbClr val="1E2330"/>
                </a:solidFill>
                <a:latin typeface="Arial"/>
              </a:rPr>
              <a:t>Reports differ on where Rh2 is expressed. Immunolabeling studies have placed it in few or no principal-eye receptors, so its contribution to principal-eye color vision remains uncertain.</a:t>
            </a:r>
          </a:p>
          <a:p>
            <a:pPr algn="l">
              <a:lnSpc>
                <a:spcPct val="108000"/>
              </a:lnSpc>
              <a:spcAft>
                <a:spcPts val="840"/>
              </a:spcAft>
            </a:pPr>
            <a:r>
              <a:rPr sz="1400" b="0" i="0">
                <a:solidFill>
                  <a:srgbClr val="1E2330"/>
                </a:solidFill>
                <a:latin typeface="Arial"/>
              </a:rPr>
              <a:t>Like insect photoreceptors, spider photoreceptors are </a:t>
            </a:r>
            <a:r>
              <a:rPr sz="1400" b="1" i="0">
                <a:solidFill>
                  <a:srgbClr val="1F3FA0"/>
                </a:solidFill>
                <a:latin typeface="Arial"/>
              </a:rPr>
              <a:t>rhabdomeric</a:t>
            </a:r>
            <a:r>
              <a:rPr sz="1400" b="0" i="0">
                <a:solidFill>
                  <a:srgbClr val="1E2330"/>
                </a:solidFill>
                <a:latin typeface="Arial"/>
              </a:rPr>
              <a:t>: the pigment sits in stacks of microvilli, and light depolarizes the receptor. The intracellular steps of the spider cascade have been studied far less than those of </a:t>
            </a:r>
            <a:r>
              <a:rPr sz="1400" b="0" i="1">
                <a:solidFill>
                  <a:srgbClr val="1E2330"/>
                </a:solidFill>
                <a:latin typeface="Arial"/>
              </a:rPr>
              <a:t>Drosophila</a:t>
            </a:r>
            <a:r>
              <a:rPr sz="1400" b="0" i="0">
                <a:solidFill>
                  <a:srgbClr val="1E2330"/>
                </a:solidFill>
                <a:latin typeface="Arial"/>
              </a:rPr>
              <a:t>.</a:t>
            </a:r>
          </a:p>
        </p:txBody>
      </p:sp>
      <p:pic>
        <p:nvPicPr>
          <p:cNvPr id="4" name="Picture 3" descr="f26_opsins.png"/>
          <p:cNvPicPr>
            <a:picLocks noChangeAspect="1"/>
          </p:cNvPicPr>
          <p:nvPr/>
        </p:nvPicPr>
        <p:blipFill>
          <a:blip r:embed="rId2"/>
          <a:stretch>
            <a:fillRect/>
          </a:stretch>
        </p:blipFill>
        <p:spPr>
          <a:xfrm>
            <a:off x="6504127" y="1280160"/>
            <a:ext cx="5120640" cy="2153219"/>
          </a:xfrm>
          <a:prstGeom prst="rect">
            <a:avLst/>
          </a:prstGeom>
        </p:spPr>
      </p:pic>
      <p:sp>
        <p:nvSpPr>
          <p:cNvPr id="5" name="Figure caption"/>
          <p:cNvSpPr txBox="1"/>
          <p:nvPr/>
        </p:nvSpPr>
        <p:spPr>
          <a:xfrm>
            <a:off x="6504127" y="352481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Salticid opsins and their reported locations, summarized from Koyanagi et al. (2008) and Nagata et al. (2012). Summary table, not original data.</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Koyanagi et al. (2008); 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Layer 2 receives a deliberately defocused image</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Nagata and colleagues found that receptors in both layer 1 and layer 2 of </a:t>
            </a:r>
            <a:r>
              <a:rPr sz="1600" b="0" i="1">
                <a:solidFill>
                  <a:srgbClr val="1E2330"/>
                </a:solidFill>
                <a:latin typeface="Arial"/>
              </a:rPr>
              <a:t>Hasarius adansoni</a:t>
            </a:r>
            <a:r>
              <a:rPr sz="1600" b="0" i="0">
                <a:solidFill>
                  <a:srgbClr val="1E2330"/>
                </a:solidFill>
                <a:latin typeface="Arial"/>
              </a:rPr>
              <a:t> contain the same green-sensitive pigment. Because of chromatic aberration, green light is focused sharply only on layer 1.</a:t>
            </a:r>
          </a:p>
          <a:p>
            <a:pPr algn="l">
              <a:lnSpc>
                <a:spcPct val="108000"/>
              </a:lnSpc>
              <a:spcAft>
                <a:spcPts val="960"/>
              </a:spcAft>
            </a:pPr>
            <a:r>
              <a:rPr sz="1600" b="0" i="0">
                <a:solidFill>
                  <a:srgbClr val="1E2330"/>
                </a:solidFill>
                <a:latin typeface="Arial"/>
              </a:rPr>
              <a:t>Layer 2 therefore always receives a blurred version of the green image. The amount of blur depends on the distance to the object: the object’s image plane shifts as it approaches, changing the blur on layer 2 relative to layer 1.</a:t>
            </a:r>
          </a:p>
          <a:p>
            <a:pPr algn="l">
              <a:lnSpc>
                <a:spcPct val="108000"/>
              </a:lnSpc>
              <a:spcAft>
                <a:spcPts val="960"/>
              </a:spcAft>
            </a:pPr>
            <a:r>
              <a:rPr sz="1600" b="0" i="0">
                <a:solidFill>
                  <a:srgbClr val="1E2330"/>
                </a:solidFill>
                <a:latin typeface="Arial"/>
              </a:rPr>
              <a:t>Comparing a sharp image with a defocused image of the same scene provides </a:t>
            </a:r>
            <a:r>
              <a:rPr sz="1600" b="1" i="0">
                <a:solidFill>
                  <a:srgbClr val="1F3FA0"/>
                </a:solidFill>
                <a:latin typeface="Arial"/>
              </a:rPr>
              <a:t>depth from defocus</a:t>
            </a:r>
            <a:r>
              <a:rPr sz="1600" b="0" i="0">
                <a:solidFill>
                  <a:srgbClr val="1E2330"/>
                </a:solidFill>
                <a:latin typeface="Arial"/>
              </a:rPr>
              <a:t>, a monocular cue to </a:t>
            </a:r>
            <a:r>
              <a:rPr sz="1600" b="1" i="0">
                <a:solidFill>
                  <a:srgbClr val="1F3FA0"/>
                </a:solidFill>
                <a:latin typeface="Arial"/>
              </a:rPr>
              <a:t>absolute distance</a:t>
            </a:r>
            <a:r>
              <a:rPr sz="1600" b="0" i="0">
                <a:solidFill>
                  <a:srgbClr val="1E2330"/>
                </a:solidFill>
                <a:latin typeface="Arial"/>
              </a:rPr>
              <a:t>. It requires neither two eyes nor movement of the head.</a:t>
            </a:r>
          </a:p>
          <a:p>
            <a:pPr algn="l">
              <a:lnSpc>
                <a:spcPct val="108000"/>
              </a:lnSpc>
              <a:spcAft>
                <a:spcPts val="960"/>
              </a:spcAft>
            </a:pPr>
            <a:r>
              <a:rPr sz="1600" b="0" i="0">
                <a:solidFill>
                  <a:srgbClr val="1E2330"/>
                </a:solidFill>
                <a:latin typeface="Arial"/>
              </a:rPr>
              <a:t>The anatomy alone does not prove the brain performs this comparison. The authors tested it behaviorally by manipulating the wavelength of light and measuring the accuracy of the jumps.</a:t>
            </a:r>
          </a:p>
        </p:txBody>
      </p:sp>
      <p:pic>
        <p:nvPicPr>
          <p:cNvPr id="4" name="Picture 3" descr="f09_defocus.png"/>
          <p:cNvPicPr>
            <a:picLocks noChangeAspect="1"/>
          </p:cNvPicPr>
          <p:nvPr/>
        </p:nvPicPr>
        <p:blipFill>
          <a:blip r:embed="rId2"/>
          <a:stretch>
            <a:fillRect/>
          </a:stretch>
        </p:blipFill>
        <p:spPr>
          <a:xfrm>
            <a:off x="6687007" y="1280160"/>
            <a:ext cx="4937760" cy="2144083"/>
          </a:xfrm>
          <a:prstGeom prst="rect">
            <a:avLst/>
          </a:prstGeom>
        </p:spPr>
      </p:pic>
      <p:sp>
        <p:nvSpPr>
          <p:cNvPr id="5" name="Figure caption"/>
          <p:cNvSpPr txBox="1"/>
          <p:nvPr/>
        </p:nvSpPr>
        <p:spPr>
          <a:xfrm>
            <a:off x="6687007" y="3515683"/>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Schematic of the defocus mechanism: green light focused on layer 1 and blurred on layer 2. Drawn from the model described in Nagata et al. (2012); not to scale.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Changing the color of light shortens the jump</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Nagata and colleagues covered all but one principal eye and filmed spiders jumping at prey under </a:t>
            </a:r>
            <a:r>
              <a:rPr sz="1600" b="1" i="0">
                <a:solidFill>
                  <a:srgbClr val="1F3FA0"/>
                </a:solidFill>
                <a:latin typeface="Arial"/>
              </a:rPr>
              <a:t>monochromatic</a:t>
            </a:r>
            <a:r>
              <a:rPr sz="1600" b="0" i="0">
                <a:solidFill>
                  <a:srgbClr val="1E2330"/>
                </a:solidFill>
                <a:latin typeface="Arial"/>
              </a:rPr>
              <a:t> green or red illumination. With only one principal eye uncovered, </a:t>
            </a:r>
            <a:r>
              <a:rPr sz="1600" b="1" i="0">
                <a:solidFill>
                  <a:srgbClr val="1F3FA0"/>
                </a:solidFill>
                <a:latin typeface="Arial"/>
              </a:rPr>
              <a:t>binocular disparity</a:t>
            </a:r>
            <a:r>
              <a:rPr sz="1600" b="0" i="0">
                <a:solidFill>
                  <a:srgbClr val="1E2330"/>
                </a:solidFill>
                <a:latin typeface="Arial"/>
              </a:rPr>
              <a:t>, the difference between the two eyes’ views, was unavailable.</a:t>
            </a:r>
          </a:p>
          <a:p>
            <a:pPr algn="l">
              <a:lnSpc>
                <a:spcPct val="108000"/>
              </a:lnSpc>
              <a:spcAft>
                <a:spcPts val="960"/>
              </a:spcAft>
            </a:pPr>
            <a:r>
              <a:rPr sz="1600" b="0" i="0">
                <a:solidFill>
                  <a:srgbClr val="1E2330"/>
                </a:solidFill>
                <a:latin typeface="Arial"/>
              </a:rPr>
              <a:t>Under green light the spiders jumped accurately. Under red light they consistently undershot, landing short of the prey.</a:t>
            </a:r>
          </a:p>
          <a:p>
            <a:pPr algn="l">
              <a:lnSpc>
                <a:spcPct val="108000"/>
              </a:lnSpc>
              <a:spcAft>
                <a:spcPts val="960"/>
              </a:spcAft>
            </a:pPr>
            <a:r>
              <a:rPr sz="1600" b="0" i="0">
                <a:solidFill>
                  <a:srgbClr val="1E2330"/>
                </a:solidFill>
                <a:latin typeface="Arial"/>
              </a:rPr>
              <a:t>Red light has a longer focal length in the same lens. A target viewed in red produces the layer-2 blur that a closer target would produce in green. If the spider computes distance from a green-calibrated blur relation, it will underestimate distance in red, exactly as observed.</a:t>
            </a:r>
          </a:p>
          <a:p>
            <a:pPr algn="l">
              <a:lnSpc>
                <a:spcPct val="108000"/>
              </a:lnSpc>
              <a:spcAft>
                <a:spcPts val="960"/>
              </a:spcAft>
            </a:pPr>
            <a:r>
              <a:rPr sz="1600" b="0" i="0">
                <a:solidFill>
                  <a:srgbClr val="1E2330"/>
                </a:solidFill>
                <a:latin typeface="Arial"/>
              </a:rPr>
              <a:t>A mathematical model of the eye’s optics predicted the direction of the error. The experiment supports defocus as a distance cue; it does not exclude other cues, such as motion parallax, being used under natural conditions.</a:t>
            </a:r>
          </a:p>
        </p:txBody>
      </p:sp>
      <p:pic>
        <p:nvPicPr>
          <p:cNvPr id="4" name="Picture 3" descr="f10_red_green.png"/>
          <p:cNvPicPr>
            <a:picLocks noChangeAspect="1"/>
          </p:cNvPicPr>
          <p:nvPr/>
        </p:nvPicPr>
        <p:blipFill>
          <a:blip r:embed="rId2"/>
          <a:stretch>
            <a:fillRect/>
          </a:stretch>
        </p:blipFill>
        <p:spPr>
          <a:xfrm>
            <a:off x="6687007" y="1280160"/>
            <a:ext cx="4937760" cy="2194560"/>
          </a:xfrm>
          <a:prstGeom prst="rect">
            <a:avLst/>
          </a:prstGeom>
        </p:spPr>
      </p:pic>
      <p:sp>
        <p:nvSpPr>
          <p:cNvPr id="5" name="Figure caption"/>
          <p:cNvSpPr txBox="1"/>
          <p:nvPr/>
        </p:nvSpPr>
        <p:spPr>
          <a:xfrm>
            <a:off x="6687007" y="3566160"/>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Logic of the green–red test: identical targets, different predicted blur, accurate versus short jumps. Schematic summarizing results in Nagata et al. (2012); arc lengths illustrative.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 retinal filter adds a red channel in Habronattus</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00"/>
              </a:spcAft>
            </a:pPr>
            <a:r>
              <a:rPr sz="1500" b="0" i="0">
                <a:solidFill>
                  <a:srgbClr val="1E2330"/>
                </a:solidFill>
                <a:latin typeface="Arial"/>
              </a:rPr>
              <a:t>Most salticid principal eyes have ultraviolet and green receptors and therefore cannot distinguish red from green. Males of </a:t>
            </a:r>
            <a:r>
              <a:rPr sz="1500" b="0" i="1">
                <a:solidFill>
                  <a:srgbClr val="1E2330"/>
                </a:solidFill>
                <a:latin typeface="Arial"/>
              </a:rPr>
              <a:t>Habronattus pyrrithrix</a:t>
            </a:r>
            <a:r>
              <a:rPr sz="1500" b="0" i="0">
                <a:solidFill>
                  <a:srgbClr val="1E2330"/>
                </a:solidFill>
                <a:latin typeface="Arial"/>
              </a:rPr>
              <a:t>, however, display red and orange ornaments during courtship.</a:t>
            </a:r>
          </a:p>
          <a:p>
            <a:pPr algn="l">
              <a:lnSpc>
                <a:spcPct val="108000"/>
              </a:lnSpc>
              <a:spcAft>
                <a:spcPts val="900"/>
              </a:spcAft>
            </a:pPr>
            <a:r>
              <a:rPr sz="1500" b="0" i="0">
                <a:solidFill>
                  <a:srgbClr val="1E2330"/>
                </a:solidFill>
                <a:latin typeface="Arial"/>
              </a:rPr>
              <a:t>Zurek and colleagues found a ruby-red </a:t>
            </a:r>
            <a:r>
              <a:rPr sz="1500" b="1" i="0">
                <a:solidFill>
                  <a:srgbClr val="1F3FA0"/>
                </a:solidFill>
                <a:latin typeface="Arial"/>
              </a:rPr>
              <a:t>filter pigment</a:t>
            </a:r>
            <a:r>
              <a:rPr sz="1500" b="0" i="0">
                <a:solidFill>
                  <a:srgbClr val="1E2330"/>
                </a:solidFill>
                <a:latin typeface="Arial"/>
              </a:rPr>
              <a:t> in a restricted region of tier 1. Light passing through the filter reaches green-pigment receptors only at long wavelengths, shifting their effective peak from about 530 nm to a reported 626 nm.</a:t>
            </a:r>
          </a:p>
          <a:p>
            <a:pPr algn="l">
              <a:lnSpc>
                <a:spcPct val="108000"/>
              </a:lnSpc>
              <a:spcAft>
                <a:spcPts val="900"/>
              </a:spcAft>
            </a:pPr>
            <a:r>
              <a:rPr sz="1500" b="0" i="0">
                <a:solidFill>
                  <a:srgbClr val="1E2330"/>
                </a:solidFill>
                <a:latin typeface="Arial"/>
              </a:rPr>
              <a:t>The filtered receptors form a third spectral class, making color vision </a:t>
            </a:r>
            <a:r>
              <a:rPr sz="1500" b="1" i="0">
                <a:solidFill>
                  <a:srgbClr val="1F3FA0"/>
                </a:solidFill>
                <a:latin typeface="Arial"/>
              </a:rPr>
              <a:t>trichromatic</a:t>
            </a:r>
            <a:r>
              <a:rPr sz="1500" b="0" i="0">
                <a:solidFill>
                  <a:srgbClr val="1E2330"/>
                </a:solidFill>
                <a:latin typeface="Arial"/>
              </a:rPr>
              <a:t> without a new opsin. The mechanism changes the light reaching a receptor rather than the receptor’s pigment.</a:t>
            </a:r>
          </a:p>
          <a:p>
            <a:pPr algn="l">
              <a:lnSpc>
                <a:spcPct val="108000"/>
              </a:lnSpc>
              <a:spcAft>
                <a:spcPts val="900"/>
              </a:spcAft>
            </a:pPr>
            <a:r>
              <a:rPr sz="1500" b="0" i="0">
                <a:solidFill>
                  <a:srgbClr val="1E2330"/>
                </a:solidFill>
                <a:latin typeface="Arial"/>
              </a:rPr>
              <a:t>Because the filter covers only part of the retina, red information is available only where the filtered region points. The authors proposed that the spider must scan a scene to accumulate color information, an idea that links color vision to the retinal movements described next.</a:t>
            </a:r>
          </a:p>
        </p:txBody>
      </p:sp>
      <p:pic>
        <p:nvPicPr>
          <p:cNvPr id="4" name="Picture 3" descr="f11_red_filter.png"/>
          <p:cNvPicPr>
            <a:picLocks noChangeAspect="1"/>
          </p:cNvPicPr>
          <p:nvPr/>
        </p:nvPicPr>
        <p:blipFill>
          <a:blip r:embed="rId2"/>
          <a:stretch>
            <a:fillRect/>
          </a:stretch>
        </p:blipFill>
        <p:spPr>
          <a:xfrm>
            <a:off x="6687007" y="1280160"/>
            <a:ext cx="4937760" cy="3478367"/>
          </a:xfrm>
          <a:prstGeom prst="rect">
            <a:avLst/>
          </a:prstGeom>
        </p:spPr>
      </p:pic>
      <p:sp>
        <p:nvSpPr>
          <p:cNvPr id="5" name="Figure caption"/>
          <p:cNvSpPr txBox="1"/>
          <p:nvPr/>
        </p:nvSpPr>
        <p:spPr>
          <a:xfrm>
            <a:off x="6687007" y="4849967"/>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Spectral shift produced by the tier-1 filter in Habronattus pyrrithrix. Peak values from Zurek et al. (2015); curves are pigment templates (Govardovskii et al. 2000), not measured spectra.</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Courtship signals combine vision and vibration</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Color vision matters most in salticid social behavior. Males court females with leg waving, body postures, and colored ornaments presented within the female’s principal-eye field.</a:t>
            </a:r>
          </a:p>
          <a:p>
            <a:pPr algn="l">
              <a:lnSpc>
                <a:spcPct val="108000"/>
              </a:lnSpc>
              <a:spcAft>
                <a:spcPts val="1080"/>
              </a:spcAft>
            </a:pPr>
            <a:r>
              <a:rPr sz="1800" b="0" i="0">
                <a:solidFill>
                  <a:srgbClr val="1E2330"/>
                </a:solidFill>
                <a:latin typeface="Arial"/>
              </a:rPr>
              <a:t>Elias and colleagues used video and </a:t>
            </a:r>
            <a:r>
              <a:rPr sz="1800" b="1" i="0">
                <a:solidFill>
                  <a:srgbClr val="1F3FA0"/>
                </a:solidFill>
                <a:latin typeface="Arial"/>
              </a:rPr>
              <a:t>laser vibrometry</a:t>
            </a:r>
            <a:r>
              <a:rPr sz="1800" b="0" i="0">
                <a:solidFill>
                  <a:srgbClr val="1E2330"/>
                </a:solidFill>
                <a:latin typeface="Arial"/>
              </a:rPr>
              <a:t>, a non-contact measurement of surface vibration, to record courtship in </a:t>
            </a:r>
            <a:r>
              <a:rPr sz="1800" b="0" i="1">
                <a:solidFill>
                  <a:srgbClr val="1E2330"/>
                </a:solidFill>
                <a:latin typeface="Arial"/>
              </a:rPr>
              <a:t>Habronattus dossenus</a:t>
            </a:r>
            <a:r>
              <a:rPr sz="1800" b="0" i="0">
                <a:solidFill>
                  <a:srgbClr val="1E2330"/>
                </a:solidFill>
                <a:latin typeface="Arial"/>
              </a:rPr>
              <a:t>. Each prominent visual display was followed by a seismic signal transmitted through the substrate: thumps, scrapes, or buzzes.</a:t>
            </a:r>
          </a:p>
          <a:p>
            <a:pPr algn="l">
              <a:lnSpc>
                <a:spcPct val="108000"/>
              </a:lnSpc>
              <a:spcAft>
                <a:spcPts val="1080"/>
              </a:spcAft>
            </a:pPr>
            <a:r>
              <a:rPr sz="1800" b="0" i="0">
                <a:solidFill>
                  <a:srgbClr val="1E2330"/>
                </a:solidFill>
                <a:latin typeface="Arial"/>
              </a:rPr>
              <a:t>Ablation separated the mechanisms. Preventing abdominal movement silenced seismic signals without changing the visual display; blocking contact between abdomen and cephalothorax silenced thumps and scrapes but not buzzes. At least three mechanisms generate the vibrations.</a:t>
            </a:r>
          </a:p>
          <a:p>
            <a:pPr algn="l">
              <a:lnSpc>
                <a:spcPct val="108000"/>
              </a:lnSpc>
              <a:spcAft>
                <a:spcPts val="1080"/>
              </a:spcAft>
            </a:pPr>
            <a:r>
              <a:rPr sz="1800" b="0" i="0">
                <a:solidFill>
                  <a:srgbClr val="1E2330"/>
                </a:solidFill>
                <a:latin typeface="Arial"/>
              </a:rPr>
              <a:t>Visual and seismic components are tightly timed but separately produced. Female choice depends on both, so the principal-eye system is studied within a </a:t>
            </a:r>
            <a:r>
              <a:rPr sz="1800" b="1" i="0">
                <a:solidFill>
                  <a:srgbClr val="1F3FA0"/>
                </a:solidFill>
                <a:latin typeface="Arial"/>
              </a:rPr>
              <a:t>multimodal</a:t>
            </a:r>
            <a:r>
              <a:rPr sz="1800" b="0" i="0">
                <a:solidFill>
                  <a:srgbClr val="1E2330"/>
                </a:solidFill>
                <a:latin typeface="Arial"/>
              </a:rPr>
              <a:t> signaling context.</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Elias et al. (2003)</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Six muscles move each principal retina</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Land showed that each principal-eye tube is moved by </a:t>
            </a:r>
            <a:r>
              <a:rPr sz="1700" b="1" i="0">
                <a:solidFill>
                  <a:srgbClr val="1F3FA0"/>
                </a:solidFill>
                <a:latin typeface="Arial"/>
              </a:rPr>
              <a:t>six muscles</a:t>
            </a:r>
            <a:r>
              <a:rPr sz="1700" b="0" i="0">
                <a:solidFill>
                  <a:srgbClr val="1E2330"/>
                </a:solidFill>
                <a:latin typeface="Arial"/>
              </a:rPr>
              <a:t>. Four attach the tube to the carapace and translate the retina side to side and up and down. Two thin bands encircle the tube and </a:t>
            </a:r>
            <a:r>
              <a:rPr sz="1700" b="1" i="0">
                <a:solidFill>
                  <a:srgbClr val="1F3FA0"/>
                </a:solidFill>
                <a:latin typeface="Arial"/>
              </a:rPr>
              <a:t>rotate</a:t>
            </a:r>
            <a:r>
              <a:rPr sz="1700" b="0" i="0">
                <a:solidFill>
                  <a:srgbClr val="1E2330"/>
                </a:solidFill>
                <a:latin typeface="Arial"/>
              </a:rPr>
              <a:t> it, twisting the retina about the visual axis.</a:t>
            </a:r>
          </a:p>
          <a:p>
            <a:pPr algn="l">
              <a:lnSpc>
                <a:spcPct val="108000"/>
              </a:lnSpc>
              <a:spcAft>
                <a:spcPts val="1019"/>
              </a:spcAft>
            </a:pPr>
            <a:r>
              <a:rPr sz="1700" b="0" i="0">
                <a:solidFill>
                  <a:srgbClr val="1E2330"/>
                </a:solidFill>
                <a:latin typeface="Arial"/>
              </a:rPr>
              <a:t>The nerve supplying these muscles contains only six motor axons, one terminating in each muscle. The full repertoire of retinal movements is therefore produced by six motor neurons per eye.</a:t>
            </a:r>
          </a:p>
          <a:p>
            <a:pPr algn="l">
              <a:lnSpc>
                <a:spcPct val="108000"/>
              </a:lnSpc>
              <a:spcAft>
                <a:spcPts val="1019"/>
              </a:spcAft>
            </a:pPr>
            <a:r>
              <a:rPr sz="1700" b="0" i="0">
                <a:solidFill>
                  <a:srgbClr val="1E2330"/>
                </a:solidFill>
                <a:latin typeface="Arial"/>
              </a:rPr>
              <a:t>Because the corneal lens is fixed, moving the retina shifts which part of the lens image is sampled. A spider can redirect its gaze without moving its body or head.</a:t>
            </a:r>
          </a:p>
          <a:p>
            <a:pPr algn="l">
              <a:lnSpc>
                <a:spcPct val="108000"/>
              </a:lnSpc>
              <a:spcAft>
                <a:spcPts val="1019"/>
              </a:spcAft>
            </a:pPr>
            <a:r>
              <a:rPr sz="1700" b="0" i="0">
                <a:solidFill>
                  <a:srgbClr val="1E2330"/>
                </a:solidFill>
                <a:latin typeface="Arial"/>
              </a:rPr>
              <a:t>Movements of the two eyes are usually </a:t>
            </a:r>
            <a:r>
              <a:rPr sz="1700" b="1" i="0">
                <a:solidFill>
                  <a:srgbClr val="1F3FA0"/>
                </a:solidFill>
                <a:latin typeface="Arial"/>
              </a:rPr>
              <a:t>conjugate</a:t>
            </a:r>
            <a:r>
              <a:rPr sz="1700" b="0" i="0">
                <a:solidFill>
                  <a:srgbClr val="1E2330"/>
                </a:solidFill>
                <a:latin typeface="Arial"/>
              </a:rPr>
              <a:t>: both retinae move together in the same direction. Conjugacy implies common central control of the two motor pools.</a:t>
            </a:r>
          </a:p>
        </p:txBody>
      </p:sp>
      <p:pic>
        <p:nvPicPr>
          <p:cNvPr id="4" name="Picture 3" descr="f12_muscles.png"/>
          <p:cNvPicPr>
            <a:picLocks noChangeAspect="1"/>
          </p:cNvPicPr>
          <p:nvPr/>
        </p:nvPicPr>
        <p:blipFill>
          <a:blip r:embed="rId2"/>
          <a:stretch>
            <a:fillRect/>
          </a:stretch>
        </p:blipFill>
        <p:spPr>
          <a:xfrm>
            <a:off x="6687007" y="1280160"/>
            <a:ext cx="4937760" cy="2416853"/>
          </a:xfrm>
          <a:prstGeom prst="rect">
            <a:avLst/>
          </a:prstGeom>
        </p:spPr>
      </p:pic>
      <p:sp>
        <p:nvSpPr>
          <p:cNvPr id="5" name="Figure caption"/>
          <p:cNvSpPr txBox="1"/>
          <p:nvPr/>
        </p:nvSpPr>
        <p:spPr>
          <a:xfrm>
            <a:off x="6687007" y="3788453"/>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Schematic of the principal-eye muscles: four translators and two torsion bands, six motor axons. Muscle positions simplified; drawn from Land (1969b).</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Land identified four kinds of retinal movement</a:t>
            </a:r>
          </a:p>
        </p:txBody>
      </p:sp>
      <p:sp>
        <p:nvSpPr>
          <p:cNvPr id="3" name="Body"/>
          <p:cNvSpPr txBox="1"/>
          <p:nvPr/>
        </p:nvSpPr>
        <p:spPr>
          <a:xfrm>
            <a:off x="566928" y="1234440"/>
            <a:ext cx="11057839" cy="2606040"/>
          </a:xfrm>
          <a:prstGeom prst="rect">
            <a:avLst/>
          </a:prstGeom>
          <a:noFill/>
        </p:spPr>
        <p:txBody>
          <a:bodyPr wrap="square" lIns="0" rIns="0" tIns="0" bIns="0">
            <a:spAutoFit/>
          </a:bodyPr>
          <a:lstStyle/>
          <a:p>
            <a:pPr algn="l">
              <a:lnSpc>
                <a:spcPct val="108000"/>
              </a:lnSpc>
              <a:spcAft>
                <a:spcPts val="840"/>
              </a:spcAft>
            </a:pPr>
            <a:r>
              <a:rPr sz="1400" b="0" i="0">
                <a:solidFill>
                  <a:srgbClr val="1E2330"/>
                </a:solidFill>
                <a:latin typeface="Arial"/>
              </a:rPr>
              <a:t>By viewing the retinae through the eye’s own optics with an ophthalmoscope while presenting stimuli, Land distinguished four movement types. </a:t>
            </a:r>
            <a:r>
              <a:rPr sz="1400" b="1" i="0">
                <a:solidFill>
                  <a:srgbClr val="1F3FA0"/>
                </a:solidFill>
                <a:latin typeface="Arial"/>
              </a:rPr>
              <a:t>Spontaneous activity</a:t>
            </a:r>
            <a:r>
              <a:rPr sz="1400" b="0" i="0">
                <a:solidFill>
                  <a:srgbClr val="1E2330"/>
                </a:solidFill>
                <a:latin typeface="Arial"/>
              </a:rPr>
              <a:t> is variable, periodic side-to-side motion without an obvious stimulus.</a:t>
            </a:r>
          </a:p>
          <a:p>
            <a:pPr algn="l">
              <a:lnSpc>
                <a:spcPct val="108000"/>
              </a:lnSpc>
              <a:spcAft>
                <a:spcPts val="840"/>
              </a:spcAft>
            </a:pPr>
            <a:r>
              <a:rPr sz="1400" b="1" i="0">
                <a:solidFill>
                  <a:srgbClr val="1F3FA0"/>
                </a:solidFill>
                <a:latin typeface="Arial"/>
              </a:rPr>
              <a:t>Saccades</a:t>
            </a:r>
            <a:r>
              <a:rPr sz="1400" b="0" i="0">
                <a:solidFill>
                  <a:srgbClr val="1E2330"/>
                </a:solidFill>
                <a:latin typeface="Arial"/>
              </a:rPr>
              <a:t> are rapid shifts that bring the central region of the retina onto a target. They can be triggered by a small dark spot appearing in, or moving within, the field of a principal eye or of the ALEs.</a:t>
            </a:r>
          </a:p>
          <a:p>
            <a:pPr algn="l">
              <a:lnSpc>
                <a:spcPct val="108000"/>
              </a:lnSpc>
              <a:spcAft>
                <a:spcPts val="840"/>
              </a:spcAft>
            </a:pPr>
            <a:r>
              <a:rPr sz="1400" b="1" i="0">
                <a:solidFill>
                  <a:srgbClr val="1F3FA0"/>
                </a:solidFill>
                <a:latin typeface="Arial"/>
              </a:rPr>
              <a:t>Tracking</a:t>
            </a:r>
            <a:r>
              <a:rPr sz="1400" b="0" i="0">
                <a:solidFill>
                  <a:srgbClr val="1E2330"/>
                </a:solidFill>
                <a:latin typeface="Arial"/>
              </a:rPr>
              <a:t> keeps the central region on a target as it moves. </a:t>
            </a:r>
            <a:r>
              <a:rPr sz="1400" b="1" i="0">
                <a:solidFill>
                  <a:srgbClr val="1F3FA0"/>
                </a:solidFill>
                <a:latin typeface="Arial"/>
              </a:rPr>
              <a:t>Scanning</a:t>
            </a:r>
            <a:r>
              <a:rPr sz="1400" b="0" i="0">
                <a:solidFill>
                  <a:srgbClr val="1E2330"/>
                </a:solidFill>
                <a:latin typeface="Arial"/>
              </a:rPr>
              <a:t> is a slower, structured movement across a stationary target, combining lateral oscillation with rotation.</a:t>
            </a:r>
          </a:p>
          <a:p>
            <a:pPr algn="l">
              <a:lnSpc>
                <a:spcPct val="108000"/>
              </a:lnSpc>
              <a:spcAft>
                <a:spcPts val="840"/>
              </a:spcAft>
            </a:pPr>
            <a:r>
              <a:rPr sz="1400" b="0" i="0">
                <a:solidFill>
                  <a:srgbClr val="1E2330"/>
                </a:solidFill>
                <a:latin typeface="Arial"/>
              </a:rPr>
              <a:t>Saccades driven by the ALEs show that the secondary eyes can direct the principal retinae even when the principal eyes have not yet seen the target. This interaction between the two eye systems is the basis of later experiments with eye tracking and masking.</a:t>
            </a:r>
          </a:p>
        </p:txBody>
      </p:sp>
      <p:graphicFrame>
        <p:nvGraphicFramePr>
          <p:cNvPr id="4" name="Table 3"/>
          <p:cNvGraphicFramePr>
            <a:graphicFrameLocks noGrp="1"/>
          </p:cNvGraphicFramePr>
          <p:nvPr/>
        </p:nvGraphicFramePr>
        <p:xfrm>
          <a:off x="566928" y="3671315"/>
          <a:ext cx="11057839" cy="2546604"/>
        </p:xfrm>
        <a:graphic>
          <a:graphicData uri="http://schemas.openxmlformats.org/drawingml/2006/table">
            <a:tbl>
              <a:tblPr firstRow="1" bandRow="1">
                <a:tableStyleId>{5C22544A-7EE6-4342-B048-85BDC9FD1C3A}</a:tableStyleId>
              </a:tblPr>
              <a:tblGrid>
                <a:gridCol w="3685946"/>
                <a:gridCol w="3685946"/>
                <a:gridCol w="3685947"/>
              </a:tblGrid>
              <a:tr h="509320">
                <a:tc>
                  <a:txBody>
                    <a:bodyPr wrap="square"/>
                    <a:lstStyle/>
                    <a:p>
                      <a:pPr algn="l">
                        <a:lnSpc>
                          <a:spcPct val="108000"/>
                        </a:lnSpc>
                        <a:spcAft>
                          <a:spcPts val="0"/>
                        </a:spcAft>
                      </a:pPr>
                      <a:r>
                        <a:rPr sz="1300" b="1" i="0">
                          <a:solidFill>
                            <a:srgbClr val="1F3FA0"/>
                          </a:solidFill>
                          <a:latin typeface="Arial"/>
                        </a:rPr>
                        <a:t>Movement</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Trigger</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Function proposed</a:t>
                      </a:r>
                    </a:p>
                  </a:txBody>
                  <a:tcPr marL="73152" marR="73152">
                    <a:solidFill>
                      <a:srgbClr val="EDF2FD"/>
                    </a:solidFill>
                  </a:tcPr>
                </a:tc>
              </a:tr>
              <a:tr h="509320">
                <a:tc>
                  <a:txBody>
                    <a:bodyPr wrap="square"/>
                    <a:lstStyle/>
                    <a:p>
                      <a:pPr algn="l">
                        <a:lnSpc>
                          <a:spcPct val="108000"/>
                        </a:lnSpc>
                        <a:spcAft>
                          <a:spcPts val="0"/>
                        </a:spcAft>
                      </a:pPr>
                      <a:r>
                        <a:rPr sz="1300" b="0" i="0">
                          <a:solidFill>
                            <a:srgbClr val="1E2330"/>
                          </a:solidFill>
                          <a:latin typeface="Arial"/>
                        </a:rPr>
                        <a:t>Spontaneous</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none apparent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maintains sampling of the field</a:t>
                      </a:r>
                    </a:p>
                  </a:txBody>
                  <a:tcPr marL="73152" marR="73152">
                    <a:solidFill>
                      <a:srgbClr val="FFFFFF"/>
                    </a:solidFill>
                  </a:tcPr>
                </a:tc>
              </a:tr>
              <a:tr h="509320">
                <a:tc>
                  <a:txBody>
                    <a:bodyPr wrap="square"/>
                    <a:lstStyle/>
                    <a:p>
                      <a:pPr algn="l">
                        <a:lnSpc>
                          <a:spcPct val="108000"/>
                        </a:lnSpc>
                        <a:spcAft>
                          <a:spcPts val="0"/>
                        </a:spcAft>
                      </a:pPr>
                      <a:r>
                        <a:rPr sz="1300" b="0" i="0">
                          <a:solidFill>
                            <a:srgbClr val="1E2330"/>
                          </a:solidFill>
                          <a:latin typeface="Arial"/>
                        </a:rPr>
                        <a:t>Saccade</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small spot in AME or ALE field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centers the target</a:t>
                      </a:r>
                    </a:p>
                  </a:txBody>
                  <a:tcPr marL="73152" marR="73152">
                    <a:solidFill>
                      <a:srgbClr val="FFFFFF"/>
                    </a:solidFill>
                  </a:tcPr>
                </a:tc>
              </a:tr>
              <a:tr h="509320">
                <a:tc>
                  <a:txBody>
                    <a:bodyPr wrap="square"/>
                    <a:lstStyle/>
                    <a:p>
                      <a:pPr algn="l">
                        <a:lnSpc>
                          <a:spcPct val="108000"/>
                        </a:lnSpc>
                        <a:spcAft>
                          <a:spcPts val="0"/>
                        </a:spcAft>
                      </a:pPr>
                      <a:r>
                        <a:rPr sz="1300" b="0" i="0">
                          <a:solidFill>
                            <a:srgbClr val="1E2330"/>
                          </a:solidFill>
                          <a:latin typeface="Arial"/>
                        </a:rPr>
                        <a:t>Tracking</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moving target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holds the target centrally</a:t>
                      </a:r>
                    </a:p>
                  </a:txBody>
                  <a:tcPr marL="73152" marR="73152">
                    <a:solidFill>
                      <a:srgbClr val="FFFFFF"/>
                    </a:solidFill>
                  </a:tcPr>
                </a:tc>
              </a:tr>
              <a:tr h="509324">
                <a:tc>
                  <a:txBody>
                    <a:bodyPr wrap="square"/>
                    <a:lstStyle/>
                    <a:p>
                      <a:pPr algn="l">
                        <a:lnSpc>
                          <a:spcPct val="108000"/>
                        </a:lnSpc>
                        <a:spcAft>
                          <a:spcPts val="0"/>
                        </a:spcAft>
                      </a:pPr>
                      <a:r>
                        <a:rPr sz="1300" b="0" i="0">
                          <a:solidFill>
                            <a:srgbClr val="1E2330"/>
                          </a:solidFill>
                          <a:latin typeface="Arial"/>
                        </a:rPr>
                        <a:t>Scanning</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stationary target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pattern analysis</a:t>
                      </a:r>
                    </a:p>
                  </a:txBody>
                  <a:tcPr marL="73152" marR="73152">
                    <a:solidFill>
                      <a:srgbClr val="FFFFFF"/>
                    </a:solidFill>
                  </a:tcPr>
                </a:tc>
              </a:tr>
            </a:tbl>
          </a:graphicData>
        </a:graphic>
      </p:graphicFrame>
      <p:sp>
        <p:nvSpPr>
          <p:cNvPr id="5" name="Rectangle 4"/>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Scanning combines oscillation and rotation</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During scanning, the retinae fixate a stimulus with their central region and move laterally back and forth across it at about 0.5–1 Hz, a period of 1–2 s. At the same time both retinae shift together more slowly, at about 0.1–0.2 Hz, and rotate about the visual axis.</a:t>
            </a:r>
          </a:p>
          <a:p>
            <a:pPr algn="l">
              <a:lnSpc>
                <a:spcPct val="108000"/>
              </a:lnSpc>
              <a:spcAft>
                <a:spcPts val="1019"/>
              </a:spcAft>
            </a:pPr>
            <a:r>
              <a:rPr sz="1700" b="0" i="0">
                <a:solidFill>
                  <a:srgbClr val="1E2330"/>
                </a:solidFill>
                <a:latin typeface="Arial"/>
              </a:rPr>
              <a:t>Rotation changes the orientation of the narrow retina relative to edges in the image. Lateral oscillation sweeps the receptor strip across the stimulus, producing relative motion between receptors and a stationary object.</a:t>
            </a:r>
          </a:p>
          <a:p>
            <a:pPr algn="l">
              <a:lnSpc>
                <a:spcPct val="108000"/>
              </a:lnSpc>
              <a:spcAft>
                <a:spcPts val="1019"/>
              </a:spcAft>
            </a:pPr>
            <a:r>
              <a:rPr sz="1700" b="0" i="0">
                <a:solidFill>
                  <a:srgbClr val="1E2330"/>
                </a:solidFill>
                <a:latin typeface="Arial"/>
              </a:rPr>
              <a:t>Reports of the amplitude of rotation differ between the original paper and later summaries. The temporal structure is well established; precise angular values should be checked against Land’s original measurements before being used quantitatively.</a:t>
            </a:r>
          </a:p>
        </p:txBody>
      </p:sp>
      <p:pic>
        <p:nvPicPr>
          <p:cNvPr id="4" name="Picture 3" descr="f13_scan_frequencies.png"/>
          <p:cNvPicPr>
            <a:picLocks noChangeAspect="1"/>
          </p:cNvPicPr>
          <p:nvPr/>
        </p:nvPicPr>
        <p:blipFill>
          <a:blip r:embed="rId2"/>
          <a:stretch>
            <a:fillRect/>
          </a:stretch>
        </p:blipFill>
        <p:spPr>
          <a:xfrm>
            <a:off x="6687007" y="1280160"/>
            <a:ext cx="4937760" cy="1927018"/>
          </a:xfrm>
          <a:prstGeom prst="rect">
            <a:avLst/>
          </a:prstGeom>
        </p:spPr>
      </p:pic>
      <p:sp>
        <p:nvSpPr>
          <p:cNvPr id="5" name="Figure caption"/>
          <p:cNvSpPr txBox="1"/>
          <p:nvPr/>
        </p:nvSpPr>
        <p:spPr>
          <a:xfrm>
            <a:off x="6687007" y="3298618"/>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Frequencies of the two scanning components. Values re-plotted from Land (1969b) and Land (1972, chapter); periods computed from the frequencies.</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 Land (1972)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Scanning was proposed as a means of feature analysis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Land proposed that rotation aligns the long axis of the retina with lines or edges in the image, and that lateral oscillation moves edge-detecting receptors across those features. The retina would then sample orientation and position in sequence rather than all at once.</a:t>
            </a:r>
          </a:p>
          <a:p>
            <a:pPr algn="l">
              <a:lnSpc>
                <a:spcPct val="108000"/>
              </a:lnSpc>
              <a:spcAft>
                <a:spcPts val="1080"/>
              </a:spcAft>
            </a:pPr>
            <a:r>
              <a:rPr sz="1800" b="0" i="0">
                <a:solidFill>
                  <a:srgbClr val="1E2330"/>
                </a:solidFill>
                <a:latin typeface="Arial"/>
              </a:rPr>
              <a:t>The hypothesis fits salticid recognition behavior. Conspecifics are identified partly by the angle and arrangement of their legs, and a strip-shaped retina that rotates could match its orientation to leg segments.</a:t>
            </a:r>
          </a:p>
          <a:p>
            <a:pPr algn="l">
              <a:lnSpc>
                <a:spcPct val="108000"/>
              </a:lnSpc>
              <a:spcAft>
                <a:spcPts val="1080"/>
              </a:spcAft>
            </a:pPr>
            <a:r>
              <a:rPr sz="1800" b="0" i="0">
                <a:solidFill>
                  <a:srgbClr val="1E2330"/>
                </a:solidFill>
                <a:latin typeface="Arial"/>
              </a:rPr>
              <a:t>The proposal remains an interpretation. Land showed that scanning occurs and described its structure; he did not record neurons whose activity depends on retinal orientation relative to an edge.</a:t>
            </a:r>
          </a:p>
          <a:p>
            <a:pPr algn="l">
              <a:lnSpc>
                <a:spcPct val="108000"/>
              </a:lnSpc>
              <a:spcAft>
                <a:spcPts val="1080"/>
              </a:spcAft>
            </a:pPr>
            <a:r>
              <a:rPr sz="1800" b="0" i="0">
                <a:solidFill>
                  <a:srgbClr val="1E2330"/>
                </a:solidFill>
                <a:latin typeface="Arial"/>
              </a:rPr>
              <a:t>Modern eye trackers that present controlled shapes while recording retinal position now allow the idea to be tested quantitatively. Such studies ask which image features attract the central retina and how long it dwells on them.</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 Land (1972)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The ophthalmoscope made retinal movement visible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1E2330"/>
                </a:solidFill>
                <a:latin typeface="Arial"/>
              </a:rPr>
              <a:t>Land observed the principal retinae with an </a:t>
            </a:r>
            <a:r>
              <a:rPr sz="1500" b="1" i="0">
                <a:solidFill>
                  <a:srgbClr val="1F3FA0"/>
                </a:solidFill>
                <a:latin typeface="Arial"/>
              </a:rPr>
              <a:t>ophthalmoscope</a:t>
            </a:r>
            <a:r>
              <a:rPr sz="1500" b="0" i="0">
                <a:solidFill>
                  <a:srgbClr val="1E2330"/>
                </a:solidFill>
                <a:latin typeface="Arial"/>
              </a:rPr>
              <a:t>, viewing the retina through the eye’s own optics. The retina reflects enough light to be seen through the lens, so its position can be followed directly.</a:t>
            </a:r>
          </a:p>
          <a:p>
            <a:pPr algn="l">
              <a:lnSpc>
                <a:spcPct val="108000"/>
              </a:lnSpc>
              <a:spcAft>
                <a:spcPts val="900"/>
              </a:spcAft>
            </a:pPr>
            <a:r>
              <a:rPr sz="1500" b="0" i="0">
                <a:solidFill>
                  <a:srgbClr val="1E2330"/>
                </a:solidFill>
                <a:latin typeface="Arial"/>
              </a:rPr>
              <a:t>Modern versions use </a:t>
            </a:r>
            <a:r>
              <a:rPr sz="1500" b="1" i="0">
                <a:solidFill>
                  <a:srgbClr val="1F3FA0"/>
                </a:solidFill>
                <a:latin typeface="Arial"/>
              </a:rPr>
              <a:t>infrared</a:t>
            </a:r>
            <a:r>
              <a:rPr sz="1500" b="0" i="0">
                <a:solidFill>
                  <a:srgbClr val="1E2330"/>
                </a:solidFill>
                <a:latin typeface="Arial"/>
              </a:rPr>
              <a:t> illumination, which passes through the cuticle and is invisible to the spider. A beam splitter allows a visible stimulus and the infrared retinal image to share one optical axis, so stimulus position can be expressed in retinal coordinates.</a:t>
            </a:r>
          </a:p>
          <a:p>
            <a:pPr algn="l">
              <a:lnSpc>
                <a:spcPct val="108000"/>
              </a:lnSpc>
              <a:spcAft>
                <a:spcPts val="900"/>
              </a:spcAft>
            </a:pPr>
            <a:r>
              <a:rPr sz="1500" b="0" i="0">
                <a:solidFill>
                  <a:srgbClr val="1E2330"/>
                </a:solidFill>
                <a:latin typeface="Arial"/>
              </a:rPr>
              <a:t>The spider is </a:t>
            </a:r>
            <a:r>
              <a:rPr sz="1500" b="1" i="0">
                <a:solidFill>
                  <a:srgbClr val="1F3FA0"/>
                </a:solidFill>
                <a:latin typeface="Arial"/>
              </a:rPr>
              <a:t>tethered</a:t>
            </a:r>
            <a:r>
              <a:rPr sz="1500" b="0" i="0">
                <a:solidFill>
                  <a:srgbClr val="1E2330"/>
                </a:solidFill>
                <a:latin typeface="Arial"/>
              </a:rPr>
              <a:t>: its carapace is fixed so the eyes stay in the camera’s field. Leg movements remain possible, and a sphere or ball beneath the legs can record attempted turns.</a:t>
            </a:r>
          </a:p>
          <a:p>
            <a:pPr algn="l">
              <a:lnSpc>
                <a:spcPct val="108000"/>
              </a:lnSpc>
              <a:spcAft>
                <a:spcPts val="900"/>
              </a:spcAft>
            </a:pPr>
            <a:r>
              <a:rPr sz="1500" b="0" i="0">
                <a:solidFill>
                  <a:srgbClr val="1E2330"/>
                </a:solidFill>
                <a:latin typeface="Arial"/>
              </a:rPr>
              <a:t>Tethering changes behavior. A turn that would normally bring a target into view has no visual consequence, an </a:t>
            </a:r>
            <a:r>
              <a:rPr sz="1500" b="1" i="0">
                <a:solidFill>
                  <a:srgbClr val="1F3FA0"/>
                </a:solidFill>
                <a:latin typeface="Arial"/>
              </a:rPr>
              <a:t>open-loop</a:t>
            </a:r>
            <a:r>
              <a:rPr sz="1500" b="0" i="0">
                <a:solidFill>
                  <a:srgbClr val="1E2330"/>
                </a:solidFill>
                <a:latin typeface="Arial"/>
              </a:rPr>
              <a:t> condition in which the spider’s actions do not alter what it sees.</a:t>
            </a:r>
          </a:p>
        </p:txBody>
      </p:sp>
      <p:pic>
        <p:nvPicPr>
          <p:cNvPr id="4" name="Picture 3" descr="f14_eyetracker.png"/>
          <p:cNvPicPr>
            <a:picLocks noChangeAspect="1"/>
          </p:cNvPicPr>
          <p:nvPr/>
        </p:nvPicPr>
        <p:blipFill>
          <a:blip r:embed="rId2"/>
          <a:stretch>
            <a:fillRect/>
          </a:stretch>
        </p:blipFill>
        <p:spPr>
          <a:xfrm>
            <a:off x="6504127" y="1280160"/>
            <a:ext cx="5120640" cy="2197965"/>
          </a:xfrm>
          <a:prstGeom prst="rect">
            <a:avLst/>
          </a:prstGeom>
        </p:spPr>
      </p:pic>
      <p:sp>
        <p:nvSpPr>
          <p:cNvPr id="5" name="Figure caption"/>
          <p:cNvSpPr txBox="1"/>
          <p:nvPr/>
        </p:nvSpPr>
        <p:spPr>
          <a:xfrm>
            <a:off x="6504127" y="356956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Schematic of an infrared eye tracker for jumping spiders, after the system described in Jakob et al. (2018). Components simplified.</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 Jakob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ALE input alone can trigger orienting and stalking</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Zurek and colleagues covered every eye except the ALEs and presented computer-generated dots to tethered spiders, varying dot size, contrast, and speed. The measured output was an </a:t>
            </a:r>
            <a:r>
              <a:rPr sz="1600" b="1" i="0">
                <a:solidFill>
                  <a:srgbClr val="1F3FA0"/>
                </a:solidFill>
                <a:latin typeface="Arial"/>
              </a:rPr>
              <a:t>orienting turn</a:t>
            </a:r>
            <a:r>
              <a:rPr sz="1600" b="0" i="0">
                <a:solidFill>
                  <a:srgbClr val="1E2330"/>
                </a:solidFill>
                <a:latin typeface="Arial"/>
              </a:rPr>
              <a:t>, a body rotation that would bring the target in front of the principal eyes.</a:t>
            </a:r>
          </a:p>
          <a:p>
            <a:pPr algn="l">
              <a:lnSpc>
                <a:spcPct val="108000"/>
              </a:lnSpc>
              <a:spcAft>
                <a:spcPts val="960"/>
              </a:spcAft>
            </a:pPr>
            <a:r>
              <a:rPr sz="1600" b="0" i="0">
                <a:solidFill>
                  <a:srgbClr val="1E2330"/>
                </a:solidFill>
                <a:latin typeface="Arial"/>
              </a:rPr>
              <a:t>All three parameters affected the probability of turning. The most effective stimulus was a 4° dot at 40% contrast moving at 9°/s. Females responded more readily than males.</a:t>
            </a:r>
          </a:p>
          <a:p>
            <a:pPr algn="l">
              <a:lnSpc>
                <a:spcPct val="108000"/>
              </a:lnSpc>
              <a:spcAft>
                <a:spcPts val="960"/>
              </a:spcAft>
            </a:pPr>
            <a:r>
              <a:rPr sz="1600" b="0" i="0">
                <a:solidFill>
                  <a:srgbClr val="1E2330"/>
                </a:solidFill>
                <a:latin typeface="Arial"/>
              </a:rPr>
              <a:t>With tethered flies as prey, ALE input alone was sufficient to elicit stalking. Detection and the initial approach therefore do not require the principal eyes.</a:t>
            </a:r>
          </a:p>
          <a:p>
            <a:pPr algn="l">
              <a:lnSpc>
                <a:spcPct val="108000"/>
              </a:lnSpc>
              <a:spcAft>
                <a:spcPts val="960"/>
              </a:spcAft>
            </a:pPr>
            <a:r>
              <a:rPr sz="1600" b="0" i="0">
                <a:solidFill>
                  <a:srgbClr val="1E2330"/>
                </a:solidFill>
                <a:latin typeface="Arial"/>
              </a:rPr>
              <a:t>Because the principal eyes were covered, these turns cannot reflect recognition by the principal eyes. They show what the ALE pathway can initiate by itself, not that it acts alone in an intact animal.</a:t>
            </a:r>
          </a:p>
        </p:txBody>
      </p:sp>
      <p:pic>
        <p:nvPicPr>
          <p:cNvPr id="4" name="Picture 3" descr="f25_zurek_optimum.png"/>
          <p:cNvPicPr>
            <a:picLocks noChangeAspect="1"/>
          </p:cNvPicPr>
          <p:nvPr/>
        </p:nvPicPr>
        <p:blipFill>
          <a:blip r:embed="rId2"/>
          <a:stretch>
            <a:fillRect/>
          </a:stretch>
        </p:blipFill>
        <p:spPr>
          <a:xfrm>
            <a:off x="6687007" y="1280160"/>
            <a:ext cx="4937760" cy="1967536"/>
          </a:xfrm>
          <a:prstGeom prst="rect">
            <a:avLst/>
          </a:prstGeom>
        </p:spPr>
      </p:pic>
      <p:sp>
        <p:nvSpPr>
          <p:cNvPr id="5" name="Figure caption"/>
          <p:cNvSpPr txBox="1"/>
          <p:nvPr/>
        </p:nvSpPr>
        <p:spPr>
          <a:xfrm>
            <a:off x="6687007" y="3339136"/>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Most effective dot parameters for ALE-mediated orienting. Values from Zurek et al. (2010).</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et al. (2010)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Lateral eyes detect displacements finer than their mosaic</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Zurek and Nelson presented small target displacements to the ALEs of tethered spiders and measured orienting saccades. Spiders responded to displacements roughly ten times smaller than the ALE interreceptor angle.</a:t>
            </a:r>
          </a:p>
          <a:p>
            <a:pPr algn="l">
              <a:lnSpc>
                <a:spcPct val="108000"/>
              </a:lnSpc>
              <a:spcAft>
                <a:spcPts val="960"/>
              </a:spcAft>
            </a:pPr>
            <a:r>
              <a:rPr sz="1600" b="0" i="0">
                <a:solidFill>
                  <a:srgbClr val="1E2330"/>
                </a:solidFill>
                <a:latin typeface="Arial"/>
              </a:rPr>
              <a:t>Such performance is </a:t>
            </a:r>
            <a:r>
              <a:rPr sz="1600" b="1" i="0">
                <a:solidFill>
                  <a:srgbClr val="1F3FA0"/>
                </a:solidFill>
                <a:latin typeface="Arial"/>
              </a:rPr>
              <a:t>hyperacuity</a:t>
            </a:r>
            <a:r>
              <a:rPr sz="1600" b="0" i="0">
                <a:solidFill>
                  <a:srgbClr val="1E2330"/>
                </a:solidFill>
                <a:latin typeface="Arial"/>
              </a:rPr>
              <a:t>: detecting a change in position more finely than the receptor spacing. A displacement smaller than one receptor still alters how light is shared between neighboring receptors, and comparing their responses can reveal that change.</a:t>
            </a:r>
          </a:p>
          <a:p>
            <a:pPr algn="l">
              <a:lnSpc>
                <a:spcPct val="108000"/>
              </a:lnSpc>
              <a:spcAft>
                <a:spcPts val="960"/>
              </a:spcAft>
            </a:pPr>
            <a:r>
              <a:rPr sz="1600" b="0" i="0">
                <a:solidFill>
                  <a:srgbClr val="1E2330"/>
                </a:solidFill>
                <a:latin typeface="Arial"/>
              </a:rPr>
              <a:t>Hyperacuity therefore depends on the overlap of receptor acceptance angles and on neural comparison between neighbors. It does not mean the ALEs can resolve fine spatial patterns; resolving two separate points remains limited by receptor spacing.</a:t>
            </a:r>
          </a:p>
          <a:p>
            <a:pPr algn="l">
              <a:lnSpc>
                <a:spcPct val="108000"/>
              </a:lnSpc>
              <a:spcAft>
                <a:spcPts val="960"/>
              </a:spcAft>
            </a:pPr>
            <a:r>
              <a:rPr sz="1600" b="0" i="0">
                <a:solidFill>
                  <a:srgbClr val="1E2330"/>
                </a:solidFill>
                <a:latin typeface="Arial"/>
              </a:rPr>
              <a:t>Females again responded to lower contrast than males, consistent with the sex difference in the earlier orienting study.</a:t>
            </a:r>
          </a:p>
        </p:txBody>
      </p:sp>
      <p:pic>
        <p:nvPicPr>
          <p:cNvPr id="4" name="Picture 3" descr="f24_hyperacuity.png"/>
          <p:cNvPicPr>
            <a:picLocks noChangeAspect="1"/>
          </p:cNvPicPr>
          <p:nvPr/>
        </p:nvPicPr>
        <p:blipFill>
          <a:blip r:embed="rId2"/>
          <a:stretch>
            <a:fillRect/>
          </a:stretch>
        </p:blipFill>
        <p:spPr>
          <a:xfrm>
            <a:off x="6687007" y="1280160"/>
            <a:ext cx="4937760" cy="2586726"/>
          </a:xfrm>
          <a:prstGeom prst="rect">
            <a:avLst/>
          </a:prstGeom>
        </p:spPr>
      </p:pic>
      <p:sp>
        <p:nvSpPr>
          <p:cNvPr id="5" name="Figure caption"/>
          <p:cNvSpPr txBox="1"/>
          <p:nvPr/>
        </p:nvSpPr>
        <p:spPr>
          <a:xfrm>
            <a:off x="6687007" y="3958326"/>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Receptor spacing compared with the displacement the ALEs can detect. Ratio from Zurek &amp; Nelson (2012a); spacing from Land (1985); schematic.</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&amp; Nelson (2012a); Land (1985)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ALEs steer the body with saccade-like turns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In a related study, Zurek and Nelson recorded spiders on a freely rotating ball while targets moved through the ALE field. Stimuli elicited a series of whole-body </a:t>
            </a:r>
            <a:r>
              <a:rPr sz="1800" b="1" i="0">
                <a:solidFill>
                  <a:srgbClr val="1F3FA0"/>
                </a:solidFill>
                <a:latin typeface="Arial"/>
              </a:rPr>
              <a:t>saccades</a:t>
            </a:r>
            <a:r>
              <a:rPr sz="1800" b="0" i="0">
                <a:solidFill>
                  <a:srgbClr val="1E2330"/>
                </a:solidFill>
                <a:latin typeface="Arial"/>
              </a:rPr>
              <a:t>, rapid discrete turns whose magnitude matched the target’s position.</a:t>
            </a:r>
          </a:p>
          <a:p>
            <a:pPr algn="l">
              <a:lnSpc>
                <a:spcPct val="108000"/>
              </a:lnSpc>
              <a:spcAft>
                <a:spcPts val="1080"/>
              </a:spcAft>
            </a:pPr>
            <a:r>
              <a:rPr sz="1800" b="0" i="0">
                <a:solidFill>
                  <a:srgbClr val="1E2330"/>
                </a:solidFill>
                <a:latin typeface="Arial"/>
              </a:rPr>
              <a:t>The ball moves opposite to the spider’s intended rotation, providing a continuous record of attempted turning. A spider that steps to turn left rotates the ball to the right.</a:t>
            </a:r>
          </a:p>
          <a:p>
            <a:pPr algn="l">
              <a:lnSpc>
                <a:spcPct val="108000"/>
              </a:lnSpc>
              <a:spcAft>
                <a:spcPts val="1080"/>
              </a:spcAft>
            </a:pPr>
            <a:r>
              <a:rPr sz="1800" b="0" i="0">
                <a:solidFill>
                  <a:srgbClr val="1E2330"/>
                </a:solidFill>
                <a:latin typeface="Arial"/>
              </a:rPr>
              <a:t>Smooth pursuit by the principal eyes was guided by the ALEs. Target position signaled by the secondary eyes sets the size of the body turn and directs the principal retinae.</a:t>
            </a:r>
          </a:p>
          <a:p>
            <a:pPr algn="l">
              <a:lnSpc>
                <a:spcPct val="108000"/>
              </a:lnSpc>
              <a:spcAft>
                <a:spcPts val="1080"/>
              </a:spcAft>
            </a:pPr>
            <a:r>
              <a:rPr sz="1800" b="0" i="0">
                <a:solidFill>
                  <a:srgbClr val="1E2330"/>
                </a:solidFill>
                <a:latin typeface="Arial"/>
              </a:rPr>
              <a:t>The result connects the ALE pathway to two motor outputs: rotation of the body by the legs and movement of the principal retinae by their six muscles.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&amp; Nelson (2012b)</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Turns are planned from the first sighting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Land fixed spiders by the carapace and allowed them to hold a light paper ring with their legs. When a target appeared in a lateral eye’s field, the spider stepped as if turning and rotated the ring instead of its body.</a:t>
            </a:r>
          </a:p>
          <a:p>
            <a:pPr algn="l">
              <a:lnSpc>
                <a:spcPct val="108000"/>
              </a:lnSpc>
              <a:spcAft>
                <a:spcPts val="960"/>
              </a:spcAft>
            </a:pPr>
            <a:r>
              <a:rPr sz="1600" b="0" i="0">
                <a:solidFill>
                  <a:srgbClr val="1E2330"/>
                </a:solidFill>
                <a:latin typeface="Arial"/>
              </a:rPr>
              <a:t>Because the eyes never moved, the stimulus stayed in the same retinal position throughout the turn. Any accuracy in the turn had to come from information available at the first sighting.</a:t>
            </a:r>
          </a:p>
          <a:p>
            <a:pPr algn="l">
              <a:lnSpc>
                <a:spcPct val="108000"/>
              </a:lnSpc>
              <a:spcAft>
                <a:spcPts val="960"/>
              </a:spcAft>
            </a:pPr>
            <a:r>
              <a:rPr sz="1600" b="0" i="0">
                <a:solidFill>
                  <a:srgbClr val="1E2330"/>
                </a:solidFill>
                <a:latin typeface="Arial"/>
              </a:rPr>
              <a:t>Ring rotation closely matched the turn required to face the target. Land concluded that the initial position of the image on a lateral eye sets the size of the turn, an </a:t>
            </a:r>
            <a:r>
              <a:rPr sz="1600" b="1" i="0">
                <a:solidFill>
                  <a:srgbClr val="1F3FA0"/>
                </a:solidFill>
                <a:latin typeface="Arial"/>
              </a:rPr>
              <a:t>open-loop</a:t>
            </a:r>
            <a:r>
              <a:rPr sz="1600" b="0" i="0">
                <a:solidFill>
                  <a:srgbClr val="1E2330"/>
                </a:solidFill>
                <a:latin typeface="Arial"/>
              </a:rPr>
              <a:t> command executed without visual feedback.</a:t>
            </a:r>
          </a:p>
          <a:p>
            <a:pPr algn="l">
              <a:lnSpc>
                <a:spcPct val="108000"/>
              </a:lnSpc>
              <a:spcAft>
                <a:spcPts val="960"/>
              </a:spcAft>
            </a:pPr>
            <a:r>
              <a:rPr sz="1600" b="0" i="0">
                <a:solidFill>
                  <a:srgbClr val="1E2330"/>
                </a:solidFill>
                <a:latin typeface="Arial"/>
              </a:rPr>
              <a:t>Turn control therefore resembles a </a:t>
            </a:r>
            <a:r>
              <a:rPr sz="1600" b="1" i="0">
                <a:solidFill>
                  <a:srgbClr val="1F3FA0"/>
                </a:solidFill>
                <a:latin typeface="Arial"/>
              </a:rPr>
              <a:t>ballistic</a:t>
            </a:r>
            <a:r>
              <a:rPr sz="1600" b="0" i="0">
                <a:solidFill>
                  <a:srgbClr val="1E2330"/>
                </a:solidFill>
                <a:latin typeface="Arial"/>
              </a:rPr>
              <a:t> movement: a motor program is selected from the sensory input and then carried out, rather than continuously corrected while the spider turns.</a:t>
            </a:r>
          </a:p>
        </p:txBody>
      </p:sp>
      <p:pic>
        <p:nvPicPr>
          <p:cNvPr id="4" name="Picture 3" descr="f23_ring.png"/>
          <p:cNvPicPr>
            <a:picLocks noChangeAspect="1"/>
          </p:cNvPicPr>
          <p:nvPr/>
        </p:nvPicPr>
        <p:blipFill>
          <a:blip r:embed="rId2"/>
          <a:stretch>
            <a:fillRect/>
          </a:stretch>
        </p:blipFill>
        <p:spPr>
          <a:xfrm>
            <a:off x="6869887" y="1280160"/>
            <a:ext cx="4754880" cy="2231696"/>
          </a:xfrm>
          <a:prstGeom prst="rect">
            <a:avLst/>
          </a:prstGeom>
        </p:spPr>
      </p:pic>
      <p:sp>
        <p:nvSpPr>
          <p:cNvPr id="5" name="Figure caption"/>
          <p:cNvSpPr txBox="1"/>
          <p:nvPr/>
        </p:nvSpPr>
        <p:spPr>
          <a:xfrm>
            <a:off x="6869887" y="3603296"/>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Ring paradigm: the carapace is fixed and the legs rotate a light ring. Schematic drawn from the method described in Land (1971) and Land (1972, chapter).</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(1971)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Stepping patterns implement the turn</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In a companion study, Land filmed the leg movements that produce turns triggered by the lateral eyes. Turning toward a target is a translation of a retinal position into a motor command distributed across eight legs: the lateral eye provides the angle, and leg circuits produce the rotation.</a:t>
            </a:r>
          </a:p>
          <a:p>
            <a:pPr algn="l">
              <a:lnSpc>
                <a:spcPct val="108000"/>
              </a:lnSpc>
              <a:spcAft>
                <a:spcPts val="1080"/>
              </a:spcAft>
            </a:pPr>
            <a:r>
              <a:rPr sz="1800" b="0" i="0">
                <a:solidFill>
                  <a:srgbClr val="1E2330"/>
                </a:solidFill>
                <a:latin typeface="Arial"/>
              </a:rPr>
              <a:t>Later work on salticid turning on a rotating ball relies on Land’s analysis. The ball’s low moment of inertia means it does not alter the orientation turn, so ball rotation can serve as a read-out of the intended turn.</a:t>
            </a:r>
          </a:p>
          <a:p>
            <a:pPr algn="l">
              <a:lnSpc>
                <a:spcPct val="108000"/>
              </a:lnSpc>
              <a:spcAft>
                <a:spcPts val="1080"/>
              </a:spcAft>
            </a:pPr>
            <a:r>
              <a:rPr sz="1800" b="0" i="0">
                <a:solidFill>
                  <a:srgbClr val="1E2330"/>
                </a:solidFill>
                <a:latin typeface="Arial"/>
              </a:rPr>
              <a:t>A similar transformation occurs in many visually guided animals. Image position on a sensory map is converted into a motor output of matching size, as when a toad orients toward prey before snapping, a mapping examined in Lectures 9 and 10.</a:t>
            </a:r>
          </a:p>
          <a:p>
            <a:pPr algn="l">
              <a:lnSpc>
                <a:spcPct val="108000"/>
              </a:lnSpc>
              <a:spcAft>
                <a:spcPts val="1080"/>
              </a:spcAft>
            </a:pPr>
            <a:r>
              <a:rPr sz="1800" b="0" i="0">
                <a:solidFill>
                  <a:srgbClr val="1E2330"/>
                </a:solidFill>
                <a:latin typeface="Arial"/>
              </a:rPr>
              <a:t>The neural circuitry for this transformation in salticids, from lateral-eye neuropils to leg motor neurons, has not been identified cell by cell.</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(1972); Zurek &amp; Nelson (2012b)</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Posterolateral eyes respond to objects, not wide-field motion</a:t>
            </a:r>
          </a:p>
        </p:txBody>
      </p:sp>
      <p:sp>
        <p:nvSpPr>
          <p:cNvPr id="3" name="Body"/>
          <p:cNvSpPr txBox="1"/>
          <p:nvPr/>
        </p:nvSpPr>
        <p:spPr>
          <a:xfrm>
            <a:off x="566928" y="1234440"/>
            <a:ext cx="11057839" cy="2971800"/>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Duelli tested the PLEs of </a:t>
            </a:r>
            <a:r>
              <a:rPr sz="1600" b="0" i="1">
                <a:solidFill>
                  <a:srgbClr val="1E2330"/>
                </a:solidFill>
                <a:latin typeface="Arial"/>
              </a:rPr>
              <a:t>Evarcha arcuata</a:t>
            </a:r>
            <a:r>
              <a:rPr sz="1600" b="0" i="0">
                <a:solidFill>
                  <a:srgbClr val="1E2330"/>
                </a:solidFill>
                <a:latin typeface="Arial"/>
              </a:rPr>
              <a:t>. A single moving object in the PLE field evoked an accurate turn of the prosoma, the front body section that carries the eyes, which brought the object into the principal-eye field.</a:t>
            </a:r>
          </a:p>
          <a:p>
            <a:pPr algn="l">
              <a:lnSpc>
                <a:spcPct val="108000"/>
              </a:lnSpc>
              <a:spcAft>
                <a:spcPts val="960"/>
              </a:spcAft>
            </a:pPr>
            <a:r>
              <a:rPr sz="1600" b="0" i="0">
                <a:solidFill>
                  <a:srgbClr val="1E2330"/>
                </a:solidFill>
                <a:latin typeface="Arial"/>
              </a:rPr>
              <a:t>Moving stripe patterns did not elicit </a:t>
            </a:r>
            <a:r>
              <a:rPr sz="1600" b="1" i="0">
                <a:solidFill>
                  <a:srgbClr val="1F3FA0"/>
                </a:solidFill>
                <a:latin typeface="Arial"/>
              </a:rPr>
              <a:t>optomotor</a:t>
            </a:r>
            <a:r>
              <a:rPr sz="1600" b="0" i="0">
                <a:solidFill>
                  <a:srgbClr val="1E2330"/>
                </a:solidFill>
                <a:latin typeface="Arial"/>
              </a:rPr>
              <a:t> responses, and random patterns of moving squares did not elicit turning. The PLE pathway responded selectively to a single object, not to motion distributed across the whole field.</a:t>
            </a:r>
          </a:p>
          <a:p>
            <a:pPr algn="l">
              <a:lnSpc>
                <a:spcPct val="108000"/>
              </a:lnSpc>
              <a:spcAft>
                <a:spcPts val="960"/>
              </a:spcAft>
            </a:pPr>
            <a:r>
              <a:rPr sz="1600" b="0" i="0">
                <a:solidFill>
                  <a:srgbClr val="1E2330"/>
                </a:solidFill>
                <a:latin typeface="Arial"/>
              </a:rPr>
              <a:t>By progressively thinning out a random square pattern, Duelli determined the conditions under which several simultaneous stimuli suppressed turning.</a:t>
            </a:r>
          </a:p>
          <a:p>
            <a:pPr algn="l">
              <a:lnSpc>
                <a:spcPct val="108000"/>
              </a:lnSpc>
              <a:spcAft>
                <a:spcPts val="960"/>
              </a:spcAft>
            </a:pPr>
            <a:r>
              <a:rPr sz="1600" b="0" i="0">
                <a:solidFill>
                  <a:srgbClr val="1E2330"/>
                </a:solidFill>
                <a:latin typeface="Arial"/>
              </a:rPr>
              <a:t>The contrast with flies (Lecture 11) is instructive. Fly wide-field neurons drive compensatory turning in response to whole-field rotation; salticid lateral eyes instead select individual targets for inspection.</a:t>
            </a:r>
          </a:p>
        </p:txBody>
      </p:sp>
      <p:graphicFrame>
        <p:nvGraphicFramePr>
          <p:cNvPr id="4" name="Table 3"/>
          <p:cNvGraphicFramePr>
            <a:graphicFrameLocks noGrp="1"/>
          </p:cNvGraphicFramePr>
          <p:nvPr/>
        </p:nvGraphicFramePr>
        <p:xfrm>
          <a:off x="566928" y="4226560"/>
          <a:ext cx="11057839" cy="1991360"/>
        </p:xfrm>
        <a:graphic>
          <a:graphicData uri="http://schemas.openxmlformats.org/drawingml/2006/table">
            <a:tbl>
              <a:tblPr firstRow="1" bandRow="1">
                <a:tableStyleId>{5C22544A-7EE6-4342-B048-85BDC9FD1C3A}</a:tableStyleId>
              </a:tblPr>
              <a:tblGrid>
                <a:gridCol w="3685946"/>
                <a:gridCol w="3685946"/>
                <a:gridCol w="3685947"/>
              </a:tblGrid>
              <a:tr h="497840">
                <a:tc>
                  <a:txBody>
                    <a:bodyPr wrap="square"/>
                    <a:lstStyle/>
                    <a:p>
                      <a:pPr algn="l">
                        <a:lnSpc>
                          <a:spcPct val="108000"/>
                        </a:lnSpc>
                        <a:spcAft>
                          <a:spcPts val="0"/>
                        </a:spcAft>
                      </a:pPr>
                      <a:r>
                        <a:rPr sz="1300" b="1" i="0">
                          <a:solidFill>
                            <a:srgbClr val="1F3FA0"/>
                          </a:solidFill>
                          <a:latin typeface="Arial"/>
                        </a:rPr>
                        <a:t>Stimulus to PLE</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Response</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Interpretation</a:t>
                      </a:r>
                    </a:p>
                  </a:txBody>
                  <a:tcPr marL="73152" marR="73152">
                    <a:solidFill>
                      <a:srgbClr val="EDF2FD"/>
                    </a:solidFill>
                  </a:tcPr>
                </a:tc>
              </a:tr>
              <a:tr h="497840">
                <a:tc>
                  <a:txBody>
                    <a:bodyPr wrap="square"/>
                    <a:lstStyle/>
                    <a:p>
                      <a:pPr algn="l">
                        <a:lnSpc>
                          <a:spcPct val="108000"/>
                        </a:lnSpc>
                        <a:spcAft>
                          <a:spcPts val="0"/>
                        </a:spcAft>
                      </a:pPr>
                      <a:r>
                        <a:rPr sz="1300" b="0" i="0">
                          <a:solidFill>
                            <a:srgbClr val="1E2330"/>
                          </a:solidFill>
                          <a:latin typeface="Arial"/>
                        </a:rPr>
                        <a:t>Single moving object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accurate prosoma turn</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target localization</a:t>
                      </a:r>
                    </a:p>
                  </a:txBody>
                  <a:tcPr marL="73152" marR="73152">
                    <a:solidFill>
                      <a:srgbClr val="FFFFFF"/>
                    </a:solidFill>
                  </a:tcPr>
                </a:tc>
              </a:tr>
              <a:tr h="497840">
                <a:tc>
                  <a:txBody>
                    <a:bodyPr wrap="square"/>
                    <a:lstStyle/>
                    <a:p>
                      <a:pPr algn="l">
                        <a:lnSpc>
                          <a:spcPct val="108000"/>
                        </a:lnSpc>
                        <a:spcAft>
                          <a:spcPts val="0"/>
                        </a:spcAft>
                      </a:pPr>
                      <a:r>
                        <a:rPr sz="1300" b="0" i="0">
                          <a:solidFill>
                            <a:srgbClr val="1E2330"/>
                          </a:solidFill>
                          <a:latin typeface="Arial"/>
                        </a:rPr>
                        <a:t>Moving stripes</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no optomotor turning</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no wide-field response</a:t>
                      </a:r>
                    </a:p>
                  </a:txBody>
                  <a:tcPr marL="73152" marR="73152">
                    <a:solidFill>
                      <a:srgbClr val="FFFFFF"/>
                    </a:solidFill>
                  </a:tcPr>
                </a:tc>
              </a:tr>
              <a:tr h="497840">
                <a:tc>
                  <a:txBody>
                    <a:bodyPr wrap="square"/>
                    <a:lstStyle/>
                    <a:p>
                      <a:pPr algn="l">
                        <a:lnSpc>
                          <a:spcPct val="108000"/>
                        </a:lnSpc>
                        <a:spcAft>
                          <a:spcPts val="0"/>
                        </a:spcAft>
                      </a:pPr>
                      <a:r>
                        <a:rPr sz="1300" b="0" i="0">
                          <a:solidFill>
                            <a:srgbClr val="1E2330"/>
                          </a:solidFill>
                          <a:latin typeface="Arial"/>
                        </a:rPr>
                        <a:t>Random moving squares</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turning suppressed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multiple targets inhibit</a:t>
                      </a:r>
                    </a:p>
                  </a:txBody>
                  <a:tcPr marL="73152" marR="73152">
                    <a:solidFill>
                      <a:srgbClr val="FFFFFF"/>
                    </a:solidFill>
                  </a:tcPr>
                </a:tc>
              </a:tr>
            </a:tbl>
          </a:graphicData>
        </a:graphic>
      </p:graphicFrame>
      <p:sp>
        <p:nvSpPr>
          <p:cNvPr id="5" name="Rectangle 4"/>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Duelli (1978)</a:t>
            </a:r>
          </a:p>
        </p:txBody>
      </p:sp>
      <p:sp>
        <p:nvSpPr>
          <p:cNvPr id="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Lateral eyes direct the principal eyes during tracking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Jakob and colleagues used an infrared eye tracker to record principal-retina position in tethered </a:t>
            </a:r>
            <a:r>
              <a:rPr sz="1600" b="0" i="1">
                <a:solidFill>
                  <a:srgbClr val="1E2330"/>
                </a:solidFill>
                <a:latin typeface="Arial"/>
              </a:rPr>
              <a:t>Phidippus audax</a:t>
            </a:r>
            <a:r>
              <a:rPr sz="1600" b="0" i="0">
                <a:solidFill>
                  <a:srgbClr val="1E2330"/>
                </a:solidFill>
                <a:latin typeface="Arial"/>
              </a:rPr>
              <a:t> females while presenting moving disks (3, 4, or 5° in diameter; 2.77, 7.60, or 15.13°/s) and stationary objects.</a:t>
            </a:r>
          </a:p>
          <a:p>
            <a:pPr algn="l">
              <a:lnSpc>
                <a:spcPct val="108000"/>
              </a:lnSpc>
              <a:spcAft>
                <a:spcPts val="960"/>
              </a:spcAft>
            </a:pPr>
            <a:r>
              <a:rPr sz="1600" b="0" i="0">
                <a:solidFill>
                  <a:srgbClr val="1E2330"/>
                </a:solidFill>
                <a:latin typeface="Arial"/>
              </a:rPr>
              <a:t>The ALEs were then covered with removable paint. Each spider served as its own control, contributing one mean value per stimulus with the ALEs open and with them masked.</a:t>
            </a:r>
          </a:p>
          <a:p>
            <a:pPr algn="l">
              <a:lnSpc>
                <a:spcPct val="108000"/>
              </a:lnSpc>
              <a:spcAft>
                <a:spcPts val="960"/>
              </a:spcAft>
            </a:pPr>
            <a:r>
              <a:rPr sz="1600" b="0" i="0">
                <a:solidFill>
                  <a:srgbClr val="1E2330"/>
                </a:solidFill>
                <a:latin typeface="Arial"/>
              </a:rPr>
              <a:t>Principal eyes scanned stationary objects whether or not the ALEs were masked. Smooth tracking of moving disks occurred only when the ALEs were open; with them masked, a stimulus had to appear directly in front of the principal eyes before it was explored.</a:t>
            </a:r>
          </a:p>
          <a:p>
            <a:pPr algn="l">
              <a:lnSpc>
                <a:spcPct val="108000"/>
              </a:lnSpc>
              <a:spcAft>
                <a:spcPts val="960"/>
              </a:spcAft>
            </a:pPr>
            <a:r>
              <a:rPr sz="1600" b="0" i="0">
                <a:solidFill>
                  <a:srgbClr val="1E2330"/>
                </a:solidFill>
                <a:latin typeface="Arial"/>
              </a:rPr>
              <a:t>Masking demonstrates that ALE input is </a:t>
            </a:r>
            <a:r>
              <a:rPr sz="1600" b="1" i="0">
                <a:solidFill>
                  <a:srgbClr val="1F3FA0"/>
                </a:solidFill>
                <a:latin typeface="Arial"/>
              </a:rPr>
              <a:t>necessary</a:t>
            </a:r>
            <a:r>
              <a:rPr sz="1600" b="0" i="0">
                <a:solidFill>
                  <a:srgbClr val="1E2330"/>
                </a:solidFill>
                <a:latin typeface="Arial"/>
              </a:rPr>
              <a:t> for tracking. It does not identify the neurons that carry ALE information to the principal-eye motor system.</a:t>
            </a:r>
          </a:p>
        </p:txBody>
      </p:sp>
      <p:pic>
        <p:nvPicPr>
          <p:cNvPr id="4" name="Picture 3" descr="f15_jakob_matrix.png"/>
          <p:cNvPicPr>
            <a:picLocks noChangeAspect="1"/>
          </p:cNvPicPr>
          <p:nvPr/>
        </p:nvPicPr>
        <p:blipFill>
          <a:blip r:embed="rId2"/>
          <a:stretch>
            <a:fillRect/>
          </a:stretch>
        </p:blipFill>
        <p:spPr>
          <a:xfrm>
            <a:off x="6504127" y="1280160"/>
            <a:ext cx="5120640" cy="2453252"/>
          </a:xfrm>
          <a:prstGeom prst="rect">
            <a:avLst/>
          </a:prstGeom>
        </p:spPr>
      </p:pic>
      <p:sp>
        <p:nvSpPr>
          <p:cNvPr id="5" name="Figure caption"/>
          <p:cNvSpPr txBox="1"/>
          <p:nvPr/>
        </p:nvSpPr>
        <p:spPr>
          <a:xfrm>
            <a:off x="6504127" y="38248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Design and outcome of the ALE-masking experiment. Stimulus values and qualitative outcomes from Jakob et al. (2018); summary diagram, not original data.</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Jakob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Primary targets reduce distraction</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Bruce and colleagues asked whether the ALEs redirect the principal eyes whenever something appears. While a spider viewed a primary stimulus with its principal eyes, a distractor oval appeared in the ALE field, and the eye tracker recorded whether the principal retinae moved to it.</a:t>
            </a:r>
          </a:p>
          <a:p>
            <a:pPr algn="l">
              <a:lnSpc>
                <a:spcPct val="108000"/>
              </a:lnSpc>
              <a:spcAft>
                <a:spcPts val="960"/>
              </a:spcAft>
            </a:pPr>
            <a:r>
              <a:rPr sz="1600" b="0" i="0">
                <a:solidFill>
                  <a:srgbClr val="1E2330"/>
                </a:solidFill>
                <a:latin typeface="Arial"/>
              </a:rPr>
              <a:t>Spiders shifted their gaze to the distractor significantly less often when the primary stimulus was a cricket than when it was a different stimulus.</a:t>
            </a:r>
          </a:p>
          <a:p>
            <a:pPr algn="l">
              <a:lnSpc>
                <a:spcPct val="108000"/>
              </a:lnSpc>
              <a:spcAft>
                <a:spcPts val="960"/>
              </a:spcAft>
            </a:pPr>
            <a:r>
              <a:rPr sz="1600" b="0" i="0">
                <a:solidFill>
                  <a:srgbClr val="1E2330"/>
                </a:solidFill>
                <a:latin typeface="Arial"/>
              </a:rPr>
              <a:t>Gaze shifts therefore depend on the properties of both stimuli. The authors interpreted this as evidence for higher-order control of principal-eye attention, a process that weighs the current target against a new one.</a:t>
            </a:r>
          </a:p>
          <a:p>
            <a:pPr algn="l">
              <a:lnSpc>
                <a:spcPct val="108000"/>
              </a:lnSpc>
              <a:spcAft>
                <a:spcPts val="960"/>
              </a:spcAft>
            </a:pPr>
            <a:r>
              <a:rPr sz="1600" b="1" i="0">
                <a:solidFill>
                  <a:srgbClr val="1F3FA0"/>
                </a:solidFill>
                <a:latin typeface="Arial"/>
              </a:rPr>
              <a:t>Attention</a:t>
            </a:r>
            <a:r>
              <a:rPr sz="1600" b="0" i="0">
                <a:solidFill>
                  <a:srgbClr val="1E2330"/>
                </a:solidFill>
                <a:latin typeface="Arial"/>
              </a:rPr>
              <a:t> here is defined operationally as selective allocation of the principal eyes. The experiment measures behavior; it does not identify the neural basis of the selection.</a:t>
            </a:r>
          </a:p>
        </p:txBody>
      </p:sp>
      <p:pic>
        <p:nvPicPr>
          <p:cNvPr id="4" name="Picture 3" descr="f16_bruce.png"/>
          <p:cNvPicPr>
            <a:picLocks noChangeAspect="1"/>
          </p:cNvPicPr>
          <p:nvPr/>
        </p:nvPicPr>
        <p:blipFill>
          <a:blip r:embed="rId2"/>
          <a:stretch>
            <a:fillRect/>
          </a:stretch>
        </p:blipFill>
        <p:spPr>
          <a:xfrm>
            <a:off x="6687007" y="1280160"/>
            <a:ext cx="4937760" cy="1893213"/>
          </a:xfrm>
          <a:prstGeom prst="rect">
            <a:avLst/>
          </a:prstGeom>
        </p:spPr>
      </p:pic>
      <p:sp>
        <p:nvSpPr>
          <p:cNvPr id="5" name="Figure caption"/>
          <p:cNvSpPr txBox="1"/>
          <p:nvPr/>
        </p:nvSpPr>
        <p:spPr>
          <a:xfrm>
            <a:off x="6687007" y="3264813"/>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Distractor paradigm. Schematic of the design and main result in Bruce et al. (2021).</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Bruce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ALEs alone mediate responses to looming</a:t>
            </a:r>
          </a:p>
        </p:txBody>
      </p:sp>
      <p:sp>
        <p:nvSpPr>
          <p:cNvPr id="3" name="Body"/>
          <p:cNvSpPr txBox="1"/>
          <p:nvPr/>
        </p:nvSpPr>
        <p:spPr>
          <a:xfrm>
            <a:off x="566928" y="1234440"/>
            <a:ext cx="11057839" cy="2743200"/>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In a second experiment, Bruce and colleagues presented a black circle that rapidly expanded (</a:t>
            </a:r>
            <a:r>
              <a:rPr sz="1600" b="1" i="0">
                <a:solidFill>
                  <a:srgbClr val="1F3FA0"/>
                </a:solidFill>
                <a:latin typeface="Arial"/>
              </a:rPr>
              <a:t>looming</a:t>
            </a:r>
            <a:r>
              <a:rPr sz="1600" b="0" i="0">
                <a:solidFill>
                  <a:srgbClr val="1E2330"/>
                </a:solidFill>
                <a:latin typeface="Arial"/>
              </a:rPr>
              <a:t>) or contracted (</a:t>
            </a:r>
            <a:r>
              <a:rPr sz="1600" b="1" i="0">
                <a:solidFill>
                  <a:srgbClr val="1F3FA0"/>
                </a:solidFill>
                <a:latin typeface="Arial"/>
              </a:rPr>
              <a:t>receding</a:t>
            </a:r>
            <a:r>
              <a:rPr sz="1600" b="0" i="0">
                <a:solidFill>
                  <a:srgbClr val="1E2330"/>
                </a:solidFill>
                <a:latin typeface="Arial"/>
              </a:rPr>
              <a:t>). Looming mimics an approaching object; receding provides a control with the same edges moving inward.</a:t>
            </a:r>
          </a:p>
          <a:p>
            <a:pPr algn="l">
              <a:lnSpc>
                <a:spcPct val="108000"/>
              </a:lnSpc>
              <a:spcAft>
                <a:spcPts val="960"/>
              </a:spcAft>
            </a:pPr>
            <a:r>
              <a:rPr sz="1600" b="0" i="0">
                <a:solidFill>
                  <a:srgbClr val="1E2330"/>
                </a:solidFill>
                <a:latin typeface="Arial"/>
              </a:rPr>
              <a:t>Intact spiders and spiders with masked principal eyes were significantly more likely to back away from a looming stimulus than spiders with masked ALEs.</a:t>
            </a:r>
          </a:p>
          <a:p>
            <a:pPr algn="l">
              <a:lnSpc>
                <a:spcPct val="108000"/>
              </a:lnSpc>
              <a:spcAft>
                <a:spcPts val="960"/>
              </a:spcAft>
            </a:pPr>
            <a:r>
              <a:rPr sz="1600" b="0" i="0">
                <a:solidFill>
                  <a:srgbClr val="1E2330"/>
                </a:solidFill>
                <a:latin typeface="Arial"/>
              </a:rPr>
              <a:t>The authors concluded that, for objects in front of the spider, the ALEs alone mediate the looming response. Defensive withdrawal does not require identifying the object.</a:t>
            </a:r>
          </a:p>
          <a:p>
            <a:pPr algn="l">
              <a:lnSpc>
                <a:spcPct val="108000"/>
              </a:lnSpc>
              <a:spcAft>
                <a:spcPts val="960"/>
              </a:spcAft>
            </a:pPr>
            <a:r>
              <a:rPr sz="1600" b="0" i="0">
                <a:solidFill>
                  <a:srgbClr val="1E2330"/>
                </a:solidFill>
                <a:latin typeface="Arial"/>
              </a:rPr>
              <a:t>Looming detection also appeared in the amphibian avoidance circuits of Lecture 10. In salticids, the same secondary eyes that select prey for inspection also trigger escape from an approaching object.</a:t>
            </a:r>
          </a:p>
        </p:txBody>
      </p:sp>
      <p:graphicFrame>
        <p:nvGraphicFramePr>
          <p:cNvPr id="4" name="Table 3"/>
          <p:cNvGraphicFramePr>
            <a:graphicFrameLocks noGrp="1"/>
          </p:cNvGraphicFramePr>
          <p:nvPr/>
        </p:nvGraphicFramePr>
        <p:xfrm>
          <a:off x="566928" y="3986783"/>
          <a:ext cx="11057839" cy="2194560"/>
        </p:xfrm>
        <a:graphic>
          <a:graphicData uri="http://schemas.openxmlformats.org/drawingml/2006/table">
            <a:tbl>
              <a:tblPr firstRow="1" bandRow="1">
                <a:tableStyleId>{5C22544A-7EE6-4342-B048-85BDC9FD1C3A}</a:tableStyleId>
              </a:tblPr>
              <a:tblGrid>
                <a:gridCol w="3685946"/>
                <a:gridCol w="3685946"/>
                <a:gridCol w="3685947"/>
              </a:tblGrid>
              <a:tr h="548640">
                <a:tc>
                  <a:txBody>
                    <a:bodyPr wrap="square"/>
                    <a:lstStyle/>
                    <a:p>
                      <a:pPr algn="l">
                        <a:lnSpc>
                          <a:spcPct val="108000"/>
                        </a:lnSpc>
                        <a:spcAft>
                          <a:spcPts val="0"/>
                        </a:spcAft>
                      </a:pPr>
                      <a:r>
                        <a:rPr sz="1300" b="1" i="0">
                          <a:solidFill>
                            <a:srgbClr val="1F3FA0"/>
                          </a:solidFill>
                          <a:latin typeface="Arial"/>
                        </a:rPr>
                        <a:t>Condition</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Backing away from looming</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Inference</a:t>
                      </a:r>
                    </a:p>
                  </a:txBody>
                  <a:tcPr marL="73152" marR="73152">
                    <a:solidFill>
                      <a:srgbClr val="EDF2FD"/>
                    </a:solidFill>
                  </a:tcPr>
                </a:tc>
              </a:tr>
              <a:tr h="548640">
                <a:tc>
                  <a:txBody>
                    <a:bodyPr wrap="square"/>
                    <a:lstStyle/>
                    <a:p>
                      <a:pPr algn="l">
                        <a:lnSpc>
                          <a:spcPct val="108000"/>
                        </a:lnSpc>
                        <a:spcAft>
                          <a:spcPts val="0"/>
                        </a:spcAft>
                      </a:pPr>
                      <a:r>
                        <a:rPr sz="1300" b="0" i="0">
                          <a:solidFill>
                            <a:srgbClr val="1E2330"/>
                          </a:solidFill>
                          <a:latin typeface="Arial"/>
                        </a:rPr>
                        <a:t>Intact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frequent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normal defensive response</a:t>
                      </a:r>
                    </a:p>
                  </a:txBody>
                  <a:tcPr marL="73152" marR="73152">
                    <a:solidFill>
                      <a:srgbClr val="FFFFFF"/>
                    </a:solidFill>
                  </a:tcPr>
                </a:tc>
              </a:tr>
              <a:tr h="548640">
                <a:tc>
                  <a:txBody>
                    <a:bodyPr wrap="square"/>
                    <a:lstStyle/>
                    <a:p>
                      <a:pPr algn="l">
                        <a:lnSpc>
                          <a:spcPct val="108000"/>
                        </a:lnSpc>
                        <a:spcAft>
                          <a:spcPts val="0"/>
                        </a:spcAft>
                      </a:pPr>
                      <a:r>
                        <a:rPr sz="1300" b="0" i="0">
                          <a:solidFill>
                            <a:srgbClr val="1E2330"/>
                          </a:solidFill>
                          <a:latin typeface="Arial"/>
                        </a:rPr>
                        <a:t>Principal eyes masked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frequent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AMEs not required</a:t>
                      </a:r>
                    </a:p>
                  </a:txBody>
                  <a:tcPr marL="73152" marR="73152">
                    <a:solidFill>
                      <a:srgbClr val="FFFFFF"/>
                    </a:solidFill>
                  </a:tcPr>
                </a:tc>
              </a:tr>
              <a:tr h="548640">
                <a:tc>
                  <a:txBody>
                    <a:bodyPr wrap="square"/>
                    <a:lstStyle/>
                    <a:p>
                      <a:pPr algn="l">
                        <a:lnSpc>
                          <a:spcPct val="108000"/>
                        </a:lnSpc>
                        <a:spcAft>
                          <a:spcPts val="0"/>
                        </a:spcAft>
                      </a:pPr>
                      <a:r>
                        <a:rPr sz="1300" b="0" i="0">
                          <a:solidFill>
                            <a:srgbClr val="1E2330"/>
                          </a:solidFill>
                          <a:latin typeface="Arial"/>
                        </a:rPr>
                        <a:t>ALEs masked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significantly reduced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ALEs required</a:t>
                      </a:r>
                    </a:p>
                  </a:txBody>
                  <a:tcPr marL="73152" marR="73152">
                    <a:solidFill>
                      <a:srgbClr val="FFFFFF"/>
                    </a:solidFill>
                  </a:tcPr>
                </a:tc>
              </a:tr>
            </a:tbl>
          </a:graphicData>
        </a:graphic>
      </p:graphicFrame>
      <p:sp>
        <p:nvSpPr>
          <p:cNvPr id="5" name="Rectangle 4"/>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Bruce et al. (2021)</a:t>
            </a:r>
          </a:p>
        </p:txBody>
      </p:sp>
      <p:sp>
        <p:nvSpPr>
          <p:cNvPr id="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Attention is allocated separately in each eye system</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Loconsole and colleagues used a cue–target design. A spatial cue appeared on one side of a screen; a target dot moving vertically then appeared either on the same side or on the opposite side.</a:t>
            </a:r>
          </a:p>
          <a:p>
            <a:pPr algn="l">
              <a:lnSpc>
                <a:spcPct val="108000"/>
              </a:lnSpc>
              <a:spcAft>
                <a:spcPts val="960"/>
              </a:spcAft>
            </a:pPr>
            <a:r>
              <a:rPr sz="1600" b="0" i="0">
                <a:solidFill>
                  <a:srgbClr val="1E2330"/>
                </a:solidFill>
                <a:latin typeface="Arial"/>
              </a:rPr>
              <a:t>One experiment tested whether a cue presented to the secondary eyes enhanced principal-eye responses on the cued side. A second tested whether the direction of principal-eye focus enhanced secondary-eye detection on that side.</a:t>
            </a:r>
          </a:p>
          <a:p>
            <a:pPr algn="l">
              <a:lnSpc>
                <a:spcPct val="108000"/>
              </a:lnSpc>
              <a:spcAft>
                <a:spcPts val="960"/>
              </a:spcAft>
            </a:pPr>
            <a:r>
              <a:rPr sz="1600" b="0" i="0">
                <a:solidFill>
                  <a:srgbClr val="1E2330"/>
                </a:solidFill>
                <a:latin typeface="Arial"/>
              </a:rPr>
              <a:t>In both experiments spiders detected targets faster and more accurately on the side opposite the cue. The hypothesis that both eye systems attend jointly to one location was not supported.</a:t>
            </a:r>
          </a:p>
          <a:p>
            <a:pPr algn="l">
              <a:lnSpc>
                <a:spcPct val="108000"/>
              </a:lnSpc>
              <a:spcAft>
                <a:spcPts val="960"/>
              </a:spcAft>
            </a:pPr>
            <a:r>
              <a:rPr sz="1600" b="0" i="0">
                <a:solidFill>
                  <a:srgbClr val="1E2330"/>
                </a:solidFill>
                <a:latin typeface="Arial"/>
              </a:rPr>
              <a:t>The authors proposed that attention is segregated across the eye systems, with each covering locations the other is not attending. This is an interpretation of behavioral performance; the underlying neural mechanism is unknown.</a:t>
            </a:r>
          </a:p>
        </p:txBody>
      </p:sp>
      <p:pic>
        <p:nvPicPr>
          <p:cNvPr id="4" name="Picture 3" descr="f17_loconsole.png"/>
          <p:cNvPicPr>
            <a:picLocks noChangeAspect="1"/>
          </p:cNvPicPr>
          <p:nvPr/>
        </p:nvPicPr>
        <p:blipFill>
          <a:blip r:embed="rId2"/>
          <a:stretch>
            <a:fillRect/>
          </a:stretch>
        </p:blipFill>
        <p:spPr>
          <a:xfrm>
            <a:off x="6687007" y="1280160"/>
            <a:ext cx="4937760" cy="1741105"/>
          </a:xfrm>
          <a:prstGeom prst="rect">
            <a:avLst/>
          </a:prstGeom>
        </p:spPr>
      </p:pic>
      <p:sp>
        <p:nvSpPr>
          <p:cNvPr id="5" name="Figure caption"/>
          <p:cNvSpPr txBox="1"/>
          <p:nvPr/>
        </p:nvSpPr>
        <p:spPr>
          <a:xfrm>
            <a:off x="6687007" y="3112705"/>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Cue–target design and main result. Schematic summarizing Loconsole et al. (2024).</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Loconsole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Two visual pathways reach separate brain centers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In the wandering spider </a:t>
            </a:r>
            <a:r>
              <a:rPr sz="1600" b="0" i="1">
                <a:solidFill>
                  <a:srgbClr val="1E2330"/>
                </a:solidFill>
                <a:latin typeface="Arial"/>
              </a:rPr>
              <a:t>Cupiennius salei</a:t>
            </a:r>
            <a:r>
              <a:rPr sz="1600" b="0" i="0">
                <a:solidFill>
                  <a:srgbClr val="1E2330"/>
                </a:solidFill>
                <a:latin typeface="Arial"/>
              </a:rPr>
              <a:t>, Strausfeld and Barth traced the principal and secondary eyes into the brain. Secondary-eye photoreceptors project to three laminae, then to separate medullae, and converge on a single neuropil called the </a:t>
            </a:r>
            <a:r>
              <a:rPr sz="1600" b="1" i="0">
                <a:solidFill>
                  <a:srgbClr val="1F3FA0"/>
                </a:solidFill>
                <a:latin typeface="Arial"/>
              </a:rPr>
              <a:t>mushroom body</a:t>
            </a:r>
            <a:r>
              <a:rPr sz="1600" b="0" i="0">
                <a:solidFill>
                  <a:srgbClr val="1E2330"/>
                </a:solidFill>
                <a:latin typeface="Arial"/>
              </a:rPr>
              <a:t>.</a:t>
            </a:r>
          </a:p>
          <a:p>
            <a:pPr algn="l">
              <a:lnSpc>
                <a:spcPct val="108000"/>
              </a:lnSpc>
              <a:spcAft>
                <a:spcPts val="960"/>
              </a:spcAft>
            </a:pPr>
            <a:r>
              <a:rPr sz="1600" b="0" i="0">
                <a:solidFill>
                  <a:srgbClr val="1E2330"/>
                </a:solidFill>
                <a:latin typeface="Arial"/>
              </a:rPr>
              <a:t>Principal-eye axons pass through successive neuropils to a midline structure then called the central body, now generally termed the </a:t>
            </a:r>
            <a:r>
              <a:rPr sz="1600" b="1" i="0">
                <a:solidFill>
                  <a:srgbClr val="1F3FA0"/>
                </a:solidFill>
                <a:latin typeface="Arial"/>
              </a:rPr>
              <a:t>arcuate body</a:t>
            </a:r>
            <a:r>
              <a:rPr sz="1600" b="0" i="0">
                <a:solidFill>
                  <a:srgbClr val="1E2330"/>
                </a:solidFill>
                <a:latin typeface="Arial"/>
              </a:rPr>
              <a:t>. A </a:t>
            </a:r>
            <a:r>
              <a:rPr sz="1600" b="1" i="0">
                <a:solidFill>
                  <a:srgbClr val="1F3FA0"/>
                </a:solidFill>
                <a:latin typeface="Arial"/>
              </a:rPr>
              <a:t>neuropil</a:t>
            </a:r>
            <a:r>
              <a:rPr sz="1600" b="0" i="0">
                <a:solidFill>
                  <a:srgbClr val="1E2330"/>
                </a:solidFill>
                <a:latin typeface="Arial"/>
              </a:rPr>
              <a:t> is a dense region of axons, dendrites, and synapses.</a:t>
            </a:r>
          </a:p>
          <a:p>
            <a:pPr algn="l">
              <a:lnSpc>
                <a:spcPct val="108000"/>
              </a:lnSpc>
              <a:spcAft>
                <a:spcPts val="960"/>
              </a:spcAft>
            </a:pPr>
            <a:r>
              <a:rPr sz="1600" b="0" i="0">
                <a:solidFill>
                  <a:srgbClr val="1E2330"/>
                </a:solidFill>
                <a:latin typeface="Arial"/>
              </a:rPr>
              <a:t>Steinhoff and colleagues found the same principal-eye connectivity in the jumping spider </a:t>
            </a:r>
            <a:r>
              <a:rPr sz="1600" b="0" i="1">
                <a:solidFill>
                  <a:srgbClr val="1E2330"/>
                </a:solidFill>
                <a:latin typeface="Arial"/>
              </a:rPr>
              <a:t>Marpissa muscosa</a:t>
            </a:r>
            <a:r>
              <a:rPr sz="1600" b="0" i="0">
                <a:solidFill>
                  <a:srgbClr val="1E2330"/>
                </a:solidFill>
                <a:latin typeface="Arial"/>
              </a:rPr>
              <a:t>. Each secondary eye has its own first-order neuropil, and secondary-eye pathways reach the mushroom body.</a:t>
            </a:r>
          </a:p>
          <a:p>
            <a:pPr algn="l">
              <a:lnSpc>
                <a:spcPct val="108000"/>
              </a:lnSpc>
              <a:spcAft>
                <a:spcPts val="960"/>
              </a:spcAft>
            </a:pPr>
            <a:r>
              <a:rPr sz="1600" b="0" i="0">
                <a:solidFill>
                  <a:srgbClr val="1E2330"/>
                </a:solidFill>
                <a:latin typeface="Arial"/>
              </a:rPr>
              <a:t>Neither the spider mushroom body nor the arcuate body is established as homologous to the similarly named structures in insects. Shared names do not imply shared evolutionary origin.</a:t>
            </a:r>
          </a:p>
        </p:txBody>
      </p:sp>
      <p:pic>
        <p:nvPicPr>
          <p:cNvPr id="4" name="Picture 3" descr="f18_brain_pathways.png"/>
          <p:cNvPicPr>
            <a:picLocks noChangeAspect="1"/>
          </p:cNvPicPr>
          <p:nvPr/>
        </p:nvPicPr>
        <p:blipFill>
          <a:blip r:embed="rId2"/>
          <a:stretch>
            <a:fillRect/>
          </a:stretch>
        </p:blipFill>
        <p:spPr>
          <a:xfrm>
            <a:off x="6504127" y="1280160"/>
            <a:ext cx="5120640" cy="2560320"/>
          </a:xfrm>
          <a:prstGeom prst="rect">
            <a:avLst/>
          </a:prstGeom>
        </p:spPr>
      </p:pic>
      <p:sp>
        <p:nvSpPr>
          <p:cNvPr id="5" name="Figure caption"/>
          <p:cNvSpPr txBox="1"/>
          <p:nvPr/>
        </p:nvSpPr>
        <p:spPr>
          <a:xfrm>
            <a:off x="6504127" y="39319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Simplified wiring of the principal- and secondary-eye pathways in Marpissa muscosa. Diagram drawn from Steinhoff et al. (2020) and Strausfeld &amp; Barth (1993).</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Strausfeld &amp; Barth (1993); Steinhoff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 shared second-order neuropil links lateral eyes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In </a:t>
            </a:r>
            <a:r>
              <a:rPr sz="1800" b="0" i="1">
                <a:solidFill>
                  <a:srgbClr val="1E2330"/>
                </a:solidFill>
                <a:latin typeface="Arial"/>
              </a:rPr>
              <a:t>Marpissa muscosa</a:t>
            </a:r>
            <a:r>
              <a:rPr sz="1800" b="0" i="0">
                <a:solidFill>
                  <a:srgbClr val="1E2330"/>
                </a:solidFill>
                <a:latin typeface="Arial"/>
              </a:rPr>
              <a:t>, the first-order neuropils of the ALEs and PLEs each connect to their own second-order neuropil and also to an additional shared second-order neuropil, termed </a:t>
            </a:r>
            <a:r>
              <a:rPr sz="1800" b="1" i="0">
                <a:solidFill>
                  <a:srgbClr val="1F3FA0"/>
                </a:solidFill>
                <a:latin typeface="Arial"/>
              </a:rPr>
              <a:t>L2</a:t>
            </a:r>
            <a:r>
              <a:rPr sz="1800" b="0" i="0">
                <a:solidFill>
                  <a:srgbClr val="1E2330"/>
                </a:solidFill>
                <a:latin typeface="Arial"/>
              </a:rPr>
              <a:t>.</a:t>
            </a:r>
          </a:p>
          <a:p>
            <a:pPr algn="l">
              <a:lnSpc>
                <a:spcPct val="108000"/>
              </a:lnSpc>
              <a:spcAft>
                <a:spcPts val="1080"/>
              </a:spcAft>
            </a:pPr>
            <a:r>
              <a:rPr sz="1800" b="0" i="0">
                <a:solidFill>
                  <a:srgbClr val="1E2330"/>
                </a:solidFill>
                <a:latin typeface="Arial"/>
              </a:rPr>
              <a:t>Steinhoff and colleagues proposed that L2 acts as an upstream integration center. Combining forward-facing ALE input with lateral PLE input early in processing could support faster movement decisions, such as choosing the direction of a turn.</a:t>
            </a:r>
          </a:p>
          <a:p>
            <a:pPr algn="l">
              <a:lnSpc>
                <a:spcPct val="108000"/>
              </a:lnSpc>
              <a:spcAft>
                <a:spcPts val="1080"/>
              </a:spcAft>
            </a:pPr>
            <a:r>
              <a:rPr sz="1800" b="0" i="0">
                <a:solidFill>
                  <a:srgbClr val="1E2330"/>
                </a:solidFill>
                <a:latin typeface="Arial"/>
              </a:rPr>
              <a:t>The posterior median eyes differ. Their first-order neuropils project directly to the arcuate body rather than through second-order neuropils, which led the authors to suggest that the PMEs do not contribute to motion detection.</a:t>
            </a:r>
          </a:p>
          <a:p>
            <a:pPr algn="l">
              <a:lnSpc>
                <a:spcPct val="108000"/>
              </a:lnSpc>
              <a:spcAft>
                <a:spcPts val="1080"/>
              </a:spcAft>
            </a:pPr>
            <a:r>
              <a:rPr sz="1800" b="0" i="0">
                <a:solidFill>
                  <a:srgbClr val="1E2330"/>
                </a:solidFill>
                <a:latin typeface="Arial"/>
              </a:rPr>
              <a:t>These conclusions are based on neuroanatomy: tracing, staining, and three-dimensional reconstruction. Functional roles proposed for L2 and the PMEs have not yet been tested with recordings or targeted lesions.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Steinhoff et al. (2020)</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Recording from a pressurized brain</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Spiders extend their legs partly by </a:t>
            </a:r>
            <a:r>
              <a:rPr sz="1800" b="1" i="0">
                <a:solidFill>
                  <a:srgbClr val="1F3FA0"/>
                </a:solidFill>
                <a:latin typeface="Arial"/>
              </a:rPr>
              <a:t>hydraulic pressure</a:t>
            </a:r>
            <a:r>
              <a:rPr sz="1800" b="0" i="0">
                <a:solidFill>
                  <a:srgbClr val="1E2330"/>
                </a:solidFill>
                <a:latin typeface="Arial"/>
              </a:rPr>
              <a:t> in the body fluid. Opening the cuticle wide enough for conventional electrophysiology lets fluid escape, and for decades this prevented recordings from the salticid brain.</a:t>
            </a:r>
          </a:p>
          <a:p>
            <a:pPr algn="l">
              <a:lnSpc>
                <a:spcPct val="108000"/>
              </a:lnSpc>
              <a:spcAft>
                <a:spcPts val="1080"/>
              </a:spcAft>
            </a:pPr>
            <a:r>
              <a:rPr sz="1800" b="0" i="0">
                <a:solidFill>
                  <a:srgbClr val="1E2330"/>
                </a:solidFill>
                <a:latin typeface="Arial"/>
              </a:rPr>
              <a:t>Menda and colleagues made a very small opening that the spider’s own tissues sealed around a hair-thin tungsten microelectrode. The preparation kept the animal alive while extracellular spikes were recorded from visual brain regions of </a:t>
            </a:r>
            <a:r>
              <a:rPr sz="1800" b="0" i="1">
                <a:solidFill>
                  <a:srgbClr val="1E2330"/>
                </a:solidFill>
                <a:latin typeface="Arial"/>
              </a:rPr>
              <a:t>Phidippus audax</a:t>
            </a:r>
            <a:r>
              <a:rPr sz="1800" b="0" i="0">
                <a:solidFill>
                  <a:srgbClr val="1E2330"/>
                </a:solidFill>
                <a:latin typeface="Arial"/>
              </a:rPr>
              <a:t>.</a:t>
            </a:r>
          </a:p>
          <a:p>
            <a:pPr algn="l">
              <a:lnSpc>
                <a:spcPct val="108000"/>
              </a:lnSpc>
              <a:spcAft>
                <a:spcPts val="1080"/>
              </a:spcAft>
            </a:pPr>
            <a:r>
              <a:rPr sz="1800" b="0" i="0">
                <a:solidFill>
                  <a:srgbClr val="1E2330"/>
                </a:solidFill>
                <a:latin typeface="Arial"/>
              </a:rPr>
              <a:t>They reported single-unit recordings from visual interneurons in a jumping spider brain, the first published. Stimuli included white noise and images of flies and other jumping spiders.</a:t>
            </a:r>
          </a:p>
          <a:p>
            <a:pPr algn="l">
              <a:lnSpc>
                <a:spcPct val="108000"/>
              </a:lnSpc>
              <a:spcAft>
                <a:spcPts val="1080"/>
              </a:spcAft>
            </a:pPr>
            <a:r>
              <a:rPr sz="1800" b="1" i="0">
                <a:solidFill>
                  <a:srgbClr val="1F3FA0"/>
                </a:solidFill>
                <a:latin typeface="Arial"/>
              </a:rPr>
              <a:t>Single-unit</a:t>
            </a:r>
            <a:r>
              <a:rPr sz="1800" b="0" i="0">
                <a:solidFill>
                  <a:srgbClr val="1E2330"/>
                </a:solidFill>
                <a:latin typeface="Arial"/>
              </a:rPr>
              <a:t> recording isolates the spikes of one neuron from background activity. It identifies response properties but not the cell’s morphology unless the neuron is also filled with dye.</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Menda et al. (2014)</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Visual neurons combine input from several eyes</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When only one eye type viewed a stimulus, responses in the recorded visual regions were weak. The same image evoked stronger activity when several eye types viewed it together, evidence of </a:t>
            </a:r>
            <a:r>
              <a:rPr sz="1700" b="1" i="0">
                <a:solidFill>
                  <a:srgbClr val="1F3FA0"/>
                </a:solidFill>
                <a:latin typeface="Arial"/>
              </a:rPr>
              <a:t>nonlinear interactions</a:t>
            </a:r>
            <a:r>
              <a:rPr sz="1700" b="0" i="0">
                <a:solidFill>
                  <a:srgbClr val="1E2330"/>
                </a:solidFill>
                <a:latin typeface="Arial"/>
              </a:rPr>
              <a:t> between eyes: the response to combined input could not be predicted by adding the responses to each eye alone.</a:t>
            </a:r>
          </a:p>
          <a:p>
            <a:pPr algn="l">
              <a:lnSpc>
                <a:spcPct val="108000"/>
              </a:lnSpc>
              <a:spcAft>
                <a:spcPts val="1019"/>
              </a:spcAft>
            </a:pPr>
            <a:r>
              <a:rPr sz="1700" b="0" i="0">
                <a:solidFill>
                  <a:srgbClr val="1E2330"/>
                </a:solidFill>
                <a:latin typeface="Arial"/>
              </a:rPr>
              <a:t>Responses to a small, moving, prey-like target were strong and consistent across trials. Spikes became linked to the stimulus within a window of about 80–160 ms after onset.</a:t>
            </a:r>
          </a:p>
          <a:p>
            <a:pPr algn="l">
              <a:lnSpc>
                <a:spcPct val="108000"/>
              </a:lnSpc>
              <a:spcAft>
                <a:spcPts val="1019"/>
              </a:spcAft>
            </a:pPr>
            <a:r>
              <a:rPr sz="1700" b="0" i="0">
                <a:solidFill>
                  <a:srgbClr val="1E2330"/>
                </a:solidFill>
                <a:latin typeface="Arial"/>
              </a:rPr>
              <a:t>The recordings show that principal- and secondary-eye information converges on single neurons somewhere in the visual system. They do not yet establish where, or whether this convergence underlies the tracking and attention effects measured behaviorally.</a:t>
            </a:r>
          </a:p>
        </p:txBody>
      </p:sp>
      <p:pic>
        <p:nvPicPr>
          <p:cNvPr id="4" name="Picture 3" descr="f19_menda_latency.png"/>
          <p:cNvPicPr>
            <a:picLocks noChangeAspect="1"/>
          </p:cNvPicPr>
          <p:nvPr/>
        </p:nvPicPr>
        <p:blipFill>
          <a:blip r:embed="rId2"/>
          <a:stretch>
            <a:fillRect/>
          </a:stretch>
        </p:blipFill>
        <p:spPr>
          <a:xfrm>
            <a:off x="6687007" y="1280160"/>
            <a:ext cx="4937760" cy="2279712"/>
          </a:xfrm>
          <a:prstGeom prst="rect">
            <a:avLst/>
          </a:prstGeom>
        </p:spPr>
      </p:pic>
      <p:sp>
        <p:nvSpPr>
          <p:cNvPr id="5" name="Figure caption"/>
          <p:cNvSpPr txBox="1"/>
          <p:nvPr/>
        </p:nvSpPr>
        <p:spPr>
          <a:xfrm>
            <a:off x="6687007" y="3651312"/>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Time window in which spiking became linked to the prey-like stimulus. Values from Menda et al. (2014); schematic timeline, not a recorded trace.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Menda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Spiders discriminate biological motion with secondary eyes</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De Agrò and colleagues presented </a:t>
            </a:r>
            <a:r>
              <a:rPr sz="1600" b="1" i="0">
                <a:solidFill>
                  <a:srgbClr val="1F3FA0"/>
                </a:solidFill>
                <a:latin typeface="Arial"/>
              </a:rPr>
              <a:t>point-light displays</a:t>
            </a:r>
            <a:r>
              <a:rPr sz="1600" b="0" i="0">
                <a:solidFill>
                  <a:srgbClr val="1E2330"/>
                </a:solidFill>
                <a:latin typeface="Arial"/>
              </a:rPr>
              <a:t> to the secondary eyes of </a:t>
            </a:r>
            <a:r>
              <a:rPr sz="1600" b="0" i="1">
                <a:solidFill>
                  <a:srgbClr val="1E2330"/>
                </a:solidFill>
                <a:latin typeface="Arial"/>
              </a:rPr>
              <a:t>Menemerus semilimbatus</a:t>
            </a:r>
            <a:r>
              <a:rPr sz="1600" b="0" i="0">
                <a:solidFill>
                  <a:srgbClr val="1E2330"/>
                </a:solidFill>
                <a:latin typeface="Arial"/>
              </a:rPr>
              <a:t>. These displays show only dots placed on the joints of a moving animal; shape is absent, but the coordinated motion of the dots specifies a living walker.</a:t>
            </a:r>
          </a:p>
          <a:p>
            <a:pPr algn="l">
              <a:lnSpc>
                <a:spcPct val="108000"/>
              </a:lnSpc>
              <a:spcAft>
                <a:spcPts val="960"/>
              </a:spcAft>
            </a:pPr>
            <a:r>
              <a:rPr sz="1600" b="0" i="0">
                <a:solidFill>
                  <a:srgbClr val="1E2330"/>
                </a:solidFill>
                <a:latin typeface="Arial"/>
              </a:rPr>
              <a:t>Spiders stood on a sphere and chose between displays on either side. The comparisons were biological motion versus random dot motion, and biological motion versus scrambled displays that preserve local dot trajectories but not their arrangement.</a:t>
            </a:r>
          </a:p>
          <a:p>
            <a:pPr algn="l">
              <a:lnSpc>
                <a:spcPct val="108000"/>
              </a:lnSpc>
              <a:spcAft>
                <a:spcPts val="960"/>
              </a:spcAft>
            </a:pPr>
            <a:r>
              <a:rPr sz="1600" b="0" i="0">
                <a:solidFill>
                  <a:srgbClr val="1E2330"/>
                </a:solidFill>
                <a:latin typeface="Arial"/>
              </a:rPr>
              <a:t>Spiders discriminated biological from random motion but turned preferentially toward the random display. They showed no preference between biological and scrambled displays.</a:t>
            </a:r>
          </a:p>
          <a:p>
            <a:pPr algn="l">
              <a:lnSpc>
                <a:spcPct val="108000"/>
              </a:lnSpc>
              <a:spcAft>
                <a:spcPts val="960"/>
              </a:spcAft>
            </a:pPr>
            <a:r>
              <a:rPr sz="1600" b="0" i="0">
                <a:solidFill>
                  <a:srgbClr val="1E2330"/>
                </a:solidFill>
                <a:latin typeface="Arial"/>
              </a:rPr>
              <a:t>Discrimination shows that the secondary-eye pathway extracts more than the presence of motion. The direction of the preference is unexplained; the authors did not propose a confirmed functional reason for it.</a:t>
            </a:r>
          </a:p>
        </p:txBody>
      </p:sp>
      <p:pic>
        <p:nvPicPr>
          <p:cNvPr id="4" name="Picture 3" descr="f20_biomotion.png"/>
          <p:cNvPicPr>
            <a:picLocks noChangeAspect="1"/>
          </p:cNvPicPr>
          <p:nvPr/>
        </p:nvPicPr>
        <p:blipFill>
          <a:blip r:embed="rId2"/>
          <a:stretch>
            <a:fillRect/>
          </a:stretch>
        </p:blipFill>
        <p:spPr>
          <a:xfrm>
            <a:off x="6687007" y="1280160"/>
            <a:ext cx="4937760" cy="2001092"/>
          </a:xfrm>
          <a:prstGeom prst="rect">
            <a:avLst/>
          </a:prstGeom>
        </p:spPr>
      </p:pic>
      <p:sp>
        <p:nvSpPr>
          <p:cNvPr id="5" name="Figure caption"/>
          <p:cNvSpPr txBox="1"/>
          <p:nvPr/>
        </p:nvSpPr>
        <p:spPr>
          <a:xfrm>
            <a:off x="6687007" y="3372692"/>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Comparisons and outcomes in the point-light experiment. Summary of De Agrò et al. (2021); not original data.</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De Agrò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Innate recognition of prey uses local features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1">
                <a:solidFill>
                  <a:srgbClr val="1E2330"/>
                </a:solidFill>
                <a:latin typeface="Arial"/>
              </a:rPr>
              <a:t>Evarcha culicivora</a:t>
            </a:r>
            <a:r>
              <a:rPr sz="1800" b="0" i="0">
                <a:solidFill>
                  <a:srgbClr val="1E2330"/>
                </a:solidFill>
                <a:latin typeface="Arial"/>
              </a:rPr>
              <a:t> preferentially captures blood-fed </a:t>
            </a:r>
            <a:r>
              <a:rPr sz="1800" b="0" i="1">
                <a:solidFill>
                  <a:srgbClr val="1E2330"/>
                </a:solidFill>
                <a:latin typeface="Arial"/>
              </a:rPr>
              <a:t>Anopheles</a:t>
            </a:r>
            <a:r>
              <a:rPr sz="1800" b="0" i="0">
                <a:solidFill>
                  <a:srgbClr val="1E2330"/>
                </a:solidFill>
                <a:latin typeface="Arial"/>
              </a:rPr>
              <a:t> mosquitoes, the vectors of human malaria. The spiders recognize this prey by its distinctive resting posture and engorged abdomen.</a:t>
            </a:r>
          </a:p>
          <a:p>
            <a:pPr algn="l">
              <a:lnSpc>
                <a:spcPct val="108000"/>
              </a:lnSpc>
              <a:spcAft>
                <a:spcPts val="1080"/>
              </a:spcAft>
            </a:pPr>
            <a:r>
              <a:rPr sz="1800" b="0" i="0">
                <a:solidFill>
                  <a:srgbClr val="1E2330"/>
                </a:solidFill>
                <a:latin typeface="Arial"/>
              </a:rPr>
              <a:t>Dolev and Nelson presented lures in which body parts were rearranged or separated. Spiders identified </a:t>
            </a:r>
            <a:r>
              <a:rPr sz="1800" b="0" i="1">
                <a:solidFill>
                  <a:srgbClr val="1E2330"/>
                </a:solidFill>
                <a:latin typeface="Arial"/>
              </a:rPr>
              <a:t>Anopheles</a:t>
            </a:r>
            <a:r>
              <a:rPr sz="1800" b="0" i="0">
                <a:solidFill>
                  <a:srgbClr val="1E2330"/>
                </a:solidFill>
                <a:latin typeface="Arial"/>
              </a:rPr>
              <a:t> correctly from the angle formed between discontinuous elements, even when those elements were not connected as in a real mosquito.</a:t>
            </a:r>
          </a:p>
          <a:p>
            <a:pPr algn="l">
              <a:lnSpc>
                <a:spcPct val="108000"/>
              </a:lnSpc>
              <a:spcAft>
                <a:spcPts val="1080"/>
              </a:spcAft>
            </a:pPr>
            <a:r>
              <a:rPr sz="1800" b="0" i="0">
                <a:solidFill>
                  <a:srgbClr val="1E2330"/>
                </a:solidFill>
                <a:latin typeface="Arial"/>
              </a:rPr>
              <a:t>This angle, rather than the overall resting posture, was the key cue. The authors concluded that recognition relies on </a:t>
            </a:r>
            <a:r>
              <a:rPr sz="1800" b="1" i="0">
                <a:solidFill>
                  <a:srgbClr val="1F3FA0"/>
                </a:solidFill>
                <a:latin typeface="Arial"/>
              </a:rPr>
              <a:t>local feature processing</a:t>
            </a:r>
            <a:r>
              <a:rPr sz="1800" b="0" i="0">
                <a:solidFill>
                  <a:srgbClr val="1E2330"/>
                </a:solidFill>
                <a:latin typeface="Arial"/>
              </a:rPr>
              <a:t>, combining specific elements, rather than on a holistic representation of the whole body.</a:t>
            </a:r>
          </a:p>
          <a:p>
            <a:pPr algn="l">
              <a:lnSpc>
                <a:spcPct val="108000"/>
              </a:lnSpc>
              <a:spcAft>
                <a:spcPts val="1080"/>
              </a:spcAft>
            </a:pPr>
            <a:r>
              <a:rPr sz="1800" b="0" i="0">
                <a:solidFill>
                  <a:srgbClr val="1E2330"/>
                </a:solidFill>
                <a:latin typeface="Arial"/>
              </a:rPr>
              <a:t>Because the spiders were reared without experience of the prey, the preference is innate. Recognition criteria of this kind constrain which features the principal eyes must extract during scanning.</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Dolev &amp; Nelson (2014)</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Discrimination distance varies across species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Harland and colleagues tested adult males of 37 salticid species. Each spider walked up a ramp toward either a mirror, which shows a rival, or a prey insect in a transparent dish. Spiders displayed only to mirrors, never to insects.</a:t>
            </a:r>
          </a:p>
          <a:p>
            <a:pPr algn="l">
              <a:lnSpc>
                <a:spcPct val="108000"/>
              </a:lnSpc>
              <a:spcAft>
                <a:spcPts val="1080"/>
              </a:spcAft>
            </a:pPr>
            <a:r>
              <a:rPr sz="1800" b="0" i="0">
                <a:solidFill>
                  <a:srgbClr val="1E2330"/>
                </a:solidFill>
                <a:latin typeface="Arial"/>
              </a:rPr>
              <a:t>The distance at which display began was taken as the distance at which a species can tell rivals from prey. Lyssomanines and spartaeines generally had shorter distances than salticines, but </a:t>
            </a:r>
            <a:r>
              <a:rPr sz="1800" b="0" i="1">
                <a:solidFill>
                  <a:srgbClr val="1E2330"/>
                </a:solidFill>
                <a:latin typeface="Arial"/>
              </a:rPr>
              <a:t>Portia</a:t>
            </a:r>
            <a:r>
              <a:rPr sz="1800" b="0" i="0">
                <a:solidFill>
                  <a:srgbClr val="1E2330"/>
                </a:solidFill>
                <a:latin typeface="Arial"/>
              </a:rPr>
              <a:t> species matched the longest salticine distances; the longest of all belonged to </a:t>
            </a:r>
            <a:r>
              <a:rPr sz="1800" b="0" i="1">
                <a:solidFill>
                  <a:srgbClr val="1E2330"/>
                </a:solidFill>
                <a:latin typeface="Arial"/>
              </a:rPr>
              <a:t>Mogrus neglectus</a:t>
            </a:r>
            <a:r>
              <a:rPr sz="1800" b="0" i="0">
                <a:solidFill>
                  <a:srgbClr val="1E2330"/>
                </a:solidFill>
                <a:latin typeface="Arial"/>
              </a:rPr>
              <a:t>.</a:t>
            </a:r>
          </a:p>
          <a:p>
            <a:pPr algn="l">
              <a:lnSpc>
                <a:spcPct val="108000"/>
              </a:lnSpc>
              <a:spcAft>
                <a:spcPts val="1080"/>
              </a:spcAft>
            </a:pPr>
            <a:r>
              <a:rPr sz="1800" b="0" i="0">
                <a:solidFill>
                  <a:srgbClr val="1E2330"/>
                </a:solidFill>
                <a:latin typeface="Arial"/>
              </a:rPr>
              <a:t>Discrimination distance is a behavioral estimate of principal-eye performance under natural viewing. It integrates optics, receptor spacing, and recognition criteria in one measure.</a:t>
            </a:r>
          </a:p>
          <a:p>
            <a:pPr algn="l">
              <a:lnSpc>
                <a:spcPct val="108000"/>
              </a:lnSpc>
              <a:spcAft>
                <a:spcPts val="1080"/>
              </a:spcAft>
            </a:pPr>
            <a:r>
              <a:rPr sz="1800" b="0" i="0">
                <a:solidFill>
                  <a:srgbClr val="1E2330"/>
                </a:solidFill>
                <a:latin typeface="Arial"/>
              </a:rPr>
              <a:t>Comparative data of this kind show that acuity evolves with lineage and lifestyle, not as a fixed property of the salticid eye plan.</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Harland et al. (1999)</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Portia selects detour routes that lead to prey</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1">
                <a:solidFill>
                  <a:srgbClr val="1E2330"/>
                </a:solidFill>
                <a:latin typeface="Arial"/>
              </a:rPr>
              <a:t>Portia</a:t>
            </a:r>
            <a:r>
              <a:rPr sz="1800" b="0" i="0">
                <a:solidFill>
                  <a:srgbClr val="1E2330"/>
                </a:solidFill>
                <a:latin typeface="Arial"/>
              </a:rPr>
              <a:t> is </a:t>
            </a:r>
            <a:r>
              <a:rPr sz="1800" b="1" i="0">
                <a:solidFill>
                  <a:srgbClr val="1F3FA0"/>
                </a:solidFill>
                <a:latin typeface="Arial"/>
              </a:rPr>
              <a:t>araneophagic</a:t>
            </a:r>
            <a:r>
              <a:rPr sz="1800" b="0" i="0">
                <a:solidFill>
                  <a:srgbClr val="1E2330"/>
                </a:solidFill>
                <a:latin typeface="Arial"/>
              </a:rPr>
              <a:t>: it preys on other spiders, often in webs it cannot approach directly. Reaching such prey frequently requires a </a:t>
            </a:r>
            <a:r>
              <a:rPr sz="1800" b="1" i="0">
                <a:solidFill>
                  <a:srgbClr val="1F3FA0"/>
                </a:solidFill>
                <a:latin typeface="Arial"/>
              </a:rPr>
              <a:t>detour</a:t>
            </a:r>
            <a:r>
              <a:rPr sz="1800" b="0" i="0">
                <a:solidFill>
                  <a:srgbClr val="1E2330"/>
                </a:solidFill>
                <a:latin typeface="Arial"/>
              </a:rPr>
              <a:t>, an indirect route that temporarily leads away from the target.</a:t>
            </a:r>
          </a:p>
          <a:p>
            <a:pPr algn="l">
              <a:lnSpc>
                <a:spcPct val="108000"/>
              </a:lnSpc>
              <a:spcAft>
                <a:spcPts val="1080"/>
              </a:spcAft>
            </a:pPr>
            <a:r>
              <a:rPr sz="1800" b="0" i="0">
                <a:solidFill>
                  <a:srgbClr val="1E2330"/>
                </a:solidFill>
                <a:latin typeface="Arial"/>
              </a:rPr>
              <a:t>Tarsitano and Jackson let </a:t>
            </a:r>
            <a:r>
              <a:rPr sz="1800" b="0" i="1">
                <a:solidFill>
                  <a:srgbClr val="1E2330"/>
                </a:solidFill>
                <a:latin typeface="Arial"/>
              </a:rPr>
              <a:t>Portia</a:t>
            </a:r>
            <a:r>
              <a:rPr sz="1800" b="0" i="0">
                <a:solidFill>
                  <a:srgbClr val="1E2330"/>
                </a:solidFill>
                <a:latin typeface="Arial"/>
              </a:rPr>
              <a:t> view two possible routes, only one of which led to a prey lure. Spiders chose the correct route more often than the incorrect one.</a:t>
            </a:r>
          </a:p>
          <a:p>
            <a:pPr algn="l">
              <a:lnSpc>
                <a:spcPct val="108000"/>
              </a:lnSpc>
              <a:spcAft>
                <a:spcPts val="1080"/>
              </a:spcAft>
            </a:pPr>
            <a:r>
              <a:rPr sz="1800" b="0" i="0">
                <a:solidFill>
                  <a:srgbClr val="1E2330"/>
                </a:solidFill>
                <a:latin typeface="Arial"/>
              </a:rPr>
              <a:t>During many detours the prey is out of view. Selecting and completing the correct route therefore requires using information gathered by the principal eyes before departure.</a:t>
            </a:r>
          </a:p>
          <a:p>
            <a:pPr algn="l">
              <a:lnSpc>
                <a:spcPct val="108000"/>
              </a:lnSpc>
              <a:spcAft>
                <a:spcPts val="1080"/>
              </a:spcAft>
            </a:pPr>
            <a:r>
              <a:rPr sz="1800" b="0" i="0">
                <a:solidFill>
                  <a:srgbClr val="1E2330"/>
                </a:solidFill>
                <a:latin typeface="Arial"/>
              </a:rPr>
              <a:t>The study demonstrates route discrimination from visual inspection. How the route is represented in the spider’s brain, and whether this represents planning in the sense used for vertebrates, remain open questions.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Tarsitano &amp; Jackson (1997)</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The jump: hydraulics or muscle</a:t>
            </a:r>
          </a:p>
        </p:txBody>
      </p:sp>
      <p:sp>
        <p:nvSpPr>
          <p:cNvPr id="3" name="Body"/>
          <p:cNvSpPr txBox="1"/>
          <p:nvPr/>
        </p:nvSpPr>
        <p:spPr>
          <a:xfrm>
            <a:off x="566928" y="1234440"/>
            <a:ext cx="62115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Parry and Brown estimated pressures in the leg joints of </a:t>
            </a:r>
            <a:r>
              <a:rPr sz="1600" b="0" i="1">
                <a:solidFill>
                  <a:srgbClr val="1E2330"/>
                </a:solidFill>
                <a:latin typeface="Arial"/>
              </a:rPr>
              <a:t>Sitticus pubescens</a:t>
            </a:r>
            <a:r>
              <a:rPr sz="1600" b="0" i="0">
                <a:solidFill>
                  <a:srgbClr val="1E2330"/>
                </a:solidFill>
                <a:latin typeface="Arial"/>
              </a:rPr>
              <a:t> before a jump: 65.3–144.0 kPa at the femur–patella joint and 17.3–46.7 kPa at the tibia–metatarsus joint of leg IV. Because spider legs lack extensor muscles at some joints, they concluded that hydraulic pressure extends the legs.</a:t>
            </a:r>
          </a:p>
          <a:p>
            <a:pPr algn="l">
              <a:lnSpc>
                <a:spcPct val="108000"/>
              </a:lnSpc>
              <a:spcAft>
                <a:spcPts val="960"/>
              </a:spcAft>
            </a:pPr>
            <a:r>
              <a:rPr sz="1600" b="0" i="0">
                <a:solidFill>
                  <a:srgbClr val="1E2330"/>
                </a:solidFill>
                <a:latin typeface="Arial"/>
              </a:rPr>
              <a:t>Nabawy and colleagues filmed trained </a:t>
            </a:r>
            <a:r>
              <a:rPr sz="1600" b="0" i="1">
                <a:solidFill>
                  <a:srgbClr val="1E2330"/>
                </a:solidFill>
                <a:latin typeface="Arial"/>
              </a:rPr>
              <a:t>Phidippus regius</a:t>
            </a:r>
            <a:r>
              <a:rPr sz="1600" b="0" i="0">
                <a:solidFill>
                  <a:srgbClr val="1E2330"/>
                </a:solidFill>
                <a:latin typeface="Arial"/>
              </a:rPr>
              <a:t> with high-speed cameras. Take-off velocity ranged from 0.52 to 0.97 m/s, and time to take-off from 18.1 to 31.6 ms.</a:t>
            </a:r>
          </a:p>
          <a:p>
            <a:pPr algn="l">
              <a:lnSpc>
                <a:spcPct val="108000"/>
              </a:lnSpc>
              <a:spcAft>
                <a:spcPts val="960"/>
              </a:spcAft>
            </a:pPr>
            <a:r>
              <a:rPr sz="1600" b="0" i="0">
                <a:solidFill>
                  <a:srgbClr val="1E2330"/>
                </a:solidFill>
                <a:latin typeface="Arial"/>
              </a:rPr>
              <a:t>From these measurements they calculated that leg muscle could supply the required power, so hydraulic augmentation may be present but is not energetically essential. Short jumps used low trajectories that minimized flight time; long jumps used steeper angles near the energetic optimum.</a:t>
            </a:r>
          </a:p>
          <a:p>
            <a:pPr algn="l">
              <a:lnSpc>
                <a:spcPct val="108000"/>
              </a:lnSpc>
              <a:spcAft>
                <a:spcPts val="960"/>
              </a:spcAft>
            </a:pPr>
            <a:r>
              <a:rPr sz="1600" b="0" i="0">
                <a:solidFill>
                  <a:srgbClr val="1E2330"/>
                </a:solidFill>
                <a:latin typeface="Arial"/>
              </a:rPr>
              <a:t>The two studies differ in species, method, and inference, so they illustrate competing explanations rather than a settled answer.</a:t>
            </a:r>
          </a:p>
        </p:txBody>
      </p:sp>
      <p:pic>
        <p:nvPicPr>
          <p:cNvPr id="4" name="Picture 3" descr="f21_jump.png"/>
          <p:cNvPicPr>
            <a:picLocks noChangeAspect="1"/>
          </p:cNvPicPr>
          <p:nvPr/>
        </p:nvPicPr>
        <p:blipFill>
          <a:blip r:embed="rId2"/>
          <a:stretch>
            <a:fillRect/>
          </a:stretch>
        </p:blipFill>
        <p:spPr>
          <a:xfrm>
            <a:off x="7144207" y="1280160"/>
            <a:ext cx="4480560" cy="3871168"/>
          </a:xfrm>
          <a:prstGeom prst="rect">
            <a:avLst/>
          </a:prstGeom>
        </p:spPr>
      </p:pic>
      <p:sp>
        <p:nvSpPr>
          <p:cNvPr id="5" name="Figure caption"/>
          <p:cNvSpPr txBox="1"/>
          <p:nvPr/>
        </p:nvSpPr>
        <p:spPr>
          <a:xfrm>
            <a:off x="7144207" y="5242768"/>
            <a:ext cx="44805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Joint pressures (Parry &amp; Brown 1959) and take-off kinematics (Nabawy et al. 2018). Ranges re-plotted from the values reported in each paper.</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Parry &amp; Brown (1959); Nabawy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Small eyes trade sensitivity for acuity</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Small eyes collect little light. Cerveira and colleagues tested whether </a:t>
            </a:r>
            <a:r>
              <a:rPr sz="1800" b="0" i="1">
                <a:solidFill>
                  <a:srgbClr val="1E2330"/>
                </a:solidFill>
                <a:latin typeface="Arial"/>
              </a:rPr>
              <a:t>Cyrba algerina</a:t>
            </a:r>
            <a:r>
              <a:rPr sz="1800" b="0" i="0">
                <a:solidFill>
                  <a:srgbClr val="1E2330"/>
                </a:solidFill>
                <a:latin typeface="Arial"/>
              </a:rPr>
              <a:t> and </a:t>
            </a:r>
            <a:r>
              <a:rPr sz="1800" b="0" i="1">
                <a:solidFill>
                  <a:srgbClr val="1E2330"/>
                </a:solidFill>
                <a:latin typeface="Arial"/>
              </a:rPr>
              <a:t>C. ocellata</a:t>
            </a:r>
            <a:r>
              <a:rPr sz="1800" b="0" i="0">
                <a:solidFill>
                  <a:srgbClr val="1E2330"/>
                </a:solidFill>
                <a:latin typeface="Arial"/>
              </a:rPr>
              <a:t>, which hunt under stones, can identify prey and rivals in dim light.</a:t>
            </a:r>
          </a:p>
          <a:p>
            <a:pPr algn="l">
              <a:lnSpc>
                <a:spcPct val="108000"/>
              </a:lnSpc>
              <a:spcAft>
                <a:spcPts val="1080"/>
              </a:spcAft>
            </a:pPr>
            <a:r>
              <a:rPr sz="1800" b="0" i="0">
                <a:solidFill>
                  <a:srgbClr val="1E2330"/>
                </a:solidFill>
                <a:latin typeface="Arial"/>
              </a:rPr>
              <a:t>Both species performed proficiently at 234 and 1.35 cd/m². At 0.54 cd/m² only a minority succeeded, and at 0.24 cd/m² none did. Performance therefore failed over a narrow range of luminance.</a:t>
            </a:r>
          </a:p>
          <a:p>
            <a:pPr algn="l">
              <a:lnSpc>
                <a:spcPct val="108000"/>
              </a:lnSpc>
              <a:spcAft>
                <a:spcPts val="1080"/>
              </a:spcAft>
            </a:pPr>
            <a:r>
              <a:rPr sz="1800" b="0" i="0">
                <a:solidFill>
                  <a:srgbClr val="1E2330"/>
                </a:solidFill>
                <a:latin typeface="Arial"/>
              </a:rPr>
              <a:t>The principal eyes of </a:t>
            </a:r>
            <a:r>
              <a:rPr sz="1800" b="0" i="1">
                <a:solidFill>
                  <a:srgbClr val="1E2330"/>
                </a:solidFill>
                <a:latin typeface="Arial"/>
              </a:rPr>
              <a:t>C. algerina</a:t>
            </a:r>
            <a:r>
              <a:rPr sz="1800" b="0" i="0">
                <a:solidFill>
                  <a:srgbClr val="1E2330"/>
                </a:solidFill>
                <a:latin typeface="Arial"/>
              </a:rPr>
              <a:t> have a short focal length and wide paired receptors that pool light, raising sensitivity at the cost of acuity (12.4 arcmin).</a:t>
            </a:r>
          </a:p>
          <a:p>
            <a:pPr algn="l">
              <a:lnSpc>
                <a:spcPct val="108000"/>
              </a:lnSpc>
              <a:spcAft>
                <a:spcPts val="1080"/>
              </a:spcAft>
            </a:pPr>
            <a:r>
              <a:rPr sz="1800" b="1" i="0">
                <a:solidFill>
                  <a:srgbClr val="1F3FA0"/>
                </a:solidFill>
                <a:latin typeface="Arial"/>
              </a:rPr>
              <a:t>Luminance</a:t>
            </a:r>
            <a:r>
              <a:rPr sz="1800" b="0" i="0">
                <a:solidFill>
                  <a:srgbClr val="1E2330"/>
                </a:solidFill>
                <a:latin typeface="Arial"/>
              </a:rPr>
              <a:t> measures the light reaching the eye from a surface, in candelas per square meter.</a:t>
            </a:r>
          </a:p>
        </p:txBody>
      </p:sp>
      <p:pic>
        <p:nvPicPr>
          <p:cNvPr id="4" name="Picture 3" descr="f22_dim_light.png"/>
          <p:cNvPicPr>
            <a:picLocks noChangeAspect="1"/>
          </p:cNvPicPr>
          <p:nvPr/>
        </p:nvPicPr>
        <p:blipFill>
          <a:blip r:embed="rId2"/>
          <a:stretch>
            <a:fillRect/>
          </a:stretch>
        </p:blipFill>
        <p:spPr>
          <a:xfrm>
            <a:off x="6687007" y="1280160"/>
            <a:ext cx="4937760" cy="2723949"/>
          </a:xfrm>
          <a:prstGeom prst="rect">
            <a:avLst/>
          </a:prstGeom>
        </p:spPr>
      </p:pic>
      <p:sp>
        <p:nvSpPr>
          <p:cNvPr id="5" name="Figure caption"/>
          <p:cNvSpPr txBox="1"/>
          <p:nvPr/>
        </p:nvSpPr>
        <p:spPr>
          <a:xfrm>
            <a:off x="6687007" y="4095549"/>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Prey and rival identification at four luminances. Values from Cerveira et al. (2019), re-plotted on a log scale.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Cerveira et al. (2019,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Juveniles keep adult acuity with small eyes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Goté and colleagues measured the ALEs of </a:t>
            </a:r>
            <a:r>
              <a:rPr sz="1800" b="0" i="1">
                <a:solidFill>
                  <a:srgbClr val="1E2330"/>
                </a:solidFill>
                <a:latin typeface="Arial"/>
              </a:rPr>
              <a:t>Phidippus audax</a:t>
            </a:r>
            <a:r>
              <a:rPr sz="1800" b="0" i="0">
                <a:solidFill>
                  <a:srgbClr val="1E2330"/>
                </a:solidFill>
                <a:latin typeface="Arial"/>
              </a:rPr>
              <a:t> from early juveniles to adults using morphology, histology, ophthalmoscopy, and optical measurements.</a:t>
            </a:r>
          </a:p>
          <a:p>
            <a:pPr algn="l">
              <a:lnSpc>
                <a:spcPct val="108000"/>
              </a:lnSpc>
              <a:spcAft>
                <a:spcPts val="1080"/>
              </a:spcAft>
            </a:pPr>
            <a:r>
              <a:rPr sz="1800" b="0" i="0">
                <a:solidFill>
                  <a:srgbClr val="1E2330"/>
                </a:solidFill>
                <a:latin typeface="Arial"/>
              </a:rPr>
              <a:t>Juveniles have proportionally larger lenses for their body size. As the eyes grow, lens focal length increases together with retinal size, so ALE spatial acuity and field of view stay nearly constant across life stages.</a:t>
            </a:r>
          </a:p>
          <a:p>
            <a:pPr algn="l">
              <a:lnSpc>
                <a:spcPct val="108000"/>
              </a:lnSpc>
              <a:spcAft>
                <a:spcPts val="1080"/>
              </a:spcAft>
            </a:pPr>
            <a:r>
              <a:rPr sz="1800" b="0" i="0">
                <a:solidFill>
                  <a:srgbClr val="1E2330"/>
                </a:solidFill>
                <a:latin typeface="Arial"/>
              </a:rPr>
              <a:t>Photoreceptor number does not change during growth. Early in life the receptors are narrow, elongated cylinders packed into a small space, which keeps receptor spacing fine but reduces rhabdom volume and therefore light capture.</a:t>
            </a:r>
          </a:p>
          <a:p>
            <a:pPr algn="l">
              <a:lnSpc>
                <a:spcPct val="108000"/>
              </a:lnSpc>
              <a:spcAft>
                <a:spcPts val="1080"/>
              </a:spcAft>
            </a:pPr>
            <a:r>
              <a:rPr sz="1800" b="0" i="0">
                <a:solidFill>
                  <a:srgbClr val="1E2330"/>
                </a:solidFill>
                <a:latin typeface="Arial"/>
              </a:rPr>
              <a:t>Young spiders therefore see with near-adult acuity but lower sensitivity. The authors predicted that juveniles should be most limited in visually demanding tasks under low light, a prediction that remains to be tested.</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Goté et al. (2019)</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Retinal movements reveal an REM sleep–like state</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Rößler and colleagues filmed 34 juvenile </a:t>
            </a:r>
            <a:r>
              <a:rPr sz="1800" b="0" i="1">
                <a:solidFill>
                  <a:srgbClr val="1E2330"/>
                </a:solidFill>
                <a:latin typeface="Arial"/>
              </a:rPr>
              <a:t>Evarcha arcuata</a:t>
            </a:r>
            <a:r>
              <a:rPr sz="1800" b="0" i="0">
                <a:solidFill>
                  <a:srgbClr val="1E2330"/>
                </a:solidFill>
                <a:latin typeface="Arial"/>
              </a:rPr>
              <a:t> overnight with infrared video. Juvenile cuticle is thin enough that the principal retinae can be seen moving inside the eye tubes.</a:t>
            </a:r>
          </a:p>
          <a:p>
            <a:pPr algn="l">
              <a:lnSpc>
                <a:spcPct val="108000"/>
              </a:lnSpc>
              <a:spcAft>
                <a:spcPts val="1080"/>
              </a:spcAft>
            </a:pPr>
            <a:r>
              <a:rPr sz="1800" b="0" i="0">
                <a:solidFill>
                  <a:srgbClr val="1E2330"/>
                </a:solidFill>
                <a:latin typeface="Arial"/>
              </a:rPr>
              <a:t>During nocturnal rest, spiders showed regular bouts of retinal movement. Each bout was accompanied by twitching of single limbs or spinnerets and by stereotyped leg curling, and bouts lengthened as the night progressed.</a:t>
            </a:r>
          </a:p>
          <a:p>
            <a:pPr algn="l">
              <a:lnSpc>
                <a:spcPct val="108000"/>
              </a:lnSpc>
              <a:spcAft>
                <a:spcPts val="1080"/>
              </a:spcAft>
            </a:pPr>
            <a:r>
              <a:rPr sz="1800" b="0" i="0">
                <a:solidFill>
                  <a:srgbClr val="1E2330"/>
                </a:solidFill>
                <a:latin typeface="Arial"/>
              </a:rPr>
              <a:t>The authors proposed an </a:t>
            </a:r>
            <a:r>
              <a:rPr sz="1800" b="1" i="0">
                <a:solidFill>
                  <a:srgbClr val="1F3FA0"/>
                </a:solidFill>
                <a:latin typeface="Arial"/>
              </a:rPr>
              <a:t>REM sleep–like state</a:t>
            </a:r>
            <a:r>
              <a:rPr sz="1800" b="0" i="0">
                <a:solidFill>
                  <a:srgbClr val="1E2330"/>
                </a:solidFill>
                <a:latin typeface="Arial"/>
              </a:rPr>
              <a:t>, defined by analogy with the rapid-eye-movement phase of vertebrate sleep, in a terrestrial invertebrate. Whether these periods constitute sleep depends on showing reduced responsiveness to stimuli during the bouts, which was not established.</a:t>
            </a:r>
          </a:p>
          <a:p>
            <a:pPr algn="l">
              <a:lnSpc>
                <a:spcPct val="108000"/>
              </a:lnSpc>
              <a:spcAft>
                <a:spcPts val="1080"/>
              </a:spcAft>
            </a:pPr>
            <a:r>
              <a:rPr sz="1800" b="0" i="0">
                <a:solidFill>
                  <a:srgbClr val="1E2330"/>
                </a:solidFill>
                <a:latin typeface="Arial"/>
              </a:rPr>
              <a:t>The study demonstrates that the six-muscle retinal motor system is active during rest as well as during hunting. It does not demonstrate dreaming or any particular cognitive content during the bouts.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Rößler et al. (2022)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Detection and inspection are separated by eye type</a:t>
            </a:r>
          </a:p>
        </p:txBody>
      </p:sp>
      <p:sp>
        <p:nvSpPr>
          <p:cNvPr id="3" name="Body"/>
          <p:cNvSpPr txBox="1"/>
          <p:nvPr/>
        </p:nvSpPr>
        <p:spPr>
          <a:xfrm>
            <a:off x="566928" y="1234440"/>
            <a:ext cx="11057839" cy="2606040"/>
          </a:xfrm>
          <a:prstGeom prst="rect">
            <a:avLst/>
          </a:prstGeom>
          <a:noFill/>
        </p:spPr>
        <p:txBody>
          <a:bodyPr wrap="square" lIns="0" rIns="0" tIns="0" bIns="0">
            <a:spAutoFit/>
          </a:bodyPr>
          <a:lstStyle/>
          <a:p>
            <a:pPr algn="l">
              <a:lnSpc>
                <a:spcPct val="108000"/>
              </a:lnSpc>
              <a:spcAft>
                <a:spcPts val="900"/>
              </a:spcAft>
            </a:pPr>
            <a:r>
              <a:rPr sz="1500" b="0" i="0">
                <a:solidFill>
                  <a:srgbClr val="1E2330"/>
                </a:solidFill>
                <a:latin typeface="Arial"/>
              </a:rPr>
              <a:t>Across these studies, detection and inspection are performed by different eyes. The ALEs detect motion and looming, set the size of body turns, and guide principal-eye tracking. The PLEs localize single objects at the sides.</a:t>
            </a:r>
          </a:p>
          <a:p>
            <a:pPr algn="l">
              <a:lnSpc>
                <a:spcPct val="108000"/>
              </a:lnSpc>
              <a:spcAft>
                <a:spcPts val="900"/>
              </a:spcAft>
            </a:pPr>
            <a:r>
              <a:rPr sz="1500" b="0" i="0">
                <a:solidFill>
                  <a:srgbClr val="1E2330"/>
                </a:solidFill>
                <a:latin typeface="Arial"/>
              </a:rPr>
              <a:t>The principal eyes inspect. Their telephoto optics and fine receptor spacing provide high acuity in a narrow strip; six muscles move that strip in saccades, tracking, and scanning; tiered receptors supply color and depth from defocus.</a:t>
            </a:r>
          </a:p>
          <a:p>
            <a:pPr algn="l">
              <a:lnSpc>
                <a:spcPct val="108000"/>
              </a:lnSpc>
              <a:spcAft>
                <a:spcPts val="900"/>
              </a:spcAft>
            </a:pPr>
            <a:r>
              <a:rPr sz="1500" b="0" i="0">
                <a:solidFill>
                  <a:srgbClr val="1E2330"/>
                </a:solidFill>
                <a:latin typeface="Arial"/>
              </a:rPr>
              <a:t>The two systems project to different brain centers, the mushroom body and the arcuate body, yet single visual neurons respond best when several eye types are stimulated together.</a:t>
            </a:r>
          </a:p>
          <a:p>
            <a:pPr algn="l">
              <a:lnSpc>
                <a:spcPct val="108000"/>
              </a:lnSpc>
              <a:spcAft>
                <a:spcPts val="900"/>
              </a:spcAft>
            </a:pPr>
            <a:r>
              <a:rPr sz="1500" b="0" i="0">
                <a:solidFill>
                  <a:srgbClr val="1E2330"/>
                </a:solidFill>
                <a:latin typeface="Arial"/>
              </a:rPr>
              <a:t>How detection and inspection are coordinated, and where attention is allocated between them, are now the central experimental questions in salticid neuroethology.</a:t>
            </a:r>
          </a:p>
        </p:txBody>
      </p:sp>
      <p:graphicFrame>
        <p:nvGraphicFramePr>
          <p:cNvPr id="4" name="Table 3"/>
          <p:cNvGraphicFramePr>
            <a:graphicFrameLocks noGrp="1"/>
          </p:cNvGraphicFramePr>
          <p:nvPr/>
        </p:nvGraphicFramePr>
        <p:xfrm>
          <a:off x="566928" y="3829050"/>
          <a:ext cx="11057839" cy="2194560"/>
        </p:xfrm>
        <a:graphic>
          <a:graphicData uri="http://schemas.openxmlformats.org/drawingml/2006/table">
            <a:tbl>
              <a:tblPr firstRow="1" bandRow="1">
                <a:tableStyleId>{5C22544A-7EE6-4342-B048-85BDC9FD1C3A}</a:tableStyleId>
              </a:tblPr>
              <a:tblGrid>
                <a:gridCol w="3685946"/>
                <a:gridCol w="3685946"/>
                <a:gridCol w="3685947"/>
              </a:tblGrid>
              <a:tr h="548640">
                <a:tc>
                  <a:txBody>
                    <a:bodyPr wrap="square"/>
                    <a:lstStyle/>
                    <a:p>
                      <a:pPr algn="l">
                        <a:lnSpc>
                          <a:spcPct val="108000"/>
                        </a:lnSpc>
                        <a:spcAft>
                          <a:spcPts val="0"/>
                        </a:spcAft>
                      </a:pPr>
                      <a:r>
                        <a:rPr sz="1300" b="1" i="0">
                          <a:solidFill>
                            <a:srgbClr val="1F3FA0"/>
                          </a:solidFill>
                          <a:latin typeface="Arial"/>
                        </a:rPr>
                        <a:t>Eye</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Main role</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Key evidence</a:t>
                      </a:r>
                    </a:p>
                  </a:txBody>
                  <a:tcPr marL="73152" marR="73152">
                    <a:solidFill>
                      <a:srgbClr val="EDF2FD"/>
                    </a:solidFill>
                  </a:tcPr>
                </a:tc>
              </a:tr>
              <a:tr h="548640">
                <a:tc>
                  <a:txBody>
                    <a:bodyPr wrap="square"/>
                    <a:lstStyle/>
                    <a:p>
                      <a:pPr algn="l">
                        <a:lnSpc>
                          <a:spcPct val="108000"/>
                        </a:lnSpc>
                        <a:spcAft>
                          <a:spcPts val="0"/>
                        </a:spcAft>
                      </a:pPr>
                      <a:r>
                        <a:rPr sz="1300" b="0" i="0">
                          <a:solidFill>
                            <a:srgbClr val="1E2330"/>
                          </a:solidFill>
                          <a:latin typeface="Arial"/>
                        </a:rPr>
                        <a:t>Principal (AME)</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acuity, color, depth, scanning</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Land 1969; Nagata 2012</a:t>
                      </a:r>
                    </a:p>
                  </a:txBody>
                  <a:tcPr marL="73152" marR="73152">
                    <a:solidFill>
                      <a:srgbClr val="FFFFFF"/>
                    </a:solidFill>
                  </a:tcPr>
                </a:tc>
              </a:tr>
              <a:tr h="548640">
                <a:tc>
                  <a:txBody>
                    <a:bodyPr wrap="square"/>
                    <a:lstStyle/>
                    <a:p>
                      <a:pPr algn="l">
                        <a:lnSpc>
                          <a:spcPct val="108000"/>
                        </a:lnSpc>
                        <a:spcAft>
                          <a:spcPts val="0"/>
                        </a:spcAft>
                      </a:pPr>
                      <a:r>
                        <a:rPr sz="1300" b="0" i="0">
                          <a:solidFill>
                            <a:srgbClr val="1E2330"/>
                          </a:solidFill>
                          <a:latin typeface="Arial"/>
                        </a:rPr>
                        <a:t>Anterior lateral</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motion, looming, guiding AMEs</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Zurek 2010; Jakob 2018</a:t>
                      </a:r>
                    </a:p>
                  </a:txBody>
                  <a:tcPr marL="73152" marR="73152">
                    <a:solidFill>
                      <a:srgbClr val="FFFFFF"/>
                    </a:solidFill>
                  </a:tcPr>
                </a:tc>
              </a:tr>
              <a:tr h="548640">
                <a:tc>
                  <a:txBody>
                    <a:bodyPr wrap="square"/>
                    <a:lstStyle/>
                    <a:p>
                      <a:pPr algn="l">
                        <a:lnSpc>
                          <a:spcPct val="108000"/>
                        </a:lnSpc>
                        <a:spcAft>
                          <a:spcPts val="0"/>
                        </a:spcAft>
                      </a:pPr>
                      <a:r>
                        <a:rPr sz="1300" b="0" i="0">
                          <a:solidFill>
                            <a:srgbClr val="1E2330"/>
                          </a:solidFill>
                          <a:latin typeface="Arial"/>
                        </a:rPr>
                        <a:t>Posterior lateral</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object localization at sides</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Duelli 1978</a:t>
                      </a:r>
                    </a:p>
                  </a:txBody>
                  <a:tcPr marL="73152" marR="73152">
                    <a:solidFill>
                      <a:srgbClr val="FFFFFF"/>
                    </a:solidFill>
                  </a:tcPr>
                </a:tc>
              </a:tr>
            </a:tbl>
          </a:graphicData>
        </a:graphic>
      </p:graphicFrame>
      <p:sp>
        <p:nvSpPr>
          <p:cNvPr id="5" name="Rectangle 4"/>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 Jakob et al. (2018); Menda et al. (2014)</a:t>
            </a:r>
          </a:p>
        </p:txBody>
      </p:sp>
      <p:sp>
        <p:nvSpPr>
          <p:cNvPr id="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Methods determine what each conclusion can claim</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Each experimental approach supports a different kind of claim. Optics and anatomy show what an eye </a:t>
            </a:r>
            <a:r>
              <a:rPr sz="1800" b="1" i="0">
                <a:solidFill>
                  <a:srgbClr val="1F3FA0"/>
                </a:solidFill>
                <a:latin typeface="Arial"/>
              </a:rPr>
              <a:t>could</a:t>
            </a:r>
            <a:r>
              <a:rPr sz="1800" b="0" i="0">
                <a:solidFill>
                  <a:srgbClr val="1E2330"/>
                </a:solidFill>
                <a:latin typeface="Arial"/>
              </a:rPr>
              <a:t> resolve; intracellular recordings show what individual receptors </a:t>
            </a:r>
            <a:r>
              <a:rPr sz="1800" b="1" i="0">
                <a:solidFill>
                  <a:srgbClr val="1F3FA0"/>
                </a:solidFill>
                <a:latin typeface="Arial"/>
              </a:rPr>
              <a:t>do</a:t>
            </a:r>
            <a:r>
              <a:rPr sz="1800" b="0" i="0">
                <a:solidFill>
                  <a:srgbClr val="1E2330"/>
                </a:solidFill>
                <a:latin typeface="Arial"/>
              </a:rPr>
              <a:t> respond to; masking shows what an eye is </a:t>
            </a:r>
            <a:r>
              <a:rPr sz="1800" b="1" i="0">
                <a:solidFill>
                  <a:srgbClr val="1F3FA0"/>
                </a:solidFill>
                <a:latin typeface="Arial"/>
              </a:rPr>
              <a:t>necessary</a:t>
            </a:r>
            <a:r>
              <a:rPr sz="1800" b="0" i="0">
                <a:solidFill>
                  <a:srgbClr val="1E2330"/>
                </a:solidFill>
                <a:latin typeface="Arial"/>
              </a:rPr>
              <a:t> for in a given task.</a:t>
            </a:r>
          </a:p>
          <a:p>
            <a:pPr algn="l">
              <a:lnSpc>
                <a:spcPct val="108000"/>
              </a:lnSpc>
              <a:spcAft>
                <a:spcPts val="1080"/>
              </a:spcAft>
            </a:pPr>
            <a:r>
              <a:rPr sz="1800" b="0" i="0">
                <a:solidFill>
                  <a:srgbClr val="1E2330"/>
                </a:solidFill>
                <a:latin typeface="Arial"/>
              </a:rPr>
              <a:t>Tethered preparations permit precise stimulus control and eye tracking but remove normal visual feedback. Freely moving animals behave naturally but make retinal position hard to measure.</a:t>
            </a:r>
          </a:p>
          <a:p>
            <a:pPr algn="l">
              <a:lnSpc>
                <a:spcPct val="108000"/>
              </a:lnSpc>
              <a:spcAft>
                <a:spcPts val="1080"/>
              </a:spcAft>
            </a:pPr>
            <a:r>
              <a:rPr sz="1800" b="0" i="0">
                <a:solidFill>
                  <a:srgbClr val="1E2330"/>
                </a:solidFill>
                <a:latin typeface="Arial"/>
              </a:rPr>
              <a:t>Opsin localization and spectral recordings can disagree, as in Land’s predicted red receptors and the later discovery that layer 1 is green-sensitive. Agreement among independent methods is strongest when anatomy, physiology, and behavior point to the same mechanism, as for depth from defocus.</a:t>
            </a:r>
          </a:p>
          <a:p>
            <a:pPr algn="l">
              <a:lnSpc>
                <a:spcPct val="108000"/>
              </a:lnSpc>
              <a:spcAft>
                <a:spcPts val="1080"/>
              </a:spcAft>
            </a:pPr>
            <a:r>
              <a:rPr sz="1800" b="0" i="0">
                <a:solidFill>
                  <a:srgbClr val="1E2330"/>
                </a:solidFill>
                <a:latin typeface="Arial"/>
              </a:rPr>
              <a:t>The main gap is the neural circuit. Few neurons have been recorded, and none has yet been linked to a specific step in turning, tracking, or scanning.</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Nagata et al. (2012); Jakob et al. (2018); Menda et al. (2014)</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Key takeaways</a:t>
            </a:r>
          </a:p>
        </p:txBody>
      </p:sp>
      <p:sp>
        <p:nvSpPr>
          <p:cNvPr id="3" name="Rectangle 2"/>
          <p:cNvSpPr/>
          <p:nvPr/>
        </p:nvSpPr>
        <p:spPr>
          <a:xfrm>
            <a:off x="566928" y="1234440"/>
            <a:ext cx="5391759" cy="1478279"/>
          </a:xfrm>
          <a:prstGeom prst="rect">
            <a:avLst/>
          </a:prstGeom>
          <a:solidFill>
            <a:srgbClr val="EDF2FD"/>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Two eye systems, two jobs.</a:t>
            </a:r>
            <a:r>
              <a:rPr sz="1600" b="0" i="0">
                <a:solidFill>
                  <a:srgbClr val="1E2330"/>
                </a:solidFill>
                <a:latin typeface="Arial"/>
              </a:rPr>
              <a:t> Secondary eyes (wide field, ~0.5–1.5° spacing) detect and localize movement; principal eyes (narrow, ~0.04–0.1° acuity) inspect identity.</a:t>
            </a:r>
          </a:p>
        </p:txBody>
      </p:sp>
      <p:sp>
        <p:nvSpPr>
          <p:cNvPr id="5" name="Rectangle 4"/>
          <p:cNvSpPr/>
          <p:nvPr/>
        </p:nvSpPr>
        <p:spPr>
          <a:xfrm>
            <a:off x="6233007" y="1234440"/>
            <a:ext cx="5391759" cy="1478279"/>
          </a:xfrm>
          <a:prstGeom prst="rect">
            <a:avLst/>
          </a:prstGeom>
          <a:solidFill>
            <a:srgbClr val="EDF2FD"/>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Telephoto optics plus a movable retina.</a:t>
            </a:r>
            <a:r>
              <a:rPr sz="1600" b="0" i="0">
                <a:solidFill>
                  <a:srgbClr val="1E2330"/>
                </a:solidFill>
                <a:latin typeface="Arial"/>
              </a:rPr>
              <a:t> A diverging pit lengthens focal length; six muscles (six axons) translate and rotate a narrow retina in saccades, tracking, and scanning.</a:t>
            </a:r>
          </a:p>
        </p:txBody>
      </p:sp>
      <p:sp>
        <p:nvSpPr>
          <p:cNvPr id="7" name="Rectangle 6"/>
          <p:cNvSpPr/>
          <p:nvPr/>
        </p:nvSpPr>
        <p:spPr>
          <a:xfrm>
            <a:off x="566928" y="2987040"/>
            <a:ext cx="5391759" cy="1478279"/>
          </a:xfrm>
          <a:prstGeom prst="rect">
            <a:avLst/>
          </a:prstGeom>
          <a:solidFill>
            <a:srgbClr val="EDF2FD"/>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Tiers give color and depth.</a:t>
            </a:r>
            <a:r>
              <a:rPr sz="1600" b="0" i="0">
                <a:solidFill>
                  <a:srgbClr val="1E2330"/>
                </a:solidFill>
                <a:latin typeface="Arial"/>
              </a:rPr>
              <a:t> UV (~360–370 nm) and green (~520–532 nm) receptors; green-pigmented layer 2 receives a defocused image that signals absolute distance — red light causes short jumps.</a:t>
            </a:r>
          </a:p>
        </p:txBody>
      </p:sp>
      <p:sp>
        <p:nvSpPr>
          <p:cNvPr id="9" name="Rectangle 8"/>
          <p:cNvSpPr/>
          <p:nvPr/>
        </p:nvSpPr>
        <p:spPr>
          <a:xfrm>
            <a:off x="6233007" y="2987040"/>
            <a:ext cx="5391759" cy="1478279"/>
          </a:xfrm>
          <a:prstGeom prst="rect">
            <a:avLst/>
          </a:prstGeom>
          <a:solidFill>
            <a:srgbClr val="EDF2FD"/>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ALEs are necessary for tracking and looming.</a:t>
            </a:r>
            <a:r>
              <a:rPr sz="1600" b="0" i="0">
                <a:solidFill>
                  <a:srgbClr val="1E2330"/>
                </a:solidFill>
                <a:latin typeface="Arial"/>
              </a:rPr>
              <a:t> Masking ALEs abolishes smooth principal-eye tracking but not scanning of still objects, and abolishes backing away from looming stimuli.</a:t>
            </a:r>
          </a:p>
        </p:txBody>
      </p:sp>
      <p:sp>
        <p:nvSpPr>
          <p:cNvPr id="11" name="Rectangle 10"/>
          <p:cNvSpPr/>
          <p:nvPr/>
        </p:nvSpPr>
        <p:spPr>
          <a:xfrm>
            <a:off x="566928" y="4739640"/>
            <a:ext cx="5391759" cy="1478279"/>
          </a:xfrm>
          <a:prstGeom prst="rect">
            <a:avLst/>
          </a:prstGeom>
          <a:solidFill>
            <a:srgbClr val="EDF2FD"/>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Turns are open-loop.</a:t>
            </a:r>
            <a:r>
              <a:rPr sz="1600" b="0" i="0">
                <a:solidFill>
                  <a:srgbClr val="1E2330"/>
                </a:solidFill>
                <a:latin typeface="Arial"/>
              </a:rPr>
              <a:t> Image position on a lateral eye at first sighting sets turn size; the ring experiment shows accurate turns without visual feedback.</a:t>
            </a:r>
          </a:p>
        </p:txBody>
      </p:sp>
      <p:sp>
        <p:nvSpPr>
          <p:cNvPr id="13" name="Rectangle 12"/>
          <p:cNvSpPr/>
          <p:nvPr/>
        </p:nvSpPr>
        <p:spPr>
          <a:xfrm>
            <a:off x="6233007" y="4739640"/>
            <a:ext cx="5391759" cy="1478279"/>
          </a:xfrm>
          <a:prstGeom prst="rect">
            <a:avLst/>
          </a:prstGeom>
          <a:solidFill>
            <a:srgbClr val="EDF2FD"/>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Separate brain pathways, convergent neurons.</a:t>
            </a:r>
            <a:r>
              <a:rPr sz="1600" b="0" i="0">
                <a:solidFill>
                  <a:srgbClr val="1E2330"/>
                </a:solidFill>
                <a:latin typeface="Arial"/>
              </a:rPr>
              <a:t> Principal eyes → arcuate body; secondary eyes → mushroom body; recorded neurons respond best to combined input from several eyes.</a:t>
            </a:r>
          </a:p>
        </p:txBody>
      </p:sp>
      <p:sp>
        <p:nvSpPr>
          <p:cNvPr id="15" name="Rectangle 14"/>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b; 1971); Nagata et al. (2012); Jakob et al. (2018); Steinhoff et al. (2020)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Insect vision II: jumping spider eyes and predatory tracking (Land)</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