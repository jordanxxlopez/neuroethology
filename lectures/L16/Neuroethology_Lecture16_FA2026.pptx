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 echolocation I: CF-FM bats and Doppler-shift compensation (Suga)</a:t>
            </a:r>
          </a:p>
          <a:p>
            <a:r>
              <a:t>Lecture 16. NEUR 411 · NEUROETHOLOGY · FALL 2026. Wednesday, September 30, 2026.</a:t>
            </a:r>
          </a:p>
          <a:p/>
          <a:p>
            <a:r>
              <a:t>Figure: Wang et al. (2025), Fig. 1(A). CF and FM study bats.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echolocating bat supplies its own acoustic input by producing a call and receiving reflections. Constant frequency describes the sustained part of that call, whereas frequency modulation describes the brief change in frequency at its end.</a:t>
            </a:r>
          </a:p>
          <a:p>
            <a:r>
              <a:t>• A harmonic belongs to a series of frequencies related by whole-number multiples. The second harmonic was the strongest component in these Hipposideros armiger recordings. Its frequency was near 65 to 66 kilohertz, which is above the human audible range.</a:t>
            </a:r>
          </a:p>
          <a:p>
            <a:r>
              <a:t>• The recordings include stationary calling and flight toward a landing grid. The sustained component remained present during the final approach, although the calls became shorter and the higher harmonics weakened. The CF and FM labels describe acoustic components, not two separate calls.</a:t>
            </a:r>
          </a:p>
          <a:p/>
          <a:p>
            <a:r>
              <a:t>References:</a:t>
            </a:r>
          </a:p>
          <a:p>
            <a:r>
              <a:t>Schoeppler D, Schnitzler H-U, Denzinger A (2018). Precise Doppler shift compensation in the hipposiderid bat, Hipposideros armiger. Scientific Reports 8:4598. https://doi.org/10.1038/s41598-018-22880-y</a:t>
            </a:r>
          </a:p>
          <a:p>
            <a:r>
              <a:t>Suga N, Simmons JA, Jen PH-S (1975). Peripheral specialization for fine analysis of Doppler-shifted echoes in the auditory system of the “CF-FM” bat Pteronotus parnellii. Journal of Experimental Biology 63(1):161–192. https://doi.org/10.1242/jeb.63.1.161</a:t>
            </a:r>
          </a:p>
          <a:p/>
          <a:p>
            <a:r>
              <a:t>Figure: Schoeppler et al. (2018), Fig. 1(a–d). Flight call sequence and CF-FM structure, in kHz and ms.</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insect wing changes position and orientation repeatedly during a wingbeat. The resulting echo can change in both amplitude and frequency. A long constant-frequency call provides a carrier whose fluctuations can be resolved by a hearing system specialized for that band.</a:t>
            </a:r>
          </a:p>
          <a:p>
            <a:r>
              <a:t>• The term auditory fovea refers to unequal representation: a narrow range of frequencies receives unusually fine tuning and extensive representation. It does not mean that the ear is equally sensitive to every part of an ultrasonic call.</a:t>
            </a:r>
          </a:p>
          <a:p>
            <a:r>
              <a:t>• Self-motion also changes echo frequency, even when the reflecting object is stationary. Compensation reduces that large shift of the carrier. It does not require the bat to remove every smaller fluctuation produced by a moving wing. Suga’s peripheral recordings and the flight observations address different parts of this combined sensory strategy.</a:t>
            </a:r>
          </a:p>
          <a:p/>
          <a:p>
            <a:r>
              <a:t>References:</a:t>
            </a:r>
          </a:p>
          <a:p>
            <a:r>
              <a:t>Schoeppler D, Schnitzler H-U, Denzinger A (2018). Precise Doppler shift compensation in the hipposiderid bat, Hipposideros armiger. Scientific Reports 8:4598. https://doi.org/10.1038/s41598-018-22880-y</a:t>
            </a:r>
          </a:p>
          <a:p>
            <a:r>
              <a:t>Suga N, Simmons JA, Jen PH-S (1975). Peripheral specialization for fine analysis of Doppler-shifted echoes in the auditory system of the “CF-FM” bat Pteronotus parnellii. Journal of Experimental Biology 63(1):161–192. https://doi.org/10.1242/jeb.63.1.161</a:t>
            </a:r>
          </a:p>
          <a:p/>
          <a:p>
            <a:r>
              <a:t>Figure: Schoeppler et al. (2018), Fig. 1(a–d). Flight call sequence and CF-FM structure, in kHz and ms.</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stationary reflector can return a frequency-shifted echo when the bat itself is moving. Motion toward the reflector raises the returning frequency. The bat counters this by lowering the frequency it emits on later calls.</a:t>
            </a:r>
          </a:p>
          <a:p>
            <a:r>
              <a:t>• Compensation is an adjustment of the outgoing signal based on the returning signal. The bat can maintain a relatively stable echo frequency while producing a sequence of calls whose frequencies differ substantially.</a:t>
            </a:r>
          </a:p>
          <a:p>
            <a:r>
              <a:t>• Free-flight recordings connect the adjustment to natural movement, but movement also changes distance, echo intensity, and other conditions. Artificial-echo playback provides a separate causal test. A stationary animal changes its call frequency when only the frequency of its acoustic feedback is altered, establishing that physical acceleration is not required to evoke the response.</a:t>
            </a:r>
          </a:p>
          <a:p/>
          <a:p>
            <a:r>
              <a:t>References:</a:t>
            </a:r>
          </a:p>
          <a:p>
            <a:r>
              <a:t>Schuller G, Beuter K, Schnitzler H-U (1974). Response to frequency shifted artificial echoes in the bat Rhinolophus ferrumequinum. Journal of Comparative Physiology 89(3):275–286. https://doi.org/10.1007/BF00696191</a:t>
            </a:r>
          </a:p>
          <a:p>
            <a:r>
              <a:t>Schoeppler D, Schnitzler H-U, Denzinger A (2018). Precise Doppler shift compensation in the hipposiderid bat, Hipposideros armiger. Scientific Reports 8:4598. https://doi.org/10.1038/s41598-018-22880-y</a:t>
            </a:r>
          </a:p>
          <a:p/>
          <a:p>
            <a:r>
              <a:t>Figure: Schoeppler et al. (2018), Fig. 2(e–f). Measured emission and flight speed, with calculated echo frequency.</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resting frequency is calculated from a series of calls made while the bat is stationary. It is an individual baseline, rather than a single frequency assigned to an entire species.</a:t>
            </a:r>
          </a:p>
          <a:p>
            <a:r>
              <a:t>• These horseshoe bats called near 81 to 84.2 kilohertz. The measurements excluded the beginning and end of each call because those portions include frequency sweeps. The central sustained portion supplied the estimate of constant frequency.</a:t>
            </a:r>
          </a:p>
          <a:p>
            <a:r>
              <a:t>• Unshifted playback controlled for the presence of an additional acoustic signal. It did not cause a systematic change in resting frequency. Frequency-shifted playback could therefore be compared against a baseline that was not simply altered by any echo presentation. The eventual frequency of a compensated echo must still be distinguished from this emission baseline.</a:t>
            </a:r>
          </a:p>
          <a:p/>
          <a:p>
            <a:r>
              <a:t>References:</a:t>
            </a:r>
          </a:p>
          <a:p>
            <a:r>
              <a:t>Schuller G, Beuter K, Schnitzler H-U (1974). Response to frequency shifted artificial echoes in the bat Rhinolophus ferrumequinum. Journal of Comparative Physiology 89(3):275–286. https://doi.org/10.1007/BF00696191</a:t>
            </a:r>
          </a:p>
          <a:p/>
          <a:p>
            <a:r>
              <a:t>Figure: Schuller et al. (1974), Fig. 1. Distribution of CF frequencies in a stationary horseshoe bat.</a:t>
            </a:r>
          </a:p>
          <a:p>
            <a:r>
              <a:t>Figure source: https://doi.org/10.1007/BF00696191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returning sound was made from the bat’s own vocalization. Its frequency was changed electronically and it was played back to the animal. As the animal changed its next call, the playback changed with that call while retaining the imposed shift.</a:t>
            </a:r>
          </a:p>
          <a:p>
            <a:r>
              <a:t>• The horseshoe bat remained stationary. An upward change in playback frequency nevertheless caused it to lower subsequent emissions. The response settled after a short sequence of calls, rather than being a fixed change caused by a single prerecorded tone.</a:t>
            </a:r>
          </a:p>
          <a:p>
            <a:r>
              <a:t>• The intervention establishes an auditory contribution to frequency control. It does not identify the neurons that compare feedback with a preferred frequency, and it does not recreate every property of a naturally moving target. Natural Doppler shifts and an electronic shift can differ in how they affect the frequency-modulated parts of a call.</a:t>
            </a:r>
          </a:p>
          <a:p/>
          <a:p>
            <a:r>
              <a:t>References:</a:t>
            </a:r>
          </a:p>
          <a:p>
            <a:r>
              <a:t>Schuller G, Beuter K, Schnitzler H-U (1974). Response to frequency shifted artificial echoes in the bat Rhinolophus ferrumequinum. Journal of Comparative Physiology 89(3):275–286. https://doi.org/10.1007/BF00696191</a:t>
            </a:r>
          </a:p>
          <a:p/>
          <a:p>
            <a:r>
              <a:t>Figure: Schuller et al. (1974), Fig. 2. Emission-frequency compensation under increasing positive echo shifts, in Hz.</a:t>
            </a:r>
          </a:p>
          <a:p>
            <a:r>
              <a:t>Figure source: https://doi.org/10.1007/BF00696191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artificial echo combines the bat’s current emitted frequency with the shift added by the playback apparatus. Lowering emission by slightly less than that added shift leaves the returning echo slightly above the resting baseline.</a:t>
            </a:r>
          </a:p>
          <a:p>
            <a:r>
              <a:t>• The authors called the stabilized returning frequency the reference frequency. The offset between this reference and resting frequency was about 50 to 300 hertz, depending on the animal. Within an animal, that offset remained similar as the imposed shift increased.</a:t>
            </a:r>
          </a:p>
          <a:p>
            <a:r>
              <a:t>• An emission change and an echo-frequency error are different measurements. A bat can make a large downward change in emitted frequency and still retain a small positive offset in feedback. The regulated echo band is therefore not identical to the average call frequency measured at rest.</a:t>
            </a:r>
          </a:p>
          <a:p/>
          <a:p>
            <a:r>
              <a:t>References:</a:t>
            </a:r>
          </a:p>
          <a:p>
            <a:r>
              <a:t>Schuller G, Beuter K, Schnitzler H-U (1974). Response to frequency shifted artificial echoes in the bat Rhinolophus ferrumequinum. Journal of Comparative Physiology 89(3):275–286. https://doi.org/10.1007/BF00696191</a:t>
            </a:r>
          </a:p>
          <a:p/>
          <a:p>
            <a:r>
              <a:t>Figure: Schuller et al. (1974), Fig. 3. Echo-frequency offset and emission compensation across imposed shifts, in kHz.</a:t>
            </a:r>
          </a:p>
          <a:p>
            <a:r>
              <a:t>Figure source: https://doi.org/10.1007/BF00696191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original playback experiments produced a clear decrease in emission for positive shifts, but did not produce a comparable increase for negative shifts. That result described behavior under the tested conditions.</a:t>
            </a:r>
          </a:p>
          <a:p>
            <a:r>
              <a:t>• Frequency and audibility are coupled in a sharply tuned hearing system. A sound below the most sensitive band may have to be much louder to be equally audible. Comparing feedback at the same physical sound level is therefore not necessarily comparing equal auditory stimulation.</a:t>
            </a:r>
          </a:p>
          <a:p>
            <a:r>
              <a:t>• The later study controlled playback level relative to hearing threshold. Under those conditions, lower-frequency echoes did raise emitted frequency. The historical difference is a change in experimental conditions and interpretation, rather than evidence that the bat’s nervous system acquired a new ability between studies.</a:t>
            </a:r>
          </a:p>
          <a:p/>
          <a:p>
            <a:r>
              <a:t>References:</a:t>
            </a:r>
          </a:p>
          <a:p>
            <a:r>
              <a:t>Schuller G, Beuter K, Schnitzler H-U (1974). Response to frequency shifted artificial echoes in the bat Rhinolophus ferrumequinum. Journal of Comparative Physiology 89(3):275–286. https://doi.org/10.1007/BF00696191</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Schuller et al. (1974), Fig. 2. Emission-frequency compensation under increasing positive echo shifts, in Hz.</a:t>
            </a:r>
          </a:p>
          <a:p>
            <a:r>
              <a:t>Figure source: https://doi.org/10.1007/BF00696191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audiogram is a frequency-by-frequency measure of detection threshold. A low threshold means that a relatively weak sound can be detected. The narrow sensitive band in a horseshoe bat makes the relation between physical intensity and audibility strongly dependent on frequency.</a:t>
            </a:r>
          </a:p>
          <a:p>
            <a:r>
              <a:t>• Sound pressure level measures the sound itself. Sensation level expresses that sound relative to the threshold at the tested frequency. A playback below the sensitive band can require a higher sound pressure level to achieve comparable auditory stimulation.</a:t>
            </a:r>
          </a:p>
          <a:p>
            <a:r>
              <a:t>• The experiment therefore adjusted intensity as well as frequency. Comparing sufficiently audible feedback on both sides of resting frequency tested whether lower-frequency information could participate in call control. The audiogram reproduced in the article supplies the threshold context; the compensation measurements are the study’s behavioral intervention.</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r>
              <a:t>Long GR, Schnitzler H-U (1975). Behavioural audiograms from the bat, Rhinolophus ferrumequinum. Journal of Comparative Physiology 100:211–219. https://doi.org/10.1007/BF00614531</a:t>
            </a:r>
          </a:p>
          <a:p/>
          <a:p>
            <a:r>
              <a:t>Figure: Metzner et al. (2002), Fig. 1. Auditory thresholds and playback ranges; audiogram credited in the paper to Long and Schnitzler (1975).</a:t>
            </a:r>
          </a:p>
          <a:p>
            <a:r>
              <a:t>Figure source: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playback shift changed gradually and repeatedly rather than remaining at a single value. The animal heard an echo mimic whose frequency depended on its current call and the experimentally imposed modulation.</a:t>
            </a:r>
          </a:p>
          <a:p>
            <a:r>
              <a:t>• When the echo mimic was shifted upward, the bat lowered emission. When it was shifted downward and presented loudly enough, the bat raised emission above its resting frequency. The change occurred systematically over repeated cycles of the imposed modulation.</a:t>
            </a:r>
          </a:p>
          <a:p>
            <a:r>
              <a:t>• The presence of an upward vocal correction establishes that feedback below resting frequency can influence the control system. The amount of correction remained smaller in that direction. Sensory participation and compensation completeness are separate claims, and only the former is required to reject a strictly one-sided auditory-feedback account.</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Metzner et al. (2002), Fig. 2(A–D). Call and playback changes for positive and negative frequency shifts.</a:t>
            </a:r>
          </a:p>
          <a:p>
            <a:r>
              <a:t>Figure source: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Compensation performance describes how much of the imposed frequency shift is countered by the bat’s emission change. The correction for positive shifts was much more complete than the correction for negative shifts.</a:t>
            </a:r>
          </a:p>
          <a:p>
            <a:r>
              <a:t>• The reported comparison was approximately 95 percent versus up to 22 percent. In one negative-shift condition, a shift of 4.5 kilohertz produced a maximum emission increase of 1.51 kilohertz. The animal responded to the feedback without fully cancelling it.</a:t>
            </a:r>
          </a:p>
          <a:p>
            <a:r>
              <a:t>• The vocal apparatus must convert an auditory correction into a change in the call. The authors proposed that laryngeal constraints contribute to the smaller upward range. The experiment itself measured vocal output during playback; it did not directly measure the mechanical limit of an isolated laryngeal muscle.</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Metzner et al. (2002), Fig. 2(A–D). Call and playback changes for positive and negative frequency shifts.</a:t>
            </a:r>
          </a:p>
          <a:p>
            <a:r>
              <a:t>Figure source: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Attenuating an echo mimic by 30 decibels makes it weaker than the unattenuated playback. The study compared correction trajectories across different playback levels while controlling the imposed frequency change.</a:t>
            </a:r>
          </a:p>
          <a:p>
            <a:r>
              <a:t>• Stronger feedback accelerated call-frequency recovery and accelerated the lowering response to a positive shift. The reported time constants were on the order of a second for the stronger conditions and longer for weaker feedback.</a:t>
            </a:r>
          </a:p>
          <a:p>
            <a:r>
              <a:t>• The time constant was measured from the vocal trajectory, using the progress toward the final correction. It is not a directly measured conduction delay in a single neuron. The experiment constrains the behavior of the entire feedback loop and requires an account that includes the strength of the returning acoustic signal.</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Metzner et al. (2002), Fig. 3(B). Call-frequency recovery under strong and attenuated feedback, in seconds.</a:t>
            </a:r>
          </a:p>
          <a:p>
            <a:r>
              <a:t>Figure source: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auditory–vocal feedback experiment measures a sensory intervention and a change in emitted sound. Metzner and colleagues shifted echo frequency and varied playback intensity in stationary horseshoe bats. The acoustic output changed even without flight, establishing a feedback contribution to call-frequency control.</a:t>
            </a:r>
          </a:p>
          <a:p>
            <a:r>
              <a:t>• At comparable levels above hearing threshold, higher-frequency feedback lowered subsequent emissions and lower-frequency feedback raised them. Correction became faster as echoes became more audible. These measurements link an auditory discrepancy to a vocal adjustment but leave the intervening neural and muscular steps unresolved.</a:t>
            </a:r>
          </a:p>
          <a:p>
            <a:r>
              <a:t>• The experiment did not image the vocal apparatus, record its motor neurons or isolate a muscle-specific mechanism. Its established endpoint is a change in CF emission, measured in frequency and over time. A precise acoustic correction should therefore not be mistaken for a complete anatomical account of the feedback circuit.</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Metzner et al. (2002), Fig. 3(B). Call-frequency recovery under strong and attenuated feedback, in seconds.</a:t>
            </a:r>
          </a:p>
          <a:p>
            <a:r>
              <a:t>Figure source: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round window provides a recording site near the cochlea. The cochlear microphonic follows acoustic stimulation and is a receptor-related electrical signal; it is not a count of action potentials from one neuron.</a:t>
            </a:r>
          </a:p>
          <a:p>
            <a:r>
              <a:t>• The N1 signal represents the summed activity of primary auditory neurons. Recording both signals allows a receptor-related transient to be compared with a transient in neural discharge. Their similarity can support a peripheral origin for a neural response, although the two measurements are not interchangeable.</a:t>
            </a:r>
          </a:p>
          <a:p>
            <a:r>
              <a:t>• Suga and colleagues presented controlled tone bursts and calibrated their amplitude at the ear. Short bursts exposed onset and offset effects while reducing interference from the middle-ear muscle reflex. The frequency dependence of these effects supplied evidence about the sharply tuned mechanical properties of the inner ear.</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Suga et al. (1975), Fig. 1(A–B). Round-window cochlear and neural responses to calibrated tone bursts.</a:t>
            </a:r>
          </a:p>
          <a:p>
            <a:r>
              <a:t>Figure source: https://doi.org/10.1242/jeb.63.1.161</a:t>
            </a:r>
          </a:p>
          <a:p/>
          <a:p>
            <a:r>
              <a:t>Figure: Wang et al. (2025), Fig. 1(D–E). Published cochlear anatomy and stained tissue sections.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cochlea is the coiled inner-ear structure that converts acoustic vibration into sensory activity. Wang and colleagues combined single-nucleus sequencing with hematoxylin-and-eosin tissue staining in the CF bat Rhinolophus ferrumequinum and the FM bat Myotis pilosus. Their published sections locate sensory tissue, neural tissue and the cochlear lateral wall.</a:t>
            </a:r>
          </a:p>
          <a:p>
            <a:r>
              <a:t>• The neurosensory epithelium contains hair cells and supporting cells. Hair cells provide the sensory interface; spiral ganglion neurons carry cochlear information toward the brainstem. The atlas resolved 14 cell types in the horseshoe bat and 13 in the FM bat, distinguishing several cooperating tissue compartments rather than treating the cochlea as one uniform population.</a:t>
            </a:r>
          </a:p>
          <a:p>
            <a:r>
              <a:t>• Anatomical localization and molecular classification describe where candidate mechanisms reside. Neither tissue staining nor RNA sequencing measured Doppler compensation during flight. Their contribution is a cellular framework for interpreting the peripheral specialization established by acoustic and electrophysiological experiments.</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1(D–E). Published cochlear anatomy and stained tissue sections.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Single-nucleus RNA sequencing measures RNA associated with individual cell nuclei. A marker gene helps identify a cell population by its expression pattern. Wang and colleagues grouped cochlear nuclei using expression profiles and used more than 200 marker genes to support the identification of neural, sensory, immune and structural populations.</a:t>
            </a:r>
          </a:p>
          <a:p>
            <a:r>
              <a:t>• Their species-specific analyses resolved 14 cell types in Rhinolophus ferrumequinum and 13 in Myotis pilosus. Neural populations included two spiral-ganglion categories and glial cells. Hair cells and supporting cells occupied the sensory compartment, while marginal and basal cells contributed to lateral-wall categories.</a:t>
            </a:r>
          </a:p>
          <a:p>
            <a:r>
              <a:t>• The plotted expression clusters are molecular groupings, not a physical map of cochlear position or a measured frequency-tuning map. A cell’s RNA profile can identify candidate functions, but does not establish its firing threshold, preferred echo frequency or causal contribution to vocal feedback.</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1(B–C). Cell clusters and original marker-expression matrix.</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Spiral ganglion neurons, or SGNs, are cochlear sensory neurons that convey auditory information toward the brainstem. Wang and colleagues distinguished SGN1 and SGN2 expression categories in both bats. These labels refer to molecular populations in this analysis rather than the onset and offset response categories measured by Suga.</a:t>
            </a:r>
          </a:p>
          <a:p>
            <a:r>
              <a:t>• The neural grouping was supported by expression of genes including CELF4 and GABBR2. Glial cells were identified using markers including MBP and PLP1. The same analysis separated hair cells and supporting cells from neural populations, allowing species differences to be assigned to particular tissue compartments.</a:t>
            </a:r>
          </a:p>
          <a:p>
            <a:r>
              <a:t>• The atlas found two principal SGN categories, but did not record individual SGN tuning curves. A proposed association between a molecular category and narrowly tuned CF processing therefore remains an interpretation. RNA identity must be linked to recordings before a specific cell population can be assigned an established echo-frequency computation.</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2(A–B). Classified neural and sensory populations.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hair cell is a sensory epithelial cell whose mechanically sensitive structures respond to displacement. In the atlas, expression of CDC14A, XIRP2, Kcnq4 and LBH helped identify hair-cell populations. KCNQ4 names a potassium-channel gene; detecting its RNA identifies a candidate cellular mechanism rather than measuring a potassium current.</a:t>
            </a:r>
          </a:p>
          <a:p>
            <a:r>
              <a:t>• Wang and colleagues separated sensory epithelial populations from spiral ganglion neurons and cochlear lateral-wall cells. Their 14-category horseshoe-bat atlas therefore places a channel-associated marker in a tissue context. Supporting-cell markers included SLC1A3, SPARCL1 and ETV4, emphasizing that sensory transduction depends on a multicellular environment.</a:t>
            </a:r>
          </a:p>
          <a:p>
            <a:r>
              <a:t>• The study did not selectively block KCNQ4, measure channel gating or test compensation after a channel intervention. It cannot establish that KCNQ4 alone creates the auditory fovea. The molecular evidence complements peripheral recordings while preserving the distinction between expressed genes, functional membrane currents and behavior.</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2(A–B). Sensory and supporting-cell populations.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Differential expression describes a difference in measured gene abundance between comparison groups. Wang and colleagues mapped previously identified CF-associated gene sets onto their cochlear cell atlas. The mapped nervous-system-related genes were concentrated in neural cells, particularly the two spiral-ganglion categories.</a:t>
            </a:r>
          </a:p>
          <a:p>
            <a:r>
              <a:t>• The analysis localized a broader set of 1365 upregulated genes across neural cells, sensory epithelium and lateral-wall cells. It combined whole-tissue expression comparisons with single-nucleus localization, separating a cochlear-wide molecular signal into candidate cellular sources. These are expression measurements rather than recordings of acoustic responses.</a:t>
            </a:r>
          </a:p>
          <a:p>
            <a:r>
              <a:t>• Enrichment in SGN1 and SGN2 supports focused hypotheses about peripheral neural specialization. It does not establish that every mapped gene is necessary for CF hearing, or that its expression changes during compensation. Species differences, tissue preparation and cell classification remain relevant when connecting molecular patterns to behavior.</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3(B–D). CF-associated genes across cell classes.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Pathway enrichment asks whether a measured gene set contains many genes assigned to a biological process. In Wang and colleagues’ spiral-ganglion analysis, calcium signaling occupied a central position in the horseshoe-bat pathway network. The FM-bat comparison instead emphasized a glutamatergic-synapse pathway among its identified neural categories.</a:t>
            </a:r>
          </a:p>
          <a:p>
            <a:r>
              <a:t>• Calcium signaling refers to cellular processes regulated by calcium availability and calcium-sensitive proteins. A glutamatergic synapse uses glutamate-associated signaling between cells. The networks were constructed from gene-expression categories; their connections indicate relationships among annotated pathways, not demonstrated synaptic wiring.</a:t>
            </a:r>
          </a:p>
          <a:p>
            <a:r>
              <a:t>• The difference provides a molecular candidate for investigating CF-associated auditory specialization. No calcium concentration, channel current or transmitter-release rate was measured in this experiment. A pathway assignment therefore cannot be converted into an established sequence in which one channel changes SGN firing and thereby produces Doppler-shift compensation.</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3(E–F). Published pathway networks from cochlear neural cells.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Orthologous genes are corresponding genes in different species inherited from a common ancestral gene. Wang and colleagues used 8607 orthologous genes to construct a joint cochlear atlas for Rhinolophus ferrumequinum and Myotis pilosus. This provides a common comparison space rather than comparing unrelated species-specific marker lists.</a:t>
            </a:r>
          </a:p>
          <a:p>
            <a:r>
              <a:t>• The joint analysis resolved 26 expression clusters and assigned familiar cochlear identities, including SGNs, glial cells, supporting cells and hair cells. Some clusters were dominated by one species, while others contained contributions from both. The separation preserves both shared cellular organization and species-associated expression differences.</a:t>
            </a:r>
          </a:p>
          <a:p>
            <a:r>
              <a:t>• A shared gene framework improves comparability but does not isolate echolocation mode from every other species difference. These two species also differ in ancestry and physiology. A CF-associated expression pattern is therefore a candidate adaptation, requiring wider comparative sampling or direct manipulation before its contribution to hearing can be established.</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4(A–B). Joint cell atlas and species distribution.</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Wang and colleagues compared corresponding cochlear cell types using their joint 26-cluster atlas. Spiral-ganglion populations shared neuronal expression features, while species-associated differences appeared within those broader identities. The distinction concerns the molecular organization of peripheral auditory cells rather than the existence of an entirely separate sensory organ.</a:t>
            </a:r>
          </a:p>
          <a:p>
            <a:r>
              <a:t>• Gene-expression distributions describe how RNA abundance varies across a cellular population. The published comparisons preserved cell-type identity while evaluating expression across the CF and FM species. This makes it possible to ask whether a neural category is conserved and whether its molecular profile differs between echolocation strategies.</a:t>
            </a:r>
          </a:p>
          <a:p>
            <a:r>
              <a:t>• Molecular heterogeneity does not directly measure acoustic bandwidth. A relatively uniform RNA population could still contain physiologically diverse neurons, and similar RNA profiles need not guarantee identical tuning. The study supports targeted electrophysiological tests rather than assigning a measured kilohertz range to an expression cluster.</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4(C). Cross-species expression distributions in identified cell types.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 is an inhibitory transmitter in many neural systems. Wang and colleagues identified GABAergic-synapse pathway enrichment in a horseshoe-bat SGN1 category, alongside glutamatergic, dopaminergic pathways associated with the transmitter dopamine, and calcium-signaling pathways. Their analysis associated 233 highly expressed genes with this species-specific neuronal category.</a:t>
            </a:r>
          </a:p>
          <a:p>
            <a:r>
              <a:t>• The pathway included GABA A and GABA B receptor annotations. These name distinct receptor classes through which GABA can influence cellular signaling. The atlas measured RNA, not receptor binding, synaptic inhibition or a response to a pharmacological blocker. Its two receptor annotations therefore identify candidates rather than a demonstrated inhibitory circuit.</a:t>
            </a:r>
          </a:p>
          <a:p>
            <a:r>
              <a:t>• The authors proposed a connection to specialized CF processing and vocal compensation. That proposal does not establish that cochlear GABA receptors perform the auditory comparison controlling call frequency. A causal account requires receptor-specific interventions, neuronal measurements and a behavioral compensation assay in the same mechanistic chain.</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5(C–D). Original neuronal expression and pathway-enrichment panels.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Glial cells support and interact with neurons without being classified as the principal signal-carrying sensory neurons. Wang and colleagues localized PLP1 expression in their cochlear atlas and examined highly expressed genes within the glial category. The analysis associated this category with cell communication and several neural-support processes.</a:t>
            </a:r>
          </a:p>
          <a:p>
            <a:r>
              <a:t>• The horseshoe-bat atlas distinguishes glia from SGN1 and SGN2, allowing support-cell expression to be studied separately from neuronal expression. Ligand–receptor inference predicts possible communication when one cell class expresses a signaling molecule and another expresses a corresponding receptor. Such inference is based on molecular compatibility, not direct observation of transmission.</a:t>
            </a:r>
          </a:p>
          <a:p>
            <a:r>
              <a:t>• The study proposed interactions involving neural adhesion and growth-associated signaling. It did not stimulate glia, measure a resulting SGN membrane response or test an alteration of echo compensation. Glial molecular specialization remains a candidate contributor to the sensory environment rather than an established moment-to-moment Doppler controller.</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6(A–B). Glial marker localization and functional gene categories.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second harmonic of the constant-frequency call is abbreviated CF2. Its frequency was about 61 to 62 kilohertz in the mustached bats studied. The receptor-related threshold curve had a narrow notch near that range.</a:t>
            </a:r>
          </a:p>
          <a:p>
            <a:r>
              <a:t>• The minimum threshold of a response identifies the sound level required to evoke it. The recorded CM onset, neural onset, and neural offset signals did not have identical best frequencies. An onset response measures a different event from discharge at the cessation of the same sound.</a:t>
            </a:r>
          </a:p>
          <a:p>
            <a:r>
              <a:t>• The narrow CM sensitivity supports a peripheral specialization. Suga and colleagues related the displaced neural onset minimum to the time course of cochlear excitation. A population onset measure is therefore not a complete substitute for sustained hearing sensitivity or for the tuning of individual neurons.</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Suga et al. (1975), Fig. 2(A–C). Threshold notches of CM onset, neural onset, and neural offset, in kHz.</a:t>
            </a:r>
          </a:p>
          <a:p>
            <a:r>
              <a:t>Figure source: https://doi.org/10.1242/jeb.63.1.161</a:t>
            </a:r>
          </a:p>
          <a:p/>
          <a:p>
            <a:r>
              <a:t>Figure: Wang et al. (2025), Fig. 1(D–E). Published cochlear anatomy and stained tissue sections.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Mechanical resonance combines frequency preference with persistence in time. A system that is strongly energized near its resonant frequency can continue moving after the external driving sound stops.</a:t>
            </a:r>
          </a:p>
          <a:p>
            <a:r>
              <a:t>• The recorded cochlear microphonic had a slow build-up and residual activity near the tuned CF band. Suga and colleagues called the residual activity CM-after. The measurements connected the neural activity at stimulus offset to events already present in the cochlear signal.</a:t>
            </a:r>
          </a:p>
          <a:p>
            <a:r>
              <a:t>• The external acoustic envelope specifies when sound is delivered, whereas the cochlear envelope specifies how the peripheral response develops. Those envelopes differed near resonance. A neural response after the stimulus cannot consequently be assumed to originate from a central rebound mechanism solely because the loudspeaker has become silent.</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Suga et al. (1975), Fig. 3(A–B). Different best frequencies of cochlear and neural onset and offset responses.</a:t>
            </a:r>
          </a:p>
          <a:p>
            <a:r>
              <a:t>Figure source: https://doi.org/10.1242/jeb.63.1.161</a:t>
            </a:r>
          </a:p>
          <a:p/>
          <a:p>
            <a:r>
              <a:t>Figure: Wang et al. (2025), Fig. 1(D–E). Published cochlear anatomy and stained tissue sections.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amplitude envelope determines how quickly a sound reaches its sustained level. Individual neurons need not fire their first impulses at precisely the same time when excitation rises slowly.</a:t>
            </a:r>
          </a:p>
          <a:p>
            <a:r>
              <a:t>• A summed onset potential depends on those impulses overlapping in time. If they are spread out, the recorded population peak can be smaller without requiring every neuron to become less responsive. The experiment lengthened the stimulus rise time at frequencies away from resonance to test this timing effect independently.</a:t>
            </a:r>
          </a:p>
          <a:p>
            <a:r>
              <a:t>• The onset threshold rose when the sound rose more slowly. That result supports the interpretation that resonance can alter the apparent neural onset sensitivity by changing synchronization. It does not require the entire auditory system to prefer the frequency at which the largest summed onset response happens to be measured.</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Suga et al. (1975), Fig. 4(A–B). Cochlear transients and the dependence of neural onset threshold on rise time.</a:t>
            </a:r>
          </a:p>
          <a:p>
            <a:r>
              <a:t>Figure source: https://doi.org/10.1242/jeb.63.1.161</a:t>
            </a:r>
          </a:p>
          <a:p/>
          <a:p>
            <a:r>
              <a:t>Figure: Wang et al. (2025), Fig. 1(D–E). Published cochlear anatomy and stained tissue sections.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pure CF tone with an abrupt ending can leave a resonating cochlear response. The experiment added a downward frequency sweep to the end of that tone, creating a CF-FM stimulus more similar to a bat’s call.</a:t>
            </a:r>
          </a:p>
          <a:p>
            <a:r>
              <a:t>• The cochlear residual response and the summed neural offset response were reduced. Changing the duration and extent of the terminal sweep changed the outcome, so the components cannot be treated as independent sounds whose responses simply add together.</a:t>
            </a:r>
          </a:p>
          <a:p>
            <a:r>
              <a:t>• This interaction was measured in controlled peripheral recordings. It establishes that a brief FM ending can alter how the resonant system stops responding to CF stimulation. It does not directly measure prey capture or prove that the same degree of suppression occurs for every natural call and echo.</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8(A–D). Terminal FM changes cochlear ringing and the summed neural offset response.</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individual neuron’s impulse times can be compared across repeated presentations of a tone. Aligning those times to stimulus onset produces a post-stimulus-time histogram, which distinguishes onset, sustained, and later activity.</a:t>
            </a:r>
          </a:p>
          <a:p>
            <a:r>
              <a:t>• The sampled neurons included auditory-nerve and nearby cochlear-nucleus recordings. Some neurons produced a distinct cluster of impulses after the tone ended. At lower levels or particular frequencies, this offset cluster could remain conspicuous while the sustained response was much weaker.</a:t>
            </a:r>
          </a:p>
          <a:p>
            <a:r>
              <a:t>• The observation supplies a cellular counterpart to the summed neural offset potential. These were not necessarily neurons with an exclusive offset-only function. The data relate individual activity to peripheral transients and cannot be used to assign the same response to a specific cortical cell type.</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9(A–D). Single-neuron responses across tone frequency and level, with offset discharges.</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Resonance frequency is the frequency at which the peripheral resonant system responds especially strongly. Macías and colleagues distinguished it from the resting second-harmonic call frequency in mustached bats. Resting emissions ranged from 60 to 61.2 kHz in their animals, while the resonance estimate generally lay above the emitted baseline.</a:t>
            </a:r>
          </a:p>
          <a:p>
            <a:r>
              <a:t>• They combined acoustic recordings with auditory-midbrain recordings and examined sharply tuned neurons near the specialized band. A reference defined from vocal emission therefore need not coincide exactly with a reference defined from the sensory response. This distinction parallels the resting-versus-reference frequency difference in behavioral compensation experiments.</a:t>
            </a:r>
          </a:p>
          <a:p>
            <a:r>
              <a:t>• The measurement distinguishes two biologically related frequency values rather than assigning one universal CF frequency to the species. Neural tuning was evaluated relative to the individual bat’s acoustic and peripheral specialization. It does not follow that every midbrain cell near this band contributes directly to the vocal feedback pathway.</a:t>
            </a:r>
          </a:p>
          <a:p/>
          <a:p>
            <a:r>
              <a:t>References:</a:t>
            </a:r>
          </a:p>
          <a:p>
            <a:r>
              <a:t>Macías S, Hechavarría JC, Kössl M (2016). Sharp temporal tuning in the bat auditory midbrain overcomes spectral-temporal trade-off imposed by cochlear mechanics. Scientific Reports 6:29129. https://doi.org/10.1038/srep29129</a:t>
            </a:r>
          </a:p>
          <a:p/>
          <a:p>
            <a:r>
              <a:t>Figure: Macías et al. (2016), Fig. 1(A–C). Resting emissions and cochlear resonance estimates.</a:t>
            </a:r>
          </a:p>
          <a:p>
            <a:r>
              <a:t>Figure source: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duration-tuned neuron responds most strongly to a restricted range of sound durations. Macías and colleagues recorded single-neuron activity in the mustached bat’s inferior colliculus, an auditory midbrain structure. Pure-tone stimuli varied in frequency, sound level and duration, separating several dimensions of response selectivity.</a:t>
            </a:r>
          </a:p>
          <a:p>
            <a:r>
              <a:t>• One resonance-band neuron preferred 60.9 kHz, with a frequency bandwidth of 0.75 kHz. It preferred a 15-ms stimulus, with a duration bandwidth of 7 ms. A comparison neuron tuned to 81 kHz had a broader 9-kHz frequency bandwidth and preferred a 3-ms stimulus.</a:t>
            </a:r>
          </a:p>
          <a:p>
            <a:r>
              <a:t>• These examples establish joint spectral and temporal selectivity in central auditory neurons. They do not measure the neuron’s synaptic inputs or identify its transmitter. Sharp duration tuning can coexist with sharply tuned peripheral input, so long cochlear ringing does not force every central response to be temporally broad.</a:t>
            </a:r>
          </a:p>
          <a:p/>
          <a:p>
            <a:r>
              <a:t>References:</a:t>
            </a:r>
          </a:p>
          <a:p>
            <a:r>
              <a:t>Macías S, Hechavarría JC, Kössl M (2016). Sharp temporal tuning in the bat auditory midbrain overcomes spectral-temporal trade-off imposed by cochlear mechanics. Scientific Reports 6:29129. https://doi.org/10.1038/srep29129</a:t>
            </a:r>
          </a:p>
          <a:p/>
          <a:p>
            <a:r>
              <a:t>Figure: Macías et al. (2016), Fig. 2(A–F). Frequency response areas and measured duration tuning.</a:t>
            </a:r>
          </a:p>
          <a:p>
            <a:r>
              <a:t>Figure source: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spectral–temporal trade-off occurs when finer frequency resolution accompanies poorer temporal resolution. Cochlear resonance can sustain activity after sound offset, extending the peripheral response. Macías and colleagues asked whether this peripheral property constrains duration-selective neurons in the auditory midbrain.</a:t>
            </a:r>
          </a:p>
          <a:p>
            <a:r>
              <a:t>• They measured frequency bandwidth at 10 dB above threshold and duration bandwidth across stimulus durations. Resonance-band neurons did not follow the expected relation between narrow frequency tuning and broad duration tuning. Neurons outside that specialized band displayed the more conventional relationship between the two response dimensions.</a:t>
            </a:r>
          </a:p>
          <a:p>
            <a:r>
              <a:t>• The result concerns central response selectivity under controlled pure-tone stimulation. It does not mean cochlear ringing disappeared or that every auditory neuron overcomes the trade-off. Instead, central processing can produce sharp temporal filtering despite a peripheral input specialized for narrowband frequency analysis.</a:t>
            </a:r>
          </a:p>
          <a:p/>
          <a:p>
            <a:r>
              <a:t>References:</a:t>
            </a:r>
          </a:p>
          <a:p>
            <a:r>
              <a:t>Macías S, Hechavarría JC, Kössl M (2016). Sharp temporal tuning in the bat auditory midbrain overcomes spectral-temporal trade-off imposed by cochlear mechanics. Scientific Reports 6:29129. https://doi.org/10.1038/srep29129</a:t>
            </a:r>
          </a:p>
          <a:p/>
          <a:p>
            <a:r>
              <a:t>Figure: Macías et al. (2016), Fig. 4(A–D). Relations between frequency and duration bandwidths.</a:t>
            </a:r>
          </a:p>
          <a:p>
            <a:r>
              <a:t>Figure source: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Macías and colleagues tested the same resonance-band neurons with tones at the individual resting-call frequency and at the resonance frequency. This within-neuron comparison controlled cell identity while changing the acoustic frequency. The resting frequency lay just below the specialized resonant band.</a:t>
            </a:r>
          </a:p>
          <a:p>
            <a:r>
              <a:t>• Duration selectivity was clear at resonance but often absent at the resting frequency. Preferred durations at resonance clustered near 4 ms and 17 ms. The response to resting-frequency stimulation could instead remain broad across durations, despite the small spectral separation between the two stimulus conditions.</a:t>
            </a:r>
          </a:p>
          <a:p>
            <a:r>
              <a:t>• Frequency-dependent temporal filtering means that a neuron’s response to duration depends on the carrier frequency. It cannot be described adequately by one duration preference measured at any arbitrary tone frequency. The experiment supports interaction between spectral input and central temporal processing without directly identifying the synapses responsible.</a:t>
            </a:r>
          </a:p>
          <a:p/>
          <a:p>
            <a:r>
              <a:t>References:</a:t>
            </a:r>
          </a:p>
          <a:p>
            <a:r>
              <a:t>Macías S, Hechavarría JC, Kössl M (2016). Sharp temporal tuning in the bat auditory midbrain overcomes spectral-temporal trade-off imposed by cochlear mechanics. Scientific Reports 6:29129. https://doi.org/10.1038/srep29129</a:t>
            </a:r>
          </a:p>
          <a:p/>
          <a:p>
            <a:r>
              <a:t>Figure: Macías et al. (2016), Fig. 5(A–F). Responses at resting and resonance frequencies.</a:t>
            </a:r>
          </a:p>
          <a:p>
            <a:r>
              <a:t>Figure source: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Inhibition reduces neuronal output through synaptic or membrane mechanisms. Macías and colleagues proposed frequency-specific inhibition to explain why resonance-band neurons could be selective for duration despite cochlear ringing. Their recordings measured output spikes under different stimulus frequencies and sound levels.</a:t>
            </a:r>
          </a:p>
          <a:p>
            <a:r>
              <a:t>• The published response patterns and latency changes differed between resting and resonance stimulation. Duration tuning could be present at resonance but absent just below it. The authors considered temporally offset excitation and inhibition, including coincidence and anti-coincidence accounts, as explanations for this frequency-dependent selectivity.</a:t>
            </a:r>
          </a:p>
          <a:p>
            <a:r>
              <a:t>• No inhibitory transmitter was blocked in this study, and no inhibitory synaptic current was directly recorded. The evidence therefore supports a central filtering hypothesis rather than proving a particular GABA receptor or channel mechanism. Behavioral compensation and central duration tuning also remain separate measured phenomena, even though both depend on the specialized CF band.</a:t>
            </a:r>
          </a:p>
          <a:p/>
          <a:p>
            <a:r>
              <a:t>References:</a:t>
            </a:r>
          </a:p>
          <a:p>
            <a:r>
              <a:t>Macías S, Hechavarría JC, Kössl M (2016). Sharp temporal tuning in the bat auditory midbrain overcomes spectral-temporal trade-off imposed by cochlear mechanics. Scientific Reports 6:29129. https://doi.org/10.1038/srep29129</a:t>
            </a:r>
          </a:p>
          <a:p/>
          <a:p>
            <a:r>
              <a:t>Figure: Macías et al. (2016), Fig. 6(A–J). Frequency-dependent response timing and latency shifts.</a:t>
            </a:r>
          </a:p>
          <a:p>
            <a:r>
              <a:t>Figure source: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Two nearby tone frequencies produce a repeating change in their combined amplitude. Those fluctuations are beats. The experiment changed the difference between the tones and measured the times at which peripheral neurons discharged.</a:t>
            </a:r>
          </a:p>
          <a:p>
            <a:r>
              <a:t>• Phase locking refers to a consistent relation between impulse timing and a phase of the repeating amplitude pattern. The neurons could follow beat rates up to approximately 3 kilohertz. Their impulse timing therefore supplied information beyond the average number of impulses produced by a tone.</a:t>
            </a:r>
          </a:p>
          <a:p>
            <a:r>
              <a:t>• Suga and colleagues related this property to overlap between outgoing signals and echoes. That is a potential temporal representation of frequency difference, alongside the representation supplied by sharply tuned neurons. The laboratory recordings demonstrate the available peripheral signal; they do not select one exclusive behavioral cue for natural flight.</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18(A–B). Peripheral impulse timing follows beat envelopes at different frequency separations.</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primary auditory cortex contains an organized representation of sound. Suga described an unusually large region concerned with the constant-frequency echo band of the mustached bat, occupying roughly 30 percent of that cortical area.</a:t>
            </a:r>
          </a:p>
          <a:p>
            <a:r>
              <a:t>• Tonotopy means that frequency preference changes systematically with location. Within the enlarged CF region, many neurons could share similar best frequencies. The experiment therefore measured their response to sound amplitude as well as frequency.</a:t>
            </a:r>
          </a:p>
          <a:p>
            <a:r>
              <a:t>• The cortical representation adds another dimension to the peripheral frequency code. The measured area and tuning describe auditory representation, not proof that this entire cortical region is necessary for every compensation response. Suga also cautioned that the region’s specialization does not exclude responses to signals other than orientation calls and their echoes.</a:t>
            </a:r>
          </a:p>
          <a:p/>
          <a:p>
            <a:r>
              <a:t>References:</a:t>
            </a:r>
          </a:p>
          <a:p>
            <a:r>
              <a:t>Suga N (1977). Amplitude Spectrum Representation in the Doppler-Shifted-CF Processing Area of the Auditory Cortex of the Mustache Bat. Science 196(4285):64–67. https://doi.org/10.1126/science.190681</a:t>
            </a:r>
          </a:p>
          <a:p/>
          <a:p>
            <a:r>
              <a:t>Figure: Suga (1977), Fig. 2(D–E). Measured best amplitude varies with cortical position, in dB SPL and degrees.</a:t>
            </a:r>
          </a:p>
          <a:p>
            <a:r>
              <a:t>Figure source: https://doi.org/10.1126/science.190681</a:t>
            </a:r>
          </a:p>
          <a:p/>
          <a:p>
            <a:r>
              <a:t>Figure: Suga (1977), Fig. 2(B–C). Original cortical maps, 0.5 mm.</a:t>
            </a:r>
          </a:p>
          <a:p>
            <a:r>
              <a:t>Figure source: https://doi.org/10.1126/science.190681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held tone frequency at a neuron’s best frequency and increased sound level. Some neurons produced more impulses up to an intermediate amplitude, then produced fewer impulses as the sound became stronger.</a:t>
            </a:r>
          </a:p>
          <a:p>
            <a:r>
              <a:t>• That rise followed by a fall is a nonmonotonic response. The amplitude giving the peak is the best amplitude. Minimum threshold is different: it identifies the weakest effective sound, not the level producing the maximum response.</a:t>
            </a:r>
          </a:p>
          <a:p>
            <a:r>
              <a:t>• The loss of excitation at higher levels can create an upper threshold. Suga related this property to inhibitory interactions elsewhere in the auditory pathway. The cortical recordings establish level-selective response functions, while the origin of every neuron’s inhibitory input was not directly reconstructed in this mapping experiment.</a:t>
            </a:r>
          </a:p>
          <a:p/>
          <a:p>
            <a:r>
              <a:t>References:</a:t>
            </a:r>
          </a:p>
          <a:p>
            <a:r>
              <a:t>Suga N (1977). Amplitude Spectrum Representation in the Doppler-Shifted-CF Processing Area of the Auditory Cortex of the Mustache Bat. Science 196(4285):64–67. https://doi.org/10.1126/science.190681</a:t>
            </a:r>
          </a:p>
          <a:p/>
          <a:p>
            <a:r>
              <a:t>Figure: Suga (1977), Fig. 1(A). Cortical impulse-count functions have different preferred sound levels.</a:t>
            </a:r>
          </a:p>
          <a:p>
            <a:r>
              <a:t>Figure source: https://doi.org/10.1126/science.190681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 and colleagues compared resting echolocation calls with short constant-frequency communication calls in greater horseshoe bats. These social calls resembled shortened CF signals but occurred during interactions between bats. Recording both call types across days tested whether similar acoustic signals shared the same frequency stability.</a:t>
            </a:r>
          </a:p>
          <a:p>
            <a:r>
              <a:t>• Resting echolocation frequency varied across days, whereas the communication-call frequency remained much more stable. Typical call durations also differed: resting echolocation calls were approximately 47 ms, while the short social calls were approximately 14 ms. Frequency regulation therefore depended on vocal context rather than acoustic similarity alone.</a:t>
            </a:r>
          </a:p>
          <a:p>
            <a:r>
              <a:t>• The authors proposed different feedback control for echolocation and communication, possibly including reduced or absent auditory feedback for the social calls. Their comparison did not directly interrupt feedback during social calling. Stable communication frequency supports that interpretation but does not prove that these calls are produced without auditory input.</a:t>
            </a:r>
          </a:p>
          <a:p/>
          <a:p>
            <a:r>
              <a:t>References:</a:t>
            </a:r>
          </a:p>
          <a:p>
            <a:r>
              <a:t>Liu Y, Feng J, Metzner W (2013). Different auditory feedback control for echolocation and communication in horseshoe bats. PLoS ONE 8(4):e62710. https://doi.org/10.1371/journal.pone.0062710</a:t>
            </a:r>
          </a:p>
          <a:p/>
          <a:p>
            <a:r>
              <a:t>Figure: Liu et al. (2013), Fig. 2(A–B). Daily frequency comparisons for echolocation and social calls.</a:t>
            </a:r>
          </a:p>
          <a:p>
            <a:r>
              <a:t>Figure source: https://doi.org/10.1371/journal.pone.0062710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Amplitopy refers to a spatial ordering of preferred sound level, just as tonotopy refers to a spatial ordering of preferred frequency. The two properties do not have to change along the same direction across the cortical surface.</a:t>
            </a:r>
          </a:p>
          <a:p>
            <a:r>
              <a:t>• Suga found a systematic relation between location and best amplitude, but the arrangement was not identical across all animals. Two patterns were described in the anterior part of the CF processing area, while the posterior pattern was more consistent.</a:t>
            </a:r>
          </a:p>
          <a:p>
            <a:r>
              <a:t>• The maps gave more space to intermediate preferred sound levels than to very high preferred levels. The author proposed a relation to the amplitudes of echoes commonly used in echolocation. The mapping experiment measured neural preference and location; it did not independently sample the complete distribution of echoes encountered by a bat in nature.</a:t>
            </a:r>
          </a:p>
          <a:p/>
          <a:p>
            <a:r>
              <a:t>References:</a:t>
            </a:r>
          </a:p>
          <a:p>
            <a:r>
              <a:t>Suga N (1977). Amplitude Spectrum Representation in the Doppler-Shifted-CF Processing Area of the Auditory Cortex of the Mustache Bat. Science 196(4285):64–67. https://doi.org/10.1126/science.190681</a:t>
            </a:r>
          </a:p>
          <a:p/>
          <a:p>
            <a:r>
              <a:t>Figure: Suga (1977), Fig. 2(D–E). Measured best amplitude varies with cortical position, in dB SPL and degrees.</a:t>
            </a:r>
          </a:p>
          <a:p>
            <a:r>
              <a:t>Figure source: https://doi.org/10.1126/science.190681</a:t>
            </a:r>
          </a:p>
          <a:p/>
          <a:p>
            <a:r>
              <a:t>Figure: Suga (1977), Fig. 2(B–C). Original cortical maps, 0.5 mm.</a:t>
            </a:r>
          </a:p>
          <a:p>
            <a:r>
              <a:t>Figure source: https://doi.org/10.1126/science.190681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bats flew toward a grid while calls and flight trajectories were recorded. The reconstruction supplied speed, and the investigators used that speed together with the emitted frequency to calculate the expected Doppler-shifted echo frequency.</a:t>
            </a:r>
          </a:p>
          <a:p>
            <a:r>
              <a:t>• The emitted second-harmonic CF frequency fell as the bat accelerated. In the example flight, the lowest emission coincided with a speed of 4.7 metres per second. The calculated echo frequency changed far less than the emitted frequency.</a:t>
            </a:r>
          </a:p>
          <a:p>
            <a:r>
              <a:t>• The result supplies a natural-flight counterpart to playback experiments. Its echo measure remains an estimate based on recorded calls and reconstructed movement. The method does not directly measure cochlear stimulation, and the distinction between recorded emission and calculated echo frequency is necessary when assessing the evidence for compensation precision.</a:t>
            </a:r>
          </a:p>
          <a:p/>
          <a:p>
            <a:r>
              <a:t>References:</a:t>
            </a:r>
          </a:p>
          <a:p>
            <a:r>
              <a:t>Schoeppler D, Schnitzler H-U, Denzinger A (2018). Precise Doppler shift compensation in the hipposiderid bat, Hipposideros armiger. Scientific Reports 8:4598. https://doi.org/10.1038/s41598-018-22880-y</a:t>
            </a:r>
          </a:p>
          <a:p/>
          <a:p>
            <a:r>
              <a:t>Figure: Schoeppler et al. (2018), Fig. 2(e–f). Measured emission and flight speed, with calculated echo frequency.</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Pulse interval measures the time from one call to the next. Duty cycle measures how much of the sequence is occupied by emitted sound. Shortening intervals and shortening calls can change duty cycle in different ways, so all three quantities must be measured.</a:t>
            </a:r>
          </a:p>
          <a:p>
            <a:r>
              <a:t>• The Hipposideros armiger calls became shorter and more closely spaced near the landing grid. The final approach included calls of roughly 3 to 4 milliseconds and intervals of roughly 11 to 12 milliseconds. The sustained CF component was retained.</a:t>
            </a:r>
          </a:p>
          <a:p>
            <a:r>
              <a:t>• The bat was therefore changing the timing of sampling at the same time that it controlled frequency. These measurements describe flight toward a landing target, not prey capture. The frequency, duration, interval, and harmonic changes belong to the observed approach behavior and should not be treated as identical results for every hunting situation.</a:t>
            </a:r>
          </a:p>
          <a:p/>
          <a:p>
            <a:r>
              <a:t>References:</a:t>
            </a:r>
          </a:p>
          <a:p>
            <a:r>
              <a:t>Schoeppler D, Schnitzler H-U, Denzinger A (2018). Precise Doppler shift compensation in the hipposiderid bat, Hipposideros armiger. Scientific Reports 8:4598. https://doi.org/10.1038/s41598-018-22880-y</a:t>
            </a:r>
          </a:p>
          <a:p/>
          <a:p>
            <a:r>
              <a:t>Figure: Schoeppler et al. (2018), Fig. 2(a–f). Call timing, FM properties, duty cycle, and compensation during approach.</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measured the resting call series just before take-off and paired it with the echo estimate from that particular flight. This pairing matters because both frequencies can change across time.</a:t>
            </a:r>
          </a:p>
          <a:p>
            <a:r>
              <a:t>• The resting and reference values usually moved in the same direction. Their mean separation remained approximately 80 hertz even though one animal’s reference frequency declined by about a kilohertz over nine days.</a:t>
            </a:r>
          </a:p>
          <a:p>
            <a:r>
              <a:t>• A precise control system can track a preferred state that itself changes. Using a resting value from an earlier session would mix that shift with the actual compensation offset. The observed coupling is therefore more informative than asking whether every call remains at one absolute frequency for the lifetime of an individual bat.</a:t>
            </a:r>
          </a:p>
          <a:p/>
          <a:p>
            <a:r>
              <a:t>References:</a:t>
            </a:r>
          </a:p>
          <a:p>
            <a:r>
              <a:t>Schoeppler D, Schnitzler H-U, Denzinger A (2018). Precise Doppler shift compensation in the hipposiderid bat, Hipposideros armiger. Scientific Reports 8:4598. https://doi.org/10.1038/s41598-018-22880-y</a:t>
            </a:r>
          </a:p>
          <a:p/>
          <a:p>
            <a:r>
              <a:t>Figure: Schoeppler et al. (2018), Fig. 3(a–b). Paired resting and reference frequencies and their offsets across flights.</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Torpor involves reduced physiological activity and, in these recordings, a lower temperature before activation. The investigators measured skin temperature with a small logger on the back and recorded ultrasonic calls at the same time.</a:t>
            </a:r>
          </a:p>
          <a:p>
            <a:r>
              <a:t>• Entering the room elicited increased calling and warming. As the bats activated, the frequency of their resting second-harmonic CF component rose, in some cases by as much as 1.44 kilohertz. Because these were resting calls, the change could not be assigned to compensation for flight speed.</a:t>
            </a:r>
          </a:p>
          <a:p>
            <a:r>
              <a:t>• The paired recordings connect call frequency with physiological state. Skin temperature is an indirect indicator of internal temperature, and activation changes more than temperature alone. The measurements support a state-dependent shift of the resting band without directly proving how the temperature of the cochlear resonator changed.</a:t>
            </a:r>
          </a:p>
          <a:p/>
          <a:p>
            <a:r>
              <a:t>References:</a:t>
            </a:r>
          </a:p>
          <a:p>
            <a:r>
              <a:t>Schoeppler D, Denzinger A, Schnitzler H-U (2022). The resting frequency of echolocation signals changes with body temperature in the hipposiderid bat Hipposideros armiger. Journal of Experimental Biology 225(3):jeb243569. https://doi.org/10.1242/jeb.243569</a:t>
            </a:r>
          </a:p>
          <a:p/>
          <a:p>
            <a:r>
              <a:t>Figure: Schoeppler et al. (2022), Fig. 2(C–E). Skin temperature, calling activity, and resting CF2 frequency during activation.</a:t>
            </a:r>
          </a:p>
          <a:p>
            <a:r>
              <a:t>Figure source: https://doi.org/10.1242/jeb.243569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two signals were recorded together, but their peaks were not simultaneous. The bat’s resting frequency usually reached a maximum before the temperature measured at the skin reached its maximum.</a:t>
            </a:r>
          </a:p>
          <a:p>
            <a:r>
              <a:t>• A sensor on the back does not necessarily follow the temperature inside the cochlea with the same timing. Internal tissues could warm earlier than the skin, but that possibility was not directly tested with a cochlear temperature probe.</a:t>
            </a:r>
          </a:p>
          <a:p>
            <a:r>
              <a:t>• The later decline in both quantities supports their association while preserving the temporal difference. It would be incorrect to assign a universal kilohertz-per-degree conversion from these skin recordings. The source explicitly distinguishes its measured skin temperature from the unmeasured temperature at the inner-ear resonator.</a:t>
            </a:r>
          </a:p>
          <a:p/>
          <a:p>
            <a:r>
              <a:t>References:</a:t>
            </a:r>
          </a:p>
          <a:p>
            <a:r>
              <a:t>Schoeppler D, Denzinger A, Schnitzler H-U (2022). The resting frequency of echolocation signals changes with body temperature in the hipposiderid bat Hipposideros armiger. Journal of Experimental Biology 225(3):jeb243569. https://doi.org/10.1242/jeb.243569</a:t>
            </a:r>
          </a:p>
          <a:p/>
          <a:p>
            <a:r>
              <a:t>Figure: Schoeppler et al. (2022), Fig. 3(A). Resting-frequency and skin-temperature peaks differ in time during activation.</a:t>
            </a:r>
          </a:p>
          <a:p>
            <a:r>
              <a:t>Figure source: https://doi.org/10.1242/jeb.243569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preferred acoustic band is not necessarily fixed permanently. The temperature study found state-linked changes in resting calls, and the flight study found that resting and reference frequencies remain coupled when their absolute values shift.</a:t>
            </a:r>
          </a:p>
          <a:p>
            <a:r>
              <a:t>• The authors proposed regulation of activity in the cochlear resonance system. Afferent input carries sensory information into the nervous system. Efferent output changes the vocal apparatus, and the new call changes the acoustic feedback returning to the ear.</a:t>
            </a:r>
          </a:p>
          <a:p>
            <a:r>
              <a:t>• That account connects the measured observations, but the warming experiment did not directly record the cochlear activity being proposed as the controlled variable. The strongest established claims remain the change in resting frequency, the relation to skin temperature, and the coupling of resting and reference frequencies measured in the separate flight study. Precise regulation and a changing preferred band are compatible.</a:t>
            </a:r>
          </a:p>
          <a:p/>
          <a:p>
            <a:r>
              <a:t>References:</a:t>
            </a:r>
          </a:p>
          <a:p>
            <a:r>
              <a:t>Schoeppler D, Denzinger A, Schnitzler H-U (2022). The resting frequency of echolocation signals changes with body temperature in the hipposiderid bat Hipposideros armiger. Journal of Experimental Biology 225(3):jeb243569. https://doi.org/10.1242/jeb.243569</a:t>
            </a:r>
          </a:p>
          <a:p>
            <a:r>
              <a:t>Schoeppler D, Schnitzler H-U, Denzinger A (2018). Precise Doppler shift compensation in the hipposiderid bat, Hipposideros armiger. Scientific Reports 8:4598. https://doi.org/10.1038/s41598-018-22880-y</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Schoeppler et al. (2022), Fig. 5. Resting frequency covaries with skin temperature across activation and recovery.</a:t>
            </a:r>
          </a:p>
          <a:p>
            <a:r>
              <a:t>Figure source: https://doi.org/10.1242/jeb.243569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transcript:</a:t>
            </a:r>
          </a:p>
          <a:p>
            <a:r>
              <a:t>• Echo frequency is the controlled signal. CF-FM bats lower emitted CF frequency as approach raises echo frequency, maintaining echoes near an individual reference band.</a:t>
            </a:r>
          </a:p>
          <a:p/>
          <a:p>
            <a:r>
              <a:t>• Resting and reference frequencies differ. The resting emission baseline usually lies slightly below the compensated echo reference; their offset must be measured at the same time.</a:t>
            </a:r>
          </a:p>
          <a:p/>
          <a:p>
            <a:r>
              <a:t>• Audible feedback acts in both directions. Horseshoe bats lower calls for higher echoes and can raise calls for sufficiently audible lower echoes, with unequal correction ranges.</a:t>
            </a:r>
          </a:p>
          <a:p/>
          <a:p>
            <a:r>
              <a:t>• The auditory fovea begins peripherally. Cochlear resonance and sharply tuned peripheral neurons concentrate sensitivity and selectivity near the CF2 echo band.</a:t>
            </a:r>
          </a:p>
          <a:p/>
          <a:p>
            <a:r>
              <a:t>• Neural codes include timing and population location. Midbrain neurons can retain narrow duration tuning near resonance; cortical populations organize frequency and preferred amplitude.</a:t>
            </a:r>
          </a:p>
          <a:p/>
          <a:p>
            <a:r>
              <a:t>• Precision can track a changing operating band. Resting and reference frequencies can shift together, and resting calls change during warming without a flight-induced Doppler shift.</a:t>
            </a:r>
          </a:p>
          <a:p/>
          <a:p>
            <a:r>
              <a:t>References:</a:t>
            </a:r>
          </a:p>
          <a:p>
            <a:r>
              <a:t>Long GR, Schnitzler H-U (1975). Behavioural audiograms from the bat, Rhinolophus ferrumequinum. Journal of Comparative Physiology 100:211–219. https://doi.org/10.1007/BF00614531</a:t>
            </a:r>
          </a:p>
          <a:p>
            <a:r>
              <a:t>Suga N, Simmons JA, Jen PH-S (1975). Peripheral specialization for fine analysis of Doppler-shifted echoes in the auditory system of the “CF-FM” bat Pteronotus parnellii. Journal of Experimental Biology 63(1):161–192. https://doi.org/10.1242/jeb.63.1.161</a:t>
            </a:r>
          </a:p>
          <a:p>
            <a:r>
              <a:t>Suga N (1977). Amplitude Spectrum Representation in the Doppler-Shifted-CF Processing Area of the Auditory Cortex of the Mustache Bat. Science 196(4285):64–67. https://doi.org/10.1126/science.190681</a:t>
            </a:r>
          </a:p>
          <a:p>
            <a:r>
              <a:t>Schuller G, Beuter K, Schnitzler H-U (1974). Response to frequency shifted artificial echoes in the bat Rhinolophus ferrumequinum. Journal of Comparative Physiology 89(3):275–286. https://doi.org/10.1007/BF00696191</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r>
              <a:t>Schoeppler D, Schnitzler H-U, Denzinger A (2018). Precise Doppler shift compensation in the hipposiderid bat, Hipposideros armiger. Scientific Reports 8:4598. https://doi.org/10.1038/s41598-018-22880-y</a:t>
            </a:r>
          </a:p>
          <a:p>
            <a:r>
              <a:t>Schoeppler D, Denzinger A, Schnitzler H-U (2022). The resting frequency of echolocation signals changes with body temperature in the hipposiderid bat Hipposideros armiger. Journal of Experimental Biology 225(3):jeb243569. https://doi.org/10.1242/jeb.243569</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r>
              <a:t>Macías S, Hechavarría JC, Kössl M (2016). Sharp temporal tuning in the bat auditory midbrain overcomes spectral-temporal trade-off imposed by cochlear mechanics. Scientific Reports 6:29129. https://doi.org/10.1038/srep29129</a:t>
            </a:r>
          </a:p>
          <a:p>
            <a:r>
              <a:t>Liu Y, Feng J, Metzner W (2013). Different auditory feedback control for echolocation and communication in horseshoe bats. PLoS ONE 8(4):e62710. https://doi.org/10.1371/journal.pone.0062710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1.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1.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243642"/>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C2D4DE"/>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C2D4DE"/>
                </a:solidFill>
                <a:latin typeface="Arial"/>
              </a:rPr>
              <a:t>Lecture 16</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Bat echolocation I:</a:t>
            </a:r>
          </a:p>
          <a:p>
            <a:pPr algn="l">
              <a:lnSpc>
                <a:spcPct val="108000"/>
              </a:lnSpc>
              <a:spcAft>
                <a:spcPts val="0"/>
              </a:spcAft>
            </a:pPr>
            <a:r>
              <a:rPr sz="2700" b="1" i="0">
                <a:solidFill>
                  <a:srgbClr val="FFFFFF"/>
                </a:solidFill>
                <a:latin typeface="Arial"/>
              </a:rPr>
              <a:t>CF-FM bats and Doppler-shift compensation (Suga)</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C2D4DE"/>
                </a:solidFill>
                <a:latin typeface="Arial"/>
              </a:rPr>
              <a:t>Wednesday, September 30,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C2D4DE"/>
                </a:solidFill>
                <a:latin typeface="Arial"/>
              </a:rPr>
              <a:t>Jordan Lopez, Ph.D.</a:t>
            </a:r>
          </a:p>
          <a:p>
            <a:pPr algn="l">
              <a:lnSpc>
                <a:spcPct val="108000"/>
              </a:lnSpc>
              <a:spcAft>
                <a:spcPts val="200"/>
              </a:spcAft>
            </a:pPr>
            <a:r>
              <a:rPr sz="1200" b="0" i="0">
                <a:solidFill>
                  <a:srgbClr val="C2D4DE"/>
                </a:solidFill>
                <a:latin typeface="Arial"/>
              </a:rPr>
              <a:t>Professor of Neurobiology &amp; Biomedical Engineering</a:t>
            </a:r>
          </a:p>
        </p:txBody>
      </p:sp>
      <p:pic>
        <p:nvPicPr>
          <p:cNvPr id="8" name="Picture 7" descr="animal.png"/>
          <p:cNvPicPr>
            <a:picLocks noChangeAspect="1"/>
          </p:cNvPicPr>
          <p:nvPr/>
        </p:nvPicPr>
        <p:blipFill>
          <a:blip r:embed="rId2"/>
          <a:stretch>
            <a:fillRect/>
          </a:stretch>
        </p:blipFill>
        <p:spPr>
          <a:xfrm>
            <a:off x="6553047" y="822960"/>
            <a:ext cx="5181447" cy="4873028"/>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1(A). CF and FM study bats.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CF-FM calls combine a sustained tone and a short sweep</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Echolocation</a:t>
            </a:r>
            <a:r>
              <a:rPr sz="1600" b="0" i="0">
                <a:solidFill>
                  <a:srgbClr val="27343C"/>
                </a:solidFill>
                <a:latin typeface="Arial"/>
              </a:rPr>
              <a:t> is active sensing with emitted sounds and returning echoes. A </a:t>
            </a:r>
            <a:r>
              <a:rPr sz="1600" b="1" i="0">
                <a:solidFill>
                  <a:srgbClr val="294858"/>
                </a:solidFill>
                <a:latin typeface="Arial"/>
              </a:rPr>
              <a:t>constant-frequency component</a:t>
            </a:r>
            <a:r>
              <a:rPr sz="1600" b="0" i="0">
                <a:solidFill>
                  <a:srgbClr val="27343C"/>
                </a:solidFill>
                <a:latin typeface="Arial"/>
              </a:rPr>
              <a:t>, or CF, maintains nearly one frequency; a </a:t>
            </a:r>
            <a:r>
              <a:rPr sz="1600" b="1" i="0">
                <a:solidFill>
                  <a:srgbClr val="294858"/>
                </a:solidFill>
                <a:latin typeface="Arial"/>
              </a:rPr>
              <a:t>frequency-modulated component</a:t>
            </a:r>
            <a:r>
              <a:rPr sz="1600" b="0" i="0">
                <a:solidFill>
                  <a:srgbClr val="27343C"/>
                </a:solidFill>
                <a:latin typeface="Arial"/>
              </a:rPr>
              <a:t>, or FM, changes frequency during the signal. CF-FM bats combine a prolonged tone with a brief downward sweep.</a:t>
            </a:r>
          </a:p>
          <a:p>
            <a:pPr algn="l">
              <a:lnSpc>
                <a:spcPct val="108000"/>
              </a:lnSpc>
              <a:spcAft>
                <a:spcPts val="960"/>
              </a:spcAft>
            </a:pPr>
            <a:r>
              <a:rPr sz="1600" b="0" i="0">
                <a:solidFill>
                  <a:srgbClr val="27343C"/>
                </a:solidFill>
                <a:latin typeface="Arial"/>
              </a:rPr>
              <a:t>In </a:t>
            </a:r>
            <a:r>
              <a:rPr sz="1600" b="0" i="1">
                <a:solidFill>
                  <a:srgbClr val="27343C"/>
                </a:solidFill>
                <a:latin typeface="Arial"/>
              </a:rPr>
              <a:t>Hipposideros armiger</a:t>
            </a:r>
            <a:r>
              <a:rPr sz="1600" b="0" i="0">
                <a:solidFill>
                  <a:srgbClr val="27343C"/>
                </a:solidFill>
                <a:latin typeface="Arial"/>
              </a:rPr>
              <a:t>, recordings during flight contain several </a:t>
            </a:r>
            <a:r>
              <a:rPr sz="1600" b="1" i="0">
                <a:solidFill>
                  <a:srgbClr val="294858"/>
                </a:solidFill>
                <a:latin typeface="Arial"/>
              </a:rPr>
              <a:t>harmonics</a:t>
            </a:r>
            <a:r>
              <a:rPr sz="1600" b="0" i="0">
                <a:solidFill>
                  <a:srgbClr val="27343C"/>
                </a:solidFill>
                <a:latin typeface="Arial"/>
              </a:rPr>
              <a:t>, frequency components at integer multiples of the lowest component. The second harmonic carries the greatest amplitude. Its CF frequency is around 65–66 kHz in the animals studied by Schoeppler and colleagues.</a:t>
            </a:r>
          </a:p>
          <a:p>
            <a:pPr algn="l">
              <a:lnSpc>
                <a:spcPct val="108000"/>
              </a:lnSpc>
              <a:spcAft>
                <a:spcPts val="960"/>
              </a:spcAft>
            </a:pPr>
            <a:r>
              <a:rPr sz="1600" b="0" i="0">
                <a:solidFill>
                  <a:srgbClr val="27343C"/>
                </a:solidFill>
                <a:latin typeface="Arial"/>
              </a:rPr>
              <a:t>The CF component persists during approach to a landing target, even as call duration and harmonic prominence change. A narrowband carrier and a changing terminal sweep therefore coexist within individual calls; the signal is not simply a pure tone.</a:t>
            </a:r>
          </a:p>
        </p:txBody>
      </p:sp>
      <p:pic>
        <p:nvPicPr>
          <p:cNvPr id="4" name="Picture 3" descr="schoeppler18_fig1.png"/>
          <p:cNvPicPr>
            <a:picLocks noChangeAspect="1"/>
          </p:cNvPicPr>
          <p:nvPr/>
        </p:nvPicPr>
        <p:blipFill>
          <a:blip r:embed="rId2"/>
          <a:stretch>
            <a:fillRect/>
          </a:stretch>
        </p:blipFill>
        <p:spPr>
          <a:xfrm>
            <a:off x="6564237" y="1280160"/>
            <a:ext cx="500041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1(a–d). Flight call sequence and CF-FM structure, in kHz and ms.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 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Flutter changes the echoes carried by the CF component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294858"/>
                </a:solidFill>
                <a:latin typeface="Arial"/>
              </a:rPr>
              <a:t>Flutter</a:t>
            </a:r>
            <a:r>
              <a:rPr sz="1700" b="0" i="0">
                <a:solidFill>
                  <a:srgbClr val="27343C"/>
                </a:solidFill>
                <a:latin typeface="Arial"/>
              </a:rPr>
              <a:t> is the periodic motion of an insect’s wings. Flutter-detecting bats receive echoes whose amplitude and frequency vary as the reflecting wings move. The long CF component supplies a sustained carrier on which those changes can occur.</a:t>
            </a:r>
          </a:p>
          <a:p>
            <a:pPr algn="l">
              <a:lnSpc>
                <a:spcPct val="108000"/>
              </a:lnSpc>
              <a:spcAft>
                <a:spcPts val="1019"/>
              </a:spcAft>
            </a:pPr>
            <a:r>
              <a:rPr sz="1700" b="0" i="0">
                <a:solidFill>
                  <a:srgbClr val="27343C"/>
                </a:solidFill>
                <a:latin typeface="Arial"/>
              </a:rPr>
              <a:t>The </a:t>
            </a:r>
            <a:r>
              <a:rPr sz="1700" b="1" i="0">
                <a:solidFill>
                  <a:srgbClr val="294858"/>
                </a:solidFill>
                <a:latin typeface="Arial"/>
              </a:rPr>
              <a:t>auditory fovea</a:t>
            </a:r>
            <a:r>
              <a:rPr sz="1700" b="0" i="0">
                <a:solidFill>
                  <a:srgbClr val="27343C"/>
                </a:solidFill>
                <a:latin typeface="Arial"/>
              </a:rPr>
              <a:t> is an expanded, sharply tuned representation of a narrow frequency range in the hearing system. In CF-FM bats, that range corresponds closely to the returning CF component rather than to all ultrasonic frequencies equally.</a:t>
            </a:r>
          </a:p>
          <a:p>
            <a:pPr algn="l">
              <a:lnSpc>
                <a:spcPct val="108000"/>
              </a:lnSpc>
              <a:spcAft>
                <a:spcPts val="1019"/>
              </a:spcAft>
            </a:pPr>
            <a:r>
              <a:rPr sz="1700" b="0" i="0">
                <a:solidFill>
                  <a:srgbClr val="27343C"/>
                </a:solidFill>
                <a:latin typeface="Arial"/>
              </a:rPr>
              <a:t>Flight-induced shifts can move the echo carrier away from this specialized range. Doppler-shift compensation keeps echoes from stationary targets ahead near the preferred frequency, supporting analysis of smaller variations associated with flutter. The behavioral adjustment and peripheral specialization are complementary adaptations.</a:t>
            </a:r>
          </a:p>
        </p:txBody>
      </p:sp>
      <p:pic>
        <p:nvPicPr>
          <p:cNvPr id="4" name="Picture 3" descr="schoeppler18_fig1.png"/>
          <p:cNvPicPr>
            <a:picLocks noChangeAspect="1"/>
          </p:cNvPicPr>
          <p:nvPr/>
        </p:nvPicPr>
        <p:blipFill>
          <a:blip r:embed="rId2"/>
          <a:stretch>
            <a:fillRect/>
          </a:stretch>
        </p:blipFill>
        <p:spPr>
          <a:xfrm>
            <a:off x="6564237" y="1280160"/>
            <a:ext cx="500041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1(a–d). Flight call sequence and CF-FM structure, in kHz and ms.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 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Approaching a reflector raises returning echo frequency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A </a:t>
            </a:r>
            <a:r>
              <a:rPr sz="1600" b="1" i="0">
                <a:solidFill>
                  <a:srgbClr val="294858"/>
                </a:solidFill>
                <a:latin typeface="Arial"/>
              </a:rPr>
              <a:t>Doppler shift</a:t>
            </a:r>
            <a:r>
              <a:rPr sz="1600" b="0" i="0">
                <a:solidFill>
                  <a:srgbClr val="27343C"/>
                </a:solidFill>
                <a:latin typeface="Arial"/>
              </a:rPr>
              <a:t> is a frequency change caused by relative motion between a sound source, a reflector, and a receiver. When a bat approaches a stationary object, the returning echo has a higher frequency than the emitted sound.</a:t>
            </a:r>
          </a:p>
          <a:p>
            <a:pPr algn="l">
              <a:lnSpc>
                <a:spcPct val="108000"/>
              </a:lnSpc>
              <a:spcAft>
                <a:spcPts val="960"/>
              </a:spcAft>
            </a:pPr>
            <a:r>
              <a:rPr sz="1600" b="1" i="0">
                <a:solidFill>
                  <a:srgbClr val="294858"/>
                </a:solidFill>
                <a:latin typeface="Arial"/>
              </a:rPr>
              <a:t>Doppler-shift compensation</a:t>
            </a:r>
            <a:r>
              <a:rPr sz="1600" b="0" i="0">
                <a:solidFill>
                  <a:srgbClr val="27343C"/>
                </a:solidFill>
                <a:latin typeface="Arial"/>
              </a:rPr>
              <a:t> lowers the frequency of subsequent calls as approaching motion raises echo frequency. The regulated quantity is the returning CF frequency. The emitted CF frequency must therefore change rather than remain fixed throughout flight.</a:t>
            </a:r>
          </a:p>
          <a:p>
            <a:pPr algn="l">
              <a:lnSpc>
                <a:spcPct val="108000"/>
              </a:lnSpc>
              <a:spcAft>
                <a:spcPts val="960"/>
              </a:spcAft>
            </a:pPr>
            <a:r>
              <a:rPr sz="1600" b="0" i="0">
                <a:solidFill>
                  <a:srgbClr val="27343C"/>
                </a:solidFill>
                <a:latin typeface="Arial"/>
              </a:rPr>
              <a:t>Schoeppler and colleagues recorded calls and reconstructed flight toward a grid. Call frequency fell during acceleration and recovered during deceleration. Schuller and colleagues independently manipulated echo frequency in stationary bats, separating an auditory-feedback effect from the mechanical effects of flight.</a:t>
            </a:r>
          </a:p>
        </p:txBody>
      </p:sp>
      <p:pic>
        <p:nvPicPr>
          <p:cNvPr id="4" name="Picture 3" descr="schoeppler18_fig2ef.png"/>
          <p:cNvPicPr>
            <a:picLocks noChangeAspect="1"/>
          </p:cNvPicPr>
          <p:nvPr/>
        </p:nvPicPr>
        <p:blipFill>
          <a:blip r:embed="rId2"/>
          <a:stretch>
            <a:fillRect/>
          </a:stretch>
        </p:blipFill>
        <p:spPr>
          <a:xfrm>
            <a:off x="7312225" y="1280160"/>
            <a:ext cx="350444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2(e–f). Measured emission and flight speed, with calculated echo frequency.</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 Schoeppler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Resting frequency is an individual calling baseline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The </a:t>
            </a:r>
            <a:r>
              <a:rPr sz="1700" b="1" i="0">
                <a:solidFill>
                  <a:srgbClr val="294858"/>
                </a:solidFill>
                <a:latin typeface="Arial"/>
              </a:rPr>
              <a:t>resting frequency</a:t>
            </a:r>
            <a:r>
              <a:rPr sz="1700" b="0" i="0">
                <a:solidFill>
                  <a:srgbClr val="27343C"/>
                </a:solidFill>
                <a:latin typeface="Arial"/>
              </a:rPr>
              <a:t> is the mean CF frequency of consecutive calls emitted by a stationary bat. In Schuller and colleagues’ greater horseshoe bats, </a:t>
            </a:r>
            <a:r>
              <a:rPr sz="1700" b="0" i="1">
                <a:solidFill>
                  <a:srgbClr val="27343C"/>
                </a:solidFill>
                <a:latin typeface="Arial"/>
              </a:rPr>
              <a:t>Rhinolophus ferrumequinum</a:t>
            </a:r>
            <a:r>
              <a:rPr sz="1700" b="0" i="0">
                <a:solidFill>
                  <a:srgbClr val="27343C"/>
                </a:solidFill>
                <a:latin typeface="Arial"/>
              </a:rPr>
              <a:t>, individual resting frequencies ranged from about 81 to 84.2 kHz.</a:t>
            </a:r>
          </a:p>
          <a:p>
            <a:pPr algn="l">
              <a:lnSpc>
                <a:spcPct val="108000"/>
              </a:lnSpc>
              <a:spcAft>
                <a:spcPts val="1019"/>
              </a:spcAft>
            </a:pPr>
            <a:r>
              <a:rPr sz="1700" b="0" i="0">
                <a:solidFill>
                  <a:srgbClr val="27343C"/>
                </a:solidFill>
                <a:latin typeface="Arial"/>
              </a:rPr>
              <a:t>The investigators measured the central CF portion, excluding the first and last 5 ms to avoid the adjoining FM sweeps. Repeated calls clustered closely around an individual’s baseline. Playing back unshifted calls did not systematically change that baseline.</a:t>
            </a:r>
          </a:p>
          <a:p>
            <a:pPr algn="l">
              <a:lnSpc>
                <a:spcPct val="108000"/>
              </a:lnSpc>
              <a:spcAft>
                <a:spcPts val="1019"/>
              </a:spcAft>
            </a:pPr>
            <a:r>
              <a:rPr sz="1700" b="0" i="0">
                <a:solidFill>
                  <a:srgbClr val="27343C"/>
                </a:solidFill>
                <a:latin typeface="Arial"/>
              </a:rPr>
              <a:t>Resting frequency is therefore a reference for describing changes in emitted frequency, not the frequency at which all compensated echoes must return. Individual and temporal differences require a baseline measured in the same animal and experimental period.</a:t>
            </a:r>
          </a:p>
        </p:txBody>
      </p:sp>
      <p:pic>
        <p:nvPicPr>
          <p:cNvPr id="4" name="Picture 3" descr="schuller74_fig1.png"/>
          <p:cNvPicPr>
            <a:picLocks noChangeAspect="1"/>
          </p:cNvPicPr>
          <p:nvPr/>
        </p:nvPicPr>
        <p:blipFill>
          <a:blip r:embed="rId2"/>
          <a:stretch>
            <a:fillRect/>
          </a:stretch>
        </p:blipFill>
        <p:spPr>
          <a:xfrm>
            <a:off x="7451609" y="1280160"/>
            <a:ext cx="322567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Schuller et al. (1974), Fig. 1. Distribution of CF frequencies in a stationary horseshoe bat.</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Shifted playback causes subsequent calls to fall in pitch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Schuller and colleagues returned each horseshoe bat’s own call through an electronic frequency shifter. The stationary animal could move its head, but it did not fly. The microphone and loudspeaker were positioned 34 cm in front of it.</a:t>
            </a:r>
          </a:p>
          <a:p>
            <a:pPr algn="l">
              <a:lnSpc>
                <a:spcPct val="108000"/>
              </a:lnSpc>
              <a:spcAft>
                <a:spcPts val="1019"/>
              </a:spcAft>
            </a:pPr>
            <a:r>
              <a:rPr sz="1700" b="0" i="0">
                <a:solidFill>
                  <a:srgbClr val="27343C"/>
                </a:solidFill>
                <a:latin typeface="Arial"/>
              </a:rPr>
              <a:t>When the artificial echo was shifted upward, later emitted calls decreased in CF frequency. After several calls, the animal reached a new emission level. Increasing the imposed positive shift required progressively greater lowering of the outgoing frequency.</a:t>
            </a:r>
          </a:p>
          <a:p>
            <a:pPr algn="l">
              <a:lnSpc>
                <a:spcPct val="108000"/>
              </a:lnSpc>
              <a:spcAft>
                <a:spcPts val="1019"/>
              </a:spcAft>
            </a:pPr>
            <a:r>
              <a:rPr sz="1700" b="0" i="0">
                <a:solidFill>
                  <a:srgbClr val="27343C"/>
                </a:solidFill>
                <a:latin typeface="Arial"/>
              </a:rPr>
              <a:t>This </a:t>
            </a:r>
            <a:r>
              <a:rPr sz="1700" b="1" i="0">
                <a:solidFill>
                  <a:srgbClr val="294858"/>
                </a:solidFill>
                <a:latin typeface="Arial"/>
              </a:rPr>
              <a:t>closed-loop playback</a:t>
            </a:r>
            <a:r>
              <a:rPr sz="1700" b="0" i="0">
                <a:solidFill>
                  <a:srgbClr val="27343C"/>
                </a:solidFill>
                <a:latin typeface="Arial"/>
              </a:rPr>
              <a:t> preserves the link between the animal’s current call and its feedback. The compensation response depends on an experimentally imposed frequency discrepancy, rather than requiring actual motion toward a reflector.</a:t>
            </a:r>
          </a:p>
        </p:txBody>
      </p:sp>
      <p:pic>
        <p:nvPicPr>
          <p:cNvPr id="4" name="Picture 3" descr="schuller74_fig2.png"/>
          <p:cNvPicPr>
            <a:picLocks noChangeAspect="1"/>
          </p:cNvPicPr>
          <p:nvPr/>
        </p:nvPicPr>
        <p:blipFill>
          <a:blip r:embed="rId2"/>
          <a:stretch>
            <a:fillRect/>
          </a:stretch>
        </p:blipFill>
        <p:spPr>
          <a:xfrm>
            <a:off x="8124412" y="1280160"/>
            <a:ext cx="188006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Schuller et al. (1974), Fig. 2. Emission-frequency compensation under increasing positive echo shifts, in Hz.</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Compensated echoes sit slightly above resting frequency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The </a:t>
            </a:r>
            <a:r>
              <a:rPr sz="1700" b="1" i="0">
                <a:solidFill>
                  <a:srgbClr val="294858"/>
                </a:solidFill>
                <a:latin typeface="Arial"/>
              </a:rPr>
              <a:t>reference frequency</a:t>
            </a:r>
            <a:r>
              <a:rPr sz="1700" b="0" i="0">
                <a:solidFill>
                  <a:srgbClr val="27343C"/>
                </a:solidFill>
                <a:latin typeface="Arial"/>
              </a:rPr>
              <a:t> is the returning CF frequency maintained during compensation. In Schuller and colleagues’ experiments, the downward change in emission was slightly smaller than the upward shift imposed on the artificial echo.</a:t>
            </a:r>
          </a:p>
          <a:p>
            <a:pPr algn="l">
              <a:lnSpc>
                <a:spcPct val="108000"/>
              </a:lnSpc>
              <a:spcAft>
                <a:spcPts val="1019"/>
              </a:spcAft>
            </a:pPr>
            <a:r>
              <a:rPr sz="1700" b="0" i="0">
                <a:solidFill>
                  <a:srgbClr val="27343C"/>
                </a:solidFill>
                <a:latin typeface="Arial"/>
              </a:rPr>
              <a:t>The resulting echo therefore remained above resting frequency. This </a:t>
            </a:r>
            <a:r>
              <a:rPr sz="1700" b="1" i="0">
                <a:solidFill>
                  <a:srgbClr val="294858"/>
                </a:solidFill>
                <a:latin typeface="Arial"/>
              </a:rPr>
              <a:t>compensation offset</a:t>
            </a:r>
            <a:r>
              <a:rPr sz="1700" b="0" i="0">
                <a:solidFill>
                  <a:srgbClr val="27343C"/>
                </a:solidFill>
                <a:latin typeface="Arial"/>
              </a:rPr>
              <a:t>, the difference between reference and resting frequencies, was approximately 50–300 Hz across the bats studied and stayed relatively constant across an individual’s compensation range.</a:t>
            </a:r>
          </a:p>
          <a:p>
            <a:pPr algn="l">
              <a:lnSpc>
                <a:spcPct val="108000"/>
              </a:lnSpc>
              <a:spcAft>
                <a:spcPts val="1019"/>
              </a:spcAft>
            </a:pPr>
            <a:r>
              <a:rPr sz="1700" b="0" i="0">
                <a:solidFill>
                  <a:srgbClr val="27343C"/>
                </a:solidFill>
                <a:latin typeface="Arial"/>
              </a:rPr>
              <a:t>Compensation does not mean returning every echo to the stationary emission baseline. It means controlling feedback near an individual reference frequency. A small persistent offset and a large adjustable change in emitted frequency can occur together.</a:t>
            </a:r>
          </a:p>
        </p:txBody>
      </p:sp>
      <p:pic>
        <p:nvPicPr>
          <p:cNvPr id="4" name="Picture 3" descr="schuller74_fig3.png"/>
          <p:cNvPicPr>
            <a:picLocks noChangeAspect="1"/>
          </p:cNvPicPr>
          <p:nvPr/>
        </p:nvPicPr>
        <p:blipFill>
          <a:blip r:embed="rId2"/>
          <a:stretch>
            <a:fillRect/>
          </a:stretch>
        </p:blipFill>
        <p:spPr>
          <a:xfrm>
            <a:off x="7577623" y="1280160"/>
            <a:ext cx="297364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Schuller et al. (1974), Fig. 3. Echo-frequency offset and emission compensation across imposed shifts, in kHz.</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Early playback tests found little response to lower echoes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In the 1974 experiments, downward shifts of artificial echoes did not evoke a systematic increase in emitted frequency. The bats continued calling near resting frequency, although their calls became somewhat less regular in frequency.</a:t>
            </a:r>
          </a:p>
          <a:p>
            <a:pPr algn="l">
              <a:lnSpc>
                <a:spcPct val="108000"/>
              </a:lnSpc>
              <a:spcAft>
                <a:spcPts val="960"/>
              </a:spcAft>
            </a:pPr>
            <a:r>
              <a:rPr sz="1600" b="0" i="0">
                <a:solidFill>
                  <a:srgbClr val="27343C"/>
                </a:solidFill>
                <a:latin typeface="Arial"/>
              </a:rPr>
              <a:t>This finding supported an initially asymmetric account: echoes above the reference band lowered emission, whereas echoes below it appeared ineffective. However, the intensity dependence of the response was not systematically measured in that study.</a:t>
            </a:r>
          </a:p>
          <a:p>
            <a:pPr algn="l">
              <a:lnSpc>
                <a:spcPct val="108000"/>
              </a:lnSpc>
              <a:spcAft>
                <a:spcPts val="960"/>
              </a:spcAft>
            </a:pPr>
            <a:r>
              <a:rPr sz="1600" b="0" i="0">
                <a:solidFill>
                  <a:srgbClr val="27343C"/>
                </a:solidFill>
                <a:latin typeface="Arial"/>
              </a:rPr>
              <a:t>Metzner and colleagues later tested feedback above and below resting frequency at comparable levels above hearing threshold. Their results changed the interpretation of the earlier asymmetry: a weak response to lower-frequency feedback does not establish that this feedback is absent from vocal control.</a:t>
            </a:r>
          </a:p>
        </p:txBody>
      </p:sp>
      <p:pic>
        <p:nvPicPr>
          <p:cNvPr id="4" name="Picture 3" descr="schuller74_fig2.png"/>
          <p:cNvPicPr>
            <a:picLocks noChangeAspect="1"/>
          </p:cNvPicPr>
          <p:nvPr/>
        </p:nvPicPr>
        <p:blipFill>
          <a:blip r:embed="rId2"/>
          <a:stretch>
            <a:fillRect/>
          </a:stretch>
        </p:blipFill>
        <p:spPr>
          <a:xfrm>
            <a:off x="8124412" y="1280160"/>
            <a:ext cx="188006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Schuller et al. (1974), Fig. 2. Emission-frequency compensation under increasing positive echo shifts, in Hz.</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 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Equal sound levels need not produce equal audibility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An </a:t>
            </a:r>
            <a:r>
              <a:rPr sz="1700" b="1" i="0">
                <a:solidFill>
                  <a:srgbClr val="294858"/>
                </a:solidFill>
                <a:latin typeface="Arial"/>
              </a:rPr>
              <a:t>audiogram</a:t>
            </a:r>
            <a:r>
              <a:rPr sz="1700" b="0" i="0">
                <a:solidFill>
                  <a:srgbClr val="27343C"/>
                </a:solidFill>
                <a:latin typeface="Arial"/>
              </a:rPr>
              <a:t> relates sound frequency to the minimum level required for detection. The horseshoe bat’s auditory fovea has a low threshold near its preferred echo band, with substantially poorer sensitivity at some lower frequencies.</a:t>
            </a:r>
          </a:p>
          <a:p>
            <a:pPr algn="l">
              <a:lnSpc>
                <a:spcPct val="108000"/>
              </a:lnSpc>
              <a:spcAft>
                <a:spcPts val="1019"/>
              </a:spcAft>
            </a:pPr>
            <a:r>
              <a:rPr sz="1700" b="1" i="0">
                <a:solidFill>
                  <a:srgbClr val="294858"/>
                </a:solidFill>
                <a:latin typeface="Arial"/>
              </a:rPr>
              <a:t>Sound pressure level</a:t>
            </a:r>
            <a:r>
              <a:rPr sz="1700" b="0" i="0">
                <a:solidFill>
                  <a:srgbClr val="27343C"/>
                </a:solidFill>
                <a:latin typeface="Arial"/>
              </a:rPr>
              <a:t>, or dB SPL, describes physical sound amplitude. </a:t>
            </a:r>
            <a:r>
              <a:rPr sz="1700" b="1" i="0">
                <a:solidFill>
                  <a:srgbClr val="294858"/>
                </a:solidFill>
                <a:latin typeface="Arial"/>
              </a:rPr>
              <a:t>Sensation level</a:t>
            </a:r>
            <a:r>
              <a:rPr sz="1700" b="0" i="0">
                <a:solidFill>
                  <a:srgbClr val="27343C"/>
                </a:solidFill>
                <a:latin typeface="Arial"/>
              </a:rPr>
              <a:t> describes how far a sound lies above the hearing threshold at its frequency. Equal dB SPL values can correspond to different sensation levels.</a:t>
            </a:r>
          </a:p>
          <a:p>
            <a:pPr algn="l">
              <a:lnSpc>
                <a:spcPct val="108000"/>
              </a:lnSpc>
              <a:spcAft>
                <a:spcPts val="1019"/>
              </a:spcAft>
            </a:pPr>
            <a:r>
              <a:rPr sz="1700" b="0" i="0">
                <a:solidFill>
                  <a:srgbClr val="27343C"/>
                </a:solidFill>
                <a:latin typeface="Arial"/>
              </a:rPr>
              <a:t>Metzner and colleagues delivered positive and negative frequency shifts at approximately comparable suprathreshold levels. Lower-frequency feedback required louder playback. This control separated the sign of a frequency shift from the reduction in audibility that otherwise accompanies a shift away from the fovea.</a:t>
            </a:r>
          </a:p>
        </p:txBody>
      </p:sp>
      <p:pic>
        <p:nvPicPr>
          <p:cNvPr id="4" name="Picture 3" descr="metzner02_fig1.png"/>
          <p:cNvPicPr>
            <a:picLocks noChangeAspect="1"/>
          </p:cNvPicPr>
          <p:nvPr/>
        </p:nvPicPr>
        <p:blipFill>
          <a:blip r:embed="rId2"/>
          <a:stretch>
            <a:fillRect/>
          </a:stretch>
        </p:blipFill>
        <p:spPr>
          <a:xfrm>
            <a:off x="6504127" y="1280160"/>
            <a:ext cx="5120640" cy="3527002"/>
          </a:xfrm>
          <a:prstGeom prst="rect">
            <a:avLst/>
          </a:prstGeom>
        </p:spPr>
      </p:pic>
      <p:sp>
        <p:nvSpPr>
          <p:cNvPr id="5" name="Figure caption"/>
          <p:cNvSpPr txBox="1"/>
          <p:nvPr/>
        </p:nvSpPr>
        <p:spPr>
          <a:xfrm>
            <a:off x="6504127" y="48986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1. Auditory thresholds and playback ranges; audiogram credited in the paper to Long and Schnitzler (1975).</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 Long &amp; Schnitzler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Audible lower-frequency echoes raise emitted frequency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Metzner and colleagues sinusoidally varied the frequency of feedback made from each bat’s own call. A </a:t>
            </a:r>
            <a:r>
              <a:rPr sz="1700" b="1" i="0">
                <a:solidFill>
                  <a:srgbClr val="294858"/>
                </a:solidFill>
                <a:latin typeface="Arial"/>
              </a:rPr>
              <a:t>sinusoidal modulation</a:t>
            </a:r>
            <a:r>
              <a:rPr sz="1700" b="0" i="0">
                <a:solidFill>
                  <a:srgbClr val="27343C"/>
                </a:solidFill>
                <a:latin typeface="Arial"/>
              </a:rPr>
              <a:t> is a repeated smooth rise and fall. Feedback shifts extended above or below the animal’s resting frequency.</a:t>
            </a:r>
          </a:p>
          <a:p>
            <a:pPr algn="l">
              <a:lnSpc>
                <a:spcPct val="108000"/>
              </a:lnSpc>
              <a:spcAft>
                <a:spcPts val="1019"/>
              </a:spcAft>
            </a:pPr>
            <a:r>
              <a:rPr sz="1700" b="0" i="0">
                <a:solidFill>
                  <a:srgbClr val="27343C"/>
                </a:solidFill>
                <a:latin typeface="Arial"/>
              </a:rPr>
              <a:t>Positive shifts caused emitted frequency to decrease. At sufficient playback levels, negative shifts caused emitted frequency to increase above resting frequency. The opposite changes followed the changing frequency of the artificial echo.</a:t>
            </a:r>
          </a:p>
          <a:p>
            <a:pPr algn="l">
              <a:lnSpc>
                <a:spcPct val="108000"/>
              </a:lnSpc>
              <a:spcAft>
                <a:spcPts val="1019"/>
              </a:spcAft>
            </a:pPr>
            <a:r>
              <a:rPr sz="1700" b="0" i="0">
                <a:solidFill>
                  <a:srgbClr val="27343C"/>
                </a:solidFill>
                <a:latin typeface="Arial"/>
              </a:rPr>
              <a:t>The vocal system therefore receives useful feedback from both sides of the resting band. This two-direction response contradicts an explanation in which lower-frequency echoes have no influence on call frequency. It does not imply equally complete correction in the two directions.</a:t>
            </a:r>
          </a:p>
        </p:txBody>
      </p:sp>
      <p:pic>
        <p:nvPicPr>
          <p:cNvPr id="4" name="Picture 3" descr="metzner02_fig2.png"/>
          <p:cNvPicPr>
            <a:picLocks noChangeAspect="1"/>
          </p:cNvPicPr>
          <p:nvPr/>
        </p:nvPicPr>
        <p:blipFill>
          <a:blip r:embed="rId2"/>
          <a:stretch>
            <a:fillRect/>
          </a:stretch>
        </p:blipFill>
        <p:spPr>
          <a:xfrm>
            <a:off x="6504127" y="1280160"/>
            <a:ext cx="5120640" cy="3960136"/>
          </a:xfrm>
          <a:prstGeom prst="rect">
            <a:avLst/>
          </a:prstGeom>
        </p:spPr>
      </p:pic>
      <p:sp>
        <p:nvSpPr>
          <p:cNvPr id="5" name="Figure caption"/>
          <p:cNvSpPr txBox="1"/>
          <p:nvPr/>
        </p:nvSpPr>
        <p:spPr>
          <a:xfrm>
            <a:off x="6504127" y="533173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2(A–D). Call and playback changes for positive and negative frequency shifts.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Upward vocal corrections are smaller than downward ones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In Metzner and colleagues’ playback experiments, bats compensated for roughly 95% of positive shifts but only up to about 22% of the range of negative shifts. Increasing emission above resting frequency was possible but comparatively limited.</a:t>
            </a:r>
          </a:p>
          <a:p>
            <a:pPr algn="l">
              <a:lnSpc>
                <a:spcPct val="108000"/>
              </a:lnSpc>
              <a:spcAft>
                <a:spcPts val="1019"/>
              </a:spcAft>
            </a:pPr>
            <a:r>
              <a:rPr sz="1700" b="0" i="0">
                <a:solidFill>
                  <a:srgbClr val="27343C"/>
                </a:solidFill>
                <a:latin typeface="Arial"/>
              </a:rPr>
              <a:t>A negative shift as large as 4.5 kHz produced a maximum observed emission increase of 1.51 kHz. Detecting feedback and generating a full motor correction therefore cannot be treated as the same capacity.</a:t>
            </a:r>
          </a:p>
          <a:p>
            <a:pPr algn="l">
              <a:lnSpc>
                <a:spcPct val="108000"/>
              </a:lnSpc>
              <a:spcAft>
                <a:spcPts val="1019"/>
              </a:spcAft>
            </a:pPr>
            <a:r>
              <a:rPr sz="1700" b="0" i="0">
                <a:solidFill>
                  <a:srgbClr val="27343C"/>
                </a:solidFill>
                <a:latin typeface="Arial"/>
              </a:rPr>
              <a:t>The authors related the asymmetry to restrictions on vocal production and discussed constraints involving the larynx. Their behavioral data establish unequal correction in the two directions. They do not independently isolate a particular muscle or biomechanical limit as its sole cause.</a:t>
            </a:r>
          </a:p>
        </p:txBody>
      </p:sp>
      <p:pic>
        <p:nvPicPr>
          <p:cNvPr id="4" name="Picture 3" descr="metzner02_fig2.png"/>
          <p:cNvPicPr>
            <a:picLocks noChangeAspect="1"/>
          </p:cNvPicPr>
          <p:nvPr/>
        </p:nvPicPr>
        <p:blipFill>
          <a:blip r:embed="rId2"/>
          <a:stretch>
            <a:fillRect/>
          </a:stretch>
        </p:blipFill>
        <p:spPr>
          <a:xfrm>
            <a:off x="6504127" y="1280160"/>
            <a:ext cx="5120640" cy="3960136"/>
          </a:xfrm>
          <a:prstGeom prst="rect">
            <a:avLst/>
          </a:prstGeom>
        </p:spPr>
      </p:pic>
      <p:sp>
        <p:nvSpPr>
          <p:cNvPr id="5" name="Figure caption"/>
          <p:cNvSpPr txBox="1"/>
          <p:nvPr/>
        </p:nvSpPr>
        <p:spPr>
          <a:xfrm>
            <a:off x="6504127" y="533173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2(A–D). Call and playback changes for positive and negative frequency shifts.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Louder feedback accelerates correction in both directions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Metzner and colleagues varied echo-mimic attenuation while maintaining stepwise frequency perturbations. </a:t>
            </a:r>
            <a:r>
              <a:rPr sz="1700" b="1" i="0">
                <a:solidFill>
                  <a:srgbClr val="294858"/>
                </a:solidFill>
                <a:latin typeface="Arial"/>
              </a:rPr>
              <a:t>Attenuation</a:t>
            </a:r>
            <a:r>
              <a:rPr sz="1700" b="0" i="0">
                <a:solidFill>
                  <a:srgbClr val="27343C"/>
                </a:solidFill>
                <a:latin typeface="Arial"/>
              </a:rPr>
              <a:t> is a reduction in signal level. Stronger feedback produced faster vocal adjustment for both upward and downward corrections.</a:t>
            </a:r>
          </a:p>
          <a:p>
            <a:pPr algn="l">
              <a:lnSpc>
                <a:spcPct val="108000"/>
              </a:lnSpc>
              <a:spcAft>
                <a:spcPts val="1019"/>
              </a:spcAft>
            </a:pPr>
            <a:r>
              <a:rPr sz="1700" b="0" i="0">
                <a:solidFill>
                  <a:srgbClr val="27343C"/>
                </a:solidFill>
                <a:latin typeface="Arial"/>
              </a:rPr>
              <a:t>For recovery after a negative step, reported response time constants shortened from about 2.28 s at 30 dB attenuation to 0.89 s at zero attenuation. For positive steps, corresponding values shortened from about 1.64 s to 0.75 s.</a:t>
            </a:r>
          </a:p>
          <a:p>
            <a:pPr algn="l">
              <a:lnSpc>
                <a:spcPct val="108000"/>
              </a:lnSpc>
              <a:spcAft>
                <a:spcPts val="1019"/>
              </a:spcAft>
            </a:pPr>
            <a:r>
              <a:rPr sz="1700" b="0" i="0">
                <a:solidFill>
                  <a:srgbClr val="27343C"/>
                </a:solidFill>
                <a:latin typeface="Arial"/>
              </a:rPr>
              <a:t>The </a:t>
            </a:r>
            <a:r>
              <a:rPr sz="1700" b="1" i="0">
                <a:solidFill>
                  <a:srgbClr val="294858"/>
                </a:solidFill>
                <a:latin typeface="Arial"/>
              </a:rPr>
              <a:t>time constant</a:t>
            </a:r>
            <a:r>
              <a:rPr sz="1700" b="0" i="0">
                <a:solidFill>
                  <a:srgbClr val="27343C"/>
                </a:solidFill>
                <a:latin typeface="Arial"/>
              </a:rPr>
              <a:t> describes the measured progress toward the adjusted call frequency. These differences require the control response to depend on feedback strength as well as frequency. A sign-only rule, insensitive to audibility, cannot account for the observed response speeds.</a:t>
            </a:r>
          </a:p>
        </p:txBody>
      </p:sp>
      <p:pic>
        <p:nvPicPr>
          <p:cNvPr id="4" name="Picture 3" descr="metzner02_fig3b.png"/>
          <p:cNvPicPr>
            <a:picLocks noChangeAspect="1"/>
          </p:cNvPicPr>
          <p:nvPr/>
        </p:nvPicPr>
        <p:blipFill>
          <a:blip r:embed="rId2"/>
          <a:stretch>
            <a:fillRect/>
          </a:stretch>
        </p:blipFill>
        <p:spPr>
          <a:xfrm>
            <a:off x="6504127" y="1280160"/>
            <a:ext cx="5120640" cy="3935639"/>
          </a:xfrm>
          <a:prstGeom prst="rect">
            <a:avLst/>
          </a:prstGeom>
        </p:spPr>
      </p:pic>
      <p:sp>
        <p:nvSpPr>
          <p:cNvPr id="5" name="Figure caption"/>
          <p:cNvSpPr txBox="1"/>
          <p:nvPr/>
        </p:nvSpPr>
        <p:spPr>
          <a:xfrm>
            <a:off x="6504127" y="53072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3(B). Call-frequency recovery under strong and attenuated feedback, in seconds.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Vocal correction is measured at the acoustic output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7343C"/>
                </a:solidFill>
                <a:latin typeface="Arial"/>
              </a:rPr>
              <a:t>An auditory–vocal feedback experiment measures a sensory intervention and a change in emitted sound. Metzner and colleagues shifted echo frequency and varied playback intensity in stationary horseshoe bats. The acoustic output changed even without flight, establishing a feedback contribution to call-frequency control.</a:t>
            </a:r>
          </a:p>
          <a:p>
            <a:pPr algn="l">
              <a:lnSpc>
                <a:spcPct val="108000"/>
              </a:lnSpc>
              <a:spcAft>
                <a:spcPts val="900"/>
              </a:spcAft>
            </a:pPr>
            <a:r>
              <a:rPr sz="1500" b="0" i="0">
                <a:solidFill>
                  <a:srgbClr val="27343C"/>
                </a:solidFill>
                <a:latin typeface="Arial"/>
              </a:rPr>
              <a:t>At comparable levels above hearing threshold, higher-frequency feedback lowered subsequent emissions and lower-frequency feedback raised them. Correction became faster as echoes became more audible. These measurements link an auditory discrepancy to a vocal adjustment but leave the intervening neural and muscular steps unresolved.</a:t>
            </a:r>
          </a:p>
          <a:p>
            <a:pPr algn="l">
              <a:lnSpc>
                <a:spcPct val="108000"/>
              </a:lnSpc>
              <a:spcAft>
                <a:spcPts val="900"/>
              </a:spcAft>
            </a:pPr>
            <a:r>
              <a:rPr sz="1500" b="0" i="0">
                <a:solidFill>
                  <a:srgbClr val="27343C"/>
                </a:solidFill>
                <a:latin typeface="Arial"/>
              </a:rPr>
              <a:t>The experiment did not image the vocal apparatus, record its motor neurons or isolate a muscle-specific mechanism. Its established endpoint is a change in CF emission, measured in frequency and over time. A precise acoustic correction should therefore not be mistaken for a complete anatomical account of the feedback circuit.</a:t>
            </a:r>
          </a:p>
        </p:txBody>
      </p:sp>
      <p:pic>
        <p:nvPicPr>
          <p:cNvPr id="4" name="Picture 3" descr="metzner02_fig3b.png"/>
          <p:cNvPicPr>
            <a:picLocks noChangeAspect="1"/>
          </p:cNvPicPr>
          <p:nvPr/>
        </p:nvPicPr>
        <p:blipFill>
          <a:blip r:embed="rId2"/>
          <a:stretch>
            <a:fillRect/>
          </a:stretch>
        </p:blipFill>
        <p:spPr>
          <a:xfrm>
            <a:off x="6504127" y="1280160"/>
            <a:ext cx="5120640" cy="3935639"/>
          </a:xfrm>
          <a:prstGeom prst="rect">
            <a:avLst/>
          </a:prstGeom>
        </p:spPr>
      </p:pic>
      <p:sp>
        <p:nvSpPr>
          <p:cNvPr id="5" name="Figure caption"/>
          <p:cNvSpPr txBox="1"/>
          <p:nvPr/>
        </p:nvSpPr>
        <p:spPr>
          <a:xfrm>
            <a:off x="6504127" y="53072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3(B). Call-frequency recovery under strong and attenuated feedback, in seconds.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Cochlear recordings separate receptor and neural signals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The </a:t>
            </a:r>
            <a:r>
              <a:rPr sz="1600" b="1" i="0">
                <a:solidFill>
                  <a:srgbClr val="294858"/>
                </a:solidFill>
                <a:latin typeface="Arial"/>
              </a:rPr>
              <a:t>cochlea</a:t>
            </a:r>
            <a:r>
              <a:rPr sz="1600" b="0" i="0">
                <a:solidFill>
                  <a:srgbClr val="27343C"/>
                </a:solidFill>
                <a:latin typeface="Arial"/>
              </a:rPr>
              <a:t> is the inner-ear structure that converts sound into receptor activity. Suga and colleagues recorded </a:t>
            </a:r>
            <a:r>
              <a:rPr sz="1600" b="1" i="0">
                <a:solidFill>
                  <a:srgbClr val="294858"/>
                </a:solidFill>
                <a:latin typeface="Arial"/>
              </a:rPr>
              <a:t>cochlear microphonics</a:t>
            </a:r>
            <a:r>
              <a:rPr sz="1600" b="0" i="0">
                <a:solidFill>
                  <a:srgbClr val="27343C"/>
                </a:solidFill>
                <a:latin typeface="Arial"/>
              </a:rPr>
              <a:t>, or CM, electrical responses related to acoustic stimulation of the cochlea, using an electrode at the round window.</a:t>
            </a:r>
          </a:p>
          <a:p>
            <a:pPr algn="l">
              <a:lnSpc>
                <a:spcPct val="108000"/>
              </a:lnSpc>
              <a:spcAft>
                <a:spcPts val="960"/>
              </a:spcAft>
            </a:pPr>
            <a:r>
              <a:rPr sz="1600" b="0" i="0">
                <a:solidFill>
                  <a:srgbClr val="27343C"/>
                </a:solidFill>
                <a:latin typeface="Arial"/>
              </a:rPr>
              <a:t>They also recorded the </a:t>
            </a:r>
            <a:r>
              <a:rPr sz="1600" b="1" i="0">
                <a:solidFill>
                  <a:srgbClr val="294858"/>
                </a:solidFill>
                <a:latin typeface="Arial"/>
              </a:rPr>
              <a:t>N1 response</a:t>
            </a:r>
            <a:r>
              <a:rPr sz="1600" b="0" i="0">
                <a:solidFill>
                  <a:srgbClr val="27343C"/>
                </a:solidFill>
                <a:latin typeface="Arial"/>
              </a:rPr>
              <a:t>, summed activity of primary auditory neurons. CM and N1 therefore sampled different stages of peripheral processing: receptor-related activity and neural discharge. Tone bursts allowed the researchers to compare responses during sound and at its onset and cessation.</a:t>
            </a:r>
          </a:p>
          <a:p>
            <a:pPr algn="l">
              <a:lnSpc>
                <a:spcPct val="108000"/>
              </a:lnSpc>
              <a:spcAft>
                <a:spcPts val="960"/>
              </a:spcAft>
            </a:pPr>
            <a:r>
              <a:rPr sz="1600" b="0" i="0">
                <a:solidFill>
                  <a:srgbClr val="27343C"/>
                </a:solidFill>
                <a:latin typeface="Arial"/>
              </a:rPr>
              <a:t>The paper’s short CM stimuli lasted 4 ms, with rapid rise and decay. Stimulus frequency and sound pressure were controlled at the ear. These recordings test whether narrow frequency selectivity and offset responses already arise peripherally, before a cortical interpretation of echo information.</a:t>
            </a:r>
          </a:p>
        </p:txBody>
      </p:sp>
      <p:pic>
        <p:nvPicPr>
          <p:cNvPr id="4" name="Picture 3" descr="suga75_fig1.png"/>
          <p:cNvPicPr>
            <a:picLocks noChangeAspect="1"/>
          </p:cNvPicPr>
          <p:nvPr/>
        </p:nvPicPr>
        <p:blipFill>
          <a:blip r:embed="rId2"/>
          <a:stretch>
            <a:fillRect/>
          </a:stretch>
        </p:blipFill>
        <p:spPr>
          <a:xfrm>
            <a:off x="6321247" y="1280160"/>
            <a:ext cx="3291840" cy="3268860"/>
          </a:xfrm>
          <a:prstGeom prst="rect">
            <a:avLst/>
          </a:prstGeom>
        </p:spPr>
      </p:pic>
      <p:sp>
        <p:nvSpPr>
          <p:cNvPr id="5" name="Figure caption"/>
          <p:cNvSpPr txBox="1"/>
          <p:nvPr/>
        </p:nvSpPr>
        <p:spPr>
          <a:xfrm>
            <a:off x="6321247" y="4640460"/>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1(A–B). Round-window cochlear and neural responses to calibrated tone bursts.</a:t>
            </a:r>
          </a:p>
        </p:txBody>
      </p:sp>
      <p:pic>
        <p:nvPicPr>
          <p:cNvPr id="6" name="Picture 5" descr="a1de.png"/>
          <p:cNvPicPr>
            <a:picLocks noChangeAspect="1"/>
          </p:cNvPicPr>
          <p:nvPr/>
        </p:nvPicPr>
        <p:blipFill>
          <a:blip r:embed="rId3"/>
          <a:stretch>
            <a:fillRect/>
          </a:stretch>
        </p:blipFill>
        <p:spPr>
          <a:xfrm>
            <a:off x="9795967" y="2148840"/>
            <a:ext cx="1828799" cy="679938"/>
          </a:xfrm>
          <a:prstGeom prst="rect">
            <a:avLst/>
          </a:prstGeom>
        </p:spPr>
      </p:pic>
      <p:sp>
        <p:nvSpPr>
          <p:cNvPr id="7" name="Figure caption"/>
          <p:cNvSpPr txBox="1"/>
          <p:nvPr/>
        </p:nvSpPr>
        <p:spPr>
          <a:xfrm>
            <a:off x="9795967" y="290193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Wang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Cochlear anatomy links vibration to neural output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27343C"/>
                </a:solidFill>
                <a:latin typeface="Arial"/>
              </a:rPr>
              <a:t>The </a:t>
            </a:r>
            <a:r>
              <a:rPr sz="1400" b="1" i="0">
                <a:solidFill>
                  <a:srgbClr val="294858"/>
                </a:solidFill>
                <a:latin typeface="Arial"/>
              </a:rPr>
              <a:t>cochlea</a:t>
            </a:r>
            <a:r>
              <a:rPr sz="1400" b="0" i="0">
                <a:solidFill>
                  <a:srgbClr val="27343C"/>
                </a:solidFill>
                <a:latin typeface="Arial"/>
              </a:rPr>
              <a:t> is the coiled inner-ear structure that converts acoustic vibration into sensory activity. Wang and colleagues combined single-nucleus sequencing with hematoxylin-and-eosin tissue staining in the CF bat </a:t>
            </a:r>
            <a:r>
              <a:rPr sz="1400" b="0" i="1">
                <a:solidFill>
                  <a:srgbClr val="27343C"/>
                </a:solidFill>
                <a:latin typeface="Arial"/>
              </a:rPr>
              <a:t>Rhinolophus ferrumequinum</a:t>
            </a:r>
            <a:r>
              <a:rPr sz="1400" b="0" i="0">
                <a:solidFill>
                  <a:srgbClr val="27343C"/>
                </a:solidFill>
                <a:latin typeface="Arial"/>
              </a:rPr>
              <a:t> and the FM bat </a:t>
            </a:r>
            <a:r>
              <a:rPr sz="1400" b="0" i="1">
                <a:solidFill>
                  <a:srgbClr val="27343C"/>
                </a:solidFill>
                <a:latin typeface="Arial"/>
              </a:rPr>
              <a:t>Myotis pilosus</a:t>
            </a:r>
            <a:r>
              <a:rPr sz="1400" b="0" i="0">
                <a:solidFill>
                  <a:srgbClr val="27343C"/>
                </a:solidFill>
                <a:latin typeface="Arial"/>
              </a:rPr>
              <a:t>. Their published sections locate sensory tissue, neural tissue and the cochlear lateral wall.</a:t>
            </a:r>
          </a:p>
          <a:p>
            <a:pPr algn="l">
              <a:lnSpc>
                <a:spcPct val="108000"/>
              </a:lnSpc>
              <a:spcAft>
                <a:spcPts val="840"/>
              </a:spcAft>
            </a:pPr>
            <a:r>
              <a:rPr sz="1400" b="0" i="0">
                <a:solidFill>
                  <a:srgbClr val="27343C"/>
                </a:solidFill>
                <a:latin typeface="Arial"/>
              </a:rPr>
              <a:t>The </a:t>
            </a:r>
            <a:r>
              <a:rPr sz="1400" b="1" i="0">
                <a:solidFill>
                  <a:srgbClr val="294858"/>
                </a:solidFill>
                <a:latin typeface="Arial"/>
              </a:rPr>
              <a:t>neurosensory epithelium</a:t>
            </a:r>
            <a:r>
              <a:rPr sz="1400" b="0" i="0">
                <a:solidFill>
                  <a:srgbClr val="27343C"/>
                </a:solidFill>
                <a:latin typeface="Arial"/>
              </a:rPr>
              <a:t> contains hair cells and supporting cells. Hair cells provide the sensory interface; spiral ganglion neurons carry cochlear information toward the brainstem. The atlas resolved 14 cell types in the horseshoe bat and 13 in the FM bat, distinguishing several cooperating tissue compartments rather than treating the cochlea as one uniform population.</a:t>
            </a:r>
          </a:p>
          <a:p>
            <a:pPr algn="l">
              <a:lnSpc>
                <a:spcPct val="108000"/>
              </a:lnSpc>
              <a:spcAft>
                <a:spcPts val="840"/>
              </a:spcAft>
            </a:pPr>
            <a:r>
              <a:rPr sz="1400" b="0" i="0">
                <a:solidFill>
                  <a:srgbClr val="27343C"/>
                </a:solidFill>
                <a:latin typeface="Arial"/>
              </a:rPr>
              <a:t>Anatomical localization and molecular classification describe where candidate mechanisms reside. Neither tissue staining nor RNA sequencing measured Doppler compensation during flight. Their contribution is a cellular framework for interpreting the peripheral specialization established by acoustic and electrophysiological experiments.</a:t>
            </a:r>
          </a:p>
        </p:txBody>
      </p:sp>
      <p:pic>
        <p:nvPicPr>
          <p:cNvPr id="4" name="Picture 3" descr="a1de.png"/>
          <p:cNvPicPr>
            <a:picLocks noChangeAspect="1"/>
          </p:cNvPicPr>
          <p:nvPr/>
        </p:nvPicPr>
        <p:blipFill>
          <a:blip r:embed="rId2"/>
          <a:stretch>
            <a:fillRect/>
          </a:stretch>
        </p:blipFill>
        <p:spPr>
          <a:xfrm>
            <a:off x="6504127" y="1280160"/>
            <a:ext cx="5120640" cy="1903827"/>
          </a:xfrm>
          <a:prstGeom prst="rect">
            <a:avLst/>
          </a:prstGeom>
        </p:spPr>
      </p:pic>
      <p:sp>
        <p:nvSpPr>
          <p:cNvPr id="5" name="Figure caption"/>
          <p:cNvSpPr txBox="1"/>
          <p:nvPr/>
        </p:nvSpPr>
        <p:spPr>
          <a:xfrm>
            <a:off x="6504127" y="327542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Nuclear RNA identifies distinct cochlear cell populations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294858"/>
                </a:solidFill>
                <a:latin typeface="Arial"/>
              </a:rPr>
              <a:t>Single-nucleus RNA sequencing</a:t>
            </a:r>
            <a:r>
              <a:rPr sz="1500" b="0" i="0">
                <a:solidFill>
                  <a:srgbClr val="27343C"/>
                </a:solidFill>
                <a:latin typeface="Arial"/>
              </a:rPr>
              <a:t> measures RNA associated with individual cell nuclei. A </a:t>
            </a:r>
            <a:r>
              <a:rPr sz="1500" b="1" i="0">
                <a:solidFill>
                  <a:srgbClr val="294858"/>
                </a:solidFill>
                <a:latin typeface="Arial"/>
              </a:rPr>
              <a:t>marker gene</a:t>
            </a:r>
            <a:r>
              <a:rPr sz="1500" b="0" i="0">
                <a:solidFill>
                  <a:srgbClr val="27343C"/>
                </a:solidFill>
                <a:latin typeface="Arial"/>
              </a:rPr>
              <a:t> helps identify a cell population by its expression pattern. Wang and colleagues grouped cochlear nuclei using expression profiles and used more than 200 marker genes to support the identification of neural, sensory, immune and structural populations.</a:t>
            </a:r>
          </a:p>
          <a:p>
            <a:pPr algn="l">
              <a:lnSpc>
                <a:spcPct val="108000"/>
              </a:lnSpc>
              <a:spcAft>
                <a:spcPts val="900"/>
              </a:spcAft>
            </a:pPr>
            <a:r>
              <a:rPr sz="1500" b="0" i="0">
                <a:solidFill>
                  <a:srgbClr val="27343C"/>
                </a:solidFill>
                <a:latin typeface="Arial"/>
              </a:rPr>
              <a:t>Their species-specific analyses resolved 14 cell types in </a:t>
            </a:r>
            <a:r>
              <a:rPr sz="1500" b="0" i="1">
                <a:solidFill>
                  <a:srgbClr val="27343C"/>
                </a:solidFill>
                <a:latin typeface="Arial"/>
              </a:rPr>
              <a:t>Rhinolophus ferrumequinum</a:t>
            </a:r>
            <a:r>
              <a:rPr sz="1500" b="0" i="0">
                <a:solidFill>
                  <a:srgbClr val="27343C"/>
                </a:solidFill>
                <a:latin typeface="Arial"/>
              </a:rPr>
              <a:t> and 13 in </a:t>
            </a:r>
            <a:r>
              <a:rPr sz="1500" b="0" i="1">
                <a:solidFill>
                  <a:srgbClr val="27343C"/>
                </a:solidFill>
                <a:latin typeface="Arial"/>
              </a:rPr>
              <a:t>Myotis pilosus</a:t>
            </a:r>
            <a:r>
              <a:rPr sz="1500" b="0" i="0">
                <a:solidFill>
                  <a:srgbClr val="27343C"/>
                </a:solidFill>
                <a:latin typeface="Arial"/>
              </a:rPr>
              <a:t>. Neural populations included two spiral-ganglion categories and glial cells. Hair cells and supporting cells occupied the sensory compartment, while marginal and basal cells contributed to lateral-wall categories.</a:t>
            </a:r>
          </a:p>
          <a:p>
            <a:pPr algn="l">
              <a:lnSpc>
                <a:spcPct val="108000"/>
              </a:lnSpc>
              <a:spcAft>
                <a:spcPts val="900"/>
              </a:spcAft>
            </a:pPr>
            <a:r>
              <a:rPr sz="1500" b="0" i="0">
                <a:solidFill>
                  <a:srgbClr val="27343C"/>
                </a:solidFill>
                <a:latin typeface="Arial"/>
              </a:rPr>
              <a:t>The plotted expression clusters are molecular groupings, not a physical map of cochlear position or a measured frequency-tuning map. A cell’s RNA profile can identify candidate functions, but does not establish its firing threshold, preferred echo frequency or causal contribution to vocal feedback.</a:t>
            </a:r>
          </a:p>
        </p:txBody>
      </p:sp>
      <p:pic>
        <p:nvPicPr>
          <p:cNvPr id="4" name="Picture 3" descr="a1bc.png"/>
          <p:cNvPicPr>
            <a:picLocks noChangeAspect="1"/>
          </p:cNvPicPr>
          <p:nvPr/>
        </p:nvPicPr>
        <p:blipFill>
          <a:blip r:embed="rId2"/>
          <a:stretch>
            <a:fillRect/>
          </a:stretch>
        </p:blipFill>
        <p:spPr>
          <a:xfrm>
            <a:off x="6913931" y="1280160"/>
            <a:ext cx="430103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1(B–C). Cell clusters and original marker-expression matrix.</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Spiral ganglion neurons carry peripheral auditory signals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294858"/>
                </a:solidFill>
                <a:latin typeface="Arial"/>
              </a:rPr>
              <a:t>Spiral ganglion neurons</a:t>
            </a:r>
            <a:r>
              <a:rPr sz="1500" b="0" i="0">
                <a:solidFill>
                  <a:srgbClr val="27343C"/>
                </a:solidFill>
                <a:latin typeface="Arial"/>
              </a:rPr>
              <a:t>, or SGNs, are cochlear sensory neurons that convey auditory information toward the brainstem. Wang and colleagues distinguished SGN1 and SGN2 expression categories in both bats. These labels refer to molecular populations in this analysis rather than the onset and offset response categories measured by Suga.</a:t>
            </a:r>
          </a:p>
          <a:p>
            <a:pPr algn="l">
              <a:lnSpc>
                <a:spcPct val="108000"/>
              </a:lnSpc>
              <a:spcAft>
                <a:spcPts val="900"/>
              </a:spcAft>
            </a:pPr>
            <a:r>
              <a:rPr sz="1500" b="0" i="0">
                <a:solidFill>
                  <a:srgbClr val="27343C"/>
                </a:solidFill>
                <a:latin typeface="Arial"/>
              </a:rPr>
              <a:t>The neural grouping was supported by expression of genes including CELF4 and GABBR2. Glial cells were identified using markers including MBP and PLP1. The same analysis separated hair cells and supporting cells from neural populations, allowing species differences to be assigned to particular tissue compartments.</a:t>
            </a:r>
          </a:p>
          <a:p>
            <a:pPr algn="l">
              <a:lnSpc>
                <a:spcPct val="108000"/>
              </a:lnSpc>
              <a:spcAft>
                <a:spcPts val="900"/>
              </a:spcAft>
            </a:pPr>
            <a:r>
              <a:rPr sz="1500" b="0" i="0">
                <a:solidFill>
                  <a:srgbClr val="27343C"/>
                </a:solidFill>
                <a:latin typeface="Arial"/>
              </a:rPr>
              <a:t>The atlas found two principal SGN categories, but did not record individual SGN tuning curves. A proposed association between a molecular category and narrowly tuned CF processing therefore remains an interpretation. RNA identity must be linked to recordings before a specific cell population can be assigned an established echo-frequency computation.</a:t>
            </a:r>
          </a:p>
        </p:txBody>
      </p:sp>
      <p:pic>
        <p:nvPicPr>
          <p:cNvPr id="4" name="Picture 3" descr="a2ab.png"/>
          <p:cNvPicPr>
            <a:picLocks noChangeAspect="1"/>
          </p:cNvPicPr>
          <p:nvPr/>
        </p:nvPicPr>
        <p:blipFill>
          <a:blip r:embed="rId2"/>
          <a:stretch>
            <a:fillRect/>
          </a:stretch>
        </p:blipFill>
        <p:spPr>
          <a:xfrm>
            <a:off x="6504127" y="1280160"/>
            <a:ext cx="5120640" cy="2333371"/>
          </a:xfrm>
          <a:prstGeom prst="rect">
            <a:avLst/>
          </a:prstGeom>
        </p:spPr>
      </p:pic>
      <p:sp>
        <p:nvSpPr>
          <p:cNvPr id="5" name="Figure caption"/>
          <p:cNvSpPr txBox="1"/>
          <p:nvPr/>
        </p:nvSpPr>
        <p:spPr>
          <a:xfrm>
            <a:off x="6504127" y="370497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2(A–B). Classified neural and sensory populations.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Hair-cell markers locate candidate channel mechanisms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27343C"/>
                </a:solidFill>
                <a:latin typeface="Arial"/>
              </a:rPr>
              <a:t>A </a:t>
            </a:r>
            <a:r>
              <a:rPr sz="1400" b="1" i="0">
                <a:solidFill>
                  <a:srgbClr val="294858"/>
                </a:solidFill>
                <a:latin typeface="Arial"/>
              </a:rPr>
              <a:t>hair cell</a:t>
            </a:r>
            <a:r>
              <a:rPr sz="1400" b="0" i="0">
                <a:solidFill>
                  <a:srgbClr val="27343C"/>
                </a:solidFill>
                <a:latin typeface="Arial"/>
              </a:rPr>
              <a:t> is a sensory epithelial cell whose mechanically sensitive structures respond to displacement. In the atlas, expression of CDC14A, XIRP2, Kcnq4 and LBH helped identify hair-cell populations. </a:t>
            </a:r>
            <a:r>
              <a:rPr sz="1400" b="1" i="0">
                <a:solidFill>
                  <a:srgbClr val="294858"/>
                </a:solidFill>
                <a:latin typeface="Arial"/>
              </a:rPr>
              <a:t>KCNQ4</a:t>
            </a:r>
            <a:r>
              <a:rPr sz="1400" b="0" i="0">
                <a:solidFill>
                  <a:srgbClr val="27343C"/>
                </a:solidFill>
                <a:latin typeface="Arial"/>
              </a:rPr>
              <a:t> names a potassium-channel gene; detecting its RNA identifies a candidate cellular mechanism rather than measuring a potassium current.</a:t>
            </a:r>
          </a:p>
          <a:p>
            <a:pPr algn="l">
              <a:lnSpc>
                <a:spcPct val="108000"/>
              </a:lnSpc>
              <a:spcAft>
                <a:spcPts val="840"/>
              </a:spcAft>
            </a:pPr>
            <a:r>
              <a:rPr sz="1400" b="0" i="0">
                <a:solidFill>
                  <a:srgbClr val="27343C"/>
                </a:solidFill>
                <a:latin typeface="Arial"/>
              </a:rPr>
              <a:t>Wang and colleagues separated sensory epithelial populations from spiral ganglion neurons and cochlear lateral-wall cells. Their 14-category horseshoe-bat atlas therefore places a channel-associated marker in a tissue context. Supporting-cell markers included SLC1A3, SPARCL1 and ETV4, emphasizing that sensory transduction depends on a multicellular environment.</a:t>
            </a:r>
          </a:p>
          <a:p>
            <a:pPr algn="l">
              <a:lnSpc>
                <a:spcPct val="108000"/>
              </a:lnSpc>
              <a:spcAft>
                <a:spcPts val="840"/>
              </a:spcAft>
            </a:pPr>
            <a:r>
              <a:rPr sz="1400" b="0" i="0">
                <a:solidFill>
                  <a:srgbClr val="27343C"/>
                </a:solidFill>
                <a:latin typeface="Arial"/>
              </a:rPr>
              <a:t>The study did not selectively block KCNQ4, measure channel gating or test compensation after a channel intervention. It cannot establish that KCNQ4 alone creates the auditory fovea. The molecular evidence complements peripheral recordings while preserving the distinction between expressed genes, functional membrane currents and behavior.</a:t>
            </a:r>
          </a:p>
        </p:txBody>
      </p:sp>
      <p:pic>
        <p:nvPicPr>
          <p:cNvPr id="4" name="Picture 3" descr="a2ab.png"/>
          <p:cNvPicPr>
            <a:picLocks noChangeAspect="1"/>
          </p:cNvPicPr>
          <p:nvPr/>
        </p:nvPicPr>
        <p:blipFill>
          <a:blip r:embed="rId2"/>
          <a:stretch>
            <a:fillRect/>
          </a:stretch>
        </p:blipFill>
        <p:spPr>
          <a:xfrm>
            <a:off x="6504127" y="1280160"/>
            <a:ext cx="5120640" cy="2333371"/>
          </a:xfrm>
          <a:prstGeom prst="rect">
            <a:avLst/>
          </a:prstGeom>
        </p:spPr>
      </p:pic>
      <p:sp>
        <p:nvSpPr>
          <p:cNvPr id="5" name="Figure caption"/>
          <p:cNvSpPr txBox="1"/>
          <p:nvPr/>
        </p:nvSpPr>
        <p:spPr>
          <a:xfrm>
            <a:off x="6504127" y="370497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2(A–B). Sensory and supporting-cell populations.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CF-associated expression is concentrated in neural cells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294858"/>
                </a:solidFill>
                <a:latin typeface="Arial"/>
              </a:rPr>
              <a:t>Differential expression</a:t>
            </a:r>
            <a:r>
              <a:rPr sz="1500" b="0" i="0">
                <a:solidFill>
                  <a:srgbClr val="27343C"/>
                </a:solidFill>
                <a:latin typeface="Arial"/>
              </a:rPr>
              <a:t> describes a difference in measured gene abundance between comparison groups. Wang and colleagues mapped previously identified CF-associated gene sets onto their cochlear cell atlas. The mapped nervous-system-related genes were concentrated in neural cells, particularly the two spiral-ganglion categories.</a:t>
            </a:r>
          </a:p>
          <a:p>
            <a:pPr algn="l">
              <a:lnSpc>
                <a:spcPct val="108000"/>
              </a:lnSpc>
              <a:spcAft>
                <a:spcPts val="900"/>
              </a:spcAft>
            </a:pPr>
            <a:r>
              <a:rPr sz="1500" b="0" i="0">
                <a:solidFill>
                  <a:srgbClr val="27343C"/>
                </a:solidFill>
                <a:latin typeface="Arial"/>
              </a:rPr>
              <a:t>The analysis localized a broader set of 1365 upregulated genes across neural cells, sensory epithelium and lateral-wall cells. It combined whole-tissue expression comparisons with single-nucleus localization, separating a cochlear-wide molecular signal into candidate cellular sources. These are expression measurements rather than recordings of acoustic responses.</a:t>
            </a:r>
          </a:p>
          <a:p>
            <a:pPr algn="l">
              <a:lnSpc>
                <a:spcPct val="108000"/>
              </a:lnSpc>
              <a:spcAft>
                <a:spcPts val="900"/>
              </a:spcAft>
            </a:pPr>
            <a:r>
              <a:rPr sz="1500" b="0" i="0">
                <a:solidFill>
                  <a:srgbClr val="27343C"/>
                </a:solidFill>
                <a:latin typeface="Arial"/>
              </a:rPr>
              <a:t>Enrichment in SGN1 and SGN2 supports focused hypotheses about peripheral neural specialization. It does not establish that every mapped gene is necessary for CF hearing, or that its expression changes during compensation. Species differences, tissue preparation and cell classification remain relevant when connecting molecular patterns to behavior.</a:t>
            </a:r>
          </a:p>
        </p:txBody>
      </p:sp>
      <p:pic>
        <p:nvPicPr>
          <p:cNvPr id="4" name="Picture 3" descr="a3cd.png"/>
          <p:cNvPicPr>
            <a:picLocks noChangeAspect="1"/>
          </p:cNvPicPr>
          <p:nvPr/>
        </p:nvPicPr>
        <p:blipFill>
          <a:blip r:embed="rId2"/>
          <a:stretch>
            <a:fillRect/>
          </a:stretch>
        </p:blipFill>
        <p:spPr>
          <a:xfrm>
            <a:off x="6504127" y="1280160"/>
            <a:ext cx="5120640" cy="2585602"/>
          </a:xfrm>
          <a:prstGeom prst="rect">
            <a:avLst/>
          </a:prstGeom>
        </p:spPr>
      </p:pic>
      <p:sp>
        <p:nvSpPr>
          <p:cNvPr id="5" name="Figure caption"/>
          <p:cNvSpPr txBox="1"/>
          <p:nvPr/>
        </p:nvSpPr>
        <p:spPr>
          <a:xfrm>
            <a:off x="6504127" y="39572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3(B–D). CF-associated genes across cell classes.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Calcium pathways are candidate components of CF tuning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294858"/>
                </a:solidFill>
                <a:latin typeface="Arial"/>
              </a:rPr>
              <a:t>Pathway enrichment</a:t>
            </a:r>
            <a:r>
              <a:rPr sz="1400" b="0" i="0">
                <a:solidFill>
                  <a:srgbClr val="27343C"/>
                </a:solidFill>
                <a:latin typeface="Arial"/>
              </a:rPr>
              <a:t> asks whether a measured gene set contains many genes assigned to a biological process. In Wang and colleagues’ spiral-ganglion analysis, calcium signaling occupied a central position in the horseshoe-bat pathway network. The FM-bat comparison instead emphasized a glutamatergic-synapse pathway among its identified neural categories.</a:t>
            </a:r>
          </a:p>
          <a:p>
            <a:pPr algn="l">
              <a:lnSpc>
                <a:spcPct val="108000"/>
              </a:lnSpc>
              <a:spcAft>
                <a:spcPts val="840"/>
              </a:spcAft>
            </a:pPr>
            <a:r>
              <a:rPr sz="1400" b="1" i="0">
                <a:solidFill>
                  <a:srgbClr val="294858"/>
                </a:solidFill>
                <a:latin typeface="Arial"/>
              </a:rPr>
              <a:t>Calcium signaling</a:t>
            </a:r>
            <a:r>
              <a:rPr sz="1400" b="0" i="0">
                <a:solidFill>
                  <a:srgbClr val="27343C"/>
                </a:solidFill>
                <a:latin typeface="Arial"/>
              </a:rPr>
              <a:t> refers to cellular processes regulated by calcium availability and calcium-sensitive proteins. A </a:t>
            </a:r>
            <a:r>
              <a:rPr sz="1400" b="1" i="0">
                <a:solidFill>
                  <a:srgbClr val="294858"/>
                </a:solidFill>
                <a:latin typeface="Arial"/>
              </a:rPr>
              <a:t>glutamatergic synapse</a:t>
            </a:r>
            <a:r>
              <a:rPr sz="1400" b="0" i="0">
                <a:solidFill>
                  <a:srgbClr val="27343C"/>
                </a:solidFill>
                <a:latin typeface="Arial"/>
              </a:rPr>
              <a:t> uses glutamate-associated signaling between cells. The networks were constructed from gene-expression categories; their connections indicate relationships among annotated pathways, not demonstrated synaptic wiring.</a:t>
            </a:r>
          </a:p>
          <a:p>
            <a:pPr algn="l">
              <a:lnSpc>
                <a:spcPct val="108000"/>
              </a:lnSpc>
              <a:spcAft>
                <a:spcPts val="840"/>
              </a:spcAft>
            </a:pPr>
            <a:r>
              <a:rPr sz="1400" b="0" i="0">
                <a:solidFill>
                  <a:srgbClr val="27343C"/>
                </a:solidFill>
                <a:latin typeface="Arial"/>
              </a:rPr>
              <a:t>The difference provides a molecular candidate for investigating CF-associated auditory specialization. No calcium concentration, channel current or transmitter-release rate was measured in this experiment. A pathway assignment therefore cannot be converted into an established sequence in which one channel changes SGN firing and thereby produces Doppler-shift compensation.</a:t>
            </a:r>
          </a:p>
        </p:txBody>
      </p:sp>
      <p:pic>
        <p:nvPicPr>
          <p:cNvPr id="4" name="Picture 3" descr="a3ef.png"/>
          <p:cNvPicPr>
            <a:picLocks noChangeAspect="1"/>
          </p:cNvPicPr>
          <p:nvPr/>
        </p:nvPicPr>
        <p:blipFill>
          <a:blip r:embed="rId2"/>
          <a:stretch>
            <a:fillRect/>
          </a:stretch>
        </p:blipFill>
        <p:spPr>
          <a:xfrm>
            <a:off x="6504127" y="1280160"/>
            <a:ext cx="5120640" cy="2874348"/>
          </a:xfrm>
          <a:prstGeom prst="rect">
            <a:avLst/>
          </a:prstGeom>
        </p:spPr>
      </p:pic>
      <p:sp>
        <p:nvSpPr>
          <p:cNvPr id="5" name="Figure caption"/>
          <p:cNvSpPr txBox="1"/>
          <p:nvPr/>
        </p:nvSpPr>
        <p:spPr>
          <a:xfrm>
            <a:off x="6504127" y="424594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3(E–F). Published pathway networks from cochlear neural cells.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Orthologous genes permit a controlled species comparison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294858"/>
                </a:solidFill>
                <a:latin typeface="Arial"/>
              </a:rPr>
              <a:t>Orthologous genes</a:t>
            </a:r>
            <a:r>
              <a:rPr sz="1400" b="0" i="0">
                <a:solidFill>
                  <a:srgbClr val="27343C"/>
                </a:solidFill>
                <a:latin typeface="Arial"/>
              </a:rPr>
              <a:t> are corresponding genes in different species inherited from a common ancestral gene. Wang and colleagues used 8607 orthologous genes to construct a joint cochlear atlas for </a:t>
            </a:r>
            <a:r>
              <a:rPr sz="1400" b="0" i="1">
                <a:solidFill>
                  <a:srgbClr val="27343C"/>
                </a:solidFill>
                <a:latin typeface="Arial"/>
              </a:rPr>
              <a:t>Rhinolophus ferrumequinum</a:t>
            </a:r>
            <a:r>
              <a:rPr sz="1400" b="0" i="0">
                <a:solidFill>
                  <a:srgbClr val="27343C"/>
                </a:solidFill>
                <a:latin typeface="Arial"/>
              </a:rPr>
              <a:t> and </a:t>
            </a:r>
            <a:r>
              <a:rPr sz="1400" b="0" i="1">
                <a:solidFill>
                  <a:srgbClr val="27343C"/>
                </a:solidFill>
                <a:latin typeface="Arial"/>
              </a:rPr>
              <a:t>Myotis pilosus</a:t>
            </a:r>
            <a:r>
              <a:rPr sz="1400" b="0" i="0">
                <a:solidFill>
                  <a:srgbClr val="27343C"/>
                </a:solidFill>
                <a:latin typeface="Arial"/>
              </a:rPr>
              <a:t>. This provides a common comparison space rather than comparing unrelated species-specific marker lists.</a:t>
            </a:r>
          </a:p>
          <a:p>
            <a:pPr algn="l">
              <a:lnSpc>
                <a:spcPct val="108000"/>
              </a:lnSpc>
              <a:spcAft>
                <a:spcPts val="840"/>
              </a:spcAft>
            </a:pPr>
            <a:r>
              <a:rPr sz="1400" b="0" i="0">
                <a:solidFill>
                  <a:srgbClr val="27343C"/>
                </a:solidFill>
                <a:latin typeface="Arial"/>
              </a:rPr>
              <a:t>The joint analysis resolved 26 expression clusters and assigned familiar cochlear identities, including SGNs, glial cells, supporting cells and hair cells. Some clusters were dominated by one species, while others contained contributions from both. The separation preserves both shared cellular organization and species-associated expression differences.</a:t>
            </a:r>
          </a:p>
          <a:p>
            <a:pPr algn="l">
              <a:lnSpc>
                <a:spcPct val="108000"/>
              </a:lnSpc>
              <a:spcAft>
                <a:spcPts val="840"/>
              </a:spcAft>
            </a:pPr>
            <a:r>
              <a:rPr sz="1400" b="0" i="0">
                <a:solidFill>
                  <a:srgbClr val="27343C"/>
                </a:solidFill>
                <a:latin typeface="Arial"/>
              </a:rPr>
              <a:t>A shared gene framework improves comparability but does not isolate echolocation mode from every other species difference. These two species also differ in ancestry and physiology. A CF-associated expression pattern is therefore a candidate adaptation, requiring wider comparative sampling or direct manipulation before its contribution to hearing can be established.</a:t>
            </a:r>
          </a:p>
        </p:txBody>
      </p:sp>
      <p:pic>
        <p:nvPicPr>
          <p:cNvPr id="4" name="Picture 3" descr="a4ab.png"/>
          <p:cNvPicPr>
            <a:picLocks noChangeAspect="1"/>
          </p:cNvPicPr>
          <p:nvPr/>
        </p:nvPicPr>
        <p:blipFill>
          <a:blip r:embed="rId2"/>
          <a:stretch>
            <a:fillRect/>
          </a:stretch>
        </p:blipFill>
        <p:spPr>
          <a:xfrm>
            <a:off x="6504127" y="1280160"/>
            <a:ext cx="5120639" cy="1953779"/>
          </a:xfrm>
          <a:prstGeom prst="rect">
            <a:avLst/>
          </a:prstGeom>
        </p:spPr>
      </p:pic>
      <p:sp>
        <p:nvSpPr>
          <p:cNvPr id="5" name="Figure caption"/>
          <p:cNvSpPr txBox="1"/>
          <p:nvPr/>
        </p:nvSpPr>
        <p:spPr>
          <a:xfrm>
            <a:off x="6504127" y="33253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4(A–B). Joint cell atlas and species distribution.</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Neural expression categories differ between CF and FM bats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27343C"/>
                </a:solidFill>
                <a:latin typeface="Arial"/>
              </a:rPr>
              <a:t>Wang and colleagues compared corresponding cochlear cell types using their joint 26-cluster atlas. Spiral-ganglion populations shared neuronal expression features, while species-associated differences appeared within those broader identities. The distinction concerns the molecular organization of peripheral auditory cells rather than the existence of an entirely separate sensory organ.</a:t>
            </a:r>
          </a:p>
          <a:p>
            <a:pPr algn="l">
              <a:lnSpc>
                <a:spcPct val="108000"/>
              </a:lnSpc>
              <a:spcAft>
                <a:spcPts val="840"/>
              </a:spcAft>
            </a:pPr>
            <a:r>
              <a:rPr sz="1400" b="1" i="0">
                <a:solidFill>
                  <a:srgbClr val="294858"/>
                </a:solidFill>
                <a:latin typeface="Arial"/>
              </a:rPr>
              <a:t>Gene-expression distributions</a:t>
            </a:r>
            <a:r>
              <a:rPr sz="1400" b="0" i="0">
                <a:solidFill>
                  <a:srgbClr val="27343C"/>
                </a:solidFill>
                <a:latin typeface="Arial"/>
              </a:rPr>
              <a:t> describe how RNA abundance varies across a cellular population. The published comparisons preserved cell-type identity while evaluating expression across the CF and FM species. This makes it possible to ask whether a neural category is conserved and whether its molecular profile differs between echolocation strategies.</a:t>
            </a:r>
          </a:p>
          <a:p>
            <a:pPr algn="l">
              <a:lnSpc>
                <a:spcPct val="108000"/>
              </a:lnSpc>
              <a:spcAft>
                <a:spcPts val="840"/>
              </a:spcAft>
            </a:pPr>
            <a:r>
              <a:rPr sz="1400" b="0" i="0">
                <a:solidFill>
                  <a:srgbClr val="27343C"/>
                </a:solidFill>
                <a:latin typeface="Arial"/>
              </a:rPr>
              <a:t>Molecular heterogeneity does not directly measure acoustic bandwidth. A relatively uniform RNA population could still contain physiologically diverse neurons, and similar RNA profiles need not guarantee identical tuning. The study supports targeted electrophysiological tests rather than assigning a measured kilohertz range to an expression cluster.</a:t>
            </a:r>
          </a:p>
        </p:txBody>
      </p:sp>
      <p:pic>
        <p:nvPicPr>
          <p:cNvPr id="4" name="Picture 3" descr="a4c.png"/>
          <p:cNvPicPr>
            <a:picLocks noChangeAspect="1"/>
          </p:cNvPicPr>
          <p:nvPr/>
        </p:nvPicPr>
        <p:blipFill>
          <a:blip r:embed="rId2"/>
          <a:stretch>
            <a:fillRect/>
          </a:stretch>
        </p:blipFill>
        <p:spPr>
          <a:xfrm>
            <a:off x="6504127" y="1280160"/>
            <a:ext cx="5120640" cy="3406207"/>
          </a:xfrm>
          <a:prstGeom prst="rect">
            <a:avLst/>
          </a:prstGeom>
        </p:spPr>
      </p:pic>
      <p:sp>
        <p:nvSpPr>
          <p:cNvPr id="5" name="Figure caption"/>
          <p:cNvSpPr txBox="1"/>
          <p:nvPr/>
        </p:nvSpPr>
        <p:spPr>
          <a:xfrm>
            <a:off x="6504127" y="477780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4(C). Cross-species expression distributions in identified cell types.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GABA receptor pathways suggest testable inhibitory roles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294858"/>
                </a:solidFill>
                <a:latin typeface="Arial"/>
              </a:rPr>
              <a:t>GABA</a:t>
            </a:r>
            <a:r>
              <a:rPr sz="1400" b="0" i="0">
                <a:solidFill>
                  <a:srgbClr val="27343C"/>
                </a:solidFill>
                <a:latin typeface="Arial"/>
              </a:rPr>
              <a:t> is an inhibitory transmitter in many neural systems. Wang and colleagues identified GABAergic-synapse pathway enrichment in a horseshoe-bat SGN1 category, alongside glutamatergic, dopaminergic pathways associated with the transmitter dopamine, and calcium-signaling pathways. Their analysis associated 233 highly expressed genes with this species-specific neuronal category.</a:t>
            </a:r>
          </a:p>
          <a:p>
            <a:pPr algn="l">
              <a:lnSpc>
                <a:spcPct val="108000"/>
              </a:lnSpc>
              <a:spcAft>
                <a:spcPts val="840"/>
              </a:spcAft>
            </a:pPr>
            <a:r>
              <a:rPr sz="1400" b="0" i="0">
                <a:solidFill>
                  <a:srgbClr val="27343C"/>
                </a:solidFill>
                <a:latin typeface="Arial"/>
              </a:rPr>
              <a:t>The pathway included GABA A and GABA B receptor annotations. These name distinct receptor classes through which GABA can influence cellular signaling. The atlas measured RNA, not receptor binding, synaptic inhibition or a response to a pharmacological blocker. Its two receptor annotations therefore identify candidates rather than a demonstrated inhibitory circuit.</a:t>
            </a:r>
          </a:p>
          <a:p>
            <a:pPr algn="l">
              <a:lnSpc>
                <a:spcPct val="108000"/>
              </a:lnSpc>
              <a:spcAft>
                <a:spcPts val="840"/>
              </a:spcAft>
            </a:pPr>
            <a:r>
              <a:rPr sz="1400" b="0" i="0">
                <a:solidFill>
                  <a:srgbClr val="27343C"/>
                </a:solidFill>
                <a:latin typeface="Arial"/>
              </a:rPr>
              <a:t>The authors proposed a connection to specialized CF processing and vocal compensation. That proposal does not establish that cochlear GABA receptors perform the auditory comparison controlling call frequency. A causal account requires receptor-specific interventions, neuronal measurements and a behavioral compensation assay in the same mechanistic chain.</a:t>
            </a:r>
          </a:p>
        </p:txBody>
      </p:sp>
      <p:pic>
        <p:nvPicPr>
          <p:cNvPr id="4" name="Picture 3" descr="a5cd.png"/>
          <p:cNvPicPr>
            <a:picLocks noChangeAspect="1"/>
          </p:cNvPicPr>
          <p:nvPr/>
        </p:nvPicPr>
        <p:blipFill>
          <a:blip r:embed="rId2"/>
          <a:stretch>
            <a:fillRect/>
          </a:stretch>
        </p:blipFill>
        <p:spPr>
          <a:xfrm>
            <a:off x="6504127" y="1280160"/>
            <a:ext cx="5120640" cy="2531778"/>
          </a:xfrm>
          <a:prstGeom prst="rect">
            <a:avLst/>
          </a:prstGeom>
        </p:spPr>
      </p:pic>
      <p:sp>
        <p:nvSpPr>
          <p:cNvPr id="5" name="Figure caption"/>
          <p:cNvSpPr txBox="1"/>
          <p:nvPr/>
        </p:nvSpPr>
        <p:spPr>
          <a:xfrm>
            <a:off x="6504127" y="390337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5(C–D). Original neuronal expression and pathway-enrichment panels.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Glial signaling is inferred from expression relationships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294858"/>
                </a:solidFill>
                <a:latin typeface="Arial"/>
              </a:rPr>
              <a:t>Glial cells</a:t>
            </a:r>
            <a:r>
              <a:rPr sz="1400" b="0" i="0">
                <a:solidFill>
                  <a:srgbClr val="27343C"/>
                </a:solidFill>
                <a:latin typeface="Arial"/>
              </a:rPr>
              <a:t> support and interact with neurons without being classified as the principal signal-carrying sensory neurons. Wang and colleagues localized PLP1 expression in their cochlear atlas and examined highly expressed genes within the glial category. The analysis associated this category with cell communication and several neural-support processes.</a:t>
            </a:r>
          </a:p>
          <a:p>
            <a:pPr algn="l">
              <a:lnSpc>
                <a:spcPct val="108000"/>
              </a:lnSpc>
              <a:spcAft>
                <a:spcPts val="840"/>
              </a:spcAft>
            </a:pPr>
            <a:r>
              <a:rPr sz="1400" b="0" i="0">
                <a:solidFill>
                  <a:srgbClr val="27343C"/>
                </a:solidFill>
                <a:latin typeface="Arial"/>
              </a:rPr>
              <a:t>The horseshoe-bat atlas distinguishes glia from SGN1 and SGN2, allowing support-cell expression to be studied separately from neuronal expression. </a:t>
            </a:r>
            <a:r>
              <a:rPr sz="1400" b="1" i="0">
                <a:solidFill>
                  <a:srgbClr val="294858"/>
                </a:solidFill>
                <a:latin typeface="Arial"/>
              </a:rPr>
              <a:t>Ligand–receptor inference</a:t>
            </a:r>
            <a:r>
              <a:rPr sz="1400" b="0" i="0">
                <a:solidFill>
                  <a:srgbClr val="27343C"/>
                </a:solidFill>
                <a:latin typeface="Arial"/>
              </a:rPr>
              <a:t> predicts possible communication when one cell class expresses a signaling molecule and another expresses a corresponding receptor. Such inference is based on molecular compatibility, not direct observation of transmission.</a:t>
            </a:r>
          </a:p>
          <a:p>
            <a:pPr algn="l">
              <a:lnSpc>
                <a:spcPct val="108000"/>
              </a:lnSpc>
              <a:spcAft>
                <a:spcPts val="840"/>
              </a:spcAft>
            </a:pPr>
            <a:r>
              <a:rPr sz="1400" b="0" i="0">
                <a:solidFill>
                  <a:srgbClr val="27343C"/>
                </a:solidFill>
                <a:latin typeface="Arial"/>
              </a:rPr>
              <a:t>The study proposed interactions involving neural adhesion and growth-associated signaling. It did not stimulate glia, measure a resulting SGN membrane response or test an alteration of echo compensation. Glial molecular specialization remains a candidate contributor to the sensory environment rather than an established moment-to-moment Doppler controller.</a:t>
            </a:r>
          </a:p>
        </p:txBody>
      </p:sp>
      <p:pic>
        <p:nvPicPr>
          <p:cNvPr id="4" name="Picture 3" descr="a6ab.png"/>
          <p:cNvPicPr>
            <a:picLocks noChangeAspect="1"/>
          </p:cNvPicPr>
          <p:nvPr/>
        </p:nvPicPr>
        <p:blipFill>
          <a:blip r:embed="rId2"/>
          <a:stretch>
            <a:fillRect/>
          </a:stretch>
        </p:blipFill>
        <p:spPr>
          <a:xfrm>
            <a:off x="6504127" y="1280160"/>
            <a:ext cx="5120640" cy="2285203"/>
          </a:xfrm>
          <a:prstGeom prst="rect">
            <a:avLst/>
          </a:prstGeom>
        </p:spPr>
      </p:pic>
      <p:sp>
        <p:nvSpPr>
          <p:cNvPr id="5" name="Figure caption"/>
          <p:cNvSpPr txBox="1"/>
          <p:nvPr/>
        </p:nvSpPr>
        <p:spPr>
          <a:xfrm>
            <a:off x="6504127" y="365680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6(A–B). Glial marker localization and functional gene categories.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The cochlear response is sharply tuned near CF2</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CF2</a:t>
            </a:r>
            <a:r>
              <a:rPr sz="1600" b="0" i="0">
                <a:solidFill>
                  <a:srgbClr val="27343C"/>
                </a:solidFill>
                <a:latin typeface="Arial"/>
              </a:rPr>
              <a:t> is the constant-frequency component of the second harmonic. In Suga and colleagues’ mustached bats, </a:t>
            </a:r>
            <a:r>
              <a:rPr sz="1600" b="0" i="1">
                <a:solidFill>
                  <a:srgbClr val="27343C"/>
                </a:solidFill>
                <a:latin typeface="Arial"/>
              </a:rPr>
              <a:t>Pteronotus parnellii</a:t>
            </a:r>
            <a:r>
              <a:rPr sz="1600" b="0" i="0">
                <a:solidFill>
                  <a:srgbClr val="27343C"/>
                </a:solidFill>
                <a:latin typeface="Arial"/>
              </a:rPr>
              <a:t>, CF2 lay near 61–62 kHz. The CM threshold curve contained a pronounced sensitivity notch in approximately this band.</a:t>
            </a:r>
          </a:p>
          <a:p>
            <a:pPr algn="l">
              <a:lnSpc>
                <a:spcPct val="108000"/>
              </a:lnSpc>
              <a:spcAft>
                <a:spcPts val="960"/>
              </a:spcAft>
            </a:pPr>
            <a:r>
              <a:rPr sz="1600" b="0" i="0">
                <a:solidFill>
                  <a:srgbClr val="27343C"/>
                </a:solidFill>
                <a:latin typeface="Arial"/>
              </a:rPr>
              <a:t>The best frequencies depended on the recorded response: CM onset was most sensitive near 61–62 kHz, summed neural onset near 63–64 kHz, and summed neural offset near 60–61 kHz. </a:t>
            </a:r>
            <a:r>
              <a:rPr sz="1600" b="1" i="0">
                <a:solidFill>
                  <a:srgbClr val="294858"/>
                </a:solidFill>
                <a:latin typeface="Arial"/>
              </a:rPr>
              <a:t>Onset</a:t>
            </a:r>
            <a:r>
              <a:rPr sz="1600" b="0" i="0">
                <a:solidFill>
                  <a:srgbClr val="27343C"/>
                </a:solidFill>
                <a:latin typeface="Arial"/>
              </a:rPr>
              <a:t> and </a:t>
            </a:r>
            <a:r>
              <a:rPr sz="1600" b="1" i="0">
                <a:solidFill>
                  <a:srgbClr val="294858"/>
                </a:solidFill>
                <a:latin typeface="Arial"/>
              </a:rPr>
              <a:t>offset</a:t>
            </a:r>
            <a:r>
              <a:rPr sz="1600" b="0" i="0">
                <a:solidFill>
                  <a:srgbClr val="27343C"/>
                </a:solidFill>
                <a:latin typeface="Arial"/>
              </a:rPr>
              <a:t> refer to the beginning and cessation of the stimulus.</a:t>
            </a:r>
          </a:p>
          <a:p>
            <a:pPr algn="l">
              <a:lnSpc>
                <a:spcPct val="108000"/>
              </a:lnSpc>
              <a:spcAft>
                <a:spcPts val="960"/>
              </a:spcAft>
            </a:pPr>
            <a:r>
              <a:rPr sz="1600" b="0" i="0">
                <a:solidFill>
                  <a:srgbClr val="27343C"/>
                </a:solidFill>
                <a:latin typeface="Arial"/>
              </a:rPr>
              <a:t>A sharply tuned receptor-related response indicates specialization before cortical processing. The difference between neural onset and other thresholds requires attention to the response envelope and synchrony; it does not mean the hearing system’s preferred echo band is simply 63–64 kHz.</a:t>
            </a:r>
          </a:p>
        </p:txBody>
      </p:sp>
      <p:pic>
        <p:nvPicPr>
          <p:cNvPr id="4" name="Picture 3" descr="suga75_fig2.png"/>
          <p:cNvPicPr>
            <a:picLocks noChangeAspect="1"/>
          </p:cNvPicPr>
          <p:nvPr/>
        </p:nvPicPr>
        <p:blipFill>
          <a:blip r:embed="rId2"/>
          <a:stretch>
            <a:fillRect/>
          </a:stretch>
        </p:blipFill>
        <p:spPr>
          <a:xfrm>
            <a:off x="6321247" y="1280160"/>
            <a:ext cx="3291840" cy="3846879"/>
          </a:xfrm>
          <a:prstGeom prst="rect">
            <a:avLst/>
          </a:prstGeom>
        </p:spPr>
      </p:pic>
      <p:sp>
        <p:nvSpPr>
          <p:cNvPr id="5" name="Figure caption"/>
          <p:cNvSpPr txBox="1"/>
          <p:nvPr/>
        </p:nvSpPr>
        <p:spPr>
          <a:xfrm>
            <a:off x="6321247" y="5218479"/>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2(A–C). Threshold notches of CM onset, neural onset, and neural offset, in kHz.</a:t>
            </a:r>
          </a:p>
        </p:txBody>
      </p:sp>
      <p:pic>
        <p:nvPicPr>
          <p:cNvPr id="6" name="Picture 5" descr="a1de.png"/>
          <p:cNvPicPr>
            <a:picLocks noChangeAspect="1"/>
          </p:cNvPicPr>
          <p:nvPr/>
        </p:nvPicPr>
        <p:blipFill>
          <a:blip r:embed="rId3"/>
          <a:stretch>
            <a:fillRect/>
          </a:stretch>
        </p:blipFill>
        <p:spPr>
          <a:xfrm>
            <a:off x="9795967" y="2148840"/>
            <a:ext cx="1828799" cy="679938"/>
          </a:xfrm>
          <a:prstGeom prst="rect">
            <a:avLst/>
          </a:prstGeom>
        </p:spPr>
      </p:pic>
      <p:sp>
        <p:nvSpPr>
          <p:cNvPr id="7" name="Figure caption"/>
          <p:cNvSpPr txBox="1"/>
          <p:nvPr/>
        </p:nvSpPr>
        <p:spPr>
          <a:xfrm>
            <a:off x="9795967" y="290193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Wang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 cochlear resonator prolongs excitation after sound ends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A </a:t>
            </a:r>
            <a:r>
              <a:rPr sz="1600" b="1" i="0">
                <a:solidFill>
                  <a:srgbClr val="294858"/>
                </a:solidFill>
                <a:latin typeface="Arial"/>
              </a:rPr>
              <a:t>resonator</a:t>
            </a:r>
            <a:r>
              <a:rPr sz="1600" b="0" i="0">
                <a:solidFill>
                  <a:srgbClr val="27343C"/>
                </a:solidFill>
                <a:latin typeface="Arial"/>
              </a:rPr>
              <a:t> responds especially strongly near a particular frequency and can continue oscillating after stimulation stops. Near the CF2 band, Suga and colleagues found that CM activity built up and decayed slowly compared with responses farther from the tuned range.</a:t>
            </a:r>
          </a:p>
          <a:p>
            <a:pPr algn="l">
              <a:lnSpc>
                <a:spcPct val="108000"/>
              </a:lnSpc>
              <a:spcAft>
                <a:spcPts val="960"/>
              </a:spcAft>
            </a:pPr>
            <a:r>
              <a:rPr sz="1600" b="0" i="0">
                <a:solidFill>
                  <a:srgbClr val="27343C"/>
                </a:solidFill>
                <a:latin typeface="Arial"/>
              </a:rPr>
              <a:t>The residual CM activity after stimulus cessation was called </a:t>
            </a:r>
            <a:r>
              <a:rPr sz="1600" b="1" i="0">
                <a:solidFill>
                  <a:srgbClr val="294858"/>
                </a:solidFill>
                <a:latin typeface="Arial"/>
              </a:rPr>
              <a:t>CM-after</a:t>
            </a:r>
            <a:r>
              <a:rPr sz="1600" b="0" i="0">
                <a:solidFill>
                  <a:srgbClr val="27343C"/>
                </a:solidFill>
                <a:latin typeface="Arial"/>
              </a:rPr>
              <a:t>. Its transient behavior was consistent with mechanical ringing in the inner ear. A neural offset response accompanied these peripheral events rather than requiring a new acoustic pulse.</a:t>
            </a:r>
          </a:p>
          <a:p>
            <a:pPr algn="l">
              <a:lnSpc>
                <a:spcPct val="108000"/>
              </a:lnSpc>
              <a:spcAft>
                <a:spcPts val="960"/>
              </a:spcAft>
            </a:pPr>
            <a:r>
              <a:rPr sz="1600" b="0" i="0">
                <a:solidFill>
                  <a:srgbClr val="27343C"/>
                </a:solidFill>
                <a:latin typeface="Arial"/>
              </a:rPr>
              <a:t>Resonance links high frequency selectivity to a distinctive time course. The ear does not reproduce the imposed tone-burst envelope identically at every frequency. A sound with a sharp external ending can therefore produce continuing or changing receptor excitation inside the cochlea.</a:t>
            </a:r>
          </a:p>
        </p:txBody>
      </p:sp>
      <p:pic>
        <p:nvPicPr>
          <p:cNvPr id="4" name="Picture 3" descr="suga75_fig3.png"/>
          <p:cNvPicPr>
            <a:picLocks noChangeAspect="1"/>
          </p:cNvPicPr>
          <p:nvPr/>
        </p:nvPicPr>
        <p:blipFill>
          <a:blip r:embed="rId2"/>
          <a:stretch>
            <a:fillRect/>
          </a:stretch>
        </p:blipFill>
        <p:spPr>
          <a:xfrm>
            <a:off x="6321247" y="1280160"/>
            <a:ext cx="3291840" cy="2391424"/>
          </a:xfrm>
          <a:prstGeom prst="rect">
            <a:avLst/>
          </a:prstGeom>
        </p:spPr>
      </p:pic>
      <p:sp>
        <p:nvSpPr>
          <p:cNvPr id="5" name="Figure caption"/>
          <p:cNvSpPr txBox="1"/>
          <p:nvPr/>
        </p:nvSpPr>
        <p:spPr>
          <a:xfrm>
            <a:off x="6321247" y="3763024"/>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3(A–B). Different best frequencies of cochlear and neural onset and offset responses.</a:t>
            </a:r>
          </a:p>
        </p:txBody>
      </p:sp>
      <p:pic>
        <p:nvPicPr>
          <p:cNvPr id="6" name="Picture 5" descr="a1de.png"/>
          <p:cNvPicPr>
            <a:picLocks noChangeAspect="1"/>
          </p:cNvPicPr>
          <p:nvPr/>
        </p:nvPicPr>
        <p:blipFill>
          <a:blip r:embed="rId3"/>
          <a:stretch>
            <a:fillRect/>
          </a:stretch>
        </p:blipFill>
        <p:spPr>
          <a:xfrm>
            <a:off x="9795967" y="2148840"/>
            <a:ext cx="1828799" cy="679938"/>
          </a:xfrm>
          <a:prstGeom prst="rect">
            <a:avLst/>
          </a:prstGeom>
        </p:spPr>
      </p:pic>
      <p:sp>
        <p:nvSpPr>
          <p:cNvPr id="7" name="Figure caption"/>
          <p:cNvSpPr txBox="1"/>
          <p:nvPr/>
        </p:nvSpPr>
        <p:spPr>
          <a:xfrm>
            <a:off x="9795967" y="290193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Wang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Onset synchrony depends on the sound envelope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The </a:t>
            </a:r>
            <a:r>
              <a:rPr sz="1600" b="1" i="0">
                <a:solidFill>
                  <a:srgbClr val="294858"/>
                </a:solidFill>
                <a:latin typeface="Arial"/>
              </a:rPr>
              <a:t>envelope</a:t>
            </a:r>
            <a:r>
              <a:rPr sz="1600" b="0" i="0">
                <a:solidFill>
                  <a:srgbClr val="27343C"/>
                </a:solidFill>
                <a:latin typeface="Arial"/>
              </a:rPr>
              <a:t> is the changing amplitude of a sound or response over time. Slow cochlear build-up near resonance can spread the onset times of individual neural impulses. A summed neural onset response becomes smaller when those impulses are less synchronized.</a:t>
            </a:r>
          </a:p>
          <a:p>
            <a:pPr algn="l">
              <a:lnSpc>
                <a:spcPct val="108000"/>
              </a:lnSpc>
              <a:spcAft>
                <a:spcPts val="960"/>
              </a:spcAft>
            </a:pPr>
            <a:r>
              <a:rPr sz="1600" b="0" i="0">
                <a:solidFill>
                  <a:srgbClr val="27343C"/>
                </a:solidFill>
                <a:latin typeface="Arial"/>
              </a:rPr>
              <a:t>Suga and colleagues varied the rise time of tones away from the resonant band. Lengthening rise time raised the threshold of the summed onset response. A 1 ms rise produced an approximately 8 dB threshold increase relative to an abrupt rise; a 3 ms rise produced a much larger increase.</a:t>
            </a:r>
          </a:p>
          <a:p>
            <a:pPr algn="l">
              <a:lnSpc>
                <a:spcPct val="108000"/>
              </a:lnSpc>
              <a:spcAft>
                <a:spcPts val="960"/>
              </a:spcAft>
            </a:pPr>
            <a:r>
              <a:rPr sz="1600" b="0" i="0">
                <a:solidFill>
                  <a:srgbClr val="27343C"/>
                </a:solidFill>
                <a:latin typeface="Arial"/>
              </a:rPr>
              <a:t>This control supports an envelope-based explanation of the apparent onset-threshold shift. A weak summed response can result from dispersed spike timing even when individual neurons remain sensitive. Population synchrony and acoustic sensitivity must be distinguished.</a:t>
            </a:r>
          </a:p>
        </p:txBody>
      </p:sp>
      <p:pic>
        <p:nvPicPr>
          <p:cNvPr id="4" name="Picture 3" descr="suga75_fig4.png"/>
          <p:cNvPicPr>
            <a:picLocks noChangeAspect="1"/>
          </p:cNvPicPr>
          <p:nvPr/>
        </p:nvPicPr>
        <p:blipFill>
          <a:blip r:embed="rId2"/>
          <a:stretch>
            <a:fillRect/>
          </a:stretch>
        </p:blipFill>
        <p:spPr>
          <a:xfrm>
            <a:off x="6321247" y="1280160"/>
            <a:ext cx="3291840" cy="2270023"/>
          </a:xfrm>
          <a:prstGeom prst="rect">
            <a:avLst/>
          </a:prstGeom>
        </p:spPr>
      </p:pic>
      <p:sp>
        <p:nvSpPr>
          <p:cNvPr id="5" name="Figure caption"/>
          <p:cNvSpPr txBox="1"/>
          <p:nvPr/>
        </p:nvSpPr>
        <p:spPr>
          <a:xfrm>
            <a:off x="6321247" y="364162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4(A–B). Cochlear transients and the dependence of neural onset threshold on rise time.</a:t>
            </a:r>
          </a:p>
        </p:txBody>
      </p:sp>
      <p:pic>
        <p:nvPicPr>
          <p:cNvPr id="6" name="Picture 5" descr="a1de.png"/>
          <p:cNvPicPr>
            <a:picLocks noChangeAspect="1"/>
          </p:cNvPicPr>
          <p:nvPr/>
        </p:nvPicPr>
        <p:blipFill>
          <a:blip r:embed="rId3"/>
          <a:stretch>
            <a:fillRect/>
          </a:stretch>
        </p:blipFill>
        <p:spPr>
          <a:xfrm>
            <a:off x="9795967" y="2148840"/>
            <a:ext cx="1828799" cy="679938"/>
          </a:xfrm>
          <a:prstGeom prst="rect">
            <a:avLst/>
          </a:prstGeom>
        </p:spPr>
      </p:pic>
      <p:sp>
        <p:nvSpPr>
          <p:cNvPr id="7" name="Figure caption"/>
          <p:cNvSpPr txBox="1"/>
          <p:nvPr/>
        </p:nvSpPr>
        <p:spPr>
          <a:xfrm>
            <a:off x="9795967" y="290193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Wang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Terminal FM suppresses cochlear offset transients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Suga and colleagues compared a CF tone ending abruptly with the same tone followed by a downward FM component. The added sweep changed the cochlear response after the sustained tone rather than merely adding a second independent response.</a:t>
            </a:r>
          </a:p>
          <a:p>
            <a:pPr algn="l">
              <a:lnSpc>
                <a:spcPct val="108000"/>
              </a:lnSpc>
              <a:spcAft>
                <a:spcPts val="1019"/>
              </a:spcAft>
            </a:pPr>
            <a:r>
              <a:rPr sz="1700" b="0" i="0">
                <a:solidFill>
                  <a:srgbClr val="27343C"/>
                </a:solidFill>
                <a:latin typeface="Arial"/>
              </a:rPr>
              <a:t>A terminal FM sweep reduced residual CM activity and the summed neural offset response under the tested conditions. The effect depended on the sweep’s extent and duration. CF and FM therefore interact in the peripheral time course of excitation.</a:t>
            </a:r>
          </a:p>
          <a:p>
            <a:pPr algn="l">
              <a:lnSpc>
                <a:spcPct val="108000"/>
              </a:lnSpc>
              <a:spcAft>
                <a:spcPts val="1019"/>
              </a:spcAft>
            </a:pPr>
            <a:r>
              <a:rPr sz="1700" b="0" i="0">
                <a:solidFill>
                  <a:srgbClr val="27343C"/>
                </a:solidFill>
                <a:latin typeface="Arial"/>
              </a:rPr>
              <a:t>The finding connects the acoustic structure of a natural CF-FM signal to cochlear mechanics. It does not establish that every terminal sweep eliminates all residual excitation during free flight. The stimulus comparisons isolate how a controlled FM ending modifies a tuned CF response.</a:t>
            </a:r>
          </a:p>
        </p:txBody>
      </p:sp>
      <p:pic>
        <p:nvPicPr>
          <p:cNvPr id="4" name="Picture 3" descr="suga75_fig8.png"/>
          <p:cNvPicPr>
            <a:picLocks noChangeAspect="1"/>
          </p:cNvPicPr>
          <p:nvPr/>
        </p:nvPicPr>
        <p:blipFill>
          <a:blip r:embed="rId2"/>
          <a:stretch>
            <a:fillRect/>
          </a:stretch>
        </p:blipFill>
        <p:spPr>
          <a:xfrm>
            <a:off x="6504127" y="1280160"/>
            <a:ext cx="5120640" cy="4151870"/>
          </a:xfrm>
          <a:prstGeom prst="rect">
            <a:avLst/>
          </a:prstGeom>
        </p:spPr>
      </p:pic>
      <p:sp>
        <p:nvSpPr>
          <p:cNvPr id="5" name="Figure caption"/>
          <p:cNvSpPr txBox="1"/>
          <p:nvPr/>
        </p:nvSpPr>
        <p:spPr>
          <a:xfrm>
            <a:off x="6504127" y="552347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8(A–D). Terminal FM changes cochlear ringing and the summed neural offset response.</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Peripheral neurons can discharge when a tone ends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Suga and colleagues recorded individual peripheral auditory neurons, sampling the auditory nerve and nearby cochlear nucleus. A </a:t>
            </a:r>
            <a:r>
              <a:rPr sz="1700" b="1" i="0">
                <a:solidFill>
                  <a:srgbClr val="294858"/>
                </a:solidFill>
                <a:latin typeface="Arial"/>
              </a:rPr>
              <a:t>post-stimulus-time histogram</a:t>
            </a:r>
            <a:r>
              <a:rPr sz="1700" b="0" i="0">
                <a:solidFill>
                  <a:srgbClr val="27343C"/>
                </a:solidFill>
                <a:latin typeface="Arial"/>
              </a:rPr>
              <a:t> aligns impulses from repeated trials to the onset of the same stimulus.</a:t>
            </a:r>
          </a:p>
          <a:p>
            <a:pPr algn="l">
              <a:lnSpc>
                <a:spcPct val="108000"/>
              </a:lnSpc>
              <a:spcAft>
                <a:spcPts val="1019"/>
              </a:spcAft>
            </a:pPr>
            <a:r>
              <a:rPr sz="1700" b="0" i="0">
                <a:solidFill>
                  <a:srgbClr val="27343C"/>
                </a:solidFill>
                <a:latin typeface="Arial"/>
              </a:rPr>
              <a:t>Individual neurons could produce sustained activity during a tone and concentrated discharges after its cessation. For some tested frequencies and levels, the offset discharge remained prominent even when sustained activity was weak.</a:t>
            </a:r>
          </a:p>
          <a:p>
            <a:pPr algn="l">
              <a:lnSpc>
                <a:spcPct val="108000"/>
              </a:lnSpc>
              <a:spcAft>
                <a:spcPts val="1019"/>
              </a:spcAft>
            </a:pPr>
            <a:r>
              <a:rPr sz="1700" b="0" i="0">
                <a:solidFill>
                  <a:srgbClr val="27343C"/>
                </a:solidFill>
                <a:latin typeface="Arial"/>
              </a:rPr>
              <a:t>These offset responses linked the summed N1-offset signal to individual neural activity. They occurred in neurons with excitatory tone responses, rather than requiring a separate population responding only at offset. Peripheral sampling and recording location limit claims about an exclusively cortical mechanism.</a:t>
            </a:r>
          </a:p>
        </p:txBody>
      </p:sp>
      <p:pic>
        <p:nvPicPr>
          <p:cNvPr id="4" name="Picture 3" descr="suga75_fig9.png"/>
          <p:cNvPicPr>
            <a:picLocks noChangeAspect="1"/>
          </p:cNvPicPr>
          <p:nvPr/>
        </p:nvPicPr>
        <p:blipFill>
          <a:blip r:embed="rId2"/>
          <a:stretch>
            <a:fillRect/>
          </a:stretch>
        </p:blipFill>
        <p:spPr>
          <a:xfrm>
            <a:off x="7165431" y="1280160"/>
            <a:ext cx="379803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9(A–D). Single-neuron responses across tone frequency and level, with offset discharges.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Resonance frequency differs from the resting call baseline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294858"/>
                </a:solidFill>
                <a:latin typeface="Arial"/>
              </a:rPr>
              <a:t>Resonance frequency</a:t>
            </a:r>
            <a:r>
              <a:rPr sz="1400" b="0" i="0">
                <a:solidFill>
                  <a:srgbClr val="27343C"/>
                </a:solidFill>
                <a:latin typeface="Arial"/>
              </a:rPr>
              <a:t> is the frequency at which the peripheral resonant system responds especially strongly. Macías and colleagues distinguished it from the resting second-harmonic call frequency in mustached bats. Resting emissions ranged from 60 to 61.2 kHz in their animals, while the resonance estimate generally lay above the emitted baseline.</a:t>
            </a:r>
          </a:p>
          <a:p>
            <a:pPr algn="l">
              <a:lnSpc>
                <a:spcPct val="108000"/>
              </a:lnSpc>
              <a:spcAft>
                <a:spcPts val="840"/>
              </a:spcAft>
            </a:pPr>
            <a:r>
              <a:rPr sz="1400" b="0" i="0">
                <a:solidFill>
                  <a:srgbClr val="27343C"/>
                </a:solidFill>
                <a:latin typeface="Arial"/>
              </a:rPr>
              <a:t>They combined acoustic recordings with auditory-midbrain recordings and examined sharply tuned neurons near the specialized band. A reference defined from vocal emission therefore need not coincide exactly with a reference defined from the sensory response. This distinction parallels the resting-versus-reference frequency difference in behavioral compensation experiments.</a:t>
            </a:r>
          </a:p>
          <a:p>
            <a:pPr algn="l">
              <a:lnSpc>
                <a:spcPct val="108000"/>
              </a:lnSpc>
              <a:spcAft>
                <a:spcPts val="840"/>
              </a:spcAft>
            </a:pPr>
            <a:r>
              <a:rPr sz="1400" b="0" i="0">
                <a:solidFill>
                  <a:srgbClr val="27343C"/>
                </a:solidFill>
                <a:latin typeface="Arial"/>
              </a:rPr>
              <a:t>The measurement distinguishes two biologically related frequency values rather than assigning one universal CF frequency to the species. Neural tuning was evaluated relative to the individual bat’s acoustic and peripheral specialization. It does not follow that every midbrain cell near this band contributes directly to the vocal feedback pathway.</a:t>
            </a:r>
          </a:p>
        </p:txBody>
      </p:sp>
      <p:pic>
        <p:nvPicPr>
          <p:cNvPr id="4" name="Picture 3" descr="t1.png"/>
          <p:cNvPicPr>
            <a:picLocks noChangeAspect="1"/>
          </p:cNvPicPr>
          <p:nvPr/>
        </p:nvPicPr>
        <p:blipFill>
          <a:blip r:embed="rId2"/>
          <a:stretch>
            <a:fillRect/>
          </a:stretch>
        </p:blipFill>
        <p:spPr>
          <a:xfrm>
            <a:off x="7770350" y="1280160"/>
            <a:ext cx="258819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1(A–C). Resting emissions and cochlear resonance estimates.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Midbrain neurons can prefer a narrow sound duration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A </a:t>
            </a:r>
            <a:r>
              <a:rPr sz="1600" b="1" i="0">
                <a:solidFill>
                  <a:srgbClr val="294858"/>
                </a:solidFill>
                <a:latin typeface="Arial"/>
              </a:rPr>
              <a:t>duration-tuned neuron</a:t>
            </a:r>
            <a:r>
              <a:rPr sz="1600" b="0" i="0">
                <a:solidFill>
                  <a:srgbClr val="27343C"/>
                </a:solidFill>
                <a:latin typeface="Arial"/>
              </a:rPr>
              <a:t> responds most strongly to a restricted range of sound durations. Macías and colleagues recorded single-neuron activity in the mustached bat’s </a:t>
            </a:r>
            <a:r>
              <a:rPr sz="1600" b="1" i="0">
                <a:solidFill>
                  <a:srgbClr val="294858"/>
                </a:solidFill>
                <a:latin typeface="Arial"/>
              </a:rPr>
              <a:t>inferior colliculus</a:t>
            </a:r>
            <a:r>
              <a:rPr sz="1600" b="0" i="0">
                <a:solidFill>
                  <a:srgbClr val="27343C"/>
                </a:solidFill>
                <a:latin typeface="Arial"/>
              </a:rPr>
              <a:t>, an auditory midbrain structure. Pure-tone stimuli varied in frequency, sound level and duration, separating several dimensions of response selectivity.</a:t>
            </a:r>
          </a:p>
          <a:p>
            <a:pPr algn="l">
              <a:lnSpc>
                <a:spcPct val="108000"/>
              </a:lnSpc>
              <a:spcAft>
                <a:spcPts val="960"/>
              </a:spcAft>
            </a:pPr>
            <a:r>
              <a:rPr sz="1600" b="0" i="0">
                <a:solidFill>
                  <a:srgbClr val="27343C"/>
                </a:solidFill>
                <a:latin typeface="Arial"/>
              </a:rPr>
              <a:t>One resonance-band neuron preferred 60.9 kHz, with a frequency bandwidth of 0.75 kHz. It preferred a 15-ms stimulus, with a duration bandwidth of 7 ms. A comparison neuron tuned to 81 kHz had a broader 9-kHz frequency bandwidth and preferred a 3-ms stimulus.</a:t>
            </a:r>
          </a:p>
          <a:p>
            <a:pPr algn="l">
              <a:lnSpc>
                <a:spcPct val="108000"/>
              </a:lnSpc>
              <a:spcAft>
                <a:spcPts val="960"/>
              </a:spcAft>
            </a:pPr>
            <a:r>
              <a:rPr sz="1600" b="0" i="0">
                <a:solidFill>
                  <a:srgbClr val="27343C"/>
                </a:solidFill>
                <a:latin typeface="Arial"/>
              </a:rPr>
              <a:t>These examples establish joint spectral and temporal selectivity in central auditory neurons. They do not measure the neuron’s synaptic inputs or identify its transmitter. Sharp duration tuning can coexist with sharply tuned peripheral input, so long cochlear ringing does not force every central response to be temporally broad.</a:t>
            </a:r>
          </a:p>
        </p:txBody>
      </p:sp>
      <p:pic>
        <p:nvPicPr>
          <p:cNvPr id="4" name="Picture 3" descr="t2.png"/>
          <p:cNvPicPr>
            <a:picLocks noChangeAspect="1"/>
          </p:cNvPicPr>
          <p:nvPr/>
        </p:nvPicPr>
        <p:blipFill>
          <a:blip r:embed="rId2"/>
          <a:stretch>
            <a:fillRect/>
          </a:stretch>
        </p:blipFill>
        <p:spPr>
          <a:xfrm>
            <a:off x="7101564" y="1280160"/>
            <a:ext cx="392576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2(A–F). Frequency response areas and measured duration tuning.</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Sharp spectral tuning need not sacrifice duration tuning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7343C"/>
                </a:solidFill>
                <a:latin typeface="Arial"/>
              </a:rPr>
              <a:t>A </a:t>
            </a:r>
            <a:r>
              <a:rPr sz="1500" b="1" i="0">
                <a:solidFill>
                  <a:srgbClr val="294858"/>
                </a:solidFill>
                <a:latin typeface="Arial"/>
              </a:rPr>
              <a:t>spectral–temporal trade-off</a:t>
            </a:r>
            <a:r>
              <a:rPr sz="1500" b="0" i="0">
                <a:solidFill>
                  <a:srgbClr val="27343C"/>
                </a:solidFill>
                <a:latin typeface="Arial"/>
              </a:rPr>
              <a:t> occurs when finer frequency resolution accompanies poorer temporal resolution. Cochlear resonance can sustain activity after sound offset, extending the peripheral response. Macías and colleagues asked whether this peripheral property constrains duration-selective neurons in the auditory midbrain.</a:t>
            </a:r>
          </a:p>
          <a:p>
            <a:pPr algn="l">
              <a:lnSpc>
                <a:spcPct val="108000"/>
              </a:lnSpc>
              <a:spcAft>
                <a:spcPts val="900"/>
              </a:spcAft>
            </a:pPr>
            <a:r>
              <a:rPr sz="1500" b="0" i="0">
                <a:solidFill>
                  <a:srgbClr val="27343C"/>
                </a:solidFill>
                <a:latin typeface="Arial"/>
              </a:rPr>
              <a:t>They measured frequency bandwidth at 10 dB above threshold and duration bandwidth across stimulus durations. Resonance-band neurons did not follow the expected relation between narrow frequency tuning and broad duration tuning. Neurons outside that specialized band displayed the more conventional relationship between the two response dimensions.</a:t>
            </a:r>
          </a:p>
          <a:p>
            <a:pPr algn="l">
              <a:lnSpc>
                <a:spcPct val="108000"/>
              </a:lnSpc>
              <a:spcAft>
                <a:spcPts val="900"/>
              </a:spcAft>
            </a:pPr>
            <a:r>
              <a:rPr sz="1500" b="0" i="0">
                <a:solidFill>
                  <a:srgbClr val="27343C"/>
                </a:solidFill>
                <a:latin typeface="Arial"/>
              </a:rPr>
              <a:t>The result concerns central response selectivity under controlled pure-tone stimulation. It does not mean cochlear ringing disappeared or that every auditory neuron overcomes the trade-off. Instead, central processing can produce sharp temporal filtering despite a peripheral input specialized for narrowband frequency analysis.</a:t>
            </a:r>
          </a:p>
        </p:txBody>
      </p:sp>
      <p:pic>
        <p:nvPicPr>
          <p:cNvPr id="4" name="Picture 3" descr="t4.png"/>
          <p:cNvPicPr>
            <a:picLocks noChangeAspect="1"/>
          </p:cNvPicPr>
          <p:nvPr/>
        </p:nvPicPr>
        <p:blipFill>
          <a:blip r:embed="rId2"/>
          <a:stretch>
            <a:fillRect/>
          </a:stretch>
        </p:blipFill>
        <p:spPr>
          <a:xfrm>
            <a:off x="6846699" y="1280160"/>
            <a:ext cx="443549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4(A–D). Relations between frequency and duration bandwidths.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 small frequency change can reorganize duration tuning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7343C"/>
                </a:solidFill>
                <a:latin typeface="Arial"/>
              </a:rPr>
              <a:t>Macías and colleagues tested the same resonance-band neurons with tones at the individual resting-call frequency and at the resonance frequency. This within-neuron comparison controlled cell identity while changing the acoustic frequency. The resting frequency lay just below the specialized resonant band.</a:t>
            </a:r>
          </a:p>
          <a:p>
            <a:pPr algn="l">
              <a:lnSpc>
                <a:spcPct val="108000"/>
              </a:lnSpc>
              <a:spcAft>
                <a:spcPts val="900"/>
              </a:spcAft>
            </a:pPr>
            <a:r>
              <a:rPr sz="1500" b="0" i="0">
                <a:solidFill>
                  <a:srgbClr val="27343C"/>
                </a:solidFill>
                <a:latin typeface="Arial"/>
              </a:rPr>
              <a:t>Duration selectivity was clear at resonance but often absent at the resting frequency. Preferred durations at resonance clustered near 4 ms and 17 ms. The response to resting-frequency stimulation could instead remain broad across durations, despite the small spectral separation between the two stimulus conditions.</a:t>
            </a:r>
          </a:p>
          <a:p>
            <a:pPr algn="l">
              <a:lnSpc>
                <a:spcPct val="108000"/>
              </a:lnSpc>
              <a:spcAft>
                <a:spcPts val="900"/>
              </a:spcAft>
            </a:pPr>
            <a:r>
              <a:rPr sz="1500" b="1" i="0">
                <a:solidFill>
                  <a:srgbClr val="294858"/>
                </a:solidFill>
                <a:latin typeface="Arial"/>
              </a:rPr>
              <a:t>Frequency-dependent temporal filtering</a:t>
            </a:r>
            <a:r>
              <a:rPr sz="1500" b="0" i="0">
                <a:solidFill>
                  <a:srgbClr val="27343C"/>
                </a:solidFill>
                <a:latin typeface="Arial"/>
              </a:rPr>
              <a:t> means that a neuron’s response to duration depends on the carrier frequency. It cannot be described adequately by one duration preference measured at any arbitrary tone frequency. The experiment supports interaction between spectral input and central temporal processing without directly identifying the synapses responsible.</a:t>
            </a:r>
          </a:p>
        </p:txBody>
      </p:sp>
      <p:pic>
        <p:nvPicPr>
          <p:cNvPr id="4" name="Picture 3" descr="t5.png"/>
          <p:cNvPicPr>
            <a:picLocks noChangeAspect="1"/>
          </p:cNvPicPr>
          <p:nvPr/>
        </p:nvPicPr>
        <p:blipFill>
          <a:blip r:embed="rId2"/>
          <a:stretch>
            <a:fillRect/>
          </a:stretch>
        </p:blipFill>
        <p:spPr>
          <a:xfrm>
            <a:off x="7818831" y="1280160"/>
            <a:ext cx="249123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5(A–F). Responses at resting and resonance frequencies.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Resonance-band inhibition is still a hypothesis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294858"/>
                </a:solidFill>
                <a:latin typeface="Arial"/>
              </a:rPr>
              <a:t>Inhibition</a:t>
            </a:r>
            <a:r>
              <a:rPr sz="1400" b="0" i="0">
                <a:solidFill>
                  <a:srgbClr val="27343C"/>
                </a:solidFill>
                <a:latin typeface="Arial"/>
              </a:rPr>
              <a:t> reduces neuronal output through synaptic or membrane mechanisms. Macías and colleagues proposed frequency-specific inhibition to explain why resonance-band neurons could be selective for duration despite cochlear ringing. Their recordings measured output spikes under different stimulus frequencies and sound levels.</a:t>
            </a:r>
          </a:p>
          <a:p>
            <a:pPr algn="l">
              <a:lnSpc>
                <a:spcPct val="108000"/>
              </a:lnSpc>
              <a:spcAft>
                <a:spcPts val="840"/>
              </a:spcAft>
            </a:pPr>
            <a:r>
              <a:rPr sz="1400" b="0" i="0">
                <a:solidFill>
                  <a:srgbClr val="27343C"/>
                </a:solidFill>
                <a:latin typeface="Arial"/>
              </a:rPr>
              <a:t>The published response patterns and latency changes differed between resting and resonance stimulation. Duration tuning could be present at resonance but absent just below it. The authors considered temporally offset excitation and inhibition, including coincidence and anti-coincidence accounts, as explanations for this frequency-dependent selectivity.</a:t>
            </a:r>
          </a:p>
          <a:p>
            <a:pPr algn="l">
              <a:lnSpc>
                <a:spcPct val="108000"/>
              </a:lnSpc>
              <a:spcAft>
                <a:spcPts val="840"/>
              </a:spcAft>
            </a:pPr>
            <a:r>
              <a:rPr sz="1400" b="0" i="0">
                <a:solidFill>
                  <a:srgbClr val="27343C"/>
                </a:solidFill>
                <a:latin typeface="Arial"/>
              </a:rPr>
              <a:t>No inhibitory transmitter was blocked in this study, and no inhibitory synaptic current was directly recorded. The evidence therefore supports a central filtering hypothesis rather than proving a particular GABA receptor or channel mechanism. Behavioral compensation and central duration tuning also remain separate measured phenomena, even though both depend on the specialized CF band.</a:t>
            </a:r>
          </a:p>
        </p:txBody>
      </p:sp>
      <p:pic>
        <p:nvPicPr>
          <p:cNvPr id="4" name="Picture 3" descr="t6.png"/>
          <p:cNvPicPr>
            <a:picLocks noChangeAspect="1"/>
          </p:cNvPicPr>
          <p:nvPr/>
        </p:nvPicPr>
        <p:blipFill>
          <a:blip r:embed="rId2"/>
          <a:stretch>
            <a:fillRect/>
          </a:stretch>
        </p:blipFill>
        <p:spPr>
          <a:xfrm>
            <a:off x="6504127" y="1280160"/>
            <a:ext cx="5120640" cy="2871216"/>
          </a:xfrm>
          <a:prstGeom prst="rect">
            <a:avLst/>
          </a:prstGeom>
        </p:spPr>
      </p:pic>
      <p:sp>
        <p:nvSpPr>
          <p:cNvPr id="5" name="Figure caption"/>
          <p:cNvSpPr txBox="1"/>
          <p:nvPr/>
        </p:nvSpPr>
        <p:spPr>
          <a:xfrm>
            <a:off x="6504127" y="424281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6(A–J). Frequency-dependent response timing and latency shifts.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Peripheral impulses can track beats between nearby tones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294858"/>
                </a:solidFill>
                <a:latin typeface="Arial"/>
              </a:rPr>
              <a:t>Beats</a:t>
            </a:r>
            <a:r>
              <a:rPr sz="1700" b="0" i="0">
                <a:solidFill>
                  <a:srgbClr val="27343C"/>
                </a:solidFill>
                <a:latin typeface="Arial"/>
              </a:rPr>
              <a:t> are periodic amplitude fluctuations produced when tones of slightly different frequency overlap. Suga and colleagues presented paired tones and recorded whether peripheral impulses followed the resulting fluctuations.</a:t>
            </a:r>
          </a:p>
          <a:p>
            <a:pPr algn="l">
              <a:lnSpc>
                <a:spcPct val="108000"/>
              </a:lnSpc>
              <a:spcAft>
                <a:spcPts val="1019"/>
              </a:spcAft>
            </a:pPr>
            <a:r>
              <a:rPr sz="1700" b="1" i="0">
                <a:solidFill>
                  <a:srgbClr val="294858"/>
                </a:solidFill>
                <a:latin typeface="Arial"/>
              </a:rPr>
              <a:t>Phase locking</a:t>
            </a:r>
            <a:r>
              <a:rPr sz="1700" b="0" i="0">
                <a:solidFill>
                  <a:srgbClr val="27343C"/>
                </a:solidFill>
                <a:latin typeface="Arial"/>
              </a:rPr>
              <a:t> means that discharge occurs at a consistent phase of a repeating stimulus feature. Peripheral neurons could phase-lock to beats up to about 3 kHz. Changing the separation between tones changed the rate of the amplitude fluctuations.</a:t>
            </a:r>
          </a:p>
          <a:p>
            <a:pPr algn="l">
              <a:lnSpc>
                <a:spcPct val="108000"/>
              </a:lnSpc>
              <a:spcAft>
                <a:spcPts val="1019"/>
              </a:spcAft>
            </a:pPr>
            <a:r>
              <a:rPr sz="1700" b="0" i="0">
                <a:solidFill>
                  <a:srgbClr val="27343C"/>
                </a:solidFill>
                <a:latin typeface="Arial"/>
              </a:rPr>
              <a:t>This timing code complements the code supplied by sharply tuned best frequencies. Overlapping emitted CF signals and returning echoes can provide beat information, but the paired-tone recordings do not establish which cue a freely flying bat relies on in every compensation decision.</a:t>
            </a:r>
          </a:p>
        </p:txBody>
      </p:sp>
      <p:pic>
        <p:nvPicPr>
          <p:cNvPr id="4" name="Picture 3" descr="suga75_fig18.png"/>
          <p:cNvPicPr>
            <a:picLocks noChangeAspect="1"/>
          </p:cNvPicPr>
          <p:nvPr/>
        </p:nvPicPr>
        <p:blipFill>
          <a:blip r:embed="rId2"/>
          <a:stretch>
            <a:fillRect/>
          </a:stretch>
        </p:blipFill>
        <p:spPr>
          <a:xfrm>
            <a:off x="7480700" y="1280160"/>
            <a:ext cx="316749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18(A–B). Peripheral impulse timing follows beat envelopes at different frequency separations.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The cortex devotes extensive space to the CF echo band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The </a:t>
            </a:r>
            <a:r>
              <a:rPr sz="1700" b="1" i="0">
                <a:solidFill>
                  <a:srgbClr val="294858"/>
                </a:solidFill>
                <a:latin typeface="Arial"/>
              </a:rPr>
              <a:t>primary auditory cortex</a:t>
            </a:r>
            <a:r>
              <a:rPr sz="1700" b="0" i="0">
                <a:solidFill>
                  <a:srgbClr val="27343C"/>
                </a:solidFill>
                <a:latin typeface="Arial"/>
              </a:rPr>
              <a:t> is a cortical region receiving organized auditory input. In Suga’s mustached-bat study, the Doppler-shifted-CF processing area occupied about 2.3 mm², approximately 30% of primary auditory cortex.</a:t>
            </a:r>
          </a:p>
          <a:p>
            <a:pPr algn="l">
              <a:lnSpc>
                <a:spcPct val="108000"/>
              </a:lnSpc>
              <a:spcAft>
                <a:spcPts val="1019"/>
              </a:spcAft>
            </a:pPr>
            <a:r>
              <a:rPr sz="1700" b="0" i="0">
                <a:solidFill>
                  <a:srgbClr val="27343C"/>
                </a:solidFill>
                <a:latin typeface="Arial"/>
              </a:rPr>
              <a:t>Its neurons were concentrated near the 61–63 kHz band associated with CF components of emitted signals and echoes. This large representation mirrors the peripheral specialization but adds cortical response properties beyond a neuron’s best frequency.</a:t>
            </a:r>
          </a:p>
          <a:p>
            <a:pPr algn="l">
              <a:lnSpc>
                <a:spcPct val="108000"/>
              </a:lnSpc>
              <a:spcAft>
                <a:spcPts val="1019"/>
              </a:spcAft>
            </a:pPr>
            <a:r>
              <a:rPr sz="1700" b="1" i="0">
                <a:solidFill>
                  <a:srgbClr val="294858"/>
                </a:solidFill>
                <a:latin typeface="Arial"/>
              </a:rPr>
              <a:t>Tonotopy</a:t>
            </a:r>
            <a:r>
              <a:rPr sz="1700" b="0" i="0">
                <a:solidFill>
                  <a:srgbClr val="27343C"/>
                </a:solidFill>
                <a:latin typeface="Arial"/>
              </a:rPr>
              <a:t> is an orderly representation of frequency across neural tissue. Suga examined how neurons sharing a best frequency differed in preferred sound amplitude. The enlarged CF region was not simply a collection of interchangeable neurons carrying identical information.</a:t>
            </a:r>
          </a:p>
        </p:txBody>
      </p:sp>
      <p:pic>
        <p:nvPicPr>
          <p:cNvPr id="4" name="Picture 3" descr="suga77_fig2de.png"/>
          <p:cNvPicPr>
            <a:picLocks noChangeAspect="1"/>
          </p:cNvPicPr>
          <p:nvPr/>
        </p:nvPicPr>
        <p:blipFill>
          <a:blip r:embed="rId2"/>
          <a:stretch>
            <a:fillRect/>
          </a:stretch>
        </p:blipFill>
        <p:spPr>
          <a:xfrm>
            <a:off x="6504127" y="1280160"/>
            <a:ext cx="3017520" cy="3692187"/>
          </a:xfrm>
          <a:prstGeom prst="rect">
            <a:avLst/>
          </a:prstGeom>
        </p:spPr>
      </p:pic>
      <p:sp>
        <p:nvSpPr>
          <p:cNvPr id="5" name="Figure caption"/>
          <p:cNvSpPr txBox="1"/>
          <p:nvPr/>
        </p:nvSpPr>
        <p:spPr>
          <a:xfrm>
            <a:off x="6504127" y="5063787"/>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2(D–E). Measured best amplitude varies with cortical position, in dB SPL and degrees.</a:t>
            </a:r>
          </a:p>
        </p:txBody>
      </p:sp>
      <p:pic>
        <p:nvPicPr>
          <p:cNvPr id="6" name="Picture 5" descr="suga77_fig2bc.png"/>
          <p:cNvPicPr>
            <a:picLocks noChangeAspect="1"/>
          </p:cNvPicPr>
          <p:nvPr/>
        </p:nvPicPr>
        <p:blipFill>
          <a:blip r:embed="rId3"/>
          <a:stretch>
            <a:fillRect/>
          </a:stretch>
        </p:blipFill>
        <p:spPr>
          <a:xfrm>
            <a:off x="9704527" y="2148840"/>
            <a:ext cx="1920239" cy="3035855"/>
          </a:xfrm>
          <a:prstGeom prst="rect">
            <a:avLst/>
          </a:prstGeom>
        </p:spPr>
      </p:pic>
      <p:sp>
        <p:nvSpPr>
          <p:cNvPr id="7" name="Figure caption"/>
          <p:cNvSpPr txBox="1"/>
          <p:nvPr/>
        </p:nvSpPr>
        <p:spPr>
          <a:xfrm>
            <a:off x="9704527" y="5257847"/>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2(B–C). Original cortical maps, 0.5 mm.</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(1977)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Some cortical neurons prefer an intermediate sound level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A neuron’s </a:t>
            </a:r>
            <a:r>
              <a:rPr sz="1600" b="1" i="0">
                <a:solidFill>
                  <a:srgbClr val="294858"/>
                </a:solidFill>
                <a:latin typeface="Arial"/>
              </a:rPr>
              <a:t>best amplitude</a:t>
            </a:r>
            <a:r>
              <a:rPr sz="1600" b="0" i="0">
                <a:solidFill>
                  <a:srgbClr val="27343C"/>
                </a:solidFill>
                <a:latin typeface="Arial"/>
              </a:rPr>
              <a:t> is the sound pressure level producing its largest response. Suga measured impulse counts during 50 ms tones at each cortical neuron’s best frequency and compared response growth across sound levels.</a:t>
            </a:r>
          </a:p>
          <a:p>
            <a:pPr algn="l">
              <a:lnSpc>
                <a:spcPct val="108000"/>
              </a:lnSpc>
              <a:spcAft>
                <a:spcPts val="960"/>
              </a:spcAft>
            </a:pPr>
            <a:r>
              <a:rPr sz="1600" b="0" i="0">
                <a:solidFill>
                  <a:srgbClr val="27343C"/>
                </a:solidFill>
                <a:latin typeface="Arial"/>
              </a:rPr>
              <a:t>Many CF-region neurons had </a:t>
            </a:r>
            <a:r>
              <a:rPr sz="1600" b="1" i="0">
                <a:solidFill>
                  <a:srgbClr val="294858"/>
                </a:solidFill>
                <a:latin typeface="Arial"/>
              </a:rPr>
              <a:t>nonmonotonic</a:t>
            </a:r>
            <a:r>
              <a:rPr sz="1600" b="0" i="0">
                <a:solidFill>
                  <a:srgbClr val="27343C"/>
                </a:solidFill>
                <a:latin typeface="Arial"/>
              </a:rPr>
              <a:t> responses: impulse counts rose with amplitude, reached a maximum, then fell at stronger levels. Other neurons showed more nearly monotonic growth. Preferred amplitude therefore differed from minimum threshold.</a:t>
            </a:r>
          </a:p>
          <a:p>
            <a:pPr algn="l">
              <a:lnSpc>
                <a:spcPct val="108000"/>
              </a:lnSpc>
              <a:spcAft>
                <a:spcPts val="960"/>
              </a:spcAft>
            </a:pPr>
            <a:r>
              <a:rPr sz="1600" b="0" i="0">
                <a:solidFill>
                  <a:srgbClr val="27343C"/>
                </a:solidFill>
                <a:latin typeface="Arial"/>
              </a:rPr>
              <a:t>An </a:t>
            </a:r>
            <a:r>
              <a:rPr sz="1600" b="1" i="0">
                <a:solidFill>
                  <a:srgbClr val="294858"/>
                </a:solidFill>
                <a:latin typeface="Arial"/>
              </a:rPr>
              <a:t>upper threshold</a:t>
            </a:r>
            <a:r>
              <a:rPr sz="1600" b="0" i="0">
                <a:solidFill>
                  <a:srgbClr val="27343C"/>
                </a:solidFill>
                <a:latin typeface="Arial"/>
              </a:rPr>
              <a:t> marks a level above which excitation becomes weak or absent. These cortical response limits create amplitude selectivity that cannot be described solely as increasing discharge to louder sounds. Frequency and sound level jointly determine which cortical populations are most active.</a:t>
            </a:r>
          </a:p>
        </p:txBody>
      </p:sp>
      <p:pic>
        <p:nvPicPr>
          <p:cNvPr id="4" name="Picture 3" descr="suga77_fig1a.png"/>
          <p:cNvPicPr>
            <a:picLocks noChangeAspect="1"/>
          </p:cNvPicPr>
          <p:nvPr/>
        </p:nvPicPr>
        <p:blipFill>
          <a:blip r:embed="rId2"/>
          <a:stretch>
            <a:fillRect/>
          </a:stretch>
        </p:blipFill>
        <p:spPr>
          <a:xfrm>
            <a:off x="6504127" y="1280160"/>
            <a:ext cx="5120640" cy="3958648"/>
          </a:xfrm>
          <a:prstGeom prst="rect">
            <a:avLst/>
          </a:prstGeom>
        </p:spPr>
      </p:pic>
      <p:sp>
        <p:nvSpPr>
          <p:cNvPr id="5" name="Figure caption"/>
          <p:cNvSpPr txBox="1"/>
          <p:nvPr/>
        </p:nvSpPr>
        <p:spPr>
          <a:xfrm>
            <a:off x="6504127" y="533024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1(A). Cortical impulse-count functions have different preferred sound levels.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(1977)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Communication calls need not share echolocation feedback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27343C"/>
                </a:solidFill>
                <a:latin typeface="Arial"/>
              </a:rPr>
              <a:t>Liu and colleagues compared resting echolocation calls with </a:t>
            </a:r>
            <a:r>
              <a:rPr sz="1400" b="1" i="0">
                <a:solidFill>
                  <a:srgbClr val="294858"/>
                </a:solidFill>
                <a:latin typeface="Arial"/>
              </a:rPr>
              <a:t>short constant-frequency communication calls</a:t>
            </a:r>
            <a:r>
              <a:rPr sz="1400" b="0" i="0">
                <a:solidFill>
                  <a:srgbClr val="27343C"/>
                </a:solidFill>
                <a:latin typeface="Arial"/>
              </a:rPr>
              <a:t> in greater horseshoe bats. These social calls resembled shortened CF signals but occurred during interactions between bats. Recording both call types across days tested whether similar acoustic signals shared the same frequency stability.</a:t>
            </a:r>
          </a:p>
          <a:p>
            <a:pPr algn="l">
              <a:lnSpc>
                <a:spcPct val="108000"/>
              </a:lnSpc>
              <a:spcAft>
                <a:spcPts val="840"/>
              </a:spcAft>
            </a:pPr>
            <a:r>
              <a:rPr sz="1400" b="0" i="0">
                <a:solidFill>
                  <a:srgbClr val="27343C"/>
                </a:solidFill>
                <a:latin typeface="Arial"/>
              </a:rPr>
              <a:t>Resting echolocation frequency varied across days, whereas the communication-call frequency remained much more stable. Typical call durations also differed: resting echolocation calls were approximately 47 ms, while the short social calls were approximately 14 ms. Frequency regulation therefore depended on vocal context rather than acoustic similarity alone.</a:t>
            </a:r>
          </a:p>
          <a:p>
            <a:pPr algn="l">
              <a:lnSpc>
                <a:spcPct val="108000"/>
              </a:lnSpc>
              <a:spcAft>
                <a:spcPts val="840"/>
              </a:spcAft>
            </a:pPr>
            <a:r>
              <a:rPr sz="1400" b="0" i="0">
                <a:solidFill>
                  <a:srgbClr val="27343C"/>
                </a:solidFill>
                <a:latin typeface="Arial"/>
              </a:rPr>
              <a:t>The authors proposed different feedback control for echolocation and communication, possibly including reduced or absent auditory feedback for the social calls. Their comparison did not directly interrupt feedback during social calling. Stable communication frequency supports that interpretation but does not prove that these calls are produced without auditory input.</a:t>
            </a:r>
          </a:p>
        </p:txBody>
      </p:sp>
      <p:pic>
        <p:nvPicPr>
          <p:cNvPr id="4" name="Picture 3" descr="f2.png"/>
          <p:cNvPicPr>
            <a:picLocks noChangeAspect="1"/>
          </p:cNvPicPr>
          <p:nvPr/>
        </p:nvPicPr>
        <p:blipFill>
          <a:blip r:embed="rId2"/>
          <a:stretch>
            <a:fillRect/>
          </a:stretch>
        </p:blipFill>
        <p:spPr>
          <a:xfrm>
            <a:off x="7455594" y="1280160"/>
            <a:ext cx="321770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Liu et al. (2013), Fig. 2(A–B). Daily frequency comparisons for echolocation and social calls.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Liu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Amplitude and frequency occupy cortical coordinates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Amplitopic representation</a:t>
            </a:r>
            <a:r>
              <a:rPr sz="1600" b="0" i="0">
                <a:solidFill>
                  <a:srgbClr val="27343C"/>
                </a:solidFill>
                <a:latin typeface="Arial"/>
              </a:rPr>
              <a:t> is an orderly spatial organization of preferred sound amplitude. In Suga’s mapped CF processing area, best-frequency contours and best-amplitude contours followed different directions across the cortical surface.</a:t>
            </a:r>
          </a:p>
          <a:p>
            <a:pPr algn="l">
              <a:lnSpc>
                <a:spcPct val="108000"/>
              </a:lnSpc>
              <a:spcAft>
                <a:spcPts val="960"/>
              </a:spcAft>
            </a:pPr>
            <a:r>
              <a:rPr sz="1600" b="0" i="0">
                <a:solidFill>
                  <a:srgbClr val="27343C"/>
                </a:solidFill>
                <a:latin typeface="Arial"/>
              </a:rPr>
              <a:t>The best-amplitude organization varied among animals. The posterior region consistently placed larger preferred amplitudes dorsally, whereas the anterior region could follow either of two arrangements. The data support structured amplitude representation without a single identical map in every bat.</a:t>
            </a:r>
          </a:p>
          <a:p>
            <a:pPr algn="l">
              <a:lnSpc>
                <a:spcPct val="108000"/>
              </a:lnSpc>
              <a:spcAft>
                <a:spcPts val="960"/>
              </a:spcAft>
            </a:pPr>
            <a:r>
              <a:rPr sz="1600" b="0" i="0">
                <a:solidFill>
                  <a:srgbClr val="27343C"/>
                </a:solidFill>
                <a:latin typeface="Arial"/>
              </a:rPr>
              <a:t>Preferred amplitudes of about 30–50 dB SPL occupied more cortical area than preferred amplitudes of about 80–100 dB SPL. This unequal allocation describes the measured map. Its relation to commonly encountered echo levels was an interpretation rather than a direct measurement of natural echo statistics.</a:t>
            </a:r>
          </a:p>
        </p:txBody>
      </p:sp>
      <p:pic>
        <p:nvPicPr>
          <p:cNvPr id="4" name="Picture 3" descr="suga77_fig2de.png"/>
          <p:cNvPicPr>
            <a:picLocks noChangeAspect="1"/>
          </p:cNvPicPr>
          <p:nvPr/>
        </p:nvPicPr>
        <p:blipFill>
          <a:blip r:embed="rId2"/>
          <a:stretch>
            <a:fillRect/>
          </a:stretch>
        </p:blipFill>
        <p:spPr>
          <a:xfrm>
            <a:off x="6504127" y="1280160"/>
            <a:ext cx="3017520" cy="3692187"/>
          </a:xfrm>
          <a:prstGeom prst="rect">
            <a:avLst/>
          </a:prstGeom>
        </p:spPr>
      </p:pic>
      <p:sp>
        <p:nvSpPr>
          <p:cNvPr id="5" name="Figure caption"/>
          <p:cNvSpPr txBox="1"/>
          <p:nvPr/>
        </p:nvSpPr>
        <p:spPr>
          <a:xfrm>
            <a:off x="6504127" y="5063787"/>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2(D–E). Measured best amplitude varies with cortical position, in dB SPL and degrees.</a:t>
            </a:r>
          </a:p>
        </p:txBody>
      </p:sp>
      <p:pic>
        <p:nvPicPr>
          <p:cNvPr id="6" name="Picture 5" descr="suga77_fig2bc.png"/>
          <p:cNvPicPr>
            <a:picLocks noChangeAspect="1"/>
          </p:cNvPicPr>
          <p:nvPr/>
        </p:nvPicPr>
        <p:blipFill>
          <a:blip r:embed="rId3"/>
          <a:stretch>
            <a:fillRect/>
          </a:stretch>
        </p:blipFill>
        <p:spPr>
          <a:xfrm>
            <a:off x="9704527" y="2148840"/>
            <a:ext cx="1920239" cy="3035855"/>
          </a:xfrm>
          <a:prstGeom prst="rect">
            <a:avLst/>
          </a:prstGeom>
        </p:spPr>
      </p:pic>
      <p:sp>
        <p:nvSpPr>
          <p:cNvPr id="7" name="Figure caption"/>
          <p:cNvSpPr txBox="1"/>
          <p:nvPr/>
        </p:nvSpPr>
        <p:spPr>
          <a:xfrm>
            <a:off x="9704527" y="5257847"/>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2(B–C). Original cortical maps, 0.5 mm.</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(1977)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Free flight lowers emission while preserving echo frequency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43C"/>
                </a:solidFill>
                <a:latin typeface="Arial"/>
              </a:rPr>
              <a:t>Schoeppler and colleagues studied </a:t>
            </a:r>
            <a:r>
              <a:rPr sz="1700" b="0" i="1">
                <a:solidFill>
                  <a:srgbClr val="27343C"/>
                </a:solidFill>
                <a:latin typeface="Arial"/>
              </a:rPr>
              <a:t>Hipposideros armiger</a:t>
            </a:r>
            <a:r>
              <a:rPr sz="1700" b="0" i="0">
                <a:solidFill>
                  <a:srgbClr val="27343C"/>
                </a:solidFill>
                <a:latin typeface="Arial"/>
              </a:rPr>
              <a:t> flying toward a landing grid. They recorded echolocation signals, reconstructed the flight trajectory, and calculated the frequency of echoes from targets ahead using the measured flight speed.</a:t>
            </a:r>
          </a:p>
          <a:p>
            <a:pPr algn="l">
              <a:lnSpc>
                <a:spcPct val="108000"/>
              </a:lnSpc>
              <a:spcAft>
                <a:spcPts val="1019"/>
              </a:spcAft>
            </a:pPr>
            <a:r>
              <a:rPr sz="1700" b="0" i="0">
                <a:solidFill>
                  <a:srgbClr val="27343C"/>
                </a:solidFill>
                <a:latin typeface="Arial"/>
              </a:rPr>
              <a:t>During acceleration, emitted CF2 frequency decreased. In a representative flight, the minimum emission frequency coincided with a maximum speed of 4.7 m/s. The calculated returning frequency remained close to the animal’s reference band.</a:t>
            </a:r>
          </a:p>
          <a:p>
            <a:pPr algn="l">
              <a:lnSpc>
                <a:spcPct val="108000"/>
              </a:lnSpc>
              <a:spcAft>
                <a:spcPts val="1019"/>
              </a:spcAft>
            </a:pPr>
            <a:r>
              <a:rPr sz="1700" b="0" i="0">
                <a:solidFill>
                  <a:srgbClr val="27343C"/>
                </a:solidFill>
                <a:latin typeface="Arial"/>
              </a:rPr>
              <a:t>This separates the changing outgoing signal from the controlled echo estimate. The study used natural flight, but the displayed echo frequency was calculated from call frequency and kinematics; it was not a direct recording from the bat’s cochlea or a microphone at its ear.</a:t>
            </a:r>
          </a:p>
        </p:txBody>
      </p:sp>
      <p:pic>
        <p:nvPicPr>
          <p:cNvPr id="4" name="Picture 3" descr="schoeppler18_fig2ef.png"/>
          <p:cNvPicPr>
            <a:picLocks noChangeAspect="1"/>
          </p:cNvPicPr>
          <p:nvPr/>
        </p:nvPicPr>
        <p:blipFill>
          <a:blip r:embed="rId2"/>
          <a:stretch>
            <a:fillRect/>
          </a:stretch>
        </p:blipFill>
        <p:spPr>
          <a:xfrm>
            <a:off x="7312225" y="1280160"/>
            <a:ext cx="350444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2(e–f). Measured emission and flight speed, with calculated echo frequency.</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Approach changes call timing while CF is retained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294858"/>
                </a:solidFill>
                <a:latin typeface="Arial"/>
              </a:rPr>
              <a:t>Pulse interval</a:t>
            </a:r>
            <a:r>
              <a:rPr sz="1700" b="0" i="0">
                <a:solidFill>
                  <a:srgbClr val="27343C"/>
                </a:solidFill>
                <a:latin typeface="Arial"/>
              </a:rPr>
              <a:t> is the time between consecutive calls; </a:t>
            </a:r>
            <a:r>
              <a:rPr sz="1700" b="1" i="0">
                <a:solidFill>
                  <a:srgbClr val="294858"/>
                </a:solidFill>
                <a:latin typeface="Arial"/>
              </a:rPr>
              <a:t>duty cycle</a:t>
            </a:r>
            <a:r>
              <a:rPr sz="1700" b="0" i="0">
                <a:solidFill>
                  <a:srgbClr val="27343C"/>
                </a:solidFill>
                <a:latin typeface="Arial"/>
              </a:rPr>
              <a:t> is the proportion of time occupied by sound emission. Both describe how frequently a bat samples its surroundings, independently of CF frequency.</a:t>
            </a:r>
          </a:p>
          <a:p>
            <a:pPr algn="l">
              <a:lnSpc>
                <a:spcPct val="108000"/>
              </a:lnSpc>
              <a:spcAft>
                <a:spcPts val="1019"/>
              </a:spcAft>
            </a:pPr>
            <a:r>
              <a:rPr sz="1700" b="0" i="0">
                <a:solidFill>
                  <a:srgbClr val="27343C"/>
                </a:solidFill>
                <a:latin typeface="Arial"/>
              </a:rPr>
              <a:t>In </a:t>
            </a:r>
            <a:r>
              <a:rPr sz="1700" b="0" i="1">
                <a:solidFill>
                  <a:srgbClr val="27343C"/>
                </a:solidFill>
                <a:latin typeface="Arial"/>
              </a:rPr>
              <a:t>H. armiger</a:t>
            </a:r>
            <a:r>
              <a:rPr sz="1700" b="0" i="0">
                <a:solidFill>
                  <a:srgbClr val="27343C"/>
                </a:solidFill>
                <a:latin typeface="Arial"/>
              </a:rPr>
              <a:t>, pulse intervals and call durations decreased toward landing. During the final approach, mean call duration reached about 3–4 ms and pulse interval about 11–12 ms. Duty cycle increased, while the CF component remained present.</a:t>
            </a:r>
          </a:p>
          <a:p>
            <a:pPr algn="l">
              <a:lnSpc>
                <a:spcPct val="108000"/>
              </a:lnSpc>
              <a:spcAft>
                <a:spcPts val="1019"/>
              </a:spcAft>
            </a:pPr>
            <a:r>
              <a:rPr sz="1700" b="0" i="0">
                <a:solidFill>
                  <a:srgbClr val="27343C"/>
                </a:solidFill>
                <a:latin typeface="Arial"/>
              </a:rPr>
              <a:t>Frequency compensation therefore operates within an acoustic sequence whose temporal structure is also changing. The terminal approach is not a sequence of otherwise identical calls. Timing, harmonic prominence, and the FM component can change while the returning CF band remains regulated.</a:t>
            </a:r>
          </a:p>
        </p:txBody>
      </p:sp>
      <p:pic>
        <p:nvPicPr>
          <p:cNvPr id="4" name="Picture 3" descr="schoeppler18_fig2.png"/>
          <p:cNvPicPr>
            <a:picLocks noChangeAspect="1"/>
          </p:cNvPicPr>
          <p:nvPr/>
        </p:nvPicPr>
        <p:blipFill>
          <a:blip r:embed="rId2"/>
          <a:stretch>
            <a:fillRect/>
          </a:stretch>
        </p:blipFill>
        <p:spPr>
          <a:xfrm>
            <a:off x="6654606" y="1280160"/>
            <a:ext cx="481968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2(a–f). Call timing, FM properties, duty cycle, and compensation during approach.</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Resting and reference frequencies shift together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Schoeppler and colleagues measured resting frequency immediately before each flight and reference frequency from the corresponding calculated echoes. The absolute values changed between flights and across recording days, rather than remaining permanently fixed.</a:t>
            </a:r>
          </a:p>
          <a:p>
            <a:pPr algn="l">
              <a:lnSpc>
                <a:spcPct val="108000"/>
              </a:lnSpc>
              <a:spcAft>
                <a:spcPts val="960"/>
              </a:spcAft>
            </a:pPr>
            <a:r>
              <a:rPr sz="1600" b="0" i="0">
                <a:solidFill>
                  <a:srgbClr val="27343C"/>
                </a:solidFill>
                <a:latin typeface="Arial"/>
              </a:rPr>
              <a:t>The two frequencies remained closely coupled. Their mean offset was about 80 Hz, with the reference usually above the resting frequency. In one bat, reference frequency declined by about 1 kHz over nine days.</a:t>
            </a:r>
          </a:p>
          <a:p>
            <a:pPr algn="l">
              <a:lnSpc>
                <a:spcPct val="108000"/>
              </a:lnSpc>
              <a:spcAft>
                <a:spcPts val="960"/>
              </a:spcAft>
            </a:pPr>
            <a:r>
              <a:rPr sz="1600" b="0" i="0">
                <a:solidFill>
                  <a:srgbClr val="27343C"/>
                </a:solidFill>
                <a:latin typeface="Arial"/>
              </a:rPr>
              <a:t>A drifting absolute frequency does not by itself imply poor compensation. Comparing an echo estimate from one time with a resting measurement from another can exaggerate the offset. A contemporaneous baseline is required to distinguish movement of the preferred band from error around that band.</a:t>
            </a:r>
          </a:p>
        </p:txBody>
      </p:sp>
      <p:pic>
        <p:nvPicPr>
          <p:cNvPr id="4" name="Picture 3" descr="schoeppler18_fig3.png"/>
          <p:cNvPicPr>
            <a:picLocks noChangeAspect="1"/>
          </p:cNvPicPr>
          <p:nvPr/>
        </p:nvPicPr>
        <p:blipFill>
          <a:blip r:embed="rId2"/>
          <a:stretch>
            <a:fillRect/>
          </a:stretch>
        </p:blipFill>
        <p:spPr>
          <a:xfrm>
            <a:off x="6504127" y="1280160"/>
            <a:ext cx="5120640" cy="3099882"/>
          </a:xfrm>
          <a:prstGeom prst="rect">
            <a:avLst/>
          </a:prstGeom>
        </p:spPr>
      </p:pic>
      <p:sp>
        <p:nvSpPr>
          <p:cNvPr id="5" name="Figure caption"/>
          <p:cNvSpPr txBox="1"/>
          <p:nvPr/>
        </p:nvSpPr>
        <p:spPr>
          <a:xfrm>
            <a:off x="6504127" y="447148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3(a–b). Paired resting and reference frequencies and their offsets across flights.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Resting call frequency rises as torpid bats warm</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Torpor</a:t>
            </a:r>
            <a:r>
              <a:rPr sz="1600" b="0" i="0">
                <a:solidFill>
                  <a:srgbClr val="27343C"/>
                </a:solidFill>
                <a:latin typeface="Arial"/>
              </a:rPr>
              <a:t> is a state of reduced physiological activity associated here with lower temperature. Schoeppler and colleagues attached a miniature logger between the shoulder blades of </a:t>
            </a:r>
            <a:r>
              <a:rPr sz="1600" b="0" i="1">
                <a:solidFill>
                  <a:srgbClr val="27343C"/>
                </a:solidFill>
                <a:latin typeface="Arial"/>
              </a:rPr>
              <a:t>H. armiger</a:t>
            </a:r>
            <a:r>
              <a:rPr sz="1600" b="0" i="0">
                <a:solidFill>
                  <a:srgbClr val="27343C"/>
                </a:solidFill>
                <a:latin typeface="Arial"/>
              </a:rPr>
              <a:t> and recorded skin temperature together with echolocation calls.</a:t>
            </a:r>
          </a:p>
          <a:p>
            <a:pPr algn="l">
              <a:lnSpc>
                <a:spcPct val="108000"/>
              </a:lnSpc>
              <a:spcAft>
                <a:spcPts val="960"/>
              </a:spcAft>
            </a:pPr>
            <a:r>
              <a:rPr sz="1600" b="0" i="0">
                <a:solidFill>
                  <a:srgbClr val="27343C"/>
                </a:solidFill>
                <a:latin typeface="Arial"/>
              </a:rPr>
              <a:t>After the experimenter entered the room, resting bats became more active, warmed, and increased their CF2 resting frequency. The largest frequency rise during activation reached about 1.44 kHz. The change occurred without a flight-induced Doppler shift.</a:t>
            </a:r>
          </a:p>
          <a:p>
            <a:pPr algn="l">
              <a:lnSpc>
                <a:spcPct val="108000"/>
              </a:lnSpc>
              <a:spcAft>
                <a:spcPts val="960"/>
              </a:spcAft>
            </a:pPr>
            <a:r>
              <a:rPr sz="1600" b="0" i="0">
                <a:solidFill>
                  <a:srgbClr val="27343C"/>
                </a:solidFill>
                <a:latin typeface="Arial"/>
              </a:rPr>
              <a:t>The experiment links physiological state to the frequency emitted at rest. It does not isolate temperature from every accompanying change in activity, and the logger measured skin rather than cochlear temperature. The result requires a baseline that can vary even when the animal is stationary.</a:t>
            </a:r>
          </a:p>
        </p:txBody>
      </p:sp>
      <p:pic>
        <p:nvPicPr>
          <p:cNvPr id="4" name="Picture 3" descr="schoeppler22_fig2cde.png"/>
          <p:cNvPicPr>
            <a:picLocks noChangeAspect="1"/>
          </p:cNvPicPr>
          <p:nvPr/>
        </p:nvPicPr>
        <p:blipFill>
          <a:blip r:embed="rId2"/>
          <a:stretch>
            <a:fillRect/>
          </a:stretch>
        </p:blipFill>
        <p:spPr>
          <a:xfrm>
            <a:off x="6504127" y="1280160"/>
            <a:ext cx="5120640" cy="3854078"/>
          </a:xfrm>
          <a:prstGeom prst="rect">
            <a:avLst/>
          </a:prstGeom>
        </p:spPr>
      </p:pic>
      <p:sp>
        <p:nvSpPr>
          <p:cNvPr id="5" name="Figure caption"/>
          <p:cNvSpPr txBox="1"/>
          <p:nvPr/>
        </p:nvSpPr>
        <p:spPr>
          <a:xfrm>
            <a:off x="6504127" y="522567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(2022), Fig. 2(C–E). Skin temperature, calling activity, and resting CF2 frequency during activation.</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Frequency can peak before measured skin temperature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Schoeppler and colleagues compared the time of maximum resting frequency with the time of maximum skin temperature during activation. The frequency maximum generally occurred earlier, while skin temperature continued increasing.</a:t>
            </a:r>
          </a:p>
          <a:p>
            <a:pPr algn="l">
              <a:lnSpc>
                <a:spcPct val="108000"/>
              </a:lnSpc>
              <a:spcAft>
                <a:spcPts val="960"/>
              </a:spcAft>
            </a:pPr>
            <a:r>
              <a:rPr sz="1600" b="0" i="0">
                <a:solidFill>
                  <a:srgbClr val="27343C"/>
                </a:solidFill>
                <a:latin typeface="Arial"/>
              </a:rPr>
              <a:t>After the skin-temperature maximum, both temperature and resting frequency tended to decline. The timing difference prevents a simple conversion of every skin-temperature change into a fixed frequency change throughout warming and cooling.</a:t>
            </a:r>
          </a:p>
          <a:p>
            <a:pPr algn="l">
              <a:lnSpc>
                <a:spcPct val="108000"/>
              </a:lnSpc>
              <a:spcAft>
                <a:spcPts val="960"/>
              </a:spcAft>
            </a:pPr>
            <a:r>
              <a:rPr sz="1600" b="0" i="0">
                <a:solidFill>
                  <a:srgbClr val="27343C"/>
                </a:solidFill>
                <a:latin typeface="Arial"/>
              </a:rPr>
              <a:t>The authors discussed delayed warming of skin relative to internal tissues as one explanation. Cochlear temperature was not recorded, so that explanation remains indirect. A correlation between two time series does not establish that their maxima must coincide or identify the precise thermal mechanism controlling vocal frequency.</a:t>
            </a:r>
          </a:p>
        </p:txBody>
      </p:sp>
      <p:pic>
        <p:nvPicPr>
          <p:cNvPr id="4" name="Picture 3" descr="schoeppler22_fig3a.png"/>
          <p:cNvPicPr>
            <a:picLocks noChangeAspect="1"/>
          </p:cNvPicPr>
          <p:nvPr/>
        </p:nvPicPr>
        <p:blipFill>
          <a:blip r:embed="rId2"/>
          <a:stretch>
            <a:fillRect/>
          </a:stretch>
        </p:blipFill>
        <p:spPr>
          <a:xfrm>
            <a:off x="6504127" y="1280160"/>
            <a:ext cx="5120640" cy="3645538"/>
          </a:xfrm>
          <a:prstGeom prst="rect">
            <a:avLst/>
          </a:prstGeom>
        </p:spPr>
      </p:pic>
      <p:sp>
        <p:nvSpPr>
          <p:cNvPr id="5" name="Figure caption"/>
          <p:cNvSpPr txBox="1"/>
          <p:nvPr/>
        </p:nvSpPr>
        <p:spPr>
          <a:xfrm>
            <a:off x="6504127" y="501713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(2022), Fig. 3(A). Resting-frequency and skin-temperature peaks differ in time during activation.</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 changing sensory band can coexist with precise feedback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43C"/>
                </a:solidFill>
                <a:latin typeface="Arial"/>
              </a:rPr>
              <a:t>State-dependent resting-frequency changes and the coupling of resting and reference frequencies support an </a:t>
            </a:r>
            <a:r>
              <a:rPr sz="1600" b="1" i="0">
                <a:solidFill>
                  <a:srgbClr val="294858"/>
                </a:solidFill>
                <a:latin typeface="Arial"/>
              </a:rPr>
              <a:t>adaptive operating band</a:t>
            </a:r>
            <a:r>
              <a:rPr sz="1600" b="0" i="0">
                <a:solidFill>
                  <a:srgbClr val="27343C"/>
                </a:solidFill>
                <a:latin typeface="Arial"/>
              </a:rPr>
              <a:t>: the feedback system can regulate around a preferred frequency that changes with the animal’s physiological state.</a:t>
            </a:r>
          </a:p>
          <a:p>
            <a:pPr algn="l">
              <a:lnSpc>
                <a:spcPct val="108000"/>
              </a:lnSpc>
              <a:spcAft>
                <a:spcPts val="960"/>
              </a:spcAft>
            </a:pPr>
            <a:r>
              <a:rPr sz="1600" b="0" i="0">
                <a:solidFill>
                  <a:srgbClr val="27343C"/>
                </a:solidFill>
                <a:latin typeface="Arial"/>
              </a:rPr>
              <a:t>Schoeppler and colleagues proposed that the controlled variable is activation of the cochlear foveal resonance system. </a:t>
            </a:r>
            <a:r>
              <a:rPr sz="1600" b="1" i="0">
                <a:solidFill>
                  <a:srgbClr val="294858"/>
                </a:solidFill>
                <a:latin typeface="Arial"/>
              </a:rPr>
              <a:t>Afferent pathways</a:t>
            </a:r>
            <a:r>
              <a:rPr sz="1600" b="0" i="0">
                <a:solidFill>
                  <a:srgbClr val="27343C"/>
                </a:solidFill>
                <a:latin typeface="Arial"/>
              </a:rPr>
              <a:t> carry sensory activity toward control centers; </a:t>
            </a:r>
            <a:r>
              <a:rPr sz="1600" b="1" i="0">
                <a:solidFill>
                  <a:srgbClr val="294858"/>
                </a:solidFill>
                <a:latin typeface="Arial"/>
              </a:rPr>
              <a:t>efferent pathways</a:t>
            </a:r>
            <a:r>
              <a:rPr sz="1600" b="0" i="0">
                <a:solidFill>
                  <a:srgbClr val="27343C"/>
                </a:solidFill>
                <a:latin typeface="Arial"/>
              </a:rPr>
              <a:t> carry motor commands toward the vocal apparatus, changing the next emitted call.</a:t>
            </a:r>
          </a:p>
          <a:p>
            <a:pPr algn="l">
              <a:lnSpc>
                <a:spcPct val="108000"/>
              </a:lnSpc>
              <a:spcAft>
                <a:spcPts val="960"/>
              </a:spcAft>
            </a:pPr>
            <a:r>
              <a:rPr sz="1600" b="0" i="0">
                <a:solidFill>
                  <a:srgbClr val="27343C"/>
                </a:solidFill>
                <a:latin typeface="Arial"/>
              </a:rPr>
              <a:t>The warming experiment measured skin temperature and emitted frequency, not cochlear activation or a complete neural circuit. Its proposed control account must therefore be distinguished from the directly observed frequency shifts. The behavioral and peripheral studies together constrain how a moving sensory target can remain compatible with precise echo regulation.</a:t>
            </a:r>
          </a:p>
        </p:txBody>
      </p:sp>
      <p:pic>
        <p:nvPicPr>
          <p:cNvPr id="4" name="Picture 3" descr="schoeppler22_fig5.png"/>
          <p:cNvPicPr>
            <a:picLocks noChangeAspect="1"/>
          </p:cNvPicPr>
          <p:nvPr/>
        </p:nvPicPr>
        <p:blipFill>
          <a:blip r:embed="rId2"/>
          <a:stretch>
            <a:fillRect/>
          </a:stretch>
        </p:blipFill>
        <p:spPr>
          <a:xfrm>
            <a:off x="7366846" y="1280160"/>
            <a:ext cx="339520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(2022), Fig. 5. Resting frequency covaries with skin temperature across activation and recovery.</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(2022); Schoeppler et al. (2018); 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Key takeaways</a:t>
            </a:r>
          </a:p>
        </p:txBody>
      </p:sp>
      <p:sp>
        <p:nvSpPr>
          <p:cNvPr id="3" name="Rectangle 2"/>
          <p:cNvSpPr/>
          <p:nvPr/>
        </p:nvSpPr>
        <p:spPr>
          <a:xfrm>
            <a:off x="566928" y="1234440"/>
            <a:ext cx="5391759" cy="1478279"/>
          </a:xfrm>
          <a:prstGeom prst="rect">
            <a:avLst/>
          </a:prstGeom>
          <a:solidFill>
            <a:srgbClr val="EDF3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Echo frequency is the controlled signal.</a:t>
            </a:r>
            <a:r>
              <a:rPr sz="1600" b="0" i="0">
                <a:solidFill>
                  <a:srgbClr val="27343C"/>
                </a:solidFill>
                <a:latin typeface="Arial"/>
              </a:rPr>
              <a:t> CF-FM bats lower emitted CF frequency as approach raises echo frequency, maintaining echoes near an individual reference band.</a:t>
            </a:r>
          </a:p>
        </p:txBody>
      </p:sp>
      <p:sp>
        <p:nvSpPr>
          <p:cNvPr id="5" name="Rectangle 4"/>
          <p:cNvSpPr/>
          <p:nvPr/>
        </p:nvSpPr>
        <p:spPr>
          <a:xfrm>
            <a:off x="6233007" y="1234440"/>
            <a:ext cx="5391759" cy="1478279"/>
          </a:xfrm>
          <a:prstGeom prst="rect">
            <a:avLst/>
          </a:prstGeom>
          <a:solidFill>
            <a:srgbClr val="EDF3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Resting and reference frequencies differ.</a:t>
            </a:r>
            <a:r>
              <a:rPr sz="1600" b="0" i="0">
                <a:solidFill>
                  <a:srgbClr val="27343C"/>
                </a:solidFill>
                <a:latin typeface="Arial"/>
              </a:rPr>
              <a:t> The resting emission baseline usually lies slightly below the compensated echo reference; their offset must be measured at the same time.</a:t>
            </a:r>
          </a:p>
        </p:txBody>
      </p:sp>
      <p:sp>
        <p:nvSpPr>
          <p:cNvPr id="7" name="Rectangle 6"/>
          <p:cNvSpPr/>
          <p:nvPr/>
        </p:nvSpPr>
        <p:spPr>
          <a:xfrm>
            <a:off x="566928" y="2987040"/>
            <a:ext cx="5391759" cy="1478279"/>
          </a:xfrm>
          <a:prstGeom prst="rect">
            <a:avLst/>
          </a:prstGeom>
          <a:solidFill>
            <a:srgbClr val="EDF3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Audible feedback acts in both directions.</a:t>
            </a:r>
            <a:r>
              <a:rPr sz="1600" b="0" i="0">
                <a:solidFill>
                  <a:srgbClr val="27343C"/>
                </a:solidFill>
                <a:latin typeface="Arial"/>
              </a:rPr>
              <a:t> Horseshoe bats lower calls for higher echoes and can raise calls for sufficiently audible lower echoes, with unequal correction ranges.</a:t>
            </a:r>
          </a:p>
        </p:txBody>
      </p:sp>
      <p:sp>
        <p:nvSpPr>
          <p:cNvPr id="9" name="Rectangle 8"/>
          <p:cNvSpPr/>
          <p:nvPr/>
        </p:nvSpPr>
        <p:spPr>
          <a:xfrm>
            <a:off x="6233007" y="2987040"/>
            <a:ext cx="5391759" cy="1478279"/>
          </a:xfrm>
          <a:prstGeom prst="rect">
            <a:avLst/>
          </a:prstGeom>
          <a:solidFill>
            <a:srgbClr val="EDF3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The auditory fovea begins peripherally.</a:t>
            </a:r>
            <a:r>
              <a:rPr sz="1600" b="0" i="0">
                <a:solidFill>
                  <a:srgbClr val="27343C"/>
                </a:solidFill>
                <a:latin typeface="Arial"/>
              </a:rPr>
              <a:t> Cochlear resonance and sharply tuned peripheral neurons concentrate sensitivity and selectivity near the CF2 echo band.</a:t>
            </a:r>
          </a:p>
        </p:txBody>
      </p:sp>
      <p:sp>
        <p:nvSpPr>
          <p:cNvPr id="11" name="Rectangle 10"/>
          <p:cNvSpPr/>
          <p:nvPr/>
        </p:nvSpPr>
        <p:spPr>
          <a:xfrm>
            <a:off x="566928" y="4739640"/>
            <a:ext cx="5391759" cy="1478279"/>
          </a:xfrm>
          <a:prstGeom prst="rect">
            <a:avLst/>
          </a:prstGeom>
          <a:solidFill>
            <a:srgbClr val="EDF3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94858"/>
                </a:solidFill>
                <a:latin typeface="Arial"/>
              </a:rPr>
              <a:t>Neural codes include timing and population location.</a:t>
            </a:r>
            <a:r>
              <a:rPr sz="1500" b="0" i="0">
                <a:solidFill>
                  <a:srgbClr val="27343C"/>
                </a:solidFill>
                <a:latin typeface="Arial"/>
              </a:rPr>
              <a:t> Midbrain neurons can retain narrow duration tuning near resonance; cortical populations organize frequency and preferred amplitude.</a:t>
            </a:r>
          </a:p>
        </p:txBody>
      </p:sp>
      <p:sp>
        <p:nvSpPr>
          <p:cNvPr id="13" name="Rectangle 12"/>
          <p:cNvSpPr/>
          <p:nvPr/>
        </p:nvSpPr>
        <p:spPr>
          <a:xfrm>
            <a:off x="6233007" y="4739640"/>
            <a:ext cx="5391759" cy="1478279"/>
          </a:xfrm>
          <a:prstGeom prst="rect">
            <a:avLst/>
          </a:prstGeom>
          <a:solidFill>
            <a:srgbClr val="EDF3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Precision can track a changing operating band.</a:t>
            </a:r>
            <a:r>
              <a:rPr sz="1600" b="0" i="0">
                <a:solidFill>
                  <a:srgbClr val="27343C"/>
                </a:solidFill>
                <a:latin typeface="Arial"/>
              </a:rPr>
              <a:t> Resting and reference frequencies can shift together, and resting calls change during warming without a flight-induced Doppler shift.</a:t>
            </a:r>
          </a:p>
        </p:txBody>
      </p:sp>
      <p:sp>
        <p:nvSpPr>
          <p:cNvPr id="15" name="Rectangle 14"/>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Suga (1977); Schuller et al. (1974); Metzner et al. (2002); Schoeppler et al. (2018, 2022)</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 echolocation I: CF-FM bats and Doppler-shift compensation (Suga)</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