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Comparative Neuroethics: The Neurobiology of Captivity, Stress, and Behavioral Pathology Across Taxa</a:t>
            </a:r>
          </a:p>
          <a:p>
            <a:r>
              <a:t>Lecture 53. NEUR 411 · NEUROETHOLOGY · FALL 2026. Date TBD.</a:t>
            </a:r>
          </a:p>
          <a:p/>
          <a:p>
            <a:r>
              <a:t>Figure: Gottlieb et al. (2015), Fig. 1. Rhesus macaques using a foraging device.</a:t>
            </a:r>
          </a:p>
          <a:p>
            <a:r>
              <a:t>Figure source: https://doi.org/10.1016/j.applanim.2015.08.005</a:t>
            </a:r>
          </a:p>
          <a:p/>
          <a:p>
            <a:r>
              <a:t>References:</a:t>
            </a:r>
          </a:p>
          <a:p>
            <a:r>
              <a:t>Gottlieb DH, Maier A, Coleman K (2015). Evaluation of environmental and intrinsic factors that contribute to stereotypic behavior in captive rhesus macaques (Macaca mulatta). Applied Animal Behaviour Science 171: 184-191. https://doi.org/10.1016/j.applanim.2015.08.005</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Stereotypy is repetitive behavior with little variation and no obvious immediate goal. Bailoo and colleagues recorded female C57 and SWISS mice in barren, nesting-only, enriched, or super-enriched housing. Video scoring expressed stereotypy as a proportion of active time, separating repetition from simple inactivity.</a:t>
            </a:r>
          </a:p>
          <a:p>
            <a:r>
              <a:t>• The super-enriched condition connected two cages and provided shelters, climbing opportunities, tunnels, and regularly changed objects. Stereotypy was greatly reduced in both strains compared with the other conditions; nesting material or modest enrichment did not produce a consistent equivalent reduction.</a:t>
            </a:r>
          </a:p>
          <a:p>
            <a:r>
              <a:t>• The result links a substantial change in living conditions to reduced behavioral pathology. It does not establish that every repetitive act reflects the same experience, or that a mouse without visible stereotypy has good welfare. Behavioral expression depends on the opportunities available in the enclosure.</a:t>
            </a:r>
          </a:p>
          <a:p>
            <a:r>
              <a:t>• Bar mouthing, circling, twirling, and back-flipping were scored as distinct patterns. Their responses varied between strains, so a total stereotypy score summarizes behaviors that may have different origins. These experimentally allocated housing conditions provide stronger evidence about housing effects than a comparison of unrelated facilities.</a:t>
            </a:r>
          </a:p>
          <a:p/>
          <a:p>
            <a:r>
              <a:t>References:</a:t>
            </a:r>
          </a:p>
          <a:p>
            <a:r>
              <a:t>Bailoo JD, Murphy E, Boada-Saña M, Varholick JA, Hintze S, Baussière C, Hahn KC, Göpfert C, Palme R, Voelkl B, Würbel H (2018). Effects of Cage Enrichment on Behavior, Welfare and Outcome Variability in Female Mice. Frontiers in Behavioral Neuroscience 12: 232. https://doi.org/10.3389/fnbeh.2018.00232</a:t>
            </a:r>
          </a:p>
          <a:p/>
          <a:p>
            <a:r>
              <a:t>Figure: Bailoo et al. (2018), Fig. 3. Stereotypy under four housing conditions.</a:t>
            </a:r>
          </a:p>
          <a:p>
            <a:r>
              <a:t>Figure source: https://doi.org/10.3389/fnbeh.2018.00232</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Environmental enrichment supplies resources that allow more species-typical activity than basic food, water, and bedding alone. In the same experiment, mice were scored as engaged when they contacted an enrichment item or manipulated the housing environment, including bedding in barren cages.</a:t>
            </a:r>
          </a:p>
          <a:p>
            <a:r>
              <a:t>• Mice in the super-enriched condition engaged with their environment during more than 85% of observed intervals on average. Barren-housed mice engaged least, while nesting and enriched cages supported intermediate levels. The comparison therefore measures use of resources rather than their mere presence.</a:t>
            </a:r>
          </a:p>
          <a:p>
            <a:r>
              <a:t>• Contact with objects is not a direct measure of pleasure. Shelter use can also obscure behavior from an observer, and engagement combines resting inside a shelter with active manipulation. Resource provision should be evaluated alongside repetitive behavior and other outcomes rather than treated as an automatically effective label.</a:t>
            </a:r>
          </a:p>
          <a:p>
            <a:r>
              <a:t>• The ethogram counted being inside, on, or under an enrichment object as contact. A protected sleeping location and an object used for exploration can both be valuable resources, but the scoring method does not identify which motivation produced each observation. The mice were socially housed across treatments.</a:t>
            </a:r>
          </a:p>
          <a:p/>
          <a:p>
            <a:r>
              <a:t>References:</a:t>
            </a:r>
          </a:p>
          <a:p>
            <a:r>
              <a:t>Bailoo JD, Murphy E, Boada-Saña M, Varholick JA, Hintze S, Baussière C, Hahn KC, Göpfert C, Palme R, Voelkl B, Würbel H (2018). Effects of Cage Enrichment on Behavior, Welfare and Outcome Variability in Female Mice. Frontiers in Behavioral Neuroscience 12: 232. https://doi.org/10.3389/fnbeh.2018.00232</a:t>
            </a:r>
          </a:p>
          <a:p/>
          <a:p>
            <a:r>
              <a:t>Figure: Bailoo et al. (2018), Fig. 2. Engagement with enriched housing.</a:t>
            </a:r>
          </a:p>
          <a:p>
            <a:r>
              <a:t>Figure source: https://doi.org/10.3389/fnbeh.2018.00232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Glucocorticoids are adrenal hormones involved in the physiological response to stress; corticosterone is a major rodent glucocorticoid. Bailoo and colleagues measured its fecal metabolites, products formed after hormone processing, to compare endocrine outcomes without taking blood during the measurement.</a:t>
            </a:r>
          </a:p>
          <a:p>
            <a:r>
              <a:t>• SWISS mice in barren and nesting-only cages had higher metabolite concentrations than mice in enriched and super-enriched cages. C57 mice did not exhibit the same consistent housing effect. Concentrations were reported in ng per 0.05 g of feces, and excretion reflects secretion delayed by approximately 8–10 hours.</a:t>
            </a:r>
          </a:p>
          <a:p>
            <a:r>
              <a:t>• The collections followed cage changes, so the measurements partly reflect responses to husbandry. A lower metabolite value cannot be equated with uniformly lower distress, and a housing effect in one genetic background need not generalize to another. Behavioral and endocrine measures describe related but distinct biological processes.</a:t>
            </a:r>
          </a:p>
          <a:p>
            <a:r>
              <a:t>• Fecal measurements integrate secretion over a delay rather than capturing the circulating concentration at the exact moment of collection. The strain difference persisted despite common housing categories and measurement procedures. Consequently, an endocrine criterion applied identically to every strain could miss a meaningful behavioral improvement.</a:t>
            </a:r>
          </a:p>
          <a:p/>
          <a:p>
            <a:r>
              <a:t>References:</a:t>
            </a:r>
          </a:p>
          <a:p>
            <a:r>
              <a:t>Bailoo JD, Murphy E, Boada-Saña M, Varholick JA, Hintze S, Baussière C, Hahn KC, Göpfert C, Palme R, Voelkl B, Würbel H (2018). Effects of Cage Enrichment on Behavior, Welfare and Outcome Variability in Female Mice. Frontiers in Behavioral Neuroscience 12: 232. https://doi.org/10.3389/fnbeh.2018.00232</a:t>
            </a:r>
          </a:p>
          <a:p/>
          <a:p>
            <a:r>
              <a:t>Figure: Bailoo et al. (2018), Fig. 10. Fecal glucocorticoid metabolites by strain and housing.</a:t>
            </a:r>
          </a:p>
          <a:p>
            <a:r>
              <a:t>Figure source: https://doi.org/10.3389/fnbeh.2018.00232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Perseveration is inappropriate persistence in a response pattern when changing responses would be useful. Mice completed a two-choice guessing task in which reward probabilities depended on their preceding choices. This assessed inhibitory control separately from home-cage stereotypy.</a:t>
            </a:r>
          </a:p>
          <a:p>
            <a:r>
              <a:t>• Housing condition and stereotypy level did not consistently predict the perseveration score. A separate spatial judgment task trained mice to approach a rewarded location and withhold approach at a nonrewarded location, then tested three intermediate locations. Enrichment did not cause a consistent shift toward approaching ambiguous cues across both strains.</a:t>
            </a:r>
          </a:p>
          <a:p>
            <a:r>
              <a:t>• These negative results coexist with reduced stereotypy in super-enriched cages. They limit the inference that one visible improvement necessarily normalizes every cognitive outcome. A welfare assessment supported by several independent measurements is less dependent on the assumptions of any single behavioral task.</a:t>
            </a:r>
          </a:p>
          <a:p>
            <a:r>
              <a:t>• The judgment task measures decisions under uncertainty; it does not ask the mouse to report a feeling. Its near-negative trials were particularly variable. The appropriate conclusion is that these tasks did not yield a consistent enrichment effect, rather than that the mice lacked emotional states or that the housing changes were ineffective.</a:t>
            </a:r>
          </a:p>
          <a:p/>
          <a:p>
            <a:r>
              <a:t>References:</a:t>
            </a:r>
          </a:p>
          <a:p>
            <a:r>
              <a:t>Bailoo JD, Murphy E, Boada-Saña M, Varholick JA, Hintze S, Baussière C, Hahn KC, Göpfert C, Palme R, Voelkl B, Würbel H (2018). Effects of Cage Enrichment on Behavior, Welfare and Outcome Variability in Female Mice. Frontiers in Behavioral Neuroscience 12: 232. https://doi.org/10.3389/fnbeh.2018.00232</a:t>
            </a:r>
          </a:p>
          <a:p/>
          <a:p>
            <a:r>
              <a:t>Figure: Bailoo et al. (2018), Fig. 12. Perseveration in a guessing task.</a:t>
            </a:r>
          </a:p>
          <a:p>
            <a:r>
              <a:t>Figure source: https://doi.org/10.3389/fnbeh.2018.00232</a:t>
            </a:r>
          </a:p>
          <a:p/>
          <a:p>
            <a:r>
              <a:t>Figure: Bailoo et al. (2018), Fig. 14. Responses to spatially ambiguous cues.</a:t>
            </a:r>
          </a:p>
          <a:p>
            <a:r>
              <a:t>Figure source: https://doi.org/10.3389/fnbeh.2018.00232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Gottlieb and colleagues assessed captive rhesus macaques using 5-minute behavioral observations over 11 years. Motor stereotypies were repeated whole-body movements such as pacing, rocking, and somersaulting. Housing categories distinguished solitary cages, protected contact through bars, and full access to a social partner.</a:t>
            </a:r>
          </a:p>
          <a:p>
            <a:r>
              <a:t>• Full-contact pair housing was associated with less stereotypy than either solitary housing or protected contact. The protected-contact partition had bars 4.5 cm apart but did not provide the same association with reduced stereotypy. Foraging devices were also associated with a lower likelihood of stereotypy when present.</a:t>
            </a:r>
          </a:p>
          <a:p>
            <a:r>
              <a:t>• The study controlled analytically for measured individual differences and repeated observations, but housing was not randomly assigned. The findings support providing meaningful social and foraging opportunities while leaving open the influence of selection into different housing conditions. Visual contact alone was not equivalent to full social access in this population.</a:t>
            </a:r>
          </a:p>
          <a:p>
            <a:r>
              <a:t>• All monkeys had visual access to another monkey, including those classed as singly housed. The comparison concerns the degree of interaction, not complete sensory isolation. Compatible full-contact pairing permits a wider range of social actions, but the study did not establish which particular action accounted for the association.</a:t>
            </a:r>
          </a:p>
          <a:p/>
          <a:p>
            <a:r>
              <a:t>References:</a:t>
            </a:r>
          </a:p>
          <a:p>
            <a:r>
              <a:t>Gottlieb DH, Maier A, Coleman K (2015). Evaluation of environmental and intrinsic factors that contribute to stereotypic behavior in captive rhesus macaques (Macaca mulatta). Applied Animal Behaviour Science 171: 184-191. https://doi.org/10.1016/j.applanim.2015.08.005</a:t>
            </a:r>
          </a:p>
          <a:p/>
          <a:p>
            <a:r>
              <a:t>Figure: Gottlieb et al. (2015), Fig. 2. Motor stereotypy across social housing conditions.</a:t>
            </a:r>
          </a:p>
          <a:p>
            <a:r>
              <a:t>Figure source: https://doi.org/10.1016/j.applanim.2015.08.005</a:t>
            </a:r>
          </a:p>
          <a:p/>
          <a:p>
            <a:r>
              <a:t>Figure: Gottlieb et al. (2015), Fig. 1. Rhesus macaques using a foraging device.</a:t>
            </a:r>
          </a:p>
          <a:p>
            <a:r>
              <a:t>Figure source: https://doi.org/10.1016/j.applanim.2015.08.005</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Behavioral inhibition describes withdrawal from unfamiliar situations. After observing stereotypy, investigators presented a novel food item and recorded inspection for 3 minutes. Macaques inspecting within 5 seconds were classified as bold; later inspection was moderate, and no inspection was inhibited.</a:t>
            </a:r>
          </a:p>
          <a:p>
            <a:r>
              <a:t>• Bold and moderate responders were more likely to express motor stereotypy than inhibited responders. The association remained in a model that also included housing, enrichment, rearing history, ancestry, and age. A visibly active monkey and a withdrawn monkey can therefore express an adverse environment differently.</a:t>
            </a:r>
          </a:p>
          <a:p>
            <a:r>
              <a:t>• The novel-object response is an operational measure of temperament rather than a diagnosis. Absence of pacing in an inhibited individual does not by itself establish favorable welfare. Conversely, the association does not prove that bold temperament causes pathology; shared developmental influences could contribute to both behaviors.</a:t>
            </a:r>
          </a:p>
          <a:p>
            <a:r>
              <a:t>• Inspection included deliberate visual, olfactory, or tactile examination of the item. A monkey did not have to eat it to count as inspecting. This distinction separates willingness to investigate novelty from food consumption and prevents interpreting every failure to eat as a failure to approach.</a:t>
            </a:r>
          </a:p>
          <a:p/>
          <a:p>
            <a:r>
              <a:t>References:</a:t>
            </a:r>
          </a:p>
          <a:p>
            <a:r>
              <a:t>Gottlieb DH, Maier A, Coleman K (2015). Evaluation of environmental and intrinsic factors that contribute to stereotypic behavior in captive rhesus macaques (Macaca mulatta). Applied Animal Behaviour Science 171: 184-191. https://doi.org/10.1016/j.applanim.2015.08.005</a:t>
            </a:r>
          </a:p>
          <a:p/>
          <a:p>
            <a:r>
              <a:t>Figure: Gottlieb et al. (2015), Fig. 3. Motor stereotypy and novel-object responses.</a:t>
            </a:r>
          </a:p>
          <a:p>
            <a:r>
              <a:t>Figure source: https://doi.org/10.1016/j.applanim.2015.08.005</a:t>
            </a:r>
          </a:p>
          <a:p/>
          <a:p>
            <a:r>
              <a:t>Figure: Gottlieb et al. (2015), Fig. 1. Rhesus macaques using a foraging device.</a:t>
            </a:r>
          </a:p>
          <a:p>
            <a:r>
              <a:t>Figure source: https://doi.org/10.1016/j.applanim.2015.08.005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macaque analysis also classified the environment experienced during the first 6 months of life. Outdoor corral rearing provided a large social group, while other categories included sheltered groups, indoor groups, nursery rearing, and indoor mother rearing. These histories differed before the adult observations began.</a:t>
            </a:r>
          </a:p>
          <a:p>
            <a:r>
              <a:t>• Nursery-reared and indoor mother-reared monkeys had the highest modeled risk of motor stereotypy, whereas corral-reared animals had the lowest. Current housing and foraging conditions were included alongside early history, so the analysis did not attribute every adult difference to the cage occupied at observation.</a:t>
            </a:r>
          </a:p>
          <a:p>
            <a:r>
              <a:t>• Developmental history can influence the later expression of behavioral pathology and the apparent response to husbandry. These observational associations cannot identify a unique developmental mechanism or separate every correlated feature of rearing. They also mean that identical present-day cages need not produce identical behavior in animals with different past experiences.</a:t>
            </a:r>
          </a:p>
          <a:p>
            <a:r>
              <a:t>• The plots present observed proportions, while the model adjusts for several recorded characteristics. Neither representation establishes that early rearing is the only determinant. Individual ancestry and responses to novelty also predicted stereotypy, reinforcing the need to consider history when comparing animals or evaluating a change in housing.</a:t>
            </a:r>
          </a:p>
          <a:p/>
          <a:p>
            <a:r>
              <a:t>References:</a:t>
            </a:r>
          </a:p>
          <a:p>
            <a:r>
              <a:t>Gottlieb DH, Maier A, Coleman K (2015). Evaluation of environmental and intrinsic factors that contribute to stereotypic behavior in captive rhesus macaques (Macaca mulatta). Applied Animal Behaviour Science 171: 184-191. https://doi.org/10.1016/j.applanim.2015.08.005</a:t>
            </a:r>
          </a:p>
          <a:p/>
          <a:p>
            <a:r>
              <a:t>Figure: Gottlieb et al. (2015), Fig. 4. Motor stereotypy across early rearing histories.</a:t>
            </a:r>
          </a:p>
          <a:p>
            <a:r>
              <a:t>Figure source: https://doi.org/10.1016/j.applanim.2015.08.005</a:t>
            </a:r>
          </a:p>
          <a:p/>
          <a:p>
            <a:r>
              <a:t>Figure: Gottlieb et al. (2015), Fig. 1. Rhesus macaques using a foraging device.</a:t>
            </a:r>
          </a:p>
          <a:p>
            <a:r>
              <a:t>Figure source: https://doi.org/10.1016/j.applanim.2015.08.005</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Lattin and colleagues followed wild house sparrows during 4 weeks of laboratory captivity. Baseline corticosterone was sampled within 3 minutes of capture or room entry; the acute stress response was sampled after 30 minutes of standardized restraint. These measurements distinguish resting hormone levels from a response to challenge.</a:t>
            </a:r>
          </a:p>
          <a:p>
            <a:r>
              <a:t>• Baseline corticosterone rose after 2 weeks relative to capture. Restraint-induced concentrations depended on both time in captivity and life-history stage, including moult, winter, and breeding. Birds also lost body mass during captivity, while recorded behaviors changed over the same period.</a:t>
            </a:r>
          </a:p>
          <a:p>
            <a:r>
              <a:t>• Initial lower baseline hormone levels and stronger acute responses predicted some more favorable feeding or behavioral outcomes. A large challenge response is therefore not automatically evidence of poor coping. The observational design relates physiological variation to captivity responses without proving that altering corticosterone would reproduce those outcomes.</a:t>
            </a:r>
          </a:p>
          <a:p>
            <a:r>
              <a:t>• Seasonal categories were sampled at different times of year, so life-history stage accompanies other seasonal differences. Sampling rapidly reduces the contribution of capture disturbance to the baseline estimate. It cannot remove all earlier experiences or turn an endocrine association into a measure of subjective discomfort.</a:t>
            </a:r>
          </a:p>
          <a:p/>
          <a:p>
            <a:r>
              <a:t>References:</a:t>
            </a:r>
          </a:p>
          <a:p>
            <a:r>
              <a:t>Lattin CR, Merullo DP, Riters LV, Carson RE (2019). In vivo imaging of D2 receptors and corticosteroids predict behavioural responses to captivity stress in a wild bird. Scientific Reports 9: 10407. https://doi.org/10.1038/s41598-019-46845-x</a:t>
            </a:r>
          </a:p>
          <a:p/>
          <a:p>
            <a:r>
              <a:t>Figure: Lattin et al. (2019), Fig. 3(a,b). Baseline and restraint-induced corticosterone during captivity.</a:t>
            </a:r>
          </a:p>
          <a:p>
            <a:r>
              <a:t>Figure source: https://doi.org/10.1038/s41598-019-46845-x</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Dopamine is a transmitter that modifies neural signaling through several receptor classes. The striatum is a forebrain region involved in behavior and action selection. Investigators used positron emission tomography, or PET, to localize a radioactive ligand that binds dopamine D2 receptors in living sparrows.</a:t>
            </a:r>
          </a:p>
          <a:p>
            <a:r>
              <a:t>• The ligand, carbon-11 raclopride, accumulated more strongly in striatum than in the cerebellar reference region. Giving haloperidol at 0.5 mg/kg displaced striatal binding during a scan, supporting the interpretation that the signal included receptor-specific binding rather than only nonspecific tracer distribution.</a:t>
            </a:r>
          </a:p>
          <a:p>
            <a:r>
              <a:t>• Binding potential estimates available specific binding relative to a reference region. It is not a direct count of receptors and can depend on receptor availability and competition from endogenous dopamine. PET therefore connects neurochemical organization to captivity responses while retaining important limits on what a change in signal means.</a:t>
            </a:r>
          </a:p>
          <a:p>
            <a:r>
              <a:t>• The tracer was measured over a 60-minute scan in anesthetized animals. Regional localization and pharmacological displacement provide complementary checks on its interpretation. The study used a brain region with relatively little specific binding as the reference, rather than treating all radioactive signal as dopamine-receptor signal.</a:t>
            </a:r>
          </a:p>
          <a:p/>
          <a:p>
            <a:r>
              <a:t>References:</a:t>
            </a:r>
          </a:p>
          <a:p>
            <a:r>
              <a:t>Lattin CR, Merullo DP, Riters LV, Carson RE (2019). In vivo imaging of D2 receptors and corticosteroids predict behavioural responses to captivity stress in a wild bird. Scientific Reports 9: 10407. https://doi.org/10.1038/s41598-019-46845-x</a:t>
            </a:r>
          </a:p>
          <a:p/>
          <a:p>
            <a:r>
              <a:t>Figure: Lattin et al. (2019), Fig. 2(a,b). Raclopride time courses and haloperidol displacement.</a:t>
            </a:r>
          </a:p>
          <a:p>
            <a:r>
              <a:t>Figure source: https://doi.org/10.1038/s41598-019-46845-x</a:t>
            </a:r>
          </a:p>
          <a:p/>
          <a:p>
            <a:r>
              <a:t>Figure: Lattin et al. (2019), Fig. 5. PET localization of striatum and cerebellum.</a:t>
            </a:r>
          </a:p>
          <a:p>
            <a:r>
              <a:t>Figure source: https://doi.org/10.1038/s41598-019-46845-x</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Sparrows underwent a first D2-receptor PET scan 24 hours after capture, with a subset scanned again after 4 weeks. Striatal binding potential decreased in moulting birds, while comparable decreases were not detected in winter or breeding birds. The neural response to captivity therefore differed by life-history stage.</a:t>
            </a:r>
          </a:p>
          <a:p>
            <a:r>
              <a:t>• Larger declines in binding were associated with more feather ruffling and beak wiping during captivity. Higher initial binding predicted more feeding at early assessments but lower body mass later, so receptor binding did not track every behavioral and physiological endpoint in the same direction.</a:t>
            </a:r>
          </a:p>
          <a:p>
            <a:r>
              <a:t>• These associations are consistent with dopamine-related changes contributing to captivity responses, but do not establish receptor loss or a human psychiatric disorder. The first scan was already after capture, so it was not an undisturbed wild baseline. A seasonal, individual, and temporal interpretation is needed before using PET as a welfare marker.</a:t>
            </a:r>
          </a:p>
          <a:p>
            <a:r>
              <a:t>• Feather ruffling, beak wiping, and preening were measured separately, with different associations. Their interpretation as anxiety-related behaviors is more constrained than a direct emotional report. An observed fall in raclopride binding can have several neurochemical explanations, and the experiment did not selectively manipulate striatal receptor expression.</a:t>
            </a:r>
          </a:p>
          <a:p/>
          <a:p>
            <a:r>
              <a:t>References:</a:t>
            </a:r>
          </a:p>
          <a:p>
            <a:r>
              <a:t>Lattin CR, Merullo DP, Riters LV, Carson RE (2019). In vivo imaging of D2 receptors and corticosteroids predict behavioural responses to captivity stress in a wild bird. Scientific Reports 9: 10407. https://doi.org/10.1038/s41598-019-46845-x</a:t>
            </a:r>
          </a:p>
          <a:p/>
          <a:p>
            <a:r>
              <a:t>Figure: Lattin et al. (2019), Fig. 4. Striatal D2 binding after four weeks in captivity.</a:t>
            </a:r>
          </a:p>
          <a:p>
            <a:r>
              <a:t>Figure source: https://doi.org/10.1038/s41598-019-46845-x</a:t>
            </a:r>
          </a:p>
          <a:p/>
          <a:p>
            <a:r>
              <a:t>Figure: Lattin et al. (2019), Fig. 5. PET localization of striatum and cerebellum.</a:t>
            </a:r>
          </a:p>
          <a:p>
            <a:r>
              <a:t>Figure source: https://doi.org/10.1038/s41598-019-46845-x</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Rosenkranz and colleagues restrained male rats for 20 minutes on 7 days within a 9-day period; controls received comparable handling without restraint. Intracellular recordings then measured excitability, the number of action potentials elicited by a controlled input, in principal neurons of the lateral amygdala.</a:t>
            </a:r>
          </a:p>
          <a:p>
            <a:r>
              <a:t>• Current pulses lasted 800 milliseconds. Firing gain increased from 0.68 to 1.55 action potentials per 100 pA in repeatedly stressed rats. A single restraint session did not produce the same increase. Action potentials are brief regenerative electrical signals, so greater gain means more neural output for comparable injected current.</a:t>
            </a:r>
          </a:p>
          <a:p>
            <a:r>
              <a:t>• The increase persisted when neurons were held at −70 mV, limiting an explanation based solely on different resting voltages. These recordings establish a cellular effect of repeated restraint under anesthesia, not a direct measurement of conscious fear or the effects of every captive environment.</a:t>
            </a:r>
          </a:p>
          <a:p>
            <a:r>
              <a:t>• The anatomical image comes from Hegde and colleagues and identifies a rat basolateral-amygdala principal neuron; it is not a reconstruction of Rosenkranz’s recording site. Lateral-amygdala recordings interrogate one component of this amygdala complex. Matching membrane voltage isolates responsiveness from an otherwise confounding baseline-voltage difference.</a:t>
            </a:r>
          </a:p>
          <a:p/>
          <a:p>
            <a:r>
              <a:t>References:</a:t>
            </a:r>
          </a:p>
          <a:p>
            <a:r>
              <a:t>Rosenkranz JA, Venheim ER, Padival M (2010). Chronic Stress Causes Amygdala Hyperexcitability in Rodents. Biological Psychiatry 67: 1128-1136. https://doi.org/10.1016/j.biopsych.2010.02.008</a:t>
            </a:r>
          </a:p>
          <a:p>
            <a:r>
              <a:t>Hegde A, Suresh S, Mitra R (2020). Early-life short-term environmental enrichment counteracts the effects of stress on anxiety-like behavior, brain-derived neurotrophic factor and nuclear translocation of glucocorticoid receptors in the basolateral amygdala. Scientific Reports 10: 14053. https://doi.org/10.1038/s41598-020-70875-5</a:t>
            </a:r>
          </a:p>
          <a:p/>
          <a:p>
            <a:r>
              <a:t>Figure: Rosenkranz et al. (2010), Fig. 2(A–D). Current-evoked firing after repeated restraint.</a:t>
            </a:r>
          </a:p>
          <a:p>
            <a:r>
              <a:t>Figure source: https://doi.org/10.1016/j.biopsych.2010.02.008</a:t>
            </a:r>
          </a:p>
          <a:p/>
          <a:p>
            <a:r>
              <a:t>Figure: Hegde et al. (2020), Fig. 3(A). Golgi-stained basolateral amygdala principal neuron.</a:t>
            </a:r>
          </a:p>
          <a:p>
            <a:r>
              <a:t>Figure source: https://doi.org/10.1038/s41598-020-70875-5</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Input resistance describes how strongly a neuron’s membrane voltage changes for a small injected current. Repeatedly stressed rats had increased input resistance in lateral-amygdala neurons, and the membrane time constant was longer, indicating a changed response to subthreshold inputs that do not trigger spikes.</a:t>
            </a:r>
          </a:p>
          <a:p>
            <a:r>
              <a:t>• However, matching voltage and examining these passive properties did not account for the full increase in spike output. Blocking fast inhibitory inputs through GABA-A-related chloride conductances also left a stress-related excitability difference. GABA-A receptors are transmitter-gated channels that contribute to rapid inhibitory signaling in this preparation.</a:t>
            </a:r>
          </a:p>
          <a:p>
            <a:r>
              <a:t>• These controls separate a change in intrinsic spike regulation from a simple loss of the tested inhibitory input. They do not establish that inhibition is unchanged throughout the entire intact circuit. Stress can alter several cellular properties simultaneously, while one property remains insufficient to explain the observed firing difference.</a:t>
            </a:r>
          </a:p>
          <a:p>
            <a:r>
              <a:t>• Passive voltage responses and action-potential generation occur in different operating ranges of the membrane. The experiment compared responses below spike threshold as well as firing during depolarizing pulses. Blocking a receptor-related conductance in the recorded cell tests a particular mechanism; it does not remove every inhibitory pathway in the animal.</a:t>
            </a:r>
          </a:p>
          <a:p/>
          <a:p>
            <a:r>
              <a:t>References:</a:t>
            </a:r>
          </a:p>
          <a:p>
            <a:r>
              <a:t>Rosenkranz JA, Venheim ER, Padival M (2010). Chronic Stress Causes Amygdala Hyperexcitability in Rodents. Biological Psychiatry 67: 1128-1136. https://doi.org/10.1016/j.biopsych.2010.02.008</a:t>
            </a:r>
          </a:p>
          <a:p>
            <a:r>
              <a:t>Hegde A, Suresh S, Mitra R (2020). Early-life short-term environmental enrichment counteracts the effects of stress on anxiety-like behavior, brain-derived neurotrophic factor and nuclear translocation of glucocorticoid receptors in the basolateral amygdala. Scientific Reports 10: 14053. https://doi.org/10.1038/s41598-020-70875-5</a:t>
            </a:r>
          </a:p>
          <a:p/>
          <a:p>
            <a:r>
              <a:t>Figure: Rosenkranz et al. (2010), Fig. 3(A–D). Input resistance, voltage responses and membrane time constant.</a:t>
            </a:r>
          </a:p>
          <a:p>
            <a:r>
              <a:t>Figure source: https://doi.org/10.1016/j.biopsych.2010.02.008</a:t>
            </a:r>
          </a:p>
          <a:p/>
          <a:p>
            <a:r>
              <a:t>Figure: Hegde et al. (2020), Fig. 3(A). Golgi-stained basolateral amygdala principal neuron.</a:t>
            </a:r>
          </a:p>
          <a:p>
            <a:r>
              <a:t>Figure source: https://doi.org/10.1038/s41598-020-70875-5</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afterhyperpolarization is a period of more negative membrane voltage after spiking that restrains further firing. Calcium entering during activity can activate potassium channels; outward potassium current then contributes to this brake. The medium and slow afterhyperpolarizations were reduced after repeated restraint.</a:t>
            </a:r>
          </a:p>
          <a:p>
            <a:r>
              <a:t>• The slow component averaged 2.6 mV in controls and 0.7 mV in stressed rats. Pharmacologically blocking calcium entry reduced the afterhyperpolarization and diminished the excitability difference between groups. These interventions support a calcium-dependent contribution to the stress-related increase in firing.</a:t>
            </a:r>
          </a:p>
          <a:p>
            <a:r>
              <a:t>• The results implicate calcium-activated potassium-channel regulation, with small-conductance channels among the candidates. They do not directly identify a lost molecular subtype or quantify channel number. Reduced channel function and altered calcium coupling remain distinct possible mechanisms that the physiological measurements do not fully separate.</a:t>
            </a:r>
          </a:p>
          <a:p>
            <a:r>
              <a:t>• A weaker afterhyperpolarization allows a similar depolarizing drive to produce additional spikes because the post-burst voltage brake is smaller. The fast afterhyperpolarization after a single spike did not show the same clear group difference. This constrains the explanation rather than supporting a claim that every potassium-dependent process was impaired.</a:t>
            </a:r>
          </a:p>
          <a:p/>
          <a:p>
            <a:r>
              <a:t>References:</a:t>
            </a:r>
          </a:p>
          <a:p>
            <a:r>
              <a:t>Rosenkranz JA, Venheim ER, Padival M (2010). Chronic Stress Causes Amygdala Hyperexcitability in Rodents. Biological Psychiatry 67: 1128-1136. https://doi.org/10.1016/j.biopsych.2010.02.008</a:t>
            </a:r>
          </a:p>
          <a:p>
            <a:r>
              <a:t>Hegde A, Suresh S, Mitra R (2020). Early-life short-term environmental enrichment counteracts the effects of stress on anxiety-like behavior, brain-derived neurotrophic factor and nuclear translocation of glucocorticoid receptors in the basolateral amygdala. Scientific Reports 10: 14053. https://doi.org/10.1038/s41598-020-70875-5</a:t>
            </a:r>
          </a:p>
          <a:p/>
          <a:p>
            <a:r>
              <a:t>Figure: Rosenkranz et al. (2010), Fig. 5(A–D). Afterhyperpolarization and calcium-channel blockade.</a:t>
            </a:r>
          </a:p>
          <a:p>
            <a:r>
              <a:t>Figure source: https://doi.org/10.1016/j.biopsych.2010.02.008</a:t>
            </a:r>
          </a:p>
          <a:p/>
          <a:p>
            <a:r>
              <a:t>Figure: Hegde et al. (2020), Fig. 3(A). Golgi-stained basolateral amygdala principal neuron.</a:t>
            </a:r>
          </a:p>
          <a:p>
            <a:r>
              <a:t>Figure source: https://doi.org/10.1038/s41598-020-70875-5</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investigators administered 1-EBIO, a compound that enhances calcium-activated potassium-channel activity, after recording baseline excitability. At 10 mg/kg it increased the medium afterhyperpolarization and reduced excessive spike output in stressed rats toward the control range. Vehicle-treated animals provided a comparison for injection effects.</a:t>
            </a:r>
          </a:p>
          <a:p>
            <a:r>
              <a:t>• The same systemic treatment also altered elevated-plus-maze behavior. Repeatedly stressed vehicle-treated rats spent about 10 seconds in open arms, whereas treated stressed rats spent about 65 seconds. Total arm entries did not show a corresponding group difference, limiting a simple explanation based on general movement.</a:t>
            </a:r>
          </a:p>
          <a:p>
            <a:r>
              <a:t>• The neuronal and behavioral findings support a functional relationship between channel regulation and stress responses. Because the drug was delivered systemically, they do not prove that its behavioral effect arose exclusively in lateral amygdala. This experimental rescue is also not evidence that medication can replace appropriate housing.</a:t>
            </a:r>
          </a:p>
          <a:p>
            <a:r>
              <a:t>• The electrophysiological effect was sensitive to calcium-channel manipulation within the recorded neuron, strengthening the cellular interpretation. The behavioral intervention still acts throughout the animal. Open-arm exploration is an operational anxiety-related measure, and the study did not demonstrate a treatment for all forms of captivity-associated repetitive behavior.</a:t>
            </a:r>
          </a:p>
          <a:p/>
          <a:p>
            <a:r>
              <a:t>References:</a:t>
            </a:r>
          </a:p>
          <a:p>
            <a:r>
              <a:t>Rosenkranz JA, Venheim ER, Padival M (2010). Chronic Stress Causes Amygdala Hyperexcitability in Rodents. Biological Psychiatry 67: 1128-1136. https://doi.org/10.1016/j.biopsych.2010.02.008</a:t>
            </a:r>
          </a:p>
          <a:p>
            <a:r>
              <a:t>Hegde A, Suresh S, Mitra R (2020). Early-life short-term environmental enrichment counteracts the effects of stress on anxiety-like behavior, brain-derived neurotrophic factor and nuclear translocation of glucocorticoid receptors in the basolateral amygdala. Scientific Reports 10: 14053. https://doi.org/10.1038/s41598-020-70875-5</a:t>
            </a:r>
          </a:p>
          <a:p/>
          <a:p>
            <a:r>
              <a:t>Figure: Rosenkranz et al. (2010), Fig. 6(A–D). 1-EBIO effects on firing and open-arm exploration.</a:t>
            </a:r>
          </a:p>
          <a:p>
            <a:r>
              <a:t>Figure source: https://doi.org/10.1016/j.biopsych.2010.02.008</a:t>
            </a:r>
          </a:p>
          <a:p/>
          <a:p>
            <a:r>
              <a:t>Figure: Hegde et al. (2020), Fig. 3(A). Golgi-stained basolateral amygdala principal neuron.</a:t>
            </a:r>
          </a:p>
          <a:p>
            <a:r>
              <a:t>Figure source: https://doi.org/10.1038/s41598-020-70875-5</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Hegde and colleagues separated rat pups from dams for 3 hours daily between postnatal days 2 and 14. Enriched housing was provided from days 2 through 21, after which treatments ended. Adult testing at days 60–70 compared separation and enrichment in a crossed experimental design.</a:t>
            </a:r>
          </a:p>
          <a:p>
            <a:r>
              <a:t>• Pre-weaning enrichment increased adult exploration of the open-field center, while early separation reduced center exploration in standard housing. Total mobility did not differ clearly between separation groups. Adult corticosterone outcomes were also housing-dependent, although endocrine effects were not uniformly eliminated across every comparison.</a:t>
            </a:r>
          </a:p>
          <a:p>
            <a:r>
              <a:t>• The long interval between intervention and testing supports developmental consequences rather than only an immediate response to an object. Enrichment combined space, objects, climbing, food variation, and maternal experience, so the study cannot identify a single effective component. The reported outcomes apply to tested adult males, not automatically to both sexes.</a:t>
            </a:r>
          </a:p>
          <a:p>
            <a:r>
              <a:t>• The dam and litter shared the enriched cage, so altered maternal interactions may contribute alongside direct sensory experience of the pups. A heating pad was used during separation. The investigators measured adult outcomes after the enriched exposure had ended, separating early experience from a resource present during the behavioral test.</a:t>
            </a:r>
          </a:p>
          <a:p/>
          <a:p>
            <a:r>
              <a:t>References:</a:t>
            </a:r>
          </a:p>
          <a:p>
            <a:r>
              <a:t>Hegde A, Suresh S, Mitra R (2020). Early-life short-term environmental enrichment counteracts the effects of stress on anxiety-like behavior, brain-derived neurotrophic factor and nuclear translocation of glucocorticoid receptors in the basolateral amygdala. Scientific Reports 10: 14053. https://doi.org/10.1038/s41598-020-70875-5</a:t>
            </a:r>
          </a:p>
          <a:p/>
          <a:p>
            <a:r>
              <a:t>Figure: Hegde et al. (2020), Fig. 2(A,B). Adult open-field behavior and mobility.</a:t>
            </a:r>
          </a:p>
          <a:p>
            <a:r>
              <a:t>Figure source: https://doi.org/10.1038/s41598-020-70875-5</a:t>
            </a:r>
          </a:p>
          <a:p/>
          <a:p>
            <a:r>
              <a:t>Figure: Hegde et al. (2020), Fig. 1(A,B). Adult endocrine outcomes after pre-weaning treatments.</a:t>
            </a:r>
          </a:p>
          <a:p>
            <a:r>
              <a:t>Figure source: https://doi.org/10.1038/s41598-020-70875-5</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Dendrites receive neuronal inputs, and dendritic spines are small protrusions that commonly host excitatory synapses. Golgi staining visualized principal neurons in the basolateral amygdala. Investigators counted spines along 60 µm segments of primary and secondary dendrites in adulthood.</a:t>
            </a:r>
          </a:p>
          <a:p>
            <a:r>
              <a:t>• Early maternal separation increased spine density under both standard and enriched rearing conditions. Enrichment shifted density downward overall but did not abolish the separation-associated increase. The structural outcome therefore differed from a simple description in which enrichment completely erased every stress effect.</a:t>
            </a:r>
          </a:p>
          <a:p>
            <a:r>
              <a:t>• Spine density is a measure of neuronal structure, not a direct recording of synaptic strength or firing. More spines can indicate altered opportunities for input without establishing that each additional spine functions identically. The experiment links developmental conditions to adult anatomy but does not prove that spine changes caused the measured exploration differences.</a:t>
            </a:r>
          </a:p>
          <a:p>
            <a:r>
              <a:t>• Primary dendrites originate at the cell body; secondary dendrites branch from primary dendrites. The counts were expressed per micrometre, preserving the distinction between density and total dendritic extent. The stained neuron supplies anatomical context, while the density comparison quantifies a specific structural feature rather than total amygdala size.</a:t>
            </a:r>
          </a:p>
          <a:p/>
          <a:p>
            <a:r>
              <a:t>References:</a:t>
            </a:r>
          </a:p>
          <a:p>
            <a:r>
              <a:t>Hegde A, Suresh S, Mitra R (2020). Early-life short-term environmental enrichment counteracts the effects of stress on anxiety-like behavior, brain-derived neurotrophic factor and nuclear translocation of glucocorticoid receptors in the basolateral amygdala. Scientific Reports 10: 14053. https://doi.org/10.1038/s41598-020-70875-5</a:t>
            </a:r>
          </a:p>
          <a:p/>
          <a:p>
            <a:r>
              <a:t>Figure: Hegde et al. (2020), Fig. 3(A,B). Basolateral amygdala neurons and dendritic spine density.</a:t>
            </a:r>
          </a:p>
          <a:p>
            <a:r>
              <a:t>Figure source: https://doi.org/10.1038/s41598-020-70875-5</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glucocorticoid receptor, or GR, is an intracellular receptor whose nuclear localization can influence gene regulation. Investigators immunolabeled GR and identified nuclei with a DNA stain in adult basolateral-amygdala sections. They measured the fraction of nuclei containing detectable GR signal.</a:t>
            </a:r>
          </a:p>
          <a:p>
            <a:r>
              <a:t>• Early separation reduced the fraction with nuclear GR, while enrichment had an opposing effect. Total GR protein measured in tissue extracts did not differ clearly across the same treatment comparisons. Receptor location within cells can therefore change without a corresponding detectable increase in overall protein abundance.</a:t>
            </a:r>
          </a:p>
          <a:p>
            <a:r>
              <a:t>• The nuclear measurement was made at an endpoint, rather than by following receptor movement live. It supports altered localization but does not directly measure transport speed, receptor activation, or a specific transcriptional consequence. Treating staining overlap as a complete measure of hormone sensitivity would exceed the experiment.</a:t>
            </a:r>
          </a:p>
          <a:p>
            <a:r>
              <a:t>• The source micrographs retain their published 50 µm scale bars and colors. Nuclear colocalization was quantified relative to the nuclei examined, whereas the protein assay averaged across a tissue extract. These measurements answer different questions and should not be treated as interchangeable estimates of receptor function.</a:t>
            </a:r>
          </a:p>
          <a:p/>
          <a:p>
            <a:r>
              <a:t>References:</a:t>
            </a:r>
          </a:p>
          <a:p>
            <a:r>
              <a:t>Hegde A, Suresh S, Mitra R (2020). Early-life short-term environmental enrichment counteracts the effects of stress on anxiety-like behavior, brain-derived neurotrophic factor and nuclear translocation of glucocorticoid receptors in the basolateral amygdala. Scientific Reports 10: 14053. https://doi.org/10.1038/s41598-020-70875-5</a:t>
            </a:r>
          </a:p>
          <a:p/>
          <a:p>
            <a:r>
              <a:t>Figure: Hegde et al. (2020), Fig. 4(A,B). Glucocorticoid receptor localization in amygdala cells.</a:t>
            </a:r>
          </a:p>
          <a:p>
            <a:r>
              <a:t>Figure source: https://doi.org/10.1038/s41598-020-70875-5</a:t>
            </a:r>
          </a:p>
          <a:p/>
          <a:p>
            <a:r>
              <a:t>Figure: Hegde et al. (2020), Fig. 5(A,B). Total glucocorticoid receptor protein.</a:t>
            </a:r>
          </a:p>
          <a:p>
            <a:r>
              <a:t>Figure source: https://doi.org/10.1038/s41598-020-70875-5</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Brain-derived neurotrophic factor, or BDNF, is a signaling protein associated with neuronal growth and synaptic plasticity. Adult basolateral-amygdala tissue was immunolabeled after the early separation and enrichment treatments. The researchers quantified fluorescence distributions rather than relying only on visible appearance.</a:t>
            </a:r>
          </a:p>
          <a:p>
            <a:r>
              <a:t>• Pre-weaning enrichment changed the extent and intensity distribution of BDNF labeling. Separation modified these effects in enriched animals, while some comparisons in standard housing showed no clear difference. A separate tissue-protein assay did not yield the same simple overall enrichment effect across every endpoint.</a:t>
            </a:r>
          </a:p>
          <a:p>
            <a:r>
              <a:t>• These results associate early housing with a later molecular environment relevant to plasticity. They do not directly measure BDNF secretion, receptor activation, or the strength of identified synapses. A proposed link between this protein and behavioral resilience remains more tentative than the measured staining differences.</a:t>
            </a:r>
          </a:p>
          <a:p>
            <a:r>
              <a:t>• The fluorescent micrographs were published in their present colors and have not been recolored. Quantifying how signal is distributed among pixels differs from measuring total protein in an extract. The study provides converging developmental outcomes, but it does not selectively manipulate BDNF to establish a causal chain from enrichment to adult exploration.</a:t>
            </a:r>
          </a:p>
          <a:p/>
          <a:p>
            <a:r>
              <a:t>References:</a:t>
            </a:r>
          </a:p>
          <a:p>
            <a:r>
              <a:t>Hegde A, Suresh S, Mitra R (2020). Early-life short-term environmental enrichment counteracts the effects of stress on anxiety-like behavior, brain-derived neurotrophic factor and nuclear translocation of glucocorticoid receptors in the basolateral amygdala. Scientific Reports 10: 14053. https://doi.org/10.1038/s41598-020-70875-5</a:t>
            </a:r>
          </a:p>
          <a:p/>
          <a:p>
            <a:r>
              <a:t>Figure: Hegde et al. (2020), Fig. 7. BDNF immunolabelling in basolateral amygdala.</a:t>
            </a:r>
          </a:p>
          <a:p>
            <a:r>
              <a:t>Figure source: https://doi.org/10.1038/s41598-020-70875-5</a:t>
            </a:r>
          </a:p>
          <a:p/>
          <a:p>
            <a:r>
              <a:t>Figure: Hegde et al. (2020), Fig. 8(A,B). Quantification of BDNF fluorescence.</a:t>
            </a:r>
          </a:p>
          <a:p>
            <a:r>
              <a:t>Figure source: https://doi.org/10.1038/s41598-020-70875-5</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Matthews and colleagues isolated mice from cage mates for 24 hours, then recorded identified dopamine neurons in the dorsal raphe nucleus, a midbrain region. They measured glutamate-evoked currents through AMPA and NMDA receptors, two receptor classes that support excitatory synaptic signaling.</a:t>
            </a:r>
          </a:p>
          <a:p>
            <a:r>
              <a:t>• The AMPA-to-NMDA current ratio increased in dorsal-raphe dopamine neurons after isolation, including when isolation occurred in the familiar home cage. A comparable change was not detected in the sampled ventral-tegmental dopamine neurons. A novel cage without isolation did not reproduce the same increase.</a:t>
            </a:r>
          </a:p>
          <a:p>
            <a:r>
              <a:t>• Current rectification and sensitivity to NASPM supported a contribution from calcium-permeable AMPA receptors after isolation. Rectification means current flow depends asymmetrically on voltage. These measurements identify a rapid, region-specific synaptic response to social conditions, not a diagnosis of depression or a direct measure of the mouse’s subjective state.</a:t>
            </a:r>
          </a:p>
          <a:p>
            <a:r>
              <a:t>• NASPM preferentially blocks the tested calcium-permeable AMPA-receptor contribution. The familiar-cage control separates absence of companions from novelty of the physical enclosure. The study measured synaptic currents after isolation; it did not establish that every dopamine neuron or every glutamate synapse changed in the same way.</a:t>
            </a:r>
          </a:p>
          <a:p/>
          <a:p>
            <a:r>
              <a:t>References:</a:t>
            </a:r>
          </a:p>
          <a:p>
            <a:r>
              <a:t>Matthews GA, Nieh EH, Vander Weele CM, Halbert SA, Pradhan RV, Yosafat AS, Glober GF, Izadmehr EM, Thomas RE, Lacy GD, Wildes CP, Ungless MA, Tye KM (2016). Dorsal Raphe Dopamine Neurons Represent the Experience of Social Isolation. Cell 164: 617-631. https://doi.org/10.1016/j.cell.2015.12.040</a:t>
            </a:r>
          </a:p>
          <a:p/>
          <a:p>
            <a:r>
              <a:t>Figure: Matthews et al. (2016), Fig. 1(A–C). Dopamine-neuron identification and synaptic current ratios.</a:t>
            </a:r>
          </a:p>
          <a:p>
            <a:r>
              <a:t>Figure source: https://doi.org/10.1016/j.cell.2015.12.040</a:t>
            </a:r>
          </a:p>
          <a:p/>
          <a:p>
            <a:r>
              <a:t>Figure: Matthews et al. (2016), Fig. 1(D,E). Rectification and NASPM sensitivity after isolation.</a:t>
            </a:r>
          </a:p>
          <a:p>
            <a:r>
              <a:t>Figure source: https://doi.org/10.1016/j.cell.2015.12.040</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Fiber photometry samples fluorescent signals from a population of labeled neurons through an implanted optical fiber. GCaMP6m, a calcium-sensitive fluorescent protein, was expressed in dorsal-raphe dopamine neurons. Calcium changes provided an indirect measure of activity during interactions with another mouse.</a:t>
            </a:r>
          </a:p>
          <a:p>
            <a:r>
              <a:t>• After 24 hours of isolation, initial social contact produced larger calcium responses than contact after group housing. The population signal was aligned to interaction bouts, allowing neural responses to be compared with the timing of behavior. The authors also compared responses to a novel object.</a:t>
            </a:r>
          </a:p>
          <a:p>
            <a:r>
              <a:t>• The result relates recent social experience to neural responses during reunion. Photometry does not resolve every individual neuron or directly report dopamine release. Increased activity at social contact can reflect a changed motivational state without establishing whether that state has the same subjective character as human loneliness.</a:t>
            </a:r>
          </a:p>
          <a:p>
            <a:r>
              <a:t>• The indicator’s fluorescence depends on intracellular calcium, so it is a proxy rather than an action-potential recording. Population averaging can hide neurons with opposing responses. Social and object comparisons constrain a general novelty explanation, while the exact neural representation remains broader than any single emotional label.</a:t>
            </a:r>
          </a:p>
          <a:p/>
          <a:p>
            <a:r>
              <a:t>References:</a:t>
            </a:r>
          </a:p>
          <a:p>
            <a:r>
              <a:t>Matthews GA, Nieh EH, Vander Weele CM, Halbert SA, Pradhan RV, Yosafat AS, Glober GF, Izadmehr EM, Thomas RE, Lacy GD, Wildes CP, Ungless MA, Tye KM (2016). Dorsal Raphe Dopamine Neurons Represent the Experience of Social Isolation. Cell 164: 617-631. https://doi.org/10.1016/j.cell.2015.12.040</a:t>
            </a:r>
          </a:p>
          <a:p/>
          <a:p>
            <a:r>
              <a:t>Figure: Matthews et al. (2016), Fig. 2(C–F). Calcium responses during social contact after isolation.</a:t>
            </a:r>
          </a:p>
          <a:p>
            <a:r>
              <a:t>Figure source: https://doi.org/10.1016/j.cell.2015.12.040</a:t>
            </a:r>
          </a:p>
          <a:p/>
          <a:p>
            <a:r>
              <a:t>Figure: Matthews et al. (2016), Fig. 2(B). Calcium-indicator expression and optic-fiber placement in dorsal raphe.</a:t>
            </a:r>
          </a:p>
          <a:p>
            <a:r>
              <a:t>Figure source: https://doi.org/10.1016/j.cell.2015.12.040</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Optogenetics uses a light-sensitive protein to control selected neurons. Channelrhodopsin-2, a light-gated cation channel, was expressed in dorsal-raphe dopamine neurons. Blue-light pulses depolarized the cells and evoked action potentials, connecting a defined intervention to neuronal output.</a:t>
            </a:r>
          </a:p>
          <a:p>
            <a:r>
              <a:t>• Labeled axons reached the bed nucleus of the stria terminalis and the central amygdala, forebrain regions involved in behavioral state and threat-related processing. Fast-scan cyclic voltammetry, an electrochemical measurement, detected dopamine release in these targets during stimulation with 5-millisecond light pulses.</a:t>
            </a:r>
          </a:p>
          <a:p>
            <a:r>
              <a:t>• The combination of labeled projections and evoked transmitter release establishes functional communication from the manipulated cells to these regions. It does not establish that each target mediates the measured social behavior. Artificial synchronous stimulation also differs from the timing and recruitment of neurons during natural social interactions.</a:t>
            </a:r>
          </a:p>
          <a:p>
            <a:r>
              <a:t>• Brief voltage sweeps at a recording electrode identify a dopamine-associated electrochemical signal. The published target-region images supply the anatomical location of the projections. Detecting release confirms a transmitter output, but assigning a behavioral role to one projection would require an intervention that selectively isolates that projection.</a:t>
            </a:r>
          </a:p>
          <a:p/>
          <a:p>
            <a:r>
              <a:t>References:</a:t>
            </a:r>
          </a:p>
          <a:p>
            <a:r>
              <a:t>Matthews GA, Nieh EH, Vander Weele CM, Halbert SA, Pradhan RV, Yosafat AS, Glober GF, Izadmehr EM, Thomas RE, Lacy GD, Wildes CP, Ungless MA, Tye KM (2016). Dorsal Raphe Dopamine Neurons Represent the Experience of Social Isolation. Cell 164: 617-631. https://doi.org/10.1016/j.cell.2015.12.040</a:t>
            </a:r>
          </a:p>
          <a:p/>
          <a:p>
            <a:r>
              <a:t>Figure: Matthews et al. (2016), Fig. 3(A–H). Dopamine-neuron anatomy, projections and evoked dopamine release.</a:t>
            </a:r>
          </a:p>
          <a:p>
            <a:r>
              <a:t>Figure source: https://doi.org/10.1016/j.cell.2015.12.040</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Dorsal-raphe dopamine neurons were not limited to dopamine transmission. Optical stimulation of their axon terminals evoked rapid excitatory postsynaptic currents, electrical currents in target cells driven by excitatory synaptic input. Recordings were made in the bed nucleus of the stria terminalis and central amygdala.</a:t>
            </a:r>
          </a:p>
          <a:p>
            <a:r>
              <a:t>• A 5-millisecond light pulse evoked short-latency currents recorded at −70 mV. The currents persisted with tetrodotoxin and 4-aminopyridine, a combination used to test direct terminal-mediated transmission, and were consistent with glutamate release. Slower inhibitory responses reflected additional local circuit recruitment.</a:t>
            </a:r>
          </a:p>
          <a:p>
            <a:r>
              <a:t>• Co-transmission means the same defined neuronal population can signal through more than one transmitter. A behavior caused by manipulating these neurons therefore cannot automatically be attributed to dopamine alone. The experiment establishes glutamatergic signaling from the tested projections without identifying the complete contribution of each transmitter to social motivation.</a:t>
            </a:r>
          </a:p>
          <a:p>
            <a:r>
              <a:t>• Tetrodotoxin blocks voltage-gated sodium-channel-dependent spikes; 4-aminopyridine blocks potassium currents and permits sufficiently depolarized illuminated terminals to release transmitter. Persistence under that condition supports a direct connection rather than a chain of intervening spikes. It does not imply that the two transmitters act at identical receptors or timescales.</a:t>
            </a:r>
          </a:p>
          <a:p/>
          <a:p>
            <a:r>
              <a:t>References:</a:t>
            </a:r>
          </a:p>
          <a:p>
            <a:r>
              <a:t>Matthews GA, Nieh EH, Vander Weele CM, Halbert SA, Pradhan RV, Yosafat AS, Glober GF, Izadmehr EM, Thomas RE, Lacy GD, Wildes CP, Ungless MA, Tye KM (2016). Dorsal Raphe Dopamine Neurons Represent the Experience of Social Isolation. Cell 164: 617-631. https://doi.org/10.1016/j.cell.2015.12.040</a:t>
            </a:r>
          </a:p>
          <a:p/>
          <a:p>
            <a:r>
              <a:t>Figure: Matthews et al. (2016), Fig. 4(A–F). Target-region anatomy and optically evoked excitatory currents.</a:t>
            </a:r>
          </a:p>
          <a:p>
            <a:r>
              <a:t>Figure source: https://doi.org/10.1016/j.cell.2015.12.040</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investigators expressed halorhodopsin, a light-driven inhibitory protein, in dorsal-raphe dopamine neurons. They compared social preference while the same mice were group-housed and after 24 hours of isolation. Fluorescent-protein controls received light without the inhibitory protein.</a:t>
            </a:r>
          </a:p>
          <a:p>
            <a:r>
              <a:t>• Inhibition reduced social preference after isolation but did not produce the same detectable effect in group-housed mice. Spatial heat maps and time in the social zone captured behavior during the task. The circuit’s contribution therefore depended on the preceding social condition.</a:t>
            </a:r>
          </a:p>
          <a:p>
            <a:r>
              <a:t>• Separate activation experiments increased social approach but also produced avoidance of a stimulation-associated place. Together, these results distinguish a drive to seek social contact from simple positive reinforcement. They support state-dependent circuit function without proving that chronic isolation, captive primates, or human loneliness share an identical mechanism.</a:t>
            </a:r>
          </a:p>
          <a:p>
            <a:r>
              <a:t>• Necessity depends on the tested condition: reduced social preference after silencing does not mean that these neurons control every social encounter. The fluorescent-protein controls address effects of light delivery and handling. Activation and inhibition examine complementary questions, and neither manipulation alone establishes the subjective feeling accompanying the behavior.</a:t>
            </a:r>
          </a:p>
          <a:p/>
          <a:p>
            <a:r>
              <a:t>References:</a:t>
            </a:r>
          </a:p>
          <a:p>
            <a:r>
              <a:t>Matthews GA, Nieh EH, Vander Weele CM, Halbert SA, Pradhan RV, Yosafat AS, Glober GF, Izadmehr EM, Thomas RE, Lacy GD, Wildes CP, Ungless MA, Tye KM (2016). Dorsal Raphe Dopamine Neurons Represent the Experience of Social Isolation. Cell 164: 617-631. https://doi.org/10.1016/j.cell.2015.12.040</a:t>
            </a:r>
          </a:p>
          <a:p/>
          <a:p>
            <a:r>
              <a:t>Figure: Matthews et al. (2016), Fig. 6(A–E). Social preference during dopamine-neuron inhibition.</a:t>
            </a:r>
          </a:p>
          <a:p>
            <a:r>
              <a:t>Figure source: https://doi.org/10.1016/j.cell.2015.12.040</a:t>
            </a:r>
          </a:p>
          <a:p/>
          <a:p>
            <a:r>
              <a:t>Figure: Matthews et al. (2016), Fig. 2(B). Calcium-indicator expression and optic-fiber placement in dorsal raphe.</a:t>
            </a:r>
          </a:p>
          <a:p>
            <a:r>
              <a:t>Figure source: https://doi.org/10.1016/j.cell.2015.12.040</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Sen Sarma and colleagues reared zebrafish at 1, 3, or 6 fish/L with barren, gravel, plant, or gravel-plus-plant conditions. Stocking density is the number of fish per unit of water volume. Growth, aggression, endocrine responses, and behavior were measured to compare several consequences of these housing conditions.</a:t>
            </a:r>
          </a:p>
          <a:p>
            <a:r>
              <a:t>• Fish reared at 1 fish/L were longer and heavier than those at the higher densities. This growth result might appear favorable when considered alone. However, the same low-density groups also expressed more aggression and stronger cortisol release during a group challenge.</a:t>
            </a:r>
          </a:p>
          <a:p>
            <a:r>
              <a:t>• Body length in cm and body mass in g describe growth rather than the entire welfare state. Greater size can coexist with greater social conflict. The tested range does not establish that still higher densities are harmless, or that an optimal density can be specified independently of tank structure and social interactions.</a:t>
            </a:r>
          </a:p>
          <a:p>
            <a:r>
              <a:t>• The published figure separates males and females and reports growth directly. Density was crossed with several enrichment categories, allowing the investigators to examine their contributions separately. An overall recommendation needs to consider the adverse social and endocrine outcomes alongside growth rather than selecting the most convenient single endpoint.</a:t>
            </a:r>
          </a:p>
          <a:p/>
          <a:p>
            <a:r>
              <a:t>References:</a:t>
            </a:r>
          </a:p>
          <a:p>
            <a:r>
              <a:t>Sen Sarma O, Frymus N, Axling F, Thörnqvist PO, Roman E, Winberg S (2023). Optimizing zebrafish rearing−Effects of fish density and environmental enrichment. Frontiers in Behavioral Neuroscience 17: 1204021. https://doi.org/10.3389/fnbeh.2023.1204021</a:t>
            </a:r>
          </a:p>
          <a:p/>
          <a:p>
            <a:r>
              <a:t>Figure: Sen Sarma et al. (2023), Fig. 1(A–D). Growth across stocking densities.</a:t>
            </a:r>
          </a:p>
          <a:p>
            <a:r>
              <a:t>Figure source: https://doi.org/10.3389/fnbeh.2023.1204021</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Agonistic behavior includes aggressive acts and related social interactions. During 9 weeks of rearing, observers scored zebrafish strikes, chases, and occasional circling. Comparisons used the same stocking densities and the four physical-enrichment conditions used for growth measurements.</a:t>
            </a:r>
          </a:p>
          <a:p>
            <a:r>
              <a:t>• Aggression was higher at 1 fish/L than at 3 or 6 fish/L, with differences emerging across repeated weekly observations. The tested gravel and plant treatments did not produce a clear overall reduction. Merely adding an object was therefore not equivalent to demonstrating a reduction in social conflict.</a:t>
            </a:r>
          </a:p>
          <a:p>
            <a:r>
              <a:t>• The findings are compatible with density altering opportunities for stable dominance and repeated pursuit, but do not experimentally isolate that explanation. They also caution against transferring mammalian space-based assumptions directly to schooling fish. What matters biologically includes the pattern of interactions that the available space permits.</a:t>
            </a:r>
          </a:p>
          <a:p>
            <a:r>
              <a:t>• Most observed acts were strikes and chases rather than prolonged fights. Observers recorded very little active hiding in the plants, limiting an assumption that the plant necessarily functioned as an effective refuge. The result concerns the particular objects, densities, tank conditions, and rearing period tested.</a:t>
            </a:r>
          </a:p>
          <a:p/>
          <a:p>
            <a:r>
              <a:t>References:</a:t>
            </a:r>
          </a:p>
          <a:p>
            <a:r>
              <a:t>Sen Sarma O, Frymus N, Axling F, Thörnqvist PO, Roman E, Winberg S (2023). Optimizing zebrafish rearing−Effects of fish density and environmental enrichment. Frontiers in Behavioral Neuroscience 17: 1204021. https://doi.org/10.3389/fnbeh.2023.1204021</a:t>
            </a:r>
          </a:p>
          <a:p/>
          <a:p>
            <a:r>
              <a:t>Figure: Sen Sarma et al. (2023), Fig. 2(A–I). Weekly aggressive acts across stocking densities.</a:t>
            </a:r>
          </a:p>
          <a:p>
            <a:r>
              <a:t>Figure source: https://doi.org/10.3389/fnbeh.2023.1204021</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Cortisol is a principal stress-associated glucocorticoid in zebrafish. To challenge groups, researchers lowered tank water to 1 cm for 30 minutes and then extracted cortisol released into the water. Release was expressed per fish per hour rather than as a blood concentration.</a:t>
            </a:r>
          </a:p>
          <a:p>
            <a:r>
              <a:t>• Groups reared at 1 fish/L released more cortisol than groups at 3 or 6 fish/L; the 6 fish/L groups released the least under this challenge. The observed secretion range was 2.7–43.7 ng/fish/h. The tested enrichment conditions did not yield a clear additional effect.</a:t>
            </a:r>
          </a:p>
          <a:p>
            <a:r>
              <a:t>• Waterborne release provides a practical group-level endocrine readout, but it combines secretion and transfer into water during a particular challenge. It is not a direct measure of ongoing distress in undisturbed tanks. A lower challenge value also cannot establish favorable welfare without considering aggression and other consequences.</a:t>
            </a:r>
          </a:p>
          <a:p>
            <a:r>
              <a:t>• The group test preserves interactions among fish while imposing confinement. The amount recovered from the water was normalized to the number of fish and elapsed time. That unit differs from hormone concentration in plasma, so values from the two measurement approaches cannot be compared as though they were interchangeable.</a:t>
            </a:r>
          </a:p>
          <a:p/>
          <a:p>
            <a:r>
              <a:t>References:</a:t>
            </a:r>
          </a:p>
          <a:p>
            <a:r>
              <a:t>Sen Sarma O, Frymus N, Axling F, Thörnqvist PO, Roman E, Winberg S (2023). Optimizing zebrafish rearing−Effects of fish density and environmental enrichment. Frontiers in Behavioral Neuroscience 17: 1204021. https://doi.org/10.3389/fnbeh.2023.1204021</a:t>
            </a:r>
          </a:p>
          <a:p/>
          <a:p>
            <a:r>
              <a:t>Figure: Sen Sarma et al. (2023), Fig. 3. Cortisol release after group confinement.</a:t>
            </a:r>
          </a:p>
          <a:p>
            <a:r>
              <a:t>Figure source: https://doi.org/10.3389/fnbeh.2023.1204021</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researchers also confined individual zebrafish in 50 mL tubes for 30 minutes and measured waterborne cortisol. The endocrine readout was normalized to fish mass and time, yielding ng/g/h. This challenge separated each animal from the social setting present during the group test.</a:t>
            </a:r>
          </a:p>
          <a:p>
            <a:r>
              <a:t>• Individual secretion ranged from 3.9 to 72.4 ng/g/h, but the tested density and enrichment comparisons did not yield clear differences. Housing-associated endocrine differences were therefore detectable in group confinement without appearing equivalently in isolated individual confinement.</a:t>
            </a:r>
          </a:p>
          <a:p>
            <a:r>
              <a:t>• The discrepancy does not invalidate either measurement; the tests impose different physical and social demands. It limits claims that a single assay identifies a general stress-resilient phenotype. Evaluating captive fish requires distinguishing the living environment, the sampling procedure, and the challenge that generates the measured response.</a:t>
            </a:r>
          </a:p>
          <a:p>
            <a:r>
              <a:t>• The individual comparisons covered selected housing contrasts rather than every group in the broader rearing experiment. Normalization by body mass also differs from the per-fish normalization of the group challenge. The relevant conclusion is assay dependence, not that a fish’s prior housing has no physiological consequences.</a:t>
            </a:r>
          </a:p>
          <a:p/>
          <a:p>
            <a:r>
              <a:t>References:</a:t>
            </a:r>
          </a:p>
          <a:p>
            <a:r>
              <a:t>Sen Sarma O, Frymus N, Axling F, Thörnqvist PO, Roman E, Winberg S (2023). Optimizing zebrafish rearing−Effects of fish density and environmental enrichment. Frontiers in Behavioral Neuroscience 17: 1204021. https://doi.org/10.3389/fnbeh.2023.1204021</a:t>
            </a:r>
          </a:p>
          <a:p/>
          <a:p>
            <a:r>
              <a:t>Figure: Sen Sarma et al. (2023), Fig. 4. Cortisol release after individual confinement.</a:t>
            </a:r>
          </a:p>
          <a:p>
            <a:r>
              <a:t>Figure source: https://doi.org/10.3389/fnbeh.2023.1204021</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Bacqué-Cazenave and colleagues paired previously isolated, size-matched male crayfish in a confined arena for 20 minutes. Encounters progressed from exploration to fighting, then to continued attacks after one animal retreated. Social defeat refers here to the outcome of this observed contest rather than an inferred subjective report.</a:t>
            </a:r>
          </a:p>
          <a:p>
            <a:r>
              <a:t>• After defeat, the loser largely stopped fighting while the winner continued approaches and attacks. The loser responded with escapes. The prolonged post-defeat phase differed from mutual fighting, because one animal repeatedly attempted to withdraw while remaining within its opponent’s reach.</a:t>
            </a:r>
          </a:p>
          <a:p>
            <a:r>
              <a:t>• The enclosure constrained the separation that a defeated animal might achieve in a larger environment. This offers a concrete mechanism by which captivity can sustain adverse interactions. The experiment measured attacks and escapes directly; describing the sequence as harassment does not establish equivalence to human psychological experience.</a:t>
            </a:r>
          </a:p>
          <a:p>
            <a:r>
              <a:t>• The paper’s arena measured 33 × 23 × 20 cm. Animals had been isolated for at least two to three weeks before pairing, so the experiment concerns a particular territorial and social history. The authors’ stronger language about psychological harassment should be distinguished from the observed asymmetry in attacks and retreat.</a:t>
            </a:r>
          </a:p>
          <a:p/>
          <a:p>
            <a:r>
              <a:t>References:</a:t>
            </a:r>
          </a:p>
          <a:p>
            <a:r>
              <a:t>Bacqué-Cazenave J, Cattaert D, Delbecque JP, Fossat P (2017). Social harassment induces anxiety-like behaviour in crayfish. Scientific Reports 7: 39935. https://doi.org/10.1038/srep39935</a:t>
            </a:r>
          </a:p>
          <a:p/>
          <a:p>
            <a:r>
              <a:t>Figure: Bacqué-Cazenave et al. (2017), Fig. 1. Fighting, harassment and escape after pairing.</a:t>
            </a:r>
          </a:p>
          <a:p>
            <a:r>
              <a:t>Figure source: https://doi.org/10.1038/srep39935</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After pairing, crayfish explored a plus maze containing dark and illuminated arms. Anxiety-like behavior was operationalized as stronger light avoidance and more retreats at dark–light boundaries. Winners and previously isolated animals provided comparisons for the defeated animals.</a:t>
            </a:r>
          </a:p>
          <a:p>
            <a:r>
              <a:t>• Losers spent about 18% of their time in illuminated arms, compared with about 30% for winners and 32% for isolated controls. The drug chlordiazepoxide increased light-arm exploration in defeated animals, with saline injections controlling for the administration procedure.</a:t>
            </a:r>
          </a:p>
          <a:p>
            <a:r>
              <a:t>• The altered behavior after the contest and its pharmacological sensitivity support a persistent defensive state rather than only movements during fighting. They do not independently identify the entire neural pathway or establish the contents of an animal’s experience. Light avoidance must also be distinguished from reduced ability to move.</a:t>
            </a:r>
          </a:p>
          <a:p>
            <a:r>
              <a:t>• The assay recorded several movement-related variables in addition to light-arm occupancy. Chlordiazepoxide is an anxiolytic compound in vertebrate clinical use, but a similar behavioral effect across taxa does not prove identical receptors or identical feelings. The controls are most informative about the operational defensive behavior measured here.</a:t>
            </a:r>
          </a:p>
          <a:p/>
          <a:p>
            <a:r>
              <a:t>References:</a:t>
            </a:r>
          </a:p>
          <a:p>
            <a:r>
              <a:t>Bacqué-Cazenave J, Cattaert D, Delbecque JP, Fossat P (2017). Social harassment induces anxiety-like behaviour in crayfish. Scientific Reports 7: 39935. https://doi.org/10.1038/srep39935</a:t>
            </a:r>
          </a:p>
          <a:p/>
          <a:p>
            <a:r>
              <a:t>Figure: Bacqué-Cazenave et al. (2017), Fig. 2(A–D). Light avoidance after defeat and chlordiazepoxide treatment.</a:t>
            </a:r>
          </a:p>
          <a:p>
            <a:r>
              <a:t>Figure source: https://doi.org/10.1038/srep39935</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pairing observations allowed attacks before and after defeat to be separated. Investigators related the winner’s approaches and attacks to the loser’s later time in illuminated maze arms. This comparison tested whether sustained hostile contact, rather than fighting duration alone, tracked the defensive state.</a:t>
            </a:r>
          </a:p>
          <a:p>
            <a:r>
              <a:t>• More attacks during the post-defeat harassment phase were associated with less subsequent light-arm exploration. Duration of fighting did not show the same relationship. Thus, the measured consequence was more closely associated with what happened after withdrawal than with time spent in the initial contest.</a:t>
            </a:r>
          </a:p>
          <a:p>
            <a:r>
              <a:t>• The analysis is correlational and cannot exclude other differences between encounters. Nevertheless, it identifies a husbandry-relevant exposure that would be missed by recording only who won. Providing opportunities to escape continued pursuit is a distinct problem from merely reducing the duration of an initial fight.</a:t>
            </a:r>
          </a:p>
          <a:p>
            <a:r>
              <a:t>• The timing of behavior matters because defeat is a transition in the interaction: the loser ceases reciprocal aggression while the winner may continue. A correlation with later avoidance narrows the candidate exposure without proving that the attacks alone caused every observed change. The aquarium design constrained separation throughout the encounter.</a:t>
            </a:r>
          </a:p>
          <a:p/>
          <a:p>
            <a:r>
              <a:t>References:</a:t>
            </a:r>
          </a:p>
          <a:p>
            <a:r>
              <a:t>Bacqué-Cazenave J, Cattaert D, Delbecque JP, Fossat P (2017). Social harassment induces anxiety-like behaviour in crayfish. Scientific Reports 7: 39935. https://doi.org/10.1038/srep39935</a:t>
            </a:r>
          </a:p>
          <a:p/>
          <a:p>
            <a:r>
              <a:t>Figure: Bacqué-Cazenave et al. (2017), Fig. 3(A–D). Harassment intensity and subsequent light avoidance.</a:t>
            </a:r>
          </a:p>
          <a:p>
            <a:r>
              <a:t>Figure source: https://doi.org/10.1038/srep39935</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Serotonin, also called 5-hydroxytryptamine or 5-HT, is a transmitter that modulates neural circuits. Brain serotonin was measured after the 20-minute pairing. Concentrations averaged about 236 pg/mg in isolated crayfish, 486 pg/mg in winners, and 691 pg/mg in losers.</a:t>
            </a:r>
          </a:p>
          <a:p>
            <a:r>
              <a:t>• Before pairing, methysergide, a broad serotonin-receptor antagonist, was given to the animal expected to lose. Compared with saline controls, treated defeated animals explored illuminated arms more and retreated less. They still lost the contest, separating the defensive state from the act of retreating during defeat.</a:t>
            </a:r>
          </a:p>
          <a:p>
            <a:r>
              <a:t>• The pharmacological result supports serotonin-receptor involvement beyond a hormone–behavior association. Whole-brain concentration does not reveal release at a particular synapse, and a broad antagonist does not identify the receptor subtype. The imaged serotonergic neuron comes from a separate motor-circuit preparation, not an identified anxiety circuit.</a:t>
            </a:r>
          </a:p>
          <a:p>
            <a:r>
              <a:t>• The biochemical measurement averages across brain tissue and is expressed as picograms per milligram. The motor-neuron study supplies genuine cellular anatomy of the serotonergic system while testing a different function. Neither source maps a complete anxiety circuit in crayfish, and their combined evidence should not be presented as though it did.</a:t>
            </a:r>
          </a:p>
          <a:p/>
          <a:p>
            <a:r>
              <a:t>References:</a:t>
            </a:r>
          </a:p>
          <a:p>
            <a:r>
              <a:t>Bacqué-Cazenave J, Cattaert D, Delbecque JP, Fossat P (2017). Social harassment induces anxiety-like behaviour in crayfish. Scientific Reports 7: 39935. https://doi.org/10.1038/srep39935</a:t>
            </a:r>
          </a:p>
          <a:p>
            <a:r>
              <a:t>Bacqué-Cazenave J, Fossat P, Issa FA, Edwards DH, Delbecque JP, Cattaert D (2019). Duality of 5-HT Effects on Crayfish Motoneurons. Frontiers in Physiology 10: 1280. https://doi.org/10.3389/fphys.2019.01280</a:t>
            </a:r>
          </a:p>
          <a:p/>
          <a:p>
            <a:r>
              <a:t>Figure: Bacqué-Cazenave et al. (2017), Fig. 4(A–D). Brain serotonin and methysergide effects after defeat.</a:t>
            </a:r>
          </a:p>
          <a:p>
            <a:r>
              <a:t>Figure source: https://doi.org/10.1038/srep39935</a:t>
            </a:r>
          </a:p>
          <a:p/>
          <a:p>
            <a:r>
              <a:t>Figure: Bacqué-Cazenave et al. (2019), Fig. 2(A–C). Serotonergic neuron activity and identification.</a:t>
            </a:r>
          </a:p>
          <a:p>
            <a:r>
              <a:t>Figure source: https://doi.org/10.3389/fphys.2019.01280</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 a separate crayfish study, researchers stimulated an identified serotonergic neuron in the first abdominal ganglion while recording walking-leg motor output. A ganglion is a cluster of neuronal cell bodies. Immunostaining and intracellular labeling confirmed that the recorded cell contained serotonin.</a:t>
            </a:r>
          </a:p>
          <a:p>
            <a:r>
              <a:t>• Current pulses drove the cell to fire initially at up to 40 Hz, then adapt toward about 17 Hz. Motor neurons in the connected postural network increased, decreased, or maintained their activity during this stimulation. Serotonin therefore did not impose a single uniform direction of motor response.</a:t>
            </a:r>
          </a:p>
          <a:p>
            <a:r>
              <a:t>• The isolated preparation retained a leg proprioceptor, a sensory organ that reports limb position, and its central connections. It links transmitter-cell activity to a defined sensorimotor network. It does not directly measure stress experience, and the mixed responses prevent interpreting elevated serotonin as universally excitatory or inhibitory.</a:t>
            </a:r>
          </a:p>
          <a:p>
            <a:r>
              <a:t>• The coxo-basipodite chordotonal organ detects movement at a joint near the base of the walking leg. Stretching its strand reproduced sensory input while the experimenter recorded motor neurons that influence leg position. The cellular identification distinguishes stimulation of an actual serotonergic neuron from simply adding serotonin to the bath.</a:t>
            </a:r>
          </a:p>
          <a:p/>
          <a:p>
            <a:r>
              <a:t>References:</a:t>
            </a:r>
          </a:p>
          <a:p>
            <a:r>
              <a:t>Bacqué-Cazenave J, Fossat P, Issa FA, Edwards DH, Delbecque JP, Cattaert D (2019). Duality of 5-HT Effects on Crayfish Motoneurons. Frontiers in Physiology 10: 1280. https://doi.org/10.3389/fphys.2019.01280</a:t>
            </a:r>
          </a:p>
          <a:p/>
          <a:p>
            <a:r>
              <a:t>Figure: Bacqué-Cazenave et al. (2019), Fig. 2(A–C). Serotonergic neuron activity and identification.</a:t>
            </a:r>
          </a:p>
          <a:p>
            <a:r>
              <a:t>Figure source: https://doi.org/10.3389/fphys.2019.01280</a:t>
            </a:r>
          </a:p>
          <a:p/>
          <a:p>
            <a:r>
              <a:t>Figure: Bacqué-Cazenave et al. (2019), Fig. 1(A,B). Walking-leg sensory and motor anatomy.</a:t>
            </a:r>
          </a:p>
          <a:p>
            <a:r>
              <a:t>Figure source: https://doi.org/10.3389/fphys.2019.01280</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motor neuron carries neural output toward muscle, while an excitatory postsynaptic potential is a depolarizing response to synaptic input. In some depressor motor neurons, stimulation of the serotonergic cell depolarized the membrane and increased input resistance. The depressor network contributes to downward leg movement.</a:t>
            </a:r>
          </a:p>
          <a:p>
            <a:r>
              <a:t>• In the published example, membrane voltage changed from −83.2 to −75.6 mV, and the sensory-driven response increased from about 0.99 to 1.64 mV. Responses to movement of the retained proprioceptor were measured before and during serotonergic-cell stimulation in the same preparation.</a:t>
            </a:r>
          </a:p>
          <a:p>
            <a:r>
              <a:t>• The combination of depolarization and greater voltage responsiveness can amplify the effect of sensory input on motor output. Longer-lasting synaptic potentials also contributed. The experiment establishes modulation of a postural circuit; it does not demonstrate that the same cells mediate the defensive state measured in the light–dark maze.</a:t>
            </a:r>
          </a:p>
          <a:p>
            <a:r>
              <a:t>• The resting voltage shift makes the neuron less negative, while increased input resistance permits a given synaptic current to produce a larger voltage change. The authors also observed a slower late decay of some excitatory potentials. These are measured physiological contributions, distinct from a claim about an animal’s emotional state.</a:t>
            </a:r>
          </a:p>
          <a:p/>
          <a:p>
            <a:r>
              <a:t>References:</a:t>
            </a:r>
          </a:p>
          <a:p>
            <a:r>
              <a:t>Bacqué-Cazenave J, Fossat P, Issa FA, Edwards DH, Delbecque JP, Cattaert D (2019). Duality of 5-HT Effects on Crayfish Motoneurons. Frontiers in Physiology 10: 1280. https://doi.org/10.3389/fphys.2019.01280</a:t>
            </a:r>
          </a:p>
          <a:p/>
          <a:p>
            <a:r>
              <a:t>Figure: Bacqué-Cazenave et al. (2019), Fig. 4(A–C). Depolarization, input resistance and sensory responses.</a:t>
            </a:r>
          </a:p>
          <a:p>
            <a:r>
              <a:t>Figure source: https://doi.org/10.3389/fphys.2019.01280</a:t>
            </a:r>
          </a:p>
          <a:p/>
          <a:p>
            <a:r>
              <a:t>Figure: Bacqué-Cazenave et al. (2019), Fig. 2(A–C). Serotonergic neuron activity and identification.</a:t>
            </a:r>
          </a:p>
          <a:p>
            <a:r>
              <a:t>Figure source: https://doi.org/10.3389/fphys.2019.01280</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Other depressor motor neurons responded to the same identified serotonin-cell stimulation with hyperpolarization, a shift to more negative voltage, and reduced input resistance. Sensory-driven responses became smaller rather than larger. These opposing effects occurred within the tested motor system.</a:t>
            </a:r>
          </a:p>
          <a:p>
            <a:r>
              <a:t>• In one recorded example, the reflex-related voltage response declined from about 0.077 to 0.045 mV. Synaptic potentials also decayed faster. Reduced voltage responsiveness and a more negative baseline can jointly decrease the influence of a sensory input on the cell’s motor output.</a:t>
            </a:r>
          </a:p>
          <a:p>
            <a:r>
              <a:t>• The authors proposed that different receptor locations and local release modes contribute to the opposing effects. These explanations were not a complete molecular identification of the responsible receptors. The results constrain cross-species claims: a rise in a transmitter’s tissue concentration does not specify which neurons or behaviors will be enhanced.</a:t>
            </a:r>
          </a:p>
          <a:p>
            <a:r>
              <a:t>• The excitatory and inhibitory examples came from the same kind of preparation, with animals isolated before experiments. Consequently, the observed diversity could not simply be assigned to the winner–loser comparison in the separate social study. Differences in cellular signaling must be considered before inferring behavior from a transmitter measurement.</a:t>
            </a:r>
          </a:p>
          <a:p/>
          <a:p>
            <a:r>
              <a:t>References:</a:t>
            </a:r>
          </a:p>
          <a:p>
            <a:r>
              <a:t>Bacqué-Cazenave J, Fossat P, Issa FA, Edwards DH, Delbecque JP, Cattaert D (2019). Duality of 5-HT Effects on Crayfish Motoneurons. Frontiers in Physiology 10: 1280. https://doi.org/10.3389/fphys.2019.01280</a:t>
            </a:r>
          </a:p>
          <a:p/>
          <a:p>
            <a:r>
              <a:t>Figure: Bacqué-Cazenave et al. (2019), Fig. 5(A–C). Hyperpolarization and reduced sensory responses.</a:t>
            </a:r>
          </a:p>
          <a:p>
            <a:r>
              <a:t>Figure source: https://doi.org/10.3389/fphys.2019.01280</a:t>
            </a:r>
          </a:p>
          <a:p/>
          <a:p>
            <a:r>
              <a:t>Figure: Bacqué-Cazenave et al. (2019), Fig. 2(A–C). Serotonergic neuron activity and identification.</a:t>
            </a:r>
          </a:p>
          <a:p>
            <a:r>
              <a:t>Figure source: https://doi.org/10.3389/fphys.2019.01280</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Bateson and colleagues trained honeybees to distinguish two mixtures of 1-hexanol and 2-octanone. One mixture predicted sucrose; the other predicted a less favorable outcome such as quinine. Proboscis extension, extending the feeding mouthparts, served as the measured response rather than locomotor approach.</a:t>
            </a:r>
          </a:p>
          <a:p>
            <a:r>
              <a:t>• The rewarded and negative cues used opposite 1:9 and 9:1 mixtures, with three intermediate mixtures presented without reinforcement during testing. These ambiguous odors tested generalization between learned outcomes. After training, experimental bees were shaken for 60 seconds while controls remained undisturbed.</a:t>
            </a:r>
          </a:p>
          <a:p>
            <a:r>
              <a:t>• The design compares decisions under uncertainty after a defined acute perturbation. It does not simulate every aspect of chronic captivity. Training establishes the meaning of the odors before the perturbation, helping separate a change in response to learned cues from simply failing to acquire the original discrimination.</a:t>
            </a:r>
          </a:p>
          <a:p>
            <a:r>
              <a:t>• The paper tested more than one combination of favorable and unfavorable outcomes, rather than relying on a single punishment procedure. The intermediate odors varied the same chemical mixture used during training. Their ambiguous status refers to their position between learned cues, not to a claim that their sensory properties were unknown.</a:t>
            </a:r>
          </a:p>
          <a:p/>
          <a:p>
            <a:r>
              <a:t>References:</a:t>
            </a:r>
          </a:p>
          <a:p>
            <a:r>
              <a:t>Bateson M, Desire S, Gartside SE, Wright GA (2011). Agitated Honeybees Exhibit Pessimistic Cognitive Biases. Current Biology 21: 1070-1073. https://doi.org/10.1016/j.cub.2011.05.017</a:t>
            </a:r>
          </a:p>
          <a:p/>
          <a:p>
            <a:r>
              <a:t>Figure: Bateson et al. (2011), Fig. 1. Odor conditioning, shaking and ambiguous test stimuli.</a:t>
            </a:r>
          </a:p>
          <a:p>
            <a:r>
              <a:t>Figure source: https://doi.org/10.1016/j.cub.2011.05.017</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judgment bias is a change in how an animal responds to an uncertain cue associated with possible favorable or unfavorable outcomes. Following 60 seconds of shaking, bees were tested within 5 minutes using the trained odors and three intermediate mixtures.</a:t>
            </a:r>
          </a:p>
          <a:p>
            <a:r>
              <a:t>• Shaken bees were less likely to extend the proboscis to the negative cue and the intermediate odor nearest it. Responses to the rewarded cue were not detectably reduced. The selective pattern limits an explanation based only on a general inability or unwillingness to extend the feeding mouthparts.</a:t>
            </a:r>
          </a:p>
          <a:p>
            <a:r>
              <a:t>• The result supports a disturbance-dependent shift toward unfavorable expectations in this task. It does not provide a subjective report or establish a human-like anxiety disorder. Applying comparable behavioral criteria across taxa requires preserving these experimental controls rather than accepting or rejecting affect solely from the species’ evolutionary position.</a:t>
            </a:r>
          </a:p>
          <a:p>
            <a:r>
              <a:t>• A preserved response to the positive cue is a useful control for broad sensory or motor suppression, although it cannot exclude every possible perceptual effect. The original study found the strongest effect near the negative cue. The inference concerns a bias in learned classification after acute disturbance, not a measurement of chronic hive conditions.</a:t>
            </a:r>
          </a:p>
          <a:p/>
          <a:p>
            <a:r>
              <a:t>References:</a:t>
            </a:r>
          </a:p>
          <a:p>
            <a:r>
              <a:t>Bateson M, Desire S, Gartside SE, Wright GA (2011). Agitated Honeybees Exhibit Pessimistic Cognitive Biases. Current Biology 21: 1070-1073. https://doi.org/10.1016/j.cub.2011.05.017</a:t>
            </a:r>
          </a:p>
          <a:p/>
          <a:p>
            <a:r>
              <a:t>Figure: Bateson et al. (2011), Fig. 3. Proboscis responses to trained and ambiguous odors.</a:t>
            </a:r>
          </a:p>
          <a:p>
            <a:r>
              <a:t>Figure source: https://doi.org/10.1016/j.cub.2011.05.017</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 a separate group of bees, researchers measured hemolymph, the circulating fluid of insects, after the same shaking treatment. Dopamine, octopamine, serotonin, and tyramine were assayed. Octopamine is a signaling molecule with important roles in insect modulation and reward-related learning.</a:t>
            </a:r>
          </a:p>
          <a:p>
            <a:r>
              <a:t>• Around 300 seconds after shaking, dopamine, octopamine, and serotonin concentrations were reduced, whereas tyramine did not show the same clear reduction. The sampling time matched the period when the behavioral tests were performed. These physiological changes accompanied the treatment that altered judgment.</a:t>
            </a:r>
          </a:p>
          <a:p>
            <a:r>
              <a:t>• Circulating concentrations are not measurements of transmitter release in an identified brain pathway. The study did not manipulate these monoamines to establish which change caused the behavioral bias. Their direction also differs from elevated brain serotonin after crayfish defeat, because tissue, time, species, and stressor all differ.</a:t>
            </a:r>
          </a:p>
          <a:p>
            <a:r>
              <a:t>• Physiology and behavior were measured in different groups, so their association is at the treatment level rather than an individual-by-individual correlation. Monoamines can act as circulating modulators as well as local transmitters in insects. Neither role permits inferring a synaptic concentration directly from a hemolymph sample.</a:t>
            </a:r>
          </a:p>
          <a:p/>
          <a:p>
            <a:r>
              <a:t>References:</a:t>
            </a:r>
          </a:p>
          <a:p>
            <a:r>
              <a:t>Bateson M, Desire S, Gartside SE, Wright GA (2011). Agitated Honeybees Exhibit Pessimistic Cognitive Biases. Current Biology 21: 1070-1073. https://doi.org/10.1016/j.cub.2011.05.017</a:t>
            </a:r>
          </a:p>
          <a:p/>
          <a:p>
            <a:r>
              <a:t>Figure: Bateson et al. (2011), Fig. 2. Hemolymph monoamines after shaking.</a:t>
            </a:r>
          </a:p>
          <a:p>
            <a:r>
              <a:t>Figure source: https://doi.org/10.1016/j.cub.2011.05.017</a:t>
            </a:r>
          </a:p>
          <a:p/>
          <a:p>
            <a:r>
              <a:t>Figure: Bateson et al. (2011), Fig. 1. Odor conditioning, shaking and ambiguous test stimuli.</a:t>
            </a:r>
          </a:p>
          <a:p>
            <a:r>
              <a:t>Figure source: https://doi.org/10.1016/j.cub.2011.05.017</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Crook tested Octopus bocki in chambers with distinct visual patterns. Conditioned place avoidance measures whether an animal later avoids a location associated with an adverse event. Initial preferences were assessed before conditioning, allowing later choices to be compared with each animal’s earlier behavior.</a:t>
            </a:r>
          </a:p>
          <a:p>
            <a:r>
              <a:t>• A 0.5% acetic-acid injection in an arm was paired with the initially preferred chamber; saline injection provided a procedural control. On a later free-choice test, acid-treated octopuses reduced their time in the previously preferred chamber compared with controls.</a:t>
            </a:r>
          </a:p>
          <a:p>
            <a:r>
              <a:t>• The learned avoidance extends beyond an immediate withdrawal from the injection. It supports an aversive component of the experience but does not independently locate the neural representation or establish every aspect of conscious pain. The study concerns an injury model, not proof that ordinary captivity itself always produces comparable pain.</a:t>
            </a:r>
          </a:p>
          <a:p>
            <a:r>
              <a:t>• The source photograph identifies the study animal and the source panels preserve the conditioning design. Assigning the acid-associated context against the animal’s initial preference makes a subsequent reversal informative. A learned place response can persist after the training event and therefore differs from a reflex occurring at the moment of stimulation.</a:t>
            </a:r>
          </a:p>
          <a:p/>
          <a:p>
            <a:r>
              <a:t>References:</a:t>
            </a:r>
          </a:p>
          <a:p>
            <a:r>
              <a:t>Crook RJ (2021). Behavioral and neurophysiological evidence suggests affective pain experience in octopus. iScience 24: 102229. https://doi.org/10.1016/j.isci.2021.102229</a:t>
            </a:r>
          </a:p>
          <a:p/>
          <a:p>
            <a:r>
              <a:t>Figure: Crook (2021), Fig. 1(A–C). Place-conditioning apparatus and experimental timing.</a:t>
            </a:r>
          </a:p>
          <a:p>
            <a:r>
              <a:t>Figure source: https://doi.org/10.1016/j.isci.2021.102229</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Conditioned place preference measures increased choice of a context associated with a favorable event. After the acid treatment, Crook paired local lidocaine treatment with the initially nonpreferred chamber. Local anesthesia reduces sensory signaling in the treated region rather than necessarily sedating the entire animal.</a:t>
            </a:r>
          </a:p>
          <a:p>
            <a:r>
              <a:t>• Octopuses that had received acid later preferred the lidocaine-paired chamber. Animals given saline before lidocaine did not acquire the same preference. This control separates the value of relief from a claim that lidocaine is inherently rewarding regardless of the animal’s preceding state.</a:t>
            </a:r>
          </a:p>
          <a:p>
            <a:r>
              <a:t>• Context avoidance after injury and preference for relief provide complementary evidence for an aversive ongoing state. They support an affective interpretation more strongly than withdrawal alone. They do not measure verbalizable feelings or imply that every analgesic procedure, dose, or captive species will have the same outcome.</a:t>
            </a:r>
          </a:p>
          <a:p>
            <a:r>
              <a:t>• Affective refers to the favorable or unfavorable value of a state, whereas nociception refers to detecting potentially damaging stimulation. The relief-dependent preference tests value through learning. The saline-plus-lidocaine group is essential because a general drug preference would not specifically support relief from the injury-associated state.</a:t>
            </a:r>
          </a:p>
          <a:p/>
          <a:p>
            <a:r>
              <a:t>References:</a:t>
            </a:r>
          </a:p>
          <a:p>
            <a:r>
              <a:t>Crook RJ (2021). Behavioral and neurophysiological evidence suggests affective pain experience in octopus. iScience 24: 102229. https://doi.org/10.1016/j.isci.2021.102229</a:t>
            </a:r>
          </a:p>
          <a:p/>
          <a:p>
            <a:r>
              <a:t>Figure: Crook (2021), Fig. 2. Place avoidance and preference for pain relief.</a:t>
            </a:r>
          </a:p>
          <a:p>
            <a:r>
              <a:t>Figure source: https://doi.org/10.1016/j.isci.2021.102229</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Discriminative pain-related behavior is behavior directed toward the location or character of an injury. Acid-treated octopuses showed arm grooming, concealment, and skin-removal behavior localized to the injection region. Saline-treated animals did not express the same pattern.</a:t>
            </a:r>
          </a:p>
          <a:p>
            <a:r>
              <a:t>• Wound attention persisted for at least 24 hours after the acid injection. Local lidocaine suppressed the observed injury-directed grooming during treatment. The behavior therefore combined spatial specificity, persistence, and sensitivity to a locally acting intervention.</a:t>
            </a:r>
          </a:p>
          <a:p>
            <a:r>
              <a:t>• These observations add information beyond place choice: the animal’s response was directed to a particular affected arm. They support an ongoing injury-related state while leaving its full central representation unresolved. A welfare assessment can distinguish persistent wound-directed behavior from generalized activity changes without requiring a human clinical diagnosis.</a:t>
            </a:r>
          </a:p>
          <a:p>
            <a:r>
              <a:t>• The original photographs document the specific behaviors, and the published bars separate treatment conditions and observation times. Their colors are retained unchanged. Spatial targeting makes a generalized handling effect less sufficient as an explanation, but the study still infers affect from converging observations rather than receiving a direct report.</a:t>
            </a:r>
          </a:p>
          <a:p/>
          <a:p>
            <a:r>
              <a:t>References:</a:t>
            </a:r>
          </a:p>
          <a:p>
            <a:r>
              <a:t>Crook RJ (2021). Behavioral and neurophysiological evidence suggests affective pain experience in octopus. iScience 24: 102229. https://doi.org/10.1016/j.isci.2021.102229</a:t>
            </a:r>
          </a:p>
          <a:p/>
          <a:p>
            <a:r>
              <a:t>Figure: Crook (2021), Fig. 3. Wound-directed behavior following acetic acid.</a:t>
            </a:r>
          </a:p>
          <a:p>
            <a:r>
              <a:t>Figure source: https://doi.org/10.1016/j.isci.2021.102229</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Nociception is neural detection and processing of potentially damaging stimulation; it is not identical to subjective pain. Crook recorded activity in the brachial connective, the nerve pathway carrying arm information toward the central brain, before and after local acid injection.</a:t>
            </a:r>
          </a:p>
          <a:p>
            <a:r>
              <a:t>• Acid treatment increased ongoing activity and responses to touch in the affected region. Local lidocaine rapidly suppressed ongoing discharge and blocked evoked activity near the injection site. The recorded pathway therefore supplied persistent injury-associated information beyond the arm’s local networks.</a:t>
            </a:r>
          </a:p>
          <a:p>
            <a:r>
              <a:t>• These recordings establish access of nociceptive information to central processing, not a direct neural readout of conscious pain. Combined with learned avoidance, relief preference, and wound-directed behavior, they strengthen an affective interpretation. Each component addresses a different alternative explanation, which is why the combined evidence exceeds a single withdrawal response.</a:t>
            </a:r>
          </a:p>
          <a:p>
            <a:r>
              <a:t>• The article’s anatomical panel identifies the arm stimulation positions and the recording pathway while retaining its original labels. Electrophysiology measures ongoing and stimulus-evoked activity, whereas place conditioning measures learned value. Lidocaine affects both the peripheral signal and injury-related behavior, connecting the intervention to complementary levels of evidence.</a:t>
            </a:r>
          </a:p>
          <a:p/>
          <a:p>
            <a:r>
              <a:t>References:</a:t>
            </a:r>
          </a:p>
          <a:p>
            <a:r>
              <a:t>Crook RJ (2021). Behavioral and neurophysiological evidence suggests affective pain experience in octopus. iScience 24: 102229. https://doi.org/10.1016/j.isci.2021.102229</a:t>
            </a:r>
          </a:p>
          <a:p/>
          <a:p>
            <a:r>
              <a:t>Figure: Crook (2021), Fig. 4(A–C). Arm afferent activity before and after local lidocaine.</a:t>
            </a:r>
          </a:p>
          <a:p>
            <a:r>
              <a:t>Figure source: https://doi.org/10.1016/j.isci.2021.102229</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Yagound and colleagues compared wild-caught cane toads with toads from the same populations maintained in captivity for 7 months. The transcriptome is the collection of expressed RNA molecules measured from tissue. Whole-brain RNA sequencing quantified expression rather than recording neuronal activity.</a:t>
            </a:r>
          </a:p>
          <a:p>
            <a:r>
              <a:t>• In long-colonized range-core populations, 951 genes differed between captive and freshly sampled toads. The published heat map separates individuals by expression patterns, and functional-category analysis included behavior-related and stress-response processes. Captivity therefore altered molecular measurements used to characterize wild animals.</a:t>
            </a:r>
          </a:p>
          <a:p>
            <a:r>
              <a:t>• These were different animals sampled under different conditions, not longitudinal brain measurements from the same individuals. The comparison cannot separate every captivity-associated change in diet, activity, social experience, or environment. Differential expression identifies molecular responses without establishing that every response is harmful or that a particular animal experienced distress.</a:t>
            </a:r>
          </a:p>
          <a:p>
            <a:r>
              <a:t>• Expression concerns the abundance of RNA transcribed from genes, not a change in the underlying DNA sequence. Whole-brain measurements average across neuronal and non-neuronal populations. Functional categories describe groups of genes with related annotations; they do not show that a complete behavioral mechanism has been experimentally isolated.</a:t>
            </a:r>
          </a:p>
          <a:p/>
          <a:p>
            <a:r>
              <a:t>References:</a:t>
            </a:r>
          </a:p>
          <a:p>
            <a:r>
              <a:t>Yagound B, West AJ, Richardson MF, Gruber J, Reid JG, Whiting MJ, Rollins LA (2022). Captivity induces large and population‐dependent brain transcriptomic changes in wild‐caught cane toads (Rhinella marina). Molecular Ecology 31: 4949-4961. https://doi.org/10.1111/mec.16633</a:t>
            </a:r>
          </a:p>
          <a:p/>
          <a:p>
            <a:r>
              <a:t>Figure: Yagound et al. (2022), Fig. 2(a–c). Brain transcriptomic responses in range-core toads.</a:t>
            </a:r>
          </a:p>
          <a:p>
            <a:r>
              <a:t>Figure source: https://doi.org/10.1111/mec.16633</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Range-front populations occur near the leading edge of an invasion, whereas range-core populations have been established longer. The cane-toad study applied the same general captive comparison to both groups, allowing population origin to be considered alongside the change in environment.</a:t>
            </a:r>
          </a:p>
          <a:p>
            <a:r>
              <a:t>• Range-front toads had 1,972 differentially expressed genes, compared with 951 in range-core toads. Only 504 were shared, and among shared genes the direction of change was not uniformly identical. A common captive setting therefore did not erase population-specific molecular responses.</a:t>
            </a:r>
          </a:p>
          <a:p>
            <a:r>
              <a:t>• The result is consistent with different plasticity or physiological responses, but does not directly identify the evolutionary or developmental cause. Comparing captive populations as if captivity were a neutral holding condition can distort interpretation of differences attributed to their wild origins. More changed genes do not automatically mean greater suffering.</a:t>
            </a:r>
          </a:p>
          <a:p>
            <a:r>
              <a:t>• A gene can increase in one population and decrease in another even when it is classified as responsive in both. The overlap figure preserves that distinction rather than counting all shared genes as a common response. Captivity is an experimental exposure that can interact with population history, not merely a logistical interval before measurement.</a:t>
            </a:r>
          </a:p>
          <a:p/>
          <a:p>
            <a:r>
              <a:t>References:</a:t>
            </a:r>
          </a:p>
          <a:p>
            <a:r>
              <a:t>Yagound B, West AJ, Richardson MF, Gruber J, Reid JG, Whiting MJ, Rollins LA (2022). Captivity induces large and population‐dependent brain transcriptomic changes in wild‐caught cane toads (Rhinella marina). Molecular Ecology 31: 4949-4961. https://doi.org/10.1111/mec.16633</a:t>
            </a:r>
          </a:p>
          <a:p/>
          <a:p>
            <a:r>
              <a:t>Figure: Yagound et al. (2022), Fig. 3(a–c). Brain transcriptomic responses in range-front toads.</a:t>
            </a:r>
          </a:p>
          <a:p>
            <a:r>
              <a:t>Figure source: https://doi.org/10.1111/mec.16633</a:t>
            </a:r>
          </a:p>
          <a:p/>
          <a:p>
            <a:r>
              <a:t>Figure: Yagound et al. (2022), Fig. 4(a,b). Overlap and direction of captivity-associated gene-expression changes.</a:t>
            </a:r>
          </a:p>
          <a:p>
            <a:r>
              <a:t>Figure source: https://doi.org/10.1111/mec.16633</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cane-toad study also measured expression dispersion, variation among individuals within a group. Of 155 genes with altered dispersion in range-front toads, 143 varied more among captive animals. The corresponding pattern in range-core toads was less strongly directed toward increased captive variation.</a:t>
            </a:r>
          </a:p>
          <a:p>
            <a:r>
              <a:t>• Captivity can therefore change both average expression and individual heterogeneity. These molecular responses accompany the behavioral, endocrine, and cellular effects measured in other taxa, but do not by themselves classify an experience as favorable or unfavorable. Biological change and evidence of harm are related questions that require distinct support.</a:t>
            </a:r>
          </a:p>
          <a:p>
            <a:r>
              <a:t>• A comparative welfare judgment is strongest when an environmental exposure, a measured adverse outcome, and a controlled intervention converge. Stereotypy, challenge hormones, neural firing, learned avoidance, and relief preference contribute different evidence. Similarity to humans is not a substitute for these tests, and one absent marker does not establish absence of an adverse state.</a:t>
            </a:r>
          </a:p>
          <a:p>
            <a:r>
              <a:t>• The ethical inference concerns how evidence supports preventing adverse conditions, not whether all animals must express one identical marker. The original population data constrain generalization even within a species. Across the primary studies, interventions improve some outcomes but leave others unchanged, so a defensible assessment retains both the positive findings and their limits.</a:t>
            </a:r>
          </a:p>
          <a:p/>
          <a:p>
            <a:r>
              <a:t>References:</a:t>
            </a:r>
          </a:p>
          <a:p>
            <a:r>
              <a:t>Bailoo JD, Murphy E, Boada-Saña M, Varholick JA, Hintze S, Baussière C, Hahn KC, Göpfert C, Palme R, Voelkl B, Würbel H (2018). Effects of Cage Enrichment on Behavior, Welfare and Outcome Variability in Female Mice. Frontiers in Behavioral Neuroscience 12: 232. https://doi.org/10.3389/fnbeh.2018.00232</a:t>
            </a:r>
          </a:p>
          <a:p>
            <a:r>
              <a:t>Gottlieb DH, Maier A, Coleman K (2015). Evaluation of environmental and intrinsic factors that contribute to stereotypic behavior in captive rhesus macaques (Macaca mulatta). Applied Animal Behaviour Science 171: 184-191. https://doi.org/10.1016/j.applanim.2015.08.005</a:t>
            </a:r>
          </a:p>
          <a:p>
            <a:r>
              <a:t>Hegde A, Suresh S, Mitra R (2020). Early-life short-term environmental enrichment counteracts the effects of stress on anxiety-like behavior, brain-derived neurotrophic factor and nuclear translocation of glucocorticoid receptors in the basolateral amygdala. Scientific Reports 10: 14053. https://doi.org/10.1038/s41598-020-70875-5</a:t>
            </a:r>
          </a:p>
          <a:p>
            <a:r>
              <a:t>Rosenkranz JA, Venheim ER, Padival M (2010). Chronic Stress Causes Amygdala Hyperexcitability in Rodents. Biological Psychiatry 67: 1128-1136. https://doi.org/10.1016/j.biopsych.2010.02.008</a:t>
            </a:r>
          </a:p>
          <a:p>
            <a:r>
              <a:t>Matthews GA, Nieh EH, Vander Weele CM, Halbert SA, Pradhan RV, Yosafat AS, Glober GF, Izadmehr EM, Thomas RE, Lacy GD, Wildes CP, Ungless MA, Tye KM (2016). Dorsal Raphe Dopamine Neurons Represent the Experience of Social Isolation. Cell 164: 617-631. https://doi.org/10.1016/j.cell.2015.12.040</a:t>
            </a:r>
          </a:p>
          <a:p>
            <a:r>
              <a:t>Sen Sarma O, Frymus N, Axling F, Thörnqvist PO, Roman E, Winberg S (2023). Optimizing zebrafish rearing−Effects of fish density and environmental enrichment. Frontiers in Behavioral Neuroscience 17: 1204021. https://doi.org/10.3389/fnbeh.2023.1204021</a:t>
            </a:r>
          </a:p>
          <a:p>
            <a:r>
              <a:t>Bacqué-Cazenave J, Cattaert D, Delbecque JP, Fossat P (2017). Social harassment induces anxiety-like behaviour in crayfish. Scientific Reports 7: 39935. https://doi.org/10.1038/srep39935</a:t>
            </a:r>
          </a:p>
          <a:p>
            <a:r>
              <a:t>Bacqué-Cazenave J, Fossat P, Issa FA, Edwards DH, Delbecque JP, Cattaert D (2019). Duality of 5-HT Effects on Crayfish Motoneurons. Frontiers in Physiology 10: 1280. https://doi.org/10.3389/fphys.2019.01280</a:t>
            </a:r>
          </a:p>
          <a:p>
            <a:r>
              <a:t>Bateson M, Desire S, Gartside SE, Wright GA (2011). Agitated Honeybees Exhibit Pessimistic Cognitive Biases. Current Biology 21: 1070-1073. https://doi.org/10.1016/j.cub.2011.05.017</a:t>
            </a:r>
          </a:p>
          <a:p>
            <a:r>
              <a:t>Crook RJ (2021). Behavioral and neurophysiological evidence suggests affective pain experience in octopus. iScience 24: 102229. https://doi.org/10.1016/j.isci.2021.102229</a:t>
            </a:r>
          </a:p>
          <a:p>
            <a:r>
              <a:t>Yagound B, West AJ, Richardson MF, Gruber J, Reid JG, Whiting MJ, Rollins LA (2022). Captivity induces large and population‐dependent brain transcriptomic changes in wild‐caught cane toads (Rhinella marina). Molecular Ecology 31: 4949-4961. https://doi.org/10.1111/mec.16633</a:t>
            </a:r>
          </a:p>
          <a:p>
            <a:r>
              <a:t>Lattin CR, Merullo DP, Riters LV, Carson RE (2019). In vivo imaging of D2 receptors and corticosteroids predict behavioural responses to captivity stress in a wild bird. Scientific Reports 9: 10407. https://doi.org/10.1038/s41598-019-46845-x</a:t>
            </a:r>
          </a:p>
          <a:p/>
          <a:p>
            <a:r>
              <a:t>Figure: Yagound et al. (2022), Fig. 5(a,b). Expression variability in captive versus wild-caught toads.</a:t>
            </a:r>
          </a:p>
          <a:p>
            <a:r>
              <a:t>Figure source: https://doi.org/10.1111/mec.16633</a:t>
            </a:r>
          </a:p>
          <a:p/>
          <a:p>
            <a:r>
              <a:t>Figure: Yagound et al. (2022), Fig. 4(a,b). Overlap and direction of captivity-associated gene-expression changes.</a:t>
            </a:r>
          </a:p>
          <a:p>
            <a:r>
              <a:t>Figure source: https://doi.org/10.1111/mec.16633</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Bailoo JD, Murphy E, Boada-Saña M, Varholick JA, Hintze S, Baussière C, Hahn KC, Göpfert C, Palme R, Voelkl B, Würbel H (2018). Effects of Cage Enrichment on Behavior, Welfare and Outcome Variability in Female Mice. Frontiers in Behavioral Neuroscience 12: 232. https://doi.org/10.3389/fnbeh.2018.00232</a:t>
            </a:r>
          </a:p>
          <a:p/>
          <a:p>
            <a:r>
              <a:t>Gottlieb DH, Maier A, Coleman K (2015). Evaluation of environmental and intrinsic factors that contribute to stereotypic behavior in captive rhesus macaques (Macaca mulatta). Applied Animal Behaviour Science 171: 184-191. https://doi.org/10.1016/j.applanim.2015.08.005</a:t>
            </a:r>
          </a:p>
          <a:p/>
          <a:p>
            <a:r>
              <a:t>Hegde A, Suresh S, Mitra R (2020). Early-life short-term environmental enrichment counteracts the effects of stress on anxiety-like behavior, brain-derived neurotrophic factor and nuclear translocation of glucocorticoid receptors in the basolateral amygdala. Scientific Reports 10: 14053. https://doi.org/10.1038/s41598-020-70875-5</a:t>
            </a:r>
          </a:p>
          <a:p/>
          <a:p>
            <a:r>
              <a:t>Rosenkranz JA, Venheim ER, Padival M (2010). Chronic Stress Causes Amygdala Hyperexcitability in Rodents. Biological Psychiatry 67: 1128-1136. https://doi.org/10.1016/j.biopsych.2010.02.008</a:t>
            </a:r>
          </a:p>
          <a:p/>
          <a:p>
            <a:r>
              <a:t>Matthews GA, Nieh EH, Vander Weele CM, Halbert SA, Pradhan RV, Yosafat AS, Glober GF, Izadmehr EM, Thomas RE, Lacy GD, Wildes CP, Ungless MA, Tye KM (2016). Dorsal Raphe Dopamine Neurons Represent the Experience of Social Isolation. Cell 164: 617-631. https://doi.org/10.1016/j.cell.2015.12.040</a:t>
            </a:r>
          </a:p>
          <a:p/>
          <a:p>
            <a:r>
              <a:t>Sen Sarma O, Frymus N, Axling F, Thörnqvist PO, Roman E, Winberg S (2023). Optimizing zebrafish rearing−Effects of fish density and environmental enrichment. Frontiers in Behavioral Neuroscience 17: 1204021. https://doi.org/10.3389/fnbeh.2023.1204021</a:t>
            </a:r>
          </a:p>
          <a:p/>
          <a:p>
            <a:r>
              <a:t>Bacqué-Cazenave J, Cattaert D, Delbecque JP, Fossat P (2017). Social harassment induces anxiety-like behaviour in crayfish. Scientific Reports 7: 39935. https://doi.org/10.1038/srep39935</a:t>
            </a:r>
          </a:p>
          <a:p/>
          <a:p>
            <a:r>
              <a:t>Bacqué-Cazenave J, Fossat P, Issa FA, Edwards DH, Delbecque JP, Cattaert D (2019). Duality of 5-HT Effects on Crayfish Motoneurons. Frontiers in Physiology 10: 1280. https://doi.org/10.3389/fphys.2019.01280</a:t>
            </a:r>
          </a:p>
          <a:p/>
          <a:p>
            <a:r>
              <a:t>Bateson M, Desire S, Gartside SE, Wright GA (2011). Agitated Honeybees Exhibit Pessimistic Cognitive Biases. Current Biology 21: 1070-1073. https://doi.org/10.1016/j.cub.2011.05.017</a:t>
            </a:r>
          </a:p>
          <a:p/>
          <a:p>
            <a:r>
              <a:t>Crook RJ (2021). Behavioral and neurophysiological evidence suggests affective pain experience in octopus. iScience 24: 102229. https://doi.org/10.1016/j.isci.2021.102229</a:t>
            </a:r>
          </a:p>
          <a:p/>
          <a:p>
            <a:r>
              <a:t>Yagound B, West AJ, Richardson MF, Gruber J, Reid JG, Whiting MJ, Rollins LA (2022). Captivity induces large and population‐dependent brain transcriptomic changes in wild‐caught cane toads (Rhinella marina). Molecular Ecology 31: 4949-4961. https://doi.org/10.1111/mec.16633</a:t>
            </a:r>
          </a:p>
          <a:p/>
          <a:p>
            <a:r>
              <a:t>Lattin CR, Merullo DP, Riters LV, Carson RE (2019). In vivo imaging of D2 receptors and corticosteroids predict behavioural responses to captivity stress in a wild bird. Scientific Reports 9: 10407. https://doi.org/10.1038/s41598-019-46845-x</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1.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5.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5.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5.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29.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41.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1.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45.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image" Target="../media/image54.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image" Target="../media/image54.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95847" cy="6858000"/>
          </a:xfrm>
          <a:prstGeom prst="rect">
            <a:avLst/>
          </a:prstGeom>
          <a:solidFill>
            <a:srgbClr val="6B454E"/>
          </a:solidFill>
          <a:ln>
            <a:noFill/>
          </a:ln>
          <a:effectLst/>
        </p:spPr>
        <p:txBody>
          <a:bodyPr rtlCol="0" anchor="ctr"/>
          <a:lstStyle/>
          <a:p>
            <a:pPr algn="ctr"/>
          </a:p>
        </p:txBody>
      </p:sp>
      <p:sp>
        <p:nvSpPr>
          <p:cNvPr id="3" name="TextBox 2"/>
          <p:cNvSpPr txBox="1"/>
          <p:nvPr/>
        </p:nvSpPr>
        <p:spPr>
          <a:xfrm>
            <a:off x="685800" y="822960"/>
            <a:ext cx="4724247" cy="320040"/>
          </a:xfrm>
          <a:prstGeom prst="rect">
            <a:avLst/>
          </a:prstGeom>
          <a:noFill/>
        </p:spPr>
        <p:txBody>
          <a:bodyPr wrap="square" lIns="0" rIns="0" tIns="0" bIns="0">
            <a:spAutoFit/>
          </a:bodyPr>
          <a:lstStyle/>
          <a:p>
            <a:pPr algn="l">
              <a:lnSpc>
                <a:spcPct val="108000"/>
              </a:lnSpc>
              <a:spcAft>
                <a:spcPts val="0"/>
              </a:spcAft>
            </a:pPr>
            <a:r>
              <a:rPr sz="1200" b="0" i="0">
                <a:solidFill>
                  <a:srgbClr val="E8D9DD"/>
                </a:solidFill>
                <a:latin typeface="Arial"/>
              </a:rPr>
              <a:t>NEUR 411 · NEUROETHOLOGY · FALL 2026</a:t>
            </a:r>
          </a:p>
        </p:txBody>
      </p:sp>
      <p:sp>
        <p:nvSpPr>
          <p:cNvPr id="4" name="TextBox 3"/>
          <p:cNvSpPr txBox="1"/>
          <p:nvPr/>
        </p:nvSpPr>
        <p:spPr>
          <a:xfrm>
            <a:off x="685800" y="1783080"/>
            <a:ext cx="4724247" cy="411480"/>
          </a:xfrm>
          <a:prstGeom prst="rect">
            <a:avLst/>
          </a:prstGeom>
          <a:noFill/>
        </p:spPr>
        <p:txBody>
          <a:bodyPr wrap="square" lIns="0" rIns="0" tIns="0" bIns="0">
            <a:spAutoFit/>
          </a:bodyPr>
          <a:lstStyle/>
          <a:p>
            <a:pPr algn="l">
              <a:lnSpc>
                <a:spcPct val="108000"/>
              </a:lnSpc>
              <a:spcAft>
                <a:spcPts val="0"/>
              </a:spcAft>
            </a:pPr>
            <a:r>
              <a:rPr sz="1800" b="0" i="0">
                <a:solidFill>
                  <a:srgbClr val="E8D9DD"/>
                </a:solidFill>
                <a:latin typeface="Arial"/>
              </a:rPr>
              <a:t>Lecture 53</a:t>
            </a:r>
          </a:p>
        </p:txBody>
      </p:sp>
      <p:sp>
        <p:nvSpPr>
          <p:cNvPr id="5" name="Lecture title"/>
          <p:cNvSpPr txBox="1"/>
          <p:nvPr/>
        </p:nvSpPr>
        <p:spPr>
          <a:xfrm>
            <a:off x="685800" y="2331720"/>
            <a:ext cx="4724247" cy="2560320"/>
          </a:xfrm>
          <a:prstGeom prst="rect">
            <a:avLst/>
          </a:prstGeom>
          <a:noFill/>
        </p:spPr>
        <p:txBody>
          <a:bodyPr wrap="square" lIns="0" rIns="0" tIns="0" bIns="0">
            <a:spAutoFit/>
          </a:bodyPr>
          <a:lstStyle/>
          <a:p>
            <a:pPr algn="l">
              <a:lnSpc>
                <a:spcPct val="108000"/>
              </a:lnSpc>
              <a:spcAft>
                <a:spcPts val="0"/>
              </a:spcAft>
            </a:pPr>
            <a:r>
              <a:rPr sz="3000" b="1" i="0">
                <a:solidFill>
                  <a:srgbClr val="FFFFFF"/>
                </a:solidFill>
                <a:latin typeface="Arial"/>
              </a:rPr>
              <a:t>Comparative Neuroethics:</a:t>
            </a:r>
          </a:p>
          <a:p>
            <a:pPr algn="l">
              <a:lnSpc>
                <a:spcPct val="108000"/>
              </a:lnSpc>
              <a:spcAft>
                <a:spcPts val="0"/>
              </a:spcAft>
            </a:pPr>
            <a:r>
              <a:rPr sz="3000" b="1" i="0">
                <a:solidFill>
                  <a:srgbClr val="FFFFFF"/>
                </a:solidFill>
                <a:latin typeface="Arial"/>
              </a:rPr>
              <a:t>The Neurobiology of Captivity, Stress, and Behavioral Pathology Across Taxa</a:t>
            </a:r>
          </a:p>
        </p:txBody>
      </p:sp>
      <p:sp>
        <p:nvSpPr>
          <p:cNvPr id="6" name="TextBox 5"/>
          <p:cNvSpPr txBox="1"/>
          <p:nvPr/>
        </p:nvSpPr>
        <p:spPr>
          <a:xfrm>
            <a:off x="685800" y="5499734"/>
            <a:ext cx="4724247" cy="365760"/>
          </a:xfrm>
          <a:prstGeom prst="rect">
            <a:avLst/>
          </a:prstGeom>
          <a:noFill/>
        </p:spPr>
        <p:txBody>
          <a:bodyPr wrap="square" lIns="0" rIns="0" tIns="0" bIns="0">
            <a:spAutoFit/>
          </a:bodyPr>
          <a:lstStyle/>
          <a:p>
            <a:pPr algn="l">
              <a:lnSpc>
                <a:spcPct val="108000"/>
              </a:lnSpc>
              <a:spcAft>
                <a:spcPts val="0"/>
              </a:spcAft>
            </a:pPr>
            <a:r>
              <a:rPr sz="1600" b="0" i="0">
                <a:solidFill>
                  <a:srgbClr val="E8D9DD"/>
                </a:solidFill>
                <a:latin typeface="Arial"/>
              </a:rPr>
              <a:t>Date TBD</a:t>
            </a:r>
          </a:p>
        </p:txBody>
      </p:sp>
      <p:sp>
        <p:nvSpPr>
          <p:cNvPr id="7" name="TextBox 6"/>
          <p:cNvSpPr txBox="1"/>
          <p:nvPr/>
        </p:nvSpPr>
        <p:spPr>
          <a:xfrm>
            <a:off x="685800" y="6185534"/>
            <a:ext cx="4724247" cy="640080"/>
          </a:xfrm>
          <a:prstGeom prst="rect">
            <a:avLst/>
          </a:prstGeom>
          <a:noFill/>
        </p:spPr>
        <p:txBody>
          <a:bodyPr wrap="square" lIns="0" rIns="0" tIns="0" bIns="0">
            <a:spAutoFit/>
          </a:bodyPr>
          <a:lstStyle/>
          <a:p>
            <a:pPr algn="l">
              <a:lnSpc>
                <a:spcPct val="108000"/>
              </a:lnSpc>
              <a:spcAft>
                <a:spcPts val="200"/>
              </a:spcAft>
            </a:pPr>
            <a:r>
              <a:rPr sz="1200" b="0" i="0">
                <a:solidFill>
                  <a:srgbClr val="E8D9DD"/>
                </a:solidFill>
                <a:latin typeface="Arial"/>
              </a:rPr>
              <a:t>Jordan Lopez, Ph.D.</a:t>
            </a:r>
          </a:p>
          <a:p>
            <a:pPr algn="l">
              <a:lnSpc>
                <a:spcPct val="108000"/>
              </a:lnSpc>
              <a:spcAft>
                <a:spcPts val="200"/>
              </a:spcAft>
            </a:pPr>
            <a:r>
              <a:rPr sz="1200" b="0" i="0">
                <a:solidFill>
                  <a:srgbClr val="E8D9DD"/>
                </a:solidFill>
                <a:latin typeface="Arial"/>
              </a:rPr>
              <a:t>Professor of Neurobiology &amp; Biomedical Engineering</a:t>
            </a:r>
          </a:p>
        </p:txBody>
      </p:sp>
      <p:pic>
        <p:nvPicPr>
          <p:cNvPr id="8" name="Picture 7" descr="monkey_photo.png"/>
          <p:cNvPicPr>
            <a:picLocks noChangeAspect="1"/>
          </p:cNvPicPr>
          <p:nvPr/>
        </p:nvPicPr>
        <p:blipFill>
          <a:blip r:embed="rId2"/>
          <a:stretch>
            <a:fillRect/>
          </a:stretch>
        </p:blipFill>
        <p:spPr>
          <a:xfrm>
            <a:off x="6553047" y="822960"/>
            <a:ext cx="5181447" cy="3849731"/>
          </a:xfrm>
          <a:prstGeom prst="rect">
            <a:avLst/>
          </a:prstGeom>
        </p:spPr>
      </p:pic>
      <p:sp>
        <p:nvSpPr>
          <p:cNvPr id="9" name="Figure caption"/>
          <p:cNvSpPr txBox="1"/>
          <p:nvPr/>
        </p:nvSpPr>
        <p:spPr>
          <a:xfrm>
            <a:off x="6553047" y="5943600"/>
            <a:ext cx="5181447"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Gottlieb et al. (2015), Fig. 1. Rhesus macaques using a foraging device.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6373E"/>
                </a:solidFill>
                <a:latin typeface="Arial"/>
              </a:rPr>
              <a:t>Complex housing reduces repetitive behavior</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00"/>
              </a:spcAft>
            </a:pPr>
            <a:r>
              <a:rPr sz="1500" b="1" i="0">
                <a:solidFill>
                  <a:srgbClr val="56373E"/>
                </a:solidFill>
                <a:latin typeface="Arial"/>
              </a:rPr>
              <a:t>Stereotypy</a:t>
            </a:r>
            <a:r>
              <a:rPr sz="1500" b="0" i="0">
                <a:solidFill>
                  <a:srgbClr val="000000"/>
                </a:solidFill>
                <a:latin typeface="Arial"/>
              </a:rPr>
              <a:t> is repetitive behavior with little variation and no obvious immediate goal. Bailoo and colleagues recorded female C57 and SWISS mice in barren, nesting-only, enriched, or super-enriched housing. Video scoring expressed stereotypy as a proportion of active time, separating repetition from simple inactivity.</a:t>
            </a:r>
          </a:p>
          <a:p>
            <a:pPr algn="l">
              <a:lnSpc>
                <a:spcPct val="108000"/>
              </a:lnSpc>
              <a:spcAft>
                <a:spcPts val="900"/>
              </a:spcAft>
            </a:pPr>
            <a:r>
              <a:rPr sz="1500" b="0" i="0">
                <a:solidFill>
                  <a:srgbClr val="000000"/>
                </a:solidFill>
                <a:latin typeface="Arial"/>
              </a:rPr>
              <a:t>The super-enriched condition connected two cages and provided shelters, climbing opportunities, tunnels, and regularly changed objects. Stereotypy was greatly reduced in both strains compared with the other conditions; nesting material or modest enrichment did not produce a consistent equivalent reduction.</a:t>
            </a:r>
          </a:p>
          <a:p>
            <a:pPr algn="l">
              <a:lnSpc>
                <a:spcPct val="108000"/>
              </a:lnSpc>
              <a:spcAft>
                <a:spcPts val="900"/>
              </a:spcAft>
            </a:pPr>
            <a:r>
              <a:rPr sz="1500" b="0" i="0">
                <a:solidFill>
                  <a:srgbClr val="000000"/>
                </a:solidFill>
                <a:latin typeface="Arial"/>
              </a:rPr>
              <a:t>The result links a substantial change in living conditions to reduced behavioral pathology. It does not establish that every repetitive act reflects the same experience, or that a mouse without visible stereotypy has good welfare. Behavioral expression depends on the opportunities available in the enclosure.</a:t>
            </a:r>
          </a:p>
        </p:txBody>
      </p:sp>
      <p:pic>
        <p:nvPicPr>
          <p:cNvPr id="4" name="Picture 3" descr="mouse_stereo.png"/>
          <p:cNvPicPr>
            <a:picLocks noChangeAspect="1"/>
          </p:cNvPicPr>
          <p:nvPr/>
        </p:nvPicPr>
        <p:blipFill>
          <a:blip r:embed="rId2"/>
          <a:stretch>
            <a:fillRect/>
          </a:stretch>
        </p:blipFill>
        <p:spPr>
          <a:xfrm>
            <a:off x="6321247" y="1280160"/>
            <a:ext cx="5303519" cy="1856838"/>
          </a:xfrm>
          <a:prstGeom prst="rect">
            <a:avLst/>
          </a:prstGeom>
        </p:spPr>
      </p:pic>
      <p:sp>
        <p:nvSpPr>
          <p:cNvPr id="5" name="Figure caption"/>
          <p:cNvSpPr txBox="1"/>
          <p:nvPr/>
        </p:nvSpPr>
        <p:spPr>
          <a:xfrm>
            <a:off x="6321247" y="3228438"/>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Bailoo et al. (2018), Fig. 3. Stereotypy under four housing conditions.</a:t>
            </a:r>
          </a:p>
        </p:txBody>
      </p:sp>
      <p:sp>
        <p:nvSpPr>
          <p:cNvPr id="6" name="Rectangle 5"/>
          <p:cNvSpPr/>
          <p:nvPr/>
        </p:nvSpPr>
        <p:spPr>
          <a:xfrm>
            <a:off x="566928" y="6382512"/>
            <a:ext cx="11057839" cy="9144"/>
          </a:xfrm>
          <a:prstGeom prst="rect">
            <a:avLst/>
          </a:prstGeom>
          <a:solidFill>
            <a:srgbClr val="DFCD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Bailoo et al. (2018)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6373E"/>
                </a:solidFill>
                <a:latin typeface="Arial"/>
              </a:rPr>
              <a:t>Mice actively use opportunities in complex cages</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00"/>
              </a:spcAft>
            </a:pPr>
            <a:r>
              <a:rPr sz="1500" b="1" i="0">
                <a:solidFill>
                  <a:srgbClr val="56373E"/>
                </a:solidFill>
                <a:latin typeface="Arial"/>
              </a:rPr>
              <a:t>Environmental enrichment</a:t>
            </a:r>
            <a:r>
              <a:rPr sz="1500" b="0" i="0">
                <a:solidFill>
                  <a:srgbClr val="000000"/>
                </a:solidFill>
                <a:latin typeface="Arial"/>
              </a:rPr>
              <a:t> supplies resources that allow more species-typical activity than basic food, water, and bedding alone. In the same experiment, mice were scored as engaged when they contacted an enrichment item or manipulated the housing environment, including bedding in barren cages.</a:t>
            </a:r>
          </a:p>
          <a:p>
            <a:pPr algn="l">
              <a:lnSpc>
                <a:spcPct val="108000"/>
              </a:lnSpc>
              <a:spcAft>
                <a:spcPts val="900"/>
              </a:spcAft>
            </a:pPr>
            <a:r>
              <a:rPr sz="1500" b="0" i="0">
                <a:solidFill>
                  <a:srgbClr val="000000"/>
                </a:solidFill>
                <a:latin typeface="Arial"/>
              </a:rPr>
              <a:t>Mice in the super-enriched condition engaged with their environment during more than 85% of observed intervals on average. Barren-housed mice engaged least, while nesting and enriched cages supported intermediate levels. The comparison therefore measures use of resources rather than their mere presence.</a:t>
            </a:r>
          </a:p>
          <a:p>
            <a:pPr algn="l">
              <a:lnSpc>
                <a:spcPct val="108000"/>
              </a:lnSpc>
              <a:spcAft>
                <a:spcPts val="900"/>
              </a:spcAft>
            </a:pPr>
            <a:r>
              <a:rPr sz="1500" b="0" i="0">
                <a:solidFill>
                  <a:srgbClr val="000000"/>
                </a:solidFill>
                <a:latin typeface="Arial"/>
              </a:rPr>
              <a:t>Contact with objects is not a direct measure of pleasure. Shelter use can also obscure behavior from an observer, and engagement combines resting inside a shelter with active manipulation. Resource provision should be evaluated alongside repetitive behavior and other outcomes rather than treated as an automatically effective label.</a:t>
            </a:r>
          </a:p>
        </p:txBody>
      </p:sp>
      <p:pic>
        <p:nvPicPr>
          <p:cNvPr id="4" name="Picture 3" descr="mouse_use.png"/>
          <p:cNvPicPr>
            <a:picLocks noChangeAspect="1"/>
          </p:cNvPicPr>
          <p:nvPr/>
        </p:nvPicPr>
        <p:blipFill>
          <a:blip r:embed="rId2"/>
          <a:stretch>
            <a:fillRect/>
          </a:stretch>
        </p:blipFill>
        <p:spPr>
          <a:xfrm>
            <a:off x="6321247" y="1280160"/>
            <a:ext cx="5303520" cy="2805515"/>
          </a:xfrm>
          <a:prstGeom prst="rect">
            <a:avLst/>
          </a:prstGeom>
        </p:spPr>
      </p:pic>
      <p:sp>
        <p:nvSpPr>
          <p:cNvPr id="5" name="Figure caption"/>
          <p:cNvSpPr txBox="1"/>
          <p:nvPr/>
        </p:nvSpPr>
        <p:spPr>
          <a:xfrm>
            <a:off x="6321247" y="4177115"/>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Bailoo et al. (2018), Fig. 2. Engagement with enriched housing.</a:t>
            </a:r>
          </a:p>
        </p:txBody>
      </p:sp>
      <p:sp>
        <p:nvSpPr>
          <p:cNvPr id="6" name="Rectangle 5"/>
          <p:cNvSpPr/>
          <p:nvPr/>
        </p:nvSpPr>
        <p:spPr>
          <a:xfrm>
            <a:off x="566928" y="6382512"/>
            <a:ext cx="11057839" cy="9144"/>
          </a:xfrm>
          <a:prstGeom prst="rect">
            <a:avLst/>
          </a:prstGeom>
          <a:solidFill>
            <a:srgbClr val="DFCD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Bailoo et al. (2018)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6373E"/>
                </a:solidFill>
                <a:latin typeface="Arial"/>
              </a:rPr>
              <a:t>Hormone responses depend on mouse strain</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00"/>
              </a:spcAft>
            </a:pPr>
            <a:r>
              <a:rPr sz="1500" b="1" i="0">
                <a:solidFill>
                  <a:srgbClr val="56373E"/>
                </a:solidFill>
                <a:latin typeface="Arial"/>
              </a:rPr>
              <a:t>Glucocorticoids</a:t>
            </a:r>
            <a:r>
              <a:rPr sz="1500" b="0" i="0">
                <a:solidFill>
                  <a:srgbClr val="000000"/>
                </a:solidFill>
                <a:latin typeface="Arial"/>
              </a:rPr>
              <a:t> are adrenal hormones involved in the physiological response to stress; corticosterone is a major rodent glucocorticoid. Bailoo and colleagues measured its fecal metabolites, products formed after hormone processing, to compare endocrine outcomes without taking blood during the measurement.</a:t>
            </a:r>
          </a:p>
          <a:p>
            <a:pPr algn="l">
              <a:lnSpc>
                <a:spcPct val="108000"/>
              </a:lnSpc>
              <a:spcAft>
                <a:spcPts val="900"/>
              </a:spcAft>
            </a:pPr>
            <a:r>
              <a:rPr sz="1500" b="0" i="0">
                <a:solidFill>
                  <a:srgbClr val="000000"/>
                </a:solidFill>
                <a:latin typeface="Arial"/>
              </a:rPr>
              <a:t>SWISS mice in barren and nesting-only cages had higher metabolite concentrations than mice in enriched and super-enriched cages. C57 mice did not exhibit the same consistent housing effect. Concentrations were reported in ng per 0.05 g of feces, and excretion reflects secretion delayed by approximately 8–10 hours.</a:t>
            </a:r>
          </a:p>
          <a:p>
            <a:pPr algn="l">
              <a:lnSpc>
                <a:spcPct val="108000"/>
              </a:lnSpc>
              <a:spcAft>
                <a:spcPts val="900"/>
              </a:spcAft>
            </a:pPr>
            <a:r>
              <a:rPr sz="1500" b="0" i="0">
                <a:solidFill>
                  <a:srgbClr val="000000"/>
                </a:solidFill>
                <a:latin typeface="Arial"/>
              </a:rPr>
              <a:t>The collections followed cage changes, so the measurements partly reflect responses to husbandry. A lower metabolite value cannot be equated with uniformly lower distress, and a housing effect in one genetic background need not generalize to another. Behavioral and endocrine measures describe related but distinct biological processes.</a:t>
            </a:r>
          </a:p>
        </p:txBody>
      </p:sp>
      <p:pic>
        <p:nvPicPr>
          <p:cNvPr id="4" name="Picture 3" descr="mouse_fecal.png"/>
          <p:cNvPicPr>
            <a:picLocks noChangeAspect="1"/>
          </p:cNvPicPr>
          <p:nvPr/>
        </p:nvPicPr>
        <p:blipFill>
          <a:blip r:embed="rId2"/>
          <a:stretch>
            <a:fillRect/>
          </a:stretch>
        </p:blipFill>
        <p:spPr>
          <a:xfrm>
            <a:off x="6321247" y="1280160"/>
            <a:ext cx="5303520" cy="1564376"/>
          </a:xfrm>
          <a:prstGeom prst="rect">
            <a:avLst/>
          </a:prstGeom>
        </p:spPr>
      </p:pic>
      <p:sp>
        <p:nvSpPr>
          <p:cNvPr id="5" name="Figure caption"/>
          <p:cNvSpPr txBox="1"/>
          <p:nvPr/>
        </p:nvSpPr>
        <p:spPr>
          <a:xfrm>
            <a:off x="6321247" y="2935976"/>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Bailoo et al. (2018), Fig. 10. Fecal glucocorticoid metabolites by strain and housing.</a:t>
            </a:r>
          </a:p>
        </p:txBody>
      </p:sp>
      <p:sp>
        <p:nvSpPr>
          <p:cNvPr id="6" name="Rectangle 5"/>
          <p:cNvSpPr/>
          <p:nvPr/>
        </p:nvSpPr>
        <p:spPr>
          <a:xfrm>
            <a:off x="566928" y="6382512"/>
            <a:ext cx="11057839" cy="9144"/>
          </a:xfrm>
          <a:prstGeom prst="rect">
            <a:avLst/>
          </a:prstGeom>
          <a:solidFill>
            <a:srgbClr val="DFCD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Bailoo et al. (2018)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6373E"/>
                </a:solidFill>
                <a:latin typeface="Arial"/>
              </a:rPr>
              <a:t>Different welfare measures can disagree</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00"/>
              </a:spcAft>
            </a:pPr>
            <a:r>
              <a:rPr sz="1500" b="1" i="0">
                <a:solidFill>
                  <a:srgbClr val="56373E"/>
                </a:solidFill>
                <a:latin typeface="Arial"/>
              </a:rPr>
              <a:t>Perseveration</a:t>
            </a:r>
            <a:r>
              <a:rPr sz="1500" b="0" i="0">
                <a:solidFill>
                  <a:srgbClr val="000000"/>
                </a:solidFill>
                <a:latin typeface="Arial"/>
              </a:rPr>
              <a:t> is inappropriate persistence in a response pattern when changing responses would be useful. Mice completed a two-choice guessing task in which reward probabilities depended on their preceding choices. This assessed inhibitory control separately from home-cage stereotypy.</a:t>
            </a:r>
          </a:p>
          <a:p>
            <a:pPr algn="l">
              <a:lnSpc>
                <a:spcPct val="108000"/>
              </a:lnSpc>
              <a:spcAft>
                <a:spcPts val="900"/>
              </a:spcAft>
            </a:pPr>
            <a:r>
              <a:rPr sz="1500" b="0" i="0">
                <a:solidFill>
                  <a:srgbClr val="000000"/>
                </a:solidFill>
                <a:latin typeface="Arial"/>
              </a:rPr>
              <a:t>Housing condition and stereotypy level did not consistently predict the perseveration score. A separate spatial judgment task trained mice to approach a rewarded location and withhold approach at a nonrewarded location, then tested three intermediate locations. Enrichment did not cause a consistent shift toward approaching ambiguous cues across both strains.</a:t>
            </a:r>
          </a:p>
          <a:p>
            <a:pPr algn="l">
              <a:lnSpc>
                <a:spcPct val="108000"/>
              </a:lnSpc>
              <a:spcAft>
                <a:spcPts val="900"/>
              </a:spcAft>
            </a:pPr>
            <a:r>
              <a:rPr sz="1500" b="0" i="0">
                <a:solidFill>
                  <a:srgbClr val="000000"/>
                </a:solidFill>
                <a:latin typeface="Arial"/>
              </a:rPr>
              <a:t>These negative results coexist with reduced stereotypy in super-enriched cages. They limit the inference that one visible improvement necessarily normalizes every cognitive outcome. A welfare assessment supported by several independent measurements is less dependent on the assumptions of any single behavioral task.</a:t>
            </a:r>
          </a:p>
        </p:txBody>
      </p:sp>
      <p:pic>
        <p:nvPicPr>
          <p:cNvPr id="4" name="Picture 3" descr="mouse_repeat.png"/>
          <p:cNvPicPr>
            <a:picLocks noChangeAspect="1"/>
          </p:cNvPicPr>
          <p:nvPr/>
        </p:nvPicPr>
        <p:blipFill>
          <a:blip r:embed="rId2"/>
          <a:stretch>
            <a:fillRect/>
          </a:stretch>
        </p:blipFill>
        <p:spPr>
          <a:xfrm>
            <a:off x="6321247" y="1280160"/>
            <a:ext cx="5303519" cy="2204743"/>
          </a:xfrm>
          <a:prstGeom prst="rect">
            <a:avLst/>
          </a:prstGeom>
        </p:spPr>
      </p:pic>
      <p:sp>
        <p:nvSpPr>
          <p:cNvPr id="5" name="Figure caption"/>
          <p:cNvSpPr txBox="1"/>
          <p:nvPr/>
        </p:nvSpPr>
        <p:spPr>
          <a:xfrm>
            <a:off x="6321247" y="3576343"/>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Bailoo et al. (2018), Fig. 12. Perseveration in a guessing task.</a:t>
            </a:r>
          </a:p>
        </p:txBody>
      </p:sp>
      <p:pic>
        <p:nvPicPr>
          <p:cNvPr id="6" name="Picture 5" descr="mouse_bias.png"/>
          <p:cNvPicPr>
            <a:picLocks noChangeAspect="1"/>
          </p:cNvPicPr>
          <p:nvPr/>
        </p:nvPicPr>
        <p:blipFill>
          <a:blip r:embed="rId3"/>
          <a:stretch>
            <a:fillRect/>
          </a:stretch>
        </p:blipFill>
        <p:spPr>
          <a:xfrm>
            <a:off x="7622259" y="4251960"/>
            <a:ext cx="2701495" cy="1508759"/>
          </a:xfrm>
          <a:prstGeom prst="rect">
            <a:avLst/>
          </a:prstGeom>
        </p:spPr>
      </p:pic>
      <p:sp>
        <p:nvSpPr>
          <p:cNvPr id="7" name="Figure caption"/>
          <p:cNvSpPr txBox="1"/>
          <p:nvPr/>
        </p:nvSpPr>
        <p:spPr>
          <a:xfrm>
            <a:off x="6321247" y="5833872"/>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Bailoo et al. (2018), Fig. 14. Responses to spatially ambiguous cues.</a:t>
            </a:r>
          </a:p>
        </p:txBody>
      </p:sp>
      <p:sp>
        <p:nvSpPr>
          <p:cNvPr id="8" name="Rectangle 7"/>
          <p:cNvSpPr/>
          <p:nvPr/>
        </p:nvSpPr>
        <p:spPr>
          <a:xfrm>
            <a:off x="566928" y="6382512"/>
            <a:ext cx="11057839" cy="9144"/>
          </a:xfrm>
          <a:prstGeom prst="rect">
            <a:avLst/>
          </a:prstGeom>
          <a:solidFill>
            <a:srgbClr val="DFCDD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Bailoo et al. (2018)</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6373E"/>
                </a:solidFill>
                <a:latin typeface="Arial"/>
              </a:rPr>
              <a:t>Full social contact predicts less macaque stereotypy</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840"/>
              </a:spcAft>
            </a:pPr>
            <a:r>
              <a:rPr sz="1400" b="0" i="0">
                <a:solidFill>
                  <a:srgbClr val="000000"/>
                </a:solidFill>
                <a:latin typeface="Arial"/>
              </a:rPr>
              <a:t>Gottlieb and colleagues assessed captive rhesus macaques using 5-minute behavioral observations over 11 years. </a:t>
            </a:r>
            <a:r>
              <a:rPr sz="1400" b="1" i="0">
                <a:solidFill>
                  <a:srgbClr val="56373E"/>
                </a:solidFill>
                <a:latin typeface="Arial"/>
              </a:rPr>
              <a:t>Motor stereotypies</a:t>
            </a:r>
            <a:r>
              <a:rPr sz="1400" b="0" i="0">
                <a:solidFill>
                  <a:srgbClr val="000000"/>
                </a:solidFill>
                <a:latin typeface="Arial"/>
              </a:rPr>
              <a:t> were repeated whole-body movements such as pacing, rocking, and somersaulting. Housing categories distinguished solitary cages, protected contact through bars, and full access to a social partner.</a:t>
            </a:r>
          </a:p>
          <a:p>
            <a:pPr algn="l">
              <a:lnSpc>
                <a:spcPct val="108000"/>
              </a:lnSpc>
              <a:spcAft>
                <a:spcPts val="840"/>
              </a:spcAft>
            </a:pPr>
            <a:r>
              <a:rPr sz="1400" b="0" i="0">
                <a:solidFill>
                  <a:srgbClr val="000000"/>
                </a:solidFill>
                <a:latin typeface="Arial"/>
              </a:rPr>
              <a:t>Full-contact pair housing was associated with less stereotypy than either solitary housing or protected contact. The protected-contact partition had bars 4.5 cm apart but did not provide the same association with reduced stereotypy. Foraging devices were also associated with a lower likelihood of stereotypy when present.</a:t>
            </a:r>
          </a:p>
          <a:p>
            <a:pPr algn="l">
              <a:lnSpc>
                <a:spcPct val="108000"/>
              </a:lnSpc>
              <a:spcAft>
                <a:spcPts val="840"/>
              </a:spcAft>
            </a:pPr>
            <a:r>
              <a:rPr sz="1400" b="0" i="0">
                <a:solidFill>
                  <a:srgbClr val="000000"/>
                </a:solidFill>
                <a:latin typeface="Arial"/>
              </a:rPr>
              <a:t>The study controlled analytically for measured individual differences and repeated observations, but housing was not randomly assigned. The findings support providing meaningful social and foraging opportunities while leaving open the influence of selection into different housing conditions. Visual contact alone was not equivalent to full social access in this population.</a:t>
            </a:r>
          </a:p>
        </p:txBody>
      </p:sp>
      <p:pic>
        <p:nvPicPr>
          <p:cNvPr id="4" name="Picture 3" descr="monkey_social.png"/>
          <p:cNvPicPr>
            <a:picLocks noChangeAspect="1"/>
          </p:cNvPicPr>
          <p:nvPr/>
        </p:nvPicPr>
        <p:blipFill>
          <a:blip r:embed="rId2"/>
          <a:stretch>
            <a:fillRect/>
          </a:stretch>
        </p:blipFill>
        <p:spPr>
          <a:xfrm>
            <a:off x="7402944" y="1280160"/>
            <a:ext cx="3140124" cy="2423160"/>
          </a:xfrm>
          <a:prstGeom prst="rect">
            <a:avLst/>
          </a:prstGeom>
        </p:spPr>
      </p:pic>
      <p:sp>
        <p:nvSpPr>
          <p:cNvPr id="5" name="Figure caption"/>
          <p:cNvSpPr txBox="1"/>
          <p:nvPr/>
        </p:nvSpPr>
        <p:spPr>
          <a:xfrm>
            <a:off x="6321247" y="3794760"/>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Gottlieb et al. (2015), Fig. 2. Motor stereotypy across social housing conditions.</a:t>
            </a:r>
          </a:p>
        </p:txBody>
      </p:sp>
      <p:pic>
        <p:nvPicPr>
          <p:cNvPr id="6" name="Picture 5" descr="monkey_photo.png"/>
          <p:cNvPicPr>
            <a:picLocks noChangeAspect="1"/>
          </p:cNvPicPr>
          <p:nvPr/>
        </p:nvPicPr>
        <p:blipFill>
          <a:blip r:embed="rId3"/>
          <a:stretch>
            <a:fillRect/>
          </a:stretch>
        </p:blipFill>
        <p:spPr>
          <a:xfrm>
            <a:off x="7957668" y="4251960"/>
            <a:ext cx="2030676" cy="1508759"/>
          </a:xfrm>
          <a:prstGeom prst="rect">
            <a:avLst/>
          </a:prstGeom>
        </p:spPr>
      </p:pic>
      <p:sp>
        <p:nvSpPr>
          <p:cNvPr id="7" name="Figure caption"/>
          <p:cNvSpPr txBox="1"/>
          <p:nvPr/>
        </p:nvSpPr>
        <p:spPr>
          <a:xfrm>
            <a:off x="6321247" y="5833872"/>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Gottlieb et al. (2015), Fig. 1. Rhesus macaques using a foraging device.</a:t>
            </a:r>
          </a:p>
        </p:txBody>
      </p:sp>
      <p:sp>
        <p:nvSpPr>
          <p:cNvPr id="8" name="Rectangle 7"/>
          <p:cNvSpPr/>
          <p:nvPr/>
        </p:nvSpPr>
        <p:spPr>
          <a:xfrm>
            <a:off x="566928" y="6382512"/>
            <a:ext cx="11057839" cy="9144"/>
          </a:xfrm>
          <a:prstGeom prst="rect">
            <a:avLst/>
          </a:prstGeom>
          <a:solidFill>
            <a:srgbClr val="DFCDD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Gottlieb et al. (2015)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6373E"/>
                </a:solidFill>
                <a:latin typeface="Arial"/>
              </a:rPr>
              <a:t>Temperament predicts stereotypy expression</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00"/>
              </a:spcAft>
            </a:pPr>
            <a:r>
              <a:rPr sz="1500" b="1" i="0">
                <a:solidFill>
                  <a:srgbClr val="56373E"/>
                </a:solidFill>
                <a:latin typeface="Arial"/>
              </a:rPr>
              <a:t>Behavioral inhibition</a:t>
            </a:r>
            <a:r>
              <a:rPr sz="1500" b="0" i="0">
                <a:solidFill>
                  <a:srgbClr val="000000"/>
                </a:solidFill>
                <a:latin typeface="Arial"/>
              </a:rPr>
              <a:t> describes withdrawal from unfamiliar situations. After observing stereotypy, investigators presented a novel food item and recorded inspection for 3 minutes. Macaques inspecting within 5 seconds were classified as bold; later inspection was moderate, and no inspection was inhibited.</a:t>
            </a:r>
          </a:p>
          <a:p>
            <a:pPr algn="l">
              <a:lnSpc>
                <a:spcPct val="108000"/>
              </a:lnSpc>
              <a:spcAft>
                <a:spcPts val="900"/>
              </a:spcAft>
            </a:pPr>
            <a:r>
              <a:rPr sz="1500" b="0" i="0">
                <a:solidFill>
                  <a:srgbClr val="000000"/>
                </a:solidFill>
                <a:latin typeface="Arial"/>
              </a:rPr>
              <a:t>Bold and moderate responders were more likely to express motor stereotypy than inhibited responders. The association remained in a model that also included housing, enrichment, rearing history, ancestry, and age. A visibly active monkey and a withdrawn monkey can therefore express an adverse environment differently.</a:t>
            </a:r>
          </a:p>
          <a:p>
            <a:pPr algn="l">
              <a:lnSpc>
                <a:spcPct val="108000"/>
              </a:lnSpc>
              <a:spcAft>
                <a:spcPts val="900"/>
              </a:spcAft>
            </a:pPr>
            <a:r>
              <a:rPr sz="1500" b="0" i="0">
                <a:solidFill>
                  <a:srgbClr val="000000"/>
                </a:solidFill>
                <a:latin typeface="Arial"/>
              </a:rPr>
              <a:t>The novel-object response is an operational measure of temperament rather than a diagnosis. Absence of pacing in an inhibited individual does not by itself establish favorable welfare. Conversely, the association does not prove that bold temperament causes pathology; shared developmental influences could contribute to both behaviors.</a:t>
            </a:r>
          </a:p>
        </p:txBody>
      </p:sp>
      <p:pic>
        <p:nvPicPr>
          <p:cNvPr id="4" name="Picture 3" descr="monkey_temper.png"/>
          <p:cNvPicPr>
            <a:picLocks noChangeAspect="1"/>
          </p:cNvPicPr>
          <p:nvPr/>
        </p:nvPicPr>
        <p:blipFill>
          <a:blip r:embed="rId2"/>
          <a:stretch>
            <a:fillRect/>
          </a:stretch>
        </p:blipFill>
        <p:spPr>
          <a:xfrm>
            <a:off x="7423259" y="1280160"/>
            <a:ext cx="3099494" cy="2423160"/>
          </a:xfrm>
          <a:prstGeom prst="rect">
            <a:avLst/>
          </a:prstGeom>
        </p:spPr>
      </p:pic>
      <p:sp>
        <p:nvSpPr>
          <p:cNvPr id="5" name="Figure caption"/>
          <p:cNvSpPr txBox="1"/>
          <p:nvPr/>
        </p:nvSpPr>
        <p:spPr>
          <a:xfrm>
            <a:off x="6321247" y="3794760"/>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Gottlieb et al. (2015), Fig. 3. Motor stereotypy and novel-object responses.</a:t>
            </a:r>
          </a:p>
        </p:txBody>
      </p:sp>
      <p:pic>
        <p:nvPicPr>
          <p:cNvPr id="6" name="Picture 5" descr="monkey_photo.png"/>
          <p:cNvPicPr>
            <a:picLocks noChangeAspect="1"/>
          </p:cNvPicPr>
          <p:nvPr/>
        </p:nvPicPr>
        <p:blipFill>
          <a:blip r:embed="rId3"/>
          <a:stretch>
            <a:fillRect/>
          </a:stretch>
        </p:blipFill>
        <p:spPr>
          <a:xfrm>
            <a:off x="7957668" y="4251960"/>
            <a:ext cx="2030676" cy="1508759"/>
          </a:xfrm>
          <a:prstGeom prst="rect">
            <a:avLst/>
          </a:prstGeom>
        </p:spPr>
      </p:pic>
      <p:sp>
        <p:nvSpPr>
          <p:cNvPr id="7" name="Figure caption"/>
          <p:cNvSpPr txBox="1"/>
          <p:nvPr/>
        </p:nvSpPr>
        <p:spPr>
          <a:xfrm>
            <a:off x="6321247" y="5833872"/>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Gottlieb et al. (2015), Fig. 1. Rhesus macaques using a foraging device.</a:t>
            </a:r>
          </a:p>
        </p:txBody>
      </p:sp>
      <p:sp>
        <p:nvSpPr>
          <p:cNvPr id="8" name="Rectangle 7"/>
          <p:cNvSpPr/>
          <p:nvPr/>
        </p:nvSpPr>
        <p:spPr>
          <a:xfrm>
            <a:off x="566928" y="6382512"/>
            <a:ext cx="11057839" cy="9144"/>
          </a:xfrm>
          <a:prstGeom prst="rect">
            <a:avLst/>
          </a:prstGeom>
          <a:solidFill>
            <a:srgbClr val="DFCDD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Gottlieb et al. (2015)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6373E"/>
                </a:solidFill>
                <a:latin typeface="Arial"/>
              </a:rPr>
              <a:t>Early rearing predicts later repetitive behavior</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The macaque analysis also classified the environment experienced during the first 6 months of life. Outdoor corral rearing provided a large social group, while other categories included sheltered groups, indoor groups, nursery rearing, and indoor mother rearing. These histories differed before the adult observations began.</a:t>
            </a:r>
          </a:p>
          <a:p>
            <a:pPr algn="l">
              <a:lnSpc>
                <a:spcPct val="108000"/>
              </a:lnSpc>
              <a:spcAft>
                <a:spcPts val="900"/>
              </a:spcAft>
            </a:pPr>
            <a:r>
              <a:rPr sz="1500" b="0" i="0">
                <a:solidFill>
                  <a:srgbClr val="000000"/>
                </a:solidFill>
                <a:latin typeface="Arial"/>
              </a:rPr>
              <a:t>Nursery-reared and indoor mother-reared monkeys had the highest modeled risk of motor stereotypy, whereas corral-reared animals had the lowest. Current housing and foraging conditions were included alongside early history, so the analysis did not attribute every adult difference to the cage occupied at observation.</a:t>
            </a:r>
          </a:p>
          <a:p>
            <a:pPr algn="l">
              <a:lnSpc>
                <a:spcPct val="108000"/>
              </a:lnSpc>
              <a:spcAft>
                <a:spcPts val="900"/>
              </a:spcAft>
            </a:pPr>
            <a:r>
              <a:rPr sz="1500" b="0" i="0">
                <a:solidFill>
                  <a:srgbClr val="000000"/>
                </a:solidFill>
                <a:latin typeface="Arial"/>
              </a:rPr>
              <a:t>Developmental history can influence the later expression of behavioral pathology and the apparent response to husbandry. These observational associations cannot identify a unique developmental mechanism or separate every correlated feature of rearing. They also mean that identical present-day cages need not produce identical behavior in animals with different past experiences.</a:t>
            </a:r>
          </a:p>
        </p:txBody>
      </p:sp>
      <p:pic>
        <p:nvPicPr>
          <p:cNvPr id="4" name="Picture 3" descr="monkey_rearing.png"/>
          <p:cNvPicPr>
            <a:picLocks noChangeAspect="1"/>
          </p:cNvPicPr>
          <p:nvPr/>
        </p:nvPicPr>
        <p:blipFill>
          <a:blip r:embed="rId2"/>
          <a:stretch>
            <a:fillRect/>
          </a:stretch>
        </p:blipFill>
        <p:spPr>
          <a:xfrm>
            <a:off x="6492468" y="1280160"/>
            <a:ext cx="4961078" cy="2423160"/>
          </a:xfrm>
          <a:prstGeom prst="rect">
            <a:avLst/>
          </a:prstGeom>
        </p:spPr>
      </p:pic>
      <p:sp>
        <p:nvSpPr>
          <p:cNvPr id="5" name="Figure caption"/>
          <p:cNvSpPr txBox="1"/>
          <p:nvPr/>
        </p:nvSpPr>
        <p:spPr>
          <a:xfrm>
            <a:off x="6321247" y="3794760"/>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Gottlieb et al. (2015), Fig. 4. Motor stereotypy across early rearing histories.</a:t>
            </a:r>
          </a:p>
        </p:txBody>
      </p:sp>
      <p:pic>
        <p:nvPicPr>
          <p:cNvPr id="6" name="Picture 5" descr="monkey_photo.png"/>
          <p:cNvPicPr>
            <a:picLocks noChangeAspect="1"/>
          </p:cNvPicPr>
          <p:nvPr/>
        </p:nvPicPr>
        <p:blipFill>
          <a:blip r:embed="rId3"/>
          <a:stretch>
            <a:fillRect/>
          </a:stretch>
        </p:blipFill>
        <p:spPr>
          <a:xfrm>
            <a:off x="7957668" y="4251960"/>
            <a:ext cx="2030676" cy="1508759"/>
          </a:xfrm>
          <a:prstGeom prst="rect">
            <a:avLst/>
          </a:prstGeom>
        </p:spPr>
      </p:pic>
      <p:sp>
        <p:nvSpPr>
          <p:cNvPr id="7" name="Figure caption"/>
          <p:cNvSpPr txBox="1"/>
          <p:nvPr/>
        </p:nvSpPr>
        <p:spPr>
          <a:xfrm>
            <a:off x="6321247" y="5833872"/>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Gottlieb et al. (2015), Fig. 1. Rhesus macaques using a foraging device.</a:t>
            </a:r>
          </a:p>
        </p:txBody>
      </p:sp>
      <p:sp>
        <p:nvSpPr>
          <p:cNvPr id="8" name="Rectangle 7"/>
          <p:cNvSpPr/>
          <p:nvPr/>
        </p:nvSpPr>
        <p:spPr>
          <a:xfrm>
            <a:off x="566928" y="6382512"/>
            <a:ext cx="11057839" cy="9144"/>
          </a:xfrm>
          <a:prstGeom prst="rect">
            <a:avLst/>
          </a:prstGeom>
          <a:solidFill>
            <a:srgbClr val="DFCDD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Gottlieb et al. (2015)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6373E"/>
                </a:solidFill>
                <a:latin typeface="Arial"/>
              </a:rPr>
              <a:t>Captivity changes hormone responses in wild birds</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Lattin and colleagues followed wild house sparrows during 4 weeks of laboratory captivity. </a:t>
            </a:r>
            <a:r>
              <a:rPr sz="1500" b="1" i="0">
                <a:solidFill>
                  <a:srgbClr val="56373E"/>
                </a:solidFill>
                <a:latin typeface="Arial"/>
              </a:rPr>
              <a:t>Baseline corticosterone</a:t>
            </a:r>
            <a:r>
              <a:rPr sz="1500" b="0" i="0">
                <a:solidFill>
                  <a:srgbClr val="000000"/>
                </a:solidFill>
                <a:latin typeface="Arial"/>
              </a:rPr>
              <a:t> was sampled within 3 minutes of capture or room entry; the acute stress response was sampled after 30 minutes of standardized restraint. These measurements distinguish resting hormone levels from a response to challenge.</a:t>
            </a:r>
          </a:p>
          <a:p>
            <a:pPr algn="l">
              <a:lnSpc>
                <a:spcPct val="108000"/>
              </a:lnSpc>
              <a:spcAft>
                <a:spcPts val="900"/>
              </a:spcAft>
            </a:pPr>
            <a:r>
              <a:rPr sz="1500" b="0" i="0">
                <a:solidFill>
                  <a:srgbClr val="000000"/>
                </a:solidFill>
                <a:latin typeface="Arial"/>
              </a:rPr>
              <a:t>Baseline corticosterone rose after 2 weeks relative to capture. Restraint-induced concentrations depended on both time in captivity and life-history stage, including moult, winter, and breeding. Birds also lost body mass during captivity, while recorded behaviors changed over the same period.</a:t>
            </a:r>
          </a:p>
          <a:p>
            <a:pPr algn="l">
              <a:lnSpc>
                <a:spcPct val="108000"/>
              </a:lnSpc>
              <a:spcAft>
                <a:spcPts val="900"/>
              </a:spcAft>
            </a:pPr>
            <a:r>
              <a:rPr sz="1500" b="0" i="0">
                <a:solidFill>
                  <a:srgbClr val="000000"/>
                </a:solidFill>
                <a:latin typeface="Arial"/>
              </a:rPr>
              <a:t>Initial lower baseline hormone levels and stronger acute responses predicted some more favorable feeding or behavioral outcomes. A large challenge response is therefore not automatically evidence of poor coping. The observational design relates physiological variation to captivity responses without proving that altering corticosterone would reproduce those outcomes.</a:t>
            </a:r>
          </a:p>
        </p:txBody>
      </p:sp>
      <p:pic>
        <p:nvPicPr>
          <p:cNvPr id="4" name="Picture 3" descr="bird_cort.png"/>
          <p:cNvPicPr>
            <a:picLocks noChangeAspect="1"/>
          </p:cNvPicPr>
          <p:nvPr/>
        </p:nvPicPr>
        <p:blipFill>
          <a:blip r:embed="rId2"/>
          <a:stretch>
            <a:fillRect/>
          </a:stretch>
        </p:blipFill>
        <p:spPr>
          <a:xfrm>
            <a:off x="7215113" y="1280160"/>
            <a:ext cx="3515786" cy="4297679"/>
          </a:xfrm>
          <a:prstGeom prst="rect">
            <a:avLst/>
          </a:prstGeom>
        </p:spPr>
      </p:pic>
      <p:sp>
        <p:nvSpPr>
          <p:cNvPr id="5" name="Figure caption"/>
          <p:cNvSpPr txBox="1"/>
          <p:nvPr/>
        </p:nvSpPr>
        <p:spPr>
          <a:xfrm>
            <a:off x="6321247" y="5669279"/>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Lattin et al. (2019), Fig. 3(a,b). Baseline and restraint-induced corticosterone during captivity.</a:t>
            </a:r>
          </a:p>
        </p:txBody>
      </p:sp>
      <p:sp>
        <p:nvSpPr>
          <p:cNvPr id="6" name="Rectangle 5"/>
          <p:cNvSpPr/>
          <p:nvPr/>
        </p:nvSpPr>
        <p:spPr>
          <a:xfrm>
            <a:off x="566928" y="6382512"/>
            <a:ext cx="11057839" cy="9144"/>
          </a:xfrm>
          <a:prstGeom prst="rect">
            <a:avLst/>
          </a:prstGeom>
          <a:solidFill>
            <a:srgbClr val="DFCD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Lattin et al. (2019)</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6373E"/>
                </a:solidFill>
                <a:latin typeface="Arial"/>
              </a:rPr>
              <a:t>PET measures dopamine binding in sparrow striatum</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840"/>
              </a:spcAft>
            </a:pPr>
            <a:r>
              <a:rPr sz="1400" b="1" i="0">
                <a:solidFill>
                  <a:srgbClr val="56373E"/>
                </a:solidFill>
                <a:latin typeface="Arial"/>
              </a:rPr>
              <a:t>Dopamine</a:t>
            </a:r>
            <a:r>
              <a:rPr sz="1400" b="0" i="0">
                <a:solidFill>
                  <a:srgbClr val="000000"/>
                </a:solidFill>
                <a:latin typeface="Arial"/>
              </a:rPr>
              <a:t> is a transmitter that modifies neural signaling through several receptor classes. The </a:t>
            </a:r>
            <a:r>
              <a:rPr sz="1400" b="1" i="0">
                <a:solidFill>
                  <a:srgbClr val="56373E"/>
                </a:solidFill>
                <a:latin typeface="Arial"/>
              </a:rPr>
              <a:t>striatum</a:t>
            </a:r>
            <a:r>
              <a:rPr sz="1400" b="0" i="0">
                <a:solidFill>
                  <a:srgbClr val="000000"/>
                </a:solidFill>
                <a:latin typeface="Arial"/>
              </a:rPr>
              <a:t> is a forebrain region involved in behavior and action selection. Investigators used positron emission tomography, or PET, to localize a radioactive ligand that binds dopamine D2 receptors in living sparrows.</a:t>
            </a:r>
          </a:p>
          <a:p>
            <a:pPr algn="l">
              <a:lnSpc>
                <a:spcPct val="108000"/>
              </a:lnSpc>
              <a:spcAft>
                <a:spcPts val="840"/>
              </a:spcAft>
            </a:pPr>
            <a:r>
              <a:rPr sz="1400" b="0" i="0">
                <a:solidFill>
                  <a:srgbClr val="000000"/>
                </a:solidFill>
                <a:latin typeface="Arial"/>
              </a:rPr>
              <a:t>The ligand, carbon-11 raclopride, accumulated more strongly in striatum than in the cerebellar reference region. Giving haloperidol at 0.5 mg/kg displaced striatal binding during a scan, supporting the interpretation that the signal included receptor-specific binding rather than only nonspecific tracer distribution.</a:t>
            </a:r>
          </a:p>
          <a:p>
            <a:pPr algn="l">
              <a:lnSpc>
                <a:spcPct val="108000"/>
              </a:lnSpc>
              <a:spcAft>
                <a:spcPts val="840"/>
              </a:spcAft>
            </a:pPr>
            <a:r>
              <a:rPr sz="1400" b="1" i="0">
                <a:solidFill>
                  <a:srgbClr val="56373E"/>
                </a:solidFill>
                <a:latin typeface="Arial"/>
              </a:rPr>
              <a:t>Binding potential</a:t>
            </a:r>
            <a:r>
              <a:rPr sz="1400" b="0" i="0">
                <a:solidFill>
                  <a:srgbClr val="000000"/>
                </a:solidFill>
                <a:latin typeface="Arial"/>
              </a:rPr>
              <a:t> estimates available specific binding relative to a reference region. It is not a direct count of receptors and can depend on receptor availability and competition from endogenous dopamine. PET therefore connects neurochemical organization to captivity responses while retaining important limits on what a change in signal means.</a:t>
            </a:r>
          </a:p>
        </p:txBody>
      </p:sp>
      <p:pic>
        <p:nvPicPr>
          <p:cNvPr id="4" name="Picture 3" descr="bird_bind.png"/>
          <p:cNvPicPr>
            <a:picLocks noChangeAspect="1"/>
          </p:cNvPicPr>
          <p:nvPr/>
        </p:nvPicPr>
        <p:blipFill>
          <a:blip r:embed="rId2"/>
          <a:stretch>
            <a:fillRect/>
          </a:stretch>
        </p:blipFill>
        <p:spPr>
          <a:xfrm>
            <a:off x="6579928" y="1280160"/>
            <a:ext cx="3140236" cy="4297679"/>
          </a:xfrm>
          <a:prstGeom prst="rect">
            <a:avLst/>
          </a:prstGeom>
        </p:spPr>
      </p:pic>
      <p:sp>
        <p:nvSpPr>
          <p:cNvPr id="5" name="Figure caption"/>
          <p:cNvSpPr txBox="1"/>
          <p:nvPr/>
        </p:nvSpPr>
        <p:spPr>
          <a:xfrm>
            <a:off x="6138367" y="5669279"/>
            <a:ext cx="402336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Lattin et al. (2019), Fig. 2(a,b). Raclopride time courses and haloperidol displacement.</a:t>
            </a:r>
          </a:p>
        </p:txBody>
      </p:sp>
      <p:pic>
        <p:nvPicPr>
          <p:cNvPr id="6" name="Picture 5" descr="bird_pet.png"/>
          <p:cNvPicPr>
            <a:picLocks noChangeAspect="1"/>
          </p:cNvPicPr>
          <p:nvPr/>
        </p:nvPicPr>
        <p:blipFill>
          <a:blip r:embed="rId3"/>
          <a:stretch>
            <a:fillRect/>
          </a:stretch>
        </p:blipFill>
        <p:spPr>
          <a:xfrm>
            <a:off x="10344607" y="2148840"/>
            <a:ext cx="1280159" cy="1310924"/>
          </a:xfrm>
          <a:prstGeom prst="rect">
            <a:avLst/>
          </a:prstGeom>
        </p:spPr>
      </p:pic>
      <p:sp>
        <p:nvSpPr>
          <p:cNvPr id="7" name="Figure caption"/>
          <p:cNvSpPr txBox="1"/>
          <p:nvPr/>
        </p:nvSpPr>
        <p:spPr>
          <a:xfrm>
            <a:off x="10344607" y="3532916"/>
            <a:ext cx="1280159"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Lattin et al. (2019), Fig. 5. PET localization of striatum and cerebellum.</a:t>
            </a:r>
          </a:p>
        </p:txBody>
      </p:sp>
      <p:sp>
        <p:nvSpPr>
          <p:cNvPr id="8" name="Rectangle 7"/>
          <p:cNvSpPr/>
          <p:nvPr/>
        </p:nvSpPr>
        <p:spPr>
          <a:xfrm>
            <a:off x="566928" y="6382512"/>
            <a:ext cx="11057839" cy="9144"/>
          </a:xfrm>
          <a:prstGeom prst="rect">
            <a:avLst/>
          </a:prstGeom>
          <a:solidFill>
            <a:srgbClr val="DFCDD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Lattin et al. (2019)</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6373E"/>
                </a:solidFill>
                <a:latin typeface="Arial"/>
              </a:rPr>
              <a:t>Dopamine binding changes with captivity and season</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Sparrows underwent a first D2-receptor PET scan 24 hours after capture, with a subset scanned again after 4 weeks. Striatal binding potential decreased in moulting birds, while comparable decreases were not detected in winter or breeding birds. The neural response to captivity therefore differed by life-history stage.</a:t>
            </a:r>
          </a:p>
          <a:p>
            <a:pPr algn="l">
              <a:lnSpc>
                <a:spcPct val="108000"/>
              </a:lnSpc>
              <a:spcAft>
                <a:spcPts val="900"/>
              </a:spcAft>
            </a:pPr>
            <a:r>
              <a:rPr sz="1500" b="0" i="0">
                <a:solidFill>
                  <a:srgbClr val="000000"/>
                </a:solidFill>
                <a:latin typeface="Arial"/>
              </a:rPr>
              <a:t>Larger declines in binding were associated with more feather ruffling and beak wiping during captivity. Higher initial binding predicted more feeding at early assessments but lower body mass later, so receptor binding did not track every behavioral and physiological endpoint in the same direction.</a:t>
            </a:r>
          </a:p>
          <a:p>
            <a:pPr algn="l">
              <a:lnSpc>
                <a:spcPct val="108000"/>
              </a:lnSpc>
              <a:spcAft>
                <a:spcPts val="900"/>
              </a:spcAft>
            </a:pPr>
            <a:r>
              <a:rPr sz="1500" b="0" i="0">
                <a:solidFill>
                  <a:srgbClr val="000000"/>
                </a:solidFill>
                <a:latin typeface="Arial"/>
              </a:rPr>
              <a:t>These associations are consistent with dopamine-related changes contributing to captivity responses, but do not establish receptor loss or a human psychiatric disorder. The first scan was already after capture, so it was not an undisturbed wild baseline. A seasonal, individual, and temporal interpretation is needed before using PET as a welfare marker.</a:t>
            </a:r>
          </a:p>
        </p:txBody>
      </p:sp>
      <p:pic>
        <p:nvPicPr>
          <p:cNvPr id="4" name="Picture 3" descr="bird_d2.png"/>
          <p:cNvPicPr>
            <a:picLocks noChangeAspect="1"/>
          </p:cNvPicPr>
          <p:nvPr/>
        </p:nvPicPr>
        <p:blipFill>
          <a:blip r:embed="rId2"/>
          <a:stretch>
            <a:fillRect/>
          </a:stretch>
        </p:blipFill>
        <p:spPr>
          <a:xfrm>
            <a:off x="7431648" y="1280160"/>
            <a:ext cx="3082718" cy="2423160"/>
          </a:xfrm>
          <a:prstGeom prst="rect">
            <a:avLst/>
          </a:prstGeom>
        </p:spPr>
      </p:pic>
      <p:sp>
        <p:nvSpPr>
          <p:cNvPr id="5" name="Figure caption"/>
          <p:cNvSpPr txBox="1"/>
          <p:nvPr/>
        </p:nvSpPr>
        <p:spPr>
          <a:xfrm>
            <a:off x="6321247" y="3794760"/>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Lattin et al. (2019), Fig. 4. Striatal D2 binding after four weeks in captivity.</a:t>
            </a:r>
          </a:p>
        </p:txBody>
      </p:sp>
      <p:pic>
        <p:nvPicPr>
          <p:cNvPr id="6" name="Picture 5" descr="bird_pet.png"/>
          <p:cNvPicPr>
            <a:picLocks noChangeAspect="1"/>
          </p:cNvPicPr>
          <p:nvPr/>
        </p:nvPicPr>
        <p:blipFill>
          <a:blip r:embed="rId3"/>
          <a:stretch>
            <a:fillRect/>
          </a:stretch>
        </p:blipFill>
        <p:spPr>
          <a:xfrm>
            <a:off x="8236331" y="4251960"/>
            <a:ext cx="1473352" cy="1508759"/>
          </a:xfrm>
          <a:prstGeom prst="rect">
            <a:avLst/>
          </a:prstGeom>
        </p:spPr>
      </p:pic>
      <p:sp>
        <p:nvSpPr>
          <p:cNvPr id="7" name="Figure caption"/>
          <p:cNvSpPr txBox="1"/>
          <p:nvPr/>
        </p:nvSpPr>
        <p:spPr>
          <a:xfrm>
            <a:off x="6321247" y="5833872"/>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Lattin et al. (2019), Fig. 5. PET localization of striatum and cerebellum.</a:t>
            </a:r>
          </a:p>
        </p:txBody>
      </p:sp>
      <p:sp>
        <p:nvSpPr>
          <p:cNvPr id="8" name="Rectangle 7"/>
          <p:cNvSpPr/>
          <p:nvPr/>
        </p:nvSpPr>
        <p:spPr>
          <a:xfrm>
            <a:off x="566928" y="6382512"/>
            <a:ext cx="11057839" cy="9144"/>
          </a:xfrm>
          <a:prstGeom prst="rect">
            <a:avLst/>
          </a:prstGeom>
          <a:solidFill>
            <a:srgbClr val="DFCDD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Lattin et al. (2019)</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6373E"/>
                </a:solidFill>
                <a:latin typeface="Arial"/>
              </a:rPr>
              <a:t>Repeated restraint increases neuronal firing gain</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Rosenkranz and colleagues restrained male rats for 20 minutes on 7 days within a 9-day period; controls received comparable handling without restraint. Intracellular recordings then measured </a:t>
            </a:r>
            <a:r>
              <a:rPr sz="1500" b="1" i="0">
                <a:solidFill>
                  <a:srgbClr val="56373E"/>
                </a:solidFill>
                <a:latin typeface="Arial"/>
              </a:rPr>
              <a:t>excitability</a:t>
            </a:r>
            <a:r>
              <a:rPr sz="1500" b="0" i="0">
                <a:solidFill>
                  <a:srgbClr val="000000"/>
                </a:solidFill>
                <a:latin typeface="Arial"/>
              </a:rPr>
              <a:t>, the number of action potentials elicited by a controlled input, in principal neurons of the lateral amygdala.</a:t>
            </a:r>
          </a:p>
          <a:p>
            <a:pPr algn="l">
              <a:lnSpc>
                <a:spcPct val="108000"/>
              </a:lnSpc>
              <a:spcAft>
                <a:spcPts val="900"/>
              </a:spcAft>
            </a:pPr>
            <a:r>
              <a:rPr sz="1500" b="0" i="0">
                <a:solidFill>
                  <a:srgbClr val="000000"/>
                </a:solidFill>
                <a:latin typeface="Arial"/>
              </a:rPr>
              <a:t>Current pulses lasted 800 milliseconds. Firing gain increased from 0.68 to 1.55 action potentials per 100 pA in repeatedly stressed rats. A single restraint session did not produce the same increase. </a:t>
            </a:r>
            <a:r>
              <a:rPr sz="1500" b="1" i="0">
                <a:solidFill>
                  <a:srgbClr val="56373E"/>
                </a:solidFill>
                <a:latin typeface="Arial"/>
              </a:rPr>
              <a:t>Action potentials</a:t>
            </a:r>
            <a:r>
              <a:rPr sz="1500" b="0" i="0">
                <a:solidFill>
                  <a:srgbClr val="000000"/>
                </a:solidFill>
                <a:latin typeface="Arial"/>
              </a:rPr>
              <a:t> are brief regenerative electrical signals, so greater gain means more neural output for comparable injected current.</a:t>
            </a:r>
          </a:p>
          <a:p>
            <a:pPr algn="l">
              <a:lnSpc>
                <a:spcPct val="108000"/>
              </a:lnSpc>
              <a:spcAft>
                <a:spcPts val="900"/>
              </a:spcAft>
            </a:pPr>
            <a:r>
              <a:rPr sz="1500" b="0" i="0">
                <a:solidFill>
                  <a:srgbClr val="000000"/>
                </a:solidFill>
                <a:latin typeface="Arial"/>
              </a:rPr>
              <a:t>The increase persisted when neurons were held at −70 mV, limiting an explanation based solely on different resting voltages. These recordings establish a cellular effect of repeated restraint under anesthesia, not a direct measurement of conscious fear or the effects of every captive environment.</a:t>
            </a:r>
          </a:p>
        </p:txBody>
      </p:sp>
      <p:pic>
        <p:nvPicPr>
          <p:cNvPr id="4" name="Picture 3" descr="rat_excit.png"/>
          <p:cNvPicPr>
            <a:picLocks noChangeAspect="1"/>
          </p:cNvPicPr>
          <p:nvPr/>
        </p:nvPicPr>
        <p:blipFill>
          <a:blip r:embed="rId2"/>
          <a:stretch>
            <a:fillRect/>
          </a:stretch>
        </p:blipFill>
        <p:spPr>
          <a:xfrm>
            <a:off x="6522728" y="1280160"/>
            <a:ext cx="3254637" cy="4297679"/>
          </a:xfrm>
          <a:prstGeom prst="rect">
            <a:avLst/>
          </a:prstGeom>
        </p:spPr>
      </p:pic>
      <p:sp>
        <p:nvSpPr>
          <p:cNvPr id="5" name="Figure caption"/>
          <p:cNvSpPr txBox="1"/>
          <p:nvPr/>
        </p:nvSpPr>
        <p:spPr>
          <a:xfrm>
            <a:off x="6138367" y="5669279"/>
            <a:ext cx="402336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Rosenkranz et al. (2010), Fig. 2(A–D). Current-evoked firing after repeated restraint.</a:t>
            </a:r>
          </a:p>
        </p:txBody>
      </p:sp>
      <p:pic>
        <p:nvPicPr>
          <p:cNvPr id="6" name="Picture 5" descr="amygdala_cell.png"/>
          <p:cNvPicPr>
            <a:picLocks noChangeAspect="1"/>
          </p:cNvPicPr>
          <p:nvPr/>
        </p:nvPicPr>
        <p:blipFill>
          <a:blip r:embed="rId3"/>
          <a:stretch>
            <a:fillRect/>
          </a:stretch>
        </p:blipFill>
        <p:spPr>
          <a:xfrm>
            <a:off x="10344607" y="2148840"/>
            <a:ext cx="1280159" cy="1278205"/>
          </a:xfrm>
          <a:prstGeom prst="rect">
            <a:avLst/>
          </a:prstGeom>
        </p:spPr>
      </p:pic>
      <p:sp>
        <p:nvSpPr>
          <p:cNvPr id="7" name="Figure caption"/>
          <p:cNvSpPr txBox="1"/>
          <p:nvPr/>
        </p:nvSpPr>
        <p:spPr>
          <a:xfrm>
            <a:off x="10344607" y="3500197"/>
            <a:ext cx="1280159"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Hegde et al. (2020), Fig. 3(A). Golgi-stained basolateral amygdala principal neuron.</a:t>
            </a:r>
          </a:p>
        </p:txBody>
      </p:sp>
      <p:sp>
        <p:nvSpPr>
          <p:cNvPr id="8" name="Rectangle 7"/>
          <p:cNvSpPr/>
          <p:nvPr/>
        </p:nvSpPr>
        <p:spPr>
          <a:xfrm>
            <a:off x="566928" y="6382512"/>
            <a:ext cx="11057839" cy="9144"/>
          </a:xfrm>
          <a:prstGeom prst="rect">
            <a:avLst/>
          </a:prstGeom>
          <a:solidFill>
            <a:srgbClr val="DFCDD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Rosenkranz et al. (2010); Hegde et al. (2020)</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6373E"/>
                </a:solidFill>
                <a:latin typeface="Arial"/>
              </a:rPr>
              <a:t>Resting membrane changes do not explain all stress effects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840"/>
              </a:spcAft>
            </a:pPr>
            <a:r>
              <a:rPr sz="1400" b="1" i="0">
                <a:solidFill>
                  <a:srgbClr val="56373E"/>
                </a:solidFill>
                <a:latin typeface="Arial"/>
              </a:rPr>
              <a:t>Input resistance</a:t>
            </a:r>
            <a:r>
              <a:rPr sz="1400" b="0" i="0">
                <a:solidFill>
                  <a:srgbClr val="000000"/>
                </a:solidFill>
                <a:latin typeface="Arial"/>
              </a:rPr>
              <a:t> describes how strongly a neuron’s membrane voltage changes for a small injected current. Repeatedly stressed rats had increased input resistance in lateral-amygdala neurons, and the membrane time constant was longer, indicating a changed response to subthreshold inputs that do not trigger spikes.</a:t>
            </a:r>
          </a:p>
          <a:p>
            <a:pPr algn="l">
              <a:lnSpc>
                <a:spcPct val="108000"/>
              </a:lnSpc>
              <a:spcAft>
                <a:spcPts val="840"/>
              </a:spcAft>
            </a:pPr>
            <a:r>
              <a:rPr sz="1400" b="0" i="0">
                <a:solidFill>
                  <a:srgbClr val="000000"/>
                </a:solidFill>
                <a:latin typeface="Arial"/>
              </a:rPr>
              <a:t>However, matching voltage and examining these passive properties did not account for the full increase in spike output. Blocking fast inhibitory inputs through GABA-A-related chloride conductances also left a stress-related excitability difference. </a:t>
            </a:r>
            <a:r>
              <a:rPr sz="1400" b="1" i="0">
                <a:solidFill>
                  <a:srgbClr val="56373E"/>
                </a:solidFill>
                <a:latin typeface="Arial"/>
              </a:rPr>
              <a:t>GABA-A receptors</a:t>
            </a:r>
            <a:r>
              <a:rPr sz="1400" b="0" i="0">
                <a:solidFill>
                  <a:srgbClr val="000000"/>
                </a:solidFill>
                <a:latin typeface="Arial"/>
              </a:rPr>
              <a:t> are transmitter-gated channels that contribute to rapid inhibitory signaling in this preparation.</a:t>
            </a:r>
          </a:p>
          <a:p>
            <a:pPr algn="l">
              <a:lnSpc>
                <a:spcPct val="108000"/>
              </a:lnSpc>
              <a:spcAft>
                <a:spcPts val="840"/>
              </a:spcAft>
            </a:pPr>
            <a:r>
              <a:rPr sz="1400" b="0" i="0">
                <a:solidFill>
                  <a:srgbClr val="000000"/>
                </a:solidFill>
                <a:latin typeface="Arial"/>
              </a:rPr>
              <a:t>These controls separate a change in intrinsic spike regulation from a simple loss of the tested inhibitory input. They do not establish that inhibition is unchanged throughout the entire intact circuit. Stress can alter several cellular properties simultaneously, while one property remains insufficient to explain the observed firing difference.</a:t>
            </a:r>
          </a:p>
        </p:txBody>
      </p:sp>
      <p:pic>
        <p:nvPicPr>
          <p:cNvPr id="4" name="Picture 3" descr="rat_membrane.png"/>
          <p:cNvPicPr>
            <a:picLocks noChangeAspect="1"/>
          </p:cNvPicPr>
          <p:nvPr/>
        </p:nvPicPr>
        <p:blipFill>
          <a:blip r:embed="rId2"/>
          <a:stretch>
            <a:fillRect/>
          </a:stretch>
        </p:blipFill>
        <p:spPr>
          <a:xfrm>
            <a:off x="7108087" y="1280160"/>
            <a:ext cx="2083920" cy="4297679"/>
          </a:xfrm>
          <a:prstGeom prst="rect">
            <a:avLst/>
          </a:prstGeom>
        </p:spPr>
      </p:pic>
      <p:sp>
        <p:nvSpPr>
          <p:cNvPr id="5" name="Figure caption"/>
          <p:cNvSpPr txBox="1"/>
          <p:nvPr/>
        </p:nvSpPr>
        <p:spPr>
          <a:xfrm>
            <a:off x="6138367" y="5669279"/>
            <a:ext cx="402336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Rosenkranz et al. (2010), Fig. 3(A–D). Input resistance, voltage responses and membrane time constant.</a:t>
            </a:r>
          </a:p>
        </p:txBody>
      </p:sp>
      <p:pic>
        <p:nvPicPr>
          <p:cNvPr id="6" name="Picture 5" descr="amygdala_cell.png"/>
          <p:cNvPicPr>
            <a:picLocks noChangeAspect="1"/>
          </p:cNvPicPr>
          <p:nvPr/>
        </p:nvPicPr>
        <p:blipFill>
          <a:blip r:embed="rId3"/>
          <a:stretch>
            <a:fillRect/>
          </a:stretch>
        </p:blipFill>
        <p:spPr>
          <a:xfrm>
            <a:off x="10344607" y="2148840"/>
            <a:ext cx="1280159" cy="1278205"/>
          </a:xfrm>
          <a:prstGeom prst="rect">
            <a:avLst/>
          </a:prstGeom>
        </p:spPr>
      </p:pic>
      <p:sp>
        <p:nvSpPr>
          <p:cNvPr id="7" name="Figure caption"/>
          <p:cNvSpPr txBox="1"/>
          <p:nvPr/>
        </p:nvSpPr>
        <p:spPr>
          <a:xfrm>
            <a:off x="10344607" y="3500197"/>
            <a:ext cx="1280159"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Hegde et al. (2020), Fig. 3(A). Golgi-stained basolateral amygdala principal neuron.</a:t>
            </a:r>
          </a:p>
        </p:txBody>
      </p:sp>
      <p:sp>
        <p:nvSpPr>
          <p:cNvPr id="8" name="Rectangle 7"/>
          <p:cNvSpPr/>
          <p:nvPr/>
        </p:nvSpPr>
        <p:spPr>
          <a:xfrm>
            <a:off x="566928" y="6382512"/>
            <a:ext cx="11057839" cy="9144"/>
          </a:xfrm>
          <a:prstGeom prst="rect">
            <a:avLst/>
          </a:prstGeom>
          <a:solidFill>
            <a:srgbClr val="DFCDD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Rosenkranz et al. (2010); Hegde et al. (2020)</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6373E"/>
                </a:solidFill>
                <a:latin typeface="Arial"/>
              </a:rPr>
              <a:t>Stress weakens the brake after a burst of spikes</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An </a:t>
            </a:r>
            <a:r>
              <a:rPr sz="1500" b="1" i="0">
                <a:solidFill>
                  <a:srgbClr val="56373E"/>
                </a:solidFill>
                <a:latin typeface="Arial"/>
              </a:rPr>
              <a:t>afterhyperpolarization</a:t>
            </a:r>
            <a:r>
              <a:rPr sz="1500" b="0" i="0">
                <a:solidFill>
                  <a:srgbClr val="000000"/>
                </a:solidFill>
                <a:latin typeface="Arial"/>
              </a:rPr>
              <a:t> is a period of more negative membrane voltage after spiking that restrains further firing. Calcium entering during activity can activate potassium channels; outward potassium current then contributes to this brake. The medium and slow afterhyperpolarizations were reduced after repeated restraint.</a:t>
            </a:r>
          </a:p>
          <a:p>
            <a:pPr algn="l">
              <a:lnSpc>
                <a:spcPct val="108000"/>
              </a:lnSpc>
              <a:spcAft>
                <a:spcPts val="900"/>
              </a:spcAft>
            </a:pPr>
            <a:r>
              <a:rPr sz="1500" b="0" i="0">
                <a:solidFill>
                  <a:srgbClr val="000000"/>
                </a:solidFill>
                <a:latin typeface="Arial"/>
              </a:rPr>
              <a:t>The slow component averaged 2.6 mV in controls and 0.7 mV in stressed rats. Pharmacologically blocking calcium entry reduced the afterhyperpolarization and diminished the excitability difference between groups. These interventions support a calcium-dependent contribution to the stress-related increase in firing.</a:t>
            </a:r>
          </a:p>
          <a:p>
            <a:pPr algn="l">
              <a:lnSpc>
                <a:spcPct val="108000"/>
              </a:lnSpc>
              <a:spcAft>
                <a:spcPts val="900"/>
              </a:spcAft>
            </a:pPr>
            <a:r>
              <a:rPr sz="1500" b="0" i="0">
                <a:solidFill>
                  <a:srgbClr val="000000"/>
                </a:solidFill>
                <a:latin typeface="Arial"/>
              </a:rPr>
              <a:t>The results implicate calcium-activated potassium-channel regulation, with small-conductance channels among the candidates. They do not directly identify a lost molecular subtype or quantify channel number. Reduced channel function and altered calcium coupling remain distinct possible mechanisms that the physiological measurements do not fully separate.</a:t>
            </a:r>
          </a:p>
        </p:txBody>
      </p:sp>
      <p:pic>
        <p:nvPicPr>
          <p:cNvPr id="4" name="Picture 3" descr="rat_ahp.png"/>
          <p:cNvPicPr>
            <a:picLocks noChangeAspect="1"/>
          </p:cNvPicPr>
          <p:nvPr/>
        </p:nvPicPr>
        <p:blipFill>
          <a:blip r:embed="rId2"/>
          <a:stretch>
            <a:fillRect/>
          </a:stretch>
        </p:blipFill>
        <p:spPr>
          <a:xfrm>
            <a:off x="6989301" y="1280160"/>
            <a:ext cx="3967411" cy="2423159"/>
          </a:xfrm>
          <a:prstGeom prst="rect">
            <a:avLst/>
          </a:prstGeom>
        </p:spPr>
      </p:pic>
      <p:sp>
        <p:nvSpPr>
          <p:cNvPr id="5" name="Figure caption"/>
          <p:cNvSpPr txBox="1"/>
          <p:nvPr/>
        </p:nvSpPr>
        <p:spPr>
          <a:xfrm>
            <a:off x="6321247" y="3794759"/>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Rosenkranz et al. (2010), Fig. 5(A–D). Afterhyperpolarization and calcium-channel blockade.</a:t>
            </a:r>
          </a:p>
        </p:txBody>
      </p:sp>
      <p:pic>
        <p:nvPicPr>
          <p:cNvPr id="6" name="Picture 5" descr="amygdala_cell.png"/>
          <p:cNvPicPr>
            <a:picLocks noChangeAspect="1"/>
          </p:cNvPicPr>
          <p:nvPr/>
        </p:nvPicPr>
        <p:blipFill>
          <a:blip r:embed="rId3"/>
          <a:stretch>
            <a:fillRect/>
          </a:stretch>
        </p:blipFill>
        <p:spPr>
          <a:xfrm>
            <a:off x="8217473" y="4251960"/>
            <a:ext cx="1511066" cy="1508759"/>
          </a:xfrm>
          <a:prstGeom prst="rect">
            <a:avLst/>
          </a:prstGeom>
        </p:spPr>
      </p:pic>
      <p:sp>
        <p:nvSpPr>
          <p:cNvPr id="7" name="Figure caption"/>
          <p:cNvSpPr txBox="1"/>
          <p:nvPr/>
        </p:nvSpPr>
        <p:spPr>
          <a:xfrm>
            <a:off x="6321247" y="5833872"/>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Hegde et al. (2020), Fig. 3(A). Golgi-stained basolateral amygdala principal neuron.</a:t>
            </a:r>
          </a:p>
        </p:txBody>
      </p:sp>
      <p:sp>
        <p:nvSpPr>
          <p:cNvPr id="8" name="Rectangle 7"/>
          <p:cNvSpPr/>
          <p:nvPr/>
        </p:nvSpPr>
        <p:spPr>
          <a:xfrm>
            <a:off x="566928" y="6382512"/>
            <a:ext cx="11057839" cy="9144"/>
          </a:xfrm>
          <a:prstGeom prst="rect">
            <a:avLst/>
          </a:prstGeom>
          <a:solidFill>
            <a:srgbClr val="DFCDD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Rosenkranz et al. (2010); Hegde et al. (2020)</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6373E"/>
                </a:solidFill>
                <a:latin typeface="Arial"/>
              </a:rPr>
              <a:t>Enhancing the spike brake reverses hyperexcitability</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840"/>
              </a:spcAft>
            </a:pPr>
            <a:r>
              <a:rPr sz="1400" b="0" i="0">
                <a:solidFill>
                  <a:srgbClr val="000000"/>
                </a:solidFill>
                <a:latin typeface="Arial"/>
              </a:rPr>
              <a:t>The investigators administered </a:t>
            </a:r>
            <a:r>
              <a:rPr sz="1400" b="1" i="0">
                <a:solidFill>
                  <a:srgbClr val="56373E"/>
                </a:solidFill>
                <a:latin typeface="Arial"/>
              </a:rPr>
              <a:t>1-EBIO</a:t>
            </a:r>
            <a:r>
              <a:rPr sz="1400" b="0" i="0">
                <a:solidFill>
                  <a:srgbClr val="000000"/>
                </a:solidFill>
                <a:latin typeface="Arial"/>
              </a:rPr>
              <a:t>, a compound that enhances calcium-activated potassium-channel activity, after recording baseline excitability. At 10 mg/kg it increased the medium afterhyperpolarization and reduced excessive spike output in stressed rats toward the control range. Vehicle-treated animals provided a comparison for injection effects.</a:t>
            </a:r>
          </a:p>
          <a:p>
            <a:pPr algn="l">
              <a:lnSpc>
                <a:spcPct val="108000"/>
              </a:lnSpc>
              <a:spcAft>
                <a:spcPts val="840"/>
              </a:spcAft>
            </a:pPr>
            <a:r>
              <a:rPr sz="1400" b="0" i="0">
                <a:solidFill>
                  <a:srgbClr val="000000"/>
                </a:solidFill>
                <a:latin typeface="Arial"/>
              </a:rPr>
              <a:t>The same systemic treatment also altered elevated-plus-maze behavior. Repeatedly stressed vehicle-treated rats spent about 10 seconds in open arms, whereas treated stressed rats spent about 65 seconds. Total arm entries did not show a corresponding group difference, limiting a simple explanation based on general movement.</a:t>
            </a:r>
          </a:p>
          <a:p>
            <a:pPr algn="l">
              <a:lnSpc>
                <a:spcPct val="108000"/>
              </a:lnSpc>
              <a:spcAft>
                <a:spcPts val="840"/>
              </a:spcAft>
            </a:pPr>
            <a:r>
              <a:rPr sz="1400" b="0" i="0">
                <a:solidFill>
                  <a:srgbClr val="000000"/>
                </a:solidFill>
                <a:latin typeface="Arial"/>
              </a:rPr>
              <a:t>The neuronal and behavioral findings support a functional relationship between channel regulation and stress responses. Because the drug was delivered systemically, they do not prove that its behavioral effect arose exclusively in lateral amygdala. This experimental rescue is also not evidence that medication can replace appropriate housing.</a:t>
            </a:r>
          </a:p>
        </p:txBody>
      </p:sp>
      <p:pic>
        <p:nvPicPr>
          <p:cNvPr id="4" name="Picture 3" descr="rat_rescue.png"/>
          <p:cNvPicPr>
            <a:picLocks noChangeAspect="1"/>
          </p:cNvPicPr>
          <p:nvPr/>
        </p:nvPicPr>
        <p:blipFill>
          <a:blip r:embed="rId2"/>
          <a:stretch>
            <a:fillRect/>
          </a:stretch>
        </p:blipFill>
        <p:spPr>
          <a:xfrm>
            <a:off x="6719387" y="1280160"/>
            <a:ext cx="2861320" cy="4297679"/>
          </a:xfrm>
          <a:prstGeom prst="rect">
            <a:avLst/>
          </a:prstGeom>
        </p:spPr>
      </p:pic>
      <p:sp>
        <p:nvSpPr>
          <p:cNvPr id="5" name="Figure caption"/>
          <p:cNvSpPr txBox="1"/>
          <p:nvPr/>
        </p:nvSpPr>
        <p:spPr>
          <a:xfrm>
            <a:off x="6138367" y="5669279"/>
            <a:ext cx="402336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Rosenkranz et al. (2010), Fig. 6(A–D). 1-EBIO effects on firing and open-arm exploration.</a:t>
            </a:r>
          </a:p>
        </p:txBody>
      </p:sp>
      <p:pic>
        <p:nvPicPr>
          <p:cNvPr id="6" name="Picture 5" descr="amygdala_cell.png"/>
          <p:cNvPicPr>
            <a:picLocks noChangeAspect="1"/>
          </p:cNvPicPr>
          <p:nvPr/>
        </p:nvPicPr>
        <p:blipFill>
          <a:blip r:embed="rId3"/>
          <a:stretch>
            <a:fillRect/>
          </a:stretch>
        </p:blipFill>
        <p:spPr>
          <a:xfrm>
            <a:off x="10344607" y="2148840"/>
            <a:ext cx="1280159" cy="1278205"/>
          </a:xfrm>
          <a:prstGeom prst="rect">
            <a:avLst/>
          </a:prstGeom>
        </p:spPr>
      </p:pic>
      <p:sp>
        <p:nvSpPr>
          <p:cNvPr id="7" name="Figure caption"/>
          <p:cNvSpPr txBox="1"/>
          <p:nvPr/>
        </p:nvSpPr>
        <p:spPr>
          <a:xfrm>
            <a:off x="10344607" y="3500197"/>
            <a:ext cx="1280159"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Hegde et al. (2020), Fig. 3(A). Golgi-stained basolateral amygdala principal neuron.</a:t>
            </a:r>
          </a:p>
        </p:txBody>
      </p:sp>
      <p:sp>
        <p:nvSpPr>
          <p:cNvPr id="8" name="Rectangle 7"/>
          <p:cNvSpPr/>
          <p:nvPr/>
        </p:nvSpPr>
        <p:spPr>
          <a:xfrm>
            <a:off x="566928" y="6382512"/>
            <a:ext cx="11057839" cy="9144"/>
          </a:xfrm>
          <a:prstGeom prst="rect">
            <a:avLst/>
          </a:prstGeom>
          <a:solidFill>
            <a:srgbClr val="DFCDD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Rosenkranz et al. (2010); Hegde et al. (2020)</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6373E"/>
                </a:solidFill>
                <a:latin typeface="Arial"/>
              </a:rPr>
              <a:t>Early enrichment alters later responses to separation</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Hegde and colleagues separated rat pups from dams for 3 hours daily between postnatal days 2 and 14. Enriched housing was provided from days 2 through 21, after which treatments ended. Adult testing at days 60–70 compared separation and enrichment in a crossed experimental design.</a:t>
            </a:r>
          </a:p>
          <a:p>
            <a:pPr algn="l">
              <a:lnSpc>
                <a:spcPct val="108000"/>
              </a:lnSpc>
              <a:spcAft>
                <a:spcPts val="900"/>
              </a:spcAft>
            </a:pPr>
            <a:r>
              <a:rPr sz="1500" b="0" i="0">
                <a:solidFill>
                  <a:srgbClr val="000000"/>
                </a:solidFill>
                <a:latin typeface="Arial"/>
              </a:rPr>
              <a:t>Pre-weaning enrichment increased adult exploration of the open-field center, while early separation reduced center exploration in standard housing. Total mobility did not differ clearly between separation groups. Adult corticosterone outcomes were also housing-dependent, although endocrine effects were not uniformly eliminated across every comparison.</a:t>
            </a:r>
          </a:p>
          <a:p>
            <a:pPr algn="l">
              <a:lnSpc>
                <a:spcPct val="108000"/>
              </a:lnSpc>
              <a:spcAft>
                <a:spcPts val="900"/>
              </a:spcAft>
            </a:pPr>
            <a:r>
              <a:rPr sz="1500" b="0" i="0">
                <a:solidFill>
                  <a:srgbClr val="000000"/>
                </a:solidFill>
                <a:latin typeface="Arial"/>
              </a:rPr>
              <a:t>The long interval between intervention and testing supports developmental consequences rather than only an immediate response to an object. Enrichment combined space, objects, climbing, food variation, and maternal experience, so the study cannot identify a single effective component. The reported outcomes apply to tested adult males, not automatically to both sexes.</a:t>
            </a:r>
          </a:p>
        </p:txBody>
      </p:sp>
      <p:pic>
        <p:nvPicPr>
          <p:cNvPr id="4" name="Picture 3" descr="early_behavior.png"/>
          <p:cNvPicPr>
            <a:picLocks noChangeAspect="1"/>
          </p:cNvPicPr>
          <p:nvPr/>
        </p:nvPicPr>
        <p:blipFill>
          <a:blip r:embed="rId2"/>
          <a:stretch>
            <a:fillRect/>
          </a:stretch>
        </p:blipFill>
        <p:spPr>
          <a:xfrm>
            <a:off x="6347583" y="1280160"/>
            <a:ext cx="5250847" cy="2423160"/>
          </a:xfrm>
          <a:prstGeom prst="rect">
            <a:avLst/>
          </a:prstGeom>
        </p:spPr>
      </p:pic>
      <p:sp>
        <p:nvSpPr>
          <p:cNvPr id="5" name="Figure caption"/>
          <p:cNvSpPr txBox="1"/>
          <p:nvPr/>
        </p:nvSpPr>
        <p:spPr>
          <a:xfrm>
            <a:off x="6321247" y="3794760"/>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Hegde et al. (2020), Fig. 2(A,B). Adult open-field behavior and mobility.</a:t>
            </a:r>
          </a:p>
        </p:txBody>
      </p:sp>
      <p:pic>
        <p:nvPicPr>
          <p:cNvPr id="6" name="Picture 5" descr="early_endocrine.png"/>
          <p:cNvPicPr>
            <a:picLocks noChangeAspect="1"/>
          </p:cNvPicPr>
          <p:nvPr/>
        </p:nvPicPr>
        <p:blipFill>
          <a:blip r:embed="rId3"/>
          <a:stretch>
            <a:fillRect/>
          </a:stretch>
        </p:blipFill>
        <p:spPr>
          <a:xfrm>
            <a:off x="7291047" y="4251960"/>
            <a:ext cx="3363918" cy="1508759"/>
          </a:xfrm>
          <a:prstGeom prst="rect">
            <a:avLst/>
          </a:prstGeom>
        </p:spPr>
      </p:pic>
      <p:sp>
        <p:nvSpPr>
          <p:cNvPr id="7" name="Figure caption"/>
          <p:cNvSpPr txBox="1"/>
          <p:nvPr/>
        </p:nvSpPr>
        <p:spPr>
          <a:xfrm>
            <a:off x="6321247" y="5833872"/>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Hegde et al. (2020), Fig. 1(A,B). Adult endocrine outcomes after pre-weaning treatments.</a:t>
            </a:r>
          </a:p>
        </p:txBody>
      </p:sp>
      <p:sp>
        <p:nvSpPr>
          <p:cNvPr id="8" name="Rectangle 7"/>
          <p:cNvSpPr/>
          <p:nvPr/>
        </p:nvSpPr>
        <p:spPr>
          <a:xfrm>
            <a:off x="566928" y="6382512"/>
            <a:ext cx="11057839" cy="9144"/>
          </a:xfrm>
          <a:prstGeom prst="rect">
            <a:avLst/>
          </a:prstGeom>
          <a:solidFill>
            <a:srgbClr val="DFCDD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Hegde et al. (2020)</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6373E"/>
                </a:solidFill>
                <a:latin typeface="Arial"/>
              </a:rPr>
              <a:t>Early stress and enrichment alter dendritic spines</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840"/>
              </a:spcAft>
            </a:pPr>
            <a:r>
              <a:rPr sz="1400" b="1" i="0">
                <a:solidFill>
                  <a:srgbClr val="56373E"/>
                </a:solidFill>
                <a:latin typeface="Arial"/>
              </a:rPr>
              <a:t>Dendrites</a:t>
            </a:r>
            <a:r>
              <a:rPr sz="1400" b="0" i="0">
                <a:solidFill>
                  <a:srgbClr val="000000"/>
                </a:solidFill>
                <a:latin typeface="Arial"/>
              </a:rPr>
              <a:t> receive neuronal inputs, and </a:t>
            </a:r>
            <a:r>
              <a:rPr sz="1400" b="1" i="0">
                <a:solidFill>
                  <a:srgbClr val="56373E"/>
                </a:solidFill>
                <a:latin typeface="Arial"/>
              </a:rPr>
              <a:t>dendritic spines</a:t>
            </a:r>
            <a:r>
              <a:rPr sz="1400" b="0" i="0">
                <a:solidFill>
                  <a:srgbClr val="000000"/>
                </a:solidFill>
                <a:latin typeface="Arial"/>
              </a:rPr>
              <a:t> are small protrusions that commonly host excitatory synapses. Golgi staining visualized principal neurons in the basolateral amygdala. Investigators counted spines along 60 µm segments of primary and secondary dendrites in adulthood.</a:t>
            </a:r>
          </a:p>
          <a:p>
            <a:pPr algn="l">
              <a:lnSpc>
                <a:spcPct val="108000"/>
              </a:lnSpc>
              <a:spcAft>
                <a:spcPts val="840"/>
              </a:spcAft>
            </a:pPr>
            <a:r>
              <a:rPr sz="1400" b="0" i="0">
                <a:solidFill>
                  <a:srgbClr val="000000"/>
                </a:solidFill>
                <a:latin typeface="Arial"/>
              </a:rPr>
              <a:t>Early maternal separation increased spine density under both standard and enriched rearing conditions. Enrichment shifted density downward overall but did not abolish the separation-associated increase. The structural outcome therefore differed from a simple description in which enrichment completely erased every stress effect.</a:t>
            </a:r>
          </a:p>
          <a:p>
            <a:pPr algn="l">
              <a:lnSpc>
                <a:spcPct val="108000"/>
              </a:lnSpc>
              <a:spcAft>
                <a:spcPts val="840"/>
              </a:spcAft>
            </a:pPr>
            <a:r>
              <a:rPr sz="1400" b="0" i="0">
                <a:solidFill>
                  <a:srgbClr val="000000"/>
                </a:solidFill>
                <a:latin typeface="Arial"/>
              </a:rPr>
              <a:t>Spine density is a measure of neuronal structure, not a direct recording of synaptic strength or firing. More spines can indicate altered opportunities for input without establishing that each additional spine functions identically. The experiment links developmental conditions to adult anatomy but does not prove that spine changes caused the measured exploration differences.</a:t>
            </a:r>
          </a:p>
        </p:txBody>
      </p:sp>
      <p:pic>
        <p:nvPicPr>
          <p:cNvPr id="4" name="Picture 3" descr="early_spines.png"/>
          <p:cNvPicPr>
            <a:picLocks noChangeAspect="1"/>
          </p:cNvPicPr>
          <p:nvPr/>
        </p:nvPicPr>
        <p:blipFill>
          <a:blip r:embed="rId2"/>
          <a:stretch>
            <a:fillRect/>
          </a:stretch>
        </p:blipFill>
        <p:spPr>
          <a:xfrm>
            <a:off x="6321247" y="1280160"/>
            <a:ext cx="5303520" cy="2639633"/>
          </a:xfrm>
          <a:prstGeom prst="rect">
            <a:avLst/>
          </a:prstGeom>
        </p:spPr>
      </p:pic>
      <p:sp>
        <p:nvSpPr>
          <p:cNvPr id="5" name="Figure caption"/>
          <p:cNvSpPr txBox="1"/>
          <p:nvPr/>
        </p:nvSpPr>
        <p:spPr>
          <a:xfrm>
            <a:off x="6321247" y="4011233"/>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Hegde et al. (2020), Fig. 3(A,B). Basolateral amygdala neurons and dendritic spine density.</a:t>
            </a:r>
          </a:p>
        </p:txBody>
      </p:sp>
      <p:sp>
        <p:nvSpPr>
          <p:cNvPr id="6" name="Rectangle 5"/>
          <p:cNvSpPr/>
          <p:nvPr/>
        </p:nvSpPr>
        <p:spPr>
          <a:xfrm>
            <a:off x="566928" y="6382512"/>
            <a:ext cx="11057839" cy="9144"/>
          </a:xfrm>
          <a:prstGeom prst="rect">
            <a:avLst/>
          </a:prstGeom>
          <a:solidFill>
            <a:srgbClr val="DFCD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Hegde et al. (2020)</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6373E"/>
                </a:solidFill>
                <a:latin typeface="Arial"/>
              </a:rPr>
              <a:t>Receptor localization changes without a protein increase</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A </a:t>
            </a:r>
            <a:r>
              <a:rPr sz="1500" b="1" i="0">
                <a:solidFill>
                  <a:srgbClr val="56373E"/>
                </a:solidFill>
                <a:latin typeface="Arial"/>
              </a:rPr>
              <a:t>glucocorticoid receptor</a:t>
            </a:r>
            <a:r>
              <a:rPr sz="1500" b="0" i="0">
                <a:solidFill>
                  <a:srgbClr val="000000"/>
                </a:solidFill>
                <a:latin typeface="Arial"/>
              </a:rPr>
              <a:t>, or GR, is an intracellular receptor whose nuclear localization can influence gene regulation. Investigators immunolabeled GR and identified nuclei with a DNA stain in adult basolateral-amygdala sections. They measured the fraction of nuclei containing detectable GR signal.</a:t>
            </a:r>
          </a:p>
          <a:p>
            <a:pPr algn="l">
              <a:lnSpc>
                <a:spcPct val="108000"/>
              </a:lnSpc>
              <a:spcAft>
                <a:spcPts val="900"/>
              </a:spcAft>
            </a:pPr>
            <a:r>
              <a:rPr sz="1500" b="0" i="0">
                <a:solidFill>
                  <a:srgbClr val="000000"/>
                </a:solidFill>
                <a:latin typeface="Arial"/>
              </a:rPr>
              <a:t>Early separation reduced the fraction with nuclear GR, while enrichment had an opposing effect. Total GR protein measured in tissue extracts did not differ clearly across the same treatment comparisons. Receptor location within cells can therefore change without a corresponding detectable increase in overall protein abundance.</a:t>
            </a:r>
          </a:p>
          <a:p>
            <a:pPr algn="l">
              <a:lnSpc>
                <a:spcPct val="108000"/>
              </a:lnSpc>
              <a:spcAft>
                <a:spcPts val="900"/>
              </a:spcAft>
            </a:pPr>
            <a:r>
              <a:rPr sz="1500" b="0" i="0">
                <a:solidFill>
                  <a:srgbClr val="000000"/>
                </a:solidFill>
                <a:latin typeface="Arial"/>
              </a:rPr>
              <a:t>The nuclear measurement was made at an endpoint, rather than by following receptor movement live. It supports altered localization but does not directly measure transport speed, receptor activation, or a specific transcriptional consequence. Treating staining overlap as a complete measure of hormone sensitivity would exceed the experiment.</a:t>
            </a:r>
          </a:p>
        </p:txBody>
      </p:sp>
      <p:pic>
        <p:nvPicPr>
          <p:cNvPr id="4" name="Picture 3" descr="early_gr.png"/>
          <p:cNvPicPr>
            <a:picLocks noChangeAspect="1"/>
          </p:cNvPicPr>
          <p:nvPr/>
        </p:nvPicPr>
        <p:blipFill>
          <a:blip r:embed="rId2"/>
          <a:stretch>
            <a:fillRect/>
          </a:stretch>
        </p:blipFill>
        <p:spPr>
          <a:xfrm>
            <a:off x="6415227" y="1280160"/>
            <a:ext cx="5115560" cy="2423160"/>
          </a:xfrm>
          <a:prstGeom prst="rect">
            <a:avLst/>
          </a:prstGeom>
        </p:spPr>
      </p:pic>
      <p:sp>
        <p:nvSpPr>
          <p:cNvPr id="5" name="Figure caption"/>
          <p:cNvSpPr txBox="1"/>
          <p:nvPr/>
        </p:nvSpPr>
        <p:spPr>
          <a:xfrm>
            <a:off x="6321247" y="3794760"/>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Hegde et al. (2020), Fig. 4(A,B). Glucocorticoid receptor localization in amygdala cells.</a:t>
            </a:r>
          </a:p>
        </p:txBody>
      </p:sp>
      <p:pic>
        <p:nvPicPr>
          <p:cNvPr id="6" name="Picture 5" descr="early_gr_total.png"/>
          <p:cNvPicPr>
            <a:picLocks noChangeAspect="1"/>
          </p:cNvPicPr>
          <p:nvPr/>
        </p:nvPicPr>
        <p:blipFill>
          <a:blip r:embed="rId3"/>
          <a:stretch>
            <a:fillRect/>
          </a:stretch>
        </p:blipFill>
        <p:spPr>
          <a:xfrm>
            <a:off x="8317162" y="4251960"/>
            <a:ext cx="1311688" cy="1508759"/>
          </a:xfrm>
          <a:prstGeom prst="rect">
            <a:avLst/>
          </a:prstGeom>
        </p:spPr>
      </p:pic>
      <p:sp>
        <p:nvSpPr>
          <p:cNvPr id="7" name="Figure caption"/>
          <p:cNvSpPr txBox="1"/>
          <p:nvPr/>
        </p:nvSpPr>
        <p:spPr>
          <a:xfrm>
            <a:off x="6321247" y="5833872"/>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Hegde et al. (2020), Fig. 5(A,B). Total glucocorticoid receptor protein.</a:t>
            </a:r>
          </a:p>
        </p:txBody>
      </p:sp>
      <p:sp>
        <p:nvSpPr>
          <p:cNvPr id="8" name="Rectangle 7"/>
          <p:cNvSpPr/>
          <p:nvPr/>
        </p:nvSpPr>
        <p:spPr>
          <a:xfrm>
            <a:off x="566928" y="6382512"/>
            <a:ext cx="11057839" cy="9144"/>
          </a:xfrm>
          <a:prstGeom prst="rect">
            <a:avLst/>
          </a:prstGeom>
          <a:solidFill>
            <a:srgbClr val="DFCDD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Hegde et al. (2020)</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6373E"/>
                </a:solidFill>
                <a:latin typeface="Arial"/>
              </a:rPr>
              <a:t>Enrichment changes a plasticity-related protein signal</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00"/>
              </a:spcAft>
            </a:pPr>
            <a:r>
              <a:rPr sz="1500" b="1" i="0">
                <a:solidFill>
                  <a:srgbClr val="56373E"/>
                </a:solidFill>
                <a:latin typeface="Arial"/>
              </a:rPr>
              <a:t>Brain-derived neurotrophic factor</a:t>
            </a:r>
            <a:r>
              <a:rPr sz="1500" b="0" i="0">
                <a:solidFill>
                  <a:srgbClr val="000000"/>
                </a:solidFill>
                <a:latin typeface="Arial"/>
              </a:rPr>
              <a:t>, or BDNF, is a signaling protein associated with neuronal growth and synaptic plasticity. Adult basolateral-amygdala tissue was immunolabeled after the early separation and enrichment treatments. The researchers quantified fluorescence distributions rather than relying only on visible appearance.</a:t>
            </a:r>
          </a:p>
          <a:p>
            <a:pPr algn="l">
              <a:lnSpc>
                <a:spcPct val="108000"/>
              </a:lnSpc>
              <a:spcAft>
                <a:spcPts val="900"/>
              </a:spcAft>
            </a:pPr>
            <a:r>
              <a:rPr sz="1500" b="0" i="0">
                <a:solidFill>
                  <a:srgbClr val="000000"/>
                </a:solidFill>
                <a:latin typeface="Arial"/>
              </a:rPr>
              <a:t>Pre-weaning enrichment changed the extent and intensity distribution of BDNF labeling. Separation modified these effects in enriched animals, while some comparisons in standard housing showed no clear difference. A separate tissue-protein assay did not yield the same simple overall enrichment effect across every endpoint.</a:t>
            </a:r>
          </a:p>
          <a:p>
            <a:pPr algn="l">
              <a:lnSpc>
                <a:spcPct val="108000"/>
              </a:lnSpc>
              <a:spcAft>
                <a:spcPts val="900"/>
              </a:spcAft>
            </a:pPr>
            <a:r>
              <a:rPr sz="1500" b="0" i="0">
                <a:solidFill>
                  <a:srgbClr val="000000"/>
                </a:solidFill>
                <a:latin typeface="Arial"/>
              </a:rPr>
              <a:t>These results associate early housing with a later molecular environment relevant to plasticity. They do not directly measure BDNF secretion, receptor activation, or the strength of identified synapses. A proposed link between this protein and behavioral resilience remains more tentative than the measured staining differences.</a:t>
            </a:r>
          </a:p>
        </p:txBody>
      </p:sp>
      <p:pic>
        <p:nvPicPr>
          <p:cNvPr id="4" name="Picture 3" descr="early_bdnf.png"/>
          <p:cNvPicPr>
            <a:picLocks noChangeAspect="1"/>
          </p:cNvPicPr>
          <p:nvPr/>
        </p:nvPicPr>
        <p:blipFill>
          <a:blip r:embed="rId2"/>
          <a:stretch>
            <a:fillRect/>
          </a:stretch>
        </p:blipFill>
        <p:spPr>
          <a:xfrm>
            <a:off x="7891720" y="1280160"/>
            <a:ext cx="2162572" cy="2423160"/>
          </a:xfrm>
          <a:prstGeom prst="rect">
            <a:avLst/>
          </a:prstGeom>
        </p:spPr>
      </p:pic>
      <p:sp>
        <p:nvSpPr>
          <p:cNvPr id="5" name="Figure caption"/>
          <p:cNvSpPr txBox="1"/>
          <p:nvPr/>
        </p:nvSpPr>
        <p:spPr>
          <a:xfrm>
            <a:off x="6321247" y="3794760"/>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Hegde et al. (2020), Fig. 7. BDNF immunolabelling in basolateral amygdala.</a:t>
            </a:r>
          </a:p>
        </p:txBody>
      </p:sp>
      <p:pic>
        <p:nvPicPr>
          <p:cNvPr id="6" name="Picture 5" descr="early_bdnf_plot.png"/>
          <p:cNvPicPr>
            <a:picLocks noChangeAspect="1"/>
          </p:cNvPicPr>
          <p:nvPr/>
        </p:nvPicPr>
        <p:blipFill>
          <a:blip r:embed="rId3"/>
          <a:stretch>
            <a:fillRect/>
          </a:stretch>
        </p:blipFill>
        <p:spPr>
          <a:xfrm>
            <a:off x="7301138" y="4251960"/>
            <a:ext cx="3343738" cy="1508759"/>
          </a:xfrm>
          <a:prstGeom prst="rect">
            <a:avLst/>
          </a:prstGeom>
        </p:spPr>
      </p:pic>
      <p:sp>
        <p:nvSpPr>
          <p:cNvPr id="7" name="Figure caption"/>
          <p:cNvSpPr txBox="1"/>
          <p:nvPr/>
        </p:nvSpPr>
        <p:spPr>
          <a:xfrm>
            <a:off x="6321247" y="5833872"/>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Hegde et al. (2020), Fig. 8(A,B). Quantification of BDNF fluorescence.</a:t>
            </a:r>
          </a:p>
        </p:txBody>
      </p:sp>
      <p:sp>
        <p:nvSpPr>
          <p:cNvPr id="8" name="Rectangle 7"/>
          <p:cNvSpPr/>
          <p:nvPr/>
        </p:nvSpPr>
        <p:spPr>
          <a:xfrm>
            <a:off x="566928" y="6382512"/>
            <a:ext cx="11057839" cy="9144"/>
          </a:xfrm>
          <a:prstGeom prst="rect">
            <a:avLst/>
          </a:prstGeom>
          <a:solidFill>
            <a:srgbClr val="DFCDD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Hegde et al. (2020)</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6373E"/>
                </a:solidFill>
                <a:latin typeface="Arial"/>
              </a:rPr>
              <a:t>A day of isolation changes excitatory synapses</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Matthews and colleagues isolated mice from cage mates for 24 hours, then recorded identified dopamine neurons in the </a:t>
            </a:r>
            <a:r>
              <a:rPr sz="1500" b="1" i="0">
                <a:solidFill>
                  <a:srgbClr val="56373E"/>
                </a:solidFill>
                <a:latin typeface="Arial"/>
              </a:rPr>
              <a:t>dorsal raphe nucleus</a:t>
            </a:r>
            <a:r>
              <a:rPr sz="1500" b="0" i="0">
                <a:solidFill>
                  <a:srgbClr val="000000"/>
                </a:solidFill>
                <a:latin typeface="Arial"/>
              </a:rPr>
              <a:t>, a midbrain region. They measured glutamate-evoked currents through AMPA and NMDA receptors, two receptor classes that support excitatory synaptic signaling.</a:t>
            </a:r>
          </a:p>
          <a:p>
            <a:pPr algn="l">
              <a:lnSpc>
                <a:spcPct val="108000"/>
              </a:lnSpc>
              <a:spcAft>
                <a:spcPts val="900"/>
              </a:spcAft>
            </a:pPr>
            <a:r>
              <a:rPr sz="1500" b="0" i="0">
                <a:solidFill>
                  <a:srgbClr val="000000"/>
                </a:solidFill>
                <a:latin typeface="Arial"/>
              </a:rPr>
              <a:t>The AMPA-to-NMDA current ratio increased in dorsal-raphe dopamine neurons after isolation, including when isolation occurred in the familiar home cage. A comparable change was not detected in the sampled ventral-tegmental dopamine neurons. A novel cage without isolation did not reproduce the same increase.</a:t>
            </a:r>
          </a:p>
          <a:p>
            <a:pPr algn="l">
              <a:lnSpc>
                <a:spcPct val="108000"/>
              </a:lnSpc>
              <a:spcAft>
                <a:spcPts val="900"/>
              </a:spcAft>
            </a:pPr>
            <a:r>
              <a:rPr sz="1500" b="0" i="0">
                <a:solidFill>
                  <a:srgbClr val="000000"/>
                </a:solidFill>
                <a:latin typeface="Arial"/>
              </a:rPr>
              <a:t>Current rectification and sensitivity to NASPM supported a contribution from calcium-permeable AMPA receptors after isolation. </a:t>
            </a:r>
            <a:r>
              <a:rPr sz="1500" b="1" i="0">
                <a:solidFill>
                  <a:srgbClr val="56373E"/>
                </a:solidFill>
                <a:latin typeface="Arial"/>
              </a:rPr>
              <a:t>Rectification</a:t>
            </a:r>
            <a:r>
              <a:rPr sz="1500" b="0" i="0">
                <a:solidFill>
                  <a:srgbClr val="000000"/>
                </a:solidFill>
                <a:latin typeface="Arial"/>
              </a:rPr>
              <a:t> means current flow depends asymmetrically on voltage. These measurements identify a rapid, region-specific synaptic response to social conditions, not a diagnosis of depression or a direct measure of the mouse’s subjective state.</a:t>
            </a:r>
          </a:p>
        </p:txBody>
      </p:sp>
      <p:pic>
        <p:nvPicPr>
          <p:cNvPr id="4" name="Picture 3" descr="isolation_synapses.png"/>
          <p:cNvPicPr>
            <a:picLocks noChangeAspect="1"/>
          </p:cNvPicPr>
          <p:nvPr/>
        </p:nvPicPr>
        <p:blipFill>
          <a:blip r:embed="rId2"/>
          <a:stretch>
            <a:fillRect/>
          </a:stretch>
        </p:blipFill>
        <p:spPr>
          <a:xfrm>
            <a:off x="7587122" y="1280160"/>
            <a:ext cx="2771769" cy="2423160"/>
          </a:xfrm>
          <a:prstGeom prst="rect">
            <a:avLst/>
          </a:prstGeom>
        </p:spPr>
      </p:pic>
      <p:sp>
        <p:nvSpPr>
          <p:cNvPr id="5" name="Figure caption"/>
          <p:cNvSpPr txBox="1"/>
          <p:nvPr/>
        </p:nvSpPr>
        <p:spPr>
          <a:xfrm>
            <a:off x="6321247" y="3794760"/>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Matthews et al. (2016), Fig. 1(A–C). Dopamine-neuron identification and synaptic current ratios.</a:t>
            </a:r>
          </a:p>
        </p:txBody>
      </p:sp>
      <p:pic>
        <p:nvPicPr>
          <p:cNvPr id="6" name="Picture 5" descr="isolation_rect.png"/>
          <p:cNvPicPr>
            <a:picLocks noChangeAspect="1"/>
          </p:cNvPicPr>
          <p:nvPr/>
        </p:nvPicPr>
        <p:blipFill>
          <a:blip r:embed="rId3"/>
          <a:stretch>
            <a:fillRect/>
          </a:stretch>
        </p:blipFill>
        <p:spPr>
          <a:xfrm>
            <a:off x="8065232" y="4251960"/>
            <a:ext cx="1815548" cy="1508759"/>
          </a:xfrm>
          <a:prstGeom prst="rect">
            <a:avLst/>
          </a:prstGeom>
        </p:spPr>
      </p:pic>
      <p:sp>
        <p:nvSpPr>
          <p:cNvPr id="7" name="Figure caption"/>
          <p:cNvSpPr txBox="1"/>
          <p:nvPr/>
        </p:nvSpPr>
        <p:spPr>
          <a:xfrm>
            <a:off x="6321247" y="5833872"/>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Matthews et al. (2016), Fig. 1(D,E). Rectification and NASPM sensitivity after isolation.</a:t>
            </a:r>
          </a:p>
        </p:txBody>
      </p:sp>
      <p:sp>
        <p:nvSpPr>
          <p:cNvPr id="8" name="Rectangle 7"/>
          <p:cNvSpPr/>
          <p:nvPr/>
        </p:nvSpPr>
        <p:spPr>
          <a:xfrm>
            <a:off x="566928" y="6382512"/>
            <a:ext cx="11057839" cy="9144"/>
          </a:xfrm>
          <a:prstGeom prst="rect">
            <a:avLst/>
          </a:prstGeom>
          <a:solidFill>
            <a:srgbClr val="DFCDD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Matthews et al. (2016)</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6373E"/>
                </a:solidFill>
                <a:latin typeface="Arial"/>
              </a:rPr>
              <a:t>Raphe activity tracks reunion after isolation</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00"/>
              </a:spcAft>
            </a:pPr>
            <a:r>
              <a:rPr sz="1500" b="1" i="0">
                <a:solidFill>
                  <a:srgbClr val="56373E"/>
                </a:solidFill>
                <a:latin typeface="Arial"/>
              </a:rPr>
              <a:t>Fiber photometry</a:t>
            </a:r>
            <a:r>
              <a:rPr sz="1500" b="0" i="0">
                <a:solidFill>
                  <a:srgbClr val="000000"/>
                </a:solidFill>
                <a:latin typeface="Arial"/>
              </a:rPr>
              <a:t> samples fluorescent signals from a population of labeled neurons through an implanted optical fiber. GCaMP6m, a calcium-sensitive fluorescent protein, was expressed in dorsal-raphe dopamine neurons. Calcium changes provided an indirect measure of activity during interactions with another mouse.</a:t>
            </a:r>
          </a:p>
          <a:p>
            <a:pPr algn="l">
              <a:lnSpc>
                <a:spcPct val="108000"/>
              </a:lnSpc>
              <a:spcAft>
                <a:spcPts val="900"/>
              </a:spcAft>
            </a:pPr>
            <a:r>
              <a:rPr sz="1500" b="0" i="0">
                <a:solidFill>
                  <a:srgbClr val="000000"/>
                </a:solidFill>
                <a:latin typeface="Arial"/>
              </a:rPr>
              <a:t>After 24 hours of isolation, initial social contact produced larger calcium responses than contact after group housing. The population signal was aligned to interaction bouts, allowing neural responses to be compared with the timing of behavior. The authors also compared responses to a novel object.</a:t>
            </a:r>
          </a:p>
          <a:p>
            <a:pPr algn="l">
              <a:lnSpc>
                <a:spcPct val="108000"/>
              </a:lnSpc>
              <a:spcAft>
                <a:spcPts val="900"/>
              </a:spcAft>
            </a:pPr>
            <a:r>
              <a:rPr sz="1500" b="0" i="0">
                <a:solidFill>
                  <a:srgbClr val="000000"/>
                </a:solidFill>
                <a:latin typeface="Arial"/>
              </a:rPr>
              <a:t>The result relates recent social experience to neural responses during reunion. Photometry does not resolve every individual neuron or directly report dopamine release. Increased activity at social contact can reflect a changed motivational state without establishing whether that state has the same subjective character as human loneliness.</a:t>
            </a:r>
          </a:p>
        </p:txBody>
      </p:sp>
      <p:pic>
        <p:nvPicPr>
          <p:cNvPr id="4" name="Picture 3" descr="isolation_calcium.png"/>
          <p:cNvPicPr>
            <a:picLocks noChangeAspect="1"/>
          </p:cNvPicPr>
          <p:nvPr/>
        </p:nvPicPr>
        <p:blipFill>
          <a:blip r:embed="rId2"/>
          <a:stretch>
            <a:fillRect/>
          </a:stretch>
        </p:blipFill>
        <p:spPr>
          <a:xfrm>
            <a:off x="8151991" y="1280160"/>
            <a:ext cx="1642031" cy="2423160"/>
          </a:xfrm>
          <a:prstGeom prst="rect">
            <a:avLst/>
          </a:prstGeom>
        </p:spPr>
      </p:pic>
      <p:sp>
        <p:nvSpPr>
          <p:cNvPr id="5" name="Figure caption"/>
          <p:cNvSpPr txBox="1"/>
          <p:nvPr/>
        </p:nvSpPr>
        <p:spPr>
          <a:xfrm>
            <a:off x="6321247" y="3794760"/>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Matthews et al. (2016), Fig. 2(C–F). Calcium responses during social contact after isolation.</a:t>
            </a:r>
          </a:p>
        </p:txBody>
      </p:sp>
      <p:pic>
        <p:nvPicPr>
          <p:cNvPr id="6" name="Picture 5" descr="raphe_anatomy.png"/>
          <p:cNvPicPr>
            <a:picLocks noChangeAspect="1"/>
          </p:cNvPicPr>
          <p:nvPr/>
        </p:nvPicPr>
        <p:blipFill>
          <a:blip r:embed="rId3"/>
          <a:stretch>
            <a:fillRect/>
          </a:stretch>
        </p:blipFill>
        <p:spPr>
          <a:xfrm>
            <a:off x="8119311" y="4251960"/>
            <a:ext cx="1707392" cy="1508759"/>
          </a:xfrm>
          <a:prstGeom prst="rect">
            <a:avLst/>
          </a:prstGeom>
        </p:spPr>
      </p:pic>
      <p:sp>
        <p:nvSpPr>
          <p:cNvPr id="7" name="Figure caption"/>
          <p:cNvSpPr txBox="1"/>
          <p:nvPr/>
        </p:nvSpPr>
        <p:spPr>
          <a:xfrm>
            <a:off x="6321247" y="5833872"/>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Matthews et al. (2016), Fig. 2(B). Calcium-indicator expression and optic-fiber placement in dorsal raphe.</a:t>
            </a:r>
          </a:p>
        </p:txBody>
      </p:sp>
      <p:sp>
        <p:nvSpPr>
          <p:cNvPr id="8" name="Rectangle 7"/>
          <p:cNvSpPr/>
          <p:nvPr/>
        </p:nvSpPr>
        <p:spPr>
          <a:xfrm>
            <a:off x="566928" y="6382512"/>
            <a:ext cx="11057839" cy="9144"/>
          </a:xfrm>
          <a:prstGeom prst="rect">
            <a:avLst/>
          </a:prstGeom>
          <a:solidFill>
            <a:srgbClr val="DFCDD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Matthews et al. (2016)</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6373E"/>
                </a:solidFill>
                <a:latin typeface="Arial"/>
              </a:rPr>
              <a:t>Raphe dopamine neurons signal to forebrain targets</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00"/>
              </a:spcAft>
            </a:pPr>
            <a:r>
              <a:rPr sz="1500" b="1" i="0">
                <a:solidFill>
                  <a:srgbClr val="56373E"/>
                </a:solidFill>
                <a:latin typeface="Arial"/>
              </a:rPr>
              <a:t>Optogenetics</a:t>
            </a:r>
            <a:r>
              <a:rPr sz="1500" b="0" i="0">
                <a:solidFill>
                  <a:srgbClr val="000000"/>
                </a:solidFill>
                <a:latin typeface="Arial"/>
              </a:rPr>
              <a:t> uses a light-sensitive protein to control selected neurons. Channelrhodopsin-2, a light-gated cation channel, was expressed in dorsal-raphe dopamine neurons. Blue-light pulses depolarized the cells and evoked action potentials, connecting a defined intervention to neuronal output.</a:t>
            </a:r>
          </a:p>
          <a:p>
            <a:pPr algn="l">
              <a:lnSpc>
                <a:spcPct val="108000"/>
              </a:lnSpc>
              <a:spcAft>
                <a:spcPts val="900"/>
              </a:spcAft>
            </a:pPr>
            <a:r>
              <a:rPr sz="1500" b="0" i="0">
                <a:solidFill>
                  <a:srgbClr val="000000"/>
                </a:solidFill>
                <a:latin typeface="Arial"/>
              </a:rPr>
              <a:t>Labeled axons reached the </a:t>
            </a:r>
            <a:r>
              <a:rPr sz="1500" b="1" i="0">
                <a:solidFill>
                  <a:srgbClr val="56373E"/>
                </a:solidFill>
                <a:latin typeface="Arial"/>
              </a:rPr>
              <a:t>bed nucleus of the stria terminalis</a:t>
            </a:r>
            <a:r>
              <a:rPr sz="1500" b="0" i="0">
                <a:solidFill>
                  <a:srgbClr val="000000"/>
                </a:solidFill>
                <a:latin typeface="Arial"/>
              </a:rPr>
              <a:t> and the </a:t>
            </a:r>
            <a:r>
              <a:rPr sz="1500" b="1" i="0">
                <a:solidFill>
                  <a:srgbClr val="56373E"/>
                </a:solidFill>
                <a:latin typeface="Arial"/>
              </a:rPr>
              <a:t>central amygdala</a:t>
            </a:r>
            <a:r>
              <a:rPr sz="1500" b="0" i="0">
                <a:solidFill>
                  <a:srgbClr val="000000"/>
                </a:solidFill>
                <a:latin typeface="Arial"/>
              </a:rPr>
              <a:t>, forebrain regions involved in behavioral state and threat-related processing. Fast-scan cyclic voltammetry, an electrochemical measurement, detected dopamine release in these targets during stimulation with 5-millisecond light pulses.</a:t>
            </a:r>
          </a:p>
          <a:p>
            <a:pPr algn="l">
              <a:lnSpc>
                <a:spcPct val="108000"/>
              </a:lnSpc>
              <a:spcAft>
                <a:spcPts val="900"/>
              </a:spcAft>
            </a:pPr>
            <a:r>
              <a:rPr sz="1500" b="0" i="0">
                <a:solidFill>
                  <a:srgbClr val="000000"/>
                </a:solidFill>
                <a:latin typeface="Arial"/>
              </a:rPr>
              <a:t>The combination of labeled projections and evoked transmitter release establishes functional communication from the manipulated cells to these regions. It does not establish that each target mediates the measured social behavior. Artificial synchronous stimulation also differs from the timing and recruitment of neurons during natural social interactions.</a:t>
            </a:r>
          </a:p>
        </p:txBody>
      </p:sp>
      <p:pic>
        <p:nvPicPr>
          <p:cNvPr id="4" name="Picture 3" descr="isolation_dopamine.png"/>
          <p:cNvPicPr>
            <a:picLocks noChangeAspect="1"/>
          </p:cNvPicPr>
          <p:nvPr/>
        </p:nvPicPr>
        <p:blipFill>
          <a:blip r:embed="rId2"/>
          <a:stretch>
            <a:fillRect/>
          </a:stretch>
        </p:blipFill>
        <p:spPr>
          <a:xfrm>
            <a:off x="7125858" y="1280160"/>
            <a:ext cx="3694297" cy="4297679"/>
          </a:xfrm>
          <a:prstGeom prst="rect">
            <a:avLst/>
          </a:prstGeom>
        </p:spPr>
      </p:pic>
      <p:sp>
        <p:nvSpPr>
          <p:cNvPr id="5" name="Figure caption"/>
          <p:cNvSpPr txBox="1"/>
          <p:nvPr/>
        </p:nvSpPr>
        <p:spPr>
          <a:xfrm>
            <a:off x="6321247" y="5669279"/>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Matthews et al. (2016), Fig. 3(A–H). Dopamine-neuron anatomy, projections and evoked dopamine release.</a:t>
            </a:r>
          </a:p>
        </p:txBody>
      </p:sp>
      <p:sp>
        <p:nvSpPr>
          <p:cNvPr id="6" name="Rectangle 5"/>
          <p:cNvSpPr/>
          <p:nvPr/>
        </p:nvSpPr>
        <p:spPr>
          <a:xfrm>
            <a:off x="566928" y="6382512"/>
            <a:ext cx="11057839" cy="9144"/>
          </a:xfrm>
          <a:prstGeom prst="rect">
            <a:avLst/>
          </a:prstGeom>
          <a:solidFill>
            <a:srgbClr val="DFCD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Matthews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6373E"/>
                </a:solidFill>
                <a:latin typeface="Arial"/>
              </a:rPr>
              <a:t>Dopamine neurons can also release glutamate</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840"/>
              </a:spcAft>
            </a:pPr>
            <a:r>
              <a:rPr sz="1400" b="0" i="0">
                <a:solidFill>
                  <a:srgbClr val="000000"/>
                </a:solidFill>
                <a:latin typeface="Arial"/>
              </a:rPr>
              <a:t>Dorsal-raphe dopamine neurons were not limited to dopamine transmission. Optical stimulation of their axon terminals evoked rapid </a:t>
            </a:r>
            <a:r>
              <a:rPr sz="1400" b="1" i="0">
                <a:solidFill>
                  <a:srgbClr val="56373E"/>
                </a:solidFill>
                <a:latin typeface="Arial"/>
              </a:rPr>
              <a:t>excitatory postsynaptic currents</a:t>
            </a:r>
            <a:r>
              <a:rPr sz="1400" b="0" i="0">
                <a:solidFill>
                  <a:srgbClr val="000000"/>
                </a:solidFill>
                <a:latin typeface="Arial"/>
              </a:rPr>
              <a:t>, electrical currents in target cells driven by excitatory synaptic input. Recordings were made in the bed nucleus of the stria terminalis and central amygdala.</a:t>
            </a:r>
          </a:p>
          <a:p>
            <a:pPr algn="l">
              <a:lnSpc>
                <a:spcPct val="108000"/>
              </a:lnSpc>
              <a:spcAft>
                <a:spcPts val="840"/>
              </a:spcAft>
            </a:pPr>
            <a:r>
              <a:rPr sz="1400" b="0" i="0">
                <a:solidFill>
                  <a:srgbClr val="000000"/>
                </a:solidFill>
                <a:latin typeface="Arial"/>
              </a:rPr>
              <a:t>A 5-millisecond light pulse evoked short-latency currents recorded at −70 mV. The currents persisted with tetrodotoxin and 4-aminopyridine, a combination used to test direct terminal-mediated transmission, and were consistent with glutamate release. Slower inhibitory responses reflected additional local circuit recruitment.</a:t>
            </a:r>
          </a:p>
          <a:p>
            <a:pPr algn="l">
              <a:lnSpc>
                <a:spcPct val="108000"/>
              </a:lnSpc>
              <a:spcAft>
                <a:spcPts val="840"/>
              </a:spcAft>
            </a:pPr>
            <a:r>
              <a:rPr sz="1400" b="1" i="0">
                <a:solidFill>
                  <a:srgbClr val="56373E"/>
                </a:solidFill>
                <a:latin typeface="Arial"/>
              </a:rPr>
              <a:t>Co-transmission</a:t>
            </a:r>
            <a:r>
              <a:rPr sz="1400" b="0" i="0">
                <a:solidFill>
                  <a:srgbClr val="000000"/>
                </a:solidFill>
                <a:latin typeface="Arial"/>
              </a:rPr>
              <a:t> means the same defined neuronal population can signal through more than one transmitter. A behavior caused by manipulating these neurons therefore cannot automatically be attributed to dopamine alone. The experiment establishes glutamatergic signaling from the tested projections without identifying the complete contribution of each transmitter to social motivation.</a:t>
            </a:r>
          </a:p>
        </p:txBody>
      </p:sp>
      <p:pic>
        <p:nvPicPr>
          <p:cNvPr id="4" name="Picture 3" descr="isolation_glutamate.png"/>
          <p:cNvPicPr>
            <a:picLocks noChangeAspect="1"/>
          </p:cNvPicPr>
          <p:nvPr/>
        </p:nvPicPr>
        <p:blipFill>
          <a:blip r:embed="rId2"/>
          <a:stretch>
            <a:fillRect/>
          </a:stretch>
        </p:blipFill>
        <p:spPr>
          <a:xfrm>
            <a:off x="6321247" y="1280160"/>
            <a:ext cx="5303520" cy="4021801"/>
          </a:xfrm>
          <a:prstGeom prst="rect">
            <a:avLst/>
          </a:prstGeom>
        </p:spPr>
      </p:pic>
      <p:sp>
        <p:nvSpPr>
          <p:cNvPr id="5" name="Figure caption"/>
          <p:cNvSpPr txBox="1"/>
          <p:nvPr/>
        </p:nvSpPr>
        <p:spPr>
          <a:xfrm>
            <a:off x="6321247" y="5393401"/>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Matthews et al. (2016), Fig. 4(A–F). Target-region anatomy and optically evoked excitatory currents.</a:t>
            </a:r>
          </a:p>
        </p:txBody>
      </p:sp>
      <p:sp>
        <p:nvSpPr>
          <p:cNvPr id="6" name="Rectangle 5"/>
          <p:cNvSpPr/>
          <p:nvPr/>
        </p:nvSpPr>
        <p:spPr>
          <a:xfrm>
            <a:off x="566928" y="6382512"/>
            <a:ext cx="11057839" cy="9144"/>
          </a:xfrm>
          <a:prstGeom prst="rect">
            <a:avLst/>
          </a:prstGeom>
          <a:solidFill>
            <a:srgbClr val="DFCD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Matthews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6373E"/>
                </a:solidFill>
                <a:latin typeface="Arial"/>
              </a:rPr>
              <a:t>Silencing raphe neurons affects isolated mice differently</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The investigators expressed halorhodopsin, a light-driven inhibitory protein, in dorsal-raphe dopamine neurons. They compared social preference while the same mice were group-housed and after 24 hours of isolation. Fluorescent-protein controls received light without the inhibitory protein.</a:t>
            </a:r>
          </a:p>
          <a:p>
            <a:pPr algn="l">
              <a:lnSpc>
                <a:spcPct val="108000"/>
              </a:lnSpc>
              <a:spcAft>
                <a:spcPts val="900"/>
              </a:spcAft>
            </a:pPr>
            <a:r>
              <a:rPr sz="1500" b="0" i="0">
                <a:solidFill>
                  <a:srgbClr val="000000"/>
                </a:solidFill>
                <a:latin typeface="Arial"/>
              </a:rPr>
              <a:t>Inhibition reduced social preference after isolation but did not produce the same detectable effect in group-housed mice. Spatial heat maps and time in the social zone captured behavior during the task. The circuit’s contribution therefore depended on the preceding social condition.</a:t>
            </a:r>
          </a:p>
          <a:p>
            <a:pPr algn="l">
              <a:lnSpc>
                <a:spcPct val="108000"/>
              </a:lnSpc>
              <a:spcAft>
                <a:spcPts val="900"/>
              </a:spcAft>
            </a:pPr>
            <a:r>
              <a:rPr sz="1500" b="0" i="0">
                <a:solidFill>
                  <a:srgbClr val="000000"/>
                </a:solidFill>
                <a:latin typeface="Arial"/>
              </a:rPr>
              <a:t>Separate activation experiments increased social approach but also produced avoidance of a stimulation-associated place. Together, these results distinguish a drive to seek social contact from simple positive reinforcement. They support state-dependent circuit function without proving that chronic isolation, captive primates, or human loneliness share an identical mechanism.</a:t>
            </a:r>
          </a:p>
        </p:txBody>
      </p:sp>
      <p:pic>
        <p:nvPicPr>
          <p:cNvPr id="4" name="Picture 3" descr="isolation_inhibit.png"/>
          <p:cNvPicPr>
            <a:picLocks noChangeAspect="1"/>
          </p:cNvPicPr>
          <p:nvPr/>
        </p:nvPicPr>
        <p:blipFill>
          <a:blip r:embed="rId2"/>
          <a:stretch>
            <a:fillRect/>
          </a:stretch>
        </p:blipFill>
        <p:spPr>
          <a:xfrm>
            <a:off x="8194022" y="1280160"/>
            <a:ext cx="1557969" cy="2423160"/>
          </a:xfrm>
          <a:prstGeom prst="rect">
            <a:avLst/>
          </a:prstGeom>
        </p:spPr>
      </p:pic>
      <p:sp>
        <p:nvSpPr>
          <p:cNvPr id="5" name="Figure caption"/>
          <p:cNvSpPr txBox="1"/>
          <p:nvPr/>
        </p:nvSpPr>
        <p:spPr>
          <a:xfrm>
            <a:off x="6321247" y="3794760"/>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Matthews et al. (2016), Fig. 6(A–E). Social preference during dopamine-neuron inhibition.</a:t>
            </a:r>
          </a:p>
        </p:txBody>
      </p:sp>
      <p:pic>
        <p:nvPicPr>
          <p:cNvPr id="6" name="Picture 5" descr="raphe_anatomy.png"/>
          <p:cNvPicPr>
            <a:picLocks noChangeAspect="1"/>
          </p:cNvPicPr>
          <p:nvPr/>
        </p:nvPicPr>
        <p:blipFill>
          <a:blip r:embed="rId3"/>
          <a:stretch>
            <a:fillRect/>
          </a:stretch>
        </p:blipFill>
        <p:spPr>
          <a:xfrm>
            <a:off x="8119311" y="4251960"/>
            <a:ext cx="1707392" cy="1508759"/>
          </a:xfrm>
          <a:prstGeom prst="rect">
            <a:avLst/>
          </a:prstGeom>
        </p:spPr>
      </p:pic>
      <p:sp>
        <p:nvSpPr>
          <p:cNvPr id="7" name="Figure caption"/>
          <p:cNvSpPr txBox="1"/>
          <p:nvPr/>
        </p:nvSpPr>
        <p:spPr>
          <a:xfrm>
            <a:off x="6321247" y="5833872"/>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Matthews et al. (2016), Fig. 2(B). Calcium-indicator expression and optic-fiber placement in dorsal raphe.</a:t>
            </a:r>
          </a:p>
        </p:txBody>
      </p:sp>
      <p:sp>
        <p:nvSpPr>
          <p:cNvPr id="8" name="Rectangle 7"/>
          <p:cNvSpPr/>
          <p:nvPr/>
        </p:nvSpPr>
        <p:spPr>
          <a:xfrm>
            <a:off x="566928" y="6382512"/>
            <a:ext cx="11057839" cy="9144"/>
          </a:xfrm>
          <a:prstGeom prst="rect">
            <a:avLst/>
          </a:prstGeom>
          <a:solidFill>
            <a:srgbClr val="DFCDD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Matthews et al. (2016)</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6373E"/>
                </a:solidFill>
                <a:latin typeface="Arial"/>
              </a:rPr>
              <a:t>Lower fish density does not guarantee better welfare</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Sen Sarma and colleagues reared zebrafish at 1, 3, or 6 fish/L with barren, gravel, plant, or gravel-plus-plant conditions. </a:t>
            </a:r>
            <a:r>
              <a:rPr sz="1500" b="1" i="0">
                <a:solidFill>
                  <a:srgbClr val="56373E"/>
                </a:solidFill>
                <a:latin typeface="Arial"/>
              </a:rPr>
              <a:t>Stocking density</a:t>
            </a:r>
            <a:r>
              <a:rPr sz="1500" b="0" i="0">
                <a:solidFill>
                  <a:srgbClr val="000000"/>
                </a:solidFill>
                <a:latin typeface="Arial"/>
              </a:rPr>
              <a:t> is the number of fish per unit of water volume. Growth, aggression, endocrine responses, and behavior were measured to compare several consequences of these housing conditions.</a:t>
            </a:r>
          </a:p>
          <a:p>
            <a:pPr algn="l">
              <a:lnSpc>
                <a:spcPct val="108000"/>
              </a:lnSpc>
              <a:spcAft>
                <a:spcPts val="900"/>
              </a:spcAft>
            </a:pPr>
            <a:r>
              <a:rPr sz="1500" b="0" i="0">
                <a:solidFill>
                  <a:srgbClr val="000000"/>
                </a:solidFill>
                <a:latin typeface="Arial"/>
              </a:rPr>
              <a:t>Fish reared at 1 fish/L were longer and heavier than those at the higher densities. This growth result might appear favorable when considered alone. However, the same low-density groups also expressed more aggression and stronger cortisol release during a group challenge.</a:t>
            </a:r>
          </a:p>
          <a:p>
            <a:pPr algn="l">
              <a:lnSpc>
                <a:spcPct val="108000"/>
              </a:lnSpc>
              <a:spcAft>
                <a:spcPts val="900"/>
              </a:spcAft>
            </a:pPr>
            <a:r>
              <a:rPr sz="1500" b="0" i="0">
                <a:solidFill>
                  <a:srgbClr val="000000"/>
                </a:solidFill>
                <a:latin typeface="Arial"/>
              </a:rPr>
              <a:t>Body length in cm and body mass in g describe growth rather than the entire welfare state. Greater size can coexist with greater social conflict. The tested range does not establish that still higher densities are harmless, or that an optimal density can be specified independently of tank structure and social interactions.</a:t>
            </a:r>
          </a:p>
        </p:txBody>
      </p:sp>
      <p:pic>
        <p:nvPicPr>
          <p:cNvPr id="4" name="Picture 3" descr="fish_growth.png"/>
          <p:cNvPicPr>
            <a:picLocks noChangeAspect="1"/>
          </p:cNvPicPr>
          <p:nvPr/>
        </p:nvPicPr>
        <p:blipFill>
          <a:blip r:embed="rId2"/>
          <a:stretch>
            <a:fillRect/>
          </a:stretch>
        </p:blipFill>
        <p:spPr>
          <a:xfrm>
            <a:off x="6321247" y="1280160"/>
            <a:ext cx="5303520" cy="3773075"/>
          </a:xfrm>
          <a:prstGeom prst="rect">
            <a:avLst/>
          </a:prstGeom>
        </p:spPr>
      </p:pic>
      <p:sp>
        <p:nvSpPr>
          <p:cNvPr id="5" name="Figure caption"/>
          <p:cNvSpPr txBox="1"/>
          <p:nvPr/>
        </p:nvSpPr>
        <p:spPr>
          <a:xfrm>
            <a:off x="6321247" y="5144675"/>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Sen Sarma et al. (2023), Fig. 1(A–D). Growth across stocking densities.</a:t>
            </a:r>
          </a:p>
        </p:txBody>
      </p:sp>
      <p:sp>
        <p:nvSpPr>
          <p:cNvPr id="6" name="Rectangle 5"/>
          <p:cNvSpPr/>
          <p:nvPr/>
        </p:nvSpPr>
        <p:spPr>
          <a:xfrm>
            <a:off x="566928" y="6382512"/>
            <a:ext cx="11057839" cy="9144"/>
          </a:xfrm>
          <a:prstGeom prst="rect">
            <a:avLst/>
          </a:prstGeom>
          <a:solidFill>
            <a:srgbClr val="DFCD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Sen Sarma et al.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6373E"/>
                </a:solidFill>
                <a:latin typeface="Arial"/>
              </a:rPr>
              <a:t>Sparse zebrafish groups can become more aggressive</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00"/>
              </a:spcAft>
            </a:pPr>
            <a:r>
              <a:rPr sz="1500" b="1" i="0">
                <a:solidFill>
                  <a:srgbClr val="56373E"/>
                </a:solidFill>
                <a:latin typeface="Arial"/>
              </a:rPr>
              <a:t>Agonistic behavior</a:t>
            </a:r>
            <a:r>
              <a:rPr sz="1500" b="0" i="0">
                <a:solidFill>
                  <a:srgbClr val="000000"/>
                </a:solidFill>
                <a:latin typeface="Arial"/>
              </a:rPr>
              <a:t> includes aggressive acts and related social interactions. During 9 weeks of rearing, observers scored zebrafish strikes, chases, and occasional circling. Comparisons used the same stocking densities and the four physical-enrichment conditions used for growth measurements.</a:t>
            </a:r>
          </a:p>
          <a:p>
            <a:pPr algn="l">
              <a:lnSpc>
                <a:spcPct val="108000"/>
              </a:lnSpc>
              <a:spcAft>
                <a:spcPts val="900"/>
              </a:spcAft>
            </a:pPr>
            <a:r>
              <a:rPr sz="1500" b="0" i="0">
                <a:solidFill>
                  <a:srgbClr val="000000"/>
                </a:solidFill>
                <a:latin typeface="Arial"/>
              </a:rPr>
              <a:t>Aggression was higher at 1 fish/L than at 3 or 6 fish/L, with differences emerging across repeated weekly observations. The tested gravel and plant treatments did not produce a clear overall reduction. Merely adding an object was therefore not equivalent to demonstrating a reduction in social conflict.</a:t>
            </a:r>
          </a:p>
          <a:p>
            <a:pPr algn="l">
              <a:lnSpc>
                <a:spcPct val="108000"/>
              </a:lnSpc>
              <a:spcAft>
                <a:spcPts val="900"/>
              </a:spcAft>
            </a:pPr>
            <a:r>
              <a:rPr sz="1500" b="0" i="0">
                <a:solidFill>
                  <a:srgbClr val="000000"/>
                </a:solidFill>
                <a:latin typeface="Arial"/>
              </a:rPr>
              <a:t>The findings are compatible with density altering opportunities for stable dominance and repeated pursuit, but do not experimentally isolate that explanation. They also caution against transferring mammalian space-based assumptions directly to schooling fish. What matters biologically includes the pattern of interactions that the available space permits.</a:t>
            </a:r>
          </a:p>
        </p:txBody>
      </p:sp>
      <p:pic>
        <p:nvPicPr>
          <p:cNvPr id="4" name="Picture 3" descr="fish_aggression.png"/>
          <p:cNvPicPr>
            <a:picLocks noChangeAspect="1"/>
          </p:cNvPicPr>
          <p:nvPr/>
        </p:nvPicPr>
        <p:blipFill>
          <a:blip r:embed="rId2"/>
          <a:stretch>
            <a:fillRect/>
          </a:stretch>
        </p:blipFill>
        <p:spPr>
          <a:xfrm>
            <a:off x="6321247" y="1280160"/>
            <a:ext cx="5303520" cy="3322190"/>
          </a:xfrm>
          <a:prstGeom prst="rect">
            <a:avLst/>
          </a:prstGeom>
        </p:spPr>
      </p:pic>
      <p:sp>
        <p:nvSpPr>
          <p:cNvPr id="5" name="Figure caption"/>
          <p:cNvSpPr txBox="1"/>
          <p:nvPr/>
        </p:nvSpPr>
        <p:spPr>
          <a:xfrm>
            <a:off x="6321247" y="4693790"/>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Sen Sarma et al. (2023), Fig. 2(A–I). Weekly aggressive acts across stocking densities.</a:t>
            </a:r>
          </a:p>
        </p:txBody>
      </p:sp>
      <p:sp>
        <p:nvSpPr>
          <p:cNvPr id="6" name="Rectangle 5"/>
          <p:cNvSpPr/>
          <p:nvPr/>
        </p:nvSpPr>
        <p:spPr>
          <a:xfrm>
            <a:off x="566928" y="6382512"/>
            <a:ext cx="11057839" cy="9144"/>
          </a:xfrm>
          <a:prstGeom prst="rect">
            <a:avLst/>
          </a:prstGeom>
          <a:solidFill>
            <a:srgbClr val="DFCD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Sen Sarma et al.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6373E"/>
                </a:solidFill>
                <a:latin typeface="Arial"/>
              </a:rPr>
              <a:t>Group confinement exposes housing-dependent stress</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1" i="0">
                <a:solidFill>
                  <a:srgbClr val="56373E"/>
                </a:solidFill>
                <a:latin typeface="Arial"/>
              </a:rPr>
              <a:t>Cortisol</a:t>
            </a:r>
            <a:r>
              <a:rPr sz="1600" b="0" i="0">
                <a:solidFill>
                  <a:srgbClr val="000000"/>
                </a:solidFill>
                <a:latin typeface="Arial"/>
              </a:rPr>
              <a:t> is a principal stress-associated glucocorticoid in zebrafish. To challenge groups, researchers lowered tank water to 1 cm for 30 minutes and then extracted cortisol released into the water. Release was expressed per fish per hour rather than as a blood concentration.</a:t>
            </a:r>
          </a:p>
          <a:p>
            <a:pPr algn="l">
              <a:lnSpc>
                <a:spcPct val="108000"/>
              </a:lnSpc>
              <a:spcAft>
                <a:spcPts val="960"/>
              </a:spcAft>
            </a:pPr>
            <a:r>
              <a:rPr sz="1600" b="0" i="0">
                <a:solidFill>
                  <a:srgbClr val="000000"/>
                </a:solidFill>
                <a:latin typeface="Arial"/>
              </a:rPr>
              <a:t>Groups reared at 1 fish/L released more cortisol than groups at 3 or 6 fish/L; the 6 fish/L groups released the least under this challenge. The observed secretion range was 2.7–43.7 ng/fish/h. The tested enrichment conditions did not yield a clear additional effect.</a:t>
            </a:r>
          </a:p>
          <a:p>
            <a:pPr algn="l">
              <a:lnSpc>
                <a:spcPct val="108000"/>
              </a:lnSpc>
              <a:spcAft>
                <a:spcPts val="960"/>
              </a:spcAft>
            </a:pPr>
            <a:r>
              <a:rPr sz="1600" b="0" i="0">
                <a:solidFill>
                  <a:srgbClr val="000000"/>
                </a:solidFill>
                <a:latin typeface="Arial"/>
              </a:rPr>
              <a:t>Waterborne release provides a practical group-level endocrine readout, but it combines secretion and transfer into water during a particular challenge. It is not a direct measure of ongoing distress in undisturbed tanks. A lower challenge value also cannot establish favorable welfare without considering aggression and other consequences.</a:t>
            </a:r>
          </a:p>
        </p:txBody>
      </p:sp>
      <p:pic>
        <p:nvPicPr>
          <p:cNvPr id="4" name="Picture 3" descr="fish_groupcort.png"/>
          <p:cNvPicPr>
            <a:picLocks noChangeAspect="1"/>
          </p:cNvPicPr>
          <p:nvPr/>
        </p:nvPicPr>
        <p:blipFill>
          <a:blip r:embed="rId2"/>
          <a:stretch>
            <a:fillRect/>
          </a:stretch>
        </p:blipFill>
        <p:spPr>
          <a:xfrm>
            <a:off x="6321247" y="1280160"/>
            <a:ext cx="5303520" cy="3108597"/>
          </a:xfrm>
          <a:prstGeom prst="rect">
            <a:avLst/>
          </a:prstGeom>
        </p:spPr>
      </p:pic>
      <p:sp>
        <p:nvSpPr>
          <p:cNvPr id="5" name="Figure caption"/>
          <p:cNvSpPr txBox="1"/>
          <p:nvPr/>
        </p:nvSpPr>
        <p:spPr>
          <a:xfrm>
            <a:off x="6321247" y="4480197"/>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Sen Sarma et al. (2023), Fig. 3. Cortisol release after group confinement.</a:t>
            </a:r>
          </a:p>
        </p:txBody>
      </p:sp>
      <p:sp>
        <p:nvSpPr>
          <p:cNvPr id="6" name="Rectangle 5"/>
          <p:cNvSpPr/>
          <p:nvPr/>
        </p:nvSpPr>
        <p:spPr>
          <a:xfrm>
            <a:off x="566928" y="6382512"/>
            <a:ext cx="11057839" cy="9144"/>
          </a:xfrm>
          <a:prstGeom prst="rect">
            <a:avLst/>
          </a:prstGeom>
          <a:solidFill>
            <a:srgbClr val="DFCD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Sen Sarma et al.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6373E"/>
                </a:solidFill>
                <a:latin typeface="Arial"/>
              </a:rPr>
              <a:t>An individual challenge can erase a group difference</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researchers also confined individual zebrafish in 50 mL tubes for 30 minutes and measured waterborne cortisol. The endocrine readout was normalized to fish mass and time, yielding ng/g/h. This challenge separated each animal from the social setting present during the group test.</a:t>
            </a:r>
          </a:p>
          <a:p>
            <a:pPr algn="l">
              <a:lnSpc>
                <a:spcPct val="108000"/>
              </a:lnSpc>
              <a:spcAft>
                <a:spcPts val="960"/>
              </a:spcAft>
            </a:pPr>
            <a:r>
              <a:rPr sz="1600" b="0" i="0">
                <a:solidFill>
                  <a:srgbClr val="000000"/>
                </a:solidFill>
                <a:latin typeface="Arial"/>
              </a:rPr>
              <a:t>Individual secretion ranged from 3.9 to 72.4 ng/g/h, but the tested density and enrichment comparisons did not yield clear differences. Housing-associated endocrine differences were therefore detectable in group confinement without appearing equivalently in isolated individual confinement.</a:t>
            </a:r>
          </a:p>
          <a:p>
            <a:pPr algn="l">
              <a:lnSpc>
                <a:spcPct val="108000"/>
              </a:lnSpc>
              <a:spcAft>
                <a:spcPts val="960"/>
              </a:spcAft>
            </a:pPr>
            <a:r>
              <a:rPr sz="1600" b="0" i="0">
                <a:solidFill>
                  <a:srgbClr val="000000"/>
                </a:solidFill>
                <a:latin typeface="Arial"/>
              </a:rPr>
              <a:t>The discrepancy does not invalidate either measurement; the tests impose different physical and social demands. It limits claims that a single assay identifies a general stress-resilient phenotype. Evaluating captive fish requires distinguishing the living environment, the sampling procedure, and the challenge that generates the measured response.</a:t>
            </a:r>
          </a:p>
        </p:txBody>
      </p:sp>
      <p:pic>
        <p:nvPicPr>
          <p:cNvPr id="4" name="Picture 3" descr="fish_singlecort.png"/>
          <p:cNvPicPr>
            <a:picLocks noChangeAspect="1"/>
          </p:cNvPicPr>
          <p:nvPr/>
        </p:nvPicPr>
        <p:blipFill>
          <a:blip r:embed="rId2"/>
          <a:stretch>
            <a:fillRect/>
          </a:stretch>
        </p:blipFill>
        <p:spPr>
          <a:xfrm>
            <a:off x="6321247" y="1280160"/>
            <a:ext cx="5303520" cy="2391887"/>
          </a:xfrm>
          <a:prstGeom prst="rect">
            <a:avLst/>
          </a:prstGeom>
        </p:spPr>
      </p:pic>
      <p:sp>
        <p:nvSpPr>
          <p:cNvPr id="5" name="Figure caption"/>
          <p:cNvSpPr txBox="1"/>
          <p:nvPr/>
        </p:nvSpPr>
        <p:spPr>
          <a:xfrm>
            <a:off x="6321247" y="3763487"/>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Sen Sarma et al. (2023), Fig. 4. Cortisol release after individual confinement.</a:t>
            </a:r>
          </a:p>
        </p:txBody>
      </p:sp>
      <p:sp>
        <p:nvSpPr>
          <p:cNvPr id="6" name="Rectangle 5"/>
          <p:cNvSpPr/>
          <p:nvPr/>
        </p:nvSpPr>
        <p:spPr>
          <a:xfrm>
            <a:off x="566928" y="6382512"/>
            <a:ext cx="11057839" cy="9144"/>
          </a:xfrm>
          <a:prstGeom prst="rect">
            <a:avLst/>
          </a:prstGeom>
          <a:solidFill>
            <a:srgbClr val="DFCD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Sen Sarma et al.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6373E"/>
                </a:solidFill>
                <a:latin typeface="Arial"/>
              </a:rPr>
              <a:t>Confinement prolongs aggression after crayfish defeat</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Bacqué-Cazenave and colleagues paired previously isolated, size-matched male crayfish in a confined arena for 20 minutes. Encounters progressed from exploration to fighting, then to continued attacks after one animal retreated. </a:t>
            </a:r>
            <a:r>
              <a:rPr sz="1500" b="1" i="0">
                <a:solidFill>
                  <a:srgbClr val="56373E"/>
                </a:solidFill>
                <a:latin typeface="Arial"/>
              </a:rPr>
              <a:t>Social defeat</a:t>
            </a:r>
            <a:r>
              <a:rPr sz="1500" b="0" i="0">
                <a:solidFill>
                  <a:srgbClr val="000000"/>
                </a:solidFill>
                <a:latin typeface="Arial"/>
              </a:rPr>
              <a:t> refers here to the outcome of this observed contest rather than an inferred subjective report.</a:t>
            </a:r>
          </a:p>
          <a:p>
            <a:pPr algn="l">
              <a:lnSpc>
                <a:spcPct val="108000"/>
              </a:lnSpc>
              <a:spcAft>
                <a:spcPts val="900"/>
              </a:spcAft>
            </a:pPr>
            <a:r>
              <a:rPr sz="1500" b="0" i="0">
                <a:solidFill>
                  <a:srgbClr val="000000"/>
                </a:solidFill>
                <a:latin typeface="Arial"/>
              </a:rPr>
              <a:t>After defeat, the loser largely stopped fighting while the winner continued approaches and attacks. The loser responded with escapes. The prolonged post-defeat phase differed from mutual fighting, because one animal repeatedly attempted to withdraw while remaining within its opponent’s reach.</a:t>
            </a:r>
          </a:p>
          <a:p>
            <a:pPr algn="l">
              <a:lnSpc>
                <a:spcPct val="108000"/>
              </a:lnSpc>
              <a:spcAft>
                <a:spcPts val="900"/>
              </a:spcAft>
            </a:pPr>
            <a:r>
              <a:rPr sz="1500" b="0" i="0">
                <a:solidFill>
                  <a:srgbClr val="000000"/>
                </a:solidFill>
                <a:latin typeface="Arial"/>
              </a:rPr>
              <a:t>The enclosure constrained the separation that a defeated animal might achieve in a larger environment. This offers a concrete mechanism by which captivity can sustain adverse interactions. The experiment measured attacks and escapes directly; describing the sequence as harassment does not establish equivalence to human psychological experience.</a:t>
            </a:r>
          </a:p>
        </p:txBody>
      </p:sp>
      <p:pic>
        <p:nvPicPr>
          <p:cNvPr id="4" name="Picture 3" descr="cray_social.png"/>
          <p:cNvPicPr>
            <a:picLocks noChangeAspect="1"/>
          </p:cNvPicPr>
          <p:nvPr/>
        </p:nvPicPr>
        <p:blipFill>
          <a:blip r:embed="rId2"/>
          <a:stretch>
            <a:fillRect/>
          </a:stretch>
        </p:blipFill>
        <p:spPr>
          <a:xfrm>
            <a:off x="6519441" y="1280160"/>
            <a:ext cx="4907130" cy="4297679"/>
          </a:xfrm>
          <a:prstGeom prst="rect">
            <a:avLst/>
          </a:prstGeom>
        </p:spPr>
      </p:pic>
      <p:sp>
        <p:nvSpPr>
          <p:cNvPr id="5" name="Figure caption"/>
          <p:cNvSpPr txBox="1"/>
          <p:nvPr/>
        </p:nvSpPr>
        <p:spPr>
          <a:xfrm>
            <a:off x="6321247" y="5669279"/>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Bacqué-Cazenave et al. (2017), Fig. 1. Fighting, harassment and escape after pairing.</a:t>
            </a:r>
          </a:p>
        </p:txBody>
      </p:sp>
      <p:sp>
        <p:nvSpPr>
          <p:cNvPr id="6" name="Rectangle 5"/>
          <p:cNvSpPr/>
          <p:nvPr/>
        </p:nvSpPr>
        <p:spPr>
          <a:xfrm>
            <a:off x="566928" y="6382512"/>
            <a:ext cx="11057839" cy="9144"/>
          </a:xfrm>
          <a:prstGeom prst="rect">
            <a:avLst/>
          </a:prstGeom>
          <a:solidFill>
            <a:srgbClr val="DFCD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Bacqué-Cazenave et al. (2017)</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6373E"/>
                </a:solidFill>
                <a:latin typeface="Arial"/>
              </a:rPr>
              <a:t>Defeated crayfish avoid illuminated spaces</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After pairing, crayfish explored a plus maze containing dark and illuminated arms. </a:t>
            </a:r>
            <a:r>
              <a:rPr sz="1600" b="1" i="0">
                <a:solidFill>
                  <a:srgbClr val="56373E"/>
                </a:solidFill>
                <a:latin typeface="Arial"/>
              </a:rPr>
              <a:t>Anxiety-like behavior</a:t>
            </a:r>
            <a:r>
              <a:rPr sz="1600" b="0" i="0">
                <a:solidFill>
                  <a:srgbClr val="000000"/>
                </a:solidFill>
                <a:latin typeface="Arial"/>
              </a:rPr>
              <a:t> was operationalized as stronger light avoidance and more retreats at dark–light boundaries. Winners and previously isolated animals provided comparisons for the defeated animals.</a:t>
            </a:r>
          </a:p>
          <a:p>
            <a:pPr algn="l">
              <a:lnSpc>
                <a:spcPct val="108000"/>
              </a:lnSpc>
              <a:spcAft>
                <a:spcPts val="960"/>
              </a:spcAft>
            </a:pPr>
            <a:r>
              <a:rPr sz="1600" b="0" i="0">
                <a:solidFill>
                  <a:srgbClr val="000000"/>
                </a:solidFill>
                <a:latin typeface="Arial"/>
              </a:rPr>
              <a:t>Losers spent about 18% of their time in illuminated arms, compared with about 30% for winners and 32% for isolated controls. The drug chlordiazepoxide increased light-arm exploration in defeated animals, with saline injections controlling for the administration procedure.</a:t>
            </a:r>
          </a:p>
          <a:p>
            <a:pPr algn="l">
              <a:lnSpc>
                <a:spcPct val="108000"/>
              </a:lnSpc>
              <a:spcAft>
                <a:spcPts val="960"/>
              </a:spcAft>
            </a:pPr>
            <a:r>
              <a:rPr sz="1600" b="0" i="0">
                <a:solidFill>
                  <a:srgbClr val="000000"/>
                </a:solidFill>
                <a:latin typeface="Arial"/>
              </a:rPr>
              <a:t>The altered behavior after the contest and its pharmacological sensitivity support a persistent defensive state rather than only movements during fighting. They do not independently identify the entire neural pathway or establish the contents of an animal’s experience. Light avoidance must also be distinguished from reduced ability to move.</a:t>
            </a:r>
          </a:p>
        </p:txBody>
      </p:sp>
      <p:pic>
        <p:nvPicPr>
          <p:cNvPr id="4" name="Picture 3" descr="cray_maze.png"/>
          <p:cNvPicPr>
            <a:picLocks noChangeAspect="1"/>
          </p:cNvPicPr>
          <p:nvPr/>
        </p:nvPicPr>
        <p:blipFill>
          <a:blip r:embed="rId2"/>
          <a:stretch>
            <a:fillRect/>
          </a:stretch>
        </p:blipFill>
        <p:spPr>
          <a:xfrm>
            <a:off x="6321247" y="1280160"/>
            <a:ext cx="5303520" cy="3935474"/>
          </a:xfrm>
          <a:prstGeom prst="rect">
            <a:avLst/>
          </a:prstGeom>
        </p:spPr>
      </p:pic>
      <p:sp>
        <p:nvSpPr>
          <p:cNvPr id="5" name="Figure caption"/>
          <p:cNvSpPr txBox="1"/>
          <p:nvPr/>
        </p:nvSpPr>
        <p:spPr>
          <a:xfrm>
            <a:off x="6321247" y="5307074"/>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Bacqué-Cazenave et al. (2017), Fig. 2(A–D). Light avoidance after defeat and chlordiazepoxide treatment.</a:t>
            </a:r>
          </a:p>
        </p:txBody>
      </p:sp>
      <p:sp>
        <p:nvSpPr>
          <p:cNvPr id="6" name="Rectangle 5"/>
          <p:cNvSpPr/>
          <p:nvPr/>
        </p:nvSpPr>
        <p:spPr>
          <a:xfrm>
            <a:off x="566928" y="6382512"/>
            <a:ext cx="11057839" cy="9144"/>
          </a:xfrm>
          <a:prstGeom prst="rect">
            <a:avLst/>
          </a:prstGeom>
          <a:solidFill>
            <a:srgbClr val="DFCD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Bacqué-Cazenave et al. (2017)</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6373E"/>
                </a:solidFill>
                <a:latin typeface="Arial"/>
              </a:rPr>
              <a:t>Post-defeat attacks predict later avoidance</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The pairing observations allowed attacks before and after defeat to be separated. Investigators related the winner’s approaches and attacks to the loser’s later time in illuminated maze arms. This comparison tested whether sustained hostile contact, rather than fighting duration alone, tracked the defensive state.</a:t>
            </a:r>
          </a:p>
          <a:p>
            <a:pPr algn="l">
              <a:lnSpc>
                <a:spcPct val="108000"/>
              </a:lnSpc>
              <a:spcAft>
                <a:spcPts val="900"/>
              </a:spcAft>
            </a:pPr>
            <a:r>
              <a:rPr sz="1500" b="0" i="0">
                <a:solidFill>
                  <a:srgbClr val="000000"/>
                </a:solidFill>
                <a:latin typeface="Arial"/>
              </a:rPr>
              <a:t>More attacks during the post-defeat harassment phase were associated with less subsequent light-arm exploration. Duration of fighting did not show the same relationship. Thus, the measured consequence was more closely associated with what happened after withdrawal than with time spent in the initial contest.</a:t>
            </a:r>
          </a:p>
          <a:p>
            <a:pPr algn="l">
              <a:lnSpc>
                <a:spcPct val="108000"/>
              </a:lnSpc>
              <a:spcAft>
                <a:spcPts val="900"/>
              </a:spcAft>
            </a:pPr>
            <a:r>
              <a:rPr sz="1500" b="0" i="0">
                <a:solidFill>
                  <a:srgbClr val="000000"/>
                </a:solidFill>
                <a:latin typeface="Arial"/>
              </a:rPr>
              <a:t>The analysis is correlational and cannot exclude other differences between encounters. Nevertheless, it identifies a husbandry-relevant exposure that would be missed by recording only who won. Providing opportunities to escape continued pursuit is a distinct problem from merely reducing the duration of an initial fight.</a:t>
            </a:r>
          </a:p>
        </p:txBody>
      </p:sp>
      <p:pic>
        <p:nvPicPr>
          <p:cNvPr id="4" name="Picture 3" descr="cray_harass.png"/>
          <p:cNvPicPr>
            <a:picLocks noChangeAspect="1"/>
          </p:cNvPicPr>
          <p:nvPr/>
        </p:nvPicPr>
        <p:blipFill>
          <a:blip r:embed="rId2"/>
          <a:stretch>
            <a:fillRect/>
          </a:stretch>
        </p:blipFill>
        <p:spPr>
          <a:xfrm>
            <a:off x="6321247" y="1280160"/>
            <a:ext cx="5303520" cy="4021728"/>
          </a:xfrm>
          <a:prstGeom prst="rect">
            <a:avLst/>
          </a:prstGeom>
        </p:spPr>
      </p:pic>
      <p:sp>
        <p:nvSpPr>
          <p:cNvPr id="5" name="Figure caption"/>
          <p:cNvSpPr txBox="1"/>
          <p:nvPr/>
        </p:nvSpPr>
        <p:spPr>
          <a:xfrm>
            <a:off x="6321247" y="5393328"/>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Bacqué-Cazenave et al. (2017), Fig. 3(A–D). Harassment intensity and subsequent light avoidance.</a:t>
            </a:r>
          </a:p>
        </p:txBody>
      </p:sp>
      <p:sp>
        <p:nvSpPr>
          <p:cNvPr id="6" name="Rectangle 5"/>
          <p:cNvSpPr/>
          <p:nvPr/>
        </p:nvSpPr>
        <p:spPr>
          <a:xfrm>
            <a:off x="566928" y="6382512"/>
            <a:ext cx="11057839" cy="9144"/>
          </a:xfrm>
          <a:prstGeom prst="rect">
            <a:avLst/>
          </a:prstGeom>
          <a:solidFill>
            <a:srgbClr val="DFCD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Bacqué-Cazenave et al. (2017)</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6373E"/>
                </a:solidFill>
                <a:latin typeface="Arial"/>
              </a:rPr>
              <a:t>Serotonin contributes to the post-defeat state</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1" i="0">
                <a:solidFill>
                  <a:srgbClr val="56373E"/>
                </a:solidFill>
                <a:latin typeface="Arial"/>
              </a:rPr>
              <a:t>Serotonin</a:t>
            </a:r>
            <a:r>
              <a:rPr sz="1500" b="0" i="0">
                <a:solidFill>
                  <a:srgbClr val="000000"/>
                </a:solidFill>
                <a:latin typeface="Arial"/>
              </a:rPr>
              <a:t>, also called 5-hydroxytryptamine or 5-HT, is a transmitter that modulates neural circuits. Brain serotonin was measured after the 20-minute pairing. Concentrations averaged about 236 pg/mg in isolated crayfish, 486 pg/mg in winners, and 691 pg/mg in losers.</a:t>
            </a:r>
          </a:p>
          <a:p>
            <a:pPr algn="l">
              <a:lnSpc>
                <a:spcPct val="108000"/>
              </a:lnSpc>
              <a:spcAft>
                <a:spcPts val="900"/>
              </a:spcAft>
            </a:pPr>
            <a:r>
              <a:rPr sz="1500" b="0" i="0">
                <a:solidFill>
                  <a:srgbClr val="000000"/>
                </a:solidFill>
                <a:latin typeface="Arial"/>
              </a:rPr>
              <a:t>Before pairing, methysergide, a broad serotonin-receptor antagonist, was given to the animal expected to lose. Compared with saline controls, treated defeated animals explored illuminated arms more and retreated less. They still lost the contest, separating the defensive state from the act of retreating during defeat.</a:t>
            </a:r>
          </a:p>
          <a:p>
            <a:pPr algn="l">
              <a:lnSpc>
                <a:spcPct val="108000"/>
              </a:lnSpc>
              <a:spcAft>
                <a:spcPts val="900"/>
              </a:spcAft>
            </a:pPr>
            <a:r>
              <a:rPr sz="1500" b="0" i="0">
                <a:solidFill>
                  <a:srgbClr val="000000"/>
                </a:solidFill>
                <a:latin typeface="Arial"/>
              </a:rPr>
              <a:t>The pharmacological result supports serotonin-receptor involvement beyond a hormone–behavior association. Whole-brain concentration does not reveal release at a particular synapse, and a broad antagonist does not identify the receptor subtype. The imaged serotonergic neuron comes from a separate motor-circuit preparation, not an identified anxiety circuit.</a:t>
            </a:r>
          </a:p>
        </p:txBody>
      </p:sp>
      <p:pic>
        <p:nvPicPr>
          <p:cNvPr id="4" name="Picture 3" descr="cray_serotonin.png"/>
          <p:cNvPicPr>
            <a:picLocks noChangeAspect="1"/>
          </p:cNvPicPr>
          <p:nvPr/>
        </p:nvPicPr>
        <p:blipFill>
          <a:blip r:embed="rId2"/>
          <a:stretch>
            <a:fillRect/>
          </a:stretch>
        </p:blipFill>
        <p:spPr>
          <a:xfrm>
            <a:off x="7465517" y="1280160"/>
            <a:ext cx="1369059" cy="4297679"/>
          </a:xfrm>
          <a:prstGeom prst="rect">
            <a:avLst/>
          </a:prstGeom>
        </p:spPr>
      </p:pic>
      <p:sp>
        <p:nvSpPr>
          <p:cNvPr id="5" name="Figure caption"/>
          <p:cNvSpPr txBox="1"/>
          <p:nvPr/>
        </p:nvSpPr>
        <p:spPr>
          <a:xfrm>
            <a:off x="6138367" y="5669279"/>
            <a:ext cx="402336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Bacqué-Cazenave et al. (2017), Fig. 4(A–D). Brain serotonin and methysergide effects after defeat.</a:t>
            </a:r>
          </a:p>
        </p:txBody>
      </p:sp>
      <p:pic>
        <p:nvPicPr>
          <p:cNvPr id="6" name="Picture 5" descr="motor_id.png"/>
          <p:cNvPicPr>
            <a:picLocks noChangeAspect="1"/>
          </p:cNvPicPr>
          <p:nvPr/>
        </p:nvPicPr>
        <p:blipFill>
          <a:blip r:embed="rId3"/>
          <a:stretch>
            <a:fillRect/>
          </a:stretch>
        </p:blipFill>
        <p:spPr>
          <a:xfrm>
            <a:off x="10344607" y="2148840"/>
            <a:ext cx="1280159" cy="1451135"/>
          </a:xfrm>
          <a:prstGeom prst="rect">
            <a:avLst/>
          </a:prstGeom>
        </p:spPr>
      </p:pic>
      <p:sp>
        <p:nvSpPr>
          <p:cNvPr id="7" name="Figure caption"/>
          <p:cNvSpPr txBox="1"/>
          <p:nvPr/>
        </p:nvSpPr>
        <p:spPr>
          <a:xfrm>
            <a:off x="10344607" y="3673127"/>
            <a:ext cx="1280159"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Bacqué-Cazenave et al. (2019), Fig. 2(A–C). Serotonergic neuron activity and identification.</a:t>
            </a:r>
          </a:p>
        </p:txBody>
      </p:sp>
      <p:sp>
        <p:nvSpPr>
          <p:cNvPr id="8" name="Rectangle 7"/>
          <p:cNvSpPr/>
          <p:nvPr/>
        </p:nvSpPr>
        <p:spPr>
          <a:xfrm>
            <a:off x="566928" y="6382512"/>
            <a:ext cx="11057839" cy="9144"/>
          </a:xfrm>
          <a:prstGeom prst="rect">
            <a:avLst/>
          </a:prstGeom>
          <a:solidFill>
            <a:srgbClr val="DFCDD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Bacqué-Cazenave et al. (2017); Bacqué-Cazenave et al. (2019)</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6373E"/>
                </a:solidFill>
                <a:latin typeface="Arial"/>
              </a:rPr>
              <a:t>A single serotonin cell modulates a motor network</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In a separate crayfish study, researchers stimulated an identified serotonergic neuron in the first abdominal ganglion while recording walking-leg motor output. A </a:t>
            </a:r>
            <a:r>
              <a:rPr sz="1500" b="1" i="0">
                <a:solidFill>
                  <a:srgbClr val="56373E"/>
                </a:solidFill>
                <a:latin typeface="Arial"/>
              </a:rPr>
              <a:t>ganglion</a:t>
            </a:r>
            <a:r>
              <a:rPr sz="1500" b="0" i="0">
                <a:solidFill>
                  <a:srgbClr val="000000"/>
                </a:solidFill>
                <a:latin typeface="Arial"/>
              </a:rPr>
              <a:t> is a cluster of neuronal cell bodies. Immunostaining and intracellular labeling confirmed that the recorded cell contained serotonin.</a:t>
            </a:r>
          </a:p>
          <a:p>
            <a:pPr algn="l">
              <a:lnSpc>
                <a:spcPct val="108000"/>
              </a:lnSpc>
              <a:spcAft>
                <a:spcPts val="900"/>
              </a:spcAft>
            </a:pPr>
            <a:r>
              <a:rPr sz="1500" b="0" i="0">
                <a:solidFill>
                  <a:srgbClr val="000000"/>
                </a:solidFill>
                <a:latin typeface="Arial"/>
              </a:rPr>
              <a:t>Current pulses drove the cell to fire initially at up to 40 Hz, then adapt toward about 17 Hz. Motor neurons in the connected postural network increased, decreased, or maintained their activity during this stimulation. Serotonin therefore did not impose a single uniform direction of motor response.</a:t>
            </a:r>
          </a:p>
          <a:p>
            <a:pPr algn="l">
              <a:lnSpc>
                <a:spcPct val="108000"/>
              </a:lnSpc>
              <a:spcAft>
                <a:spcPts val="900"/>
              </a:spcAft>
            </a:pPr>
            <a:r>
              <a:rPr sz="1500" b="0" i="0">
                <a:solidFill>
                  <a:srgbClr val="000000"/>
                </a:solidFill>
                <a:latin typeface="Arial"/>
              </a:rPr>
              <a:t>The isolated preparation retained a leg proprioceptor, a sensory organ that reports limb position, and its central connections. It links transmitter-cell activity to a defined sensorimotor network. It does not directly measure stress experience, and the mixed responses prevent interpreting elevated serotonin as universally excitatory or inhibitory.</a:t>
            </a:r>
          </a:p>
        </p:txBody>
      </p:sp>
      <p:pic>
        <p:nvPicPr>
          <p:cNvPr id="4" name="Picture 3" descr="motor_id.png"/>
          <p:cNvPicPr>
            <a:picLocks noChangeAspect="1"/>
          </p:cNvPicPr>
          <p:nvPr/>
        </p:nvPicPr>
        <p:blipFill>
          <a:blip r:embed="rId2"/>
          <a:stretch>
            <a:fillRect/>
          </a:stretch>
        </p:blipFill>
        <p:spPr>
          <a:xfrm>
            <a:off x="7904177" y="1280160"/>
            <a:ext cx="2137658" cy="2423160"/>
          </a:xfrm>
          <a:prstGeom prst="rect">
            <a:avLst/>
          </a:prstGeom>
        </p:spPr>
      </p:pic>
      <p:sp>
        <p:nvSpPr>
          <p:cNvPr id="5" name="Figure caption"/>
          <p:cNvSpPr txBox="1"/>
          <p:nvPr/>
        </p:nvSpPr>
        <p:spPr>
          <a:xfrm>
            <a:off x="6321247" y="3794760"/>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Bacqué-Cazenave et al. (2019), Fig. 2(A–C). Serotonergic neuron activity and identification.</a:t>
            </a:r>
          </a:p>
        </p:txBody>
      </p:sp>
      <p:pic>
        <p:nvPicPr>
          <p:cNvPr id="6" name="Picture 5" descr="motor_anatomy.png"/>
          <p:cNvPicPr>
            <a:picLocks noChangeAspect="1"/>
          </p:cNvPicPr>
          <p:nvPr/>
        </p:nvPicPr>
        <p:blipFill>
          <a:blip r:embed="rId3"/>
          <a:stretch>
            <a:fillRect/>
          </a:stretch>
        </p:blipFill>
        <p:spPr>
          <a:xfrm>
            <a:off x="8146123" y="4251960"/>
            <a:ext cx="1653766" cy="1508759"/>
          </a:xfrm>
          <a:prstGeom prst="rect">
            <a:avLst/>
          </a:prstGeom>
        </p:spPr>
      </p:pic>
      <p:sp>
        <p:nvSpPr>
          <p:cNvPr id="7" name="Figure caption"/>
          <p:cNvSpPr txBox="1"/>
          <p:nvPr/>
        </p:nvSpPr>
        <p:spPr>
          <a:xfrm>
            <a:off x="6321247" y="5833872"/>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Bacqué-Cazenave et al. (2019), Fig. 1(A,B). Walking-leg sensory and motor anatomy.</a:t>
            </a:r>
          </a:p>
        </p:txBody>
      </p:sp>
      <p:sp>
        <p:nvSpPr>
          <p:cNvPr id="8" name="Rectangle 7"/>
          <p:cNvSpPr/>
          <p:nvPr/>
        </p:nvSpPr>
        <p:spPr>
          <a:xfrm>
            <a:off x="566928" y="6382512"/>
            <a:ext cx="11057839" cy="9144"/>
          </a:xfrm>
          <a:prstGeom prst="rect">
            <a:avLst/>
          </a:prstGeom>
          <a:solidFill>
            <a:srgbClr val="DFCDD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Bacqué-Cazenave et al. (2019)</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6373E"/>
                </a:solidFill>
                <a:latin typeface="Arial"/>
              </a:rPr>
              <a:t>Serotonin can amplify sensory-driven motor responses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A </a:t>
            </a:r>
            <a:r>
              <a:rPr sz="1500" b="1" i="0">
                <a:solidFill>
                  <a:srgbClr val="56373E"/>
                </a:solidFill>
                <a:latin typeface="Arial"/>
              </a:rPr>
              <a:t>motor neuron</a:t>
            </a:r>
            <a:r>
              <a:rPr sz="1500" b="0" i="0">
                <a:solidFill>
                  <a:srgbClr val="000000"/>
                </a:solidFill>
                <a:latin typeface="Arial"/>
              </a:rPr>
              <a:t> carries neural output toward muscle, while an </a:t>
            </a:r>
            <a:r>
              <a:rPr sz="1500" b="1" i="0">
                <a:solidFill>
                  <a:srgbClr val="56373E"/>
                </a:solidFill>
                <a:latin typeface="Arial"/>
              </a:rPr>
              <a:t>excitatory postsynaptic potential</a:t>
            </a:r>
            <a:r>
              <a:rPr sz="1500" b="0" i="0">
                <a:solidFill>
                  <a:srgbClr val="000000"/>
                </a:solidFill>
                <a:latin typeface="Arial"/>
              </a:rPr>
              <a:t> is a depolarizing response to synaptic input. In some depressor motor neurons, stimulation of the serotonergic cell depolarized the membrane and increased input resistance. The depressor network contributes to downward leg movement.</a:t>
            </a:r>
          </a:p>
          <a:p>
            <a:pPr algn="l">
              <a:lnSpc>
                <a:spcPct val="108000"/>
              </a:lnSpc>
              <a:spcAft>
                <a:spcPts val="900"/>
              </a:spcAft>
            </a:pPr>
            <a:r>
              <a:rPr sz="1500" b="0" i="0">
                <a:solidFill>
                  <a:srgbClr val="000000"/>
                </a:solidFill>
                <a:latin typeface="Arial"/>
              </a:rPr>
              <a:t>In the published example, membrane voltage changed from −83.2 to −75.6 mV, and the sensory-driven response increased from about 0.99 to 1.64 mV. Responses to movement of the retained proprioceptor were measured before and during serotonergic-cell stimulation in the same preparation.</a:t>
            </a:r>
          </a:p>
          <a:p>
            <a:pPr algn="l">
              <a:lnSpc>
                <a:spcPct val="108000"/>
              </a:lnSpc>
              <a:spcAft>
                <a:spcPts val="900"/>
              </a:spcAft>
            </a:pPr>
            <a:r>
              <a:rPr sz="1500" b="0" i="0">
                <a:solidFill>
                  <a:srgbClr val="000000"/>
                </a:solidFill>
                <a:latin typeface="Arial"/>
              </a:rPr>
              <a:t>The combination of depolarization and greater voltage responsiveness can amplify the effect of sensory input on motor output. Longer-lasting synaptic potentials also contributed. The experiment establishes modulation of a postural circuit; it does not demonstrate that the same cells mediate the defensive state measured in the light–dark maze.</a:t>
            </a:r>
          </a:p>
        </p:txBody>
      </p:sp>
      <p:pic>
        <p:nvPicPr>
          <p:cNvPr id="4" name="Picture 3" descr="motor_excite.png"/>
          <p:cNvPicPr>
            <a:picLocks noChangeAspect="1"/>
          </p:cNvPicPr>
          <p:nvPr/>
        </p:nvPicPr>
        <p:blipFill>
          <a:blip r:embed="rId2"/>
          <a:stretch>
            <a:fillRect/>
          </a:stretch>
        </p:blipFill>
        <p:spPr>
          <a:xfrm>
            <a:off x="6488240" y="1280160"/>
            <a:ext cx="3323614" cy="4297679"/>
          </a:xfrm>
          <a:prstGeom prst="rect">
            <a:avLst/>
          </a:prstGeom>
        </p:spPr>
      </p:pic>
      <p:sp>
        <p:nvSpPr>
          <p:cNvPr id="5" name="Figure caption"/>
          <p:cNvSpPr txBox="1"/>
          <p:nvPr/>
        </p:nvSpPr>
        <p:spPr>
          <a:xfrm>
            <a:off x="6138367" y="5669279"/>
            <a:ext cx="402336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Bacqué-Cazenave et al. (2019), Fig. 4(A–C). Depolarization, input resistance and sensory responses.</a:t>
            </a:r>
          </a:p>
        </p:txBody>
      </p:sp>
      <p:pic>
        <p:nvPicPr>
          <p:cNvPr id="6" name="Picture 5" descr="motor_id.png"/>
          <p:cNvPicPr>
            <a:picLocks noChangeAspect="1"/>
          </p:cNvPicPr>
          <p:nvPr/>
        </p:nvPicPr>
        <p:blipFill>
          <a:blip r:embed="rId3"/>
          <a:stretch>
            <a:fillRect/>
          </a:stretch>
        </p:blipFill>
        <p:spPr>
          <a:xfrm>
            <a:off x="10344607" y="2148840"/>
            <a:ext cx="1280159" cy="1451135"/>
          </a:xfrm>
          <a:prstGeom prst="rect">
            <a:avLst/>
          </a:prstGeom>
        </p:spPr>
      </p:pic>
      <p:sp>
        <p:nvSpPr>
          <p:cNvPr id="7" name="Figure caption"/>
          <p:cNvSpPr txBox="1"/>
          <p:nvPr/>
        </p:nvSpPr>
        <p:spPr>
          <a:xfrm>
            <a:off x="10344607" y="3673127"/>
            <a:ext cx="1280159"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Bacqué-Cazenave et al. (2019), Fig. 2(A–C). Serotonergic neuron activity and identification.</a:t>
            </a:r>
          </a:p>
        </p:txBody>
      </p:sp>
      <p:sp>
        <p:nvSpPr>
          <p:cNvPr id="8" name="Rectangle 7"/>
          <p:cNvSpPr/>
          <p:nvPr/>
        </p:nvSpPr>
        <p:spPr>
          <a:xfrm>
            <a:off x="566928" y="6382512"/>
            <a:ext cx="11057839" cy="9144"/>
          </a:xfrm>
          <a:prstGeom prst="rect">
            <a:avLst/>
          </a:prstGeom>
          <a:solidFill>
            <a:srgbClr val="DFCDD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Bacqué-Cazenave et al. (2019)</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6373E"/>
                </a:solidFill>
                <a:latin typeface="Arial"/>
              </a:rPr>
              <a:t>The same serotonin input can suppress other neurons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Other depressor motor neurons responded to the same identified serotonin-cell stimulation with </a:t>
            </a:r>
            <a:r>
              <a:rPr sz="1500" b="1" i="0">
                <a:solidFill>
                  <a:srgbClr val="56373E"/>
                </a:solidFill>
                <a:latin typeface="Arial"/>
              </a:rPr>
              <a:t>hyperpolarization</a:t>
            </a:r>
            <a:r>
              <a:rPr sz="1500" b="0" i="0">
                <a:solidFill>
                  <a:srgbClr val="000000"/>
                </a:solidFill>
                <a:latin typeface="Arial"/>
              </a:rPr>
              <a:t>, a shift to more negative voltage, and reduced input resistance. Sensory-driven responses became smaller rather than larger. These opposing effects occurred within the tested motor system.</a:t>
            </a:r>
          </a:p>
          <a:p>
            <a:pPr algn="l">
              <a:lnSpc>
                <a:spcPct val="108000"/>
              </a:lnSpc>
              <a:spcAft>
                <a:spcPts val="900"/>
              </a:spcAft>
            </a:pPr>
            <a:r>
              <a:rPr sz="1500" b="0" i="0">
                <a:solidFill>
                  <a:srgbClr val="000000"/>
                </a:solidFill>
                <a:latin typeface="Arial"/>
              </a:rPr>
              <a:t>In one recorded example, the reflex-related voltage response declined from about 0.077 to 0.045 mV. Synaptic potentials also decayed faster. Reduced voltage responsiveness and a more negative baseline can jointly decrease the influence of a sensory input on the cell’s motor output.</a:t>
            </a:r>
          </a:p>
          <a:p>
            <a:pPr algn="l">
              <a:lnSpc>
                <a:spcPct val="108000"/>
              </a:lnSpc>
              <a:spcAft>
                <a:spcPts val="900"/>
              </a:spcAft>
            </a:pPr>
            <a:r>
              <a:rPr sz="1500" b="0" i="0">
                <a:solidFill>
                  <a:srgbClr val="000000"/>
                </a:solidFill>
                <a:latin typeface="Arial"/>
              </a:rPr>
              <a:t>The authors proposed that different receptor locations and local release modes contribute to the opposing effects. These explanations were not a complete molecular identification of the responsible receptors. The results constrain cross-species claims: a rise in a transmitter’s tissue concentration does not specify which neurons or behaviors will be enhanced.</a:t>
            </a:r>
          </a:p>
        </p:txBody>
      </p:sp>
      <p:pic>
        <p:nvPicPr>
          <p:cNvPr id="4" name="Picture 3" descr="motor_inhibit.png"/>
          <p:cNvPicPr>
            <a:picLocks noChangeAspect="1"/>
          </p:cNvPicPr>
          <p:nvPr/>
        </p:nvPicPr>
        <p:blipFill>
          <a:blip r:embed="rId2"/>
          <a:stretch>
            <a:fillRect/>
          </a:stretch>
        </p:blipFill>
        <p:spPr>
          <a:xfrm>
            <a:off x="6472644" y="1280160"/>
            <a:ext cx="3354806" cy="4297679"/>
          </a:xfrm>
          <a:prstGeom prst="rect">
            <a:avLst/>
          </a:prstGeom>
        </p:spPr>
      </p:pic>
      <p:sp>
        <p:nvSpPr>
          <p:cNvPr id="5" name="Figure caption"/>
          <p:cNvSpPr txBox="1"/>
          <p:nvPr/>
        </p:nvSpPr>
        <p:spPr>
          <a:xfrm>
            <a:off x="6138367" y="5669279"/>
            <a:ext cx="402336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Bacqué-Cazenave et al. (2019), Fig. 5(A–C). Hyperpolarization and reduced sensory responses.</a:t>
            </a:r>
          </a:p>
        </p:txBody>
      </p:sp>
      <p:pic>
        <p:nvPicPr>
          <p:cNvPr id="6" name="Picture 5" descr="motor_id.png"/>
          <p:cNvPicPr>
            <a:picLocks noChangeAspect="1"/>
          </p:cNvPicPr>
          <p:nvPr/>
        </p:nvPicPr>
        <p:blipFill>
          <a:blip r:embed="rId3"/>
          <a:stretch>
            <a:fillRect/>
          </a:stretch>
        </p:blipFill>
        <p:spPr>
          <a:xfrm>
            <a:off x="10344607" y="2148840"/>
            <a:ext cx="1280159" cy="1451135"/>
          </a:xfrm>
          <a:prstGeom prst="rect">
            <a:avLst/>
          </a:prstGeom>
        </p:spPr>
      </p:pic>
      <p:sp>
        <p:nvSpPr>
          <p:cNvPr id="7" name="Figure caption"/>
          <p:cNvSpPr txBox="1"/>
          <p:nvPr/>
        </p:nvSpPr>
        <p:spPr>
          <a:xfrm>
            <a:off x="10344607" y="3673127"/>
            <a:ext cx="1280159"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Bacqué-Cazenave et al. (2019), Fig. 2(A–C). Serotonergic neuron activity and identification.</a:t>
            </a:r>
          </a:p>
        </p:txBody>
      </p:sp>
      <p:sp>
        <p:nvSpPr>
          <p:cNvPr id="8" name="Rectangle 7"/>
          <p:cNvSpPr/>
          <p:nvPr/>
        </p:nvSpPr>
        <p:spPr>
          <a:xfrm>
            <a:off x="566928" y="6382512"/>
            <a:ext cx="11057839" cy="9144"/>
          </a:xfrm>
          <a:prstGeom prst="rect">
            <a:avLst/>
          </a:prstGeom>
          <a:solidFill>
            <a:srgbClr val="DFCDD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Bacqué-Cazenave et al. (2019)</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6373E"/>
                </a:solidFill>
                <a:latin typeface="Arial"/>
              </a:rPr>
              <a:t>Bees learn different outcomes for odor mixtures</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Bateson and colleagues trained honeybees to distinguish two mixtures of 1-hexanol and 2-octanone. One mixture predicted sucrose; the other predicted a less favorable outcome such as quinine. </a:t>
            </a:r>
            <a:r>
              <a:rPr sz="1500" b="1" i="0">
                <a:solidFill>
                  <a:srgbClr val="56373E"/>
                </a:solidFill>
                <a:latin typeface="Arial"/>
              </a:rPr>
              <a:t>Proboscis extension</a:t>
            </a:r>
            <a:r>
              <a:rPr sz="1500" b="0" i="0">
                <a:solidFill>
                  <a:srgbClr val="000000"/>
                </a:solidFill>
                <a:latin typeface="Arial"/>
              </a:rPr>
              <a:t>, extending the feeding mouthparts, served as the measured response rather than locomotor approach.</a:t>
            </a:r>
          </a:p>
          <a:p>
            <a:pPr algn="l">
              <a:lnSpc>
                <a:spcPct val="108000"/>
              </a:lnSpc>
              <a:spcAft>
                <a:spcPts val="900"/>
              </a:spcAft>
            </a:pPr>
            <a:r>
              <a:rPr sz="1500" b="0" i="0">
                <a:solidFill>
                  <a:srgbClr val="000000"/>
                </a:solidFill>
                <a:latin typeface="Arial"/>
              </a:rPr>
              <a:t>The rewarded and negative cues used opposite 1:9 and 9:1 mixtures, with three intermediate mixtures presented without reinforcement during testing. These ambiguous odors tested generalization between learned outcomes. After training, experimental bees were shaken for 60 seconds while controls remained undisturbed.</a:t>
            </a:r>
          </a:p>
          <a:p>
            <a:pPr algn="l">
              <a:lnSpc>
                <a:spcPct val="108000"/>
              </a:lnSpc>
              <a:spcAft>
                <a:spcPts val="900"/>
              </a:spcAft>
            </a:pPr>
            <a:r>
              <a:rPr sz="1500" b="0" i="0">
                <a:solidFill>
                  <a:srgbClr val="000000"/>
                </a:solidFill>
                <a:latin typeface="Arial"/>
              </a:rPr>
              <a:t>The design compares decisions under uncertainty after a defined acute perturbation. It does not simulate every aspect of chronic captivity. Training establishes the meaning of the odors before the perturbation, helping separate a change in response to learned cues from simply failing to acquire the original discrimination.</a:t>
            </a:r>
          </a:p>
        </p:txBody>
      </p:sp>
      <p:pic>
        <p:nvPicPr>
          <p:cNvPr id="4" name="Picture 3" descr="bee_protocol.png"/>
          <p:cNvPicPr>
            <a:picLocks noChangeAspect="1"/>
          </p:cNvPicPr>
          <p:nvPr/>
        </p:nvPicPr>
        <p:blipFill>
          <a:blip r:embed="rId2"/>
          <a:stretch>
            <a:fillRect/>
          </a:stretch>
        </p:blipFill>
        <p:spPr>
          <a:xfrm>
            <a:off x="6321247" y="1280160"/>
            <a:ext cx="5303520" cy="3328635"/>
          </a:xfrm>
          <a:prstGeom prst="rect">
            <a:avLst/>
          </a:prstGeom>
        </p:spPr>
      </p:pic>
      <p:sp>
        <p:nvSpPr>
          <p:cNvPr id="5" name="Figure caption"/>
          <p:cNvSpPr txBox="1"/>
          <p:nvPr/>
        </p:nvSpPr>
        <p:spPr>
          <a:xfrm>
            <a:off x="6321247" y="4700235"/>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Bateson et al. (2011), Fig. 1. Odor conditioning, shaking and ambiguous test stimuli.</a:t>
            </a:r>
          </a:p>
        </p:txBody>
      </p:sp>
      <p:sp>
        <p:nvSpPr>
          <p:cNvPr id="6" name="Rectangle 5"/>
          <p:cNvSpPr/>
          <p:nvPr/>
        </p:nvSpPr>
        <p:spPr>
          <a:xfrm>
            <a:off x="566928" y="6382512"/>
            <a:ext cx="11057839" cy="9144"/>
          </a:xfrm>
          <a:prstGeom prst="rect">
            <a:avLst/>
          </a:prstGeom>
          <a:solidFill>
            <a:srgbClr val="DFCD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Bateson et al.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6373E"/>
                </a:solidFill>
                <a:latin typeface="Arial"/>
              </a:rPr>
              <a:t>Acute disturbance biases responses to ambiguous odors</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A </a:t>
            </a:r>
            <a:r>
              <a:rPr sz="1500" b="1" i="0">
                <a:solidFill>
                  <a:srgbClr val="56373E"/>
                </a:solidFill>
                <a:latin typeface="Arial"/>
              </a:rPr>
              <a:t>judgment bias</a:t>
            </a:r>
            <a:r>
              <a:rPr sz="1500" b="0" i="0">
                <a:solidFill>
                  <a:srgbClr val="000000"/>
                </a:solidFill>
                <a:latin typeface="Arial"/>
              </a:rPr>
              <a:t> is a change in how an animal responds to an uncertain cue associated with possible favorable or unfavorable outcomes. Following 60 seconds of shaking, bees were tested within 5 minutes using the trained odors and three intermediate mixtures.</a:t>
            </a:r>
          </a:p>
          <a:p>
            <a:pPr algn="l">
              <a:lnSpc>
                <a:spcPct val="108000"/>
              </a:lnSpc>
              <a:spcAft>
                <a:spcPts val="900"/>
              </a:spcAft>
            </a:pPr>
            <a:r>
              <a:rPr sz="1500" b="0" i="0">
                <a:solidFill>
                  <a:srgbClr val="000000"/>
                </a:solidFill>
                <a:latin typeface="Arial"/>
              </a:rPr>
              <a:t>Shaken bees were less likely to extend the proboscis to the negative cue and the intermediate odor nearest it. Responses to the rewarded cue were not detectably reduced. The selective pattern limits an explanation based only on a general inability or unwillingness to extend the feeding mouthparts.</a:t>
            </a:r>
          </a:p>
          <a:p>
            <a:pPr algn="l">
              <a:lnSpc>
                <a:spcPct val="108000"/>
              </a:lnSpc>
              <a:spcAft>
                <a:spcPts val="900"/>
              </a:spcAft>
            </a:pPr>
            <a:r>
              <a:rPr sz="1500" b="0" i="0">
                <a:solidFill>
                  <a:srgbClr val="000000"/>
                </a:solidFill>
                <a:latin typeface="Arial"/>
              </a:rPr>
              <a:t>The result supports a disturbance-dependent shift toward unfavorable expectations in this task. It does not provide a subjective report or establish a human-like anxiety disorder. Applying comparable behavioral criteria across taxa requires preserving these experimental controls rather than accepting or rejecting affect solely from the species’ evolutionary position.</a:t>
            </a:r>
          </a:p>
        </p:txBody>
      </p:sp>
      <p:pic>
        <p:nvPicPr>
          <p:cNvPr id="4" name="Picture 3" descr="bee_bias.png"/>
          <p:cNvPicPr>
            <a:picLocks noChangeAspect="1"/>
          </p:cNvPicPr>
          <p:nvPr/>
        </p:nvPicPr>
        <p:blipFill>
          <a:blip r:embed="rId2"/>
          <a:stretch>
            <a:fillRect/>
          </a:stretch>
        </p:blipFill>
        <p:spPr>
          <a:xfrm>
            <a:off x="6321247" y="1280160"/>
            <a:ext cx="5303520" cy="4147167"/>
          </a:xfrm>
          <a:prstGeom prst="rect">
            <a:avLst/>
          </a:prstGeom>
        </p:spPr>
      </p:pic>
      <p:sp>
        <p:nvSpPr>
          <p:cNvPr id="5" name="Figure caption"/>
          <p:cNvSpPr txBox="1"/>
          <p:nvPr/>
        </p:nvSpPr>
        <p:spPr>
          <a:xfrm>
            <a:off x="6321247" y="5518767"/>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Bateson et al. (2011), Fig. 3. Proboscis responses to trained and ambiguous odors.</a:t>
            </a:r>
          </a:p>
        </p:txBody>
      </p:sp>
      <p:sp>
        <p:nvSpPr>
          <p:cNvPr id="6" name="Rectangle 5"/>
          <p:cNvSpPr/>
          <p:nvPr/>
        </p:nvSpPr>
        <p:spPr>
          <a:xfrm>
            <a:off x="566928" y="6382512"/>
            <a:ext cx="11057839" cy="9144"/>
          </a:xfrm>
          <a:prstGeom prst="rect">
            <a:avLst/>
          </a:prstGeom>
          <a:solidFill>
            <a:srgbClr val="DFCD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Bateson et al.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6373E"/>
                </a:solidFill>
                <a:latin typeface="Arial"/>
              </a:rPr>
              <a:t>Bee monoamine changes are not circuit measurements</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In a separate group of bees, researchers measured </a:t>
            </a:r>
            <a:r>
              <a:rPr sz="1500" b="1" i="0">
                <a:solidFill>
                  <a:srgbClr val="56373E"/>
                </a:solidFill>
                <a:latin typeface="Arial"/>
              </a:rPr>
              <a:t>hemolymph</a:t>
            </a:r>
            <a:r>
              <a:rPr sz="1500" b="0" i="0">
                <a:solidFill>
                  <a:srgbClr val="000000"/>
                </a:solidFill>
                <a:latin typeface="Arial"/>
              </a:rPr>
              <a:t>, the circulating fluid of insects, after the same shaking treatment. Dopamine, octopamine, serotonin, and tyramine were assayed. </a:t>
            </a:r>
            <a:r>
              <a:rPr sz="1500" b="1" i="0">
                <a:solidFill>
                  <a:srgbClr val="56373E"/>
                </a:solidFill>
                <a:latin typeface="Arial"/>
              </a:rPr>
              <a:t>Octopamine</a:t>
            </a:r>
            <a:r>
              <a:rPr sz="1500" b="0" i="0">
                <a:solidFill>
                  <a:srgbClr val="000000"/>
                </a:solidFill>
                <a:latin typeface="Arial"/>
              </a:rPr>
              <a:t> is a signaling molecule with important roles in insect modulation and reward-related learning.</a:t>
            </a:r>
          </a:p>
          <a:p>
            <a:pPr algn="l">
              <a:lnSpc>
                <a:spcPct val="108000"/>
              </a:lnSpc>
              <a:spcAft>
                <a:spcPts val="900"/>
              </a:spcAft>
            </a:pPr>
            <a:r>
              <a:rPr sz="1500" b="0" i="0">
                <a:solidFill>
                  <a:srgbClr val="000000"/>
                </a:solidFill>
                <a:latin typeface="Arial"/>
              </a:rPr>
              <a:t>Around 300 seconds after shaking, dopamine, octopamine, and serotonin concentrations were reduced, whereas tyramine did not show the same clear reduction. The sampling time matched the period when the behavioral tests were performed. These physiological changes accompanied the treatment that altered judgment.</a:t>
            </a:r>
          </a:p>
          <a:p>
            <a:pPr algn="l">
              <a:lnSpc>
                <a:spcPct val="108000"/>
              </a:lnSpc>
              <a:spcAft>
                <a:spcPts val="900"/>
              </a:spcAft>
            </a:pPr>
            <a:r>
              <a:rPr sz="1500" b="0" i="0">
                <a:solidFill>
                  <a:srgbClr val="000000"/>
                </a:solidFill>
                <a:latin typeface="Arial"/>
              </a:rPr>
              <a:t>Circulating concentrations are not measurements of transmitter release in an identified brain pathway. The study did not manipulate these monoamines to establish which change caused the behavioral bias. Their direction also differs from elevated brain serotonin after crayfish defeat, because tissue, time, species, and stressor all differ.</a:t>
            </a:r>
          </a:p>
        </p:txBody>
      </p:sp>
      <p:pic>
        <p:nvPicPr>
          <p:cNvPr id="4" name="Picture 3" descr="bee_monoamine.png"/>
          <p:cNvPicPr>
            <a:picLocks noChangeAspect="1"/>
          </p:cNvPicPr>
          <p:nvPr/>
        </p:nvPicPr>
        <p:blipFill>
          <a:blip r:embed="rId2"/>
          <a:stretch>
            <a:fillRect/>
          </a:stretch>
        </p:blipFill>
        <p:spPr>
          <a:xfrm>
            <a:off x="7290383" y="1280160"/>
            <a:ext cx="3365248" cy="2423160"/>
          </a:xfrm>
          <a:prstGeom prst="rect">
            <a:avLst/>
          </a:prstGeom>
        </p:spPr>
      </p:pic>
      <p:sp>
        <p:nvSpPr>
          <p:cNvPr id="5" name="Figure caption"/>
          <p:cNvSpPr txBox="1"/>
          <p:nvPr/>
        </p:nvSpPr>
        <p:spPr>
          <a:xfrm>
            <a:off x="6321247" y="3794760"/>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Bateson et al. (2011), Fig. 2. Hemolymph monoamines after shaking.</a:t>
            </a:r>
          </a:p>
        </p:txBody>
      </p:sp>
      <p:pic>
        <p:nvPicPr>
          <p:cNvPr id="6" name="Picture 5" descr="bee_protocol.png"/>
          <p:cNvPicPr>
            <a:picLocks noChangeAspect="1"/>
          </p:cNvPicPr>
          <p:nvPr/>
        </p:nvPicPr>
        <p:blipFill>
          <a:blip r:embed="rId3"/>
          <a:stretch>
            <a:fillRect/>
          </a:stretch>
        </p:blipFill>
        <p:spPr>
          <a:xfrm>
            <a:off x="7771052" y="4251960"/>
            <a:ext cx="2403909" cy="1508759"/>
          </a:xfrm>
          <a:prstGeom prst="rect">
            <a:avLst/>
          </a:prstGeom>
        </p:spPr>
      </p:pic>
      <p:sp>
        <p:nvSpPr>
          <p:cNvPr id="7" name="Figure caption"/>
          <p:cNvSpPr txBox="1"/>
          <p:nvPr/>
        </p:nvSpPr>
        <p:spPr>
          <a:xfrm>
            <a:off x="6321247" y="5833872"/>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Bateson et al. (2011), Fig. 1. Odor conditioning, shaking and ambiguous test stimuli.</a:t>
            </a:r>
          </a:p>
        </p:txBody>
      </p:sp>
      <p:sp>
        <p:nvSpPr>
          <p:cNvPr id="8" name="Rectangle 7"/>
          <p:cNvSpPr/>
          <p:nvPr/>
        </p:nvSpPr>
        <p:spPr>
          <a:xfrm>
            <a:off x="566928" y="6382512"/>
            <a:ext cx="11057839" cy="9144"/>
          </a:xfrm>
          <a:prstGeom prst="rect">
            <a:avLst/>
          </a:prstGeom>
          <a:solidFill>
            <a:srgbClr val="DFCDD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Bateson et al. (2011)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6373E"/>
                </a:solidFill>
                <a:latin typeface="Arial"/>
              </a:rPr>
              <a:t>Octopuses learn places associated with injury</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Crook tested </a:t>
            </a:r>
            <a:r>
              <a:rPr sz="1600" b="0" i="1">
                <a:solidFill>
                  <a:srgbClr val="000000"/>
                </a:solidFill>
                <a:latin typeface="Arial"/>
              </a:rPr>
              <a:t>Octopus bocki</a:t>
            </a:r>
            <a:r>
              <a:rPr sz="1600" b="0" i="0">
                <a:solidFill>
                  <a:srgbClr val="000000"/>
                </a:solidFill>
                <a:latin typeface="Arial"/>
              </a:rPr>
              <a:t> in chambers with distinct visual patterns. </a:t>
            </a:r>
            <a:r>
              <a:rPr sz="1600" b="1" i="0">
                <a:solidFill>
                  <a:srgbClr val="56373E"/>
                </a:solidFill>
                <a:latin typeface="Arial"/>
              </a:rPr>
              <a:t>Conditioned place avoidance</a:t>
            </a:r>
            <a:r>
              <a:rPr sz="1600" b="0" i="0">
                <a:solidFill>
                  <a:srgbClr val="000000"/>
                </a:solidFill>
                <a:latin typeface="Arial"/>
              </a:rPr>
              <a:t> measures whether an animal later avoids a location associated with an adverse event. Initial preferences were assessed before conditioning, allowing later choices to be compared with each animal’s earlier behavior.</a:t>
            </a:r>
          </a:p>
          <a:p>
            <a:pPr algn="l">
              <a:lnSpc>
                <a:spcPct val="108000"/>
              </a:lnSpc>
              <a:spcAft>
                <a:spcPts val="960"/>
              </a:spcAft>
            </a:pPr>
            <a:r>
              <a:rPr sz="1600" b="0" i="0">
                <a:solidFill>
                  <a:srgbClr val="000000"/>
                </a:solidFill>
                <a:latin typeface="Arial"/>
              </a:rPr>
              <a:t>A 0.5% acetic-acid injection in an arm was paired with the initially preferred chamber; saline injection provided a procedural control. On a later free-choice test, acid-treated octopuses reduced their time in the previously preferred chamber compared with controls.</a:t>
            </a:r>
          </a:p>
          <a:p>
            <a:pPr algn="l">
              <a:lnSpc>
                <a:spcPct val="108000"/>
              </a:lnSpc>
              <a:spcAft>
                <a:spcPts val="960"/>
              </a:spcAft>
            </a:pPr>
            <a:r>
              <a:rPr sz="1600" b="0" i="0">
                <a:solidFill>
                  <a:srgbClr val="000000"/>
                </a:solidFill>
                <a:latin typeface="Arial"/>
              </a:rPr>
              <a:t>The learned avoidance extends beyond an immediate withdrawal from the injection. It supports an aversive component of the experience but does not independently locate the neural representation or establish every aspect of conscious pain. The study concerns an injury model, not proof that ordinary captivity itself always produces comparable pain.</a:t>
            </a:r>
          </a:p>
        </p:txBody>
      </p:sp>
      <p:pic>
        <p:nvPicPr>
          <p:cNvPr id="4" name="Picture 3" descr="oct_protocol.png"/>
          <p:cNvPicPr>
            <a:picLocks noChangeAspect="1"/>
          </p:cNvPicPr>
          <p:nvPr/>
        </p:nvPicPr>
        <p:blipFill>
          <a:blip r:embed="rId2"/>
          <a:stretch>
            <a:fillRect/>
          </a:stretch>
        </p:blipFill>
        <p:spPr>
          <a:xfrm>
            <a:off x="6321247" y="1280160"/>
            <a:ext cx="5303520" cy="2964134"/>
          </a:xfrm>
          <a:prstGeom prst="rect">
            <a:avLst/>
          </a:prstGeom>
        </p:spPr>
      </p:pic>
      <p:sp>
        <p:nvSpPr>
          <p:cNvPr id="5" name="Figure caption"/>
          <p:cNvSpPr txBox="1"/>
          <p:nvPr/>
        </p:nvSpPr>
        <p:spPr>
          <a:xfrm>
            <a:off x="6321247" y="4335734"/>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Crook (2021), Fig. 1(A–C). Place-conditioning apparatus and experimental timing.</a:t>
            </a:r>
          </a:p>
        </p:txBody>
      </p:sp>
      <p:sp>
        <p:nvSpPr>
          <p:cNvPr id="6" name="Rectangle 5"/>
          <p:cNvSpPr/>
          <p:nvPr/>
        </p:nvSpPr>
        <p:spPr>
          <a:xfrm>
            <a:off x="566928" y="6382512"/>
            <a:ext cx="11057839" cy="9144"/>
          </a:xfrm>
          <a:prstGeom prst="rect">
            <a:avLst/>
          </a:prstGeom>
          <a:solidFill>
            <a:srgbClr val="DFCD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Crook (2021)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6373E"/>
                </a:solidFill>
                <a:latin typeface="Arial"/>
              </a:rPr>
              <a:t>Relief is rewarding specifically after injury</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00"/>
              </a:spcAft>
            </a:pPr>
            <a:r>
              <a:rPr sz="1500" b="1" i="0">
                <a:solidFill>
                  <a:srgbClr val="56373E"/>
                </a:solidFill>
                <a:latin typeface="Arial"/>
              </a:rPr>
              <a:t>Conditioned place preference</a:t>
            </a:r>
            <a:r>
              <a:rPr sz="1500" b="0" i="0">
                <a:solidFill>
                  <a:srgbClr val="000000"/>
                </a:solidFill>
                <a:latin typeface="Arial"/>
              </a:rPr>
              <a:t> measures increased choice of a context associated with a favorable event. After the acid treatment, Crook paired local lidocaine treatment with the initially nonpreferred chamber. </a:t>
            </a:r>
            <a:r>
              <a:rPr sz="1500" b="1" i="0">
                <a:solidFill>
                  <a:srgbClr val="56373E"/>
                </a:solidFill>
                <a:latin typeface="Arial"/>
              </a:rPr>
              <a:t>Local anesthesia</a:t>
            </a:r>
            <a:r>
              <a:rPr sz="1500" b="0" i="0">
                <a:solidFill>
                  <a:srgbClr val="000000"/>
                </a:solidFill>
                <a:latin typeface="Arial"/>
              </a:rPr>
              <a:t> reduces sensory signaling in the treated region rather than necessarily sedating the entire animal.</a:t>
            </a:r>
          </a:p>
          <a:p>
            <a:pPr algn="l">
              <a:lnSpc>
                <a:spcPct val="108000"/>
              </a:lnSpc>
              <a:spcAft>
                <a:spcPts val="900"/>
              </a:spcAft>
            </a:pPr>
            <a:r>
              <a:rPr sz="1500" b="0" i="0">
                <a:solidFill>
                  <a:srgbClr val="000000"/>
                </a:solidFill>
                <a:latin typeface="Arial"/>
              </a:rPr>
              <a:t>Octopuses that had received acid later preferred the lidocaine-paired chamber. Animals given saline before lidocaine did not acquire the same preference. This control separates the value of relief from a claim that lidocaine is inherently rewarding regardless of the animal’s preceding state.</a:t>
            </a:r>
          </a:p>
          <a:p>
            <a:pPr algn="l">
              <a:lnSpc>
                <a:spcPct val="108000"/>
              </a:lnSpc>
              <a:spcAft>
                <a:spcPts val="900"/>
              </a:spcAft>
            </a:pPr>
            <a:r>
              <a:rPr sz="1500" b="0" i="0">
                <a:solidFill>
                  <a:srgbClr val="000000"/>
                </a:solidFill>
                <a:latin typeface="Arial"/>
              </a:rPr>
              <a:t>Context avoidance after injury and preference for relief provide complementary evidence for an aversive ongoing state. They support an affective interpretation more strongly than withdrawal alone. They do not measure verbalizable feelings or imply that every analgesic procedure, dose, or captive species will have the same outcome.</a:t>
            </a:r>
          </a:p>
        </p:txBody>
      </p:sp>
      <p:pic>
        <p:nvPicPr>
          <p:cNvPr id="4" name="Picture 3" descr="oct_preference.png"/>
          <p:cNvPicPr>
            <a:picLocks noChangeAspect="1"/>
          </p:cNvPicPr>
          <p:nvPr/>
        </p:nvPicPr>
        <p:blipFill>
          <a:blip r:embed="rId2"/>
          <a:stretch>
            <a:fillRect/>
          </a:stretch>
        </p:blipFill>
        <p:spPr>
          <a:xfrm>
            <a:off x="7078467" y="1280160"/>
            <a:ext cx="3789078" cy="4297679"/>
          </a:xfrm>
          <a:prstGeom prst="rect">
            <a:avLst/>
          </a:prstGeom>
        </p:spPr>
      </p:pic>
      <p:sp>
        <p:nvSpPr>
          <p:cNvPr id="5" name="Figure caption"/>
          <p:cNvSpPr txBox="1"/>
          <p:nvPr/>
        </p:nvSpPr>
        <p:spPr>
          <a:xfrm>
            <a:off x="6321247" y="5669279"/>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Crook (2021), Fig. 2. Place avoidance and preference for pain relief.</a:t>
            </a:r>
          </a:p>
        </p:txBody>
      </p:sp>
      <p:sp>
        <p:nvSpPr>
          <p:cNvPr id="6" name="Rectangle 5"/>
          <p:cNvSpPr/>
          <p:nvPr/>
        </p:nvSpPr>
        <p:spPr>
          <a:xfrm>
            <a:off x="566928" y="6382512"/>
            <a:ext cx="11057839" cy="9144"/>
          </a:xfrm>
          <a:prstGeom prst="rect">
            <a:avLst/>
          </a:prstGeom>
          <a:solidFill>
            <a:srgbClr val="DFCD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Crook (2021)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6373E"/>
                </a:solidFill>
                <a:latin typeface="Arial"/>
              </a:rPr>
              <a:t>Octopus wound attention persists after the injection</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00"/>
              </a:spcAft>
            </a:pPr>
            <a:r>
              <a:rPr sz="1500" b="1" i="0">
                <a:solidFill>
                  <a:srgbClr val="56373E"/>
                </a:solidFill>
                <a:latin typeface="Arial"/>
              </a:rPr>
              <a:t>Discriminative pain-related behavior</a:t>
            </a:r>
            <a:r>
              <a:rPr sz="1500" b="0" i="0">
                <a:solidFill>
                  <a:srgbClr val="000000"/>
                </a:solidFill>
                <a:latin typeface="Arial"/>
              </a:rPr>
              <a:t> is behavior directed toward the location or character of an injury. Acid-treated octopuses showed arm grooming, concealment, and skin-removal behavior localized to the injection region. Saline-treated animals did not express the same pattern.</a:t>
            </a:r>
          </a:p>
          <a:p>
            <a:pPr algn="l">
              <a:lnSpc>
                <a:spcPct val="108000"/>
              </a:lnSpc>
              <a:spcAft>
                <a:spcPts val="900"/>
              </a:spcAft>
            </a:pPr>
            <a:r>
              <a:rPr sz="1500" b="0" i="0">
                <a:solidFill>
                  <a:srgbClr val="000000"/>
                </a:solidFill>
                <a:latin typeface="Arial"/>
              </a:rPr>
              <a:t>Wound attention persisted for at least 24 hours after the acid injection. Local lidocaine suppressed the observed injury-directed grooming during treatment. The behavior therefore combined spatial specificity, persistence, and sensitivity to a locally acting intervention.</a:t>
            </a:r>
          </a:p>
          <a:p>
            <a:pPr algn="l">
              <a:lnSpc>
                <a:spcPct val="108000"/>
              </a:lnSpc>
              <a:spcAft>
                <a:spcPts val="900"/>
              </a:spcAft>
            </a:pPr>
            <a:r>
              <a:rPr sz="1500" b="0" i="0">
                <a:solidFill>
                  <a:srgbClr val="000000"/>
                </a:solidFill>
                <a:latin typeface="Arial"/>
              </a:rPr>
              <a:t>These observations add information beyond place choice: the animal’s response was directed to a particular affected arm. They support an ongoing injury-related state while leaving its full central representation unresolved. A welfare assessment can distinguish persistent wound-directed behavior from generalized activity changes without requiring a human clinical diagnosis.</a:t>
            </a:r>
          </a:p>
        </p:txBody>
      </p:sp>
      <p:pic>
        <p:nvPicPr>
          <p:cNvPr id="4" name="Picture 3" descr="oct_groom.png"/>
          <p:cNvPicPr>
            <a:picLocks noChangeAspect="1"/>
          </p:cNvPicPr>
          <p:nvPr/>
        </p:nvPicPr>
        <p:blipFill>
          <a:blip r:embed="rId2"/>
          <a:stretch>
            <a:fillRect/>
          </a:stretch>
        </p:blipFill>
        <p:spPr>
          <a:xfrm>
            <a:off x="6321247" y="1280160"/>
            <a:ext cx="5303520" cy="3534159"/>
          </a:xfrm>
          <a:prstGeom prst="rect">
            <a:avLst/>
          </a:prstGeom>
        </p:spPr>
      </p:pic>
      <p:sp>
        <p:nvSpPr>
          <p:cNvPr id="5" name="Figure caption"/>
          <p:cNvSpPr txBox="1"/>
          <p:nvPr/>
        </p:nvSpPr>
        <p:spPr>
          <a:xfrm>
            <a:off x="6321247" y="4905759"/>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Crook (2021), Fig. 3. Wound-directed behavior following acetic acid.</a:t>
            </a:r>
          </a:p>
        </p:txBody>
      </p:sp>
      <p:sp>
        <p:nvSpPr>
          <p:cNvPr id="6" name="Rectangle 5"/>
          <p:cNvSpPr/>
          <p:nvPr/>
        </p:nvSpPr>
        <p:spPr>
          <a:xfrm>
            <a:off x="566928" y="6382512"/>
            <a:ext cx="11057839" cy="9144"/>
          </a:xfrm>
          <a:prstGeom prst="rect">
            <a:avLst/>
          </a:prstGeom>
          <a:solidFill>
            <a:srgbClr val="DFCD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Crook (2021)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6373E"/>
                </a:solidFill>
                <a:latin typeface="Arial"/>
              </a:rPr>
              <a:t>Arm signals remain available to the octopus brain</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00"/>
              </a:spcAft>
            </a:pPr>
            <a:r>
              <a:rPr sz="1500" b="1" i="0">
                <a:solidFill>
                  <a:srgbClr val="56373E"/>
                </a:solidFill>
                <a:latin typeface="Arial"/>
              </a:rPr>
              <a:t>Nociception</a:t>
            </a:r>
            <a:r>
              <a:rPr sz="1500" b="0" i="0">
                <a:solidFill>
                  <a:srgbClr val="000000"/>
                </a:solidFill>
                <a:latin typeface="Arial"/>
              </a:rPr>
              <a:t> is neural detection and processing of potentially damaging stimulation; it is not identical to subjective pain. Crook recorded activity in the brachial connective, the nerve pathway carrying arm information toward the central brain, before and after local acid injection.</a:t>
            </a:r>
          </a:p>
          <a:p>
            <a:pPr algn="l">
              <a:lnSpc>
                <a:spcPct val="108000"/>
              </a:lnSpc>
              <a:spcAft>
                <a:spcPts val="900"/>
              </a:spcAft>
            </a:pPr>
            <a:r>
              <a:rPr sz="1500" b="0" i="0">
                <a:solidFill>
                  <a:srgbClr val="000000"/>
                </a:solidFill>
                <a:latin typeface="Arial"/>
              </a:rPr>
              <a:t>Acid treatment increased ongoing activity and responses to touch in the affected region. Local lidocaine rapidly suppressed ongoing discharge and blocked evoked activity near the injection site. The recorded pathway therefore supplied persistent injury-associated information beyond the arm’s local networks.</a:t>
            </a:r>
          </a:p>
          <a:p>
            <a:pPr algn="l">
              <a:lnSpc>
                <a:spcPct val="108000"/>
              </a:lnSpc>
              <a:spcAft>
                <a:spcPts val="900"/>
              </a:spcAft>
            </a:pPr>
            <a:r>
              <a:rPr sz="1500" b="0" i="0">
                <a:solidFill>
                  <a:srgbClr val="000000"/>
                </a:solidFill>
                <a:latin typeface="Arial"/>
              </a:rPr>
              <a:t>These recordings establish access of nociceptive information to central processing, not a direct neural readout of conscious pain. Combined with learned avoidance, relief preference, and wound-directed behavior, they strengthen an affective interpretation. Each component addresses a different alternative explanation, which is why the combined evidence exceeds a single withdrawal response.</a:t>
            </a:r>
          </a:p>
        </p:txBody>
      </p:sp>
      <p:pic>
        <p:nvPicPr>
          <p:cNvPr id="4" name="Picture 3" descr="oct_signal.png"/>
          <p:cNvPicPr>
            <a:picLocks noChangeAspect="1"/>
          </p:cNvPicPr>
          <p:nvPr/>
        </p:nvPicPr>
        <p:blipFill>
          <a:blip r:embed="rId2"/>
          <a:stretch>
            <a:fillRect/>
          </a:stretch>
        </p:blipFill>
        <p:spPr>
          <a:xfrm>
            <a:off x="7113557" y="1280160"/>
            <a:ext cx="3718900" cy="4297679"/>
          </a:xfrm>
          <a:prstGeom prst="rect">
            <a:avLst/>
          </a:prstGeom>
        </p:spPr>
      </p:pic>
      <p:sp>
        <p:nvSpPr>
          <p:cNvPr id="5" name="Figure caption"/>
          <p:cNvSpPr txBox="1"/>
          <p:nvPr/>
        </p:nvSpPr>
        <p:spPr>
          <a:xfrm>
            <a:off x="6321247" y="5669279"/>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Crook (2021), Fig. 4(A–C). Arm afferent activity before and after local lidocaine.</a:t>
            </a:r>
          </a:p>
        </p:txBody>
      </p:sp>
      <p:sp>
        <p:nvSpPr>
          <p:cNvPr id="6" name="Rectangle 5"/>
          <p:cNvSpPr/>
          <p:nvPr/>
        </p:nvSpPr>
        <p:spPr>
          <a:xfrm>
            <a:off x="566928" y="6382512"/>
            <a:ext cx="11057839" cy="9144"/>
          </a:xfrm>
          <a:prstGeom prst="rect">
            <a:avLst/>
          </a:prstGeom>
          <a:solidFill>
            <a:srgbClr val="DFCD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Crook (2021)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6373E"/>
                </a:solidFill>
                <a:latin typeface="Arial"/>
              </a:rPr>
              <a:t>Captivity reshapes cane-toad brain gene expression</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840"/>
              </a:spcAft>
            </a:pPr>
            <a:r>
              <a:rPr sz="1400" b="0" i="0">
                <a:solidFill>
                  <a:srgbClr val="000000"/>
                </a:solidFill>
                <a:latin typeface="Arial"/>
              </a:rPr>
              <a:t>Yagound and colleagues compared wild-caught cane toads with toads from the same populations maintained in captivity for 7 months. The </a:t>
            </a:r>
            <a:r>
              <a:rPr sz="1400" b="1" i="0">
                <a:solidFill>
                  <a:srgbClr val="56373E"/>
                </a:solidFill>
                <a:latin typeface="Arial"/>
              </a:rPr>
              <a:t>transcriptome</a:t>
            </a:r>
            <a:r>
              <a:rPr sz="1400" b="0" i="0">
                <a:solidFill>
                  <a:srgbClr val="000000"/>
                </a:solidFill>
                <a:latin typeface="Arial"/>
              </a:rPr>
              <a:t> is the collection of expressed RNA molecules measured from tissue. Whole-brain RNA sequencing quantified expression rather than recording neuronal activity.</a:t>
            </a:r>
          </a:p>
          <a:p>
            <a:pPr algn="l">
              <a:lnSpc>
                <a:spcPct val="108000"/>
              </a:lnSpc>
              <a:spcAft>
                <a:spcPts val="840"/>
              </a:spcAft>
            </a:pPr>
            <a:r>
              <a:rPr sz="1400" b="0" i="0">
                <a:solidFill>
                  <a:srgbClr val="000000"/>
                </a:solidFill>
                <a:latin typeface="Arial"/>
              </a:rPr>
              <a:t>In long-colonized range-core populations, 951 genes differed between captive and freshly sampled toads. The published heat map separates individuals by expression patterns, and functional-category analysis included behavior-related and stress-response processes. Captivity therefore altered molecular measurements used to characterize wild animals.</a:t>
            </a:r>
          </a:p>
          <a:p>
            <a:pPr algn="l">
              <a:lnSpc>
                <a:spcPct val="108000"/>
              </a:lnSpc>
              <a:spcAft>
                <a:spcPts val="840"/>
              </a:spcAft>
            </a:pPr>
            <a:r>
              <a:rPr sz="1400" b="0" i="0">
                <a:solidFill>
                  <a:srgbClr val="000000"/>
                </a:solidFill>
                <a:latin typeface="Arial"/>
              </a:rPr>
              <a:t>These were different animals sampled under different conditions, not longitudinal brain measurements from the same individuals. The comparison cannot separate every captivity-associated change in diet, activity, social experience, or environment. Differential expression identifies molecular responses without establishing that every response is harmful or that a particular animal experienced distress.</a:t>
            </a:r>
          </a:p>
        </p:txBody>
      </p:sp>
      <p:pic>
        <p:nvPicPr>
          <p:cNvPr id="4" name="Picture 3" descr="toad_core.png"/>
          <p:cNvPicPr>
            <a:picLocks noChangeAspect="1"/>
          </p:cNvPicPr>
          <p:nvPr/>
        </p:nvPicPr>
        <p:blipFill>
          <a:blip r:embed="rId2"/>
          <a:stretch>
            <a:fillRect/>
          </a:stretch>
        </p:blipFill>
        <p:spPr>
          <a:xfrm>
            <a:off x="6378308" y="1280160"/>
            <a:ext cx="5189398" cy="4297679"/>
          </a:xfrm>
          <a:prstGeom prst="rect">
            <a:avLst/>
          </a:prstGeom>
        </p:spPr>
      </p:pic>
      <p:sp>
        <p:nvSpPr>
          <p:cNvPr id="5" name="Figure caption"/>
          <p:cNvSpPr txBox="1"/>
          <p:nvPr/>
        </p:nvSpPr>
        <p:spPr>
          <a:xfrm>
            <a:off x="6321247" y="5669279"/>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Yagound et al. (2022), Fig. 2(a–c). Brain transcriptomic responses in range-core toads.</a:t>
            </a:r>
          </a:p>
        </p:txBody>
      </p:sp>
      <p:sp>
        <p:nvSpPr>
          <p:cNvPr id="6" name="Rectangle 5"/>
          <p:cNvSpPr/>
          <p:nvPr/>
        </p:nvSpPr>
        <p:spPr>
          <a:xfrm>
            <a:off x="566928" y="6382512"/>
            <a:ext cx="11057839" cy="9144"/>
          </a:xfrm>
          <a:prstGeom prst="rect">
            <a:avLst/>
          </a:prstGeom>
          <a:solidFill>
            <a:srgbClr val="DFCD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Yagound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6373E"/>
                </a:solidFill>
                <a:latin typeface="Arial"/>
              </a:rPr>
              <a:t>The same captivity treatment affects populations differently</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900"/>
              </a:spcAft>
            </a:pPr>
            <a:r>
              <a:rPr sz="1500" b="1" i="0">
                <a:solidFill>
                  <a:srgbClr val="56373E"/>
                </a:solidFill>
                <a:latin typeface="Arial"/>
              </a:rPr>
              <a:t>Range-front populations</a:t>
            </a:r>
            <a:r>
              <a:rPr sz="1500" b="0" i="0">
                <a:solidFill>
                  <a:srgbClr val="000000"/>
                </a:solidFill>
                <a:latin typeface="Arial"/>
              </a:rPr>
              <a:t> occur near the leading edge of an invasion, whereas range-core populations have been established longer. The cane-toad study applied the same general captive comparison to both groups, allowing population origin to be considered alongside the change in environment.</a:t>
            </a:r>
          </a:p>
          <a:p>
            <a:pPr algn="l">
              <a:lnSpc>
                <a:spcPct val="108000"/>
              </a:lnSpc>
              <a:spcAft>
                <a:spcPts val="900"/>
              </a:spcAft>
            </a:pPr>
            <a:r>
              <a:rPr sz="1500" b="0" i="0">
                <a:solidFill>
                  <a:srgbClr val="000000"/>
                </a:solidFill>
                <a:latin typeface="Arial"/>
              </a:rPr>
              <a:t>Range-front toads had 1,972 differentially expressed genes, compared with 951 in range-core toads. Only 504 were shared, and among shared genes the direction of change was not uniformly identical. A common captive setting therefore did not erase population-specific molecular responses.</a:t>
            </a:r>
          </a:p>
          <a:p>
            <a:pPr algn="l">
              <a:lnSpc>
                <a:spcPct val="108000"/>
              </a:lnSpc>
              <a:spcAft>
                <a:spcPts val="900"/>
              </a:spcAft>
            </a:pPr>
            <a:r>
              <a:rPr sz="1500" b="0" i="0">
                <a:solidFill>
                  <a:srgbClr val="000000"/>
                </a:solidFill>
                <a:latin typeface="Arial"/>
              </a:rPr>
              <a:t>The result is consistent with different plasticity or physiological responses, but does not directly identify the evolutionary or developmental cause. Comparing captive populations as if captivity were a neutral holding condition can distort interpretation of differences attributed to their wild origins. More changed genes do not automatically mean greater suffering.</a:t>
            </a:r>
          </a:p>
        </p:txBody>
      </p:sp>
      <p:pic>
        <p:nvPicPr>
          <p:cNvPr id="4" name="Picture 3" descr="toad_front.png"/>
          <p:cNvPicPr>
            <a:picLocks noChangeAspect="1"/>
          </p:cNvPicPr>
          <p:nvPr/>
        </p:nvPicPr>
        <p:blipFill>
          <a:blip r:embed="rId2"/>
          <a:stretch>
            <a:fillRect/>
          </a:stretch>
        </p:blipFill>
        <p:spPr>
          <a:xfrm>
            <a:off x="7495051" y="1280160"/>
            <a:ext cx="2955911" cy="2423160"/>
          </a:xfrm>
          <a:prstGeom prst="rect">
            <a:avLst/>
          </a:prstGeom>
        </p:spPr>
      </p:pic>
      <p:sp>
        <p:nvSpPr>
          <p:cNvPr id="5" name="Figure caption"/>
          <p:cNvSpPr txBox="1"/>
          <p:nvPr/>
        </p:nvSpPr>
        <p:spPr>
          <a:xfrm>
            <a:off x="6321247" y="3794760"/>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Yagound et al. (2022), Fig. 3(a–c). Brain transcriptomic responses in range-front toads.</a:t>
            </a:r>
          </a:p>
        </p:txBody>
      </p:sp>
      <p:pic>
        <p:nvPicPr>
          <p:cNvPr id="6" name="Picture 5" descr="toad_shared.png"/>
          <p:cNvPicPr>
            <a:picLocks noChangeAspect="1"/>
          </p:cNvPicPr>
          <p:nvPr/>
        </p:nvPicPr>
        <p:blipFill>
          <a:blip r:embed="rId3"/>
          <a:stretch>
            <a:fillRect/>
          </a:stretch>
        </p:blipFill>
        <p:spPr>
          <a:xfrm>
            <a:off x="6784836" y="4251960"/>
            <a:ext cx="4376341" cy="1508759"/>
          </a:xfrm>
          <a:prstGeom prst="rect">
            <a:avLst/>
          </a:prstGeom>
        </p:spPr>
      </p:pic>
      <p:sp>
        <p:nvSpPr>
          <p:cNvPr id="7" name="Figure caption"/>
          <p:cNvSpPr txBox="1"/>
          <p:nvPr/>
        </p:nvSpPr>
        <p:spPr>
          <a:xfrm>
            <a:off x="6321247" y="5833872"/>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Yagound et al. (2022), Fig. 4(a,b). Overlap and direction of captivity-associated gene-expression changes.</a:t>
            </a:r>
          </a:p>
        </p:txBody>
      </p:sp>
      <p:sp>
        <p:nvSpPr>
          <p:cNvPr id="8" name="Rectangle 7"/>
          <p:cNvSpPr/>
          <p:nvPr/>
        </p:nvSpPr>
        <p:spPr>
          <a:xfrm>
            <a:off x="566928" y="6382512"/>
            <a:ext cx="11057839" cy="9144"/>
          </a:xfrm>
          <a:prstGeom prst="rect">
            <a:avLst/>
          </a:prstGeom>
          <a:solidFill>
            <a:srgbClr val="DFCDD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Yagound et al. (2022)</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6373E"/>
                </a:solidFill>
                <a:latin typeface="Arial"/>
              </a:rPr>
              <a:t>Welfare inferences require converging evidence</a:t>
            </a:r>
          </a:p>
        </p:txBody>
      </p:sp>
      <p:sp>
        <p:nvSpPr>
          <p:cNvPr id="3" name="Body"/>
          <p:cNvSpPr txBox="1"/>
          <p:nvPr/>
        </p:nvSpPr>
        <p:spPr>
          <a:xfrm>
            <a:off x="566928" y="1234440"/>
            <a:ext cx="5388559" cy="4983479"/>
          </a:xfrm>
          <a:prstGeom prst="rect">
            <a:avLst/>
          </a:prstGeom>
          <a:noFill/>
        </p:spPr>
        <p:txBody>
          <a:bodyPr wrap="square" lIns="0" rIns="0" tIns="0" bIns="0">
            <a:spAutoFit/>
          </a:bodyPr>
          <a:lstStyle/>
          <a:p>
            <a:pPr algn="l">
              <a:lnSpc>
                <a:spcPct val="108000"/>
              </a:lnSpc>
              <a:spcAft>
                <a:spcPts val="840"/>
              </a:spcAft>
            </a:pPr>
            <a:r>
              <a:rPr sz="1400" b="0" i="0">
                <a:solidFill>
                  <a:srgbClr val="000000"/>
                </a:solidFill>
                <a:latin typeface="Arial"/>
              </a:rPr>
              <a:t>The cane-toad study also measured </a:t>
            </a:r>
            <a:r>
              <a:rPr sz="1400" b="1" i="0">
                <a:solidFill>
                  <a:srgbClr val="56373E"/>
                </a:solidFill>
                <a:latin typeface="Arial"/>
              </a:rPr>
              <a:t>expression dispersion</a:t>
            </a:r>
            <a:r>
              <a:rPr sz="1400" b="0" i="0">
                <a:solidFill>
                  <a:srgbClr val="000000"/>
                </a:solidFill>
                <a:latin typeface="Arial"/>
              </a:rPr>
              <a:t>, variation among individuals within a group. Of 155 genes with altered dispersion in range-front toads, 143 varied more among captive animals. The corresponding pattern in range-core toads was less strongly directed toward increased captive variation.</a:t>
            </a:r>
          </a:p>
          <a:p>
            <a:pPr algn="l">
              <a:lnSpc>
                <a:spcPct val="108000"/>
              </a:lnSpc>
              <a:spcAft>
                <a:spcPts val="840"/>
              </a:spcAft>
            </a:pPr>
            <a:r>
              <a:rPr sz="1400" b="0" i="0">
                <a:solidFill>
                  <a:srgbClr val="000000"/>
                </a:solidFill>
                <a:latin typeface="Arial"/>
              </a:rPr>
              <a:t>Captivity can therefore change both average expression and individual heterogeneity. These molecular responses accompany the behavioral, endocrine, and cellular effects measured in other taxa, but do not by themselves classify an experience as favorable or unfavorable. Biological change and evidence of harm are related questions that require distinct support.</a:t>
            </a:r>
          </a:p>
          <a:p>
            <a:pPr algn="l">
              <a:lnSpc>
                <a:spcPct val="108000"/>
              </a:lnSpc>
              <a:spcAft>
                <a:spcPts val="840"/>
              </a:spcAft>
            </a:pPr>
            <a:r>
              <a:rPr sz="1400" b="0" i="0">
                <a:solidFill>
                  <a:srgbClr val="000000"/>
                </a:solidFill>
                <a:latin typeface="Arial"/>
              </a:rPr>
              <a:t>A comparative welfare judgment is strongest when an environmental exposure, a measured adverse outcome, and a controlled intervention converge. Stereotypy, challenge hormones, neural firing, learned avoidance, and relief preference contribute different evidence. Similarity to humans is not a substitute for these tests, and one absent marker does not establish absence of an adverse state.</a:t>
            </a:r>
          </a:p>
        </p:txBody>
      </p:sp>
      <p:pic>
        <p:nvPicPr>
          <p:cNvPr id="4" name="Picture 3" descr="toad_variance.png"/>
          <p:cNvPicPr>
            <a:picLocks noChangeAspect="1"/>
          </p:cNvPicPr>
          <p:nvPr/>
        </p:nvPicPr>
        <p:blipFill>
          <a:blip r:embed="rId2"/>
          <a:stretch>
            <a:fillRect/>
          </a:stretch>
        </p:blipFill>
        <p:spPr>
          <a:xfrm>
            <a:off x="6580136" y="1280160"/>
            <a:ext cx="4785741" cy="2423160"/>
          </a:xfrm>
          <a:prstGeom prst="rect">
            <a:avLst/>
          </a:prstGeom>
        </p:spPr>
      </p:pic>
      <p:sp>
        <p:nvSpPr>
          <p:cNvPr id="5" name="Figure caption"/>
          <p:cNvSpPr txBox="1"/>
          <p:nvPr/>
        </p:nvSpPr>
        <p:spPr>
          <a:xfrm>
            <a:off x="6321247" y="3794760"/>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Yagound et al. (2022), Fig. 5(a,b). Expression variability in captive versus wild-caught toads.</a:t>
            </a:r>
          </a:p>
        </p:txBody>
      </p:sp>
      <p:pic>
        <p:nvPicPr>
          <p:cNvPr id="6" name="Picture 5" descr="toad_shared.png"/>
          <p:cNvPicPr>
            <a:picLocks noChangeAspect="1"/>
          </p:cNvPicPr>
          <p:nvPr/>
        </p:nvPicPr>
        <p:blipFill>
          <a:blip r:embed="rId3"/>
          <a:stretch>
            <a:fillRect/>
          </a:stretch>
        </p:blipFill>
        <p:spPr>
          <a:xfrm>
            <a:off x="6784836" y="4251960"/>
            <a:ext cx="4376341" cy="1508759"/>
          </a:xfrm>
          <a:prstGeom prst="rect">
            <a:avLst/>
          </a:prstGeom>
        </p:spPr>
      </p:pic>
      <p:sp>
        <p:nvSpPr>
          <p:cNvPr id="7" name="Figure caption"/>
          <p:cNvSpPr txBox="1"/>
          <p:nvPr/>
        </p:nvSpPr>
        <p:spPr>
          <a:xfrm>
            <a:off x="6321247" y="5833872"/>
            <a:ext cx="530352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Yagound et al. (2022), Fig. 4(a,b). Overlap and direction of captivity-associated gene-expression changes.</a:t>
            </a:r>
          </a:p>
        </p:txBody>
      </p:sp>
      <p:sp>
        <p:nvSpPr>
          <p:cNvPr id="8" name="Rectangle 7"/>
          <p:cNvSpPr/>
          <p:nvPr/>
        </p:nvSpPr>
        <p:spPr>
          <a:xfrm>
            <a:off x="566928" y="6382512"/>
            <a:ext cx="11057839" cy="9144"/>
          </a:xfrm>
          <a:prstGeom prst="rect">
            <a:avLst/>
          </a:prstGeom>
          <a:solidFill>
            <a:srgbClr val="DFCDD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Yagound et al. (2022); Bailoo et al. (2018); Matthews et al. (2016); Crook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6373E"/>
                </a:solidFill>
                <a:latin typeface="Arial"/>
              </a:rPr>
              <a:t>Key takeaways</a:t>
            </a:r>
          </a:p>
        </p:txBody>
      </p:sp>
      <p:sp>
        <p:nvSpPr>
          <p:cNvPr id="3" name="Rectangle 2"/>
          <p:cNvSpPr/>
          <p:nvPr/>
        </p:nvSpPr>
        <p:spPr>
          <a:xfrm>
            <a:off x="566928" y="1234440"/>
            <a:ext cx="5391759" cy="1478279"/>
          </a:xfrm>
          <a:prstGeom prst="rect">
            <a:avLst/>
          </a:prstGeom>
          <a:solidFill>
            <a:srgbClr val="F7F3F4"/>
          </a:solidFill>
          <a:ln>
            <a:noFill/>
          </a:ln>
          <a:effectLst/>
        </p:spPr>
        <p:txBody>
          <a:bodyPr rtlCol="0" anchor="ctr"/>
          <a:lstStyle/>
          <a:p>
            <a:pPr algn="ctr"/>
          </a:p>
        </p:txBody>
      </p:sp>
      <p:sp>
        <p:nvSpPr>
          <p:cNvPr id="4" name="TextBox 3"/>
          <p:cNvSpPr txBox="1"/>
          <p:nvPr/>
        </p:nvSpPr>
        <p:spPr>
          <a:xfrm>
            <a:off x="749808"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56373E"/>
                </a:solidFill>
                <a:latin typeface="Arial"/>
              </a:rPr>
              <a:t>Housing changes behavior.</a:t>
            </a:r>
            <a:r>
              <a:rPr sz="1600" b="0" i="0">
                <a:solidFill>
                  <a:srgbClr val="000000"/>
                </a:solidFill>
                <a:latin typeface="Arial"/>
              </a:rPr>
              <a:t> Complex resources reduce mouse stereotypy; full social contact predicts less macaque stereotypy. Different welfare measures can still disagree.</a:t>
            </a:r>
          </a:p>
        </p:txBody>
      </p:sp>
      <p:sp>
        <p:nvSpPr>
          <p:cNvPr id="5" name="Rectangle 4"/>
          <p:cNvSpPr/>
          <p:nvPr/>
        </p:nvSpPr>
        <p:spPr>
          <a:xfrm>
            <a:off x="6233007" y="1234440"/>
            <a:ext cx="5391759" cy="1478279"/>
          </a:xfrm>
          <a:prstGeom prst="rect">
            <a:avLst/>
          </a:prstGeom>
          <a:solidFill>
            <a:srgbClr val="F7F3F4"/>
          </a:solidFill>
          <a:ln>
            <a:noFill/>
          </a:ln>
          <a:effectLst/>
        </p:spPr>
        <p:txBody>
          <a:bodyPr rtlCol="0" anchor="ctr"/>
          <a:lstStyle/>
          <a:p>
            <a:pPr algn="ctr"/>
          </a:p>
        </p:txBody>
      </p:sp>
      <p:sp>
        <p:nvSpPr>
          <p:cNvPr id="6" name="TextBox 5"/>
          <p:cNvSpPr txBox="1"/>
          <p:nvPr/>
        </p:nvSpPr>
        <p:spPr>
          <a:xfrm>
            <a:off x="6415887" y="13716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56373E"/>
                </a:solidFill>
                <a:latin typeface="Arial"/>
              </a:rPr>
              <a:t>Stress changes cellular gain.</a:t>
            </a:r>
            <a:r>
              <a:rPr sz="1500" b="0" i="0">
                <a:solidFill>
                  <a:srgbClr val="000000"/>
                </a:solidFill>
                <a:latin typeface="Arial"/>
              </a:rPr>
              <a:t> Repeated restraint weakens calcium-dependent afterhyperpolarization and increases lateral-amygdala firing; systemic channel enhancement does not isolate the behavioral site of action.</a:t>
            </a:r>
          </a:p>
        </p:txBody>
      </p:sp>
      <p:sp>
        <p:nvSpPr>
          <p:cNvPr id="7" name="Rectangle 6"/>
          <p:cNvSpPr/>
          <p:nvPr/>
        </p:nvSpPr>
        <p:spPr>
          <a:xfrm>
            <a:off x="566928" y="2987040"/>
            <a:ext cx="5391759" cy="1478279"/>
          </a:xfrm>
          <a:prstGeom prst="rect">
            <a:avLst/>
          </a:prstGeom>
          <a:solidFill>
            <a:srgbClr val="F7F3F4"/>
          </a:solidFill>
          <a:ln>
            <a:noFill/>
          </a:ln>
          <a:effectLst/>
        </p:spPr>
        <p:txBody>
          <a:bodyPr rtlCol="0" anchor="ctr"/>
          <a:lstStyle/>
          <a:p>
            <a:pPr algn="ctr"/>
          </a:p>
        </p:txBody>
      </p:sp>
      <p:sp>
        <p:nvSpPr>
          <p:cNvPr id="8" name="TextBox 7"/>
          <p:cNvSpPr txBox="1"/>
          <p:nvPr/>
        </p:nvSpPr>
        <p:spPr>
          <a:xfrm>
            <a:off x="749808"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56373E"/>
                </a:solidFill>
                <a:latin typeface="Arial"/>
              </a:rPr>
              <a:t>Circuit function depends on state.</a:t>
            </a:r>
            <a:r>
              <a:rPr sz="1600" b="0" i="0">
                <a:solidFill>
                  <a:srgbClr val="000000"/>
                </a:solidFill>
                <a:latin typeface="Arial"/>
              </a:rPr>
              <a:t> Raphe dopamine-neuron inhibition reduces social preference after isolation; a neuronal population can also release glutamate.</a:t>
            </a:r>
          </a:p>
        </p:txBody>
      </p:sp>
      <p:sp>
        <p:nvSpPr>
          <p:cNvPr id="9" name="Rectangle 8"/>
          <p:cNvSpPr/>
          <p:nvPr/>
        </p:nvSpPr>
        <p:spPr>
          <a:xfrm>
            <a:off x="6233007" y="2987040"/>
            <a:ext cx="5391759" cy="1478279"/>
          </a:xfrm>
          <a:prstGeom prst="rect">
            <a:avLst/>
          </a:prstGeom>
          <a:solidFill>
            <a:srgbClr val="F7F3F4"/>
          </a:solidFill>
          <a:ln>
            <a:noFill/>
          </a:ln>
          <a:effectLst/>
        </p:spPr>
        <p:txBody>
          <a:bodyPr rtlCol="0" anchor="ctr"/>
          <a:lstStyle/>
          <a:p>
            <a:pPr algn="ctr"/>
          </a:p>
        </p:txBody>
      </p:sp>
      <p:sp>
        <p:nvSpPr>
          <p:cNvPr id="10" name="TextBox 9"/>
          <p:cNvSpPr txBox="1"/>
          <p:nvPr/>
        </p:nvSpPr>
        <p:spPr>
          <a:xfrm>
            <a:off x="6415887"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56373E"/>
                </a:solidFill>
                <a:latin typeface="Arial"/>
              </a:rPr>
              <a:t>Species and assays matter.</a:t>
            </a:r>
            <a:r>
              <a:rPr sz="1600" b="0" i="0">
                <a:solidFill>
                  <a:srgbClr val="000000"/>
                </a:solidFill>
                <a:latin typeface="Arial"/>
              </a:rPr>
              <a:t> Fish group and individual cortisol challenges yield different housing effects. Brain serotonin and circulating insect monoamines are different measurements.</a:t>
            </a:r>
          </a:p>
        </p:txBody>
      </p:sp>
      <p:sp>
        <p:nvSpPr>
          <p:cNvPr id="11" name="Rectangle 10"/>
          <p:cNvSpPr/>
          <p:nvPr/>
        </p:nvSpPr>
        <p:spPr>
          <a:xfrm>
            <a:off x="566928" y="4739640"/>
            <a:ext cx="5391759" cy="1478279"/>
          </a:xfrm>
          <a:prstGeom prst="rect">
            <a:avLst/>
          </a:prstGeom>
          <a:solidFill>
            <a:srgbClr val="F7F3F4"/>
          </a:solidFill>
          <a:ln>
            <a:noFill/>
          </a:ln>
          <a:effectLst/>
        </p:spPr>
        <p:txBody>
          <a:bodyPr rtlCol="0" anchor="ctr"/>
          <a:lstStyle/>
          <a:p>
            <a:pPr algn="ctr"/>
          </a:p>
        </p:txBody>
      </p:sp>
      <p:sp>
        <p:nvSpPr>
          <p:cNvPr id="12" name="TextBox 11"/>
          <p:cNvSpPr txBox="1"/>
          <p:nvPr/>
        </p:nvSpPr>
        <p:spPr>
          <a:xfrm>
            <a:off x="749808" y="48768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56373E"/>
                </a:solidFill>
                <a:latin typeface="Arial"/>
              </a:rPr>
              <a:t>Pain evidence is cumulative.</a:t>
            </a:r>
            <a:r>
              <a:rPr sz="1600" b="0" i="0">
                <a:solidFill>
                  <a:srgbClr val="000000"/>
                </a:solidFill>
                <a:latin typeface="Arial"/>
              </a:rPr>
              <a:t> Octopus learned avoidance, relief-dependent preference, wound attention, and ongoing afferent signals jointly support an affective injury-related state.</a:t>
            </a:r>
          </a:p>
        </p:txBody>
      </p:sp>
      <p:sp>
        <p:nvSpPr>
          <p:cNvPr id="13" name="Rectangle 12"/>
          <p:cNvSpPr/>
          <p:nvPr/>
        </p:nvSpPr>
        <p:spPr>
          <a:xfrm>
            <a:off x="6233007" y="4739640"/>
            <a:ext cx="5391759" cy="1478279"/>
          </a:xfrm>
          <a:prstGeom prst="rect">
            <a:avLst/>
          </a:prstGeom>
          <a:solidFill>
            <a:srgbClr val="F7F3F4"/>
          </a:solidFill>
          <a:ln>
            <a:noFill/>
          </a:ln>
          <a:effectLst/>
        </p:spPr>
        <p:txBody>
          <a:bodyPr rtlCol="0" anchor="ctr"/>
          <a:lstStyle/>
          <a:p>
            <a:pPr algn="ctr"/>
          </a:p>
        </p:txBody>
      </p:sp>
      <p:sp>
        <p:nvSpPr>
          <p:cNvPr id="14" name="TextBox 13"/>
          <p:cNvSpPr txBox="1"/>
          <p:nvPr/>
        </p:nvSpPr>
        <p:spPr>
          <a:xfrm>
            <a:off x="6415887" y="48768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56373E"/>
                </a:solidFill>
                <a:latin typeface="Arial"/>
              </a:rPr>
              <a:t>Captivity changes the comparison itself.</a:t>
            </a:r>
            <a:r>
              <a:rPr sz="1500" b="0" i="0">
                <a:solidFill>
                  <a:srgbClr val="000000"/>
                </a:solidFill>
                <a:latin typeface="Arial"/>
              </a:rPr>
              <a:t> Cane-toad brain expression changes differ by population. Neither a molecular change nor absence of one behavioral marker alone establishes welfare.</a:t>
            </a:r>
          </a:p>
        </p:txBody>
      </p:sp>
      <p:sp>
        <p:nvSpPr>
          <p:cNvPr id="15" name="Rectangle 14"/>
          <p:cNvSpPr/>
          <p:nvPr/>
        </p:nvSpPr>
        <p:spPr>
          <a:xfrm>
            <a:off x="566928" y="6382512"/>
            <a:ext cx="11057839" cy="9144"/>
          </a:xfrm>
          <a:prstGeom prst="rect">
            <a:avLst/>
          </a:prstGeom>
          <a:solidFill>
            <a:srgbClr val="DFCDD2"/>
          </a:solidFill>
          <a:ln>
            <a:noFill/>
          </a:ln>
          <a:effectLst/>
        </p:spPr>
        <p:txBody>
          <a:bodyPr rtlCol="0" anchor="ctr"/>
          <a:lstStyle/>
          <a:p>
            <a:pPr algn="ctr"/>
          </a:p>
        </p:txBody>
      </p:sp>
      <p:sp>
        <p:nvSpPr>
          <p:cNvPr id="16"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Bailoo et al. (2018); Gottlieb et al. (2015); Rosenkranz et al. (2010); Matthews et al. (2016); Crook (2021); Yagound et al. (2022)</a:t>
            </a:r>
          </a:p>
        </p:txBody>
      </p:sp>
      <p:sp>
        <p:nvSpPr>
          <p:cNvPr id="17"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Comparative Neuroethics: The Neurobiology of Captivity, Stress, and Behavioral Pathology Across Taxa</dc:title>
  <dc:subject/>
  <dc:creator>Jordan Lopez, Ph.D.</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