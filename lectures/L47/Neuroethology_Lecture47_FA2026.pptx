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Jellyfish II: sleep-like states, sensory responsiveness, sleep homeostasis, and neural regulation of activity without a centralized brain</a:t>
            </a:r>
          </a:p>
          <a:p>
            <a:r>
              <a:t>Lecture 47. NEUR 411 · NEUROETHOLOGY · FALL 2026. Date TBD.</a:t>
            </a:r>
          </a:p>
          <a:p/>
          <a:p>
            <a:r>
              <a:t>Figure: Nath (2017), Fig. 1(B). The upside-down jellyfish and its bell</a:t>
            </a:r>
          </a:p>
          <a:p>
            <a:r>
              <a:t>Figure source: https://doi.org/10.1016/j.cub.2017.08.014</a:t>
            </a:r>
          </a:p>
          <a:p/>
          <a:p>
            <a:r>
              <a:t>References:</a:t>
            </a:r>
          </a:p>
          <a:p>
            <a:r>
              <a:t>Nath RD, Bedbrook CN, Abrams MJ, Basinger T, Bois JS, Prober DA, Sternberg PW, Gradinaru V, Goentoro L (2017). The Jellyfish Cassiopea Exhibits a Sleep-like State. Current Biology 27(19): 2984–2990.e3.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upside-down jellyfish Cassiopea rests with its bell against the substrate and its oral arms facing the water. It inhabits shallow tropical waters and contains photosynthetic symbionts, organisms living within its tissues that obtain energy from light.</a:t>
            </a:r>
          </a:p>
          <a:p>
            <a:r>
              <a:t>  – Sleep is identified from a coordinated set of behavioral properties; a low movement rate by itself is insufficient.</a:t>
            </a:r>
          </a:p>
          <a:p>
            <a:r>
              <a:t>• Its bell contracts rhythmically rather than remaining motionless. Nath and colleagues tracked these contractions across repeated 12-hour light and 12-hour dark periods, allowing activity to be measured without requiring the animal to swim through an arena.</a:t>
            </a:r>
          </a:p>
          <a:p>
            <a:r>
              <a:t>• A nighttime reduction in pulsing suggested a sleep-like state, but inactivity alone could also reflect environmental effects. The investigators therefore measured responsiveness, rapid recovery after stimulation, and compensation after disturbed rest before identifying the behavior as sleep.</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1(B). The upside-down jellyfish and its bell</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Behavioral sleep is a reversible state of reduced activity and reduced responsiveness that is regulated by prior sleep loss. These criteria allow sleep to be assessed in animals for which mammalian brain-wave measurements are unavailable.</a:t>
            </a:r>
          </a:p>
          <a:p>
            <a:r>
              <a:t>• Nath and colleagues combined continuous pulse tracking with a controlled drop into the water column. The response measures were the delay until the first bell contraction and the time required to return to the supporting surface.</a:t>
            </a:r>
          </a:p>
          <a:p>
            <a:r>
              <a:t>• The first-pulse delay averaged 2.1 seconds during the day and 5.9 seconds at night. Longer response latency distinguishes the nighttime condition from equally stationary but responsive wakefulness; repeated stimulation and deprivation experiments were required to establish reversibility and homeostasis.</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3(B–C). Latency to first pulse and return to the bottom</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rhopalium is a marginal sensory organ involved in detecting light and orientation relative to gravity. Rhopalia are distributed around the bell rather than assembled into a centralized brain, and their activity controls the rhythmic pulsing used to quantify behavior.</a:t>
            </a:r>
          </a:p>
          <a:p>
            <a:r>
              <a:t>• Nath and colleagues stained bell tissue with phalloidin, which labels actin-rich structures, while the symbiotic algae produced their own fluorescence. The preparation distinguished the rhopalial region from the surrounding symbiont-containing tissue.</a:t>
            </a:r>
          </a:p>
          <a:p>
            <a:r>
              <a:t>• The existence of distributed sensory organs prevents absence of a brain from being confused with absence of neural organization. Pulse tracking measures the motor consequence of this system; it does not identify which rhopalial cells initiate or terminate a sleep bout.</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1(C). Rhopalium and symbiotic algae in stained bell tissue</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pulse trace records changes in image intensity as the bell relaxes and contracts. Nath and colleagues selected a region containing one jellyfish and measured its average pixel intensity in each frame, producing repeated peaks associated with bell movement.</a:t>
            </a:r>
          </a:p>
          <a:p>
            <a:r>
              <a:t>• The inter-pulse interval is the time between successive pulse events. Recording this interval separates frequent rhythmic contractions from prolonged pauses, even when the animal remains in the same position throughout the experiment.</a:t>
            </a:r>
          </a:p>
          <a:p>
            <a:r>
              <a:t>• A representative ten-second trace resolved individual pulses rather than only a daily activity average. This method measures movement, not action potentials, so changes in the trace cannot by themselves locate the altered activity within a sensory organ, nerve net, or muscle.</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1(D). Bell contractions and intensity-based pulse traces</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Nath and colleagues counted pulses during the first 20 minutes of each hour over six consecutive days and nights. This sampling retained an hourly view of behavior while comparing the same jellyfish repeatedly across the light–dark cycle.</a:t>
            </a:r>
          </a:p>
          <a:p>
            <a:r>
              <a:t>• Mean activity fell from 1,155 pulses per 20 minutes during daytime to 781 pulses per 20 minutes at night, a decrease of about 32 percent. Individual animals differed in their baseline pulse rates but shared the nighttime reduction.</a:t>
            </a:r>
          </a:p>
          <a:p>
            <a:r>
              <a:t>• Normalizing each animal to its own daytime activity preserved the common pattern. The result establishes a reproducible daily change in motor output; it does not establish that every nighttime minute is sleep or that pulse rates can be compared across body sizes without adjustment.</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2(C–D). Individual and normalized activity over six days</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Nighttime slowing contains two components: a longer typical interval between contractions and more frequent prolonged pauses. Nath and colleagues compared daytime and nighttime interval distributions rather than treating the reduction in pulse counts as a uniform change in rhythm.</a:t>
            </a:r>
          </a:p>
          <a:p>
            <a:r>
              <a:t>• In the representative distribution, the 95th percentile of the inter-pulse interval was 2.5 seconds during daytime and 13.9 seconds at night. This percentile describes the long-interval tail, where sustained pauses become especially apparent.</a:t>
            </a:r>
          </a:p>
          <a:p>
            <a:r>
              <a:t>• Long pauses are compatible with deeper quiescence, meaning reduced behavioral activity, but interval duration is still a motor measurement. Stimulus-response tests must connect slow pulsing to diminished responsiveness before those intervals can be used as a practical sleep classifier.</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2(A–B). Day and night traces and inter-pulse intervals</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Feeding transiently increased pulsing and occurred during daytime in the initial recordings. A daily food response could therefore inflate daytime activity and produce an apparent day–night difference without a distinct resting state.</a:t>
            </a:r>
          </a:p>
          <a:p>
            <a:r>
              <a:t>• Nath and colleagues repeated tracking over three consecutive days and nights without feeding. Nighttime activity remained lower, including after normalization to each animal’s daytime pulse rate, so the scheduled feeding event was not necessary for the daily difference.</a:t>
            </a:r>
          </a:p>
          <a:p>
            <a:r>
              <a:t>• Food delivered at night could nevertheless transiently increase activity toward daytime levels. The combination separates a persistent daily reduction from an acute food response and supports rapid reversibility, while leaving open whether light and internal physiological signals jointly set the baseline activity.</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2(E–G). Day–night activity with and without feeding</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arousing stimulus is an environmental disturbance that increases behavioral responsiveness. Cassiopea normally rests on a supporting surface; releasing it into the water column induces reorientation and pulsing toward the bottom.</a:t>
            </a:r>
          </a:p>
          <a:p>
            <a:r>
              <a:t>• The published apparatus used a short pipe with a screened bottom. Animals were lifted to a fixed height, allowed five minutes to acclimate, and then released by rapidly lowering the supporting screen, producing the same type of disturbance during day and night.</a:t>
            </a:r>
          </a:p>
          <a:p>
            <a:r>
              <a:t>• Investigators measured the time to first pulse and the time to regain the screened bottom. The assay links state to a controlled sensorimotor response, but cannot separately measure sensory detection, neural processing, and muscle activation within the observed latency.</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3(A). The published water-column drop-test preparation</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drop test produced a first-pulse latency of 2.1 seconds during daytime and 5.9 seconds at night. The same displacement therefore elicited a slower initial motor response during the quiescent nighttime condition.</a:t>
            </a:r>
          </a:p>
          <a:p>
            <a:r>
              <a:t>• Return to the screened bottom also took longer: 8.6 seconds during daytime compared with 12.0 seconds at night. This second endpoint includes the contractions and movement needed to complete the response, rather than only its initiation.</a:t>
            </a:r>
          </a:p>
          <a:p>
            <a:r>
              <a:t>• The agreement between the two endpoints supports reduced responsiveness during nighttime rest. Neither endpoint directly measures conscious perception or a particular receptor’s sensitivity; the operational conclusion is that the animal’s sensorimotor response to the same external disturbance depends on behavioral state.</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3(B–C). Latency to first pulse and return to the bottom</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Reversibility distinguishes sleep from a persistent inability to move or respond. Nath and colleagues repeated the drop within 30 seconds of the first disturbance, after the initial stimulus had already aroused the animal.</a:t>
            </a:r>
          </a:p>
          <a:p>
            <a:r>
              <a:t>• At night, the second drop sharply reduced both the first-pulse delay and the time to reach the supporting surface. Responses after the repeated disturbance became comparable during daytime and nighttime rather than retaining the slow initial nighttime response.</a:t>
            </a:r>
          </a:p>
          <a:p>
            <a:r>
              <a:t>• The animal could therefore produce a rapid response at night when recently aroused. This control argues against an unavoidable nighttime loss of motor capacity, while not resolving whether the restored responsiveness arises from sensory adaptation, pacemaker modulation, or other state-dependent neural processes.</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3(D–E). Rapid recovery of responsiveness after repeated drops</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Sleep deprivation prevents an animal from maintaining its usual resting state. Nath and colleagues applied a ten-second water pulse every 20 minutes during a defined portion of the night, using an external mechanical disturbance rather than removing a neural structure.</a:t>
            </a:r>
          </a:p>
          <a:p>
            <a:r>
              <a:t>• Each disturbance increased jellyfish pulsing for approximately five minutes. The protocol therefore disrupted quiescence during roughly one-quarter of the perturbation period, while allowing intervening rest between water pulses.</a:t>
            </a:r>
          </a:p>
          <a:p>
            <a:r>
              <a:t>• A six-hour nighttime treatment was followed by reduced activity during the next daytime period. The manipulation changed prior rest history; whether the subsequent decrease represented compensatory sleep required comparison with daytime perturbation and evidence of reduced responsiveness during recovery.</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4(A–C). Six-hour deprivation and daytime perturbation controls</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Sleep homeostasis is the regulation that increases sleep drive after sleep has been lost. Following perturbation during the last six hours of the night, Cassiopea reduced activity during the first four hours of the next day.</a:t>
            </a:r>
          </a:p>
          <a:p>
            <a:r>
              <a:t>• Mean activity decreased from 1,146 to 1,008 pulses per 20 minutes, approximately 12 percent. The recovery period contained both slower rhythmic pulsing and longer pauses, rather than a single permanent reduction in the animal’s ability to contract.</a:t>
            </a:r>
          </a:p>
          <a:p>
            <a:r>
              <a:t>• Day and night activity subsequently returned toward baseline. This temporal compensation is consistent with homeostatic sleep regulation, but mechanical disturbance also causes stress, so the interpretation depends on controls that expose animals to similar perturbations during their ordinarily active phase.</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4(A–C). Six-hour deprivation and daytime perturbation controls</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Extending mechanical perturbation across the full 12-hour night produced a larger daytime activity reduction than the six-hour protocol. Nath and colleagues compared the recovery period with the same animals’ activity before deprivation.</a:t>
            </a:r>
          </a:p>
          <a:p>
            <a:r>
              <a:t>• Mean daytime activity fell from 1,361 to 1,132 pulses per 20 minutes, about 17 percent. Reduced activity persisted across the following day, rather than being confined to the first four hours as in the shorter treatment.</a:t>
            </a:r>
          </a:p>
          <a:p>
            <a:r>
              <a:t>• The dependence on disturbance duration supports a graded homeostatic response: greater disruption of normal rest increases subsequent sleep drive. It does not establish a precise conversion between disturbed minutes and recovered sleep because pulse counts are an activity measure rather than a complete minute-by-minute sleep classification.</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4(D–F). Twelve-hour deprivation and daytime perturbation controls</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water pulses could conceivably reduce subsequent activity by tiring the bell musculature. Nath and colleagues therefore applied six-hour and 12-hour perturbations during daytime, when the animals were usually more active and less quiescent.</a:t>
            </a:r>
          </a:p>
          <a:p>
            <a:r>
              <a:t>• Daytime perturbation did not produce the comparable subsequent reduction in activity observed after nighttime disruption. This active-phase control exposed animals to the mechanical treatment while changing whether the treatment interrupted their normal resting period.</a:t>
            </a:r>
          </a:p>
          <a:p>
            <a:r>
              <a:t>• The contrast argues against general exercise or muscle fatigue as a sufficient explanation for recovery slowing. It supports a consequence of lost nighttime rest, although it does not exclude every stress response that might interact specifically with the animal’s resting phase.</a:t>
            </a:r>
          </a:p>
          <a:p/>
          <a:p>
            <a:r>
              <a:t>References:</a:t>
            </a:r>
          </a:p>
          <a:p>
            <a:r>
              <a:t>Nath RD, Bedbrook CN, Abrams MJ, Basinger T, Bois JS, Prober DA, Sternberg PW, Gradinaru V, Goentoro L (2017). The Jellyfish Cassiopea Exhibits a Sleep-like State. Current Biology 27(19): 2984–2990.e3. https://doi.org/10.1016/j.cub.2017.08.014</a:t>
            </a:r>
          </a:p>
          <a:p/>
          <a:p>
            <a:r>
              <a:t>Figure: Nath (2017), Fig. 4(D–F). Twelve-hour deprivation and daytime perturbation controls</a:t>
            </a:r>
          </a:p>
          <a:p>
            <a:r>
              <a:t>Figure source: https://doi.org/10.1016/j.cub.2017.08.014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Abrams and colleagues tested whether pre-stimulus pulse intervals predicted responsiveness independently of whether the lights were on. They averaged three inter-pulse intervals before a drop and normalized each animal’s activity to its own baseline.</a:t>
            </a:r>
          </a:p>
          <a:p>
            <a:r>
              <a:t>• Slow-pulsing animals responded more slowly after five minutes of acclimation in both daytime and nighttime conditions. A repeated drop after two minutes of post-disturbance arousal removed the relationship between slow pulsing and delayed response.</a:t>
            </a:r>
          </a:p>
          <a:p>
            <a:r>
              <a:t>• This analysis connects a motor threshold to independently measured responsiveness. It supports using pulse intervals to distinguish sleep from wakefulness within either lighting condition, while emphasizing that immediately post-arousal motor activity cannot be classified with the same assumptions as an undisturbed baseline.</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1(D–E). Pulse tracking and state-dependent drop-test responses</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Abrams and colleagues interrupted nighttime rest with five minutes of light every 25 minutes. This light-based sleep deprivation provides a different disturbance from the repeated water pulses used in the original behavioral study.</a:t>
            </a:r>
          </a:p>
          <a:p>
            <a:r>
              <a:t>• Animals were recorded before treatment and after two nights of light-based disruption. Sleep increased during the subsequent daytime period, producing a compensatory response even though the deprivation stimulus did not require repeated water turbulence.</a:t>
            </a:r>
          </a:p>
          <a:p>
            <a:r>
              <a:t>• Concordant rebound after light and mechanical disturbance strengthens the identification of a regulated resting state. Light can also directly affect sensory activity and gene expression, so comparisons between deprivation methods are especially useful when selecting molecular changes that may reflect prolonged wakefulness rather than one particular stimulus.</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1(G). Sleep rebound after light-based deprivation</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Aguillon and colleagues measured Cassiopea andromeda pulsing under 12-hour light and 12-hour dark conditions. They then delivered a brief light stimulus at night and measured the delay until a behavioral response.</a:t>
            </a:r>
          </a:p>
          <a:p>
            <a:r>
              <a:t>• Animals pulsing below 37 contractions per minute responded more slowly than animals above that rate. A threshold-selection analysis used the response latencies to identify a pulse rate that separated relatively slow and rapid responses under the study conditions.</a:t>
            </a:r>
          </a:p>
          <a:p>
            <a:r>
              <a:t>• The threshold is grounded in responsiveness rather than chosen from darkness alone. It is specific to the preparation and animals measured; the earlier Cassiopea studies used different species or normalization procedures, so their absolute pulse rates should not be treated as interchangeable sleep thresholds.</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1(e–k). Light-response latency and the pulse-rate sleep threshold</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short drop in pulse rate might reflect an isolated pause rather than a stable sleep state. Aguillon and colleagues therefore related light-response latency to the duration spent below 37 pulses per minute before stimulation.</a:t>
            </a:r>
          </a:p>
          <a:p>
            <a:r>
              <a:t>• Animals below that rate for more than three minutes responded more slowly than those with shorter low-activity periods. The investigators combined the rate and duration requirements to quantify sleep continuously across their subsequent experiments.</a:t>
            </a:r>
          </a:p>
          <a:p>
            <a:r>
              <a:t>• This sleep-bout criterion identifies sustained slow activity associated with elevated response latency. It allows sleep percentage and bout length to be measured, while remaining a behavioral definition rather than evidence for mammalian rapid-eye-movement sleep or an identical neural activity pattern across species.</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1(e–k). Slow-pulsing bout duration and stimulus responsiveness</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Using the pulse-rate and duration criteria, Aguillon and colleagues quantified Cassiopea sleep over repeated daily cycles. Sleep occupied more time during the dark interval but also appeared during the daytime, including a recurring midday increase.</a:t>
            </a:r>
          </a:p>
          <a:p>
            <a:r>
              <a:t>• Under their laboratory conditions, classified sleep occupied 63.7 percent of nighttime and 45.3 percent of daytime. These percentages describe threshold-defined sleep in this experiment, rather than values obtained by simply counting all darkness as sleep.</a:t>
            </a:r>
          </a:p>
          <a:p>
            <a:r>
              <a:t>• The daily pattern had a period near 24.2 hours under a light–dark cycle. Such a rhythm documents daily organization but does not by itself establish an internal circadian oscillator; persistence without cyclic lighting is needed to separate internal timing from a direct environmental response.</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1(l–n). Daily sleep percentages and rhythm</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Aguillon and colleagues recorded wild Cassiopea in shallow water near Key Largo, Florida. Larger animals pulsed more slowly, creating a strong relationship between bell diameter and the absolute rate of contractions.</a:t>
            </a:r>
          </a:p>
          <a:p>
            <a:r>
              <a:t>• The researchers adjusted daytime activity for bell size before estimating sleep timing in the field. Wild animals retained greater daytime activity and an estimated pattern of nighttime rest with a midday nap, resembling the laboratory organization.</a:t>
            </a:r>
          </a:p>
          <a:p>
            <a:r>
              <a:t>• The field sleep estimate used size-adjusted activity as a proxy rather than individually testing light-response latency for every animal. Agreement across habitats broadens the behavioral finding, but uncertainty in the classifier must remain separate from the directly measured relationship between animal size and pulse frequency.</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1(o–s). Wild jellyfish size, activity, and estimated sleep timing</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Aguillon and colleagues disrupted nighttime sleep for six hours with computer-controlled water turbulence. Because their classifier required sustained slow pulsing, the recovery response could be measured as sleep time rather than inferred solely from a reduction in activity.</a:t>
            </a:r>
          </a:p>
          <a:p>
            <a:r>
              <a:t>• After nighttime deprivation, daytime sleep was about 1.5 times that of control animals. A corresponding active-phase treatment did not induce the same compensatory sleep response, preserving the distinction between perturbation and interruption of normal sleep.</a:t>
            </a:r>
          </a:p>
          <a:p>
            <a:r>
              <a:t>• The result agrees with the original pulse-counting evidence for homeostasis while using a different quantitative definition. It supports increased sleep drive after lost rest, but neither study directly identifies the cellular sensor that tracks accumulated wakefulness or the complete circuit that produces the rebound.</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1(o–s). Sleep rebound after nighttime turbulence</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ganglion is a local grouping of neural cells. Cassiopea contains ganglionic pacemakers within radially spaced rhopalia, creating organized neural centers without a single centralized brain that integrates the entire animal.</a:t>
            </a:r>
          </a:p>
          <a:p>
            <a:r>
              <a:t>• Abrams and colleagues distinguished terminal, intermediate, and basal rhopalial segments. The terminal region contains a lithocyst involved in balance, while the pigmented spot ocellus lies near the terminal–intermediate boundary and participates in light sensing.</a:t>
            </a:r>
          </a:p>
          <a:p>
            <a:r>
              <a:t>• The sensory organ connects to the rest of the body through its basal region. This anatomical organization provides sites where sensory input and pacemaker output can interact; the observed sleep behavior does not imply that all cells in the nerve net change state identically or simultaneously.</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3(C). Rhopalial anatomy and chrnal-E transcript localization</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RNA sequencing measures the abundance of RNA transcripts, allowing comparisons of gene expression between experimental conditions. Abrams and colleagues collected rhopalial ganglia near the end of the day after control conditions or two nights of light-based deprivation.</a:t>
            </a:r>
          </a:p>
          <a:p>
            <a:r>
              <a:t>• Sleep-deprived ganglia expressed altered levels of several genes associated with neural signaling, including receptor-like components. Individual responses varied, and some affected transcripts had no established function, limiting direct interpretation of the expression profile.</a:t>
            </a:r>
          </a:p>
          <a:p>
            <a:r>
              <a:t>• A transcript change identifies a molecular association with treatment history, not a demonstrated cause of sleep. Ganglionic sampling improves anatomical specificity compared with whole-animal measurements, but does not establish which cell type changed expression or whether RNA abundance translated into more functional receptor protein.</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2(A–G). Published transcriptomic comparisons and gene-expression heat maps</a:t>
            </a:r>
          </a:p>
          <a:p>
            <a:r>
              <a:t>Figure source: https://doi.org/10.1073/pnas.2505074122</a:t>
            </a:r>
          </a:p>
          <a:p/>
          <a:p>
            <a:r>
              <a:t>Figure: Abrams (2025), Fig. 3(C,c2). Brightfield rhopalium with labeled segments and scale bar</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Abrams and colleagues compared transcript profiles after both light-based and mechanical deprivation. They used a combined analysis to identify changes shared across treatments rather than accepting every light-responsive transcript as a sleep-regulatory gene.</a:t>
            </a:r>
          </a:p>
          <a:p>
            <a:r>
              <a:t>• A nicotinic acetylcholine receptor alpha-subunit-like gene, chrnal-E, emerged as a strongly altered candidate in both comparisons. Its sequence relationship to receptor-like genes suggested a potential link between deprivation and regulation of neural excitability.</a:t>
            </a:r>
          </a:p>
          <a:p>
            <a:r>
              <a:t>• Convergence across two treatments reduces dependence on one stimulus-specific explanation. The analysis still combines effects of lost sleep, stimulation, and recovery, so functional experiments were needed to test whether changing chrnal-E could alter behavior rather than merely accompany deprivation.</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2(A–G). Published transcriptomic comparisons and gene-expression heat maps</a:t>
            </a:r>
          </a:p>
          <a:p>
            <a:r>
              <a:t>Figure source: https://doi.org/10.1073/pnas.2505074122</a:t>
            </a:r>
          </a:p>
          <a:p/>
          <a:p>
            <a:r>
              <a:t>Figure: Abrams (2025), Fig. 3(C,c2). Brightfield rhopalium with labeled segments and scale bar</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nicotinic acetylcholine receptor is a ligand-gated ion-channel receptor in established cholinergic systems: binding of a signaling molecule regulates ion movement across the membrane. Abrams and colleagues compared the predicted structure of Chrnal-E with human alpha-subunit receptors.</a:t>
            </a:r>
          </a:p>
          <a:p>
            <a:r>
              <a:t>• The published predictions retained receptor-associated features, including the extracellular ligand-binding region and Cys-loop architecture. Charged residues associated with calcium permeation in human alpha-7 receptors were also present in the Chrnal-E prediction.</a:t>
            </a:r>
          </a:p>
          <a:p>
            <a:r>
              <a:t>• These similarities support a receptor-like channel hypothesis, not a measurement of jellyfish ion selectivity or channel conductance. The paper did not establish the endogenous ligand or document acetylcholine synthesis in Cassiopea, so the proposed mechanism must remain distinct from the demonstrated behavioral effects.</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3(A). Published receptor-like protein predictions and charged residues</a:t>
            </a:r>
          </a:p>
          <a:p>
            <a:r>
              <a:t>Figure source: https://doi.org/10.1073/pnas.2505074122</a:t>
            </a:r>
          </a:p>
          <a:p/>
          <a:p>
            <a:r>
              <a:t>Figure: Abrams (2025), Fig. 3(C,c2). Brightfield rhopalium with labeled segments and scale bar</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action potential is a brief electrical event generated by an excitable cell. Abrams and colleagues used suction electrodes to record such events from amputated rhopalial ganglia, isolating neural activity from movement of the whole bell.</a:t>
            </a:r>
          </a:p>
          <a:p>
            <a:r>
              <a:t>• The preparation allowed the interval between recorded events to be measured before and during drug exposure in artificial seawater. This interspike interval is a neural timing measurement, whereas the inter-pulse interval measures visible contractions of the intact animal.</a:t>
            </a:r>
          </a:p>
          <a:p>
            <a:r>
              <a:t>• Drug-induced changes in isolated ganglia localize a physiological response to the pacemaker-containing sensory organ. They do not identify the exact recorded cell or demonstrate that an equivalent concentration reaches those cells during intact-animal behavior, but they connect receptor-directed pharmacology with neural activity.</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3(B). Rhopalial electrophysiology and cholinergic drug responses</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antagonist interferes with receptor activation. Abrams and colleagues exposed isolated rhopalial ganglia to tubocurarine, a competitive antagonist of nicotinic acetylcholine receptors in characterized cholinergic systems.</a:t>
            </a:r>
          </a:p>
          <a:p>
            <a:r>
              <a:t>• At 500 and 600 micromolar, tubocurarine lengthened the interval between recorded action potentials; the larger concentration produced a stronger slowing. The result is consistent with receptor-like signaling contributing to the normal frequency of pacemaker activity.</a:t>
            </a:r>
          </a:p>
          <a:p>
            <a:r>
              <a:t>• The artificial-seawater control establishes that the change followed addition of the compound rather than the recording setup alone. Pharmacological specificity remains incomplete because the preparation may contain several receptor-like proteins, and blockade does not establish that endogenous acetylcholine normally supplies the relevant activating signal.</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3(B). Rhopalial electrophysiology and cholinergic drug responses</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agonist activates a receptor or receptor-associated response. Abrams and colleagues applied nicotine to isolated Cassiopea ganglia while measuring the time between action potentials with a suction electrode.</a:t>
            </a:r>
          </a:p>
          <a:p>
            <a:r>
              <a:t>• Nicotine at 50 and 75 micromolar shortened interspike intervals, with the stronger effect at the higher concentration. Its effect opposed tubocurarine-induced slowing, providing complementary evidence that nicotinic receptor-directed compounds modulate rhopalial pacemaker output.</a:t>
            </a:r>
          </a:p>
          <a:p>
            <a:r>
              <a:t>• This response supports a pharmacologically sensitive pathway from receptor-like signaling to neural activity. It does not prove that nicotine mimics the natural transmitter in Cassiopea, that Chrnal-E alone carries the response, or that an increase in pacemaker frequency is sufficient to reproduce every aspect of behavioral wakefulness.</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3(B). Rhopalial electrophysiology and cholinergic drug responses</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situ hybridization uses a complementary probe to locate a specific RNA transcript within tissue. Abrams and colleagues developed this method for Cassiopea and detected chrnal-E RNA mainly on the oral side of the rhopalial ganglia.</a:t>
            </a:r>
          </a:p>
          <a:p>
            <a:r>
              <a:t>• Expression was prominent in intermediate and basal segments, but its distribution varied between sensory organs and between animals. The transcript was not restricted to one sharply defined anatomical pattern shared by every rhopalium.</a:t>
            </a:r>
          </a:p>
          <a:p>
            <a:r>
              <a:t>• Localization links the candidate gene to an organ already associated with pulse generation and sensory processing. RNA staining does not directly reveal membrane-localized receptor protein, the identity of every expressing cell, or the direction of signaling between those cells and the neurons generating the recorded pacemaker events.</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3(C). Rhopalial anatomy and chrnal-E transcript localization</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light-based deprivation, chrnal-E staining occupied a broader fraction of the rhopalial ganglion. Abrams and colleagues quantified the proportion of stained pixels within the selected ganglionic region rather than interpreting visual staining intensity alone as receptor abundance.</a:t>
            </a:r>
          </a:p>
          <a:p>
            <a:r>
              <a:t>• The change connected treatment history to the spatial extent of detectable transcript expression. Control and sleep-deprived organs retained variable patterns, making the distribution across preparations more informative than an isolated strongly stained specimen.</a:t>
            </a:r>
          </a:p>
          <a:p>
            <a:r>
              <a:t>• A larger stained area can reflect altered transcript abundance or altered detection within expressing cells, but it does not directly count functional channels. The result strengthens the molecular association with deprivation and motivates knockdown, while leaving the receptor’s cellular localization and circuit connections unresolved.</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3(C). Rhopalial anatomy and chrnal-E transcript localization</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RNA interference, or RNAi, reduces expression of a targeted RNA through sequence-directed silencing. Abrams and colleagues introduced a 387-base-pair chrnal-E fragment into a feeding vector and developed a delivery method for Cassiopea.</a:t>
            </a:r>
          </a:p>
          <a:p>
            <a:r>
              <a:t>• They compared animals receiving the chrnal-E construct with empty-vector controls and a minicollagen-targeting construct. These controls helped distinguish the targeted treatment from the effects of feeding the vector or introducing an unrelated sequence.</a:t>
            </a:r>
          </a:p>
          <a:p>
            <a:r>
              <a:t>• After two weeks, chrnal-E transcript staining occupied less ganglionic area, and subsequent expression measurements supported reduced target RNA. This intervention tests gene function more directly than deprivation-associated expression alone, but partial silencing differs from complete gene deletion and cannot identify a single responsible neural cell type.</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4(A–B). Reduced transcript staining and RNAi expression validation</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Abrams and colleagues recorded pulse-derived sleep during three weeks of RNAi feeding. By the second week, animals receiving the chrnal-E construct developed more daytime sleep and less nighttime sleep than the control groups.</a:t>
            </a:r>
          </a:p>
          <a:p>
            <a:r>
              <a:t>• Because daytime is the usual active phase, increased daytime sleep supports a wake-promoting role for Chrnal-E. The phenotype redistributed sleep across the daily cycle rather than simply eliminating the animal’s ability to enter a resting state.</a:t>
            </a:r>
          </a:p>
          <a:p>
            <a:r>
              <a:t>• The interpretation is strengthened by reduced target RNA and vector controls. It remains narrower than a complete receptor mechanism: the knockdown does not establish endogenous ligand identity, ion permeability, or whether the affected gene changes wake maintenance directly or alters another process that influences behavioral sleep timing.</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4(C). Daily sleep redistribution after chrnal-E knockdown</a:t>
            </a:r>
          </a:p>
          <a:p>
            <a:r>
              <a:t>Figure source: https://doi.org/10.1073/pnas.2505074122</a:t>
            </a:r>
          </a:p>
          <a:p/>
          <a:p>
            <a:r>
              <a:t>Figure: Abrams (2025), Fig. 3(C,c2). Brightfield rhopalium with labeled segments and scale bar</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Abrams and colleagues sampled wild Cassiopea at several times from evening through the next morning. Quantitative PCR measured chrnal-E RNA relative to reference transcripts, allowing expression to be compared across times and deprivation conditions.</a:t>
            </a:r>
          </a:p>
          <a:p>
            <a:r>
              <a:t>• Control expression declined late at night and rose again in the morning. After seven hours of light-based deprivation, expression at the middle-of-night sampling point was about threefold higher than in controls, then returned toward control levels by morning.</a:t>
            </a:r>
          </a:p>
          <a:p>
            <a:r>
              <a:t>• The delayed increase is consistent with a response to sustained externally induced arousal. Morning expression also recovered in animals kept dark, suggesting internal timing, but expression rhythms alone do not establish a complete circadian sleep mechanism or prove that transcriptional change generates the homeostatic sleep rebound.</a:t>
            </a:r>
          </a:p>
          <a:p/>
          <a:p>
            <a:r>
              <a:t>References:</a:t>
            </a:r>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Figure: Abrams (2025), Fig. 4(D–E). Knockdown under deprivation and field expression rhythms</a:t>
            </a:r>
          </a:p>
          <a:p>
            <a:r>
              <a:t>Figure source: https://doi.org/10.1073/pnas.2505074122</a:t>
            </a:r>
          </a:p>
          <a:p/>
          <a:p>
            <a:r>
              <a:t>Figure: Abrams (2025), Fig. 3(C,c2). Brightfield rhopalium with labeled segments and scale bar</a:t>
            </a:r>
          </a:p>
          <a:p>
            <a:r>
              <a:t>Figure source: https://doi.org/10.1073/pnas.2505074122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circadian rhythm is an internally generated rhythm with a period near one day that can persist without a repeating environmental cue. A daily activity pattern under light–dark conditions is insufficient by itself to establish this property.</a:t>
            </a:r>
          </a:p>
          <a:p>
            <a:r>
              <a:t>• Aguillon and colleagues found that Cassiopea activity rhythms disappeared in constant darkness and weakened strongly in constant light. With alternating six-hour light and dark intervals, activity followed a rhythm near 12.1 hours rather than maintaining its usual daily pattern.</a:t>
            </a:r>
          </a:p>
          <a:p>
            <a:r>
              <a:t>• These experiments support strong control by the light environment in this preparation, alongside independently demonstrated homeostasis. Earlier expression evidence for internal timing need not imply a robust free-running behavioral sleep rhythm; transcript regulation and whole-animal sleep timing are different levels of measurement.</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1(l–n). Daily sleep percentages and rhythm</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Aguillon and colleagues compared the jellyfish Cassiopea andromeda with the starlet sea anemone Nematostella vectensis. Both lack a centralized brain, but their body plans and daily activity patterns differ substantially.</a:t>
            </a:r>
          </a:p>
          <a:p>
            <a:r>
              <a:t>• The anemone’s sleep classifier required at least eight minutes of quiescence associated with delayed responses to light and food. This criterion differs from the jellyfish classifier, which permits continuous slow pulsing during a sleep bout.</a:t>
            </a:r>
          </a:p>
          <a:p>
            <a:r>
              <a:t>• Both species devoted substantial daily time to behaviorally defined sleep, despite different movement patterns and timing. The comparison broadens evidence beyond one medusa form, while preventing a single absolute activity threshold or sleep posture from being treated as a universal signature of sleep throughout Cnidaria.</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3(a–e). Total daily sleep across species and Clock genotype</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Melatonin is a signaling molecule that can modulate sleep in diverse animals. Aguillon and colleagues treated Cassiopea with 100 micromolar melatonin and compared behavior with an ethanol vehicle control, accounting for the solvent used to deliver the compound.</a:t>
            </a:r>
          </a:p>
          <a:p>
            <a:r>
              <a:t>• During the active daytime phase, melatonin increased sleep time, sleep-bout duration, and the number of bouts. The same treatment during the usual resting phase did not produce a comparable additional increase, indicating dependence on baseline state or time.</a:t>
            </a:r>
          </a:p>
          <a:p>
            <a:r>
              <a:t>• This intervention establishes pharmacological modulation of jellyfish sleep, not the identity of an endogenous sleep hormone circuit. The study did not identify a specific Cassiopea receptor or directly measure a downstream potassium-channel mechanism, so those possible pathways remain proposed explanations.</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3(p–u). Melatonin-induced sleep during the jellyfish active phase</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chronotype describes an animal’s characteristic timing of activity and rest. Cassiopea is primarily active during daytime, whereas Nematostella in the comparative study was most active around dusk and rested more toward dawn.</a:t>
            </a:r>
          </a:p>
          <a:p>
            <a:r>
              <a:t>• Aguillon and colleagues found that melatonin increased anemone sleep time, bout length, and bout number when administered during its active phase. The effect therefore did not require the active phase to coincide with daylight.</a:t>
            </a:r>
          </a:p>
          <a:p>
            <a:r>
              <a:t>• Concordant responses in the two cnidarians support conserved pharmacological sensitivity despite different daily schedules. Exogenous melatonin can have additional cellular effects, including antioxidant actions, so increased sleep after treatment does not alone establish how natural melatonin production, receptor signaling, and cellular repair are linked in either species.</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3(j–o). Melatonin-induced sleep during the anemone active phase</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peri-rhopalial region is tissue adjacent to a rhopalium. Aguillon and colleagues sampled its neuron-enriched mesogleal surface to assess cellular changes associated with wakefulness and sleep in Cassiopea.</a:t>
            </a:r>
          </a:p>
          <a:p>
            <a:r>
              <a:t>• They stained nuclei with DAPI, a DNA-binding fluorescent dye, and used immunohistochemistry to detect phosphorylated histone H2AX. The preparation also retained autofluorescence from symbiotic algae, which must be distinguished from the nuclear signal used for damage-response measurements.</a:t>
            </a:r>
          </a:p>
          <a:p>
            <a:r>
              <a:t>• Sampling a defined sensory-organ-associated region connects sleep history with a localized cellular readout. The tissue is neuron-enriched rather than genetically restricted to neurons, so cell identity in Cassiopea is less selectively established than in the complementary anemone experiment using a neuron-specific fluorescent reporter.</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4(e). Neuron-enriched peri-rhopalial tissue and algal fluorescence</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Histones are proteins associated with DNA in chromosomes. The phosphorylated form of histone H2AX, called gamma-H2AX, accumulates at nuclear sites associated with a cellular response to DNA damage.</a:t>
            </a:r>
          </a:p>
          <a:p>
            <a:r>
              <a:t>• Aguillon and colleagues used antibodies to count gamma-H2AX foci, discrete stained sites within a nucleus, after defined periods of sleep, wakefulness, or deprivation. Cassiopea nuclei were examined in peri-rhopalial tissue, while anemone neurons were identified with a fluorescent reporter.</a:t>
            </a:r>
          </a:p>
          <a:p>
            <a:r>
              <a:t>• The assay provides a quantitative damage-response marker rather than a direct count of every DNA lesion or every repair event. Changes in foci support altered genomic stress, but conclusions about sleep-mediated maintenance require timing controls and experimental manipulations beyond one stained nucleus.</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4(a–l). Nuclear DNA-damage-response staining in both cnidarians</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Aguillon and colleagues sampled Cassiopea at the end of its wake and sleep phases. Gamma-H2AX foci were more numerous after accumulated wakefulness and less numerous after the usual sleep period, linking cellular state to preceding behavior.</a:t>
            </a:r>
          </a:p>
          <a:p>
            <a:r>
              <a:t>• Nighttime sleep deprivation increased the number of foci at the time when resting controls normally had a reduced signal. The comparison tested whether the daily decrease required undisturbed rest rather than occurring solely because the sampling time changed.</a:t>
            </a:r>
          </a:p>
          <a:p>
            <a:r>
              <a:t>• The pattern supports sleep-associated relief of nuclear damage responses. It does not identify a particular repair enzyme or establish that sleep is the only process responsible, because deprivation also changes stimulation and physiological activity alongside the amount of rest.</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4(i,k). Cassiopea DNA-damage-response foci across sleep and deprivation</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Aguillon and colleagues expressed a fluorescent neuronal reporter in Nematostella to distinguish neurons from neighboring cell types. Gamma-H2AX staining could then be counted specifically within reporter-positive neural cells.</a:t>
            </a:r>
          </a:p>
          <a:p>
            <a:r>
              <a:t>• As in Cassiopea, damage-response foci rose after extended wakefulness and fell after the normal resting period. Depriving the anemone during its usual sleep interval increased the neural nuclear signal relative to undisturbed controls.</a:t>
            </a:r>
          </a:p>
          <a:p>
            <a:r>
              <a:t>• The anemone’s resting phase differs from the jellyfish’s, so the parallel relation follows behavioral history rather than one shared clock time. This comparison strengthens the association between sleep and neural genome maintenance while leaving open whether identical signaling pathways couple cellular damage to sleep drive in the two species.</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4(j,l). Anemone DNA-damage-response foci across sleep and deprivation</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Ultraviolet-B radiation can damage DNA and induce cellular stress. Aguillon and colleagues exposed Cassiopea to 312-nanometer ultraviolet light for 15 minutes during daytime, then followed sleep and nuclear damage-response markers.</a:t>
            </a:r>
          </a:p>
          <a:p>
            <a:r>
              <a:t>• Gamma-H2AX foci increased one hour after exposure, and subsequent nighttime and daytime sleep increased relative to controls. Over the later recovery interval, the nuclear marker declined, producing a sequence of induced damage response, increased sleep, and reduced damage signal.</a:t>
            </a:r>
          </a:p>
          <a:p>
            <a:r>
              <a:t>• The manipulation supports a contribution of cellular damage to sleep pressure, meaning the drive to sleep. Ultraviolet radiation also affects other cellular pathways, so the experiment does not isolate DNA damage as the only relevant signal or identify the sensory-to-pacemaker pathway carrying that signal.</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5(a–p). Jellyfish sleep after ultraviolet exposure</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Etoposide interferes with topoisomerase II, an enzyme involved in managing DNA structure, and can cause DNA double-strand breaks. Aguillon and colleagues used this compound in Nematostella as a second way to induce cellular damage without ultraviolet illumination.</a:t>
            </a:r>
          </a:p>
          <a:p>
            <a:r>
              <a:t>• Etoposide increased gamma-H2AX foci and was followed by increased sleep. Ultraviolet exposure also increased anemone sleep, providing two distinct damaging treatments with a common behavioral direction rather than relying solely on a light-induced disturbance.</a:t>
            </a:r>
          </a:p>
          <a:p>
            <a:r>
              <a:t>• The convergence supports cellular stress as a contributor to sleep drive, but the chemical experiment was performed in the anemone and must not be presented as a direct etoposide result in Cassiopea. Neither treatment uniquely identifies the molecular damage sensor that signals increased sleep need.</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5(m–p). Anemone sleep after ultraviolet radiation or etoposide</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Aguillon and colleagues measured nuclear damage-response markers after melatonin treatment, which also promoted sleep during the active phase. Both Cassiopea and Nematostella displayed fewer gamma-H2AX foci than their respective vehicle-treated controls.</a:t>
            </a:r>
          </a:p>
          <a:p>
            <a:r>
              <a:t>• The combination of spontaneous sleep, deprivation, damage induction, and pharmacologically promoted sleep links behavior and cellular maintenance through several experimental directions. It is stronger evidence than a simple correlation between nighttime and low nuclear staining.</a:t>
            </a:r>
          </a:p>
          <a:p>
            <a:r>
              <a:t>• Melatonin may directly influence oxidative stress or repair-related processes as well as sleep. The reduction therefore supports a relationship between sleep promotion and genome stability, while additional interventions that separate melatonin’s cellular actions from its behavioral effect would be needed to assign the entire reduction specifically to sleep.</a:t>
            </a:r>
          </a:p>
          <a:p/>
          <a:p>
            <a:r>
              <a:t>References:</a:t>
            </a:r>
          </a:p>
          <a:p>
            <a:r>
              <a:t>Aguillon R, Harduf A, Sagi D, Simon-Blecher N, Levy O, Appelbaum L (2026). DNA damage modulates sleep drive in basal cnidarians with divergent chronotypes. Nature Communications 17: 3. https://doi.org/10.1038/s41467-025-67400-5</a:t>
            </a:r>
          </a:p>
          <a:p/>
          <a:p>
            <a:r>
              <a:t>Figure: Aguillon (2026), Fig. 5(i–j). Lower damage-response foci after melatonin treatment</a:t>
            </a:r>
          </a:p>
          <a:p>
            <a:r>
              <a:t>Figure source: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Nath RD, Bedbrook CN, Abrams MJ, Basinger T, Bois JS, Prober DA, Sternberg PW, Gradinaru V, Goentoro L (2017). The Jellyfish Cassiopea Exhibits a Sleep-like State. Current Biology 27(19): 2984–2990.e3. https://doi.org/10.1016/j.cub.2017.08.014</a:t>
            </a:r>
          </a:p>
          <a:p/>
          <a:p>
            <a:r>
              <a:t>Abrams MJ, Ohdera A, Francis DA, Donayre O, Chen H, Lu K, Hsu CY, Zeigler H, Harland RM (2025). Sleeping upside-down: Knockdown of a sleep-associated gene induces daytime sleep in the jellyfish Cassiopea. Proceedings of the National Academy of Sciences 122(29): e2505074122. https://doi.org/10.1073/pnas.2505074122</a:t>
            </a:r>
          </a:p>
          <a:p/>
          <a:p>
            <a:r>
              <a:t>Aguillon R, Harduf A, Sagi D, Simon-Blecher N, Levy O, Appelbaum L (2026). DNA damage modulates sleep drive in basal cnidarians with divergent chronotypes. Nature Communications 17: 3. https://doi.org/10.1038/s41467-025-67400-5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9.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9.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9.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27B94"/>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2EDF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2EDF3"/>
                </a:solidFill>
                <a:latin typeface="Arial"/>
              </a:rPr>
              <a:t>Lecture 47</a:t>
            </a:r>
          </a:p>
        </p:txBody>
      </p:sp>
      <p:sp>
        <p:nvSpPr>
          <p:cNvPr id="5" name="Lecture title"/>
          <p:cNvSpPr txBox="1"/>
          <p:nvPr/>
        </p:nvSpPr>
        <p:spPr>
          <a:xfrm>
            <a:off x="685800" y="2331720"/>
            <a:ext cx="4724247" cy="292608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Jellyfish II:</a:t>
            </a:r>
          </a:p>
          <a:p>
            <a:pPr algn="l">
              <a:lnSpc>
                <a:spcPct val="108000"/>
              </a:lnSpc>
              <a:spcAft>
                <a:spcPts val="0"/>
              </a:spcAft>
            </a:pPr>
            <a:r>
              <a:rPr sz="2700" b="1" i="0">
                <a:solidFill>
                  <a:srgbClr val="FFFFFF"/>
                </a:solidFill>
                <a:latin typeface="Arial"/>
              </a:rPr>
              <a:t>sleep-like states, sensory responsiveness, sleep homeostasis, and neural regulation of activity without a centralized brain</a:t>
            </a:r>
          </a:p>
        </p:txBody>
      </p:sp>
      <p:sp>
        <p:nvSpPr>
          <p:cNvPr id="6" name="TextBox 5"/>
          <p:cNvSpPr txBox="1"/>
          <p:nvPr/>
        </p:nvSpPr>
        <p:spPr>
          <a:xfrm>
            <a:off x="685800" y="568025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2EDF3"/>
                </a:solidFill>
                <a:latin typeface="Arial"/>
              </a:rPr>
              <a:t>Date TBD</a:t>
            </a:r>
          </a:p>
        </p:txBody>
      </p:sp>
      <p:sp>
        <p:nvSpPr>
          <p:cNvPr id="7" name="TextBox 6"/>
          <p:cNvSpPr txBox="1"/>
          <p:nvPr/>
        </p:nvSpPr>
        <p:spPr>
          <a:xfrm>
            <a:off x="685800" y="636605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2EDF3"/>
                </a:solidFill>
                <a:latin typeface="Arial"/>
              </a:rPr>
              <a:t>Jordan Lopez, Ph.D.</a:t>
            </a:r>
          </a:p>
          <a:p>
            <a:pPr algn="l">
              <a:lnSpc>
                <a:spcPct val="108000"/>
              </a:lnSpc>
              <a:spcAft>
                <a:spcPts val="200"/>
              </a:spcAft>
            </a:pPr>
            <a:r>
              <a:rPr sz="1200" b="0" i="0">
                <a:solidFill>
                  <a:srgbClr val="E2EDF3"/>
                </a:solidFill>
                <a:latin typeface="Arial"/>
              </a:rPr>
              <a:t>Professor of Neurobiology &amp; Biomedical Engineering</a:t>
            </a:r>
          </a:p>
        </p:txBody>
      </p:sp>
      <p:pic>
        <p:nvPicPr>
          <p:cNvPr id="8" name="Picture 7" descr="n1b.png"/>
          <p:cNvPicPr>
            <a:picLocks noChangeAspect="1"/>
          </p:cNvPicPr>
          <p:nvPr/>
        </p:nvPicPr>
        <p:blipFill>
          <a:blip r:embed="rId2"/>
          <a:stretch>
            <a:fillRect/>
          </a:stretch>
        </p:blipFill>
        <p:spPr>
          <a:xfrm>
            <a:off x="6553047" y="822960"/>
            <a:ext cx="5181447" cy="3931141"/>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1(B). The upside-down jellyfish and its bell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Cassiopea sleeps while its bell keeps pulsing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upside-down jellyfish </a:t>
            </a:r>
            <a:r>
              <a:rPr sz="1700" b="0" i="1">
                <a:solidFill>
                  <a:srgbClr val="000000"/>
                </a:solidFill>
                <a:latin typeface="Arial"/>
              </a:rPr>
              <a:t>Cassiopea</a:t>
            </a:r>
            <a:r>
              <a:rPr sz="1700" b="0" i="0">
                <a:solidFill>
                  <a:srgbClr val="000000"/>
                </a:solidFill>
                <a:latin typeface="Arial"/>
              </a:rPr>
              <a:t> rests with its bell against the substrate and its oral arms facing the water. It inhabits shallow tropical waters and contains photosynthetic symbionts, organisms living within its tissues that obtain energy from light.</a:t>
            </a:r>
          </a:p>
          <a:p>
            <a:pPr algn="l">
              <a:lnSpc>
                <a:spcPct val="108000"/>
              </a:lnSpc>
              <a:spcAft>
                <a:spcPts val="1019"/>
              </a:spcAft>
            </a:pPr>
            <a:r>
              <a:rPr sz="1700" b="0" i="0">
                <a:solidFill>
                  <a:srgbClr val="000000"/>
                </a:solidFill>
                <a:latin typeface="Arial"/>
              </a:rPr>
              <a:t>Its bell contracts rhythmically rather than remaining motionless. Nath and colleagues tracked these contractions across repeated 12-hour light and 12-hour dark periods, allowing activity to be measured without requiring the animal to swim through an arena.</a:t>
            </a:r>
          </a:p>
          <a:p>
            <a:pPr algn="l">
              <a:lnSpc>
                <a:spcPct val="108000"/>
              </a:lnSpc>
              <a:spcAft>
                <a:spcPts val="1019"/>
              </a:spcAft>
            </a:pPr>
            <a:r>
              <a:rPr sz="1700" b="0" i="0">
                <a:solidFill>
                  <a:srgbClr val="000000"/>
                </a:solidFill>
                <a:latin typeface="Arial"/>
              </a:rPr>
              <a:t>A nighttime reduction in pulsing suggested a </a:t>
            </a:r>
            <a:r>
              <a:rPr sz="1700" b="1" i="0">
                <a:solidFill>
                  <a:srgbClr val="375262"/>
                </a:solidFill>
                <a:latin typeface="Arial"/>
              </a:rPr>
              <a:t>sleep-like state</a:t>
            </a:r>
            <a:r>
              <a:rPr sz="1700" b="0" i="0">
                <a:solidFill>
                  <a:srgbClr val="000000"/>
                </a:solidFill>
                <a:latin typeface="Arial"/>
              </a:rPr>
              <a:t>, but inactivity alone could also reflect environmental effects. The investigators therefore measured responsiveness, rapid recovery after stimulation, and compensation after disturbed rest before identifying the behavior as sleep.</a:t>
            </a:r>
          </a:p>
        </p:txBody>
      </p:sp>
      <p:pic>
        <p:nvPicPr>
          <p:cNvPr id="4" name="Picture 3" descr="n1b.png"/>
          <p:cNvPicPr>
            <a:picLocks noChangeAspect="1"/>
          </p:cNvPicPr>
          <p:nvPr/>
        </p:nvPicPr>
        <p:blipFill>
          <a:blip r:embed="rId2"/>
          <a:stretch>
            <a:fillRect/>
          </a:stretch>
        </p:blipFill>
        <p:spPr>
          <a:xfrm>
            <a:off x="6504127" y="1280160"/>
            <a:ext cx="5120640" cy="3885007"/>
          </a:xfrm>
          <a:prstGeom prst="rect">
            <a:avLst/>
          </a:prstGeom>
        </p:spPr>
      </p:pic>
      <p:sp>
        <p:nvSpPr>
          <p:cNvPr id="5" name="Figure caption"/>
          <p:cNvSpPr txBox="1"/>
          <p:nvPr/>
        </p:nvSpPr>
        <p:spPr>
          <a:xfrm>
            <a:off x="6504127" y="525660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1(B). The upside-down jellyfish and its bell</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Sleep requires more than low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75262"/>
                </a:solidFill>
                <a:latin typeface="Arial"/>
              </a:rPr>
              <a:t>Behavioral sleep</a:t>
            </a:r>
            <a:r>
              <a:rPr sz="1700" b="0" i="0">
                <a:solidFill>
                  <a:srgbClr val="000000"/>
                </a:solidFill>
                <a:latin typeface="Arial"/>
              </a:rPr>
              <a:t> is a reversible state of reduced activity and reduced responsiveness that is regulated by prior sleep loss. These criteria allow sleep to be assessed in animals for which mammalian brain-wave measurements are unavailable.</a:t>
            </a:r>
          </a:p>
          <a:p>
            <a:pPr algn="l">
              <a:lnSpc>
                <a:spcPct val="108000"/>
              </a:lnSpc>
              <a:spcAft>
                <a:spcPts val="1019"/>
              </a:spcAft>
            </a:pPr>
            <a:r>
              <a:rPr sz="1700" b="0" i="0">
                <a:solidFill>
                  <a:srgbClr val="000000"/>
                </a:solidFill>
                <a:latin typeface="Arial"/>
              </a:rPr>
              <a:t>Nath and colleagues combined continuous pulse tracking with a controlled drop into the water column. The response measures were the delay until the first bell contraction and the time required to return to the supporting surface.</a:t>
            </a:r>
          </a:p>
          <a:p>
            <a:pPr algn="l">
              <a:lnSpc>
                <a:spcPct val="108000"/>
              </a:lnSpc>
              <a:spcAft>
                <a:spcPts val="1019"/>
              </a:spcAft>
            </a:pPr>
            <a:r>
              <a:rPr sz="1700" b="0" i="0">
                <a:solidFill>
                  <a:srgbClr val="000000"/>
                </a:solidFill>
                <a:latin typeface="Arial"/>
              </a:rPr>
              <a:t>The first-pulse delay averaged 2.1 seconds during the day and 5.9 seconds at night. Longer response latency distinguishes the nighttime condition from equally stationary but responsive wakefulness; repeated stimulation and deprivation experiments were required to establish reversibility and homeostasis.</a:t>
            </a:r>
          </a:p>
        </p:txBody>
      </p:sp>
      <p:pic>
        <p:nvPicPr>
          <p:cNvPr id="4" name="Picture 3" descr="n3bc.png"/>
          <p:cNvPicPr>
            <a:picLocks noChangeAspect="1"/>
          </p:cNvPicPr>
          <p:nvPr/>
        </p:nvPicPr>
        <p:blipFill>
          <a:blip r:embed="rId2"/>
          <a:stretch>
            <a:fillRect/>
          </a:stretch>
        </p:blipFill>
        <p:spPr>
          <a:xfrm>
            <a:off x="6504127" y="1280160"/>
            <a:ext cx="5120640" cy="1197996"/>
          </a:xfrm>
          <a:prstGeom prst="rect">
            <a:avLst/>
          </a:prstGeom>
        </p:spPr>
      </p:pic>
      <p:sp>
        <p:nvSpPr>
          <p:cNvPr id="5" name="Figure caption"/>
          <p:cNvSpPr txBox="1"/>
          <p:nvPr/>
        </p:nvSpPr>
        <p:spPr>
          <a:xfrm>
            <a:off x="6504127" y="256959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3(B–C). Latency to first pulse and return to the bottom</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Rhopalia couple sensory input to bell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75262"/>
                </a:solidFill>
                <a:latin typeface="Arial"/>
              </a:rPr>
              <a:t>rhopalium</a:t>
            </a:r>
            <a:r>
              <a:rPr sz="1600" b="0" i="0">
                <a:solidFill>
                  <a:srgbClr val="000000"/>
                </a:solidFill>
                <a:latin typeface="Arial"/>
              </a:rPr>
              <a:t> is a marginal sensory organ involved in detecting light and orientation relative to gravity. Rhopalia are distributed around the bell rather than assembled into a centralized brain, and their activity controls the rhythmic pulsing used to quantify behavior.</a:t>
            </a:r>
          </a:p>
          <a:p>
            <a:pPr algn="l">
              <a:lnSpc>
                <a:spcPct val="108000"/>
              </a:lnSpc>
              <a:spcAft>
                <a:spcPts val="960"/>
              </a:spcAft>
            </a:pPr>
            <a:r>
              <a:rPr sz="1600" b="0" i="0">
                <a:solidFill>
                  <a:srgbClr val="000000"/>
                </a:solidFill>
                <a:latin typeface="Arial"/>
              </a:rPr>
              <a:t>Nath and colleagues stained bell tissue with phalloidin, which labels actin-rich structures, while the symbiotic algae produced their own fluorescence. The preparation distinguished the rhopalial region from the surrounding symbiont-containing tissue.</a:t>
            </a:r>
          </a:p>
          <a:p>
            <a:pPr algn="l">
              <a:lnSpc>
                <a:spcPct val="108000"/>
              </a:lnSpc>
              <a:spcAft>
                <a:spcPts val="960"/>
              </a:spcAft>
            </a:pPr>
            <a:r>
              <a:rPr sz="1600" b="0" i="0">
                <a:solidFill>
                  <a:srgbClr val="000000"/>
                </a:solidFill>
                <a:latin typeface="Arial"/>
              </a:rPr>
              <a:t>The existence of distributed sensory organs prevents absence of a brain from being confused with absence of neural organization. Pulse tracking measures the motor consequence of this system; it does not identify which rhopalial cells initiate or terminate a sleep bout.</a:t>
            </a:r>
          </a:p>
        </p:txBody>
      </p:sp>
      <p:pic>
        <p:nvPicPr>
          <p:cNvPr id="4" name="Picture 3" descr="n1c.png"/>
          <p:cNvPicPr>
            <a:picLocks noChangeAspect="1"/>
          </p:cNvPicPr>
          <p:nvPr/>
        </p:nvPicPr>
        <p:blipFill>
          <a:blip r:embed="rId2"/>
          <a:stretch>
            <a:fillRect/>
          </a:stretch>
        </p:blipFill>
        <p:spPr>
          <a:xfrm>
            <a:off x="6995649" y="1280160"/>
            <a:ext cx="41375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1(C). Rhopalium and symbiotic algae in stained bell tissue</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Bell movement provides a continuous behavioral record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375262"/>
                </a:solidFill>
                <a:latin typeface="Arial"/>
              </a:rPr>
              <a:t>pulse trace</a:t>
            </a:r>
            <a:r>
              <a:rPr sz="1700" b="0" i="0">
                <a:solidFill>
                  <a:srgbClr val="000000"/>
                </a:solidFill>
                <a:latin typeface="Arial"/>
              </a:rPr>
              <a:t> records changes in image intensity as the bell relaxes and contracts. Nath and colleagues selected a region containing one jellyfish and measured its average pixel intensity in each frame, producing repeated peaks associated with bell movement.</a:t>
            </a:r>
          </a:p>
          <a:p>
            <a:pPr algn="l">
              <a:lnSpc>
                <a:spcPct val="108000"/>
              </a:lnSpc>
              <a:spcAft>
                <a:spcPts val="1019"/>
              </a:spcAft>
            </a:pPr>
            <a:r>
              <a:rPr sz="1700" b="0" i="0">
                <a:solidFill>
                  <a:srgbClr val="000000"/>
                </a:solidFill>
                <a:latin typeface="Arial"/>
              </a:rPr>
              <a:t>The </a:t>
            </a:r>
            <a:r>
              <a:rPr sz="1700" b="1" i="0">
                <a:solidFill>
                  <a:srgbClr val="375262"/>
                </a:solidFill>
                <a:latin typeface="Arial"/>
              </a:rPr>
              <a:t>inter-pulse interval</a:t>
            </a:r>
            <a:r>
              <a:rPr sz="1700" b="0" i="0">
                <a:solidFill>
                  <a:srgbClr val="000000"/>
                </a:solidFill>
                <a:latin typeface="Arial"/>
              </a:rPr>
              <a:t> is the time between successive pulse events. Recording this interval separates frequent rhythmic contractions from prolonged pauses, even when the animal remains in the same position throughout the experiment.</a:t>
            </a:r>
          </a:p>
          <a:p>
            <a:pPr algn="l">
              <a:lnSpc>
                <a:spcPct val="108000"/>
              </a:lnSpc>
              <a:spcAft>
                <a:spcPts val="1019"/>
              </a:spcAft>
            </a:pPr>
            <a:r>
              <a:rPr sz="1700" b="0" i="0">
                <a:solidFill>
                  <a:srgbClr val="000000"/>
                </a:solidFill>
                <a:latin typeface="Arial"/>
              </a:rPr>
              <a:t>A representative ten-second trace resolved individual pulses rather than only a daily activity average. This method measures movement, not action potentials, so changes in the trace cannot by themselves locate the altered activity within a sensory organ, nerve net, or muscle.</a:t>
            </a:r>
          </a:p>
        </p:txBody>
      </p:sp>
      <p:pic>
        <p:nvPicPr>
          <p:cNvPr id="4" name="Picture 3" descr="n1d.png"/>
          <p:cNvPicPr>
            <a:picLocks noChangeAspect="1"/>
          </p:cNvPicPr>
          <p:nvPr/>
        </p:nvPicPr>
        <p:blipFill>
          <a:blip r:embed="rId2"/>
          <a:stretch>
            <a:fillRect/>
          </a:stretch>
        </p:blipFill>
        <p:spPr>
          <a:xfrm>
            <a:off x="7383556" y="1280160"/>
            <a:ext cx="336178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1(D). Bell contractions and intensity-based pulse traces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Nighttime pulsing declines across individual animals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Nath and colleagues counted pulses during the first 20 minutes of each hour over six consecutive days and nights. This sampling retained an hourly view of behavior while comparing the same jellyfish repeatedly across the light–dark cycle.</a:t>
            </a:r>
          </a:p>
          <a:p>
            <a:pPr algn="l">
              <a:lnSpc>
                <a:spcPct val="108000"/>
              </a:lnSpc>
              <a:spcAft>
                <a:spcPts val="1019"/>
              </a:spcAft>
            </a:pPr>
            <a:r>
              <a:rPr sz="1700" b="0" i="0">
                <a:solidFill>
                  <a:srgbClr val="000000"/>
                </a:solidFill>
                <a:latin typeface="Arial"/>
              </a:rPr>
              <a:t>Mean activity fell from 1,155 pulses per 20 minutes during daytime to 781 pulses per 20 minutes at night, a decrease of about 32 percent. Individual animals differed in their baseline pulse rates but shared the nighttime reduction.</a:t>
            </a:r>
          </a:p>
          <a:p>
            <a:pPr algn="l">
              <a:lnSpc>
                <a:spcPct val="108000"/>
              </a:lnSpc>
              <a:spcAft>
                <a:spcPts val="1019"/>
              </a:spcAft>
            </a:pPr>
            <a:r>
              <a:rPr sz="1700" b="0" i="0">
                <a:solidFill>
                  <a:srgbClr val="000000"/>
                </a:solidFill>
                <a:latin typeface="Arial"/>
              </a:rPr>
              <a:t>Normalizing each animal to its own daytime activity preserved the common pattern. The result establishes a reproducible daily change in motor output; it does not establish that every nighttime minute is sleep or that pulse rates can be compared across body sizes without adjustment.</a:t>
            </a:r>
          </a:p>
        </p:txBody>
      </p:sp>
      <p:pic>
        <p:nvPicPr>
          <p:cNvPr id="4" name="Picture 3" descr="n2cd.png"/>
          <p:cNvPicPr>
            <a:picLocks noChangeAspect="1"/>
          </p:cNvPicPr>
          <p:nvPr/>
        </p:nvPicPr>
        <p:blipFill>
          <a:blip r:embed="rId2"/>
          <a:stretch>
            <a:fillRect/>
          </a:stretch>
        </p:blipFill>
        <p:spPr>
          <a:xfrm>
            <a:off x="6504127" y="1280160"/>
            <a:ext cx="5120640" cy="1266928"/>
          </a:xfrm>
          <a:prstGeom prst="rect">
            <a:avLst/>
          </a:prstGeom>
        </p:spPr>
      </p:pic>
      <p:sp>
        <p:nvSpPr>
          <p:cNvPr id="5" name="Figure caption"/>
          <p:cNvSpPr txBox="1"/>
          <p:nvPr/>
        </p:nvSpPr>
        <p:spPr>
          <a:xfrm>
            <a:off x="6504127" y="263852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2(C–D). Individual and normalized activity over six days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Nighttime pauses lengthen the inter-pulse interval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Nighttime slowing contains two components: a longer typical interval between contractions and more frequent prolonged pauses. Nath and colleagues compared daytime and nighttime interval distributions rather than treating the reduction in pulse counts as a uniform change in rhythm.</a:t>
            </a:r>
          </a:p>
          <a:p>
            <a:pPr algn="l">
              <a:lnSpc>
                <a:spcPct val="108000"/>
              </a:lnSpc>
              <a:spcAft>
                <a:spcPts val="1019"/>
              </a:spcAft>
            </a:pPr>
            <a:r>
              <a:rPr sz="1700" b="0" i="0">
                <a:solidFill>
                  <a:srgbClr val="000000"/>
                </a:solidFill>
                <a:latin typeface="Arial"/>
              </a:rPr>
              <a:t>In the representative distribution, the 95th percentile of the inter-pulse interval was 2.5 seconds during daytime and 13.9 seconds at night. This percentile describes the long-interval tail, where sustained pauses become especially apparent.</a:t>
            </a:r>
          </a:p>
          <a:p>
            <a:pPr algn="l">
              <a:lnSpc>
                <a:spcPct val="108000"/>
              </a:lnSpc>
              <a:spcAft>
                <a:spcPts val="1019"/>
              </a:spcAft>
            </a:pPr>
            <a:r>
              <a:rPr sz="1700" b="0" i="0">
                <a:solidFill>
                  <a:srgbClr val="000000"/>
                </a:solidFill>
                <a:latin typeface="Arial"/>
              </a:rPr>
              <a:t>Long pauses are compatible with deeper quiescence, meaning reduced behavioral activity, but interval duration is still a motor measurement. Stimulus-response tests must connect slow pulsing to diminished responsiveness before those intervals can be used as a practical sleep classifier.</a:t>
            </a:r>
          </a:p>
        </p:txBody>
      </p:sp>
      <p:pic>
        <p:nvPicPr>
          <p:cNvPr id="4" name="Picture 3" descr="n2ab.png"/>
          <p:cNvPicPr>
            <a:picLocks noChangeAspect="1"/>
          </p:cNvPicPr>
          <p:nvPr/>
        </p:nvPicPr>
        <p:blipFill>
          <a:blip r:embed="rId2"/>
          <a:stretch>
            <a:fillRect/>
          </a:stretch>
        </p:blipFill>
        <p:spPr>
          <a:xfrm>
            <a:off x="6504127" y="1280160"/>
            <a:ext cx="5120640" cy="1551408"/>
          </a:xfrm>
          <a:prstGeom prst="rect">
            <a:avLst/>
          </a:prstGeom>
        </p:spPr>
      </p:pic>
      <p:sp>
        <p:nvSpPr>
          <p:cNvPr id="5" name="Figure caption"/>
          <p:cNvSpPr txBox="1"/>
          <p:nvPr/>
        </p:nvSpPr>
        <p:spPr>
          <a:xfrm>
            <a:off x="6504127" y="292300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2(A–B). Day and night traces and inter-pulse intervals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Feeding does not explain the daily activity difference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Feeding transiently increased pulsing and occurred during daytime in the initial recordings. A daily food response could therefore inflate daytime activity and produce an apparent day–night difference without a distinct resting state.</a:t>
            </a:r>
          </a:p>
          <a:p>
            <a:pPr algn="l">
              <a:lnSpc>
                <a:spcPct val="108000"/>
              </a:lnSpc>
              <a:spcAft>
                <a:spcPts val="960"/>
              </a:spcAft>
            </a:pPr>
            <a:r>
              <a:rPr sz="1600" b="0" i="0">
                <a:solidFill>
                  <a:srgbClr val="000000"/>
                </a:solidFill>
                <a:latin typeface="Arial"/>
              </a:rPr>
              <a:t>Nath and colleagues repeated tracking over three consecutive days and nights without feeding. Nighttime activity remained lower, including after normalization to each animal’s daytime pulse rate, so the scheduled feeding event was not necessary for the daily difference.</a:t>
            </a:r>
          </a:p>
          <a:p>
            <a:pPr algn="l">
              <a:lnSpc>
                <a:spcPct val="108000"/>
              </a:lnSpc>
              <a:spcAft>
                <a:spcPts val="960"/>
              </a:spcAft>
            </a:pPr>
            <a:r>
              <a:rPr sz="1600" b="0" i="0">
                <a:solidFill>
                  <a:srgbClr val="000000"/>
                </a:solidFill>
                <a:latin typeface="Arial"/>
              </a:rPr>
              <a:t>Food delivered at night could nevertheless transiently increase activity toward daytime levels. The combination separates a persistent daily reduction from an acute food response and supports rapid reversibility, while leaving open whether light and internal physiological signals jointly set the baseline activity.</a:t>
            </a:r>
          </a:p>
        </p:txBody>
      </p:sp>
      <p:pic>
        <p:nvPicPr>
          <p:cNvPr id="4" name="Picture 3" descr="n2efg.png"/>
          <p:cNvPicPr>
            <a:picLocks noChangeAspect="1"/>
          </p:cNvPicPr>
          <p:nvPr/>
        </p:nvPicPr>
        <p:blipFill>
          <a:blip r:embed="rId2"/>
          <a:stretch>
            <a:fillRect/>
          </a:stretch>
        </p:blipFill>
        <p:spPr>
          <a:xfrm>
            <a:off x="6504127" y="1280160"/>
            <a:ext cx="5120640" cy="1208841"/>
          </a:xfrm>
          <a:prstGeom prst="rect">
            <a:avLst/>
          </a:prstGeom>
        </p:spPr>
      </p:pic>
      <p:sp>
        <p:nvSpPr>
          <p:cNvPr id="5" name="Figure caption"/>
          <p:cNvSpPr txBox="1"/>
          <p:nvPr/>
        </p:nvSpPr>
        <p:spPr>
          <a:xfrm>
            <a:off x="6504127" y="258044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2(E–G). Day–night activity with and without feeding</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The drop test standardizes an arousing disturbance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75262"/>
                </a:solidFill>
                <a:latin typeface="Arial"/>
              </a:rPr>
              <a:t>arousing stimulus</a:t>
            </a:r>
            <a:r>
              <a:rPr sz="1600" b="0" i="0">
                <a:solidFill>
                  <a:srgbClr val="000000"/>
                </a:solidFill>
                <a:latin typeface="Arial"/>
              </a:rPr>
              <a:t> is an environmental disturbance that increases behavioral responsiveness. Cassiopea normally rests on a supporting surface; releasing it into the water column induces reorientation and pulsing toward the bottom.</a:t>
            </a:r>
          </a:p>
          <a:p>
            <a:pPr algn="l">
              <a:lnSpc>
                <a:spcPct val="108000"/>
              </a:lnSpc>
              <a:spcAft>
                <a:spcPts val="960"/>
              </a:spcAft>
            </a:pPr>
            <a:r>
              <a:rPr sz="1600" b="0" i="0">
                <a:solidFill>
                  <a:srgbClr val="000000"/>
                </a:solidFill>
                <a:latin typeface="Arial"/>
              </a:rPr>
              <a:t>The published apparatus used a short pipe with a screened bottom. Animals were lifted to a fixed height, allowed five minutes to acclimate, and then released by rapidly lowering the supporting screen, producing the same type of disturbance during day and night.</a:t>
            </a:r>
          </a:p>
          <a:p>
            <a:pPr algn="l">
              <a:lnSpc>
                <a:spcPct val="108000"/>
              </a:lnSpc>
              <a:spcAft>
                <a:spcPts val="960"/>
              </a:spcAft>
            </a:pPr>
            <a:r>
              <a:rPr sz="1600" b="0" i="0">
                <a:solidFill>
                  <a:srgbClr val="000000"/>
                </a:solidFill>
                <a:latin typeface="Arial"/>
              </a:rPr>
              <a:t>Investigators measured the time to first pulse and the time to regain the screened bottom. The assay links state to a controlled sensorimotor response, but cannot separately measure sensory detection, neural processing, and muscle activation within the observed latency.</a:t>
            </a:r>
          </a:p>
        </p:txBody>
      </p:sp>
      <p:pic>
        <p:nvPicPr>
          <p:cNvPr id="4" name="Picture 3" descr="n3a.png"/>
          <p:cNvPicPr>
            <a:picLocks noChangeAspect="1"/>
          </p:cNvPicPr>
          <p:nvPr/>
        </p:nvPicPr>
        <p:blipFill>
          <a:blip r:embed="rId2"/>
          <a:stretch>
            <a:fillRect/>
          </a:stretch>
        </p:blipFill>
        <p:spPr>
          <a:xfrm>
            <a:off x="6504127" y="1280160"/>
            <a:ext cx="5120640" cy="2026920"/>
          </a:xfrm>
          <a:prstGeom prst="rect">
            <a:avLst/>
          </a:prstGeom>
        </p:spPr>
      </p:pic>
      <p:sp>
        <p:nvSpPr>
          <p:cNvPr id="5" name="Figure caption"/>
          <p:cNvSpPr txBox="1"/>
          <p:nvPr/>
        </p:nvSpPr>
        <p:spPr>
          <a:xfrm>
            <a:off x="6504127" y="33985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3(A). The published water-column drop-test preparation</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Nighttime animals respond more slowly to displacement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drop test produced a first-pulse latency of 2.1 seconds during daytime and 5.9 seconds at night. The same displacement therefore elicited a slower initial motor response during the quiescent nighttime condition.</a:t>
            </a:r>
          </a:p>
          <a:p>
            <a:pPr algn="l">
              <a:lnSpc>
                <a:spcPct val="108000"/>
              </a:lnSpc>
              <a:spcAft>
                <a:spcPts val="1019"/>
              </a:spcAft>
            </a:pPr>
            <a:r>
              <a:rPr sz="1700" b="0" i="0">
                <a:solidFill>
                  <a:srgbClr val="000000"/>
                </a:solidFill>
                <a:latin typeface="Arial"/>
              </a:rPr>
              <a:t>Return to the screened bottom also took longer: 8.6 seconds during daytime compared with 12.0 seconds at night. This second endpoint includes the contractions and movement needed to complete the response, rather than only its initiation.</a:t>
            </a:r>
          </a:p>
          <a:p>
            <a:pPr algn="l">
              <a:lnSpc>
                <a:spcPct val="108000"/>
              </a:lnSpc>
              <a:spcAft>
                <a:spcPts val="1019"/>
              </a:spcAft>
            </a:pPr>
            <a:r>
              <a:rPr sz="1700" b="0" i="0">
                <a:solidFill>
                  <a:srgbClr val="000000"/>
                </a:solidFill>
                <a:latin typeface="Arial"/>
              </a:rPr>
              <a:t>The agreement between the two endpoints supports reduced responsiveness during nighttime rest. Neither endpoint directly measures conscious perception or a particular receptor’s sensitivity; the operational conclusion is that the animal’s sensorimotor response to the same external disturbance depends on behavioral state.</a:t>
            </a:r>
          </a:p>
        </p:txBody>
      </p:sp>
      <p:pic>
        <p:nvPicPr>
          <p:cNvPr id="4" name="Picture 3" descr="n3bc.png"/>
          <p:cNvPicPr>
            <a:picLocks noChangeAspect="1"/>
          </p:cNvPicPr>
          <p:nvPr/>
        </p:nvPicPr>
        <p:blipFill>
          <a:blip r:embed="rId2"/>
          <a:stretch>
            <a:fillRect/>
          </a:stretch>
        </p:blipFill>
        <p:spPr>
          <a:xfrm>
            <a:off x="6504127" y="1280160"/>
            <a:ext cx="5120640" cy="1197996"/>
          </a:xfrm>
          <a:prstGeom prst="rect">
            <a:avLst/>
          </a:prstGeom>
        </p:spPr>
      </p:pic>
      <p:sp>
        <p:nvSpPr>
          <p:cNvPr id="5" name="Figure caption"/>
          <p:cNvSpPr txBox="1"/>
          <p:nvPr/>
        </p:nvSpPr>
        <p:spPr>
          <a:xfrm>
            <a:off x="6504127" y="256959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3(B–C). Latency to first pulse and return to the bottom</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A second disturbance restores rapid responsiveness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Reversibility</a:t>
            </a:r>
            <a:r>
              <a:rPr sz="1600" b="0" i="0">
                <a:solidFill>
                  <a:srgbClr val="000000"/>
                </a:solidFill>
                <a:latin typeface="Arial"/>
              </a:rPr>
              <a:t> distinguishes sleep from a persistent inability to move or respond. Nath and colleagues repeated the drop within 30 seconds of the first disturbance, after the initial stimulus had already aroused the animal.</a:t>
            </a:r>
          </a:p>
          <a:p>
            <a:pPr algn="l">
              <a:lnSpc>
                <a:spcPct val="108000"/>
              </a:lnSpc>
              <a:spcAft>
                <a:spcPts val="960"/>
              </a:spcAft>
            </a:pPr>
            <a:r>
              <a:rPr sz="1600" b="0" i="0">
                <a:solidFill>
                  <a:srgbClr val="000000"/>
                </a:solidFill>
                <a:latin typeface="Arial"/>
              </a:rPr>
              <a:t>At night, the second drop sharply reduced both the first-pulse delay and the time to reach the supporting surface. Responses after the repeated disturbance became comparable during daytime and nighttime rather than retaining the slow initial nighttime response.</a:t>
            </a:r>
          </a:p>
          <a:p>
            <a:pPr algn="l">
              <a:lnSpc>
                <a:spcPct val="108000"/>
              </a:lnSpc>
              <a:spcAft>
                <a:spcPts val="960"/>
              </a:spcAft>
            </a:pPr>
            <a:r>
              <a:rPr sz="1600" b="0" i="0">
                <a:solidFill>
                  <a:srgbClr val="000000"/>
                </a:solidFill>
                <a:latin typeface="Arial"/>
              </a:rPr>
              <a:t>The animal could therefore produce a rapid response at night when recently aroused. This control argues against an unavoidable nighttime loss of motor capacity, while not resolving whether the restored responsiveness arises from sensory adaptation, pacemaker modulation, or other state-dependent neural processes.</a:t>
            </a:r>
          </a:p>
        </p:txBody>
      </p:sp>
      <p:pic>
        <p:nvPicPr>
          <p:cNvPr id="4" name="Picture 3" descr="n3de.png"/>
          <p:cNvPicPr>
            <a:picLocks noChangeAspect="1"/>
          </p:cNvPicPr>
          <p:nvPr/>
        </p:nvPicPr>
        <p:blipFill>
          <a:blip r:embed="rId2"/>
          <a:stretch>
            <a:fillRect/>
          </a:stretch>
        </p:blipFill>
        <p:spPr>
          <a:xfrm>
            <a:off x="6504127" y="1280160"/>
            <a:ext cx="5120640" cy="2254214"/>
          </a:xfrm>
          <a:prstGeom prst="rect">
            <a:avLst/>
          </a:prstGeom>
        </p:spPr>
      </p:pic>
      <p:sp>
        <p:nvSpPr>
          <p:cNvPr id="5" name="Figure caption"/>
          <p:cNvSpPr txBox="1"/>
          <p:nvPr/>
        </p:nvSpPr>
        <p:spPr>
          <a:xfrm>
            <a:off x="6504127" y="362581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3(D–E). Rapid recovery of responsiveness after repeated drops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Water pulses interrupt nighttime quiescence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Sleep deprivation</a:t>
            </a:r>
            <a:r>
              <a:rPr sz="1600" b="0" i="0">
                <a:solidFill>
                  <a:srgbClr val="000000"/>
                </a:solidFill>
                <a:latin typeface="Arial"/>
              </a:rPr>
              <a:t> prevents an animal from maintaining its usual resting state. Nath and colleagues applied a ten-second water pulse every 20 minutes during a defined portion of the night, using an external mechanical disturbance rather than removing a neural structure.</a:t>
            </a:r>
          </a:p>
          <a:p>
            <a:pPr algn="l">
              <a:lnSpc>
                <a:spcPct val="108000"/>
              </a:lnSpc>
              <a:spcAft>
                <a:spcPts val="960"/>
              </a:spcAft>
            </a:pPr>
            <a:r>
              <a:rPr sz="1600" b="0" i="0">
                <a:solidFill>
                  <a:srgbClr val="000000"/>
                </a:solidFill>
                <a:latin typeface="Arial"/>
              </a:rPr>
              <a:t>Each disturbance increased jellyfish pulsing for approximately five minutes. The protocol therefore disrupted quiescence during roughly one-quarter of the perturbation period, while allowing intervening rest between water pulses.</a:t>
            </a:r>
          </a:p>
          <a:p>
            <a:pPr algn="l">
              <a:lnSpc>
                <a:spcPct val="108000"/>
              </a:lnSpc>
              <a:spcAft>
                <a:spcPts val="960"/>
              </a:spcAft>
            </a:pPr>
            <a:r>
              <a:rPr sz="1600" b="0" i="0">
                <a:solidFill>
                  <a:srgbClr val="000000"/>
                </a:solidFill>
                <a:latin typeface="Arial"/>
              </a:rPr>
              <a:t>A six-hour nighttime treatment was followed by reduced activity during the next daytime period. The manipulation changed prior rest history; whether the subsequent decrease represented compensatory sleep required comparison with daytime perturbation and evidence of reduced responsiveness during recovery.</a:t>
            </a:r>
          </a:p>
        </p:txBody>
      </p:sp>
      <p:pic>
        <p:nvPicPr>
          <p:cNvPr id="4" name="Picture 3" descr="n4abc.png"/>
          <p:cNvPicPr>
            <a:picLocks noChangeAspect="1"/>
          </p:cNvPicPr>
          <p:nvPr/>
        </p:nvPicPr>
        <p:blipFill>
          <a:blip r:embed="rId2"/>
          <a:stretch>
            <a:fillRect/>
          </a:stretch>
        </p:blipFill>
        <p:spPr>
          <a:xfrm>
            <a:off x="7948244" y="1280160"/>
            <a:ext cx="223240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4(A–C). Six-hour deprivation and daytime perturbation controls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Six hours of lost rest produce daytime rebound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Sleep homeostasis</a:t>
            </a:r>
            <a:r>
              <a:rPr sz="1600" b="0" i="0">
                <a:solidFill>
                  <a:srgbClr val="000000"/>
                </a:solidFill>
                <a:latin typeface="Arial"/>
              </a:rPr>
              <a:t> is the regulation that increases sleep drive after sleep has been lost. Following perturbation during the last six hours of the night, Cassiopea reduced activity during the first four hours of the next day.</a:t>
            </a:r>
          </a:p>
          <a:p>
            <a:pPr algn="l">
              <a:lnSpc>
                <a:spcPct val="108000"/>
              </a:lnSpc>
              <a:spcAft>
                <a:spcPts val="960"/>
              </a:spcAft>
            </a:pPr>
            <a:r>
              <a:rPr sz="1600" b="0" i="0">
                <a:solidFill>
                  <a:srgbClr val="000000"/>
                </a:solidFill>
                <a:latin typeface="Arial"/>
              </a:rPr>
              <a:t>Mean activity decreased from 1,146 to 1,008 pulses per 20 minutes, approximately 12 percent. The recovery period contained both slower rhythmic pulsing and longer pauses, rather than a single permanent reduction in the animal’s ability to contract.</a:t>
            </a:r>
          </a:p>
          <a:p>
            <a:pPr algn="l">
              <a:lnSpc>
                <a:spcPct val="108000"/>
              </a:lnSpc>
              <a:spcAft>
                <a:spcPts val="960"/>
              </a:spcAft>
            </a:pPr>
            <a:r>
              <a:rPr sz="1600" b="0" i="0">
                <a:solidFill>
                  <a:srgbClr val="000000"/>
                </a:solidFill>
                <a:latin typeface="Arial"/>
              </a:rPr>
              <a:t>Day and night activity subsequently returned toward baseline. This temporal compensation is consistent with homeostatic sleep regulation, but mechanical disturbance also causes stress, so the interpretation depends on controls that expose animals to similar perturbations during their ordinarily active phase.</a:t>
            </a:r>
          </a:p>
        </p:txBody>
      </p:sp>
      <p:pic>
        <p:nvPicPr>
          <p:cNvPr id="4" name="Picture 3" descr="n4abc.png"/>
          <p:cNvPicPr>
            <a:picLocks noChangeAspect="1"/>
          </p:cNvPicPr>
          <p:nvPr/>
        </p:nvPicPr>
        <p:blipFill>
          <a:blip r:embed="rId2"/>
          <a:stretch>
            <a:fillRect/>
          </a:stretch>
        </p:blipFill>
        <p:spPr>
          <a:xfrm>
            <a:off x="7948244" y="1280160"/>
            <a:ext cx="223240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4(A–C). Six-hour deprivation and daytime perturbation controls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Longer deprivation produces a larger recovery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Extending mechanical perturbation across the full 12-hour night produced a larger daytime activity reduction than the six-hour protocol. Nath and colleagues compared the recovery period with the same animals’ activity before deprivation.</a:t>
            </a:r>
          </a:p>
          <a:p>
            <a:pPr algn="l">
              <a:lnSpc>
                <a:spcPct val="108000"/>
              </a:lnSpc>
              <a:spcAft>
                <a:spcPts val="1019"/>
              </a:spcAft>
            </a:pPr>
            <a:r>
              <a:rPr sz="1700" b="0" i="0">
                <a:solidFill>
                  <a:srgbClr val="000000"/>
                </a:solidFill>
                <a:latin typeface="Arial"/>
              </a:rPr>
              <a:t>Mean daytime activity fell from 1,361 to 1,132 pulses per 20 minutes, about 17 percent. Reduced activity persisted across the following day, rather than being confined to the first four hours as in the shorter treatment.</a:t>
            </a:r>
          </a:p>
          <a:p>
            <a:pPr algn="l">
              <a:lnSpc>
                <a:spcPct val="108000"/>
              </a:lnSpc>
              <a:spcAft>
                <a:spcPts val="1019"/>
              </a:spcAft>
            </a:pPr>
            <a:r>
              <a:rPr sz="1700" b="0" i="0">
                <a:solidFill>
                  <a:srgbClr val="000000"/>
                </a:solidFill>
                <a:latin typeface="Arial"/>
              </a:rPr>
              <a:t>The dependence on disturbance duration supports a graded homeostatic response: greater disruption of normal rest increases subsequent sleep drive. It does not establish a precise conversion between disturbed minutes and recovered sleep because pulse counts are an activity measure rather than a complete minute-by-minute sleep classification.</a:t>
            </a:r>
          </a:p>
        </p:txBody>
      </p:sp>
      <p:pic>
        <p:nvPicPr>
          <p:cNvPr id="4" name="Picture 3" descr="n4def.png"/>
          <p:cNvPicPr>
            <a:picLocks noChangeAspect="1"/>
          </p:cNvPicPr>
          <p:nvPr/>
        </p:nvPicPr>
        <p:blipFill>
          <a:blip r:embed="rId2"/>
          <a:stretch>
            <a:fillRect/>
          </a:stretch>
        </p:blipFill>
        <p:spPr>
          <a:xfrm>
            <a:off x="7854129" y="1280160"/>
            <a:ext cx="24206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4(D–F). Twelve-hour deprivation and daytime perturbation controls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Daytime perturbation tests the muscle-fatigue explanation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same water pulses could conceivably reduce subsequent activity by tiring the bell musculature. Nath and colleagues therefore applied six-hour and 12-hour perturbations during daytime, when the animals were usually more active and less quiescent.</a:t>
            </a:r>
          </a:p>
          <a:p>
            <a:pPr algn="l">
              <a:lnSpc>
                <a:spcPct val="108000"/>
              </a:lnSpc>
              <a:spcAft>
                <a:spcPts val="960"/>
              </a:spcAft>
            </a:pPr>
            <a:r>
              <a:rPr sz="1600" b="0" i="0">
                <a:solidFill>
                  <a:srgbClr val="000000"/>
                </a:solidFill>
                <a:latin typeface="Arial"/>
              </a:rPr>
              <a:t>Daytime perturbation did not produce the comparable subsequent reduction in activity observed after nighttime disruption. This </a:t>
            </a:r>
            <a:r>
              <a:rPr sz="1600" b="1" i="0">
                <a:solidFill>
                  <a:srgbClr val="375262"/>
                </a:solidFill>
                <a:latin typeface="Arial"/>
              </a:rPr>
              <a:t>active-phase control</a:t>
            </a:r>
            <a:r>
              <a:rPr sz="1600" b="0" i="0">
                <a:solidFill>
                  <a:srgbClr val="000000"/>
                </a:solidFill>
                <a:latin typeface="Arial"/>
              </a:rPr>
              <a:t> exposed animals to the mechanical treatment while changing whether the treatment interrupted their normal resting period.</a:t>
            </a:r>
          </a:p>
          <a:p>
            <a:pPr algn="l">
              <a:lnSpc>
                <a:spcPct val="108000"/>
              </a:lnSpc>
              <a:spcAft>
                <a:spcPts val="960"/>
              </a:spcAft>
            </a:pPr>
            <a:r>
              <a:rPr sz="1600" b="0" i="0">
                <a:solidFill>
                  <a:srgbClr val="000000"/>
                </a:solidFill>
                <a:latin typeface="Arial"/>
              </a:rPr>
              <a:t>The contrast argues against general exercise or muscle fatigue as a sufficient explanation for recovery slowing. It supports a consequence of lost nighttime rest, although it does not exclude every stress response that might interact specifically with the animal’s resting phase.</a:t>
            </a:r>
          </a:p>
        </p:txBody>
      </p:sp>
      <p:pic>
        <p:nvPicPr>
          <p:cNvPr id="4" name="Picture 3" descr="n4def.png"/>
          <p:cNvPicPr>
            <a:picLocks noChangeAspect="1"/>
          </p:cNvPicPr>
          <p:nvPr/>
        </p:nvPicPr>
        <p:blipFill>
          <a:blip r:embed="rId2"/>
          <a:stretch>
            <a:fillRect/>
          </a:stretch>
        </p:blipFill>
        <p:spPr>
          <a:xfrm>
            <a:off x="7854129" y="1280160"/>
            <a:ext cx="24206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Nath (2017), Fig. 4(D–F). Twelve-hour deprivation and daytime perturbation controls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Slow pulsing predicts sleep beyond the light condition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Abrams and colleagues tested whether pre-stimulus pulse intervals predicted responsiveness independently of whether the lights were on. They averaged three inter-pulse intervals before a drop and normalized each animal’s activity to its own baseline.</a:t>
            </a:r>
          </a:p>
          <a:p>
            <a:pPr algn="l">
              <a:lnSpc>
                <a:spcPct val="108000"/>
              </a:lnSpc>
              <a:spcAft>
                <a:spcPts val="960"/>
              </a:spcAft>
            </a:pPr>
            <a:r>
              <a:rPr sz="1600" b="0" i="0">
                <a:solidFill>
                  <a:srgbClr val="000000"/>
                </a:solidFill>
                <a:latin typeface="Arial"/>
              </a:rPr>
              <a:t>Slow-pulsing animals responded more slowly after five minutes of acclimation in both daytime and nighttime conditions. A repeated drop after two minutes of post-disturbance arousal removed the relationship between slow pulsing and delayed response.</a:t>
            </a:r>
          </a:p>
          <a:p>
            <a:pPr algn="l">
              <a:lnSpc>
                <a:spcPct val="108000"/>
              </a:lnSpc>
              <a:spcAft>
                <a:spcPts val="960"/>
              </a:spcAft>
            </a:pPr>
            <a:r>
              <a:rPr sz="1600" b="0" i="0">
                <a:solidFill>
                  <a:srgbClr val="000000"/>
                </a:solidFill>
                <a:latin typeface="Arial"/>
              </a:rPr>
              <a:t>This analysis connects a motor threshold to independently measured responsiveness. It supports using pulse intervals to distinguish sleep from wakefulness within either lighting condition, while emphasizing that immediately post-arousal motor activity cannot be classified with the same assumptions as an undisturbed baseline.</a:t>
            </a:r>
          </a:p>
        </p:txBody>
      </p:sp>
      <p:pic>
        <p:nvPicPr>
          <p:cNvPr id="4" name="Picture 3" descr="g1de.png"/>
          <p:cNvPicPr>
            <a:picLocks noChangeAspect="1"/>
          </p:cNvPicPr>
          <p:nvPr/>
        </p:nvPicPr>
        <p:blipFill>
          <a:blip r:embed="rId2"/>
          <a:stretch>
            <a:fillRect/>
          </a:stretch>
        </p:blipFill>
        <p:spPr>
          <a:xfrm>
            <a:off x="6504127" y="1280160"/>
            <a:ext cx="5120640" cy="2042926"/>
          </a:xfrm>
          <a:prstGeom prst="rect">
            <a:avLst/>
          </a:prstGeom>
        </p:spPr>
      </p:pic>
      <p:sp>
        <p:nvSpPr>
          <p:cNvPr id="5" name="Figure caption"/>
          <p:cNvSpPr txBox="1"/>
          <p:nvPr/>
        </p:nvSpPr>
        <p:spPr>
          <a:xfrm>
            <a:off x="6504127" y="34145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1(D–E). Pulse tracking and state-dependent drop-test responses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Light-based deprivation provides an independent treatment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Abrams and colleagues interrupted nighttime rest with five minutes of light every 25 minutes. This </a:t>
            </a:r>
            <a:r>
              <a:rPr sz="1600" b="1" i="0">
                <a:solidFill>
                  <a:srgbClr val="375262"/>
                </a:solidFill>
                <a:latin typeface="Arial"/>
              </a:rPr>
              <a:t>light-based sleep deprivation</a:t>
            </a:r>
            <a:r>
              <a:rPr sz="1600" b="0" i="0">
                <a:solidFill>
                  <a:srgbClr val="000000"/>
                </a:solidFill>
                <a:latin typeface="Arial"/>
              </a:rPr>
              <a:t> provides a different disturbance from the repeated water pulses used in the original behavioral study.</a:t>
            </a:r>
          </a:p>
          <a:p>
            <a:pPr algn="l">
              <a:lnSpc>
                <a:spcPct val="108000"/>
              </a:lnSpc>
              <a:spcAft>
                <a:spcPts val="960"/>
              </a:spcAft>
            </a:pPr>
            <a:r>
              <a:rPr sz="1600" b="0" i="0">
                <a:solidFill>
                  <a:srgbClr val="000000"/>
                </a:solidFill>
                <a:latin typeface="Arial"/>
              </a:rPr>
              <a:t>Animals were recorded before treatment and after two nights of light-based disruption. Sleep increased during the subsequent daytime period, producing a compensatory response even though the deprivation stimulus did not require repeated water turbulence.</a:t>
            </a:r>
          </a:p>
          <a:p>
            <a:pPr algn="l">
              <a:lnSpc>
                <a:spcPct val="108000"/>
              </a:lnSpc>
              <a:spcAft>
                <a:spcPts val="960"/>
              </a:spcAft>
            </a:pPr>
            <a:r>
              <a:rPr sz="1600" b="0" i="0">
                <a:solidFill>
                  <a:srgbClr val="000000"/>
                </a:solidFill>
                <a:latin typeface="Arial"/>
              </a:rPr>
              <a:t>Concordant rebound after light and mechanical disturbance strengthens the identification of a regulated resting state. Light can also directly affect sensory activity and gene expression, so comparisons between deprivation methods are especially useful when selecting molecular changes that may reflect prolonged wakefulness rather than one particular stimulus.</a:t>
            </a:r>
          </a:p>
        </p:txBody>
      </p:sp>
      <p:pic>
        <p:nvPicPr>
          <p:cNvPr id="4" name="Picture 3" descr="g1g.png"/>
          <p:cNvPicPr>
            <a:picLocks noChangeAspect="1"/>
          </p:cNvPicPr>
          <p:nvPr/>
        </p:nvPicPr>
        <p:blipFill>
          <a:blip r:embed="rId2"/>
          <a:stretch>
            <a:fillRect/>
          </a:stretch>
        </p:blipFill>
        <p:spPr>
          <a:xfrm>
            <a:off x="6504127" y="1280160"/>
            <a:ext cx="5120640" cy="3778753"/>
          </a:xfrm>
          <a:prstGeom prst="rect">
            <a:avLst/>
          </a:prstGeom>
        </p:spPr>
      </p:pic>
      <p:sp>
        <p:nvSpPr>
          <p:cNvPr id="5" name="Figure caption"/>
          <p:cNvSpPr txBox="1"/>
          <p:nvPr/>
        </p:nvSpPr>
        <p:spPr>
          <a:xfrm>
            <a:off x="6504127" y="515035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1(G). Sleep rebound after light-based deprivation</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A light stimulus calibrates a pulse-rate threshold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Aguillon and colleagues measured Cassiopea andromeda pulsing under 12-hour light and 12-hour dark conditions. They then delivered a brief light stimulus at night and measured the delay until a behavioral response.</a:t>
            </a:r>
          </a:p>
          <a:p>
            <a:pPr algn="l">
              <a:lnSpc>
                <a:spcPct val="108000"/>
              </a:lnSpc>
              <a:spcAft>
                <a:spcPts val="960"/>
              </a:spcAft>
            </a:pPr>
            <a:r>
              <a:rPr sz="1600" b="0" i="0">
                <a:solidFill>
                  <a:srgbClr val="000000"/>
                </a:solidFill>
                <a:latin typeface="Arial"/>
              </a:rPr>
              <a:t>Animals pulsing below 37 contractions per minute responded more slowly than animals above that rate. A threshold-selection analysis used the response latencies to identify a pulse rate that separated relatively slow and rapid responses under the study conditions.</a:t>
            </a:r>
          </a:p>
          <a:p>
            <a:pPr algn="l">
              <a:lnSpc>
                <a:spcPct val="108000"/>
              </a:lnSpc>
              <a:spcAft>
                <a:spcPts val="960"/>
              </a:spcAft>
            </a:pPr>
            <a:r>
              <a:rPr sz="1600" b="0" i="0">
                <a:solidFill>
                  <a:srgbClr val="000000"/>
                </a:solidFill>
                <a:latin typeface="Arial"/>
              </a:rPr>
              <a:t>The threshold is grounded in responsiveness rather than chosen from darkness alone. It is specific to the preparation and animals measured; the earlier Cassiopea studies used different species or normalization procedures, so their absolute pulse rates should not be treated as interchangeable sleep thresholds.</a:t>
            </a:r>
          </a:p>
        </p:txBody>
      </p:sp>
      <p:pic>
        <p:nvPicPr>
          <p:cNvPr id="4" name="Picture 3" descr="d1efgh.png"/>
          <p:cNvPicPr>
            <a:picLocks noChangeAspect="1"/>
          </p:cNvPicPr>
          <p:nvPr/>
        </p:nvPicPr>
        <p:blipFill>
          <a:blip r:embed="rId2"/>
          <a:stretch>
            <a:fillRect/>
          </a:stretch>
        </p:blipFill>
        <p:spPr>
          <a:xfrm>
            <a:off x="6504127" y="1280160"/>
            <a:ext cx="5120640" cy="1354384"/>
          </a:xfrm>
          <a:prstGeom prst="rect">
            <a:avLst/>
          </a:prstGeom>
        </p:spPr>
      </p:pic>
      <p:sp>
        <p:nvSpPr>
          <p:cNvPr id="5" name="Figure caption"/>
          <p:cNvSpPr txBox="1"/>
          <p:nvPr/>
        </p:nvSpPr>
        <p:spPr>
          <a:xfrm>
            <a:off x="6504127" y="272598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1(e–k). Light-response latency and the pulse-rate sleep threshold</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Three minutes of slow pulsing distinguish sustained sleep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short drop in pulse rate might reflect an isolated pause rather than a stable sleep state. Aguillon and colleagues therefore related light-response latency to the duration spent below 37 pulses per minute before stimulation.</a:t>
            </a:r>
          </a:p>
          <a:p>
            <a:pPr algn="l">
              <a:lnSpc>
                <a:spcPct val="108000"/>
              </a:lnSpc>
              <a:spcAft>
                <a:spcPts val="960"/>
              </a:spcAft>
            </a:pPr>
            <a:r>
              <a:rPr sz="1600" b="0" i="0">
                <a:solidFill>
                  <a:srgbClr val="000000"/>
                </a:solidFill>
                <a:latin typeface="Arial"/>
              </a:rPr>
              <a:t>Animals below that rate for more than three minutes responded more slowly than those with shorter low-activity periods. The investigators combined the rate and duration requirements to quantify sleep continuously across their subsequent experiments.</a:t>
            </a:r>
          </a:p>
          <a:p>
            <a:pPr algn="l">
              <a:lnSpc>
                <a:spcPct val="108000"/>
              </a:lnSpc>
              <a:spcAft>
                <a:spcPts val="960"/>
              </a:spcAft>
            </a:pPr>
            <a:r>
              <a:rPr sz="1600" b="0" i="0">
                <a:solidFill>
                  <a:srgbClr val="000000"/>
                </a:solidFill>
                <a:latin typeface="Arial"/>
              </a:rPr>
              <a:t>This </a:t>
            </a:r>
            <a:r>
              <a:rPr sz="1600" b="1" i="0">
                <a:solidFill>
                  <a:srgbClr val="375262"/>
                </a:solidFill>
                <a:latin typeface="Arial"/>
              </a:rPr>
              <a:t>sleep-bout criterion</a:t>
            </a:r>
            <a:r>
              <a:rPr sz="1600" b="0" i="0">
                <a:solidFill>
                  <a:srgbClr val="000000"/>
                </a:solidFill>
                <a:latin typeface="Arial"/>
              </a:rPr>
              <a:t> identifies sustained slow activity associated with elevated response latency. It allows sleep percentage and bout length to be measured, while remaining a behavioral definition rather than evidence for mammalian rapid-eye-movement sleep or an identical neural activity pattern across species.</a:t>
            </a:r>
          </a:p>
        </p:txBody>
      </p:sp>
      <p:pic>
        <p:nvPicPr>
          <p:cNvPr id="4" name="Picture 3" descr="d1efgh.png"/>
          <p:cNvPicPr>
            <a:picLocks noChangeAspect="1"/>
          </p:cNvPicPr>
          <p:nvPr/>
        </p:nvPicPr>
        <p:blipFill>
          <a:blip r:embed="rId2"/>
          <a:stretch>
            <a:fillRect/>
          </a:stretch>
        </p:blipFill>
        <p:spPr>
          <a:xfrm>
            <a:off x="6504127" y="1280160"/>
            <a:ext cx="5120640" cy="1354384"/>
          </a:xfrm>
          <a:prstGeom prst="rect">
            <a:avLst/>
          </a:prstGeom>
        </p:spPr>
      </p:pic>
      <p:sp>
        <p:nvSpPr>
          <p:cNvPr id="5" name="Figure caption"/>
          <p:cNvSpPr txBox="1"/>
          <p:nvPr/>
        </p:nvSpPr>
        <p:spPr>
          <a:xfrm>
            <a:off x="6504127" y="272598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1(e–k). Slow-pulsing bout duration and stimulus responsiveness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Sleep timing includes nighttime rest and midday naps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Using the pulse-rate and duration criteria, Aguillon and colleagues quantified Cassiopea sleep over repeated daily cycles. Sleep occupied more time during the dark interval but also appeared during the daytime, including a recurring midday increase.</a:t>
            </a:r>
          </a:p>
          <a:p>
            <a:pPr algn="l">
              <a:lnSpc>
                <a:spcPct val="108000"/>
              </a:lnSpc>
              <a:spcAft>
                <a:spcPts val="960"/>
              </a:spcAft>
            </a:pPr>
            <a:r>
              <a:rPr sz="1600" b="0" i="0">
                <a:solidFill>
                  <a:srgbClr val="000000"/>
                </a:solidFill>
                <a:latin typeface="Arial"/>
              </a:rPr>
              <a:t>Under their laboratory conditions, classified sleep occupied 63.7 percent of nighttime and 45.3 percent of daytime. These percentages describe threshold-defined sleep in this experiment, rather than values obtained by simply counting all darkness as sleep.</a:t>
            </a:r>
          </a:p>
          <a:p>
            <a:pPr algn="l">
              <a:lnSpc>
                <a:spcPct val="108000"/>
              </a:lnSpc>
              <a:spcAft>
                <a:spcPts val="960"/>
              </a:spcAft>
            </a:pPr>
            <a:r>
              <a:rPr sz="1600" b="0" i="0">
                <a:solidFill>
                  <a:srgbClr val="000000"/>
                </a:solidFill>
                <a:latin typeface="Arial"/>
              </a:rPr>
              <a:t>The daily pattern had a period near 24.2 hours under a light–dark cycle. Such a rhythm documents daily organization but does not by itself establish an internal circadian oscillator; persistence without cyclic lighting is needed to separate internal timing from a direct environmental response.</a:t>
            </a:r>
          </a:p>
        </p:txBody>
      </p:sp>
      <p:pic>
        <p:nvPicPr>
          <p:cNvPr id="4" name="Picture 3" descr="d1lmn.png"/>
          <p:cNvPicPr>
            <a:picLocks noChangeAspect="1"/>
          </p:cNvPicPr>
          <p:nvPr/>
        </p:nvPicPr>
        <p:blipFill>
          <a:blip r:embed="rId2"/>
          <a:stretch>
            <a:fillRect/>
          </a:stretch>
        </p:blipFill>
        <p:spPr>
          <a:xfrm>
            <a:off x="6504127" y="1280160"/>
            <a:ext cx="5120640" cy="1323311"/>
          </a:xfrm>
          <a:prstGeom prst="rect">
            <a:avLst/>
          </a:prstGeom>
        </p:spPr>
      </p:pic>
      <p:sp>
        <p:nvSpPr>
          <p:cNvPr id="5" name="Figure caption"/>
          <p:cNvSpPr txBox="1"/>
          <p:nvPr/>
        </p:nvSpPr>
        <p:spPr>
          <a:xfrm>
            <a:off x="6504127" y="269491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1(l–n). Daily sleep percentages and rhythm</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Body size changes the meaning of a pulse rate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Aguillon and colleagues recorded wild Cassiopea in shallow water near Key Largo, Florida. Larger animals pulsed more slowly, creating a strong relationship between bell diameter and the absolute rate of contractions.</a:t>
            </a:r>
          </a:p>
          <a:p>
            <a:pPr algn="l">
              <a:lnSpc>
                <a:spcPct val="108000"/>
              </a:lnSpc>
              <a:spcAft>
                <a:spcPts val="960"/>
              </a:spcAft>
            </a:pPr>
            <a:r>
              <a:rPr sz="1600" b="0" i="0">
                <a:solidFill>
                  <a:srgbClr val="000000"/>
                </a:solidFill>
                <a:latin typeface="Arial"/>
              </a:rPr>
              <a:t>The researchers adjusted daytime activity for bell size before estimating sleep timing in the field. Wild animals retained greater daytime activity and an estimated pattern of nighttime rest with a midday nap, resembling the laboratory organization.</a:t>
            </a:r>
          </a:p>
          <a:p>
            <a:pPr algn="l">
              <a:lnSpc>
                <a:spcPct val="108000"/>
              </a:lnSpc>
              <a:spcAft>
                <a:spcPts val="960"/>
              </a:spcAft>
            </a:pPr>
            <a:r>
              <a:rPr sz="1600" b="0" i="0">
                <a:solidFill>
                  <a:srgbClr val="000000"/>
                </a:solidFill>
                <a:latin typeface="Arial"/>
              </a:rPr>
              <a:t>The field sleep estimate used size-adjusted activity as a proxy rather than individually testing light-response latency for every animal. Agreement across habitats broadens the behavioral finding, but uncertainty in the classifier must remain separate from the directly measured relationship between animal size and pulse frequency.</a:t>
            </a:r>
          </a:p>
        </p:txBody>
      </p:sp>
      <p:pic>
        <p:nvPicPr>
          <p:cNvPr id="4" name="Picture 3" descr="d1qrs.png"/>
          <p:cNvPicPr>
            <a:picLocks noChangeAspect="1"/>
          </p:cNvPicPr>
          <p:nvPr/>
        </p:nvPicPr>
        <p:blipFill>
          <a:blip r:embed="rId2"/>
          <a:stretch>
            <a:fillRect/>
          </a:stretch>
        </p:blipFill>
        <p:spPr>
          <a:xfrm>
            <a:off x="6504127" y="1280160"/>
            <a:ext cx="5120640" cy="1179339"/>
          </a:xfrm>
          <a:prstGeom prst="rect">
            <a:avLst/>
          </a:prstGeom>
        </p:spPr>
      </p:pic>
      <p:sp>
        <p:nvSpPr>
          <p:cNvPr id="5" name="Figure caption"/>
          <p:cNvSpPr txBox="1"/>
          <p:nvPr/>
        </p:nvSpPr>
        <p:spPr>
          <a:xfrm>
            <a:off x="6504127" y="25509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1(o–s). Wild jellyfish size, activity, and estimated sleep timing</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New sleep scoring reproduces homeostatic rebound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Aguillon and colleagues disrupted nighttime sleep for six hours with computer-controlled water turbulence. Because their classifier required sustained slow pulsing, the recovery response could be measured as sleep time rather than inferred solely from a reduction in activity.</a:t>
            </a:r>
          </a:p>
          <a:p>
            <a:pPr algn="l">
              <a:lnSpc>
                <a:spcPct val="108000"/>
              </a:lnSpc>
              <a:spcAft>
                <a:spcPts val="960"/>
              </a:spcAft>
            </a:pPr>
            <a:r>
              <a:rPr sz="1600" b="0" i="0">
                <a:solidFill>
                  <a:srgbClr val="000000"/>
                </a:solidFill>
                <a:latin typeface="Arial"/>
              </a:rPr>
              <a:t>After nighttime deprivation, daytime sleep was about 1.5 times that of control animals. A corresponding active-phase treatment did not induce the same compensatory sleep response, preserving the distinction between perturbation and interruption of normal sleep.</a:t>
            </a:r>
          </a:p>
          <a:p>
            <a:pPr algn="l">
              <a:lnSpc>
                <a:spcPct val="108000"/>
              </a:lnSpc>
              <a:spcAft>
                <a:spcPts val="960"/>
              </a:spcAft>
            </a:pPr>
            <a:r>
              <a:rPr sz="1600" b="0" i="0">
                <a:solidFill>
                  <a:srgbClr val="000000"/>
                </a:solidFill>
                <a:latin typeface="Arial"/>
              </a:rPr>
              <a:t>The result agrees with the original pulse-counting evidence for homeostasis while using a different quantitative definition. It supports increased sleep drive after lost rest, but neither study directly identifies the cellular sensor that tracks accumulated wakefulness or the complete circuit that produces the rebound.</a:t>
            </a:r>
          </a:p>
        </p:txBody>
      </p:sp>
      <p:pic>
        <p:nvPicPr>
          <p:cNvPr id="4" name="Picture 3" descr="d1qrs.png"/>
          <p:cNvPicPr>
            <a:picLocks noChangeAspect="1"/>
          </p:cNvPicPr>
          <p:nvPr/>
        </p:nvPicPr>
        <p:blipFill>
          <a:blip r:embed="rId2"/>
          <a:stretch>
            <a:fillRect/>
          </a:stretch>
        </p:blipFill>
        <p:spPr>
          <a:xfrm>
            <a:off x="6504127" y="1280160"/>
            <a:ext cx="5120640" cy="1179339"/>
          </a:xfrm>
          <a:prstGeom prst="rect">
            <a:avLst/>
          </a:prstGeom>
        </p:spPr>
      </p:pic>
      <p:sp>
        <p:nvSpPr>
          <p:cNvPr id="5" name="Figure caption"/>
          <p:cNvSpPr txBox="1"/>
          <p:nvPr/>
        </p:nvSpPr>
        <p:spPr>
          <a:xfrm>
            <a:off x="6504127" y="25509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1(o–s). Sleep rebound after nighttime turbulence</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Marginal ganglia organize a distributed nervous system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375262"/>
                </a:solidFill>
                <a:latin typeface="Arial"/>
              </a:rPr>
              <a:t>ganglion</a:t>
            </a:r>
            <a:r>
              <a:rPr sz="1700" b="0" i="0">
                <a:solidFill>
                  <a:srgbClr val="000000"/>
                </a:solidFill>
                <a:latin typeface="Arial"/>
              </a:rPr>
              <a:t> is a local grouping of neural cells. Cassiopea contains ganglionic pacemakers within radially spaced rhopalia, creating organized neural centers without a single centralized brain that integrates the entire animal.</a:t>
            </a:r>
          </a:p>
          <a:p>
            <a:pPr algn="l">
              <a:lnSpc>
                <a:spcPct val="108000"/>
              </a:lnSpc>
              <a:spcAft>
                <a:spcPts val="1019"/>
              </a:spcAft>
            </a:pPr>
            <a:r>
              <a:rPr sz="1700" b="0" i="0">
                <a:solidFill>
                  <a:srgbClr val="000000"/>
                </a:solidFill>
                <a:latin typeface="Arial"/>
              </a:rPr>
              <a:t>Abrams and colleagues distinguished terminal, intermediate, and basal rhopalial segments. The terminal region contains a lithocyst involved in balance, while the pigmented spot ocellus lies near the terminal–intermediate boundary and participates in light sensing.</a:t>
            </a:r>
          </a:p>
          <a:p>
            <a:pPr algn="l">
              <a:lnSpc>
                <a:spcPct val="108000"/>
              </a:lnSpc>
              <a:spcAft>
                <a:spcPts val="1019"/>
              </a:spcAft>
            </a:pPr>
            <a:r>
              <a:rPr sz="1700" b="0" i="0">
                <a:solidFill>
                  <a:srgbClr val="000000"/>
                </a:solidFill>
                <a:latin typeface="Arial"/>
              </a:rPr>
              <a:t>The sensory organ connects to the rest of the body through its basal region. This anatomical organization provides sites where sensory input and pacemaker output can interact; the observed sleep behavior does not imply that all cells in the nerve net change state identically or simultaneously.</a:t>
            </a:r>
          </a:p>
        </p:txBody>
      </p:sp>
      <p:pic>
        <p:nvPicPr>
          <p:cNvPr id="4" name="Picture 3" descr="g3c.png"/>
          <p:cNvPicPr>
            <a:picLocks noChangeAspect="1"/>
          </p:cNvPicPr>
          <p:nvPr/>
        </p:nvPicPr>
        <p:blipFill>
          <a:blip r:embed="rId2"/>
          <a:stretch>
            <a:fillRect/>
          </a:stretch>
        </p:blipFill>
        <p:spPr>
          <a:xfrm>
            <a:off x="6504127" y="1280160"/>
            <a:ext cx="5120640" cy="1030089"/>
          </a:xfrm>
          <a:prstGeom prst="rect">
            <a:avLst/>
          </a:prstGeom>
        </p:spPr>
      </p:pic>
      <p:sp>
        <p:nvSpPr>
          <p:cNvPr id="5" name="Figure caption"/>
          <p:cNvSpPr txBox="1"/>
          <p:nvPr/>
        </p:nvSpPr>
        <p:spPr>
          <a:xfrm>
            <a:off x="6504127" y="24016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3(C). Rhopalial anatomy and chrnal-E transcript localization</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Ganglionic transcripts change after sleep deprivation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75262"/>
                </a:solidFill>
                <a:latin typeface="Arial"/>
              </a:rPr>
              <a:t>RNA sequencing</a:t>
            </a:r>
            <a:r>
              <a:rPr sz="1500" b="0" i="0">
                <a:solidFill>
                  <a:srgbClr val="000000"/>
                </a:solidFill>
                <a:latin typeface="Arial"/>
              </a:rPr>
              <a:t> measures the abundance of RNA transcripts, allowing comparisons of gene expression between experimental conditions. Abrams and colleagues collected rhopalial ganglia near the end of the day after control conditions or two nights of light-based deprivation.</a:t>
            </a:r>
          </a:p>
          <a:p>
            <a:pPr algn="l">
              <a:lnSpc>
                <a:spcPct val="108000"/>
              </a:lnSpc>
              <a:spcAft>
                <a:spcPts val="900"/>
              </a:spcAft>
            </a:pPr>
            <a:r>
              <a:rPr sz="1500" b="0" i="0">
                <a:solidFill>
                  <a:srgbClr val="000000"/>
                </a:solidFill>
                <a:latin typeface="Arial"/>
              </a:rPr>
              <a:t>Sleep-deprived ganglia expressed altered levels of several genes associated with neural signaling, including receptor-like components. Individual responses varied, and some affected transcripts had no established function, limiting direct interpretation of the expression profile.</a:t>
            </a:r>
          </a:p>
          <a:p>
            <a:pPr algn="l">
              <a:lnSpc>
                <a:spcPct val="108000"/>
              </a:lnSpc>
              <a:spcAft>
                <a:spcPts val="900"/>
              </a:spcAft>
            </a:pPr>
            <a:r>
              <a:rPr sz="1500" b="0" i="0">
                <a:solidFill>
                  <a:srgbClr val="000000"/>
                </a:solidFill>
                <a:latin typeface="Arial"/>
              </a:rPr>
              <a:t>A transcript change identifies a molecular association with treatment history, not a demonstrated cause of sleep. Ganglionic sampling improves anatomical specificity compared with whole-animal measurements, but does not establish which cell type changed expression or whether RNA abundance translated into more functional receptor protein.</a:t>
            </a:r>
          </a:p>
        </p:txBody>
      </p:sp>
      <p:pic>
        <p:nvPicPr>
          <p:cNvPr id="4" name="Picture 3" descr="g2bg.png"/>
          <p:cNvPicPr>
            <a:picLocks noChangeAspect="1"/>
          </p:cNvPicPr>
          <p:nvPr/>
        </p:nvPicPr>
        <p:blipFill>
          <a:blip r:embed="rId2"/>
          <a:stretch>
            <a:fillRect/>
          </a:stretch>
        </p:blipFill>
        <p:spPr>
          <a:xfrm>
            <a:off x="7569606" y="1280160"/>
            <a:ext cx="262392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2(A–G). Published transcriptomic comparisons and gene-expression heat maps</a:t>
            </a:r>
          </a:p>
        </p:txBody>
      </p:sp>
      <p:pic>
        <p:nvPicPr>
          <p:cNvPr id="6" name="Picture 5" descr="g3c2.png"/>
          <p:cNvPicPr>
            <a:picLocks noChangeAspect="1"/>
          </p:cNvPicPr>
          <p:nvPr/>
        </p:nvPicPr>
        <p:blipFill>
          <a:blip r:embed="rId3"/>
          <a:stretch>
            <a:fillRect/>
          </a:stretch>
        </p:blipFill>
        <p:spPr>
          <a:xfrm>
            <a:off x="8295212" y="4297680"/>
            <a:ext cx="117270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3(C,c2). Brightfield rhopalium with labeled segments and scale bar</a:t>
            </a:r>
          </a:p>
        </p:txBody>
      </p:sp>
      <p:sp>
        <p:nvSpPr>
          <p:cNvPr id="8" name="Rectangle 7"/>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Two deprivation methods converge on chrnal-E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Abrams and colleagues compared transcript profiles after both light-based and mechanical deprivation. They used a combined analysis to identify changes shared across treatments rather than accepting every light-responsive transcript as a sleep-regulatory gene.</a:t>
            </a:r>
          </a:p>
          <a:p>
            <a:pPr algn="l">
              <a:lnSpc>
                <a:spcPct val="108000"/>
              </a:lnSpc>
              <a:spcAft>
                <a:spcPts val="960"/>
              </a:spcAft>
            </a:pPr>
            <a:r>
              <a:rPr sz="1600" b="0" i="0">
                <a:solidFill>
                  <a:srgbClr val="000000"/>
                </a:solidFill>
                <a:latin typeface="Arial"/>
              </a:rPr>
              <a:t>A nicotinic acetylcholine receptor alpha-subunit-like gene, </a:t>
            </a:r>
            <a:r>
              <a:rPr sz="1600" b="1" i="0">
                <a:solidFill>
                  <a:srgbClr val="375262"/>
                </a:solidFill>
                <a:latin typeface="Arial"/>
              </a:rPr>
              <a:t>chrnal-E</a:t>
            </a:r>
            <a:r>
              <a:rPr sz="1600" b="0" i="0">
                <a:solidFill>
                  <a:srgbClr val="000000"/>
                </a:solidFill>
                <a:latin typeface="Arial"/>
              </a:rPr>
              <a:t>, emerged as a strongly altered candidate in both comparisons. Its sequence relationship to receptor-like genes suggested a potential link between deprivation and regulation of neural excitability.</a:t>
            </a:r>
          </a:p>
          <a:p>
            <a:pPr algn="l">
              <a:lnSpc>
                <a:spcPct val="108000"/>
              </a:lnSpc>
              <a:spcAft>
                <a:spcPts val="960"/>
              </a:spcAft>
            </a:pPr>
            <a:r>
              <a:rPr sz="1600" b="0" i="0">
                <a:solidFill>
                  <a:srgbClr val="000000"/>
                </a:solidFill>
                <a:latin typeface="Arial"/>
              </a:rPr>
              <a:t>Convergence across two treatments reduces dependence on one stimulus-specific explanation. The analysis still combines effects of lost sleep, stimulation, and recovery, so functional experiments were needed to test whether changing chrnal-E could alter behavior rather than merely accompany deprivation.</a:t>
            </a:r>
          </a:p>
        </p:txBody>
      </p:sp>
      <p:pic>
        <p:nvPicPr>
          <p:cNvPr id="4" name="Picture 3" descr="g2bg.png"/>
          <p:cNvPicPr>
            <a:picLocks noChangeAspect="1"/>
          </p:cNvPicPr>
          <p:nvPr/>
        </p:nvPicPr>
        <p:blipFill>
          <a:blip r:embed="rId2"/>
          <a:stretch>
            <a:fillRect/>
          </a:stretch>
        </p:blipFill>
        <p:spPr>
          <a:xfrm>
            <a:off x="7569606" y="1280160"/>
            <a:ext cx="262392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2(A–G). Published transcriptomic comparisons and gene-expression heat maps</a:t>
            </a:r>
          </a:p>
        </p:txBody>
      </p:sp>
      <p:pic>
        <p:nvPicPr>
          <p:cNvPr id="6" name="Picture 5" descr="g3c2.png"/>
          <p:cNvPicPr>
            <a:picLocks noChangeAspect="1"/>
          </p:cNvPicPr>
          <p:nvPr/>
        </p:nvPicPr>
        <p:blipFill>
          <a:blip r:embed="rId3"/>
          <a:stretch>
            <a:fillRect/>
          </a:stretch>
        </p:blipFill>
        <p:spPr>
          <a:xfrm>
            <a:off x="8295212" y="4297680"/>
            <a:ext cx="117270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3(C,c2). Brightfield rhopalium with labeled segments and scale bar</a:t>
            </a:r>
          </a:p>
        </p:txBody>
      </p:sp>
      <p:sp>
        <p:nvSpPr>
          <p:cNvPr id="8" name="Rectangle 7"/>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Receptor-like structure suggests an ion-channel mechanism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75262"/>
                </a:solidFill>
                <a:latin typeface="Arial"/>
              </a:rPr>
              <a:t>nicotinic acetylcholine receptor</a:t>
            </a:r>
            <a:r>
              <a:rPr sz="1500" b="0" i="0">
                <a:solidFill>
                  <a:srgbClr val="000000"/>
                </a:solidFill>
                <a:latin typeface="Arial"/>
              </a:rPr>
              <a:t> is a ligand-gated ion-channel receptor in established cholinergic systems: binding of a signaling molecule regulates ion movement across the membrane. Abrams and colleagues compared the predicted structure of Chrnal-E with human alpha-subunit receptors.</a:t>
            </a:r>
          </a:p>
          <a:p>
            <a:pPr algn="l">
              <a:lnSpc>
                <a:spcPct val="108000"/>
              </a:lnSpc>
              <a:spcAft>
                <a:spcPts val="900"/>
              </a:spcAft>
            </a:pPr>
            <a:r>
              <a:rPr sz="1500" b="0" i="0">
                <a:solidFill>
                  <a:srgbClr val="000000"/>
                </a:solidFill>
                <a:latin typeface="Arial"/>
              </a:rPr>
              <a:t>The published predictions retained receptor-associated features, including the extracellular ligand-binding region and Cys-loop architecture. Charged residues associated with calcium permeation in human alpha-7 receptors were also present in the Chrnal-E prediction.</a:t>
            </a:r>
          </a:p>
          <a:p>
            <a:pPr algn="l">
              <a:lnSpc>
                <a:spcPct val="108000"/>
              </a:lnSpc>
              <a:spcAft>
                <a:spcPts val="900"/>
              </a:spcAft>
            </a:pPr>
            <a:r>
              <a:rPr sz="1500" b="0" i="0">
                <a:solidFill>
                  <a:srgbClr val="000000"/>
                </a:solidFill>
                <a:latin typeface="Arial"/>
              </a:rPr>
              <a:t>These similarities support a receptor-like channel hypothesis, not a measurement of jellyfish ion selectivity or channel conductance. The paper did not establish the endogenous ligand or document acetylcholine synthesis in Cassiopea, so the proposed mechanism must remain distinct from the demonstrated behavioral effects.</a:t>
            </a:r>
          </a:p>
        </p:txBody>
      </p:sp>
      <p:pic>
        <p:nvPicPr>
          <p:cNvPr id="4" name="Picture 3" descr="g3a.png"/>
          <p:cNvPicPr>
            <a:picLocks noChangeAspect="1"/>
          </p:cNvPicPr>
          <p:nvPr/>
        </p:nvPicPr>
        <p:blipFill>
          <a:blip r:embed="rId2"/>
          <a:stretch>
            <a:fillRect/>
          </a:stretch>
        </p:blipFill>
        <p:spPr>
          <a:xfrm>
            <a:off x="6891807" y="1280160"/>
            <a:ext cx="397951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3(A). Published receptor-like protein predictions and charged residues</a:t>
            </a:r>
          </a:p>
        </p:txBody>
      </p:sp>
      <p:pic>
        <p:nvPicPr>
          <p:cNvPr id="6" name="Picture 5" descr="g3c2.png"/>
          <p:cNvPicPr>
            <a:picLocks noChangeAspect="1"/>
          </p:cNvPicPr>
          <p:nvPr/>
        </p:nvPicPr>
        <p:blipFill>
          <a:blip r:embed="rId3"/>
          <a:stretch>
            <a:fillRect/>
          </a:stretch>
        </p:blipFill>
        <p:spPr>
          <a:xfrm>
            <a:off x="8295212" y="4297680"/>
            <a:ext cx="117270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3(C,c2). Brightfield rhopalium with labeled segments and scale bar</a:t>
            </a:r>
          </a:p>
        </p:txBody>
      </p:sp>
      <p:sp>
        <p:nvSpPr>
          <p:cNvPr id="8" name="Rectangle 7"/>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Isolated rhopalia permit direct pacemaker recordings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75262"/>
                </a:solidFill>
                <a:latin typeface="Arial"/>
              </a:rPr>
              <a:t>action potential</a:t>
            </a:r>
            <a:r>
              <a:rPr sz="1600" b="0" i="0">
                <a:solidFill>
                  <a:srgbClr val="000000"/>
                </a:solidFill>
                <a:latin typeface="Arial"/>
              </a:rPr>
              <a:t> is a brief electrical event generated by an excitable cell. Abrams and colleagues used suction electrodes to record such events from amputated rhopalial ganglia, isolating neural activity from movement of the whole bell.</a:t>
            </a:r>
          </a:p>
          <a:p>
            <a:pPr algn="l">
              <a:lnSpc>
                <a:spcPct val="108000"/>
              </a:lnSpc>
              <a:spcAft>
                <a:spcPts val="960"/>
              </a:spcAft>
            </a:pPr>
            <a:r>
              <a:rPr sz="1600" b="0" i="0">
                <a:solidFill>
                  <a:srgbClr val="000000"/>
                </a:solidFill>
                <a:latin typeface="Arial"/>
              </a:rPr>
              <a:t>The preparation allowed the interval between recorded events to be measured before and during drug exposure in artificial seawater. This </a:t>
            </a:r>
            <a:r>
              <a:rPr sz="1600" b="1" i="0">
                <a:solidFill>
                  <a:srgbClr val="375262"/>
                </a:solidFill>
                <a:latin typeface="Arial"/>
              </a:rPr>
              <a:t>interspike interval</a:t>
            </a:r>
            <a:r>
              <a:rPr sz="1600" b="0" i="0">
                <a:solidFill>
                  <a:srgbClr val="000000"/>
                </a:solidFill>
                <a:latin typeface="Arial"/>
              </a:rPr>
              <a:t> is a neural timing measurement, whereas the inter-pulse interval measures visible contractions of the intact animal.</a:t>
            </a:r>
          </a:p>
          <a:p>
            <a:pPr algn="l">
              <a:lnSpc>
                <a:spcPct val="108000"/>
              </a:lnSpc>
              <a:spcAft>
                <a:spcPts val="960"/>
              </a:spcAft>
            </a:pPr>
            <a:r>
              <a:rPr sz="1600" b="0" i="0">
                <a:solidFill>
                  <a:srgbClr val="000000"/>
                </a:solidFill>
                <a:latin typeface="Arial"/>
              </a:rPr>
              <a:t>Drug-induced changes in isolated ganglia localize a physiological response to the pacemaker-containing sensory organ. They do not identify the exact recorded cell or demonstrate that an equivalent concentration reaches those cells during intact-animal behavior, but they connect receptor-directed pharmacology with neural activity.</a:t>
            </a:r>
          </a:p>
        </p:txBody>
      </p:sp>
      <p:pic>
        <p:nvPicPr>
          <p:cNvPr id="4" name="Picture 3" descr="g3b.png"/>
          <p:cNvPicPr>
            <a:picLocks noChangeAspect="1"/>
          </p:cNvPicPr>
          <p:nvPr/>
        </p:nvPicPr>
        <p:blipFill>
          <a:blip r:embed="rId2"/>
          <a:stretch>
            <a:fillRect/>
          </a:stretch>
        </p:blipFill>
        <p:spPr>
          <a:xfrm>
            <a:off x="6504127" y="1280160"/>
            <a:ext cx="5120640" cy="2638635"/>
          </a:xfrm>
          <a:prstGeom prst="rect">
            <a:avLst/>
          </a:prstGeom>
        </p:spPr>
      </p:pic>
      <p:sp>
        <p:nvSpPr>
          <p:cNvPr id="5" name="Figure caption"/>
          <p:cNvSpPr txBox="1"/>
          <p:nvPr/>
        </p:nvSpPr>
        <p:spPr>
          <a:xfrm>
            <a:off x="6504127" y="401023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3(B). Rhopalial electrophysiology and cholinergic drug responses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Tubocurarine slows rhopalial electrical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75262"/>
                </a:solidFill>
                <a:latin typeface="Arial"/>
              </a:rPr>
              <a:t>antagonist</a:t>
            </a:r>
            <a:r>
              <a:rPr sz="1600" b="0" i="0">
                <a:solidFill>
                  <a:srgbClr val="000000"/>
                </a:solidFill>
                <a:latin typeface="Arial"/>
              </a:rPr>
              <a:t> interferes with receptor activation. Abrams and colleagues exposed isolated rhopalial ganglia to tubocurarine, a competitive antagonist of nicotinic acetylcholine receptors in characterized cholinergic systems.</a:t>
            </a:r>
          </a:p>
          <a:p>
            <a:pPr algn="l">
              <a:lnSpc>
                <a:spcPct val="108000"/>
              </a:lnSpc>
              <a:spcAft>
                <a:spcPts val="960"/>
              </a:spcAft>
            </a:pPr>
            <a:r>
              <a:rPr sz="1600" b="0" i="0">
                <a:solidFill>
                  <a:srgbClr val="000000"/>
                </a:solidFill>
                <a:latin typeface="Arial"/>
              </a:rPr>
              <a:t>At 500 and 600 micromolar, tubocurarine lengthened the interval between recorded action potentials; the larger concentration produced a stronger slowing. The result is consistent with receptor-like signaling contributing to the normal frequency of pacemaker activity.</a:t>
            </a:r>
          </a:p>
          <a:p>
            <a:pPr algn="l">
              <a:lnSpc>
                <a:spcPct val="108000"/>
              </a:lnSpc>
              <a:spcAft>
                <a:spcPts val="960"/>
              </a:spcAft>
            </a:pPr>
            <a:r>
              <a:rPr sz="1600" b="0" i="0">
                <a:solidFill>
                  <a:srgbClr val="000000"/>
                </a:solidFill>
                <a:latin typeface="Arial"/>
              </a:rPr>
              <a:t>The artificial-seawater control establishes that the change followed addition of the compound rather than the recording setup alone. Pharmacological specificity remains incomplete because the preparation may contain several receptor-like proteins, and blockade does not establish that endogenous acetylcholine normally supplies the relevant activating signal.</a:t>
            </a:r>
          </a:p>
        </p:txBody>
      </p:sp>
      <p:pic>
        <p:nvPicPr>
          <p:cNvPr id="4" name="Picture 3" descr="g3b.png"/>
          <p:cNvPicPr>
            <a:picLocks noChangeAspect="1"/>
          </p:cNvPicPr>
          <p:nvPr/>
        </p:nvPicPr>
        <p:blipFill>
          <a:blip r:embed="rId2"/>
          <a:stretch>
            <a:fillRect/>
          </a:stretch>
        </p:blipFill>
        <p:spPr>
          <a:xfrm>
            <a:off x="6504127" y="1280160"/>
            <a:ext cx="5120640" cy="2638635"/>
          </a:xfrm>
          <a:prstGeom prst="rect">
            <a:avLst/>
          </a:prstGeom>
        </p:spPr>
      </p:pic>
      <p:sp>
        <p:nvSpPr>
          <p:cNvPr id="5" name="Figure caption"/>
          <p:cNvSpPr txBox="1"/>
          <p:nvPr/>
        </p:nvSpPr>
        <p:spPr>
          <a:xfrm>
            <a:off x="6504127" y="401023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3(B). Rhopalial electrophysiology and cholinergic drug responses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Nicotine accelerates rhopalial electrical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75262"/>
                </a:solidFill>
                <a:latin typeface="Arial"/>
              </a:rPr>
              <a:t>agonist</a:t>
            </a:r>
            <a:r>
              <a:rPr sz="1600" b="0" i="0">
                <a:solidFill>
                  <a:srgbClr val="000000"/>
                </a:solidFill>
                <a:latin typeface="Arial"/>
              </a:rPr>
              <a:t> activates a receptor or receptor-associated response. Abrams and colleagues applied nicotine to isolated Cassiopea ganglia while measuring the time between action potentials with a suction electrode.</a:t>
            </a:r>
          </a:p>
          <a:p>
            <a:pPr algn="l">
              <a:lnSpc>
                <a:spcPct val="108000"/>
              </a:lnSpc>
              <a:spcAft>
                <a:spcPts val="960"/>
              </a:spcAft>
            </a:pPr>
            <a:r>
              <a:rPr sz="1600" b="0" i="0">
                <a:solidFill>
                  <a:srgbClr val="000000"/>
                </a:solidFill>
                <a:latin typeface="Arial"/>
              </a:rPr>
              <a:t>Nicotine at 50 and 75 micromolar shortened interspike intervals, with the stronger effect at the higher concentration. Its effect opposed tubocurarine-induced slowing, providing complementary evidence that nicotinic receptor-directed compounds modulate rhopalial pacemaker output.</a:t>
            </a:r>
          </a:p>
          <a:p>
            <a:pPr algn="l">
              <a:lnSpc>
                <a:spcPct val="108000"/>
              </a:lnSpc>
              <a:spcAft>
                <a:spcPts val="960"/>
              </a:spcAft>
            </a:pPr>
            <a:r>
              <a:rPr sz="1600" b="0" i="0">
                <a:solidFill>
                  <a:srgbClr val="000000"/>
                </a:solidFill>
                <a:latin typeface="Arial"/>
              </a:rPr>
              <a:t>This response supports a pharmacologically sensitive pathway from receptor-like signaling to neural activity. It does not prove that nicotine mimics the natural transmitter in Cassiopea, that Chrnal-E alone carries the response, or that an increase in pacemaker frequency is sufficient to reproduce every aspect of behavioral wakefulness.</a:t>
            </a:r>
          </a:p>
        </p:txBody>
      </p:sp>
      <p:pic>
        <p:nvPicPr>
          <p:cNvPr id="4" name="Picture 3" descr="g3b.png"/>
          <p:cNvPicPr>
            <a:picLocks noChangeAspect="1"/>
          </p:cNvPicPr>
          <p:nvPr/>
        </p:nvPicPr>
        <p:blipFill>
          <a:blip r:embed="rId2"/>
          <a:stretch>
            <a:fillRect/>
          </a:stretch>
        </p:blipFill>
        <p:spPr>
          <a:xfrm>
            <a:off x="6504127" y="1280160"/>
            <a:ext cx="5120640" cy="2638635"/>
          </a:xfrm>
          <a:prstGeom prst="rect">
            <a:avLst/>
          </a:prstGeom>
        </p:spPr>
      </p:pic>
      <p:sp>
        <p:nvSpPr>
          <p:cNvPr id="5" name="Figure caption"/>
          <p:cNvSpPr txBox="1"/>
          <p:nvPr/>
        </p:nvSpPr>
        <p:spPr>
          <a:xfrm>
            <a:off x="6504127" y="401023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3(B). Rhopalial electrophysiology and cholinergic drug responses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chrnal-E transcripts localize within rhopalial ganglia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75262"/>
                </a:solidFill>
                <a:latin typeface="Arial"/>
              </a:rPr>
              <a:t>In situ hybridization</a:t>
            </a:r>
            <a:r>
              <a:rPr sz="1700" b="0" i="0">
                <a:solidFill>
                  <a:srgbClr val="000000"/>
                </a:solidFill>
                <a:latin typeface="Arial"/>
              </a:rPr>
              <a:t> uses a complementary probe to locate a specific RNA transcript within tissue. Abrams and colleagues developed this method for Cassiopea and detected chrnal-E RNA mainly on the oral side of the rhopalial ganglia.</a:t>
            </a:r>
          </a:p>
          <a:p>
            <a:pPr algn="l">
              <a:lnSpc>
                <a:spcPct val="108000"/>
              </a:lnSpc>
              <a:spcAft>
                <a:spcPts val="1019"/>
              </a:spcAft>
            </a:pPr>
            <a:r>
              <a:rPr sz="1700" b="0" i="0">
                <a:solidFill>
                  <a:srgbClr val="000000"/>
                </a:solidFill>
                <a:latin typeface="Arial"/>
              </a:rPr>
              <a:t>Expression was prominent in intermediate and basal segments, but its distribution varied between sensory organs and between animals. The transcript was not restricted to one sharply defined anatomical pattern shared by every rhopalium.</a:t>
            </a:r>
          </a:p>
          <a:p>
            <a:pPr algn="l">
              <a:lnSpc>
                <a:spcPct val="108000"/>
              </a:lnSpc>
              <a:spcAft>
                <a:spcPts val="1019"/>
              </a:spcAft>
            </a:pPr>
            <a:r>
              <a:rPr sz="1700" b="0" i="0">
                <a:solidFill>
                  <a:srgbClr val="000000"/>
                </a:solidFill>
                <a:latin typeface="Arial"/>
              </a:rPr>
              <a:t>Localization links the candidate gene to an organ already associated with pulse generation and sensory processing. RNA staining does not directly reveal membrane-localized receptor protein, the identity of every expressing cell, or the direction of signaling between those cells and the neurons generating the recorded pacemaker events.</a:t>
            </a:r>
          </a:p>
        </p:txBody>
      </p:sp>
      <p:pic>
        <p:nvPicPr>
          <p:cNvPr id="4" name="Picture 3" descr="g3c.png"/>
          <p:cNvPicPr>
            <a:picLocks noChangeAspect="1"/>
          </p:cNvPicPr>
          <p:nvPr/>
        </p:nvPicPr>
        <p:blipFill>
          <a:blip r:embed="rId2"/>
          <a:stretch>
            <a:fillRect/>
          </a:stretch>
        </p:blipFill>
        <p:spPr>
          <a:xfrm>
            <a:off x="6504127" y="1280160"/>
            <a:ext cx="5120640" cy="1030089"/>
          </a:xfrm>
          <a:prstGeom prst="rect">
            <a:avLst/>
          </a:prstGeom>
        </p:spPr>
      </p:pic>
      <p:sp>
        <p:nvSpPr>
          <p:cNvPr id="5" name="Figure caption"/>
          <p:cNvSpPr txBox="1"/>
          <p:nvPr/>
        </p:nvSpPr>
        <p:spPr>
          <a:xfrm>
            <a:off x="6504127" y="24016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3(C). Rhopalial anatomy and chrnal-E transcript localization</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Deprivation broadens ganglionic transcript staining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light-based deprivation, chrnal-E staining occupied a broader fraction of the rhopalial ganglion. Abrams and colleagues quantified the proportion of stained pixels within the selected ganglionic region rather than interpreting visual staining intensity alone as receptor abundance.</a:t>
            </a:r>
          </a:p>
          <a:p>
            <a:pPr algn="l">
              <a:lnSpc>
                <a:spcPct val="108000"/>
              </a:lnSpc>
              <a:spcAft>
                <a:spcPts val="960"/>
              </a:spcAft>
            </a:pPr>
            <a:r>
              <a:rPr sz="1600" b="0" i="0">
                <a:solidFill>
                  <a:srgbClr val="000000"/>
                </a:solidFill>
                <a:latin typeface="Arial"/>
              </a:rPr>
              <a:t>The change connected treatment history to the spatial extent of detectable transcript expression. Control and sleep-deprived organs retained variable patterns, making the distribution across preparations more informative than an isolated strongly stained specimen.</a:t>
            </a:r>
          </a:p>
          <a:p>
            <a:pPr algn="l">
              <a:lnSpc>
                <a:spcPct val="108000"/>
              </a:lnSpc>
              <a:spcAft>
                <a:spcPts val="960"/>
              </a:spcAft>
            </a:pPr>
            <a:r>
              <a:rPr sz="1600" b="0" i="0">
                <a:solidFill>
                  <a:srgbClr val="000000"/>
                </a:solidFill>
                <a:latin typeface="Arial"/>
              </a:rPr>
              <a:t>A larger stained area can reflect altered transcript abundance or altered detection within expressing cells, but it does not directly count functional channels. The result strengthens the molecular association with deprivation and motivates knockdown, while leaving the receptor’s cellular localization and circuit connections unresolved.</a:t>
            </a:r>
          </a:p>
        </p:txBody>
      </p:sp>
      <p:pic>
        <p:nvPicPr>
          <p:cNvPr id="4" name="Picture 3" descr="g3c.png"/>
          <p:cNvPicPr>
            <a:picLocks noChangeAspect="1"/>
          </p:cNvPicPr>
          <p:nvPr/>
        </p:nvPicPr>
        <p:blipFill>
          <a:blip r:embed="rId2"/>
          <a:stretch>
            <a:fillRect/>
          </a:stretch>
        </p:blipFill>
        <p:spPr>
          <a:xfrm>
            <a:off x="6504127" y="1280160"/>
            <a:ext cx="5120640" cy="1030089"/>
          </a:xfrm>
          <a:prstGeom prst="rect">
            <a:avLst/>
          </a:prstGeom>
        </p:spPr>
      </p:pic>
      <p:sp>
        <p:nvSpPr>
          <p:cNvPr id="5" name="Figure caption"/>
          <p:cNvSpPr txBox="1"/>
          <p:nvPr/>
        </p:nvSpPr>
        <p:spPr>
          <a:xfrm>
            <a:off x="6504127" y="24016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3(C). Rhopalial anatomy and chrnal-E transcript localization</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RNA interference tests the candidate gene function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RNA interference</a:t>
            </a:r>
            <a:r>
              <a:rPr sz="1600" b="0" i="0">
                <a:solidFill>
                  <a:srgbClr val="000000"/>
                </a:solidFill>
                <a:latin typeface="Arial"/>
              </a:rPr>
              <a:t>, or RNAi, reduces expression of a targeted RNA through sequence-directed silencing. Abrams and colleagues introduced a 387-base-pair chrnal-E fragment into a feeding vector and developed a delivery method for Cassiopea.</a:t>
            </a:r>
          </a:p>
          <a:p>
            <a:pPr algn="l">
              <a:lnSpc>
                <a:spcPct val="108000"/>
              </a:lnSpc>
              <a:spcAft>
                <a:spcPts val="960"/>
              </a:spcAft>
            </a:pPr>
            <a:r>
              <a:rPr sz="1600" b="0" i="0">
                <a:solidFill>
                  <a:srgbClr val="000000"/>
                </a:solidFill>
                <a:latin typeface="Arial"/>
              </a:rPr>
              <a:t>They compared animals receiving the chrnal-E construct with empty-vector controls and a minicollagen-targeting construct. These controls helped distinguish the targeted treatment from the effects of feeding the vector or introducing an unrelated sequence.</a:t>
            </a:r>
          </a:p>
          <a:p>
            <a:pPr algn="l">
              <a:lnSpc>
                <a:spcPct val="108000"/>
              </a:lnSpc>
              <a:spcAft>
                <a:spcPts val="960"/>
              </a:spcAft>
            </a:pPr>
            <a:r>
              <a:rPr sz="1600" b="0" i="0">
                <a:solidFill>
                  <a:srgbClr val="000000"/>
                </a:solidFill>
                <a:latin typeface="Arial"/>
              </a:rPr>
              <a:t>After two weeks, chrnal-E transcript staining occupied less ganglionic area, and subsequent expression measurements supported reduced target RNA. This intervention tests gene function more directly than deprivation-associated expression alone, but partial silencing differs from complete gene deletion and cannot identify a single responsible neural cell type.</a:t>
            </a:r>
          </a:p>
        </p:txBody>
      </p:sp>
      <p:pic>
        <p:nvPicPr>
          <p:cNvPr id="4" name="Picture 3" descr="g4ab.png"/>
          <p:cNvPicPr>
            <a:picLocks noChangeAspect="1"/>
          </p:cNvPicPr>
          <p:nvPr/>
        </p:nvPicPr>
        <p:blipFill>
          <a:blip r:embed="rId2"/>
          <a:stretch>
            <a:fillRect/>
          </a:stretch>
        </p:blipFill>
        <p:spPr>
          <a:xfrm>
            <a:off x="6504127" y="1280160"/>
            <a:ext cx="5120640" cy="1780373"/>
          </a:xfrm>
          <a:prstGeom prst="rect">
            <a:avLst/>
          </a:prstGeom>
        </p:spPr>
      </p:pic>
      <p:sp>
        <p:nvSpPr>
          <p:cNvPr id="5" name="Figure caption"/>
          <p:cNvSpPr txBox="1"/>
          <p:nvPr/>
        </p:nvSpPr>
        <p:spPr>
          <a:xfrm>
            <a:off x="6504127" y="315197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4(A–B). Reduced transcript staining and RNAi expression validation</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chrnal-E knockdown increases daytime sleep</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Abrams and colleagues recorded pulse-derived sleep during three weeks of RNAi feeding. By the second week, animals receiving the chrnal-E construct developed more daytime sleep and less nighttime sleep than the control groups.</a:t>
            </a:r>
          </a:p>
          <a:p>
            <a:pPr algn="l">
              <a:lnSpc>
                <a:spcPct val="108000"/>
              </a:lnSpc>
              <a:spcAft>
                <a:spcPts val="960"/>
              </a:spcAft>
            </a:pPr>
            <a:r>
              <a:rPr sz="1600" b="0" i="0">
                <a:solidFill>
                  <a:srgbClr val="000000"/>
                </a:solidFill>
                <a:latin typeface="Arial"/>
              </a:rPr>
              <a:t>Because daytime is the usual active phase, increased daytime sleep supports a </a:t>
            </a:r>
            <a:r>
              <a:rPr sz="1600" b="1" i="0">
                <a:solidFill>
                  <a:srgbClr val="375262"/>
                </a:solidFill>
                <a:latin typeface="Arial"/>
              </a:rPr>
              <a:t>wake-promoting role</a:t>
            </a:r>
            <a:r>
              <a:rPr sz="1600" b="0" i="0">
                <a:solidFill>
                  <a:srgbClr val="000000"/>
                </a:solidFill>
                <a:latin typeface="Arial"/>
              </a:rPr>
              <a:t> for Chrnal-E. The phenotype redistributed sleep across the daily cycle rather than simply eliminating the animal’s ability to enter a resting state.</a:t>
            </a:r>
          </a:p>
          <a:p>
            <a:pPr algn="l">
              <a:lnSpc>
                <a:spcPct val="108000"/>
              </a:lnSpc>
              <a:spcAft>
                <a:spcPts val="960"/>
              </a:spcAft>
            </a:pPr>
            <a:r>
              <a:rPr sz="1600" b="0" i="0">
                <a:solidFill>
                  <a:srgbClr val="000000"/>
                </a:solidFill>
                <a:latin typeface="Arial"/>
              </a:rPr>
              <a:t>The interpretation is strengthened by reduced target RNA and vector controls. It remains narrower than a complete receptor mechanism: the knockdown does not establish endogenous ligand identity, ion permeability, or whether the affected gene changes wake maintenance directly or alters another process that influences behavioral sleep timing.</a:t>
            </a:r>
          </a:p>
        </p:txBody>
      </p:sp>
      <p:pic>
        <p:nvPicPr>
          <p:cNvPr id="4" name="Picture 3" descr="g4c.png"/>
          <p:cNvPicPr>
            <a:picLocks noChangeAspect="1"/>
          </p:cNvPicPr>
          <p:nvPr/>
        </p:nvPicPr>
        <p:blipFill>
          <a:blip r:embed="rId2"/>
          <a:stretch>
            <a:fillRect/>
          </a:stretch>
        </p:blipFill>
        <p:spPr>
          <a:xfrm>
            <a:off x="6412687" y="1280160"/>
            <a:ext cx="493776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4(C). Daily sleep redistribution after chrnal-E knockdown</a:t>
            </a:r>
          </a:p>
        </p:txBody>
      </p:sp>
      <p:pic>
        <p:nvPicPr>
          <p:cNvPr id="6" name="Picture 5" descr="g3c2.png"/>
          <p:cNvPicPr>
            <a:picLocks noChangeAspect="1"/>
          </p:cNvPicPr>
          <p:nvPr/>
        </p:nvPicPr>
        <p:blipFill>
          <a:blip r:embed="rId3"/>
          <a:stretch>
            <a:fillRect/>
          </a:stretch>
        </p:blipFill>
        <p:spPr>
          <a:xfrm>
            <a:off x="8295212" y="4297680"/>
            <a:ext cx="117270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3(C,c2). Brightfield rhopalium with labeled segments and scale bar</a:t>
            </a:r>
          </a:p>
        </p:txBody>
      </p:sp>
      <p:sp>
        <p:nvSpPr>
          <p:cNvPr id="8" name="Rectangle 7"/>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Wild-animal expression changes with sustained arousal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Abrams and colleagues sampled wild Cassiopea at several times from evening through the next morning. </a:t>
            </a:r>
            <a:r>
              <a:rPr sz="1600" b="1" i="0">
                <a:solidFill>
                  <a:srgbClr val="375262"/>
                </a:solidFill>
                <a:latin typeface="Arial"/>
              </a:rPr>
              <a:t>Quantitative PCR</a:t>
            </a:r>
            <a:r>
              <a:rPr sz="1600" b="0" i="0">
                <a:solidFill>
                  <a:srgbClr val="000000"/>
                </a:solidFill>
                <a:latin typeface="Arial"/>
              </a:rPr>
              <a:t> measured chrnal-E RNA relative to reference transcripts, allowing expression to be compared across times and deprivation conditions.</a:t>
            </a:r>
          </a:p>
          <a:p>
            <a:pPr algn="l">
              <a:lnSpc>
                <a:spcPct val="108000"/>
              </a:lnSpc>
              <a:spcAft>
                <a:spcPts val="960"/>
              </a:spcAft>
            </a:pPr>
            <a:r>
              <a:rPr sz="1600" b="0" i="0">
                <a:solidFill>
                  <a:srgbClr val="000000"/>
                </a:solidFill>
                <a:latin typeface="Arial"/>
              </a:rPr>
              <a:t>Control expression declined late at night and rose again in the morning. After seven hours of light-based deprivation, expression at the middle-of-night sampling point was about threefold higher than in controls, then returned toward control levels by morning.</a:t>
            </a:r>
          </a:p>
          <a:p>
            <a:pPr algn="l">
              <a:lnSpc>
                <a:spcPct val="108000"/>
              </a:lnSpc>
              <a:spcAft>
                <a:spcPts val="960"/>
              </a:spcAft>
            </a:pPr>
            <a:r>
              <a:rPr sz="1600" b="0" i="0">
                <a:solidFill>
                  <a:srgbClr val="000000"/>
                </a:solidFill>
                <a:latin typeface="Arial"/>
              </a:rPr>
              <a:t>The delayed increase is consistent with a response to sustained externally induced arousal. Morning expression also recovered in animals kept dark, suggesting internal timing, but expression rhythms alone do not establish a complete circadian sleep mechanism or prove that transcriptional change generates the homeostatic sleep rebound.</a:t>
            </a:r>
          </a:p>
        </p:txBody>
      </p:sp>
      <p:pic>
        <p:nvPicPr>
          <p:cNvPr id="4" name="Picture 3" descr="g4de.png"/>
          <p:cNvPicPr>
            <a:picLocks noChangeAspect="1"/>
          </p:cNvPicPr>
          <p:nvPr/>
        </p:nvPicPr>
        <p:blipFill>
          <a:blip r:embed="rId2"/>
          <a:stretch>
            <a:fillRect/>
          </a:stretch>
        </p:blipFill>
        <p:spPr>
          <a:xfrm>
            <a:off x="6138367" y="1280160"/>
            <a:ext cx="5486400" cy="1295642"/>
          </a:xfrm>
          <a:prstGeom prst="rect">
            <a:avLst/>
          </a:prstGeom>
        </p:spPr>
      </p:pic>
      <p:sp>
        <p:nvSpPr>
          <p:cNvPr id="5" name="Figure caption"/>
          <p:cNvSpPr txBox="1"/>
          <p:nvPr/>
        </p:nvSpPr>
        <p:spPr>
          <a:xfrm>
            <a:off x="6138367" y="266724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4(D–E). Knockdown under deprivation and field expression rhythms</a:t>
            </a:r>
          </a:p>
        </p:txBody>
      </p:sp>
      <p:pic>
        <p:nvPicPr>
          <p:cNvPr id="6" name="Picture 5" descr="g3c2.png"/>
          <p:cNvPicPr>
            <a:picLocks noChangeAspect="1"/>
          </p:cNvPicPr>
          <p:nvPr/>
        </p:nvPicPr>
        <p:blipFill>
          <a:blip r:embed="rId3"/>
          <a:stretch>
            <a:fillRect/>
          </a:stretch>
        </p:blipFill>
        <p:spPr>
          <a:xfrm>
            <a:off x="8295212" y="4297680"/>
            <a:ext cx="117270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Abrams (2025), Fig. 3(C,c2). Brightfield rhopalium with labeled segments and scale bar</a:t>
            </a:r>
          </a:p>
        </p:txBody>
      </p:sp>
      <p:sp>
        <p:nvSpPr>
          <p:cNvPr id="8" name="Rectangle 7"/>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Abrams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Light and homeostasis can dominate jellyfish sleep timing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75262"/>
                </a:solidFill>
                <a:latin typeface="Arial"/>
              </a:rPr>
              <a:t>circadian rhythm</a:t>
            </a:r>
            <a:r>
              <a:rPr sz="1600" b="0" i="0">
                <a:solidFill>
                  <a:srgbClr val="000000"/>
                </a:solidFill>
                <a:latin typeface="Arial"/>
              </a:rPr>
              <a:t> is an internally generated rhythm with a period near one day that can persist without a repeating environmental cue. A daily activity pattern under light–dark conditions is insufficient by itself to establish this property.</a:t>
            </a:r>
          </a:p>
          <a:p>
            <a:pPr algn="l">
              <a:lnSpc>
                <a:spcPct val="108000"/>
              </a:lnSpc>
              <a:spcAft>
                <a:spcPts val="960"/>
              </a:spcAft>
            </a:pPr>
            <a:r>
              <a:rPr sz="1600" b="0" i="0">
                <a:solidFill>
                  <a:srgbClr val="000000"/>
                </a:solidFill>
                <a:latin typeface="Arial"/>
              </a:rPr>
              <a:t>Aguillon and colleagues found that Cassiopea activity rhythms disappeared in constant darkness and weakened strongly in constant light. With alternating six-hour light and dark intervals, activity followed a rhythm near 12.1 hours rather than maintaining its usual daily pattern.</a:t>
            </a:r>
          </a:p>
          <a:p>
            <a:pPr algn="l">
              <a:lnSpc>
                <a:spcPct val="108000"/>
              </a:lnSpc>
              <a:spcAft>
                <a:spcPts val="960"/>
              </a:spcAft>
            </a:pPr>
            <a:r>
              <a:rPr sz="1600" b="0" i="0">
                <a:solidFill>
                  <a:srgbClr val="000000"/>
                </a:solidFill>
                <a:latin typeface="Arial"/>
              </a:rPr>
              <a:t>These experiments support strong control by the light environment in this preparation, alongside independently demonstrated homeostasis. Earlier expression evidence for internal timing need not imply a robust free-running behavioral sleep rhythm; transcript regulation and whole-animal sleep timing are different levels of measurement.</a:t>
            </a:r>
          </a:p>
        </p:txBody>
      </p:sp>
      <p:pic>
        <p:nvPicPr>
          <p:cNvPr id="4" name="Picture 3" descr="d1lmn.png"/>
          <p:cNvPicPr>
            <a:picLocks noChangeAspect="1"/>
          </p:cNvPicPr>
          <p:nvPr/>
        </p:nvPicPr>
        <p:blipFill>
          <a:blip r:embed="rId2"/>
          <a:stretch>
            <a:fillRect/>
          </a:stretch>
        </p:blipFill>
        <p:spPr>
          <a:xfrm>
            <a:off x="6504127" y="1280160"/>
            <a:ext cx="5120640" cy="1323311"/>
          </a:xfrm>
          <a:prstGeom prst="rect">
            <a:avLst/>
          </a:prstGeom>
        </p:spPr>
      </p:pic>
      <p:sp>
        <p:nvSpPr>
          <p:cNvPr id="5" name="Figure caption"/>
          <p:cNvSpPr txBox="1"/>
          <p:nvPr/>
        </p:nvSpPr>
        <p:spPr>
          <a:xfrm>
            <a:off x="6504127" y="269491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1(l–n). Daily sleep percentages and rhythm</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A brain is unnecessary for sleep in two cnidarian forms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Aguillon and colleagues compared the jellyfish Cassiopea andromeda with the starlet sea anemone </a:t>
            </a:r>
            <a:r>
              <a:rPr sz="1700" b="0" i="1">
                <a:solidFill>
                  <a:srgbClr val="000000"/>
                </a:solidFill>
                <a:latin typeface="Arial"/>
              </a:rPr>
              <a:t>Nematostella vectensis</a:t>
            </a:r>
            <a:r>
              <a:rPr sz="1700" b="0" i="0">
                <a:solidFill>
                  <a:srgbClr val="000000"/>
                </a:solidFill>
                <a:latin typeface="Arial"/>
              </a:rPr>
              <a:t>. Both lack a centralized brain, but their body plans and daily activity patterns differ substantially.</a:t>
            </a:r>
          </a:p>
          <a:p>
            <a:pPr algn="l">
              <a:lnSpc>
                <a:spcPct val="108000"/>
              </a:lnSpc>
              <a:spcAft>
                <a:spcPts val="1019"/>
              </a:spcAft>
            </a:pPr>
            <a:r>
              <a:rPr sz="1700" b="0" i="0">
                <a:solidFill>
                  <a:srgbClr val="000000"/>
                </a:solidFill>
                <a:latin typeface="Arial"/>
              </a:rPr>
              <a:t>The anemone’s sleep classifier required at least eight minutes of quiescence associated with delayed responses to light and food. This criterion differs from the jellyfish classifier, which permits continuous slow pulsing during a sleep bout.</a:t>
            </a:r>
          </a:p>
          <a:p>
            <a:pPr algn="l">
              <a:lnSpc>
                <a:spcPct val="108000"/>
              </a:lnSpc>
              <a:spcAft>
                <a:spcPts val="1019"/>
              </a:spcAft>
            </a:pPr>
            <a:r>
              <a:rPr sz="1700" b="0" i="0">
                <a:solidFill>
                  <a:srgbClr val="000000"/>
                </a:solidFill>
                <a:latin typeface="Arial"/>
              </a:rPr>
              <a:t>Both species devoted substantial daily time to behaviorally defined sleep, despite different movement patterns and timing. The comparison broadens evidence beyond one medusa form, while preventing a single absolute activity threshold or sleep posture from being treated as a universal signature of sleep throughout Cnidaria.</a:t>
            </a:r>
          </a:p>
        </p:txBody>
      </p:sp>
      <p:pic>
        <p:nvPicPr>
          <p:cNvPr id="4" name="Picture 3" descr="d3a.png"/>
          <p:cNvPicPr>
            <a:picLocks noChangeAspect="1"/>
          </p:cNvPicPr>
          <p:nvPr/>
        </p:nvPicPr>
        <p:blipFill>
          <a:blip r:embed="rId2"/>
          <a:stretch>
            <a:fillRect/>
          </a:stretch>
        </p:blipFill>
        <p:spPr>
          <a:xfrm>
            <a:off x="6504127" y="1280160"/>
            <a:ext cx="5120640" cy="1200516"/>
          </a:xfrm>
          <a:prstGeom prst="rect">
            <a:avLst/>
          </a:prstGeom>
        </p:spPr>
      </p:pic>
      <p:sp>
        <p:nvSpPr>
          <p:cNvPr id="5" name="Figure caption"/>
          <p:cNvSpPr txBox="1"/>
          <p:nvPr/>
        </p:nvSpPr>
        <p:spPr>
          <a:xfrm>
            <a:off x="6504127" y="257211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3(a–e). Total daily sleep across species and Clock genotype</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Melatonin increases jellyfish sleep during the active phase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Melatonin</a:t>
            </a:r>
            <a:r>
              <a:rPr sz="1600" b="0" i="0">
                <a:solidFill>
                  <a:srgbClr val="000000"/>
                </a:solidFill>
                <a:latin typeface="Arial"/>
              </a:rPr>
              <a:t> is a signaling molecule that can modulate sleep in diverse animals. Aguillon and colleagues treated Cassiopea with 100 micromolar melatonin and compared behavior with an ethanol vehicle control, accounting for the solvent used to deliver the compound.</a:t>
            </a:r>
          </a:p>
          <a:p>
            <a:pPr algn="l">
              <a:lnSpc>
                <a:spcPct val="108000"/>
              </a:lnSpc>
              <a:spcAft>
                <a:spcPts val="960"/>
              </a:spcAft>
            </a:pPr>
            <a:r>
              <a:rPr sz="1600" b="0" i="0">
                <a:solidFill>
                  <a:srgbClr val="000000"/>
                </a:solidFill>
                <a:latin typeface="Arial"/>
              </a:rPr>
              <a:t>During the active daytime phase, melatonin increased sleep time, sleep-bout duration, and the number of bouts. The same treatment during the usual resting phase did not produce a comparable additional increase, indicating dependence on baseline state or time.</a:t>
            </a:r>
          </a:p>
          <a:p>
            <a:pPr algn="l">
              <a:lnSpc>
                <a:spcPct val="108000"/>
              </a:lnSpc>
              <a:spcAft>
                <a:spcPts val="960"/>
              </a:spcAft>
            </a:pPr>
            <a:r>
              <a:rPr sz="1600" b="0" i="0">
                <a:solidFill>
                  <a:srgbClr val="000000"/>
                </a:solidFill>
                <a:latin typeface="Arial"/>
              </a:rPr>
              <a:t>This intervention establishes pharmacological modulation of jellyfish sleep, not the identity of an endogenous sleep hormone circuit. The study did not identify a specific Cassiopea receptor or directly measure a downstream potassium-channel mechanism, so those possible pathways remain proposed explanations.</a:t>
            </a:r>
          </a:p>
        </p:txBody>
      </p:sp>
      <p:pic>
        <p:nvPicPr>
          <p:cNvPr id="4" name="Picture 3" descr="d3pqr.png"/>
          <p:cNvPicPr>
            <a:picLocks noChangeAspect="1"/>
          </p:cNvPicPr>
          <p:nvPr/>
        </p:nvPicPr>
        <p:blipFill>
          <a:blip r:embed="rId2"/>
          <a:stretch>
            <a:fillRect/>
          </a:stretch>
        </p:blipFill>
        <p:spPr>
          <a:xfrm>
            <a:off x="6504127" y="1280160"/>
            <a:ext cx="5120640" cy="1367291"/>
          </a:xfrm>
          <a:prstGeom prst="rect">
            <a:avLst/>
          </a:prstGeom>
        </p:spPr>
      </p:pic>
      <p:sp>
        <p:nvSpPr>
          <p:cNvPr id="5" name="Figure caption"/>
          <p:cNvSpPr txBox="1"/>
          <p:nvPr/>
        </p:nvSpPr>
        <p:spPr>
          <a:xfrm>
            <a:off x="6504127" y="273889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3(p–u). Melatonin-induced sleep during the jellyfish active phase</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Melatonin modulation extends across opposite chronotypes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75262"/>
                </a:solidFill>
                <a:latin typeface="Arial"/>
              </a:rPr>
              <a:t>chronotype</a:t>
            </a:r>
            <a:r>
              <a:rPr sz="1600" b="0" i="0">
                <a:solidFill>
                  <a:srgbClr val="000000"/>
                </a:solidFill>
                <a:latin typeface="Arial"/>
              </a:rPr>
              <a:t> describes an animal’s characteristic timing of activity and rest. Cassiopea is primarily active during daytime, whereas Nematostella in the comparative study was most active around dusk and rested more toward dawn.</a:t>
            </a:r>
          </a:p>
          <a:p>
            <a:pPr algn="l">
              <a:lnSpc>
                <a:spcPct val="108000"/>
              </a:lnSpc>
              <a:spcAft>
                <a:spcPts val="960"/>
              </a:spcAft>
            </a:pPr>
            <a:r>
              <a:rPr sz="1600" b="0" i="0">
                <a:solidFill>
                  <a:srgbClr val="000000"/>
                </a:solidFill>
                <a:latin typeface="Arial"/>
              </a:rPr>
              <a:t>Aguillon and colleagues found that melatonin increased anemone sleep time, bout length, and bout number when administered during its active phase. The effect therefore did not require the active phase to coincide with daylight.</a:t>
            </a:r>
          </a:p>
          <a:p>
            <a:pPr algn="l">
              <a:lnSpc>
                <a:spcPct val="108000"/>
              </a:lnSpc>
              <a:spcAft>
                <a:spcPts val="960"/>
              </a:spcAft>
            </a:pPr>
            <a:r>
              <a:rPr sz="1600" b="0" i="0">
                <a:solidFill>
                  <a:srgbClr val="000000"/>
                </a:solidFill>
                <a:latin typeface="Arial"/>
              </a:rPr>
              <a:t>Concordant responses in the two cnidarians support conserved pharmacological sensitivity despite different daily schedules. Exogenous melatonin can have additional cellular effects, including antioxidant actions, so increased sleep after treatment does not alone establish how natural melatonin production, receptor signaling, and cellular repair are linked in either species.</a:t>
            </a:r>
          </a:p>
        </p:txBody>
      </p:sp>
      <p:pic>
        <p:nvPicPr>
          <p:cNvPr id="4" name="Picture 3" descr="d3mno.png"/>
          <p:cNvPicPr>
            <a:picLocks noChangeAspect="1"/>
          </p:cNvPicPr>
          <p:nvPr/>
        </p:nvPicPr>
        <p:blipFill>
          <a:blip r:embed="rId2"/>
          <a:stretch>
            <a:fillRect/>
          </a:stretch>
        </p:blipFill>
        <p:spPr>
          <a:xfrm>
            <a:off x="6504127" y="1280160"/>
            <a:ext cx="5120640" cy="1276817"/>
          </a:xfrm>
          <a:prstGeom prst="rect">
            <a:avLst/>
          </a:prstGeom>
        </p:spPr>
      </p:pic>
      <p:sp>
        <p:nvSpPr>
          <p:cNvPr id="5" name="Figure caption"/>
          <p:cNvSpPr txBox="1"/>
          <p:nvPr/>
        </p:nvSpPr>
        <p:spPr>
          <a:xfrm>
            <a:off x="6504127" y="26484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3(j–o). Melatonin-induced sleep during the anemone active phase</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Peri-rhopalial tissue provides a cellular sleep readout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75262"/>
                </a:solidFill>
                <a:latin typeface="Arial"/>
              </a:rPr>
              <a:t>peri-rhopalial region</a:t>
            </a:r>
            <a:r>
              <a:rPr sz="1600" b="0" i="0">
                <a:solidFill>
                  <a:srgbClr val="000000"/>
                </a:solidFill>
                <a:latin typeface="Arial"/>
              </a:rPr>
              <a:t> is tissue adjacent to a rhopalium. Aguillon and colleagues sampled its neuron-enriched mesogleal surface to assess cellular changes associated with wakefulness and sleep in Cassiopea.</a:t>
            </a:r>
          </a:p>
          <a:p>
            <a:pPr algn="l">
              <a:lnSpc>
                <a:spcPct val="108000"/>
              </a:lnSpc>
              <a:spcAft>
                <a:spcPts val="960"/>
              </a:spcAft>
            </a:pPr>
            <a:r>
              <a:rPr sz="1600" b="0" i="0">
                <a:solidFill>
                  <a:srgbClr val="000000"/>
                </a:solidFill>
                <a:latin typeface="Arial"/>
              </a:rPr>
              <a:t>They stained nuclei with DAPI, a DNA-binding fluorescent dye, and used immunohistochemistry to detect phosphorylated histone H2AX. The preparation also retained autofluorescence from symbiotic algae, which must be distinguished from the nuclear signal used for damage-response measurements.</a:t>
            </a:r>
          </a:p>
          <a:p>
            <a:pPr algn="l">
              <a:lnSpc>
                <a:spcPct val="108000"/>
              </a:lnSpc>
              <a:spcAft>
                <a:spcPts val="960"/>
              </a:spcAft>
            </a:pPr>
            <a:r>
              <a:rPr sz="1600" b="0" i="0">
                <a:solidFill>
                  <a:srgbClr val="000000"/>
                </a:solidFill>
                <a:latin typeface="Arial"/>
              </a:rPr>
              <a:t>Sampling a defined sensory-organ-associated region connects sleep history with a localized cellular readout. The tissue is neuron-enriched rather than genetically restricted to neurons, so cell identity in Cassiopea is less selectively established than in the complementary anemone experiment using a neuron-specific fluorescent reporter.</a:t>
            </a:r>
          </a:p>
        </p:txBody>
      </p:sp>
      <p:pic>
        <p:nvPicPr>
          <p:cNvPr id="4" name="Picture 3" descr="d4e.png"/>
          <p:cNvPicPr>
            <a:picLocks noChangeAspect="1"/>
          </p:cNvPicPr>
          <p:nvPr/>
        </p:nvPicPr>
        <p:blipFill>
          <a:blip r:embed="rId2"/>
          <a:stretch>
            <a:fillRect/>
          </a:stretch>
        </p:blipFill>
        <p:spPr>
          <a:xfrm>
            <a:off x="6504127" y="1280160"/>
            <a:ext cx="5120640" cy="3533379"/>
          </a:xfrm>
          <a:prstGeom prst="rect">
            <a:avLst/>
          </a:prstGeom>
        </p:spPr>
      </p:pic>
      <p:sp>
        <p:nvSpPr>
          <p:cNvPr id="5" name="Figure caption"/>
          <p:cNvSpPr txBox="1"/>
          <p:nvPr/>
        </p:nvSpPr>
        <p:spPr>
          <a:xfrm>
            <a:off x="6504127" y="49049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4(e). Neuron-enriched peri-rhopalial tissue and algal fluorescence</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Nuclear H2AX phosphorylation reports a damage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Histones</a:t>
            </a:r>
            <a:r>
              <a:rPr sz="1600" b="0" i="0">
                <a:solidFill>
                  <a:srgbClr val="000000"/>
                </a:solidFill>
                <a:latin typeface="Arial"/>
              </a:rPr>
              <a:t> are proteins associated with DNA in chromosomes. The phosphorylated form of histone H2AX, called gamma-H2AX, accumulates at nuclear sites associated with a cellular response to DNA damage.</a:t>
            </a:r>
          </a:p>
          <a:p>
            <a:pPr algn="l">
              <a:lnSpc>
                <a:spcPct val="108000"/>
              </a:lnSpc>
              <a:spcAft>
                <a:spcPts val="960"/>
              </a:spcAft>
            </a:pPr>
            <a:r>
              <a:rPr sz="1600" b="0" i="0">
                <a:solidFill>
                  <a:srgbClr val="000000"/>
                </a:solidFill>
                <a:latin typeface="Arial"/>
              </a:rPr>
              <a:t>Aguillon and colleagues used antibodies to count gamma-H2AX foci, discrete stained sites within a nucleus, after defined periods of sleep, wakefulness, or deprivation. Cassiopea nuclei were examined in peri-rhopalial tissue, while anemone neurons were identified with a fluorescent reporter.</a:t>
            </a:r>
          </a:p>
          <a:p>
            <a:pPr algn="l">
              <a:lnSpc>
                <a:spcPct val="108000"/>
              </a:lnSpc>
              <a:spcAft>
                <a:spcPts val="960"/>
              </a:spcAft>
            </a:pPr>
            <a:r>
              <a:rPr sz="1600" b="0" i="0">
                <a:solidFill>
                  <a:srgbClr val="000000"/>
                </a:solidFill>
                <a:latin typeface="Arial"/>
              </a:rPr>
              <a:t>The assay provides a quantitative damage-response marker rather than a direct count of every DNA lesion or every repair event. Changes in foci support altered genomic stress, but conclusions about sleep-mediated maintenance require timing controls and experimental manipulations beyond one stained nucleus.</a:t>
            </a:r>
          </a:p>
        </p:txBody>
      </p:sp>
      <p:pic>
        <p:nvPicPr>
          <p:cNvPr id="4" name="Picture 3" descr="d4gh.png"/>
          <p:cNvPicPr>
            <a:picLocks noChangeAspect="1"/>
          </p:cNvPicPr>
          <p:nvPr/>
        </p:nvPicPr>
        <p:blipFill>
          <a:blip r:embed="rId2"/>
          <a:stretch>
            <a:fillRect/>
          </a:stretch>
        </p:blipFill>
        <p:spPr>
          <a:xfrm>
            <a:off x="7367062" y="1280160"/>
            <a:ext cx="339476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4(a–l). Nuclear DNA-damage-response staining in both cnidarians</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Sleep deprivation raises jellyfish nuclear damage markers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Aguillon and colleagues sampled Cassiopea at the end of its wake and sleep phases. Gamma-H2AX foci were more numerous after accumulated wakefulness and less numerous after the usual sleep period, linking cellular state to preceding behavior.</a:t>
            </a:r>
          </a:p>
          <a:p>
            <a:pPr algn="l">
              <a:lnSpc>
                <a:spcPct val="108000"/>
              </a:lnSpc>
              <a:spcAft>
                <a:spcPts val="1019"/>
              </a:spcAft>
            </a:pPr>
            <a:r>
              <a:rPr sz="1700" b="0" i="0">
                <a:solidFill>
                  <a:srgbClr val="000000"/>
                </a:solidFill>
                <a:latin typeface="Arial"/>
              </a:rPr>
              <a:t>Nighttime sleep deprivation increased the number of foci at the time when resting controls normally had a reduced signal. The comparison tested whether the daily decrease required undisturbed rest rather than occurring solely because the sampling time changed.</a:t>
            </a:r>
          </a:p>
          <a:p>
            <a:pPr algn="l">
              <a:lnSpc>
                <a:spcPct val="108000"/>
              </a:lnSpc>
              <a:spcAft>
                <a:spcPts val="1019"/>
              </a:spcAft>
            </a:pPr>
            <a:r>
              <a:rPr sz="1700" b="0" i="0">
                <a:solidFill>
                  <a:srgbClr val="000000"/>
                </a:solidFill>
                <a:latin typeface="Arial"/>
              </a:rPr>
              <a:t>The pattern supports sleep-associated relief of nuclear damage responses. It does not identify a particular repair enzyme or establish that sleep is the only process responsible, because deprivation also changes stimulation and physiological activity alongside the amount of rest.</a:t>
            </a:r>
          </a:p>
        </p:txBody>
      </p:sp>
      <p:pic>
        <p:nvPicPr>
          <p:cNvPr id="4" name="Picture 3" descr="d4ik.png"/>
          <p:cNvPicPr>
            <a:picLocks noChangeAspect="1"/>
          </p:cNvPicPr>
          <p:nvPr/>
        </p:nvPicPr>
        <p:blipFill>
          <a:blip r:embed="rId2"/>
          <a:stretch>
            <a:fillRect/>
          </a:stretch>
        </p:blipFill>
        <p:spPr>
          <a:xfrm>
            <a:off x="6504127" y="1280160"/>
            <a:ext cx="5120640" cy="3797864"/>
          </a:xfrm>
          <a:prstGeom prst="rect">
            <a:avLst/>
          </a:prstGeom>
        </p:spPr>
      </p:pic>
      <p:sp>
        <p:nvSpPr>
          <p:cNvPr id="5" name="Figure caption"/>
          <p:cNvSpPr txBox="1"/>
          <p:nvPr/>
        </p:nvSpPr>
        <p:spPr>
          <a:xfrm>
            <a:off x="6504127" y="516946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4(i,k). Cassiopea DNA-damage-response foci across sleep and deprivation</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Labeled anemone neurons show a parallel damage pattern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Aguillon and colleagues expressed a fluorescent neuronal reporter in Nematostella to distinguish neurons from neighboring cell types. Gamma-H2AX staining could then be counted specifically within reporter-positive neural cells.</a:t>
            </a:r>
          </a:p>
          <a:p>
            <a:pPr algn="l">
              <a:lnSpc>
                <a:spcPct val="108000"/>
              </a:lnSpc>
              <a:spcAft>
                <a:spcPts val="960"/>
              </a:spcAft>
            </a:pPr>
            <a:r>
              <a:rPr sz="1600" b="0" i="0">
                <a:solidFill>
                  <a:srgbClr val="000000"/>
                </a:solidFill>
                <a:latin typeface="Arial"/>
              </a:rPr>
              <a:t>As in Cassiopea, damage-response foci rose after extended wakefulness and fell after the normal resting period. Depriving the anemone during its usual sleep interval increased the neural nuclear signal relative to undisturbed controls.</a:t>
            </a:r>
          </a:p>
          <a:p>
            <a:pPr algn="l">
              <a:lnSpc>
                <a:spcPct val="108000"/>
              </a:lnSpc>
              <a:spcAft>
                <a:spcPts val="960"/>
              </a:spcAft>
            </a:pPr>
            <a:r>
              <a:rPr sz="1600" b="0" i="0">
                <a:solidFill>
                  <a:srgbClr val="000000"/>
                </a:solidFill>
                <a:latin typeface="Arial"/>
              </a:rPr>
              <a:t>The anemone’s resting phase differs from the jellyfish’s, so the parallel relation follows behavioral history rather than one shared clock time. This comparison strengthens the association between sleep and neural genome maintenance while leaving open whether identical signaling pathways couple cellular damage to sleep drive in the two species.</a:t>
            </a:r>
          </a:p>
        </p:txBody>
      </p:sp>
      <p:pic>
        <p:nvPicPr>
          <p:cNvPr id="4" name="Picture 3" descr="d4jl.png"/>
          <p:cNvPicPr>
            <a:picLocks noChangeAspect="1"/>
          </p:cNvPicPr>
          <p:nvPr/>
        </p:nvPicPr>
        <p:blipFill>
          <a:blip r:embed="rId2"/>
          <a:stretch>
            <a:fillRect/>
          </a:stretch>
        </p:blipFill>
        <p:spPr>
          <a:xfrm>
            <a:off x="6504127" y="1280160"/>
            <a:ext cx="5120640" cy="3723494"/>
          </a:xfrm>
          <a:prstGeom prst="rect">
            <a:avLst/>
          </a:prstGeom>
        </p:spPr>
      </p:pic>
      <p:sp>
        <p:nvSpPr>
          <p:cNvPr id="5" name="Figure caption"/>
          <p:cNvSpPr txBox="1"/>
          <p:nvPr/>
        </p:nvSpPr>
        <p:spPr>
          <a:xfrm>
            <a:off x="6504127" y="50950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4(j,l). Anemone DNA-damage-response foci across sleep and deprivation</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Ultraviolet exposure increases damage and jellyfish sleep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Ultraviolet-B radiation</a:t>
            </a:r>
            <a:r>
              <a:rPr sz="1600" b="0" i="0">
                <a:solidFill>
                  <a:srgbClr val="000000"/>
                </a:solidFill>
                <a:latin typeface="Arial"/>
              </a:rPr>
              <a:t> can damage DNA and induce cellular stress. Aguillon and colleagues exposed Cassiopea to 312-nanometer ultraviolet light for 15 minutes during daytime, then followed sleep and nuclear damage-response markers.</a:t>
            </a:r>
          </a:p>
          <a:p>
            <a:pPr algn="l">
              <a:lnSpc>
                <a:spcPct val="108000"/>
              </a:lnSpc>
              <a:spcAft>
                <a:spcPts val="960"/>
              </a:spcAft>
            </a:pPr>
            <a:r>
              <a:rPr sz="1600" b="0" i="0">
                <a:solidFill>
                  <a:srgbClr val="000000"/>
                </a:solidFill>
                <a:latin typeface="Arial"/>
              </a:rPr>
              <a:t>Gamma-H2AX foci increased one hour after exposure, and subsequent nighttime and daytime sleep increased relative to controls. Over the later recovery interval, the nuclear marker declined, producing a sequence of induced damage response, increased sleep, and reduced damage signal.</a:t>
            </a:r>
          </a:p>
          <a:p>
            <a:pPr algn="l">
              <a:lnSpc>
                <a:spcPct val="108000"/>
              </a:lnSpc>
              <a:spcAft>
                <a:spcPts val="960"/>
              </a:spcAft>
            </a:pPr>
            <a:r>
              <a:rPr sz="1600" b="0" i="0">
                <a:solidFill>
                  <a:srgbClr val="000000"/>
                </a:solidFill>
                <a:latin typeface="Arial"/>
              </a:rPr>
              <a:t>The manipulation supports a contribution of cellular damage to sleep pressure, meaning the drive to sleep. Ultraviolet radiation also affects other cellular pathways, so the experiment does not isolate DNA damage as the only relevant signal or identify the sensory-to-pacemaker pathway carrying that signal.</a:t>
            </a:r>
          </a:p>
        </p:txBody>
      </p:sp>
      <p:pic>
        <p:nvPicPr>
          <p:cNvPr id="4" name="Picture 3" descr="d5kl.png"/>
          <p:cNvPicPr>
            <a:picLocks noChangeAspect="1"/>
          </p:cNvPicPr>
          <p:nvPr/>
        </p:nvPicPr>
        <p:blipFill>
          <a:blip r:embed="rId2"/>
          <a:stretch>
            <a:fillRect/>
          </a:stretch>
        </p:blipFill>
        <p:spPr>
          <a:xfrm>
            <a:off x="7107945" y="1280160"/>
            <a:ext cx="391300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5(a–p). Jellyfish sleep after ultraviolet exposure</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A second damaging treatment broadens the causal evidence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Etoposide</a:t>
            </a:r>
            <a:r>
              <a:rPr sz="1600" b="0" i="0">
                <a:solidFill>
                  <a:srgbClr val="000000"/>
                </a:solidFill>
                <a:latin typeface="Arial"/>
              </a:rPr>
              <a:t> interferes with topoisomerase II, an enzyme involved in managing DNA structure, and can cause DNA double-strand breaks. Aguillon and colleagues used this compound in Nematostella as a second way to induce cellular damage without ultraviolet illumination.</a:t>
            </a:r>
          </a:p>
          <a:p>
            <a:pPr algn="l">
              <a:lnSpc>
                <a:spcPct val="108000"/>
              </a:lnSpc>
              <a:spcAft>
                <a:spcPts val="960"/>
              </a:spcAft>
            </a:pPr>
            <a:r>
              <a:rPr sz="1600" b="0" i="0">
                <a:solidFill>
                  <a:srgbClr val="000000"/>
                </a:solidFill>
                <a:latin typeface="Arial"/>
              </a:rPr>
              <a:t>Etoposide increased gamma-H2AX foci and was followed by increased sleep. Ultraviolet exposure also increased anemone sleep, providing two distinct damaging treatments with a common behavioral direction rather than relying solely on a light-induced disturbance.</a:t>
            </a:r>
          </a:p>
          <a:p>
            <a:pPr algn="l">
              <a:lnSpc>
                <a:spcPct val="108000"/>
              </a:lnSpc>
              <a:spcAft>
                <a:spcPts val="960"/>
              </a:spcAft>
            </a:pPr>
            <a:r>
              <a:rPr sz="1600" b="0" i="0">
                <a:solidFill>
                  <a:srgbClr val="000000"/>
                </a:solidFill>
                <a:latin typeface="Arial"/>
              </a:rPr>
              <a:t>The convergence supports cellular stress as a contributor to sleep drive, but the chemical experiment was performed in the anemone and must not be presented as a direct etoposide result in Cassiopea. Neither treatment uniquely identifies the molecular damage sensor that signals increased sleep need.</a:t>
            </a:r>
          </a:p>
        </p:txBody>
      </p:sp>
      <p:pic>
        <p:nvPicPr>
          <p:cNvPr id="4" name="Picture 3" descr="d5mnop.png"/>
          <p:cNvPicPr>
            <a:picLocks noChangeAspect="1"/>
          </p:cNvPicPr>
          <p:nvPr/>
        </p:nvPicPr>
        <p:blipFill>
          <a:blip r:embed="rId2"/>
          <a:stretch>
            <a:fillRect/>
          </a:stretch>
        </p:blipFill>
        <p:spPr>
          <a:xfrm>
            <a:off x="6504127" y="1280160"/>
            <a:ext cx="5120640" cy="2595347"/>
          </a:xfrm>
          <a:prstGeom prst="rect">
            <a:avLst/>
          </a:prstGeom>
        </p:spPr>
      </p:pic>
      <p:sp>
        <p:nvSpPr>
          <p:cNvPr id="5" name="Figure caption"/>
          <p:cNvSpPr txBox="1"/>
          <p:nvPr/>
        </p:nvSpPr>
        <p:spPr>
          <a:xfrm>
            <a:off x="6504127" y="39669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5(m–p). Anemone sleep after ultraviolet radiation or etoposide</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Sleep-promoting treatment lowers damage-response foci</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Aguillon and colleagues measured nuclear damage-response markers after melatonin treatment, which also promoted sleep during the active phase. Both Cassiopea and Nematostella displayed fewer gamma-H2AX foci than their respective vehicle-treated controls.</a:t>
            </a:r>
          </a:p>
          <a:p>
            <a:pPr algn="l">
              <a:lnSpc>
                <a:spcPct val="108000"/>
              </a:lnSpc>
              <a:spcAft>
                <a:spcPts val="960"/>
              </a:spcAft>
            </a:pPr>
            <a:r>
              <a:rPr sz="1600" b="0" i="0">
                <a:solidFill>
                  <a:srgbClr val="000000"/>
                </a:solidFill>
                <a:latin typeface="Arial"/>
              </a:rPr>
              <a:t>The combination of spontaneous sleep, deprivation, damage induction, and pharmacologically promoted sleep links behavior and cellular maintenance through several experimental directions. It is stronger evidence than a simple correlation between nighttime and low nuclear staining.</a:t>
            </a:r>
          </a:p>
          <a:p>
            <a:pPr algn="l">
              <a:lnSpc>
                <a:spcPct val="108000"/>
              </a:lnSpc>
              <a:spcAft>
                <a:spcPts val="960"/>
              </a:spcAft>
            </a:pPr>
            <a:r>
              <a:rPr sz="1600" b="0" i="0">
                <a:solidFill>
                  <a:srgbClr val="000000"/>
                </a:solidFill>
                <a:latin typeface="Arial"/>
              </a:rPr>
              <a:t>Melatonin may directly influence oxidative stress or repair-related processes as well as sleep. The reduction therefore supports a relationship between sleep promotion and genome stability, while additional interventions that separate melatonin’s cellular actions from its behavioral effect would be needed to assign the entire reduction specifically to sleep.</a:t>
            </a:r>
          </a:p>
        </p:txBody>
      </p:sp>
      <p:pic>
        <p:nvPicPr>
          <p:cNvPr id="4" name="Picture 3" descr="d5ij.png"/>
          <p:cNvPicPr>
            <a:picLocks noChangeAspect="1"/>
          </p:cNvPicPr>
          <p:nvPr/>
        </p:nvPicPr>
        <p:blipFill>
          <a:blip r:embed="rId2"/>
          <a:stretch>
            <a:fillRect/>
          </a:stretch>
        </p:blipFill>
        <p:spPr>
          <a:xfrm>
            <a:off x="6504127" y="1280160"/>
            <a:ext cx="5120640" cy="3147934"/>
          </a:xfrm>
          <a:prstGeom prst="rect">
            <a:avLst/>
          </a:prstGeom>
        </p:spPr>
      </p:pic>
      <p:sp>
        <p:nvSpPr>
          <p:cNvPr id="5" name="Figure caption"/>
          <p:cNvSpPr txBox="1"/>
          <p:nvPr/>
        </p:nvSpPr>
        <p:spPr>
          <a:xfrm>
            <a:off x="6504127" y="451953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Aguillon (2026), Fig. 5(i–j). Lower damage-response foci after melatonin treatment</a:t>
            </a:r>
          </a:p>
        </p:txBody>
      </p:sp>
      <p:sp>
        <p:nvSpPr>
          <p:cNvPr id="6" name="Rectangle 5"/>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Aguillon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75262"/>
                </a:solidFill>
                <a:latin typeface="Arial"/>
              </a:rPr>
              <a:t>Key takeaways</a:t>
            </a:r>
          </a:p>
        </p:txBody>
      </p:sp>
      <p:sp>
        <p:nvSpPr>
          <p:cNvPr id="3" name="Rectangle 2"/>
          <p:cNvSpPr/>
          <p:nvPr/>
        </p:nvSpPr>
        <p:spPr>
          <a:xfrm>
            <a:off x="566928" y="1234440"/>
            <a:ext cx="5391759" cy="1478279"/>
          </a:xfrm>
          <a:prstGeom prst="rect">
            <a:avLst/>
          </a:prstGeom>
          <a:solidFill>
            <a:srgbClr val="F2F6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Behavioral criteria:</a:t>
            </a:r>
            <a:r>
              <a:rPr sz="1600" b="0" i="0">
                <a:solidFill>
                  <a:srgbClr val="000000"/>
                </a:solidFill>
                <a:latin typeface="Arial"/>
              </a:rPr>
              <a:t> Cassiopea sleep combines reversible quiescence, reduced responsiveness, and compensatory rebound after deprivation.</a:t>
            </a:r>
          </a:p>
        </p:txBody>
      </p:sp>
      <p:sp>
        <p:nvSpPr>
          <p:cNvPr id="5" name="Rectangle 4"/>
          <p:cNvSpPr/>
          <p:nvPr/>
        </p:nvSpPr>
        <p:spPr>
          <a:xfrm>
            <a:off x="6233007" y="1234440"/>
            <a:ext cx="5391759" cy="1478279"/>
          </a:xfrm>
          <a:prstGeom prst="rect">
            <a:avLst/>
          </a:prstGeom>
          <a:solidFill>
            <a:srgbClr val="F2F6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Distributed control:</a:t>
            </a:r>
            <a:r>
              <a:rPr sz="1600" b="0" i="0">
                <a:solidFill>
                  <a:srgbClr val="000000"/>
                </a:solidFill>
                <a:latin typeface="Arial"/>
              </a:rPr>
              <a:t> Radial rhopalia and ganglionic pacemakers organize sleep-related activity without a centralized brain.</a:t>
            </a:r>
          </a:p>
        </p:txBody>
      </p:sp>
      <p:sp>
        <p:nvSpPr>
          <p:cNvPr id="7" name="Rectangle 6"/>
          <p:cNvSpPr/>
          <p:nvPr/>
        </p:nvSpPr>
        <p:spPr>
          <a:xfrm>
            <a:off x="566928" y="2987040"/>
            <a:ext cx="5391759" cy="1478279"/>
          </a:xfrm>
          <a:prstGeom prst="rect">
            <a:avLst/>
          </a:prstGeom>
          <a:solidFill>
            <a:srgbClr val="F2F6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State-dependent responses:</a:t>
            </a:r>
            <a:r>
              <a:rPr sz="1600" b="0" i="0">
                <a:solidFill>
                  <a:srgbClr val="000000"/>
                </a:solidFill>
                <a:latin typeface="Arial"/>
              </a:rPr>
              <a:t> Slow pulsing predicts delayed arousal; light condition and movement rate alone are insufficient sleep definitions.</a:t>
            </a:r>
          </a:p>
        </p:txBody>
      </p:sp>
      <p:sp>
        <p:nvSpPr>
          <p:cNvPr id="9" name="Rectangle 8"/>
          <p:cNvSpPr/>
          <p:nvPr/>
        </p:nvSpPr>
        <p:spPr>
          <a:xfrm>
            <a:off x="6233007" y="2987040"/>
            <a:ext cx="5391759" cy="1478279"/>
          </a:xfrm>
          <a:prstGeom prst="rect">
            <a:avLst/>
          </a:prstGeom>
          <a:solidFill>
            <a:srgbClr val="F2F6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Wake-promoting gene:</a:t>
            </a:r>
            <a:r>
              <a:rPr sz="1600" b="0" i="0">
                <a:solidFill>
                  <a:srgbClr val="000000"/>
                </a:solidFill>
                <a:latin typeface="Arial"/>
              </a:rPr>
              <a:t> chrnal-E knockdown increases daytime sleep, while receptor-directed drugs alter rhopalial electrical activity.</a:t>
            </a:r>
          </a:p>
        </p:txBody>
      </p:sp>
      <p:sp>
        <p:nvSpPr>
          <p:cNvPr id="11" name="Rectangle 10"/>
          <p:cNvSpPr/>
          <p:nvPr/>
        </p:nvSpPr>
        <p:spPr>
          <a:xfrm>
            <a:off x="566928" y="4739640"/>
            <a:ext cx="5391759" cy="1478279"/>
          </a:xfrm>
          <a:prstGeom prst="rect">
            <a:avLst/>
          </a:prstGeom>
          <a:solidFill>
            <a:srgbClr val="F2F6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Mechanistic limits:</a:t>
            </a:r>
            <a:r>
              <a:rPr sz="1600" b="0" i="0">
                <a:solidFill>
                  <a:srgbClr val="000000"/>
                </a:solidFill>
                <a:latin typeface="Arial"/>
              </a:rPr>
              <a:t> Endogenous ligand identity, ion selectivity, and the complete sleep-regulatory circuit remain unresolved.</a:t>
            </a:r>
          </a:p>
        </p:txBody>
      </p:sp>
      <p:sp>
        <p:nvSpPr>
          <p:cNvPr id="13" name="Rectangle 12"/>
          <p:cNvSpPr/>
          <p:nvPr/>
        </p:nvSpPr>
        <p:spPr>
          <a:xfrm>
            <a:off x="6233007" y="4739640"/>
            <a:ext cx="5391759" cy="1478279"/>
          </a:xfrm>
          <a:prstGeom prst="rect">
            <a:avLst/>
          </a:prstGeom>
          <a:solidFill>
            <a:srgbClr val="F2F6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75262"/>
                </a:solidFill>
                <a:latin typeface="Arial"/>
              </a:rPr>
              <a:t>Cellular maintenance:</a:t>
            </a:r>
            <a:r>
              <a:rPr sz="1600" b="0" i="0">
                <a:solidFill>
                  <a:srgbClr val="000000"/>
                </a:solidFill>
                <a:latin typeface="Arial"/>
              </a:rPr>
              <a:t> Sleep history and damage induction link sleep drive with nuclear damage responses; the ancestral function remains a hypothesis.</a:t>
            </a:r>
          </a:p>
        </p:txBody>
      </p:sp>
      <p:sp>
        <p:nvSpPr>
          <p:cNvPr id="15" name="Rectangle 14"/>
          <p:cNvSpPr/>
          <p:nvPr/>
        </p:nvSpPr>
        <p:spPr>
          <a:xfrm>
            <a:off x="566928" y="6382512"/>
            <a:ext cx="11057839" cy="9144"/>
          </a:xfrm>
          <a:prstGeom prst="rect">
            <a:avLst/>
          </a:prstGeom>
          <a:solidFill>
            <a:srgbClr val="CCD9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Nath et al. (2017); Abrams et al. (2025); Aguillon et al. (2026)</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Jellyfish II: sleep-like states, sensory responsiveness, sleep homeostasis, and neural regulation of activity without a centralized brain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