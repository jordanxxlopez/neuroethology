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261" r:id="rId13"/>
    <p:sldId id="314" r:id="rId66"/>
    <p:sldId id="262" r:id="rId14"/>
    <p:sldId id="263" r:id="rId15"/>
    <p:sldId id="264" r:id="rId16"/>
    <p:sldId id="313" r:id="rId65"/>
    <p:sldId id="265" r:id="rId17"/>
    <p:sldId id="266" r:id="rId18"/>
    <p:sldId id="267" r:id="rId19"/>
    <p:sldId id="312" r:id="rId64"/>
    <p:sldId id="268" r:id="rId20"/>
    <p:sldId id="269" r:id="rId21"/>
    <p:sldId id="311" r:id="rId63"/>
    <p:sldId id="270" r:id="rId22"/>
    <p:sldId id="271" r:id="rId23"/>
    <p:sldId id="310" r:id="rId62"/>
    <p:sldId id="272" r:id="rId24"/>
    <p:sldId id="273" r:id="rId25"/>
    <p:sldId id="309" r:id="rId61"/>
    <p:sldId id="274" r:id="rId26"/>
    <p:sldId id="275" r:id="rId27"/>
    <p:sldId id="276" r:id="rId28"/>
    <p:sldId id="308" r:id="rId60"/>
    <p:sldId id="277" r:id="rId29"/>
    <p:sldId id="278" r:id="rId30"/>
    <p:sldId id="279" r:id="rId31"/>
    <p:sldId id="307" r:id="rId59"/>
    <p:sldId id="280" r:id="rId32"/>
    <p:sldId id="281" r:id="rId33"/>
    <p:sldId id="282" r:id="rId34"/>
    <p:sldId id="306" r:id="rId58"/>
    <p:sldId id="283" r:id="rId35"/>
    <p:sldId id="284" r:id="rId36"/>
    <p:sldId id="285" r:id="rId37"/>
    <p:sldId id="286" r:id="rId38"/>
    <p:sldId id="287" r:id="rId39"/>
    <p:sldId id="288" r:id="rId40"/>
    <p:sldId id="305" r:id="rId57"/>
    <p:sldId id="289" r:id="rId41"/>
    <p:sldId id="290" r:id="rId42"/>
    <p:sldId id="291" r:id="rId43"/>
    <p:sldId id="304" r:id="rId56"/>
    <p:sldId id="292" r:id="rId44"/>
    <p:sldId id="293" r:id="rId45"/>
    <p:sldId id="294" r:id="rId46"/>
    <p:sldId id="295" r:id="rId47"/>
    <p:sldId id="296" r:id="rId48"/>
    <p:sldId id="303" r:id="rId55"/>
    <p:sldId id="297" r:id="rId49"/>
    <p:sldId id="298" r:id="rId50"/>
    <p:sldId id="299" r:id="rId51"/>
    <p:sldId id="302" r:id="rId54"/>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Insect vision II: jumping spider eyes and predatory tracking (Land)</a:t>
            </a:r>
          </a:p>
          <a:p>
            <a:r>
              <a:rPr>
                <a:latin typeface="Arial"/>
              </a:rPr>
              <a:t>Lecture 12. NEUR 411 · NEUROETHOLOGY · FALL 2026. Monday, September 21, 2026.</a:t>
            </a:r>
          </a:p>
          <a:p/>
          <a:p>
            <a:r>
              <a:rPr>
                <a:latin typeface="Arial"/>
              </a:rPr>
              <a:t>Figure: Zurek et al. (2015), Fig. 1(A). Habronattus pyrrithrix, a jumping spider studied for retinal spectral filtering.</a:t>
            </a:r>
          </a:p>
          <a:p>
            <a:r>
              <a:rPr>
                <a:latin typeface="Arial"/>
              </a:rPr>
              <a:t>Figure source: https://doi.org/10.1016/j.cub.2015.03.033</a:t>
            </a:r>
          </a:p>
          <a:p/>
          <a:p>
            <a:r>
              <a:rPr>
                <a:latin typeface="Arial"/>
              </a:rPr>
              <a:t>References:</a:t>
            </a:r>
          </a:p>
          <a:p>
            <a:r>
              <a:rPr>
                <a:latin typeface="Arial"/>
              </a:rPr>
              <a:t>Zurek DB, Cronin TW, Taylor LA, Byrne K, Sullivan MLG, Morehouse NI (2015). Spectral filtering enables trichromatic vision in colorful jumping spiders. Current Biology 25: R403–R404. https://doi.org/10.1016/j.cub.2015.03.033</a:t>
            </a:r>
          </a:p>
          <a:p/>
          <a:p>
            <a:r>
              <a:rPr>
                <a:latin typeface="Arial"/>
              </a:rPr>
              <a:t>Original article photograph credit: Colin Hutton, credited by Zurek et al. (2015) for Fig. 1(A). The photograph retains its published pixels.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Salticids hunt through a sequence of visually guided actions. Turning toward a potential target brings it nearer the forward viewing direction, whereas stalking changes the distance between predator and prey. An attack requires an additional commitment to jump.</a:t>
            </a:r>
          </a:p>
          <a:p>
            <a:r>
              <a:rPr>
                <a:latin typeface="Arial"/>
              </a:rPr>
              <a:t>• Opaque dental silicone covered the other eye pairs. A moving live fly supplied a natural target, and the ramp controlled its position relative to the spider. The eye manipulation therefore concerns the available visual input rather than an invented classification of hunting behavior.</a:t>
            </a:r>
          </a:p>
          <a:p>
            <a:r>
              <a:rPr>
                <a:latin typeface="Arial"/>
              </a:rPr>
              <a:t>• An isolated eye pair supporting an action is evidence of sufficiency under the test conditions. It does not establish normal performance after removing the principal eyes, or prove that an intact spider relies exclusively on lateral vision.</a:t>
            </a:r>
          </a:p>
          <a:p/>
          <a:p>
            <a:r>
              <a:rPr>
                <a:latin typeface="Arial"/>
              </a:rPr>
              <a:t>References:</a:t>
            </a:r>
          </a:p>
          <a:p>
            <a:r>
              <a:rPr>
                <a:latin typeface="Arial"/>
              </a:rPr>
              <a:t>Zurek DB, Taylor AJ, Evans CS, Nelson XJ (2010). The role of the anterior lateral eyes in the vision-based behaviour of jumping spiders. Journal of Experimental Biology 213: 2372–2378. https://doi.org/10.1242/jeb.042382</a:t>
            </a:r>
          </a:p>
          <a:p/>
          <a:p>
            <a:r>
              <a:rPr>
                <a:latin typeface="Arial"/>
              </a:rPr>
              <a:t>Figure: Zurek et al. (2010), Fig. 1. Controlled display arrangement for isolated lateral vision.</a:t>
            </a:r>
          </a:p>
          <a:p>
            <a:r>
              <a:rPr>
                <a:latin typeface="Arial"/>
              </a:rP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controlled dot removes the changing shape and irregular movement of a live fly. A blank screen provides a comparison for turns that occur without a visible moving target.</a:t>
            </a:r>
          </a:p>
          <a:p>
            <a:r>
              <a:rPr>
                <a:latin typeface="Arial"/>
              </a:rPr>
              <a:t>• The animal's feet rotate the lightweight ball, so an orientation response can be recorded while stimulus position remains under experimental control. The display covers known directions relative to the anterior lateral eyes.</a:t>
            </a:r>
          </a:p>
          <a:p>
            <a:r>
              <a:rPr>
                <a:latin typeface="Arial"/>
              </a:rPr>
              <a:t>• Degrees describe the target as viewed from the spider. A four-degree dot can be produced by different physical objects at different distances, so angular size is the relevant variable for comparing this visual stimulus with the receptor array.</a:t>
            </a:r>
          </a:p>
          <a:p/>
          <a:p>
            <a:r>
              <a:rPr>
                <a:latin typeface="Arial"/>
              </a:rPr>
              <a:t>References:</a:t>
            </a:r>
          </a:p>
          <a:p>
            <a:r>
              <a:rPr>
                <a:latin typeface="Arial"/>
              </a:rPr>
              <a:t>Zurek DB, Taylor AJ, Evans CS, Nelson XJ (2010). The role of the anterior lateral eyes in the vision-based behaviour of jumping spiders. Journal of Experimental Biology 213: 2372–2378. https://doi.org/10.1242/jeb.042382</a:t>
            </a:r>
          </a:p>
          <a:p/>
          <a:p>
            <a:r>
              <a:rPr>
                <a:latin typeface="Arial"/>
              </a:rPr>
              <a:t>Figure: Zurek et al. (2010), Fig. 2. Orientation probability across size, speed and contrast.</a:t>
            </a:r>
          </a:p>
          <a:p>
            <a:r>
              <a:rPr>
                <a:latin typeface="Arial"/>
              </a:rP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Contrast changes the strength of the visual signal while angular diameter changes how much of the retina the target occupies. Speed changes how rapidly that signal crosses successive receptors.</a:t>
            </a:r>
          </a:p>
          <a:p>
            <a:r>
              <a:rPr>
                <a:latin typeface="Arial"/>
              </a:rPr>
              <a:t>• Testing these variables together reveals relationships that a single moving-dot condition would miss. A stimulus that is effective at one contrast can become much less effective at another, even when it moves at the same speed.</a:t>
            </a:r>
          </a:p>
          <a:p>
            <a:r>
              <a:rPr>
                <a:latin typeface="Arial"/>
              </a:rPr>
              <a:t>• An orientation probability is the output of sensory detection, response selection and motor execution. Its dependence on size and speed does not identify the tuning of a particular interneuron, and rare responses at weak contrast are not a reliable universal visibility threshold.</a:t>
            </a:r>
          </a:p>
          <a:p/>
          <a:p>
            <a:r>
              <a:rPr>
                <a:latin typeface="Arial"/>
              </a:rPr>
              <a:t>References:</a:t>
            </a:r>
          </a:p>
          <a:p>
            <a:r>
              <a:rPr>
                <a:latin typeface="Arial"/>
              </a:rPr>
              <a:t>Zurek DB, Taylor AJ, Evans CS, Nelson XJ (2010). The role of the anterior lateral eyes in the vision-based behaviour of jumping spiders. Journal of Experimental Biology 213: 2372–2378. https://doi.org/10.1242/jeb.042382</a:t>
            </a:r>
          </a:p>
          <a:p/>
          <a:p>
            <a:r>
              <a:rPr>
                <a:latin typeface="Arial"/>
              </a:rPr>
              <a:t>Figure: Zurek et al. (2010), Fig. 2. Size and speed interact at each tested contrast.</a:t>
            </a:r>
          </a:p>
          <a:p>
            <a:r>
              <a:rPr>
                <a:latin typeface="Arial"/>
              </a:rP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sensory stimulus can remain unchanged while its behavioral consequence varies with feeding state. That distinction matters because an absent turn can reflect a decision not to pursue rather than an invisible target.</a:t>
            </a:r>
          </a:p>
          <a:p>
            <a:r>
              <a:rPr>
                <a:latin typeface="Arial"/>
              </a:rPr>
              <a:t>• The experiment compared a short interval after feeding with a longer deprivation interval. Both sexes were examined, allowing state dependence to be distinguished from an overall difference in responsiveness between males and females.</a:t>
            </a:r>
          </a:p>
          <a:p>
            <a:r>
              <a:rPr>
                <a:latin typeface="Arial"/>
              </a:rPr>
              <a:t>• The assay supplies a behavioral measure. Establishing where hunger acts would require activity measurements or interventions in the relevant pathway; the turning data alone do not identify a transmitter or receptor responsible for the effect.</a:t>
            </a:r>
          </a:p>
          <a:p/>
          <a:p>
            <a:r>
              <a:rPr>
                <a:latin typeface="Arial"/>
              </a:rPr>
              <a:t>References:</a:t>
            </a:r>
          </a:p>
          <a:p>
            <a:r>
              <a:rPr>
                <a:latin typeface="Arial"/>
              </a:rPr>
              <a:t>Zurek DB, Taylor AJ, Evans CS, Nelson XJ (2010). The role of the anterior lateral eyes in the vision-based behaviour of jumping spiders. Journal of Experimental Biology 213: 2372–2378. https://doi.org/10.1242/jeb.042382</a:t>
            </a:r>
          </a:p>
          <a:p/>
          <a:p>
            <a:r>
              <a:rPr>
                <a:latin typeface="Arial"/>
              </a:rPr>
              <a:t>Figure: Zurek et al. (2010), Fig. 3. Feeding state and sex affect orientation.</a:t>
            </a:r>
          </a:p>
          <a:p>
            <a:r>
              <a:rPr>
                <a:latin typeface="Arial"/>
              </a:rPr>
              <a:t>Figure source: https://doi.org/10.1242/jeb.042382</a:t>
            </a:r>
          </a:p>
          <a:p/>
          <a:p>
            <a:r>
              <a:rPr>
                <a:latin typeface="Arial"/>
              </a:rPr>
              <a:t>Figure: Zurek et al. (2010), Fig. 2. The controlled target conditions used in the behavioral assay.</a:t>
            </a:r>
          </a:p>
          <a:p>
            <a:r>
              <a:rPr>
                <a:latin typeface="Arial"/>
              </a:rP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principal eye separates the position of the external lens from the position of the retina. The lens is fixed in the carapace, but the long retinal assembly can move, changing the direction sampled through the lens.</a:t>
            </a:r>
          </a:p>
          <a:p>
            <a:r>
              <a:rPr>
                <a:latin typeface="Arial"/>
              </a:rPr>
              <a:t>• Long focal length enlarges the image at the retina. The advantage is fine angular sampling; the accompanying restricted field makes accurate alignment with a target necessary.</a:t>
            </a:r>
          </a:p>
          <a:p>
            <a:r>
              <a:rPr>
                <a:latin typeface="Arial"/>
              </a:rPr>
              <a:t>• The modern Habronattus section supplies colored anatomical evidence of a principal-eye retina, but the studies involve different genera. Its filter identifies a specialized structure rather than a general property of every salticid principal eye.</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r>
              <a:rPr>
                <a:latin typeface="Arial"/>
              </a:rPr>
              <a:t>Zurek DB, Cronin TW, Taylor LA, Byrne K, Sullivan MLG, Morehouse NI (2015). Spectral filtering enables trichromatic vision in colorful jumping spiders. Current Biology 25: R403–R404. https://doi.org/10.1016/j.cub.2015.03.033</a:t>
            </a:r>
          </a:p>
          <a:p/>
          <a:p>
            <a:r>
              <a:rPr>
                <a:latin typeface="Arial"/>
              </a:rPr>
              <a:t>Figure: Land (1969a), Fig. 1. Principal and anterior lateral eye optics.</a:t>
            </a:r>
          </a:p>
          <a:p>
            <a:r>
              <a:rPr>
                <a:latin typeface="Arial"/>
              </a:rPr>
              <a:t>Figure source: https://doi.org/10.1242/jeb.51.2.443</a:t>
            </a:r>
          </a:p>
          <a:p/>
          <a:p>
            <a:r>
              <a:rPr>
                <a:latin typeface="Arial"/>
              </a:rPr>
              <a:t>Figure: Zurek et al. (2015), Fig. 1(B, C). Principal-eye aperture and retinal filter in Habronattus.</a:t>
            </a:r>
          </a:p>
          <a:p>
            <a:r>
              <a:rPr>
                <a:latin typeface="Arial"/>
              </a:rPr>
              <a:t>Figure source: https://doi.org/10.1016/j.cub.2015.03.033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Layer numbers refer to their depth in the principal-eye tube, not four successive brain stations. Light can pass through the more anterior receptor regions before reaching deeper ones.</a:t>
            </a:r>
          </a:p>
          <a:p>
            <a:r>
              <a:rPr>
                <a:latin typeface="Arial"/>
              </a:rPr>
              <a:t>• Land used sections of several orientations to distinguish the layers and the shapes of the receptor segments. The central restriction of the upper layers means that different parts of the retina do not contain an identical stack of receptors.</a:t>
            </a:r>
          </a:p>
          <a:p>
            <a:r>
              <a:rPr>
                <a:latin typeface="Arial"/>
              </a:rPr>
              <a:t>• Receptor shape and placement constrain which light can be absorbed, but a histological section does not measure an electrical response. Assigning a pigment or spectral class to a particular layer requires additional physiological or molecular evidence.</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p>
            <a:r>
              <a:rPr>
                <a:latin typeface="Arial"/>
              </a:rPr>
              <a:t>Figure: Land (1969a), Fig. 3. Layered principal-eye retina and its cellular organization.</a:t>
            </a:r>
          </a:p>
          <a:p>
            <a:r>
              <a:rPr>
                <a:latin typeface="Arial"/>
              </a:rP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microscopic distance becomes an angular sampling interval through the eye's optical magnification. Land related the receptor mosaic to the image produced by the lens instead of treating receptor diameter as a behavioral acuity measurement.</a:t>
            </a:r>
          </a:p>
          <a:p>
            <a:r>
              <a:rPr>
                <a:latin typeface="Arial"/>
              </a:rPr>
              <a:t>• Eleven arcminutes is the reported finest separation in the studied preparation. It is not a universal threshold for every salticid species or every part of the visual field.</a:t>
            </a:r>
          </a:p>
          <a:p>
            <a:r>
              <a:rPr>
                <a:latin typeface="Arial"/>
              </a:rPr>
              <a:t>• The colored Hasarius section locates the layers anatomically. Its inclusion does not transfer a numerical measurement between species; optical measurements and behavioral tests remain distinct kinds of evidence.</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Land (1969a), Fig. 5. Receptor mosaics in the principal-eye layers.</a:t>
            </a:r>
          </a:p>
          <a:p>
            <a:r>
              <a:rPr>
                <a:latin typeface="Arial"/>
              </a:rPr>
              <a:t>Figure source: https://doi.org/10.1242/jeb.51.2.443</a:t>
            </a:r>
          </a:p>
          <a:p/>
          <a:p>
            <a:r>
              <a:rPr>
                <a:latin typeface="Arial"/>
              </a:rPr>
              <a:t>Figure: Nagata et al. (2012), Fig. 1(C). Four retinal layers in Hasarius adansoni.</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principal eye contains several receptor depths behind a fixed optical system. A change in object distance moves the sharp image plane relative to those layers even when the lens itself does not change shape.</a:t>
            </a:r>
          </a:p>
          <a:p>
            <a:r>
              <a:rPr>
                <a:latin typeface="Arial"/>
              </a:rPr>
              <a:t>• Land related the sectioned retina to optical observations. The approximate two-centimeter near focus concerns a reported combination of wavelength and layer, rather than a universal preferred hunting distance.</a:t>
            </a:r>
          </a:p>
          <a:p>
            <a:r>
              <a:rPr>
                <a:latin typeface="Arial"/>
              </a:rPr>
              <a:t>• An optical prediction and a pigment measurement answer different questions. Later work can retain the layered geometry while revising an early proposal that a specific layer contains receptors tuned to a particular color.</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p>
            <a:r>
              <a:rPr>
                <a:latin typeface="Arial"/>
              </a:rPr>
              <a:t>Figure: Land (1969a), Fig. 12. Image positions for different object distances.</a:t>
            </a:r>
          </a:p>
          <a:p>
            <a:r>
              <a:rPr>
                <a:latin typeface="Arial"/>
              </a:rP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Photoreceptor axons carry the output of the retinal cells into the brain. Land's tracing associated different retinal depths with different terminal regions, suggesting that the layered inputs retain some anatomical separation.</a:t>
            </a:r>
          </a:p>
          <a:p>
            <a:r>
              <a:rPr>
                <a:latin typeface="Arial"/>
              </a:rPr>
              <a:t>• A neuropil is defined by its processes and connections rather than by a sheet of cell bodies. Histological proximity does not establish the sign, strength or timing of a synaptic response.</a:t>
            </a:r>
          </a:p>
          <a:p>
            <a:r>
              <a:rPr>
                <a:latin typeface="Arial"/>
              </a:rPr>
              <a:t>• In Marpissa, modern labeling distinguishes two principal-eye processing regions. Those landmarks do not identify every receptor's postsynaptic partner, and the different species and methods prevent a direct assignment of a traced fiber to a functional channel.</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r>
              <a:rPr>
                <a:latin typeface="Arial"/>
              </a:rPr>
              <a:t>Steinhoff POM, Uhl G, Harzsch S, Sombke A (2020). Visual pathways in the brain of the jumping spider Marpissa muscosa. Journal of Comparative Neurology 528: 1883–1902. https://doi.org/10.1002/cne.24861</a:t>
            </a:r>
          </a:p>
          <a:p/>
          <a:p>
            <a:r>
              <a:rPr>
                <a:latin typeface="Arial"/>
              </a:rPr>
              <a:t>Figure: Land (1969a), Fig. 2. Retinal layers and axonal endings in the first optic glomerulus.</a:t>
            </a:r>
          </a:p>
          <a:p>
            <a:r>
              <a:rPr>
                <a:latin typeface="Arial"/>
              </a:rPr>
              <a:t>Figure source: https://doi.org/10.1242/jeb.51.2.443</a:t>
            </a:r>
          </a:p>
          <a:p/>
          <a:p>
            <a:r>
              <a:rPr>
                <a:latin typeface="Arial"/>
              </a:rPr>
              <a:t>Figure: Steinhoff et al. (2020), Fig. 1(a–f). Principal-eye neuropils in Marpissa muscosa.</a:t>
            </a:r>
          </a:p>
          <a:p>
            <a:r>
              <a:rPr>
                <a:latin typeface="Arial"/>
              </a:rPr>
              <a:t>Figure source: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Chromatic aberration is an optical effect rather than a claim about conscious color perception. The wavelength of incident light changes the image plane relative to the receptor layers.</a:t>
            </a:r>
          </a:p>
          <a:p>
            <a:r>
              <a:rPr>
                <a:latin typeface="Arial"/>
              </a:rPr>
              <a:t>• Hasarius has a layered principal retina. The same target at the same physical distance can therefore generate a different pattern of focus across the layers under red and green light.</a:t>
            </a:r>
          </a:p>
          <a:p>
            <a:r>
              <a:rPr>
                <a:latin typeface="Arial"/>
              </a:rPr>
              <a:t>• Nagata's account links this difference to a predicted error in perceived distance. The anatomical arrangement makes the proposal possible, but the behavioral manipulation supplies the evidence that the optical cue influences jumping.</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1(A–D). Principal-eye anatomy, jump accuracy and the published optical account.</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light-sensitive receptor can encode stimulus strength through the amplitude of a graded voltage change. Depolarization names the direction of that change and does not, by itself, establish that the cell generates action potentials.</a:t>
            </a:r>
          </a:p>
          <a:p>
            <a:r>
              <a:rPr>
                <a:latin typeface="Arial"/>
              </a:rPr>
              <a:t>• DeVoe used calibrated flashes and compared wavelength-dependent responses in individual cells. Electrical calibration expresses the recording in millivolts, while the flash duration expresses the time over which the receptor was stimulated.</a:t>
            </a:r>
          </a:p>
          <a:p>
            <a:r>
              <a:rPr>
                <a:latin typeface="Arial"/>
              </a:rPr>
              <a:t>• The modern anatomical inset concerns Hasarius, and the physiology concerns Phidippus regius. A section makes the layered organization explicit, but only an independently localized recording could determine which layer contained a particular recorded receptor.</a:t>
            </a:r>
          </a:p>
          <a:p/>
          <a:p>
            <a:r>
              <a:rPr>
                <a:latin typeface="Arial"/>
              </a:rPr>
              <a:t>References:</a:t>
            </a:r>
          </a:p>
          <a:p>
            <a:r>
              <a:rPr>
                <a:latin typeface="Arial"/>
              </a:rPr>
              <a:t>DeVoe RD (1975). Ultraviolet and green receptors in principal eyes of jumping spiders. Journal of General Physiology 66: 193–207. https://doi.org/10.1085/jgp.66.2.193</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DeVoe (1975), Fig. 1. Responses to calibrated flashes in individual photoreceptors.</a:t>
            </a:r>
          </a:p>
          <a:p>
            <a:r>
              <a:rPr>
                <a:latin typeface="Arial"/>
              </a:rPr>
              <a:t>Figure source: https://doi.org/10.1085/jgp.66.2.193</a:t>
            </a:r>
          </a:p>
          <a:p/>
          <a:p>
            <a:r>
              <a:rPr>
                <a:latin typeface="Arial"/>
              </a:rPr>
              <a:t>Figure: Nagata et al. (2012), Fig. 1(C). The layered principal-eye organ in Hasarius.</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sensitivity measurement compares the light required to evoke a specified electrical response. It therefore separates wavelength preference from an arbitrary difference in how bright the experimenter made each flash.</a:t>
            </a:r>
          </a:p>
          <a:p>
            <a:r>
              <a:rPr>
                <a:latin typeface="Arial"/>
              </a:rPr>
              <a:t>• The ultraviolet class responds most effectively near 370 nanometers and loses sensitivity steeply toward longer wavelengths. A large separation on the logarithmic axis represents a large intensity difference.</a:t>
            </a:r>
          </a:p>
          <a:p>
            <a:r>
              <a:rPr>
                <a:latin typeface="Arial"/>
              </a:rPr>
              <a:t>• A receptor channel is an input to perception, not proof of a perceptual ability. Behavioral color discrimination requires comparing wavelengths while controlling brightness, and the layer assignment in another species supplies complementary evidence rather than a direct localization of DeVoe's electrode.</a:t>
            </a:r>
          </a:p>
          <a:p/>
          <a:p>
            <a:r>
              <a:rPr>
                <a:latin typeface="Arial"/>
              </a:rPr>
              <a:t>References:</a:t>
            </a:r>
          </a:p>
          <a:p>
            <a:r>
              <a:rPr>
                <a:latin typeface="Arial"/>
              </a:rPr>
              <a:t>DeVoe RD (1975). Ultraviolet and green receptors in principal eyes of jumping spiders. Journal of General Physiology 66: 193–207. https://doi.org/10.1085/jgp.66.2.193</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DeVoe (1975), Fig. 2. Ultraviolet, green and dual-peaked spectral sensitivity.</a:t>
            </a:r>
          </a:p>
          <a:p>
            <a:r>
              <a:rPr>
                <a:latin typeface="Arial"/>
              </a:rPr>
              <a:t>Figure source: https://doi.org/10.1085/jgp.66.2.193</a:t>
            </a:r>
          </a:p>
          <a:p/>
          <a:p>
            <a:r>
              <a:rPr>
                <a:latin typeface="Arial"/>
              </a:rPr>
              <a:t>Figure: Nagata et al. (2012), Fig. 2(A–C). Pigment spectra and layer localization in Hasarius.</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green receptor class differs from the ultraviolet class in the wavelength requiring the least light for a response. That distinction is physiological, because it comes from voltage measurements in individual cells.</a:t>
            </a:r>
          </a:p>
          <a:p>
            <a:r>
              <a:rPr>
                <a:latin typeface="Arial"/>
              </a:rPr>
              <a:t>• A purified pigment's absorption spectrum identifies a molecular property. It does not measure the complete gain or kinetics of an intact photoreceptor, where absorption must influence membrane conductance before voltage changes.</a:t>
            </a:r>
          </a:p>
          <a:p>
            <a:r>
              <a:rPr>
                <a:latin typeface="Arial"/>
              </a:rPr>
              <a:t>• The close green peaks in Phidippus physiology and Hasarius pigment measurements are consistent with related spectral channels. The evidence does not justify naming an unmeasured ion channel or transferring every cellular property between the species.</a:t>
            </a:r>
          </a:p>
          <a:p/>
          <a:p>
            <a:r>
              <a:rPr>
                <a:latin typeface="Arial"/>
              </a:rPr>
              <a:t>References:</a:t>
            </a:r>
          </a:p>
          <a:p>
            <a:r>
              <a:rPr>
                <a:latin typeface="Arial"/>
              </a:rPr>
              <a:t>DeVoe RD (1975). Ultraviolet and green receptors in principal eyes of jumping spiders. Journal of General Physiology 66: 193–207. https://doi.org/10.1085/jgp.66.2.193</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DeVoe (1975), Fig. 2. Green sensitivity peaks near 532 nm.</a:t>
            </a:r>
          </a:p>
          <a:p>
            <a:r>
              <a:rPr>
                <a:latin typeface="Arial"/>
              </a:rPr>
              <a:t>Figure source: https://doi.org/10.1085/jgp.66.2.193</a:t>
            </a:r>
          </a:p>
          <a:p/>
          <a:p>
            <a:r>
              <a:rPr>
                <a:latin typeface="Arial"/>
              </a:rPr>
              <a:t>Figure: Nagata et al. (2012), Fig. 2(A–C). Rh1 pigment absorption and principal-eye localization.</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dual-peaked sensitivity curve means that two separated wavelength regions can effectively activate the recorded cell. It does not mean the experiment recorded two cells simultaneously.</a:t>
            </a:r>
          </a:p>
          <a:p>
            <a:r>
              <a:rPr>
                <a:latin typeface="Arial"/>
              </a:rPr>
              <a:t>• Ultraviolet and green flashes produced responses with different time courses in the same receptor. This within-cell comparison makes the kinetic difference distinct from the spectral differences between the ultraviolet-only and green-sensitive classes.</a:t>
            </a:r>
          </a:p>
          <a:p>
            <a:r>
              <a:rPr>
                <a:latin typeface="Arial"/>
              </a:rPr>
              <a:t>• The data leave the cellular explanation unresolved. An electrical recording identifies the response and its timing, but not automatically the pigment distribution, the responsible conductance or the cell's postsynaptic targets.</a:t>
            </a:r>
          </a:p>
          <a:p/>
          <a:p>
            <a:r>
              <a:rPr>
                <a:latin typeface="Arial"/>
              </a:rPr>
              <a:t>References:</a:t>
            </a:r>
          </a:p>
          <a:p>
            <a:r>
              <a:rPr>
                <a:latin typeface="Arial"/>
              </a:rPr>
              <a:t>DeVoe RD (1975). Ultraviolet and green receptors in principal eyes of jumping spiders. Journal of General Physiology 66: 193–207. https://doi.org/10.1085/jgp.66.2.193</a:t>
            </a:r>
          </a:p>
          <a:p/>
          <a:p>
            <a:r>
              <a:rPr>
                <a:latin typeface="Arial"/>
              </a:rPr>
              <a:t>Figure: DeVoe (1975), Fig. 1. Responses of ultraviolet, green and ultraviolet–green cells.</a:t>
            </a:r>
          </a:p>
          <a:p>
            <a:r>
              <a:rPr>
                <a:latin typeface="Arial"/>
              </a:rPr>
              <a:t>Figure source: https://doi.org/10.1085/jgp.66.2.193</a:t>
            </a:r>
          </a:p>
          <a:p/>
          <a:p>
            <a:r>
              <a:rPr>
                <a:latin typeface="Arial"/>
              </a:rPr>
              <a:t>Figure: DeVoe (1975), Fig. 2. Dual-peaked sensitivity differs from the separate receptor classes.</a:t>
            </a:r>
          </a:p>
          <a:p>
            <a:r>
              <a:rPr>
                <a:latin typeface="Arial"/>
              </a:rPr>
              <a:t>Figure source: https://doi.org/10.1085/jgp.66.2.193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antibody signal identifies where a protein is detected in the sectioned retina. Measuring expression and purified absorption supplies additional evidence about the identity and spectral properties of that protein.</a:t>
            </a:r>
          </a:p>
          <a:p>
            <a:r>
              <a:rPr>
                <a:latin typeface="Arial"/>
              </a:rPr>
              <a:t>• The green-sensitive pigment spans the two deeper layers rather than occupying only the layer with the sharpest green image. The upper layers instead contain the detected ultraviolet-sensitive pigment.</a:t>
            </a:r>
          </a:p>
          <a:p>
            <a:r>
              <a:rPr>
                <a:latin typeface="Arial"/>
              </a:rPr>
              <a:t>• The result revises a simple assignment of one color to one depth. A green-sensitive receptor can receive a blurred green image, allowing optical sharpness to carry information independently of the pigment's wavelength preference.</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2(A–C). Rh1 in L1/L2 and ultraviolet-sensitive Rh3 in L3/L4.</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Removing one principal-eye view prevents the usual comparison between two principal images. Covering the anterior lateral eyes also restricts an alternative visual contribution during the test.</a:t>
            </a:r>
          </a:p>
          <a:p>
            <a:r>
              <a:rPr>
                <a:latin typeface="Arial"/>
              </a:rPr>
              <a:t>• Jump distance remained closely related to prey distance. The behavior therefore does not require the two-eye geometry assumed by a stereoscopic explanation under these conditions.</a:t>
            </a:r>
          </a:p>
          <a:p>
            <a:r>
              <a:rPr>
                <a:latin typeface="Arial"/>
              </a:rPr>
              <a:t>• The authors additionally examined whether the spider moved before jumping in a way that could generate useful motion parallax. These observations narrow the plausible cues, but a manipulation of image focus or wavelength is required to test the specific defocus account.</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1(A–D). Eye occlusion and measured jump distance.</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target distance was measured separately from jump distance. A ratio near one corresponds to a jump reaching the target; a ratio near 0.90 corresponds to an undershoot relative to that same target distance.</a:t>
            </a:r>
          </a:p>
          <a:p>
            <a:r>
              <a:rPr>
                <a:latin typeface="Arial"/>
              </a:rPr>
              <a:t>• Red illumination changes optical focus as well as pigment stimulation. The observed shortening agrees with the direction predicted if the spider interprets increased blur using a relationship appropriate to green light.</a:t>
            </a:r>
          </a:p>
          <a:p>
            <a:r>
              <a:rPr>
                <a:latin typeface="Arial"/>
              </a:rPr>
              <a:t>• Responding under red illumination is not the same as possessing a red-peaking pigment. A pigment's sensitivity extends beyond its peak, so sufficient long-wavelength light can still activate green-sensitive receptors.</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3(B, C). Measured jump distances under green and red light.</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dimmer effective stimulus could impair behavior even without a change in optical depth information. The pigment-based adjustment and the brighter-red condition address that alternative explanation.</a:t>
            </a:r>
          </a:p>
          <a:p>
            <a:r>
              <a:rPr>
                <a:latin typeface="Arial"/>
              </a:rPr>
              <a:t>• Increasing red intensity sixfold left the direction and approximate magnitude of the error intact. The result makes a simple reduction in effective brightness inadequate to account for the wavelength effect.</a:t>
            </a:r>
          </a:p>
          <a:p>
            <a:r>
              <a:rPr>
                <a:latin typeface="Arial"/>
              </a:rPr>
              <a:t>• The control has a defined scope. Purified-pigment efficiency constrains photon absorption, while the intact receptor's voltage, adaptation and downstream gain were not directly measured during these jumps.</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3(B, C). A sixfold red-light increase does not remove undershooting.</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Blur depends on both object distance and the position of the receptor layer relative to focus. A fixed optical system can therefore convert distance into a measurable property of the retinal image.</a:t>
            </a:r>
          </a:p>
          <a:p>
            <a:r>
              <a:rPr>
                <a:latin typeface="Arial"/>
              </a:rPr>
              <a:t>• The red-light prediction uses the same layered geometry but a different focal length. Under a green-calibrated interpretation, greater defocus produces an underestimate of prey distance and a shorter jump.</a:t>
            </a:r>
          </a:p>
          <a:p>
            <a:r>
              <a:rPr>
                <a:latin typeface="Arial"/>
              </a:rPr>
              <a:t>• The original paper supplies the optical curves. Agreement with those curves does not determine whether two layers are compared, which neurons perform a comparison, or what receptor and channel mechanisms generate their responses.</a:t>
            </a:r>
          </a:p>
          <a:p/>
          <a:p>
            <a:r>
              <a:rPr>
                <a:latin typeface="Arial"/>
              </a:rPr>
              <a:t>References:</a:t>
            </a:r>
          </a:p>
          <a:p>
            <a:r>
              <a:rPr>
                <a:latin typeface="Arial"/>
              </a:rPr>
              <a:t>Nagata T, Koyanagi M, Tsukamoto H, Saeki S, Isono K, Shichida Y, Tokunaga F, Kinoshita M, Arikawa K, Terakita A (2012). Depth perception from image defocus in a jumping spider. Science 335: 469–471. https://doi.org/10.1126/science.1211667</a:t>
            </a:r>
          </a:p>
          <a:p/>
          <a:p>
            <a:r>
              <a:rPr>
                <a:latin typeface="Arial"/>
              </a:rPr>
              <a:t>Figure: Nagata et al. (2012), Fig. 1(A–D). Retinal depths and the authors’ proposed defocus mechanism.</a:t>
            </a:r>
          </a:p>
          <a:p>
            <a:r>
              <a:rPr>
                <a:latin typeface="Arial"/>
              </a:rPr>
              <a:t>Figure source: https://doi.org/10.1126/science.1211667</a:t>
            </a:r>
          </a:p>
          <a:p/>
          <a:p>
            <a:r>
              <a:rPr>
                <a:latin typeface="Arial"/>
              </a:rPr>
              <a:t>Figure: Nagata et al. (2012), Fig. 3(B, C). Published optical predictions alongside jump measurements.</a:t>
            </a:r>
          </a:p>
          <a:p>
            <a:r>
              <a:rPr>
                <a:latin typeface="Arial"/>
              </a:rPr>
              <a:t>Figure source: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filter acts before photon absorption by the pigment. Removing more short-wavelength light changes the effective sensitivity of an otherwise green-sensitive receptor.</a:t>
            </a:r>
          </a:p>
          <a:p>
            <a:r>
              <a:rPr>
                <a:latin typeface="Arial"/>
              </a:rPr>
              <a:t>• The paper measured pigment properties and the filter's spectral transmission. The published predicted curve combines those measurements and reaches its peak near 626 nanometers.</a:t>
            </a:r>
          </a:p>
          <a:p>
            <a:r>
              <a:rPr>
                <a:latin typeface="Arial"/>
              </a:rPr>
              <a:t>• An additional effective spectral channel can arise without an additional opsin class. The prediction concerns the filtered receptor population and does not establish behavioral color discrimination or a directly measured downstream red channel.</a:t>
            </a:r>
          </a:p>
          <a:p/>
          <a:p>
            <a:r>
              <a:rPr>
                <a:latin typeface="Arial"/>
              </a:rPr>
              <a:t>References:</a:t>
            </a:r>
          </a:p>
          <a:p>
            <a:r>
              <a:rPr>
                <a:latin typeface="Arial"/>
              </a:rPr>
              <a:t>Zurek DB, Cronin TW, Taylor LA, Byrne K, Sullivan MLG, Morehouse NI (2015). Spectral filtering enables trichromatic vision in colorful jumping spiders. Current Biology 25: R403–R404. https://doi.org/10.1016/j.cub.2015.03.033</a:t>
            </a:r>
          </a:p>
          <a:p/>
          <a:p>
            <a:r>
              <a:rPr>
                <a:latin typeface="Arial"/>
              </a:rPr>
              <a:t>Figure: Zurek et al. (2015), Fig. 1(B, C). A localized red filter in the principal retina.</a:t>
            </a:r>
          </a:p>
          <a:p>
            <a:r>
              <a:rPr>
                <a:latin typeface="Arial"/>
              </a:rPr>
              <a:t>Figure source: https://doi.org/10.1016/j.cub.2015.03.033</a:t>
            </a:r>
          </a:p>
          <a:p/>
          <a:p>
            <a:r>
              <a:rPr>
                <a:latin typeface="Arial"/>
              </a:rPr>
              <a:t>Figure: Zurek et al. (2015), Fig. 1(G–I). Measured spectra and predicted filtered sensitivity.</a:t>
            </a:r>
          </a:p>
          <a:p>
            <a:r>
              <a:rPr>
                <a:latin typeface="Arial"/>
              </a:rPr>
              <a:t>Figure source: https://doi.org/10.1016/j.cub.2015.03.033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unstained section retains the pigment's natural red appearance, so the color is part of the tissue rather than an added label. The section geometry locates that filter relative to the tiered receptor arrangement.</a:t>
            </a:r>
          </a:p>
          <a:p>
            <a:r>
              <a:rPr>
                <a:latin typeface="Arial"/>
              </a:rPr>
              <a:t>• Because the filter covers only part of the retina, not every principal-eye receptor receives the same spectrum. A target's position relative to that region can change which filtered and unfiltered signals are available.</a:t>
            </a:r>
          </a:p>
          <a:p>
            <a:r>
              <a:rPr>
                <a:latin typeface="Arial"/>
              </a:rPr>
              <a:t>• The taxonomic comparison limits generalization. The sampled Habronattus species share the feature, while the sampled representatives of other genera do not, so the mechanism cannot simply be transferred to Phidippus physiology or Hasarius defocus experiments.</a:t>
            </a:r>
          </a:p>
          <a:p/>
          <a:p>
            <a:r>
              <a:rPr>
                <a:latin typeface="Arial"/>
              </a:rPr>
              <a:t>References:</a:t>
            </a:r>
          </a:p>
          <a:p>
            <a:r>
              <a:rPr>
                <a:latin typeface="Arial"/>
              </a:rPr>
              <a:t>Zurek DB, Cronin TW, Taylor LA, Byrne K, Sullivan MLG, Morehouse NI (2015). Spectral filtering enables trichromatic vision in colorful jumping spiders. Current Biology 25: R403–R404. https://doi.org/10.1016/j.cub.2015.03.033</a:t>
            </a:r>
          </a:p>
          <a:p/>
          <a:p>
            <a:r>
              <a:rPr>
                <a:latin typeface="Arial"/>
              </a:rPr>
              <a:t>Figure: Zurek et al. (2015), Fig. 1(D, E). Layered retina and the restricted red-filter region.</a:t>
            </a:r>
          </a:p>
          <a:p>
            <a:r>
              <a:rPr>
                <a:latin typeface="Arial"/>
              </a:rPr>
              <a:t>Figure source: https://doi.org/10.1016/j.cub.2015.03.033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third effective receptor sensitivity can be produced by filtering an existing pigment class. Trichromatic potential therefore does not require three different opsin proteins in this case.</a:t>
            </a:r>
          </a:p>
          <a:p>
            <a:r>
              <a:rPr>
                <a:latin typeface="Arial"/>
              </a:rPr>
              <a:t>• Absorbing short wavelengths improves spectral separation but leaves fewer photons available to the filtered receptors. The proposed low-light cost follows from those optical properties; the paper does not measure a complete behavioral sensitivity limit under every illumination.</a:t>
            </a:r>
          </a:p>
          <a:p>
            <a:r>
              <a:rPr>
                <a:latin typeface="Arial"/>
              </a:rPr>
              <a:t>• Color perception additionally requires the animal to use differences between channels. Optical sensitivity curves alone do not identify an opponent neuron or prove a specific perceptual discrimination.</a:t>
            </a:r>
          </a:p>
          <a:p/>
          <a:p>
            <a:r>
              <a:rPr>
                <a:latin typeface="Arial"/>
              </a:rPr>
              <a:t>References:</a:t>
            </a:r>
          </a:p>
          <a:p>
            <a:r>
              <a:rPr>
                <a:latin typeface="Arial"/>
              </a:rPr>
              <a:t>Zurek DB, Cronin TW, Taylor LA, Byrne K, Sullivan MLG, Morehouse NI (2015). Spectral filtering enables trichromatic vision in colorful jumping spiders. Current Biology 25: R403–R404. https://doi.org/10.1016/j.cub.2015.03.033</a:t>
            </a:r>
          </a:p>
          <a:p/>
          <a:p>
            <a:r>
              <a:rPr>
                <a:latin typeface="Arial"/>
              </a:rPr>
              <a:t>Figure: Zurek et al. (2015), Fig. 1(G–I). Filter absorbance, transmission and predicted receptor channels.</a:t>
            </a:r>
          </a:p>
          <a:p>
            <a:r>
              <a:rPr>
                <a:latin typeface="Arial"/>
              </a:rPr>
              <a:t>Figure source: https://doi.org/10.1016/j.cub.2015.03.033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large anterior lens remains fixed while the retina changes position inside the eye. Muscles acting on the tube can therefore move the sampled image without a conspicuous rotation of the external eye.</a:t>
            </a:r>
          </a:p>
          <a:p>
            <a:r>
              <a:rPr>
                <a:latin typeface="Arial"/>
              </a:rPr>
              <a:t>• Four displacing muscles and two wrapping bands supply different mechanical actions. Rotating the retina changes the orientation of its receptor rows relative to a target, whereas horizontal displacement changes the direction sampled.</a:t>
            </a:r>
          </a:p>
          <a:p>
            <a:r>
              <a:rPr>
                <a:latin typeface="Arial"/>
              </a:rPr>
              <a:t>• Land established the muscle anatomy directly. The mechanical arrangement supports possible actions but does not reveal motor firing patterns, synaptic chemistry or the exact force contributed by each muscle during a recorded scan.</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2. Six principal-eye muscles around the movable retinal tube.</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Sensory axons carry information inward from the retina, while motor axons deliver commands to the muscles that move it. Land distinguished these routes anatomically rather than treating every fiber beside the eye as a sensory fiber.</a:t>
            </a:r>
          </a:p>
          <a:p>
            <a:r>
              <a:rPr>
                <a:latin typeface="Arial"/>
              </a:rPr>
              <a:t>• Six axons could be traced to the six muscles. That organization identifies the final motor supply but leaves the origin of each movement command unresolved.</a:t>
            </a:r>
          </a:p>
          <a:p>
            <a:r>
              <a:rPr>
                <a:latin typeface="Arial"/>
              </a:rPr>
              <a:t>• To establish motor coding, the axons would need to be recorded or manipulated during an eye movement. Anatomical tracing alone cannot identify how a target's position becomes a muscle activation pattern, or which molecular receptors mediate the resulting contraction.</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4. Oculomotor axons and their muscle terminations.</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spider's own lens provides optical access to its internal retina. Following the retinal field through that lens allows the experimenter to record motion that is otherwise difficult to see externally.</a:t>
            </a:r>
          </a:p>
          <a:p>
            <a:r>
              <a:rPr>
                <a:latin typeface="Arial"/>
              </a:rPr>
              <a:t>• A calibrated position trace preserves the time course of movement. Its angular reference concerns displacement of the sampled visual field, while the time marks identify how quickly that displacement occurs.</a:t>
            </a:r>
          </a:p>
          <a:p>
            <a:r>
              <a:rPr>
                <a:latin typeface="Arial"/>
              </a:rPr>
              <a:t>• These are motor-output measurements. They establish the movements and their stimulus relationships without measuring the sensory or motor neurons responsible for generating them.</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1(a, b). Ophthalmoscopic recording apparatus.</a:t>
            </a:r>
          </a:p>
          <a:p>
            <a:r>
              <a:rPr>
                <a:latin typeface="Arial"/>
              </a:rPr>
              <a:t>Figure source: https://doi.org/10.1242/jeb.51.2.471</a:t>
            </a:r>
          </a:p>
          <a:p/>
          <a:p>
            <a:r>
              <a:rPr>
                <a:latin typeface="Arial"/>
              </a:rPr>
              <a:t>Figure: Land (1969b), Fig. 2. The movable retinal tube and muscle attachments.</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Land compared the eye's activity under different visual conditions rather than assuming that every movement followed an external object. Blank fields and eye covering tested whether a visible target was required.</a:t>
            </a:r>
          </a:p>
          <a:p>
            <a:r>
              <a:rPr>
                <a:latin typeface="Arial"/>
              </a:rPr>
              <a:t>• Target displacement produced an abrupt directed movement, while spontaneous records were more variable and could continue without such stimulation. The slow return following a target-evoked shift also differs from a sustained tracking response.</a:t>
            </a:r>
          </a:p>
          <a:p>
            <a:r>
              <a:rPr>
                <a:latin typeface="Arial"/>
              </a:rPr>
              <a:t>• These observations distinguish response classes from their motor traces. They do not identify the neurons that generate spontaneous activity or determine whether every observed shift has the same central origin.</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7(a, b). Spontaneous movements and stimulus-evoked saccades.</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Retinal tracking concerns movement inside the principal eye, while body orientation moves the whole animal. Both can change where a target falls in the visual field, but they are different motor outputs.</a:t>
            </a:r>
          </a:p>
          <a:p>
            <a:r>
              <a:rPr>
                <a:latin typeface="Arial"/>
              </a:rPr>
              <a:t>• Land could elicit directed shifts through stimulation visible to different eye pairs. That result indicates that principal-eye motor control is not restricted to information initially detected by the principal retina itself.</a:t>
            </a:r>
          </a:p>
          <a:p>
            <a:r>
              <a:rPr>
                <a:latin typeface="Arial"/>
              </a:rPr>
              <a:t>• The intervening circuit was not recorded. Eye-specific manipulations are required to distinguish which pair supplies target information under a particular tracking task, and a position response alone does not establish perfect matching of target speed.</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7(a, b). Spontaneous and target-directed retinal shifts.</a:t>
            </a:r>
          </a:p>
          <a:p>
            <a:r>
              <a:rPr>
                <a:latin typeface="Arial"/>
              </a:rPr>
              <a:t>Figure source: https://doi.org/10.1242/jeb.51.2.471</a:t>
            </a:r>
          </a:p>
          <a:p/>
          <a:p>
            <a:r>
              <a:rPr>
                <a:latin typeface="Arial"/>
              </a:rPr>
              <a:t>Figure: Land (1969b), Fig. 8(a, b). Horizontal and torsional components of eye movement.</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Horizontal scanning changes the sampled location, while torsion changes the orientation of the sampling array. Land recorded both components separately rather than compressing the behavior into one undifferentiated eye movement.</a:t>
            </a:r>
          </a:p>
          <a:p>
            <a:r>
              <a:rPr>
                <a:latin typeface="Arial"/>
              </a:rPr>
              <a:t>• The horizontal cycles recur more rapidly than the large torsional excursion. A target can therefore be swept repeatedly at one orientation before the receptor rows reach a substantially different orientation.</a:t>
            </a:r>
          </a:p>
          <a:p>
            <a:r>
              <a:rPr>
                <a:latin typeface="Arial"/>
              </a:rPr>
              <a:t>• This motor pattern constrains proposed visual computations. Establishing an edge detector, however, would require evidence about neuronal responses to defined contours, not just a record of retinal motion.</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8(a, b). Published records separating scan translation and torsion.</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Target width changes the amount of visual space occupied by the object. The scans expanded for many larger targets, but a lower movement limit meant that very small targets did not produce proportionately tiny scans.</a:t>
            </a:r>
          </a:p>
          <a:p>
            <a:r>
              <a:rPr>
                <a:latin typeface="Arial"/>
              </a:rPr>
              <a:t>• The horizontal and torsional components did not simply scale together. Their different dependence on target width supports distinct contributions to sampling rather than one fixed eye-motion pattern.</a:t>
            </a:r>
          </a:p>
          <a:p>
            <a:r>
              <a:rPr>
                <a:latin typeface="Arial"/>
              </a:rPr>
              <a:t>• Land's contour-analysis account is a proposed use of this sampling geometry. The reproduced stimulus forms belong to the published article; they support the historical reasoning but do not constitute recordings of the proposed detector.</a:t>
            </a:r>
          </a:p>
          <a:p/>
          <a:p>
            <a:r>
              <a:rPr>
                <a:latin typeface="Arial"/>
              </a:rPr>
              <a:t>References:</a:t>
            </a:r>
          </a:p>
          <a:p>
            <a:r>
              <a:rPr>
                <a:latin typeface="Arial"/>
              </a:rPr>
              <a:t>Land MF (1969b). Movements of the retinae of jumping spiders (Salticidae: Dendryphantinae) in response to visual stimuli. Journal of Experimental Biology 51: 471–493. https://doi.org/10.1242/jeb.51.2.471</a:t>
            </a:r>
          </a:p>
          <a:p/>
          <a:p>
            <a:r>
              <a:rPr>
                <a:latin typeface="Arial"/>
              </a:rPr>
              <a:t>Figure: Land (1969b), Fig. 9. Scanning during targets of five angular widths.</a:t>
            </a:r>
          </a:p>
          <a:p>
            <a:r>
              <a:rPr>
                <a:latin typeface="Arial"/>
              </a:rP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assay isolates lateral visual input and records the spider's attempted body rotations. It therefore differs from an ophthalmoscopic measurement of motion inside a principal eye.</a:t>
            </a:r>
          </a:p>
          <a:p>
            <a:r>
              <a:rPr>
                <a:latin typeface="Arial"/>
              </a:rPr>
              <a:t>• A series of discrete turns follows the moving dot. The onset relationship to the dot's trailing edge indicates that target entry into the field matters, while the rate varies across target position.</a:t>
            </a:r>
          </a:p>
          <a:p>
            <a:r>
              <a:rPr>
                <a:latin typeface="Arial"/>
              </a:rPr>
              <a:t>• The measured maximum rate is tied to a four-degree dot moving at nine degrees per second. It should not be assigned to every natural target or interpreted as a fixed frequency of the eye muscles.</a:t>
            </a:r>
          </a:p>
          <a:p/>
          <a:p>
            <a:r>
              <a:rPr>
                <a:latin typeface="Arial"/>
              </a:rPr>
              <a:t>References:</a:t>
            </a:r>
          </a:p>
          <a:p>
            <a:r>
              <a:rPr>
                <a:latin typeface="Arial"/>
              </a:rPr>
              <a:t>Zurek DB, Nelson XJ (2012). Saccadic tracking of targets mediated by the anterior-lateral eyes of jumping spiders. Journal of Comparative Physiology A 198: 411–417. https://doi.org/10.1007/s00359-012-0719-0</a:t>
            </a:r>
          </a:p>
          <a:p/>
          <a:p>
            <a:r>
              <a:rPr>
                <a:latin typeface="Arial"/>
              </a:rPr>
              <a:t>Figure: Zurek &amp; Nelson (2012), Fig. 2. Saccade characteristics across horizontal target position.</a:t>
            </a:r>
          </a:p>
          <a:p>
            <a:r>
              <a:rPr>
                <a:latin typeface="Arial"/>
              </a:rPr>
              <a:t>Figure source: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Saccade magnitude is the angle turned, velocity is its rate in degrees per second, and duration is the time occupied by that movement. The three variables describe different aspects of the same motor action.</a:t>
            </a:r>
          </a:p>
          <a:p>
            <a:r>
              <a:rPr>
                <a:latin typeface="Arial"/>
              </a:rPr>
              <a:t>• Larger target eccentricities produced larger movements that were also faster. This relationship reduces how much longer a large turn takes, but the turns still increasingly fall short of the target at more lateral positions.</a:t>
            </a:r>
          </a:p>
          <a:p>
            <a:r>
              <a:rPr>
                <a:latin typeface="Arial"/>
              </a:rPr>
              <a:t>• Repeated saccades can reduce the remaining error. The behavioral relationship does not identify the comparator neurons, and ball rotations should not be mistaken for an unconstrained locomotor trajectory.</a:t>
            </a:r>
          </a:p>
          <a:p/>
          <a:p>
            <a:r>
              <a:rPr>
                <a:latin typeface="Arial"/>
              </a:rPr>
              <a:t>References:</a:t>
            </a:r>
          </a:p>
          <a:p>
            <a:r>
              <a:rPr>
                <a:latin typeface="Arial"/>
              </a:rPr>
              <a:t>Zurek DB, Nelson XJ (2012). Saccadic tracking of targets mediated by the anterior-lateral eyes of jumping spiders. Journal of Comparative Physiology A 198: 411–417. https://doi.org/10.1007/s00359-012-0719-0</a:t>
            </a:r>
          </a:p>
          <a:p/>
          <a:p>
            <a:r>
              <a:rPr>
                <a:latin typeface="Arial"/>
              </a:rPr>
              <a:t>Figure: Zurek &amp; Nelson (2012), Fig. 3(a–d). Magnitude, speed and duration vary with target position.</a:t>
            </a:r>
          </a:p>
          <a:p>
            <a:r>
              <a:rPr>
                <a:latin typeface="Arial"/>
              </a:rPr>
              <a:t>Figure source: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In a freely turning spider, the target shifts across the retina as the body rotates toward it. That change can provide a signal for correcting or stopping the movement.</a:t>
            </a:r>
          </a:p>
          <a:p>
            <a:r>
              <a:rPr>
                <a:latin typeface="Arial"/>
              </a:rPr>
              <a:t>• Land held the body still while the feet moved the ring. The attempted turn was recorded, but it did not create the normal change in target direction relative to the eyes.</a:t>
            </a:r>
          </a:p>
          <a:p>
            <a:r>
              <a:rPr>
                <a:latin typeface="Arial"/>
              </a:rPr>
              <a:t>• Separate stimulus and ring traces make the distinction measurable. The design specifically removes visual consequences of body rotation, while other signals associated with movement or contact can remain available.</a:t>
            </a:r>
          </a:p>
          <a:p/>
          <a:p>
            <a:r>
              <a:rPr>
                <a:latin typeface="Arial"/>
              </a:rPr>
              <a:t>References:</a:t>
            </a:r>
          </a:p>
          <a:p>
            <a:r>
              <a:rPr>
                <a:latin typeface="Arial"/>
              </a:rPr>
              <a:t>Land MF (1971). Orientation by jumping spiders in the absence of visual feedback. Journal of Experimental Biology 54: 119–139. https://doi.org/10.1242/jeb.54.1.119</a:t>
            </a:r>
          </a:p>
          <a:p/>
          <a:p>
            <a:r>
              <a:rPr>
                <a:latin typeface="Arial"/>
              </a:rPr>
              <a:t>Figure: Land (1971), Fig. 2(a). Apparatus holding the body while the feet rotate a ring.</a:t>
            </a:r>
          </a:p>
          <a:p>
            <a:r>
              <a:rPr>
                <a:latin typeface="Arial"/>
              </a:rPr>
              <a:t>Figure source: https://doi.org/10.1242/jeb.54.1.119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complete turn is defined by its relation to the target direction, not simply by being a large movement. Target angle varies, so the expected complete movement also varies.</a:t>
            </a:r>
          </a:p>
          <a:p>
            <a:r>
              <a:rPr>
                <a:latin typeface="Arial"/>
              </a:rPr>
              <a:t>• Many recorded turns closely matched that angle despite the absence of the usual retinal consequences of body rotation. Smaller responses formed a separate class that often left a substantial target error.</a:t>
            </a:r>
          </a:p>
          <a:p>
            <a:r>
              <a:rPr>
                <a:latin typeface="Arial"/>
              </a:rPr>
              <a:t>• The preparation establishes that accurate turning can proceed without that feedback. It does not establish that feedback is absent or unhelpful during unrestricted orientation, where the eyes and body actually move through the environment.</a:t>
            </a:r>
          </a:p>
          <a:p/>
          <a:p>
            <a:r>
              <a:rPr>
                <a:latin typeface="Arial"/>
              </a:rPr>
              <a:t>References:</a:t>
            </a:r>
          </a:p>
          <a:p>
            <a:r>
              <a:rPr>
                <a:latin typeface="Arial"/>
              </a:rPr>
              <a:t>Land MF (1971). Orientation by jumping spiders in the absence of visual feedback. Journal of Experimental Biology 54: 119–139. https://doi.org/10.1242/jeb.54.1.119</a:t>
            </a:r>
          </a:p>
          <a:p/>
          <a:p>
            <a:r>
              <a:rPr>
                <a:latin typeface="Arial"/>
              </a:rPr>
              <a:t>Figure: Land (1971), Fig. 5. Attempted turn magnitude versus target angle.</a:t>
            </a:r>
          </a:p>
          <a:p>
            <a:r>
              <a:rPr>
                <a:latin typeface="Arial"/>
              </a:rPr>
              <a:t>Figure source: https://doi.org/10.1242/jeb.54.1.119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fixed body removes retinal motion caused by the turn but does not automatically prevent the animal from seeing its feet move. Switching the light off addresses that separate visual route.</a:t>
            </a:r>
          </a:p>
          <a:p>
            <a:r>
              <a:rPr>
                <a:latin typeface="Arial"/>
              </a:rPr>
              <a:t>• The spider received the target information before darkness and completed its attempted turn afterward. Accurate complete responses under those conditions support a command that can persist after the visual stimulus is no longer available.</a:t>
            </a:r>
          </a:p>
          <a:p>
            <a:r>
              <a:rPr>
                <a:latin typeface="Arial"/>
              </a:rPr>
              <a:t>• The experiment does not eliminate touch or internal movement signals. It also leaves the command's neural location unresolved, so behavioral accuracy cannot identify a particular comparator cell or motor transmitter.</a:t>
            </a:r>
          </a:p>
          <a:p/>
          <a:p>
            <a:r>
              <a:rPr>
                <a:latin typeface="Arial"/>
              </a:rPr>
              <a:t>References:</a:t>
            </a:r>
          </a:p>
          <a:p>
            <a:r>
              <a:rPr>
                <a:latin typeface="Arial"/>
              </a:rPr>
              <a:t>Land MF (1971). Orientation by jumping spiders in the absence of visual feedback. Journal of Experimental Biology 54: 119–139. https://doi.org/10.1242/jeb.54.1.119</a:t>
            </a:r>
          </a:p>
          <a:p/>
          <a:p>
            <a:r>
              <a:rPr>
                <a:latin typeface="Arial"/>
              </a:rPr>
              <a:t>Figure: Land (1971), Fig. 7(a, b). Complete-turn errors and partial-turn magnitudes.</a:t>
            </a:r>
          </a:p>
          <a:p>
            <a:r>
              <a:rPr>
                <a:latin typeface="Arial"/>
              </a:rPr>
              <a:t>Figure source: https://doi.org/10.1242/jeb.54.1.119</a:t>
            </a:r>
          </a:p>
          <a:p/>
          <a:p>
            <a:r>
              <a:rPr>
                <a:latin typeface="Arial"/>
              </a:rPr>
              <a:t>Figure: Land (1971), Fig. 2(a). The ring preparation used for feedback controls.</a:t>
            </a:r>
          </a:p>
          <a:p>
            <a:r>
              <a:rPr>
                <a:latin typeface="Arial"/>
              </a:rPr>
              <a:t>Figure source: https://doi.org/10.1242/jeb.54.1.119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Eye tracking records the position and orientation of the principal retinas while the spider's body remains restrained. Changing lateral-eye availability tests a sensory contribution to that internal motor output.</a:t>
            </a:r>
          </a:p>
          <a:p>
            <a:r>
              <a:rPr>
                <a:latin typeface="Arial"/>
              </a:rPr>
              <a:t>• Several target sizes and speeds reduce dependence on one particular moving-dot condition. The mask affected the relationship between target motion and retinal motion.</a:t>
            </a:r>
          </a:p>
          <a:p>
            <a:r>
              <a:rPr>
                <a:latin typeface="Arial"/>
              </a:rPr>
              <a:t>• The result supplies stronger evidence about input dependence than observing coordination alone. It still leaves the intervening circuit unresolved and must be distinguished from an experiment that measures whole-body orientation.</a:t>
            </a:r>
          </a:p>
          <a:p/>
          <a:p>
            <a:r>
              <a:rPr>
                <a:latin typeface="Arial"/>
              </a:rPr>
              <a:t>References:</a:t>
            </a:r>
          </a:p>
          <a:p>
            <a:r>
              <a:rPr>
                <a:latin typeface="Arial"/>
              </a:rPr>
              <a:t>Jakob EM, Long SM, Harland DP, Jackson RR, Carey A, Searles ME, Porter AH, Canavesi C, Rolland JP (2018). Lateral eyes direct principal eyes as jumping spiders track objects. Current Biology 28: R1092–R1093. https://doi.org/10.1016/j.cub.2018.07.065</a:t>
            </a:r>
          </a:p>
          <a:p/>
          <a:p>
            <a:r>
              <a:rPr>
                <a:latin typeface="Arial"/>
              </a:rPr>
              <a:t>Figure: Jakob et al. (2018), Fig. 1(A–E). Principal-eye movements with anterior lateral eyes available or masked.</a:t>
            </a:r>
          </a:p>
          <a:p>
            <a:r>
              <a:rPr>
                <a:latin typeface="Arial"/>
              </a:rPr>
              <a:t>Figure source: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stationary target can be examined by moving the principal retina across it. That movement remains possible without lateral-eye guidance of a moving target, so scanning and tracking have different sensory dependencies.</a:t>
            </a:r>
          </a:p>
          <a:p>
            <a:r>
              <a:rPr>
                <a:latin typeface="Arial"/>
              </a:rPr>
              <a:t>• The stationary cricket and oval conditions test residual retinal mobility and target examination. They are a behavioral control for a broad loss of the motor output.</a:t>
            </a:r>
          </a:p>
          <a:p>
            <a:r>
              <a:rPr>
                <a:latin typeface="Arial"/>
              </a:rPr>
              <a:t>• The control does not identify the visual features driving the remaining scans. Different stimulus shapes can change examination while the neurons responsible for that distinction remain unrecorded.</a:t>
            </a:r>
          </a:p>
          <a:p/>
          <a:p>
            <a:r>
              <a:rPr>
                <a:latin typeface="Arial"/>
              </a:rPr>
              <a:t>References:</a:t>
            </a:r>
          </a:p>
          <a:p>
            <a:r>
              <a:rPr>
                <a:latin typeface="Arial"/>
              </a:rPr>
              <a:t>Jakob EM, Long SM, Harland DP, Jackson RR, Carey A, Searles ME, Porter AH, Canavesi C, Rolland JP (2018). Lateral eyes direct principal eyes as jumping spiders track objects. Current Biology 28: R1092–R1093. https://doi.org/10.1016/j.cub.2018.07.065</a:t>
            </a:r>
          </a:p>
          <a:p/>
          <a:p>
            <a:r>
              <a:rPr>
                <a:latin typeface="Arial"/>
              </a:rPr>
              <a:t>Figure: Jakob et al. (2018), Fig. 1(A–E). Moving-disk tracking and stationary-target retinal trajectories.</a:t>
            </a:r>
          </a:p>
          <a:p>
            <a:r>
              <a:rPr>
                <a:latin typeface="Arial"/>
              </a:rPr>
              <a:t>Figure source: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Two retinas can change their relative distance without rotating by the same amount. Conversely, a retina can change its torsional angle while sampling near the same target location. The eye tracker distinguishes these components.</a:t>
            </a:r>
          </a:p>
          <a:p>
            <a:r>
              <a:rPr>
                <a:latin typeface="Arial"/>
              </a:rPr>
              <a:t>• The published position axis uses pixels, which are coordinates in the recording system. Angular units are used for the presented target, but they cannot simply be transferred to every eye-position trace.</a:t>
            </a:r>
          </a:p>
          <a:p>
            <a:r>
              <a:rPr>
                <a:latin typeface="Arial"/>
              </a:rPr>
              <a:t>• Greater torsion during cricket examination is a measured response difference. It does not prove that a specific contour detector recognizes prey or that every larger retinal movement improves target localization.</a:t>
            </a:r>
          </a:p>
          <a:p/>
          <a:p>
            <a:r>
              <a:rPr>
                <a:latin typeface="Arial"/>
              </a:rPr>
              <a:t>References:</a:t>
            </a:r>
          </a:p>
          <a:p>
            <a:r>
              <a:rPr>
                <a:latin typeface="Arial"/>
              </a:rPr>
              <a:t>Jakob EM, Long SM, Harland DP, Jackson RR, Carey A, Searles ME, Porter AH, Canavesi C, Rolland JP (2018). Lateral eyes direct principal eyes as jumping spiders track objects. Current Biology 28: R1092–R1093. https://doi.org/10.1016/j.cub.2018.07.065</a:t>
            </a:r>
          </a:p>
          <a:p/>
          <a:p>
            <a:r>
              <a:rPr>
                <a:latin typeface="Arial"/>
              </a:rPr>
              <a:t>Figure: Jakob et al. (2018), Fig. 1(A–E). Distance, angle and stimulus-relative measures of retinal movement.</a:t>
            </a:r>
          </a:p>
          <a:p>
            <a:r>
              <a:rPr>
                <a:latin typeface="Arial"/>
              </a:rPr>
              <a:t>Figure source: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First-order and second-order refer to successive anatomical processing regions reached from the retina. The principal pathway contains a clear connection from AM1 to AM2 and another connection toward the arcuate body.</a:t>
            </a:r>
          </a:p>
          <a:p>
            <a:r>
              <a:rPr>
                <a:latin typeface="Arial"/>
              </a:rPr>
              <a:t>• Synapsin labeling identifies regions rich in presynaptic machinery, while tubulin labeling makes processes and tracts easier to trace. Their combined signals provide more information than either label alone.</a:t>
            </a:r>
          </a:p>
          <a:p>
            <a:r>
              <a:rPr>
                <a:latin typeface="Arial"/>
              </a:rPr>
              <a:t>• A tract establishes an anatomical route but not the activity transmitted along it. The study does not determine whether a particular connection excites or inhibits its target, nor whether it compares retinal layers for depth estimation.</a:t>
            </a:r>
          </a:p>
          <a:p/>
          <a:p>
            <a:r>
              <a:rPr>
                <a:latin typeface="Arial"/>
              </a:rPr>
              <a:t>References:</a:t>
            </a:r>
          </a:p>
          <a:p>
            <a:r>
              <a:rPr>
                <a:latin typeface="Arial"/>
              </a:rPr>
              <a:t>Steinhoff POM, Uhl G, Harzsch S, Sombke A (2020). Visual pathways in the brain of the jumping spider Marpissa muscosa. Journal of Comparative Neurology 528: 1883–1902. https://doi.org/10.1002/cne.24861</a:t>
            </a:r>
          </a:p>
          <a:p/>
          <a:p>
            <a:r>
              <a:rPr>
                <a:latin typeface="Arial"/>
              </a:rPr>
              <a:t>Figure: Steinhoff et al. (2020), Fig. 1(a–f). AM1, AM2 and connecting processes to the arcuate body.</a:t>
            </a:r>
          </a:p>
          <a:p>
            <a:r>
              <a:rPr>
                <a:latin typeface="Arial"/>
              </a:rPr>
              <a:t>Figure source: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shared second-order neuropil can receive information that arrived through two different first-order regions. In Marpissa, the anterior and posterior lateral routes converge anatomically in AL2/PL2.</a:t>
            </a:r>
          </a:p>
          <a:p>
            <a:r>
              <a:rPr>
                <a:latin typeface="Arial"/>
              </a:rPr>
              <a:t>• The mushroom-body peduncle and neighboring L2 have connections with this secondary-eye pathway. The posterior median route differs, making a blanket assignment of all secondary eyes to one identical circuit inaccurate.</a:t>
            </a:r>
          </a:p>
          <a:p>
            <a:r>
              <a:rPr>
                <a:latin typeface="Arial"/>
              </a:rPr>
              <a:t>• The published pathway summary is the authors' diagram, retained without reconstruction. Anatomical convergence is compatible with information integration but does not measure a nonlinear response or identify the behavior controlled by each connected region.</a:t>
            </a:r>
          </a:p>
          <a:p/>
          <a:p>
            <a:r>
              <a:rPr>
                <a:latin typeface="Arial"/>
              </a:rPr>
              <a:t>References:</a:t>
            </a:r>
          </a:p>
          <a:p>
            <a:r>
              <a:rPr>
                <a:latin typeface="Arial"/>
              </a:rPr>
              <a:t>Steinhoff POM, Uhl G, Harzsch S, Sombke A (2020). Visual pathways in the brain of the jumping spider Marpissa muscosa. Journal of Comparative Neurology 528: 1883–1902. https://doi.org/10.1002/cne.24861</a:t>
            </a:r>
          </a:p>
          <a:p/>
          <a:p>
            <a:r>
              <a:rPr>
                <a:latin typeface="Arial"/>
              </a:rPr>
              <a:t>Figure: Steinhoff et al. (2020), Fig. 6(a–d). Anterior lateral, posterior lateral and posterior median routes.</a:t>
            </a:r>
          </a:p>
          <a:p>
            <a:r>
              <a:rPr>
                <a:latin typeface="Arial"/>
              </a:rPr>
              <a:t>Figure source: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spider's body pressure makes a large opening particularly disruptive. A small puncture permits access while reducing fluid loss, allowing repeated visual stimulation during a stable recording.</a:t>
            </a:r>
          </a:p>
          <a:p>
            <a:r>
              <a:rPr>
                <a:latin typeface="Arial"/>
              </a:rPr>
              <a:t>• Extracellular spikes are detected outside the cells. Waveform-based sorting can distinguish candidate units, but the sorted unit is not automatically a named anatomical neuron.</a:t>
            </a:r>
          </a:p>
          <a:p>
            <a:r>
              <a:rPr>
                <a:latin typeface="Arial"/>
              </a:rPr>
              <a:t>• The recording region lies in or near the arcuate body. That location relates the physiology to central visual anatomy without proving that every sampled unit belongs to the same pathway or performs the same visual computation.</a:t>
            </a:r>
          </a:p>
          <a:p/>
          <a:p>
            <a:r>
              <a:rPr>
                <a:latin typeface="Arial"/>
              </a:rPr>
              <a:t>References:</a:t>
            </a:r>
          </a:p>
          <a:p>
            <a:r>
              <a:rPr>
                <a:latin typeface="Arial"/>
              </a:rPr>
              <a:t>Menda G, Shamble PS, Nitzany EI, Golden JR, Hoy RR (2014). Visual perception in the brain of a jumping spider. Current Biology 24: 2580–2585. https://doi.org/10.1016/j.cub.2014.09.029</a:t>
            </a:r>
          </a:p>
          <a:p/>
          <a:p>
            <a:r>
              <a:rPr>
                <a:latin typeface="Arial"/>
              </a:rPr>
              <a:t>Figure: Menda et al. (2014), Fig. 1(A–D). Recording approach, arcuate-body anatomy and spike separation.</a:t>
            </a:r>
          </a:p>
          <a:p>
            <a:r>
              <a:rPr>
                <a:latin typeface="Arial"/>
              </a:rP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Repeated trajectories allow a response to be distinguished from unrelated fluctuations in firing. The target sequence is controlled while the spike times are measured independently.</a:t>
            </a:r>
          </a:p>
          <a:p>
            <a:r>
              <a:rPr>
                <a:latin typeface="Arial"/>
              </a:rPr>
              <a:t>• Position, velocity and direction describe different properties of the target. A unit can depend on more than one of them, so a response that exceeds a simple model does not automatically identify a new named computation.</a:t>
            </a:r>
          </a:p>
          <a:p>
            <a:r>
              <a:rPr>
                <a:latin typeface="Arial"/>
              </a:rPr>
              <a:t>• The anatomy identifies the approached central region. The extracellular unit's complete morphology remains unknown, and its trajectory dependence does not establish that it selectively responds to natural prey in every behavioral context.</a:t>
            </a:r>
          </a:p>
          <a:p/>
          <a:p>
            <a:r>
              <a:rPr>
                <a:latin typeface="Arial"/>
              </a:rPr>
              <a:t>References:</a:t>
            </a:r>
          </a:p>
          <a:p>
            <a:r>
              <a:rPr>
                <a:latin typeface="Arial"/>
              </a:rPr>
              <a:t>Menda G, Shamble PS, Nitzany EI, Golden JR, Hoy RR (2014). Visual perception in the brain of a jumping spider. Current Biology 24: 2580–2585. https://doi.org/10.1016/j.cub.2014.09.029</a:t>
            </a:r>
          </a:p>
          <a:p/>
          <a:p>
            <a:r>
              <a:rPr>
                <a:latin typeface="Arial"/>
              </a:rPr>
              <a:t>Figure: Menda et al. (2014), Fig. 2(A–C). Repeated target trajectories, firing-rate traces and spike rasters.</a:t>
            </a:r>
          </a:p>
          <a:p>
            <a:r>
              <a:rPr>
                <a:latin typeface="Arial"/>
              </a:rPr>
              <a:t>Figure source: https://doi.org/10.1016/j.cub.2014.09.029</a:t>
            </a:r>
          </a:p>
          <a:p/>
          <a:p>
            <a:r>
              <a:rPr>
                <a:latin typeface="Arial"/>
              </a:rPr>
              <a:t>Figure: Menda et al. (2014), Fig. 1(A). The brain region approached by the recording electrode.</a:t>
            </a:r>
          </a:p>
          <a:p>
            <a:r>
              <a:rPr>
                <a:latin typeface="Arial"/>
              </a:rP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intact and a scrambled stimulus can share many local image elements while differing in their arrangement. The comparison therefore addresses configuration sensitivity more directly than a contrast between a fly image and a blank field.</a:t>
            </a:r>
          </a:p>
          <a:p>
            <a:r>
              <a:rPr>
                <a:latin typeface="Arial"/>
              </a:rPr>
              <a:t>• The example unit responded more strongly to the intact dorsal fly than to the scrambled stimulus. Its response also depended on position, so category preference cannot be separated completely from spatial tuning.</a:t>
            </a:r>
          </a:p>
          <a:p>
            <a:r>
              <a:rPr>
                <a:latin typeface="Arial"/>
              </a:rPr>
              <a:t>• The firing rates belong to the published unit. They should not be generalized to a universal prey-detection cell, and the experiment did not record a motor command that could establish direct control of jumping.</a:t>
            </a:r>
          </a:p>
          <a:p/>
          <a:p>
            <a:r>
              <a:rPr>
                <a:latin typeface="Arial"/>
              </a:rPr>
              <a:t>References:</a:t>
            </a:r>
          </a:p>
          <a:p>
            <a:r>
              <a:rPr>
                <a:latin typeface="Arial"/>
              </a:rPr>
              <a:t>Menda G, Shamble PS, Nitzany EI, Golden JR, Hoy RR (2014). Visual perception in the brain of a jumping spider. Current Biology 24: 2580–2585. https://doi.org/10.1016/j.cub.2014.09.029</a:t>
            </a:r>
          </a:p>
          <a:p/>
          <a:p>
            <a:r>
              <a:rPr>
                <a:latin typeface="Arial"/>
              </a:rPr>
              <a:t>Figure: Menda et al. (2014), Fig. 3(A–D). Natural and scrambled stimuli with central-unit responses.</a:t>
            </a:r>
          </a:p>
          <a:p>
            <a:r>
              <a:rPr>
                <a:latin typeface="Arial"/>
              </a:rPr>
              <a:t>Figure source: https://doi.org/10.1016/j.cub.2014.09.029</a:t>
            </a:r>
          </a:p>
          <a:p/>
          <a:p>
            <a:r>
              <a:rPr>
                <a:latin typeface="Arial"/>
              </a:rPr>
              <a:t>Figure: Menda et al. (2014), Fig. 1(A). Arcuate-body anatomy near the recording site.</a:t>
            </a:r>
          </a:p>
          <a:p>
            <a:r>
              <a:rPr>
                <a:latin typeface="Arial"/>
              </a:rP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checker stimulus varies many positions over time, and its preceding pattern is related to recorded spike times. The resulting receptive field contains both a spatial arrangement and a time dependence.</a:t>
            </a:r>
          </a:p>
          <a:p>
            <a:r>
              <a:rPr>
                <a:latin typeface="Arial"/>
              </a:rPr>
              <a:t>• Removing one eye system changed whether a structured field could be recovered. A unit requiring both inputs is not adequately explained by a simple independent response from either one alone under the tested conditions.</a:t>
            </a:r>
          </a:p>
          <a:p>
            <a:r>
              <a:rPr>
                <a:latin typeface="Arial"/>
              </a:rPr>
              <a:t>• The eighty-to-one-hundred-sixty-millisecond interval constrains timing without counting synapses. Combining this physiology with anatomy from another species supplies a comparative account, not an identified cellular circuit.</a:t>
            </a:r>
          </a:p>
          <a:p/>
          <a:p>
            <a:r>
              <a:rPr>
                <a:latin typeface="Arial"/>
              </a:rPr>
              <a:t>References:</a:t>
            </a:r>
          </a:p>
          <a:p>
            <a:r>
              <a:rPr>
                <a:latin typeface="Arial"/>
              </a:rPr>
              <a:t>Menda G, Shamble PS, Nitzany EI, Golden JR, Hoy RR (2014). Visual perception in the brain of a jumping spider. Current Biology 24: 2580–2585. https://doi.org/10.1016/j.cub.2014.09.029</a:t>
            </a:r>
          </a:p>
          <a:p/>
          <a:p>
            <a:r>
              <a:rPr>
                <a:latin typeface="Arial"/>
              </a:rPr>
              <a:t>Figure: Menda et al. (2014), Fig. 4(A–D). Eye occlusion changes the measured spatiotemporal receptive field.</a:t>
            </a:r>
          </a:p>
          <a:p>
            <a:r>
              <a:rPr>
                <a:latin typeface="Arial"/>
              </a:rP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candidate transmitter is localized in the processes carrying sensory information into the brain. Its presence in terminal regions is consistent with a chemical role in transmission from photoreceptors.</a:t>
            </a:r>
          </a:p>
          <a:p>
            <a:r>
              <a:rPr>
                <a:latin typeface="Arial"/>
              </a:rPr>
              <a:t>• Antibody labeling measures molecular recognition in tissue. It does not measure transmitter release, receptor activation or membrane current during a visual stimulus.</a:t>
            </a:r>
          </a:p>
          <a:p>
            <a:r>
              <a:rPr>
                <a:latin typeface="Arial"/>
              </a:rPr>
              <a:t>• Connecting the chemical label to a complete mechanism would require identifying the postsynaptic receptor and measuring its effect on neuronal activity. A receptor or ion channel known from another animal cannot be assigned to these spider synapses without direct evidence.</a:t>
            </a:r>
          </a:p>
          <a:p/>
          <a:p>
            <a:r>
              <a:rPr>
                <a:latin typeface="Arial"/>
              </a:rPr>
              <a:t>References:</a:t>
            </a:r>
          </a:p>
          <a:p>
            <a:r>
              <a:rPr>
                <a:latin typeface="Arial"/>
              </a:rPr>
              <a:t>Steinhoff POM, Uhl G, Harzsch S, Sombke A (2020). Visual pathways in the brain of the jumping spider Marpissa muscosa. Journal of Comparative Neurology 528: 1883–1902. https://doi.org/10.1002/cne.24861</a:t>
            </a:r>
          </a:p>
          <a:p/>
          <a:p>
            <a:r>
              <a:rPr>
                <a:latin typeface="Arial"/>
              </a:rPr>
              <a:t>Figure: Steinhoff et al. (2020), Fig. 8(a–c). Histamine immunoreactivity in secondary-eye axons and terminals.</a:t>
            </a:r>
          </a:p>
          <a:p>
            <a:r>
              <a:rPr>
                <a:latin typeface="Arial"/>
              </a:rPr>
              <a:t>Figure source: https://doi.org/10.1002/cne.24861</a:t>
            </a:r>
          </a:p>
          <a:p/>
          <a:p>
            <a:r>
              <a:rPr>
                <a:latin typeface="Arial"/>
              </a:rPr>
              <a:t>Figure: Steinhoff et al. (2020), Fig. 6(a–d). First-order neuropils receiving those sensory inputs.</a:t>
            </a:r>
          </a:p>
          <a:p>
            <a:r>
              <a:rPr>
                <a:latin typeface="Arial"/>
              </a:rPr>
              <a:t>Figure source: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Lateral-eye detection and principal-eye sampling contribute different operations to predation. Eye-isolation experiments establish particular capacities and dependencies without assigning every hunting action to one pair.</a:t>
            </a:r>
          </a:p>
          <a:p>
            <a:r>
              <a:rPr>
                <a:latin typeface="Arial"/>
              </a:rPr>
              <a:t>• The layered retina separates receptor location from spectral sensitivity and optical sharpness. Anatomical spacing constrains sampling, while physiological and pigment measurements determine the available spectral inputs.</a:t>
            </a:r>
          </a:p>
          <a:p>
            <a:r>
              <a:rPr>
                <a:latin typeface="Arial"/>
              </a:rPr>
              <a:t>• Hasarius jump errors under red light agree with an image-defocus account. Brightness controls weaken a photon-capture explanation, but the study does not identify a neuronal comparison between layers.</a:t>
            </a:r>
          </a:p>
          <a:p>
            <a:r>
              <a:rPr>
                <a:latin typeface="Arial"/>
              </a:rPr>
              <a:t>• Habronattus adds a restricted retinal filter that shifts the effective sensitivity of green-pigment receptors. The published predicted channel is distinct from a directly recorded opponent pathway or a complete behavioral demonstration of trichromacy.</a:t>
            </a:r>
          </a:p>
          <a:p>
            <a:r>
              <a:rPr>
                <a:latin typeface="Arial"/>
              </a:rPr>
              <a:t>• Principal retinas move through saccades, tracking and scans. Body orientation is a separate output, and masking experiments establish a lateral contribution to tracking while preserving some stationary-target examination.</a:t>
            </a:r>
          </a:p>
          <a:p>
            <a:r>
              <a:rPr>
                <a:latin typeface="Arial"/>
              </a:rPr>
              <a:t>• Central recordings establish complex visual responses and eye-dependent convergence. Anatomical tracts and histamine labeling supply routes and molecular candidates, while the unmeasured synaptic and ion-channel steps remain open scientific questions.</a:t>
            </a:r>
          </a:p>
          <a:p/>
          <a:p>
            <a:r>
              <a:rPr>
                <a:latin typeface="Arial"/>
              </a:rPr>
              <a:t>References:</a:t>
            </a:r>
          </a:p>
          <a:p>
            <a:r>
              <a:rPr>
                <a:latin typeface="Arial"/>
              </a:rPr>
              <a:t>Land MF (1969a). Structure of the retinae of the principal eyes of jumping spiders (Salticidae: Dendryphantinae) in relation to visual optics. Journal of Experimental Biology 51: 443–470. https://doi.org/10.1242/jeb.51.2.443</a:t>
            </a:r>
          </a:p>
          <a:p>
            <a:r>
              <a:rPr>
                <a:latin typeface="Arial"/>
              </a:rPr>
              <a:t>Land MF (1969b). Movements of the retinae of jumping spiders (Salticidae: Dendryphantinae) in response to visual stimuli. Journal of Experimental Biology 51: 471–493. https://doi.org/10.1242/jeb.51.2.471</a:t>
            </a:r>
          </a:p>
          <a:p>
            <a:r>
              <a:rPr>
                <a:latin typeface="Arial"/>
              </a:rPr>
              <a:t>Land MF (1971). Orientation by jumping spiders in the absence of visual feedback. Journal of Experimental Biology 54: 119–139. https://doi.org/10.1242/jeb.54.1.119</a:t>
            </a:r>
          </a:p>
          <a:p>
            <a:r>
              <a:rPr>
                <a:latin typeface="Arial"/>
              </a:rPr>
              <a:t>DeVoe RD (1975). Ultraviolet and green receptors in principal eyes of jumping spiders. Journal of General Physiology 66: 193–207. https://doi.org/10.1085/jgp.66.2.193</a:t>
            </a:r>
          </a:p>
          <a:p>
            <a:r>
              <a:rPr>
                <a:latin typeface="Arial"/>
              </a:rPr>
              <a:t>Nagata T, Koyanagi M, Tsukamoto H, Saeki S, Isono K, Shichida Y, Tokunaga F, Kinoshita M, Arikawa K, Terakita A (2012). Depth perception from image defocus in a jumping spider. Science 335: 469–471. https://doi.org/10.1126/science.1211667</a:t>
            </a:r>
          </a:p>
          <a:p>
            <a:r>
              <a:rPr>
                <a:latin typeface="Arial"/>
              </a:rPr>
              <a:t>Zurek DB, Cronin TW, Taylor LA, Byrne K, Sullivan MLG, Morehouse NI (2015). Spectral filtering enables trichromatic vision in colorful jumping spiders. Current Biology 25: R403–R404. https://doi.org/10.1016/j.cub.2015.03.033</a:t>
            </a:r>
          </a:p>
          <a:p>
            <a:r>
              <a:rPr>
                <a:latin typeface="Arial"/>
              </a:rPr>
              <a:t>Zurek DB, Taylor AJ, Evans CS, Nelson XJ (2010). The role of the anterior lateral eyes in the vision-based behaviour of jumping spiders. Journal of Experimental Biology 213: 2372–2378. https://doi.org/10.1242/jeb.042382</a:t>
            </a:r>
          </a:p>
          <a:p>
            <a:r>
              <a:rPr>
                <a:latin typeface="Arial"/>
              </a:rPr>
              <a:t>Zurek DB, Nelson XJ (2012). Saccadic tracking of targets mediated by the anterior-lateral eyes of jumping spiders. Journal of Comparative Physiology A 198: 411–417. https://doi.org/10.1007/s00359-012-0719-0</a:t>
            </a:r>
          </a:p>
          <a:p>
            <a:r>
              <a:rPr>
                <a:latin typeface="Arial"/>
              </a:rPr>
              <a:t>Jakob EM, Long SM, Harland DP, Jackson RR, Carey A, Searles ME, Porter AH, Canavesi C, Rolland JP (2018). Lateral eyes direct principal eyes as jumping spiders track objects. Current Biology 28: R1092–R1093. https://doi.org/10.1016/j.cub.2018.07.065</a:t>
            </a:r>
          </a:p>
          <a:p>
            <a:r>
              <a:rPr>
                <a:latin typeface="Arial"/>
              </a:rPr>
              <a:t>Steinhoff POM, Uhl G, Harzsch S, Sombke A (2020). Visual pathways in the brain of the jumping spider Marpissa muscosa. Journal of Comparative Neurology 528: 1883–1902. https://doi.org/10.1002/cne.24861</a:t>
            </a:r>
          </a:p>
          <a:p>
            <a:r>
              <a:rPr>
                <a:latin typeface="Arial"/>
              </a:rP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receptive field estimated with a checker stimulus has both a spatial arrangement and a time dependence, and eye masking tests which inputs create it.</a:t>
            </a:r>
          </a:p>
          <a:p>
            <a:r>
              <a:rPr lang="en-US" sz="1200"/>
              <a:t>• The checker stimulus.</a:t>
            </a:r>
          </a:p>
          <a:p>
            <a:r>
              <a:rPr lang="en-US" sz="1200"/>
              <a:t>– The stimulus varies many positions over time, and the pattern preceding each spike is related to the recorded spike times.</a:t>
            </a:r>
          </a:p>
          <a:p>
            <a:r>
              <a:rPr lang="en-US" sz="1200"/>
              <a:t>– The resulting receptive field contains both a spatial arrangement and a time dependence.</a:t>
            </a:r>
          </a:p>
          <a:p>
            <a:r>
              <a:rPr lang="en-US" sz="1200"/>
              <a:t>• The masking comparison.</a:t>
            </a:r>
          </a:p>
          <a:p>
            <a:r>
              <a:rPr lang="en-US" sz="1200"/>
              <a:t>– Removing one eye system changed whether a structured field could be recovered.</a:t>
            </a:r>
          </a:p>
          <a:p>
            <a:r>
              <a:rPr lang="en-US" sz="1200"/>
              <a:t>– A unit requiring both inputs is not adequately explained by a simple independent response from either one alone under the tested conditions.</a:t>
            </a:r>
          </a:p>
          <a:p>
            <a:r>
              <a:rPr lang="en-US" sz="1200"/>
              <a:t>• The time window.</a:t>
            </a:r>
          </a:p>
          <a:p>
            <a:r>
              <a:rPr lang="en-US" sz="1200"/>
              <a:t>– The 80–160 ms interval constrains the timing of the response-related pattern without counting synapses.</a:t>
            </a:r>
          </a:p>
          <a:p>
            <a:r>
              <a:rPr lang="en-US" sz="1200"/>
              <a:t>– Internal-pattern controls reduced a display-related correlation.</a:t>
            </a:r>
          </a:p>
          <a:p>
            <a:r>
              <a:rPr lang="en-US" sz="1200"/>
              <a:t>• Combining physiology with anatomy.</a:t>
            </a:r>
          </a:p>
          <a:p>
            <a:r>
              <a:rPr lang="en-US" sz="1200"/>
              <a:t>– Combining this physiology in Phidippus with anatomy mapped in Marpissa supplies a comparative account of how principal and secondary inputs can converge.</a:t>
            </a:r>
          </a:p>
          <a:p>
            <a:r>
              <a:rPr lang="en-US" sz="1200"/>
              <a:t>• Convergence.</a:t>
            </a:r>
          </a:p>
          <a:p>
            <a:r>
              <a:rPr lang="en-US" sz="1200"/>
              <a:t>– Convergence is the arrival of multiple inputs at a processing region.</a:t>
            </a:r>
          </a:p>
          <a:p>
            <a:r>
              <a:rPr lang="en-US" sz="1200"/>
              <a:t>– A unit that needs both eye systems to show a structured receptive field receives and combines input from the principal and secondary visual pathways.</a:t>
            </a:r>
          </a:p>
          <a:p>
            <a:r>
              <a:rPr lang="en-US" sz="1200"/>
              <a:t/>
            </a:r>
          </a:p>
          <a:p>
            <a:r>
              <a:rPr lang="en-US" sz="1200"/>
              <a:t>References:</a:t>
            </a:r>
          </a:p>
          <a:p>
            <a:r>
              <a:rPr lang="en-US" sz="1200"/>
              <a:t>Menda G, Shamble PS, Nitzany EI, Golden JR, Hoy RR (2014). Visual perception in the brain of a jumping spider. Current Biology 24: 2580–2585. https://doi.org/10.1016/j.cub.2014.09.029</a:t>
            </a:r>
          </a:p>
          <a:p>
            <a:r>
              <a:rPr lang="en-US" sz="1200"/>
              <a:t>Steinhoff POM, Uhl G, Harzsch S, Sombke A (2020). Visual pathways in the brain of the jumping spider Marpissa muscosa. Journal of Comparative Neurology 528: 1883–1902. https://doi.org/10.1002/cne.24861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Extracellular recording measures spikes from outside the cells, and sorting provides candidate units whose responses can be compared across stimuli.</a:t>
            </a:r>
          </a:p>
          <a:p>
            <a:r>
              <a:rPr lang="en-US" sz="1200"/>
              <a:t>• Why a small opening.</a:t>
            </a:r>
          </a:p>
          <a:p>
            <a:r>
              <a:rPr lang="en-US" sz="1200"/>
              <a:t>– A spider's body pressure makes a large opening disruptive.</a:t>
            </a:r>
          </a:p>
          <a:p>
            <a:r>
              <a:rPr lang="en-US" sz="1200"/>
              <a:t>– A small puncture reduces fluid loss and allows repeated stimulation during a stable recording.</a:t>
            </a:r>
          </a:p>
          <a:p>
            <a:r>
              <a:rPr lang="en-US" sz="1200"/>
              <a:t>• From trace to units.</a:t>
            </a:r>
          </a:p>
          <a:p>
            <a:r>
              <a:rPr lang="en-US" sz="1200"/>
              <a:t>– Extracellular spikes are detected outside the cells.</a:t>
            </a:r>
          </a:p>
          <a:p>
            <a:r>
              <a:rPr lang="en-US" sz="1200"/>
              <a:t>– Waveform-based sorting distinguishes candidate units, although a sorted unit is not automatically a named anatomical neuron.</a:t>
            </a:r>
          </a:p>
          <a:p>
            <a:r>
              <a:rPr lang="en-US" sz="1200"/>
              <a:t>• Rasters and repeated trials.</a:t>
            </a:r>
          </a:p>
          <a:p>
            <a:r>
              <a:rPr lang="en-US" sz="1200"/>
              <a:t>– Repeated trajectories allow a response to be distinguished from unrelated fluctuations in firing.</a:t>
            </a:r>
          </a:p>
          <a:p>
            <a:r>
              <a:rPr lang="en-US" sz="1200"/>
              <a:t>– The target sequence is controlled while the spike times are measured independently.</a:t>
            </a:r>
          </a:p>
          <a:p>
            <a:r>
              <a:rPr lang="en-US" sz="1200"/>
              <a:t>• Where the recordings were made.</a:t>
            </a:r>
          </a:p>
          <a:p>
            <a:r>
              <a:rPr lang="en-US" sz="1200"/>
              <a:t>– The electrode positions were in or near the arcuate body, which relates the physiology to central visual anatomy.</a:t>
            </a:r>
          </a:p>
          <a:p>
            <a:r>
              <a:rPr lang="en-US" sz="1200"/>
              <a:t>• What a spike raster measures.</a:t>
            </a:r>
          </a:p>
          <a:p>
            <a:r>
              <a:rPr lang="en-US" sz="1200"/>
              <a:t>– A raster plots action-potential times across repeated presentations, so the consistency of the timing can be assessed.</a:t>
            </a:r>
          </a:p>
          <a:p>
            <a:r>
              <a:rPr lang="en-US" sz="1200"/>
              <a:t>– A restrained preparation allows recordings lasting hours while the visual display is controlled.</a:t>
            </a:r>
          </a:p>
          <a:p>
            <a:r>
              <a:rPr lang="en-US" sz="1200"/>
              <a:t/>
            </a:r>
          </a:p>
          <a:p>
            <a:r>
              <a:rPr lang="en-US" sz="1200"/>
              <a:t>References:</a:t>
            </a:r>
          </a:p>
          <a:p>
            <a:r>
              <a:rPr lang="en-US" sz="1200"/>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masking experiment tests whether one visual input is needed for a behavior, and a retained response serves as the control for general motor failure.</a:t>
            </a:r>
          </a:p>
          <a:p>
            <a:r>
              <a:rPr lang="en-US" sz="1200"/>
              <a:t>• The logic of masking.</a:t>
            </a:r>
          </a:p>
          <a:p>
            <a:r>
              <a:rPr lang="en-US" sz="1200"/>
              <a:t>– Covering one eye pair removes one source of visual information while the rest of the animal is unchanged.</a:t>
            </a:r>
          </a:p>
          <a:p>
            <a:r>
              <a:rPr lang="en-US" sz="1200"/>
              <a:t>– A change in behavior therefore indicates that the covered input contributes.</a:t>
            </a:r>
          </a:p>
          <a:p>
            <a:r>
              <a:rPr lang="en-US" sz="1200"/>
              <a:t>• Tracking with and without the lateral eyes.</a:t>
            </a:r>
          </a:p>
          <a:p>
            <a:r>
              <a:rPr lang="en-US" sz="1200"/>
              <a:t>– Eye tracking recorded the position and orientation of the principal retinas in the restrained spider.</a:t>
            </a:r>
          </a:p>
          <a:p>
            <a:r>
              <a:rPr lang="en-US" sz="1200"/>
              <a:t>– Several target sizes and speeds reduce dependence on one moving-dot condition.</a:t>
            </a:r>
          </a:p>
          <a:p>
            <a:r>
              <a:rPr lang="en-US" sz="1200"/>
              <a:t>• The motor control.</a:t>
            </a:r>
          </a:p>
          <a:p>
            <a:r>
              <a:rPr lang="en-US" sz="1200"/>
              <a:t>– A stationary target can be examined by moving the principal retina across it, without lateral-eye guidance of a moving target.</a:t>
            </a:r>
          </a:p>
          <a:p>
            <a:r>
              <a:rPr lang="en-US" sz="1200"/>
              <a:t>– Retained scanning indicates that the mask did not abolish every principal-eye motor action, so scanning and tracking have different sensory dependencies.</a:t>
            </a:r>
          </a:p>
          <a:p>
            <a:r>
              <a:rPr lang="en-US" sz="1200"/>
              <a:t>• Interpreting the result.</a:t>
            </a:r>
          </a:p>
          <a:p>
            <a:r>
              <a:rPr lang="en-US" sz="1200"/>
              <a:t>– Masking provides stronger evidence about input dependence than observing coordination alone.</a:t>
            </a:r>
          </a:p>
          <a:p>
            <a:r>
              <a:rPr lang="en-US" sz="1200"/>
              <a:t>– The measured output is internal retinal motion, which is distinct from whole-body orientation.</a:t>
            </a:r>
          </a:p>
          <a:p>
            <a:r>
              <a:rPr lang="en-US" sz="1200"/>
              <a:t/>
            </a:r>
          </a:p>
          <a:p>
            <a:r>
              <a:rPr lang="en-US" sz="1200"/>
              <a:t>References:</a:t>
            </a:r>
          </a:p>
          <a:p>
            <a:r>
              <a:rPr lang="en-US" sz="1200"/>
              <a:t>Jakob EM, Long SM, Harland DP, Jackson RR, Carey A, Searles ME, Porter AH, Canavesi C, Rolland JP (2018). Lateral eyes direct principal eyes as jumping spiders track objects. Current Biology 28: R1092–R1093.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Removing feedback allows the motor command itself to be measured, because the turn no longer changes what the eyes see.</a:t>
            </a:r>
          </a:p>
          <a:p>
            <a:r>
              <a:rPr lang="en-US" sz="1200"/>
              <a:t>• Closed-loop turning.</a:t>
            </a:r>
          </a:p>
          <a:p>
            <a:r>
              <a:rPr lang="en-US" sz="1200"/>
              <a:t>– In a free spider, rotation of the body changes the target's position on the retina.</a:t>
            </a:r>
          </a:p>
          <a:p>
            <a:r>
              <a:rPr lang="en-US" sz="1200"/>
              <a:t>– That change can provide a signal for correcting or stopping the movement.</a:t>
            </a:r>
          </a:p>
          <a:p>
            <a:r>
              <a:rPr lang="en-US" sz="1200"/>
              <a:t>• The ring preparation.</a:t>
            </a:r>
          </a:p>
          <a:p>
            <a:r>
              <a:rPr lang="en-US" sz="1200"/>
              <a:t>– The body was held still while the feet moved the ring.</a:t>
            </a:r>
          </a:p>
          <a:p>
            <a:r>
              <a:rPr lang="en-US" sz="1200"/>
              <a:t>– The attempted turn was recorded but did not create the normal change in target direction relative to the eyes.</a:t>
            </a:r>
          </a:p>
          <a:p>
            <a:r>
              <a:rPr lang="en-US" sz="1200"/>
              <a:t>• Measuring the command.</a:t>
            </a:r>
          </a:p>
          <a:p>
            <a:r>
              <a:rPr lang="en-US" sz="1200"/>
              <a:t>– Separate stimulus and ring traces make the distinction measurable.</a:t>
            </a:r>
          </a:p>
          <a:p>
            <a:r>
              <a:rPr lang="en-US" sz="1200"/>
              <a:t>– The design removes the visual consequences of the body rotation.</a:t>
            </a:r>
          </a:p>
          <a:p>
            <a:r>
              <a:rPr lang="en-US" sz="1200"/>
              <a:t>• Complete and partial turns.</a:t>
            </a:r>
          </a:p>
          <a:p>
            <a:r>
              <a:rPr lang="en-US" sz="1200"/>
              <a:t>– Many responses were complete turns whose magnitude closely approximated the initial target angle, and other responses were smaller partial turns.</a:t>
            </a:r>
          </a:p>
          <a:p>
            <a:r>
              <a:rPr lang="en-US" sz="1200"/>
              <a:t>• Why feedback matters for orienting.</a:t>
            </a:r>
          </a:p>
          <a:p>
            <a:r>
              <a:rPr lang="en-US" sz="1200"/>
              <a:t>– Visual feedback is information about the consequences of an action returning through vision.</a:t>
            </a:r>
          </a:p>
          <a:p>
            <a:r>
              <a:rPr lang="en-US" sz="1200"/>
              <a:t>– In a freely turning spider, it can reduce the remaining target error as the body rotates.</a:t>
            </a:r>
          </a:p>
          <a:p>
            <a:r>
              <a:rPr lang="en-US" sz="1200"/>
              <a:t/>
            </a:r>
          </a:p>
          <a:p>
            <a:r>
              <a:rPr lang="en-US" sz="1200"/>
              <a:t>References:</a:t>
            </a:r>
          </a:p>
          <a:p>
            <a:r>
              <a:rPr lang="en-US" sz="1200"/>
              <a:t>Land MF (1971). Orientation by jumping spiders in the absence of visual feedback. Journal of Experimental Biology 54: 119–139. https://doi.org/10.1242/jeb.54.1.119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Blank fields and covered eyes test whether a visible target is required for a movement, and they separate internally generated activity from visually evoked repositioning.</a:t>
            </a:r>
          </a:p>
          <a:p>
            <a:r>
              <a:rPr lang="en-US" sz="1200"/>
              <a:t>• The tests for spontaneous activity.</a:t>
            </a:r>
          </a:p>
          <a:p>
            <a:r>
              <a:rPr lang="en-US" sz="1200"/>
              <a:t>– Land compared the retinal activity under different visual conditions instead of assuming that every movement followed an external object.</a:t>
            </a:r>
          </a:p>
          <a:p>
            <a:r>
              <a:rPr lang="en-US" sz="1200"/>
              <a:t>– Movements that continued with a blank field or with the eyes covered do not depend on a visible target.</a:t>
            </a:r>
          </a:p>
          <a:p>
            <a:r>
              <a:rPr lang="en-US" sz="1200"/>
              <a:t>• The visually evoked class.</a:t>
            </a:r>
          </a:p>
          <a:p>
            <a:r>
              <a:rPr lang="en-US" sz="1200"/>
              <a:t>– A target displacement produced an abrupt directed movement.</a:t>
            </a:r>
          </a:p>
          <a:p>
            <a:r>
              <a:rPr lang="en-US" sz="1200"/>
              <a:t>– The slow return that followed differs from a sustained tracking response.</a:t>
            </a:r>
          </a:p>
          <a:p>
            <a:r>
              <a:rPr lang="en-US" sz="1200"/>
              <a:t>• Why the distinction matters.</a:t>
            </a:r>
          </a:p>
          <a:p>
            <a:r>
              <a:rPr lang="en-US" sz="1200"/>
              <a:t>– Persistence without ordinary visual input supports an internally generated component of eye movement.</a:t>
            </a:r>
          </a:p>
          <a:p>
            <a:r>
              <a:rPr lang="en-US" sz="1200"/>
              <a:t>– A spontaneous shift and a target-evoked saccade are different response classes that appear in the same motor traces.</a:t>
            </a:r>
          </a:p>
          <a:p>
            <a:r>
              <a:rPr lang="en-US" sz="1200"/>
              <a:t>• Timing of the evoked response.</a:t>
            </a:r>
          </a:p>
          <a:p>
            <a:r>
              <a:rPr lang="en-US" sz="1200"/>
              <a:t>– The evoked shift is abrupt and directed toward the target, whereas the return to the starting position is slow.</a:t>
            </a:r>
          </a:p>
          <a:p>
            <a:r>
              <a:rPr lang="en-US" sz="1200"/>
              <a:t>– Spontaneous movement continues during a blank field, so part of the movement is generated internally.</a:t>
            </a:r>
          </a:p>
          <a:p>
            <a:r>
              <a:rPr lang="en-US" sz="1200"/>
              <a:t/>
            </a:r>
          </a:p>
          <a:p>
            <a:r>
              <a:rPr lang="en-US" sz="1200"/>
              <a:t>References:</a:t>
            </a:r>
          </a:p>
          <a:p>
            <a:r>
              <a:rPr lang="en-US" sz="1200"/>
              <a:t>Land MF (1969b). Movements of the retinae of jumping spiders (Salticidae: Dendryphantinae) in response to visual stimuli. Journal of Experimental Biology 51: 471–493.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Six muscles give the principal retina two kinds of movement, a shift in the sampled direction and a rotation of the receptor array.</a:t>
            </a:r>
          </a:p>
          <a:p>
            <a:r>
              <a:rPr lang="en-US" sz="1200"/>
              <a:t>• Four displacing muscles.</a:t>
            </a:r>
          </a:p>
          <a:p>
            <a:r>
              <a:rPr lang="en-US" sz="1200"/>
              <a:t>– They move the retinal assembly horizontally or vertically behind the fixed lens.</a:t>
            </a:r>
          </a:p>
          <a:p>
            <a:r>
              <a:rPr lang="en-US" sz="1200"/>
              <a:t>– The shift changes the direction of gaze.</a:t>
            </a:r>
          </a:p>
          <a:p>
            <a:r>
              <a:rPr lang="en-US" sz="1200"/>
              <a:t>• Two wrapping bands.</a:t>
            </a:r>
          </a:p>
          <a:p>
            <a:r>
              <a:rPr lang="en-US" sz="1200"/>
              <a:t>– They curve around the tube and rotate it about its viewing axis.</a:t>
            </a:r>
          </a:p>
          <a:p>
            <a:r>
              <a:rPr lang="en-US" sz="1200"/>
              <a:t>– Rotating the retina changes the orientation of its receptor rows relative to a target.</a:t>
            </a:r>
          </a:p>
          <a:p>
            <a:r>
              <a:rPr lang="en-US" sz="1200"/>
              <a:t>• Why the lens does not move.</a:t>
            </a:r>
          </a:p>
          <a:p>
            <a:r>
              <a:rPr lang="en-US" sz="1200"/>
              <a:t>– The large anterior lens remains fixed, so the sampled image changes without a conspicuous rotation of the external eye.</a:t>
            </a:r>
          </a:p>
          <a:p>
            <a:r>
              <a:rPr lang="en-US" sz="1200"/>
              <a:t>• What the dissections established.</a:t>
            </a:r>
          </a:p>
          <a:p>
            <a:r>
              <a:rPr lang="en-US" sz="1200"/>
              <a:t>– Land established the muscle anatomy directly, which supports translation and rotation as possible actions.</a:t>
            </a:r>
          </a:p>
          <a:p>
            <a:r>
              <a:rPr lang="en-US" sz="1200"/>
              <a:t>– Records of movement during behavior associate these actions with responses to targets.</a:t>
            </a:r>
          </a:p>
          <a:p>
            <a:r>
              <a:rPr lang="en-US" sz="1200"/>
              <a:t>• Using the anatomy.</a:t>
            </a:r>
          </a:p>
          <a:p>
            <a:r>
              <a:rPr lang="en-US" sz="1200"/>
              <a:t>– Because the retinal tube moves behind the fixed lens, the sampled direction and the orientation of the receptor rows can be changed independently.</a:t>
            </a:r>
          </a:p>
          <a:p>
            <a:r>
              <a:rPr lang="en-US" sz="1200"/>
              <a:t>– Ophthalmoscopic records of retinal movement during target viewing relate these actions to responses.</a:t>
            </a:r>
          </a:p>
          <a:p>
            <a:r>
              <a:rPr lang="en-US" sz="1200"/>
              <a:t/>
            </a:r>
          </a:p>
          <a:p>
            <a:r>
              <a:rPr lang="en-US" sz="1200"/>
              <a:t>References:</a:t>
            </a:r>
          </a:p>
          <a:p>
            <a:r>
              <a:rPr lang="en-US" sz="1200"/>
              <a:t>Land MF (1969b). Movements of the retinae of jumping spiders (Salticidae: Dendryphantinae) in response to visual stimuli. Journal of Experimental Biology 51: 471–493.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filter in front of a pigment can change a receptor's effective spectral sensitivity without changing its opsin.</a:t>
            </a:r>
          </a:p>
          <a:p>
            <a:r>
              <a:rPr lang="en-US" sz="1200"/>
              <a:t>• How the filter works.</a:t>
            </a:r>
          </a:p>
          <a:p>
            <a:r>
              <a:rPr lang="en-US" sz="1200"/>
              <a:t>– It absorbs short wavelengths before they reach the pigment, so the receptor effectively responds to longer wavelengths.</a:t>
            </a:r>
          </a:p>
          <a:p>
            <a:r>
              <a:rPr lang="en-US" sz="1200"/>
              <a:t>• What was measured and what was calculated.</a:t>
            </a:r>
          </a:p>
          <a:p>
            <a:r>
              <a:rPr lang="en-US" sz="1200"/>
              <a:t>– The paper measured the pigment properties, with peaks near 377 and 530 nm, and the filter's spectral transmission.</a:t>
            </a:r>
          </a:p>
          <a:p>
            <a:r>
              <a:rPr lang="en-US" sz="1200"/>
              <a:t>– The published red curve combines those measurements and peaks near 626 nanometers.</a:t>
            </a:r>
          </a:p>
          <a:p>
            <a:r>
              <a:rPr lang="en-US" sz="1200"/>
              <a:t>• Three channels from two pigments.</a:t>
            </a:r>
          </a:p>
          <a:p>
            <a:r>
              <a:rPr lang="en-US" sz="1200"/>
              <a:t>– Trichromatic potential does not require three different opsin proteins here.</a:t>
            </a:r>
          </a:p>
          <a:p>
            <a:r>
              <a:rPr lang="en-US" sz="1200"/>
              <a:t>– Ultraviolet, unfiltered green and filtered red channels are separable because the filter removes much of the light that the green pigment would otherwise absorb.</a:t>
            </a:r>
          </a:p>
          <a:p>
            <a:r>
              <a:rPr lang="en-US" sz="1200"/>
              <a:t>• The cost of filtering.</a:t>
            </a:r>
          </a:p>
          <a:p>
            <a:r>
              <a:rPr lang="en-US" sz="1200"/>
              <a:t>– The same absorption that shifts sensitivity leaves fewer photons for the filtered receptors, a potential cost under dim illumination.</a:t>
            </a:r>
          </a:p>
          <a:p>
            <a:r>
              <a:rPr lang="en-US" sz="1200"/>
              <a:t>• Scope of the prediction.</a:t>
            </a:r>
          </a:p>
          <a:p>
            <a:r>
              <a:rPr lang="en-US" sz="1200"/>
              <a:t>– The predicted red curve is a calculation from measured optical properties in Habronattus pyrrithrix.</a:t>
            </a:r>
          </a:p>
          <a:p>
            <a:r>
              <a:rPr lang="en-US" sz="1200"/>
              <a:t>– The filter was found in other sampled Habronattus species but not in the sampled Salticus and Phidippus, which makes it a lineage-associated specialization.</a:t>
            </a:r>
          </a:p>
          <a:p>
            <a:r>
              <a:rPr lang="en-US" sz="1200"/>
              <a:t/>
            </a:r>
          </a:p>
          <a:p>
            <a:r>
              <a:rPr lang="en-US" sz="1200"/>
              <a:t>References:</a:t>
            </a:r>
          </a:p>
          <a:p>
            <a:r>
              <a:rPr lang="en-US" sz="1200"/>
              <a:t>Zurek DB, Cronin TW, Taylor LA, Byrne K, Sullivan MLG, Morehouse NI (2015). Spectral filtering enables trichromatic vision in colorful jumping spiders. Current Biology 25: R403–R404. https://doi.org/10.1016/j.cub.2015.03.033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control isolates one explanation by removing the others, and the brightness manipulation separates the optical account from a photon-capture account.</a:t>
            </a:r>
          </a:p>
          <a:p>
            <a:r>
              <a:rPr lang="en-US" sz="1200"/>
              <a:t>• Two explanations for the same error.</a:t>
            </a:r>
          </a:p>
          <a:p>
            <a:r>
              <a:rPr lang="en-US" sz="1200"/>
              <a:t>– Red light shifts the focal plane and stimulates Rh1 less efficiently, so either factor could shorten the jump.</a:t>
            </a:r>
          </a:p>
          <a:p>
            <a:r>
              <a:rPr lang="en-US" sz="1200"/>
              <a:t>– A dimmer effective stimulus could impair behavior even without a change in optical depth information.</a:t>
            </a:r>
          </a:p>
          <a:p>
            <a:r>
              <a:rPr lang="en-US" sz="1200"/>
              <a:t>• The two controls.</a:t>
            </a:r>
          </a:p>
          <a:p>
            <a:r>
              <a:rPr lang="en-US" sz="1200"/>
              <a:t>– Purified-pigment efficiency was used to match the effective stimulation of the green and red conditions.</a:t>
            </a:r>
          </a:p>
          <a:p>
            <a:r>
              <a:rPr lang="en-US" sz="1200"/>
              <a:t>– Raising the red intensity sixfold left the ratio near 0.89, close to the 0.90 measured in the initial red condition.</a:t>
            </a:r>
          </a:p>
          <a:p>
            <a:r>
              <a:rPr lang="en-US" sz="1200"/>
              <a:t>• Reading the ratio.</a:t>
            </a:r>
          </a:p>
          <a:p>
            <a:r>
              <a:rPr lang="en-US" sz="1200"/>
              <a:t>– A ratio near one means the jump reached the target, and a ratio near 0.90 means an undershoot relative to the measured target distance.</a:t>
            </a:r>
          </a:p>
          <a:p>
            <a:r>
              <a:rPr lang="en-US" sz="1200"/>
              <a:t>– Target distance was measured separately from jump distance, so the ratio compares the behavior with the real distance.</a:t>
            </a:r>
          </a:p>
          <a:p>
            <a:r>
              <a:rPr lang="en-US" sz="1200"/>
              <a:t>• Scope of the control.</a:t>
            </a:r>
          </a:p>
          <a:p>
            <a:r>
              <a:rPr lang="en-US" sz="1200"/>
              <a:t>– Purified-pigment efficiency constrains photon absorption by Rh1, whereas the voltage, adaptation and downstream gain of the intact receptor were not measured during these jumps.</a:t>
            </a:r>
          </a:p>
          <a:p>
            <a:r>
              <a:rPr lang="en-US" sz="1200"/>
              <a:t/>
            </a:r>
          </a:p>
          <a:p>
            <a:r>
              <a:rPr lang="en-US" sz="1200"/>
              <a:t>References:</a:t>
            </a:r>
          </a:p>
          <a:p>
            <a:r>
              <a:rPr lang="en-US" sz="1200"/>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Chromatic aberration is an optical effect, not a claim about color perception, and it connects the pigment layers to a possible distance cue.</a:t>
            </a:r>
          </a:p>
          <a:p>
            <a:r>
              <a:rPr lang="en-US" sz="1200"/>
              <a:t>• Focus depends on wavelength.</a:t>
            </a:r>
          </a:p>
          <a:p>
            <a:r>
              <a:rPr lang="en-US" sz="1200"/>
              <a:t>– The wavelength of incident light changes the image plane relative to the receptor layers.</a:t>
            </a:r>
          </a:p>
          <a:p>
            <a:r>
              <a:rPr lang="en-US" sz="1200"/>
              <a:t>– Red light has a longer focal length than green light in the measured optical system.</a:t>
            </a:r>
          </a:p>
          <a:p>
            <a:r>
              <a:rPr lang="en-US" sz="1200"/>
              <a:t>• Where the green pigment sits.</a:t>
            </a:r>
          </a:p>
          <a:p>
            <a:r>
              <a:rPr lang="en-US" sz="1200"/>
              <a:t>– Rh1 spans L1 and L2, and Rh3 occupies L3 and L4, according to antibody labeling and pigment expression measurements.</a:t>
            </a:r>
          </a:p>
          <a:p>
            <a:r>
              <a:rPr lang="en-US" sz="1200"/>
              <a:t>– The result revises a simple assignment of one color to one depth.</a:t>
            </a:r>
          </a:p>
          <a:p>
            <a:r>
              <a:rPr lang="en-US" sz="1200"/>
              <a:t>• Blur as information.</a:t>
            </a:r>
          </a:p>
          <a:p>
            <a:r>
              <a:rPr lang="en-US" sz="1200"/>
              <a:t>– A green-sensitive receptor in L2 receives a blurred green image, and the degree of blur varies with the object's distance.</a:t>
            </a:r>
          </a:p>
          <a:p>
            <a:r>
              <a:rPr lang="en-US" sz="1200"/>
              <a:t>– Optical sharpness can therefore carry distance information independently of the pigment's wavelength preference.</a:t>
            </a:r>
          </a:p>
          <a:p>
            <a:r>
              <a:rPr lang="en-US" sz="1200"/>
              <a:t>• Layer assignment and function.</a:t>
            </a:r>
          </a:p>
          <a:p>
            <a:r>
              <a:rPr lang="en-US" sz="1200"/>
              <a:t>– An antibody signal identifies where a protein is detected in the sectioned retina, and expression and purified absorption measurements add evidence about its identity and spectral properties.</a:t>
            </a:r>
          </a:p>
          <a:p>
            <a:r>
              <a:rPr lang="en-US" sz="1200"/>
              <a:t>– Combining these with the optical measurements links spectral identity to retinal depth.</a:t>
            </a:r>
          </a:p>
          <a:p>
            <a:r>
              <a:rPr lang="en-US" sz="1200"/>
              <a:t/>
            </a:r>
          </a:p>
          <a:p>
            <a:r>
              <a:rPr lang="en-US" sz="1200"/>
              <a:t>References:</a:t>
            </a:r>
          </a:p>
          <a:p>
            <a:r>
              <a:rPr lang="en-US" sz="1200"/>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Spectral sensitivity is measured physiologically in cells and absorption is measured biochemically in a pigment, so the two methods describe related properties of the same receptor channel.</a:t>
            </a:r>
          </a:p>
          <a:p>
            <a:r>
              <a:rPr lang="en-US" sz="1200"/>
              <a:t>• What sensitivity compares.</a:t>
            </a:r>
          </a:p>
          <a:p>
            <a:r>
              <a:rPr lang="en-US" sz="1200"/>
              <a:t>– The sensitivity measurement compares the light required to evoke a specified electrical response, which separates wavelength preference from the brightness the experimenter chose for each flash.</a:t>
            </a:r>
          </a:p>
          <a:p>
            <a:r>
              <a:rPr lang="en-US" sz="1200"/>
              <a:t>– The ultraviolet class responds most effectively near 370 nanometers and loses sensitivity steeply toward longer wavelengths.</a:t>
            </a:r>
          </a:p>
          <a:p>
            <a:r>
              <a:rPr lang="en-US" sz="1200"/>
              <a:t>• Reading a logarithmic axis.</a:t>
            </a:r>
          </a:p>
          <a:p>
            <a:r>
              <a:rPr lang="en-US" sz="1200"/>
              <a:t>– A logarithmic axis represents multiplicative changes, so a large separation on the axis corresponds to a large difference in required intensity.</a:t>
            </a:r>
          </a:p>
          <a:p>
            <a:r>
              <a:rPr lang="en-US" sz="1200"/>
              <a:t>• Pigment and cell measurements.</a:t>
            </a:r>
          </a:p>
          <a:p>
            <a:r>
              <a:rPr lang="en-US" sz="1200"/>
              <a:t>– A purified pigment's absorption spectrum identifies a molecular property of the opsin complex.</a:t>
            </a:r>
          </a:p>
          <a:p>
            <a:r>
              <a:rPr lang="en-US" sz="1200"/>
              <a:t>– The intact photoreceptor adds steps between photon absorption, membrane conductance and the recorded voltage.</a:t>
            </a:r>
          </a:p>
          <a:p>
            <a:r>
              <a:rPr lang="en-US" sz="1200"/>
              <a:t>• Related species.</a:t>
            </a:r>
          </a:p>
          <a:p>
            <a:r>
              <a:rPr lang="en-US" sz="1200"/>
              <a:t>– The close green peaks in Phidippus physiology and Hasarius pigment measurements are consistent with related spectral channels in the two species.</a:t>
            </a:r>
          </a:p>
          <a:p>
            <a:r>
              <a:rPr lang="en-US" sz="1200"/>
              <a:t/>
            </a:r>
          </a:p>
          <a:p>
            <a:r>
              <a:rPr lang="en-US" sz="1200"/>
              <a:t>References:</a:t>
            </a:r>
          </a:p>
          <a:p>
            <a:r>
              <a:rPr lang="en-US" sz="1200"/>
              <a:t>DeVoe RD (1975). Ultraviolet and green receptors in principal eyes of jumping spiders. Journal of General Physiology 66: 193–207. https://doi.org/10.1085/jgp.66.2.193</a:t>
            </a:r>
          </a:p>
          <a:p>
            <a:r>
              <a:rPr lang="en-US" sz="1200"/>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light-sensitive receptor can encode stimulus strength through the amplitude of a graded voltage change.</a:t>
            </a:r>
          </a:p>
          <a:p>
            <a:r>
              <a:rPr lang="en-US" sz="1200"/>
              <a:t>• Graded versus all-or-none.</a:t>
            </a:r>
          </a:p>
          <a:p>
            <a:r>
              <a:rPr lang="en-US" sz="1200"/>
              <a:t>– A graded potential varies continuously with stimulus strength.</a:t>
            </a:r>
          </a:p>
          <a:p>
            <a:r>
              <a:rPr lang="en-US" sz="1200"/>
              <a:t>– An action potential is a brief event of fixed size that signals by its timing.</a:t>
            </a:r>
          </a:p>
          <a:p>
            <a:r>
              <a:rPr lang="en-US" sz="1200"/>
              <a:t>• What depolarization means.</a:t>
            </a:r>
          </a:p>
          <a:p>
            <a:r>
              <a:rPr lang="en-US" sz="1200"/>
              <a:t>– Depolarization makes the membrane potential less negative, which names the direction of the change.</a:t>
            </a:r>
          </a:p>
          <a:p>
            <a:r>
              <a:rPr lang="en-US" sz="1200"/>
              <a:t>– It does not establish by itself that the cell generates action potentials.</a:t>
            </a:r>
          </a:p>
          <a:p>
            <a:r>
              <a:rPr lang="en-US" sz="1200"/>
              <a:t>• Calibrated measurements.</a:t>
            </a:r>
          </a:p>
          <a:p>
            <a:r>
              <a:rPr lang="en-US" sz="1200"/>
              <a:t>– The 5-mV calibration expresses the recording in millivolts, while the 100 ms flash duration expresses the time over which the receptor was stimulated.</a:t>
            </a:r>
          </a:p>
          <a:p>
            <a:r>
              <a:rPr lang="en-US" sz="1200"/>
              <a:t>– Comparing responses to calibrated flashes of different wavelengths in individual cells allows sensitivity to be compared across wavelengths.</a:t>
            </a:r>
          </a:p>
          <a:p>
            <a:r>
              <a:rPr lang="en-US" sz="1200"/>
              <a:t>• The preparation.</a:t>
            </a:r>
          </a:p>
          <a:p>
            <a:r>
              <a:rPr lang="en-US" sz="1200"/>
              <a:t>– Intracellular recording places an electrode inside the cell, so the voltage change in the receptor itself is measured.</a:t>
            </a:r>
          </a:p>
          <a:p>
            <a:r>
              <a:rPr lang="en-US" sz="1200"/>
              <a:t>– DeVoe recorded principal-eye photoreceptors in Phidippus regius.</a:t>
            </a:r>
          </a:p>
          <a:p>
            <a:r>
              <a:rPr lang="en-US" sz="1200"/>
              <a:t>• From voltage to sensitivity.</a:t>
            </a:r>
          </a:p>
          <a:p>
            <a:r>
              <a:rPr lang="en-US" sz="1200"/>
              <a:t>– Because response amplitude depends on stimulus strength, the light needed to evoke a chosen amplitude measures a receptor's sensitivity at each wavelength.</a:t>
            </a:r>
          </a:p>
          <a:p>
            <a:r>
              <a:rPr lang="en-US" sz="1200"/>
              <a:t>– Plotting that sensitivity against wavelength gives the spectral sensitivity curves of the ultraviolet and green receptor classes.</a:t>
            </a:r>
          </a:p>
          <a:p>
            <a:r>
              <a:rPr lang="en-US" sz="1200"/>
              <a:t/>
            </a:r>
          </a:p>
          <a:p>
            <a:r>
              <a:rPr lang="en-US" sz="1200"/>
              <a:t>References:</a:t>
            </a:r>
          </a:p>
          <a:p>
            <a:r>
              <a:rPr lang="en-US" sz="1200"/>
              <a:t>DeVoe RD (1975). Ultraviolet and green receptors in principal eyes of jumping spiders. Journal of General Physiology 66: 193–207. https://doi.org/10.1085/jgp.66.2.193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In a layered retina behind a fixed lens, the distance of an object determines which layer receives the sharpest image.</a:t>
            </a:r>
          </a:p>
          <a:p>
            <a:r>
              <a:rPr lang="en-US" sz="1200"/>
              <a:t>• Image plane and receptor layers.</a:t>
            </a:r>
          </a:p>
          <a:p>
            <a:r>
              <a:rPr lang="en-US" sz="1200"/>
              <a:t>– A change in object distance moves the sharp image plane relative to the receptor layers even when the lens does not change shape.</a:t>
            </a:r>
          </a:p>
          <a:p>
            <a:r>
              <a:rPr lang="en-US" sz="1200"/>
              <a:t>– An object therefore need not be equally sharp in every layer.</a:t>
            </a:r>
          </a:p>
          <a:p>
            <a:r>
              <a:rPr lang="en-US" sz="1200"/>
              <a:t>• What Land measured.</a:t>
            </a:r>
          </a:p>
          <a:p>
            <a:r>
              <a:rPr lang="en-US" sz="1200"/>
              <a:t>– Land related the sectioned retina to optical observations of the image.</a:t>
            </a:r>
          </a:p>
          <a:p>
            <a:r>
              <a:rPr lang="en-US" sz="1200"/>
              <a:t>– For blue-green light the best image approached L2, and an object at approximately 2 cm could form a focused image on the deeper L1 under the reported conditions.</a:t>
            </a:r>
          </a:p>
          <a:p>
            <a:r>
              <a:rPr lang="en-US" sz="1200"/>
              <a:t>• Optics and pigments are separate questions.</a:t>
            </a:r>
          </a:p>
          <a:p>
            <a:r>
              <a:rPr lang="en-US" sz="1200"/>
              <a:t>– An optical prediction describes where images are sharp, and a pigment measurement describes which wavelengths a receptor absorbs.</a:t>
            </a:r>
          </a:p>
          <a:p>
            <a:r>
              <a:rPr lang="en-US" sz="1200"/>
              <a:t>– Later work retained the layered geometry while revising the early proposal that a specific layer holds receptors tuned to one color.</a:t>
            </a:r>
          </a:p>
          <a:p>
            <a:r>
              <a:rPr lang="en-US" sz="1200"/>
              <a:t>• Why distance matters to the eye.</a:t>
            </a:r>
          </a:p>
          <a:p>
            <a:r>
              <a:rPr lang="en-US" sz="1200"/>
              <a:t>– Retinal depth makes the layered organ relevant to viewing distance, which the jump-distance experiments in Hasarius test with wavelength manipulations.</a:t>
            </a:r>
          </a:p>
          <a:p>
            <a:r>
              <a:rPr lang="en-US" sz="1200"/>
              <a:t/>
            </a:r>
          </a:p>
          <a:p>
            <a:r>
              <a:rPr lang="en-US" sz="1200"/>
              <a:t>References:</a:t>
            </a:r>
          </a:p>
          <a:p>
            <a:r>
              <a:rPr lang="en-US" sz="1200"/>
              <a:t>Land MF (1969a). Structure of the retinae of the principal eyes of jumping spiders (Salticidae: Dendryphantinae) in relation to visual optics. Journal of Experimental Biology 51: 443–470.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principal eye separates the position of the external lens from the position of the retina, which allows aiming to happen inside the eye.</a:t>
            </a:r>
          </a:p>
          <a:p>
            <a:r>
              <a:rPr lang="en-US" sz="1200"/>
              <a:t>• Lens and retina move independently.</a:t>
            </a:r>
          </a:p>
          <a:p>
            <a:r>
              <a:rPr lang="en-US" sz="1200"/>
              <a:t>– The lens is fixed in the carapace, but the long retinal assembly can move, changing the direction sampled through the lens.</a:t>
            </a:r>
          </a:p>
          <a:p>
            <a:r>
              <a:rPr lang="en-US" sz="1200"/>
              <a:t>– The external eye needs no conspicuous rotation for the sampled image to change.</a:t>
            </a:r>
          </a:p>
          <a:p>
            <a:r>
              <a:rPr lang="en-US" sz="1200"/>
              <a:t>• Magnification and a restricted field.</a:t>
            </a:r>
          </a:p>
          <a:p>
            <a:r>
              <a:rPr lang="en-US" sz="1200"/>
              <a:t>– A long focal length enlarges the image at the retina, which supports fine angular sampling.</a:t>
            </a:r>
          </a:p>
          <a:p>
            <a:r>
              <a:rPr lang="en-US" sz="1200"/>
              <a:t>– The restricted field makes accurate alignment with a target necessary, so the retina must be positioned on the object of interest.</a:t>
            </a:r>
          </a:p>
          <a:p>
            <a:r>
              <a:rPr lang="en-US" sz="1200"/>
              <a:t>• Two eye systems with different fields.</a:t>
            </a:r>
          </a:p>
          <a:p>
            <a:r>
              <a:rPr lang="en-US" sz="1200"/>
              <a:t>– Land compared the optical organization of the principal eyes with the broader viewing arrangement of the anterior lateral eyes.</a:t>
            </a:r>
          </a:p>
          <a:p>
            <a:r>
              <a:rPr lang="en-US" sz="1200"/>
              <a:t>– The anterior lateral eyes cover a broad field, whereas the principal eyes sample a restricted region at higher resolution.</a:t>
            </a:r>
          </a:p>
          <a:p>
            <a:r>
              <a:rPr lang="en-US" sz="1200"/>
              <a:t>• Why both systems matter.</a:t>
            </a:r>
          </a:p>
          <a:p>
            <a:r>
              <a:rPr lang="en-US" sz="1200"/>
              <a:t>– Lateral vision supports detection and orientation toward a target, while the principal retina samples the target in detail once it is aligned.</a:t>
            </a:r>
          </a:p>
          <a:p>
            <a:r>
              <a:rPr lang="en-US" sz="1200"/>
              <a:t>– The two systems contribute different operations to predation.</a:t>
            </a:r>
          </a:p>
          <a:p>
            <a:r>
              <a:rPr lang="en-US" sz="1200"/>
              <a:t/>
            </a:r>
          </a:p>
          <a:p>
            <a:r>
              <a:rPr lang="en-US" sz="1200"/>
              <a:t>References:</a:t>
            </a:r>
          </a:p>
          <a:p>
            <a:r>
              <a:rPr lang="en-US" sz="1200"/>
              <a:t>Land MF (1969a). Structure of the retinae of the principal eyes of jumping spiders (Salticidae: Dendryphantinae) in relation to visual optics. Journal of Experimental Biology 51: 443–470.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Angular size is the quantity that links a stimulus to the receptor array, because it describes the target from the spider's viewpoint.</a:t>
            </a:r>
          </a:p>
          <a:p>
            <a:r>
              <a:rPr lang="en-US" sz="1200"/>
              <a:t>• Degrees at the eye.</a:t>
            </a:r>
          </a:p>
          <a:p>
            <a:r>
              <a:rPr lang="en-US" sz="1200"/>
              <a:t>– A four-degree dot can be produced by objects of different physical size at different distances, so angular size is the appropriate variable for comparing stimuli.</a:t>
            </a:r>
          </a:p>
          <a:p>
            <a:r>
              <a:rPr lang="en-US" sz="1200"/>
              <a:t>– The two display screens stood 150 mm from the spider and were separated by 120°.</a:t>
            </a:r>
          </a:p>
          <a:p>
            <a:r>
              <a:rPr lang="en-US" sz="1200"/>
              <a:t>• Controlled targets.</a:t>
            </a:r>
          </a:p>
          <a:p>
            <a:r>
              <a:rPr lang="en-US" sz="1200"/>
              <a:t>– A controlled dot removes the changing shape and irregular movement of a live fly.</a:t>
            </a:r>
          </a:p>
          <a:p>
            <a:r>
              <a:rPr lang="en-US" sz="1200"/>
              <a:t>– A blank screen provides the comparison for turns that occur without a visible moving target.</a:t>
            </a:r>
          </a:p>
          <a:p>
            <a:r>
              <a:rPr lang="en-US" sz="1200"/>
              <a:t>• Why a ball is used.</a:t>
            </a:r>
          </a:p>
          <a:p>
            <a:r>
              <a:rPr lang="en-US" sz="1200"/>
              <a:t>– The spider's feet rotate a lightweight polystyrene ball, so an attempted turn is recorded while stimulus position remains under experimental control.</a:t>
            </a:r>
          </a:p>
          <a:p>
            <a:r>
              <a:rPr lang="en-US" sz="1200"/>
              <a:t>– The display covers known directions relative to the anterior lateral eyes, which allows detection to be tied to a defined part of the visual field.</a:t>
            </a:r>
          </a:p>
          <a:p>
            <a:r>
              <a:rPr lang="en-US" sz="1200"/>
              <a:t>• The measured response.</a:t>
            </a:r>
          </a:p>
          <a:p>
            <a:r>
              <a:rPr lang="en-US" sz="1200"/>
              <a:t>– The recorded variable is the frequency of orientation, which reflects detection of the moving target and the decision to turn.</a:t>
            </a:r>
          </a:p>
          <a:p>
            <a:r>
              <a:rPr lang="en-US" sz="1200"/>
              <a:t/>
            </a:r>
          </a:p>
          <a:p>
            <a:r>
              <a:rPr lang="en-US" sz="1200"/>
              <a:t>References:</a:t>
            </a:r>
          </a:p>
          <a:p>
            <a:r>
              <a:rPr lang="en-US" sz="1200"/>
              <a:t>Zurek DB, Taylor AJ, Evans CS, Nelson XJ (2010). The role of the anterior lateral eyes in the vision-based behaviour of jumping spiders. Journal of Experimental Biology 213: 2372–2378. https://doi.org/10.1242/jeb.042382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5EAEE"/>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526B80"/>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526B80"/>
                </a:solidFill>
                <a:latin typeface="Arial"/>
              </a:rPr>
              <a:t>Lecture 12</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900" b="1" i="0">
                <a:solidFill>
                  <a:srgbClr val="303E4B"/>
                </a:solidFill>
                <a:latin typeface="Arial"/>
              </a:rPr>
              <a:t>Insect vision II:</a:t>
            </a:r>
          </a:p>
          <a:p>
            <a:pPr algn="l">
              <a:lnSpc>
                <a:spcPct val="108000"/>
              </a:lnSpc>
              <a:spcAft>
                <a:spcPts val="0"/>
              </a:spcAft>
            </a:pPr>
            <a:r>
              <a:rPr sz="2900" b="1" i="0">
                <a:solidFill>
                  <a:srgbClr val="303E4B"/>
                </a:solidFill>
                <a:latin typeface="Arial"/>
              </a:rPr>
              <a:t>jumping spider eyes and predatory tracking (Land)</a:t>
            </a:r>
          </a:p>
        </p:txBody>
      </p:sp>
      <p:sp>
        <p:nvSpPr>
          <p:cNvPr id="6" name="TextBox 5"/>
          <p:cNvSpPr txBox="1"/>
          <p:nvPr/>
        </p:nvSpPr>
        <p:spPr>
          <a:xfrm>
            <a:off x="685800" y="4405236"/>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526B80"/>
                </a:solidFill>
                <a:latin typeface="Arial"/>
              </a:rPr>
              <a:t>Monday, September 21,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526B80"/>
                </a:solidFill>
                <a:latin typeface="Arial"/>
              </a:rPr>
              <a:t>Jordan Lopez, Ph.D.</a:t>
            </a:r>
          </a:p>
          <a:p>
            <a:pPr algn="l">
              <a:lnSpc>
                <a:spcPct val="108000"/>
              </a:lnSpc>
              <a:spcAft>
                <a:spcPts val="200"/>
              </a:spcAft>
            </a:pPr>
            <a:r>
              <a:rPr sz="1200" b="0" i="0">
                <a:solidFill>
                  <a:srgbClr val="526B80"/>
                </a:solidFill>
                <a:latin typeface="Arial"/>
              </a:rPr>
              <a:t>Professor of Neurobiology &amp; Biomedical Engineering</a:t>
            </a:r>
          </a:p>
        </p:txBody>
      </p:sp>
      <p:pic>
        <p:nvPicPr>
          <p:cNvPr id="8" name="Picture 7" descr="z15_f1a.png"/>
          <p:cNvPicPr>
            <a:picLocks noChangeAspect="1"/>
          </p:cNvPicPr>
          <p:nvPr/>
        </p:nvPicPr>
        <p:blipFill>
          <a:blip r:embed="rId2"/>
          <a:stretch>
            <a:fillRect/>
          </a:stretch>
        </p:blipFill>
        <p:spPr>
          <a:xfrm>
            <a:off x="6553047" y="822960"/>
            <a:ext cx="5181447" cy="4322491"/>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1(A). Habronattus pyrrithrix, a jumping spider studied for retinal spectral filtering.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Lateral eyes can guide stalking and attacks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Jumping spiders are salticid arachnids that approach prey before launching a directed jump. </a:t>
            </a:r>
            <a:r>
              <a:rPr sz="1600" b="1" i="0">
                <a:solidFill>
                  <a:srgbClr val="3C5268"/>
                </a:solidFill>
                <a:latin typeface="Arial"/>
              </a:rPr>
              <a:t>Stalking</a:t>
            </a:r>
            <a:r>
              <a:rPr sz="1600" b="0" i="0">
                <a:solidFill>
                  <a:srgbClr val="252B32"/>
                </a:solidFill>
                <a:latin typeface="Arial"/>
              </a:rPr>
              <a:t> is the controlled approach preceding attack; </a:t>
            </a:r>
            <a:r>
              <a:rPr sz="1600" b="1" i="0">
                <a:solidFill>
                  <a:srgbClr val="3C5268"/>
                </a:solidFill>
                <a:latin typeface="Arial"/>
              </a:rPr>
              <a:t>orientation</a:t>
            </a:r>
            <a:r>
              <a:rPr sz="1600" b="0" i="0">
                <a:solidFill>
                  <a:srgbClr val="252B32"/>
                </a:solidFill>
                <a:latin typeface="Arial"/>
              </a:rPr>
              <a:t> is a body turn toward a visual target. These actions can depend on different eye pairs.</a:t>
            </a:r>
          </a:p>
          <a:p>
            <a:pPr algn="l">
              <a:lnSpc>
                <a:spcPct val="108000"/>
              </a:lnSpc>
              <a:spcAft>
                <a:spcPts val="960"/>
              </a:spcAft>
            </a:pPr>
            <a:r>
              <a:rPr sz="1600" b="0" i="0">
                <a:solidFill>
                  <a:srgbClr val="252B32"/>
                </a:solidFill>
                <a:latin typeface="Arial"/>
              </a:rPr>
              <a:t>Zurek and colleagues covered every eye except the </a:t>
            </a:r>
            <a:r>
              <a:rPr sz="1600" b="1" i="0">
                <a:solidFill>
                  <a:srgbClr val="3C5268"/>
                </a:solidFill>
                <a:latin typeface="Arial"/>
              </a:rPr>
              <a:t>anterior lateral eyes</a:t>
            </a:r>
            <a:r>
              <a:rPr sz="1600" b="0" i="0">
                <a:solidFill>
                  <a:srgbClr val="252B32"/>
                </a:solidFill>
                <a:latin typeface="Arial"/>
              </a:rPr>
              <a:t>, the frontmost lateral pair, in </a:t>
            </a:r>
            <a:r>
              <a:rPr sz="1600" b="0" i="1">
                <a:solidFill>
                  <a:srgbClr val="252B32"/>
                </a:solidFill>
                <a:latin typeface="Arial"/>
              </a:rPr>
              <a:t>Servaea vestita</a:t>
            </a:r>
            <a:r>
              <a:rPr sz="1600" b="0" i="0">
                <a:solidFill>
                  <a:srgbClr val="252B32"/>
                </a:solidFill>
                <a:latin typeface="Arial"/>
              </a:rPr>
              <a:t>. Spiders encountered a live fly on a sloping ramp, initially approximately 25 cm away. The manipulation isolated visual information available through that pair.</a:t>
            </a:r>
          </a:p>
          <a:p>
            <a:pPr algn="l">
              <a:lnSpc>
                <a:spcPct val="108000"/>
              </a:lnSpc>
              <a:spcAft>
                <a:spcPts val="960"/>
              </a:spcAft>
            </a:pPr>
            <a:r>
              <a:rPr sz="1600" b="0" i="0">
                <a:solidFill>
                  <a:srgbClr val="252B32"/>
                </a:solidFill>
                <a:latin typeface="Arial"/>
              </a:rPr>
              <a:t>Spiders retaining only anterior lateral vision could orient, stalk and attack. Performance was limited, and some individuals did not pursue the fly. An isolated eye pair that supports an action is sufficient for that action under the test conditions, which gives the anterior lateral eyes a real role in predation alongside the principal eyes.</a:t>
            </a:r>
          </a:p>
        </p:txBody>
      </p:sp>
      <p:pic>
        <p:nvPicPr>
          <p:cNvPr id="4" name="Picture 3" descr="z10_f1.png"/>
          <p:cNvPicPr>
            <a:picLocks noChangeAspect="1"/>
          </p:cNvPicPr>
          <p:nvPr/>
        </p:nvPicPr>
        <p:blipFill>
          <a:blip r:embed="rId2"/>
          <a:stretch>
            <a:fillRect/>
          </a:stretch>
        </p:blipFill>
        <p:spPr>
          <a:xfrm>
            <a:off x="6412687" y="1280160"/>
            <a:ext cx="5212080" cy="1746528"/>
          </a:xfrm>
          <a:prstGeom prst="rect">
            <a:avLst/>
          </a:prstGeom>
        </p:spPr>
      </p:pic>
      <p:sp>
        <p:nvSpPr>
          <p:cNvPr id="5" name="Figure caption"/>
          <p:cNvSpPr txBox="1"/>
          <p:nvPr/>
        </p:nvSpPr>
        <p:spPr>
          <a:xfrm>
            <a:off x="6412687" y="311812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1. Controlled display arrangement for isolated lateral vision.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Controlled dots isolate visually evoked orientation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600" b="0" i="0">
                <a:solidFill>
                  <a:srgbClr val="252B32"/>
                </a:solidFill>
                <a:latin typeface="Arial"/>
              </a:rPr>
              <a:t>A </a:t>
            </a:r>
            <a:r>
              <a:rPr sz="1600" b="1" i="0">
                <a:solidFill>
                  <a:srgbClr val="3C5268"/>
                </a:solidFill>
                <a:latin typeface="Arial"/>
              </a:rPr>
              <a:t>visual field</a:t>
            </a:r>
            <a:r>
              <a:rPr sz="1600" b="0" i="0">
                <a:solidFill>
                  <a:srgbClr val="252B32"/>
                </a:solidFill>
                <a:latin typeface="Arial"/>
              </a:rPr>
              <a:t> is the region of space accessible to an eye. To measure target detection within the anterior lateral field, Zurek and colleagues positioned </a:t>
            </a:r>
            <a:r>
              <a:rPr sz="1600" b="0" i="1">
                <a:solidFill>
                  <a:srgbClr val="252B32"/>
                </a:solidFill>
                <a:latin typeface="Arial"/>
              </a:rPr>
              <a:t>Servaea vestita</a:t>
            </a:r>
            <a:r>
              <a:rPr sz="1600" b="0" i="0">
                <a:solidFill>
                  <a:srgbClr val="252B32"/>
                </a:solidFill>
                <a:latin typeface="Arial"/>
              </a:rPr>
              <a:t> on a freely rotating 15-mm polystyrene ball while the spider remained fixed between two display screens.</a:t>
            </a:r>
          </a:p>
          <a:p>
            <a:pPr algn="l">
              <a:lnSpc>
                <a:spcPct val="108000"/>
              </a:lnSpc>
              <a:spcAft>
                <a:spcPts val="1019"/>
              </a:spcAft>
            </a:pPr>
            <a:r>
              <a:rPr sz="1600" b="0" i="0">
                <a:solidFill>
                  <a:srgbClr val="252B32"/>
                </a:solidFill>
                <a:latin typeface="Arial"/>
              </a:rPr>
              <a:t>The screens were 150 mm away and separated by 120°. Dark dots varied in angular diameter, speed and contrast against a gray background. </a:t>
            </a:r>
            <a:r>
              <a:rPr sz="1600" b="1" i="0">
                <a:solidFill>
                  <a:srgbClr val="3C5268"/>
                </a:solidFill>
                <a:latin typeface="Arial"/>
              </a:rPr>
              <a:t>Angular size</a:t>
            </a:r>
            <a:r>
              <a:rPr sz="1600" b="0" i="0">
                <a:solidFill>
                  <a:srgbClr val="252B32"/>
                </a:solidFill>
                <a:latin typeface="Arial"/>
              </a:rPr>
              <a:t> specifies an object's extent at the eye in degrees, independently of its physical size.</a:t>
            </a:r>
          </a:p>
          <a:p>
            <a:pPr algn="l">
              <a:lnSpc>
                <a:spcPct val="108000"/>
              </a:lnSpc>
              <a:spcAft>
                <a:spcPts val="1019"/>
              </a:spcAft>
            </a:pPr>
            <a:r>
              <a:rPr sz="1600" b="0" i="0">
                <a:solidFill>
                  <a:srgbClr val="252B32"/>
                </a:solidFill>
                <a:latin typeface="Arial"/>
              </a:rPr>
              <a:t>A 4° dot moving at 9°/s with 40% contrast elicited orientation frequently, whereas a blank gray screen rarely did. The ball registered attempted turns without moving the spider through the scene. The dot removes the changing shape and irregular movement of a live fly, so the orientation reflects detection of a small moving target by the anterior lateral eyes.</a:t>
            </a:r>
          </a:p>
        </p:txBody>
      </p:sp>
      <p:pic>
        <p:nvPicPr>
          <p:cNvPr id="4" name="Picture 3" descr="z10_f2.png"/>
          <p:cNvPicPr>
            <a:picLocks noChangeAspect="1"/>
          </p:cNvPicPr>
          <p:nvPr/>
        </p:nvPicPr>
        <p:blipFill>
          <a:blip r:embed="rId2"/>
          <a:stretch>
            <a:fillRect/>
          </a:stretch>
        </p:blipFill>
        <p:spPr>
          <a:xfrm>
            <a:off x="6534629" y="1280160"/>
            <a:ext cx="4968194"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2. Orientation probability across size, speed and contrast.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Orientation depends jointly on size and speed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3C5268"/>
                </a:solidFill>
                <a:latin typeface="Arial"/>
              </a:rPr>
              <a:t>Contrast</a:t>
            </a:r>
            <a:r>
              <a:rPr sz="1500" b="0" i="0">
                <a:solidFill>
                  <a:srgbClr val="252B32"/>
                </a:solidFill>
                <a:latin typeface="Arial"/>
              </a:rPr>
              <a:t> is the luminance difference between a target and its background relative to the background luminance in this experiment. Zurek and colleagues varied contrast alongside dot diameter, rather than treating every visible object as an equally effective stimulus.</a:t>
            </a:r>
          </a:p>
          <a:p>
            <a:pPr algn="l">
              <a:lnSpc>
                <a:spcPct val="108000"/>
              </a:lnSpc>
              <a:spcAft>
                <a:spcPts val="960"/>
              </a:spcAft>
            </a:pPr>
            <a:r>
              <a:rPr sz="1500" b="0" i="0">
                <a:solidFill>
                  <a:srgbClr val="252B32"/>
                </a:solidFill>
                <a:latin typeface="Arial"/>
              </a:rPr>
              <a:t>Dots ranged from 0.5° to 8°, with speeds spanning 1–81°/s. Orientation depended on the combination of these variables: targets near 2–4° at stronger contrast were especially effective, but the favorable speed changed with target size and contrast.</a:t>
            </a:r>
          </a:p>
          <a:p>
            <a:pPr algn="l">
              <a:lnSpc>
                <a:spcPct val="108000"/>
              </a:lnSpc>
              <a:spcAft>
                <a:spcPts val="960"/>
              </a:spcAft>
            </a:pPr>
            <a:r>
              <a:rPr sz="1500" b="0" i="0">
                <a:solidFill>
                  <a:srgbClr val="252B32"/>
                </a:solidFill>
                <a:latin typeface="Arial"/>
              </a:rPr>
              <a:t>Weak contrast reduced responses, and the smallest dot was not simply the best stimulus because it resembled distant prey. The measured response map constrains explanations of anterior lateral detection. Contrast sets the strength of the visual signal, angular diameter sets how much of the retina the target occupies, and speed sets how quickly the signal crosses successive receptors, so a stimulus effective at one contrast can become much less effective at another at the same speed.</a:t>
            </a:r>
          </a:p>
        </p:txBody>
      </p:sp>
      <p:pic>
        <p:nvPicPr>
          <p:cNvPr id="4" name="Picture 3" descr="z10_f2.png"/>
          <p:cNvPicPr>
            <a:picLocks noChangeAspect="1"/>
          </p:cNvPicPr>
          <p:nvPr/>
        </p:nvPicPr>
        <p:blipFill>
          <a:blip r:embed="rId2"/>
          <a:stretch>
            <a:fillRect/>
          </a:stretch>
        </p:blipFill>
        <p:spPr>
          <a:xfrm>
            <a:off x="6534629" y="1280160"/>
            <a:ext cx="4968194"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2. Size and speed interact at each tested contrast.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Hunger alters the probability of turning toward a target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Internal state</a:t>
            </a:r>
            <a:r>
              <a:rPr sz="1600" b="0" i="0">
                <a:solidFill>
                  <a:srgbClr val="252B32"/>
                </a:solidFill>
                <a:latin typeface="Arial"/>
              </a:rPr>
              <a:t> includes physiological conditions such as hunger that influence behavioral responses to the same sensory input. Zurek and colleagues compared </a:t>
            </a:r>
            <a:r>
              <a:rPr sz="1600" b="0" i="1">
                <a:solidFill>
                  <a:srgbClr val="252B32"/>
                </a:solidFill>
                <a:latin typeface="Arial"/>
              </a:rPr>
              <a:t>Servaea vestita</a:t>
            </a:r>
            <a:r>
              <a:rPr sz="1600" b="0" i="0">
                <a:solidFill>
                  <a:srgbClr val="252B32"/>
                </a:solidFill>
                <a:latin typeface="Arial"/>
              </a:rPr>
              <a:t> one day after feeding with spiders tested seven days after feeding.</a:t>
            </a:r>
          </a:p>
          <a:p>
            <a:pPr algn="l">
              <a:lnSpc>
                <a:spcPct val="108000"/>
              </a:lnSpc>
              <a:spcAft>
                <a:spcPts val="960"/>
              </a:spcAft>
            </a:pPr>
            <a:r>
              <a:rPr sz="1600" b="0" i="0">
                <a:solidFill>
                  <a:srgbClr val="252B32"/>
                </a:solidFill>
                <a:latin typeface="Arial"/>
              </a:rPr>
              <a:t>Eye availability and moving-dot presentation were controlled while feeding history changed. Hungry spiders oriented more often, and females generally responded more frequently than males. The measured variable was the probability of a turn, not a direct receptor voltage or brain firing rate.</a:t>
            </a:r>
          </a:p>
          <a:p>
            <a:pPr algn="l">
              <a:lnSpc>
                <a:spcPct val="108000"/>
              </a:lnSpc>
              <a:spcAft>
                <a:spcPts val="960"/>
              </a:spcAft>
            </a:pPr>
            <a:r>
              <a:rPr sz="1600" b="0" i="0">
                <a:solidFill>
                  <a:srgbClr val="252B32"/>
                </a:solidFill>
                <a:latin typeface="Arial"/>
              </a:rPr>
              <a:t>Hunger therefore changes the relationship between a visual target and an overt action. The same sensory stimulus can have a different behavioral consequence depending on feeding state, so an absent turn in a recently fed spider can reflect a decision not to pursue instead of an invisible target.</a:t>
            </a:r>
          </a:p>
        </p:txBody>
      </p:sp>
      <p:pic>
        <p:nvPicPr>
          <p:cNvPr id="4" name="Picture 3" descr="z10_f3.png"/>
          <p:cNvPicPr>
            <a:picLocks noChangeAspect="1"/>
          </p:cNvPicPr>
          <p:nvPr/>
        </p:nvPicPr>
        <p:blipFill>
          <a:blip r:embed="rId2"/>
          <a:stretch>
            <a:fillRect/>
          </a:stretch>
        </p:blipFill>
        <p:spPr>
          <a:xfrm>
            <a:off x="7710016" y="1280160"/>
            <a:ext cx="2617421"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3. Feeding state and sex affect orientation.</a:t>
            </a:r>
          </a:p>
        </p:txBody>
      </p:sp>
      <p:pic>
        <p:nvPicPr>
          <p:cNvPr id="6" name="Picture 5" descr="z10_f2.png"/>
          <p:cNvPicPr>
            <a:picLocks noChangeAspect="1"/>
          </p:cNvPicPr>
          <p:nvPr/>
        </p:nvPicPr>
        <p:blipFill>
          <a:blip r:embed="rId3"/>
          <a:stretch>
            <a:fillRect/>
          </a:stretch>
        </p:blipFill>
        <p:spPr>
          <a:xfrm>
            <a:off x="8146650" y="4251960"/>
            <a:ext cx="174415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2. The controlled target conditions used in the behavioral assay.</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Principal eyes magnify a restricted visual field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The </a:t>
            </a:r>
            <a:r>
              <a:rPr sz="1600" b="1" i="0">
                <a:solidFill>
                  <a:srgbClr val="3C5268"/>
                </a:solidFill>
                <a:latin typeface="Arial"/>
              </a:rPr>
              <a:t>principal eyes</a:t>
            </a:r>
            <a:r>
              <a:rPr sz="1600" b="0" i="0">
                <a:solidFill>
                  <a:srgbClr val="252B32"/>
                </a:solidFill>
                <a:latin typeface="Arial"/>
              </a:rPr>
              <a:t>, also called anterior median eyes, are the large forward-facing pair. Their long optical tubes produce a magnified retinal image over a restricted field. Land compared their optical organization with the broader viewing arrangement of the anterior lateral eyes.</a:t>
            </a:r>
          </a:p>
          <a:p>
            <a:pPr algn="l">
              <a:lnSpc>
                <a:spcPct val="108000"/>
              </a:lnSpc>
              <a:spcAft>
                <a:spcPts val="960"/>
              </a:spcAft>
            </a:pPr>
            <a:r>
              <a:rPr sz="1600" b="0" i="0">
                <a:solidFill>
                  <a:srgbClr val="252B32"/>
                </a:solidFill>
                <a:latin typeface="Arial"/>
              </a:rPr>
              <a:t>In </a:t>
            </a:r>
            <a:r>
              <a:rPr sz="1600" b="0" i="1">
                <a:solidFill>
                  <a:srgbClr val="252B32"/>
                </a:solidFill>
                <a:latin typeface="Arial"/>
              </a:rPr>
              <a:t>Phidippus</a:t>
            </a:r>
            <a:r>
              <a:rPr sz="1600" b="0" i="0">
                <a:solidFill>
                  <a:srgbClr val="252B32"/>
                </a:solidFill>
                <a:latin typeface="Arial"/>
              </a:rPr>
              <a:t> and </a:t>
            </a:r>
            <a:r>
              <a:rPr sz="1600" b="0" i="1">
                <a:solidFill>
                  <a:srgbClr val="252B32"/>
                </a:solidFill>
                <a:latin typeface="Arial"/>
              </a:rPr>
              <a:t>Metaphidippus</a:t>
            </a:r>
            <a:r>
              <a:rPr sz="1600" b="0" i="0">
                <a:solidFill>
                  <a:srgbClr val="252B32"/>
                </a:solidFill>
                <a:latin typeface="Arial"/>
              </a:rPr>
              <a:t>, the principal-eye lens remains fixed in the body while the retinal tube can move behind it. Moving that tube changes which direction is sampled by the small high-resolution receptor array.</a:t>
            </a:r>
          </a:p>
          <a:p>
            <a:pPr algn="l">
              <a:lnSpc>
                <a:spcPct val="108000"/>
              </a:lnSpc>
              <a:spcAft>
                <a:spcPts val="960"/>
              </a:spcAft>
            </a:pPr>
            <a:r>
              <a:rPr sz="1600" b="0" i="0">
                <a:solidFill>
                  <a:srgbClr val="252B32"/>
                </a:solidFill>
                <a:latin typeface="Arial"/>
              </a:rPr>
              <a:t>A broad lateral field and a restricted principal field provide different spatial access to a target. The colored retinal preparation from Habronattus identifies a comparable principal-eye structure in another genus. A long focal length enlarges the image at the retina, which gives fine angular sampling, and the accompanying restricted field makes accurate alignment with a target necessary.</a:t>
            </a:r>
          </a:p>
        </p:txBody>
      </p:sp>
      <p:pic>
        <p:nvPicPr>
          <p:cNvPr id="4" name="Picture 3" descr="a69_f1.png"/>
          <p:cNvPicPr>
            <a:picLocks noChangeAspect="1"/>
          </p:cNvPicPr>
          <p:nvPr/>
        </p:nvPicPr>
        <p:blipFill>
          <a:blip r:embed="rId2"/>
          <a:stretch>
            <a:fillRect/>
          </a:stretch>
        </p:blipFill>
        <p:spPr>
          <a:xfrm>
            <a:off x="7793977" y="1280160"/>
            <a:ext cx="2449498"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1. Principal and anterior lateral eye optics.</a:t>
            </a:r>
          </a:p>
        </p:txBody>
      </p:sp>
      <p:pic>
        <p:nvPicPr>
          <p:cNvPr id="6" name="Picture 5" descr="z15_f1bc.png"/>
          <p:cNvPicPr>
            <a:picLocks noChangeAspect="1"/>
          </p:cNvPicPr>
          <p:nvPr/>
        </p:nvPicPr>
        <p:blipFill>
          <a:blip r:embed="rId3"/>
          <a:stretch>
            <a:fillRect/>
          </a:stretch>
        </p:blipFill>
        <p:spPr>
          <a:xfrm>
            <a:off x="7681637" y="4251960"/>
            <a:ext cx="26741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1(B, C). Principal-eye aperture and retinal filter in Habronattus.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 Zurek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Four retinal layers occupy different optical depths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52B32"/>
                </a:solidFill>
                <a:latin typeface="Arial"/>
              </a:rPr>
              <a:t>A </a:t>
            </a:r>
            <a:r>
              <a:rPr sz="1550" b="1" i="0">
                <a:solidFill>
                  <a:srgbClr val="3C5268"/>
                </a:solidFill>
                <a:latin typeface="Arial"/>
              </a:rPr>
              <a:t>photoreceptor</a:t>
            </a:r>
            <a:r>
              <a:rPr sz="1550" b="0" i="0">
                <a:solidFill>
                  <a:srgbClr val="252B32"/>
                </a:solidFill>
                <a:latin typeface="Arial"/>
              </a:rPr>
              <a:t> is a sensory cell whose light-sensitive region converts absorbed light into an electrical response. Land's principal-eye sections revealed four receptor layers at different distances from the lens, numbered from the deepest layer, L1, toward L4 nearer the incoming light.</a:t>
            </a:r>
          </a:p>
          <a:p>
            <a:pPr algn="l">
              <a:lnSpc>
                <a:spcPct val="108000"/>
              </a:lnSpc>
              <a:spcAft>
                <a:spcPts val="960"/>
              </a:spcAft>
            </a:pPr>
            <a:r>
              <a:rPr sz="1550" b="0" i="0">
                <a:solidFill>
                  <a:srgbClr val="252B32"/>
                </a:solidFill>
                <a:latin typeface="Arial"/>
              </a:rPr>
              <a:t>L1 and L2 extend across the boomerang-shaped retina; L3 and L4 occupy more restricted central regions. Receptor segments in L1–L3 are largely aligned with incident light, whereas L4 contains differently oriented, more ovoid segments.</a:t>
            </a:r>
          </a:p>
          <a:p>
            <a:pPr algn="l">
              <a:lnSpc>
                <a:spcPct val="108000"/>
              </a:lnSpc>
              <a:spcAft>
                <a:spcPts val="960"/>
              </a:spcAft>
            </a:pPr>
            <a:r>
              <a:rPr sz="1550" b="0" i="0">
                <a:solidFill>
                  <a:srgbClr val="252B32"/>
                </a:solidFill>
                <a:latin typeface="Arial"/>
              </a:rPr>
              <a:t>The retina is therefore a three-dimensional receptor arrangement rather than a single flat screen. Histological depth identifies possible differences in optical focus and light sampling. Light can pass through the more anterior receptor regions before reaching deeper ones, and the central restriction of the upper layers means that different parts of the retina do not contain an identical stack of receptors.</a:t>
            </a:r>
          </a:p>
        </p:txBody>
      </p:sp>
      <p:pic>
        <p:nvPicPr>
          <p:cNvPr id="4" name="Picture 3" descr="a69_f3.png"/>
          <p:cNvPicPr>
            <a:picLocks noChangeAspect="1"/>
          </p:cNvPicPr>
          <p:nvPr/>
        </p:nvPicPr>
        <p:blipFill>
          <a:blip r:embed="rId2"/>
          <a:stretch>
            <a:fillRect/>
          </a:stretch>
        </p:blipFill>
        <p:spPr>
          <a:xfrm>
            <a:off x="7352564" y="1280160"/>
            <a:ext cx="333232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3. Layered principal-eye retina and its cellular organization.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Dense receptor spacing supports fine angular sampling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a:t>
            </a:r>
            <a:r>
              <a:rPr sz="1600" b="1" i="0">
                <a:solidFill>
                  <a:srgbClr val="3C5268"/>
                </a:solidFill>
                <a:latin typeface="Arial"/>
              </a:rPr>
              <a:t>receptor mosaic</a:t>
            </a:r>
            <a:r>
              <a:rPr sz="1600" b="0" i="0">
                <a:solidFill>
                  <a:srgbClr val="252B32"/>
                </a:solidFill>
                <a:latin typeface="Arial"/>
              </a:rPr>
              <a:t> is the spatial arrangement of sensory cells sampling an image. Land measured especially dense packing in the principal-eye retinal region aligned with the highest-resolution viewing direction.</a:t>
            </a:r>
          </a:p>
          <a:p>
            <a:pPr algn="l">
              <a:lnSpc>
                <a:spcPct val="108000"/>
              </a:lnSpc>
              <a:spcAft>
                <a:spcPts val="960"/>
              </a:spcAft>
            </a:pPr>
            <a:r>
              <a:rPr sz="1600" b="0" i="0">
                <a:solidFill>
                  <a:srgbClr val="252B32"/>
                </a:solidFill>
                <a:latin typeface="Arial"/>
              </a:rPr>
              <a:t>Minimum receptor separation was approximately 1.7 µm, corresponding to about 11 arcmin in the studied eyes. An </a:t>
            </a:r>
            <a:r>
              <a:rPr sz="1600" b="1" i="0">
                <a:solidFill>
                  <a:srgbClr val="3C5268"/>
                </a:solidFill>
                <a:latin typeface="Arial"/>
              </a:rPr>
              <a:t>arcminute</a:t>
            </a:r>
            <a:r>
              <a:rPr sz="1600" b="0" i="0">
                <a:solidFill>
                  <a:srgbClr val="252B32"/>
                </a:solidFill>
                <a:latin typeface="Arial"/>
              </a:rPr>
              <a:t> is one sixtieth of a degree. These measurements link microscopic spacing to the angular separation of neighboring image samples.</a:t>
            </a:r>
          </a:p>
          <a:p>
            <a:pPr algn="l">
              <a:lnSpc>
                <a:spcPct val="108000"/>
              </a:lnSpc>
              <a:spcAft>
                <a:spcPts val="960"/>
              </a:spcAft>
            </a:pPr>
            <a:r>
              <a:rPr sz="1600" b="0" i="0">
                <a:solidFill>
                  <a:srgbClr val="252B32"/>
                </a:solidFill>
                <a:latin typeface="Arial"/>
              </a:rPr>
              <a:t>Fine sampling permits small spatial differences to reach separate receptor positions. A microscopic receptor separation becomes an angular sampling interval through the optical magnification of the lens, which is how Land related the receptor mosaic to the image that the lens produces. The colored section locates the corresponding layered organ in Hasarius.</a:t>
            </a:r>
          </a:p>
        </p:txBody>
      </p:sp>
      <p:pic>
        <p:nvPicPr>
          <p:cNvPr id="4" name="Picture 3" descr="a69_f5.png"/>
          <p:cNvPicPr>
            <a:picLocks noChangeAspect="1"/>
          </p:cNvPicPr>
          <p:nvPr/>
        </p:nvPicPr>
        <p:blipFill>
          <a:blip r:embed="rId2"/>
          <a:stretch>
            <a:fillRect/>
          </a:stretch>
        </p:blipFill>
        <p:spPr>
          <a:xfrm>
            <a:off x="6412687" y="1280160"/>
            <a:ext cx="3703320" cy="4105036"/>
          </a:xfrm>
          <a:prstGeom prst="rect">
            <a:avLst/>
          </a:prstGeom>
        </p:spPr>
      </p:pic>
      <p:sp>
        <p:nvSpPr>
          <p:cNvPr id="5" name="Figure caption"/>
          <p:cNvSpPr txBox="1"/>
          <p:nvPr/>
        </p:nvSpPr>
        <p:spPr>
          <a:xfrm>
            <a:off x="6412687" y="5476636"/>
            <a:ext cx="370332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5. Receptor mosaics in the principal-eye layers.</a:t>
            </a:r>
          </a:p>
        </p:txBody>
      </p:sp>
      <p:pic>
        <p:nvPicPr>
          <p:cNvPr id="6" name="Picture 5" descr="n12_f1c.png"/>
          <p:cNvPicPr>
            <a:picLocks noChangeAspect="1"/>
          </p:cNvPicPr>
          <p:nvPr/>
        </p:nvPicPr>
        <p:blipFill>
          <a:blip r:embed="rId3"/>
          <a:stretch>
            <a:fillRect/>
          </a:stretch>
        </p:blipFill>
        <p:spPr>
          <a:xfrm>
            <a:off x="10298887" y="2148840"/>
            <a:ext cx="1325880" cy="1541193"/>
          </a:xfrm>
          <a:prstGeom prst="rect">
            <a:avLst/>
          </a:prstGeom>
        </p:spPr>
      </p:pic>
      <p:sp>
        <p:nvSpPr>
          <p:cNvPr id="7" name="Figure caption"/>
          <p:cNvSpPr txBox="1"/>
          <p:nvPr/>
        </p:nvSpPr>
        <p:spPr>
          <a:xfrm>
            <a:off x="10298887" y="3763185"/>
            <a:ext cx="13258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1(C). Four retinal layers in Hasarius adansoni.</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 Nagata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Layer position changes where an image is in focus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3C5268"/>
                </a:solidFill>
                <a:latin typeface="Arial"/>
              </a:rPr>
              <a:t>Focus</a:t>
            </a:r>
            <a:r>
              <a:rPr sz="1500" b="0" i="0">
                <a:solidFill>
                  <a:srgbClr val="252B32"/>
                </a:solidFill>
                <a:latin typeface="Arial"/>
              </a:rPr>
              <a:t> is the optical condition in which rays from an object form a comparatively sharp image at a receptor plane. A layered retina places different receptor populations at different image distances, so an object need not be equally sharp in every layer.</a:t>
            </a:r>
          </a:p>
          <a:p>
            <a:pPr algn="l">
              <a:lnSpc>
                <a:spcPct val="108000"/>
              </a:lnSpc>
              <a:spcAft>
                <a:spcPts val="960"/>
              </a:spcAft>
            </a:pPr>
            <a:r>
              <a:rPr sz="1500" b="0" i="0">
                <a:solidFill>
                  <a:srgbClr val="252B32"/>
                </a:solidFill>
                <a:latin typeface="Arial"/>
              </a:rPr>
              <a:t>Land combined retinal anatomy with optical measurements. For blue-green light, the best image approached L2, while deeper L1 could receive a focused image from an object at approximately 2 cm under the reported optical conditions.</a:t>
            </a:r>
          </a:p>
          <a:p>
            <a:pPr algn="l">
              <a:lnSpc>
                <a:spcPct val="108000"/>
              </a:lnSpc>
              <a:spcAft>
                <a:spcPts val="960"/>
              </a:spcAft>
            </a:pPr>
            <a:r>
              <a:rPr sz="1500" b="0" i="0">
                <a:solidFill>
                  <a:srgbClr val="252B32"/>
                </a:solidFill>
                <a:latin typeface="Arial"/>
              </a:rPr>
              <a:t>These relationships make retinal depth relevant to viewing distance. A change in object distance moves the sharp image plane relative to the receptor layers even when the lens does not change shape, so objects at different distances are sharply imaged on different layers. Land's early proposal that particular layers carry receptors tuned to particular colors was later tested by physiological and molecular measurements of receptor sensitivity and pigment localization.</a:t>
            </a:r>
          </a:p>
        </p:txBody>
      </p:sp>
      <p:pic>
        <p:nvPicPr>
          <p:cNvPr id="4" name="Picture 3" descr="a69_f12.png"/>
          <p:cNvPicPr>
            <a:picLocks noChangeAspect="1"/>
          </p:cNvPicPr>
          <p:nvPr/>
        </p:nvPicPr>
        <p:blipFill>
          <a:blip r:embed="rId2"/>
          <a:stretch>
            <a:fillRect/>
          </a:stretch>
        </p:blipFill>
        <p:spPr>
          <a:xfrm>
            <a:off x="6412687" y="1280160"/>
            <a:ext cx="5212080" cy="3655649"/>
          </a:xfrm>
          <a:prstGeom prst="rect">
            <a:avLst/>
          </a:prstGeom>
        </p:spPr>
      </p:pic>
      <p:sp>
        <p:nvSpPr>
          <p:cNvPr id="5" name="Figure caption"/>
          <p:cNvSpPr txBox="1"/>
          <p:nvPr/>
        </p:nvSpPr>
        <p:spPr>
          <a:xfrm>
            <a:off x="6412687" y="502724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12. Image positions for different object distances.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Receptor projections preserve layered organization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An </a:t>
            </a:r>
            <a:r>
              <a:rPr sz="1600" b="1" i="0">
                <a:solidFill>
                  <a:srgbClr val="3C5268"/>
                </a:solidFill>
                <a:latin typeface="Arial"/>
              </a:rPr>
              <a:t>axon</a:t>
            </a:r>
            <a:r>
              <a:rPr sz="1600" b="0" i="0">
                <a:solidFill>
                  <a:srgbClr val="252B32"/>
                </a:solidFill>
                <a:latin typeface="Arial"/>
              </a:rPr>
              <a:t> is the neuronal process carrying signals away from a cell's sensory region. A </a:t>
            </a:r>
            <a:r>
              <a:rPr sz="1600" b="1" i="0">
                <a:solidFill>
                  <a:srgbClr val="3C5268"/>
                </a:solidFill>
                <a:latin typeface="Arial"/>
              </a:rPr>
              <a:t>neuropil</a:t>
            </a:r>
            <a:r>
              <a:rPr sz="1600" b="0" i="0">
                <a:solidFill>
                  <a:srgbClr val="252B32"/>
                </a:solidFill>
                <a:latin typeface="Arial"/>
              </a:rPr>
              <a:t> is a dense region of neuronal processes where synaptic interactions commonly occur. Land traced principal-eye receptor fibers toward a first visual neuropil, historically termed the optic glomerulus.</a:t>
            </a:r>
          </a:p>
          <a:p>
            <a:pPr algn="l">
              <a:lnSpc>
                <a:spcPct val="108000"/>
              </a:lnSpc>
              <a:spcAft>
                <a:spcPts val="960"/>
              </a:spcAft>
            </a:pPr>
            <a:r>
              <a:rPr sz="1600" b="0" i="0">
                <a:solidFill>
                  <a:srgbClr val="252B32"/>
                </a:solidFill>
                <a:latin typeface="Arial"/>
              </a:rPr>
              <a:t>Fibers arising from different retinal layers appeared to end in different regions of that neuropil. The result supports organized input rather than complete mixing immediately after light detection. It is based on anatomical tracing, not recordings of synaptic transmission.</a:t>
            </a:r>
          </a:p>
          <a:p>
            <a:pPr algn="l">
              <a:lnSpc>
                <a:spcPct val="108000"/>
              </a:lnSpc>
              <a:spcAft>
                <a:spcPts val="960"/>
              </a:spcAft>
            </a:pPr>
            <a:r>
              <a:rPr sz="1600" b="0" i="0">
                <a:solidFill>
                  <a:srgbClr val="252B32"/>
                </a:solidFill>
                <a:latin typeface="Arial"/>
              </a:rPr>
              <a:t>Modern labeled sections in Marpissa muscosa identify AM1 and AM2, the first- and second-order principal-eye neuropils. These landmarks provide anatomical references for a comparable pathway, in which the layered retinal inputs retain some anatomical separation as they enter successive processing regions.</a:t>
            </a:r>
          </a:p>
        </p:txBody>
      </p:sp>
      <p:pic>
        <p:nvPicPr>
          <p:cNvPr id="4" name="Picture 3" descr="a69_f2.png"/>
          <p:cNvPicPr>
            <a:picLocks noChangeAspect="1"/>
          </p:cNvPicPr>
          <p:nvPr/>
        </p:nvPicPr>
        <p:blipFill>
          <a:blip r:embed="rId2"/>
          <a:stretch>
            <a:fillRect/>
          </a:stretch>
        </p:blipFill>
        <p:spPr>
          <a:xfrm>
            <a:off x="7603576" y="1280160"/>
            <a:ext cx="2830301" cy="1508760"/>
          </a:xfrm>
          <a:prstGeom prst="rect">
            <a:avLst/>
          </a:prstGeom>
        </p:spPr>
      </p:pic>
      <p:sp>
        <p:nvSpPr>
          <p:cNvPr id="5" name="Figure caption"/>
          <p:cNvSpPr txBox="1"/>
          <p:nvPr/>
        </p:nvSpPr>
        <p:spPr>
          <a:xfrm>
            <a:off x="6412687" y="28803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2. Retinal layers and axonal endings in the first optic glomerulus.</a:t>
            </a:r>
          </a:p>
        </p:txBody>
      </p:sp>
      <p:pic>
        <p:nvPicPr>
          <p:cNvPr id="6" name="Picture 5" descr="s20_f1.png"/>
          <p:cNvPicPr>
            <a:picLocks noChangeAspect="1"/>
          </p:cNvPicPr>
          <p:nvPr/>
        </p:nvPicPr>
        <p:blipFill>
          <a:blip r:embed="rId3"/>
          <a:stretch>
            <a:fillRect/>
          </a:stretch>
        </p:blipFill>
        <p:spPr>
          <a:xfrm>
            <a:off x="8046816" y="3337560"/>
            <a:ext cx="1943821" cy="2423160"/>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Steinhoff et al. (2020), Fig. 1(a–f). Principal-eye neuropils in Marpissa muscosa.</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 Steinhoff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Wavelength changes the focal plane of the same eye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Chromatic aberration</a:t>
            </a:r>
            <a:r>
              <a:rPr sz="1600" b="0" i="0">
                <a:solidFill>
                  <a:srgbClr val="252B32"/>
                </a:solidFill>
                <a:latin typeface="Arial"/>
              </a:rPr>
              <a:t> is a wavelength-dependent difference in optical focus. Nagata and colleagues investigated this property in the principal eyes of </a:t>
            </a:r>
            <a:r>
              <a:rPr sz="1600" b="0" i="1">
                <a:solidFill>
                  <a:srgbClr val="252B32"/>
                </a:solidFill>
                <a:latin typeface="Arial"/>
              </a:rPr>
              <a:t>Hasarius adansoni</a:t>
            </a:r>
            <a:r>
              <a:rPr sz="1600" b="0" i="0">
                <a:solidFill>
                  <a:srgbClr val="252B32"/>
                </a:solidFill>
                <a:latin typeface="Arial"/>
              </a:rPr>
              <a:t>, whose retina contains receptors at four depths behind the lens.</a:t>
            </a:r>
          </a:p>
          <a:p>
            <a:pPr algn="l">
              <a:lnSpc>
                <a:spcPct val="108000"/>
              </a:lnSpc>
              <a:spcAft>
                <a:spcPts val="960"/>
              </a:spcAft>
            </a:pPr>
            <a:r>
              <a:rPr sz="1600" b="0" i="0">
                <a:solidFill>
                  <a:srgbClr val="252B32"/>
                </a:solidFill>
                <a:latin typeface="Arial"/>
              </a:rPr>
              <a:t>Green and red light form their sharpest images at different positions. A layer receiving a blurred green image can receive a different amount of blur from the same object under red illumination, even when the object has not moved.</a:t>
            </a:r>
          </a:p>
          <a:p>
            <a:pPr algn="l">
              <a:lnSpc>
                <a:spcPct val="108000"/>
              </a:lnSpc>
              <a:spcAft>
                <a:spcPts val="960"/>
              </a:spcAft>
            </a:pPr>
            <a:r>
              <a:rPr sz="1600" b="0" i="0">
                <a:solidFill>
                  <a:srgbClr val="252B32"/>
                </a:solidFill>
                <a:latin typeface="Arial"/>
              </a:rPr>
              <a:t>The authors proposed that this wavelength-dependent defocus, the departure from a sharp image, could bias distance estimation. Retinal anatomy and optical calculations support the availability of such a cue. Under red and green light, the same target at the same physical distance generates a different pattern of focus across the retinal layers, and Nagata's account links that difference to a predicted error in perceived distance.</a:t>
            </a:r>
          </a:p>
        </p:txBody>
      </p:sp>
      <p:pic>
        <p:nvPicPr>
          <p:cNvPr id="4" name="Picture 3" descr="n12_f1.png"/>
          <p:cNvPicPr>
            <a:picLocks noChangeAspect="1"/>
          </p:cNvPicPr>
          <p:nvPr/>
        </p:nvPicPr>
        <p:blipFill>
          <a:blip r:embed="rId2"/>
          <a:stretch>
            <a:fillRect/>
          </a:stretch>
        </p:blipFill>
        <p:spPr>
          <a:xfrm>
            <a:off x="6412687" y="1280160"/>
            <a:ext cx="5212080" cy="3517617"/>
          </a:xfrm>
          <a:prstGeom prst="rect">
            <a:avLst/>
          </a:prstGeom>
        </p:spPr>
      </p:pic>
      <p:sp>
        <p:nvSpPr>
          <p:cNvPr id="5" name="Figure caption"/>
          <p:cNvSpPr txBox="1"/>
          <p:nvPr/>
        </p:nvSpPr>
        <p:spPr>
          <a:xfrm>
            <a:off x="6412687" y="48892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1(A–D). Principal-eye anatomy, jump accuracy and the published optical account.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Intracellular recordings resolve receptor voltage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An </a:t>
            </a:r>
            <a:r>
              <a:rPr sz="1600" b="1" i="0">
                <a:solidFill>
                  <a:srgbClr val="3C5268"/>
                </a:solidFill>
                <a:latin typeface="Arial"/>
              </a:rPr>
              <a:t>intracellular recording</a:t>
            </a:r>
            <a:r>
              <a:rPr sz="1600" b="0" i="0">
                <a:solidFill>
                  <a:srgbClr val="252B32"/>
                </a:solidFill>
                <a:latin typeface="Arial"/>
              </a:rPr>
              <a:t> measures voltage with an electrode inside a cell. DeVoe recorded principal-eye photoreceptors in </a:t>
            </a:r>
            <a:r>
              <a:rPr sz="1600" b="0" i="1">
                <a:solidFill>
                  <a:srgbClr val="252B32"/>
                </a:solidFill>
                <a:latin typeface="Arial"/>
              </a:rPr>
              <a:t>Phidippus regius</a:t>
            </a:r>
            <a:r>
              <a:rPr sz="1600" b="0" i="0">
                <a:solidFill>
                  <a:srgbClr val="252B32"/>
                </a:solidFill>
                <a:latin typeface="Arial"/>
              </a:rPr>
              <a:t> while presenting light flashes of selected wavelengths, linking light stimulation directly to receptor electrical activity.</a:t>
            </a:r>
          </a:p>
          <a:p>
            <a:pPr algn="l">
              <a:lnSpc>
                <a:spcPct val="108000"/>
              </a:lnSpc>
              <a:spcAft>
                <a:spcPts val="960"/>
              </a:spcAft>
            </a:pPr>
            <a:r>
              <a:rPr sz="1600" b="0" i="0">
                <a:solidFill>
                  <a:srgbClr val="252B32"/>
                </a:solidFill>
                <a:latin typeface="Arial"/>
              </a:rPr>
              <a:t>The tested flashes lasted 100 ms. Responses were primarily graded depolarizations: the membrane voltage became less negative by an amount depending on the stimulus, rather than producing an all-or-none behavioral turn. The recording calibration included a 5-mV voltage reference.</a:t>
            </a:r>
          </a:p>
          <a:p>
            <a:pPr algn="l">
              <a:lnSpc>
                <a:spcPct val="108000"/>
              </a:lnSpc>
              <a:spcAft>
                <a:spcPts val="960"/>
              </a:spcAft>
            </a:pPr>
            <a:r>
              <a:rPr sz="1600" b="0" i="0">
                <a:solidFill>
                  <a:srgbClr val="252B32"/>
                </a:solidFill>
                <a:latin typeface="Arial"/>
              </a:rPr>
              <a:t>Wavelength and intensity were varied to compare receptor sensitivity. A graded depolarization encodes stimulus strength through its amplitude, and the 5-mV calibration and 100 ms flash duration express the response in millivolts and the stimulus in time. The colored Hasarius section shows the layered organ of the principal eye to which this physiology relates.</a:t>
            </a:r>
          </a:p>
        </p:txBody>
      </p:sp>
      <p:pic>
        <p:nvPicPr>
          <p:cNvPr id="4" name="Picture 3" descr="d75_f1.png"/>
          <p:cNvPicPr>
            <a:picLocks noChangeAspect="1"/>
          </p:cNvPicPr>
          <p:nvPr/>
        </p:nvPicPr>
        <p:blipFill>
          <a:blip r:embed="rId2"/>
          <a:stretch>
            <a:fillRect/>
          </a:stretch>
        </p:blipFill>
        <p:spPr>
          <a:xfrm>
            <a:off x="6412687" y="1280160"/>
            <a:ext cx="3703320" cy="3234545"/>
          </a:xfrm>
          <a:prstGeom prst="rect">
            <a:avLst/>
          </a:prstGeom>
        </p:spPr>
      </p:pic>
      <p:sp>
        <p:nvSpPr>
          <p:cNvPr id="5" name="Figure caption"/>
          <p:cNvSpPr txBox="1"/>
          <p:nvPr/>
        </p:nvSpPr>
        <p:spPr>
          <a:xfrm>
            <a:off x="6412687" y="4606145"/>
            <a:ext cx="370332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1. Responses to calibrated flashes in individual photoreceptors.</a:t>
            </a:r>
          </a:p>
        </p:txBody>
      </p:sp>
      <p:pic>
        <p:nvPicPr>
          <p:cNvPr id="6" name="Picture 5" descr="n12_f1c.png"/>
          <p:cNvPicPr>
            <a:picLocks noChangeAspect="1"/>
          </p:cNvPicPr>
          <p:nvPr/>
        </p:nvPicPr>
        <p:blipFill>
          <a:blip r:embed="rId3"/>
          <a:stretch>
            <a:fillRect/>
          </a:stretch>
        </p:blipFill>
        <p:spPr>
          <a:xfrm>
            <a:off x="10298887" y="2148840"/>
            <a:ext cx="1325880" cy="1541193"/>
          </a:xfrm>
          <a:prstGeom prst="rect">
            <a:avLst/>
          </a:prstGeom>
        </p:spPr>
      </p:pic>
      <p:sp>
        <p:nvSpPr>
          <p:cNvPr id="7" name="Figure caption"/>
          <p:cNvSpPr txBox="1"/>
          <p:nvPr/>
        </p:nvSpPr>
        <p:spPr>
          <a:xfrm>
            <a:off x="10298887" y="3763185"/>
            <a:ext cx="13258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1(C). The layered principal-eye organ in Hasarius.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 Nagata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Ultraviolet receptors strongly favor short wavelengths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Spectral sensitivity</a:t>
            </a:r>
            <a:r>
              <a:rPr sz="1600" b="0" i="0">
                <a:solidFill>
                  <a:srgbClr val="252B32"/>
                </a:solidFill>
                <a:latin typeface="Arial"/>
              </a:rPr>
              <a:t> specifies how effectively different wavelengths evoke a response after stimulus intensity is accounted for. DeVoe found principal-eye cells in </a:t>
            </a:r>
            <a:r>
              <a:rPr sz="1600" b="0" i="1">
                <a:solidFill>
                  <a:srgbClr val="252B32"/>
                </a:solidFill>
                <a:latin typeface="Arial"/>
              </a:rPr>
              <a:t>Phidippus regius</a:t>
            </a:r>
            <a:r>
              <a:rPr sz="1600" b="0" i="0">
                <a:solidFill>
                  <a:srgbClr val="252B32"/>
                </a:solidFill>
                <a:latin typeface="Arial"/>
              </a:rPr>
              <a:t> with maximum sensitivity near 370 nm, within the ultraviolet range.</a:t>
            </a:r>
          </a:p>
          <a:p>
            <a:pPr algn="l">
              <a:lnSpc>
                <a:spcPct val="108000"/>
              </a:lnSpc>
              <a:spcAft>
                <a:spcPts val="960"/>
              </a:spcAft>
            </a:pPr>
            <a:r>
              <a:rPr sz="1600" b="0" i="0">
                <a:solidFill>
                  <a:srgbClr val="252B32"/>
                </a:solidFill>
                <a:latin typeface="Arial"/>
              </a:rPr>
              <a:t>These cells were more than four logarithmic units less sensitive at wavelengths beyond approximately 460 nm. A logarithmic sensitivity axis represents multiplicative changes, so the decline identifies strong spectral selectivity rather than a small difference in response amplitude.</a:t>
            </a:r>
          </a:p>
          <a:p>
            <a:pPr algn="l">
              <a:lnSpc>
                <a:spcPct val="108000"/>
              </a:lnSpc>
              <a:spcAft>
                <a:spcPts val="960"/>
              </a:spcAft>
            </a:pPr>
            <a:r>
              <a:rPr sz="1600" b="0" i="0">
                <a:solidFill>
                  <a:srgbClr val="252B32"/>
                </a:solidFill>
                <a:latin typeface="Arial"/>
              </a:rPr>
              <a:t>The receptor class supplies a physiological channel for ultraviolet information. The sensitivity measurement compares the light required to evoke a specified electrical response, which separates wavelength preference from differences in the brightness of the flashes. Later pigment localization in Hasarius places an ultraviolet-sensitive pigment in the upper retinal layers.</a:t>
            </a:r>
          </a:p>
        </p:txBody>
      </p:sp>
      <p:pic>
        <p:nvPicPr>
          <p:cNvPr id="4" name="Picture 3" descr="d75_f2.png"/>
          <p:cNvPicPr>
            <a:picLocks noChangeAspect="1"/>
          </p:cNvPicPr>
          <p:nvPr/>
        </p:nvPicPr>
        <p:blipFill>
          <a:blip r:embed="rId2"/>
          <a:stretch>
            <a:fillRect/>
          </a:stretch>
        </p:blipFill>
        <p:spPr>
          <a:xfrm>
            <a:off x="7580762" y="1280160"/>
            <a:ext cx="287593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2. Ultraviolet, green and dual-peaked spectral sensitivity.</a:t>
            </a:r>
          </a:p>
        </p:txBody>
      </p:sp>
      <p:pic>
        <p:nvPicPr>
          <p:cNvPr id="6" name="Picture 5" descr="n12_f2.png"/>
          <p:cNvPicPr>
            <a:picLocks noChangeAspect="1"/>
          </p:cNvPicPr>
          <p:nvPr/>
        </p:nvPicPr>
        <p:blipFill>
          <a:blip r:embed="rId3"/>
          <a:stretch>
            <a:fillRect/>
          </a:stretch>
        </p:blipFill>
        <p:spPr>
          <a:xfrm>
            <a:off x="6472397" y="4251960"/>
            <a:ext cx="5092659"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2(A–C). Pigment spectra and layer localization in Hasarius.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 Nagata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Green receptors have a distinct sensitivity peak</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DeVoe also recorded a green-sensitive principal-eye receptor class in </a:t>
            </a:r>
            <a:r>
              <a:rPr sz="1500" b="0" i="1">
                <a:solidFill>
                  <a:srgbClr val="252B32"/>
                </a:solidFill>
                <a:latin typeface="Arial"/>
              </a:rPr>
              <a:t>Phidippus regius</a:t>
            </a:r>
            <a:r>
              <a:rPr sz="1500" b="0" i="0">
                <a:solidFill>
                  <a:srgbClr val="252B32"/>
                </a:solidFill>
                <a:latin typeface="Arial"/>
              </a:rPr>
              <a:t>. Its spectral sensitivity peaked near 532 nm and followed the expected shape of a visual-pigment sensitivity curve over much of the measured range.</a:t>
            </a:r>
          </a:p>
          <a:p>
            <a:pPr algn="l">
              <a:lnSpc>
                <a:spcPct val="108000"/>
              </a:lnSpc>
              <a:spcAft>
                <a:spcPts val="960"/>
              </a:spcAft>
            </a:pPr>
            <a:r>
              <a:rPr sz="1500" b="0" i="0">
                <a:solidFill>
                  <a:srgbClr val="252B32"/>
                </a:solidFill>
                <a:latin typeface="Arial"/>
              </a:rPr>
              <a:t>A </a:t>
            </a:r>
            <a:r>
              <a:rPr sz="1500" b="1" i="0">
                <a:solidFill>
                  <a:srgbClr val="3C5268"/>
                </a:solidFill>
                <a:latin typeface="Arial"/>
              </a:rPr>
              <a:t>visual pigment</a:t>
            </a:r>
            <a:r>
              <a:rPr sz="1500" b="0" i="0">
                <a:solidFill>
                  <a:srgbClr val="252B32"/>
                </a:solidFill>
                <a:latin typeface="Arial"/>
              </a:rPr>
              <a:t> is a light-absorbing molecular complex containing an opsin protein. An </a:t>
            </a:r>
            <a:r>
              <a:rPr sz="1500" b="1" i="0">
                <a:solidFill>
                  <a:srgbClr val="3C5268"/>
                </a:solidFill>
                <a:latin typeface="Arial"/>
              </a:rPr>
              <a:t>opsin</a:t>
            </a:r>
            <a:r>
              <a:rPr sz="1500" b="0" i="0">
                <a:solidFill>
                  <a:srgbClr val="252B32"/>
                </a:solidFill>
                <a:latin typeface="Arial"/>
              </a:rPr>
              <a:t> is the protein component that contributes to wavelength selectivity. Nagata and colleagues later purified the </a:t>
            </a:r>
            <a:r>
              <a:rPr sz="1500" b="0" i="1">
                <a:solidFill>
                  <a:srgbClr val="252B32"/>
                </a:solidFill>
                <a:latin typeface="Arial"/>
              </a:rPr>
              <a:t>Hasarius</a:t>
            </a:r>
            <a:r>
              <a:rPr sz="1500" b="0" i="0">
                <a:solidFill>
                  <a:srgbClr val="252B32"/>
                </a:solidFill>
                <a:latin typeface="Arial"/>
              </a:rPr>
              <a:t> pigment Rh1 and measured an absorption maximum near 535 nm.</a:t>
            </a:r>
          </a:p>
          <a:p>
            <a:pPr algn="l">
              <a:lnSpc>
                <a:spcPct val="108000"/>
              </a:lnSpc>
              <a:spcAft>
                <a:spcPts val="960"/>
              </a:spcAft>
            </a:pPr>
            <a:r>
              <a:rPr sz="1500" b="0" i="0">
                <a:solidFill>
                  <a:srgbClr val="252B32"/>
                </a:solidFill>
                <a:latin typeface="Arial"/>
              </a:rPr>
              <a:t>Receptor voltage sensitivity and purified-pigment absorption are complementary measurements. Their similar green peaks support a pigment-based contribution to green responses. The green class differs from the ultraviolet class in the wavelength that requires the least light for a response, a physiological distinction taken from voltage recordings in individual cells, whereas the purified pigment's absorption spectrum identifies a molecular property.</a:t>
            </a:r>
          </a:p>
        </p:txBody>
      </p:sp>
      <p:pic>
        <p:nvPicPr>
          <p:cNvPr id="4" name="Picture 3" descr="d75_f2.png"/>
          <p:cNvPicPr>
            <a:picLocks noChangeAspect="1"/>
          </p:cNvPicPr>
          <p:nvPr/>
        </p:nvPicPr>
        <p:blipFill>
          <a:blip r:embed="rId2"/>
          <a:stretch>
            <a:fillRect/>
          </a:stretch>
        </p:blipFill>
        <p:spPr>
          <a:xfrm>
            <a:off x="7580762" y="1280160"/>
            <a:ext cx="287593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2. Green sensitivity peaks near 532 nm.</a:t>
            </a:r>
          </a:p>
        </p:txBody>
      </p:sp>
      <p:pic>
        <p:nvPicPr>
          <p:cNvPr id="6" name="Picture 5" descr="n12_f2.png"/>
          <p:cNvPicPr>
            <a:picLocks noChangeAspect="1"/>
          </p:cNvPicPr>
          <p:nvPr/>
        </p:nvPicPr>
        <p:blipFill>
          <a:blip r:embed="rId3"/>
          <a:stretch>
            <a:fillRect/>
          </a:stretch>
        </p:blipFill>
        <p:spPr>
          <a:xfrm>
            <a:off x="6472397" y="4251960"/>
            <a:ext cx="5092659"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2(A–C). Rh1 pigment absorption and principal-eye localization.</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 Nagata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Dual-peaked cells differ in response timing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Some </a:t>
            </a:r>
            <a:r>
              <a:rPr sz="1600" b="0" i="1">
                <a:solidFill>
                  <a:srgbClr val="252B32"/>
                </a:solidFill>
                <a:latin typeface="Arial"/>
              </a:rPr>
              <a:t>Phidippus regius</a:t>
            </a:r>
            <a:r>
              <a:rPr sz="1600" b="0" i="0">
                <a:solidFill>
                  <a:srgbClr val="252B32"/>
                </a:solidFill>
                <a:latin typeface="Arial"/>
              </a:rPr>
              <a:t> cells responded strongly to both ultraviolet and green stimulation. Their spectral sensitivity had peaks near 370 nm and 525 nm, with relative ultraviolet-to-green sensitivity varying widely among the recorded cells.</a:t>
            </a:r>
          </a:p>
          <a:p>
            <a:pPr algn="l">
              <a:lnSpc>
                <a:spcPct val="108000"/>
              </a:lnSpc>
              <a:spcAft>
                <a:spcPts val="960"/>
              </a:spcAft>
            </a:pPr>
            <a:r>
              <a:rPr sz="1600" b="0" i="0">
                <a:solidFill>
                  <a:srgbClr val="252B32"/>
                </a:solidFill>
                <a:latin typeface="Arial"/>
              </a:rPr>
              <a:t>In these </a:t>
            </a:r>
            <a:r>
              <a:rPr sz="1600" b="1" i="0">
                <a:solidFill>
                  <a:srgbClr val="3C5268"/>
                </a:solidFill>
                <a:latin typeface="Arial"/>
              </a:rPr>
              <a:t>dual-peaked receptors</a:t>
            </a:r>
            <a:r>
              <a:rPr sz="1600" b="0" i="0">
                <a:solidFill>
                  <a:srgbClr val="252B32"/>
                </a:solidFill>
                <a:latin typeface="Arial"/>
              </a:rPr>
              <a:t>, ultraviolet responses were slower than green responses elicited from the same cell. The comparison held cell identity constant while changing wavelength, separating a difference within one receptor from a difference between two independently recorded populations.</a:t>
            </a:r>
          </a:p>
          <a:p>
            <a:pPr algn="l">
              <a:lnSpc>
                <a:spcPct val="108000"/>
              </a:lnSpc>
              <a:spcAft>
                <a:spcPts val="960"/>
              </a:spcAft>
            </a:pPr>
            <a:r>
              <a:rPr sz="1600" b="0" i="0">
                <a:solidFill>
                  <a:srgbClr val="252B32"/>
                </a:solidFill>
                <a:latin typeface="Arial"/>
              </a:rPr>
              <a:t>The observed timing constrains accounts of signal generation in these cells. A dual-peaked sensitivity curve means that two separated wavelength regions can effectively activate one recorded cell, and the within-cell comparison shows that ultraviolet and green flashes evoke responses with different time courses in the same receptor.</a:t>
            </a:r>
          </a:p>
        </p:txBody>
      </p:sp>
      <p:pic>
        <p:nvPicPr>
          <p:cNvPr id="4" name="Picture 3" descr="d75_f1.png"/>
          <p:cNvPicPr>
            <a:picLocks noChangeAspect="1"/>
          </p:cNvPicPr>
          <p:nvPr/>
        </p:nvPicPr>
        <p:blipFill>
          <a:blip r:embed="rId2"/>
          <a:stretch>
            <a:fillRect/>
          </a:stretch>
        </p:blipFill>
        <p:spPr>
          <a:xfrm>
            <a:off x="7631555" y="1280160"/>
            <a:ext cx="2774342"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1. Responses of ultraviolet, green and ultraviolet–green cells.</a:t>
            </a:r>
          </a:p>
        </p:txBody>
      </p:sp>
      <p:pic>
        <p:nvPicPr>
          <p:cNvPr id="6" name="Picture 5" descr="d75_f2.png"/>
          <p:cNvPicPr>
            <a:picLocks noChangeAspect="1"/>
          </p:cNvPicPr>
          <p:nvPr/>
        </p:nvPicPr>
        <p:blipFill>
          <a:blip r:embed="rId3"/>
          <a:stretch>
            <a:fillRect/>
          </a:stretch>
        </p:blipFill>
        <p:spPr>
          <a:xfrm>
            <a:off x="8123390" y="4251960"/>
            <a:ext cx="179067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2. Dual-peaked sensitivity differs from the separate receptor classes.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Green pigment occupies both deeper retinal layers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1" i="0">
                <a:solidFill>
                  <a:srgbClr val="3C5268"/>
                </a:solidFill>
                <a:latin typeface="Arial"/>
              </a:rPr>
              <a:t>Immunolabeling</a:t>
            </a:r>
            <a:r>
              <a:rPr sz="1450" b="0" i="0">
                <a:solidFill>
                  <a:srgbClr val="252B32"/>
                </a:solidFill>
                <a:latin typeface="Arial"/>
              </a:rPr>
              <a:t> uses antibodies to identify the location of a molecular target in tissue. Nagata and colleagues combined principal-eye pigment expression measurements with antibody labeling in </a:t>
            </a:r>
            <a:r>
              <a:rPr sz="1450" b="0" i="1">
                <a:solidFill>
                  <a:srgbClr val="252B32"/>
                </a:solidFill>
                <a:latin typeface="Arial"/>
              </a:rPr>
              <a:t>Hasarius adansoni</a:t>
            </a:r>
            <a:r>
              <a:rPr sz="1450" b="0" i="0">
                <a:solidFill>
                  <a:srgbClr val="252B32"/>
                </a:solidFill>
                <a:latin typeface="Arial"/>
              </a:rPr>
              <a:t> to connect spectral identity with retinal depth.</a:t>
            </a:r>
          </a:p>
          <a:p>
            <a:pPr algn="l">
              <a:lnSpc>
                <a:spcPct val="108000"/>
              </a:lnSpc>
              <a:spcAft>
                <a:spcPts val="960"/>
              </a:spcAft>
            </a:pPr>
            <a:r>
              <a:rPr sz="1450" b="0" i="0">
                <a:solidFill>
                  <a:srgbClr val="252B32"/>
                </a:solidFill>
                <a:latin typeface="Arial"/>
              </a:rPr>
              <a:t>Green-sensitive Rh1 was present through L1 and L2, while ultraviolet-sensitive Rh3 occurred in L3 and L4. The blue-sensitive pigment Rh2 was not detected in the principal-eye expression assay under the tested conditions. Rh1's purified absorption peak was approximately 535 nm.</a:t>
            </a:r>
          </a:p>
          <a:p>
            <a:pPr algn="l">
              <a:lnSpc>
                <a:spcPct val="108000"/>
              </a:lnSpc>
              <a:spcAft>
                <a:spcPts val="960"/>
              </a:spcAft>
            </a:pPr>
            <a:r>
              <a:rPr sz="1450" b="0" i="0">
                <a:solidFill>
                  <a:srgbClr val="252B32"/>
                </a:solidFill>
                <a:latin typeface="Arial"/>
              </a:rPr>
              <a:t>L2 therefore contains green-sensitive receptors even though green images are not sharply focused there. This arrangement makes green-image blur biologically available. The green-sensitive pigment spans the two deeper layers and the ultraviolet-sensitive pigment occupies the upper layers, so a simple assignment of one color to one depth does not hold: a green-sensitive receptor can receive a blurred green image, and optical sharpness can carry information independently of the pigment's wavelength preference.</a:t>
            </a:r>
          </a:p>
        </p:txBody>
      </p:sp>
      <p:pic>
        <p:nvPicPr>
          <p:cNvPr id="4" name="Picture 3" descr="n12_f2.png"/>
          <p:cNvPicPr>
            <a:picLocks noChangeAspect="1"/>
          </p:cNvPicPr>
          <p:nvPr/>
        </p:nvPicPr>
        <p:blipFill>
          <a:blip r:embed="rId2"/>
          <a:stretch>
            <a:fillRect/>
          </a:stretch>
        </p:blipFill>
        <p:spPr>
          <a:xfrm>
            <a:off x="6412687" y="1280160"/>
            <a:ext cx="5212080" cy="1544139"/>
          </a:xfrm>
          <a:prstGeom prst="rect">
            <a:avLst/>
          </a:prstGeom>
        </p:spPr>
      </p:pic>
      <p:sp>
        <p:nvSpPr>
          <p:cNvPr id="5" name="Figure caption"/>
          <p:cNvSpPr txBox="1"/>
          <p:nvPr/>
        </p:nvSpPr>
        <p:spPr>
          <a:xfrm>
            <a:off x="6412687" y="291573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2(A–C). Rh1 in L1/L2 and ultraviolet-sensitive Rh3 in L3/L4.</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One principal eye can support accurate prey jumps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3C5268"/>
                </a:solidFill>
                <a:latin typeface="Arial"/>
              </a:rPr>
              <a:t>Stereopsis</a:t>
            </a:r>
            <a:r>
              <a:rPr sz="1500" b="0" i="0">
                <a:solidFill>
                  <a:srgbClr val="252B32"/>
                </a:solidFill>
                <a:latin typeface="Arial"/>
              </a:rPr>
              <a:t> estimates depth from differences between the views of two eyes. Nagata and colleagues tested whether two principal-eye views were necessary for accurate prey-directed jumps in </a:t>
            </a:r>
            <a:r>
              <a:rPr sz="1500" b="0" i="1">
                <a:solidFill>
                  <a:srgbClr val="252B32"/>
                </a:solidFill>
                <a:latin typeface="Arial"/>
              </a:rPr>
              <a:t>Hasarius adansoni</a:t>
            </a:r>
            <a:r>
              <a:rPr sz="1500" b="0" i="0">
                <a:solidFill>
                  <a:srgbClr val="252B32"/>
                </a:solidFill>
                <a:latin typeface="Arial"/>
              </a:rPr>
              <a:t>.</a:t>
            </a:r>
          </a:p>
          <a:p>
            <a:pPr algn="l">
              <a:lnSpc>
                <a:spcPct val="108000"/>
              </a:lnSpc>
              <a:spcAft>
                <a:spcPts val="960"/>
              </a:spcAft>
            </a:pPr>
            <a:r>
              <a:rPr sz="1500" b="0" i="0">
                <a:solidFill>
                  <a:srgbClr val="252B32"/>
                </a:solidFill>
                <a:latin typeface="Arial"/>
              </a:rPr>
              <a:t>They covered both anterior lateral eyes and one principal eye, leaving a single principal eye available. Spiders still jumped accurately toward prey over the tested distances. Hunting observations also found no movement that would supply the proposed motion-parallax cue before these jumps.</a:t>
            </a:r>
          </a:p>
          <a:p>
            <a:pPr algn="l">
              <a:lnSpc>
                <a:spcPct val="108000"/>
              </a:lnSpc>
              <a:spcAft>
                <a:spcPts val="960"/>
              </a:spcAft>
            </a:pPr>
            <a:r>
              <a:rPr sz="1500" b="0" i="0">
                <a:solidFill>
                  <a:srgbClr val="252B32"/>
                </a:solidFill>
                <a:latin typeface="Arial"/>
              </a:rPr>
              <a:t>Motion parallax is image displacement related to movement of the observer through space. Accurate performance with one principal eye weakens a requirement for binocular comparison in this preparation. Jump distance remained closely related to prey distance, and the hunting observations found no movement before the jump that would generate useful motion parallax, which narrows the plausible cues to monocular ones such as image focus.</a:t>
            </a:r>
          </a:p>
        </p:txBody>
      </p:sp>
      <p:pic>
        <p:nvPicPr>
          <p:cNvPr id="4" name="Picture 3" descr="n12_f1.png"/>
          <p:cNvPicPr>
            <a:picLocks noChangeAspect="1"/>
          </p:cNvPicPr>
          <p:nvPr/>
        </p:nvPicPr>
        <p:blipFill>
          <a:blip r:embed="rId2"/>
          <a:stretch>
            <a:fillRect/>
          </a:stretch>
        </p:blipFill>
        <p:spPr>
          <a:xfrm>
            <a:off x="6412687" y="1280160"/>
            <a:ext cx="5212080" cy="3517617"/>
          </a:xfrm>
          <a:prstGeom prst="rect">
            <a:avLst/>
          </a:prstGeom>
        </p:spPr>
      </p:pic>
      <p:sp>
        <p:nvSpPr>
          <p:cNvPr id="5" name="Figure caption"/>
          <p:cNvSpPr txBox="1"/>
          <p:nvPr/>
        </p:nvSpPr>
        <p:spPr>
          <a:xfrm>
            <a:off x="6412687" y="48892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1(A–D). Eye occlusion and measured jump distance.</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Red illumination makes prey jumps too short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Nagata and colleagues compared </a:t>
            </a:r>
            <a:r>
              <a:rPr sz="1500" b="0" i="1">
                <a:solidFill>
                  <a:srgbClr val="252B32"/>
                </a:solidFill>
                <a:latin typeface="Arial"/>
              </a:rPr>
              <a:t>Hasarius adansoni</a:t>
            </a:r>
            <a:r>
              <a:rPr sz="1500" b="0" i="0">
                <a:solidFill>
                  <a:srgbClr val="252B32"/>
                </a:solidFill>
                <a:latin typeface="Arial"/>
              </a:rPr>
              <a:t> jumping under approximately 520-nm green light and 630-nm red light. Wavelength changed the eye's optical focus while the experimenters measured the actual spider-to-prey distance and the ensuing jump.</a:t>
            </a:r>
          </a:p>
          <a:p>
            <a:pPr algn="l">
              <a:lnSpc>
                <a:spcPct val="108000"/>
              </a:lnSpc>
              <a:spcAft>
                <a:spcPts val="960"/>
              </a:spcAft>
            </a:pPr>
            <a:r>
              <a:rPr sz="1500" b="0" i="0">
                <a:solidFill>
                  <a:srgbClr val="252B32"/>
                </a:solidFill>
                <a:latin typeface="Arial"/>
              </a:rPr>
              <a:t>Under green illumination, the average jump-to-target-distance ratio was approximately 1.0. Under the initial red condition it was approximately 0.90: spiders usually jumped short of the target. The recorded distances extended across the centimeter-scale hunting range.</a:t>
            </a:r>
          </a:p>
          <a:p>
            <a:pPr algn="l">
              <a:lnSpc>
                <a:spcPct val="108000"/>
              </a:lnSpc>
              <a:spcAft>
                <a:spcPts val="960"/>
              </a:spcAft>
            </a:pPr>
            <a:r>
              <a:rPr sz="1500" b="0" i="0">
                <a:solidFill>
                  <a:srgbClr val="252B32"/>
                </a:solidFill>
                <a:latin typeface="Arial"/>
              </a:rPr>
              <a:t>A wavelength-dependent motor error supports a visual distance estimate affected by chromatic defocus. Red illumination changes optical focus as well as pigment stimulation, and the shortening of the jump agrees with the direction predicted if the spider interprets increased blur using a relationship appropriate to green light. Green-sensitive Rh1 can still absorb red light, less efficiently, because a pigment's sensitivity extends beyond its peak.</a:t>
            </a:r>
          </a:p>
        </p:txBody>
      </p:sp>
      <p:pic>
        <p:nvPicPr>
          <p:cNvPr id="4" name="Picture 3" descr="n12_f3bc.png"/>
          <p:cNvPicPr>
            <a:picLocks noChangeAspect="1"/>
          </p:cNvPicPr>
          <p:nvPr/>
        </p:nvPicPr>
        <p:blipFill>
          <a:blip r:embed="rId2"/>
          <a:stretch>
            <a:fillRect/>
          </a:stretch>
        </p:blipFill>
        <p:spPr>
          <a:xfrm>
            <a:off x="6412687" y="1280160"/>
            <a:ext cx="5212080" cy="2944741"/>
          </a:xfrm>
          <a:prstGeom prst="rect">
            <a:avLst/>
          </a:prstGeom>
        </p:spPr>
      </p:pic>
      <p:sp>
        <p:nvSpPr>
          <p:cNvPr id="5" name="Figure caption"/>
          <p:cNvSpPr txBox="1"/>
          <p:nvPr/>
        </p:nvSpPr>
        <p:spPr>
          <a:xfrm>
            <a:off x="6412687" y="4316341"/>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3(B, C). Measured jump distances under green and red light.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brighter red control preserves the distance error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Changing wavelength also changes the effectiveness of light at activating a visual pigment. Nagata and colleagues adjusted the initial green and red conditions to stimulate purified Rh1 with comparable efficiency, then increased the red intensity sixfold as an additional control.</a:t>
            </a:r>
          </a:p>
          <a:p>
            <a:pPr algn="l">
              <a:lnSpc>
                <a:spcPct val="108000"/>
              </a:lnSpc>
              <a:spcAft>
                <a:spcPts val="960"/>
              </a:spcAft>
            </a:pPr>
            <a:r>
              <a:rPr sz="1600" b="0" i="0">
                <a:solidFill>
                  <a:srgbClr val="252B32"/>
                </a:solidFill>
                <a:latin typeface="Arial"/>
              </a:rPr>
              <a:t>The jump-to-target-distance ratio remained approximately 0.89 under the brighter red condition, close to the approximately 0.90 ratio in the initial red condition. Greater red intensity therefore did not restore the green-light accuracy.</a:t>
            </a:r>
          </a:p>
          <a:p>
            <a:pPr algn="l">
              <a:lnSpc>
                <a:spcPct val="108000"/>
              </a:lnSpc>
              <a:spcAft>
                <a:spcPts val="960"/>
              </a:spcAft>
            </a:pPr>
            <a:r>
              <a:rPr sz="1600" b="0" i="0">
                <a:solidFill>
                  <a:srgbClr val="252B32"/>
                </a:solidFill>
                <a:latin typeface="Arial"/>
              </a:rPr>
              <a:t>This control argues against reduced photon capture as a sufficient explanation of the short jumps. It supports a wavelength-dependent optical contribution. Raising the red intensity sixfold left the direction and approximate magnitude of the error intact, so a reduction in effective brightness is inadequate to explain the wavelength effect.</a:t>
            </a:r>
          </a:p>
        </p:txBody>
      </p:sp>
      <p:pic>
        <p:nvPicPr>
          <p:cNvPr id="4" name="Picture 3" descr="n12_f3bc.png"/>
          <p:cNvPicPr>
            <a:picLocks noChangeAspect="1"/>
          </p:cNvPicPr>
          <p:nvPr/>
        </p:nvPicPr>
        <p:blipFill>
          <a:blip r:embed="rId2"/>
          <a:stretch>
            <a:fillRect/>
          </a:stretch>
        </p:blipFill>
        <p:spPr>
          <a:xfrm>
            <a:off x="6412687" y="1280160"/>
            <a:ext cx="5212080" cy="2944741"/>
          </a:xfrm>
          <a:prstGeom prst="rect">
            <a:avLst/>
          </a:prstGeom>
        </p:spPr>
      </p:pic>
      <p:sp>
        <p:nvSpPr>
          <p:cNvPr id="5" name="Figure caption"/>
          <p:cNvSpPr txBox="1"/>
          <p:nvPr/>
        </p:nvSpPr>
        <p:spPr>
          <a:xfrm>
            <a:off x="6412687" y="4316341"/>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3(B, C). A sixfold red-light increase does not remove undershooting.</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Defocused images provide a candidate distance signal</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An image's blur changes with object distance when its receptor layer lies away from the sharp-image plane. Nagata and colleagues proposed that the amount of green-image defocus in L2 supplies an absolute distance cue in </a:t>
            </a:r>
            <a:r>
              <a:rPr sz="1600" b="0" i="1">
                <a:solidFill>
                  <a:srgbClr val="252B32"/>
                </a:solidFill>
                <a:latin typeface="Arial"/>
              </a:rPr>
              <a:t>Hasarius adansoni</a:t>
            </a:r>
            <a:r>
              <a:rPr sz="1600" b="0" i="0">
                <a:solidFill>
                  <a:srgbClr val="252B32"/>
                </a:solidFill>
                <a:latin typeface="Arial"/>
              </a:rPr>
              <a:t>.</a:t>
            </a:r>
          </a:p>
          <a:p>
            <a:pPr algn="l">
              <a:lnSpc>
                <a:spcPct val="108000"/>
              </a:lnSpc>
              <a:spcAft>
                <a:spcPts val="960"/>
              </a:spcAft>
            </a:pPr>
            <a:r>
              <a:rPr sz="1600" b="0" i="0">
                <a:solidFill>
                  <a:srgbClr val="252B32"/>
                </a:solidFill>
                <a:latin typeface="Arial"/>
              </a:rPr>
              <a:t>Red light has a longer focal length in the measured optical system. Its additional blur would be interpreted as a closer target if the spider applies a green-calibrated relationship. The authors' optical predictions agreed with the direction of the observed red-light undershooting.</a:t>
            </a:r>
          </a:p>
          <a:p>
            <a:pPr algn="l">
              <a:lnSpc>
                <a:spcPct val="108000"/>
              </a:lnSpc>
              <a:spcAft>
                <a:spcPts val="960"/>
              </a:spcAft>
            </a:pPr>
            <a:r>
              <a:rPr sz="1600" b="0" i="0">
                <a:solidFill>
                  <a:srgbClr val="252B32"/>
                </a:solidFill>
                <a:latin typeface="Arial"/>
              </a:rPr>
              <a:t>Comparing a sharper L1 image with a defocused L2 image was proposed as one possible implementation. Blur depends on both object distance and the position of the receptor layer relative to focus, so a fixed optical system converts distance into a measurable property of the retinal image. The anatomical layers, wavelength manipulation and jump measurements support the cue.</a:t>
            </a:r>
          </a:p>
        </p:txBody>
      </p:sp>
      <p:pic>
        <p:nvPicPr>
          <p:cNvPr id="4" name="Picture 3" descr="n12_f1.png"/>
          <p:cNvPicPr>
            <a:picLocks noChangeAspect="1"/>
          </p:cNvPicPr>
          <p:nvPr/>
        </p:nvPicPr>
        <p:blipFill>
          <a:blip r:embed="rId2"/>
          <a:stretch>
            <a:fillRect/>
          </a:stretch>
        </p:blipFill>
        <p:spPr>
          <a:xfrm>
            <a:off x="7223520" y="1280160"/>
            <a:ext cx="3590413"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1(A–D). Retinal depths and the authors’ proposed defocus mechanism.</a:t>
            </a:r>
          </a:p>
        </p:txBody>
      </p:sp>
      <p:pic>
        <p:nvPicPr>
          <p:cNvPr id="6" name="Picture 5" descr="n12_f3bc.png"/>
          <p:cNvPicPr>
            <a:picLocks noChangeAspect="1"/>
          </p:cNvPicPr>
          <p:nvPr/>
        </p:nvPicPr>
        <p:blipFill>
          <a:blip r:embed="rId3"/>
          <a:stretch>
            <a:fillRect/>
          </a:stretch>
        </p:blipFill>
        <p:spPr>
          <a:xfrm>
            <a:off x="7683503" y="4251960"/>
            <a:ext cx="2670447"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3(B, C). Published optical predictions alongside jump measurements.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retinal filter shifts green sensitivity toward red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a:t>
            </a:r>
            <a:r>
              <a:rPr sz="1600" b="1" i="0">
                <a:solidFill>
                  <a:srgbClr val="3C5268"/>
                </a:solidFill>
                <a:latin typeface="Arial"/>
              </a:rPr>
              <a:t>spectral filter</a:t>
            </a:r>
            <a:r>
              <a:rPr sz="1600" b="0" i="0">
                <a:solidFill>
                  <a:srgbClr val="252B32"/>
                </a:solidFill>
                <a:latin typeface="Arial"/>
              </a:rPr>
              <a:t> changes which wavelengths reach a receptor by absorbing some more strongly than others. Zurek and colleagues identified a red, long-pass filter in part of the principal-eye retina of </a:t>
            </a:r>
            <a:r>
              <a:rPr sz="1600" b="0" i="1">
                <a:solidFill>
                  <a:srgbClr val="252B32"/>
                </a:solidFill>
                <a:latin typeface="Arial"/>
              </a:rPr>
              <a:t>Habronattus pyrrithrix</a:t>
            </a:r>
            <a:r>
              <a:rPr sz="1600" b="0" i="0">
                <a:solidFill>
                  <a:srgbClr val="252B32"/>
                </a:solidFill>
                <a:latin typeface="Arial"/>
              </a:rPr>
              <a:t>. A long-pass filter preferentially transmits longer wavelengths.</a:t>
            </a:r>
          </a:p>
          <a:p>
            <a:pPr algn="l">
              <a:lnSpc>
                <a:spcPct val="108000"/>
              </a:lnSpc>
              <a:spcAft>
                <a:spcPts val="960"/>
              </a:spcAft>
            </a:pPr>
            <a:r>
              <a:rPr sz="1600" b="0" i="0">
                <a:solidFill>
                  <a:srgbClr val="252B32"/>
                </a:solidFill>
                <a:latin typeface="Arial"/>
              </a:rPr>
              <a:t>The species has measured pigment peaks near 377 nm and 530 nm. Combining the green pigment's sensitivity with the measured filter transmission predicts a shifted sensitivity peak near 626 nm in filtered receptors, without requiring a third red-peaking opsin.</a:t>
            </a:r>
          </a:p>
          <a:p>
            <a:pPr algn="l">
              <a:lnSpc>
                <a:spcPct val="108000"/>
              </a:lnSpc>
              <a:spcAft>
                <a:spcPts val="960"/>
              </a:spcAft>
            </a:pPr>
            <a:r>
              <a:rPr sz="1600" b="0" i="0">
                <a:solidFill>
                  <a:srgbClr val="252B32"/>
                </a:solidFill>
                <a:latin typeface="Arial"/>
              </a:rPr>
              <a:t>The filter supplies a physical route to an additional spectral channel. The predicted red curve combines the measured pigment properties with the filter's measured spectral transmission and peaks near 626 nm, so an additional effective spectral channel arises from filtering an existing pigment class instead of from an additional opsin.</a:t>
            </a:r>
          </a:p>
        </p:txBody>
      </p:sp>
      <p:pic>
        <p:nvPicPr>
          <p:cNvPr id="4" name="Picture 3" descr="z15_f1bc.png"/>
          <p:cNvPicPr>
            <a:picLocks noChangeAspect="1"/>
          </p:cNvPicPr>
          <p:nvPr/>
        </p:nvPicPr>
        <p:blipFill>
          <a:blip r:embed="rId2"/>
          <a:stretch>
            <a:fillRect/>
          </a:stretch>
        </p:blipFill>
        <p:spPr>
          <a:xfrm>
            <a:off x="6871279" y="1280160"/>
            <a:ext cx="42948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1(B, C). A localized red filter in the principal retina.</a:t>
            </a:r>
          </a:p>
        </p:txBody>
      </p:sp>
      <p:pic>
        <p:nvPicPr>
          <p:cNvPr id="6" name="Picture 5" descr="z15_f1ghi.png"/>
          <p:cNvPicPr>
            <a:picLocks noChangeAspect="1"/>
          </p:cNvPicPr>
          <p:nvPr/>
        </p:nvPicPr>
        <p:blipFill>
          <a:blip r:embed="rId3"/>
          <a:stretch>
            <a:fillRect/>
          </a:stretch>
        </p:blipFill>
        <p:spPr>
          <a:xfrm>
            <a:off x="6982549" y="4251960"/>
            <a:ext cx="407235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1(G–I). Measured spectra and predicted filtered sensitivity.</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The filter covers a restricted high-acuity region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The red filter of </a:t>
            </a:r>
            <a:r>
              <a:rPr sz="1600" b="0" i="1">
                <a:solidFill>
                  <a:srgbClr val="252B32"/>
                </a:solidFill>
                <a:latin typeface="Arial"/>
              </a:rPr>
              <a:t>Habronattus pyrrithrix</a:t>
            </a:r>
            <a:r>
              <a:rPr sz="1600" b="0" i="0">
                <a:solidFill>
                  <a:srgbClr val="252B32"/>
                </a:solidFill>
                <a:latin typeface="Arial"/>
              </a:rPr>
              <a:t> is localized rather than spread across the entire principal retina. Unstained tissue sections retained the filter's native color, allowing its position to be compared with the receptor layers.</a:t>
            </a:r>
          </a:p>
          <a:p>
            <a:pPr algn="l">
              <a:lnSpc>
                <a:spcPct val="108000"/>
              </a:lnSpc>
              <a:spcAft>
                <a:spcPts val="960"/>
              </a:spcAft>
            </a:pPr>
            <a:r>
              <a:rPr sz="1600" b="0" i="0">
                <a:solidFill>
                  <a:srgbClr val="252B32"/>
                </a:solidFill>
                <a:latin typeface="Arial"/>
              </a:rPr>
              <a:t>The colored region lies in a restricted central portion associated with L1 receptors. The published horizontal and coronal preparations used 14-µm sections; the layered retinal panels include 20-µm scale bars. This spatial arrangement permits filtered and unfiltered receptor populations within the same eye.</a:t>
            </a:r>
          </a:p>
          <a:p>
            <a:pPr algn="l">
              <a:lnSpc>
                <a:spcPct val="108000"/>
              </a:lnSpc>
              <a:spcAft>
                <a:spcPts val="960"/>
              </a:spcAft>
            </a:pPr>
            <a:r>
              <a:rPr sz="1600" b="0" i="0">
                <a:solidFill>
                  <a:srgbClr val="252B32"/>
                </a:solidFill>
                <a:latin typeface="Arial"/>
              </a:rPr>
              <a:t>Filter localization makes spectral sampling depend on target alignment with a small retinal region. The authors found the feature in both sexes and other sampled </a:t>
            </a:r>
            <a:r>
              <a:rPr sz="1600" b="0" i="1">
                <a:solidFill>
                  <a:srgbClr val="252B32"/>
                </a:solidFill>
                <a:latin typeface="Arial"/>
              </a:rPr>
              <a:t>Habronattus</a:t>
            </a:r>
            <a:r>
              <a:rPr sz="1600" b="0" i="0">
                <a:solidFill>
                  <a:srgbClr val="252B32"/>
                </a:solidFill>
                <a:latin typeface="Arial"/>
              </a:rPr>
              <a:t> species, while sampled </a:t>
            </a:r>
            <a:r>
              <a:rPr sz="1600" b="0" i="1">
                <a:solidFill>
                  <a:srgbClr val="252B32"/>
                </a:solidFill>
                <a:latin typeface="Arial"/>
              </a:rPr>
              <a:t>Salticus</a:t>
            </a:r>
            <a:r>
              <a:rPr sz="1600" b="0" i="0">
                <a:solidFill>
                  <a:srgbClr val="252B32"/>
                </a:solidFill>
                <a:latin typeface="Arial"/>
              </a:rPr>
              <a:t> and </a:t>
            </a:r>
            <a:r>
              <a:rPr sz="1600" b="0" i="1">
                <a:solidFill>
                  <a:srgbClr val="252B32"/>
                </a:solidFill>
                <a:latin typeface="Arial"/>
              </a:rPr>
              <a:t>Phidippus</a:t>
            </a:r>
            <a:r>
              <a:rPr sz="1600" b="0" i="0">
                <a:solidFill>
                  <a:srgbClr val="252B32"/>
                </a:solidFill>
                <a:latin typeface="Arial"/>
              </a:rPr>
              <a:t> lacked it. These comparisons identify a lineage-associated specialization rather than a universal salticid design.</a:t>
            </a:r>
          </a:p>
        </p:txBody>
      </p:sp>
      <p:pic>
        <p:nvPicPr>
          <p:cNvPr id="4" name="Picture 3" descr="z15_f1de.png"/>
          <p:cNvPicPr>
            <a:picLocks noChangeAspect="1"/>
          </p:cNvPicPr>
          <p:nvPr/>
        </p:nvPicPr>
        <p:blipFill>
          <a:blip r:embed="rId2"/>
          <a:stretch>
            <a:fillRect/>
          </a:stretch>
        </p:blipFill>
        <p:spPr>
          <a:xfrm>
            <a:off x="6412687" y="1280160"/>
            <a:ext cx="5212080" cy="3524886"/>
          </a:xfrm>
          <a:prstGeom prst="rect">
            <a:avLst/>
          </a:prstGeom>
        </p:spPr>
      </p:pic>
      <p:sp>
        <p:nvSpPr>
          <p:cNvPr id="5" name="Figure caption"/>
          <p:cNvSpPr txBox="1"/>
          <p:nvPr/>
        </p:nvSpPr>
        <p:spPr>
          <a:xfrm>
            <a:off x="6412687" y="489648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1(D, E). Layered retina and the restricted red-filter region.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Filtering trades photon capture for spectral separation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3C5268"/>
                </a:solidFill>
                <a:latin typeface="Arial"/>
              </a:rPr>
              <a:t>Trichromacy</a:t>
            </a:r>
            <a:r>
              <a:rPr sz="1500" b="0" i="0">
                <a:solidFill>
                  <a:srgbClr val="252B32"/>
                </a:solidFill>
                <a:latin typeface="Arial"/>
              </a:rPr>
              <a:t> requires three functionally distinguishable spectral channels, rather than three differently colored structures. Zurek and colleagues proposed ultraviolet, unfiltered green and filtered red channels for </a:t>
            </a:r>
            <a:r>
              <a:rPr sz="1500" b="0" i="1">
                <a:solidFill>
                  <a:srgbClr val="252B32"/>
                </a:solidFill>
                <a:latin typeface="Arial"/>
              </a:rPr>
              <a:t>Habronattus pyrrithrix</a:t>
            </a:r>
            <a:r>
              <a:rPr sz="1500" b="0" i="0">
                <a:solidFill>
                  <a:srgbClr val="252B32"/>
                </a:solidFill>
                <a:latin typeface="Arial"/>
              </a:rPr>
              <a:t> from pigment and filter measurements.</a:t>
            </a:r>
          </a:p>
          <a:p>
            <a:pPr algn="l">
              <a:lnSpc>
                <a:spcPct val="108000"/>
              </a:lnSpc>
              <a:spcAft>
                <a:spcPts val="900"/>
              </a:spcAft>
            </a:pPr>
            <a:r>
              <a:rPr sz="1500" b="0" i="0">
                <a:solidFill>
                  <a:srgbClr val="252B32"/>
                </a:solidFill>
                <a:latin typeface="Arial"/>
              </a:rPr>
              <a:t>The predicted green and red sensitivities separate because the filter removes much of the light otherwise absorbed by the green pigment. The same absorption that shifts sensitivity also reduces available photons, creating a potential cost under dim illumination.</a:t>
            </a:r>
          </a:p>
          <a:p>
            <a:pPr algn="l">
              <a:lnSpc>
                <a:spcPct val="108000"/>
              </a:lnSpc>
              <a:spcAft>
                <a:spcPts val="900"/>
              </a:spcAft>
            </a:pPr>
            <a:r>
              <a:rPr sz="1500" b="0" i="0">
                <a:solidFill>
                  <a:srgbClr val="252B32"/>
                </a:solidFill>
                <a:latin typeface="Arial"/>
              </a:rPr>
              <a:t>The paper establishes the optical mechanism and its spectral potential. A third effective receptor sensitivity can be produced by filtering an existing pigment class, so trichromatic potential does not require three different opsin proteins. Absorbing short wavelengths improves spectral separation but leaves fewer photons available to the filtered receptors, a cost under dim illumination that follows from the optical properties.</a:t>
            </a:r>
          </a:p>
        </p:txBody>
      </p:sp>
      <p:pic>
        <p:nvPicPr>
          <p:cNvPr id="4" name="Picture 3" descr="z15_f1ghi.png"/>
          <p:cNvPicPr>
            <a:picLocks noChangeAspect="1"/>
          </p:cNvPicPr>
          <p:nvPr/>
        </p:nvPicPr>
        <p:blipFill>
          <a:blip r:embed="rId2"/>
          <a:stretch>
            <a:fillRect/>
          </a:stretch>
        </p:blipFill>
        <p:spPr>
          <a:xfrm>
            <a:off x="6412687" y="1280160"/>
            <a:ext cx="5212080" cy="1931014"/>
          </a:xfrm>
          <a:prstGeom prst="rect">
            <a:avLst/>
          </a:prstGeom>
        </p:spPr>
      </p:pic>
      <p:sp>
        <p:nvSpPr>
          <p:cNvPr id="5" name="Figure caption"/>
          <p:cNvSpPr txBox="1"/>
          <p:nvPr/>
        </p:nvSpPr>
        <p:spPr>
          <a:xfrm>
            <a:off x="6412687" y="3302614"/>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1(G–I). Filter absorbance, transmission and predicted receptor channels.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Six muscles reposition the principal-eye retina</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The principal-eye retina is moved by muscles attached to its optical tube. Land's dissections in </a:t>
            </a:r>
            <a:r>
              <a:rPr sz="1600" b="0" i="1">
                <a:solidFill>
                  <a:srgbClr val="252B32"/>
                </a:solidFill>
                <a:latin typeface="Arial"/>
              </a:rPr>
              <a:t>Metaphidippus</a:t>
            </a:r>
            <a:r>
              <a:rPr sz="1600" b="0" i="0">
                <a:solidFill>
                  <a:srgbClr val="252B32"/>
                </a:solidFill>
                <a:latin typeface="Arial"/>
              </a:rPr>
              <a:t> identified six muscles associated with each principal eye, providing a mechanical basis for internal eye movements behind a fixed external lens.</a:t>
            </a:r>
          </a:p>
          <a:p>
            <a:pPr algn="l">
              <a:lnSpc>
                <a:spcPct val="108000"/>
              </a:lnSpc>
              <a:spcAft>
                <a:spcPts val="960"/>
              </a:spcAft>
            </a:pPr>
            <a:r>
              <a:rPr sz="1600" b="0" i="0">
                <a:solidFill>
                  <a:srgbClr val="252B32"/>
                </a:solidFill>
                <a:latin typeface="Arial"/>
              </a:rPr>
              <a:t>Four muscles displace the retinal assembly in horizontal or vertical directions. Two thinner bands curve around the tube and can rotate it about its viewing axis. </a:t>
            </a:r>
            <a:r>
              <a:rPr sz="1600" b="1" i="0">
                <a:solidFill>
                  <a:srgbClr val="3C5268"/>
                </a:solidFill>
                <a:latin typeface="Arial"/>
              </a:rPr>
              <a:t>Torsion</a:t>
            </a:r>
            <a:r>
              <a:rPr sz="1600" b="0" i="0">
                <a:solidFill>
                  <a:srgbClr val="252B32"/>
                </a:solidFill>
                <a:latin typeface="Arial"/>
              </a:rPr>
              <a:t> is this rotation around the optical axis, distinct from shifting the direction of gaze.</a:t>
            </a:r>
          </a:p>
          <a:p>
            <a:pPr algn="l">
              <a:lnSpc>
                <a:spcPct val="108000"/>
              </a:lnSpc>
              <a:spcAft>
                <a:spcPts val="960"/>
              </a:spcAft>
            </a:pPr>
            <a:r>
              <a:rPr sz="1600" b="0" i="0">
                <a:solidFill>
                  <a:srgbClr val="252B32"/>
                </a:solidFill>
                <a:latin typeface="Arial"/>
              </a:rPr>
              <a:t>The muscle arrangement makes translation and rotation physically possible. Muscles acting on the retinal tube move the sampled image without a conspicuous rotation of the external eye, with four displacing muscles producing horizontal or vertical shifts of the sampled direction and the two wrapping bands rotating the retina and changing the orientation of its receptor rows relative to a target.</a:t>
            </a:r>
          </a:p>
        </p:txBody>
      </p:sp>
      <p:pic>
        <p:nvPicPr>
          <p:cNvPr id="4" name="Picture 3" descr="b69_f2.png"/>
          <p:cNvPicPr>
            <a:picLocks noChangeAspect="1"/>
          </p:cNvPicPr>
          <p:nvPr/>
        </p:nvPicPr>
        <p:blipFill>
          <a:blip r:embed="rId2"/>
          <a:stretch>
            <a:fillRect/>
          </a:stretch>
        </p:blipFill>
        <p:spPr>
          <a:xfrm>
            <a:off x="7037510" y="1280160"/>
            <a:ext cx="396243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2. Six principal-eye muscles around the movable retinal tube.</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Six motor axons connect to the eye muscles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a:t>
            </a:r>
            <a:r>
              <a:rPr sz="1600" b="1" i="0">
                <a:solidFill>
                  <a:srgbClr val="3C5268"/>
                </a:solidFill>
                <a:latin typeface="Arial"/>
              </a:rPr>
              <a:t>motor axon</a:t>
            </a:r>
            <a:r>
              <a:rPr sz="1600" b="0" i="0">
                <a:solidFill>
                  <a:srgbClr val="252B32"/>
                </a:solidFill>
                <a:latin typeface="Arial"/>
              </a:rPr>
              <a:t> carries neuronal output to a muscle. Land traced an oculomotor nerve containing six axons toward the six principal-eye muscles, linking the movable retinal tube to a dedicated motor supply.</a:t>
            </a:r>
          </a:p>
          <a:p>
            <a:pPr algn="l">
              <a:lnSpc>
                <a:spcPct val="108000"/>
              </a:lnSpc>
              <a:spcAft>
                <a:spcPts val="960"/>
              </a:spcAft>
            </a:pPr>
            <a:r>
              <a:rPr sz="1600" b="0" i="0">
                <a:solidFill>
                  <a:srgbClr val="252B32"/>
                </a:solidFill>
                <a:latin typeface="Arial"/>
              </a:rPr>
              <a:t>Histological tracing associated each axon with one muscle. The nerve and muscle arrangement separates the anatomical route for controlling retinal displacement from the photoreceptor fibers carrying sensory input toward the first optic glomerulus.</a:t>
            </a:r>
          </a:p>
          <a:p>
            <a:pPr algn="l">
              <a:lnSpc>
                <a:spcPct val="108000"/>
              </a:lnSpc>
              <a:spcAft>
                <a:spcPts val="960"/>
              </a:spcAft>
            </a:pPr>
            <a:r>
              <a:rPr sz="1600" b="0" i="0">
                <a:solidFill>
                  <a:srgbClr val="252B32"/>
                </a:solidFill>
                <a:latin typeface="Arial"/>
              </a:rPr>
              <a:t>Six axons could be traced to the six muscles, which identifies the final motor supply to the movable retinal tube. Sensory axons carry information inward from the retina, whereas motor axons deliver commands to the muscles that move it, and Land distinguished these routes anatomically instead of treating every fiber beside the eye as sensory.</a:t>
            </a:r>
          </a:p>
        </p:txBody>
      </p:sp>
      <p:pic>
        <p:nvPicPr>
          <p:cNvPr id="4" name="Picture 3" descr="b69_f4.png"/>
          <p:cNvPicPr>
            <a:picLocks noChangeAspect="1"/>
          </p:cNvPicPr>
          <p:nvPr/>
        </p:nvPicPr>
        <p:blipFill>
          <a:blip r:embed="rId2"/>
          <a:stretch>
            <a:fillRect/>
          </a:stretch>
        </p:blipFill>
        <p:spPr>
          <a:xfrm>
            <a:off x="7156909" y="1280160"/>
            <a:ext cx="3723635"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4. Oculomotor axons and their muscle terminations.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Ophthalmoscopy measures motion of the internal retina</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Ophthalmoscopy</a:t>
            </a:r>
            <a:r>
              <a:rPr sz="1600" b="0" i="0">
                <a:solidFill>
                  <a:srgbClr val="252B32"/>
                </a:solidFill>
                <a:latin typeface="Arial"/>
              </a:rPr>
              <a:t> views structures inside an eye through its own optics. Land adapted this method to observe the principal-eye retina while a restrained spider viewed controlled targets, making internal motion measurable despite the fixed external lens.</a:t>
            </a:r>
          </a:p>
          <a:p>
            <a:pPr algn="l">
              <a:lnSpc>
                <a:spcPct val="108000"/>
              </a:lnSpc>
              <a:spcAft>
                <a:spcPts val="960"/>
              </a:spcAft>
            </a:pPr>
            <a:r>
              <a:rPr sz="1600" b="0" i="0">
                <a:solidFill>
                  <a:srgbClr val="252B32"/>
                </a:solidFill>
                <a:latin typeface="Arial"/>
              </a:rPr>
              <a:t>The retinal field was followed relative to a reference, and position was recorded over time. Calibration related record displacement to angular movement; horizontal traces included a 10° reference and time marks, allowing movement amplitude and duration to be compared.</a:t>
            </a:r>
          </a:p>
          <a:p>
            <a:pPr algn="l">
              <a:lnSpc>
                <a:spcPct val="108000"/>
              </a:lnSpc>
              <a:spcAft>
                <a:spcPts val="960"/>
              </a:spcAft>
            </a:pPr>
            <a:r>
              <a:rPr sz="1600" b="0" i="0">
                <a:solidFill>
                  <a:srgbClr val="252B32"/>
                </a:solidFill>
                <a:latin typeface="Arial"/>
              </a:rPr>
              <a:t>The method recorded retinal position, not receptor voltage or motor-neuron spikes. Restraint and the apparatus also differed from free hunting. Nevertheless, separate target and movement records distinguished spontaneous activity, rapid repositioning, tracking and scanning within the same anatomical organ.</a:t>
            </a:r>
          </a:p>
        </p:txBody>
      </p:sp>
      <p:pic>
        <p:nvPicPr>
          <p:cNvPr id="4" name="Picture 3" descr="b69_f1.png"/>
          <p:cNvPicPr>
            <a:picLocks noChangeAspect="1"/>
          </p:cNvPicPr>
          <p:nvPr/>
        </p:nvPicPr>
        <p:blipFill>
          <a:blip r:embed="rId2"/>
          <a:stretch>
            <a:fillRect/>
          </a:stretch>
        </p:blipFill>
        <p:spPr>
          <a:xfrm>
            <a:off x="6412687" y="1280160"/>
            <a:ext cx="2880360" cy="1944444"/>
          </a:xfrm>
          <a:prstGeom prst="rect">
            <a:avLst/>
          </a:prstGeom>
        </p:spPr>
      </p:pic>
      <p:sp>
        <p:nvSpPr>
          <p:cNvPr id="5" name="Figure caption"/>
          <p:cNvSpPr txBox="1"/>
          <p:nvPr/>
        </p:nvSpPr>
        <p:spPr>
          <a:xfrm>
            <a:off x="6412687" y="3316044"/>
            <a:ext cx="288036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1(a, b). Ophthalmoscopic recording apparatus.</a:t>
            </a:r>
          </a:p>
        </p:txBody>
      </p:sp>
      <p:pic>
        <p:nvPicPr>
          <p:cNvPr id="6" name="Picture 5" descr="b69_f2.png"/>
          <p:cNvPicPr>
            <a:picLocks noChangeAspect="1"/>
          </p:cNvPicPr>
          <p:nvPr/>
        </p:nvPicPr>
        <p:blipFill>
          <a:blip r:embed="rId3"/>
          <a:stretch>
            <a:fillRect/>
          </a:stretch>
        </p:blipFill>
        <p:spPr>
          <a:xfrm>
            <a:off x="9475927" y="2148840"/>
            <a:ext cx="2148840" cy="2330645"/>
          </a:xfrm>
          <a:prstGeom prst="rect">
            <a:avLst/>
          </a:prstGeom>
        </p:spPr>
      </p:pic>
      <p:sp>
        <p:nvSpPr>
          <p:cNvPr id="7" name="Figure caption"/>
          <p:cNvSpPr txBox="1"/>
          <p:nvPr/>
        </p:nvSpPr>
        <p:spPr>
          <a:xfrm>
            <a:off x="9475927" y="4552637"/>
            <a:ext cx="214884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2. The movable retinal tube and muscle attachments.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Spontaneous shifts differ from visual saccades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a:t>
            </a:r>
            <a:r>
              <a:rPr sz="1600" b="1" i="0">
                <a:solidFill>
                  <a:srgbClr val="3C5268"/>
                </a:solidFill>
                <a:latin typeface="Arial"/>
              </a:rPr>
              <a:t>saccade</a:t>
            </a:r>
            <a:r>
              <a:rPr sz="1600" b="0" i="0">
                <a:solidFill>
                  <a:srgbClr val="252B32"/>
                </a:solidFill>
                <a:latin typeface="Arial"/>
              </a:rPr>
              <a:t> is a rapid shift that repositions a visual sampling region. Land observed principal-eye movements both without an effective target and after small target displacements, distinguishing ongoing motor activity from visually evoked repositioning.</a:t>
            </a:r>
          </a:p>
          <a:p>
            <a:pPr algn="l">
              <a:lnSpc>
                <a:spcPct val="108000"/>
              </a:lnSpc>
              <a:spcAft>
                <a:spcPts val="960"/>
              </a:spcAft>
            </a:pPr>
            <a:r>
              <a:rPr sz="1600" b="0" i="0">
                <a:solidFill>
                  <a:srgbClr val="252B32"/>
                </a:solidFill>
                <a:latin typeface="Arial"/>
              </a:rPr>
              <a:t>Spontaneous activity included irregular shifts and periods of rapid movement. It persisted when the visual field was blank and could occur after eyes were covered. Small stimulus movements instead evoked abrupt retinal shifts toward the target followed by a slower return.</a:t>
            </a:r>
          </a:p>
          <a:p>
            <a:pPr algn="l">
              <a:lnSpc>
                <a:spcPct val="108000"/>
              </a:lnSpc>
              <a:spcAft>
                <a:spcPts val="960"/>
              </a:spcAft>
            </a:pPr>
            <a:r>
              <a:rPr sz="1600" b="0" i="0">
                <a:solidFill>
                  <a:srgbClr val="252B32"/>
                </a:solidFill>
                <a:latin typeface="Arial"/>
              </a:rPr>
              <a:t>Persistence without ordinary visual input supports an internally generated component of eye movement. Target displacement produced an abrupt directed movement toward the target followed by a slower return, whereas spontaneous records were more variable and could continue without any stimulation, so the two movement classes have distinguishable motor traces and different dependence on visual input.</a:t>
            </a:r>
          </a:p>
        </p:txBody>
      </p:sp>
      <p:pic>
        <p:nvPicPr>
          <p:cNvPr id="4" name="Picture 3" descr="b69_f7.png"/>
          <p:cNvPicPr>
            <a:picLocks noChangeAspect="1"/>
          </p:cNvPicPr>
          <p:nvPr/>
        </p:nvPicPr>
        <p:blipFill>
          <a:blip r:embed="rId2"/>
          <a:stretch>
            <a:fillRect/>
          </a:stretch>
        </p:blipFill>
        <p:spPr>
          <a:xfrm>
            <a:off x="6412687" y="1280160"/>
            <a:ext cx="5212080" cy="2735959"/>
          </a:xfrm>
          <a:prstGeom prst="rect">
            <a:avLst/>
          </a:prstGeom>
        </p:spPr>
      </p:pic>
      <p:sp>
        <p:nvSpPr>
          <p:cNvPr id="5" name="Figure caption"/>
          <p:cNvSpPr txBox="1"/>
          <p:nvPr/>
        </p:nvSpPr>
        <p:spPr>
          <a:xfrm>
            <a:off x="6412687" y="410755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7(a, b). Spontaneous movements and stimulus-evoked saccades.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Moving targets can recruit retinal tracking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Tracking</a:t>
            </a:r>
            <a:r>
              <a:rPr sz="1600" b="0" i="0">
                <a:solidFill>
                  <a:srgbClr val="252B32"/>
                </a:solidFill>
                <a:latin typeface="Arial"/>
              </a:rPr>
              <a:t> maintains a visual target near a sampled retinal region as its position changes. Land distinguished target-linked principal-eye tracking from spontaneous movement and the repeated scans performed over a relatively stationary object.</a:t>
            </a:r>
          </a:p>
          <a:p>
            <a:pPr algn="l">
              <a:lnSpc>
                <a:spcPct val="108000"/>
              </a:lnSpc>
              <a:spcAft>
                <a:spcPts val="960"/>
              </a:spcAft>
            </a:pPr>
            <a:r>
              <a:rPr sz="1600" b="0" i="0">
                <a:solidFill>
                  <a:srgbClr val="252B32"/>
                </a:solidFill>
                <a:latin typeface="Arial"/>
              </a:rPr>
              <a:t>Target movements could evoke retinal repositioning when visible to the principal eyes or the anterior lateral eyes. This observation connects a broad-field sensory input to movement of the restricted principal-eye retina without requiring the entire spider to turn.</a:t>
            </a:r>
          </a:p>
          <a:p>
            <a:pPr algn="l">
              <a:lnSpc>
                <a:spcPct val="108000"/>
              </a:lnSpc>
              <a:spcAft>
                <a:spcPts val="960"/>
              </a:spcAft>
            </a:pPr>
            <a:r>
              <a:rPr sz="1600" b="0" i="0">
                <a:solidFill>
                  <a:srgbClr val="252B32"/>
                </a:solidFill>
                <a:latin typeface="Arial"/>
              </a:rPr>
              <a:t>A visually guided change in retinal position establishes functional coordination between sensory input and the eye motor system. Land elicited directed shifts through stimulation visible to different eye pairs, which indicates that principal-eye motor control is not restricted to information first detected by the principal retina, and retinal tracking is a motor output distinct from body orientation.</a:t>
            </a:r>
          </a:p>
        </p:txBody>
      </p:sp>
      <p:pic>
        <p:nvPicPr>
          <p:cNvPr id="4" name="Picture 3" descr="b69_f7.png"/>
          <p:cNvPicPr>
            <a:picLocks noChangeAspect="1"/>
          </p:cNvPicPr>
          <p:nvPr/>
        </p:nvPicPr>
        <p:blipFill>
          <a:blip r:embed="rId2"/>
          <a:stretch>
            <a:fillRect/>
          </a:stretch>
        </p:blipFill>
        <p:spPr>
          <a:xfrm>
            <a:off x="6710633" y="1280160"/>
            <a:ext cx="4616187"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7(a, b). Spontaneous and target-directed retinal shifts.</a:t>
            </a:r>
          </a:p>
        </p:txBody>
      </p:sp>
      <p:pic>
        <p:nvPicPr>
          <p:cNvPr id="6" name="Picture 5" descr="b69_f8.png"/>
          <p:cNvPicPr>
            <a:picLocks noChangeAspect="1"/>
          </p:cNvPicPr>
          <p:nvPr/>
        </p:nvPicPr>
        <p:blipFill>
          <a:blip r:embed="rId3"/>
          <a:stretch>
            <a:fillRect/>
          </a:stretch>
        </p:blipFill>
        <p:spPr>
          <a:xfrm>
            <a:off x="7776536" y="4251960"/>
            <a:ext cx="24843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8(a, b). Horizontal and torsional components of eye movement.</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Scanning combines horizontal movement with torsion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Scanning</a:t>
            </a:r>
            <a:r>
              <a:rPr sz="1600" b="0" i="0">
                <a:solidFill>
                  <a:srgbClr val="252B32"/>
                </a:solidFill>
                <a:latin typeface="Arial"/>
              </a:rPr>
              <a:t> is repeated retinal movement over a target rather than a single shift toward it. Land recorded horizontal oscillations together with a slower rotation of the principal-eye retina about its optical axis during target examination.</a:t>
            </a:r>
          </a:p>
          <a:p>
            <a:pPr algn="l">
              <a:lnSpc>
                <a:spcPct val="108000"/>
              </a:lnSpc>
              <a:spcAft>
                <a:spcPts val="960"/>
              </a:spcAft>
            </a:pPr>
            <a:r>
              <a:rPr sz="1600" b="0" i="0">
                <a:solidFill>
                  <a:srgbClr val="252B32"/>
                </a:solidFill>
                <a:latin typeface="Arial"/>
              </a:rPr>
              <a:t>Horizontal scans typically had periods of approximately 1–2 s. Torsional excursions extended through roughly 50° and developed over approximately 5–15 s. The distinct time scales allow receptor rows to sweep across a target while their orientation changes more slowly.</a:t>
            </a:r>
          </a:p>
          <a:p>
            <a:pPr algn="l">
              <a:lnSpc>
                <a:spcPct val="108000"/>
              </a:lnSpc>
              <a:spcAft>
                <a:spcPts val="960"/>
              </a:spcAft>
            </a:pPr>
            <a:r>
              <a:rPr sz="1600" b="0" i="0">
                <a:solidFill>
                  <a:srgbClr val="252B32"/>
                </a:solidFill>
                <a:latin typeface="Arial"/>
              </a:rPr>
              <a:t>These movements alter the spatial samples delivered by a small retinal array. The horizontal cycles recur more rapidly than the large torsional excursion, so a target can be swept repeatedly at one orientation before the receptor rows reach a substantially different orientation, which supports an active sampling strategy.</a:t>
            </a:r>
          </a:p>
        </p:txBody>
      </p:sp>
      <p:pic>
        <p:nvPicPr>
          <p:cNvPr id="4" name="Picture 3" descr="b69_f8.png"/>
          <p:cNvPicPr>
            <a:picLocks noChangeAspect="1"/>
          </p:cNvPicPr>
          <p:nvPr/>
        </p:nvPicPr>
        <p:blipFill>
          <a:blip r:embed="rId2"/>
          <a:stretch>
            <a:fillRect/>
          </a:stretch>
        </p:blipFill>
        <p:spPr>
          <a:xfrm>
            <a:off x="6412687" y="1280160"/>
            <a:ext cx="5212080" cy="3165285"/>
          </a:xfrm>
          <a:prstGeom prst="rect">
            <a:avLst/>
          </a:prstGeom>
        </p:spPr>
      </p:pic>
      <p:sp>
        <p:nvSpPr>
          <p:cNvPr id="5" name="Figure caption"/>
          <p:cNvSpPr txBox="1"/>
          <p:nvPr/>
        </p:nvSpPr>
        <p:spPr>
          <a:xfrm>
            <a:off x="6412687" y="4536885"/>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8(a, b). Published records separating scan translation and torsion.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Target width changes scan amplitude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Land varied target width while measuring principal-eye scanning. The published records include targets 1.4°, 4.1°, 7.0°, 9.2° and 12.3° wide, separating the size of the visual object from the retina's movement response.</a:t>
            </a:r>
          </a:p>
          <a:p>
            <a:pPr algn="l">
              <a:lnSpc>
                <a:spcPct val="108000"/>
              </a:lnSpc>
              <a:spcAft>
                <a:spcPts val="960"/>
              </a:spcAft>
            </a:pPr>
            <a:r>
              <a:rPr sz="1600" b="0" i="0">
                <a:solidFill>
                  <a:srgbClr val="252B32"/>
                </a:solidFill>
                <a:latin typeface="Arial"/>
              </a:rPr>
              <a:t>For targets narrower than about 10°, horizontal scan amplitude was close to target width, with a minimum excursion near 2° even for a much smaller target. Wider targets were not always swept completely. Torsional excursion changed less systematically with width.</a:t>
            </a:r>
          </a:p>
          <a:p>
            <a:pPr algn="l">
              <a:lnSpc>
                <a:spcPct val="108000"/>
              </a:lnSpc>
              <a:spcAft>
                <a:spcPts val="960"/>
              </a:spcAft>
            </a:pPr>
            <a:r>
              <a:rPr sz="1600" b="0" i="0">
                <a:solidFill>
                  <a:srgbClr val="252B32"/>
                </a:solidFill>
                <a:latin typeface="Arial"/>
              </a:rPr>
              <a:t>Land proposed that changing receptor-row orientation could aid contour analysis during these scans. That proposal drew on stimulus shapes known to alter behavior, but no line-selective neuron was recorded. Width-dependent scanning is measured evidence; feature extraction by a particular detector remains a mechanistic hypothesis.</a:t>
            </a:r>
          </a:p>
        </p:txBody>
      </p:sp>
      <p:pic>
        <p:nvPicPr>
          <p:cNvPr id="4" name="Picture 3" descr="b69_f9.png"/>
          <p:cNvPicPr>
            <a:picLocks noChangeAspect="1"/>
          </p:cNvPicPr>
          <p:nvPr/>
        </p:nvPicPr>
        <p:blipFill>
          <a:blip r:embed="rId2"/>
          <a:stretch>
            <a:fillRect/>
          </a:stretch>
        </p:blipFill>
        <p:spPr>
          <a:xfrm>
            <a:off x="7690353" y="1280160"/>
            <a:ext cx="265674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9. Scanning during targets of five angular widths.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Lateral eyes guide sequential body saccades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Zurek and Nelson isolated anterior lateral vision in </a:t>
            </a:r>
            <a:r>
              <a:rPr sz="1600" b="0" i="1">
                <a:solidFill>
                  <a:srgbClr val="252B32"/>
                </a:solidFill>
                <a:latin typeface="Arial"/>
              </a:rPr>
              <a:t>Servaea vestita</a:t>
            </a:r>
            <a:r>
              <a:rPr sz="1600" b="0" i="0">
                <a:solidFill>
                  <a:srgbClr val="252B32"/>
                </a:solidFill>
                <a:latin typeface="Arial"/>
              </a:rPr>
              <a:t> by covering the other eye pairs. A 4° dot moving at 9°/s elicited body turns measured while the spider remained fixed above a rotating ball.</a:t>
            </a:r>
          </a:p>
          <a:p>
            <a:pPr algn="l">
              <a:lnSpc>
                <a:spcPct val="108000"/>
              </a:lnSpc>
              <a:spcAft>
                <a:spcPts val="960"/>
              </a:spcAft>
            </a:pPr>
            <a:r>
              <a:rPr sz="1600" b="0" i="0">
                <a:solidFill>
                  <a:srgbClr val="252B32"/>
                </a:solidFill>
                <a:latin typeface="Arial"/>
              </a:rPr>
              <a:t>Orientation consisted of a sequence of saccades rather than one smooth turn. The first response usually began after the entire dot entered the visible field. Near lateral target positions of 25–30°, the response rate reached approximately three saccades per second under this stimulus condition.</a:t>
            </a:r>
          </a:p>
          <a:p>
            <a:pPr algn="l">
              <a:lnSpc>
                <a:spcPct val="108000"/>
              </a:lnSpc>
              <a:spcAft>
                <a:spcPts val="960"/>
              </a:spcAft>
            </a:pPr>
            <a:r>
              <a:rPr sz="1600" b="0" i="0">
                <a:solidFill>
                  <a:srgbClr val="252B32"/>
                </a:solidFill>
                <a:latin typeface="Arial"/>
              </a:rPr>
              <a:t>Body saccades redirect the animal toward a moving target and can place it nearer the principal-eye field. Their timing differs from Land's slower internal scans. The first response began after the entire dot entered the visible field, which indicates that entry of the target into the lateral field matters, and the response rate varied with target position.</a:t>
            </a:r>
          </a:p>
        </p:txBody>
      </p:sp>
      <p:pic>
        <p:nvPicPr>
          <p:cNvPr id="4" name="Picture 3" descr="zn12_f2.png"/>
          <p:cNvPicPr>
            <a:picLocks noChangeAspect="1"/>
          </p:cNvPicPr>
          <p:nvPr/>
        </p:nvPicPr>
        <p:blipFill>
          <a:blip r:embed="rId2"/>
          <a:stretch>
            <a:fillRect/>
          </a:stretch>
        </p:blipFill>
        <p:spPr>
          <a:xfrm>
            <a:off x="6875774" y="1280160"/>
            <a:ext cx="4285905"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&amp; Nelson (2012), Fig. 2. Saccade characteristics across horizontal target position.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&amp; Nelson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Larger orienting saccades are executed faster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The </a:t>
            </a:r>
            <a:r>
              <a:rPr sz="1600" b="1" i="0">
                <a:solidFill>
                  <a:srgbClr val="3C5268"/>
                </a:solidFill>
                <a:latin typeface="Arial"/>
              </a:rPr>
              <a:t>angular error</a:t>
            </a:r>
            <a:r>
              <a:rPr sz="1600" b="0" i="0">
                <a:solidFill>
                  <a:srgbClr val="252B32"/>
                </a:solidFill>
                <a:latin typeface="Arial"/>
              </a:rPr>
              <a:t> in an orienting task is the separation between the target direction and the animal's forward axis. Zurek and Nelson related body-saccade magnitude, velocity and duration to target position in lateral-eye-isolated </a:t>
            </a:r>
            <a:r>
              <a:rPr sz="1600" b="0" i="1">
                <a:solidFill>
                  <a:srgbClr val="252B32"/>
                </a:solidFill>
                <a:latin typeface="Arial"/>
              </a:rPr>
              <a:t>Servaea vestita</a:t>
            </a:r>
            <a:r>
              <a:rPr sz="1600" b="0" i="0">
                <a:solidFill>
                  <a:srgbClr val="252B32"/>
                </a:solidFill>
                <a:latin typeface="Arial"/>
              </a:rPr>
              <a:t>.</a:t>
            </a:r>
          </a:p>
          <a:p>
            <a:pPr algn="l">
              <a:lnSpc>
                <a:spcPct val="108000"/>
              </a:lnSpc>
              <a:spcAft>
                <a:spcPts val="960"/>
              </a:spcAft>
            </a:pPr>
            <a:r>
              <a:rPr sz="1600" b="0" i="0">
                <a:solidFill>
                  <a:srgbClr val="252B32"/>
                </a:solidFill>
                <a:latin typeface="Arial"/>
              </a:rPr>
              <a:t>Targets farther to the side elicited larger and faster saccades. At positions beyond approximately 20°, the turns increasingly undershot the target direction. Higher speed partly limited the additional duration required for a larger movement, although it did not remove all duration differences.</a:t>
            </a:r>
          </a:p>
          <a:p>
            <a:pPr algn="l">
              <a:lnSpc>
                <a:spcPct val="108000"/>
              </a:lnSpc>
              <a:spcAft>
                <a:spcPts val="960"/>
              </a:spcAft>
            </a:pPr>
            <a:r>
              <a:rPr sz="1600" b="0" i="0">
                <a:solidFill>
                  <a:srgbClr val="252B32"/>
                </a:solidFill>
                <a:latin typeface="Arial"/>
              </a:rPr>
              <a:t>A sequence of undershooting movements can progressively center a moving target. Larger eccentricities produced larger movements that were also faster, which reduces how much longer a large turn takes, and repeated saccades reduce the remaining error.</a:t>
            </a:r>
          </a:p>
        </p:txBody>
      </p:sp>
      <p:pic>
        <p:nvPicPr>
          <p:cNvPr id="4" name="Picture 3" descr="zn12_f3.png"/>
          <p:cNvPicPr>
            <a:picLocks noChangeAspect="1"/>
          </p:cNvPicPr>
          <p:nvPr/>
        </p:nvPicPr>
        <p:blipFill>
          <a:blip r:embed="rId2"/>
          <a:stretch>
            <a:fillRect/>
          </a:stretch>
        </p:blipFill>
        <p:spPr>
          <a:xfrm>
            <a:off x="6739593" y="1280160"/>
            <a:ext cx="455826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&amp; Nelson (2012), Fig. 3(a–d). Magnitude, speed and duration vary with target position.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&amp; Nelson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rotating ring removes feedback from the body turn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1" i="0">
                <a:solidFill>
                  <a:srgbClr val="3C5268"/>
                </a:solidFill>
                <a:latin typeface="Arial"/>
              </a:rPr>
              <a:t>Visual feedback</a:t>
            </a:r>
            <a:r>
              <a:rPr sz="1550" b="0" i="0">
                <a:solidFill>
                  <a:srgbClr val="252B32"/>
                </a:solidFill>
                <a:latin typeface="Arial"/>
              </a:rPr>
              <a:t> is information about the consequences of an action returning through vision. Land tested orienting turns in </a:t>
            </a:r>
            <a:r>
              <a:rPr sz="1550" b="0" i="1">
                <a:solidFill>
                  <a:srgbClr val="252B32"/>
                </a:solidFill>
                <a:latin typeface="Arial"/>
              </a:rPr>
              <a:t>Metaphidippus</a:t>
            </a:r>
            <a:r>
              <a:rPr sz="1550" b="0" i="0">
                <a:solidFill>
                  <a:srgbClr val="252B32"/>
                </a:solidFill>
                <a:latin typeface="Arial"/>
              </a:rPr>
              <a:t> while holding the spider's body fixed and allowing its feet to rotate a lightweight ring.</a:t>
            </a:r>
          </a:p>
          <a:p>
            <a:pPr algn="l">
              <a:lnSpc>
                <a:spcPct val="108000"/>
              </a:lnSpc>
              <a:spcAft>
                <a:spcPts val="960"/>
              </a:spcAft>
            </a:pPr>
            <a:r>
              <a:rPr sz="1550" b="0" i="0">
                <a:solidFill>
                  <a:srgbClr val="252B32"/>
                </a:solidFill>
                <a:latin typeface="Arial"/>
              </a:rPr>
              <a:t>A moving spot in the surrounding drum triggered attempted turning. The ring rotated beneath the feet, but the spider's eyes did not turn relative to the visual surround. Target movement and ring position were measured separately with calibrated recording devices.</a:t>
            </a:r>
          </a:p>
          <a:p>
            <a:pPr algn="l">
              <a:lnSpc>
                <a:spcPct val="108000"/>
              </a:lnSpc>
              <a:spcAft>
                <a:spcPts val="960"/>
              </a:spcAft>
            </a:pPr>
            <a:r>
              <a:rPr sz="1550" b="0" i="0">
                <a:solidFill>
                  <a:srgbClr val="252B32"/>
                </a:solidFill>
                <a:latin typeface="Arial"/>
              </a:rPr>
              <a:t>This arrangement removed the retinal image motion normally produced by the animal's body rotation. A response could therefore be tested without the usual visual reduction of target error. In a freely turning spider the target shifts across the retina as the body rotates toward it, which can signal when to correct or stop the movement, and separate stimulus and ring traces made the attempted turn measurable without that consequence.</a:t>
            </a:r>
          </a:p>
        </p:txBody>
      </p:sp>
      <p:pic>
        <p:nvPicPr>
          <p:cNvPr id="4" name="Picture 3" descr="l71_f2a.png"/>
          <p:cNvPicPr>
            <a:picLocks noChangeAspect="1"/>
          </p:cNvPicPr>
          <p:nvPr/>
        </p:nvPicPr>
        <p:blipFill>
          <a:blip r:embed="rId2"/>
          <a:stretch>
            <a:fillRect/>
          </a:stretch>
        </p:blipFill>
        <p:spPr>
          <a:xfrm>
            <a:off x="6898647" y="1280160"/>
            <a:ext cx="424015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(1971), Fig. 2(a). Apparatus holding the body while the feet rotate a ring.</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(1971)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Complete turns approximate the initial target angle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An </a:t>
            </a:r>
            <a:r>
              <a:rPr sz="1600" b="1" i="0">
                <a:solidFill>
                  <a:srgbClr val="3C5268"/>
                </a:solidFill>
                <a:latin typeface="Arial"/>
              </a:rPr>
              <a:t>open-loop movement</a:t>
            </a:r>
            <a:r>
              <a:rPr sz="1600" b="0" i="0">
                <a:solidFill>
                  <a:srgbClr val="252B32"/>
                </a:solidFill>
                <a:latin typeface="Arial"/>
              </a:rPr>
              <a:t> proceeds without correction from the usual feedback about its ongoing effect. Land compared attempted ring turns with the target's angular position while the spider's body remained fixed.</a:t>
            </a:r>
          </a:p>
          <a:p>
            <a:pPr algn="l">
              <a:lnSpc>
                <a:spcPct val="108000"/>
              </a:lnSpc>
              <a:spcAft>
                <a:spcPts val="960"/>
              </a:spcAft>
            </a:pPr>
            <a:r>
              <a:rPr sz="1600" b="0" i="0">
                <a:solidFill>
                  <a:srgbClr val="252B32"/>
                </a:solidFill>
                <a:latin typeface="Arial"/>
              </a:rPr>
              <a:t>Many responses were complete turns whose magnitude closely approximated the initial target angle. Other responses were much smaller partial turns and did not align the forward axis with the target if interpreted as ordinary body rotations. Both occurred in the same preparation.</a:t>
            </a:r>
          </a:p>
          <a:p>
            <a:pPr algn="l">
              <a:lnSpc>
                <a:spcPct val="108000"/>
              </a:lnSpc>
              <a:spcAft>
                <a:spcPts val="960"/>
              </a:spcAft>
            </a:pPr>
            <a:r>
              <a:rPr sz="1600" b="0" i="0">
                <a:solidFill>
                  <a:srgbClr val="252B32"/>
                </a:solidFill>
                <a:latin typeface="Arial"/>
              </a:rPr>
              <a:t>Accurate complete turns support a motor command based on the target position available before movement. A complete turn is defined by its relation to the target direction, so the expected movement varies with target angle, and many recorded turns closely matched that angle while smaller partial turns formed a separate class that often left a substantial target error.</a:t>
            </a:r>
          </a:p>
        </p:txBody>
      </p:sp>
      <p:pic>
        <p:nvPicPr>
          <p:cNvPr id="4" name="Picture 3" descr="l71_f5.png"/>
          <p:cNvPicPr>
            <a:picLocks noChangeAspect="1"/>
          </p:cNvPicPr>
          <p:nvPr/>
        </p:nvPicPr>
        <p:blipFill>
          <a:blip r:embed="rId2"/>
          <a:stretch>
            <a:fillRect/>
          </a:stretch>
        </p:blipFill>
        <p:spPr>
          <a:xfrm>
            <a:off x="6656203" y="1280160"/>
            <a:ext cx="472504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(1971), Fig. 5. Attempted turn magnitude versus target angle.</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(1971)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Turning in darkness excludes another visual correction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52B32"/>
                </a:solidFill>
                <a:latin typeface="Arial"/>
              </a:rPr>
              <a:t>The fixed-body ring assay still allowed a spider to see the ring or its feet, potentially providing indirect visual information about its movement. Land addressed this remaining route by extinguishing illumination immediately after target motion ceased.</a:t>
            </a:r>
          </a:p>
          <a:p>
            <a:pPr algn="l">
              <a:lnSpc>
                <a:spcPct val="108000"/>
              </a:lnSpc>
              <a:spcAft>
                <a:spcPts val="960"/>
              </a:spcAft>
            </a:pPr>
            <a:r>
              <a:rPr sz="1550" b="0" i="0">
                <a:solidFill>
                  <a:srgbClr val="252B32"/>
                </a:solidFill>
                <a:latin typeface="Arial"/>
              </a:rPr>
              <a:t>The stimulus normally moved 5° over 200 ms. After the light was switched off, spiders turned in darkness, and complete-turn accuracy remained comparable to the illuminated condition. Visual observation of the ring or feet was therefore not necessary for those accurate responses.</a:t>
            </a:r>
          </a:p>
          <a:p>
            <a:pPr algn="l">
              <a:lnSpc>
                <a:spcPct val="108000"/>
              </a:lnSpc>
              <a:spcAft>
                <a:spcPts val="960"/>
              </a:spcAft>
            </a:pPr>
            <a:r>
              <a:rPr sz="1550" b="0" i="0">
                <a:solidFill>
                  <a:srgbClr val="252B32"/>
                </a:solidFill>
                <a:latin typeface="Arial"/>
              </a:rPr>
              <a:t>The control strengthens an open-loop account of the tested turns. The spider received the target information before darkness and completed its attempted turn afterward, so accurate complete responses indicate a command that can persist after the visual stimulus is no longer available. Complete and partial movements remained behaviorally distinct, and habituation could alter which response was selected.</a:t>
            </a:r>
          </a:p>
        </p:txBody>
      </p:sp>
      <p:pic>
        <p:nvPicPr>
          <p:cNvPr id="4" name="Picture 3" descr="l71_f7.png"/>
          <p:cNvPicPr>
            <a:picLocks noChangeAspect="1"/>
          </p:cNvPicPr>
          <p:nvPr/>
        </p:nvPicPr>
        <p:blipFill>
          <a:blip r:embed="rId2"/>
          <a:stretch>
            <a:fillRect/>
          </a:stretch>
        </p:blipFill>
        <p:spPr>
          <a:xfrm>
            <a:off x="7163214" y="1280160"/>
            <a:ext cx="371102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(1971), Fig. 7(a, b). Complete-turn errors and partial-turn magnitudes.</a:t>
            </a:r>
          </a:p>
        </p:txBody>
      </p:sp>
      <p:pic>
        <p:nvPicPr>
          <p:cNvPr id="6" name="Picture 5" descr="l71_f2a.png"/>
          <p:cNvPicPr>
            <a:picLocks noChangeAspect="1"/>
          </p:cNvPicPr>
          <p:nvPr/>
        </p:nvPicPr>
        <p:blipFill>
          <a:blip r:embed="rId3"/>
          <a:stretch>
            <a:fillRect/>
          </a:stretch>
        </p:blipFill>
        <p:spPr>
          <a:xfrm>
            <a:off x="8274444" y="4251960"/>
            <a:ext cx="148856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(1971), Fig. 2(a). The ring preparation used for feedback controls.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(1971)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Lateral-eye masking disrupts principal-eye tracking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Jakob and colleagues measured the internal principal-eye movements of restrained </a:t>
            </a:r>
            <a:r>
              <a:rPr sz="1500" b="0" i="1">
                <a:solidFill>
                  <a:srgbClr val="252B32"/>
                </a:solidFill>
                <a:latin typeface="Arial"/>
              </a:rPr>
              <a:t>Phidippus audax</a:t>
            </a:r>
            <a:r>
              <a:rPr sz="1500" b="0" i="0">
                <a:solidFill>
                  <a:srgbClr val="252B32"/>
                </a:solidFill>
                <a:latin typeface="Arial"/>
              </a:rPr>
              <a:t> with an eye tracker. Moving disks were presented before and after the anterior lateral eyes were covered, testing whether the lateral pair guides the principal retina.</a:t>
            </a:r>
          </a:p>
          <a:p>
            <a:pPr algn="l">
              <a:lnSpc>
                <a:spcPct val="108000"/>
              </a:lnSpc>
              <a:spcAft>
                <a:spcPts val="960"/>
              </a:spcAft>
            </a:pPr>
            <a:r>
              <a:rPr sz="1500" b="0" i="0">
                <a:solidFill>
                  <a:srgbClr val="252B32"/>
                </a:solidFill>
                <a:latin typeface="Arial"/>
              </a:rPr>
              <a:t>Disk diameters were 3°, 4° and 5°, with speeds of 2.77, 7.60 and 15.13°/s. Principal retinas followed moving targets when the lateral eyes were available. Covering that pair disrupted the target-linked movements under the same general stimulus conditions.</a:t>
            </a:r>
          </a:p>
          <a:p>
            <a:pPr algn="l">
              <a:lnSpc>
                <a:spcPct val="108000"/>
              </a:lnSpc>
              <a:spcAft>
                <a:spcPts val="960"/>
              </a:spcAft>
            </a:pPr>
            <a:r>
              <a:rPr sz="1500" b="0" i="0">
                <a:solidFill>
                  <a:srgbClr val="252B32"/>
                </a:solidFill>
                <a:latin typeface="Arial"/>
              </a:rPr>
              <a:t>The manipulation supports a causal contribution of anterior lateral input to principal-eye tracking. Eye tracking recorded the position and orientation of the principal retinas in the restrained spider, so changing lateral-eye availability tested a sensory contribution to this internal motor output, and the use of several target sizes and speeds reduced dependence on one moving-dot condition. The measured output is internal retinal motion, distinct from the body saccades in the Servaea ball assays.</a:t>
            </a:r>
          </a:p>
        </p:txBody>
      </p:sp>
      <p:pic>
        <p:nvPicPr>
          <p:cNvPr id="4" name="Picture 3" descr="j18_f1.png"/>
          <p:cNvPicPr>
            <a:picLocks noChangeAspect="1"/>
          </p:cNvPicPr>
          <p:nvPr/>
        </p:nvPicPr>
        <p:blipFill>
          <a:blip r:embed="rId2"/>
          <a:stretch>
            <a:fillRect/>
          </a:stretch>
        </p:blipFill>
        <p:spPr>
          <a:xfrm>
            <a:off x="6412687" y="1280160"/>
            <a:ext cx="5212080" cy="2663952"/>
          </a:xfrm>
          <a:prstGeom prst="rect">
            <a:avLst/>
          </a:prstGeom>
        </p:spPr>
      </p:pic>
      <p:sp>
        <p:nvSpPr>
          <p:cNvPr id="5" name="Figure caption"/>
          <p:cNvSpPr txBox="1"/>
          <p:nvPr/>
        </p:nvSpPr>
        <p:spPr>
          <a:xfrm>
            <a:off x="6412687" y="40355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Jakob et al. (2018), Fig. 1(A–E). Principal-eye movements with anterior lateral eyes available or masked.</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Masking leaves stationary-target examination available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movement deficit can arise from sensory loss or from damage to the motor apparatus. Jakob and colleagues compared moving-target tracking with examination of stationary cricket and oval stimuli after anterior lateral masking in </a:t>
            </a:r>
            <a:r>
              <a:rPr sz="1600" b="0" i="1">
                <a:solidFill>
                  <a:srgbClr val="252B32"/>
                </a:solidFill>
                <a:latin typeface="Arial"/>
              </a:rPr>
              <a:t>Phidippus audax</a:t>
            </a:r>
            <a:r>
              <a:rPr sz="1600" b="0" i="0">
                <a:solidFill>
                  <a:srgbClr val="252B32"/>
                </a:solidFill>
                <a:latin typeface="Arial"/>
              </a:rPr>
              <a:t>.</a:t>
            </a:r>
          </a:p>
          <a:p>
            <a:pPr algn="l">
              <a:lnSpc>
                <a:spcPct val="108000"/>
              </a:lnSpc>
              <a:spcAft>
                <a:spcPts val="960"/>
              </a:spcAft>
            </a:pPr>
            <a:r>
              <a:rPr sz="1600" b="0" i="0">
                <a:solidFill>
                  <a:srgbClr val="252B32"/>
                </a:solidFill>
                <a:latin typeface="Arial"/>
              </a:rPr>
              <a:t>Principal-eye scanning persisted for stationary targets even when the moving-disk tracking relationship was disrupted. The retina could still move, so the mask did not simply abolish every principal-eye motor action. Cricket and oval stimuli also recruited different degrees of target examination.</a:t>
            </a:r>
          </a:p>
          <a:p>
            <a:pPr algn="l">
              <a:lnSpc>
                <a:spcPct val="108000"/>
              </a:lnSpc>
              <a:spcAft>
                <a:spcPts val="960"/>
              </a:spcAft>
            </a:pPr>
            <a:r>
              <a:rPr sz="1600" b="0" i="0">
                <a:solidFill>
                  <a:srgbClr val="252B32"/>
                </a:solidFill>
                <a:latin typeface="Arial"/>
              </a:rPr>
              <a:t>Preserved scanning narrows the interpretation toward loss of a guiding visual contribution rather than complete motor failure. A stationary target can be examined by moving the principal retina across it without lateral-eye guidance, so scanning and tracking have different sensory dependencies, and cricket and oval stimuli recruited different degrees of examination.</a:t>
            </a:r>
          </a:p>
        </p:txBody>
      </p:sp>
      <p:pic>
        <p:nvPicPr>
          <p:cNvPr id="4" name="Picture 3" descr="j18_f1.png"/>
          <p:cNvPicPr>
            <a:picLocks noChangeAspect="1"/>
          </p:cNvPicPr>
          <p:nvPr/>
        </p:nvPicPr>
        <p:blipFill>
          <a:blip r:embed="rId2"/>
          <a:stretch>
            <a:fillRect/>
          </a:stretch>
        </p:blipFill>
        <p:spPr>
          <a:xfrm>
            <a:off x="6412687" y="1280160"/>
            <a:ext cx="5212080" cy="2663952"/>
          </a:xfrm>
          <a:prstGeom prst="rect">
            <a:avLst/>
          </a:prstGeom>
        </p:spPr>
      </p:pic>
      <p:sp>
        <p:nvSpPr>
          <p:cNvPr id="5" name="Figure caption"/>
          <p:cNvSpPr txBox="1"/>
          <p:nvPr/>
        </p:nvSpPr>
        <p:spPr>
          <a:xfrm>
            <a:off x="6412687" y="40355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Jakob et al. (2018), Fig. 1(A–E). Moving-disk tracking and stationary-target retinal trajectories.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Retinal position and torsion are separate readouts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52B32"/>
                </a:solidFill>
                <a:latin typeface="Arial"/>
              </a:rPr>
              <a:t>Jakob and colleagues quantified more than one aspect of principal-eye movement. Retinal separation and position describe where the sampled regions move, while retinal angle describes torsion, the rotation of the sampling array about the viewing axis.</a:t>
            </a:r>
          </a:p>
          <a:p>
            <a:pPr algn="l">
              <a:lnSpc>
                <a:spcPct val="108000"/>
              </a:lnSpc>
              <a:spcAft>
                <a:spcPts val="960"/>
              </a:spcAft>
            </a:pPr>
            <a:r>
              <a:rPr sz="1450" b="0" i="0">
                <a:solidFill>
                  <a:srgbClr val="252B32"/>
                </a:solidFill>
                <a:latin typeface="Arial"/>
              </a:rPr>
              <a:t>The moving-target position traces were reported in the eye tracker's pixel coordinates. Stationary cricket stimuli elicited more examination and torsional movement than oval stimuli when lateral vision was available. These measures concern internal retinal behavior in restrained </a:t>
            </a:r>
            <a:r>
              <a:rPr sz="1450" b="0" i="1">
                <a:solidFill>
                  <a:srgbClr val="252B32"/>
                </a:solidFill>
                <a:latin typeface="Arial"/>
              </a:rPr>
              <a:t>Phidippus audax</a:t>
            </a:r>
            <a:r>
              <a:rPr sz="1450" b="0" i="0">
                <a:solidFill>
                  <a:srgbClr val="252B32"/>
                </a:solidFill>
                <a:latin typeface="Arial"/>
              </a:rPr>
              <a:t>.</a:t>
            </a:r>
          </a:p>
          <a:p>
            <a:pPr algn="l">
              <a:lnSpc>
                <a:spcPct val="108000"/>
              </a:lnSpc>
              <a:spcAft>
                <a:spcPts val="960"/>
              </a:spcAft>
            </a:pPr>
            <a:r>
              <a:rPr sz="1450" b="0" i="0">
                <a:solidFill>
                  <a:srgbClr val="252B32"/>
                </a:solidFill>
                <a:latin typeface="Arial"/>
              </a:rPr>
              <a:t>Retinal separation and position describe where the sampled regions move, whereas retinal angle describes torsion, and two retinas can change their relative distance without rotating by the same amount. Stationary cricket stimuli elicited more examination and torsional movement than oval stimuli when lateral vision was available, a measured stimulus-dependent difference in motor pattern. The published position axis uses the eye tracker's pixel coordinates, whereas the presented targets are specified in degrees.</a:t>
            </a:r>
          </a:p>
        </p:txBody>
      </p:sp>
      <p:pic>
        <p:nvPicPr>
          <p:cNvPr id="4" name="Picture 3" descr="j18_f1.png"/>
          <p:cNvPicPr>
            <a:picLocks noChangeAspect="1"/>
          </p:cNvPicPr>
          <p:nvPr/>
        </p:nvPicPr>
        <p:blipFill>
          <a:blip r:embed="rId2"/>
          <a:stretch>
            <a:fillRect/>
          </a:stretch>
        </p:blipFill>
        <p:spPr>
          <a:xfrm>
            <a:off x="6412687" y="1280160"/>
            <a:ext cx="5212080" cy="2663952"/>
          </a:xfrm>
          <a:prstGeom prst="rect">
            <a:avLst/>
          </a:prstGeom>
        </p:spPr>
      </p:pic>
      <p:sp>
        <p:nvSpPr>
          <p:cNvPr id="5" name="Figure caption"/>
          <p:cNvSpPr txBox="1"/>
          <p:nvPr/>
        </p:nvSpPr>
        <p:spPr>
          <a:xfrm>
            <a:off x="6412687" y="40355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Jakob et al. (2018), Fig. 1(A–E). Distance, angle and stimulus-relative measures of retinal movement.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Principal-eye routes connect to the arcuate body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The </a:t>
            </a:r>
            <a:r>
              <a:rPr sz="1600" b="1" i="0">
                <a:solidFill>
                  <a:srgbClr val="3C5268"/>
                </a:solidFill>
                <a:latin typeface="Arial"/>
              </a:rPr>
              <a:t>arcuate body</a:t>
            </a:r>
            <a:r>
              <a:rPr sz="1600" b="0" i="0">
                <a:solidFill>
                  <a:srgbClr val="252B32"/>
                </a:solidFill>
                <a:latin typeface="Arial"/>
              </a:rPr>
              <a:t> is an unpaired brain neuropil associated with visual pathways. Steinhoff and colleagues mapped the brain of </a:t>
            </a:r>
            <a:r>
              <a:rPr sz="1600" b="0" i="1">
                <a:solidFill>
                  <a:srgbClr val="252B32"/>
                </a:solidFill>
                <a:latin typeface="Arial"/>
              </a:rPr>
              <a:t>Marpissa muscosa</a:t>
            </a:r>
            <a:r>
              <a:rPr sz="1600" b="0" i="0">
                <a:solidFill>
                  <a:srgbClr val="252B32"/>
                </a:solidFill>
                <a:latin typeface="Arial"/>
              </a:rPr>
              <a:t> using tissue sections, three-dimensional imaging and molecular labeling of neuronal processes.</a:t>
            </a:r>
          </a:p>
          <a:p>
            <a:pPr algn="l">
              <a:lnSpc>
                <a:spcPct val="108000"/>
              </a:lnSpc>
              <a:spcAft>
                <a:spcPts val="960"/>
              </a:spcAft>
            </a:pPr>
            <a:r>
              <a:rPr sz="1600" b="0" i="0">
                <a:solidFill>
                  <a:srgbClr val="252B32"/>
                </a:solidFill>
                <a:latin typeface="Arial"/>
              </a:rPr>
              <a:t>Principal-eye input reaches AM1, the first-order principal-eye neuropil. A thick tract connects AM1 with AM2, and a thinner tract links AM2 to the arcuate body. Antibodies against </a:t>
            </a:r>
            <a:r>
              <a:rPr sz="1600" b="1" i="0">
                <a:solidFill>
                  <a:srgbClr val="3C5268"/>
                </a:solidFill>
                <a:latin typeface="Arial"/>
              </a:rPr>
              <a:t>synapsin</a:t>
            </a:r>
            <a:r>
              <a:rPr sz="1600" b="0" i="0">
                <a:solidFill>
                  <a:srgbClr val="252B32"/>
                </a:solidFill>
                <a:latin typeface="Arial"/>
              </a:rPr>
              <a:t>, a presynaptic protein, marked neuropils; </a:t>
            </a:r>
            <a:r>
              <a:rPr sz="1600" b="1" i="0">
                <a:solidFill>
                  <a:srgbClr val="3C5268"/>
                </a:solidFill>
                <a:latin typeface="Arial"/>
              </a:rPr>
              <a:t>tubulin</a:t>
            </a:r>
            <a:r>
              <a:rPr sz="1600" b="0" i="0">
                <a:solidFill>
                  <a:srgbClr val="252B32"/>
                </a:solidFill>
                <a:latin typeface="Arial"/>
              </a:rPr>
              <a:t>, a structural protein, marked neuronal processes.</a:t>
            </a:r>
          </a:p>
          <a:p>
            <a:pPr algn="l">
              <a:lnSpc>
                <a:spcPct val="108000"/>
              </a:lnSpc>
              <a:spcAft>
                <a:spcPts val="960"/>
              </a:spcAft>
            </a:pPr>
            <a:r>
              <a:rPr sz="1600" b="0" i="0">
                <a:solidFill>
                  <a:srgbClr val="252B32"/>
                </a:solidFill>
                <a:latin typeface="Arial"/>
              </a:rPr>
              <a:t>This anatomy supplies candidate routes from retinal signals toward central visual processing. Synapsin labeling marks regions rich in presynaptic machinery and tubulin labeling makes processes and tracts easier to trace, and the two together reveal a clear connection from AM1 to AM2 and another toward the arcuate body.</a:t>
            </a:r>
          </a:p>
        </p:txBody>
      </p:sp>
      <p:pic>
        <p:nvPicPr>
          <p:cNvPr id="4" name="Picture 3" descr="s20_f1.png"/>
          <p:cNvPicPr>
            <a:picLocks noChangeAspect="1"/>
          </p:cNvPicPr>
          <p:nvPr/>
        </p:nvPicPr>
        <p:blipFill>
          <a:blip r:embed="rId2"/>
          <a:stretch>
            <a:fillRect/>
          </a:stretch>
        </p:blipFill>
        <p:spPr>
          <a:xfrm>
            <a:off x="7294961" y="1280160"/>
            <a:ext cx="3447532"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Steinhoff et al. (2020), Fig. 1(a–f). AM1, AM2 and connecting processes to the arcuate body.</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Steinhoff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Secondary-eye inputs reach shared and distinct neuropils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52B32"/>
                </a:solidFill>
                <a:latin typeface="Arial"/>
              </a:rPr>
              <a:t>The </a:t>
            </a:r>
            <a:r>
              <a:rPr sz="1450" b="1" i="0">
                <a:solidFill>
                  <a:srgbClr val="3C5268"/>
                </a:solidFill>
                <a:latin typeface="Arial"/>
              </a:rPr>
              <a:t>posterior lateral eyes</a:t>
            </a:r>
            <a:r>
              <a:rPr sz="1450" b="0" i="0">
                <a:solidFill>
                  <a:srgbClr val="252B32"/>
                </a:solidFill>
                <a:latin typeface="Arial"/>
              </a:rPr>
              <a:t> provide another lateral visual input, while the smaller </a:t>
            </a:r>
            <a:r>
              <a:rPr sz="1450" b="1" i="0">
                <a:solidFill>
                  <a:srgbClr val="3C5268"/>
                </a:solidFill>
                <a:latin typeface="Arial"/>
              </a:rPr>
              <a:t>posterior median eyes</a:t>
            </a:r>
            <a:r>
              <a:rPr sz="1450" b="0" i="0">
                <a:solidFill>
                  <a:srgbClr val="252B32"/>
                </a:solidFill>
                <a:latin typeface="Arial"/>
              </a:rPr>
              <a:t> form a distinct pair. In </a:t>
            </a:r>
            <a:r>
              <a:rPr sz="1450" b="0" i="1">
                <a:solidFill>
                  <a:srgbClr val="252B32"/>
                </a:solidFill>
                <a:latin typeface="Arial"/>
              </a:rPr>
              <a:t>Marpissa muscosa</a:t>
            </a:r>
            <a:r>
              <a:rPr sz="1450" b="0" i="0">
                <a:solidFill>
                  <a:srgbClr val="252B32"/>
                </a:solidFill>
                <a:latin typeface="Arial"/>
              </a:rPr>
              <a:t>, Steinhoff and colleagues traced these secondary-eye routes rather than assuming they all share one motion pathway.</a:t>
            </a:r>
          </a:p>
          <a:p>
            <a:pPr algn="l">
              <a:lnSpc>
                <a:spcPct val="108000"/>
              </a:lnSpc>
              <a:spcAft>
                <a:spcPts val="900"/>
              </a:spcAft>
            </a:pPr>
            <a:r>
              <a:rPr sz="1450" b="0" i="0">
                <a:solidFill>
                  <a:srgbClr val="252B32"/>
                </a:solidFill>
                <a:latin typeface="Arial"/>
              </a:rPr>
              <a:t>Anterior lateral and posterior lateral inputs reach separate first-order neuropils, AL1 and PL1, then a shared second-order region, AL2/PL2. Connections continue toward the </a:t>
            </a:r>
            <a:r>
              <a:rPr sz="1450" b="1" i="0">
                <a:solidFill>
                  <a:srgbClr val="3C5268"/>
                </a:solidFill>
                <a:latin typeface="Arial"/>
              </a:rPr>
              <a:t>mushroom body</a:t>
            </a:r>
            <a:r>
              <a:rPr sz="1450" b="0" i="0">
                <a:solidFill>
                  <a:srgbClr val="252B32"/>
                </a:solidFill>
                <a:latin typeface="Arial"/>
              </a:rPr>
              <a:t>, a paired brain structure, through its stalk-like peduncle. Additional processes reach the neighboring region L2.</a:t>
            </a:r>
          </a:p>
          <a:p>
            <a:pPr algn="l">
              <a:lnSpc>
                <a:spcPct val="108000"/>
              </a:lnSpc>
              <a:spcAft>
                <a:spcPts val="900"/>
              </a:spcAft>
            </a:pPr>
            <a:r>
              <a:rPr sz="1450" b="0" i="0">
                <a:solidFill>
                  <a:srgbClr val="252B32"/>
                </a:solidFill>
                <a:latin typeface="Arial"/>
              </a:rPr>
              <a:t>Posterior median input instead reaches PM1 and a tract apparently ending near the arcuate body, without an identified second-order visual neuropil. Convergence is the arrival of multiple inputs at a processing region. This architecture permits both separation and convergence. A shared second-order neuropil can receive information that arrived through two different first-order regions, and the posterior median route differs from the lateral routes, so the secondary eyes are not all assigned to one identical circuit.</a:t>
            </a:r>
          </a:p>
        </p:txBody>
      </p:sp>
      <p:pic>
        <p:nvPicPr>
          <p:cNvPr id="4" name="Picture 3" descr="s20_f6.png"/>
          <p:cNvPicPr>
            <a:picLocks noChangeAspect="1"/>
          </p:cNvPicPr>
          <p:nvPr/>
        </p:nvPicPr>
        <p:blipFill>
          <a:blip r:embed="rId2"/>
          <a:stretch>
            <a:fillRect/>
          </a:stretch>
        </p:blipFill>
        <p:spPr>
          <a:xfrm>
            <a:off x="7073634" y="1280160"/>
            <a:ext cx="3890185"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Steinhoff et al. (2020), Fig. 6(a–d). Anterior lateral, posterior lateral and posterior median routes.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Steinhoff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Small brain openings permit extracellular recordings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52B32"/>
                </a:solidFill>
                <a:latin typeface="Arial"/>
              </a:rPr>
              <a:t>An </a:t>
            </a:r>
            <a:r>
              <a:rPr sz="1500" b="1" i="0">
                <a:solidFill>
                  <a:srgbClr val="3C5268"/>
                </a:solidFill>
                <a:latin typeface="Arial"/>
              </a:rPr>
              <a:t>extracellular recording</a:t>
            </a:r>
            <a:r>
              <a:rPr sz="1500" b="0" i="0">
                <a:solidFill>
                  <a:srgbClr val="252B32"/>
                </a:solidFill>
                <a:latin typeface="Arial"/>
              </a:rPr>
              <a:t> detects electrical signals near neurons without placing the electrode inside a cell. Menda and colleagues developed stable brain recordings in </a:t>
            </a:r>
            <a:r>
              <a:rPr sz="1500" b="0" i="1">
                <a:solidFill>
                  <a:srgbClr val="252B32"/>
                </a:solidFill>
                <a:latin typeface="Arial"/>
              </a:rPr>
              <a:t>Phidippus audax</a:t>
            </a:r>
            <a:r>
              <a:rPr sz="1500" b="0" i="0">
                <a:solidFill>
                  <a:srgbClr val="252B32"/>
                </a:solidFill>
                <a:latin typeface="Arial"/>
              </a:rPr>
              <a:t> by advancing a glass-insulated tungsten electrode through a small cuticular opening.</a:t>
            </a:r>
          </a:p>
          <a:p>
            <a:pPr algn="l">
              <a:lnSpc>
                <a:spcPct val="108000"/>
              </a:lnSpc>
              <a:spcAft>
                <a:spcPts val="900"/>
              </a:spcAft>
            </a:pPr>
            <a:r>
              <a:rPr sz="1500" b="0" i="0">
                <a:solidFill>
                  <a:srgbClr val="252B32"/>
                </a:solidFill>
                <a:latin typeface="Arial"/>
              </a:rPr>
              <a:t>Openings of approximately 100–200 µm reduced the fluid loss that complicates access to a pressurized spider body. Visual stimulation could be paired with recordings lasting hours. Electrode positions were in or near the arcuate body, with anatomical labeling used to locate the recording region.</a:t>
            </a:r>
          </a:p>
          <a:p>
            <a:pPr algn="l">
              <a:lnSpc>
                <a:spcPct val="108000"/>
              </a:lnSpc>
              <a:spcAft>
                <a:spcPts val="900"/>
              </a:spcAft>
            </a:pPr>
            <a:r>
              <a:rPr sz="1500" b="0" i="0">
                <a:solidFill>
                  <a:srgbClr val="252B32"/>
                </a:solidFill>
                <a:latin typeface="Arial"/>
              </a:rPr>
              <a:t>A spike, or action potential, is a brief neuronal electrical event. Spike sorting separates candidate units by waveform features in the extracellular signal. Waveform-based sorting distinguishes candidate units for analysis of individual response patterns, and the recording region in or near the arcuate body relates the physiology to central visual anatomy.</a:t>
            </a:r>
          </a:p>
        </p:txBody>
      </p:sp>
      <p:pic>
        <p:nvPicPr>
          <p:cNvPr id="4" name="Picture 3" descr="m14_f1.png"/>
          <p:cNvPicPr>
            <a:picLocks noChangeAspect="1"/>
          </p:cNvPicPr>
          <p:nvPr/>
        </p:nvPicPr>
        <p:blipFill>
          <a:blip r:embed="rId2"/>
          <a:stretch>
            <a:fillRect/>
          </a:stretch>
        </p:blipFill>
        <p:spPr>
          <a:xfrm>
            <a:off x="7962831" y="1280160"/>
            <a:ext cx="211179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1(A–D). Recording approach, arcuate-body anatomy and spike separation.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Central units respond to particular moving trajectories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Menda and colleagues presented a small prey-like moving target while recording central units in </a:t>
            </a:r>
            <a:r>
              <a:rPr sz="1600" b="0" i="1">
                <a:solidFill>
                  <a:srgbClr val="252B32"/>
                </a:solidFill>
                <a:latin typeface="Arial"/>
              </a:rPr>
              <a:t>Phidippus audax</a:t>
            </a:r>
            <a:r>
              <a:rPr sz="1600" b="0" i="0">
                <a:solidFill>
                  <a:srgbClr val="252B32"/>
                </a:solidFill>
                <a:latin typeface="Arial"/>
              </a:rPr>
              <a:t>. A </a:t>
            </a:r>
            <a:r>
              <a:rPr sz="1600" b="1" i="0">
                <a:solidFill>
                  <a:srgbClr val="3C5268"/>
                </a:solidFill>
                <a:latin typeface="Arial"/>
              </a:rPr>
              <a:t>spike raster</a:t>
            </a:r>
            <a:r>
              <a:rPr sz="1600" b="0" i="0">
                <a:solidFill>
                  <a:srgbClr val="252B32"/>
                </a:solidFill>
                <a:latin typeface="Arial"/>
              </a:rPr>
              <a:t> records action-potential times across repeated presentations, allowing temporal response consistency to be assessed.</a:t>
            </a:r>
          </a:p>
          <a:p>
            <a:pPr algn="l">
              <a:lnSpc>
                <a:spcPct val="108000"/>
              </a:lnSpc>
              <a:spcAft>
                <a:spcPts val="960"/>
              </a:spcAft>
            </a:pPr>
            <a:r>
              <a:rPr sz="1600" b="0" i="0">
                <a:solidFill>
                  <a:srgbClr val="252B32"/>
                </a:solidFill>
                <a:latin typeface="Arial"/>
              </a:rPr>
              <a:t>The 1.5° target followed controlled trajectories at a display update rate of 29 frames/s. Repeated presentations evoked activity associated with particular parts of the sequence. Target position, velocity and direction were known independently of the recorded spikes.</a:t>
            </a:r>
          </a:p>
          <a:p>
            <a:pPr algn="l">
              <a:lnSpc>
                <a:spcPct val="108000"/>
              </a:lnSpc>
              <a:spcAft>
                <a:spcPts val="960"/>
              </a:spcAft>
            </a:pPr>
            <a:r>
              <a:rPr sz="1600" b="0" i="0">
                <a:solidFill>
                  <a:srgbClr val="252B32"/>
                </a:solidFill>
                <a:latin typeface="Arial"/>
              </a:rPr>
              <a:t>Simple descriptions based on position or motion alone did not fully predict every response. Position, velocity and direction describe different properties of the target, and a unit can depend on more than one of them, so the results indicate complex visual selectivity in central units for particular parts of the target's trajectory.</a:t>
            </a:r>
          </a:p>
        </p:txBody>
      </p:sp>
      <p:pic>
        <p:nvPicPr>
          <p:cNvPr id="4" name="Picture 3" descr="m14_f2.png"/>
          <p:cNvPicPr>
            <a:picLocks noChangeAspect="1"/>
          </p:cNvPicPr>
          <p:nvPr/>
        </p:nvPicPr>
        <p:blipFill>
          <a:blip r:embed="rId2"/>
          <a:stretch>
            <a:fillRect/>
          </a:stretch>
        </p:blipFill>
        <p:spPr>
          <a:xfrm>
            <a:off x="6812494" y="1280160"/>
            <a:ext cx="4412466" cy="1920240"/>
          </a:xfrm>
          <a:prstGeom prst="rect">
            <a:avLst/>
          </a:prstGeom>
        </p:spPr>
      </p:pic>
      <p:sp>
        <p:nvSpPr>
          <p:cNvPr id="5" name="Figure caption"/>
          <p:cNvSpPr txBox="1"/>
          <p:nvPr/>
        </p:nvSpPr>
        <p:spPr>
          <a:xfrm>
            <a:off x="6412687" y="32918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2(A–C). Repeated target trajectories, firing-rate traces and spike rasters.</a:t>
            </a:r>
          </a:p>
        </p:txBody>
      </p:sp>
      <p:pic>
        <p:nvPicPr>
          <p:cNvPr id="6" name="Picture 5" descr="m14_f1a.png"/>
          <p:cNvPicPr>
            <a:picLocks noChangeAspect="1"/>
          </p:cNvPicPr>
          <p:nvPr/>
        </p:nvPicPr>
        <p:blipFill>
          <a:blip r:embed="rId3"/>
          <a:stretch>
            <a:fillRect/>
          </a:stretch>
        </p:blipFill>
        <p:spPr>
          <a:xfrm>
            <a:off x="7820983" y="3749040"/>
            <a:ext cx="2395487" cy="20116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1(A). The brain region approached by the recording electrode.</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An intact fly image exceeds a scrambled stimulus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Menda and colleagues compared fly, spider and scrambled-fly images at controlled visual positions. </a:t>
            </a:r>
            <a:r>
              <a:rPr sz="1600" b="1" i="0">
                <a:solidFill>
                  <a:srgbClr val="3C5268"/>
                </a:solidFill>
                <a:latin typeface="Arial"/>
              </a:rPr>
              <a:t>Scrambling</a:t>
            </a:r>
            <a:r>
              <a:rPr sz="1600" b="0" i="0">
                <a:solidFill>
                  <a:srgbClr val="252B32"/>
                </a:solidFill>
                <a:latin typeface="Arial"/>
              </a:rPr>
              <a:t> rearranged image parts while preserving elements of the original stimulus, testing whether responses depended on their organization rather than simply the presence of dark features.</a:t>
            </a:r>
          </a:p>
          <a:p>
            <a:pPr algn="l">
              <a:lnSpc>
                <a:spcPct val="108000"/>
              </a:lnSpc>
              <a:spcAft>
                <a:spcPts val="960"/>
              </a:spcAft>
            </a:pPr>
            <a:r>
              <a:rPr sz="1600" b="0" i="0">
                <a:solidFill>
                  <a:srgbClr val="252B32"/>
                </a:solidFill>
                <a:latin typeface="Arial"/>
              </a:rPr>
              <a:t>In the published example unit, a dorsal fly image evoked a median 14.9 spikes/s, a lateral fly image 10.0 spikes/s and the scrambled fly 5.9 spikes/s. Responses also varied with position; images were tested at horizontal offsets of 5°, 15° and 25° on either side.</a:t>
            </a:r>
          </a:p>
          <a:p>
            <a:pPr algn="l">
              <a:lnSpc>
                <a:spcPct val="108000"/>
              </a:lnSpc>
              <a:spcAft>
                <a:spcPts val="960"/>
              </a:spcAft>
            </a:pPr>
            <a:r>
              <a:rPr sz="1600" b="0" i="0">
                <a:solidFill>
                  <a:srgbClr val="252B32"/>
                </a:solidFill>
                <a:latin typeface="Arial"/>
              </a:rPr>
              <a:t>Greater activity for an intact prey configuration supports sensitivity to spatial organization. An intact and a scrambled stimulus share many local image elements while differing in arrangement, so the comparison addresses configuration sensitivity more directly than a comparison with a blank field, and the response of the example unit also depended on position.</a:t>
            </a:r>
          </a:p>
        </p:txBody>
      </p:sp>
      <p:pic>
        <p:nvPicPr>
          <p:cNvPr id="4" name="Picture 3" descr="m14_f3.png"/>
          <p:cNvPicPr>
            <a:picLocks noChangeAspect="1"/>
          </p:cNvPicPr>
          <p:nvPr/>
        </p:nvPicPr>
        <p:blipFill>
          <a:blip r:embed="rId2"/>
          <a:stretch>
            <a:fillRect/>
          </a:stretch>
        </p:blipFill>
        <p:spPr>
          <a:xfrm>
            <a:off x="7050337" y="1280160"/>
            <a:ext cx="3936780" cy="2468880"/>
          </a:xfrm>
          <a:prstGeom prst="rect">
            <a:avLst/>
          </a:prstGeom>
        </p:spPr>
      </p:pic>
      <p:sp>
        <p:nvSpPr>
          <p:cNvPr id="5" name="Figure caption"/>
          <p:cNvSpPr txBox="1"/>
          <p:nvPr/>
        </p:nvSpPr>
        <p:spPr>
          <a:xfrm>
            <a:off x="6412687" y="38404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3(A–D). Natural and scrambled stimuli with central-unit responses.</a:t>
            </a:r>
          </a:p>
        </p:txBody>
      </p:sp>
      <p:pic>
        <p:nvPicPr>
          <p:cNvPr id="6" name="Picture 5" descr="m14_f1a.png"/>
          <p:cNvPicPr>
            <a:picLocks noChangeAspect="1"/>
          </p:cNvPicPr>
          <p:nvPr/>
        </p:nvPicPr>
        <p:blipFill>
          <a:blip r:embed="rId3"/>
          <a:stretch>
            <a:fillRect/>
          </a:stretch>
        </p:blipFill>
        <p:spPr>
          <a:xfrm>
            <a:off x="8147640" y="4297680"/>
            <a:ext cx="1742172" cy="146303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1(A). Arcuate-body anatomy near the recording site.</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One receptive field requires both eye systems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52B32"/>
                </a:solidFill>
                <a:latin typeface="Arial"/>
              </a:rPr>
              <a:t>A </a:t>
            </a:r>
            <a:r>
              <a:rPr sz="1450" b="1" i="0">
                <a:solidFill>
                  <a:srgbClr val="3C5268"/>
                </a:solidFill>
                <a:latin typeface="Arial"/>
              </a:rPr>
              <a:t>spatiotemporal receptive field</a:t>
            </a:r>
            <a:r>
              <a:rPr sz="1450" b="0" i="0">
                <a:solidFill>
                  <a:srgbClr val="252B32"/>
                </a:solidFill>
                <a:latin typeface="Arial"/>
              </a:rPr>
              <a:t> describes how stimulation at different positions and times relates to a neuron's response. Menda and colleagues estimated this relationship using rapidly changing checker patterns while selectively covering principal or lateral eyes in </a:t>
            </a:r>
            <a:r>
              <a:rPr sz="1450" b="0" i="1">
                <a:solidFill>
                  <a:srgbClr val="252B32"/>
                </a:solidFill>
                <a:latin typeface="Arial"/>
              </a:rPr>
              <a:t>Phidippus audax</a:t>
            </a:r>
            <a:r>
              <a:rPr sz="1450" b="0" i="0">
                <a:solidFill>
                  <a:srgbClr val="252B32"/>
                </a:solidFill>
                <a:latin typeface="Arial"/>
              </a:rPr>
              <a:t>.</a:t>
            </a:r>
          </a:p>
          <a:p>
            <a:pPr algn="l">
              <a:lnSpc>
                <a:spcPct val="108000"/>
              </a:lnSpc>
              <a:spcAft>
                <a:spcPts val="900"/>
              </a:spcAft>
            </a:pPr>
            <a:r>
              <a:rPr sz="1450" b="0" i="0">
                <a:solidFill>
                  <a:srgbClr val="252B32"/>
                </a:solidFill>
                <a:latin typeface="Arial"/>
              </a:rPr>
              <a:t>For one recorded unit, an organized receptive field emerged with both systems available but was not recovered with either system alone. The response-related pattern occupied a temporal interval approximately 80–160 ms before the measured spikes. Internal-pattern controls reduced a display-related correlation.</a:t>
            </a:r>
          </a:p>
          <a:p>
            <a:pPr algn="l">
              <a:lnSpc>
                <a:spcPct val="108000"/>
              </a:lnSpc>
              <a:spcAft>
                <a:spcPts val="900"/>
              </a:spcAft>
            </a:pPr>
            <a:r>
              <a:rPr sz="1450" b="0" i="0">
                <a:solidFill>
                  <a:srgbClr val="252B32"/>
                </a:solidFill>
                <a:latin typeface="Arial"/>
              </a:rPr>
              <a:t>The dependence supports nonlinear convergence of principal and secondary visual inputs at or before this unit. Removing one eye system changed whether a structured field could be recovered, so a unit that required both inputs is not explained by an independent response from either system alone, and the interval of roughly 80–160 ms before the spikes constrains the timing of the response-related pattern. The anatomical pathways mapped in Marpissa supply a comparative account of how such inputs can converge.</a:t>
            </a:r>
          </a:p>
        </p:txBody>
      </p:sp>
      <p:pic>
        <p:nvPicPr>
          <p:cNvPr id="4" name="Picture 3" descr="m14_f4.png"/>
          <p:cNvPicPr>
            <a:picLocks noChangeAspect="1"/>
          </p:cNvPicPr>
          <p:nvPr/>
        </p:nvPicPr>
        <p:blipFill>
          <a:blip r:embed="rId2"/>
          <a:stretch>
            <a:fillRect/>
          </a:stretch>
        </p:blipFill>
        <p:spPr>
          <a:xfrm>
            <a:off x="7281256" y="1280160"/>
            <a:ext cx="347494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4(A–D). Eye occlusion changes the measured spatiotemporal receptive field.</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Histamine labels sensory axons and terminals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a:t>
            </a:r>
            <a:r>
              <a:rPr sz="1600" b="1" i="0">
                <a:solidFill>
                  <a:srgbClr val="3C5268"/>
                </a:solidFill>
                <a:latin typeface="Arial"/>
              </a:rPr>
              <a:t>neurotransmitter</a:t>
            </a:r>
            <a:r>
              <a:rPr sz="1600" b="0" i="0">
                <a:solidFill>
                  <a:srgbClr val="252B32"/>
                </a:solidFill>
                <a:latin typeface="Arial"/>
              </a:rPr>
              <a:t> is a chemical released by a neuron to influence another cell. Steinhoff and colleagues used histamine antibodies to examine sensory axons and their terminal regions in </a:t>
            </a:r>
            <a:r>
              <a:rPr sz="1600" b="0" i="1">
                <a:solidFill>
                  <a:srgbClr val="252B32"/>
                </a:solidFill>
                <a:latin typeface="Arial"/>
              </a:rPr>
              <a:t>Marpissa muscosa</a:t>
            </a:r>
            <a:r>
              <a:rPr sz="1600" b="0" i="0">
                <a:solidFill>
                  <a:srgbClr val="252B32"/>
                </a:solidFill>
                <a:latin typeface="Arial"/>
              </a:rPr>
              <a:t>, linking a candidate transmitter to mapped visual anatomy.</a:t>
            </a:r>
          </a:p>
          <a:p>
            <a:pPr algn="l">
              <a:lnSpc>
                <a:spcPct val="108000"/>
              </a:lnSpc>
              <a:spcAft>
                <a:spcPts val="960"/>
              </a:spcAft>
            </a:pPr>
            <a:r>
              <a:rPr sz="1600" b="0" i="0">
                <a:solidFill>
                  <a:srgbClr val="252B32"/>
                </a:solidFill>
                <a:latin typeface="Arial"/>
              </a:rPr>
              <a:t>Histamine immunoreactivity was prominent in secondary-eye axons and first-order terminal regions, including AL1, PL1 and PM1. </a:t>
            </a:r>
            <a:r>
              <a:rPr sz="1600" b="1" i="0">
                <a:solidFill>
                  <a:srgbClr val="3C5268"/>
                </a:solidFill>
                <a:latin typeface="Arial"/>
              </a:rPr>
              <a:t>Immunoreactivity</a:t>
            </a:r>
            <a:r>
              <a:rPr sz="1600" b="0" i="0">
                <a:solidFill>
                  <a:srgbClr val="252B32"/>
                </a:solidFill>
                <a:latin typeface="Arial"/>
              </a:rPr>
              <a:t> means that the tissue binds an antibody recognizing the target; it is evidence of molecular presence at those locations.</a:t>
            </a:r>
          </a:p>
          <a:p>
            <a:pPr algn="l">
              <a:lnSpc>
                <a:spcPct val="108000"/>
              </a:lnSpc>
              <a:spcAft>
                <a:spcPts val="960"/>
              </a:spcAft>
            </a:pPr>
            <a:r>
              <a:rPr sz="1600" b="0" i="0">
                <a:solidFill>
                  <a:srgbClr val="252B32"/>
                </a:solidFill>
                <a:latin typeface="Arial"/>
              </a:rPr>
              <a:t>The candidate transmitter is localized in the processes that carry sensory information into the brain, and its presence in the terminal regions is consistent with a chemical role in transmission from photoreceptors, a histaminergic pathway. Antibody labeling reports molecular recognition in tissue, whereas release, receptor activation and membrane current during a visual stimulus require physiological measurement.</a:t>
            </a:r>
          </a:p>
        </p:txBody>
      </p:sp>
      <p:pic>
        <p:nvPicPr>
          <p:cNvPr id="4" name="Picture 3" descr="s20_f8.png"/>
          <p:cNvPicPr>
            <a:picLocks noChangeAspect="1"/>
          </p:cNvPicPr>
          <p:nvPr/>
        </p:nvPicPr>
        <p:blipFill>
          <a:blip r:embed="rId2"/>
          <a:stretch>
            <a:fillRect/>
          </a:stretch>
        </p:blipFill>
        <p:spPr>
          <a:xfrm>
            <a:off x="7205241" y="1280160"/>
            <a:ext cx="3626970" cy="1691640"/>
          </a:xfrm>
          <a:prstGeom prst="rect">
            <a:avLst/>
          </a:prstGeom>
        </p:spPr>
      </p:pic>
      <p:sp>
        <p:nvSpPr>
          <p:cNvPr id="5" name="Figure caption"/>
          <p:cNvSpPr txBox="1"/>
          <p:nvPr/>
        </p:nvSpPr>
        <p:spPr>
          <a:xfrm>
            <a:off x="6412687" y="30632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Steinhoff et al. (2020), Fig. 8(a–c). Histamine immunoreactivity in secondary-eye axons and terminals.</a:t>
            </a:r>
          </a:p>
        </p:txBody>
      </p:sp>
      <p:pic>
        <p:nvPicPr>
          <p:cNvPr id="6" name="Picture 5" descr="s20_f6.png"/>
          <p:cNvPicPr>
            <a:picLocks noChangeAspect="1"/>
          </p:cNvPicPr>
          <p:nvPr/>
        </p:nvPicPr>
        <p:blipFill>
          <a:blip r:embed="rId3"/>
          <a:stretch>
            <a:fillRect/>
          </a:stretch>
        </p:blipFill>
        <p:spPr>
          <a:xfrm>
            <a:off x="8004795" y="3520440"/>
            <a:ext cx="2027862" cy="22402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Steinhoff et al. (2020), Fig. 6(a–d). First-order neuropils receiving those sensory inputs.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Steinhoff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Key takeaways</a:t>
            </a:r>
          </a:p>
        </p:txBody>
      </p:sp>
      <p:sp>
        <p:nvSpPr>
          <p:cNvPr id="3" name="Rectangle 2"/>
          <p:cNvSpPr/>
          <p:nvPr/>
        </p:nvSpPr>
        <p:spPr>
          <a:xfrm>
            <a:off x="566928" y="1234440"/>
            <a:ext cx="5391759" cy="1478279"/>
          </a:xfrm>
          <a:prstGeom prst="rect">
            <a:avLst/>
          </a:prstGeom>
          <a:solidFill>
            <a:srgbClr val="F0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Complementary eye systems</a:t>
            </a:r>
            <a:r>
              <a:rPr sz="1600" b="0" i="0">
                <a:solidFill>
                  <a:srgbClr val="252B32"/>
                </a:solidFill>
                <a:latin typeface="Arial"/>
              </a:rPr>
              <a:t> Lateral eyes support detection and orientation; movable principal retinas provide restricted, fine-scale visual sampling.</a:t>
            </a:r>
          </a:p>
        </p:txBody>
      </p:sp>
      <p:sp>
        <p:nvSpPr>
          <p:cNvPr id="5" name="Rectangle 4"/>
          <p:cNvSpPr/>
          <p:nvPr/>
        </p:nvSpPr>
        <p:spPr>
          <a:xfrm>
            <a:off x="6233007" y="1234440"/>
            <a:ext cx="5391759" cy="1478279"/>
          </a:xfrm>
          <a:prstGeom prst="rect">
            <a:avLst/>
          </a:prstGeom>
          <a:solidFill>
            <a:srgbClr val="F0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Layered principal retina</a:t>
            </a:r>
            <a:r>
              <a:rPr sz="1600" b="0" i="0">
                <a:solidFill>
                  <a:srgbClr val="252B32"/>
                </a:solidFill>
                <a:latin typeface="Arial"/>
              </a:rPr>
              <a:t> Four receptor depths separate optical sampling; pigment identity, focus and receptor spacing are distinct properties.</a:t>
            </a:r>
          </a:p>
        </p:txBody>
      </p:sp>
      <p:sp>
        <p:nvSpPr>
          <p:cNvPr id="7" name="Rectangle 6"/>
          <p:cNvSpPr/>
          <p:nvPr/>
        </p:nvSpPr>
        <p:spPr>
          <a:xfrm>
            <a:off x="566928" y="2987040"/>
            <a:ext cx="5391759" cy="1478279"/>
          </a:xfrm>
          <a:prstGeom prst="rect">
            <a:avLst/>
          </a:prstGeom>
          <a:solidFill>
            <a:srgbClr val="F0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Defocus-based depth</a:t>
            </a:r>
            <a:r>
              <a:rPr sz="1600" b="0" i="0">
                <a:solidFill>
                  <a:srgbClr val="252B32"/>
                </a:solidFill>
                <a:latin typeface="Arial"/>
              </a:rPr>
              <a:t> Hasarius can jump accurately with one principal eye; red-light undershooting and intensity controls support a distance cue from image blur.</a:t>
            </a:r>
          </a:p>
        </p:txBody>
      </p:sp>
      <p:sp>
        <p:nvSpPr>
          <p:cNvPr id="9" name="Rectangle 8"/>
          <p:cNvSpPr/>
          <p:nvPr/>
        </p:nvSpPr>
        <p:spPr>
          <a:xfrm>
            <a:off x="6233007" y="2987040"/>
            <a:ext cx="5391759" cy="1478279"/>
          </a:xfrm>
          <a:prstGeom prst="rect">
            <a:avLst/>
          </a:prstGeom>
          <a:solidFill>
            <a:srgbClr val="F0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Spectral specialization</a:t>
            </a:r>
            <a:r>
              <a:rPr sz="1600" b="0" i="0">
                <a:solidFill>
                  <a:srgbClr val="252B32"/>
                </a:solidFill>
                <a:latin typeface="Arial"/>
              </a:rPr>
              <a:t> Ultraviolet and green channels occur in principal eyes; Habronattus filtering predicts an additional red-shifted channel without a third opsin.</a:t>
            </a:r>
          </a:p>
        </p:txBody>
      </p:sp>
      <p:sp>
        <p:nvSpPr>
          <p:cNvPr id="11" name="Rectangle 10"/>
          <p:cNvSpPr/>
          <p:nvPr/>
        </p:nvSpPr>
        <p:spPr>
          <a:xfrm>
            <a:off x="566928" y="4739640"/>
            <a:ext cx="5391759" cy="1478279"/>
          </a:xfrm>
          <a:prstGeom prst="rect">
            <a:avLst/>
          </a:prstGeom>
          <a:solidFill>
            <a:srgbClr val="F0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C5268"/>
                </a:solidFill>
                <a:latin typeface="Arial"/>
              </a:rPr>
              <a:t>Active visual sampling</a:t>
            </a:r>
            <a:r>
              <a:rPr sz="1600" b="0" i="0">
                <a:solidFill>
                  <a:srgbClr val="252B32"/>
                </a:solidFill>
                <a:latin typeface="Arial"/>
              </a:rPr>
              <a:t> Body saccades, retinal tracking and scanning are distinct motor outputs; lateral input guides principal-eye tracking.</a:t>
            </a:r>
          </a:p>
        </p:txBody>
      </p:sp>
      <p:sp>
        <p:nvSpPr>
          <p:cNvPr id="13" name="Rectangle 12"/>
          <p:cNvSpPr/>
          <p:nvPr/>
        </p:nvSpPr>
        <p:spPr>
          <a:xfrm>
            <a:off x="6233007" y="4739640"/>
            <a:ext cx="5391759" cy="1478279"/>
          </a:xfrm>
          <a:prstGeom prst="rect">
            <a:avLst/>
          </a:prstGeom>
          <a:solidFill>
            <a:srgbClr val="F0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C5268"/>
                </a:solidFill>
                <a:latin typeface="Arial"/>
              </a:rPr>
              <a:t>Central integration and limits</a:t>
            </a:r>
            <a:r>
              <a:rPr sz="1500" b="0" i="0">
                <a:solidFill>
                  <a:srgbClr val="252B32"/>
                </a:solidFill>
                <a:latin typeface="Arial"/>
              </a:rPr>
              <a:t> Mapped pathways and eye-dependent receptive fields support visual convergence, while the comparing cells, postsynaptic receptors and ion channels remain unresolved.</a:t>
            </a:r>
          </a:p>
        </p:txBody>
      </p:sp>
      <p:sp>
        <p:nvSpPr>
          <p:cNvPr id="15" name="Rectangle 14"/>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 1969b, 1971); Nagata et al. (2012); Zurek et al. (2015); Jakob et al. (2018); Menda et al. (2014); Steinhoff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receptive field combines position and time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52B32"/>
                </a:solidFill>
                <a:latin typeface="Arial"/>
              </a:rPr>
              <a:t>A spatiotemporal receptive field describes how stimulation at different positions and at different times relates to a neuron's response. It therefore has a spatial arrangement and a time dependence, instead of a single preferred location.</a:t>
            </a:r>
          </a:p>
          <a:p>
            <a:pPr algn="l">
              <a:lnSpc>
                <a:spcPct val="108000"/>
              </a:lnSpc>
              <a:spcAft>
                <a:spcPts val="900"/>
              </a:spcAft>
            </a:pPr>
            <a:r>
              <a:rPr sz="1450" b="0" i="0">
                <a:solidFill>
                  <a:srgbClr val="252B32"/>
                </a:solidFill>
                <a:latin typeface="Arial"/>
              </a:rPr>
              <a:t>Menda and colleagues presented rapidly changing checker patterns and related the pattern preceding each spike to the recorded spike times. For one unit, an organized receptive field emerged when both the principal and the lateral eyes were available, and it occupied an interval approximately 80–160 ms before the spikes.</a:t>
            </a:r>
          </a:p>
          <a:p>
            <a:pPr algn="l">
              <a:lnSpc>
                <a:spcPct val="108000"/>
              </a:lnSpc>
              <a:spcAft>
                <a:spcPts val="900"/>
              </a:spcAft>
            </a:pPr>
            <a:r>
              <a:rPr sz="1450" b="0" i="0">
                <a:solidFill>
                  <a:srgbClr val="252B32"/>
                </a:solidFill>
                <a:latin typeface="Arial"/>
              </a:rPr>
              <a:t>Neither eye system alone recovered a structured field, so the unit is not explained by an independent response from either system. The dependence indicates nonlinear convergence of principal and secondary visual inputs at or before this unit.</a:t>
            </a:r>
          </a:p>
        </p:txBody>
      </p:sp>
      <p:pic>
        <p:nvPicPr>
          <p:cNvPr id="4" name="Picture 3" descr="m14_f4.png"/>
          <p:cNvPicPr>
            <a:picLocks noChangeAspect="1"/>
          </p:cNvPicPr>
          <p:nvPr/>
        </p:nvPicPr>
        <p:blipFill>
          <a:blip r:embed="rId2"/>
          <a:stretch>
            <a:fillRect/>
          </a:stretch>
        </p:blipFill>
        <p:spPr>
          <a:xfrm>
            <a:off x="7281256" y="1280160"/>
            <a:ext cx="347494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4(A–D). Eye occlusion changes the measured spatiotemporal receptive field.</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 Steinhoff et al. (2020)</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44a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Spike sorting turns extracellular traces into units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52B32"/>
                </a:solidFill>
                <a:latin typeface="Arial"/>
              </a:rPr>
              <a:t>An extracellular electrode detects the electrical activity of neurons near its tip, and each action potential appears as a brief waveform. When several neurons lie near the electrode, their spikes appear together in the same trace.</a:t>
            </a:r>
          </a:p>
          <a:p>
            <a:pPr algn="l">
              <a:lnSpc>
                <a:spcPct val="108000"/>
              </a:lnSpc>
              <a:spcAft>
                <a:spcPts val="900"/>
              </a:spcAft>
            </a:pPr>
            <a:r>
              <a:rPr sz="1500" b="0" i="0">
                <a:solidFill>
                  <a:srgbClr val="252B32"/>
                </a:solidFill>
                <a:latin typeface="Arial"/>
              </a:rPr>
              <a:t>Spike sorting separates candidate units by waveform features, so the spike times of each unit can be analyzed on their own. Menda and colleagues paired visual stimulation with stable recordings lasting hours from Phidippus audax, using a glass-insulated tungsten electrode advanced through an opening of approximately 100–200 µm.</a:t>
            </a:r>
          </a:p>
          <a:p>
            <a:pPr algn="l">
              <a:lnSpc>
                <a:spcPct val="108000"/>
              </a:lnSpc>
              <a:spcAft>
                <a:spcPts val="900"/>
              </a:spcAft>
            </a:pPr>
            <a:r>
              <a:rPr sz="1500" b="0" i="0">
                <a:solidFill>
                  <a:srgbClr val="252B32"/>
                </a:solidFill>
                <a:latin typeface="Arial"/>
              </a:rPr>
              <a:t>A spike raster records the times of action potentials across repeated presentations of the same stimulus. A unit that fires at consistent times in the sequence responds to that stimulus, and the stimulus position, velocity and direction are known independently of the recorded spikes.</a:t>
            </a:r>
          </a:p>
        </p:txBody>
      </p:sp>
      <p:pic>
        <p:nvPicPr>
          <p:cNvPr id="4" name="Picture 3" descr="m14_f1.png"/>
          <p:cNvPicPr>
            <a:picLocks noChangeAspect="1"/>
          </p:cNvPicPr>
          <p:nvPr/>
        </p:nvPicPr>
        <p:blipFill>
          <a:blip r:embed="rId2"/>
          <a:stretch>
            <a:fillRect/>
          </a:stretch>
        </p:blipFill>
        <p:spPr>
          <a:xfrm>
            <a:off x="7962831" y="1280160"/>
            <a:ext cx="211179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Menda et al. (2014), Fig. 1(A–D). Recording approach, arcuate-body anatomy and spike separation.</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Menda et al. (2014)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41a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Masking tests dependence by removing one input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Masking an eye pair removes one source of visual input while leaving the rest of the animal intact, so a change in behavior after masking indicates that the covered input contributed to that behavior. Jakob and colleagues recorded internal principal-eye movements in restrained Phidippus audax before and after covering the anterior lateral eyes.</a:t>
            </a:r>
          </a:p>
          <a:p>
            <a:pPr algn="l">
              <a:lnSpc>
                <a:spcPct val="108000"/>
              </a:lnSpc>
              <a:spcAft>
                <a:spcPts val="960"/>
              </a:spcAft>
            </a:pPr>
            <a:r>
              <a:rPr sz="1500" b="0" i="0">
                <a:solidFill>
                  <a:srgbClr val="252B32"/>
                </a:solidFill>
                <a:latin typeface="Arial"/>
              </a:rPr>
              <a:t>Moving disks with diameters of 3°, 4° and 5° and speeds from 2.77 to 15.13°/s were presented. Principal retinas followed the moving targets when the lateral eyes were available, and covering the lateral eyes disrupted the target-linked movements.</a:t>
            </a:r>
          </a:p>
          <a:p>
            <a:pPr algn="l">
              <a:lnSpc>
                <a:spcPct val="108000"/>
              </a:lnSpc>
              <a:spcAft>
                <a:spcPts val="960"/>
              </a:spcAft>
            </a:pPr>
            <a:r>
              <a:rPr sz="1500" b="0" i="0">
                <a:solidFill>
                  <a:srgbClr val="252B32"/>
                </a:solidFill>
                <a:latin typeface="Arial"/>
              </a:rPr>
              <a:t>A control is needed to separate lost sensory guidance from damage to the motor apparatus. Principal-eye scanning of stationary cricket and oval stimuli persisted after masking, so the retina could still move and the deficit lay in guidance by the lateral eyes.</a:t>
            </a:r>
          </a:p>
        </p:txBody>
      </p:sp>
      <p:pic>
        <p:nvPicPr>
          <p:cNvPr id="4" name="Picture 3" descr="j18_f1.png"/>
          <p:cNvPicPr>
            <a:picLocks noChangeAspect="1"/>
          </p:cNvPicPr>
          <p:nvPr/>
        </p:nvPicPr>
        <p:blipFill>
          <a:blip r:embed="rId2"/>
          <a:stretch>
            <a:fillRect/>
          </a:stretch>
        </p:blipFill>
        <p:spPr>
          <a:xfrm>
            <a:off x="6412687" y="1280160"/>
            <a:ext cx="5212080" cy="2663952"/>
          </a:xfrm>
          <a:prstGeom prst="rect">
            <a:avLst/>
          </a:prstGeom>
        </p:spPr>
      </p:pic>
      <p:sp>
        <p:nvSpPr>
          <p:cNvPr id="5" name="Figure caption"/>
          <p:cNvSpPr txBox="1"/>
          <p:nvPr/>
        </p:nvSpPr>
        <p:spPr>
          <a:xfrm>
            <a:off x="6412687" y="40355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Jakob et al. (2018), Fig. 1(A–E). Principal-eye movements with anterior lateral eyes available or masked.</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Jakob et al.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36a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Open-loop tests remove feedback from the movement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52B32"/>
                </a:solidFill>
                <a:latin typeface="Arial"/>
              </a:rPr>
              <a:t>An open-loop movement proceeds without the usual feedback about its ongoing effect. In a freely turning spider, the target shifts across the retina as the body rotates toward it, and that change can signal when to correct or stop the movement.</a:t>
            </a:r>
          </a:p>
          <a:p>
            <a:pPr algn="l">
              <a:lnSpc>
                <a:spcPct val="108000"/>
              </a:lnSpc>
              <a:spcAft>
                <a:spcPts val="960"/>
              </a:spcAft>
            </a:pPr>
            <a:r>
              <a:rPr sz="1550" b="0" i="0">
                <a:solidFill>
                  <a:srgbClr val="252B32"/>
                </a:solidFill>
                <a:latin typeface="Arial"/>
              </a:rPr>
              <a:t>Land held the body of Metaphidippus fixed while its feet rotated a lightweight ring beneath it. The attempted turn was recorded, but it did not change the target's direction relative to the eyes, so the retinal consequence of the turn was removed.</a:t>
            </a:r>
          </a:p>
          <a:p>
            <a:pPr algn="l">
              <a:lnSpc>
                <a:spcPct val="108000"/>
              </a:lnSpc>
              <a:spcAft>
                <a:spcPts val="960"/>
              </a:spcAft>
            </a:pPr>
            <a:r>
              <a:rPr sz="1550" b="0" i="0">
                <a:solidFill>
                  <a:srgbClr val="252B32"/>
                </a:solidFill>
                <a:latin typeface="Arial"/>
              </a:rPr>
              <a:t>Target movement and ring position were recorded separately with calibrated devices, which makes the attempted turn measurable without its visual consequences. Many turns still matched the initial target angle, so accurate turning can proceed without that feedback.</a:t>
            </a:r>
          </a:p>
        </p:txBody>
      </p:sp>
      <p:pic>
        <p:nvPicPr>
          <p:cNvPr id="4" name="Picture 3" descr="l71_f2a.png"/>
          <p:cNvPicPr>
            <a:picLocks noChangeAspect="1"/>
          </p:cNvPicPr>
          <p:nvPr/>
        </p:nvPicPr>
        <p:blipFill>
          <a:blip r:embed="rId2"/>
          <a:stretch>
            <a:fillRect/>
          </a:stretch>
        </p:blipFill>
        <p:spPr>
          <a:xfrm>
            <a:off x="6898647" y="1280160"/>
            <a:ext cx="424015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(1971), Fig. 2(a). Apparatus holding the body while the feet rotate a ring.</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(1971)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33a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Spontaneous shifts and evoked saccades are separable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saccade is a rapid shift that repositions a visual sampling region. Land distinguished two classes of principal-eye movement: spontaneous activity, which occurs without an effective target, and saccades evoked by small target displacements.</a:t>
            </a:r>
          </a:p>
          <a:p>
            <a:pPr algn="l">
              <a:lnSpc>
                <a:spcPct val="108000"/>
              </a:lnSpc>
              <a:spcAft>
                <a:spcPts val="960"/>
              </a:spcAft>
            </a:pPr>
            <a:r>
              <a:rPr sz="1600" b="0" i="0">
                <a:solidFill>
                  <a:srgbClr val="252B32"/>
                </a:solidFill>
                <a:latin typeface="Arial"/>
              </a:rPr>
              <a:t>Spontaneous activity included irregular shifts and periods of rapid movement, and it persisted when the visual field was blank and could occur after the eyes were covered. A visible target is therefore not required for these movements.</a:t>
            </a:r>
          </a:p>
          <a:p>
            <a:pPr algn="l">
              <a:lnSpc>
                <a:spcPct val="108000"/>
              </a:lnSpc>
              <a:spcAft>
                <a:spcPts val="960"/>
              </a:spcAft>
            </a:pPr>
            <a:r>
              <a:rPr sz="1600" b="0" i="0">
                <a:solidFill>
                  <a:srgbClr val="252B32"/>
                </a:solidFill>
                <a:latin typeface="Arial"/>
              </a:rPr>
              <a:t>A small displacement of a target evoked an abrupt directed shift toward it followed by a slower return, a stereotyped sequence with a clear relation to the stimulus. Spontaneous records were more variable, and the two classes differ in how much they depend on visual input.</a:t>
            </a:r>
          </a:p>
        </p:txBody>
      </p:sp>
      <p:pic>
        <p:nvPicPr>
          <p:cNvPr id="4" name="Picture 3" descr="b69_f7.png"/>
          <p:cNvPicPr>
            <a:picLocks noChangeAspect="1"/>
          </p:cNvPicPr>
          <p:nvPr/>
        </p:nvPicPr>
        <p:blipFill>
          <a:blip r:embed="rId2"/>
          <a:stretch>
            <a:fillRect/>
          </a:stretch>
        </p:blipFill>
        <p:spPr>
          <a:xfrm>
            <a:off x="6412687" y="1280160"/>
            <a:ext cx="5212080" cy="2735959"/>
          </a:xfrm>
          <a:prstGeom prst="rect">
            <a:avLst/>
          </a:prstGeom>
        </p:spPr>
      </p:pic>
      <p:sp>
        <p:nvSpPr>
          <p:cNvPr id="5" name="Figure caption"/>
          <p:cNvSpPr txBox="1"/>
          <p:nvPr/>
        </p:nvSpPr>
        <p:spPr>
          <a:xfrm>
            <a:off x="6412687" y="410755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7(a, b). Spontaneous movements and stimulus-evoked saccades.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27a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Retinal movement has horizontal and torsional parts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Land's dissections in Metaphidippus identified six muscles on each principal eye. Four muscles displace the retinal assembly in horizontal or vertical directions, shifting the direction of gaze, and two thinner bands wrap around the tube and rotate it about its viewing axis.</a:t>
            </a:r>
          </a:p>
          <a:p>
            <a:pPr algn="l">
              <a:lnSpc>
                <a:spcPct val="108000"/>
              </a:lnSpc>
              <a:spcAft>
                <a:spcPts val="960"/>
              </a:spcAft>
            </a:pPr>
            <a:r>
              <a:rPr sz="1600" b="0" i="0">
                <a:solidFill>
                  <a:srgbClr val="252B32"/>
                </a:solidFill>
                <a:latin typeface="Arial"/>
              </a:rPr>
              <a:t>Torsion is rotation around the optical axis, which changes the orientation of the receptor rows relative to a target without shifting where the eye points. Horizontal displacement changes the direction sampled, so the two actions change different properties of the image that the retina collects.</a:t>
            </a:r>
          </a:p>
          <a:p>
            <a:pPr algn="l">
              <a:lnSpc>
                <a:spcPct val="108000"/>
              </a:lnSpc>
              <a:spcAft>
                <a:spcPts val="960"/>
              </a:spcAft>
            </a:pPr>
            <a:r>
              <a:rPr sz="1600" b="0" i="0">
                <a:solidFill>
                  <a:srgbClr val="252B32"/>
                </a:solidFill>
                <a:latin typeface="Arial"/>
              </a:rPr>
              <a:t>Because the large anterior lens stays fixed while the retina moves inside the eye, muscles acting on the tube can move the sampled image without a conspicuous rotation of the external eye. The mechanical arrangement supplies translation and rotation as separate actions.</a:t>
            </a:r>
          </a:p>
        </p:txBody>
      </p:sp>
      <p:pic>
        <p:nvPicPr>
          <p:cNvPr id="4" name="Picture 3" descr="b69_f2.png"/>
          <p:cNvPicPr>
            <a:picLocks noChangeAspect="1"/>
          </p:cNvPicPr>
          <p:nvPr/>
        </p:nvPicPr>
        <p:blipFill>
          <a:blip r:embed="rId2"/>
          <a:stretch>
            <a:fillRect/>
          </a:stretch>
        </p:blipFill>
        <p:spPr>
          <a:xfrm>
            <a:off x="7037510" y="1280160"/>
            <a:ext cx="396243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(1969b), Fig. 2. Six principal-eye muscles around the movable retinal tube.</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(1969b)</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24a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filter creates a spectral channel without a new opsin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spectral filter changes which wavelengths reach a receptor by absorbing some more strongly than others. Habronattus pyrrithrix has a red, long-pass filter in part of its principal-eye retina, and a long-pass filter preferentially transmits longer wavelengths.</a:t>
            </a:r>
          </a:p>
          <a:p>
            <a:pPr algn="l">
              <a:lnSpc>
                <a:spcPct val="108000"/>
              </a:lnSpc>
              <a:spcAft>
                <a:spcPts val="960"/>
              </a:spcAft>
            </a:pPr>
            <a:r>
              <a:rPr sz="1600" b="0" i="0">
                <a:solidFill>
                  <a:srgbClr val="252B32"/>
                </a:solidFill>
                <a:latin typeface="Arial"/>
              </a:rPr>
              <a:t>The filter acts before photon absorption by the pigment. Removing more short-wavelength light changes the effective sensitivity of an otherwise green-sensitive receptor, so combining the green pigment's sensitivity with the measured filter transmission predicts a peak near 626 nm.</a:t>
            </a:r>
          </a:p>
          <a:p>
            <a:pPr algn="l">
              <a:lnSpc>
                <a:spcPct val="108000"/>
              </a:lnSpc>
              <a:spcAft>
                <a:spcPts val="960"/>
              </a:spcAft>
            </a:pPr>
            <a:r>
              <a:rPr sz="1600" b="0" i="0">
                <a:solidFill>
                  <a:srgbClr val="252B32"/>
                </a:solidFill>
                <a:latin typeface="Arial"/>
              </a:rPr>
              <a:t>An additional effective spectral channel can therefore arise by filtering an existing pigment class instead of adding a third opsin. With ultraviolet-sensitive pigment, unfiltered green receptors and filtered receptors, the retina has the optical basis for three spectral channels.</a:t>
            </a:r>
          </a:p>
        </p:txBody>
      </p:sp>
      <p:pic>
        <p:nvPicPr>
          <p:cNvPr id="4" name="Picture 3" descr="z15_f1bc.png"/>
          <p:cNvPicPr>
            <a:picLocks noChangeAspect="1"/>
          </p:cNvPicPr>
          <p:nvPr/>
        </p:nvPicPr>
        <p:blipFill>
          <a:blip r:embed="rId2"/>
          <a:stretch>
            <a:fillRect/>
          </a:stretch>
        </p:blipFill>
        <p:spPr>
          <a:xfrm>
            <a:off x="6871279" y="1280160"/>
            <a:ext cx="42948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1(B, C). A localized red filter in the principal retina.</a:t>
            </a:r>
          </a:p>
        </p:txBody>
      </p:sp>
      <p:pic>
        <p:nvPicPr>
          <p:cNvPr id="6" name="Picture 5" descr="z15_f1ghi.png"/>
          <p:cNvPicPr>
            <a:picLocks noChangeAspect="1"/>
          </p:cNvPicPr>
          <p:nvPr/>
        </p:nvPicPr>
        <p:blipFill>
          <a:blip r:embed="rId3"/>
          <a:stretch>
            <a:fillRect/>
          </a:stretch>
        </p:blipFill>
        <p:spPr>
          <a:xfrm>
            <a:off x="6982549" y="4251960"/>
            <a:ext cx="407235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1(G–I). Measured spectra and predicted filtered sensitivity.</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21a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Controls separate optical focus from photon capture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Changing the wavelength of illumination changes two things at once: where the image is focused and how efficiently the light activates the visual pigment. A shortened jump under red light could therefore reflect defocus, reduced photon capture, or both.</a:t>
            </a:r>
          </a:p>
          <a:p>
            <a:pPr algn="l">
              <a:lnSpc>
                <a:spcPct val="108000"/>
              </a:lnSpc>
              <a:spcAft>
                <a:spcPts val="960"/>
              </a:spcAft>
            </a:pPr>
            <a:r>
              <a:rPr sz="1500" b="0" i="0">
                <a:solidFill>
                  <a:srgbClr val="252B32"/>
                </a:solidFill>
                <a:latin typeface="Arial"/>
              </a:rPr>
              <a:t>Nagata and colleagues adjusted the green and red conditions to stimulate purified Rh1 with comparable efficiency, then raised the red intensity sixfold as an additional control. The jump-to-target-distance ratio remained approximately 0.89, close to the initial red value of approximately 0.90, so brighter red light did not restore the accuracy seen under green light.</a:t>
            </a:r>
          </a:p>
          <a:p>
            <a:pPr algn="l">
              <a:lnSpc>
                <a:spcPct val="108000"/>
              </a:lnSpc>
              <a:spcAft>
                <a:spcPts val="960"/>
              </a:spcAft>
            </a:pPr>
            <a:r>
              <a:rPr sz="1500" b="0" i="0">
                <a:solidFill>
                  <a:srgbClr val="252B32"/>
                </a:solidFill>
                <a:latin typeface="Arial"/>
              </a:rPr>
              <a:t>Because the direction and approximate size of the error survived a sixfold increase in red intensity, a reduction in effective brightness is inadequate to explain the shortened jumps. The result supports a wavelength-dependent optical contribution to the distance estimate.</a:t>
            </a:r>
          </a:p>
        </p:txBody>
      </p:sp>
      <p:pic>
        <p:nvPicPr>
          <p:cNvPr id="4" name="Picture 3" descr="n12_f3bc.png"/>
          <p:cNvPicPr>
            <a:picLocks noChangeAspect="1"/>
          </p:cNvPicPr>
          <p:nvPr/>
        </p:nvPicPr>
        <p:blipFill>
          <a:blip r:embed="rId2"/>
          <a:stretch>
            <a:fillRect/>
          </a:stretch>
        </p:blipFill>
        <p:spPr>
          <a:xfrm>
            <a:off x="6412687" y="1280160"/>
            <a:ext cx="5212080" cy="2944741"/>
          </a:xfrm>
          <a:prstGeom prst="rect">
            <a:avLst/>
          </a:prstGeom>
        </p:spPr>
      </p:pic>
      <p:sp>
        <p:nvSpPr>
          <p:cNvPr id="5" name="Figure caption"/>
          <p:cNvSpPr txBox="1"/>
          <p:nvPr/>
        </p:nvSpPr>
        <p:spPr>
          <a:xfrm>
            <a:off x="6412687" y="4316341"/>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3(B, C). Measured jump distances under green and red light.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18a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Wavelength changes blur across the retinal layers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52B32"/>
                </a:solidFill>
                <a:latin typeface="Arial"/>
              </a:rPr>
              <a:t>Chromatic aberration is a wavelength-dependent difference in optical focus. Green and red light form their sharpest images at different positions, so the same object at the same distance produces a different pattern of focus across the receptor layers under different illumination.</a:t>
            </a:r>
          </a:p>
          <a:p>
            <a:pPr algn="l">
              <a:lnSpc>
                <a:spcPct val="108000"/>
              </a:lnSpc>
              <a:spcAft>
                <a:spcPts val="960"/>
              </a:spcAft>
            </a:pPr>
            <a:r>
              <a:rPr sz="1450" b="0" i="0">
                <a:solidFill>
                  <a:srgbClr val="252B32"/>
                </a:solidFill>
                <a:latin typeface="Arial"/>
              </a:rPr>
              <a:t>In Hasarius adansoni, green-sensitive Rh1 occupies L1 and L2 and ultraviolet-sensitive Rh3 occupies L3 and L4. A green image is not sharply focused in L2 even though L2 contains green-sensitive receptors, so green-image blur is available to the retina.</a:t>
            </a:r>
          </a:p>
          <a:p>
            <a:pPr algn="l">
              <a:lnSpc>
                <a:spcPct val="108000"/>
              </a:lnSpc>
              <a:spcAft>
                <a:spcPts val="960"/>
              </a:spcAft>
            </a:pPr>
            <a:r>
              <a:rPr sz="1450" b="0" i="0">
                <a:solidFill>
                  <a:srgbClr val="252B32"/>
                </a:solidFill>
                <a:latin typeface="Arial"/>
              </a:rPr>
              <a:t>Optical sharpness can therefore carry information independently of a pigment's wavelength preference. A green-sensitive receptor in a layer that is out of focus for green light receives a blurred image, and the amount of blur depends on object distance, which is the basis of the distance cue proposed in Hasarius.</a:t>
            </a:r>
          </a:p>
        </p:txBody>
      </p:sp>
      <p:pic>
        <p:nvPicPr>
          <p:cNvPr id="4" name="Picture 3" descr="n12_f2.png"/>
          <p:cNvPicPr>
            <a:picLocks noChangeAspect="1"/>
          </p:cNvPicPr>
          <p:nvPr/>
        </p:nvPicPr>
        <p:blipFill>
          <a:blip r:embed="rId2"/>
          <a:stretch>
            <a:fillRect/>
          </a:stretch>
        </p:blipFill>
        <p:spPr>
          <a:xfrm>
            <a:off x="6412687" y="1280160"/>
            <a:ext cx="5212080" cy="1544139"/>
          </a:xfrm>
          <a:prstGeom prst="rect">
            <a:avLst/>
          </a:prstGeom>
        </p:spPr>
      </p:pic>
      <p:sp>
        <p:nvSpPr>
          <p:cNvPr id="5" name="Figure caption"/>
          <p:cNvSpPr txBox="1"/>
          <p:nvPr/>
        </p:nvSpPr>
        <p:spPr>
          <a:xfrm>
            <a:off x="6412687" y="291573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2(A–C). Rh1 in L1/L2 and ultraviolet-sensitive Rh3 in L3/L4.</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Nagata et al. (2012)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16a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Pigment absorption underlies receptor sensitivity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A visual pigment is a light-absorbing molecular complex containing an opsin protein, and the opsin contributes to the pigment's wavelength selectivity. A receptor's spectral sensitivity curve therefore follows the shape of the absorption of its pigment over much of the measured range.</a:t>
            </a:r>
          </a:p>
          <a:p>
            <a:pPr algn="l">
              <a:lnSpc>
                <a:spcPct val="108000"/>
              </a:lnSpc>
              <a:spcAft>
                <a:spcPts val="960"/>
              </a:spcAft>
            </a:pPr>
            <a:r>
              <a:rPr sz="1500" b="0" i="0">
                <a:solidFill>
                  <a:srgbClr val="252B32"/>
                </a:solidFill>
                <a:latin typeface="Arial"/>
              </a:rPr>
              <a:t>DeVoe measured sensitivity on a logarithmic axis, on which equal steps represent multiplicative changes in light intensity. A decline of more than four logarithmic units beyond approximately 460 nm in the ultraviolet class therefore represents an enormous intensity difference, which marks strong spectral selectivity.</a:t>
            </a:r>
          </a:p>
          <a:p>
            <a:pPr algn="l">
              <a:lnSpc>
                <a:spcPct val="108000"/>
              </a:lnSpc>
              <a:spcAft>
                <a:spcPts val="960"/>
              </a:spcAft>
            </a:pPr>
            <a:r>
              <a:rPr sz="1500" b="0" i="0">
                <a:solidFill>
                  <a:srgbClr val="252B32"/>
                </a:solidFill>
                <a:latin typeface="Arial"/>
              </a:rPr>
              <a:t>The green receptor class peaked near 532 nm in Phidippus, and the purified Rh1 pigment of Hasarius has an absorption maximum near 535 nm. Voltage sensitivity measured in cells and absorption measured in a purified pigment are complementary, and their similar green peaks support a pigment-based contribution to the green responses.</a:t>
            </a:r>
          </a:p>
        </p:txBody>
      </p:sp>
      <p:pic>
        <p:nvPicPr>
          <p:cNvPr id="4" name="Picture 3" descr="d75_f2.png"/>
          <p:cNvPicPr>
            <a:picLocks noChangeAspect="1"/>
          </p:cNvPicPr>
          <p:nvPr/>
        </p:nvPicPr>
        <p:blipFill>
          <a:blip r:embed="rId2"/>
          <a:stretch>
            <a:fillRect/>
          </a:stretch>
        </p:blipFill>
        <p:spPr>
          <a:xfrm>
            <a:off x="7580762" y="1280160"/>
            <a:ext cx="287593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2. Green sensitivity peaks near 532 nm.</a:t>
            </a:r>
          </a:p>
        </p:txBody>
      </p:sp>
      <p:pic>
        <p:nvPicPr>
          <p:cNvPr id="6" name="Picture 5" descr="n12_f2.png"/>
          <p:cNvPicPr>
            <a:picLocks noChangeAspect="1"/>
          </p:cNvPicPr>
          <p:nvPr/>
        </p:nvPicPr>
        <p:blipFill>
          <a:blip r:embed="rId3"/>
          <a:stretch>
            <a:fillRect/>
          </a:stretch>
        </p:blipFill>
        <p:spPr>
          <a:xfrm>
            <a:off x="6472397" y="4251960"/>
            <a:ext cx="5092659"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2(A–C). Rh1 pigment absorption and principal-eye localization.</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 Nagata et al. (2012)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14a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Graded potentials encode stimulus strength by amplitude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A graded potential is a change in membrane voltage whose size depends on the strength of the stimulus. DeVoe's recordings from principal-eye photoreceptors in Phidippus regius showed graded depolarizations: the membrane voltage became less negative by an amount that depended on the flash.</a:t>
            </a:r>
          </a:p>
          <a:p>
            <a:pPr algn="l">
              <a:lnSpc>
                <a:spcPct val="108000"/>
              </a:lnSpc>
              <a:spcAft>
                <a:spcPts val="960"/>
              </a:spcAft>
            </a:pPr>
            <a:r>
              <a:rPr sz="1600" b="0" i="0">
                <a:solidFill>
                  <a:srgbClr val="252B32"/>
                </a:solidFill>
                <a:latin typeface="Arial"/>
              </a:rPr>
              <a:t>Depolarization names the direction of the voltage change and does not by itself mean that the cell fires action potentials. An action potential has a fixed size, whereas a receptor's graded response carries information in its amplitude.</a:t>
            </a:r>
          </a:p>
          <a:p>
            <a:pPr algn="l">
              <a:lnSpc>
                <a:spcPct val="108000"/>
              </a:lnSpc>
              <a:spcAft>
                <a:spcPts val="960"/>
              </a:spcAft>
            </a:pPr>
            <a:r>
              <a:rPr sz="1600" b="0" i="0">
                <a:solidFill>
                  <a:srgbClr val="252B32"/>
                </a:solidFill>
                <a:latin typeface="Arial"/>
              </a:rPr>
              <a:t>DeVoe used calibrated flashes lasting 100 ms and a 5-mV voltage reference, so each response is expressed in millivolts and each stimulus in time. Varying wavelength and intensity while measuring response amplitude made it possible to compare the sensitivity of individual receptors to different wavelengths.</a:t>
            </a:r>
          </a:p>
        </p:txBody>
      </p:sp>
      <p:pic>
        <p:nvPicPr>
          <p:cNvPr id="4" name="Picture 3" descr="d75_f1.png"/>
          <p:cNvPicPr>
            <a:picLocks noChangeAspect="1"/>
          </p:cNvPicPr>
          <p:nvPr/>
        </p:nvPicPr>
        <p:blipFill>
          <a:blip r:embed="rId2"/>
          <a:stretch>
            <a:fillRect/>
          </a:stretch>
        </p:blipFill>
        <p:spPr>
          <a:xfrm>
            <a:off x="6412687" y="1280160"/>
            <a:ext cx="3703320" cy="3234545"/>
          </a:xfrm>
          <a:prstGeom prst="rect">
            <a:avLst/>
          </a:prstGeom>
        </p:spPr>
      </p:pic>
      <p:sp>
        <p:nvSpPr>
          <p:cNvPr id="5" name="Figure caption"/>
          <p:cNvSpPr txBox="1"/>
          <p:nvPr/>
        </p:nvSpPr>
        <p:spPr>
          <a:xfrm>
            <a:off x="6412687" y="4606145"/>
            <a:ext cx="370332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DeVoe (1975), Fig. 1. Responses to calibrated flashes in individual photoreceptors.</a:t>
            </a:r>
          </a:p>
        </p:txBody>
      </p:sp>
      <p:pic>
        <p:nvPicPr>
          <p:cNvPr id="6" name="Picture 5" descr="n12_f1c.png"/>
          <p:cNvPicPr>
            <a:picLocks noChangeAspect="1"/>
          </p:cNvPicPr>
          <p:nvPr/>
        </p:nvPicPr>
        <p:blipFill>
          <a:blip r:embed="rId3"/>
          <a:stretch>
            <a:fillRect/>
          </a:stretch>
        </p:blipFill>
        <p:spPr>
          <a:xfrm>
            <a:off x="10298887" y="2148840"/>
            <a:ext cx="1325880" cy="1541193"/>
          </a:xfrm>
          <a:prstGeom prst="rect">
            <a:avLst/>
          </a:prstGeom>
        </p:spPr>
      </p:pic>
      <p:sp>
        <p:nvSpPr>
          <p:cNvPr id="7" name="Figure caption"/>
          <p:cNvSpPr txBox="1"/>
          <p:nvPr/>
        </p:nvSpPr>
        <p:spPr>
          <a:xfrm>
            <a:off x="10298887" y="3763185"/>
            <a:ext cx="13258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Nagata et al. (2012), Fig. 1(C). The layered principal-eye organ in Hasarius.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DeVoe (1975)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12a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Object distance moves the sharp image across layers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52B32"/>
                </a:solidFill>
                <a:latin typeface="Arial"/>
              </a:rPr>
              <a:t>Focus is the optical condition in which rays from an object form a comparatively sharp image at a receptor plane. The principal retina has receptor layers at different depths behind a fixed optical system, so the sharp image of a near object and the sharp image of a far object fall on different layers.</a:t>
            </a:r>
          </a:p>
          <a:p>
            <a:pPr algn="l">
              <a:lnSpc>
                <a:spcPct val="108000"/>
              </a:lnSpc>
              <a:spcAft>
                <a:spcPts val="960"/>
              </a:spcAft>
            </a:pPr>
            <a:r>
              <a:rPr sz="1500" b="0" i="0">
                <a:solidFill>
                  <a:srgbClr val="252B32"/>
                </a:solidFill>
                <a:latin typeface="Arial"/>
              </a:rPr>
              <a:t>For blue-green light, Land found the best image near L2, while the deeper L1 could receive a focused image from an object at approximately 2 cm under the reported optical conditions. These values belong to a specific combination of wavelength, layer and optical conditions.</a:t>
            </a:r>
          </a:p>
          <a:p>
            <a:pPr algn="l">
              <a:lnSpc>
                <a:spcPct val="108000"/>
              </a:lnSpc>
              <a:spcAft>
                <a:spcPts val="960"/>
              </a:spcAft>
            </a:pPr>
            <a:r>
              <a:rPr sz="1500" b="0" i="0">
                <a:solidFill>
                  <a:srgbClr val="252B32"/>
                </a:solidFill>
                <a:latin typeface="Arial"/>
              </a:rPr>
              <a:t>Because the layers sit at different image distances, retinal depth is relevant to viewing distance: the same object can be sharp on one layer and blurred on another. The layered geometry can be retained while the assignment of a color to each layer is revised by later measurements.</a:t>
            </a:r>
          </a:p>
        </p:txBody>
      </p:sp>
      <p:pic>
        <p:nvPicPr>
          <p:cNvPr id="4" name="Picture 3" descr="a69_f12.png"/>
          <p:cNvPicPr>
            <a:picLocks noChangeAspect="1"/>
          </p:cNvPicPr>
          <p:nvPr/>
        </p:nvPicPr>
        <p:blipFill>
          <a:blip r:embed="rId2"/>
          <a:stretch>
            <a:fillRect/>
          </a:stretch>
        </p:blipFill>
        <p:spPr>
          <a:xfrm>
            <a:off x="6412687" y="1280160"/>
            <a:ext cx="5212080" cy="3655649"/>
          </a:xfrm>
          <a:prstGeom prst="rect">
            <a:avLst/>
          </a:prstGeom>
        </p:spPr>
      </p:pic>
      <p:sp>
        <p:nvSpPr>
          <p:cNvPr id="5" name="Figure caption"/>
          <p:cNvSpPr txBox="1"/>
          <p:nvPr/>
        </p:nvSpPr>
        <p:spPr>
          <a:xfrm>
            <a:off x="6412687" y="502724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12. Image positions for different object distances.</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09a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 movable retina steers the sampled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52B32"/>
                </a:solidFill>
                <a:latin typeface="Arial"/>
              </a:rPr>
              <a:t>In the principal eye of Phidippus and Metaphidippus, the lens is fixed in the carapace while the long retinal tube behind it can move. Moving the tube changes which direction is sampled through the lens, so the small receptor array can be aimed at different parts of the scene without turning the eye.</a:t>
            </a:r>
          </a:p>
          <a:p>
            <a:pPr algn="l">
              <a:lnSpc>
                <a:spcPct val="108000"/>
              </a:lnSpc>
              <a:spcAft>
                <a:spcPts val="960"/>
              </a:spcAft>
            </a:pPr>
            <a:r>
              <a:rPr sz="1600" b="0" i="0">
                <a:solidFill>
                  <a:srgbClr val="252B32"/>
                </a:solidFill>
                <a:latin typeface="Arial"/>
              </a:rPr>
              <a:t>The long focal length of the principal eye enlarges the image at the retina. Enlargement gives fine angular sampling, and the accompanying restricted field makes accurate alignment between the retina and a target necessary.</a:t>
            </a:r>
          </a:p>
          <a:p>
            <a:pPr algn="l">
              <a:lnSpc>
                <a:spcPct val="108000"/>
              </a:lnSpc>
              <a:spcAft>
                <a:spcPts val="960"/>
              </a:spcAft>
            </a:pPr>
            <a:r>
              <a:rPr sz="1600" b="0" i="0">
                <a:solidFill>
                  <a:srgbClr val="252B32"/>
                </a:solidFill>
                <a:latin typeface="Arial"/>
              </a:rPr>
              <a:t>The anterior lateral eyes provide the contrasting arrangement, a broad viewing field without a movable tube. A broad lateral field and a restricted principal field give different spatial access to a target, with the lateral eyes covering a wide region and the principal retina sampling a small part of it at high resolution.</a:t>
            </a:r>
          </a:p>
        </p:txBody>
      </p:sp>
      <p:pic>
        <p:nvPicPr>
          <p:cNvPr id="4" name="Picture 3" descr="a69_f1.png"/>
          <p:cNvPicPr>
            <a:picLocks noChangeAspect="1"/>
          </p:cNvPicPr>
          <p:nvPr/>
        </p:nvPicPr>
        <p:blipFill>
          <a:blip r:embed="rId2"/>
          <a:stretch>
            <a:fillRect/>
          </a:stretch>
        </p:blipFill>
        <p:spPr>
          <a:xfrm>
            <a:off x="7793977" y="1280160"/>
            <a:ext cx="2449498"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Land (1969a), Fig. 1. Principal and anterior lateral eye optics.</a:t>
            </a:r>
          </a:p>
        </p:txBody>
      </p:sp>
      <p:pic>
        <p:nvPicPr>
          <p:cNvPr id="6" name="Picture 5" descr="z15_f1bc.png"/>
          <p:cNvPicPr>
            <a:picLocks noChangeAspect="1"/>
          </p:cNvPicPr>
          <p:nvPr/>
        </p:nvPicPr>
        <p:blipFill>
          <a:blip r:embed="rId3"/>
          <a:stretch>
            <a:fillRect/>
          </a:stretch>
        </p:blipFill>
        <p:spPr>
          <a:xfrm>
            <a:off x="7681637" y="4251960"/>
            <a:ext cx="26741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(2015), Fig. 1(B, C). Principal-eye aperture and retinal filter in Habronattus.</a:t>
            </a:r>
          </a:p>
        </p:txBody>
      </p:sp>
      <p:sp>
        <p:nvSpPr>
          <p:cNvPr id="8" name="Rectangle 7"/>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Land (1969a)</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06a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C5268"/>
                </a:solidFill>
                <a:latin typeface="Arial"/>
              </a:rPr>
              <a:t>Angular size describes a target from the spider's viewpoint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600" b="0" i="0">
                <a:solidFill>
                  <a:srgbClr val="252B32"/>
                </a:solidFill>
                <a:latin typeface="Arial"/>
              </a:rPr>
              <a:t>Angular size is the extent of an object at the eye, measured in degrees, and it is independent of the object's physical size. A single angular diameter can be produced by different physical objects at different distances, so degrees describe the stimulus as the receptor array experiences it.</a:t>
            </a:r>
          </a:p>
          <a:p>
            <a:pPr algn="l">
              <a:lnSpc>
                <a:spcPct val="108000"/>
              </a:lnSpc>
              <a:spcAft>
                <a:spcPts val="1019"/>
              </a:spcAft>
            </a:pPr>
            <a:r>
              <a:rPr sz="1600" b="0" i="0">
                <a:solidFill>
                  <a:srgbClr val="252B32"/>
                </a:solidFill>
                <a:latin typeface="Arial"/>
              </a:rPr>
              <a:t>Zurek and colleagues placed screens 150 mm from the spider and varied the angular diameter of dark dots against a gray background. A 4° dot is the same visual stimulus whether a small target is near or a larger one is farther away, because the dot is specified at the eye.</a:t>
            </a:r>
          </a:p>
          <a:p>
            <a:pPr algn="l">
              <a:lnSpc>
                <a:spcPct val="108000"/>
              </a:lnSpc>
              <a:spcAft>
                <a:spcPts val="1019"/>
              </a:spcAft>
            </a:pPr>
            <a:r>
              <a:rPr sz="1600" b="0" i="0">
                <a:solidFill>
                  <a:srgbClr val="252B32"/>
                </a:solidFill>
                <a:latin typeface="Arial"/>
              </a:rPr>
              <a:t>The dots ranged from 0.5° to 8° in diameter, so the stimulus set spanned targets that occupy very different fractions of the retina. Angular size is the relevant variable for comparing a stimulus with the receptor array.</a:t>
            </a:r>
          </a:p>
        </p:txBody>
      </p:sp>
      <p:pic>
        <p:nvPicPr>
          <p:cNvPr id="4" name="Picture 3" descr="z10_f2.png"/>
          <p:cNvPicPr>
            <a:picLocks noChangeAspect="1"/>
          </p:cNvPicPr>
          <p:nvPr/>
        </p:nvPicPr>
        <p:blipFill>
          <a:blip r:embed="rId2"/>
          <a:stretch>
            <a:fillRect/>
          </a:stretch>
        </p:blipFill>
        <p:spPr>
          <a:xfrm>
            <a:off x="6534629" y="1280160"/>
            <a:ext cx="4968194"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06D78"/>
                </a:solidFill>
                <a:latin typeface="Arial"/>
              </a:rPr>
              <a:t>Zurek et al. (2010), Fig. 2. Orientation probability across size, speed and contrast.</a:t>
            </a:r>
          </a:p>
        </p:txBody>
      </p:sp>
      <p:sp>
        <p:nvSpPr>
          <p:cNvPr id="6" name="Rectangle 5"/>
          <p:cNvSpPr/>
          <p:nvPr/>
        </p:nvSpPr>
        <p:spPr>
          <a:xfrm>
            <a:off x="566928" y="6382512"/>
            <a:ext cx="11057839" cy="9144"/>
          </a:xfrm>
          <a:prstGeom prst="rect">
            <a:avLst/>
          </a:prstGeom>
          <a:solidFill>
            <a:srgbClr val="CCD5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06D78"/>
                </a:solidFill>
                <a:latin typeface="Arial"/>
              </a:rPr>
              <a:t>Zurek et al. (2010)</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06D78"/>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vision II: jumping spider eyes and predatory tracking (Land)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