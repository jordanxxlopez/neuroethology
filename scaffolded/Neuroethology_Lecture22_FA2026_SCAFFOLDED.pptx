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261" r:id="rId7"/>
    <p:sldId id="314" r:id="rId65"/>
    <p:sldId id="262" r:id="rId8"/>
    <p:sldId id="263" r:id="rId9"/>
    <p:sldId id="264" r:id="rId10"/>
    <p:sldId id="313" r:id="rId64"/>
    <p:sldId id="265" r:id="rId11"/>
    <p:sldId id="266" r:id="rId12"/>
    <p:sldId id="267" r:id="rId13"/>
    <p:sldId id="312" r:id="rId63"/>
    <p:sldId id="268" r:id="rId14"/>
    <p:sldId id="269" r:id="rId15"/>
    <p:sldId id="270" r:id="rId16"/>
    <p:sldId id="311" r:id="rId62"/>
    <p:sldId id="271" r:id="rId17"/>
    <p:sldId id="272" r:id="rId18"/>
    <p:sldId id="273" r:id="rId19"/>
    <p:sldId id="310" r:id="rId61"/>
    <p:sldId id="274" r:id="rId20"/>
    <p:sldId id="275" r:id="rId21"/>
    <p:sldId id="276" r:id="rId22"/>
    <p:sldId id="309" r:id="rId60"/>
    <p:sldId id="277" r:id="rId23"/>
    <p:sldId id="278" r:id="rId24"/>
    <p:sldId id="279" r:id="rId25"/>
    <p:sldId id="308" r:id="rId59"/>
    <p:sldId id="280" r:id="rId26"/>
    <p:sldId id="281" r:id="rId27"/>
    <p:sldId id="282" r:id="rId28"/>
    <p:sldId id="307" r:id="rId58"/>
    <p:sldId id="283" r:id="rId29"/>
    <p:sldId id="284" r:id="rId30"/>
    <p:sldId id="285" r:id="rId31"/>
    <p:sldId id="306" r:id="rId57"/>
    <p:sldId id="286" r:id="rId32"/>
    <p:sldId id="287" r:id="rId33"/>
    <p:sldId id="288" r:id="rId34"/>
    <p:sldId id="305" r:id="rId56"/>
    <p:sldId id="289" r:id="rId35"/>
    <p:sldId id="290" r:id="rId36"/>
    <p:sldId id="291" r:id="rId37"/>
    <p:sldId id="304" r:id="rId55"/>
    <p:sldId id="292" r:id="rId38"/>
    <p:sldId id="293" r:id="rId39"/>
    <p:sldId id="294" r:id="rId40"/>
    <p:sldId id="303" r:id="rId54"/>
    <p:sldId id="295" r:id="rId41"/>
    <p:sldId id="296" r:id="rId42"/>
    <p:sldId id="297" r:id="rId43"/>
    <p:sldId id="302" r:id="rId5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III: the jamming avoidance response (Heiligenberg)
Lecture 22. NEUR 411 · NEUROETHOLOGY · FALL 2026. Friday, October 16, 2026.
Figure: Heiligenberg (1980), Fig. 1(a, top). Eigenmannia and its caudal electric organ; original published animal drawing.
Figure source: https://doi.org/10.1007/BF01047630
• Eigenmannia virescens produces a continuous wave-type electric organ discharge. The title image is the original published animal figure from Heiligenberg (1980).
References:
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Eigenmannia virescens is a South American weakly electric fish whose electric organ discharge, or EOD, is a continuously repeating electrical signal. Heiligenberg described individual discharge frequencies between 300 and 600 Hz. The caudal electric organ produces the field used to detect nearby objects.
  – The electric organ lies in the tail, but the relevant sensory inputs arrive from skin over the body. The illustrated neural route in the 1980 paper was an early account; later lesion and recording experiments revised the proposed premotor control without changing the defining direction of the behavior.
• A neighboring fish with a similar frequency creates interference. In the jamming avoidance response, or JAR, the focal fish shifts its discharge away from the neighbor’s frequency. A lower-frequency neighbor elicits an increase; a higher-frequency neighbor elicits a decrease. Removing the neighbor’s signal permits a return toward the original frequency.
• The published simultaneous recordings pair a 500-Hz EOD with one pacemaker command per cycle. The pacemaker nucleus, a hindbrain group generating rhythmic commands, changes signal frequency rather than turning the electric sense off. The movement of discharge frequency is a measurable motor output.
References:
Heiligenberg W (1980). The jamming avoidance response in the weakly electric fish Eigenmannia: A behavior controlled by distributed evaluation of electroreceptive afferences. Naturwissenschaften 67(10):499-507. https://doi.org/10.1007/bf01047630
Figure: Heiligenberg (1980), Fig. 1(a). Animal, brain structures, and the 500-Hz discharge record.
Figure source: https://doi.org/10.1007/bf01047630</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beat is the slow modulation produced when two similar-frequency signals combine. Amplitude is signal magnitude; phase is position within its repeating cycle. Heiligenberg represented the fish’s discharge by S1 and the foreign signal by S2, measuring the mixed signal rather than either source alone.
  – A zero crossing is the moment when the electrical voltage changes sign. It supplies a reproducible timing landmark. Amplitude and zero-crossing timing are different properties of the same mixed waveform, and neither sensory pathway directly receives an isolated copy of the neighbor’s signal.
• 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
• The original oscilloscope and amplitude–phase representation preserve this relationship. For the illustrated 500-Hz carrier, one cycle lasts 2 ms. A beat rate alone identifies the magnitude of a frequency difference but cannot distinguish a neighbor above the fish’s frequency from one equally far below it.
References:
Heiligenberg W (1980). The jamming avoidance response in the weakly electric fish Eigenmannia: A behavior controlled by distributed evaluation of electroreceptive afferences. Naturwissenschaften 67(10):499-507. https://doi.org/10.1007/bf01047630
Figure: Heiligenberg (1980), Fig. 2. Interference changes amplitude and phase during a beat.
Figure source: https://doi.org/10.1007/bf01047630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Difference frequency, written Δf in these studies, is the neighbor’s frequency minus the fish’s own frequency. Positive Δf requires a decrease in the fish’s EOD; negative Δf requires an increase. The sensory problem is therefore a decision about sign, rather than merely detection of interference.
  – The sign convention must remain fixed when comparing experiments. A frequency increase is the correct avoidance response only when the neighboring signal is lower. A response plotted as positive by an investigator may instead mean a correctly directed response, encompassing either an actual increase or an actual decrease.
• 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
• 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
References:
Carr C, Heiligenberg W, Rose G (1986). A time-comparison circuit in the electric fish midbrain. I. Behavior and physiology. The Journal of Neuroscience 6(1):107-119. https://doi.org/10.1523/jneurosci.06-01-00107.1986
Figure: Carr et al. (1986), Fig. 1(A–D). Current geometry and opposite amplitude–phase trajectories.
Figure source: https://doi.org/10.1523/jneurosci.06-01-00107.1986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amplitude ratio compares the local strength of the foreign signal with the EOD substitute. Heiligenberg analyzed two body regions with ratios of 0.3 and 0.1. The more contaminated region undergoes larger changes in both amplitude and phase during the same interference cycle.
  – If two pure sinusoidal sources have identical spatial geometry, their amplitude ratio is constant over the body. The resulting common timing changes provide no differential phase cue. Different electrode geometries are consequently a sensory manipulation, not a minor variation in apparatus placement.
• The fish can compare timing between these regions without requiring an entirely uncontaminated patch of skin. Differential phase is the phase of one local signal relative to another local signal. Subtracting the common timing component leaves the disparity caused by their different mixtures.
• The two local amplitude–differential-phase trajectories can nevertheless rotate in opposite directions. Their contributions must be weighted rather than treated as identical votes. The paper tested regional stimulation and interpreted larger amplitude modulation as a stronger contribution to the eventual frequency shift; the graphical description alone does not identify the responsible neurons.
References:
Heiligenberg W (1980). The jamming avoidance response in the weakly electric fish Eigenmannia: A behavior controlled by distributed evaluation of electroreceptive afferences. Naturwissenschaften 67(10):499-507. https://doi.org/10.1007/bf01047630
Figure: Heiligenberg (1980), Fig. 3. Different contamination ratios across the body surface.
Figure source: https://doi.org/10.1007/bf01047630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
  – Artificial regional stimulation is useful because the investigator can hold one cue constant while changing another. A natural neighbor changes several cues together. The phase-offset dependence constrains candidate neural operations, but a graph of behavior is not a direct measure of a cellular coincidence mechanism.
• 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
• This manipulation separates a causal timing cue from the mere occurrence of amplitude beats. A change in the timing relationship can reverse the behavioral decision without changing the beat frequency. The experiment tests the information used by the animal; it does not assign that comparison to a single identified neuron.
References:
Heiligenberg W (1980). The jamming avoidance response in the weakly electric fish Eigenmannia: A behavior controlled by distributed evaluation of electroreceptive afferences. Naturwissenschaften 67(10):499-507. https://doi.org/10.1007/bf01047630
Figure: Heiligenberg (1980), Fig. 4. Exchanging phase modulation reverses pacemaker responses.
Figure source: https://doi.org/10.1007/bf01047630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presented closed and open trajectories in an amplitude–phase plane, a representation pairing local amplitude with differential timing. Changing the sequence of cue combinations altered pacemaker output even when the overall set of available amplitude and phase values was similar.
  – A waveform’s temporal order carries information that is lost if amplitude and phase are separately averaged over a whole beat. The original paper’s trajectories belong to that published analysis; no new mathematical reconstruction is needed to teach the experimental dependence on cue order.
• 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
• The proposed integral over a trajectory was a functional description of behavior, not a measured intracellular arithmetic operation. Later recordings tested whether neurons possessed the required cue combinations. Natural avoidance therefore required experimental separation of stimulus computation, neural implementation, and the resulting motor command.
References:
Heiligenberg W (1980). The jamming avoidance response in the weakly electric fish Eigenmannia: A behavior controlled by distributed evaluation of electroreceptive afferences. Naturwissenschaften 67(10):499-507. https://doi.org/10.1007/bf01047630
Figure: Heiligenberg (1980), Fig. 5. Different trajectories separate amplitude and timing contributions.
Figure source: https://doi.org/10.1007/bf01047630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hyperacuity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
  – Four hundred nanoseconds is 0.4 microseconds. The fish need not produce a separate action potential every 400 ns; it compares the timing of spikes tied to much slower EOD cycles. Behavioral precision and the interval between spikes are distinct quantities.
• 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
• 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
References:
Rose G, Heiligenberg W (1985). Temporal hyperacuity in the electric sense of fish. Nature 318(6042):178-180. https://doi.org/10.1038/318178a0
Figure: Rose &amp; Heiligenberg (1985), Fig. 1. Correct responses persist at submicrosecond disparities.
Figure source: https://doi.org/10.1038/318178a0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recorded intracellular spikes from primary afferents, sensory neurons carrying receptor information toward the brain. Phase-coding afferents fired at a preferred moment of each electrical cycle, but their spike times varied from cycle to cycle even under controlled stimulation.
  – The electronic controls were adjusted to resemble the steep rising portion of neural spikes. A different spike shape could otherwise alter threshold-crossing precision. Intracellular recordings also reduced contamination from small extracellular signals, helping distinguish biological variability from the recording method.
• 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
• The most precisely recorded afferent still could not account straightforwardly for 400-ns behavioral discrimination within the roughly 300-ms response latency. This result motivated convergence across parallel inputs. It does not mean that each afferent lacks timing information; it limits an explanation based on one afferent’s short record.
References:
Rose G, Heiligenberg W (1985). Temporal hyperacuity in the electric sense of fish. Nature 318(6042):178-180. https://doi.org/10.1038/318178a0
Carr C, Maler L, Taylor B (1986). A time-comparison circuit in the electric fish midbrain. II. Functional morphology. The Journal of Neuroscience 6(5):1372-1383. https://doi.org/10.1523/jneurosci.06-05-01372.1986
Figure: Rose &amp; Heiligenberg (1985), Fig. 2(a–b). Afferent timing and electronic spike-mimic control.
Figure source: https://doi.org/10.1038/318178a0
Figure: Carr et al. (1986), Fig. 1(B). Receptor, nerve, spherical-cell and toral timing pathway.
Figure source: https://doi.org/10.1523/JNEUROSCI.06-05-01372.1986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divided the fish’s body into electrically isolated compartments so that local receptor populations could be stimulated separately or together. A strong neighbor-to-EOD amplitude ratio of 0.05 elicited a JAR from a single body region.
  – The internal EOD substitute and the transverse neighbor mimic had different current geometries. Opposite body sides therefore provided different timing information within a compartment. Stimulating additional regions also increased the available set of cross-body comparisons rather than merely repeating one identical receptor input.
• 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
• The manipulation changes the area providing information rather than increasing each region’s stimulus strength. Regional recruitment supports pooling within the central nervous system. It does not identify how many afferents converge on a particular comparator or prove that one anatomical stage alone generates the improvement.
References:
Rose G, Heiligenberg W (1985). Temporal hyperacuity in the electric sense of fish. Nature 318(6042):178-180. https://doi.org/10.1038/318178a0
Figure: Rose &amp; Heiligenberg (1985), Fig. 3(a–c). Recruiting multiple skin regions restores the response.
Figure source: https://doi.org/10.1038/318178a0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
  – The original comparison considered an additive expectation that already allowed more cross-region phase comparisons during combined stimulation. The measured effect remained larger. The result is consequently stronger than observing that a larger stimulated skin area produces a larger response.
• 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
• This nonlinear convergence, an output not proportional to a simple sum of regional outputs, supported a distributed source of hyperacuity. The particular nonlinearity and its cellular location were proposed rather than directly identified by this behavioral experiment. A silent regional behavioral response does not imply that its afferents were electrically silent.
References:
Rose G, Heiligenberg W (1985). Temporal hyperacuity in the electric sense of fish. Nature 318(6042):178-180. https://doi.org/10.1038/318178a0
Figure: Rose &amp; Heiligenberg (1985), Fig. 4. Combined stimulation exceeds individual regional responses.
Figure source: https://doi.org/10.1038/318178a0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Tuberous electroreceptors respond to high-frequency electrical signals near the EOD carrier. Their timing-sensitive, or T-type, afferents encode a recurring phase of the local signal. Carr and colleagues traced this pathway from the skin through the anterior lateral line nerve to the hindbrain.
  – A primary afferent’s cell body lies in a peripheral ganglion, whereas the spherical cell is a central neuron. These are successive elements, not different names for one cell. The parallel P-type pathway represents signal amplitude and follows different central cellular targets.
• The afferents contact spherical cells in the electrosensory lateral line lobe, or ELL. Spherical-cell axons then project to lamina VI, the sixth layer of the midbrain torus semicircularis. There they contact giant cells and provide the timing input needed for comparisons between body regions.
• The illustrated circuit retains a phase-locked spike on successive carrier cycles rather than first converting every timing signal into average firing rate. Physiological recordings and anatomical labeling connect these stages. The pathway identifies timing transmission, but its existence alone does not establish the small-cell comparison rule.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5. Phase-coding pathway from the skin to toral giant cells.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P-type afferents encode electrical amplitude through their probability of firing on successive cycles. In the ELL, E units increase activity with rising amplitude, whereas I units increase activity as amplitude falls. Their responses separate opposite directions of amplitude change.
  – The original preparation used controlled interference signals and intracellular labeling to associate response class with axonal structure. The presence of a projection is an anatomical finding, while the recorded preference for amplitude decline is a physiological finding. Neither alone proves a complete pathway to pacemaker output.
• 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
• Amplitude sensitivity therefore supplies a necessary cue without inherently solving the sign decision. An I-unit response can occur during either positive or negative Δf. Comparing its activity with timing-sensitive signals is required to distinguish these cases; the afferent labeling does not establish every downstream synaptic connection.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3(a–c). Labeled amplitude-coding afferents and laminar terminations.
Figure source: https://doi.org/10.1523/jneurosci.05-02-00515.1985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colleagues compared timing-sensitive afferents in the anterior lateral line nerve with neurons in the torus. A repeated sinusoidal stimulus fixed the timing landmark, allowing the precision of phase-locked spikes to be compared at peripheral and central stages.
  – The measurements used the same repeated electrical cycle as a reference for both recording locations. A change in firing rate alone would not establish more precise phase locking. The proposed contribution of convergence is supported jointly by the physiological comparison and the independently reconstructed connectivity.
• The comparison included stimulus intensities of 1 mV/cm and three times that value. Midbrain phase-coding responses were generally more tightly aligned to the stimulus than peripheral responses. Increasing stimulus strength did not eliminate the distinction between the two stages.
• 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6. Timing precision in peripheral and midbrain recordings.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gap junction is a direct electrical connection between neighboring cells that permits current to pass without a conventional transmitter-release step. Carr and colleagues recorded spherical-cell afferent terminals close to their contacts on giant cells in lamina VI.
  – The original micrograph has a 20-µm scale bar. Recording near a terminal and labeling the same pathway linked electrophysiology to an identifiable contact. The investigators did not infer electrical transmission merely from the proximity of unlabeled cells.
• 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
• 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
References:
Carr C, Heiligenberg W, Rose G (1986). A time-comparison circuit in the electric fish midbrain. I. Behavior and physiology. The Journal of Neuroscience 6(1):107-119. https://doi.org/10.1523/jneurosci.06-01-00107.1986
Figure: Carr et al. (1986), Fig. 8(A–C). Afferent spikes, junctional potentials, and labeled terminals.
Figure source: https://doi.org/10.1523/jneurosci.06-01-00107.1986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Maler, and Taylor combined intracellular labeling with electron microscopy, imaging fine cellular structure at synapses. Afferents from ELL spherical cells formed restricted terminal arbors in lamina VI, preserving information about a local patch of the body surface.
  – A soma is the cell body; a dendrite is a receiving cellular process; an axon carries signals toward downstream targets. The location of an input on the soma or distal dendrite matters here because the proposed timing comparison depends on segregated input sites.
• Each afferent contacted one or two giant-cell somata and distal dendrites of small cells. Some terminals formed clusters termed synaptic islands. The published panels include labeled afferent terminals and their contacts, with scale bars ranging from 2 to 20 µm.
• The same local timing source thus enters different elements of the comparison circuit. Contacts on giant cells distribute information broadly, whereas small-cell dendritic contacts preserve local input. Anatomical apposition alone cannot specify the exact contribution of each contact; ultrastructure distinguishes junction types, and physiology constrains their functional interpretation.
References:
Carr C, Maler L, Taylor B (1986). A time-comparison circuit in the electric fish midbrain. II. Functional morphology. The Journal of Neuroscience 6(5):1372-1383. https://doi.org/10.1523/jneurosci.06-05-01372.1986
Figure: Carr et al. (1986), Fig. 2(A–F). Local afferent synapses onto giant cells and small-cell dendrites.
Figure source: https://doi.org/10.1523/jneurosci.06-05-01372.1986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Giant cells in lamina VI have extensive axonal arbors and lack the conventional dendritic tree of many central neurons. Carr and colleagues reconstructed labeled cells and examined their contacts with afferents at light- and electron-microscope resolution.
  – The published circuit includes morphologically mixed contacts onto small-cell dendrites, with both electrical and chemical specializations. Those contacts must not be described as exclusively electrical. Giant-cell somatic contacts and small-cell dendritic contacts differ in both location and ultrastructural organization.
• The published ultrastructure identifies gap-junction contacts between afferent terminals and giant cells. Its detailed contact panel includes a 0.5-µm scale bar. Other panels reveal the unipolar soma and large axonal processes that distribute timing information across the layer.
• This organization can provide many local comparators with timing signals originating at other body regions. The anatomy establishes direct electrical contacts and broad distribution; it does not mean that one giant cell encodes the entire animal’s behavioral decision. The comparison still depends on which local and distributed inputs reach each small cell.
References:
Carr C, Maler L, Taylor B (1986). A time-comparison circuit in the electric fish midbrain. II. Functional morphology. The Journal of Neuroscience 6(5):1372-1383. https://doi.org/10.1523/jneurosci.06-05-01372.1986
Figure: Carr et al. (1986), Fig. 4(A–F). Giant-cell anatomy and ultrastructure of gap-junction contacts.
Figure source: https://doi.org/10.1523/jneurosci.06-05-01372.1986</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recorded intracellularly in the torus and filled physiologically identified neurons with dyes. Their anatomical summary separated amplitude-coding ELL pyramidal inputs from phase-coding spherical-cell inputs rather than treating the torus as a uniform relay.
  – Intracellular labeling permitted the response properties of a cell to be linked with its position and processes. The named laminae are anatomical layers rather than separate behavioral stages with only one operation each. The source explicitly retained uncertainty about some projections instead of assigning every connection a JAR function.
• Amplitude inputs reached laminae 3, 5, 7, 8c, and 8d. Phase information reached giant cells in lamina 6, with subsequent processing in deeper layers. The body surface was represented somatotopically, meaning that different body locations mapped onto different neural locations.
• This arrangement makes local amplitude information available alongside comparisons of timing across body regions. A layered projection pattern is consistent with successive cue transformations, but a lamina can contain heterogeneous cells. The paper also identified a lobus caudalis projection whose computational significance remained unresolved.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2. Amplitude and phase inputs reach distinct toral laminae.
Figure source: https://doi.org/10.1523/jneurosci.05-02-00515.1985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stimulated head and tail compartments independently while recording small cells in lamina 6. The head signal’s timing was advanced or delayed relative to the tail, while a triangular waveform swept the phase difference at 2 Hz.
  – In the proposed arrangement, a small cell receives distributed timing on its soma and local timing on a dendrite. A dendritic delay could make simultaneous arrival at the spike-generating region depend on the original difference between the two signals. The anatomical segregation supports this proposal without directly measuring every dendritic delay.
• Spikes occurred preferentially within particular portions of the differential-phase range. One small cell was silent when the head signal lagged; another had a different preference. Intracellular dye filling associated these response patterns with small-cell anatomy near giant cells.
• The experiment isolates a phase comparator, a neuron whose firing depends on relative timing rather than only on one local waveform. Selectivity is not a complete JAR decision because amplitude change has not yet been combined with phase preference. The anatomical delay-and-coincidence interpretation remained a proposed mechanism for this selectivity.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4(a–c). Small-cell firing depends on differential phase.
Figure source: https://doi.org/10.1523/jneurosci.05-02-00515.1985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
  – The source used the stimulus variables independently because a natural beat changes them together. The recording separates correlation from cue dependence. A cell’s response to a mixed stimulus would otherwise leave unresolved whether the relevant driver was amplitude, differential phase, or their interaction.
• 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
• These controls place the first relative-timing comparison within the sensory circuit. A phase-sensitive response cannot be assigned to the amplitude beat merely because both coexist during normal interference. The result also does not require a neuron to recognize the neighbor’s absolute EOD frequency or identity.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5(a–d). Small-cell responses to isolated amplitude and phase modulation.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varied the timing relationship between head and tail while recording a small cell in lamina 6. At 2-Hz triangular phase modulation, its spike density favored a restricted phase range. Removing the head carrier released activity over much more of the cycle.
  – A phase advance and a phase delay concern the order of corresponding carrier events, not a faster or slower beat in isolation. Holding a phase value constant tests the comparator’s steady response. Sweeping it tests how that response behaves during changing input.
• Another record used a 0.2-Hz phase scan and sustained phase offsets. The neuron could discriminate stationary phase values rather than responding only to the direction of a rapid scan. Carrier presence and relative phase therefore changed the operating state of the comparator.
• The differing tests distinguish sensitivity to instantaneous timing from sensitivity to temporal change. They do not imply that every comparator has identical dynamics or that its firing directly specifies upward versus downward JAR. The behavioral decision requires the phase preference to be interpreted together with amplitude information.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6(a–b). Phase-sensitive responses and removal of the head signal.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 deeper toral laminae, Heiligenberg and Rose found neurons sensitive to both amplitude and differential phase. The investigators modulated either the head or tail while retaining a carrier at the other region, then removed or restored the reference signal.
  – The source also compared slow phase scans with stationary offsets. These tests separated phase tuning from the modulation cycle itself. The recorded preference was influenced by which body region supplied the local amplitude signal, consistent with a somatotopic organization of cue integration.
• 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
• Combination sensitivity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7(a–c). Amplitude-dependent gating and phase sensitivity in a deeper neuron.
Figure source: https://doi.org/10.1523/jneurosci.05-02-00515.1985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applied amplitude modulation to the head, to the tail, or to both regions while independently varying differential phase. The deeper neuron’s response changed with the spatial assignment of the cues even when modulation occurred at the same 2-Hz rate.
  – The source’s phase-only and amplitude-only conditions were not interchangeable with removing the electrical carrier. Carrier removal changes the availability of a timing reference. Maintaining that distinction prevents a response to absent input from being mistaken for selectivity to a different beat sign.
• 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
• The interaction links timing comparison to a particular local amplitude channel. A phase advance does not carry a universal motor instruction independent of spatial context. These controlled stimuli identify conditional sensory tuning; they do not by themselves identify the downstream synaptic sign at the pacemaker nucleus.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8(a–i). Responses when head and tail signals are modulated separately.
Figure source: https://doi.org/10.1523/jneurosci.05-02-00515.1985
Figure: Carr et al. (1986), Fig. 1(A). Sagittal brain anatomy with torus and electrosensory lateral line lobe.
Figure source: https://doi.org/10.1523/JNEUROSCI.06-05-01372.1986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classified deeper toral neurons by two independent response preferences. Cells could favor rising amplitude, termed E-type, or falling amplitude, termed I-type. They could also favor a local phase advance or a phase delay relative to the comparison region.
  – The term excitatory in E-type denotes excitation during amplitude increase, not necessarily the neurotransmitter released by the cell. An I-type sensory preference likewise does not establish that the neuron inhibits every postsynaptic target. Sensory response class and synaptic transmitter identity must remain distinct.
• The resulting E-advance, E-delay, I-advance, and I-delay classes were associated with labeled multipolar cells in deeper laminae. Their dendritic and axonal forms differed from the small comparators of lamina 6. The published drawings preserve their laminar positions and 100-µm scale.
• The four combinations supply opposing evidence about the sign of interference. Individual neurons were not perfectly invariant across stimulus conditions; the authors emphasized the joint effect of populations. Physiological classification identifies a response preference, while labeled morphology supplies an anatomical correlate rather than a molecular cell identity.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9(a–d). Morphology of excitatory/inhibitory advance/delay classes.
Figure source: https://doi.org/10.1523/jneurosci.05-02-00515.1985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
  – The source could follow the thinner collateral about 600 µm rostrally before describing its diencephalic course. The labeled cell provides a direct link between recorded sensory preference and a candidate downstream target. A complete reconstruction of every sign-selective toral neuron was not obtained.
• 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
• The collateral formed terminals at the ventral nucleus electrosensorius, consistent with a route carrying information for frequency decreases. Sign selectivity here means unequal responses to positive and negative difference frequencies. The anatomical evidence concerned one successfully labeled neuron and therefore does not establish uniform connectivity for the entire class.
References:
Metzner W (1993). The jamming avoidance response in Eigenmannia is controlled by two separate motor pathways. The Journal of Neuroscience 13(5):1862-1878. https://doi.org/10.1523/jneurosci.13-05-01862.1993
Figure: Metzner (1993), Fig. 14(A–D). Sign-selective physiology and a traced diencephalic projection.
Figure source: https://doi.org/10.1523/jneurosci.13-05-01862.1993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
  – The published summary includes pure amplitude coders, phase coders, and cells sensitive to both variables. These are experimentally distinguishable stages of representation. Their coexistence also prevents the conclusion that every toral cell individually encodes the complete sign decision.
• 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
• The authors derived this classification from intracellular response tests and labeled neurons. A population interpretation accommodates incomplete tuning in single cells, but the 1985 study did not causally silence each class. Later motor-pathway experiments were needed to determine how the sensory decision changed oscillator frequency.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12. Four combination-sensitive classes encode opposite beat signs.
Figure source: https://doi.org/10.1523/jneurosci.05-02-00515.1985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tested the earlier idea that one prepacemaker population controlled both directions of the JAR. The study combined brain lesions, stimulation, pharmacology, and continuous recording of EOD frequency in immobilized Eigenmannia. The nucleus electrosensorius is a diencephalic sensory–motor interface.
  – The older single-population interpretation treated a decrease as reduced activity in the same neurons producing increases. Selective lesions supported a different organization. Each route can alter one direction of frequency modulation while the other direction remains available.
• The dorsal electrosensorius pathway drives the gradual prepacemaker region, PPn-G, and supports frequency increases. A ventral pathway engages the sublemniscal prepacemaker nucleus, or SPPn, and supports decreases by reducing its ongoing excitatory influence on the pacemaker network.
• The published circuit separates these routes from the chirp-controlling PPn-C. The proposed architecture was constrained by selective losses and preserved responses, rather than by a diagram alone. Some cellular targets in 1993 remained inferred; subsequent intracellular recordings tested the target-cell assignments directly.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2. Separate acceleration, deceleration, and chirp pathways.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
  – The original analysis also separated recovery toward baseline after a previous response from a newly induced frequency decrease. Passive recovery can continue even when a specific JAR direction is lost. A frequency trace must therefore be related to the stimulus and resting level, not interpreted from its slope alone.
• 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
• This selective deficit identifies the region as necessary for normal frequency acceleration under the tested conditions. Preserved deceleration argues against a complete loss of sensation, pacemaker function, or all motor output. The lesion affects a region and its connections, so it does not isolate one molecularly identified neuron type.
References:
Metzner W (1993). The jamming avoidance response in Eigenmannia is controlled by two separate motor pathways. The Journal of Neuroscience 13(5):1862-1878. https://doi.org/10.1523/jneurosci.13-05-01862.1993
Figure: Metzner (1993), Fig. 3(A–D). Prepacemaker lesions remove frequency increases selectively.
Figure source: https://doi.org/10.1523/jneurosci.13-05-01862.1993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stimulated dorsal and ventral nucleus electrosensorius sites and the SPPn before and after a PPn-G lesion. Iontophoresis uses electrical current to deliver a charged compound locally; L-glutamate was applied to activate neurons near the stimulation electrode.
  – The stimulation bars in the original records delimit the period of local activation. The comparison concerns the same candidate pathway before and after a structural interruption. Resting frequency and the direction of induced change remain separate from the availability of a natural jamming cue.
• 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
• Combining lesions with stimulation distinguishes damage to an ascending sensory representation from interruption of a descending route. The preserved alternative responses also constrain nonspecific explanations for the lesion effect. Local chemical stimulation nevertheless activates nearby cells and does not prove a monosynaptic connection between every named structure.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4(A–C). Upstream stimulation before and after prepacemaker lesions.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SPPn is a scattered brainstem population rather than a conspicuous compact nucleus. Metzner injected a retrograde tracer into the medullary pacemaker nucleus and examined labeled cells at the appropriate level of the brainstem tegmentum.
  – The SPPn’s position relative to the lateral lemniscus and nearby structures guided the experiments. An injection into the pacemaker must be evaluated for spread to neighboring tissue. Anatomical labeling supports pathway localization while the selective behavioral effects constrain the role assigned to it.
• Retrograde tracing labels neurons that project toward the injection site. The published histology identifies scattered cells beneath the lateral lemniscus, with 100-µm scales in the broader and enlarged views. These cells supplied an anatomical candidate for an independent premotor route.
• The tracer identifies a projection to the pacemaker region; it does not independently determine whether those cells raise or lower frequency. Physiological stimulation and lesions supplied the complementary functional evidence. Sparse organization also makes precise lesion placement and chemical stimulation more difficult than in a large compact nucleus.
References:
Metzner W (1993). The jamming avoidance response in Eigenmannia is controlled by two separate motor pathways. The Journal of Neuroscience 13(5):1862-1878. https://doi.org/10.1523/jneurosci.13-05-01862.1993
Figure: Metzner (1993), Fig. 5(A–B). Retrograde labeling identifies the sublemniscal prepacemaker.
Figure source: https://doi.org/10.1523/jneurosci.13-05-01862.1993</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
  – The paper distinguished stimulus-induced deceleration from passive return after an earlier frequency increase. Lowering the oscillator’s baseline does not mean the entire pacemaker is silenced. The network continues discharging, but one route for moving below its operating frequency has been removed.
• The lesion lowered the resting EOD frequency and eliminated further JAR decreases below the new baseline. Frequency increases to lower-frequency jamming signals remained. The result contrasts with PPn-G lesions, which removed acceleration while sparing deceleration.
• The baseline decrease indicates that the SPPn normally supplies tonic drive, an influence maintained even without a jamming stimulus. JAR deceleration can reduce that drive. Selective preservation of acceleration supports independent control routes; lesion extent and neighboring tissue remain limitations of a regional ablation.
References:
Metzner W (1993). The jamming avoidance response in Eigenmannia is controlled by two separate motor pathways. The Journal of Neuroscience 13(5):1862-1878. https://doi.org/10.1523/jneurosci.13-05-01862.1993
Figure: Metzner (1993), Fig. 6(A–D). Sublemniscal lesions alter baseline and abolish decreases.
Figure source: https://doi.org/10.1523/jneurosci.13-05-01862.1993</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in the tested pathway. Metzner applied GABA to the SPPn and measured a fall in resting EOD frequency. Electrical stimulation of the same region instead increased the operating frequency.
  – The published experiments compared resting frequency with ongoing JAR performance. GABA changed the operating level while the preserved responses constrained generalized suppression. Pharmacological delivery concentration is not the measured concentration at each synapse, so it cannot be treated as an endogenous transmitter level.
• Bicuculline,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
• The mechanistic sequence is inhibition of SPPn activity, reduction of tonic excitation reaching the pacemaker, and slower EOD output. A slower oscillator need not result from direct inhibition of its rhythm-generating cells. Local drug effects establish a GABA-sensitive mechanism without identifying every receptor subunit or ion conductance in the SPPn.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8(A–D). GABA and bicuculline effects in the sublemniscal nucleus.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neurotransmitter acting through several receptor classes. AMPA-type receptors are glutamate-sensitive, channel-forming receptors; their activation changes postsynaptic membrane conductance. Metzner injected CNQX, an antagonist of AMPA/non-NMDA transmission, into the medullary pacemaker nucleus.
  – An antagonist reduces signaling through a receptor class, whereas L-glutamate stimulation activates nearby neurons through available receptors. These interventions answer different questions. The vehicle control was essential because injecting fluid into a small nucleus can alter the recording or local tissue independently of receptor blockade.
• 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
• The result assigns an AMPA-sensitive component to the acceleration route rather than requiring the same receptor mechanism for both JAR directions. It does not imply that all glutamatergic input uses AMPA receptors exclusively. Drug spread and the electrically coupled oscillator network limit localization to an individual synaptic contact.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9(A–C). CNQX selectively suppresses JAR frequency increases.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combined pacemaker CNQX injections with stimulation of upstream structures. Activation of dorsal nucleus electrosensorius and PPn-G tested frequency-increasing commands; activation of ventral electrosensorius and manipulation of the SPPn tested the deceleration route.
  – The same pacemaker network can remain responsive after one receptor-dependent input is weakened. A preserved response through another input therefore acts as a functional control for the ability of the oscillator to change frequency. Electrical coupling also allows a local synaptic effect to influence network output.
• 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
• The experiment places the receptor-sensitive step downstream of the stimulated acceleration structures. It is stronger evidence than loss of natural JAR alone, which could result from disrupting sensory encoding. The source supports pathway-specific glutamatergic transmission, while the exact balance of receptor classes requires additional cellular evidence.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11(A–E). CNQX effects on stimulated acceleration and deceleration routes.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NMDA-type receptors are another glutamate-sensitive channel-forming receptor class. Metzner injected APV, an NMDA-receptor antagonist, into the pacemaker nucleus while monitoring resting frequency and JAR responses. The intervention tested the tonic sublemniscal influence separately from the CNQX-sensitive route.
  – The baseline change follows removal of excitatory drive, and later deceleration is limited because the same tonic component has already been reduced. This mechanism differs from opening a new inhibitory conductance directly in the pacemaker. The original temporal record is necessary to separate early nonspecific changes from the longer selective deficit.
• In the published example, APV lowered resting frequency from 215 to 209 Hz. Both JAR directions were initially reduced, but acceleration recovered after roughly one minute, whereas the deceleration response recovered only after approximately 12 minutes.
• The different recovery courses, together with upstream stimulation tests, support an NMDA-sensitive tonic input required for frequency decreases. Initial suppression of both directions should not be interpreted as identical pathway dependence. The experiment measures network behavior during a local drug perturbation, rather than isolated receptor current in a single identified cell.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12(A–C). APV lowers baseline and delays recovery of frequency decreases.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Kawasaki and Heiligenberg’s 1990 study compared pharmacological control of neuronal oscillators in different electric-fish genera. Its Eigenmannia record tested APV and bicuculline within the pacemaker nucleus, before the later demonstration of separate JAR motor routes.
  – The 1990 paper includes many experiments in the pulse-type genus Hypopomus. Its anatomical and drug results cannot all be transferred to Eigenmannia. The selected panel specifically concerns Eigenmannia, and later primary experiments are cited to explain the revised circuit assignment.
• APV at 500 µM lowered resting frequency and reduced JAR frequency rises. Bicuculline at 2 mM did not produce the corresponding inhibitory-blockade effect in Eigenmannia. These results initially supported a prominent glutamatergic influence and argued against simple GABA-mediated inhibition directly at the oscillator.
• Metzner’s subsequent lesions, receptor blockade, and recovery comparisons refined the interpretation. Frequency decrease involves GABA-sensitive inhibition upstream in the SPPn and loss of tonic excitation downstream. An early drug effect on a coupled network cannot alone identify the physiological target cells or every route contributing to the response.
References:
Kawasaki M, Heiligenberg W (1990). Different classes of glutamate receptors and GABA mediate distinct modulations of a neuronal oscillator, the medullary pacemaker of a gymnotiform electric fish. The Journal of Neuroscience 10(12):3896-3904. https://doi.org/10.1523/jneurosci.10-12-03896.1990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Kawasaki &amp; Heiligenberg (1990), Fig. 4. Early APV and bicuculline tests in Eigenmannia.
Figure source: https://doi.org/10.1523/jneurosci.10-12-03896.1990
Figure: Juranek &amp; Metzner (1998), Fig. 1. Published circuit with pacemaker and relay-cell targets.
Figure source: https://doi.org/10.1523/JNEUROSCI.18-21-09010.1998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recorded intracellularly from pacemaker and relay cells while activating PPn-G. Pacemaker cells generate the rhythm; relay cells transmit the command toward spinal output. Histological labeling verified cell identity after physiological classification.
  – The investigators tested whether changing membrane voltage alone altered resistance across the relevant operating range. That control reduced an explanation based solely on intrinsic voltage-dependent conductances. The measurement locates a synaptic influence more directly than an EOD-frequency trace alone.
• Brief current pulses measured input resistance, the voltage response per injected current. PPn-G stimulation produced gradual accelerations of 5–30 Hz and decreased resistance more strongly in pacemaker cells. The published example begins near 496 Hz with a pacemaker-cell resistance of 3.4 MΩ.
• A resistance decrease indicates greater conductance, or easier current flow through the membrane. The preferential change supports excitatory input onto rhythm-generating cells. Smaller changes in relay cells can arise through coupling, so an observed effect in both cell types does not imply equivalent direct innervation.
References:
Juranek J, Metzner W (1998). Segregation of Behavior-Specific Synaptic Inputs to a Vertebrate Neuronal Oscillator. The Journal of Neuroscience 18(21):9010-9019. https://doi.org/10.1523/jneurosci.18-21-09010.1998
Figure: Juranek &amp; Metzner (1998), Fig. 6(A–C). Input-resistance changes during gradual frequency increases.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
  – The causal sequence connects an upstream inhibitory action to reduced downstream excitation. The transmitter-mediated conductance at the relay cell and the GABA-sensitive influence in the SPPn occupy different synapses. Treating them as one direct GABA input to the pacemaker would misidentify the circuit.
• The stimulation produced gradual frequency decreases of 3–5 Hz. During a representative 4-Hz decrease, relay-cell input resistance increased by 8%, whereas the pacemaker-cell increase was 5%. The relay-cell response tracked deceleration more consistently across the recorded conditions.
• Increased resistance indicates removal of membrane conductance, supporting withdrawal of tonic excitatory input onto relay cells. This is not the signature expected from adding a new inhibitory conductance directly to those cells. Electrical coupling explains why pacemaker cells may also change despite a more selective relay-cell target.
References:
Juranek J, Metzner W (1998). Segregation of Behavior-Specific Synaptic Inputs to a Vertebrate Neuronal Oscillator. The Journal of Neuroscience 18(21):9010-9019. https://doi.org/10.1523/jneurosci.18-21-09010.1998
Figure: Juranek &amp; Metzner (1998), Fig. 7(A–C). Relay-cell resistance rises during frequency deceleration.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Chirps are brief modulations used in electric communication, distinct from gradual JAR frequency shifts. Juranek and Metzner activated PPn-C while recording pacemaker or relay-cell somata. The resulting frequency changes lasted about 5–20 ms and ranged from 30 to 160 Hz.
  – PPn-C and PPn-G are neighboring premotor subdivisions with different behavioral effects. Their separation continues to the cellular targets within the oscillator. The timing and size of a change in EOD frequency do not alone identify which subdivision was responsible; the stimulation site and intracellular response are needed.
• 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
• The same oscillator therefore supports different behaviors through segregated synaptic targets and receptor-sensitive inputs. A rapid chirp should not be mistaken for a stronger JAR. The source’s resistance controls and cell labeling constrain the target assignment, while coupled cells can still exhibit secondary responses.
References:
Juranek J, Metzner W (1998). Segregation of Behavior-Specific Synaptic Inputs to a Vertebrate Neuronal Oscillator. The Journal of Neuroscience 18(21):9010-9019. https://doi.org/10.1523/jneurosci.18-21-09010.1998
Figure: Juranek &amp; Metzner (1998), Fig. 4(A–C). Brief chirps preferentially change relay-cell conductance.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filtering is selective transmission of slow or fast changes in sensory input. Fortune and Rose made whole-cell intracellular recordings from toral neurons while comparing electrical sensory stimulation with injected current over 2–30 Hz. Labeled cells supplied anatomical context.
  – A whole-cell recording measures membrane voltage while permitting controlled current injection. Depolarization makes the voltage less negative, whereas hyperpolarization makes it more negative. The observed holding-current dependence is evidence for an active contribution; assigning it to a named calcium or sodium channel requires an additional selective test.
• 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
• The experiments separate incoming synaptic drive from an active membrane conductance, a conductance whose expression depends on membrane voltage. Passive properties and active responses both contribute, but neither always explains the full sensory filter. The specific molecular channels underlying these active responses were not identified by this experiment.
References:
Fortune ES, Rose GJ (1997). Passive and Active Membrane Properties Contribute to the Temporal Filtering Properties of Midbrain Neurons In Vivo. The Journal of Neuroscience 17(10):3815-3825. https://doi.org/10.1523/jneurosci.17-10-03815.1997
Carr C, Maler L, Taylor B (1986). A time-comparison circuit in the electric fish midbrain. II. Functional morphology. The Journal of Neuroscience 6(5):1372-1383. https://doi.org/10.1523/jneurosci.06-05-01372.1986
Figure: Fortune &amp; Rose (1997), Fig. 6(A–B). Holding current separates active responses from synaptic input.
Figure source: https://doi.org/10.1523/jneurosci.17-10-03815.1997
Figure: Carr et al. (1986), Fig. 1(A). Sagittal brain anatomy with torus and electrosensory lateral line lobe.
Figure source: https://doi.org/10.1523/JNEUROSCI.06-05-01372.1986</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Postsynaptic potentials, or PSPs, are changes in a receiving neuron’s membrane voltage following synaptic input. Short-term depression is a reversible decline in these responses during repeated stimulation. Rose and Fortune recorded toral neurons during continuous and interrupted sensory signals.
  – The source related this mechanism to behavior: continuous 30-Hz beats elicited much smaller decelerations than slow beats, whereas interruption at 5 Hz restored a larger response. Recovery from depression allows a stimulus with fast internal cycles to become effective when its temporal organization includes sufficiently spaced input.
• At 20-Hz stimulation, introducing gaps of 8–48 ms increased the first responses after the interruption. Recovery depended on gap duration; most neurons regained their initial PSP amplitude after a 150-ms gap. Direct current injection did not reproduce the sensory response decline.
• The controls support a synaptic contribution to low-pass filtering, preferential transmission of slow changes. Depression can attenuate rapid beats while retaining sensitivity to slower jamming cues. The recordings do not establish whether the underlying cause is transmitter depletion, receptor desensitization, or another synaptic process.
References:
Rose GJ, Fortune ES (1999). Frequency-Dependent PSP Depression Contributes to Low-Pass Temporal Filtering in Eigenmannia. The Journal of Neuroscience 19(17):7629-7639. https://doi.org/10.1523/jneurosci.19-17-07629.1999
Carr C, Maler L, Taylor B (1986). A time-comparison circuit in the electric fish midbrain. II. Functional morphology. The Journal of Neuroscience 6(5):1372-1383. https://doi.org/10.1523/jneurosci.06-05-01372.1986
Figure: Rose &amp; Fortune (1999), Fig. 7(A–B). Brief gaps restore depressed sensory postsynaptic potentials.
Figure source: https://doi.org/10.1523/jneurosci.19-17-07629.1999
Figure: Carr et al. (1986), Fig. 1(A). Sagittal brain anatomy with torus and electrosensory lateral line lobe.
Figure source: https://doi.org/10.1523/JNEUROSCI.06-05-01372.1986</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
  – Curarization suppresses the electric organ while leaving a command signal available for recording. Testing intact fish addressed whether the amplitude-only response depended entirely on replacing the natural electric field. The authors observed individual differences rather than an identical response magnitude in every preparation.
• A 30% amplitude modulation at 4 Hz produced consistent deceleration. One published example decreased by 3.5 Hz; other individuals differed in magnitude. Similar decelerations occurred when recorded EODs from intact fish were amplitude-modulated and returned to the tank.
• This response does not discriminate positive from negative Δf because a separate neighbor frequency need not be present. Amplitude-only deceleration is therefore distinct from the bidirectional sign-selective JAR, even though it can contribute to the measured output during natural interference. Curarized and intact preparations supported the finding under their respective conditions.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2(A–B). Pure amplitude modulation produces repeatable decelerations.
Figure source: https://doi.org/10.1242/jeb.202.10.1377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varied amplitude-modulation depth while keeping the carrier and modulation frequency controlled. Modulation depth describes the relative size of the amplitude fluctuation. The published experiment used 4-Hz sinusoidal modulation and compared several depths in the same preparations.
  – The stimulus period lasted 30 s and alternated with 30-s baseline periods. Responses were measured relative to each animal’s prestimulus frequency. This reference distinguishes a true increase above resting frequency from a return upward after an earlier amplitude-induced decrease.
• A few percent modulation generally induced deceleration. One particularly sensitive fish responded at 0.1%, while less sensitive individuals required more than 10%. Frequency dependence was strongest near 4 Hz, matching the range that strongly activates natural jamming responses.
• The shared tuning does not make amplitude-only deceleration identical to beat-sign discrimination. Both can be driven by slow amplitude changes, while only the bidirectional component requires the appropriate spatial timing relationship. Sensitivity differed across individuals, so the most sensitive trace should not be treated as a universal behavioral threshold.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4(A–B). Amplitude-modulation depth controls deceleration magnitude.
Figure source: https://doi.org/10.1242/jeb.202.10.1377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electrically separated the head and trunk and independently manipulated the head carrier’s amplitude and phase. In the published experiment, a 380-Hz carrier supported 30% amplitude modulation and phase excursions spanning 200 µs peak to peak.
  – The same paper emphasized that EOD frequency must be compared with its resting level. Alternating two stimuli that both cause decreases can create an apparently bidirectional trace. A rise from one depressed level to another is not equivalent to a genuine acceleration above baseline.
• 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
• The finding argues against an explanation in which every amplitude-only decrease requires an internally generated, or “phantom,” differential-phase cue. It supports an additional amplitude-driven process. Its proposed role in balancing natural upward and downward excursions remained untested, rather than a proven adaptive function.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8(A–F). Head stimulation decelerates without a trunk phase reference.
Figure source: https://doi.org/10.1242/jeb.202.10.1377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Shifman and Lewis used experimentally constrained finite-element models, numerical descriptions of electrical fields, to compare Eigenmannia with Apteronotus. The model fish discharged at 300 and 600 Hz, respectively. Published analyses considered both single-neighbor interference and mixtures representing two neighbors.
  – The paper distinguishes electric-field geometry from the mere existence of sign-sensitive neurons. A system can retain sensory selectivity while its motor pathways or available cues differ. The proposed relationship between field complexity and circuit evolution requires comparative physiological and behavioral tests beyond the model alone.
• In three-fish conditions, amplitude envelopes and relative phase became more complex. The Apteronotus field produced less reliable cue combinations for a model of sign-dependent frequency adjustment than the more spatially uniform Eigenmannia field. The published polar trajectories are results of that computational analysis.
• The authors proposed that degraded cues could help explain evolutionary differences in frequency-control behavior. These plotted results are modeled sensory inputs, not newly recorded neuronal tuning or direct proof of evolutionary causation. Applying an Eigenmannia-based behavioral mapping to another species also does not establish identical neural algorithms.
References:
Shifman AR, Lewis JE (2018). The complexity of high-frequency electric fields degrades electrosensory inputs: implications for the jamming avoidance response in weakly electric fish. Journal of The Royal Society Interface 15(138):20170633. https://doi.org/10.1098/rsif.2017.0633
Figure: Shifman &amp; Lewis (2018), Fig. 6. Published electric-field model predicts ambiguity in phase cues.
Figure source: https://doi.org/10.1098/rsif.2017.0633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Beat rate is insufficient. Opposite frequency differences can produce the same beat rate; spatial amplitude–phase relationships supply the sign cue.
• Hyperacuity is distributed. Eigenmannia discriminates temporal disparities near 400 ns, and recruiting multiple skin regions supports nonlinear pooling of timing information.
• Sensory pathways converge. Amplitude-coding E/I inputs and phase comparisons feed combination-sensitive toral populations representing opposite beat signs.
• Motor routes remain separate. PPn-G supports frequency increases, while inhibition of tonic SPPn drive supports decreases; selective lesions distinguish the routes.
• Synaptic targets shape behavior. Gradual acceleration preferentially increases pacemaker-cell conductance, whereas deceleration removes tonic excitation from relay cells.
• A decrease alone does not prove sign discrimination. Amplitude modulation can lower EOD frequency without a trunk phase reference; responses must be measured against resting frequency.
References:
Rose G, Heiligenberg W (1985). Temporal hyperacuity in the electric sense of fish. Nature 318(6042):178-180. https://doi.org/10.1038/318178a0
Heiligenberg W, Rose G (1985). Phase and amplitude computations in the midbrain of an electric fish: intracellular studies of neurons participating in the jamming avoidance response of Eigenmannia. The Journal of Neuroscience 5(2):515-531. https://doi.org/10.1523/jneurosci.05-02-00515.1985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Curarization leaves the command signal recordable.</a:t>
            </a:r>
          </a:p>
          <a:p>
            <a:r>
              <a:rPr lang="en-US" sz="1200"/>
              <a:t>• Explanation 1.</a:t>
            </a:r>
          </a:p>
          <a:p>
            <a:r>
              <a:rPr lang="en-US" sz="1200"/>
              <a:t>– Curarization suppresses the electric organ while leaving a command signal available for recording</a:t>
            </a:r>
          </a:p>
          <a:p>
            <a:r>
              <a:rPr lang="en-US" sz="1200"/>
              <a:t>– Testing intact fish showed whether the amplitude-only response depended on replacing the natural electric field, and the decelerations persisted. The EOD substitute was amplitude-modulated while the neighbor signal was omitted. An unmodulated carrier supplied the baseline. The carrier stayed constant across trials.</a:t>
            </a:r>
          </a:p>
          <a:p>
            <a:r>
              <a:rPr lang="en-US" sz="1200"/>
              <a:t>• Explanation 2.</a:t>
            </a:r>
          </a:p>
          <a:p>
            <a:r>
              <a:rPr lang="en-US" sz="1200"/>
              <a:t>– The authors observed individual differences rather than identical response magnitudes in every preparation</a:t>
            </a:r>
          </a:p>
          <a:p>
            <a:r>
              <a:rPr lang="en-US" sz="1200"/>
              <a:t>– Magnitude varied from fish to fish, so one example represents one animal rather than a species average. One animal's magnitude was not averaged with the others. The 4-Hz modulation drove the decrease across individuals. Every animal was checked against its own baseline.</a:t>
            </a:r>
          </a:p>
          <a:p>
            <a:r>
              <a:rPr lang="en-US" sz="1200"/>
              <a:t>• Explanation 3.</a:t>
            </a:r>
          </a:p>
          <a:p>
            <a:r>
              <a:rPr lang="en-US" sz="1200"/>
              <a:t>– The curarized and intact preparations were tested separately, and their results complement one another</a:t>
            </a:r>
          </a:p>
          <a:p>
            <a:r>
              <a:rPr lang="en-US" sz="1200"/>
              <a:t>– Recordings from intact fish supported the decelerations under more natural conditions. The response has no sign information, so the neighbor's position stays unspecified here. Amplitude-only deceleration differs from the bidirectional JAR. The two responses are not interchangeable. This difference matters.</a:t>
            </a:r>
          </a:p>
          <a:p>
            <a:r>
              <a:rPr lang="en-US" sz="1200"/>
              <a:t>• Source.</a:t>
            </a:r>
          </a:p>
          <a:p>
            <a:r>
              <a:rPr lang="en-US" sz="1200"/>
              <a:t>– The figure and the measurements come from Takizawa et al. (1999).</a:t>
            </a:r>
          </a:p>
          <a:p>
            <a:r>
              <a:rPr lang="en-US" sz="1200"/>
              <a:t>– Each statement is tied to the recordings or observations of that study.</a:t>
            </a:r>
          </a:p>
          <a:p>
            <a:r>
              <a:rPr lang="en-US" sz="1200"/>
              <a:t/>
            </a:r>
          </a:p>
          <a:p>
            <a:r>
              <a:rPr lang="en-US" sz="1200"/>
              <a:t>References:</a:t>
            </a:r>
          </a:p>
          <a:p>
            <a:r>
              <a:rPr lang="en-US" sz="1200"/>
              <a:t>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PPn-C and PPn-G are neighboring subdivisions.</a:t>
            </a:r>
          </a:p>
          <a:p>
            <a:r>
              <a:rPr lang="en-US" sz="1200"/>
              <a:t>• Explanation 1.</a:t>
            </a:r>
          </a:p>
          <a:p>
            <a:r>
              <a:rPr lang="en-US" sz="1200"/>
              <a:t>– PPn-C and PPn-G are neighboring premotor subdivisions with different behavioral effects</a:t>
            </a:r>
          </a:p>
          <a:p>
            <a:r>
              <a:rPr lang="en-US" sz="1200"/>
              <a:t>– Their separation continues down to the cellular targets within the oscillator, where each subdivision reaches a different cell class. The chirp route reaches relay cells, whereas the acceleration route acts on pacemaker cells. The two routes differ at the level of individual cell types.</a:t>
            </a:r>
          </a:p>
          <a:p>
            <a:r>
              <a:rPr lang="en-US" sz="1200"/>
              <a:t>• Explanation 2.</a:t>
            </a:r>
          </a:p>
          <a:p>
            <a:r>
              <a:rPr lang="en-US" sz="1200"/>
              <a:t>– The timing and size of a frequency change identify the responsible subdivision only when the stimulation site and intracellular response are also known</a:t>
            </a:r>
          </a:p>
          <a:p>
            <a:r>
              <a:rPr lang="en-US" sz="1200"/>
              <a:t>– Chirp-sized changes of 30 to 160 Hz are assigned correctly only with that combined evidence. Those values are from representative chirps in the same preparation. Both measurements came from the same identified cells.</a:t>
            </a:r>
          </a:p>
          <a:p>
            <a:r>
              <a:rPr lang="en-US" sz="1200"/>
              <a:t>• Explanation 3.</a:t>
            </a:r>
          </a:p>
          <a:p>
            <a:r>
              <a:rPr lang="en-US" sz="1200"/>
              <a:t>– The relay-cell and pacemaker changes were measured in the same recordings</a:t>
            </a:r>
          </a:p>
          <a:p>
            <a:r>
              <a:rPr lang="en-US" sz="1200"/>
              <a:t>– Relay-cell conductance changes were the largest effect in the chirp recordings, so output cells receive the chirp route through a different input than the JAR route. The chirp route reaches output cells directly, while the JAR route acts through the oscillator's tonic drive.</a:t>
            </a:r>
          </a:p>
          <a:p>
            <a:r>
              <a:rPr lang="en-US" sz="1200"/>
              <a:t>• Source.</a:t>
            </a:r>
          </a:p>
          <a:p>
            <a:r>
              <a:rPr lang="en-US" sz="1200"/>
              <a:t>– The figure and the measurements come from Juranek &amp; Metzner (1998).</a:t>
            </a:r>
          </a:p>
          <a:p>
            <a:r>
              <a:rPr lang="en-US" sz="1200"/>
              <a:t>– Each statement is tied to the recordings or observations of that study.</a:t>
            </a:r>
          </a:p>
          <a:p>
            <a:r>
              <a:rPr lang="en-US" sz="1200"/>
              <a:t/>
            </a:r>
          </a:p>
          <a:p>
            <a:r>
              <a:rPr lang="en-US" sz="1200"/>
              <a:t>References:</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1990 paper also covered pulse-type fish.</a:t>
            </a:r>
          </a:p>
          <a:p>
            <a:r>
              <a:rPr lang="en-US" sz="1200"/>
              <a:t>• Explanation 1.</a:t>
            </a:r>
          </a:p>
          <a:p>
            <a:r>
              <a:rPr lang="en-US" sz="1200"/>
              <a:t>– The 1990 paper also included many experiments in the pulse-type genus Hypopomus</a:t>
            </a:r>
          </a:p>
          <a:p>
            <a:r>
              <a:rPr lang="en-US" sz="1200"/>
              <a:t>– Those results were not all transferable to Eigenmannia, so the selected record concerns Eigenmannia alone. The Eigenmannia record examined those drugs within the pacemaker nucleus. The record tested drugs in the pacemaker nucleus of the same species. The record concerns those drugs only.</a:t>
            </a:r>
          </a:p>
          <a:p>
            <a:r>
              <a:rPr lang="en-US" sz="1200"/>
              <a:t>• Explanation 2.</a:t>
            </a:r>
          </a:p>
          <a:p>
            <a:r>
              <a:rPr lang="en-US" sz="1200"/>
              <a:t>– Later primary experiments were cited to explain the revised circuit assignment for Eigenmannia</a:t>
            </a:r>
          </a:p>
          <a:p>
            <a:r>
              <a:rPr lang="en-US" sz="1200"/>
              <a:t>– The early drug results were reinterpreted in light of the later lesion and recording evidence. The 500 µM APV dose lowered baseline frequency and suppressed JAR rises. Bicuculline at 2 mM had no blocking effect in this species. These drugs were applied to the same pacemaker.</a:t>
            </a:r>
          </a:p>
          <a:p>
            <a:r>
              <a:rPr lang="en-US" sz="1200"/>
              <a:t>• Explanation 3.</a:t>
            </a:r>
          </a:p>
          <a:p>
            <a:r>
              <a:rPr lang="en-US" sz="1200"/>
              <a:t>– The 1990 Eigenmannia record set the question that the later lesion and blockade studies addressed, which is why the same pharmacological result appears in both the early and the revised circuit accounts</a:t>
            </a:r>
          </a:p>
          <a:p>
            <a:r>
              <a:rPr lang="en-US" sz="1200"/>
              <a:t>– Later lesion data located the GABA step in the SPPn, upstream of the pacemaker. Tonic excitation was lost downstream, which explains the deceleration. This refinement changed the interpretation.</a:t>
            </a:r>
          </a:p>
          <a:p>
            <a:r>
              <a:rPr lang="en-US" sz="1200"/>
              <a:t>• Source.</a:t>
            </a:r>
          </a:p>
          <a:p>
            <a:r>
              <a:rPr lang="en-US" sz="1200"/>
              <a:t>– The figure and the measurements come from Kawasaki &amp; Heiligenberg (1990).</a:t>
            </a:r>
          </a:p>
          <a:p>
            <a:r>
              <a:rPr lang="en-US" sz="1200"/>
              <a:t>– Each statement is tied to the recordings or observations of that study.</a:t>
            </a:r>
          </a:p>
          <a:p>
            <a:r>
              <a:rPr lang="en-US" sz="1200"/>
              <a:t/>
            </a:r>
          </a:p>
          <a:p>
            <a:r>
              <a:rPr lang="en-US" sz="1200"/>
              <a:t>References:</a:t>
            </a:r>
          </a:p>
          <a:p>
            <a:r>
              <a:rPr lang="en-US" sz="1200"/>
              <a:t>Kawasaki M, Heiligenberg W (1990). Different classes of glutamate receptors and GABA mediate distinct modulations of a neuronal oscillator, the medullary pacemaker of a gymnotiform electric fish. The Journal of Neuroscience 10(12):3896-3904. https://doi.org/10.1523/jneurosci.10-12-03896.1990</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L-glutamate and antagonists answer different questions.</a:t>
            </a:r>
          </a:p>
          <a:p>
            <a:r>
              <a:rPr lang="en-US" sz="1200"/>
              <a:t>• Explanation 1.</a:t>
            </a:r>
          </a:p>
          <a:p>
            <a:r>
              <a:rPr lang="en-US" sz="1200"/>
              <a:t>– L-glutamate stimulation activates nearby neurons through receptors that are already available</a:t>
            </a:r>
          </a:p>
          <a:p>
            <a:r>
              <a:rPr lang="en-US" sz="1200"/>
              <a:t>– An antagonist, by contrast, reduces signaling through one receptor class, so the two interventions answer different questions about the same circuit. The vehicle injections served as the reference for every drug injection. Those controls separated chemical action from the injection itself. The control was run in parallel.</a:t>
            </a:r>
          </a:p>
          <a:p>
            <a:r>
              <a:rPr lang="en-US" sz="1200"/>
              <a:t>• Explanation 2.</a:t>
            </a:r>
          </a:p>
          <a:p>
            <a:r>
              <a:rPr lang="en-US" sz="1200"/>
              <a:t>– The vehicle control was essential because fluid injection into a small nucleus can alter the recording or local tissue apart from any receptor blockade</a:t>
            </a:r>
          </a:p>
          <a:p>
            <a:r>
              <a:rPr lang="en-US" sz="1200"/>
              <a:t>– The artificial cerebrospinal fluid control isolates the drug's chemical action from the mechanical act of injecting. The acceleration response returned as the drug effect faded, which shows that the block was reversible.</a:t>
            </a:r>
          </a:p>
          <a:p>
            <a:r>
              <a:rPr lang="en-US" sz="1200"/>
              <a:t>• Explanation 3.</a:t>
            </a:r>
          </a:p>
          <a:p>
            <a:r>
              <a:rPr lang="en-US" sz="1200"/>
              <a:t>– Injection into the pacemaker nucleus targeted the medullary cells that generate the oscillator's frequency changes</a:t>
            </a:r>
          </a:p>
          <a:p>
            <a:r>
              <a:rPr lang="en-US" sz="1200"/>
              <a:t>– The antagonist response was measured against control injections in the same fish, and each animal served before and after drug delivery. Injecting into the pacemaker tested a step downstream of the upstream structures. Each animal's before and after records were compared directly.</a:t>
            </a:r>
          </a:p>
          <a:p>
            <a:r>
              <a:rPr lang="en-US" sz="1200"/>
              <a:t>• Source.</a:t>
            </a:r>
          </a:p>
          <a:p>
            <a:r>
              <a:rPr lang="en-US" sz="1200"/>
              <a:t>– The figure and the measurements come from Metzner (1993).</a:t>
            </a:r>
          </a:p>
          <a:p>
            <a:r>
              <a:rPr lang="en-US" sz="1200"/>
              <a:t>– Each statement is tied to the recordings or observations of that study.</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Anatomy guided lesion and injection placement.</a:t>
            </a:r>
          </a:p>
          <a:p>
            <a:r>
              <a:rPr lang="en-US" sz="1200"/>
              <a:t>• Explanation 1.</a:t>
            </a:r>
          </a:p>
          <a:p>
            <a:r>
              <a:rPr lang="en-US" sz="1200"/>
              <a:t>– The SPPn's placement beside nearby structures, including the lateral lemniscus, set where the experiments were placed</a:t>
            </a:r>
          </a:p>
          <a:p>
            <a:r>
              <a:rPr lang="en-US" sz="1200"/>
              <a:t>– An injection was checked for spread into neighboring tissue, because labeling outside the target would misidentify the input. The injection site and the surrounding tissue were both examined before the tracing was interpreted. Labeling in neighboring tissue would otherwise misplace the source of the input.</a:t>
            </a:r>
          </a:p>
          <a:p>
            <a:r>
              <a:rPr lang="en-US" sz="1200"/>
              <a:t>• Explanation 2.</a:t>
            </a:r>
          </a:p>
          <a:p>
            <a:r>
              <a:rPr lang="en-US" sz="1200"/>
              <a:t>– Anatomical labeling supports the localization of the pathway, while the selective behavioral effects constrain the functional role assigned to the SPPn</a:t>
            </a:r>
          </a:p>
          <a:p>
            <a:r>
              <a:rPr lang="en-US" sz="1200"/>
              <a:t>– Lesions placed in the same region test the functional contribution of the same cells. The published histology shows the labeled cells at two magnifications. Their broader views carry 100-µm scale bars. Those cells were scattered.</a:t>
            </a:r>
          </a:p>
          <a:p>
            <a:r>
              <a:rPr lang="en-US" sz="1200"/>
              <a:t>• Explanation 3.</a:t>
            </a:r>
          </a:p>
          <a:p>
            <a:r>
              <a:rPr lang="en-US" sz="1200"/>
              <a:t>– Retrograde labeling reached cells beneath the lateral lemniscus at a defined brainstem level, which fixed where the lesions had to be placed</a:t>
            </a:r>
          </a:p>
          <a:p>
            <a:r>
              <a:rPr lang="en-US" sz="1200"/>
              <a:t>– The chemical stimulation was delivered at that same level, so the two manipulations target the same region. Lesions there removed the frequency decreases, which identifies these cells as functionally important. Such cells matter for function.</a:t>
            </a:r>
          </a:p>
          <a:p>
            <a:r>
              <a:rPr lang="en-US" sz="1200"/>
              <a:t>• Source.</a:t>
            </a:r>
          </a:p>
          <a:p>
            <a:r>
              <a:rPr lang="en-US" sz="1200"/>
              <a:t>– The figure and the measurements come from Metzner (1993).</a:t>
            </a:r>
          </a:p>
          <a:p>
            <a:r>
              <a:rPr lang="en-US" sz="1200"/>
              <a:t>– Each statement is tied to the recordings or observations of that study.</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older single-population account.</a:t>
            </a:r>
          </a:p>
          <a:p>
            <a:r>
              <a:rPr lang="en-US" sz="1200"/>
              <a:t>• Explanation 1.</a:t>
            </a:r>
          </a:p>
          <a:p>
            <a:r>
              <a:rPr lang="en-US" sz="1200"/>
              <a:t>– The older account treated decreases as a weakening of the same neurons that drive increases</a:t>
            </a:r>
          </a:p>
          <a:p>
            <a:r>
              <a:rPr lang="en-US" sz="1200"/>
              <a:t>– Selective lesions supported a different organization, in which each route alters one direction of frequency change while the other direction stays available. The lesion data required two routes, each acting on one direction of frequency change. Each route acts on one direction only.</a:t>
            </a:r>
          </a:p>
          <a:p>
            <a:r>
              <a:rPr lang="en-US" sz="1200"/>
              <a:t>• Explanation 2.</a:t>
            </a:r>
          </a:p>
          <a:p>
            <a:r>
              <a:rPr lang="en-US" sz="1200"/>
              <a:t>– Selective lesions of one route left the other direction available, so each direction of frequency change can be lost independently</a:t>
            </a:r>
          </a:p>
          <a:p>
            <a:r>
              <a:rPr lang="en-US" sz="1200"/>
              <a:t>– The two directions have separable anatomical bases in the prepacemaker region. Each route reaches a distinct prepacemaker station, the dorsal route through PPn-G and the ventral route through SPPn. The stations were tested with lesions, stimulation, and pharmacology.</a:t>
            </a:r>
          </a:p>
          <a:p>
            <a:r>
              <a:rPr lang="en-US" sz="1200"/>
              <a:t>• Explanation 3.</a:t>
            </a:r>
          </a:p>
          <a:p>
            <a:r>
              <a:rPr lang="en-US" sz="1200"/>
              <a:t>– The lesion results separated the increase-driving route from the decrease-driving route, although both reach the same oscillator</a:t>
            </a:r>
          </a:p>
          <a:p>
            <a:r>
              <a:rPr lang="en-US" sz="1200"/>
              <a:t>– The chirp-controlling PPn-C remained a separate premotor subdivision, so its role in chirps sits apart from both JAR routes. The target-cell assignments were later tested directly in intracellular recordings. Some of those assignments remained inferred in 1993. This was tested in the same circuit.</a:t>
            </a:r>
          </a:p>
          <a:p>
            <a:r>
              <a:rPr lang="en-US" sz="1200"/>
              <a:t>• Source.</a:t>
            </a:r>
          </a:p>
          <a:p>
            <a:r>
              <a:rPr lang="en-US" sz="1200"/>
              <a:t>– The figure and the measurements come from Metzner (1993).</a:t>
            </a:r>
          </a:p>
          <a:p>
            <a:r>
              <a:rPr lang="en-US" sz="1200"/>
              <a:t>– Each statement is tied to the recordings or observations of that study.</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E-type label refers to response, not transmitter.</a:t>
            </a:r>
          </a:p>
          <a:p>
            <a:r>
              <a:rPr lang="en-US" sz="1200"/>
              <a:t>• Explanation 1.</a:t>
            </a:r>
          </a:p>
          <a:p>
            <a:r>
              <a:rPr lang="en-US" sz="1200"/>
              <a:t>– The label excitatory in E-type refers to excitation during amplitude increase, not to the transmitter the cell releases</a:t>
            </a:r>
          </a:p>
          <a:p>
            <a:r>
              <a:rPr lang="en-US" sz="1200"/>
              <a:t>– An I-type sensory preference likewise says nothing about whether the neuron inhibits its postsynaptic targets. Each label describes a response in the torus, and no label describes a transmitter. The four-class scheme is built from sensory response properties alone.</a:t>
            </a:r>
          </a:p>
          <a:p>
            <a:r>
              <a:rPr lang="en-US" sz="1200"/>
              <a:t>• Explanation 2.</a:t>
            </a:r>
          </a:p>
          <a:p>
            <a:r>
              <a:rPr lang="en-US" sz="1200"/>
              <a:t>– The published summary includes pure amplitude coders, phase coders, and cells sensitive to both variables</a:t>
            </a:r>
          </a:p>
          <a:p>
            <a:r>
              <a:rPr lang="en-US" sz="1200"/>
              <a:t>– These stages are experimentally distinguishable, so the population contains each kind of representation. The published summary identifies these stages by their recorded responses. Pure amplitude coders respond to one variable, whereas dual-sensitive cells respond to both. The stages are defined by their responses.</a:t>
            </a:r>
          </a:p>
          <a:p>
            <a:r>
              <a:rPr lang="en-US" sz="1200"/>
              <a:t>• Explanation 3.</a:t>
            </a:r>
          </a:p>
          <a:p>
            <a:r>
              <a:rPr lang="en-US" sz="1200"/>
              <a:t>– Physiological response class and synaptic transmitter identity are separate properties of a neuron</a:t>
            </a:r>
          </a:p>
          <a:p>
            <a:r>
              <a:rPr lang="en-US" sz="1200"/>
              <a:t>– Reading a response class as a transmitter identity would conflate two different properties. The labeled morphology in deeper laminae supplies an anatomical correlate for each class. Each class needs its own morphological and physiological test. The identity of the transmitter is a separate question.</a:t>
            </a:r>
          </a:p>
          <a:p>
            <a:r>
              <a:rPr lang="en-US" sz="1200"/>
              <a:t>• Source.</a:t>
            </a:r>
          </a:p>
          <a:p>
            <a:r>
              <a:rPr lang="en-US" sz="1200"/>
              <a:t>– The figure and the measurements come from Heiligenberg &amp; Rose (1985).</a:t>
            </a:r>
          </a:p>
          <a:p>
            <a:r>
              <a:rPr lang="en-US" sz="1200"/>
              <a:t>– Each statement is tied to the recordings or observations of that study.</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Sensitivity to instant timing differs from change.</a:t>
            </a:r>
          </a:p>
          <a:p>
            <a:r>
              <a:rPr lang="en-US" sz="1200"/>
              <a:t>• Explanation 1.</a:t>
            </a:r>
          </a:p>
          <a:p>
            <a:r>
              <a:rPr lang="en-US" sz="1200"/>
              <a:t>– The two kinds of test distinguish sensitivity to instantaneous timing from sensitivity to temporal change</a:t>
            </a:r>
          </a:p>
          <a:p>
            <a:r>
              <a:rPr lang="en-US" sz="1200"/>
              <a:t>– A held phase value probes the steady response, while a rapid sweep probes the response during changing input. Each test reveals a different feature of the same comparator. A held phase value tests stationary timing, which a sweep alone leaves hidden.</a:t>
            </a:r>
          </a:p>
          <a:p>
            <a:r>
              <a:rPr lang="en-US" sz="1200"/>
              <a:t>• Explanation 2.</a:t>
            </a:r>
          </a:p>
          <a:p>
            <a:r>
              <a:rPr lang="en-US" sz="1200"/>
              <a:t>– In the 2-Hz tests the two regional signals moved together, so only their relative timing changed</a:t>
            </a:r>
          </a:p>
          <a:p>
            <a:r>
              <a:rPr lang="en-US" sz="1200"/>
              <a:t>– Losing the head carrier widened the range of the cycle over which the cell fired, so the response depends on carrier presence. Head carrier removal changed the activity pattern across the whole cycle. The timing relation changed with the carrier.</a:t>
            </a:r>
          </a:p>
          <a:p>
            <a:r>
              <a:rPr lang="en-US" sz="1200"/>
              <a:t>• Explanation 3.</a:t>
            </a:r>
          </a:p>
          <a:p>
            <a:r>
              <a:rPr lang="en-US" sz="1200"/>
              <a:t>– A neuron that responds to instantaneous phase is not identical to one that responds to changing phase, so one cell can carry both kinds of information</a:t>
            </a:r>
          </a:p>
          <a:p>
            <a:r>
              <a:rPr lang="en-US" sz="1200"/>
              <a:t>– Sustained offsets held the phase constant long enough to measure a steady firing level, which a rapid scan lacks. Its response state depends on the carrier present in the reference region.</a:t>
            </a:r>
          </a:p>
          <a:p>
            <a:r>
              <a:rPr lang="en-US" sz="1200"/>
              <a:t>• Source.</a:t>
            </a:r>
          </a:p>
          <a:p>
            <a:r>
              <a:rPr lang="en-US" sz="1200"/>
              <a:t>– The figure and the measurements come from Heiligenberg &amp; Rose (1985).</a:t>
            </a:r>
          </a:p>
          <a:p>
            <a:r>
              <a:rPr lang="en-US" sz="1200"/>
              <a:t>– Each statement is tied to the recordings or observations of that study.</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Lobus caudalis and the layered projection.</a:t>
            </a:r>
          </a:p>
          <a:p>
            <a:r>
              <a:rPr lang="en-US" sz="1200"/>
              <a:t>• Explanation 1.</a:t>
            </a:r>
          </a:p>
          <a:p>
            <a:r>
              <a:rPr lang="en-US" sz="1200"/>
              <a:t>– Dye-filled cells can be matched to their location in the torus, linking physiology to anatomy</a:t>
            </a:r>
          </a:p>
          <a:p>
            <a:r>
              <a:rPr lang="en-US" sz="1200"/>
              <a:t>– The named laminae are anatomical layers rather than separate behavioral stages, so each lamina can host several cell types. Lamina 3 and lamina 6 sit at different depths within the same structure. The laminae define functional depth rather than separate behaviors.</a:t>
            </a:r>
          </a:p>
          <a:p>
            <a:r>
              <a:rPr lang="en-US" sz="1200"/>
              <a:t>• Explanation 2.</a:t>
            </a:r>
          </a:p>
          <a:p>
            <a:r>
              <a:rPr lang="en-US" sz="1200"/>
              <a:t>– One connection in the paper runs to the lobus caudalis, and the authors assigned it no specific role in the JAR</a:t>
            </a:r>
          </a:p>
          <a:p>
            <a:r>
              <a:rPr lang="en-US" sz="1200"/>
              <a:t>– That projection is listed alongside the torus laminae in the anatomical summary. That projection reaches a structure outside the toral laminae, so it is not one of the lamina-specific streams described above. Its position is separate.</a:t>
            </a:r>
          </a:p>
          <a:p>
            <a:r>
              <a:rPr lang="en-US" sz="1200"/>
              <a:t>• Explanation 3.</a:t>
            </a:r>
          </a:p>
          <a:p>
            <a:r>
              <a:rPr lang="en-US" sz="1200"/>
              <a:t>– Amplitude and phase inputs converge within deeper toral layers, where the combination-sensitive neurons of later experiments were recorded</a:t>
            </a:r>
          </a:p>
          <a:p>
            <a:r>
              <a:rPr lang="en-US" sz="1200"/>
              <a:t>– Those deeper neurons receive the streams that enter the upper laminae, so the layered arrangement sets the order of processing. Their arrangement determines which cells receive the timing signal first. Each stream reaches the deeper laminae in order.</a:t>
            </a:r>
          </a:p>
          <a:p>
            <a:r>
              <a:rPr lang="en-US" sz="1200"/>
              <a:t>• Source.</a:t>
            </a:r>
          </a:p>
          <a:p>
            <a:r>
              <a:rPr lang="en-US" sz="1200"/>
              <a:t>– The figure and the measurements come from Heiligenberg &amp; Rose (1985).</a:t>
            </a:r>
          </a:p>
          <a:p>
            <a:r>
              <a:rPr lang="en-US" sz="1200"/>
              <a:t>– Each statement is tied to the recordings or observations of that study.</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Junction recordings tied to labeled contacts.</a:t>
            </a:r>
          </a:p>
          <a:p>
            <a:r>
              <a:rPr lang="en-US" sz="1200"/>
              <a:t>• Explanation 1.</a:t>
            </a:r>
          </a:p>
          <a:p>
            <a:r>
              <a:rPr lang="en-US" sz="1200"/>
              <a:t>– Carr and colleagues linked electrophysiology to an identifiable contact by recording near a terminal and labeling the same pathway</a:t>
            </a:r>
          </a:p>
          <a:p>
            <a:r>
              <a:rPr lang="en-US" sz="1200"/>
              <a:t>– Electrical transmission was not inferred from the mere proximity of unlabeled cells, so each recorded event is tied to a specific anatomical contact. The labeled terminals were identified in the same preparation as the recordings. The contact was labeled in every panel.</a:t>
            </a:r>
          </a:p>
          <a:p>
            <a:r>
              <a:rPr lang="en-US" sz="1200"/>
              <a:t>• Explanation 2.</a:t>
            </a:r>
          </a:p>
          <a:p>
            <a:r>
              <a:rPr lang="en-US" sz="1200"/>
              <a:t>– The accompanying micrograph carries a 20-µm scale bar, which sets the size reference for the contact</a:t>
            </a:r>
          </a:p>
          <a:p>
            <a:r>
              <a:rPr lang="en-US" sz="1200"/>
              <a:t>– At that scale the terminal recordings resolve individual contacts rather than whole cell populations. A junction recorded at this resolution can be attributed to one identified contact. Spikes recorded there carry the timing of the presynaptic side. Recording and labeling were combined.</a:t>
            </a:r>
          </a:p>
          <a:p>
            <a:r>
              <a:rPr lang="en-US" sz="1200"/>
              <a:t>• Explanation 3.</a:t>
            </a:r>
          </a:p>
          <a:p>
            <a:r>
              <a:rPr lang="en-US" sz="1200"/>
              <a:t>– Spikes and potentials that cross the junction in reverse differ from newly generated sensory events, since they originate in the giant cell</a:t>
            </a:r>
          </a:p>
          <a:p>
            <a:r>
              <a:rPr lang="en-US" sz="1200"/>
              <a:t>– Events of this kind are what an electrical synapse would produce when current flows in both directions. Gap junctions are the structural basis for that electrical coupling. Their contacts can carry current in either direction.</a:t>
            </a:r>
          </a:p>
          <a:p>
            <a:r>
              <a:rPr lang="en-US" sz="1200"/>
              <a:t>• Source.</a:t>
            </a:r>
          </a:p>
          <a:p>
            <a:r>
              <a:rPr lang="en-US" sz="1200"/>
              <a:t>– The figure and the measurements come from Carr et al. (1986).</a:t>
            </a:r>
          </a:p>
          <a:p>
            <a:r>
              <a:rPr lang="en-US" sz="1200"/>
              <a:t>– Each statement is tied to the recordings or observations of that study.</a:t>
            </a:r>
          </a:p>
          <a:p>
            <a:r>
              <a:rPr lang="en-US" sz="1200"/>
              <a:t/>
            </a:r>
          </a:p>
          <a:p>
            <a:r>
              <a:rPr lang="en-US" sz="1200"/>
              <a:t>References:</a:t>
            </a:r>
          </a:p>
          <a:p>
            <a:r>
              <a:rPr lang="en-US" sz="1200"/>
              <a:t>Carr C, Maler L, Taylor B (1986). A time-comparison circuit in the electric fish midbrain. II. Functional morphology. The Journal of Neuroscience 6(5):1372-1383. https://doi.org/10.1523/jneurosci.06-05-01372.1986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Afferent and spherical cells occupy different sites.</a:t>
            </a:r>
          </a:p>
          <a:p>
            <a:r>
              <a:rPr lang="en-US" sz="1200"/>
              <a:t>• Explanation 1.</a:t>
            </a:r>
          </a:p>
          <a:p>
            <a:r>
              <a:rPr lang="en-US" sz="1200"/>
              <a:t>– The primary afferent's cell body lies in a peripheral ganglion, whereas the spherical cell is a central neuron in the ELL</a:t>
            </a:r>
          </a:p>
          <a:p>
            <a:r>
              <a:rPr lang="en-US" sz="1200"/>
              <a:t>– These are successive elements of one pathway, not different names for the same cell. The transition from a peripheral to a central cell body marks the point where the signal enters the brain. The circuit begins at the receptor.</a:t>
            </a:r>
          </a:p>
          <a:p>
            <a:r>
              <a:rPr lang="en-US" sz="1200"/>
              <a:t>• Explanation 2.</a:t>
            </a:r>
          </a:p>
          <a:p>
            <a:r>
              <a:rPr lang="en-US" sz="1200"/>
              <a:t>– The parallel P-type pathway carries amplitude information and projects to different central targets than the T-type route</a:t>
            </a:r>
          </a:p>
          <a:p>
            <a:r>
              <a:rPr lang="en-US" sz="1200"/>
              <a:t>– Routing the two pathways to different targets allows the torus to receive both cue types through separate channels. Routing timing through the ELL keeps phase information separate from amplitude information until the torus. Phase information stays separate there.</a:t>
            </a:r>
          </a:p>
          <a:p>
            <a:r>
              <a:rPr lang="en-US" sz="1200"/>
              <a:t>• Explanation 3.</a:t>
            </a:r>
          </a:p>
          <a:p>
            <a:r>
              <a:rPr lang="en-US" sz="1200"/>
              <a:t>– Spherical-cell axons reach lamina VI, where giant cells receive the locked timing</a:t>
            </a:r>
          </a:p>
          <a:p>
            <a:r>
              <a:rPr lang="en-US" sz="1200"/>
              <a:t>– Each stage carries the phase of the original carrier to the next, which allows the torus to compare arrival times across regions. The giant cells in lamina VI receive timing from spherical cells rather than from the periphery. Phase locking is conserved across this step.</a:t>
            </a:r>
          </a:p>
          <a:p>
            <a:r>
              <a:rPr lang="en-US" sz="1200"/>
              <a:t>• Source.</a:t>
            </a:r>
          </a:p>
          <a:p>
            <a:r>
              <a:rPr lang="en-US" sz="1200"/>
              <a:t>– The figure and the measurements come from Carr et al. (1986).</a:t>
            </a:r>
          </a:p>
          <a:p>
            <a:r>
              <a:rPr lang="en-US" sz="1200"/>
              <a:t>– Each statement is tied to the recordings or observations of that study.</a:t>
            </a:r>
          </a:p>
          <a:p>
            <a:r>
              <a:rPr lang="en-US" sz="1200"/>
              <a:t/>
            </a:r>
          </a:p>
          <a:p>
            <a:r>
              <a:rPr lang="en-US" sz="1200"/>
              <a:t>References:</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Electronic controls mimic the spike's rising edge.</a:t>
            </a:r>
          </a:p>
          <a:p>
            <a:r>
              <a:rPr lang="en-US" sz="1200"/>
              <a:t>• Explanation 1.</a:t>
            </a:r>
          </a:p>
          <a:p>
            <a:r>
              <a:rPr lang="en-US" sz="1200"/>
              <a:t>– The electronic controls were adjusted to resemble the steep rising portion of a neural spike, because a different spike shape could change threshold-crossing precision</a:t>
            </a:r>
          </a:p>
          <a:p>
            <a:r>
              <a:rPr lang="en-US" sz="1200"/>
              <a:t>– Intracellular recordings also reduced contamination from small extracellular signals, which helped distinguish biological variability from the recording method. Those controls kept the spike shape constant across trials. The rising edge sets the threshold timing.</a:t>
            </a:r>
          </a:p>
          <a:p>
            <a:r>
              <a:rPr lang="en-US" sz="1200"/>
              <a:t>• Explanation 2.</a:t>
            </a:r>
          </a:p>
          <a:p>
            <a:r>
              <a:rPr lang="en-US" sz="1200"/>
              <a:t>– A single afferent's spike train is one sample of the timing signal, which is why the authors pointed to parallel inputs</a:t>
            </a:r>
          </a:p>
          <a:p>
            <a:r>
              <a:rPr lang="en-US" sz="1200"/>
              <a:t>– The spike mimics passed through the same equipment, so instrument uncertainty was measured on the same timescale as the afferent data. The spike mimics directly tested the recording system. Its spread stayed narrow.</a:t>
            </a:r>
          </a:p>
          <a:p>
            <a:r>
              <a:rPr lang="en-US" sz="1200"/>
              <a:t>• Explanation 3.</a:t>
            </a:r>
          </a:p>
          <a:p>
            <a:r>
              <a:rPr lang="en-US" sz="1200"/>
              <a:t>– Afferent timing alone leaves the behavioral precision within the 300-ms response latency poorly</a:t>
            </a:r>
          </a:p>
          <a:p>
            <a:r>
              <a:rPr lang="en-US" sz="1200"/>
              <a:t>– Pooling across many inputs fits both the afferent spread and the behavioral result, because each additional afferent adds a partly independent timing estimate. The 300-ms response latency gives the nervous system time to pool many stimulus cycles before the fish responds. The timing estimates stay partly independent.</a:t>
            </a:r>
          </a:p>
          <a:p>
            <a:r>
              <a:rPr lang="en-US" sz="1200"/>
              <a:t>• Source.</a:t>
            </a:r>
          </a:p>
          <a:p>
            <a:r>
              <a:rPr lang="en-US" sz="1200"/>
              <a:t>– The figure and the measurements come from Rose &amp; Heiligenberg (1985).</a:t>
            </a:r>
          </a:p>
          <a:p>
            <a:r>
              <a:rPr lang="en-US" sz="1200"/>
              <a:t>– Each statement is tied to the recordings or observations of that study.</a:t>
            </a:r>
          </a:p>
          <a:p>
            <a:r>
              <a:rPr lang="en-US" sz="1200"/>
              <a:t/>
            </a:r>
          </a:p>
          <a:p>
            <a:r>
              <a:rPr lang="en-US" sz="1200"/>
              <a:t>References:</a:t>
            </a:r>
          </a:p>
          <a:p>
            <a:r>
              <a:rPr lang="en-US" sz="1200"/>
              <a:t>Rose G, Heiligenberg W (1985). Temporal hyperacuity in the electric sense of fish. Nature 318(6042):178-180. https://doi.org/10.1038/318178a0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Regional stimulation holds one cue constant.</a:t>
            </a:r>
          </a:p>
          <a:p>
            <a:r>
              <a:rPr lang="en-US" sz="1200"/>
              <a:t>• Explanation 1.</a:t>
            </a:r>
          </a:p>
          <a:p>
            <a:r>
              <a:rPr lang="en-US" sz="1200"/>
              <a:t>– A natural neighbor changes several cues together, whereas regional stimulation can vary one cue while another stays fixed</a:t>
            </a:r>
          </a:p>
          <a:p>
            <a:r>
              <a:rPr lang="en-US" sz="1200"/>
              <a:t>– That control let the investigator treat the timing offset between two regions as a separate variable. The published stimulus tested the relative timing cue on its own, apart from the beat rate. The offset behaves as a second variable beside the modulation.</a:t>
            </a:r>
          </a:p>
          <a:p>
            <a:r>
              <a:rPr lang="en-US" sz="1200"/>
              <a:t>• Explanation 2.</a:t>
            </a:r>
          </a:p>
          <a:p>
            <a:r>
              <a:rPr lang="en-US" sz="1200"/>
              <a:t>– Heiligenberg's stimulators were controlled electronically, so each region's modulation could be repeated across trials</a:t>
            </a:r>
          </a:p>
          <a:p>
            <a:r>
              <a:rPr lang="en-US" sz="1200"/>
              <a:t>– Exchanging the region assignments moved the phase modulation to the other region, with the amplitude schedule fixed. The constant phase offset between regions was held fixed during each exchange. At near-zero offset, timing of the normal kind yielded a negative shift for positive Δf.</a:t>
            </a:r>
          </a:p>
          <a:p>
            <a:r>
              <a:rPr lang="en-US" sz="1200"/>
              <a:t>• Explanation 3.</a:t>
            </a:r>
          </a:p>
          <a:p>
            <a:r>
              <a:rPr lang="en-US" sz="1200"/>
              <a:t>– Relative timing defines the exchange, and the stimulus isolates that variable from the amplitude schedule</a:t>
            </a:r>
          </a:p>
          <a:p>
            <a:r>
              <a:rPr lang="en-US" sz="1200"/>
              <a:t>– The same experiments also showed that the offset between regions shapes the size of the response, not only its direction. The behavioral reversal shows which cue controls the response, and it points to the neural site of the computation as the next layer to map.</a:t>
            </a:r>
          </a:p>
          <a:p>
            <a:r>
              <a:rPr lang="en-US" sz="1200"/>
              <a:t>• Source.</a:t>
            </a:r>
          </a:p>
          <a:p>
            <a:r>
              <a:rPr lang="en-US" sz="1200"/>
              <a:t>– The figure and the measurements come from Heiligenberg (1980).</a:t>
            </a:r>
          </a:p>
          <a:p>
            <a:r>
              <a:rPr lang="en-US" sz="1200"/>
              <a:t>– Each statement is tied to the recordings or observations of that study.</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Zero crossings mark timing inside the mixture.</a:t>
            </a:r>
          </a:p>
          <a:p>
            <a:r>
              <a:rPr lang="en-US" sz="1200"/>
              <a:t>• Explanation 1.</a:t>
            </a:r>
          </a:p>
          <a:p>
            <a:r>
              <a:rPr lang="en-US" sz="1200"/>
              <a:t>– A zero crossing is the moment when the electrical voltage changes sign, and it gives a reproducible timing landmark on each carrier cycle</a:t>
            </a:r>
          </a:p>
          <a:p>
            <a:r>
              <a:rPr lang="en-US" sz="1200"/>
              <a:t>– Amplitude and zero-crossing timing are two different properties of the same mixed waveform. Neither sensory pathway directly receives an isolated copy of the neighbor's signal, so both cues come from one summed input.</a:t>
            </a:r>
          </a:p>
          <a:p>
            <a:r>
              <a:rPr lang="en-US" sz="1200"/>
              <a:t>• Explanation 2.</a:t>
            </a:r>
          </a:p>
          <a:p>
            <a:r>
              <a:rPr lang="en-US" sz="1200"/>
              <a:t>– The illustrated carrier runs at 500 Hz, so each cycle lasts 2 ms</a:t>
            </a:r>
          </a:p>
          <a:p>
            <a:r>
              <a:rPr lang="en-US" sz="1200"/>
              <a:t>– A timing shift in the landmark occupies a small part of that cycle, which is why the fish must resolve fine differences inside a repeating waveform. Heiligenberg's oscilloscope record keeps the slow envelope and the fast carrier on one trace, so both features appear together.</a:t>
            </a:r>
          </a:p>
          <a:p>
            <a:r>
              <a:rPr lang="en-US" sz="1200"/>
              <a:t>• Explanation 3.</a:t>
            </a:r>
          </a:p>
          <a:p>
            <a:r>
              <a:rPr lang="en-US" sz="1200"/>
              <a:t>– Sorting these cues requires reading each timing landmark against the amplitude change at the same point in the cycle</a:t>
            </a:r>
          </a:p>
          <a:p>
            <a:r>
              <a:rPr lang="en-US" sz="1200"/>
              <a:t>– Because the nervous system receives both properties through one channel, each measure must be interpreted in the context of the other. A beat rate alone carries no sign information, so the timing evidence must supply it.</a:t>
            </a:r>
          </a:p>
          <a:p>
            <a:r>
              <a:rPr lang="en-US" sz="1200"/>
              <a:t>• Source.</a:t>
            </a:r>
          </a:p>
          <a:p>
            <a:r>
              <a:rPr lang="en-US" sz="1200"/>
              <a:t>– The figure and the measurements come from Heiligenberg (1980).</a:t>
            </a:r>
          </a:p>
          <a:p>
            <a:r>
              <a:rPr lang="en-US" sz="1200"/>
              <a:t>– Each statement is tied to the recordings or observations of that study.</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2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2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6.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4.png"/><Relationship Id="rId3" Type="http://schemas.openxmlformats.org/officeDocument/2006/relationships/image" Target="../media/Presenton_Native_Image_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8.png"/><Relationship Id="rId3" Type="http://schemas.openxmlformats.org/officeDocument/2006/relationships/image" Target="../media/Presenton_Native_Image_3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3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image" Target="../media/Presenton_Native_Image_24.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6" name="Shape 616"/>
          <p:cNvSpPr/>
          <p:nvPr/>
        </p:nvSpPr>
        <p:spPr>
          <a:xfrm>
            <a:off x="0" y="0"/>
            <a:ext cx="6096000" cy="6858000"/>
          </a:xfrm>
          <a:prstGeom prst="rect">
            <a:avLst/>
          </a:prstGeom>
          <a:solidFill>
            <a:srgbClr val="16181D"/>
          </a:solidFill>
        </p:spPr>
        <p:txBody>
          <a:bodyPr/>
          <a:lstStyle/>
          <a:p/>
        </p:txBody>
      </p:sp>
      <p:sp>
        <p:nvSpPr>
          <p:cNvPr id="617" name="Shape 617"/>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B3B7C0"/>
                </a:solidFill>
                <a:latin typeface="Arial"/>
                <a:ea typeface="Arial"/>
              </a:rPr>
              <a:t>NEUR 411 · NEUROETHOLOGY · FALL 2026</a:t>
            </a:r>
            <a:endParaRPr lang="en-US"/>
          </a:p>
        </p:txBody>
      </p:sp>
      <p:sp>
        <p:nvSpPr>
          <p:cNvPr id="618" name="Shape 618"/>
          <p:cNvSpPr/>
          <p:nvPr/>
        </p:nvSpPr>
        <p:spPr>
          <a:xfrm>
            <a:off x="685800" y="1782961"/>
            <a:ext cx="4743450" cy="4367039"/>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B3B7C0"/>
                </a:solidFill>
                <a:latin typeface="Arial"/>
                <a:ea typeface="Arial"/>
              </a:rPr>
              <a:t>Lecture 22</a:t>
            </a:r>
            <a:endParaRPr lang="en-US"/>
          </a:p>
          <a:p>
            <a:pPr algn="l">
              <a:lnSpc>
                <a:spcPts val="2160"/>
              </a:lnSpc>
              <a:spcAft>
                <a:spcPts val="1200"/>
              </a:spcAft>
              <a:buNone/>
            </a:pPr>
            <a:r>
              <a:rPr sz="1500" b="1" i="0">
                <a:solidFill>
                  <a:srgbClr val="FFFFFF"/>
                </a:solidFill>
                <a:latin typeface="Arial"/>
                <a:ea typeface="Arial"/>
              </a:rPr>
              <a:t>Electroreception III: the jamming avoidance response (Heiligenberg)</a:t>
            </a:r>
            <a:endParaRPr lang="en-US"/>
          </a:p>
          <a:p>
            <a:pPr algn="l">
              <a:lnSpc>
                <a:spcPts val="1440"/>
              </a:lnSpc>
              <a:spcAft>
                <a:spcPts val="1200"/>
              </a:spcAft>
              <a:buNone/>
            </a:pPr>
            <a:r>
              <a:rPr sz="1500" b="0" i="0">
                <a:solidFill>
                  <a:srgbClr val="B3B7C0"/>
                </a:solidFill>
                <a:latin typeface="Arial"/>
                <a:ea typeface="Arial"/>
              </a:rPr>
              <a:t>Friday, October 16, 2026</a:t>
            </a:r>
            <a:endParaRPr lang="en-US"/>
          </a:p>
          <a:p>
            <a:pPr algn="l">
              <a:lnSpc>
                <a:spcPts val="1080"/>
              </a:lnSpc>
              <a:spcAft>
                <a:spcPts val="1200"/>
              </a:spcAft>
              <a:buNone/>
            </a:pPr>
            <a:r>
              <a:rPr sz="1500" b="0" i="0">
                <a:solidFill>
                  <a:srgbClr val="B3B7C0"/>
                </a:solidFill>
                <a:latin typeface="Arial"/>
                <a:ea typeface="Arial"/>
              </a:rPr>
              <a:t>Jordan Lopez, Ph.D.</a:t>
            </a:r>
            <a:endParaRPr lang="en-US"/>
          </a:p>
          <a:p>
            <a:pPr algn="l">
              <a:lnSpc>
                <a:spcPts val="1080"/>
              </a:lnSpc>
              <a:spcAft>
                <a:spcPts val="1200"/>
              </a:spcAft>
              <a:buNone/>
            </a:pPr>
            <a:r>
              <a:rPr sz="1500" b="0" i="0">
                <a:solidFill>
                  <a:srgbClr val="B3B7C0"/>
                </a:solidFill>
                <a:latin typeface="Arial"/>
                <a:ea typeface="Arial"/>
              </a:rPr>
              <a:t xml:space="preserve">Professor of Neurobiology </a:t>
            </a:r>
            <a:r>
              <a:rPr sz="1500" b="0" i="0">
                <a:solidFill>
                  <a:srgbClr val="B3B7C0"/>
                </a:solidFill>
                <a:latin typeface="Arial"/>
                <a:ea typeface="Arial"/>
              </a:rPr>
              <a:t>&amp;</a:t>
            </a:r>
            <a:r>
              <a:rPr sz="1500" b="0" i="0">
                <a:solidFill>
                  <a:srgbClr val="B3B7C0"/>
                </a:solidFill>
                <a:latin typeface="Arial"/>
                <a:ea typeface="Arial"/>
              </a:rPr>
              <a:t xml:space="preserve"> Biomedical Engineering</a:t>
            </a:r>
            <a:endParaRPr lang="en-US"/>
          </a:p>
        </p:txBody>
      </p:sp>
      <p:pic>
        <p:nvPicPr>
          <p:cNvPr id="184" name="Presenton Native Image 1" descr=""/>
          <p:cNvPicPr/>
          <p:nvPr/>
        </p:nvPicPr>
        <p:blipFill>
          <a:blip r:embed="rId2" cstate="none"/>
          <a:stretch>
            <a:fillRect/>
          </a:stretch>
        </p:blipFill>
        <p:spPr>
          <a:xfrm>
            <a:off x="6553447" y="822871"/>
            <a:ext cx="5181106" cy="2466082"/>
          </a:xfrm>
          <a:prstGeom prst="rect">
            <a:avLst/>
          </a:prstGeom>
        </p:spPr>
      </p:pic>
      <p:sp>
        <p:nvSpPr>
          <p:cNvPr id="623" name="Shape 623"/>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top). Eigenmannia and its caudal electric organ; original published animal drawing.</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4" name="Shape 6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stable electric discharge can be shifted away from a rival</a:t>
            </a:r>
            <a:endParaRPr lang="en-US"/>
          </a:p>
        </p:txBody>
      </p:sp>
      <p:sp>
        <p:nvSpPr>
          <p:cNvPr id="625" name="Shape 6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Eigenmannia virescens</a:t>
            </a:r>
            <a:r>
              <a:rPr sz="1400" b="0" i="0">
                <a:solidFill>
                  <a:srgbClr val="202329"/>
                </a:solidFill>
                <a:latin typeface="Arial"/>
                <a:ea typeface="Arial"/>
              </a:rPr>
              <a:t> is a South American weakly electric fish whose </a:t>
            </a:r>
            <a:r>
              <a:rPr sz="1400" b="1" i="0">
                <a:solidFill>
                  <a:srgbClr val="16181D"/>
                </a:solidFill>
                <a:latin typeface="Arial"/>
                <a:ea typeface="Arial"/>
              </a:rPr>
              <a:t>electric organ discharge</a:t>
            </a:r>
            <a:r>
              <a:rPr sz="1400" b="0" i="0">
                <a:solidFill>
                  <a:srgbClr val="202329"/>
                </a:solidFill>
                <a:latin typeface="Arial"/>
                <a:ea typeface="Arial"/>
              </a:rPr>
              <a:t>, or EOD, repeats continuously. Heiligenberg described individual discharge frequencies between 300 and 600 Hz. The caudal electric organ generates the electric field that the fish uses to detect nearby objects in its environment. It is monitored continuously.</a:t>
            </a:r>
            <a:endParaRPr lang="en-US"/>
          </a:p>
          <a:p>
            <a:pPr algn="l">
              <a:lnSpc>
                <a:spcPct val="108000"/>
              </a:lnSpc>
              <a:spcAft>
                <a:spcPts val="1200"/>
              </a:spcAft>
              <a:buNone/>
            </a:pPr>
            <a:r>
              <a:rPr sz="1400" b="0" i="0">
                <a:solidFill>
                  <a:srgbClr val="202329"/>
                </a:solidFill>
                <a:latin typeface="Arial"/>
                <a:ea typeface="Arial"/>
              </a:rPr>
              <a:t>A neighboring fish with a similar frequency creates </a:t>
            </a:r>
            <a:r>
              <a:rPr sz="1400" b="1" i="0">
                <a:solidFill>
                  <a:srgbClr val="16181D"/>
                </a:solidFill>
                <a:latin typeface="Arial"/>
                <a:ea typeface="Arial"/>
              </a:rPr>
              <a:t>interference</a:t>
            </a:r>
            <a:r>
              <a:rPr sz="1400" b="0" i="0">
                <a:solidFill>
                  <a:srgbClr val="202329"/>
                </a:solidFill>
                <a:latin typeface="Arial"/>
                <a:ea typeface="Arial"/>
              </a:rPr>
              <a:t> in the shared field. In the </a:t>
            </a:r>
            <a:r>
              <a:rPr sz="1400" b="1" i="0">
                <a:solidFill>
                  <a:srgbClr val="16181D"/>
                </a:solidFill>
                <a:latin typeface="Arial"/>
                <a:ea typeface="Arial"/>
              </a:rPr>
              <a:t>jamming avoidance response</a:t>
            </a:r>
            <a:r>
              <a:rPr sz="1400" b="0" i="0">
                <a:solidFill>
                  <a:srgbClr val="202329"/>
                </a:solidFill>
                <a:latin typeface="Arial"/>
                <a:ea typeface="Arial"/>
              </a:rPr>
              <a:t>, or JAR, the focal fish shifts its discharge away from the neighbor's frequency. A lower-frequency neighbor elicits an increase, and a higher-frequency neighbor elicits a decrease. Removing the signal permits a return.</a:t>
            </a:r>
            <a:endParaRPr lang="en-US"/>
          </a:p>
          <a:p>
            <a:pPr algn="l">
              <a:lnSpc>
                <a:spcPct val="108000"/>
              </a:lnSpc>
              <a:spcAft>
                <a:spcPts val="1200"/>
              </a:spcAft>
              <a:buNone/>
            </a:pPr>
            <a:r>
              <a:rPr sz="1400" b="0" i="0">
                <a:solidFill>
                  <a:srgbClr val="202329"/>
                </a:solidFill>
                <a:latin typeface="Arial"/>
                <a:ea typeface="Arial"/>
              </a:rPr>
              <a:t>Published simultaneous recordings pair a 500-Hz EOD with one pacemaker command per cycle. The </a:t>
            </a:r>
            <a:r>
              <a:rPr sz="1400" b="1" i="0">
                <a:solidFill>
                  <a:srgbClr val="16181D"/>
                </a:solidFill>
                <a:latin typeface="Arial"/>
                <a:ea typeface="Arial"/>
              </a:rPr>
              <a:t>pacemaker nucleus</a:t>
            </a:r>
            <a:r>
              <a:rPr sz="1400" b="0" i="0">
                <a:solidFill>
                  <a:srgbClr val="202329"/>
                </a:solidFill>
                <a:latin typeface="Arial"/>
                <a:ea typeface="Arial"/>
              </a:rPr>
              <a:t>, a hindbrain group that generates rhythmic commands, changes signal frequency rather than switching off the electric sense. Discharge frequency therefore serves as a measurable motor output. This output is measurable in every recorded cycle.</a:t>
            </a:r>
            <a:endParaRPr lang="en-US"/>
          </a:p>
        </p:txBody>
      </p:sp>
      <p:pic>
        <p:nvPicPr>
          <p:cNvPr id="185" name="Presenton Native Image 2" descr=""/>
          <p:cNvPicPr/>
          <p:nvPr/>
        </p:nvPicPr>
        <p:blipFill>
          <a:blip r:embed="rId2" cstate="none"/>
          <a:stretch>
            <a:fillRect/>
          </a:stretch>
        </p:blipFill>
        <p:spPr>
          <a:xfrm>
            <a:off x="7372725" y="1280071"/>
            <a:ext cx="3749422" cy="4297561"/>
          </a:xfrm>
          <a:prstGeom prst="rect">
            <a:avLst/>
          </a:prstGeom>
        </p:spPr>
      </p:pic>
      <p:sp>
        <p:nvSpPr>
          <p:cNvPr id="628" name="Shape 6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Animal, brain structures, and the 500-Hz discharge record.</a:t>
            </a:r>
            <a:endParaRPr lang="en-US"/>
          </a:p>
        </p:txBody>
      </p:sp>
      <p:sp>
        <p:nvSpPr>
          <p:cNvPr id="629" name="Shape 629"/>
          <p:cNvSpPr/>
          <p:nvPr/>
        </p:nvSpPr>
        <p:spPr>
          <a:xfrm>
            <a:off x="566886" y="6382494"/>
            <a:ext cx="11058079" cy="9079"/>
          </a:xfrm>
          <a:prstGeom prst="rect">
            <a:avLst/>
          </a:prstGeom>
          <a:solidFill>
            <a:srgbClr val="D2D4D9"/>
          </a:solidFill>
        </p:spPr>
        <p:txBody>
          <a:bodyPr/>
          <a:lstStyle/>
          <a:p/>
        </p:txBody>
      </p:sp>
      <p:sp>
        <p:nvSpPr>
          <p:cNvPr id="630" name="Shape 6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1" name="Shape 6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Interference creates slow amplitude and phase modulation</a:t>
            </a:r>
            <a:endParaRPr lang="en-US"/>
          </a:p>
        </p:txBody>
      </p:sp>
      <p:sp>
        <p:nvSpPr>
          <p:cNvPr id="633" name="Shape 63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0" i="0">
                <a:solidFill>
                  <a:srgbClr val="202329"/>
                </a:solidFill>
                <a:latin typeface="Arial"/>
                <a:ea typeface="Arial"/>
              </a:rPr>
              <a:t xml:space="preserve">A </a:t>
            </a:r>
            <a:r>
              <a:rPr sz="1500" b="1" i="0">
                <a:solidFill>
                  <a:srgbClr val="16181D"/>
                </a:solidFill>
                <a:latin typeface="Arial"/>
                <a:ea typeface="Arial"/>
              </a:rPr>
              <a:t>beat</a:t>
            </a:r>
            <a:r>
              <a:rPr sz="1500" b="0" i="0">
                <a:solidFill>
                  <a:srgbClr val="202329"/>
                </a:solidFill>
                <a:latin typeface="Arial"/>
                <a:ea typeface="Arial"/>
              </a:rPr>
              <a:t xml:space="preserve"> is the slow modulation produced when two signals of similar frequency combine. </a:t>
            </a:r>
            <a:r>
              <a:rPr sz="1500" b="1" i="0">
                <a:solidFill>
                  <a:srgbClr val="16181D"/>
                </a:solidFill>
                <a:latin typeface="Arial"/>
                <a:ea typeface="Arial"/>
              </a:rPr>
              <a:t>Amplitude</a:t>
            </a:r>
            <a:r>
              <a:rPr sz="1500" b="0" i="0">
                <a:solidFill>
                  <a:srgbClr val="202329"/>
                </a:solidFill>
                <a:latin typeface="Arial"/>
                <a:ea typeface="Arial"/>
              </a:rPr>
              <a:t xml:space="preserve"> is the magnitude of a signal, and </a:t>
            </a:r>
            <a:r>
              <a:rPr sz="1500" b="1" i="0">
                <a:solidFill>
                  <a:srgbClr val="16181D"/>
                </a:solidFill>
                <a:latin typeface="Arial"/>
                <a:ea typeface="Arial"/>
              </a:rPr>
              <a:t>phase</a:t>
            </a:r>
            <a:r>
              <a:rPr sz="1500" b="0" i="0">
                <a:solidFill>
                  <a:srgbClr val="202329"/>
                </a:solidFill>
                <a:latin typeface="Arial"/>
                <a:ea typeface="Arial"/>
              </a:rPr>
              <a:t xml:space="preserve"> is the position within a repeating cycle. Heiligenberg represented the fish's discharge as S1 and the foreign signal as S2, and measured the mixed signal. Both sources contribute.</a:t>
            </a:r>
            <a:endParaRPr lang="en-US"/>
          </a:p>
          <a:p>
            <a:pPr algn="l">
              <a:lnSpc>
                <a:spcPct val="108000"/>
              </a:lnSpc>
              <a:spcAft>
                <a:spcPts val="1200"/>
              </a:spcAft>
              <a:buNone/>
            </a:pPr>
            <a:r>
              <a:rPr sz="1500" b="0" i="0">
                <a:solidFill>
                  <a:srgbClr val="202329"/>
                </a:solidFill>
                <a:latin typeface="Arial"/>
                <a:ea typeface="Arial"/>
              </a:rPr>
              <a:t xml:space="preserve">The mixed signal repeatedly grows and shrinks while its timing advances and delays relative to S1. These changes occur at the difference between the two source frequencies. A fast carrier can therefore hold a slow interference pattern that overlaps the amplitude changes used for object sensing. This is a slow envelope.</a:t>
            </a:r>
            <a:endParaRPr lang="en-US"/>
          </a:p>
          <a:p>
            <a:pPr algn="l">
              <a:lnSpc>
                <a:spcPct val="108000"/>
              </a:lnSpc>
              <a:spcAft>
                <a:spcPts val="1200"/>
              </a:spcAft>
              <a:buNone/>
            </a:pPr>
            <a:r>
              <a:rPr sz="1500" b="0" i="0">
                <a:solidFill>
                  <a:srgbClr val="202329"/>
                </a:solidFill>
                <a:latin typeface="Arial"/>
                <a:ea typeface="Arial"/>
              </a:rPr>
              <a:t xml:space="preserve">The original oscilloscope record preserves this relationship. </a:t>
            </a:r>
            <a:r>
              <a:rPr sz="1500" b="1" i="0">
                <a:solidFill>
                  <a:srgbClr val="16181D"/>
                </a:solidFill>
                <a:latin typeface="Arial"/>
                <a:ea typeface="Arial"/>
              </a:rPr>
              <a:t>A beat rate alone</a:t>
            </a:r>
            <a:r>
              <a:rPr sz="1500" b="0" i="0">
                <a:solidFill>
                  <a:srgbClr val="202329"/>
                </a:solidFill>
                <a:latin typeface="Arial"/>
                <a:ea typeface="Arial"/>
              </a:rPr>
              <a:t xml:space="preserve"> gives the size of a frequency difference, but it provides no information about whether the neighbor lies above or below the fish's own frequency. A fish that needs to choose a direction must use timing information from the mixture.</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0" name="Shape 6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Opposite beat signs require opposite frequency shifts</a:t>
            </a:r>
            <a:endParaRPr lang="en-US"/>
          </a:p>
        </p:txBody>
      </p:sp>
      <p:sp>
        <p:nvSpPr>
          <p:cNvPr id="641" name="Shape 64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1" i="0">
                <a:solidFill>
                  <a:srgbClr val="16181D"/>
                </a:solidFill>
                <a:latin typeface="Arial"/>
                <a:ea typeface="Arial"/>
              </a:rPr>
              <a:t>Difference frequency</a:t>
            </a:r>
            <a:r>
              <a:rPr sz="1500" b="0" i="0">
                <a:solidFill>
                  <a:srgbClr val="202329"/>
                </a:solidFill>
                <a:latin typeface="Arial"/>
                <a:ea typeface="Arial"/>
              </a:rPr>
              <a:t>, written Δf, is the neighbor's frequency minus the fish's own frequency. Positive Δf requires the fish to lower its EOD, while negative Δf requires an increase. The sensory problem is therefore a decision about </a:t>
            </a:r>
            <a:r>
              <a:rPr sz="1500" b="1" i="0">
                <a:solidFill>
                  <a:srgbClr val="16181D"/>
                </a:solidFill>
                <a:latin typeface="Arial"/>
                <a:ea typeface="Arial"/>
              </a:rPr>
              <a:t>sign</a:t>
            </a:r>
            <a:r>
              <a:rPr sz="1500" b="0" i="0">
                <a:solidFill>
                  <a:srgbClr val="202329"/>
                </a:solidFill>
                <a:latin typeface="Arial"/>
                <a:ea typeface="Arial"/>
              </a:rPr>
              <a:t>, not merely the detection of interference. The sign, not the size, determines the response.</a:t>
            </a:r>
            <a:endParaRPr lang="en-US"/>
          </a:p>
          <a:p>
            <a:pPr algn="l">
              <a:lnSpc>
                <a:spcPct val="108000"/>
              </a:lnSpc>
              <a:spcAft>
                <a:spcPts val="1200"/>
              </a:spcAft>
              <a:buNone/>
            </a:pPr>
            <a:r>
              <a:rPr sz="1500" b="0" i="0">
                <a:solidFill>
                  <a:srgbClr val="202329"/>
                </a:solidFill>
                <a:latin typeface="Arial"/>
                <a:ea typeface="Arial"/>
              </a:rPr>
              <a:t>Carr and colleagues depicted how an internal EOD source and an external, transverse source combine at the skin. Their example uses a 500-Hz EOD with neighbors at 495 or 505 Hz. Both neighbors produce 5-Hz amplitude beats, yet the relationship between amplitude change and timing reverses. Both cases differ in timing.</a:t>
            </a:r>
            <a:endParaRPr lang="en-US"/>
          </a:p>
          <a:p>
            <a:pPr algn="l">
              <a:lnSpc>
                <a:spcPct val="108000"/>
              </a:lnSpc>
              <a:spcAft>
                <a:spcPts val="1200"/>
              </a:spcAft>
              <a:buNone/>
            </a:pPr>
            <a:r>
              <a:rPr sz="1500" b="1" i="0">
                <a:solidFill>
                  <a:srgbClr val="16181D"/>
                </a:solidFill>
                <a:latin typeface="Arial"/>
                <a:ea typeface="Arial"/>
              </a:rPr>
              <a:t>Natural current geometry</a:t>
            </a:r>
            <a:r>
              <a:rPr sz="1500" b="0" i="0">
                <a:solidFill>
                  <a:srgbClr val="202329"/>
                </a:solidFill>
                <a:latin typeface="Arial"/>
                <a:ea typeface="Arial"/>
              </a:rPr>
              <a:t> supports this discrimination. The external source affects opposite body regions differently, while the internal discharge has a common origin. Paired amplitude and timing cues carry sign information, and the beat rate alone stays ambiguous. The neighbor's direction is encoded in the spatial pattern of the two cues.</a:t>
            </a:r>
            <a:endParaRPr lang="en-US"/>
          </a:p>
        </p:txBody>
      </p:sp>
      <p:pic>
        <p:nvPicPr>
          <p:cNvPr id="187" name="Presenton Native Image 4" descr=""/>
          <p:cNvPicPr/>
          <p:nvPr/>
        </p:nvPicPr>
        <p:blipFill>
          <a:blip r:embed="rId2" cstate="none"/>
          <a:stretch>
            <a:fillRect/>
          </a:stretch>
        </p:blipFill>
        <p:spPr>
          <a:xfrm>
            <a:off x="7832998" y="1280071"/>
            <a:ext cx="2828875" cy="4297561"/>
          </a:xfrm>
          <a:prstGeom prst="rect">
            <a:avLst/>
          </a:prstGeom>
        </p:spPr>
      </p:pic>
      <p:sp>
        <p:nvSpPr>
          <p:cNvPr id="644" name="Shape 64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1(A–D). Current geometry and opposite amplitude–phase trajectories.</a:t>
            </a:r>
            <a:endParaRPr lang="en-US"/>
          </a:p>
        </p:txBody>
      </p:sp>
      <p:sp>
        <p:nvSpPr>
          <p:cNvPr id="645" name="Shape 645"/>
          <p:cNvSpPr/>
          <p:nvPr/>
        </p:nvSpPr>
        <p:spPr>
          <a:xfrm>
            <a:off x="566886" y="6382494"/>
            <a:ext cx="11058079" cy="9079"/>
          </a:xfrm>
          <a:prstGeom prst="rect">
            <a:avLst/>
          </a:prstGeom>
          <a:solidFill>
            <a:srgbClr val="D2D4D9"/>
          </a:solidFill>
        </p:spPr>
        <p:txBody>
          <a:bodyPr/>
          <a:lstStyle/>
          <a:p/>
        </p:txBody>
      </p:sp>
      <p:sp>
        <p:nvSpPr>
          <p:cNvPr id="646" name="Shape 6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647" name="Shape 6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 skin regions receive different mixtures</a:t>
            </a:r>
            <a:endParaRPr lang="en-US"/>
          </a:p>
        </p:txBody>
      </p:sp>
      <p:sp>
        <p:nvSpPr>
          <p:cNvPr id="649" name="Shape 64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0" i="0">
                <a:solidFill>
                  <a:srgbClr val="202329"/>
                </a:solidFill>
                <a:latin typeface="Arial"/>
                <a:ea typeface="Arial"/>
              </a:rPr>
              <a:t xml:space="preserve">An </a:t>
            </a:r>
            <a:r>
              <a:rPr sz="1500" b="1" i="0">
                <a:solidFill>
                  <a:srgbClr val="16181D"/>
                </a:solidFill>
                <a:latin typeface="Arial"/>
                <a:ea typeface="Arial"/>
              </a:rPr>
              <a:t>amplitude ratio</a:t>
            </a:r>
            <a:r>
              <a:rPr sz="1500" b="0" i="0">
                <a:solidFill>
                  <a:srgbClr val="202329"/>
                </a:solidFill>
                <a:latin typeface="Arial"/>
                <a:ea typeface="Arial"/>
              </a:rPr>
              <a:t xml:space="preserve"> compares the local strength of the foreign signal with the EOD substitute at one patch of skin. Heiligenberg analyzed two body regions with ratios of 0.3 and 0.1. The more contaminated region undergoes larger changes in both amplitude and phase during the same interference cycle. This is local.</a:t>
            </a:r>
            <a:endParaRPr lang="en-US"/>
          </a:p>
          <a:p>
            <a:pPr algn="l">
              <a:lnSpc>
                <a:spcPct val="108000"/>
              </a:lnSpc>
              <a:spcAft>
                <a:spcPts val="1200"/>
              </a:spcAft>
              <a:buNone/>
            </a:pPr>
            <a:r>
              <a:rPr sz="1500" b="0" i="0">
                <a:solidFill>
                  <a:srgbClr val="202329"/>
                </a:solidFill>
                <a:latin typeface="Arial"/>
                <a:ea typeface="Arial"/>
              </a:rPr>
              <a:t xml:space="preserve">The fish can compare timing between these regions without an uncontaminated patch of skin. </a:t>
            </a:r>
            <a:r>
              <a:rPr sz="1500" b="1" i="0">
                <a:solidFill>
                  <a:srgbClr val="16181D"/>
                </a:solidFill>
                <a:latin typeface="Arial"/>
                <a:ea typeface="Arial"/>
              </a:rPr>
              <a:t>Differential phase</a:t>
            </a:r>
            <a:r>
              <a:rPr sz="1500" b="0" i="0">
                <a:solidFill>
                  <a:srgbClr val="202329"/>
                </a:solidFill>
                <a:latin typeface="Arial"/>
                <a:ea typeface="Arial"/>
              </a:rPr>
              <a:t xml:space="preserve"> is the phase of one local signal relative to another. Subtracting the common timing component leaves the disparity caused by the two different mixtures. The shared timing component cancels, leaving a local mismatch between regions.</a:t>
            </a:r>
            <a:endParaRPr lang="en-US"/>
          </a:p>
          <a:p>
            <a:pPr algn="l">
              <a:lnSpc>
                <a:spcPct val="108000"/>
              </a:lnSpc>
              <a:spcAft>
                <a:spcPts val="1200"/>
              </a:spcAft>
              <a:buNone/>
            </a:pPr>
            <a:r>
              <a:rPr sz="1500" b="0" i="0">
                <a:solidFill>
                  <a:srgbClr val="202329"/>
                </a:solidFill>
                <a:latin typeface="Arial"/>
                <a:ea typeface="Arial"/>
              </a:rPr>
              <a:t xml:space="preserve">The two local trajectories can rotate in opposite directions, so their contributions must be weighted rather than counted as identical votes. Regional stimulation showed that the region with larger amplitude modulation carried more weight in the frequency shift. Weighted timing therefore sets the size of each frequency change in the fish.</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6" name="Shape 6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Exchanging regional timing reverses the motor response</a:t>
            </a:r>
            <a:endParaRPr lang="en-US"/>
          </a:p>
        </p:txBody>
      </p:sp>
      <p:sp>
        <p:nvSpPr>
          <p:cNvPr id="657" name="Shape 6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used </a:t>
            </a:r>
            <a:r>
              <a:rPr sz="1400" b="1" i="0">
                <a:solidFill>
                  <a:srgbClr val="16181D"/>
                </a:solidFill>
                <a:latin typeface="Arial"/>
                <a:ea typeface="Arial"/>
              </a:rPr>
              <a:t>electronically controlled stimuli</a:t>
            </a:r>
            <a:r>
              <a:rPr sz="1400" b="0" i="0">
                <a:solidFill>
                  <a:srgbClr val="202329"/>
                </a:solidFill>
                <a:latin typeface="Arial"/>
                <a:ea typeface="Arial"/>
              </a:rPr>
              <a:t> to set amplitude and phase independently in separate body regions. One region received a modulated carrier, and the other supplied a comparison signal. The foreign-signal difference frequency in the published experiment was 4 Hz. The investigator set the stimulus for each trial in the series.</a:t>
            </a:r>
            <a:endParaRPr lang="en-US"/>
          </a:p>
          <a:p>
            <a:pPr algn="l">
              <a:lnSpc>
                <a:spcPct val="108000"/>
              </a:lnSpc>
              <a:spcAft>
                <a:spcPts val="1200"/>
              </a:spcAft>
              <a:buNone/>
            </a:pPr>
            <a:r>
              <a:rPr sz="1400" b="0" i="0">
                <a:solidFill>
                  <a:srgbClr val="202329"/>
                </a:solidFill>
                <a:latin typeface="Arial"/>
                <a:ea typeface="Arial"/>
              </a:rPr>
              <a:t>Exchanging which region carried the phase modulation </a:t>
            </a:r>
            <a:r>
              <a:rPr sz="1400" b="1" i="0">
                <a:solidFill>
                  <a:srgbClr val="16181D"/>
                </a:solidFill>
                <a:latin typeface="Arial"/>
                <a:ea typeface="Arial"/>
              </a:rPr>
              <a:t>reversed the pacemaker response</a:t>
            </a:r>
            <a:r>
              <a:rPr sz="1400" b="0" i="0">
                <a:solidFill>
                  <a:srgbClr val="202329"/>
                </a:solidFill>
                <a:latin typeface="Arial"/>
                <a:ea typeface="Arial"/>
              </a:rPr>
              <a:t>, while the amplitude arrangement stayed the same. Responses depended on the constant phase offset between the two regional signals. Near zero offset, normal timing produced the expected negative shift for positive Δf. Heiligenberg tested this exchange in the same fish.</a:t>
            </a:r>
            <a:endParaRPr lang="en-US"/>
          </a:p>
          <a:p>
            <a:pPr algn="l">
              <a:lnSpc>
                <a:spcPct val="108000"/>
              </a:lnSpc>
              <a:spcAft>
                <a:spcPts val="1200"/>
              </a:spcAft>
              <a:buNone/>
            </a:pPr>
            <a:r>
              <a:rPr sz="1400" b="0" i="0">
                <a:solidFill>
                  <a:srgbClr val="202329"/>
                </a:solidFill>
                <a:latin typeface="Arial"/>
                <a:ea typeface="Arial"/>
              </a:rPr>
              <a:t>This manipulation isolates a causal timing cue from the mere occurrence of amplitude beats. A change in timing reverses the behavioral decision without changing the beat frequency, so the experiment identifies the information the animal uses. The reversal shows that timing alone determines which way the fish shifts its frequency.</a:t>
            </a:r>
            <a:endParaRPr lang="en-US"/>
          </a:p>
        </p:txBody>
      </p:sp>
      <p:pic>
        <p:nvPicPr>
          <p:cNvPr id="189" name="Presenton Native Image 6" descr=""/>
          <p:cNvPicPr/>
          <p:nvPr/>
        </p:nvPicPr>
        <p:blipFill>
          <a:blip r:embed="rId2" cstate="none"/>
          <a:stretch>
            <a:fillRect/>
          </a:stretch>
        </p:blipFill>
        <p:spPr>
          <a:xfrm>
            <a:off x="6870154" y="1280071"/>
            <a:ext cx="4754712" cy="2698254"/>
          </a:xfrm>
          <a:prstGeom prst="rect">
            <a:avLst/>
          </a:prstGeom>
        </p:spPr>
      </p:pic>
      <p:sp>
        <p:nvSpPr>
          <p:cNvPr id="660" name="Shape 660"/>
          <p:cNvSpPr/>
          <p:nvPr/>
        </p:nvSpPr>
        <p:spPr>
          <a:xfrm>
            <a:off x="6870055" y="4069854"/>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4. Exchanging phase modulation reverses pacemaker responses.</a:t>
            </a:r>
            <a:endParaRPr lang="en-US"/>
          </a:p>
        </p:txBody>
      </p:sp>
      <p:sp>
        <p:nvSpPr>
          <p:cNvPr id="661" name="Shape 661"/>
          <p:cNvSpPr/>
          <p:nvPr/>
        </p:nvSpPr>
        <p:spPr>
          <a:xfrm>
            <a:off x="566886" y="6382494"/>
            <a:ext cx="11058079" cy="9079"/>
          </a:xfrm>
          <a:prstGeom prst="rect">
            <a:avLst/>
          </a:prstGeom>
          <a:solidFill>
            <a:srgbClr val="D2D4D9"/>
          </a:solidFill>
        </p:spPr>
        <p:txBody>
          <a:bodyPr/>
          <a:lstStyle/>
          <a:p/>
        </p:txBody>
      </p:sp>
      <p:sp>
        <p:nvSpPr>
          <p:cNvPr id="662" name="Shape 6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63" name="Shape 6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4" name="Shape 6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Cue trajectories distinguish order from beat magnitude</a:t>
            </a:r>
            <a:endParaRPr lang="en-US"/>
          </a:p>
        </p:txBody>
      </p:sp>
      <p:sp>
        <p:nvSpPr>
          <p:cNvPr id="665" name="Shape 6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Heiligenberg presented </a:t>
            </a:r>
            <a:r>
              <a:rPr sz="1400" b="1" i="0">
                <a:solidFill>
                  <a:srgbClr val="16181D"/>
                </a:solidFill>
                <a:latin typeface="Arial"/>
                <a:ea typeface="Arial"/>
              </a:rPr>
              <a:t>closed and open trajectories</a:t>
            </a:r>
            <a:r>
              <a:rPr sz="1400" b="0" i="0">
                <a:solidFill>
                  <a:srgbClr val="202329"/>
                </a:solidFill>
                <a:latin typeface="Arial"/>
                <a:ea typeface="Arial"/>
              </a:rPr>
              <a:t xml:space="preserve"> in an amplitude-phase plane, which pairs local amplitude with differential timing. Changing the sequence of cue combinations altered pacemaker output, even when the available amplitude and phase values were similar. The plane shows the cue combinations as a path, so the order of values matters.</a:t>
            </a:r>
            <a:endParaRPr lang="en-US"/>
          </a:p>
          <a:p>
            <a:pPr algn="l">
              <a:lnSpc>
                <a:spcPct val="108000"/>
              </a:lnSpc>
              <a:spcAft>
                <a:spcPts val="1200"/>
              </a:spcAft>
              <a:buNone/>
            </a:pPr>
            <a:r>
              <a:rPr sz="1400" b="0" i="0">
                <a:solidFill>
                  <a:srgbClr val="202329"/>
                </a:solidFill>
                <a:latin typeface="Arial"/>
                <a:ea typeface="Arial"/>
              </a:rPr>
              <a:t xml:space="preserve">Published behavioral tests linked opposite trajectory orientations to opposite frequency shifts. Vertical portions contributed strongly when amplitude was elevated. These experiments motivated </a:t>
            </a:r>
            <a:r>
              <a:rPr sz="1400" b="1" i="0">
                <a:solidFill>
                  <a:srgbClr val="16181D"/>
                </a:solidFill>
                <a:latin typeface="Arial"/>
                <a:ea typeface="Arial"/>
              </a:rPr>
              <a:t>amplitude-dependent weighting</a:t>
            </a:r>
            <a:r>
              <a:rPr sz="1400" b="0" i="0">
                <a:solidFill>
                  <a:srgbClr val="202329"/>
                </a:solidFill>
                <a:latin typeface="Arial"/>
                <a:ea typeface="Arial"/>
              </a:rPr>
              <a:t xml:space="preserve"> of timing information rather than a detector of beat rate. Trajectory orientation therefore predicted the direction of the frequency shift. Its sign mattered in each case.</a:t>
            </a:r>
            <a:endParaRPr lang="en-US"/>
          </a:p>
          <a:p>
            <a:pPr algn="l">
              <a:lnSpc>
                <a:spcPct val="108000"/>
              </a:lnSpc>
              <a:spcAft>
                <a:spcPts val="1200"/>
              </a:spcAft>
              <a:buNone/>
            </a:pPr>
            <a:r>
              <a:rPr sz="1400" b="0" i="0">
                <a:solidFill>
                  <a:srgbClr val="202329"/>
                </a:solidFill>
                <a:latin typeface="Arial"/>
                <a:ea typeface="Arial"/>
              </a:rPr>
              <a:t xml:space="preserve">The proposed integral over a trajectory was a functional description of behavior, not a measured intracellular operation. Later recordings tested whether neurons possess the required cue combinations. Natural avoidance therefore calls for distinguishing computation from motor command. The integral summarizes the behavioral results in one mathematical form for each trajectory.</a:t>
            </a:r>
            <a:endParaRPr lang="en-US"/>
          </a:p>
        </p:txBody>
      </p:sp>
      <p:pic>
        <p:nvPicPr>
          <p:cNvPr id="190" name="Presenton Native Image 7" descr=""/>
          <p:cNvPicPr/>
          <p:nvPr/>
        </p:nvPicPr>
        <p:blipFill>
          <a:blip r:embed="rId2" cstate="none"/>
          <a:stretch>
            <a:fillRect/>
          </a:stretch>
        </p:blipFill>
        <p:spPr>
          <a:xfrm>
            <a:off x="7319632" y="1280071"/>
            <a:ext cx="3855756" cy="4297561"/>
          </a:xfrm>
          <a:prstGeom prst="rect">
            <a:avLst/>
          </a:prstGeom>
        </p:spPr>
      </p:pic>
      <p:sp>
        <p:nvSpPr>
          <p:cNvPr id="668" name="Shape 6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5. Different trajectories separate amplitude and timing contributions.</a:t>
            </a:r>
            <a:endParaRPr lang="en-US"/>
          </a:p>
        </p:txBody>
      </p:sp>
      <p:sp>
        <p:nvSpPr>
          <p:cNvPr id="669" name="Shape 669"/>
          <p:cNvSpPr/>
          <p:nvPr/>
        </p:nvSpPr>
        <p:spPr>
          <a:xfrm>
            <a:off x="566886" y="6382494"/>
            <a:ext cx="11058079" cy="9079"/>
          </a:xfrm>
          <a:prstGeom prst="rect">
            <a:avLst/>
          </a:prstGeom>
          <a:solidFill>
            <a:srgbClr val="D2D4D9"/>
          </a:solidFill>
        </p:spPr>
        <p:txBody>
          <a:bodyPr/>
          <a:lstStyle/>
          <a:p/>
        </p:txBody>
      </p:sp>
      <p:sp>
        <p:nvSpPr>
          <p:cNvPr id="670" name="Shape 6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71" name="Shape 6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Behavior detects temporal disparities of 400 nanoseconds</a:t>
            </a:r>
            <a:endParaRPr lang="en-US"/>
          </a:p>
        </p:txBody>
      </p:sp>
      <p:sp>
        <p:nvSpPr>
          <p:cNvPr id="673" name="Shape 67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Temporal hyperacuity</a:t>
            </a:r>
            <a:r>
              <a:rPr sz="1400" b="0" i="0">
                <a:solidFill>
                  <a:srgbClr val="202329"/>
                </a:solidFill>
                <a:latin typeface="Arial"/>
                <a:ea typeface="Arial"/>
              </a:rPr>
              <a:t xml:space="preserve"> is behavioral discrimination finer than the timing precision expected from individual sensory inputs. Rose and Heiligenberg immobilized fish, suppressed their EOD, and replaced it with controlled signals in a two-compartment chamber. The chamber electrically separated head and tail stimulation. Each region then received a separate, controlled signal in turn.</a:t>
            </a:r>
            <a:endParaRPr lang="en-US"/>
          </a:p>
          <a:p>
            <a:pPr algn="l">
              <a:lnSpc>
                <a:spcPct val="108000"/>
              </a:lnSpc>
              <a:spcAft>
                <a:spcPts val="1200"/>
              </a:spcAft>
              <a:buNone/>
            </a:pPr>
            <a:r>
              <a:rPr sz="1400" b="0" i="0">
                <a:solidFill>
                  <a:srgbClr val="202329"/>
                </a:solidFill>
                <a:latin typeface="Arial"/>
                <a:ea typeface="Arial"/>
              </a:rPr>
              <a:t xml:space="preserve">A neighbor mimic mixed with the replacement signal at the head, while the tail received the replacement alone. The sign of a 4-Hz frequency difference alternated every 25.6 s. Fish shifted in the appropriate direction in at least 90% of trials at disparities as small as </a:t>
            </a:r>
            <a:r>
              <a:rPr sz="1400" b="1" i="0">
                <a:solidFill>
                  <a:srgbClr val="16181D"/>
                </a:solidFill>
                <a:latin typeface="Arial"/>
                <a:ea typeface="Arial"/>
              </a:rPr>
              <a:t>400 ns</a:t>
            </a:r>
            <a:r>
              <a:rPr sz="1400" b="0" i="0">
                <a:solidFill>
                  <a:srgbClr val="202329"/>
                </a:solidFill>
                <a:latin typeface="Arial"/>
                <a:ea typeface="Arial"/>
              </a:rPr>
              <a:t xml:space="preserve">. Fish responded consistently.</a:t>
            </a:r>
            <a:endParaRPr lang="en-US"/>
          </a:p>
          <a:p>
            <a:pPr algn="l">
              <a:lnSpc>
                <a:spcPct val="108000"/>
              </a:lnSpc>
              <a:spcAft>
                <a:spcPts val="1200"/>
              </a:spcAft>
              <a:buNone/>
            </a:pPr>
            <a:r>
              <a:rPr sz="1400" b="0" i="0">
                <a:solidFill>
                  <a:srgbClr val="202329"/>
                </a:solidFill>
                <a:latin typeface="Arial"/>
                <a:ea typeface="Arial"/>
              </a:rPr>
              <a:t xml:space="preserve">The response was recorded from the spinal command despite suppression of the electric organ's discharge. This preparation reveals extraordinarily fine discrimination of a spatial timing cue. The authors regarded their threshold as conservative, because the chamber was less effective than broad stimulation. Behavior was therefore measured without a working electric organ.</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79" name="Shape 6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Electronic controls isolate neural timing</a:t>
            </a:r>
            <a:endParaRPr lang="en-US"/>
          </a:p>
        </p:txBody>
      </p:sp>
      <p:sp>
        <p:nvSpPr>
          <p:cNvPr id="681" name="Shape 6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Rose and Heiligenberg recorded intracellular spikes from </a:t>
            </a:r>
            <a:r>
              <a:rPr sz="1400" b="1" i="0">
                <a:solidFill>
                  <a:srgbClr val="16181D"/>
                </a:solidFill>
                <a:latin typeface="Arial"/>
                <a:ea typeface="Arial"/>
              </a:rPr>
              <a:t>primary afferents</a:t>
            </a:r>
            <a:r>
              <a:rPr sz="1400" b="0" i="0">
                <a:solidFill>
                  <a:srgbClr val="202329"/>
                </a:solidFill>
                <a:latin typeface="Arial"/>
                <a:ea typeface="Arial"/>
              </a:rPr>
              <a:t xml:space="preserve">, the sensory neurons that carry receptor information toward the brain. Phase-coding afferents fired at a preferred moment of each cycle. Their spike times nonetheless varied from cycle to cycle under controlled stimulation. Each spike locked to a specific stimulus phase on average.</a:t>
            </a:r>
            <a:endParaRPr lang="en-US"/>
          </a:p>
          <a:p>
            <a:pPr algn="l">
              <a:lnSpc>
                <a:spcPct val="108000"/>
              </a:lnSpc>
              <a:spcAft>
                <a:spcPts val="1200"/>
              </a:spcAft>
              <a:buNone/>
            </a:pPr>
            <a:r>
              <a:rPr sz="1400" b="0" i="0">
                <a:solidFill>
                  <a:srgbClr val="202329"/>
                </a:solidFill>
                <a:latin typeface="Arial"/>
                <a:ea typeface="Arial"/>
              </a:rPr>
              <a:t xml:space="preserve">The investigators also recorded electronically generated spike mimics through the same equipment. A computer-controlled clock resolved timing in 0.1-microsecond increments. The much narrower distribution of electronic events excluded recording-system uncertainty as the main cause of the neural spread. The electronic events varied far less than the neural spikes did overall.</a:t>
            </a:r>
            <a:endParaRPr lang="en-US"/>
          </a:p>
          <a:p>
            <a:pPr algn="l">
              <a:lnSpc>
                <a:spcPct val="108000"/>
              </a:lnSpc>
              <a:spcAft>
                <a:spcPts val="1200"/>
              </a:spcAft>
              <a:buNone/>
            </a:pPr>
            <a:r>
              <a:rPr sz="1400" b="0" i="0">
                <a:solidFill>
                  <a:srgbClr val="202329"/>
                </a:solidFill>
                <a:latin typeface="Arial"/>
                <a:ea typeface="Arial"/>
              </a:rPr>
              <a:t xml:space="preserve">The most precisely recorded afferent still fails to account directly for 400-ns discrimination within the roughly 300-ms response latency. This result motivated convergence across parallel inputs. Each afferent still carries timing information, but a single short record limits the explanation. Convergence therefore adds a timing estimate from each input stream.</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Carr et al. (1986)</a:t>
            </a:r>
            <a:endParaRPr lang="en-US"/>
          </a:p>
        </p:txBody>
      </p:sp>
      <p:sp>
        <p:nvSpPr>
          <p:cNvPr id="688" name="Shape 6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Recruiting additional skin regions restores weak responses</a:t>
            </a:r>
            <a:endParaRPr lang="en-US"/>
          </a:p>
        </p:txBody>
      </p:sp>
      <p:sp>
        <p:nvSpPr>
          <p:cNvPr id="690" name="Shape 69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Rose and Heiligenberg divided the fish's body into </a:t>
            </a:r>
            <a:r>
              <a:rPr sz="1400" b="1" i="0">
                <a:solidFill>
                  <a:srgbClr val="16181D"/>
                </a:solidFill>
                <a:latin typeface="Arial"/>
                <a:ea typeface="Arial"/>
              </a:rPr>
              <a:t>electrically isolated compartments</a:t>
            </a:r>
            <a:r>
              <a:rPr sz="1400" b="0" i="0">
                <a:solidFill>
                  <a:srgbClr val="202329"/>
                </a:solidFill>
                <a:latin typeface="Arial"/>
                <a:ea typeface="Arial"/>
              </a:rPr>
              <a:t>, so receptor populations could be stimulated separately or together. A strong neighbor-to-EOD amplitude ratio of 0.05 elicited a JAR from a single body region. Each compartment therefore delivered a separate weak local signal to the central nervous system in parallel.</a:t>
            </a:r>
            <a:endParaRPr lang="en-US"/>
          </a:p>
          <a:p>
            <a:pPr algn="l">
              <a:lnSpc>
                <a:spcPct val="108000"/>
              </a:lnSpc>
              <a:spcAft>
                <a:spcPts val="1200"/>
              </a:spcAft>
              <a:buNone/>
            </a:pPr>
            <a:r>
              <a:rPr sz="1400" b="0" i="0">
                <a:solidFill>
                  <a:srgbClr val="202329"/>
                </a:solidFill>
                <a:latin typeface="Arial"/>
                <a:ea typeface="Arial"/>
              </a:rPr>
              <a:t>At a ratio of 0.0016, corresponding to a maximal left-right disparity of 1.8 microseconds, separate stimulation produced no detectable response. Simultaneous stimulation of </a:t>
            </a:r>
            <a:r>
              <a:rPr sz="1400" b="1" i="0">
                <a:solidFill>
                  <a:srgbClr val="16181D"/>
                </a:solidFill>
                <a:latin typeface="Arial"/>
                <a:ea typeface="Arial"/>
              </a:rPr>
              <a:t>three regions</a:t>
            </a:r>
            <a:r>
              <a:rPr sz="1400" b="0" i="0">
                <a:solidFill>
                  <a:srgbClr val="202329"/>
                </a:solidFill>
                <a:latin typeface="Arial"/>
                <a:ea typeface="Arial"/>
              </a:rPr>
              <a:t> produced a strong, correctly directed JAR under the same local stimulus conditions. The regional arrangement isolated the local inputs from one another across the body.</a:t>
            </a:r>
            <a:endParaRPr lang="en-US"/>
          </a:p>
          <a:p>
            <a:pPr algn="l">
              <a:lnSpc>
                <a:spcPct val="108000"/>
              </a:lnSpc>
              <a:spcAft>
                <a:spcPts val="1200"/>
              </a:spcAft>
              <a:buNone/>
            </a:pPr>
            <a:r>
              <a:rPr sz="1400" b="0" i="0">
                <a:solidFill>
                  <a:srgbClr val="202329"/>
                </a:solidFill>
                <a:latin typeface="Arial"/>
                <a:ea typeface="Arial"/>
              </a:rPr>
              <a:t>Regional recruitment changes the area providing information rather than the strength of each region's stimulus. It supports </a:t>
            </a:r>
            <a:r>
              <a:rPr sz="1400" b="1" i="0">
                <a:solidFill>
                  <a:srgbClr val="16181D"/>
                </a:solidFill>
                <a:latin typeface="Arial"/>
                <a:ea typeface="Arial"/>
              </a:rPr>
              <a:t>pooling within the central nervous system</a:t>
            </a:r>
            <a:r>
              <a:rPr sz="1400" b="0" i="0">
                <a:solidFill>
                  <a:srgbClr val="202329"/>
                </a:solidFill>
                <a:latin typeface="Arial"/>
                <a:ea typeface="Arial"/>
              </a:rPr>
              <a:t>, so weak local disparities become detectable together. This pooling is the mechanism that the hyperacuity result strongly supports, and that mechanism depends on regional convergence within the torus.</a:t>
            </a:r>
            <a:endParaRPr lang="en-US"/>
          </a:p>
        </p:txBody>
      </p:sp>
      <p:pic>
        <p:nvPicPr>
          <p:cNvPr id="194" name="Presenton Native Image 11" descr=""/>
          <p:cNvPicPr/>
          <p:nvPr/>
        </p:nvPicPr>
        <p:blipFill>
          <a:blip r:embed="rId2" cstate="none"/>
          <a:stretch>
            <a:fillRect/>
          </a:stretch>
        </p:blipFill>
        <p:spPr>
          <a:xfrm>
            <a:off x="7041605" y="1280071"/>
            <a:ext cx="4411511" cy="4297561"/>
          </a:xfrm>
          <a:prstGeom prst="rect">
            <a:avLst/>
          </a:prstGeom>
        </p:spPr>
      </p:pic>
      <p:sp>
        <p:nvSpPr>
          <p:cNvPr id="693" name="Shape 69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3(a–c). Recruiting multiple skin regions restores the response.</a:t>
            </a:r>
            <a:endParaRPr lang="en-US"/>
          </a:p>
        </p:txBody>
      </p:sp>
      <p:sp>
        <p:nvSpPr>
          <p:cNvPr id="694" name="Shape 694"/>
          <p:cNvSpPr/>
          <p:nvPr/>
        </p:nvSpPr>
        <p:spPr>
          <a:xfrm>
            <a:off x="566886" y="6382494"/>
            <a:ext cx="11058079" cy="9079"/>
          </a:xfrm>
          <a:prstGeom prst="rect">
            <a:avLst/>
          </a:prstGeom>
          <a:solidFill>
            <a:srgbClr val="D2D4D9"/>
          </a:solidFill>
        </p:spPr>
        <p:txBody>
          <a:bodyPr/>
          <a:lstStyle/>
          <a:p/>
        </p:txBody>
      </p:sp>
      <p:sp>
        <p:nvSpPr>
          <p:cNvPr id="695" name="Shape 6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96" name="Shape 6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Regional inputs combine more strongly than simple addition</a:t>
            </a:r>
            <a:endParaRPr lang="en-US"/>
          </a:p>
        </p:txBody>
      </p:sp>
      <p:sp>
        <p:nvSpPr>
          <p:cNvPr id="698" name="Shape 69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The compartment experiment permitted a quantitative check of responses to individual regions and to simultaneous stimulation. Rose and Heiligenberg measured correctly directed frequency shifts while keeping the same weak local signals in every condition. The separate-region responses served as the baseline for the combined response in every trial. Each was tested.</a:t>
            </a:r>
            <a:endParaRPr lang="en-US"/>
          </a:p>
          <a:p>
            <a:pPr algn="l">
              <a:lnSpc>
                <a:spcPct val="108000"/>
              </a:lnSpc>
              <a:spcAft>
                <a:spcPts val="1200"/>
              </a:spcAft>
              <a:buNone/>
            </a:pPr>
            <a:r>
              <a:rPr sz="1400" b="0" i="0">
                <a:solidFill>
                  <a:srgbClr val="202329"/>
                </a:solidFill>
                <a:latin typeface="Arial"/>
                <a:ea typeface="Arial"/>
              </a:rPr>
              <a:t>The combined response exceeded the sum of the individual responses. Independent amplitude and phase manipulations indicated that the limiting factor was </a:t>
            </a:r>
            <a:r>
              <a:rPr sz="1400" b="1" i="0">
                <a:solidFill>
                  <a:srgbClr val="16181D"/>
                </a:solidFill>
                <a:latin typeface="Arial"/>
                <a:ea typeface="Arial"/>
              </a:rPr>
              <a:t>resolution of temporal disparity</a:t>
            </a:r>
            <a:r>
              <a:rPr sz="1400" b="0" i="0">
                <a:solidFill>
                  <a:srgbClr val="202329"/>
                </a:solidFill>
                <a:latin typeface="Arial"/>
                <a:ea typeface="Arial"/>
              </a:rPr>
              <a:t>, rather than sensitivity to amplitude modulation alone. The gain is measurable because the same weak local signals were used in each condition. Timing carried the gain.</a:t>
            </a:r>
            <a:endParaRPr lang="en-US"/>
          </a:p>
          <a:p>
            <a:pPr algn="l">
              <a:lnSpc>
                <a:spcPct val="108000"/>
              </a:lnSpc>
              <a:spcAft>
                <a:spcPts val="1200"/>
              </a:spcAft>
              <a:buNone/>
            </a:pPr>
            <a:r>
              <a:rPr sz="1400" b="0" i="0">
                <a:solidFill>
                  <a:srgbClr val="202329"/>
                </a:solidFill>
                <a:latin typeface="Arial"/>
                <a:ea typeface="Arial"/>
              </a:rPr>
              <a:t>This </a:t>
            </a:r>
            <a:r>
              <a:rPr sz="1400" b="1" i="0">
                <a:solidFill>
                  <a:srgbClr val="16181D"/>
                </a:solidFill>
                <a:latin typeface="Arial"/>
                <a:ea typeface="Arial"/>
              </a:rPr>
              <a:t>nonlinear convergence</a:t>
            </a:r>
            <a:r>
              <a:rPr sz="1400" b="0" i="0">
                <a:solidFill>
                  <a:srgbClr val="202329"/>
                </a:solidFill>
                <a:latin typeface="Arial"/>
                <a:ea typeface="Arial"/>
              </a:rPr>
              <a:t> supports a distributed source of hyperacuity. The nonlinearity and its cellular location were inferred from this one behavioral experiment alone. A region with no behavioral response may still have electrically active afferents. The regional responses stayed correctly directed in every combined condition. This points to circuit convergence.</a:t>
            </a:r>
            <a:endParaRPr lang="en-US"/>
          </a:p>
        </p:txBody>
      </p:sp>
      <p:pic>
        <p:nvPicPr>
          <p:cNvPr id="195" name="Presenton Native Image 12" descr=""/>
          <p:cNvPicPr/>
          <p:nvPr/>
        </p:nvPicPr>
        <p:blipFill>
          <a:blip r:embed="rId2" cstate="none"/>
          <a:stretch>
            <a:fillRect/>
          </a:stretch>
        </p:blipFill>
        <p:spPr>
          <a:xfrm>
            <a:off x="6870123" y="1280071"/>
            <a:ext cx="4754774" cy="2879527"/>
          </a:xfrm>
          <a:prstGeom prst="rect">
            <a:avLst/>
          </a:prstGeom>
        </p:spPr>
      </p:pic>
      <p:sp>
        <p:nvSpPr>
          <p:cNvPr id="701" name="Shape 701"/>
          <p:cNvSpPr/>
          <p:nvPr/>
        </p:nvSpPr>
        <p:spPr>
          <a:xfrm>
            <a:off x="6870055" y="4251127"/>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4. Combined stimulation exceeds individual regional responses.</a:t>
            </a:r>
            <a:endParaRPr lang="en-US"/>
          </a:p>
        </p:txBody>
      </p:sp>
      <p:sp>
        <p:nvSpPr>
          <p:cNvPr id="702" name="Shape 702"/>
          <p:cNvSpPr/>
          <p:nvPr/>
        </p:nvSpPr>
        <p:spPr>
          <a:xfrm>
            <a:off x="566886" y="6382494"/>
            <a:ext cx="11058079" cy="9079"/>
          </a:xfrm>
          <a:prstGeom prst="rect">
            <a:avLst/>
          </a:prstGeom>
          <a:solidFill>
            <a:srgbClr val="D2D4D9"/>
          </a:solidFill>
        </p:spPr>
        <p:txBody>
          <a:bodyPr/>
          <a:lstStyle/>
          <a:p/>
        </p:txBody>
      </p:sp>
      <p:sp>
        <p:nvSpPr>
          <p:cNvPr id="703" name="Shape 70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704" name="Shape 70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Phase-coded spikes pass through spherical and giant cells</a:t>
            </a:r>
            <a:endParaRPr lang="en-US"/>
          </a:p>
        </p:txBody>
      </p:sp>
      <p:sp>
        <p:nvSpPr>
          <p:cNvPr id="706" name="Shape 70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1" i="0">
                <a:solidFill>
                  <a:srgbClr val="16181D"/>
                </a:solidFill>
                <a:latin typeface="Arial"/>
                <a:ea typeface="Arial"/>
              </a:rPr>
              <a:t>Tuberous electroreceptors</a:t>
            </a:r>
            <a:r>
              <a:rPr sz="1500" b="0" i="0">
                <a:solidFill>
                  <a:srgbClr val="202329"/>
                </a:solidFill>
                <a:latin typeface="Arial"/>
                <a:ea typeface="Arial"/>
              </a:rPr>
              <a:t xml:space="preserve"> respond to high-frequency signals near the EOD carrier. Their </a:t>
            </a:r>
            <a:r>
              <a:rPr sz="1500" b="1" i="0">
                <a:solidFill>
                  <a:srgbClr val="16181D"/>
                </a:solidFill>
                <a:latin typeface="Arial"/>
                <a:ea typeface="Arial"/>
              </a:rPr>
              <a:t>timing-sensitive, or T-type, afferents</a:t>
            </a:r>
            <a:r>
              <a:rPr sz="1500" b="0" i="0">
                <a:solidFill>
                  <a:srgbClr val="202329"/>
                </a:solidFill>
                <a:latin typeface="Arial"/>
                <a:ea typeface="Arial"/>
              </a:rPr>
              <a:t xml:space="preserve"> encode a recurring phase of the local signal. Carr and colleagues traced this pathway from the skin through the anterior lateral line nerve to the hindbrain. Their responses therefore reflect the local field at the skin.</a:t>
            </a:r>
            <a:endParaRPr lang="en-US"/>
          </a:p>
          <a:p>
            <a:pPr algn="l">
              <a:lnSpc>
                <a:spcPct val="108000"/>
              </a:lnSpc>
              <a:spcAft>
                <a:spcPts val="1200"/>
              </a:spcAft>
              <a:buNone/>
            </a:pPr>
            <a:r>
              <a:rPr sz="1500" b="0" i="0">
                <a:solidFill>
                  <a:srgbClr val="202329"/>
                </a:solidFill>
                <a:latin typeface="Arial"/>
                <a:ea typeface="Arial"/>
              </a:rPr>
              <a:t xml:space="preserve">The afferents contact </a:t>
            </a:r>
            <a:r>
              <a:rPr sz="1500" b="1" i="0">
                <a:solidFill>
                  <a:srgbClr val="16181D"/>
                </a:solidFill>
                <a:latin typeface="Arial"/>
                <a:ea typeface="Arial"/>
              </a:rPr>
              <a:t>spherical cells</a:t>
            </a:r>
            <a:r>
              <a:rPr sz="1500" b="0" i="0">
                <a:solidFill>
                  <a:srgbClr val="202329"/>
                </a:solidFill>
                <a:latin typeface="Arial"/>
                <a:ea typeface="Arial"/>
              </a:rPr>
              <a:t xml:space="preserve"> in the electrosensory lateral line lobe, or ELL. Spherical-cell axons project to lamina VI of the midbrain torus semicircularis. There they contact </a:t>
            </a:r>
            <a:r>
              <a:rPr sz="1500" b="1" i="0">
                <a:solidFill>
                  <a:srgbClr val="16181D"/>
                </a:solidFill>
                <a:latin typeface="Arial"/>
                <a:ea typeface="Arial"/>
              </a:rPr>
              <a:t>giant cells</a:t>
            </a:r>
            <a:r>
              <a:rPr sz="1500" b="0" i="0">
                <a:solidFill>
                  <a:srgbClr val="202329"/>
                </a:solidFill>
                <a:latin typeface="Arial"/>
                <a:ea typeface="Arial"/>
              </a:rPr>
              <a:t xml:space="preserve"> and supply the timing input needed for comparisons between body regions. The spherical cell is the first central neuron in this chain.</a:t>
            </a:r>
            <a:endParaRPr lang="en-US"/>
          </a:p>
          <a:p>
            <a:pPr algn="l">
              <a:lnSpc>
                <a:spcPct val="108000"/>
              </a:lnSpc>
              <a:spcAft>
                <a:spcPts val="1200"/>
              </a:spcAft>
              <a:buNone/>
            </a:pPr>
            <a:r>
              <a:rPr sz="1500" b="0" i="0">
                <a:solidFill>
                  <a:srgbClr val="202329"/>
                </a:solidFill>
                <a:latin typeface="Arial"/>
                <a:ea typeface="Arial"/>
              </a:rPr>
              <a:t xml:space="preserve">The circuit keeps a phase-locked spike on successive carrier cycles rather than converting each timing signal into an average rate. Physiological recordings and anatomical labeling connect these stages. The pathway identifies how timing is transmitted. Each stage transmits the carrier phase to the next stage. Timing reaches the torus intact.</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13" name="Shape 7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4" name="Shape 7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signals enter the torus through E and I afferents</a:t>
            </a:r>
            <a:endParaRPr lang="en-US"/>
          </a:p>
        </p:txBody>
      </p:sp>
      <p:sp>
        <p:nvSpPr>
          <p:cNvPr id="715" name="Shape 71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P-type afferents</a:t>
            </a:r>
            <a:r>
              <a:rPr sz="1400" b="0" i="0">
                <a:solidFill>
                  <a:srgbClr val="202329"/>
                </a:solidFill>
                <a:latin typeface="Arial"/>
                <a:ea typeface="Arial"/>
              </a:rPr>
              <a:t xml:space="preserve"> encode electrical amplitude through their probability of firing on successive cycles. In the ELL, </a:t>
            </a:r>
            <a:r>
              <a:rPr sz="1400" b="1" i="0">
                <a:solidFill>
                  <a:srgbClr val="16181D"/>
                </a:solidFill>
                <a:latin typeface="Arial"/>
                <a:ea typeface="Arial"/>
              </a:rPr>
              <a:t>E units</a:t>
            </a:r>
            <a:r>
              <a:rPr sz="1400" b="0" i="0">
                <a:solidFill>
                  <a:srgbClr val="202329"/>
                </a:solidFill>
                <a:latin typeface="Arial"/>
                <a:ea typeface="Arial"/>
              </a:rPr>
              <a:t xml:space="preserve"> increase activity with rising amplitude, whereas </a:t>
            </a:r>
            <a:r>
              <a:rPr sz="1400" b="1" i="0">
                <a:solidFill>
                  <a:srgbClr val="16181D"/>
                </a:solidFill>
                <a:latin typeface="Arial"/>
                <a:ea typeface="Arial"/>
              </a:rPr>
              <a:t>I units</a:t>
            </a:r>
            <a:r>
              <a:rPr sz="1400" b="0" i="0">
                <a:solidFill>
                  <a:srgbClr val="202329"/>
                </a:solidFill>
                <a:latin typeface="Arial"/>
                <a:ea typeface="Arial"/>
              </a:rPr>
              <a:t xml:space="preserve"> increase activity as amplitude falls. Each unit class reports one direction of change, not the sign itself. Their responses therefore distinguish opposite directions of amplitude change.</a:t>
            </a:r>
            <a:endParaRPr lang="en-US"/>
          </a:p>
          <a:p>
            <a:pPr algn="l">
              <a:lnSpc>
                <a:spcPct val="108000"/>
              </a:lnSpc>
              <a:spcAft>
                <a:spcPts val="1200"/>
              </a:spcAft>
              <a:buNone/>
            </a:pPr>
            <a:r>
              <a:rPr sz="1400" b="0" i="0">
                <a:solidFill>
                  <a:srgbClr val="202329"/>
                </a:solidFill>
                <a:latin typeface="Arial"/>
                <a:ea typeface="Arial"/>
              </a:rPr>
              <a:t xml:space="preserve">Heiligenberg and Rose recorded and labeled ELL projections entering the torus. The published I-type example responded during declining amplitude for either sign of the neighbor's frequency difference. Its axon terminated across several toral laminae, and individual afferents differed in their detailed terminal patterns. The labeling was done after the recording session.</a:t>
            </a:r>
            <a:endParaRPr lang="en-US"/>
          </a:p>
          <a:p>
            <a:pPr algn="l">
              <a:lnSpc>
                <a:spcPct val="108000"/>
              </a:lnSpc>
              <a:spcAft>
                <a:spcPts val="1200"/>
              </a:spcAft>
              <a:buNone/>
            </a:pPr>
            <a:r>
              <a:rPr sz="1400" b="0" i="0">
                <a:solidFill>
                  <a:srgbClr val="202329"/>
                </a:solidFill>
                <a:latin typeface="Arial"/>
                <a:ea typeface="Arial"/>
              </a:rPr>
              <a:t xml:space="preserve">Amplitude sensitivity supplies a necessary cue without solving the sign decision by itself. An I-unit response can occur during either positive or negative Δf. Comparing its activity with timing-sensitive signals is required to tell these cases apart, so timing is the second input. Timing-sensitive signals arrive from the phase-coding pathway.</a:t>
            </a:r>
            <a:endParaRPr lang="en-US"/>
          </a:p>
        </p:txBody>
      </p:sp>
      <p:pic>
        <p:nvPicPr>
          <p:cNvPr id="198" name="Presenton Native Image 15" descr=""/>
          <p:cNvPicPr/>
          <p:nvPr/>
        </p:nvPicPr>
        <p:blipFill>
          <a:blip r:embed="rId2" cstate="none"/>
          <a:stretch>
            <a:fillRect/>
          </a:stretch>
        </p:blipFill>
        <p:spPr>
          <a:xfrm>
            <a:off x="6936710" y="1280071"/>
            <a:ext cx="4621748" cy="4297561"/>
          </a:xfrm>
          <a:prstGeom prst="rect">
            <a:avLst/>
          </a:prstGeom>
        </p:spPr>
      </p:pic>
      <p:sp>
        <p:nvSpPr>
          <p:cNvPr id="718" name="Shape 71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3(a–c). Labeled amplitude-coding afferents and laminar terminations.</a:t>
            </a:r>
            <a:endParaRPr lang="en-US"/>
          </a:p>
        </p:txBody>
      </p:sp>
      <p:sp>
        <p:nvSpPr>
          <p:cNvPr id="719" name="Shape 719"/>
          <p:cNvSpPr/>
          <p:nvPr/>
        </p:nvSpPr>
        <p:spPr>
          <a:xfrm>
            <a:off x="566886" y="6382494"/>
            <a:ext cx="11058079" cy="9079"/>
          </a:xfrm>
          <a:prstGeom prst="rect">
            <a:avLst/>
          </a:prstGeom>
          <a:solidFill>
            <a:srgbClr val="D2D4D9"/>
          </a:solidFill>
        </p:spPr>
        <p:txBody>
          <a:bodyPr/>
          <a:lstStyle/>
          <a:p/>
        </p:txBody>
      </p:sp>
      <p:sp>
        <p:nvSpPr>
          <p:cNvPr id="720" name="Shape 7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21" name="Shape 7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2" name="Shape 7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Convergence improves phase-locking precision</a:t>
            </a:r>
            <a:endParaRPr lang="en-US"/>
          </a:p>
        </p:txBody>
      </p:sp>
      <p:sp>
        <p:nvSpPr>
          <p:cNvPr id="723" name="Shape 72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Carr and colleagues compared </a:t>
            </a:r>
            <a:r>
              <a:rPr sz="1400" b="1" i="0">
                <a:solidFill>
                  <a:srgbClr val="16181D"/>
                </a:solidFill>
                <a:latin typeface="Arial"/>
                <a:ea typeface="Arial"/>
              </a:rPr>
              <a:t>timing-sensitive afferents</a:t>
            </a:r>
            <a:r>
              <a:rPr sz="1400" b="0" i="0">
                <a:solidFill>
                  <a:srgbClr val="202329"/>
                </a:solidFill>
                <a:latin typeface="Arial"/>
                <a:ea typeface="Arial"/>
              </a:rPr>
              <a:t> in the anterior lateral line nerve with neurons in the torus. A repeated sinusoidal stimulus fixed the timing landmark, so the precision of phase-locked spikes could be assessed at both stages. Both recording sites used the same reference cycle. This made the stages comparable.</a:t>
            </a:r>
            <a:endParaRPr lang="en-US"/>
          </a:p>
          <a:p>
            <a:pPr algn="l">
              <a:lnSpc>
                <a:spcPct val="108000"/>
              </a:lnSpc>
              <a:spcAft>
                <a:spcPts val="1200"/>
              </a:spcAft>
              <a:buNone/>
            </a:pPr>
            <a:r>
              <a:rPr sz="1400" b="0" i="0">
                <a:solidFill>
                  <a:srgbClr val="202329"/>
                </a:solidFill>
                <a:latin typeface="Arial"/>
                <a:ea typeface="Arial"/>
              </a:rPr>
              <a:t>The stimulus intensities included 1 mV/cm and three times that value. Midbrain phase-coding responses were generally more tightly aligned to the stimulus than peripheral responses at both intensities. Raising the stimulus strength left that difference intact. Midbrain neurons therefore sharpened the timing signal beyond the peripheral level in each case.</a:t>
            </a:r>
            <a:endParaRPr lang="en-US"/>
          </a:p>
          <a:p>
            <a:pPr algn="l">
              <a:lnSpc>
                <a:spcPct val="108000"/>
              </a:lnSpc>
              <a:spcAft>
                <a:spcPts val="1200"/>
              </a:spcAft>
              <a:buNone/>
            </a:pPr>
            <a:r>
              <a:rPr sz="1400" b="0" i="0">
                <a:solidFill>
                  <a:srgbClr val="202329"/>
                </a:solidFill>
                <a:latin typeface="Arial"/>
                <a:ea typeface="Arial"/>
              </a:rPr>
              <a:t>Anatomical convergence is consistent with combining partly independent timing estimates into a more </a:t>
            </a:r>
            <a:r>
              <a:rPr sz="1400" b="1" i="0">
                <a:solidFill>
                  <a:srgbClr val="16181D"/>
                </a:solidFill>
                <a:latin typeface="Arial"/>
                <a:ea typeface="Arial"/>
              </a:rPr>
              <a:t>precise central signal</a:t>
            </a:r>
            <a:r>
              <a:rPr sz="1400" b="0" i="0">
                <a:solidFill>
                  <a:srgbClr val="202329"/>
                </a:solidFill>
                <a:latin typeface="Arial"/>
                <a:ea typeface="Arial"/>
              </a:rPr>
              <a:t>. Even so, the best single-cell responses stayed less precise than </a:t>
            </a:r>
            <a:r>
              <a:rPr sz="1400" b="1" i="0">
                <a:solidFill>
                  <a:srgbClr val="16181D"/>
                </a:solidFill>
                <a:latin typeface="Arial"/>
                <a:ea typeface="Arial"/>
              </a:rPr>
              <a:t>behavioral hyperacuity</a:t>
            </a:r>
            <a:r>
              <a:rPr sz="1400" b="0" i="0">
                <a:solidFill>
                  <a:srgbClr val="202329"/>
                </a:solidFill>
                <a:latin typeface="Arial"/>
                <a:ea typeface="Arial"/>
              </a:rPr>
              <a:t>, so convergence alone accounts for part of the behavior. Phase locking within the pathway is therefore one step of a longer chain.</a:t>
            </a:r>
            <a:endParaRPr lang="en-US"/>
          </a:p>
        </p:txBody>
      </p:sp>
      <p:pic>
        <p:nvPicPr>
          <p:cNvPr id="199" name="Presenton Native Image 16" descr=""/>
          <p:cNvPicPr/>
          <p:nvPr/>
        </p:nvPicPr>
        <p:blipFill>
          <a:blip r:embed="rId3" cstate="none"/>
          <a:stretch>
            <a:fillRect/>
          </a:stretch>
        </p:blipFill>
        <p:spPr>
          <a:xfrm>
            <a:off x="6911494" y="1280071"/>
            <a:ext cx="4672031" cy="2880271"/>
          </a:xfrm>
          <a:prstGeom prst="rect">
            <a:avLst/>
          </a:prstGeom>
        </p:spPr>
      </p:pic>
      <p:sp>
        <p:nvSpPr>
          <p:cNvPr id="726" name="Shape 726"/>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6. Timing precision in peripheral and midbrain recordings.</a:t>
            </a:r>
            <a:endParaRPr lang="en-US"/>
          </a:p>
        </p:txBody>
      </p:sp>
      <p:pic>
        <p:nvPicPr>
          <p:cNvPr id="200" name="Presenton Native Image 17" descr=""/>
          <p:cNvPicPr/>
          <p:nvPr/>
        </p:nvPicPr>
        <p:blipFill>
          <a:blip r:embed="rId2" cstate="none"/>
          <a:stretch>
            <a:fillRect/>
          </a:stretch>
        </p:blipFill>
        <p:spPr>
          <a:xfrm>
            <a:off x="8129205" y="4709071"/>
            <a:ext cx="2236461" cy="1051471"/>
          </a:xfrm>
          <a:prstGeom prst="rect">
            <a:avLst/>
          </a:prstGeom>
        </p:spPr>
      </p:pic>
      <p:sp>
        <p:nvSpPr>
          <p:cNvPr id="727" name="Shape 72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28" name="Shape 728"/>
          <p:cNvSpPr/>
          <p:nvPr/>
        </p:nvSpPr>
        <p:spPr>
          <a:xfrm>
            <a:off x="566886" y="6382494"/>
            <a:ext cx="11058079" cy="9079"/>
          </a:xfrm>
          <a:prstGeom prst="rect">
            <a:avLst/>
          </a:prstGeom>
          <a:solidFill>
            <a:srgbClr val="D2D4D9"/>
          </a:solidFill>
        </p:spPr>
        <p:txBody>
          <a:bodyPr/>
          <a:lstStyle/>
          <a:p/>
        </p:txBody>
      </p:sp>
      <p:sp>
        <p:nvSpPr>
          <p:cNvPr id="729" name="Shape 72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30" name="Shape 73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Electrical junctions transmit timing in both directions</a:t>
            </a:r>
            <a:endParaRPr lang="en-US"/>
          </a:p>
        </p:txBody>
      </p:sp>
      <p:sp>
        <p:nvSpPr>
          <p:cNvPr id="732" name="Shape 73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A </a:t>
            </a:r>
            <a:r>
              <a:rPr sz="1400" b="1" i="0">
                <a:solidFill>
                  <a:srgbClr val="16181D"/>
                </a:solidFill>
                <a:latin typeface="Arial"/>
                <a:ea typeface="Arial"/>
              </a:rPr>
              <a:t>gap junction</a:t>
            </a:r>
            <a:r>
              <a:rPr sz="1400" b="0" i="0">
                <a:solidFill>
                  <a:srgbClr val="202329"/>
                </a:solidFill>
                <a:latin typeface="Arial"/>
                <a:ea typeface="Arial"/>
              </a:rPr>
              <a:t xml:space="preserve"> is a direct electrical connection between neighboring cells that passes current without a conventional transmitter-release step. Carr and colleagues recorded spherical-cell afferent terminals close to their contacts on </a:t>
            </a:r>
            <a:r>
              <a:rPr sz="1400" b="1" i="0">
                <a:solidFill>
                  <a:srgbClr val="16181D"/>
                </a:solidFill>
                <a:latin typeface="Arial"/>
                <a:ea typeface="Arial"/>
              </a:rPr>
              <a:t>giant cells</a:t>
            </a:r>
            <a:r>
              <a:rPr sz="1400" b="0" i="0">
                <a:solidFill>
                  <a:srgbClr val="202329"/>
                </a:solidFill>
                <a:latin typeface="Arial"/>
                <a:ea typeface="Arial"/>
              </a:rPr>
              <a:t xml:space="preserve"> in lamina VI. Recordings made beside identified contacts link each electrical event to one cell. Each contact is identified.</a:t>
            </a:r>
            <a:endParaRPr lang="en-US"/>
          </a:p>
          <a:p>
            <a:pPr algn="l">
              <a:lnSpc>
                <a:spcPct val="108000"/>
              </a:lnSpc>
              <a:spcAft>
                <a:spcPts val="1200"/>
              </a:spcAft>
              <a:buNone/>
            </a:pPr>
            <a:r>
              <a:rPr sz="1400" b="0" i="0">
                <a:solidFill>
                  <a:srgbClr val="202329"/>
                </a:solidFill>
                <a:latin typeface="Arial"/>
                <a:ea typeface="Arial"/>
              </a:rPr>
              <a:t xml:space="preserve">With a stimulus present, the terminals carried the expected phase-locked spikes. Without stimulation, </a:t>
            </a:r>
            <a:r>
              <a:rPr sz="1400" b="1" i="0">
                <a:solidFill>
                  <a:srgbClr val="16181D"/>
                </a:solidFill>
                <a:latin typeface="Arial"/>
                <a:ea typeface="Arial"/>
              </a:rPr>
              <a:t>junctional potentials</a:t>
            </a:r>
            <a:r>
              <a:rPr sz="1400" b="0" i="0">
                <a:solidFill>
                  <a:srgbClr val="202329"/>
                </a:solidFill>
                <a:latin typeface="Arial"/>
                <a:ea typeface="Arial"/>
              </a:rPr>
              <a:t xml:space="preserve"> could still be recorded, including events as large as 40 mV. Labeled terminals surrounded the giant-cell soma in the anatomical preparation. The interpretation rests on the same terminals that carried phase-locked spikes in the same preparation.</a:t>
            </a:r>
            <a:endParaRPr lang="en-US"/>
          </a:p>
          <a:p>
            <a:pPr algn="l">
              <a:lnSpc>
                <a:spcPct val="108000"/>
              </a:lnSpc>
              <a:spcAft>
                <a:spcPts val="1200"/>
              </a:spcAft>
              <a:buNone/>
            </a:pPr>
            <a:r>
              <a:rPr sz="1400" b="0" i="0">
                <a:solidFill>
                  <a:srgbClr val="202329"/>
                </a:solidFill>
                <a:latin typeface="Arial"/>
                <a:ea typeface="Arial"/>
              </a:rPr>
              <a:t xml:space="preserve">These potentials support a </a:t>
            </a:r>
            <a:r>
              <a:rPr sz="1400" b="1" i="0">
                <a:solidFill>
                  <a:srgbClr val="16181D"/>
                </a:solidFill>
                <a:latin typeface="Arial"/>
                <a:ea typeface="Arial"/>
              </a:rPr>
              <a:t>nonrectifying connection</a:t>
            </a:r>
            <a:r>
              <a:rPr sz="1400" b="0" i="0">
                <a:solidFill>
                  <a:srgbClr val="202329"/>
                </a:solidFill>
                <a:latin typeface="Arial"/>
                <a:ea typeface="Arial"/>
              </a:rPr>
              <a:t xml:space="preserve">, in which current influences the afferent terminal from the giant-cell side as well as forward. The events were interpreted as giant-cell spikes transmitted backward through the junction. Physiological potentials of this kind are the expected signature of an electrical synapse with two-way current flow.</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9" name="Shape 7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afferents contact both giant and small cells</a:t>
            </a:r>
            <a:endParaRPr lang="en-US"/>
          </a:p>
        </p:txBody>
      </p:sp>
      <p:sp>
        <p:nvSpPr>
          <p:cNvPr id="740" name="Shape 74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Carr, Maler, and Taylor combined intracellular labeling with electron microscopy, which images fine structure at synapses. Afferents from ELL spherical cells formed </a:t>
            </a:r>
            <a:r>
              <a:rPr sz="1400" b="1" i="0">
                <a:solidFill>
                  <a:srgbClr val="16181D"/>
                </a:solidFill>
                <a:latin typeface="Arial"/>
                <a:ea typeface="Arial"/>
              </a:rPr>
              <a:t>restricted terminal arbors</a:t>
            </a:r>
            <a:r>
              <a:rPr sz="1400" b="0" i="0">
                <a:solidFill>
                  <a:srgbClr val="202329"/>
                </a:solidFill>
                <a:latin typeface="Arial"/>
                <a:ea typeface="Arial"/>
              </a:rPr>
              <a:t xml:space="preserve"> in lamina VI, preserving information about a local patch of the body surface. Terminal arbors spread over a limited part of the layer. It stays local.</a:t>
            </a:r>
            <a:endParaRPr lang="en-US"/>
          </a:p>
          <a:p>
            <a:pPr algn="l">
              <a:lnSpc>
                <a:spcPct val="108000"/>
              </a:lnSpc>
              <a:spcAft>
                <a:spcPts val="1200"/>
              </a:spcAft>
              <a:buNone/>
            </a:pPr>
            <a:r>
              <a:rPr sz="1400" b="0" i="0">
                <a:solidFill>
                  <a:srgbClr val="202329"/>
                </a:solidFill>
                <a:latin typeface="Arial"/>
                <a:ea typeface="Arial"/>
              </a:rPr>
              <a:t xml:space="preserve">Each afferent contacted one or two giant-cell somata and the </a:t>
            </a:r>
            <a:r>
              <a:rPr sz="1400" b="1" i="0">
                <a:solidFill>
                  <a:srgbClr val="16181D"/>
                </a:solidFill>
                <a:latin typeface="Arial"/>
                <a:ea typeface="Arial"/>
              </a:rPr>
              <a:t>distal dendrites</a:t>
            </a:r>
            <a:r>
              <a:rPr sz="1400" b="0" i="0">
                <a:solidFill>
                  <a:srgbClr val="202329"/>
                </a:solidFill>
                <a:latin typeface="Arial"/>
                <a:ea typeface="Arial"/>
              </a:rPr>
              <a:t xml:space="preserve"> of small cells. Some terminals formed clusters termed </a:t>
            </a:r>
            <a:r>
              <a:rPr sz="1400" b="1" i="0">
                <a:solidFill>
                  <a:srgbClr val="16181D"/>
                </a:solidFill>
                <a:latin typeface="Arial"/>
                <a:ea typeface="Arial"/>
              </a:rPr>
              <a:t>synaptic islands</a:t>
            </a:r>
            <a:r>
              <a:rPr sz="1400" b="0" i="0">
                <a:solidFill>
                  <a:srgbClr val="202329"/>
                </a:solidFill>
                <a:latin typeface="Arial"/>
                <a:ea typeface="Arial"/>
              </a:rPr>
              <a:t xml:space="preserve">. The published panels show these terminals and their contacts at scale bars from 2 to 20 micrometers. The contacts were drawn from identified cells in the panels shown.</a:t>
            </a:r>
            <a:endParaRPr lang="en-US"/>
          </a:p>
          <a:p>
            <a:pPr algn="l">
              <a:lnSpc>
                <a:spcPct val="108000"/>
              </a:lnSpc>
              <a:spcAft>
                <a:spcPts val="1200"/>
              </a:spcAft>
              <a:buNone/>
            </a:pPr>
            <a:r>
              <a:rPr sz="1400" b="0" i="0">
                <a:solidFill>
                  <a:srgbClr val="202329"/>
                </a:solidFill>
                <a:latin typeface="Arial"/>
                <a:ea typeface="Arial"/>
              </a:rPr>
              <a:t xml:space="preserve">The same local timing source therefore enters different elements of the circuit. Giant-cell contacts distribute information broadly, whereas small-cell dendritic contacts preserve local input. Ultrastructure distinguishes the junction types, and physiology constrains how each contact is interpreted. The distinct contact types form the basis of the circuit's two processing routes.</a:t>
            </a:r>
            <a:endParaRPr lang="en-US"/>
          </a:p>
        </p:txBody>
      </p:sp>
      <p:pic>
        <p:nvPicPr>
          <p:cNvPr id="202" name="Presenton Native Image 19" descr=""/>
          <p:cNvPicPr/>
          <p:nvPr/>
        </p:nvPicPr>
        <p:blipFill>
          <a:blip r:embed="rId2" cstate="none"/>
          <a:stretch>
            <a:fillRect/>
          </a:stretch>
        </p:blipFill>
        <p:spPr>
          <a:xfrm>
            <a:off x="7164701" y="1280071"/>
            <a:ext cx="4165618" cy="4297561"/>
          </a:xfrm>
          <a:prstGeom prst="rect">
            <a:avLst/>
          </a:prstGeom>
        </p:spPr>
      </p:pic>
      <p:sp>
        <p:nvSpPr>
          <p:cNvPr id="743" name="Shape 7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2(A–F). Local afferent synapses onto giant cells and small-cell dendrites.</a:t>
            </a:r>
            <a:endParaRPr lang="en-US"/>
          </a:p>
        </p:txBody>
      </p:sp>
      <p:sp>
        <p:nvSpPr>
          <p:cNvPr id="744" name="Shape 744"/>
          <p:cNvSpPr/>
          <p:nvPr/>
        </p:nvSpPr>
        <p:spPr>
          <a:xfrm>
            <a:off x="566886" y="6382494"/>
            <a:ext cx="11058079" cy="9079"/>
          </a:xfrm>
          <a:prstGeom prst="rect">
            <a:avLst/>
          </a:prstGeom>
          <a:solidFill>
            <a:srgbClr val="D2D4D9"/>
          </a:solidFill>
        </p:spPr>
        <p:txBody>
          <a:bodyPr/>
          <a:lstStyle/>
          <a:p/>
        </p:txBody>
      </p:sp>
      <p:sp>
        <p:nvSpPr>
          <p:cNvPr id="745" name="Shape 7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46" name="Shape 7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7" name="Shape 7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Giant cells distribute timing through electrical contacts</a:t>
            </a:r>
            <a:endParaRPr lang="en-US"/>
          </a:p>
        </p:txBody>
      </p:sp>
      <p:sp>
        <p:nvSpPr>
          <p:cNvPr id="748" name="Shape 74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1" i="0">
                <a:solidFill>
                  <a:srgbClr val="16181D"/>
                </a:solidFill>
                <a:latin typeface="Arial"/>
                <a:ea typeface="Arial"/>
              </a:rPr>
              <a:t>Giant cells</a:t>
            </a:r>
            <a:r>
              <a:rPr sz="1500" b="0" i="0">
                <a:solidFill>
                  <a:srgbClr val="202329"/>
                </a:solidFill>
                <a:latin typeface="Arial"/>
                <a:ea typeface="Arial"/>
              </a:rPr>
              <a:t> in lamina VI have extensive axonal arbors and lack the conventional dendritic tree of many central neurons. Their somata are unipolar, so one main process leaves each cell body. Carr and colleagues reconstructed labeled cells and examined their contacts with afferents at light- and electron-microscope resolution. This is local.</a:t>
            </a:r>
            <a:endParaRPr lang="en-US"/>
          </a:p>
          <a:p>
            <a:pPr algn="l">
              <a:lnSpc>
                <a:spcPct val="108000"/>
              </a:lnSpc>
              <a:spcAft>
                <a:spcPts val="1200"/>
              </a:spcAft>
              <a:buNone/>
            </a:pPr>
            <a:r>
              <a:rPr sz="1500" b="0" i="0">
                <a:solidFill>
                  <a:srgbClr val="202329"/>
                </a:solidFill>
                <a:latin typeface="Arial"/>
                <a:ea typeface="Arial"/>
              </a:rPr>
              <a:t>The published ultrastructure identifies </a:t>
            </a:r>
            <a:r>
              <a:rPr sz="1500" b="1" i="0">
                <a:solidFill>
                  <a:srgbClr val="16181D"/>
                </a:solidFill>
                <a:latin typeface="Arial"/>
                <a:ea typeface="Arial"/>
              </a:rPr>
              <a:t>gap-junction contacts</a:t>
            </a:r>
            <a:r>
              <a:rPr sz="1500" b="0" i="0">
                <a:solidFill>
                  <a:srgbClr val="202329"/>
                </a:solidFill>
                <a:latin typeface="Arial"/>
                <a:ea typeface="Arial"/>
              </a:rPr>
              <a:t> between afferent terminals and giant cells. The contact panel includes a 0.5-µm scale bar that marks the junction. Other panels reveal the large axonal processes that spread timing information across the layer. Other panels show the layer's afferent organization in detail across its depth.</a:t>
            </a:r>
            <a:endParaRPr lang="en-US"/>
          </a:p>
          <a:p>
            <a:pPr algn="l">
              <a:lnSpc>
                <a:spcPct val="108000"/>
              </a:lnSpc>
              <a:spcAft>
                <a:spcPts val="1200"/>
              </a:spcAft>
              <a:buNone/>
            </a:pPr>
            <a:r>
              <a:rPr sz="1500" b="0" i="0">
                <a:solidFill>
                  <a:srgbClr val="202329"/>
                </a:solidFill>
                <a:latin typeface="Arial"/>
                <a:ea typeface="Arial"/>
              </a:rPr>
              <a:t>This organization can supply many local comparators with timing from other body regions. The anatomy establishes direct electrical contacts and broad distribution, while each small cell's output depends on the inputs that reach it. Each small cell's output therefore depends on which timing inputs reach its dendrites and its soma.</a:t>
            </a:r>
            <a:endParaRPr lang="en-US"/>
          </a:p>
        </p:txBody>
      </p:sp>
      <p:pic>
        <p:nvPicPr>
          <p:cNvPr id="203" name="Presenton Native Image 20" descr=""/>
          <p:cNvPicPr/>
          <p:nvPr/>
        </p:nvPicPr>
        <p:blipFill>
          <a:blip r:embed="rId2" cstate="none"/>
          <a:stretch>
            <a:fillRect/>
          </a:stretch>
        </p:blipFill>
        <p:spPr>
          <a:xfrm>
            <a:off x="7346244" y="1280071"/>
            <a:ext cx="3802680" cy="4297561"/>
          </a:xfrm>
          <a:prstGeom prst="rect">
            <a:avLst/>
          </a:prstGeom>
        </p:spPr>
      </p:pic>
      <p:sp>
        <p:nvSpPr>
          <p:cNvPr id="751" name="Shape 751"/>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4(A–F). Giant-cell anatomy and ultrastructure of gap-junction contacts.</a:t>
            </a:r>
            <a:endParaRPr lang="en-US"/>
          </a:p>
        </p:txBody>
      </p:sp>
      <p:sp>
        <p:nvSpPr>
          <p:cNvPr id="752" name="Shape 752"/>
          <p:cNvSpPr/>
          <p:nvPr/>
        </p:nvSpPr>
        <p:spPr>
          <a:xfrm>
            <a:off x="566886" y="6382494"/>
            <a:ext cx="11058079" cy="9079"/>
          </a:xfrm>
          <a:prstGeom prst="rect">
            <a:avLst/>
          </a:prstGeom>
          <a:solidFill>
            <a:srgbClr val="D2D4D9"/>
          </a:solidFill>
        </p:spPr>
        <p:txBody>
          <a:bodyPr/>
          <a:lstStyle/>
          <a:p/>
        </p:txBody>
      </p:sp>
      <p:sp>
        <p:nvSpPr>
          <p:cNvPr id="753" name="Shape 75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54" name="Shape 75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5" name="Shape 75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and timing pathways occupy different laminae</a:t>
            </a:r>
            <a:endParaRPr lang="en-US"/>
          </a:p>
        </p:txBody>
      </p:sp>
      <p:sp>
        <p:nvSpPr>
          <p:cNvPr id="756" name="Shape 75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recorded intracellularly in the torus and filled identified neurons with dye. Their summary distinguished </a:t>
            </a:r>
            <a:r>
              <a:rPr sz="1400" b="1" i="0">
                <a:solidFill>
                  <a:srgbClr val="16181D"/>
                </a:solidFill>
                <a:latin typeface="Arial"/>
                <a:ea typeface="Arial"/>
              </a:rPr>
              <a:t>amplitude-coding ELL pyramidal inputs</a:t>
            </a:r>
            <a:r>
              <a:rPr sz="1400" b="0" i="0">
                <a:solidFill>
                  <a:srgbClr val="202329"/>
                </a:solidFill>
                <a:latin typeface="Arial"/>
                <a:ea typeface="Arial"/>
              </a:rPr>
              <a:t> from </a:t>
            </a:r>
            <a:r>
              <a:rPr sz="1400" b="1" i="0">
                <a:solidFill>
                  <a:srgbClr val="16181D"/>
                </a:solidFill>
                <a:latin typeface="Arial"/>
                <a:ea typeface="Arial"/>
              </a:rPr>
              <a:t>phase-coding spherical-cell inputs</a:t>
            </a:r>
            <a:r>
              <a:rPr sz="1400" b="0" i="0">
                <a:solidFill>
                  <a:srgbClr val="202329"/>
                </a:solidFill>
                <a:latin typeface="Arial"/>
                <a:ea typeface="Arial"/>
              </a:rPr>
              <a:t>, rather than treating the torus as a uniform relay. Each lamina marks the depth at which an input type arrives. Laminae mark each arrival depth.</a:t>
            </a:r>
            <a:endParaRPr lang="en-US"/>
          </a:p>
          <a:p>
            <a:pPr algn="l">
              <a:lnSpc>
                <a:spcPct val="108000"/>
              </a:lnSpc>
              <a:spcAft>
                <a:spcPts val="1200"/>
              </a:spcAft>
              <a:buNone/>
            </a:pPr>
            <a:r>
              <a:rPr sz="1400" b="0" i="0">
                <a:solidFill>
                  <a:srgbClr val="202329"/>
                </a:solidFill>
                <a:latin typeface="Arial"/>
                <a:ea typeface="Arial"/>
              </a:rPr>
              <a:t>Amplitude inputs reached laminae 3, 5, 7, 8c, and 8d. Phase information reached giant cells in lamina 6, with further processing in deeper layers. The body surface was represented </a:t>
            </a:r>
            <a:r>
              <a:rPr sz="1400" b="1" i="0">
                <a:solidFill>
                  <a:srgbClr val="16181D"/>
                </a:solidFill>
                <a:latin typeface="Arial"/>
                <a:ea typeface="Arial"/>
              </a:rPr>
              <a:t>somatotopically</a:t>
            </a:r>
            <a:r>
              <a:rPr sz="1400" b="0" i="0">
                <a:solidFill>
                  <a:srgbClr val="202329"/>
                </a:solidFill>
                <a:latin typeface="Arial"/>
                <a:ea typeface="Arial"/>
              </a:rPr>
              <a:t>, so neighboring body regions map to neighboring neural locations. Amplitude and phase streams therefore remain largely separable across these laminae.</a:t>
            </a:r>
            <a:endParaRPr lang="en-US"/>
          </a:p>
          <a:p>
            <a:pPr algn="l">
              <a:lnSpc>
                <a:spcPct val="108000"/>
              </a:lnSpc>
              <a:spcAft>
                <a:spcPts val="1200"/>
              </a:spcAft>
              <a:buNone/>
            </a:pPr>
            <a:r>
              <a:rPr sz="1400" b="0" i="0">
                <a:solidFill>
                  <a:srgbClr val="202329"/>
                </a:solidFill>
                <a:latin typeface="Arial"/>
                <a:ea typeface="Arial"/>
              </a:rPr>
              <a:t>This arrangement makes local amplitude information available alongside timing comparisons across body regions. A layered projection pattern is consistent with successive cue transformations. Each layer transmits one of these streams onward, and the paper also identified a projection to the lobus caudalis. Layering therefore reflects successive processing stages. It is separate.</a:t>
            </a:r>
            <a:endParaRPr lang="en-US"/>
          </a:p>
        </p:txBody>
      </p:sp>
      <p:pic>
        <p:nvPicPr>
          <p:cNvPr id="204" name="Presenton Native Image 21" descr=""/>
          <p:cNvPicPr/>
          <p:nvPr/>
        </p:nvPicPr>
        <p:blipFill>
          <a:blip r:embed="rId2" cstate="none"/>
          <a:stretch>
            <a:fillRect/>
          </a:stretch>
        </p:blipFill>
        <p:spPr>
          <a:xfrm>
            <a:off x="7733025" y="1280071"/>
            <a:ext cx="3028970" cy="4297561"/>
          </a:xfrm>
          <a:prstGeom prst="rect">
            <a:avLst/>
          </a:prstGeom>
        </p:spPr>
      </p:pic>
      <p:sp>
        <p:nvSpPr>
          <p:cNvPr id="759" name="Shape 759"/>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2. Amplitude and phase inputs reach distinct toral laminae.</a:t>
            </a:r>
            <a:endParaRPr lang="en-US"/>
          </a:p>
        </p:txBody>
      </p:sp>
      <p:sp>
        <p:nvSpPr>
          <p:cNvPr id="760" name="Shape 760"/>
          <p:cNvSpPr/>
          <p:nvPr/>
        </p:nvSpPr>
        <p:spPr>
          <a:xfrm>
            <a:off x="566886" y="6382494"/>
            <a:ext cx="11058079" cy="9079"/>
          </a:xfrm>
          <a:prstGeom prst="rect">
            <a:avLst/>
          </a:prstGeom>
          <a:solidFill>
            <a:srgbClr val="D2D4D9"/>
          </a:solidFill>
        </p:spPr>
        <p:txBody>
          <a:bodyPr/>
          <a:lstStyle/>
          <a:p/>
        </p:txBody>
      </p:sp>
      <p:sp>
        <p:nvSpPr>
          <p:cNvPr id="761" name="Shape 76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62" name="Shape 76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Small cells respond selectively to differential phase</a:t>
            </a:r>
            <a:endParaRPr lang="en-US"/>
          </a:p>
        </p:txBody>
      </p:sp>
      <p:sp>
        <p:nvSpPr>
          <p:cNvPr id="764" name="Shape 76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stimulated head and tail compartments independently while recording </a:t>
            </a:r>
            <a:r>
              <a:rPr sz="1400" b="1" i="0">
                <a:solidFill>
                  <a:srgbClr val="16181D"/>
                </a:solidFill>
                <a:latin typeface="Arial"/>
                <a:ea typeface="Arial"/>
              </a:rPr>
              <a:t>small cells</a:t>
            </a:r>
            <a:r>
              <a:rPr sz="1400" b="0" i="0">
                <a:solidFill>
                  <a:srgbClr val="202329"/>
                </a:solidFill>
                <a:latin typeface="Arial"/>
                <a:ea typeface="Arial"/>
              </a:rPr>
              <a:t> in lamina 6. The head signal's timing was advanced or delayed relative to the tail, while a triangular waveform swept the phase difference at 2 Hz. The timing shift sets the relative phase that the cell evaluates.</a:t>
            </a:r>
            <a:endParaRPr lang="en-US"/>
          </a:p>
          <a:p>
            <a:pPr algn="l">
              <a:lnSpc>
                <a:spcPct val="108000"/>
              </a:lnSpc>
              <a:spcAft>
                <a:spcPts val="1200"/>
              </a:spcAft>
              <a:buNone/>
            </a:pPr>
            <a:r>
              <a:rPr sz="1400" b="0" i="0">
                <a:solidFill>
                  <a:srgbClr val="202329"/>
                </a:solidFill>
                <a:latin typeface="Arial"/>
                <a:ea typeface="Arial"/>
              </a:rPr>
              <a:t>Spikes occurred preferentially within particular portions of the </a:t>
            </a:r>
            <a:r>
              <a:rPr sz="1400" b="1" i="0">
                <a:solidFill>
                  <a:srgbClr val="16181D"/>
                </a:solidFill>
                <a:latin typeface="Arial"/>
                <a:ea typeface="Arial"/>
              </a:rPr>
              <a:t>differential-phase range</a:t>
            </a:r>
            <a:r>
              <a:rPr sz="1400" b="0" i="0">
                <a:solidFill>
                  <a:srgbClr val="202329"/>
                </a:solidFill>
                <a:latin typeface="Arial"/>
                <a:ea typeface="Arial"/>
              </a:rPr>
              <a:t>. One small cell was silent when the head signal lagged, and another had a different preference. The preferred portion of the range clearly differed between individual cells, and dye filling linked these patterns to small-cell anatomy near the giant cells.</a:t>
            </a:r>
            <a:endParaRPr lang="en-US"/>
          </a:p>
          <a:p>
            <a:pPr algn="l">
              <a:lnSpc>
                <a:spcPct val="108000"/>
              </a:lnSpc>
              <a:spcAft>
                <a:spcPts val="1200"/>
              </a:spcAft>
              <a:buNone/>
            </a:pPr>
            <a:r>
              <a:rPr sz="1400" b="0" i="0">
                <a:solidFill>
                  <a:srgbClr val="202329"/>
                </a:solidFill>
                <a:latin typeface="Arial"/>
                <a:ea typeface="Arial"/>
              </a:rPr>
              <a:t>The experiment isolates a </a:t>
            </a:r>
            <a:r>
              <a:rPr sz="1400" b="1" i="0">
                <a:solidFill>
                  <a:srgbClr val="16181D"/>
                </a:solidFill>
                <a:latin typeface="Arial"/>
                <a:ea typeface="Arial"/>
              </a:rPr>
              <a:t>phase comparator</a:t>
            </a:r>
            <a:r>
              <a:rPr sz="1400" b="0" i="0">
                <a:solidFill>
                  <a:srgbClr val="202329"/>
                </a:solidFill>
                <a:latin typeface="Arial"/>
                <a:ea typeface="Arial"/>
              </a:rPr>
              <a:t>, a neuron whose firing depends on relative timing rather than on one local waveform. Selectivity alone is an incomplete JAR decision, because amplitude change must still be combined with phase preference. Its selectivity therefore depends on relative timing. This preference clearly defines the comparator.</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70" name="Shape 77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1" name="Shape 77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comparators do not simply report amplitude beats</a:t>
            </a:r>
            <a:endParaRPr lang="en-US"/>
          </a:p>
        </p:txBody>
      </p:sp>
      <p:sp>
        <p:nvSpPr>
          <p:cNvPr id="772" name="Shape 77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The same preparation let Heiligenberg and Rose test </a:t>
            </a:r>
            <a:r>
              <a:rPr sz="1400" b="1" i="0">
                <a:solidFill>
                  <a:srgbClr val="16181D"/>
                </a:solidFill>
                <a:latin typeface="Arial"/>
                <a:ea typeface="Arial"/>
              </a:rPr>
              <a:t>combined amplitude-and-phase modulation</a:t>
            </a:r>
            <a:r>
              <a:rPr sz="1400" b="0" i="0">
                <a:solidFill>
                  <a:srgbClr val="202329"/>
                </a:solidFill>
                <a:latin typeface="Arial"/>
                <a:ea typeface="Arial"/>
              </a:rPr>
              <a:t> against phase modulation alone and against amplitude modulation alone. Intracellular recording distinguished these contributions while a recurring carrier remained in the reference compartment. Each control changed one variable while the reference carrier stayed on throughout every single recording session.</a:t>
            </a:r>
            <a:endParaRPr lang="en-US"/>
          </a:p>
          <a:p>
            <a:pPr algn="l">
              <a:lnSpc>
                <a:spcPct val="108000"/>
              </a:lnSpc>
              <a:spcAft>
                <a:spcPts val="1200"/>
              </a:spcAft>
              <a:buNone/>
            </a:pPr>
            <a:r>
              <a:rPr sz="1400" b="0" i="0">
                <a:solidFill>
                  <a:srgbClr val="202329"/>
                </a:solidFill>
                <a:latin typeface="Arial"/>
                <a:ea typeface="Arial"/>
              </a:rPr>
              <a:t>A small cell in lamina 6 retained </a:t>
            </a:r>
            <a:r>
              <a:rPr sz="1400" b="1" i="0">
                <a:solidFill>
                  <a:srgbClr val="16181D"/>
                </a:solidFill>
                <a:latin typeface="Arial"/>
                <a:ea typeface="Arial"/>
              </a:rPr>
              <a:t>differential-phase sensitivity</a:t>
            </a:r>
            <a:r>
              <a:rPr sz="1400" b="0" i="0">
                <a:solidFill>
                  <a:srgbClr val="202329"/>
                </a:solidFill>
                <a:latin typeface="Arial"/>
                <a:ea typeface="Arial"/>
              </a:rPr>
              <a:t> under phase-only stimulation. Isolated amplitude modulation produced a different response pattern. Removing the reference signal changed activity rather than supplying an equivalent timing reference. Phase sensitivity was therefore separable from amplitude sensitivity in that cell, which matters for interpreting the response.</a:t>
            </a:r>
            <a:endParaRPr lang="en-US"/>
          </a:p>
          <a:p>
            <a:pPr algn="l">
              <a:lnSpc>
                <a:spcPct val="108000"/>
              </a:lnSpc>
              <a:spcAft>
                <a:spcPts val="1200"/>
              </a:spcAft>
              <a:buNone/>
            </a:pPr>
            <a:r>
              <a:rPr sz="1400" b="0" i="0">
                <a:solidFill>
                  <a:srgbClr val="202329"/>
                </a:solidFill>
                <a:latin typeface="Arial"/>
                <a:ea typeface="Arial"/>
              </a:rPr>
              <a:t>These controls place the first relative-timing sensitivity within the sensory circuit. Phase sensitivity is attributable to timing, even though amplitude beats and phase differences coexist during normal interference. Sensitivity to timing is shared by the same cells in later tests. This result is a timing comparison within the circuit itself.</a:t>
            </a:r>
            <a:endParaRPr lang="en-US"/>
          </a:p>
        </p:txBody>
      </p:sp>
      <p:pic>
        <p:nvPicPr>
          <p:cNvPr id="206" name="Presenton Native Image 23" descr=""/>
          <p:cNvPicPr/>
          <p:nvPr/>
        </p:nvPicPr>
        <p:blipFill>
          <a:blip r:embed="rId2" cstate="none"/>
          <a:stretch>
            <a:fillRect/>
          </a:stretch>
        </p:blipFill>
        <p:spPr>
          <a:xfrm>
            <a:off x="7174933" y="1280071"/>
            <a:ext cx="4144856" cy="2880271"/>
          </a:xfrm>
          <a:prstGeom prst="rect">
            <a:avLst/>
          </a:prstGeom>
        </p:spPr>
      </p:pic>
      <p:sp>
        <p:nvSpPr>
          <p:cNvPr id="775" name="Shape 77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5(a–d). Small-cell responses to isolated amplitude and phase modulation.</a:t>
            </a:r>
            <a:endParaRPr lang="en-US"/>
          </a:p>
        </p:txBody>
      </p:sp>
      <p:pic>
        <p:nvPicPr>
          <p:cNvPr id="207" name="Presenton Native Image 24" descr=""/>
          <p:cNvPicPr/>
          <p:nvPr/>
        </p:nvPicPr>
        <p:blipFill>
          <a:blip r:embed="rId3" cstate="none"/>
          <a:stretch>
            <a:fillRect/>
          </a:stretch>
        </p:blipFill>
        <p:spPr>
          <a:xfrm>
            <a:off x="7811943" y="4709071"/>
            <a:ext cx="2870985" cy="1051471"/>
          </a:xfrm>
          <a:prstGeom prst="rect">
            <a:avLst/>
          </a:prstGeom>
        </p:spPr>
      </p:pic>
      <p:sp>
        <p:nvSpPr>
          <p:cNvPr id="776" name="Shape 77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77" name="Shape 777"/>
          <p:cNvSpPr/>
          <p:nvPr/>
        </p:nvSpPr>
        <p:spPr>
          <a:xfrm>
            <a:off x="566886" y="6382494"/>
            <a:ext cx="11058079" cy="9079"/>
          </a:xfrm>
          <a:prstGeom prst="rect">
            <a:avLst/>
          </a:prstGeom>
          <a:solidFill>
            <a:srgbClr val="D2D4D9"/>
          </a:solidFill>
        </p:spPr>
        <p:txBody>
          <a:bodyPr/>
          <a:lstStyle/>
          <a:p/>
        </p:txBody>
      </p:sp>
      <p:sp>
        <p:nvSpPr>
          <p:cNvPr id="778" name="Shape 7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79" name="Shape 7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tuning includes both dynamic and stationary cues</a:t>
            </a:r>
            <a:endParaRPr lang="en-US"/>
          </a:p>
        </p:txBody>
      </p:sp>
      <p:sp>
        <p:nvSpPr>
          <p:cNvPr id="781" name="Shape 7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varied the timing relationship between head and tail while recording a small cell in lamina 6. At 2-Hz triangular phase modulation, its spike density favored a restricted phase range. Removing the head carrier released activity over more of the cycle. Relative timing was tested directly across trials.</a:t>
            </a:r>
            <a:endParaRPr lang="en-US"/>
          </a:p>
          <a:p>
            <a:pPr algn="l">
              <a:lnSpc>
                <a:spcPct val="108000"/>
              </a:lnSpc>
              <a:spcAft>
                <a:spcPts val="1200"/>
              </a:spcAft>
              <a:buNone/>
            </a:pPr>
            <a:r>
              <a:rPr sz="1400" b="0" i="0">
                <a:solidFill>
                  <a:srgbClr val="202329"/>
                </a:solidFill>
                <a:latin typeface="Arial"/>
                <a:ea typeface="Arial"/>
              </a:rPr>
              <a:t>Another record used a </a:t>
            </a:r>
            <a:r>
              <a:rPr sz="1400" b="1" i="0">
                <a:solidFill>
                  <a:srgbClr val="16181D"/>
                </a:solidFill>
                <a:latin typeface="Arial"/>
                <a:ea typeface="Arial"/>
              </a:rPr>
              <a:t>0.2-Hz phase scan</a:t>
            </a:r>
            <a:r>
              <a:rPr sz="1400" b="0" i="0">
                <a:solidFill>
                  <a:srgbClr val="202329"/>
                </a:solidFill>
                <a:latin typeface="Arial"/>
                <a:ea typeface="Arial"/>
              </a:rPr>
              <a:t> with sustained phase offsets. The neuron could discriminate stationary phase values rather than responding only to the direction of a rapid scan. Carrier presence and relative phase changed the state of the comparator. Sustained offsets held each phase value in place for longer.</a:t>
            </a:r>
            <a:endParaRPr lang="en-US"/>
          </a:p>
          <a:p>
            <a:pPr algn="l">
              <a:lnSpc>
                <a:spcPct val="108000"/>
              </a:lnSpc>
              <a:spcAft>
                <a:spcPts val="1200"/>
              </a:spcAft>
              <a:buNone/>
            </a:pPr>
            <a:r>
              <a:rPr sz="1400" b="0" i="0">
                <a:solidFill>
                  <a:srgbClr val="202329"/>
                </a:solidFill>
                <a:latin typeface="Arial"/>
                <a:ea typeface="Arial"/>
              </a:rPr>
              <a:t>Phase preference by itself gives an incomplete account of upward and downward JAR responses. The decision also needs </a:t>
            </a:r>
            <a:r>
              <a:rPr sz="1400" b="1" i="0">
                <a:solidFill>
                  <a:srgbClr val="16181D"/>
                </a:solidFill>
                <a:latin typeface="Arial"/>
                <a:ea typeface="Arial"/>
              </a:rPr>
              <a:t>amplitude information</a:t>
            </a:r>
            <a:r>
              <a:rPr sz="1400" b="0" i="0">
                <a:solidFill>
                  <a:srgbClr val="202329"/>
                </a:solidFill>
                <a:latin typeface="Arial"/>
                <a:ea typeface="Arial"/>
              </a:rPr>
              <a:t>, which the same deeper toral neurons carry alongside their timing preferences. Amplitude information is needed for the sign decision. Amplitude information is therefore clearly needed for the sign decision here.</a:t>
            </a:r>
            <a:endParaRPr lang="en-US"/>
          </a:p>
        </p:txBody>
      </p:sp>
      <p:pic>
        <p:nvPicPr>
          <p:cNvPr id="208" name="Presenton Native Image 25" descr=""/>
          <p:cNvPicPr/>
          <p:nvPr/>
        </p:nvPicPr>
        <p:blipFill>
          <a:blip r:embed="rId3" cstate="none"/>
          <a:stretch>
            <a:fillRect/>
          </a:stretch>
        </p:blipFill>
        <p:spPr>
          <a:xfrm>
            <a:off x="8370100" y="1280071"/>
            <a:ext cx="1754821" cy="2880271"/>
          </a:xfrm>
          <a:prstGeom prst="rect">
            <a:avLst/>
          </a:prstGeom>
        </p:spPr>
      </p:pic>
      <p:sp>
        <p:nvSpPr>
          <p:cNvPr id="784" name="Shape 7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6(a–b). Phase-sensitive responses and removal of the head signal.</a:t>
            </a:r>
            <a:endParaRPr lang="en-US"/>
          </a:p>
        </p:txBody>
      </p:sp>
      <p:pic>
        <p:nvPicPr>
          <p:cNvPr id="209" name="Presenton Native Image 26" descr=""/>
          <p:cNvPicPr/>
          <p:nvPr/>
        </p:nvPicPr>
        <p:blipFill>
          <a:blip r:embed="rId2" cstate="none"/>
          <a:stretch>
            <a:fillRect/>
          </a:stretch>
        </p:blipFill>
        <p:spPr>
          <a:xfrm>
            <a:off x="7811943" y="4709071"/>
            <a:ext cx="2870985" cy="1051471"/>
          </a:xfrm>
          <a:prstGeom prst="rect">
            <a:avLst/>
          </a:prstGeom>
        </p:spPr>
      </p:pic>
      <p:sp>
        <p:nvSpPr>
          <p:cNvPr id="785" name="Shape 7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86" name="Shape 786"/>
          <p:cNvSpPr/>
          <p:nvPr/>
        </p:nvSpPr>
        <p:spPr>
          <a:xfrm>
            <a:off x="566886" y="6382494"/>
            <a:ext cx="11058079" cy="9079"/>
          </a:xfrm>
          <a:prstGeom prst="rect">
            <a:avLst/>
          </a:prstGeom>
          <a:solidFill>
            <a:srgbClr val="D2D4D9"/>
          </a:solidFill>
        </p:spPr>
        <p:txBody>
          <a:bodyPr/>
          <a:lstStyle/>
          <a:p/>
        </p:txBody>
      </p:sp>
      <p:sp>
        <p:nvSpPr>
          <p:cNvPr id="787" name="Shape 7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88" name="Shape 7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amplitude gates timing responses in deeper neurons</a:t>
            </a:r>
            <a:endParaRPr lang="en-US"/>
          </a:p>
        </p:txBody>
      </p:sp>
      <p:sp>
        <p:nvSpPr>
          <p:cNvPr id="790" name="Shape 79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In deeper toral laminae, Heiligenberg and Rose found neurons sensitive to both amplitude and differential phase. The investigators modulated either the head or the tail while keeping a carrier at the other region, then removed or restored the reference signal. The neuron lies in the deeper torus at lamina 8.</a:t>
            </a:r>
            <a:endParaRPr lang="en-US"/>
          </a:p>
          <a:p>
            <a:pPr algn="l">
              <a:lnSpc>
                <a:spcPct val="108000"/>
              </a:lnSpc>
              <a:spcAft>
                <a:spcPts val="1200"/>
              </a:spcAft>
              <a:buNone/>
            </a:pPr>
            <a:r>
              <a:rPr sz="1400" b="0" i="0">
                <a:solidFill>
                  <a:srgbClr val="202329"/>
                </a:solidFill>
                <a:latin typeface="Arial"/>
                <a:ea typeface="Arial"/>
              </a:rPr>
              <a:t>The lamina 8b/8c neuron responded differently to combined modulation, to amplitude alone, and to phase alone. A local amplitude change altered the expression of its phase preference. Its labeled morphology extended through the deeper layers, where the streams converge. This tuning belongs to that particular neuron alone in the recording.</a:t>
            </a:r>
            <a:endParaRPr lang="en-US"/>
          </a:p>
          <a:p>
            <a:pPr algn="l">
              <a:lnSpc>
                <a:spcPct val="108000"/>
              </a:lnSpc>
              <a:spcAft>
                <a:spcPts val="1200"/>
              </a:spcAft>
              <a:buNone/>
            </a:pPr>
            <a:r>
              <a:rPr sz="1400" b="1" i="0">
                <a:solidFill>
                  <a:srgbClr val="16181D"/>
                </a:solidFill>
                <a:latin typeface="Arial"/>
                <a:ea typeface="Arial"/>
              </a:rPr>
              <a:t>Combination sensitivity</a:t>
            </a:r>
            <a:r>
              <a:rPr sz="1400" b="0" i="0">
                <a:solidFill>
                  <a:srgbClr val="202329"/>
                </a:solidFill>
                <a:latin typeface="Arial"/>
                <a:ea typeface="Arial"/>
              </a:rPr>
              <a:t> depends on a particular pairing of stimulus features. Phase information is interpreted here in the context of local amplitude, which offers a candidate operation for determining beat sign. The recording establishes cue interaction in this neuron, and other cells may combine cues differently. The combination is specific to these neurons.</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96" name="Shape 7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7" name="Shape 79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Changing the stimulated region changes cue interaction</a:t>
            </a:r>
            <a:endParaRPr lang="en-US"/>
          </a:p>
        </p:txBody>
      </p:sp>
      <p:sp>
        <p:nvSpPr>
          <p:cNvPr id="798" name="Shape 79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applied amplitude modulation to the head, to the tail, or to both regions while varying differential phase. The deeper neuron's response changed with the spatial assignment of the cues, even at the same 2-Hz modulation rate. The spatial assignment alone changed. Each condition used the same 2-Hz rate.</a:t>
            </a:r>
            <a:endParaRPr lang="en-US"/>
          </a:p>
          <a:p>
            <a:pPr algn="l">
              <a:lnSpc>
                <a:spcPct val="108000"/>
              </a:lnSpc>
              <a:spcAft>
                <a:spcPts val="1200"/>
              </a:spcAft>
              <a:buNone/>
            </a:pPr>
            <a:r>
              <a:rPr sz="1400" b="0" i="0">
                <a:solidFill>
                  <a:srgbClr val="202329"/>
                </a:solidFill>
                <a:latin typeface="Arial"/>
                <a:ea typeface="Arial"/>
              </a:rPr>
              <a:t>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 This control is the reference case.</a:t>
            </a:r>
            <a:endParaRPr lang="en-US"/>
          </a:p>
          <a:p>
            <a:pPr algn="l">
              <a:lnSpc>
                <a:spcPct val="108000"/>
              </a:lnSpc>
              <a:spcAft>
                <a:spcPts val="1200"/>
              </a:spcAft>
              <a:buNone/>
            </a:pPr>
            <a:r>
              <a:rPr sz="1400" b="0" i="0">
                <a:solidFill>
                  <a:srgbClr val="202329"/>
                </a:solidFill>
                <a:latin typeface="Arial"/>
                <a:ea typeface="Arial"/>
              </a:rPr>
              <a:t>This interaction links timing comparison to a particular local amplitude channel. A phase advance carries no universal motor instruction independent of spatial context. These controlled stimuli identify </a:t>
            </a:r>
            <a:r>
              <a:rPr sz="1400" b="1" i="0">
                <a:solidFill>
                  <a:srgbClr val="16181D"/>
                </a:solidFill>
                <a:latin typeface="Arial"/>
                <a:ea typeface="Arial"/>
              </a:rPr>
              <a:t>conditional sensory tuning</a:t>
            </a:r>
            <a:r>
              <a:rPr sz="1400" b="0" i="0">
                <a:solidFill>
                  <a:srgbClr val="202329"/>
                </a:solidFill>
                <a:latin typeface="Arial"/>
                <a:ea typeface="Arial"/>
              </a:rPr>
              <a:t> The downstream synaptic sign at the pacemaker is a separate question. The response depends on spatial context as well as timing.</a:t>
            </a:r>
            <a:endParaRPr lang="en-US"/>
          </a:p>
        </p:txBody>
      </p:sp>
      <p:pic>
        <p:nvPicPr>
          <p:cNvPr id="211" name="Presenton Native Image 28" descr=""/>
          <p:cNvPicPr/>
          <p:nvPr/>
        </p:nvPicPr>
        <p:blipFill>
          <a:blip r:embed="rId3" cstate="none"/>
          <a:stretch>
            <a:fillRect/>
          </a:stretch>
        </p:blipFill>
        <p:spPr>
          <a:xfrm>
            <a:off x="7166422" y="1280071"/>
            <a:ext cx="4162028" cy="2880271"/>
          </a:xfrm>
          <a:prstGeom prst="rect">
            <a:avLst/>
          </a:prstGeom>
        </p:spPr>
      </p:pic>
      <p:sp>
        <p:nvSpPr>
          <p:cNvPr id="801" name="Shape 80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8(a–i). Responses when head and tail signals are modulated separately.</a:t>
            </a:r>
            <a:endParaRPr lang="en-US"/>
          </a:p>
        </p:txBody>
      </p:sp>
      <p:pic>
        <p:nvPicPr>
          <p:cNvPr id="212" name="Presenton Native Image 29" descr=""/>
          <p:cNvPicPr/>
          <p:nvPr/>
        </p:nvPicPr>
        <p:blipFill>
          <a:blip r:embed="rId2" cstate="none"/>
          <a:stretch>
            <a:fillRect/>
          </a:stretch>
        </p:blipFill>
        <p:spPr>
          <a:xfrm>
            <a:off x="8129205" y="4709071"/>
            <a:ext cx="2236461" cy="1051471"/>
          </a:xfrm>
          <a:prstGeom prst="rect">
            <a:avLst/>
          </a:prstGeom>
        </p:spPr>
      </p:pic>
      <p:sp>
        <p:nvSpPr>
          <p:cNvPr id="802" name="Shape 80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803" name="Shape 803"/>
          <p:cNvSpPr/>
          <p:nvPr/>
        </p:nvSpPr>
        <p:spPr>
          <a:xfrm>
            <a:off x="566886" y="6382494"/>
            <a:ext cx="11058079" cy="9079"/>
          </a:xfrm>
          <a:prstGeom prst="rect">
            <a:avLst/>
          </a:prstGeom>
          <a:solidFill>
            <a:srgbClr val="D2D4D9"/>
          </a:solidFill>
        </p:spPr>
        <p:txBody>
          <a:bodyPr/>
          <a:lstStyle/>
          <a:p/>
        </p:txBody>
      </p:sp>
      <p:sp>
        <p:nvSpPr>
          <p:cNvPr id="804" name="Shape 80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805" name="Shape 80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6" name="Shape 80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Four cell classes combine amplitude with phase preference</a:t>
            </a:r>
            <a:endParaRPr lang="en-US"/>
          </a:p>
        </p:txBody>
      </p:sp>
      <p:sp>
        <p:nvSpPr>
          <p:cNvPr id="807" name="Shape 80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classified deeper toral neurons by two independent response preferences. Cells could favor rising amplitude, termed </a:t>
            </a:r>
            <a:r>
              <a:rPr sz="1400" b="1" i="0">
                <a:solidFill>
                  <a:srgbClr val="16181D"/>
                </a:solidFill>
                <a:latin typeface="Arial"/>
                <a:ea typeface="Arial"/>
              </a:rPr>
              <a:t>E-type</a:t>
            </a:r>
            <a:r>
              <a:rPr sz="1400" b="0" i="0">
                <a:solidFill>
                  <a:srgbClr val="202329"/>
                </a:solidFill>
                <a:latin typeface="Arial"/>
                <a:ea typeface="Arial"/>
              </a:rPr>
              <a:t>, or falling amplitude, termed </a:t>
            </a:r>
            <a:r>
              <a:rPr sz="1400" b="1" i="0">
                <a:solidFill>
                  <a:srgbClr val="16181D"/>
                </a:solidFill>
                <a:latin typeface="Arial"/>
                <a:ea typeface="Arial"/>
              </a:rPr>
              <a:t>I-type</a:t>
            </a:r>
            <a:r>
              <a:rPr sz="1400" b="0" i="0">
                <a:solidFill>
                  <a:srgbClr val="202329"/>
                </a:solidFill>
                <a:latin typeface="Arial"/>
                <a:ea typeface="Arial"/>
              </a:rPr>
              <a:t>. They could also favor a local </a:t>
            </a:r>
            <a:r>
              <a:rPr sz="1400" b="1" i="0">
                <a:solidFill>
                  <a:srgbClr val="16181D"/>
                </a:solidFill>
                <a:latin typeface="Arial"/>
                <a:ea typeface="Arial"/>
              </a:rPr>
              <a:t>phase advance</a:t>
            </a:r>
            <a:r>
              <a:rPr sz="1400" b="0" i="0">
                <a:solidFill>
                  <a:srgbClr val="202329"/>
                </a:solidFill>
                <a:latin typeface="Arial"/>
                <a:ea typeface="Arial"/>
              </a:rPr>
              <a:t> or a </a:t>
            </a:r>
            <a:r>
              <a:rPr sz="1400" b="1" i="0">
                <a:solidFill>
                  <a:srgbClr val="16181D"/>
                </a:solidFill>
                <a:latin typeface="Arial"/>
                <a:ea typeface="Arial"/>
              </a:rPr>
              <a:t>phase delay</a:t>
            </a:r>
            <a:r>
              <a:rPr sz="1400" b="0" i="0">
                <a:solidFill>
                  <a:srgbClr val="202329"/>
                </a:solidFill>
                <a:latin typeface="Arial"/>
                <a:ea typeface="Arial"/>
              </a:rPr>
              <a:t> relative to the reference region. Each neuron therefore has one amplitude label and one phase label.</a:t>
            </a:r>
            <a:endParaRPr lang="en-US"/>
          </a:p>
          <a:p>
            <a:pPr algn="l">
              <a:lnSpc>
                <a:spcPct val="108000"/>
              </a:lnSpc>
              <a:spcAft>
                <a:spcPts val="1200"/>
              </a:spcAft>
              <a:buNone/>
            </a:pPr>
            <a:r>
              <a:rPr sz="1400" b="0" i="0">
                <a:solidFill>
                  <a:srgbClr val="202329"/>
                </a:solidFill>
                <a:latin typeface="Arial"/>
                <a:ea typeface="Arial"/>
              </a:rPr>
              <a:t>The resulting E-advance, E-delay, I-advance, and I-delay classes were associated with labeled </a:t>
            </a:r>
            <a:r>
              <a:rPr sz="1400" b="1" i="0">
                <a:solidFill>
                  <a:srgbClr val="16181D"/>
                </a:solidFill>
                <a:latin typeface="Arial"/>
                <a:ea typeface="Arial"/>
              </a:rPr>
              <a:t>multipolar cells</a:t>
            </a:r>
            <a:r>
              <a:rPr sz="1400" b="0" i="0">
                <a:solidFill>
                  <a:srgbClr val="202329"/>
                </a:solidFill>
                <a:latin typeface="Arial"/>
                <a:ea typeface="Arial"/>
              </a:rPr>
              <a:t> in deeper laminae. Their dendritic and axonal forms differed from the small comparators of lamina 6. The published drawings preserve their laminar positions and show the scale of each arbor. Their arbors reach several toral laminae.</a:t>
            </a:r>
            <a:endParaRPr lang="en-US"/>
          </a:p>
          <a:p>
            <a:pPr algn="l">
              <a:lnSpc>
                <a:spcPct val="108000"/>
              </a:lnSpc>
              <a:spcAft>
                <a:spcPts val="1200"/>
              </a:spcAft>
              <a:buNone/>
            </a:pPr>
            <a:r>
              <a:rPr sz="1400" b="0" i="0">
                <a:solidFill>
                  <a:srgbClr val="202329"/>
                </a:solidFill>
                <a:latin typeface="Arial"/>
                <a:ea typeface="Arial"/>
              </a:rPr>
              <a:t>The four combinations supply opposing evidence about the sign of interference. The four classes therefore reflect two independent response preferences. Individual neurons were not perfectly invariant across conditions, so the authors emphasized the joint effect of populations. Physiological class identifies a response preference, not a molecular identity of that cell.</a:t>
            </a:r>
            <a:endParaRPr lang="en-US"/>
          </a:p>
        </p:txBody>
      </p:sp>
      <p:pic>
        <p:nvPicPr>
          <p:cNvPr id="213" name="Presenton Native Image 30" descr=""/>
          <p:cNvPicPr/>
          <p:nvPr/>
        </p:nvPicPr>
        <p:blipFill>
          <a:blip r:embed="rId2" cstate="none"/>
          <a:stretch>
            <a:fillRect/>
          </a:stretch>
        </p:blipFill>
        <p:spPr>
          <a:xfrm>
            <a:off x="7420496" y="1280071"/>
            <a:ext cx="3654029" cy="4297561"/>
          </a:xfrm>
          <a:prstGeom prst="rect">
            <a:avLst/>
          </a:prstGeom>
        </p:spPr>
      </p:pic>
      <p:sp>
        <p:nvSpPr>
          <p:cNvPr id="810" name="Shape 81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9(a–d). Morphology of excitatory/inhibitory advance/delay classes.</a:t>
            </a:r>
            <a:endParaRPr lang="en-US"/>
          </a:p>
        </p:txBody>
      </p:sp>
      <p:sp>
        <p:nvSpPr>
          <p:cNvPr id="811" name="Shape 811"/>
          <p:cNvSpPr/>
          <p:nvPr/>
        </p:nvSpPr>
        <p:spPr>
          <a:xfrm>
            <a:off x="566886" y="6382494"/>
            <a:ext cx="11058079" cy="9079"/>
          </a:xfrm>
          <a:prstGeom prst="rect">
            <a:avLst/>
          </a:prstGeom>
          <a:solidFill>
            <a:srgbClr val="D2D4D9"/>
          </a:solidFill>
        </p:spPr>
        <p:txBody>
          <a:bodyPr/>
          <a:lstStyle/>
          <a:p/>
        </p:txBody>
      </p:sp>
      <p:sp>
        <p:nvSpPr>
          <p:cNvPr id="812" name="Shape 8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13" name="Shape 8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4" name="Shape 8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sign-selective neuron projects toward motor-control nuclei</a:t>
            </a:r>
            <a:endParaRPr lang="en-US"/>
          </a:p>
        </p:txBody>
      </p:sp>
      <p:sp>
        <p:nvSpPr>
          <p:cNvPr id="815" name="Shape 81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Metzner recorded a deeper toral neuron during naturalistic interference and then filled it with </a:t>
            </a:r>
            <a:r>
              <a:rPr sz="1400" b="1" i="0">
                <a:solidFill>
                  <a:srgbClr val="16181D"/>
                </a:solidFill>
                <a:latin typeface="Arial"/>
                <a:ea typeface="Arial"/>
              </a:rPr>
              <a:t>biocytin</a:t>
            </a:r>
            <a:r>
              <a:rPr sz="1400" b="0" i="0">
                <a:solidFill>
                  <a:srgbClr val="202329"/>
                </a:solidFill>
                <a:latin typeface="Arial"/>
                <a:ea typeface="Arial"/>
              </a:rPr>
              <a:t>, a cellular tracer. Transverse jamming electrodes and longitudinal EOD-mimic electrodes supplied different spatial geometries. The jamming signal differed from the EOD mimic by 2 Hz. The recording and the labeling belonged to the same cell.</a:t>
            </a:r>
            <a:endParaRPr lang="en-US"/>
          </a:p>
          <a:p>
            <a:pPr algn="l">
              <a:lnSpc>
                <a:spcPct val="108000"/>
              </a:lnSpc>
              <a:spcAft>
                <a:spcPts val="1200"/>
              </a:spcAft>
              <a:buNone/>
            </a:pPr>
            <a:r>
              <a:rPr sz="1400" b="0" i="0">
                <a:solidFill>
                  <a:srgbClr val="202329"/>
                </a:solidFill>
                <a:latin typeface="Arial"/>
                <a:ea typeface="Arial"/>
              </a:rPr>
              <a:t>The neuron favored </a:t>
            </a:r>
            <a:r>
              <a:rPr sz="1400" b="1" i="0">
                <a:solidFill>
                  <a:srgbClr val="16181D"/>
                </a:solidFill>
                <a:latin typeface="Arial"/>
                <a:ea typeface="Arial"/>
              </a:rPr>
              <a:t>positive Δf</a:t>
            </a:r>
            <a:r>
              <a:rPr sz="1400" b="0" i="0">
                <a:solidFill>
                  <a:srgbClr val="202329"/>
                </a:solidFill>
                <a:latin typeface="Arial"/>
                <a:ea typeface="Arial"/>
              </a:rPr>
              <a:t> under the spatially differentiated stimulus. The identical electrodes removed the spatial difference altogether, so differential phase was absent and the response reduced to an amplitude preference. Its axon projected prominently to the </a:t>
            </a:r>
            <a:r>
              <a:rPr sz="1400" b="1" i="0">
                <a:solidFill>
                  <a:srgbClr val="16181D"/>
                </a:solidFill>
                <a:latin typeface="Arial"/>
                <a:ea typeface="Arial"/>
              </a:rPr>
              <a:t>optic tectum</a:t>
            </a:r>
            <a:r>
              <a:rPr sz="1400" b="0" i="0">
                <a:solidFill>
                  <a:srgbClr val="202329"/>
                </a:solidFill>
                <a:latin typeface="Arial"/>
                <a:ea typeface="Arial"/>
              </a:rPr>
              <a:t> and sent a thinner collateral toward the nucleus electrosensorius. It was controlled.</a:t>
            </a:r>
            <a:endParaRPr lang="en-US"/>
          </a:p>
          <a:p>
            <a:pPr algn="l">
              <a:lnSpc>
                <a:spcPct val="108000"/>
              </a:lnSpc>
              <a:spcAft>
                <a:spcPts val="1200"/>
              </a:spcAft>
              <a:buNone/>
            </a:pPr>
            <a:r>
              <a:rPr sz="1400" b="0" i="0">
                <a:solidFill>
                  <a:srgbClr val="202329"/>
                </a:solidFill>
                <a:latin typeface="Arial"/>
                <a:ea typeface="Arial"/>
              </a:rPr>
              <a:t>The collateral formed terminals at the ventral nucleus electrosensorius, consistent with a route carrying information for </a:t>
            </a:r>
            <a:r>
              <a:rPr sz="1400" b="1" i="0">
                <a:solidFill>
                  <a:srgbClr val="16181D"/>
                </a:solidFill>
                <a:latin typeface="Arial"/>
                <a:ea typeface="Arial"/>
              </a:rPr>
              <a:t>frequency decreases</a:t>
            </a:r>
            <a:r>
              <a:rPr sz="1400" b="0" i="0">
                <a:solidFill>
                  <a:srgbClr val="202329"/>
                </a:solidFill>
                <a:latin typeface="Arial"/>
                <a:ea typeface="Arial"/>
              </a:rPr>
              <a:t>. Sign selectivity here means unequal responses to positive and negative difference frequencies. The route is defined by this one neuron's collateral and its terminal field. It rests on a single labeled cell.</a:t>
            </a:r>
            <a:endParaRPr lang="en-US"/>
          </a:p>
        </p:txBody>
      </p:sp>
      <p:pic>
        <p:nvPicPr>
          <p:cNvPr id="214" name="Presenton Native Image 31" descr=""/>
          <p:cNvPicPr/>
          <p:nvPr/>
        </p:nvPicPr>
        <p:blipFill>
          <a:blip r:embed="rId2" cstate="none"/>
          <a:stretch>
            <a:fillRect/>
          </a:stretch>
        </p:blipFill>
        <p:spPr>
          <a:xfrm>
            <a:off x="6870133" y="1280071"/>
            <a:ext cx="4754754" cy="3181945"/>
          </a:xfrm>
          <a:prstGeom prst="rect">
            <a:avLst/>
          </a:prstGeom>
        </p:spPr>
      </p:pic>
      <p:sp>
        <p:nvSpPr>
          <p:cNvPr id="818" name="Shape 818"/>
          <p:cNvSpPr/>
          <p:nvPr/>
        </p:nvSpPr>
        <p:spPr>
          <a:xfrm>
            <a:off x="6870055" y="45535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14(A–D). Sign-selective physiology and a traced diencephalic projection.</a:t>
            </a:r>
            <a:endParaRPr lang="en-US"/>
          </a:p>
        </p:txBody>
      </p:sp>
      <p:sp>
        <p:nvSpPr>
          <p:cNvPr id="819" name="Shape 819"/>
          <p:cNvSpPr/>
          <p:nvPr/>
        </p:nvSpPr>
        <p:spPr>
          <a:xfrm>
            <a:off x="566886" y="6382494"/>
            <a:ext cx="11058079" cy="9079"/>
          </a:xfrm>
          <a:prstGeom prst="rect">
            <a:avLst/>
          </a:prstGeom>
          <a:solidFill>
            <a:srgbClr val="D2D4D9"/>
          </a:solidFill>
        </p:spPr>
        <p:txBody>
          <a:bodyPr/>
          <a:lstStyle/>
          <a:p/>
        </p:txBody>
      </p:sp>
      <p:sp>
        <p:nvSpPr>
          <p:cNvPr id="820" name="Shape 8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21" name="Shape 8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Population activity links cue combinations to beat sign</a:t>
            </a:r>
            <a:endParaRPr lang="en-US"/>
          </a:p>
        </p:txBody>
      </p:sp>
      <p:sp>
        <p:nvSpPr>
          <p:cNvPr id="823" name="Shape 82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Heiligenberg and Rose paired four combination-sensitive classes with the patterns produced by opposite difference frequencies. </a:t>
            </a:r>
            <a:r>
              <a:rPr sz="1400" b="1" i="0">
                <a:solidFill>
                  <a:srgbClr val="16181D"/>
                </a:solidFill>
                <a:latin typeface="Arial"/>
                <a:ea typeface="Arial"/>
              </a:rPr>
              <a:t>E-delay</a:t>
            </a:r>
            <a:r>
              <a:rPr sz="1400" b="0" i="0">
                <a:solidFill>
                  <a:srgbClr val="202329"/>
                </a:solidFill>
                <a:latin typeface="Arial"/>
                <a:ea typeface="Arial"/>
              </a:rPr>
              <a:t> and </a:t>
            </a:r>
            <a:r>
              <a:rPr sz="1400" b="1" i="0">
                <a:solidFill>
                  <a:srgbClr val="16181D"/>
                </a:solidFill>
                <a:latin typeface="Arial"/>
                <a:ea typeface="Arial"/>
              </a:rPr>
              <a:t>I-advance</a:t>
            </a:r>
            <a:r>
              <a:rPr sz="1400" b="0" i="0">
                <a:solidFill>
                  <a:srgbClr val="202329"/>
                </a:solidFill>
                <a:latin typeface="Arial"/>
                <a:ea typeface="Arial"/>
              </a:rPr>
              <a:t> neurons preferentially represented positive Δf, whereas </a:t>
            </a:r>
            <a:r>
              <a:rPr sz="1400" b="1" i="0">
                <a:solidFill>
                  <a:srgbClr val="16181D"/>
                </a:solidFill>
                <a:latin typeface="Arial"/>
                <a:ea typeface="Arial"/>
              </a:rPr>
              <a:t>E-advance</a:t>
            </a:r>
            <a:r>
              <a:rPr sz="1400" b="0" i="0">
                <a:solidFill>
                  <a:srgbClr val="202329"/>
                </a:solidFill>
                <a:latin typeface="Arial"/>
                <a:ea typeface="Arial"/>
              </a:rPr>
              <a:t> and </a:t>
            </a:r>
            <a:r>
              <a:rPr sz="1400" b="1" i="0">
                <a:solidFill>
                  <a:srgbClr val="16181D"/>
                </a:solidFill>
                <a:latin typeface="Arial"/>
                <a:ea typeface="Arial"/>
              </a:rPr>
              <a:t>I-delay</a:t>
            </a:r>
            <a:r>
              <a:rPr sz="1400" b="0" i="0">
                <a:solidFill>
                  <a:srgbClr val="202329"/>
                </a:solidFill>
                <a:latin typeface="Arial"/>
                <a:ea typeface="Arial"/>
              </a:rPr>
              <a:t> neurons preferentially represented negative Δf. Each class is defined by the response preference recorded in the earlier experiments. The classes were recorded earlier.</a:t>
            </a:r>
            <a:endParaRPr lang="en-US"/>
          </a:p>
          <a:p>
            <a:pPr algn="l">
              <a:lnSpc>
                <a:spcPct val="108000"/>
              </a:lnSpc>
              <a:spcAft>
                <a:spcPts val="1200"/>
              </a:spcAft>
              <a:buNone/>
            </a:pPr>
            <a:r>
              <a:rPr sz="1400" b="0" i="0">
                <a:solidFill>
                  <a:srgbClr val="202329"/>
                </a:solidFill>
                <a:latin typeface="Arial"/>
                <a:ea typeface="Arial"/>
              </a:rPr>
              <a:t>Positive Δf denotes a higher-frequency neighbor and calls for a decrease in the focal fish's EOD. Negative Δf denotes a lower-frequency neighbor and calls for an increase. The population converts two sensory variables into evidence for these opposing motor outcomes. This mapping explains opposite responses to the same beat rate.</a:t>
            </a:r>
            <a:endParaRPr lang="en-US"/>
          </a:p>
          <a:p>
            <a:pPr algn="l">
              <a:lnSpc>
                <a:spcPct val="108000"/>
              </a:lnSpc>
              <a:spcAft>
                <a:spcPts val="1200"/>
              </a:spcAft>
              <a:buNone/>
            </a:pPr>
            <a:r>
              <a:rPr sz="1400" b="0" i="0">
                <a:solidFill>
                  <a:srgbClr val="202329"/>
                </a:solidFill>
                <a:latin typeface="Arial"/>
                <a:ea typeface="Arial"/>
              </a:rPr>
              <a:t>The authors derived this classification from intracellular response tests and labeled neurons. A population interpretation accommodates incomplete tuning in single cells. Later motor-pathway experiments determined how the decision changed oscillator frequency. The classes were defined by response tests, so the population code reflects the measured response preferences of individual toral cells.</a:t>
            </a:r>
            <a:endParaRPr lang="en-US"/>
          </a:p>
        </p:txBody>
      </p:sp>
      <p:pic>
        <p:nvPicPr>
          <p:cNvPr id="215" name="Presenton Native Image 32" descr=""/>
          <p:cNvPicPr/>
          <p:nvPr/>
        </p:nvPicPr>
        <p:blipFill>
          <a:blip r:embed="rId2" cstate="none"/>
          <a:stretch>
            <a:fillRect/>
          </a:stretch>
        </p:blipFill>
        <p:spPr>
          <a:xfrm>
            <a:off x="6870139" y="1280071"/>
            <a:ext cx="4754743" cy="4109145"/>
          </a:xfrm>
          <a:prstGeom prst="rect">
            <a:avLst/>
          </a:prstGeom>
        </p:spPr>
      </p:pic>
      <p:sp>
        <p:nvSpPr>
          <p:cNvPr id="826" name="Shape 826"/>
          <p:cNvSpPr/>
          <p:nvPr/>
        </p:nvSpPr>
        <p:spPr>
          <a:xfrm>
            <a:off x="6870055" y="54807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12. Four combination-sensitive classes encode opposite beat signs.</a:t>
            </a:r>
            <a:endParaRPr lang="en-US"/>
          </a:p>
        </p:txBody>
      </p:sp>
      <p:sp>
        <p:nvSpPr>
          <p:cNvPr id="827" name="Shape 827"/>
          <p:cNvSpPr/>
          <p:nvPr/>
        </p:nvSpPr>
        <p:spPr>
          <a:xfrm>
            <a:off x="566886" y="6382494"/>
            <a:ext cx="11058079" cy="9079"/>
          </a:xfrm>
          <a:prstGeom prst="rect">
            <a:avLst/>
          </a:prstGeom>
          <a:solidFill>
            <a:srgbClr val="D2D4D9"/>
          </a:solidFill>
        </p:spPr>
        <p:txBody>
          <a:bodyPr/>
          <a:lstStyle/>
          <a:p/>
        </p:txBody>
      </p:sp>
      <p:sp>
        <p:nvSpPr>
          <p:cNvPr id="828" name="Shape 82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29" name="Shape 82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Frequency increases and decreases use separate pathways</a:t>
            </a:r>
            <a:endParaRPr lang="en-US"/>
          </a:p>
        </p:txBody>
      </p:sp>
      <p:sp>
        <p:nvSpPr>
          <p:cNvPr id="831" name="Shape 83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Metzner tested the earlier idea that </a:t>
            </a:r>
            <a:r>
              <a:rPr sz="1400" b="1" i="0">
                <a:solidFill>
                  <a:srgbClr val="16181D"/>
                </a:solidFill>
                <a:latin typeface="Arial"/>
                <a:ea typeface="Arial"/>
              </a:rPr>
              <a:t>one prepacemaker population</a:t>
            </a:r>
            <a:r>
              <a:rPr sz="1400" b="0" i="0">
                <a:solidFill>
                  <a:srgbClr val="202329"/>
                </a:solidFill>
                <a:latin typeface="Arial"/>
                <a:ea typeface="Arial"/>
              </a:rPr>
              <a:t xml:space="preserve"> controlled both directions of the JAR. The study combined brain lesions, stimulation, pharmacology, and continuous recording of EOD frequency in immobilized Eigenmannia. The earlier idea treated decreases as reduced activity in the same neurons. The nucleus electrosensorius is a diencephalic sensory-motor interface.</a:t>
            </a:r>
            <a:endParaRPr lang="en-US"/>
          </a:p>
          <a:p>
            <a:pPr algn="l">
              <a:lnSpc>
                <a:spcPct val="108000"/>
              </a:lnSpc>
              <a:spcAft>
                <a:spcPts val="1200"/>
              </a:spcAft>
              <a:buNone/>
            </a:pPr>
            <a:r>
              <a:rPr sz="1400" b="0" i="0">
                <a:solidFill>
                  <a:srgbClr val="202329"/>
                </a:solidFill>
                <a:latin typeface="Arial"/>
                <a:ea typeface="Arial"/>
              </a:rPr>
              <a:t xml:space="preserve">The </a:t>
            </a:r>
            <a:r>
              <a:rPr sz="1400" b="1" i="0">
                <a:solidFill>
                  <a:srgbClr val="16181D"/>
                </a:solidFill>
                <a:latin typeface="Arial"/>
                <a:ea typeface="Arial"/>
              </a:rPr>
              <a:t>dorsal electrosensorius pathway</a:t>
            </a:r>
            <a:r>
              <a:rPr sz="1400" b="0" i="0">
                <a:solidFill>
                  <a:srgbClr val="202329"/>
                </a:solidFill>
                <a:latin typeface="Arial"/>
                <a:ea typeface="Arial"/>
              </a:rPr>
              <a:t xml:space="preserve"> drives the gradual prepacemaker region, PPn-G, and supports frequency increases. A </a:t>
            </a:r>
            <a:r>
              <a:rPr sz="1400" b="1" i="0">
                <a:solidFill>
                  <a:srgbClr val="16181D"/>
                </a:solidFill>
                <a:latin typeface="Arial"/>
                <a:ea typeface="Arial"/>
              </a:rPr>
              <a:t>ventral pathway</a:t>
            </a:r>
            <a:r>
              <a:rPr sz="1400" b="0" i="0">
                <a:solidFill>
                  <a:srgbClr val="202329"/>
                </a:solidFill>
                <a:latin typeface="Arial"/>
                <a:ea typeface="Arial"/>
              </a:rPr>
              <a:t xml:space="preserve"> engages the sublemniscal prepacemaker nucleus, or SPPn, and supports decreases by reducing its excitatory influence on the pacemaker. Each route runs through its own premotor structure. Each route reaches its own distinct target.</a:t>
            </a:r>
            <a:endParaRPr lang="en-US"/>
          </a:p>
          <a:p>
            <a:pPr algn="l">
              <a:lnSpc>
                <a:spcPct val="108000"/>
              </a:lnSpc>
              <a:spcAft>
                <a:spcPts val="1200"/>
              </a:spcAft>
              <a:buNone/>
            </a:pPr>
            <a:r>
              <a:rPr sz="1400" b="0" i="0">
                <a:solidFill>
                  <a:srgbClr val="202329"/>
                </a:solidFill>
                <a:latin typeface="Arial"/>
                <a:ea typeface="Arial"/>
              </a:rPr>
              <a:t xml:space="preserve">The published circuit places these routes apart from the chirp-controlling PPn-C. The architecture rested on selective losses and preserved responses, rather than on a diagram alone. Later intracellular recordings tested the target-cell assignments directly. The chirp route therefore stays separate from both JAR routes in the premotor stage of the circuit.</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38" name="Shape 8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9" name="Shape 8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Prepacemaker lesions abolish frequency increases</a:t>
            </a:r>
            <a:endParaRPr lang="en-US"/>
          </a:p>
        </p:txBody>
      </p:sp>
      <p:sp>
        <p:nvSpPr>
          <p:cNvPr id="840" name="Shape 84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0" i="0">
                <a:solidFill>
                  <a:srgbClr val="202329"/>
                </a:solidFill>
                <a:latin typeface="Arial"/>
                <a:ea typeface="Arial"/>
              </a:rPr>
              <a:t>Metzner made </a:t>
            </a:r>
            <a:r>
              <a:rPr sz="1500" b="1" i="0">
                <a:solidFill>
                  <a:srgbClr val="16181D"/>
                </a:solidFill>
                <a:latin typeface="Arial"/>
                <a:ea typeface="Arial"/>
              </a:rPr>
              <a:t>bilateral lesions</a:t>
            </a:r>
            <a:r>
              <a:rPr sz="1500" b="0" i="0">
                <a:solidFill>
                  <a:srgbClr val="202329"/>
                </a:solidFill>
                <a:latin typeface="Arial"/>
                <a:ea typeface="Arial"/>
              </a:rPr>
              <a:t> in the PPn-G/central posterior region and measured the JAR before and after. The jamming stimulus alternated between positive and negative frequency differences, while the resting EOD frequency served as the reference for response direction. The lesion was placed in the region that receives dorsal electrosensorius input.</a:t>
            </a:r>
            <a:endParaRPr lang="en-US"/>
          </a:p>
          <a:p>
            <a:pPr algn="l">
              <a:lnSpc>
                <a:spcPct val="108000"/>
              </a:lnSpc>
              <a:spcAft>
                <a:spcPts val="1200"/>
              </a:spcAft>
              <a:buNone/>
            </a:pPr>
            <a:r>
              <a:rPr sz="1500" b="0" i="0">
                <a:solidFill>
                  <a:srgbClr val="202329"/>
                </a:solidFill>
                <a:latin typeface="Arial"/>
                <a:ea typeface="Arial"/>
              </a:rPr>
              <a:t>After the lesion, the EOD no longer rose above resting frequency in response to a lower-frequency signal. Frequency decreases elicited by a higher-frequency signal remained intact. The published records compare responses about one minute before and after the lesion. The records also document the location of each lesion within the region.</a:t>
            </a:r>
            <a:endParaRPr lang="en-US"/>
          </a:p>
          <a:p>
            <a:pPr algn="l">
              <a:lnSpc>
                <a:spcPct val="108000"/>
              </a:lnSpc>
              <a:spcAft>
                <a:spcPts val="1200"/>
              </a:spcAft>
              <a:buNone/>
            </a:pPr>
            <a:r>
              <a:rPr sz="1500" b="0" i="0">
                <a:solidFill>
                  <a:srgbClr val="202329"/>
                </a:solidFill>
                <a:latin typeface="Arial"/>
                <a:ea typeface="Arial"/>
              </a:rPr>
              <a:t>This selective deficit identifies the region as necessary for normal </a:t>
            </a:r>
            <a:r>
              <a:rPr sz="1500" b="1" i="0">
                <a:solidFill>
                  <a:srgbClr val="16181D"/>
                </a:solidFill>
                <a:latin typeface="Arial"/>
                <a:ea typeface="Arial"/>
              </a:rPr>
              <a:t>frequency acceleration</a:t>
            </a:r>
            <a:r>
              <a:rPr sz="1500" b="0" i="0">
                <a:solidFill>
                  <a:srgbClr val="202329"/>
                </a:solidFill>
                <a:latin typeface="Arial"/>
                <a:ea typeface="Arial"/>
              </a:rPr>
              <a:t> under the tested conditions. Preserved deceleration indicates that sensation, pacemaker function, and most motor output were still available. This result is informative because the losses are restricted to one direction of frequency change, not to the whole JAR.</a:t>
            </a:r>
            <a:endParaRPr lang="en-US"/>
          </a:p>
        </p:txBody>
      </p:sp>
      <p:pic>
        <p:nvPicPr>
          <p:cNvPr id="218" name="Presenton Native Image 35" descr=""/>
          <p:cNvPicPr/>
          <p:nvPr/>
        </p:nvPicPr>
        <p:blipFill>
          <a:blip r:embed="rId2" cstate="none"/>
          <a:stretch>
            <a:fillRect/>
          </a:stretch>
        </p:blipFill>
        <p:spPr>
          <a:xfrm>
            <a:off x="7802829" y="1280071"/>
            <a:ext cx="2889362" cy="4297561"/>
          </a:xfrm>
          <a:prstGeom prst="rect">
            <a:avLst/>
          </a:prstGeom>
        </p:spPr>
      </p:pic>
      <p:sp>
        <p:nvSpPr>
          <p:cNvPr id="843" name="Shape 8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3(A–D). Prepacemaker lesions remove frequency increases selectively.</a:t>
            </a:r>
            <a:endParaRPr lang="en-US"/>
          </a:p>
        </p:txBody>
      </p:sp>
      <p:sp>
        <p:nvSpPr>
          <p:cNvPr id="844" name="Shape 844"/>
          <p:cNvSpPr/>
          <p:nvPr/>
        </p:nvSpPr>
        <p:spPr>
          <a:xfrm>
            <a:off x="566886" y="6382494"/>
            <a:ext cx="11058079" cy="9079"/>
          </a:xfrm>
          <a:prstGeom prst="rect">
            <a:avLst/>
          </a:prstGeom>
          <a:solidFill>
            <a:srgbClr val="D2D4D9"/>
          </a:solidFill>
        </p:spPr>
        <p:txBody>
          <a:bodyPr/>
          <a:lstStyle/>
          <a:p/>
        </p:txBody>
      </p:sp>
      <p:sp>
        <p:nvSpPr>
          <p:cNvPr id="845" name="Shape 8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46" name="Shape 8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Stimulation localizes the interrupted acceleration route</a:t>
            </a:r>
            <a:endParaRPr lang="en-US"/>
          </a:p>
        </p:txBody>
      </p:sp>
      <p:sp>
        <p:nvSpPr>
          <p:cNvPr id="848" name="Shape 84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Metzner stimulated the dorsal and ventral nucleus electrosensorius sites and the SPPn before and after a PPn-G lesion. </a:t>
            </a:r>
            <a:r>
              <a:rPr sz="1400" b="1" i="0">
                <a:solidFill>
                  <a:srgbClr val="16181D"/>
                </a:solidFill>
                <a:latin typeface="Arial"/>
                <a:ea typeface="Arial"/>
              </a:rPr>
              <a:t>Iontophoresis</a:t>
            </a:r>
            <a:r>
              <a:rPr sz="1400" b="0" i="0">
                <a:solidFill>
                  <a:srgbClr val="202329"/>
                </a:solidFill>
                <a:latin typeface="Arial"/>
                <a:ea typeface="Arial"/>
              </a:rPr>
              <a:t xml:space="preserve"> uses electrical current to deliver a charged compound locally. </a:t>
            </a:r>
            <a:r>
              <a:rPr sz="1400" b="1" i="0">
                <a:solidFill>
                  <a:srgbClr val="16181D"/>
                </a:solidFill>
                <a:latin typeface="Arial"/>
                <a:ea typeface="Arial"/>
              </a:rPr>
              <a:t>L-glutamate</a:t>
            </a:r>
            <a:r>
              <a:rPr sz="1400" b="0" i="0">
                <a:solidFill>
                  <a:srgbClr val="202329"/>
                </a:solidFill>
                <a:latin typeface="Arial"/>
                <a:ea typeface="Arial"/>
              </a:rPr>
              <a:t xml:space="preserve"> was applied this way to activate neurons near the electrode. These stimulation sites were carefully located in every fish tested before the lesion.</a:t>
            </a:r>
            <a:endParaRPr lang="en-US"/>
          </a:p>
          <a:p>
            <a:pPr algn="l">
              <a:lnSpc>
                <a:spcPct val="108000"/>
              </a:lnSpc>
              <a:spcAft>
                <a:spcPts val="1200"/>
              </a:spcAft>
              <a:buNone/>
            </a:pPr>
            <a:r>
              <a:rPr sz="1400" b="0" i="0">
                <a:solidFill>
                  <a:srgbClr val="202329"/>
                </a:solidFill>
                <a:latin typeface="Arial"/>
                <a:ea typeface="Arial"/>
              </a:rPr>
              <a:t xml:space="preserve">After the lesion, stimulation of the dorsal electrosensorius no longer produced the normal frequency increase through the damaged route. Responses associated with the ventral electrosensorius and the SPPn remained, consistent with their access to the oscillator through a separate pathway. The preserved alternative responses identify a second route to the oscillator.</a:t>
            </a:r>
            <a:endParaRPr lang="en-US"/>
          </a:p>
          <a:p>
            <a:pPr algn="l">
              <a:lnSpc>
                <a:spcPct val="108000"/>
              </a:lnSpc>
              <a:spcAft>
                <a:spcPts val="1200"/>
              </a:spcAft>
              <a:buNone/>
            </a:pPr>
            <a:r>
              <a:rPr sz="1400" b="0" i="0">
                <a:solidFill>
                  <a:srgbClr val="202329"/>
                </a:solidFill>
                <a:latin typeface="Arial"/>
                <a:ea typeface="Arial"/>
              </a:rPr>
              <a:t xml:space="preserve">Combining lesions with stimulation </a:t>
            </a:r>
            <a:r>
              <a:rPr sz="1400" b="1" i="0">
                <a:solidFill>
                  <a:srgbClr val="16181D"/>
                </a:solidFill>
                <a:latin typeface="Arial"/>
                <a:ea typeface="Arial"/>
              </a:rPr>
              <a:t>distinguishes damage</a:t>
            </a:r>
            <a:r>
              <a:rPr sz="1400" b="0" i="0">
                <a:solidFill>
                  <a:srgbClr val="202329"/>
                </a:solidFill>
                <a:latin typeface="Arial"/>
                <a:ea typeface="Arial"/>
              </a:rPr>
              <a:t xml:space="preserve"> to an ascending sensory representation from interruption of a descending route. Local chemical stimulation activates nearby cells, so it indicates a pathway rather than a confirmed monosynaptic link. The same fish served before and after the lesion, which keeps individual differences out of the result.</a:t>
            </a:r>
            <a:endParaRPr lang="en-US"/>
          </a:p>
        </p:txBody>
      </p:sp>
      <p:pic>
        <p:nvPicPr>
          <p:cNvPr id="219" name="Presenton Native Image 36" descr=""/>
          <p:cNvPicPr/>
          <p:nvPr/>
        </p:nvPicPr>
        <p:blipFill>
          <a:blip r:embed="rId3"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2"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55" name="Shape 8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6" name="Shape 85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Tracing identifies a sublemniscal projection to the oscillator</a:t>
            </a:r>
            <a:endParaRPr lang="en-US"/>
          </a:p>
        </p:txBody>
      </p:sp>
      <p:sp>
        <p:nvSpPr>
          <p:cNvPr id="857" name="Shape 8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0" i="0">
                <a:solidFill>
                  <a:srgbClr val="202329"/>
                </a:solidFill>
                <a:latin typeface="Arial"/>
                <a:ea typeface="Arial"/>
              </a:rPr>
              <a:t>The SPPn is a </a:t>
            </a:r>
            <a:r>
              <a:rPr sz="1500" b="1" i="0">
                <a:solidFill>
                  <a:srgbClr val="16181D"/>
                </a:solidFill>
                <a:latin typeface="Arial"/>
                <a:ea typeface="Arial"/>
              </a:rPr>
              <a:t>scattered brainstem population</a:t>
            </a:r>
            <a:r>
              <a:rPr sz="1500" b="0" i="0">
                <a:solidFill>
                  <a:srgbClr val="202329"/>
                </a:solidFill>
                <a:latin typeface="Arial"/>
                <a:ea typeface="Arial"/>
              </a:rPr>
              <a:t> rather than a conspicuous compact nucleus. Its position relative to the lateral lemniscus guided where the lesions and injections were placed. Metzner injected a </a:t>
            </a:r>
            <a:r>
              <a:rPr sz="1500" b="1" i="0">
                <a:solidFill>
                  <a:srgbClr val="16181D"/>
                </a:solidFill>
                <a:latin typeface="Arial"/>
                <a:ea typeface="Arial"/>
              </a:rPr>
              <a:t>retrograde tracer</a:t>
            </a:r>
            <a:r>
              <a:rPr sz="1500" b="0" i="0">
                <a:solidFill>
                  <a:srgbClr val="202329"/>
                </a:solidFill>
                <a:latin typeface="Arial"/>
                <a:ea typeface="Arial"/>
              </a:rPr>
              <a:t> into the medullary pacemaker nucleus and examined labeled cells at the appropriate level of the brainstem tegmentum.</a:t>
            </a:r>
            <a:endParaRPr lang="en-US"/>
          </a:p>
          <a:p>
            <a:pPr algn="l">
              <a:lnSpc>
                <a:spcPct val="108000"/>
              </a:lnSpc>
              <a:spcAft>
                <a:spcPts val="1200"/>
              </a:spcAft>
              <a:buNone/>
            </a:pPr>
            <a:r>
              <a:rPr sz="1500" b="0" i="0">
                <a:solidFill>
                  <a:srgbClr val="202329"/>
                </a:solidFill>
                <a:latin typeface="Arial"/>
                <a:ea typeface="Arial"/>
              </a:rPr>
              <a:t>Retrograde tracing labels neurons that project toward the injection site. The published histology shows scattered cells beneath the lateral lemniscus, in broader and enlarged views with 100-µm scale bars. These cells supply an anatomical candidate for a premotor route. Each labeled cell is shown at the scale of the broader view.</a:t>
            </a:r>
            <a:endParaRPr lang="en-US"/>
          </a:p>
          <a:p>
            <a:pPr algn="l">
              <a:lnSpc>
                <a:spcPct val="108000"/>
              </a:lnSpc>
              <a:spcAft>
                <a:spcPts val="1200"/>
              </a:spcAft>
              <a:buNone/>
            </a:pPr>
            <a:r>
              <a:rPr sz="1500" b="0" i="0">
                <a:solidFill>
                  <a:srgbClr val="202329"/>
                </a:solidFill>
                <a:latin typeface="Arial"/>
                <a:ea typeface="Arial"/>
              </a:rPr>
              <a:t>The tracer identifies a projection to the pacemaker region, but it leaves open whether those cells raise or lower frequency. Physiological stimulation and lesions supply the complementary functional evidence. The tracer labels scattered neurons across a region, so the injection defines which cells are candidates for the route at that level.</a:t>
            </a:r>
            <a:endParaRPr lang="en-US"/>
          </a:p>
        </p:txBody>
      </p:sp>
      <p:pic>
        <p:nvPicPr>
          <p:cNvPr id="221" name="Presenton Native Image 38" descr=""/>
          <p:cNvPicPr/>
          <p:nvPr/>
        </p:nvPicPr>
        <p:blipFill>
          <a:blip r:embed="rId2" cstate="none"/>
          <a:stretch>
            <a:fillRect/>
          </a:stretch>
        </p:blipFill>
        <p:spPr>
          <a:xfrm>
            <a:off x="7054653" y="1280071"/>
            <a:ext cx="4385566" cy="4297561"/>
          </a:xfrm>
          <a:prstGeom prst="rect">
            <a:avLst/>
          </a:prstGeom>
        </p:spPr>
      </p:pic>
      <p:sp>
        <p:nvSpPr>
          <p:cNvPr id="860" name="Shape 8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5(A–B). Retrograde labeling identifies the sublemniscal prepacemaker.</a:t>
            </a:r>
            <a:endParaRPr lang="en-US"/>
          </a:p>
        </p:txBody>
      </p:sp>
      <p:sp>
        <p:nvSpPr>
          <p:cNvPr id="861" name="Shape 861"/>
          <p:cNvSpPr/>
          <p:nvPr/>
        </p:nvSpPr>
        <p:spPr>
          <a:xfrm>
            <a:off x="566886" y="6382494"/>
            <a:ext cx="11058079" cy="9079"/>
          </a:xfrm>
          <a:prstGeom prst="rect">
            <a:avLst/>
          </a:prstGeom>
          <a:solidFill>
            <a:srgbClr val="D2D4D9"/>
          </a:solidFill>
        </p:spPr>
        <p:txBody>
          <a:bodyPr/>
          <a:lstStyle/>
          <a:p/>
        </p:txBody>
      </p:sp>
      <p:sp>
        <p:nvSpPr>
          <p:cNvPr id="862" name="Shape 8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63" name="Shape 8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Sublemniscal lesions abolish decreases and lower baseline</a:t>
            </a:r>
            <a:endParaRPr lang="en-US"/>
          </a:p>
        </p:txBody>
      </p:sp>
      <p:sp>
        <p:nvSpPr>
          <p:cNvPr id="865" name="Shape 8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Metzner lesioned the SPPn and compared responses before and after. Before the lesion, </a:t>
            </a:r>
            <a:r>
              <a:rPr sz="1400" b="1" i="0">
                <a:solidFill>
                  <a:srgbClr val="16181D"/>
                </a:solidFill>
                <a:latin typeface="Arial"/>
                <a:ea typeface="Arial"/>
              </a:rPr>
              <a:t>positive difference frequencies lowered the EOD</a:t>
            </a:r>
            <a:r>
              <a:rPr sz="1400" b="0" i="0">
                <a:solidFill>
                  <a:srgbClr val="202329"/>
                </a:solidFill>
                <a:latin typeface="Arial"/>
                <a:ea typeface="Arial"/>
              </a:rPr>
              <a:t>, and negative difference frequencies raised it. The published anatomical panel documents the lesion within the relevant brainstem region. The lesion sat inside the SPPn region. Its placement was checked in the tissue.</a:t>
            </a:r>
            <a:endParaRPr lang="en-US"/>
          </a:p>
          <a:p>
            <a:pPr algn="l">
              <a:lnSpc>
                <a:spcPct val="108000"/>
              </a:lnSpc>
              <a:spcAft>
                <a:spcPts val="1200"/>
              </a:spcAft>
              <a:buNone/>
            </a:pPr>
            <a:r>
              <a:rPr sz="1400" b="0" i="0">
                <a:solidFill>
                  <a:srgbClr val="202329"/>
                </a:solidFill>
                <a:latin typeface="Arial"/>
                <a:ea typeface="Arial"/>
              </a:rPr>
              <a:t>The lesion lowered the resting EOD frequency and eliminated further JAR decreases below the new baseline. Frequency increases to lower-frequency jamming signals remained. The result contrasts with PPn-G lesions, which removed acceleration while sparing deceleration. The lower baseline indicates that the oscillator now runs at a lower operating frequency overall.</a:t>
            </a:r>
            <a:endParaRPr lang="en-US"/>
          </a:p>
          <a:p>
            <a:pPr algn="l">
              <a:lnSpc>
                <a:spcPct val="108000"/>
              </a:lnSpc>
              <a:spcAft>
                <a:spcPts val="1200"/>
              </a:spcAft>
              <a:buNone/>
            </a:pPr>
            <a:r>
              <a:rPr sz="1400" b="0" i="0">
                <a:solidFill>
                  <a:srgbClr val="202329"/>
                </a:solidFill>
                <a:latin typeface="Arial"/>
                <a:ea typeface="Arial"/>
              </a:rPr>
              <a:t>The baseline decrease indicates that the SPPn normally supplies </a:t>
            </a:r>
            <a:r>
              <a:rPr sz="1400" b="1" i="0">
                <a:solidFill>
                  <a:srgbClr val="16181D"/>
                </a:solidFill>
                <a:latin typeface="Arial"/>
                <a:ea typeface="Arial"/>
              </a:rPr>
              <a:t>tonic drive</a:t>
            </a:r>
            <a:r>
              <a:rPr sz="1400" b="0" i="0">
                <a:solidFill>
                  <a:srgbClr val="202329"/>
                </a:solidFill>
                <a:latin typeface="Arial"/>
                <a:ea typeface="Arial"/>
              </a:rPr>
              <a:t>, an influence maintained even without a jamming stimulus. JAR deceleration can reduce that drive. Selective preservation of acceleration supports independent control routes. Preserved acceleration after the lesion shows that the pacemaker can still speed up when the stimulus drives it.</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2" name="Shape 8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GABA reduces tonic sublemniscal drive</a:t>
            </a:r>
            <a:endParaRPr lang="en-US"/>
          </a:p>
        </p:txBody>
      </p:sp>
      <p:sp>
        <p:nvSpPr>
          <p:cNvPr id="873" name="Shape 87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GABA</a:t>
            </a:r>
            <a:r>
              <a:rPr sz="1400" b="0" i="0">
                <a:solidFill>
                  <a:srgbClr val="202329"/>
                </a:solidFill>
                <a:latin typeface="Arial"/>
                <a:ea typeface="Arial"/>
              </a:rPr>
              <a:t>, gamma-aminobutyric acid, is an inhibitory neurotransmitter in the tested pathway. Metzner applied GABA to the SPPn and measured a fall in resting EOD frequency. Electrical stimulation of the same region instead increased the operating frequency. GABA therefore lowers the operating frequency when it is applied locally to the SPPn.</a:t>
            </a:r>
            <a:endParaRPr lang="en-US"/>
          </a:p>
          <a:p>
            <a:pPr algn="l">
              <a:lnSpc>
                <a:spcPct val="108000"/>
              </a:lnSpc>
              <a:spcAft>
                <a:spcPts val="1200"/>
              </a:spcAft>
              <a:buNone/>
            </a:pPr>
            <a:r>
              <a:rPr sz="1400" b="1" i="0">
                <a:solidFill>
                  <a:srgbClr val="16181D"/>
                </a:solidFill>
                <a:latin typeface="Arial"/>
                <a:ea typeface="Arial"/>
              </a:rPr>
              <a:t>Bicuculline</a:t>
            </a:r>
            <a:r>
              <a:rPr sz="1400" b="0" i="0">
                <a:solidFill>
                  <a:srgbClr val="202329"/>
                </a:solidFill>
                <a:latin typeface="Arial"/>
                <a:ea typeface="Arial"/>
              </a:rPr>
              <a:t>, an antagonist of GABA-sensitive inhibition, raised the baseline when applied locally. It also blocked the frequency decrease normally elicited by stimulating the ventral nucleus electrosensorius. That upstream effect therefore depended on inhibitory action in the sublemniscal route. The effect clearly shows that inhibition acts upstream of the pacemaker itself.</a:t>
            </a:r>
            <a:endParaRPr lang="en-US"/>
          </a:p>
          <a:p>
            <a:pPr algn="l">
              <a:lnSpc>
                <a:spcPct val="108000"/>
              </a:lnSpc>
              <a:spcAft>
                <a:spcPts val="1200"/>
              </a:spcAft>
              <a:buNone/>
            </a:pPr>
            <a:r>
              <a:rPr sz="1400" b="0" i="0">
                <a:solidFill>
                  <a:srgbClr val="202329"/>
                </a:solidFill>
                <a:latin typeface="Arial"/>
                <a:ea typeface="Arial"/>
              </a:rPr>
              <a:t>The mechanistic sequence runs from inhibition of SPPn activity to reduced tonic excitation of the pacemaker, and then to slower EOD output. Local drug effects establish a GABA-sensitive mechanism, and receptor subunits are a separate matter. The stimulated route depends on inhibition at the SPPn, which reduces excitatory drive to the pacemaker.</a:t>
            </a:r>
            <a:endParaRPr lang="en-US"/>
          </a:p>
        </p:txBody>
      </p:sp>
      <p:pic>
        <p:nvPicPr>
          <p:cNvPr id="223" name="Presenton Native Image 40" descr=""/>
          <p:cNvPicPr/>
          <p:nvPr/>
        </p:nvPicPr>
        <p:blipFill>
          <a:blip r:embed="rId3" cstate="none"/>
          <a:stretch>
            <a:fillRect/>
          </a:stretch>
        </p:blipFill>
        <p:spPr>
          <a:xfrm>
            <a:off x="6972993" y="1280071"/>
            <a:ext cx="4548884" cy="2880271"/>
          </a:xfrm>
          <a:prstGeom prst="rect">
            <a:avLst/>
          </a:prstGeom>
        </p:spPr>
      </p:pic>
      <p:sp>
        <p:nvSpPr>
          <p:cNvPr id="876" name="Shape 876"/>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8(A–D). GABA and bicuculline effects in the sublemniscal nucleus.</a:t>
            </a:r>
            <a:endParaRPr lang="en-US"/>
          </a:p>
        </p:txBody>
      </p:sp>
      <p:pic>
        <p:nvPicPr>
          <p:cNvPr id="224" name="Presenton Native Image 41" descr=""/>
          <p:cNvPicPr/>
          <p:nvPr/>
        </p:nvPicPr>
        <p:blipFill>
          <a:blip r:embed="rId2" cstate="none"/>
          <a:stretch>
            <a:fillRect/>
          </a:stretch>
        </p:blipFill>
        <p:spPr>
          <a:xfrm>
            <a:off x="8828663" y="4709071"/>
            <a:ext cx="837545" cy="1051471"/>
          </a:xfrm>
          <a:prstGeom prst="rect">
            <a:avLst/>
          </a:prstGeom>
        </p:spPr>
      </p:pic>
      <p:sp>
        <p:nvSpPr>
          <p:cNvPr id="877" name="Shape 87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78" name="Shape 878"/>
          <p:cNvSpPr/>
          <p:nvPr/>
        </p:nvSpPr>
        <p:spPr>
          <a:xfrm>
            <a:off x="566886" y="6382494"/>
            <a:ext cx="11058079" cy="9079"/>
          </a:xfrm>
          <a:prstGeom prst="rect">
            <a:avLst/>
          </a:prstGeom>
          <a:solidFill>
            <a:srgbClr val="D2D4D9"/>
          </a:solidFill>
        </p:spPr>
        <p:txBody>
          <a:bodyPr/>
          <a:lstStyle/>
          <a:p/>
        </p:txBody>
      </p:sp>
      <p:sp>
        <p:nvSpPr>
          <p:cNvPr id="879" name="Shape 87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0" name="Shape 88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1" name="Shape 881"/>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AMPA-sensitive transmission supports frequency increases</a:t>
            </a:r>
            <a:endParaRPr lang="en-US"/>
          </a:p>
        </p:txBody>
      </p:sp>
      <p:sp>
        <p:nvSpPr>
          <p:cNvPr id="882" name="Shape 88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Glutamate</a:t>
            </a:r>
            <a:r>
              <a:rPr sz="1400" b="0" i="0">
                <a:solidFill>
                  <a:srgbClr val="202329"/>
                </a:solidFill>
                <a:latin typeface="Arial"/>
                <a:ea typeface="Arial"/>
              </a:rPr>
              <a:t xml:space="preserve"> is an excitatory neurotransmitter acting through several receptor classes. </a:t>
            </a:r>
            <a:r>
              <a:rPr sz="1400" b="1" i="0">
                <a:solidFill>
                  <a:srgbClr val="16181D"/>
                </a:solidFill>
                <a:latin typeface="Arial"/>
                <a:ea typeface="Arial"/>
              </a:rPr>
              <a:t>AMPA-type receptors</a:t>
            </a:r>
            <a:r>
              <a:rPr sz="1400" b="0" i="0">
                <a:solidFill>
                  <a:srgbClr val="202329"/>
                </a:solidFill>
                <a:latin typeface="Arial"/>
                <a:ea typeface="Arial"/>
              </a:rPr>
              <a:t xml:space="preserve"> are glutamate-sensitive, channel-forming receptors whose activation changes postsynaptic conductance. Metzner injected CNQX, an antagonist of AMPA and non-NMDA transmission, into the pacemaker nucleus. Its receptor class is clearly distinct from the NMDA type tested later in the study.</a:t>
            </a:r>
            <a:endParaRPr lang="en-US"/>
          </a:p>
          <a:p>
            <a:pPr algn="l">
              <a:lnSpc>
                <a:spcPct val="108000"/>
              </a:lnSpc>
              <a:spcAft>
                <a:spcPts val="1200"/>
              </a:spcAft>
              <a:buNone/>
            </a:pPr>
            <a:r>
              <a:rPr sz="1400" b="0" i="0">
                <a:solidFill>
                  <a:srgbClr val="202329"/>
                </a:solidFill>
                <a:latin typeface="Arial"/>
                <a:ea typeface="Arial"/>
              </a:rPr>
              <a:t xml:space="preserve">CNQX selectively suppressed the frequency increases normally evoked by negative Δf. Frequency decreases remained available, and the acceleration response recovered as the drug effect diminished. Artificial cerebrospinal fluid injections served as a control for solution-delivery effects. Vehicle injections were measured against drug injections in the same fish across all trials.</a:t>
            </a:r>
            <a:endParaRPr lang="en-US"/>
          </a:p>
          <a:p>
            <a:pPr algn="l">
              <a:lnSpc>
                <a:spcPct val="108000"/>
              </a:lnSpc>
              <a:spcAft>
                <a:spcPts val="1200"/>
              </a:spcAft>
              <a:buNone/>
            </a:pPr>
            <a:r>
              <a:rPr sz="1400" b="0" i="0">
                <a:solidFill>
                  <a:srgbClr val="202329"/>
                </a:solidFill>
                <a:latin typeface="Arial"/>
                <a:ea typeface="Arial"/>
              </a:rPr>
              <a:t xml:space="preserve">The result assigns an AMPA-sensitive component to the acceleration route, rather than requiring the same receptor mechanism for both JAR directions. Drug spread and the electrically coupled oscillator network limit localization to a particular synaptic contact. The oscillator network is electrically coupled, so one injection influences many cells at once.</a:t>
            </a:r>
            <a:endParaRPr lang="en-US"/>
          </a:p>
        </p:txBody>
      </p:sp>
      <p:pic>
        <p:nvPicPr>
          <p:cNvPr id="225" name="Presenton Native Image 42" descr=""/>
          <p:cNvPicPr/>
          <p:nvPr/>
        </p:nvPicPr>
        <p:blipFill>
          <a:blip r:embed="rId3" cstate="none"/>
          <a:stretch>
            <a:fillRect/>
          </a:stretch>
        </p:blipFill>
        <p:spPr>
          <a:xfrm>
            <a:off x="7611618" y="1280071"/>
            <a:ext cx="3271636" cy="2880271"/>
          </a:xfrm>
          <a:prstGeom prst="rect">
            <a:avLst/>
          </a:prstGeom>
        </p:spPr>
      </p:pic>
      <p:sp>
        <p:nvSpPr>
          <p:cNvPr id="885" name="Shape 88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9(A–C). CNQX selectively suppresses JAR frequency increases.</a:t>
            </a:r>
            <a:endParaRPr lang="en-US"/>
          </a:p>
        </p:txBody>
      </p:sp>
      <p:pic>
        <p:nvPicPr>
          <p:cNvPr id="226" name="Presenton Native Image 43" descr=""/>
          <p:cNvPicPr/>
          <p:nvPr/>
        </p:nvPicPr>
        <p:blipFill>
          <a:blip r:embed="rId2" cstate="none"/>
          <a:stretch>
            <a:fillRect/>
          </a:stretch>
        </p:blipFill>
        <p:spPr>
          <a:xfrm>
            <a:off x="8828663" y="4709071"/>
            <a:ext cx="837545" cy="1051471"/>
          </a:xfrm>
          <a:prstGeom prst="rect">
            <a:avLst/>
          </a:prstGeom>
        </p:spPr>
      </p:pic>
      <p:sp>
        <p:nvSpPr>
          <p:cNvPr id="886" name="Shape 88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87" name="Shape 887"/>
          <p:cNvSpPr/>
          <p:nvPr/>
        </p:nvSpPr>
        <p:spPr>
          <a:xfrm>
            <a:off x="566886" y="6382494"/>
            <a:ext cx="11058079" cy="9079"/>
          </a:xfrm>
          <a:prstGeom prst="rect">
            <a:avLst/>
          </a:prstGeom>
          <a:solidFill>
            <a:srgbClr val="D2D4D9"/>
          </a:solidFill>
        </p:spPr>
        <p:txBody>
          <a:bodyPr/>
          <a:lstStyle/>
          <a:p/>
        </p:txBody>
      </p:sp>
      <p:sp>
        <p:nvSpPr>
          <p:cNvPr id="888" name="Shape 88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9" name="Shape 88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0" name="Shape 89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Receptor blockade separates upstream motor commands</a:t>
            </a:r>
            <a:endParaRPr lang="en-US"/>
          </a:p>
        </p:txBody>
      </p:sp>
      <p:sp>
        <p:nvSpPr>
          <p:cNvPr id="891" name="Shape 89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Metzner combined pacemaker CNQX injections with stimulation of upstream structures. Activating the dorsal nucleus electrosensorius and PPn-G tested frequency-increasing commands, while activating the ventral electrosensorius and manipulating the SPPn tested the deceleration route. Each upstream route was tested in its own condition, so the two effects can be clearly separated.</a:t>
            </a:r>
            <a:endParaRPr lang="en-US"/>
          </a:p>
          <a:p>
            <a:pPr algn="l">
              <a:lnSpc>
                <a:spcPct val="108000"/>
              </a:lnSpc>
              <a:spcAft>
                <a:spcPts val="1200"/>
              </a:spcAft>
              <a:buNone/>
            </a:pPr>
            <a:r>
              <a:rPr sz="1400" b="0" i="0">
                <a:solidFill>
                  <a:srgbClr val="202329"/>
                </a:solidFill>
                <a:latin typeface="Arial"/>
                <a:ea typeface="Arial"/>
              </a:rPr>
              <a:t>CNQX strongly reduced accelerations induced through the dorsal and PPn-G pathway. Effects associated with the alternative route were retained to a much greater extent. The frequency traces show the timing of drug delivery and upstream stimulation. Each frequency trace was clearly scored against the resting baseline of the same fish.</a:t>
            </a:r>
            <a:endParaRPr lang="en-US"/>
          </a:p>
          <a:p>
            <a:pPr algn="l">
              <a:lnSpc>
                <a:spcPct val="108000"/>
              </a:lnSpc>
              <a:spcAft>
                <a:spcPts val="1200"/>
              </a:spcAft>
              <a:buNone/>
            </a:pPr>
            <a:r>
              <a:rPr sz="1400" b="0" i="0">
                <a:solidFill>
                  <a:srgbClr val="202329"/>
                </a:solidFill>
                <a:latin typeface="Arial"/>
                <a:ea typeface="Arial"/>
              </a:rPr>
              <a:t>The experiment places the receptor-sensitive step downstream of the stimulated acceleration structures. It is stronger evidence than the loss of natural JAR alone, which could result from disrupting sensory encoding. The source supports pathway-specific glutamatergic transmission, while the exact balance of receptor classes needs more cellular evidence in future work.</a:t>
            </a:r>
            <a:endParaRPr lang="en-US"/>
          </a:p>
        </p:txBody>
      </p:sp>
      <p:pic>
        <p:nvPicPr>
          <p:cNvPr id="227" name="Presenton Native Image 44" descr=""/>
          <p:cNvPicPr/>
          <p:nvPr/>
        </p:nvPicPr>
        <p:blipFill>
          <a:blip r:embed="rId3" cstate="none"/>
          <a:stretch>
            <a:fillRect/>
          </a:stretch>
        </p:blipFill>
        <p:spPr>
          <a:xfrm>
            <a:off x="8266379" y="1280071"/>
            <a:ext cx="1962261" cy="2880271"/>
          </a:xfrm>
          <a:prstGeom prst="rect">
            <a:avLst/>
          </a:prstGeom>
        </p:spPr>
      </p:pic>
      <p:sp>
        <p:nvSpPr>
          <p:cNvPr id="894" name="Shape 89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11(A–E). CNQX effects on stimulated acceleration and deceleration routes.</a:t>
            </a:r>
            <a:endParaRPr lang="en-US"/>
          </a:p>
        </p:txBody>
      </p:sp>
      <p:pic>
        <p:nvPicPr>
          <p:cNvPr id="228" name="Presenton Native Image 45" descr=""/>
          <p:cNvPicPr/>
          <p:nvPr/>
        </p:nvPicPr>
        <p:blipFill>
          <a:blip r:embed="rId2" cstate="none"/>
          <a:stretch>
            <a:fillRect/>
          </a:stretch>
        </p:blipFill>
        <p:spPr>
          <a:xfrm>
            <a:off x="8828663" y="4709071"/>
            <a:ext cx="837545" cy="1051471"/>
          </a:xfrm>
          <a:prstGeom prst="rect">
            <a:avLst/>
          </a:prstGeom>
        </p:spPr>
      </p:pic>
      <p:sp>
        <p:nvSpPr>
          <p:cNvPr id="895" name="Shape 89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96" name="Shape 896"/>
          <p:cNvSpPr/>
          <p:nvPr/>
        </p:nvSpPr>
        <p:spPr>
          <a:xfrm>
            <a:off x="566886" y="6382494"/>
            <a:ext cx="11058079" cy="9079"/>
          </a:xfrm>
          <a:prstGeom prst="rect">
            <a:avLst/>
          </a:prstGeom>
          <a:solidFill>
            <a:srgbClr val="D2D4D9"/>
          </a:solidFill>
        </p:spPr>
        <p:txBody>
          <a:bodyPr/>
          <a:lstStyle/>
          <a:p/>
        </p:txBody>
      </p:sp>
      <p:sp>
        <p:nvSpPr>
          <p:cNvPr id="897" name="Shape 89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98" name="Shape 89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NMDA blockade removes tonic excitation and deceleration</a:t>
            </a:r>
            <a:endParaRPr lang="en-US"/>
          </a:p>
        </p:txBody>
      </p:sp>
      <p:sp>
        <p:nvSpPr>
          <p:cNvPr id="900" name="Shape 900"/>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NMDA-type receptors</a:t>
            </a:r>
            <a:r>
              <a:rPr sz="1400" b="0" i="0">
                <a:solidFill>
                  <a:srgbClr val="202329"/>
                </a:solidFill>
                <a:latin typeface="Arial"/>
                <a:ea typeface="Arial"/>
              </a:rPr>
              <a:t xml:space="preserve"> are another glutamate-sensitive, channel-forming receptor class. Metzner injected APV, an NMDA-receptor antagonist, into the pacemaker nucleus while monitoring resting frequency and JAR responses. APV acts on a different receptor class from CNQX, so the two drugs test different inputs. The second component is glutamatergic and lies in the pacemaker.</a:t>
            </a:r>
            <a:endParaRPr lang="en-US"/>
          </a:p>
          <a:p>
            <a:pPr algn="l">
              <a:lnSpc>
                <a:spcPct val="108000"/>
              </a:lnSpc>
              <a:spcAft>
                <a:spcPts val="1200"/>
              </a:spcAft>
              <a:buNone/>
            </a:pPr>
            <a:r>
              <a:rPr sz="1400" b="0" i="0">
                <a:solidFill>
                  <a:srgbClr val="202329"/>
                </a:solidFill>
                <a:latin typeface="Arial"/>
                <a:ea typeface="Arial"/>
              </a:rPr>
              <a:t xml:space="preserve">In the published example, APV lowered resting frequency from 215 to 209 Hz. Both JAR directions were initially reduced. Acceleration recovered after roughly one minute, whereas the </a:t>
            </a:r>
            <a:r>
              <a:rPr sz="1400" b="1" i="0">
                <a:solidFill>
                  <a:srgbClr val="16181D"/>
                </a:solidFill>
                <a:latin typeface="Arial"/>
                <a:ea typeface="Arial"/>
              </a:rPr>
              <a:t>deceleration response</a:t>
            </a:r>
            <a:r>
              <a:rPr sz="1400" b="0" i="0">
                <a:solidFill>
                  <a:srgbClr val="202329"/>
                </a:solidFill>
                <a:latin typeface="Arial"/>
                <a:ea typeface="Arial"/>
              </a:rPr>
              <a:t xml:space="preserve"> recovered only after approximately 12 minutes. The initial reduction affected both directions, so the early effect was not specific to one direction.</a:t>
            </a:r>
            <a:endParaRPr lang="en-US"/>
          </a:p>
          <a:p>
            <a:pPr algn="l">
              <a:lnSpc>
                <a:spcPct val="108000"/>
              </a:lnSpc>
              <a:spcAft>
                <a:spcPts val="1200"/>
              </a:spcAft>
              <a:buNone/>
            </a:pPr>
            <a:r>
              <a:rPr sz="1400" b="0" i="0">
                <a:solidFill>
                  <a:srgbClr val="202329"/>
                </a:solidFill>
                <a:latin typeface="Arial"/>
                <a:ea typeface="Arial"/>
              </a:rPr>
              <a:t xml:space="preserve">The different recovery courses, together with the upstream stimulation tests, support an </a:t>
            </a:r>
            <a:r>
              <a:rPr sz="1400" b="1" i="0">
                <a:solidFill>
                  <a:srgbClr val="16181D"/>
                </a:solidFill>
                <a:latin typeface="Arial"/>
                <a:ea typeface="Arial"/>
              </a:rPr>
              <a:t>NMDA-sensitive tonic input</a:t>
            </a:r>
            <a:r>
              <a:rPr sz="1400" b="0" i="0">
                <a:solidFill>
                  <a:srgbClr val="202329"/>
                </a:solidFill>
                <a:latin typeface="Arial"/>
                <a:ea typeface="Arial"/>
              </a:rPr>
              <a:t xml:space="preserve"> required for frequency decreases. The experiment measures network behavior during a local drug perturbation, not isolated receptor current in one identified cell. The NMDA receptor blockade therefore reveals the tonic input's contribution to frequency decreases.</a:t>
            </a:r>
            <a:endParaRPr lang="en-US"/>
          </a:p>
        </p:txBody>
      </p:sp>
      <p:pic>
        <p:nvPicPr>
          <p:cNvPr id="229" name="Presenton Native Image 46" descr=""/>
          <p:cNvPicPr/>
          <p:nvPr/>
        </p:nvPicPr>
        <p:blipFill>
          <a:blip r:embed="rId3" cstate="none"/>
          <a:stretch>
            <a:fillRect/>
          </a:stretch>
        </p:blipFill>
        <p:spPr>
          <a:xfrm>
            <a:off x="7791661" y="1280071"/>
            <a:ext cx="2911699" cy="2880271"/>
          </a:xfrm>
          <a:prstGeom prst="rect">
            <a:avLst/>
          </a:prstGeom>
        </p:spPr>
      </p:pic>
      <p:sp>
        <p:nvSpPr>
          <p:cNvPr id="903" name="Shape 903"/>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12(A–C). APV lowers baseline and delays recovery of frequency decreases.</a:t>
            </a:r>
            <a:endParaRPr lang="en-US"/>
          </a:p>
        </p:txBody>
      </p:sp>
      <p:pic>
        <p:nvPicPr>
          <p:cNvPr id="230" name="Presenton Native Image 47" descr=""/>
          <p:cNvPicPr/>
          <p:nvPr/>
        </p:nvPicPr>
        <p:blipFill>
          <a:blip r:embed="rId2" cstate="none"/>
          <a:stretch>
            <a:fillRect/>
          </a:stretch>
        </p:blipFill>
        <p:spPr>
          <a:xfrm>
            <a:off x="8828663" y="4709071"/>
            <a:ext cx="837545" cy="1051471"/>
          </a:xfrm>
          <a:prstGeom prst="rect">
            <a:avLst/>
          </a:prstGeom>
        </p:spPr>
      </p:pic>
      <p:sp>
        <p:nvSpPr>
          <p:cNvPr id="904" name="Shape 904"/>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05" name="Shape 905"/>
          <p:cNvSpPr/>
          <p:nvPr/>
        </p:nvSpPr>
        <p:spPr>
          <a:xfrm>
            <a:off x="566886" y="6382494"/>
            <a:ext cx="11058079" cy="9079"/>
          </a:xfrm>
          <a:prstGeom prst="rect">
            <a:avLst/>
          </a:prstGeom>
          <a:solidFill>
            <a:srgbClr val="D2D4D9"/>
          </a:solidFill>
        </p:spPr>
        <p:txBody>
          <a:bodyPr/>
          <a:lstStyle/>
          <a:p/>
        </p:txBody>
      </p:sp>
      <p:sp>
        <p:nvSpPr>
          <p:cNvPr id="906" name="Shape 9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07" name="Shape 9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Earlier pharmacology did not fully resolve pathway identity</a:t>
            </a:r>
            <a:endParaRPr lang="en-US"/>
          </a:p>
        </p:txBody>
      </p:sp>
      <p:sp>
        <p:nvSpPr>
          <p:cNvPr id="909" name="Shape 9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Kawasaki and Heiligenberg's 1990 study compared pharmacological control of neuronal oscillators, with each genus tested under its own protocol in the medulla. Its </a:t>
            </a:r>
            <a:r>
              <a:rPr sz="1400" b="1" i="0">
                <a:solidFill>
                  <a:srgbClr val="16181D"/>
                </a:solidFill>
                <a:latin typeface="Arial"/>
                <a:ea typeface="Arial"/>
              </a:rPr>
              <a:t>Eigenmannia</a:t>
            </a:r>
            <a:r>
              <a:rPr sz="1400" b="0" i="0">
                <a:solidFill>
                  <a:srgbClr val="202329"/>
                </a:solidFill>
                <a:latin typeface="Arial"/>
                <a:ea typeface="Arial"/>
              </a:rPr>
              <a:t xml:space="preserve"> record tested APV and bicuculline within the pacemaker nucleus, before the later demonstration of separate JAR motor routes. The record came from the Eigenmannia pacemaker itself.</a:t>
            </a:r>
            <a:endParaRPr lang="en-US"/>
          </a:p>
          <a:p>
            <a:pPr algn="l">
              <a:lnSpc>
                <a:spcPct val="108000"/>
              </a:lnSpc>
              <a:spcAft>
                <a:spcPts val="1200"/>
              </a:spcAft>
              <a:buNone/>
            </a:pPr>
            <a:r>
              <a:rPr sz="1400" b="0" i="0">
                <a:solidFill>
                  <a:srgbClr val="202329"/>
                </a:solidFill>
                <a:latin typeface="Arial"/>
                <a:ea typeface="Arial"/>
              </a:rPr>
              <a:t xml:space="preserve">APV at 500 µM lowered resting frequency and reduced JAR frequency rises. Bicuculline at 2 mM produced no corresponding blockade effect in Eigenmannia. These results initially supported a glutamatergic influence and argued against simple </a:t>
            </a:r>
            <a:r>
              <a:rPr sz="1400" b="1" i="0">
                <a:solidFill>
                  <a:srgbClr val="16181D"/>
                </a:solidFill>
                <a:latin typeface="Arial"/>
                <a:ea typeface="Arial"/>
              </a:rPr>
              <a:t>GABA-mediated inhibition</a:t>
            </a:r>
            <a:r>
              <a:rPr sz="1400" b="0" i="0">
                <a:solidFill>
                  <a:srgbClr val="202329"/>
                </a:solidFill>
                <a:latin typeface="Arial"/>
                <a:ea typeface="Arial"/>
              </a:rPr>
              <a:t xml:space="preserve"> at the oscillator. APV therefore reduced the JAR rises as well as the baseline.</a:t>
            </a:r>
            <a:endParaRPr lang="en-US"/>
          </a:p>
          <a:p>
            <a:pPr algn="l">
              <a:lnSpc>
                <a:spcPct val="108000"/>
              </a:lnSpc>
              <a:spcAft>
                <a:spcPts val="1200"/>
              </a:spcAft>
              <a:buNone/>
            </a:pPr>
            <a:r>
              <a:rPr sz="1400" b="0" i="0">
                <a:solidFill>
                  <a:srgbClr val="202329"/>
                </a:solidFill>
                <a:latin typeface="Arial"/>
                <a:ea typeface="Arial"/>
              </a:rPr>
              <a:t xml:space="preserve">Metzner's later lesions, receptor blockade, and recovery comparisons refined this interpretation. Frequency decrease involves GABA-sensitive inhibition upstream in the SPPn and a loss of tonic excitation downstream. The later experiments tested the same pharmacological families directly, with lesions and recovery time courses that separated acceleration from deceleration in every case.</a:t>
            </a:r>
            <a:endParaRPr lang="en-US"/>
          </a:p>
        </p:txBody>
      </p:sp>
      <p:pic>
        <p:nvPicPr>
          <p:cNvPr id="231" name="Presenton Native Image 48" descr=""/>
          <p:cNvPicPr/>
          <p:nvPr/>
        </p:nvPicPr>
        <p:blipFill>
          <a:blip r:embed="rId3" cstate="none"/>
          <a:stretch>
            <a:fillRect/>
          </a:stretch>
        </p:blipFill>
        <p:spPr>
          <a:xfrm>
            <a:off x="6870158" y="1280071"/>
            <a:ext cx="4754703" cy="2081510"/>
          </a:xfrm>
          <a:prstGeom prst="rect">
            <a:avLst/>
          </a:prstGeom>
        </p:spPr>
      </p:pic>
      <p:sp>
        <p:nvSpPr>
          <p:cNvPr id="912" name="Shape 912"/>
          <p:cNvSpPr/>
          <p:nvPr/>
        </p:nvSpPr>
        <p:spPr>
          <a:xfrm>
            <a:off x="6870055" y="3453110"/>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Kawasaki </a:t>
            </a:r>
            <a:r>
              <a:rPr sz="1000" b="0" i="0">
                <a:solidFill>
                  <a:srgbClr val="5E636D"/>
                </a:solidFill>
                <a:latin typeface="Arial"/>
                <a:ea typeface="Arial"/>
              </a:rPr>
              <a:t>&amp;</a:t>
            </a:r>
            <a:r>
              <a:rPr sz="1000" b="0" i="0">
                <a:solidFill>
                  <a:srgbClr val="5E636D"/>
                </a:solidFill>
                <a:latin typeface="Arial"/>
                <a:ea typeface="Arial"/>
              </a:rPr>
              <a:t xml:space="preserve"> Heiligenberg (1990), Fig. 4. Early APV and bicuculline tests in Eigenmannia.</a:t>
            </a:r>
            <a:endParaRPr lang="en-US"/>
          </a:p>
        </p:txBody>
      </p:sp>
      <p:pic>
        <p:nvPicPr>
          <p:cNvPr id="232" name="Presenton Native Image 49" descr=""/>
          <p:cNvPicPr/>
          <p:nvPr/>
        </p:nvPicPr>
        <p:blipFill>
          <a:blip r:embed="rId2" cstate="none"/>
          <a:stretch>
            <a:fillRect/>
          </a:stretch>
        </p:blipFill>
        <p:spPr>
          <a:xfrm>
            <a:off x="8828663" y="4709071"/>
            <a:ext cx="837545" cy="1051471"/>
          </a:xfrm>
          <a:prstGeom prst="rect">
            <a:avLst/>
          </a:prstGeom>
        </p:spPr>
      </p:pic>
      <p:sp>
        <p:nvSpPr>
          <p:cNvPr id="913" name="Shape 913"/>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14" name="Shape 914"/>
          <p:cNvSpPr/>
          <p:nvPr/>
        </p:nvSpPr>
        <p:spPr>
          <a:xfrm>
            <a:off x="566886" y="6382494"/>
            <a:ext cx="11058079" cy="9079"/>
          </a:xfrm>
          <a:prstGeom prst="rect">
            <a:avLst/>
          </a:prstGeom>
          <a:solidFill>
            <a:srgbClr val="D2D4D9"/>
          </a:solidFill>
        </p:spPr>
        <p:txBody>
          <a:bodyPr/>
          <a:lstStyle/>
          <a:p/>
        </p:txBody>
      </p:sp>
      <p:sp>
        <p:nvSpPr>
          <p:cNvPr id="915" name="Shape 91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Kawasaki </a:t>
            </a:r>
            <a:r>
              <a:rPr sz="900" b="0" i="0">
                <a:solidFill>
                  <a:srgbClr val="5E636D"/>
                </a:solidFill>
                <a:latin typeface="Arial"/>
                <a:ea typeface="Arial"/>
              </a:rPr>
              <a:t>&amp;</a:t>
            </a:r>
            <a:r>
              <a:rPr sz="900" b="0" i="0">
                <a:solidFill>
                  <a:srgbClr val="5E636D"/>
                </a:solidFill>
                <a:latin typeface="Arial"/>
                <a:ea typeface="Arial"/>
              </a:rPr>
              <a:t xml:space="preserve"> Heiligenberg (1990);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16" name="Shape 91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Gradual acceleration increases pacemaker-cell conductance</a:t>
            </a:r>
            <a:endParaRPr lang="en-US"/>
          </a:p>
        </p:txBody>
      </p:sp>
      <p:sp>
        <p:nvSpPr>
          <p:cNvPr id="918" name="Shape 918"/>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Juranek and Metzner recorded intracellularly from </a:t>
            </a:r>
            <a:r>
              <a:rPr sz="1400" b="1" i="0">
                <a:solidFill>
                  <a:srgbClr val="16181D"/>
                </a:solidFill>
                <a:latin typeface="Arial"/>
                <a:ea typeface="Arial"/>
              </a:rPr>
              <a:t>pacemaker and relay cells</a:t>
            </a:r>
            <a:r>
              <a:rPr sz="1400" b="0" i="0">
                <a:solidFill>
                  <a:srgbClr val="202329"/>
                </a:solidFill>
                <a:latin typeface="Arial"/>
                <a:ea typeface="Arial"/>
              </a:rPr>
              <a:t xml:space="preserve"> while activating PPn-G. Pacemaker cells generate the rhythm, and relay cells transmit the command toward spinal output. Histological labeling verified cell identity after physiological classification. Relay cells carry the command toward spinal output, so both cell types were recorded intracellularly.</a:t>
            </a:r>
            <a:endParaRPr lang="en-US"/>
          </a:p>
          <a:p>
            <a:pPr algn="l">
              <a:lnSpc>
                <a:spcPct val="108000"/>
              </a:lnSpc>
              <a:spcAft>
                <a:spcPts val="1200"/>
              </a:spcAft>
              <a:buNone/>
            </a:pPr>
            <a:r>
              <a:rPr sz="1400" b="0" i="0">
                <a:solidFill>
                  <a:srgbClr val="202329"/>
                </a:solidFill>
                <a:latin typeface="Arial"/>
                <a:ea typeface="Arial"/>
              </a:rPr>
              <a:t xml:space="preserve">Brief current pulses measured </a:t>
            </a:r>
            <a:r>
              <a:rPr sz="1400" b="1" i="0">
                <a:solidFill>
                  <a:srgbClr val="16181D"/>
                </a:solidFill>
                <a:latin typeface="Arial"/>
                <a:ea typeface="Arial"/>
              </a:rPr>
              <a:t>input resistance</a:t>
            </a:r>
            <a:r>
              <a:rPr sz="1400" b="0" i="0">
                <a:solidFill>
                  <a:srgbClr val="202329"/>
                </a:solidFill>
                <a:latin typeface="Arial"/>
                <a:ea typeface="Arial"/>
              </a:rPr>
              <a:t xml:space="preserve">, the voltage response per injected current. PPn-G stimulation produced gradual accelerations of 5–30 Hz and decreased resistance more strongly in the pacemaker cells. Brief pulses were applied to each cell. The published example begins near 496 Hz with a pacemaker-cell resistance of 3.4 MΩ.</a:t>
            </a:r>
            <a:endParaRPr lang="en-US"/>
          </a:p>
          <a:p>
            <a:pPr algn="l">
              <a:lnSpc>
                <a:spcPct val="108000"/>
              </a:lnSpc>
              <a:spcAft>
                <a:spcPts val="1200"/>
              </a:spcAft>
              <a:buNone/>
            </a:pPr>
            <a:r>
              <a:rPr sz="1400" b="0" i="0">
                <a:solidFill>
                  <a:srgbClr val="202329"/>
                </a:solidFill>
                <a:latin typeface="Arial"/>
                <a:ea typeface="Arial"/>
              </a:rPr>
              <a:t xml:space="preserve">A resistance decrease indicates greater </a:t>
            </a:r>
            <a:r>
              <a:rPr sz="1400" b="1" i="0">
                <a:solidFill>
                  <a:srgbClr val="16181D"/>
                </a:solidFill>
                <a:latin typeface="Arial"/>
                <a:ea typeface="Arial"/>
              </a:rPr>
              <a:t>membrane conductance</a:t>
            </a:r>
            <a:r>
              <a:rPr sz="1400" b="0" i="0">
                <a:solidFill>
                  <a:srgbClr val="202329"/>
                </a:solidFill>
                <a:latin typeface="Arial"/>
                <a:ea typeface="Arial"/>
              </a:rPr>
              <a:t xml:space="preserve">, meaning easier current flow through the membrane. The preferential change supports excitatory input onto rhythm-generating cells. Smaller changes in relay cells can arise through coupling, so a shared effect is not evidence of equal innervation. Each cell type therefore needs its own test.</a:t>
            </a:r>
            <a:endParaRPr lang="en-US"/>
          </a:p>
        </p:txBody>
      </p:sp>
      <p:pic>
        <p:nvPicPr>
          <p:cNvPr id="233" name="Presenton Native Image 50" descr=""/>
          <p:cNvPicPr/>
          <p:nvPr/>
        </p:nvPicPr>
        <p:blipFill>
          <a:blip r:embed="rId3"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2"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25" name="Shape 92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6" name="Shape 92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Deceleration reduces excitatory conductance in relay cells</a:t>
            </a:r>
            <a:endParaRPr lang="en-US"/>
          </a:p>
        </p:txBody>
      </p:sp>
      <p:sp>
        <p:nvSpPr>
          <p:cNvPr id="927" name="Shape 92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Juranek and Metzner activated the </a:t>
            </a:r>
            <a:r>
              <a:rPr sz="1400" b="1" i="0">
                <a:solidFill>
                  <a:srgbClr val="16181D"/>
                </a:solidFill>
                <a:latin typeface="Arial"/>
                <a:ea typeface="Arial"/>
              </a:rPr>
              <a:t>ventral nucleus electrosensorius</a:t>
            </a:r>
            <a:r>
              <a:rPr sz="1400" b="0" i="0">
                <a:solidFill>
                  <a:srgbClr val="202329"/>
                </a:solidFill>
                <a:latin typeface="Arial"/>
                <a:ea typeface="Arial"/>
              </a:rPr>
              <a:t> to inhibit the SPPn indirectly while recording identified oscillator cells. Directly manipulating the sparse SPPn was consistently difficult, so the upstream route offered a reproducible way to reduce its influence. The indirect route was chosen because the sparse SPPn is hard to manipulate directly.</a:t>
            </a:r>
            <a:endParaRPr lang="en-US"/>
          </a:p>
          <a:p>
            <a:pPr algn="l">
              <a:lnSpc>
                <a:spcPct val="108000"/>
              </a:lnSpc>
              <a:spcAft>
                <a:spcPts val="1200"/>
              </a:spcAft>
              <a:buNone/>
            </a:pPr>
            <a:r>
              <a:rPr sz="1400" b="0" i="0">
                <a:solidFill>
                  <a:srgbClr val="202329"/>
                </a:solidFill>
                <a:latin typeface="Arial"/>
                <a:ea typeface="Arial"/>
              </a:rPr>
              <a:t>The stimulation produced gradual frequency decreases of 3–5 Hz. During a representative 4-Hz decrease, </a:t>
            </a:r>
            <a:r>
              <a:rPr sz="1400" b="1" i="0">
                <a:solidFill>
                  <a:srgbClr val="16181D"/>
                </a:solidFill>
                <a:latin typeface="Arial"/>
                <a:ea typeface="Arial"/>
              </a:rPr>
              <a:t>relay-cell input resistance</a:t>
            </a:r>
            <a:r>
              <a:rPr sz="1400" b="0" i="0">
                <a:solidFill>
                  <a:srgbClr val="202329"/>
                </a:solidFill>
                <a:latin typeface="Arial"/>
                <a:ea typeface="Arial"/>
              </a:rPr>
              <a:t> increased by 8%, whereas the pacemaker-cell increase was 5%. The relay-cell response tracked deceleration more consistently across conditions in each case. The relay cells showed the larger proportional change under the same conditions.</a:t>
            </a:r>
            <a:endParaRPr lang="en-US"/>
          </a:p>
          <a:p>
            <a:pPr algn="l">
              <a:lnSpc>
                <a:spcPct val="108000"/>
              </a:lnSpc>
              <a:spcAft>
                <a:spcPts val="1200"/>
              </a:spcAft>
              <a:buNone/>
            </a:pPr>
            <a:r>
              <a:rPr sz="1400" b="0" i="0">
                <a:solidFill>
                  <a:srgbClr val="202329"/>
                </a:solidFill>
                <a:latin typeface="Arial"/>
                <a:ea typeface="Arial"/>
              </a:rPr>
              <a:t>An increase in resistance indicates removal of membrane conductance, which supports withdrawal of tonic excitatory input onto relay cells. Electrical coupling explains why the pacemaker cells may also change despite a more selective relay-cell target. A conductance removed from relay cells is a different signature from a new inhibitory input.</a:t>
            </a:r>
            <a:endParaRPr lang="en-US"/>
          </a:p>
        </p:txBody>
      </p:sp>
      <p:pic>
        <p:nvPicPr>
          <p:cNvPr id="235" name="Presenton Native Image 52" descr=""/>
          <p:cNvPicPr/>
          <p:nvPr/>
        </p:nvPicPr>
        <p:blipFill>
          <a:blip r:embed="rId3" cstate="none"/>
          <a:stretch>
            <a:fillRect/>
          </a:stretch>
        </p:blipFill>
        <p:spPr>
          <a:xfrm>
            <a:off x="6870143" y="1280071"/>
            <a:ext cx="4754734" cy="2052638"/>
          </a:xfrm>
          <a:prstGeom prst="rect">
            <a:avLst/>
          </a:prstGeom>
        </p:spPr>
      </p:pic>
      <p:sp>
        <p:nvSpPr>
          <p:cNvPr id="930" name="Shape 930"/>
          <p:cNvSpPr/>
          <p:nvPr/>
        </p:nvSpPr>
        <p:spPr>
          <a:xfrm>
            <a:off x="6870055" y="342423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7(A–C). Relay-cell resistance rises during frequency deceleration.</a:t>
            </a:r>
            <a:endParaRPr lang="en-US"/>
          </a:p>
        </p:txBody>
      </p:sp>
      <p:pic>
        <p:nvPicPr>
          <p:cNvPr id="236" name="Presenton Native Image 53" descr=""/>
          <p:cNvPicPr/>
          <p:nvPr/>
        </p:nvPicPr>
        <p:blipFill>
          <a:blip r:embed="rId2" cstate="none"/>
          <a:stretch>
            <a:fillRect/>
          </a:stretch>
        </p:blipFill>
        <p:spPr>
          <a:xfrm>
            <a:off x="8828663" y="4709071"/>
            <a:ext cx="837545" cy="1051471"/>
          </a:xfrm>
          <a:prstGeom prst="rect">
            <a:avLst/>
          </a:prstGeom>
        </p:spPr>
      </p:pic>
      <p:sp>
        <p:nvSpPr>
          <p:cNvPr id="931" name="Shape 931"/>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32" name="Shape 932"/>
          <p:cNvSpPr/>
          <p:nvPr/>
        </p:nvSpPr>
        <p:spPr>
          <a:xfrm>
            <a:off x="566886" y="6382494"/>
            <a:ext cx="11058079" cy="9079"/>
          </a:xfrm>
          <a:prstGeom prst="rect">
            <a:avLst/>
          </a:prstGeom>
          <a:solidFill>
            <a:srgbClr val="D2D4D9"/>
          </a:solidFill>
        </p:spPr>
        <p:txBody>
          <a:bodyPr/>
          <a:lstStyle/>
          <a:p/>
        </p:txBody>
      </p:sp>
      <p:sp>
        <p:nvSpPr>
          <p:cNvPr id="933" name="Shape 93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34" name="Shape 93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5" name="Shape 93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Brief chirps preferentially target relay cells</a:t>
            </a:r>
            <a:endParaRPr lang="en-US"/>
          </a:p>
        </p:txBody>
      </p:sp>
      <p:sp>
        <p:nvSpPr>
          <p:cNvPr id="936" name="Shape 93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Chirps</a:t>
            </a:r>
            <a:r>
              <a:rPr sz="1400" b="0" i="0">
                <a:solidFill>
                  <a:srgbClr val="202329"/>
                </a:solidFill>
                <a:latin typeface="Arial"/>
                <a:ea typeface="Arial"/>
              </a:rPr>
              <a:t xml:space="preserve"> are brief modulations used in electric communication, distinct from gradual JAR frequency shifts. Juranek and Metzner activated </a:t>
            </a:r>
            <a:r>
              <a:rPr sz="1400" b="1" i="0">
                <a:solidFill>
                  <a:srgbClr val="16181D"/>
                </a:solidFill>
                <a:latin typeface="Arial"/>
                <a:ea typeface="Arial"/>
              </a:rPr>
              <a:t>PPn-C</a:t>
            </a:r>
            <a:r>
              <a:rPr sz="1400" b="0" i="0">
                <a:solidFill>
                  <a:srgbClr val="202329"/>
                </a:solidFill>
                <a:latin typeface="Arial"/>
                <a:ea typeface="Arial"/>
              </a:rPr>
              <a:t xml:space="preserve"> while recording pacemaker or relay-cell somata. The resulting frequency changes lasted about 5–20 ms and ranged from 30 to 160 Hz. Chirp frequency changes are much larger than the gradual JAR shifts.</a:t>
            </a:r>
            <a:endParaRPr lang="en-US"/>
          </a:p>
          <a:p>
            <a:pPr algn="l">
              <a:lnSpc>
                <a:spcPct val="108000"/>
              </a:lnSpc>
              <a:spcAft>
                <a:spcPts val="1200"/>
              </a:spcAft>
              <a:buNone/>
            </a:pPr>
            <a:r>
              <a:rPr sz="1400" b="0" i="0">
                <a:solidFill>
                  <a:srgbClr val="202329"/>
                </a:solidFill>
                <a:latin typeface="Arial"/>
                <a:ea typeface="Arial"/>
              </a:rPr>
              <a:t xml:space="preserve">In representative comparable chirps, relay-cell input resistance fell by 34%, while pacemaker-cell resistance fell by 9%. Relay-cell conductance changes lasted approximately 8–20 ms. These measurements support </a:t>
            </a:r>
            <a:r>
              <a:rPr sz="1400" b="1" i="0">
                <a:solidFill>
                  <a:srgbClr val="16181D"/>
                </a:solidFill>
                <a:latin typeface="Arial"/>
                <a:ea typeface="Arial"/>
              </a:rPr>
              <a:t>preferential excitatory input</a:t>
            </a:r>
            <a:r>
              <a:rPr sz="1400" b="0" i="0">
                <a:solidFill>
                  <a:srgbClr val="202329"/>
                </a:solidFill>
                <a:latin typeface="Arial"/>
                <a:ea typeface="Arial"/>
              </a:rPr>
              <a:t xml:space="preserve"> onto the output cells for rapid signals. These values were measured in the same recorded cells. Both cell types were studied.</a:t>
            </a:r>
            <a:endParaRPr lang="en-US"/>
          </a:p>
          <a:p>
            <a:pPr algn="l">
              <a:lnSpc>
                <a:spcPct val="108000"/>
              </a:lnSpc>
              <a:spcAft>
                <a:spcPts val="1200"/>
              </a:spcAft>
              <a:buNone/>
            </a:pPr>
            <a:r>
              <a:rPr sz="1400" b="0" i="0">
                <a:solidFill>
                  <a:srgbClr val="202329"/>
                </a:solidFill>
                <a:latin typeface="Arial"/>
                <a:ea typeface="Arial"/>
              </a:rPr>
              <a:t xml:space="preserve">The same oscillator supports different behaviors through segregated synaptic targets and receptor-sensitive inputs. A rapid chirp must be kept apart from a stronger JAR. Coupled cells can still show secondary responses. The chirp and JAR routes both use the same oscillator network. Chirps therefore show the same oscillator serving two outputs.</a:t>
            </a:r>
            <a:endParaRPr lang="en-US"/>
          </a:p>
        </p:txBody>
      </p:sp>
      <p:pic>
        <p:nvPicPr>
          <p:cNvPr id="237" name="Presenton Native Image 54" descr=""/>
          <p:cNvPicPr/>
          <p:nvPr/>
        </p:nvPicPr>
        <p:blipFill>
          <a:blip r:embed="rId3" cstate="none"/>
          <a:stretch>
            <a:fillRect/>
          </a:stretch>
        </p:blipFill>
        <p:spPr>
          <a:xfrm>
            <a:off x="6870140" y="1280071"/>
            <a:ext cx="4754741" cy="1731169"/>
          </a:xfrm>
          <a:prstGeom prst="rect">
            <a:avLst/>
          </a:prstGeom>
        </p:spPr>
      </p:pic>
      <p:sp>
        <p:nvSpPr>
          <p:cNvPr id="939" name="Shape 939"/>
          <p:cNvSpPr/>
          <p:nvPr/>
        </p:nvSpPr>
        <p:spPr>
          <a:xfrm>
            <a:off x="6870055" y="3102769"/>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4(A–C). Brief chirps preferentially change relay-cell conductance.</a:t>
            </a:r>
            <a:endParaRPr lang="en-US"/>
          </a:p>
        </p:txBody>
      </p:sp>
      <p:pic>
        <p:nvPicPr>
          <p:cNvPr id="238" name="Presenton Native Image 55" descr=""/>
          <p:cNvPicPr/>
          <p:nvPr/>
        </p:nvPicPr>
        <p:blipFill>
          <a:blip r:embed="rId2" cstate="none"/>
          <a:stretch>
            <a:fillRect/>
          </a:stretch>
        </p:blipFill>
        <p:spPr>
          <a:xfrm>
            <a:off x="8828663" y="4709071"/>
            <a:ext cx="837545" cy="1051471"/>
          </a:xfrm>
          <a:prstGeom prst="rect">
            <a:avLst/>
          </a:prstGeom>
        </p:spPr>
      </p:pic>
      <p:sp>
        <p:nvSpPr>
          <p:cNvPr id="940" name="Shape 94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41" name="Shape 941"/>
          <p:cNvSpPr/>
          <p:nvPr/>
        </p:nvSpPr>
        <p:spPr>
          <a:xfrm>
            <a:off x="566886" y="6382494"/>
            <a:ext cx="11058079" cy="9079"/>
          </a:xfrm>
          <a:prstGeom prst="rect">
            <a:avLst/>
          </a:prstGeom>
          <a:solidFill>
            <a:srgbClr val="D2D4D9"/>
          </a:solidFill>
        </p:spPr>
        <p:txBody>
          <a:bodyPr/>
          <a:lstStyle/>
          <a:p/>
        </p:txBody>
      </p:sp>
      <p:sp>
        <p:nvSpPr>
          <p:cNvPr id="942" name="Shape 9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43" name="Shape 9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4" name="Shape 9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Voltage-dependent responses reshape temporal filtering</a:t>
            </a:r>
            <a:endParaRPr lang="en-US"/>
          </a:p>
        </p:txBody>
      </p:sp>
      <p:sp>
        <p:nvSpPr>
          <p:cNvPr id="945" name="Shape 94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Temporal filtering</a:t>
            </a:r>
            <a:r>
              <a:rPr sz="1400" b="0" i="0">
                <a:solidFill>
                  <a:srgbClr val="202329"/>
                </a:solidFill>
                <a:latin typeface="Arial"/>
                <a:ea typeface="Arial"/>
              </a:rPr>
              <a:t xml:space="preserve"> is selective transmission of slow or fast changes in sensory input. Fortune and Rose made whole-cell recordings from toral neurons while comparing electrical sensory stimulation with injected current over 2–30 Hz. Labeled cells supplied anatomical context. The experiments compared sensory stimulation with direct current injection in the same neurons.</a:t>
            </a:r>
            <a:endParaRPr lang="en-US"/>
          </a:p>
          <a:p>
            <a:pPr algn="l">
              <a:lnSpc>
                <a:spcPct val="108000"/>
              </a:lnSpc>
              <a:spcAft>
                <a:spcPts val="1200"/>
              </a:spcAft>
              <a:buNone/>
            </a:pPr>
            <a:r>
              <a:rPr sz="1400" b="0" i="0">
                <a:solidFill>
                  <a:srgbClr val="202329"/>
                </a:solidFill>
                <a:latin typeface="Arial"/>
                <a:ea typeface="Arial"/>
              </a:rPr>
              <a:t xml:space="preserve">Changing the holding current exposed </a:t>
            </a:r>
            <a:r>
              <a:rPr sz="1400" b="1" i="0">
                <a:solidFill>
                  <a:srgbClr val="16181D"/>
                </a:solidFill>
                <a:latin typeface="Arial"/>
                <a:ea typeface="Arial"/>
              </a:rPr>
              <a:t>voltage-dependent responses</a:t>
            </a:r>
            <a:r>
              <a:rPr sz="1400" b="0" i="0">
                <a:solidFill>
                  <a:srgbClr val="202329"/>
                </a:solidFill>
                <a:latin typeface="Arial"/>
                <a:ea typeface="Arial"/>
              </a:rPr>
              <a:t xml:space="preserve"> beyond the incoming postsynaptic potential. Some responses lasted in proportion to the stimulus cycle, while others remained brief, generally below 30 ms. Hyperpolarizing the membrane reduced these components. Hyperpolarization removed the slow responses that depolarized cells showed. These components depend strongly on voltage.</a:t>
            </a:r>
            <a:endParaRPr lang="en-US"/>
          </a:p>
          <a:p>
            <a:pPr algn="l">
              <a:lnSpc>
                <a:spcPct val="108000"/>
              </a:lnSpc>
              <a:spcAft>
                <a:spcPts val="1200"/>
              </a:spcAft>
              <a:buNone/>
            </a:pPr>
            <a:r>
              <a:rPr sz="1400" b="0" i="0">
                <a:solidFill>
                  <a:srgbClr val="202329"/>
                </a:solidFill>
                <a:latin typeface="Arial"/>
                <a:ea typeface="Arial"/>
              </a:rPr>
              <a:t xml:space="preserve">The experiments separate incoming synaptic drive from an active membrane conductance, one whose expression depends on membrane voltage. Passive properties and active responses both contribute, and neither alone explains the full sensory filter. Each one contributes its own time course. The molecular identity of these conductances remains a separate question.</a:t>
            </a:r>
            <a:endParaRPr lang="en-US"/>
          </a:p>
        </p:txBody>
      </p:sp>
      <p:pic>
        <p:nvPicPr>
          <p:cNvPr id="239" name="Presenton Native Image 56" descr=""/>
          <p:cNvPicPr/>
          <p:nvPr/>
        </p:nvPicPr>
        <p:blipFill>
          <a:blip r:embed="rId3" cstate="none"/>
          <a:stretch>
            <a:fillRect/>
          </a:stretch>
        </p:blipFill>
        <p:spPr>
          <a:xfrm>
            <a:off x="8516427" y="1280071"/>
            <a:ext cx="1462018" cy="2880271"/>
          </a:xfrm>
          <a:prstGeom prst="rect">
            <a:avLst/>
          </a:prstGeom>
        </p:spPr>
      </p:pic>
      <p:pic>
        <p:nvPicPr>
          <p:cNvPr id="240" name="Presenton Native Image 57" descr=""/>
          <p:cNvPicPr/>
          <p:nvPr/>
        </p:nvPicPr>
        <p:blipFill>
          <a:blip r:embed="rId2" cstate="none"/>
          <a:stretch>
            <a:fillRect/>
          </a:stretch>
        </p:blipFill>
        <p:spPr>
          <a:xfrm>
            <a:off x="8129205" y="4709071"/>
            <a:ext cx="2236461" cy="1051471"/>
          </a:xfrm>
          <a:prstGeom prst="rect">
            <a:avLst/>
          </a:prstGeom>
        </p:spPr>
      </p:pic>
      <p:sp>
        <p:nvSpPr>
          <p:cNvPr id="949" name="Shape 949"/>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0" name="Shape 950"/>
          <p:cNvSpPr/>
          <p:nvPr/>
        </p:nvSpPr>
        <p:spPr>
          <a:xfrm>
            <a:off x="566886" y="6382494"/>
            <a:ext cx="11058079" cy="9079"/>
          </a:xfrm>
          <a:prstGeom prst="rect">
            <a:avLst/>
          </a:prstGeom>
          <a:solidFill>
            <a:srgbClr val="D2D4D9"/>
          </a:solidFill>
        </p:spPr>
        <p:txBody>
          <a:bodyPr/>
          <a:lstStyle/>
          <a:p/>
        </p:txBody>
      </p:sp>
      <p:sp>
        <p:nvSpPr>
          <p:cNvPr id="951" name="Shape 95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Fortune </a:t>
            </a:r>
            <a:r>
              <a:rPr sz="900" b="0" i="0">
                <a:solidFill>
                  <a:srgbClr val="5E636D"/>
                </a:solidFill>
                <a:latin typeface="Arial"/>
                <a:ea typeface="Arial"/>
              </a:rPr>
              <a:t>&amp;</a:t>
            </a:r>
            <a:r>
              <a:rPr sz="900" b="0" i="0">
                <a:solidFill>
                  <a:srgbClr val="5E636D"/>
                </a:solidFill>
                <a:latin typeface="Arial"/>
                <a:ea typeface="Arial"/>
              </a:rPr>
              <a:t xml:space="preserve"> Rose (1997); Carr et al. (1986)</a:t>
            </a:r>
            <a:endParaRPr lang="en-US"/>
          </a:p>
        </p:txBody>
      </p:sp>
      <p:sp>
        <p:nvSpPr>
          <p:cNvPr id="952" name="Shape 95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weakens fast sensory input</a:t>
            </a:r>
            <a:endParaRPr lang="en-US"/>
          </a:p>
        </p:txBody>
      </p:sp>
      <p:sp>
        <p:nvSpPr>
          <p:cNvPr id="954" name="Shape 954"/>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16181D"/>
                </a:solidFill>
                <a:latin typeface="Arial"/>
                <a:ea typeface="Arial"/>
              </a:rPr>
              <a:t>Postsynaptic potentials</a:t>
            </a:r>
            <a:r>
              <a:rPr sz="1400" b="0" i="0">
                <a:solidFill>
                  <a:srgbClr val="202329"/>
                </a:solidFill>
                <a:latin typeface="Arial"/>
                <a:ea typeface="Arial"/>
              </a:rPr>
              <a:t xml:space="preserve">, or PSPs, are changes in a receiving neuron's membrane voltage after synaptic input. </a:t>
            </a:r>
            <a:r>
              <a:rPr sz="1400" b="1" i="0">
                <a:solidFill>
                  <a:srgbClr val="16181D"/>
                </a:solidFill>
                <a:latin typeface="Arial"/>
                <a:ea typeface="Arial"/>
              </a:rPr>
              <a:t>Short-term depression</a:t>
            </a:r>
            <a:r>
              <a:rPr sz="1400" b="0" i="0">
                <a:solidFill>
                  <a:srgbClr val="202329"/>
                </a:solidFill>
                <a:latin typeface="Arial"/>
                <a:ea typeface="Arial"/>
              </a:rPr>
              <a:t xml:space="preserve"> is a reversible decline in these responses during repeated stimulation. Rose and Fortune recorded toral neurons during continuous and interrupted signals. The recordings used both continuous and interrupted stimuli in the same neurons.</a:t>
            </a:r>
            <a:endParaRPr lang="en-US"/>
          </a:p>
          <a:p>
            <a:pPr algn="l">
              <a:lnSpc>
                <a:spcPct val="108000"/>
              </a:lnSpc>
              <a:spcAft>
                <a:spcPts val="1200"/>
              </a:spcAft>
              <a:buNone/>
            </a:pPr>
            <a:r>
              <a:rPr sz="1400" b="0" i="0">
                <a:solidFill>
                  <a:srgbClr val="202329"/>
                </a:solidFill>
                <a:latin typeface="Arial"/>
                <a:ea typeface="Arial"/>
              </a:rPr>
              <a:t xml:space="preserve">At 20-Hz stimulation, introducing gaps of 8–48 ms increased the first responses after the interruption. Recovery depended on gap duration, and most neurons regained their initial PSP amplitude after a 150-ms gap. Direct current injection failed to reproduce the decline. Direct current injection gave a different result from the sensory stimulus.</a:t>
            </a:r>
            <a:endParaRPr lang="en-US"/>
          </a:p>
          <a:p>
            <a:pPr algn="l">
              <a:lnSpc>
                <a:spcPct val="108000"/>
              </a:lnSpc>
              <a:spcAft>
                <a:spcPts val="1200"/>
              </a:spcAft>
              <a:buNone/>
            </a:pPr>
            <a:r>
              <a:rPr sz="1400" b="0" i="0">
                <a:solidFill>
                  <a:srgbClr val="202329"/>
                </a:solidFill>
                <a:latin typeface="Arial"/>
                <a:ea typeface="Arial"/>
              </a:rPr>
              <a:t xml:space="preserve">The controls support a synaptic contribution to </a:t>
            </a:r>
            <a:r>
              <a:rPr sz="1400" b="1" i="0">
                <a:solidFill>
                  <a:srgbClr val="16181D"/>
                </a:solidFill>
                <a:latin typeface="Arial"/>
                <a:ea typeface="Arial"/>
              </a:rPr>
              <a:t>low-pass filtering</a:t>
            </a:r>
            <a:r>
              <a:rPr sz="1400" b="0" i="0">
                <a:solidFill>
                  <a:srgbClr val="202329"/>
                </a:solidFill>
                <a:latin typeface="Arial"/>
                <a:ea typeface="Arial"/>
              </a:rPr>
              <a:t xml:space="preserve">, which is preferential transmission of slow changes. Depression can attenuate rapid beats while retaining sensitivity to slower jamming cues. The underlying cause is a separate question. Depression therefore limits the response to rapid beats. Recovery from depression restores the response after an interruption.</a:t>
            </a:r>
            <a:endParaRPr lang="en-US"/>
          </a:p>
        </p:txBody>
      </p:sp>
      <p:pic>
        <p:nvPicPr>
          <p:cNvPr id="241" name="Presenton Native Image 58" descr=""/>
          <p:cNvPicPr/>
          <p:nvPr/>
        </p:nvPicPr>
        <p:blipFill>
          <a:blip r:embed="rId3" cstate="none"/>
          <a:stretch>
            <a:fillRect/>
          </a:stretch>
        </p:blipFill>
        <p:spPr>
          <a:xfrm>
            <a:off x="8588127" y="1280089"/>
            <a:ext cx="1318617" cy="2880235"/>
          </a:xfrm>
          <a:prstGeom prst="rect">
            <a:avLst/>
          </a:prstGeom>
        </p:spPr>
      </p:pic>
      <p:pic>
        <p:nvPicPr>
          <p:cNvPr id="242" name="Presenton Native Image 59" descr=""/>
          <p:cNvPicPr/>
          <p:nvPr/>
        </p:nvPicPr>
        <p:blipFill>
          <a:blip r:embed="rId2"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Fortune (1999); Carr et al. (1986)</a:t>
            </a:r>
            <a:endParaRPr lang="en-US"/>
          </a:p>
        </p:txBody>
      </p:sp>
      <p:sp>
        <p:nvSpPr>
          <p:cNvPr id="961" name="Shape 96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modulation alone can lower discharge frequency</a:t>
            </a:r>
            <a:endParaRPr lang="en-US"/>
          </a:p>
        </p:txBody>
      </p:sp>
      <p:sp>
        <p:nvSpPr>
          <p:cNvPr id="963" name="Shape 96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Takizawa, Rose, and Kawasaki tested carefully whether the classical sign-computation account explains every frequency decrease. In </a:t>
            </a:r>
            <a:r>
              <a:rPr sz="1400" b="1" i="0">
                <a:solidFill>
                  <a:srgbClr val="16181D"/>
                </a:solidFill>
                <a:latin typeface="Arial"/>
                <a:ea typeface="Arial"/>
              </a:rPr>
              <a:t>curarized fish</a:t>
            </a:r>
            <a:r>
              <a:rPr sz="1400" b="0" i="0">
                <a:solidFill>
                  <a:srgbClr val="202329"/>
                </a:solidFill>
                <a:latin typeface="Arial"/>
                <a:ea typeface="Arial"/>
              </a:rPr>
              <a:t>, they amplitude-modulated the EOD substitute while omitting the neighbor signal. An unmodulated carrier between presentations supplied the baseline. Recording at the command level made the response measurable without the electric organ discharge.</a:t>
            </a:r>
            <a:endParaRPr lang="en-US"/>
          </a:p>
          <a:p>
            <a:pPr algn="l">
              <a:lnSpc>
                <a:spcPct val="108000"/>
              </a:lnSpc>
              <a:spcAft>
                <a:spcPts val="1200"/>
              </a:spcAft>
              <a:buNone/>
            </a:pPr>
            <a:r>
              <a:rPr sz="1400" b="0" i="0">
                <a:solidFill>
                  <a:srgbClr val="202329"/>
                </a:solidFill>
                <a:latin typeface="Arial"/>
                <a:ea typeface="Arial"/>
              </a:rPr>
              <a:t>A 30% amplitude modulation at 4 Hz produced consistent deceleration. One published example decreased by 3.5 Hz, and other individuals differed in magnitude. Similar decelerations occurred when recorded EODs from intact fish were modulated and returned to the tank. The unmodulated carrier established baseline values for each animal. Both preparations agreed.</a:t>
            </a:r>
            <a:endParaRPr lang="en-US"/>
          </a:p>
          <a:p>
            <a:pPr algn="l">
              <a:lnSpc>
                <a:spcPct val="108000"/>
              </a:lnSpc>
              <a:spcAft>
                <a:spcPts val="1200"/>
              </a:spcAft>
              <a:buNone/>
            </a:pPr>
            <a:r>
              <a:rPr sz="1400" b="0" i="0">
                <a:solidFill>
                  <a:srgbClr val="202329"/>
                </a:solidFill>
                <a:latin typeface="Arial"/>
                <a:ea typeface="Arial"/>
              </a:rPr>
              <a:t>The response carries no information about whether a neighbor lies above or below the fish's frequency, because the neighbor signal is absent from the stimulus. Amplitude-only deceleration is therefore distinct from the sign-selective JAR. The neighbor signal's absence is the key difference between this response and the natural JAR. This difference matters.</a:t>
            </a:r>
            <a:endParaRPr lang="en-US"/>
          </a:p>
        </p:txBody>
      </p:sp>
      <p:pic>
        <p:nvPicPr>
          <p:cNvPr id="243" name="Presenton Native Image 60" descr=""/>
          <p:cNvPicPr/>
          <p:nvPr/>
        </p:nvPicPr>
        <p:blipFill>
          <a:blip r:embed="rId2" cstate="none"/>
          <a:stretch>
            <a:fillRect/>
          </a:stretch>
        </p:blipFill>
        <p:spPr>
          <a:xfrm>
            <a:off x="6968987" y="1280071"/>
            <a:ext cx="4556897" cy="4297561"/>
          </a:xfrm>
          <a:prstGeom prst="rect">
            <a:avLst/>
          </a:prstGeom>
        </p:spPr>
      </p:pic>
      <p:sp>
        <p:nvSpPr>
          <p:cNvPr id="966" name="Shape 96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2(A–B). Pure amplitude modulation produces repeatable decelerations.</a:t>
            </a:r>
            <a:endParaRPr lang="en-US"/>
          </a:p>
        </p:txBody>
      </p:sp>
      <p:sp>
        <p:nvSpPr>
          <p:cNvPr id="967" name="Shape 967"/>
          <p:cNvSpPr/>
          <p:nvPr/>
        </p:nvSpPr>
        <p:spPr>
          <a:xfrm>
            <a:off x="566886" y="6382494"/>
            <a:ext cx="11058079" cy="9079"/>
          </a:xfrm>
          <a:prstGeom prst="rect">
            <a:avLst/>
          </a:prstGeom>
          <a:solidFill>
            <a:srgbClr val="D2D4D9"/>
          </a:solidFill>
        </p:spPr>
        <p:txBody>
          <a:bodyPr/>
          <a:lstStyle/>
          <a:p/>
        </p:txBody>
      </p:sp>
      <p:sp>
        <p:nvSpPr>
          <p:cNvPr id="968" name="Shape 96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69" name="Shape 96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Amplitude-only deceleration has measurable sensitivity</a:t>
            </a:r>
            <a:endParaRPr lang="en-US"/>
          </a:p>
        </p:txBody>
      </p:sp>
      <p:sp>
        <p:nvSpPr>
          <p:cNvPr id="971" name="Shape 97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Takizawa and colleagues varied </a:t>
            </a:r>
            <a:r>
              <a:rPr sz="1400" b="1" i="0">
                <a:solidFill>
                  <a:srgbClr val="16181D"/>
                </a:solidFill>
                <a:latin typeface="Arial"/>
                <a:ea typeface="Arial"/>
              </a:rPr>
              <a:t>amplitude-modulation depth</a:t>
            </a:r>
            <a:r>
              <a:rPr sz="1400" b="0" i="0">
                <a:solidFill>
                  <a:srgbClr val="202329"/>
                </a:solidFill>
                <a:latin typeface="Arial"/>
                <a:ea typeface="Arial"/>
              </a:rPr>
              <a:t xml:space="preserve"> while keeping the carrier and modulation frequency controlled. Modulation depth describes the relative size of the amplitude fluctuation. The experiment used 4-Hz sinusoidal modulation at several depths in the same preparations. Each depth was tested in the same animal. The depth was varied in steps.</a:t>
            </a:r>
            <a:endParaRPr lang="en-US"/>
          </a:p>
          <a:p>
            <a:pPr algn="l">
              <a:lnSpc>
                <a:spcPct val="108000"/>
              </a:lnSpc>
              <a:spcAft>
                <a:spcPts val="1200"/>
              </a:spcAft>
              <a:buNone/>
            </a:pPr>
            <a:r>
              <a:rPr sz="1400" b="0" i="0">
                <a:solidFill>
                  <a:srgbClr val="202329"/>
                </a:solidFill>
                <a:latin typeface="Arial"/>
                <a:ea typeface="Arial"/>
              </a:rPr>
              <a:t xml:space="preserve">A few percent modulation generally induced deceleration. One particularly sensitive fish responded at 0.1%, while less sensitive individuals required more than 10%. Frequency dependence was strongest near 4 Hz, the range that strongly activates natural jamming responses. The thresholds were measured in each individual. Thresholds varied widely across all animals.</a:t>
            </a:r>
            <a:endParaRPr lang="en-US"/>
          </a:p>
          <a:p>
            <a:pPr algn="l">
              <a:lnSpc>
                <a:spcPct val="108000"/>
              </a:lnSpc>
              <a:spcAft>
                <a:spcPts val="1200"/>
              </a:spcAft>
              <a:buNone/>
            </a:pPr>
            <a:r>
              <a:rPr sz="1400" b="0" i="0">
                <a:solidFill>
                  <a:srgbClr val="202329"/>
                </a:solidFill>
                <a:latin typeface="Arial"/>
                <a:ea typeface="Arial"/>
              </a:rPr>
              <a:t xml:space="preserve">Shared tuning leaves amplitude-only deceleration distinct from beat-sign discrimination. Both are driven by slow amplitude changes, while the bidirectional component alone requires the appropriate spatial timing relationship. The lowest measured threshold marks one animal's sensitivity to amplitude modulation. Its threshold lay far below the group's. Other animals required much higher levels.</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trunk timing reference is unnecessary for amplitude drops</a:t>
            </a:r>
            <a:endParaRPr lang="en-US"/>
          </a:p>
        </p:txBody>
      </p:sp>
      <p:sp>
        <p:nvSpPr>
          <p:cNvPr id="979" name="Shape 97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Takizawa and colleagues electrically separated the head and trunk and independently manipulated the head carrier's amplitude and phase. In the published experiment, a 380-Hz carrier supported 30% amplitude modulation and phase excursions of 200 µs peak to peak. The carrier was 380 Hz in every condition. Both regions stayed electrically separate.</a:t>
            </a:r>
            <a:endParaRPr lang="en-US"/>
          </a:p>
          <a:p>
            <a:pPr algn="l">
              <a:lnSpc>
                <a:spcPct val="108000"/>
              </a:lnSpc>
              <a:spcAft>
                <a:spcPts val="1200"/>
              </a:spcAft>
              <a:buNone/>
            </a:pPr>
            <a:r>
              <a:rPr sz="1400" b="0" i="0">
                <a:solidFill>
                  <a:srgbClr val="202329"/>
                </a:solidFill>
                <a:latin typeface="Arial"/>
                <a:ea typeface="Arial"/>
              </a:rPr>
              <a:t>With a trunk reference, the normal amplitude-phase pairings produced the expected opposing JAR directions. Removing the trunk signal left amplitude-induced deceleration intact. Changing or omitting head phase modulation still allowed strong decreases. The head signal alone supported strong decreases. Strong decreases appeared without a trunk reference in all these trials.</a:t>
            </a:r>
            <a:endParaRPr lang="en-US"/>
          </a:p>
          <a:p>
            <a:pPr algn="l">
              <a:lnSpc>
                <a:spcPct val="108000"/>
              </a:lnSpc>
              <a:spcAft>
                <a:spcPts val="1200"/>
              </a:spcAft>
              <a:buNone/>
            </a:pPr>
            <a:r>
              <a:rPr sz="1400" b="0" i="0">
                <a:solidFill>
                  <a:srgbClr val="202329"/>
                </a:solidFill>
                <a:latin typeface="Arial"/>
                <a:ea typeface="Arial"/>
              </a:rPr>
              <a:t>The finding argues against an explanation in which every amplitude-only decrease requires an internally generated, or "phantom," differential-phase cue. It supports an additional amplitude-driven process. The authors treated this as an additional drive rather than as a settled mechanism. The authors interpreted the result as evidence for an extra drive mechanism.</a:t>
            </a:r>
            <a:endParaRPr lang="en-US"/>
          </a:p>
        </p:txBody>
      </p:sp>
      <p:pic>
        <p:nvPicPr>
          <p:cNvPr id="245" name="Presenton Native Image 62" descr=""/>
          <p:cNvPicPr/>
          <p:nvPr/>
        </p:nvPicPr>
        <p:blipFill>
          <a:blip r:embed="rId2" cstate="none"/>
          <a:stretch>
            <a:fillRect/>
          </a:stretch>
        </p:blipFill>
        <p:spPr>
          <a:xfrm>
            <a:off x="7380939" y="1280071"/>
            <a:ext cx="3732993" cy="4297561"/>
          </a:xfrm>
          <a:prstGeom prst="rect">
            <a:avLst/>
          </a:prstGeom>
        </p:spPr>
      </p:pic>
      <p:sp>
        <p:nvSpPr>
          <p:cNvPr id="982" name="Shape 98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8(A–F). Head stimulation decelerates without a trunk phase reference.</a:t>
            </a:r>
            <a:endParaRPr lang="en-US"/>
          </a:p>
        </p:txBody>
      </p:sp>
      <p:sp>
        <p:nvSpPr>
          <p:cNvPr id="983" name="Shape 983"/>
          <p:cNvSpPr/>
          <p:nvPr/>
        </p:nvSpPr>
        <p:spPr>
          <a:xfrm>
            <a:off x="566886" y="6382494"/>
            <a:ext cx="11058079" cy="9079"/>
          </a:xfrm>
          <a:prstGeom prst="rect">
            <a:avLst/>
          </a:prstGeom>
          <a:solidFill>
            <a:srgbClr val="D2D4D9"/>
          </a:solidFill>
        </p:spPr>
        <p:txBody>
          <a:bodyPr/>
          <a:lstStyle/>
          <a:p/>
        </p:txBody>
      </p:sp>
      <p:sp>
        <p:nvSpPr>
          <p:cNvPr id="984" name="Shape 98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85" name="Shape 98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6" name="Shape 98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Electric-field complexity can degrade usable sign cues</a:t>
            </a:r>
            <a:endParaRPr lang="en-US"/>
          </a:p>
        </p:txBody>
      </p:sp>
      <p:sp>
        <p:nvSpPr>
          <p:cNvPr id="987" name="Shape 98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Shifman and Lewis used experimentally constrained </a:t>
            </a:r>
            <a:r>
              <a:rPr sz="1400" b="1" i="0">
                <a:solidFill>
                  <a:srgbClr val="16181D"/>
                </a:solidFill>
                <a:latin typeface="Arial"/>
                <a:ea typeface="Arial"/>
              </a:rPr>
              <a:t>finite-element models</a:t>
            </a:r>
            <a:r>
              <a:rPr sz="1400" b="0" i="0">
                <a:solidFill>
                  <a:srgbClr val="202329"/>
                </a:solidFill>
                <a:latin typeface="Arial"/>
                <a:ea typeface="Arial"/>
              </a:rPr>
              <a:t xml:space="preserve">, numerical descriptions of electrical fields, to compare Eigenmannia with Apteronotus. The model fish discharged at 300 and 600 Hz, respectively. Analyses considered single-neighbor interference and two-neighbor mixtures. The models were based on electrode and body geometry from the species involved. They used measured geometry.</a:t>
            </a:r>
            <a:endParaRPr lang="en-US"/>
          </a:p>
          <a:p>
            <a:pPr algn="l">
              <a:lnSpc>
                <a:spcPct val="108000"/>
              </a:lnSpc>
              <a:spcAft>
                <a:spcPts val="1200"/>
              </a:spcAft>
              <a:buNone/>
            </a:pPr>
            <a:r>
              <a:rPr sz="1400" b="0" i="0">
                <a:solidFill>
                  <a:srgbClr val="202329"/>
                </a:solidFill>
                <a:latin typeface="Arial"/>
                <a:ea typeface="Arial"/>
              </a:rPr>
              <a:t xml:space="preserve">In three-fish conditions, amplitude envelopes and relative phase became more complex. The Apteronotus field produced less reliable cue combinations for a model of sign-dependent frequency adjustment than the more uniform Eigenmannia field. The Eigenmannia field was more spatially uniform in the modeled conditions. Its polar trajectories were produced by the computation.</a:t>
            </a:r>
            <a:endParaRPr lang="en-US"/>
          </a:p>
          <a:p>
            <a:pPr algn="l">
              <a:lnSpc>
                <a:spcPct val="108000"/>
              </a:lnSpc>
              <a:spcAft>
                <a:spcPts val="1200"/>
              </a:spcAft>
              <a:buNone/>
            </a:pPr>
            <a:r>
              <a:rPr sz="1400" b="0" i="0">
                <a:solidFill>
                  <a:srgbClr val="202329"/>
                </a:solidFill>
                <a:latin typeface="Arial"/>
                <a:ea typeface="Arial"/>
              </a:rPr>
              <a:t xml:space="preserve">The authors proposed that degraded cues could help explain evolutionary differences in frequency-control behavior. These plotted results are modeled sensory inputs rather than recorded neuronal tuning, so neural tests are still needed. The modeled cues come from electrical fields, not from recorded neurons. Neural tests are needed to confirm any such link.</a:t>
            </a:r>
            <a:endParaRPr lang="en-US"/>
          </a:p>
        </p:txBody>
      </p:sp>
      <p:pic>
        <p:nvPicPr>
          <p:cNvPr id="246" name="Presenton Native Image 63" descr=""/>
          <p:cNvPicPr/>
          <p:nvPr/>
        </p:nvPicPr>
        <p:blipFill>
          <a:blip r:embed="rId2" cstate="none"/>
          <a:stretch>
            <a:fillRect/>
          </a:stretch>
        </p:blipFill>
        <p:spPr>
          <a:xfrm>
            <a:off x="6870112" y="1280071"/>
            <a:ext cx="4754795" cy="3810446"/>
          </a:xfrm>
          <a:prstGeom prst="rect">
            <a:avLst/>
          </a:prstGeom>
        </p:spPr>
      </p:pic>
      <p:sp>
        <p:nvSpPr>
          <p:cNvPr id="990" name="Shape 990"/>
          <p:cNvSpPr/>
          <p:nvPr/>
        </p:nvSpPr>
        <p:spPr>
          <a:xfrm>
            <a:off x="6870055" y="5182046"/>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Shifman </a:t>
            </a:r>
            <a:r>
              <a:rPr sz="1000" b="0" i="0">
                <a:solidFill>
                  <a:srgbClr val="5E636D"/>
                </a:solidFill>
                <a:latin typeface="Arial"/>
                <a:ea typeface="Arial"/>
              </a:rPr>
              <a:t>&amp;</a:t>
            </a:r>
            <a:r>
              <a:rPr sz="1000" b="0" i="0">
                <a:solidFill>
                  <a:srgbClr val="5E636D"/>
                </a:solidFill>
                <a:latin typeface="Arial"/>
                <a:ea typeface="Arial"/>
              </a:rPr>
              <a:t xml:space="preserve"> Lewis (2018), Fig. 6. Published electric-field model predicts ambiguity in phase cues.</a:t>
            </a:r>
            <a:endParaRPr lang="en-US"/>
          </a:p>
        </p:txBody>
      </p:sp>
      <p:sp>
        <p:nvSpPr>
          <p:cNvPr id="991" name="Shape 991"/>
          <p:cNvSpPr/>
          <p:nvPr/>
        </p:nvSpPr>
        <p:spPr>
          <a:xfrm>
            <a:off x="566886" y="6382494"/>
            <a:ext cx="11058079" cy="9079"/>
          </a:xfrm>
          <a:prstGeom prst="rect">
            <a:avLst/>
          </a:prstGeom>
          <a:solidFill>
            <a:srgbClr val="D2D4D9"/>
          </a:solidFill>
        </p:spPr>
        <p:txBody>
          <a:bodyPr/>
          <a:lstStyle/>
          <a:p/>
        </p:txBody>
      </p:sp>
      <p:sp>
        <p:nvSpPr>
          <p:cNvPr id="992" name="Shape 99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Shifman </a:t>
            </a:r>
            <a:r>
              <a:rPr sz="900" b="0" i="0">
                <a:solidFill>
                  <a:srgbClr val="5E636D"/>
                </a:solidFill>
                <a:latin typeface="Arial"/>
                <a:ea typeface="Arial"/>
              </a:rPr>
              <a:t>&amp;</a:t>
            </a:r>
            <a:r>
              <a:rPr sz="900" b="0" i="0">
                <a:solidFill>
                  <a:srgbClr val="5E636D"/>
                </a:solidFill>
                <a:latin typeface="Arial"/>
                <a:ea typeface="Arial"/>
              </a:rPr>
              <a:t xml:space="preserve"> Lewis (2018)</a:t>
            </a:r>
            <a:endParaRPr lang="en-US"/>
          </a:p>
        </p:txBody>
      </p:sp>
      <p:sp>
        <p:nvSpPr>
          <p:cNvPr id="993" name="Shape 99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4" name="Shape 99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Key takeaways</a:t>
            </a:r>
            <a:endParaRPr lang="en-US"/>
          </a:p>
        </p:txBody>
      </p:sp>
      <p:sp>
        <p:nvSpPr>
          <p:cNvPr id="995" name="Shape 995"/>
          <p:cNvSpPr/>
          <p:nvPr/>
        </p:nvSpPr>
        <p:spPr>
          <a:xfrm>
            <a:off x="566886" y="1234380"/>
            <a:ext cx="5391894" cy="1478161"/>
          </a:xfrm>
          <a:prstGeom prst="rect">
            <a:avLst/>
          </a:prstGeom>
          <a:solidFill>
            <a:srgbClr val="F3F3F5"/>
          </a:solidFill>
        </p:spPr>
        <p:txBody>
          <a:bodyPr/>
          <a:lstStyle/>
          <a:p/>
        </p:txBody>
      </p:sp>
      <p:sp>
        <p:nvSpPr>
          <p:cNvPr id="996" name="Shape 996"/>
          <p:cNvSpPr/>
          <p:nvPr/>
        </p:nvSpPr>
        <p:spPr>
          <a:xfrm>
            <a:off x="749796" y="1371600"/>
            <a:ext cx="5045125" cy="658118"/>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Beat rate is insufficient</a:t>
            </a:r>
            <a:r>
              <a:rPr sz="1600" b="0" i="0">
                <a:solidFill>
                  <a:srgbClr val="202329"/>
                </a:solidFill>
                <a:latin typeface="Arial"/>
                <a:ea typeface="Arial"/>
              </a:rPr>
              <a:t xml:space="preserve"> Opposite frequency differences can produce the same beat rate; spatial amplitude–phase relationships supply the sign cue.</a:t>
            </a:r>
            <a:endParaRPr lang="en-US"/>
          </a:p>
        </p:txBody>
      </p:sp>
      <p:sp>
        <p:nvSpPr>
          <p:cNvPr id="997" name="Shape 997"/>
          <p:cNvSpPr/>
          <p:nvPr/>
        </p:nvSpPr>
        <p:spPr>
          <a:xfrm>
            <a:off x="6233071" y="1234380"/>
            <a:ext cx="5391894" cy="1478161"/>
          </a:xfrm>
          <a:prstGeom prst="rect">
            <a:avLst/>
          </a:prstGeom>
          <a:solidFill>
            <a:srgbClr val="F3F3F5"/>
          </a:solidFill>
        </p:spPr>
        <p:txBody>
          <a:bodyPr/>
          <a:lstStyle/>
          <a:p/>
        </p:txBody>
      </p:sp>
      <p:sp>
        <p:nvSpPr>
          <p:cNvPr id="998" name="Shape 998"/>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Hyperacuity is distributed</a:t>
            </a:r>
            <a:r>
              <a:rPr sz="1600" b="0" i="0">
                <a:solidFill>
                  <a:srgbClr val="202329"/>
                </a:solidFill>
                <a:latin typeface="Arial"/>
                <a:ea typeface="Arial"/>
              </a:rPr>
              <a:t xml:space="preserve"> Eigenmannia discriminates temporal disparities near 400 ns, and recruiting multiple skin regions supports nonlinear pooling of timing information.</a:t>
            </a:r>
            <a:endParaRPr lang="en-US"/>
          </a:p>
        </p:txBody>
      </p:sp>
      <p:sp>
        <p:nvSpPr>
          <p:cNvPr id="999" name="Shape 999"/>
          <p:cNvSpPr/>
          <p:nvPr/>
        </p:nvSpPr>
        <p:spPr>
          <a:xfrm>
            <a:off x="566886" y="2986980"/>
            <a:ext cx="5391894" cy="1478161"/>
          </a:xfrm>
          <a:prstGeom prst="rect">
            <a:avLst/>
          </a:prstGeom>
          <a:solidFill>
            <a:srgbClr val="F3F3F5"/>
          </a:solidFill>
        </p:spPr>
        <p:txBody>
          <a:bodyPr/>
          <a:lstStyle/>
          <a:p/>
        </p:txBody>
      </p:sp>
      <p:sp>
        <p:nvSpPr>
          <p:cNvPr id="1000" name="Shape 1000"/>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Sensory pathways converge</a:t>
            </a:r>
            <a:r>
              <a:rPr sz="1600" b="0" i="0">
                <a:solidFill>
                  <a:srgbClr val="202329"/>
                </a:solidFill>
                <a:latin typeface="Arial"/>
                <a:ea typeface="Arial"/>
              </a:rPr>
              <a:t xml:space="preserve"> Amplitude-coding E/I inputs and phase comparisons feed combination-sensitive toral populations representing opposite beat signs.</a:t>
            </a:r>
            <a:endParaRPr lang="en-US"/>
          </a:p>
        </p:txBody>
      </p:sp>
      <p:sp>
        <p:nvSpPr>
          <p:cNvPr id="1001" name="Shape 1001"/>
          <p:cNvSpPr/>
          <p:nvPr/>
        </p:nvSpPr>
        <p:spPr>
          <a:xfrm>
            <a:off x="6233071" y="2986980"/>
            <a:ext cx="5391894" cy="1478161"/>
          </a:xfrm>
          <a:prstGeom prst="rect">
            <a:avLst/>
          </a:prstGeom>
          <a:solidFill>
            <a:srgbClr val="F3F3F5"/>
          </a:solidFill>
        </p:spPr>
        <p:txBody>
          <a:bodyPr/>
          <a:lstStyle/>
          <a:p/>
        </p:txBody>
      </p:sp>
      <p:sp>
        <p:nvSpPr>
          <p:cNvPr id="1002" name="Shape 1002"/>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Motor routes remain separate</a:t>
            </a:r>
            <a:r>
              <a:rPr sz="1600" b="0" i="0">
                <a:solidFill>
                  <a:srgbClr val="202329"/>
                </a:solidFill>
                <a:latin typeface="Arial"/>
                <a:ea typeface="Arial"/>
              </a:rPr>
              <a:t xml:space="preserve"> PPn-G supports frequency increases, while inhibition of tonic SPPn drive supports decreases; selective lesions distinguish the routes.</a:t>
            </a:r>
            <a:endParaRPr lang="en-US"/>
          </a:p>
        </p:txBody>
      </p:sp>
      <p:sp>
        <p:nvSpPr>
          <p:cNvPr id="1003" name="Shape 1003"/>
          <p:cNvSpPr/>
          <p:nvPr/>
        </p:nvSpPr>
        <p:spPr>
          <a:xfrm>
            <a:off x="566886" y="4739580"/>
            <a:ext cx="5391894" cy="1478161"/>
          </a:xfrm>
          <a:prstGeom prst="rect">
            <a:avLst/>
          </a:prstGeom>
          <a:solidFill>
            <a:srgbClr val="F3F3F5"/>
          </a:solidFill>
        </p:spPr>
        <p:txBody>
          <a:bodyPr/>
          <a:lstStyle/>
          <a:p/>
        </p:txBody>
      </p:sp>
      <p:sp>
        <p:nvSpPr>
          <p:cNvPr id="1004" name="Shape 1004"/>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Synaptic targets shape behavior</a:t>
            </a:r>
            <a:r>
              <a:rPr sz="1600" b="0" i="0">
                <a:solidFill>
                  <a:srgbClr val="202329"/>
                </a:solidFill>
                <a:latin typeface="Arial"/>
                <a:ea typeface="Arial"/>
              </a:rPr>
              <a:t xml:space="preserve"> Gradual acceleration preferentially increases pacemaker-cell conductance, whereas deceleration removes tonic excitation from relay cells.</a:t>
            </a:r>
            <a:endParaRPr lang="en-US"/>
          </a:p>
        </p:txBody>
      </p:sp>
      <p:sp>
        <p:nvSpPr>
          <p:cNvPr id="1005" name="Shape 1005"/>
          <p:cNvSpPr/>
          <p:nvPr/>
        </p:nvSpPr>
        <p:spPr>
          <a:xfrm>
            <a:off x="6233071" y="4739580"/>
            <a:ext cx="5391894" cy="1478161"/>
          </a:xfrm>
          <a:prstGeom prst="rect">
            <a:avLst/>
          </a:prstGeom>
          <a:solidFill>
            <a:srgbClr val="F3F3F5"/>
          </a:solidFill>
        </p:spPr>
        <p:txBody>
          <a:bodyPr/>
          <a:lstStyle/>
          <a:p/>
        </p:txBody>
      </p:sp>
      <p:sp>
        <p:nvSpPr>
          <p:cNvPr id="1006" name="Shape 1006"/>
          <p:cNvSpPr/>
          <p:nvPr/>
        </p:nvSpPr>
        <p:spPr>
          <a:xfrm>
            <a:off x="6415980" y="4876800"/>
            <a:ext cx="5045125" cy="822722"/>
          </a:xfrm>
          <a:prstGeom prst="rect">
            <a:avLst/>
          </a:prstGeom>
          <a:noFill/>
        </p:spPr>
        <p:txBody>
          <a:bodyPr anchor="t" wrap="square" tIns="0" bIns="0" lIns="0" rIns="0">
            <a:normAutofit/>
          </a:bodyPr>
          <a:lstStyle/>
          <a:p>
            <a:pPr algn="l">
              <a:lnSpc>
                <a:spcPts val="1620"/>
              </a:lnSpc>
              <a:buNone/>
            </a:pPr>
            <a:r>
              <a:rPr sz="1500" b="1" i="0">
                <a:solidFill>
                  <a:srgbClr val="16181D"/>
                </a:solidFill>
                <a:latin typeface="Arial"/>
                <a:ea typeface="Arial"/>
              </a:rPr>
              <a:t>A decrease alone does not prove sign discrimination</a:t>
            </a:r>
            <a:r>
              <a:rPr sz="1500" b="0" i="0">
                <a:solidFill>
                  <a:srgbClr val="202329"/>
                </a:solidFill>
                <a:latin typeface="Arial"/>
                <a:ea typeface="Arial"/>
              </a:rPr>
              <a:t xml:space="preserve"> Amplitude modulation can lower EOD frequency without a trunk phase reference; responses must be measured against resting frequency.</a:t>
            </a:r>
            <a:endParaRPr lang="en-US"/>
          </a:p>
        </p:txBody>
      </p:sp>
      <p:sp>
        <p:nvSpPr>
          <p:cNvPr id="1007" name="Shape 1007"/>
          <p:cNvSpPr/>
          <p:nvPr/>
        </p:nvSpPr>
        <p:spPr>
          <a:xfrm>
            <a:off x="566886" y="6382494"/>
            <a:ext cx="11058079" cy="9079"/>
          </a:xfrm>
          <a:prstGeom prst="rect">
            <a:avLst/>
          </a:prstGeom>
          <a:solidFill>
            <a:srgbClr val="D2D4D9"/>
          </a:solidFill>
        </p:spPr>
        <p:txBody>
          <a:bodyPr/>
          <a:lstStyle/>
          <a:p/>
        </p:txBody>
      </p:sp>
      <p:sp>
        <p:nvSpPr>
          <p:cNvPr id="1008" name="Shape 100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 Takizawa et al. (1999)</a:t>
            </a:r>
            <a:endParaRPr lang="en-US"/>
          </a:p>
        </p:txBody>
      </p:sp>
      <p:sp>
        <p:nvSpPr>
          <p:cNvPr id="1009" name="Shape 100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62" name="Shape 96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Curarization leaves the command signal recordable</a:t>
            </a:r>
            <a:endParaRPr lang="en-US"/>
          </a:p>
        </p:txBody>
      </p:sp>
      <p:sp>
        <p:nvSpPr>
          <p:cNvPr id="963" name="Shape 96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Curarization suppresses the electric organ while leaving a command signal available for recording. Testing intact fish showed whether the amplitude-only response depended on replacing the natural electric field, and the decelerations persisted. The EOD substitute was amplitude-modulated while the neighbor signal was omitted. An unmodulated carrier supplied the baseline. The carrier stayed constant across trials.</a:t>
            </a:r>
            <a:endParaRPr lang="en-US"/>
          </a:p>
          <a:p>
            <a:pPr algn="l">
              <a:lnSpc>
                <a:spcPct val="108000"/>
              </a:lnSpc>
              <a:spcAft>
                <a:spcPts val="1200"/>
              </a:spcAft>
              <a:buNone/>
            </a:pPr>
            <a:r>
              <a:rPr sz="1400" b="0" i="0">
                <a:solidFill>
                  <a:srgbClr val="202329"/>
                </a:solidFill>
                <a:latin typeface="Arial"/>
                <a:ea typeface="Arial"/>
              </a:rPr>
              <a:t>The authors observed individual differences rather than identical response magnitudes in every preparation. Magnitude varied from fish to fish, so one example represents one animal rather than a species average. One animal's magnitude was not averaged with the others. The 4-Hz modulation drove the decrease across individuals. Every animal was checked against its own baseline.</a:t>
            </a:r>
            <a:endParaRPr lang="en-US"/>
          </a:p>
          <a:p>
            <a:pPr algn="l">
              <a:lnSpc>
                <a:spcPct val="108000"/>
              </a:lnSpc>
              <a:spcAft>
                <a:spcPts val="1200"/>
              </a:spcAft>
              <a:buNone/>
            </a:pPr>
            <a:r>
              <a:rPr sz="1400" b="0" i="0">
                <a:solidFill>
                  <a:srgbClr val="202329"/>
                </a:solidFill>
                <a:latin typeface="Arial"/>
                <a:ea typeface="Arial"/>
              </a:rPr>
              <a:t>The curarized and intact preparations were tested separately, and their results complement one another. Recordings from intact fish supported the decelerations under more natural conditions. The response has no sign information, so the neighbor's position stays unspecified here. Amplitude-only deceleration differs from the bidirectional JAR. The two responses are not interchangeable. This difference matters.</a:t>
            </a:r>
            <a:endParaRPr lang="en-US"/>
          </a:p>
        </p:txBody>
      </p:sp>
      <p:pic>
        <p:nvPicPr>
          <p:cNvPr id="243" name="Presenton Native Image 60" descr=""/>
          <p:cNvPicPr/>
          <p:nvPr/>
        </p:nvPicPr>
        <p:blipFill>
          <a:blip r:embed="rId2" cstate="none"/>
          <a:stretch>
            <a:fillRect/>
          </a:stretch>
        </p:blipFill>
        <p:spPr>
          <a:xfrm>
            <a:off x="6968987" y="1280071"/>
            <a:ext cx="4556897" cy="4297561"/>
          </a:xfrm>
          <a:prstGeom prst="rect">
            <a:avLst/>
          </a:prstGeom>
        </p:spPr>
      </p:pic>
      <p:sp>
        <p:nvSpPr>
          <p:cNvPr id="966" name="Shape 96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2(A–B). Pure amplitude modulation produces repeatable decelerations.</a:t>
            </a:r>
            <a:endParaRPr lang="en-US"/>
          </a:p>
        </p:txBody>
      </p:sp>
      <p:sp>
        <p:nvSpPr>
          <p:cNvPr id="967" name="Shape 967"/>
          <p:cNvSpPr/>
          <p:nvPr/>
        </p:nvSpPr>
        <p:spPr>
          <a:xfrm>
            <a:off x="566886" y="6382494"/>
            <a:ext cx="11058079" cy="9079"/>
          </a:xfrm>
          <a:prstGeom prst="rect">
            <a:avLst/>
          </a:prstGeom>
          <a:solidFill>
            <a:srgbClr val="D2D4D9"/>
          </a:solidFill>
        </p:spPr>
        <p:txBody>
          <a:bodyPr/>
          <a:lstStyle/>
          <a:p/>
        </p:txBody>
      </p:sp>
      <p:sp>
        <p:nvSpPr>
          <p:cNvPr id="968" name="Shape 96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69" name="Shape 96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42a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35" name="Shape 93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PPn-C and PPn-G are neighboring subdivisions</a:t>
            </a:r>
            <a:endParaRPr lang="en-US"/>
          </a:p>
        </p:txBody>
      </p:sp>
      <p:sp>
        <p:nvSpPr>
          <p:cNvPr id="936" name="Shape 93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PPn-C and PPn-G are neighboring premotor subdivisions with different behavioral effects. Their separation continues down to the cellular targets within the oscillator, where each subdivision reaches a different cell class. The chirp route reaches relay cells, whereas the acceleration route acts on pacemaker cells. The two routes differ at the level of individual cell types.</a:t>
            </a:r>
            <a:endParaRPr lang="en-US"/>
          </a:p>
          <a:p>
            <a:pPr algn="l">
              <a:lnSpc>
                <a:spcPct val="108000"/>
              </a:lnSpc>
              <a:spcAft>
                <a:spcPts val="1200"/>
              </a:spcAft>
              <a:buNone/>
            </a:pPr>
            <a:r>
              <a:rPr sz="1400" b="0" i="0">
                <a:solidFill>
                  <a:srgbClr val="202329"/>
                </a:solidFill>
                <a:latin typeface="Arial"/>
                <a:ea typeface="Arial"/>
              </a:rPr>
              <a:t xml:space="preserve">The timing and size of a frequency change identify the responsible subdivision only when the stimulation site and intracellular response are also known. Chirp-sized changes of 30 to 160 Hz are assigned correctly only with that combined evidence. Those values are from representative chirps in the same preparation. Both measurements came from the same identified cells.</a:t>
            </a:r>
            <a:endParaRPr lang="en-US"/>
          </a:p>
          <a:p>
            <a:pPr algn="l">
              <a:lnSpc>
                <a:spcPct val="108000"/>
              </a:lnSpc>
              <a:spcAft>
                <a:spcPts val="1200"/>
              </a:spcAft>
              <a:buNone/>
            </a:pPr>
            <a:r>
              <a:rPr sz="1400" b="0" i="0">
                <a:solidFill>
                  <a:srgbClr val="202329"/>
                </a:solidFill>
                <a:latin typeface="Arial"/>
                <a:ea typeface="Arial"/>
              </a:rPr>
              <a:t xml:space="preserve">The relay-cell and pacemaker changes were measured in the same recordings. Relay-cell conductance changes were the largest effect in the chirp recordings, so output cells receive the chirp route through a different input than the JAR route. The chirp route reaches output cells directly, while the JAR route acts through the oscillator's tonic drive.</a:t>
            </a:r>
            <a:endParaRPr lang="en-US"/>
          </a:p>
        </p:txBody>
      </p:sp>
      <p:pic>
        <p:nvPicPr>
          <p:cNvPr id="237" name="Presenton Native Image 54" descr=""/>
          <p:cNvPicPr/>
          <p:nvPr/>
        </p:nvPicPr>
        <p:blipFill>
          <a:blip r:embed="rId2" cstate="none"/>
          <a:stretch>
            <a:fillRect/>
          </a:stretch>
        </p:blipFill>
        <p:spPr>
          <a:xfrm>
            <a:off x="6870140" y="1280071"/>
            <a:ext cx="4754741" cy="1731169"/>
          </a:xfrm>
          <a:prstGeom prst="rect">
            <a:avLst/>
          </a:prstGeom>
        </p:spPr>
      </p:pic>
      <p:sp>
        <p:nvSpPr>
          <p:cNvPr id="939" name="Shape 939"/>
          <p:cNvSpPr/>
          <p:nvPr/>
        </p:nvSpPr>
        <p:spPr>
          <a:xfrm>
            <a:off x="6870055" y="3102769"/>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4(A–C). Brief chirps preferentially change relay-cell conductance.</a:t>
            </a:r>
            <a:endParaRPr lang="en-US"/>
          </a:p>
        </p:txBody>
      </p:sp>
      <p:pic>
        <p:nvPicPr>
          <p:cNvPr id="238" name="Presenton Native Image 55" descr=""/>
          <p:cNvPicPr/>
          <p:nvPr/>
        </p:nvPicPr>
        <p:blipFill>
          <a:blip r:embed="rId3" cstate="none"/>
          <a:stretch>
            <a:fillRect/>
          </a:stretch>
        </p:blipFill>
        <p:spPr>
          <a:xfrm>
            <a:off x="8828663" y="4709071"/>
            <a:ext cx="837545" cy="1051471"/>
          </a:xfrm>
          <a:prstGeom prst="rect">
            <a:avLst/>
          </a:prstGeom>
        </p:spPr>
      </p:pic>
      <p:sp>
        <p:nvSpPr>
          <p:cNvPr id="940" name="Shape 94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41" name="Shape 941"/>
          <p:cNvSpPr/>
          <p:nvPr/>
        </p:nvSpPr>
        <p:spPr>
          <a:xfrm>
            <a:off x="566886" y="6382494"/>
            <a:ext cx="11058079" cy="9079"/>
          </a:xfrm>
          <a:prstGeom prst="rect">
            <a:avLst/>
          </a:prstGeom>
          <a:solidFill>
            <a:srgbClr val="D2D4D9"/>
          </a:solidFill>
        </p:spPr>
        <p:txBody>
          <a:bodyPr/>
          <a:lstStyle/>
          <a:p/>
        </p:txBody>
      </p:sp>
      <p:sp>
        <p:nvSpPr>
          <p:cNvPr id="942" name="Shape 9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&amp; Metzner (1998)</a:t>
            </a:r>
            <a:endParaRPr lang="en-US"/>
          </a:p>
        </p:txBody>
      </p:sp>
      <p:sp>
        <p:nvSpPr>
          <p:cNvPr id="943" name="Shape 94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39a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08" name="Shape 90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1990 paper also covered pulse-type fish</a:t>
            </a:r>
            <a:endParaRPr lang="en-US"/>
          </a:p>
        </p:txBody>
      </p:sp>
      <p:sp>
        <p:nvSpPr>
          <p:cNvPr id="909" name="Shape 9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The 1990 paper also included many experiments in the pulse-type genus Hypopomus. Those results were not all transferable to Eigenmannia, so the selected record concerns Eigenmannia alone. The Eigenmannia record examined those drugs within the pacemaker nucleus. The record tested drugs in the pacemaker nucleus of the same species. The record concerns those drugs only.</a:t>
            </a:r>
            <a:endParaRPr lang="en-US"/>
          </a:p>
          <a:p>
            <a:pPr algn="l">
              <a:lnSpc>
                <a:spcPct val="108000"/>
              </a:lnSpc>
              <a:spcAft>
                <a:spcPts val="1200"/>
              </a:spcAft>
              <a:buNone/>
            </a:pPr>
            <a:r>
              <a:rPr sz="1400" b="0" i="0">
                <a:solidFill>
                  <a:srgbClr val="202329"/>
                </a:solidFill>
                <a:latin typeface="Arial"/>
                <a:ea typeface="Arial"/>
              </a:rPr>
              <a:t xml:space="preserve">Later primary experiments were cited to explain the revised circuit assignment for Eigenmannia. The early drug results were reinterpreted in light of the later lesion and recording evidence. The 500 µM APV dose lowered baseline frequency and suppressed JAR rises. Bicuculline at 2 mM had no blocking effect in this species. These drugs were applied to the same pacemaker.</a:t>
            </a:r>
            <a:endParaRPr lang="en-US"/>
          </a:p>
          <a:p>
            <a:pPr algn="l">
              <a:lnSpc>
                <a:spcPct val="108000"/>
              </a:lnSpc>
              <a:spcAft>
                <a:spcPts val="1200"/>
              </a:spcAft>
              <a:buNone/>
            </a:pPr>
            <a:r>
              <a:rPr sz="1400" b="0" i="0">
                <a:solidFill>
                  <a:srgbClr val="202329"/>
                </a:solidFill>
                <a:latin typeface="Arial"/>
                <a:ea typeface="Arial"/>
              </a:rPr>
              <a:t xml:space="preserve">The 1990 Eigenmannia record set the question that the later lesion and blockade studies addressed, which is why the same pharmacological result appears in both the early and the revised circuit accounts. Later lesion data located the GABA step in the SPPn, upstream of the pacemaker. Tonic excitation was lost downstream, which explains the deceleration. This refinement changed the interpretation.</a:t>
            </a:r>
            <a:endParaRPr lang="en-US"/>
          </a:p>
        </p:txBody>
      </p:sp>
      <p:pic>
        <p:nvPicPr>
          <p:cNvPr id="231" name="Presenton Native Image 48" descr=""/>
          <p:cNvPicPr/>
          <p:nvPr/>
        </p:nvPicPr>
        <p:blipFill>
          <a:blip r:embed="rId2" cstate="none"/>
          <a:stretch>
            <a:fillRect/>
          </a:stretch>
        </p:blipFill>
        <p:spPr>
          <a:xfrm>
            <a:off x="6870158" y="1280071"/>
            <a:ext cx="4754703" cy="2081510"/>
          </a:xfrm>
          <a:prstGeom prst="rect">
            <a:avLst/>
          </a:prstGeom>
        </p:spPr>
      </p:pic>
      <p:sp>
        <p:nvSpPr>
          <p:cNvPr id="912" name="Shape 912"/>
          <p:cNvSpPr/>
          <p:nvPr/>
        </p:nvSpPr>
        <p:spPr>
          <a:xfrm>
            <a:off x="6870055" y="3453110"/>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Kawasaki </a:t>
            </a:r>
            <a:r>
              <a:rPr sz="1000" b="0" i="0">
                <a:solidFill>
                  <a:srgbClr val="5E636D"/>
                </a:solidFill>
                <a:latin typeface="Arial"/>
                <a:ea typeface="Arial"/>
              </a:rPr>
              <a:t>&amp;</a:t>
            </a:r>
            <a:r>
              <a:rPr sz="1000" b="0" i="0">
                <a:solidFill>
                  <a:srgbClr val="5E636D"/>
                </a:solidFill>
                <a:latin typeface="Arial"/>
                <a:ea typeface="Arial"/>
              </a:rPr>
              <a:t xml:space="preserve"> Heiligenberg (1990), Fig. 4. Early APV and bicuculline tests in Eigenmannia.</a:t>
            </a:r>
            <a:endParaRPr lang="en-US"/>
          </a:p>
        </p:txBody>
      </p:sp>
      <p:pic>
        <p:nvPicPr>
          <p:cNvPr id="232" name="Presenton Native Image 49" descr=""/>
          <p:cNvPicPr/>
          <p:nvPr/>
        </p:nvPicPr>
        <p:blipFill>
          <a:blip r:embed="rId3" cstate="none"/>
          <a:stretch>
            <a:fillRect/>
          </a:stretch>
        </p:blipFill>
        <p:spPr>
          <a:xfrm>
            <a:off x="8828663" y="4709071"/>
            <a:ext cx="837545" cy="1051471"/>
          </a:xfrm>
          <a:prstGeom prst="rect">
            <a:avLst/>
          </a:prstGeom>
        </p:spPr>
      </p:pic>
      <p:sp>
        <p:nvSpPr>
          <p:cNvPr id="913" name="Shape 913"/>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14" name="Shape 914"/>
          <p:cNvSpPr/>
          <p:nvPr/>
        </p:nvSpPr>
        <p:spPr>
          <a:xfrm>
            <a:off x="566886" y="6382494"/>
            <a:ext cx="11058079" cy="9079"/>
          </a:xfrm>
          <a:prstGeom prst="rect">
            <a:avLst/>
          </a:prstGeom>
          <a:solidFill>
            <a:srgbClr val="D2D4D9"/>
          </a:solidFill>
        </p:spPr>
        <p:txBody>
          <a:bodyPr/>
          <a:lstStyle/>
          <a:p/>
        </p:txBody>
      </p:sp>
      <p:sp>
        <p:nvSpPr>
          <p:cNvPr id="915" name="Shape 91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Kawasaki &amp; Heiligenberg (1990)</a:t>
            </a:r>
            <a:endParaRPr lang="en-US"/>
          </a:p>
        </p:txBody>
      </p:sp>
      <p:sp>
        <p:nvSpPr>
          <p:cNvPr id="916" name="Shape 916"/>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36a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1" name="Shape 881"/>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L-glutamate and antagonists answer different questions</a:t>
            </a:r>
            <a:endParaRPr lang="en-US"/>
          </a:p>
        </p:txBody>
      </p:sp>
      <p:sp>
        <p:nvSpPr>
          <p:cNvPr id="882" name="Shape 88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L-glutamate stimulation activates nearby neurons through receptors that are already available. An antagonist, by contrast, reduces signaling through one receptor class, so the two interventions answer different questions about the same circuit. The vehicle injections served as the reference for every drug injection. Those controls separated chemical action from the injection itself. The control was run in parallel.</a:t>
            </a:r>
            <a:endParaRPr lang="en-US"/>
          </a:p>
          <a:p>
            <a:pPr algn="l">
              <a:lnSpc>
                <a:spcPct val="108000"/>
              </a:lnSpc>
              <a:spcAft>
                <a:spcPts val="1200"/>
              </a:spcAft>
              <a:buNone/>
            </a:pPr>
            <a:r>
              <a:rPr sz="1400" b="0" i="0">
                <a:solidFill>
                  <a:srgbClr val="202329"/>
                </a:solidFill>
                <a:latin typeface="Arial"/>
                <a:ea typeface="Arial"/>
              </a:rPr>
              <a:t xml:space="preserve">The vehicle control was essential because fluid injection into a small nucleus can alter the recording or local tissue apart from any receptor blockade. The artificial cerebrospinal fluid control isolates the drug's chemical action from the mechanical act of injecting. The acceleration response returned as the drug effect faded, which shows that the block was reversible.</a:t>
            </a:r>
            <a:endParaRPr lang="en-US"/>
          </a:p>
          <a:p>
            <a:pPr algn="l">
              <a:lnSpc>
                <a:spcPct val="108000"/>
              </a:lnSpc>
              <a:spcAft>
                <a:spcPts val="1200"/>
              </a:spcAft>
              <a:buNone/>
            </a:pPr>
            <a:r>
              <a:rPr sz="1400" b="0" i="0">
                <a:solidFill>
                  <a:srgbClr val="202329"/>
                </a:solidFill>
                <a:latin typeface="Arial"/>
                <a:ea typeface="Arial"/>
              </a:rPr>
              <a:t xml:space="preserve">Injection into the pacemaker nucleus targeted the medullary cells that generate the oscillator's frequency changes. The antagonist response was measured against control injections in the same fish, and each animal served before and after drug delivery. Injecting into the pacemaker tested a step downstream of the upstream structures. Each animal's before and after records were compared directly.</a:t>
            </a:r>
            <a:endParaRPr lang="en-US"/>
          </a:p>
        </p:txBody>
      </p:sp>
      <p:pic>
        <p:nvPicPr>
          <p:cNvPr id="225" name="Presenton Native Image 42" descr=""/>
          <p:cNvPicPr/>
          <p:nvPr/>
        </p:nvPicPr>
        <p:blipFill>
          <a:blip r:embed="rId2" cstate="none"/>
          <a:stretch>
            <a:fillRect/>
          </a:stretch>
        </p:blipFill>
        <p:spPr>
          <a:xfrm>
            <a:off x="7611618" y="1280071"/>
            <a:ext cx="3271636" cy="2880271"/>
          </a:xfrm>
          <a:prstGeom prst="rect">
            <a:avLst/>
          </a:prstGeom>
        </p:spPr>
      </p:pic>
      <p:sp>
        <p:nvSpPr>
          <p:cNvPr id="885" name="Shape 88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9(A–C). CNQX selectively suppresses JAR frequency increases.</a:t>
            </a:r>
            <a:endParaRPr lang="en-US"/>
          </a:p>
        </p:txBody>
      </p:sp>
      <p:pic>
        <p:nvPicPr>
          <p:cNvPr id="226" name="Presenton Native Image 43" descr=""/>
          <p:cNvPicPr/>
          <p:nvPr/>
        </p:nvPicPr>
        <p:blipFill>
          <a:blip r:embed="rId3" cstate="none"/>
          <a:stretch>
            <a:fillRect/>
          </a:stretch>
        </p:blipFill>
        <p:spPr>
          <a:xfrm>
            <a:off x="8828663" y="4709071"/>
            <a:ext cx="837545" cy="1051471"/>
          </a:xfrm>
          <a:prstGeom prst="rect">
            <a:avLst/>
          </a:prstGeom>
        </p:spPr>
      </p:pic>
      <p:sp>
        <p:nvSpPr>
          <p:cNvPr id="886" name="Shape 88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87" name="Shape 887"/>
          <p:cNvSpPr/>
          <p:nvPr/>
        </p:nvSpPr>
        <p:spPr>
          <a:xfrm>
            <a:off x="566886" y="6382494"/>
            <a:ext cx="11058079" cy="9079"/>
          </a:xfrm>
          <a:prstGeom prst="rect">
            <a:avLst/>
          </a:prstGeom>
          <a:solidFill>
            <a:srgbClr val="D2D4D9"/>
          </a:solidFill>
        </p:spPr>
        <p:txBody>
          <a:bodyPr/>
          <a:lstStyle/>
          <a:p/>
        </p:txBody>
      </p:sp>
      <p:sp>
        <p:nvSpPr>
          <p:cNvPr id="888" name="Shape 88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89" name="Shape 88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33a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6" name="Shape 85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Anatomy guided lesion and injection placement</a:t>
            </a:r>
            <a:endParaRPr lang="en-US"/>
          </a:p>
        </p:txBody>
      </p:sp>
      <p:sp>
        <p:nvSpPr>
          <p:cNvPr id="857" name="Shape 8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The SPPn's placement beside nearby structures, including the lateral lemniscus, set where the experiments were placed. An injection was checked for spread into neighboring tissue, because labeling outside the target would misidentify the input. The injection site and the surrounding tissue were both examined before the tracing was interpreted. Labeling in neighboring tissue would otherwise misplace the source of the input.</a:t>
            </a:r>
            <a:endParaRPr lang="en-US"/>
          </a:p>
          <a:p>
            <a:pPr algn="l">
              <a:lnSpc>
                <a:spcPct val="108000"/>
              </a:lnSpc>
              <a:spcAft>
                <a:spcPts val="1200"/>
              </a:spcAft>
              <a:buNone/>
            </a:pPr>
            <a:r>
              <a:rPr sz="1400" b="0" i="0">
                <a:solidFill>
                  <a:srgbClr val="202329"/>
                </a:solidFill>
                <a:latin typeface="Arial"/>
                <a:ea typeface="Arial"/>
              </a:rPr>
              <a:t>Anatomical labeling supports the localization of the pathway, while the selective behavioral effects constrain the functional role assigned to the SPPn. Lesions placed in the same region test the functional contribution of the same cells. The published histology shows the labeled cells at two magnifications. Their broader views carry 100-µm scale bars. Those cells were scattered.</a:t>
            </a:r>
            <a:endParaRPr lang="en-US"/>
          </a:p>
          <a:p>
            <a:pPr algn="l">
              <a:lnSpc>
                <a:spcPct val="108000"/>
              </a:lnSpc>
              <a:spcAft>
                <a:spcPts val="1200"/>
              </a:spcAft>
              <a:buNone/>
            </a:pPr>
            <a:r>
              <a:rPr sz="1400" b="0" i="0">
                <a:solidFill>
                  <a:srgbClr val="202329"/>
                </a:solidFill>
                <a:latin typeface="Arial"/>
                <a:ea typeface="Arial"/>
              </a:rPr>
              <a:t>Retrograde labeling reached cells beneath the lateral lemniscus at a defined brainstem level, which fixed where the lesions had to be placed. The chemical stimulation was delivered at that same level, so the two manipulations target the same region. Lesions there removed the frequency decreases, which identifies these cells as functionally important. Such cells matter for function.</a:t>
            </a:r>
            <a:endParaRPr lang="en-US"/>
          </a:p>
        </p:txBody>
      </p:sp>
      <p:pic>
        <p:nvPicPr>
          <p:cNvPr id="221" name="Presenton Native Image 38" descr=""/>
          <p:cNvPicPr/>
          <p:nvPr/>
        </p:nvPicPr>
        <p:blipFill>
          <a:blip r:embed="rId2" cstate="none"/>
          <a:stretch>
            <a:fillRect/>
          </a:stretch>
        </p:blipFill>
        <p:spPr>
          <a:xfrm>
            <a:off x="7054653" y="1280071"/>
            <a:ext cx="4385566" cy="4297561"/>
          </a:xfrm>
          <a:prstGeom prst="rect">
            <a:avLst/>
          </a:prstGeom>
        </p:spPr>
      </p:pic>
      <p:sp>
        <p:nvSpPr>
          <p:cNvPr id="860" name="Shape 8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5(A–B). Retrograde labeling identifies the sublemniscal prepacemaker.</a:t>
            </a:r>
            <a:endParaRPr lang="en-US"/>
          </a:p>
        </p:txBody>
      </p:sp>
      <p:sp>
        <p:nvSpPr>
          <p:cNvPr id="861" name="Shape 861"/>
          <p:cNvSpPr/>
          <p:nvPr/>
        </p:nvSpPr>
        <p:spPr>
          <a:xfrm>
            <a:off x="566886" y="6382494"/>
            <a:ext cx="11058079" cy="9079"/>
          </a:xfrm>
          <a:prstGeom prst="rect">
            <a:avLst/>
          </a:prstGeom>
          <a:solidFill>
            <a:srgbClr val="D2D4D9"/>
          </a:solidFill>
        </p:spPr>
        <p:txBody>
          <a:bodyPr/>
          <a:lstStyle/>
          <a:p/>
        </p:txBody>
      </p:sp>
      <p:sp>
        <p:nvSpPr>
          <p:cNvPr id="862" name="Shape 8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63" name="Shape 86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30a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older single-population account</a:t>
            </a:r>
            <a:endParaRPr lang="en-US"/>
          </a:p>
        </p:txBody>
      </p:sp>
      <p:sp>
        <p:nvSpPr>
          <p:cNvPr id="831" name="Shape 83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The older account treated decreases as a weakening of the same neurons that drive increases. Selective lesions supported a different organization, in which each route alters one direction of frequency change while the other direction stays available. The lesion data required two routes, each acting on one direction of frequency change. Each route acts on one direction only.</a:t>
            </a:r>
            <a:endParaRPr lang="en-US"/>
          </a:p>
          <a:p>
            <a:pPr algn="l">
              <a:lnSpc>
                <a:spcPct val="108000"/>
              </a:lnSpc>
              <a:spcAft>
                <a:spcPts val="1200"/>
              </a:spcAft>
              <a:buNone/>
            </a:pPr>
            <a:r>
              <a:rPr sz="1400" b="0" i="0">
                <a:solidFill>
                  <a:srgbClr val="202329"/>
                </a:solidFill>
                <a:latin typeface="Arial"/>
                <a:ea typeface="Arial"/>
              </a:rPr>
              <a:t xml:space="preserve">Selective lesions of one route left the other direction available, so each direction of frequency change can be lost independently. The two directions have separable anatomical bases in the prepacemaker region. Each route reaches a distinct prepacemaker station, the dorsal route through PPn-G and the ventral route through SPPn. The stations were tested with lesions, stimulation, and pharmacology.</a:t>
            </a:r>
            <a:endParaRPr lang="en-US"/>
          </a:p>
          <a:p>
            <a:pPr algn="l">
              <a:lnSpc>
                <a:spcPct val="108000"/>
              </a:lnSpc>
              <a:spcAft>
                <a:spcPts val="1200"/>
              </a:spcAft>
              <a:buNone/>
            </a:pPr>
            <a:r>
              <a:rPr sz="1400" b="0" i="0">
                <a:solidFill>
                  <a:srgbClr val="202329"/>
                </a:solidFill>
                <a:latin typeface="Arial"/>
                <a:ea typeface="Arial"/>
              </a:rPr>
              <a:t xml:space="preserve">The lesion results separated the increase-driving route from the decrease-driving route, although both reach the same oscillator. The chirp-controlling PPn-C remained a separate premotor subdivision, so its role in chirps sits apart from both JAR routes. The target-cell assignments were later tested directly in intracellular recordings. Some of those assignments remained inferred in 1993. This was tested in the same circuit.</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38" name="Shape 8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06" name="Shape 80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E-type label refers to response, not transmitter</a:t>
            </a:r>
            <a:endParaRPr lang="en-US"/>
          </a:p>
        </p:txBody>
      </p:sp>
      <p:sp>
        <p:nvSpPr>
          <p:cNvPr id="807" name="Shape 80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The label excitatory in E-type refers to excitation during amplitude increase, not to the transmitter the cell releases. An I-type sensory preference likewise says nothing about whether the neuron inhibits its postsynaptic targets. Each label describes a response in the torus, and no label describes a transmitter. The four-class scheme is built from sensory response properties alone.</a:t>
            </a:r>
            <a:endParaRPr lang="en-US"/>
          </a:p>
          <a:p>
            <a:pPr algn="l">
              <a:lnSpc>
                <a:spcPct val="108000"/>
              </a:lnSpc>
              <a:spcAft>
                <a:spcPts val="1200"/>
              </a:spcAft>
              <a:buNone/>
            </a:pPr>
            <a:r>
              <a:rPr sz="1400" b="0" i="0">
                <a:solidFill>
                  <a:srgbClr val="202329"/>
                </a:solidFill>
                <a:latin typeface="Arial"/>
                <a:ea typeface="Arial"/>
              </a:rPr>
              <a:t>The published summary includes pure amplitude coders, phase coders, and cells sensitive to both variables. These stages are experimentally distinguishable, so the population contains each kind of representation. The published summary identifies these stages by their recorded responses. Pure amplitude coders respond to one variable, whereas dual-sensitive cells respond to both. The stages are defined by their responses.</a:t>
            </a:r>
            <a:endParaRPr lang="en-US"/>
          </a:p>
          <a:p>
            <a:pPr algn="l">
              <a:lnSpc>
                <a:spcPct val="108000"/>
              </a:lnSpc>
              <a:spcAft>
                <a:spcPts val="1200"/>
              </a:spcAft>
              <a:buNone/>
            </a:pPr>
            <a:r>
              <a:rPr sz="1400" b="0" i="0">
                <a:solidFill>
                  <a:srgbClr val="202329"/>
                </a:solidFill>
                <a:latin typeface="Arial"/>
                <a:ea typeface="Arial"/>
              </a:rPr>
              <a:t>Physiological response class and synaptic transmitter identity are separate properties of a neuron. Reading a response class as a transmitter identity would conflate two different properties. The labeled morphology in deeper laminae supplies an anatomical correlate for each class. Each class needs its own morphological and physiological test. The identity of the transmitter is a separate question.</a:t>
            </a:r>
            <a:endParaRPr lang="en-US"/>
          </a:p>
        </p:txBody>
      </p:sp>
      <p:pic>
        <p:nvPicPr>
          <p:cNvPr id="213" name="Presenton Native Image 30" descr=""/>
          <p:cNvPicPr/>
          <p:nvPr/>
        </p:nvPicPr>
        <p:blipFill>
          <a:blip r:embed="rId2" cstate="none"/>
          <a:stretch>
            <a:fillRect/>
          </a:stretch>
        </p:blipFill>
        <p:spPr>
          <a:xfrm>
            <a:off x="7420496" y="1280071"/>
            <a:ext cx="3654029" cy="4297561"/>
          </a:xfrm>
          <a:prstGeom prst="rect">
            <a:avLst/>
          </a:prstGeom>
        </p:spPr>
      </p:pic>
      <p:sp>
        <p:nvSpPr>
          <p:cNvPr id="810" name="Shape 81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9(a–d). Morphology of excitatory/inhibitory advance/delay classes.</a:t>
            </a:r>
            <a:endParaRPr lang="en-US"/>
          </a:p>
        </p:txBody>
      </p:sp>
      <p:sp>
        <p:nvSpPr>
          <p:cNvPr id="811" name="Shape 811"/>
          <p:cNvSpPr/>
          <p:nvPr/>
        </p:nvSpPr>
        <p:spPr>
          <a:xfrm>
            <a:off x="566886" y="6382494"/>
            <a:ext cx="11058079" cy="9079"/>
          </a:xfrm>
          <a:prstGeom prst="rect">
            <a:avLst/>
          </a:prstGeom>
          <a:solidFill>
            <a:srgbClr val="D2D4D9"/>
          </a:solidFill>
        </p:spPr>
        <p:txBody>
          <a:bodyPr/>
          <a:lstStyle/>
          <a:p/>
        </p:txBody>
      </p:sp>
      <p:sp>
        <p:nvSpPr>
          <p:cNvPr id="812" name="Shape 8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813" name="Shape 81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24a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0" name="Shape 7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Sensitivity to instant timing differs from change</a:t>
            </a:r>
            <a:endParaRPr lang="en-US"/>
          </a:p>
        </p:txBody>
      </p:sp>
      <p:sp>
        <p:nvSpPr>
          <p:cNvPr id="781" name="Shape 7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The two kinds of test distinguish sensitivity to instantaneous timing from sensitivity to temporal change. A held phase value probes the steady response, while a rapid sweep probes the response during changing input. Each test reveals a different feature of the same comparator. A held phase value tests stationary timing, which a sweep alone leaves hidden.</a:t>
            </a:r>
            <a:endParaRPr lang="en-US"/>
          </a:p>
          <a:p>
            <a:pPr algn="l">
              <a:lnSpc>
                <a:spcPct val="108000"/>
              </a:lnSpc>
              <a:spcAft>
                <a:spcPts val="1200"/>
              </a:spcAft>
              <a:buNone/>
            </a:pPr>
            <a:r>
              <a:rPr sz="1400" b="0" i="0">
                <a:solidFill>
                  <a:srgbClr val="202329"/>
                </a:solidFill>
                <a:latin typeface="Arial"/>
                <a:ea typeface="Arial"/>
              </a:rPr>
              <a:t>In the 2-Hz tests the two regional signals moved together, so only their relative timing changed. Losing the head carrier widened the range of the cycle over which the cell fired, so the response depends on carrier presence. Head carrier removal changed the activity pattern across the whole cycle. The timing relation changed with the carrier.</a:t>
            </a:r>
            <a:endParaRPr lang="en-US"/>
          </a:p>
          <a:p>
            <a:pPr algn="l">
              <a:lnSpc>
                <a:spcPct val="108000"/>
              </a:lnSpc>
              <a:spcAft>
                <a:spcPts val="1200"/>
              </a:spcAft>
              <a:buNone/>
            </a:pPr>
            <a:r>
              <a:rPr sz="1400" b="0" i="0">
                <a:solidFill>
                  <a:srgbClr val="202329"/>
                </a:solidFill>
                <a:latin typeface="Arial"/>
                <a:ea typeface="Arial"/>
              </a:rPr>
              <a:t>A neuron that responds to instantaneous phase is not identical to one that responds to changing phase, so one cell can carry both kinds of information. Sustained offsets held the phase constant long enough to measure a steady firing level, which a rapid scan lacks. Its response state depends on the carrier present in the reference region.</a:t>
            </a:r>
            <a:endParaRPr lang="en-US"/>
          </a:p>
        </p:txBody>
      </p:sp>
      <p:pic>
        <p:nvPicPr>
          <p:cNvPr id="208" name="Presenton Native Image 25" descr=""/>
          <p:cNvPicPr/>
          <p:nvPr/>
        </p:nvPicPr>
        <p:blipFill>
          <a:blip r:embed="rId2" cstate="none"/>
          <a:stretch>
            <a:fillRect/>
          </a:stretch>
        </p:blipFill>
        <p:spPr>
          <a:xfrm>
            <a:off x="8370100" y="1280071"/>
            <a:ext cx="1754821" cy="2880271"/>
          </a:xfrm>
          <a:prstGeom prst="rect">
            <a:avLst/>
          </a:prstGeom>
        </p:spPr>
      </p:pic>
      <p:sp>
        <p:nvSpPr>
          <p:cNvPr id="784" name="Shape 7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6(a–b). Phase-sensitive responses and removal of the head signal.</a:t>
            </a:r>
            <a:endParaRPr lang="en-US"/>
          </a:p>
        </p:txBody>
      </p:sp>
      <p:pic>
        <p:nvPicPr>
          <p:cNvPr id="209" name="Presenton Native Image 26" descr=""/>
          <p:cNvPicPr/>
          <p:nvPr/>
        </p:nvPicPr>
        <p:blipFill>
          <a:blip r:embed="rId3" cstate="none"/>
          <a:stretch>
            <a:fillRect/>
          </a:stretch>
        </p:blipFill>
        <p:spPr>
          <a:xfrm>
            <a:off x="7811943" y="4709071"/>
            <a:ext cx="2870985" cy="1051471"/>
          </a:xfrm>
          <a:prstGeom prst="rect">
            <a:avLst/>
          </a:prstGeom>
        </p:spPr>
      </p:pic>
      <p:sp>
        <p:nvSpPr>
          <p:cNvPr id="785" name="Shape 7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86" name="Shape 786"/>
          <p:cNvSpPr/>
          <p:nvPr/>
        </p:nvSpPr>
        <p:spPr>
          <a:xfrm>
            <a:off x="566886" y="6382494"/>
            <a:ext cx="11058079" cy="9079"/>
          </a:xfrm>
          <a:prstGeom prst="rect">
            <a:avLst/>
          </a:prstGeom>
          <a:solidFill>
            <a:srgbClr val="D2D4D9"/>
          </a:solidFill>
        </p:spPr>
        <p:txBody>
          <a:bodyPr/>
          <a:lstStyle/>
          <a:p/>
        </p:txBody>
      </p:sp>
      <p:sp>
        <p:nvSpPr>
          <p:cNvPr id="787" name="Shape 7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88" name="Shape 78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21a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5" name="Shape 75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Lobus caudalis and the layered projection</a:t>
            </a:r>
            <a:endParaRPr lang="en-US"/>
          </a:p>
        </p:txBody>
      </p:sp>
      <p:sp>
        <p:nvSpPr>
          <p:cNvPr id="756" name="Shape 75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Dye-filled cells can be matched to their location in the torus, linking physiology to anatomy. The named laminae are anatomical layers rather than separate behavioral stages, so each lamina can host several cell types. Lamina 3 and lamina 6 sit at different depths within the same structure. The laminae define functional depth rather than separate behaviors.</a:t>
            </a:r>
            <a:endParaRPr lang="en-US"/>
          </a:p>
          <a:p>
            <a:pPr algn="l">
              <a:lnSpc>
                <a:spcPct val="108000"/>
              </a:lnSpc>
              <a:spcAft>
                <a:spcPts val="1200"/>
              </a:spcAft>
              <a:buNone/>
            </a:pPr>
            <a:r>
              <a:rPr sz="1400" b="0" i="0">
                <a:solidFill>
                  <a:srgbClr val="202329"/>
                </a:solidFill>
                <a:latin typeface="Arial"/>
                <a:ea typeface="Arial"/>
              </a:rPr>
              <a:t>One connection in the paper runs to the lobus caudalis, and the authors assigned it no specific role in the JAR. That projection is listed alongside the torus laminae in the anatomical summary. That projection reaches a structure outside the toral laminae, so it is not one of the lamina-specific streams described above. Its position is separate.</a:t>
            </a:r>
            <a:endParaRPr lang="en-US"/>
          </a:p>
          <a:p>
            <a:pPr algn="l">
              <a:lnSpc>
                <a:spcPct val="108000"/>
              </a:lnSpc>
              <a:spcAft>
                <a:spcPts val="1200"/>
              </a:spcAft>
              <a:buNone/>
            </a:pPr>
            <a:r>
              <a:rPr sz="1400" b="0" i="0">
                <a:solidFill>
                  <a:srgbClr val="202329"/>
                </a:solidFill>
                <a:latin typeface="Arial"/>
                <a:ea typeface="Arial"/>
              </a:rPr>
              <a:t>Amplitude and phase inputs converge within deeper toral layers, where the combination-sensitive neurons of later experiments were recorded. Those deeper neurons receive the streams that enter the upper laminae, so the layered arrangement sets the order of processing. Their arrangement determines which cells receive the timing signal first. Each stream reaches the deeper laminae in order.</a:t>
            </a:r>
            <a:endParaRPr lang="en-US"/>
          </a:p>
        </p:txBody>
      </p:sp>
      <p:pic>
        <p:nvPicPr>
          <p:cNvPr id="204" name="Presenton Native Image 21" descr=""/>
          <p:cNvPicPr/>
          <p:nvPr/>
        </p:nvPicPr>
        <p:blipFill>
          <a:blip r:embed="rId2" cstate="none"/>
          <a:stretch>
            <a:fillRect/>
          </a:stretch>
        </p:blipFill>
        <p:spPr>
          <a:xfrm>
            <a:off x="7733025" y="1280071"/>
            <a:ext cx="3028970" cy="4297561"/>
          </a:xfrm>
          <a:prstGeom prst="rect">
            <a:avLst/>
          </a:prstGeom>
        </p:spPr>
      </p:pic>
      <p:sp>
        <p:nvSpPr>
          <p:cNvPr id="759" name="Shape 759"/>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2. Amplitude and phase inputs reach distinct toral laminae.</a:t>
            </a:r>
            <a:endParaRPr lang="en-US"/>
          </a:p>
        </p:txBody>
      </p:sp>
      <p:sp>
        <p:nvSpPr>
          <p:cNvPr id="760" name="Shape 760"/>
          <p:cNvSpPr/>
          <p:nvPr/>
        </p:nvSpPr>
        <p:spPr>
          <a:xfrm>
            <a:off x="566886" y="6382494"/>
            <a:ext cx="11058079" cy="9079"/>
          </a:xfrm>
          <a:prstGeom prst="rect">
            <a:avLst/>
          </a:prstGeom>
          <a:solidFill>
            <a:srgbClr val="D2D4D9"/>
          </a:solidFill>
        </p:spPr>
        <p:txBody>
          <a:bodyPr/>
          <a:lstStyle/>
          <a:p/>
        </p:txBody>
      </p:sp>
      <p:sp>
        <p:nvSpPr>
          <p:cNvPr id="761" name="Shape 76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62" name="Shape 762"/>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18a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Junction recordings tied to labeled contacts</a:t>
            </a:r>
            <a:endParaRPr lang="en-US"/>
          </a:p>
        </p:txBody>
      </p:sp>
      <p:sp>
        <p:nvSpPr>
          <p:cNvPr id="732" name="Shape 732"/>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Carr and colleagues linked electrophysiology to an identifiable contact by recording near a terminal and labeling the same pathway. Electrical transmission was not inferred from the mere proximity of unlabeled cells, so each recorded event is tied to a specific anatomical contact. The labeled terminals were identified in the same preparation as the recordings. The contact was labeled in every panel.</a:t>
            </a:r>
            <a:endParaRPr lang="en-US"/>
          </a:p>
          <a:p>
            <a:pPr algn="l">
              <a:lnSpc>
                <a:spcPct val="108000"/>
              </a:lnSpc>
              <a:spcAft>
                <a:spcPts val="1200"/>
              </a:spcAft>
              <a:buNone/>
            </a:pPr>
            <a:r>
              <a:rPr sz="1400" b="0" i="0">
                <a:solidFill>
                  <a:srgbClr val="202329"/>
                </a:solidFill>
                <a:latin typeface="Arial"/>
                <a:ea typeface="Arial"/>
              </a:rPr>
              <a:t xml:space="preserve">The accompanying micrograph carries a 20-µm scale bar, which sets the size reference for the contact. At that scale the terminal recordings resolve individual contacts rather than whole cell populations. A junction recorded at this resolution can be attributed to one identified contact. Spikes recorded there carry the timing of the presynaptic side. Recording and labeling were combined.</a:t>
            </a:r>
            <a:endParaRPr lang="en-US"/>
          </a:p>
          <a:p>
            <a:pPr algn="l">
              <a:lnSpc>
                <a:spcPct val="108000"/>
              </a:lnSpc>
              <a:spcAft>
                <a:spcPts val="1200"/>
              </a:spcAft>
              <a:buNone/>
            </a:pPr>
            <a:r>
              <a:rPr sz="1400" b="0" i="0">
                <a:solidFill>
                  <a:srgbClr val="202329"/>
                </a:solidFill>
                <a:latin typeface="Arial"/>
                <a:ea typeface="Arial"/>
              </a:rPr>
              <a:t xml:space="preserve">Spikes and potentials that cross the junction in reverse differ from newly generated sensory events, since they originate in the giant cell. Events of this kind are what an electrical synapse would produce when current flows in both directions. Gap junctions are the structural basis for that electrical coupling. Their contacts can carry current in either direction.</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Afferent and spherical cells occupy different sites</a:t>
            </a:r>
            <a:endParaRPr lang="en-US"/>
          </a:p>
        </p:txBody>
      </p:sp>
      <p:sp>
        <p:nvSpPr>
          <p:cNvPr id="706" name="Shape 706"/>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The primary afferent's cell body lies in a peripheral ganglion, whereas the spherical cell is a central neuron in the ELL. These are successive elements of one pathway, not different names for the same cell. The transition from a peripheral to a central cell body marks the point where the signal enters the brain. The circuit begins at the receptor.</a:t>
            </a:r>
            <a:endParaRPr lang="en-US"/>
          </a:p>
          <a:p>
            <a:pPr algn="l">
              <a:lnSpc>
                <a:spcPct val="108000"/>
              </a:lnSpc>
              <a:spcAft>
                <a:spcPts val="1200"/>
              </a:spcAft>
              <a:buNone/>
            </a:pPr>
            <a:r>
              <a:rPr sz="1400" b="0" i="0">
                <a:solidFill>
                  <a:srgbClr val="202329"/>
                </a:solidFill>
                <a:latin typeface="Arial"/>
                <a:ea typeface="Arial"/>
              </a:rPr>
              <a:t xml:space="preserve">The parallel P-type pathway carries amplitude information and projects to different central targets than the T-type route. Routing the two pathways to different targets allows the torus to receive both cue types through separate channels. Routing timing through the ELL keeps phase information separate from amplitude information until the torus. Phase information stays separate there.</a:t>
            </a:r>
            <a:endParaRPr lang="en-US"/>
          </a:p>
          <a:p>
            <a:pPr algn="l">
              <a:lnSpc>
                <a:spcPct val="108000"/>
              </a:lnSpc>
              <a:spcAft>
                <a:spcPts val="1200"/>
              </a:spcAft>
              <a:buNone/>
            </a:pPr>
            <a:r>
              <a:rPr sz="1400" b="0" i="0">
                <a:solidFill>
                  <a:srgbClr val="202329"/>
                </a:solidFill>
                <a:latin typeface="Arial"/>
                <a:ea typeface="Arial"/>
              </a:rPr>
              <a:t xml:space="preserve">Spherical-cell axons reach lamina VI, where giant cells receive the locked timing. Each stage carries the phase of the original carrier to the next, which allows the torus to compare arrival times across regions. The giant cells in lamina VI receive timing from spherical cells rather than from the periphery. Phase locking is conserved across this step.</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13" name="Shape 71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Electronic controls mimic the spike's rising edge</a:t>
            </a:r>
            <a:endParaRPr lang="en-US"/>
          </a:p>
        </p:txBody>
      </p:sp>
      <p:sp>
        <p:nvSpPr>
          <p:cNvPr id="681" name="Shape 6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The electronic controls were adjusted to resemble the steep rising portion of a neural spike, because a different spike shape could change threshold-crossing precision. Intracellular recordings also reduced contamination from small extracellular signals, which helped distinguish biological variability from the recording method. Those controls kept the spike shape constant across trials. The rising edge sets the threshold timing.</a:t>
            </a:r>
            <a:endParaRPr lang="en-US"/>
          </a:p>
          <a:p>
            <a:pPr algn="l">
              <a:lnSpc>
                <a:spcPct val="108000"/>
              </a:lnSpc>
              <a:spcAft>
                <a:spcPts val="1200"/>
              </a:spcAft>
              <a:buNone/>
            </a:pPr>
            <a:r>
              <a:rPr sz="1400" b="0" i="0">
                <a:solidFill>
                  <a:srgbClr val="202329"/>
                </a:solidFill>
                <a:latin typeface="Arial"/>
                <a:ea typeface="Arial"/>
              </a:rPr>
              <a:t xml:space="preserve">A single afferent's spike train is one sample of the timing signal, which is why the authors pointed to parallel inputs. The spike mimics passed through the same equipment, so instrument uncertainty was measured on the same timescale as the afferent data. The spike mimics directly tested the recording system. Its spread stayed narrow.</a:t>
            </a:r>
            <a:endParaRPr lang="en-US"/>
          </a:p>
          <a:p>
            <a:pPr algn="l">
              <a:lnSpc>
                <a:spcPct val="108000"/>
              </a:lnSpc>
              <a:spcAft>
                <a:spcPts val="1200"/>
              </a:spcAft>
              <a:buNone/>
            </a:pPr>
            <a:r>
              <a:rPr sz="1400" b="0" i="0">
                <a:solidFill>
                  <a:srgbClr val="202329"/>
                </a:solidFill>
                <a:latin typeface="Arial"/>
                <a:ea typeface="Arial"/>
              </a:rPr>
              <a:t xml:space="preserve">Afferent timing alone leaves the behavioral precision within the 300-ms response latency poorly. Pooling across many inputs fits both the afferent spread and the behavioral result, because each additional afferent adds a partly independent timing estimate. The 300-ms response latency gives the nervous system time to pool many stimulus cycles before the fish responds. The timing estimates stay partly independent.</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88" name="Shape 68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56" name="Shape 6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Regional stimulation holds one cue constant</a:t>
            </a:r>
            <a:endParaRPr lang="en-US"/>
          </a:p>
        </p:txBody>
      </p:sp>
      <p:sp>
        <p:nvSpPr>
          <p:cNvPr id="657" name="Shape 6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A natural neighbor changes several cues together, whereas regional stimulation can vary one cue while another stays fixed. That control let the investigator treat the timing offset between two regions as a separate variable. The published stimulus tested the relative timing cue on its own, apart from the beat rate. The offset behaves as a second variable beside the modulation.</a:t>
            </a:r>
            <a:endParaRPr lang="en-US"/>
          </a:p>
          <a:p>
            <a:pPr algn="l">
              <a:lnSpc>
                <a:spcPct val="108000"/>
              </a:lnSpc>
              <a:spcAft>
                <a:spcPts val="1200"/>
              </a:spcAft>
              <a:buNone/>
            </a:pPr>
            <a:r>
              <a:rPr sz="1400" b="0" i="0">
                <a:solidFill>
                  <a:srgbClr val="202329"/>
                </a:solidFill>
                <a:latin typeface="Arial"/>
                <a:ea typeface="Arial"/>
              </a:rPr>
              <a:t>Heiligenberg's stimulators were controlled electronically, so each region's modulation could be repeated across trials. Exchanging the region assignments moved the phase modulation to the other region, with the amplitude schedule fixed. The constant phase offset between regions was held fixed during each exchange. At near-zero offset, timing of the normal kind yielded a negative shift for positive Δf.</a:t>
            </a:r>
            <a:endParaRPr lang="en-US"/>
          </a:p>
          <a:p>
            <a:pPr algn="l">
              <a:lnSpc>
                <a:spcPct val="108000"/>
              </a:lnSpc>
              <a:spcAft>
                <a:spcPts val="1200"/>
              </a:spcAft>
              <a:buNone/>
            </a:pPr>
            <a:r>
              <a:rPr sz="1400" b="0" i="0">
                <a:solidFill>
                  <a:srgbClr val="202329"/>
                </a:solidFill>
                <a:latin typeface="Arial"/>
                <a:ea typeface="Arial"/>
              </a:rPr>
              <a:t>Relative timing defines the exchange, and the stimulus isolates that variable from the amplitude schedule. The same experiments also showed that the offset between regions shapes the size of the response, not only its direction. The behavioral reversal shows which cue controls the response, and it points to the neural site of the computation as the next layer to map.</a:t>
            </a:r>
            <a:endParaRPr lang="en-US"/>
          </a:p>
        </p:txBody>
      </p:sp>
      <p:pic>
        <p:nvPicPr>
          <p:cNvPr id="189" name="Presenton Native Image 6" descr=""/>
          <p:cNvPicPr/>
          <p:nvPr/>
        </p:nvPicPr>
        <p:blipFill>
          <a:blip r:embed="rId2" cstate="none"/>
          <a:stretch>
            <a:fillRect/>
          </a:stretch>
        </p:blipFill>
        <p:spPr>
          <a:xfrm>
            <a:off x="6870154" y="1280071"/>
            <a:ext cx="4754712" cy="2698254"/>
          </a:xfrm>
          <a:prstGeom prst="rect">
            <a:avLst/>
          </a:prstGeom>
        </p:spPr>
      </p:pic>
      <p:sp>
        <p:nvSpPr>
          <p:cNvPr id="660" name="Shape 660"/>
          <p:cNvSpPr/>
          <p:nvPr/>
        </p:nvSpPr>
        <p:spPr>
          <a:xfrm>
            <a:off x="6870055" y="4069854"/>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4. Exchanging phase modulation reverses pacemaker responses.</a:t>
            </a:r>
            <a:endParaRPr lang="en-US"/>
          </a:p>
        </p:txBody>
      </p:sp>
      <p:sp>
        <p:nvSpPr>
          <p:cNvPr id="661" name="Shape 661"/>
          <p:cNvSpPr/>
          <p:nvPr/>
        </p:nvSpPr>
        <p:spPr>
          <a:xfrm>
            <a:off x="566886" y="6382494"/>
            <a:ext cx="11058079" cy="9079"/>
          </a:xfrm>
          <a:prstGeom prst="rect">
            <a:avLst/>
          </a:prstGeom>
          <a:solidFill>
            <a:srgbClr val="D2D4D9"/>
          </a:solidFill>
        </p:spPr>
        <p:txBody>
          <a:bodyPr/>
          <a:lstStyle/>
          <a:p/>
        </p:txBody>
      </p:sp>
      <p:sp>
        <p:nvSpPr>
          <p:cNvPr id="662" name="Shape 6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63" name="Shape 66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06a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Zero crossings mark timing inside the mixture</a:t>
            </a:r>
            <a:endParaRPr lang="en-US"/>
          </a:p>
        </p:txBody>
      </p:sp>
      <p:sp>
        <p:nvSpPr>
          <p:cNvPr id="633" name="Shape 63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202329"/>
                </a:solidFill>
                <a:latin typeface="Arial"/>
                <a:ea typeface="Arial"/>
              </a:rPr>
              <a:t xml:space="preserve">A zero crossing is the moment when the electrical voltage changes sign, and it gives a reproducible timing landmark on each carrier cycle. Amplitude and zero-crossing timing are two different properties of the same mixed waveform. Neither sensory pathway directly receives an isolated copy of the neighbor's signal, so both cues come from one summed input.</a:t>
            </a:r>
            <a:endParaRPr lang="en-US"/>
          </a:p>
          <a:p>
            <a:pPr algn="l">
              <a:lnSpc>
                <a:spcPct val="108000"/>
              </a:lnSpc>
              <a:spcAft>
                <a:spcPts val="1200"/>
              </a:spcAft>
              <a:buNone/>
            </a:pPr>
            <a:r>
              <a:rPr sz="1400" b="0" i="0">
                <a:solidFill>
                  <a:srgbClr val="202329"/>
                </a:solidFill>
                <a:latin typeface="Arial"/>
                <a:ea typeface="Arial"/>
              </a:rPr>
              <a:t xml:space="preserve">The illustrated carrier runs at 500 Hz, so each cycle lasts 2 ms. A timing shift in the landmark occupies a small part of that cycle, which is why the fish must resolve fine differences inside a repeating waveform. Heiligenberg's oscilloscope record keeps the slow envelope and the fast carrier on one trace, so both features appear together.</a:t>
            </a:r>
            <a:endParaRPr lang="en-US"/>
          </a:p>
          <a:p>
            <a:pPr algn="l">
              <a:lnSpc>
                <a:spcPct val="108000"/>
              </a:lnSpc>
              <a:spcAft>
                <a:spcPts val="1200"/>
              </a:spcAft>
              <a:buNone/>
            </a:pPr>
            <a:r>
              <a:rPr sz="1400" b="0" i="0">
                <a:solidFill>
                  <a:srgbClr val="202329"/>
                </a:solidFill>
                <a:latin typeface="Arial"/>
                <a:ea typeface="Arial"/>
              </a:rPr>
              <a:t xml:space="preserve">Sorting these cues requires reading each timing landmark against the amplitude change at the same point in the cycle. Because the nervous system receives both properties through one channel, each measure must be interpreted in the context of the other. A beat rate alone carries no sign information, so the timing evidence must supply it.</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III: the jamming avoidance response (Heiligenberg)</dc:title>
  <dc:subject>Generated by Presenton export-core</dc:subject>
  <dc:creator>Presenton</dc:creator>
  <cp:lastModifiedBy>Presenton</cp:lastModifiedBy>
  <dcterms:created xsi:type="dcterms:W3CDTF">2026-10-08T07:27:02.847Z</dcterms:created>
  <dcterms:modified xsi:type="dcterms:W3CDTF">2026-10-08T07:27:02.847Z</dcterms:modified>
</cp:coreProperties>
</file>