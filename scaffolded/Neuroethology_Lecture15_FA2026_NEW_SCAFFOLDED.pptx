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315" r:id="rId67"/>
    <p:sldId id="259" r:id="rId11"/>
    <p:sldId id="260" r:id="rId12"/>
    <p:sldId id="314" r:id="rId66"/>
    <p:sldId id="261" r:id="rId13"/>
    <p:sldId id="262" r:id="rId14"/>
    <p:sldId id="313" r:id="rId65"/>
    <p:sldId id="263" r:id="rId15"/>
    <p:sldId id="264" r:id="rId16"/>
    <p:sldId id="312" r:id="rId64"/>
    <p:sldId id="265" r:id="rId17"/>
    <p:sldId id="266" r:id="rId18"/>
    <p:sldId id="311" r:id="rId63"/>
    <p:sldId id="267" r:id="rId19"/>
    <p:sldId id="268" r:id="rId20"/>
    <p:sldId id="310" r:id="rId62"/>
    <p:sldId id="269" r:id="rId21"/>
    <p:sldId id="270" r:id="rId22"/>
    <p:sldId id="271" r:id="rId23"/>
    <p:sldId id="309" r:id="rId61"/>
    <p:sldId id="272" r:id="rId24"/>
    <p:sldId id="273" r:id="rId25"/>
    <p:sldId id="274" r:id="rId26"/>
    <p:sldId id="308" r:id="rId60"/>
    <p:sldId id="275" r:id="rId27"/>
    <p:sldId id="276" r:id="rId28"/>
    <p:sldId id="277" r:id="rId29"/>
    <p:sldId id="307" r:id="rId59"/>
    <p:sldId id="278" r:id="rId30"/>
    <p:sldId id="279" r:id="rId31"/>
    <p:sldId id="306" r:id="rId58"/>
    <p:sldId id="280" r:id="rId32"/>
    <p:sldId id="305" r:id="rId57"/>
    <p:sldId id="281" r:id="rId33"/>
    <p:sldId id="282" r:id="rId34"/>
    <p:sldId id="283" r:id="rId35"/>
    <p:sldId id="284" r:id="rId36"/>
    <p:sldId id="285" r:id="rId37"/>
    <p:sldId id="304" r:id="rId56"/>
    <p:sldId id="286" r:id="rId38"/>
    <p:sldId id="287" r:id="rId39"/>
    <p:sldId id="288" r:id="rId40"/>
    <p:sldId id="289" r:id="rId41"/>
    <p:sldId id="290" r:id="rId42"/>
    <p:sldId id="291" r:id="rId43"/>
    <p:sldId id="292" r:id="rId44"/>
    <p:sldId id="303" r:id="rId55"/>
    <p:sldId id="293" r:id="rId45"/>
    <p:sldId id="294" r:id="rId46"/>
    <p:sldId id="295" r:id="rId47"/>
    <p:sldId id="296" r:id="rId48"/>
    <p:sldId id="297" r:id="rId49"/>
    <p:sldId id="298" r:id="rId50"/>
    <p:sldId id="302" r:id="rId54"/>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Insect hearing II: moth ears and bat-evasion behavior (Roeder)</a:t>
            </a:r>
          </a:p>
          <a:p>
            <a:r>
              <a:t>Lecture 15. NEUR 411 · NEUROETHOLOGY · FALL 2026. Monday, September 28, 2026.</a:t>
            </a:r>
          </a:p>
          <a:p/>
          <a:p>
            <a:r>
              <a:t>Figure: Moir et al. (2013), Fig. 1(a). Greater wax moth; scale bar 5 mm.</a:t>
            </a:r>
          </a:p>
          <a:p>
            <a:r>
              <a:t>Figure source: https://doi.org/10.1098/rsbl.2013.0241</a:t>
            </a:r>
          </a:p>
          <a:p/>
          <a:p>
            <a:r>
              <a:t>References:</a:t>
            </a:r>
          </a:p>
          <a:p>
            <a:r>
              <a:t>Moir HM, Jackson JC, Windmill JFC (2013). Extremely high frequency sensitivity in a ‘simple’ ear. Biology Letters 9: 20130241. https://doi.org/10.1098/rsbl.2013.0241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Free-flying moths exposed to artificial **ultrasound**, sound above the human audible range, changed course or stopped beating their wings. Roeder photographed these responses on an open lawn rather than restricting the insects to a wire or tether.</a:t>
            </a:r>
          </a:p>
          <a:p>
            <a:r>
              <a:t>• A marker flash identified stimulus onset, and interruptions in the photographic tracks provided a 0.25-s time base. Flash-only trials caused no flight deviation; enclosing the camera reduced unwanted ultrasound from its shutter.</a:t>
            </a:r>
          </a:p>
          <a:p>
            <a:r>
              <a:t>  – A stationary-flight preparation can constrain turning and may already disturb the animal. Roeder instead examined insects entering the sound field during their own flights. The timing control separates the effect of ultrasound from the visible flash used to mark its onset.</a:t>
            </a:r>
          </a:p>
          <a:p>
            <a:r>
              <a:t>• Some moths made passive dives with motionless wings, whereas others continued powered flight. Recorded reaction times ranged from 0.2 s to more than 1 s. A stationary-flight preparation can constrain turning and may itself disturb the animal, so Roeder examined insects that entered the sound field during their own flights, and the timing control separates the effect of the ultrasound from the visible flash that marked its onset.</a:t>
            </a:r>
          </a:p>
          <a:p/>
          <a:p>
            <a:r>
              <a:t>References:</a:t>
            </a:r>
          </a:p>
          <a:p>
            <a:r>
              <a:t>Roeder KD (1962). The behaviour of free flying moths in the presence of artificial ultrasonic pulses. Animal Behaviour 10: 300-304. https://doi.org/10.1016/0003-3472(62)90053-2</a:t>
            </a:r>
          </a:p>
          <a:p/>
          <a:p>
            <a:r>
              <a:t>Figure: Roeder (1962), Fig. 1(D–E). Passive moth dives; gaps mark 0.25 s.</a:t>
            </a:r>
          </a:p>
          <a:p>
            <a:r>
              <a:t>Figure source: https://doi.org/10.1016/0003-3472(62)90053-2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greater distances from the source, or after the ultrasonic output was reduced, moths turned and flew away from the loudspeaker. This **directional avoidance** changed the flight path relative to the source, rather than simply reducing altitude.</a:t>
            </a:r>
          </a:p>
          <a:p>
            <a:r>
              <a:t>• The source position was fixed while naturally flying moths crossed the illuminated area. Moths approaching the source could reverse their course; those below it sometimes descended, and those above it could turn upward.</a:t>
            </a:r>
          </a:p>
          <a:p>
            <a:r>
              <a:t>  – Direction refers to the relationship between the insect’s path and the ultrasonic source. A downward movement can be directional when it carries the moth away from a source above it. A dive alone therefore does not determine whether directional information influenced the response.</a:t>
            </a:r>
          </a:p>
          <a:p>
            <a:r>
              <a:t>• Turning away occurred whether the resulting path carried an insect toward, away from, or across the light gradient. The comparison supports an acoustic contribution to direction. Direction refers to the relationship between the insect's path and the ultrasonic source, so a downward movement is directional when it carries the moth away from a source above it, and a dive qualifies as directional only when its path depends on the position of the source.</a:t>
            </a:r>
          </a:p>
          <a:p/>
          <a:p>
            <a:r>
              <a:t>References:</a:t>
            </a:r>
          </a:p>
          <a:p>
            <a:r>
              <a:t>Roeder KD (1962). The behaviour of free flying moths in the presence of artificial ultrasonic pulses. Animal Behaviour 10: 300-304. https://doi.org/10.1016/0003-3472(62)90053-2</a:t>
            </a:r>
          </a:p>
          <a:p/>
          <a:p>
            <a:r>
              <a:t>Figure: Roeder (1962), Fig. 2(A–D). Flight turns away from the sound source.</a:t>
            </a:r>
          </a:p>
          <a:p>
            <a:r>
              <a:t>Figure source: https://doi.org/10.1016/0003-3472(62)90053-2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Moths closer to the transducer exhibited a range of escape maneuvers: sharp passive dives, powered dives, loops, tight turns, and climbs followed by descents. Their common tendency was movement toward the ground, rather than a uniform direction away from the source.</a:t>
            </a:r>
          </a:p>
          <a:p>
            <a:r>
              <a:t>• Roeder usually repeated ultrasonic pulses 30 times per second. The stimulus continued while flight was photographed, allowing the trajectory after sound onset to be distinguished from the insect’s preceding movement.</a:t>
            </a:r>
          </a:p>
          <a:p>
            <a:r>
              <a:t>  – The climb preceding a dive and the continuing wingbeats during a turn are different motor solutions to an acoustic threat. Pooling them into one rigid reflex would discard the actual variation recorded in free flight. Bright lighting remains an experimental limitation even for moths without overt attraction to the lamp.</a:t>
            </a:r>
          </a:p>
          <a:p>
            <a:r>
              <a:t>• Wing movements could cease or increase in frequency after stimulation. The behavioral distinction between weaker-source avoidance and stronger-source diving is supported by these records. The climb preceding a dive and the continuing wingbeats during a turn are different motor solutions to an acoustic threat, and pooling them into one rigid reflex would discard the variation recorded in free flight.</a:t>
            </a:r>
          </a:p>
          <a:p/>
          <a:p>
            <a:r>
              <a:t>References:</a:t>
            </a:r>
          </a:p>
          <a:p>
            <a:r>
              <a:t>Roeder KD (1962). The behaviour of free flying moths in the presence of artificial ultrasonic pulses. Animal Behaviour 10: 300-304. https://doi.org/10.1016/0003-3472(62)90053-2</a:t>
            </a:r>
          </a:p>
          <a:p/>
          <a:p>
            <a:r>
              <a:t>Figure: Roeder (1962), Fig. 1(G–I). Climb–dive and turning responses.</a:t>
            </a:r>
          </a:p>
          <a:p>
            <a:r>
              <a:t>Figure source: https://doi.org/10.1016/0003-3472(62)90053-2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Conner recorded long-legged myotis bats, _Myotis volans_, pursuing naturally flying moths in an outdoor enclosure. Infrared cameras registered predator and prey positions without the visible floodlighting required by Roeder’s photographic method.</a:t>
            </a:r>
          </a:p>
          <a:p>
            <a:r>
              <a:t>• The enclosure measured 6 m by 4 m, with a height of 2.2–3 m. Synchronized camera views were calibrated and reconstructed into three-dimensional trajectories, linking movements in space to the outcome of each encounter.</a:t>
            </a:r>
          </a:p>
          <a:p>
            <a:r>
              <a:t>  – Calibration assigns a common spatial coordinate system to the camera recordings. The measured paths are therefore trajectories through a volume, rather than drawings inferred from a single photograph. Released moths were allowed to fly naturally before attacks were analyzed.</a:t>
            </a:r>
          </a:p>
          <a:p>
            <a:r>
              <a:t>• A turn observed from one camera can conceal changes in altitude or depth. Reconstructed trajectories resolve those components and permit measurements of speed and turning performance. Calibration assigns a common spatial coordinate system to the camera recordings, so the measured paths are trajectories through a volume, and released moths flew naturally before the attacks were analyzed.</a:t>
            </a:r>
          </a:p>
          <a:p/>
          <a:p>
            <a:r>
              <a:t>References:</a:t>
            </a:r>
          </a:p>
          <a:p>
            <a:r>
              <a:t>Corcoran AJ, Conner WE (2016). How moths escape bats: predicting outcomes of predator-prey interactions. Journal of Experimental Biology 219: 2704–2715. https://doi.org/10.1242/jeb.137638</a:t>
            </a:r>
          </a:p>
          <a:p/>
          <a:p>
            <a:r>
              <a:t>Figure: Corcoran &amp; Conner (2016), Fig. 3(A–D). Measured three-dimensional evasive flight trajectories.</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observed bat–moth encounters, bats captured 37.5% of evasive prey but 98% of non-evasive prey. Evasion was identified by sharp turns or accelerations during the attack, rather than by labeling every surviving moth as evasive.</a:t>
            </a:r>
          </a:p>
          <a:p>
            <a:r>
              <a:t>• Infrared video linked each movement sequence to capture or escape. Non-evasive moths followed comparatively slow or broad paths, whereas evasive moths changed speed or direction abruptly as the bat approached.</a:t>
            </a:r>
          </a:p>
          <a:p>
            <a:r>
              <a:t>  – The distinction between movement and outcome prevents a circular definition of escape behavior. An evasive moth can still be captured, and survival alone does not specify the maneuver. The authors measured kinematics to examine why some evasive paths succeeded while others did not.</a:t>
            </a:r>
          </a:p>
          <a:p>
            <a:r>
              <a:t>• The comparison connects flight behavior with survival in this preparation. Separating the movement from the outcome prevents a circular definition of escape, because an evasive moth can still be captured, and the authors measured kinematics to examine why some evasive paths succeeded while others failed.</a:t>
            </a:r>
          </a:p>
          <a:p/>
          <a:p>
            <a:r>
              <a:t>References:</a:t>
            </a:r>
          </a:p>
          <a:p>
            <a:r>
              <a:t>Corcoran AJ, Conner WE (2016). How moths escape bats: predicting outcomes of predator-prey interactions. Journal of Experimental Biology 219: 2704–2715. https://doi.org/10.1242/jeb.137638</a:t>
            </a:r>
          </a:p>
          <a:p/>
          <a:p>
            <a:r>
              <a:t>Figure: Corcoran &amp; Conner (2016), Fig. 4(A–D). Measured capture of a non-evasive moth.</a:t>
            </a:r>
          </a:p>
          <a:p>
            <a:r>
              <a:t>Figure source: https://doi.org/10.1242/jeb.137638</a:t>
            </a:r>
          </a:p>
          <a:p/>
          <a:p>
            <a:r>
              <a:t>Figure: Corcoran &amp; Conner (2016), Fig. 3(A–D). Measured three-dimensional evasive flight trajectories.</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**tympanum** is a thin membrane that vibrates in response to airborne sound. In noctuid moths it occupies a recessed region of the posterior thorax, near the junction between thorax and abdomen.</a:t>
            </a:r>
          </a:p>
          <a:p>
            <a:r>
              <a:t>• Roeder and Treat described a sensory attachment on the membrane’s inner surface, enclosed within the tympanic air sac. The **tympanic nerve**, a bundle carrying sensory axons, runs from this apparatus toward the thoracic ganglion.</a:t>
            </a:r>
          </a:p>
          <a:p>
            <a:r>
              <a:t>  – The membrane, sensory attachment and nerve are distinct components. Sound must first move the membrane; the attached receptors must then convert that movement into neural activity. A visible anatomical connection does not by itself specify either the mechanical sensitivity or the neural threshold.</a:t>
            </a:r>
          </a:p>
          <a:p>
            <a:r>
              <a:t>• This anatomy provides a mechanical route from external sound to sensory tissue and a neural route into the central nervous system. The membrane, the sensory attachment and the nerve are distinct components: sound first moves the membrane, the attached receptors convert that movement into neural activity, and the tympanic nerve carries the signal to the thoracic ganglion.</a:t>
            </a:r>
          </a:p>
          <a:p/>
          <a:p>
            <a:r>
              <a:t>References:</a:t>
            </a:r>
          </a:p>
          <a:p>
            <a:r>
              <a:t>Roeder KD, Treat AE (1957). Ultrasonic reception by the tympanic organ of noctuid moths. Journal of Experimental Zoology 134: 127-157. https://doi.org/10.1002/jez.1401340107</a:t>
            </a:r>
          </a:p>
          <a:p/>
          <a:p>
            <a:r>
              <a:t>Figure: Roeder &amp; Treat (1957), Fig. 1. Published noctuid ear, nerve and ganglion anatomy.</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noctuid tympanic sensory organ contains two **scolopes**, specialized supporting elements associated with sensory-cell dendrites. A dendrite is the peripheral region of a sensory neuron that receives the mechanical stimulus, whereas its axon carries the resulting signal centrally.</a:t>
            </a:r>
          </a:p>
          <a:p>
            <a:r>
              <a:t>• The sensory attachment extends inward from the tympanic membrane and is supported by a ligament and surrounding tissues. Roeder and Treat’s published section represents these relationships while explicitly leaving some cellular details presumptive.</a:t>
            </a:r>
          </a:p>
          <a:p>
            <a:r>
              <a:t>  – A scolops belongs to the supporting receptor apparatus rather than serving as a separate central neuron. The authors warned that cap cells, accessory cells and surrounding epithelium complicate the microscopic picture. The reconstruction should therefore be treated as published anatomy with its original qualifications intact.</a:t>
            </a:r>
          </a:p>
          <a:p>
            <a:r>
              <a:t>• Two acoustic response units were subsequently distinguished in the nerve recordings. Agreement between the two scolopes in the anatomy and the two acoustic units in the nerve recordings supports a small receptor population. A scolops belongs to the supporting receptor apparatus instead of being a separate central neuron, and the authors noted that cap cells, accessory cells and surrounding epithelium complicate the microscopic picture.</a:t>
            </a:r>
          </a:p>
          <a:p/>
          <a:p>
            <a:r>
              <a:t>References:</a:t>
            </a:r>
          </a:p>
          <a:p>
            <a:r>
              <a:t>Roeder KD, Treat AE (1957). Ultrasonic reception by the tympanic organ of noctuid moths. Journal of Experimental Zoology 134: 127-157. https://doi.org/10.1002/jez.1401340107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**afferent** is a neuron carrying information from a sensory organ toward the central nervous system. Roeder and Treat recorded afferent spikes extracellularly from the tympanic nerve after separating it from central connections.</a:t>
            </a:r>
          </a:p>
          <a:p>
            <a:r>
              <a:t>• An extracellular electrode detects voltage changes produced by nearby action potentials, the brief electrical impulses propagated along axons. Sound produced rapid trains in two acoustic units; a larger, regularly recurring non-acoustic unit remained insensitive to the stimulus.</a:t>
            </a:r>
          </a:p>
          <a:p>
            <a:r>
              <a:t>  – The electrical signal is measured outside the axon, so its size depends partly on electrode geometry. The nerve was disconnected from the central ganglion in the original preparation. Sound-evoked activity therefore originated peripherally rather than requiring a feedback command from the brain.</a:t>
            </a:r>
          </a:p>
          <a:p>
            <a:r>
              <a:t>• The non-acoustic discharge commonly occurred at 5–20 spikes per second. Separating this activity from sound-evoked spikes prevents every nerve event from being counted as hearing. Different acoustic thresholds distinguish receptor units even when their recorded spike sizes overlap; recording amplitude alone is an unreliable cell label.</a:t>
            </a:r>
          </a:p>
          <a:p/>
          <a:p>
            <a:r>
              <a:t>References:</a:t>
            </a:r>
          </a:p>
          <a:p>
            <a:r>
              <a:t>Roeder KD, Treat AE (1957). Ultrasonic reception by the tympanic organ of noctuid moths. Journal of Experimental Zoology 134: 127-157. https://doi.org/10.1002/jez.1401340107</a:t>
            </a:r>
          </a:p>
          <a:p/>
          <a:p>
            <a:r>
              <a:t>Figure: Roeder &amp; Treat (1957), Fig. 3(A–C). Spontaneous and sound-evoked nerve activity.</a:t>
            </a:r>
          </a:p>
          <a:p>
            <a:r>
              <a:t>Figure source: https://doi.org/10.1002/jez.1401340107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**Laser Doppler vibrometry** measures surface motion from changes in reflected laser light. In _Noctua pronuba_, ter Hofstede and colleagues directed the laser at the tympanum’s sensory-cell attachment while presenting calibrated sound pulses.</a:t>
            </a:r>
          </a:p>
          <a:p>
            <a:r>
              <a:t>• The method recorded velocity, the speed of membrane motion, and displacement, its excursion from the resting position. Stimuli lasted 20 ms and sampled frequencies from 5 to 80 kHz; incident sound was measured beside the ear.</a:t>
            </a:r>
          </a:p>
          <a:p>
            <a:r>
              <a:t>  – The speaker was 30 cm from the preparation, while the microphone was placed approximately 2 mm beside the ear. Local measurement matters because the animal and recording equipment can change the sound field. The sensory attachment is the mechanical location relevant to the receptor, rather than simply the point that is easiest to illuminate.</a:t>
            </a:r>
          </a:p>
          <a:p>
            <a:r>
              <a:t>• Simultaneous auditory-nerve recordings linked mechanical responses to spike production. Measuring the same attachment rather than an arbitrary membrane location constrains the relevant receptor input. The speaker stood 30 cm from the preparation and the microphone sat about 2 mm beside the ear, so the sound was measured locally at the ear, and the sensory attachment is the mechanical location relevant to the receptor.</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1(a–f). Membrane velocity in intact and dissected preparations.</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**neural threshold** is the lowest stimulus satisfying a stated response criterion. Across 15–80 kHz, the tympanic displacement at threshold remained approximately constant, whereas the corresponding membrane velocity increased with frequency.</a:t>
            </a:r>
          </a:p>
          <a:p>
            <a:r>
              <a:t>• The mean threshold displacement was 140 pm for A1 and 2510 pm for A2. A picometre is one trillionth of a metre. A1 and A2 denote the more sensitive and less sensitive acoustic receptor cells, respectively.</a:t>
            </a:r>
          </a:p>
          <a:p>
            <a:r>
              <a:t>  – A higher-frequency oscillation can move faster while covering the same displacement. The relevant comparison is therefore the membrane motion required for the same neural response, not simply whether a loud sound produces a large vibration. A2 required considerably greater movement than A1.</a:t>
            </a:r>
          </a:p>
          <a:p>
            <a:r>
              <a:t>• Sound-pressure thresholds alone combine the ear’s mechanical response with the receptor’s sensitivity. The stable displacement thresholds support displacement as the relevant mechanical input under these pure-tone conditions. A higher-frequency oscillation can move faster while covering the same displacement, so the relevant comparison is the membrane motion required for the same neural response, and A2 required considerably greater movement than A1.</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2(a–c). Pressure, velocity and displacement at neural threshold.</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Exposing the auditory nerve could alter the ear’s biomechanics. Ter Hofstede and colleagues therefore compared the same moth in intact flight orientation, intact inverted orientation, and an inverted preparation with the nerve-recording electrodes inserted.</a:t>
            </a:r>
          </a:p>
          <a:p>
            <a:r>
              <a:t>• Near neural threshold, tympanic velocity and displacement showed no consistent difference across those treatments. Sound levels were defined as **dB SPL**, a logarithmic sound-pressure measure referenced to 20 µPa.</a:t>
            </a:r>
          </a:p>
          <a:p>
            <a:r>
              <a:t>  – The order of the two intact orientations alternated between animals to reduce an order effect. Removing muscles and inserting an electrode may have little consistent influence near threshold while still changing behavior at stronger sound levels. Validation applies to the measured range rather than to the preparation without limits.</a:t>
            </a:r>
          </a:p>
          <a:p>
            <a:r>
              <a:t>• At stronger stimulation, particularly below 35 kHz, dissected preparations could show greater membrane movement than intact animals. The control supports near-threshold recordings as estimates of intact hearing under the tested conditions. The order of the two intact orientations alternated between animals to reduce an order effect, so the validation applies to the measured near-threshold range.</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1(a–f). Membrane velocity in intact and dissected preparations.</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conventional sound-level meter can average brief pulses through its time-weighting circuit. For the published 1.5–50-ms pulses, holding the displayed reading constant can require different true pulse amplitudes when duration changes.</a:t>
            </a:r>
          </a:p>
          <a:p>
            <a:r>
              <a:t>• Thevenon and Pfuhl reanalyzed published moth recordings using a mathematical account of meter damping. Their article compares original duration-dependent spike curves with curves after the assumed measurement bias was corrected.</a:t>
            </a:r>
          </a:p>
          <a:p>
            <a:r>
              <a:t>  – A pulse with a shorter duty cycle can produce a lower averaged meter reading even when its peak pressure is unchanged. Correcting the measurement does not change the recorded spikes; it changes the pressure assigned to the stimulus that elicited them.</a:t>
            </a:r>
          </a:p>
          <a:p>
            <a:r>
              <a:t>• Corrected pressures change the apparent relation between duration and spike count. A pulse with a shorter duty cycle can produce a lower averaged meter reading even when its peak pressure is unchanged, and correcting the measurement does not change the recorded spikes but changes the pressure assigned to the stimulus that elicited them.</a:t>
            </a:r>
          </a:p>
          <a:p/>
          <a:p>
            <a:r>
              <a:t>References:</a:t>
            </a:r>
          </a:p>
          <a:p>
            <a:r>
              <a:t>Thevenon H, Pfuhl G (2018). Discrepancies in the spiking threshold and frequency sensitivity of nocturnal moths explainable by biases in the canonical auditory stimulation method. Royal Society Open Science 5: 172404. https://doi.org/10.1098/rsos.172404</a:t>
            </a:r>
          </a:p>
          <a:p/>
          <a:p>
            <a:r>
              <a:t>Figure: Thevenon &amp; Pfuhl (2018), Fig. 6(a–b). Published reanalysis before and after meter correction.</a:t>
            </a:r>
          </a:p>
          <a:p>
            <a:r>
              <a:t>Figure source: https://doi.org/10.1098/rsos.172404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Thevenon and Pfuhl also examined published spike responses to pulses repeated at 20, 33, 50 or 100 Hz. More frequent pulses occupy more of the meter’s averaging interval, so a matched displayed level need not mean matched instantaneous sound pressure.</a:t>
            </a:r>
          </a:p>
          <a:p>
            <a:r>
              <a:t>• Their published correction aligned much of the repetition-rate dependence in the reanalyzed dataset. The result raises a calibration-based alternative to interpreting every reduction in spikes per pulse as neural adaptation.</a:t>
            </a:r>
          </a:p>
          <a:p>
            <a:r>
              <a:t>  – Pulse rate and pulse duration both influence the time occupied by sound. The source paper could not retrospectively correct all records because equipment details were missing. Its corrected plots are evidence about possible measurement bias rather than a replacement for the original neural recordings.</a:t>
            </a:r>
          </a:p>
          <a:p>
            <a:r>
              <a:t>• The analysis depends on the modeled damping circuit and information reported in the original methods. Pulse rate and pulse duration both influence the time occupied by sound, so a stronger test measures the local sound waveform directly and compares responses under a clearly defined amplitude convention.</a:t>
            </a:r>
          </a:p>
          <a:p/>
          <a:p>
            <a:r>
              <a:t>References:</a:t>
            </a:r>
          </a:p>
          <a:p>
            <a:r>
              <a:t>Thevenon H, Pfuhl G (2018). Discrepancies in the spiking threshold and frequency sensitivity of nocturnal moths explainable by biases in the canonical auditory stimulation method. Royal Society Open Science 5: 172404. https://doi.org/10.1098/rsos.172404</a:t>
            </a:r>
          </a:p>
          <a:p/>
          <a:p>
            <a:r>
              <a:t>Figure: Thevenon &amp; Pfuhl (2018), Fig. 7(a–b). Published repetition-rate data reanalysis.</a:t>
            </a:r>
          </a:p>
          <a:p>
            <a:r>
              <a:t>Figure source: https://doi.org/10.1098/rsos.172404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greater wax moth, _Galleria mellonella_, has four auditory receptor cells per ear, contrasting with the two-cell noctuid system. Moir and colleagues measured membrane movement optically to determine how broadly its tympanum responds to ultrasound.</a:t>
            </a:r>
          </a:p>
          <a:p>
            <a:r>
              <a:t>• At 90 dB SPL, membrane oscillations exceeded 1 nm throughout the tested 50–300-kHz range. A nanometre is one billionth of a metre. Maximum movement occurred at the sensory attachment, rather than uniformly across the membrane.</a:t>
            </a:r>
          </a:p>
          <a:p>
            <a:r>
              <a:t>  – The female displacement maximum occurred around 90–95 kHz, within the reported male calling range. The paper did not establish a reliable sex difference in mechanical tuning. Mechanical sensitivity and neural sensitivity must remain distinct because each describes a different stage of the ear’s response.</a:t>
            </a:r>
          </a:p>
          <a:p>
            <a:r>
              <a:t>• The membrane must move enough to activate its receptors, and neural responses were measured separately from mechanical responses. The female displacement maximum occurred around 90–95 kHz, within the reported male calling range, and mechanical sensitivity and neural sensitivity describe different stages of the ear's response.</a:t>
            </a:r>
          </a:p>
          <a:p/>
          <a:p>
            <a:r>
              <a:t>References:</a:t>
            </a:r>
          </a:p>
          <a:p>
            <a:r>
              <a:t>Moir HM, Jackson JC, Windmill JFC (2013). Extremely high frequency sensitivity in a ‘simple’ ear. Biology Letters 9: 20130241. https://doi.org/10.1098/rsbl.2013.0241</a:t>
            </a:r>
          </a:p>
          <a:p/>
          <a:p>
            <a:r>
              <a:t>Figure: Moir et al. (2013), Fig. 1(c). Membrane displacement at 90 dB SPL.</a:t>
            </a:r>
          </a:p>
          <a:p>
            <a:r>
              <a:t>Figure source: https://doi.org/10.1098/rsbl.2013.0241</a:t>
            </a:r>
          </a:p>
          <a:p/>
          <a:p>
            <a:r>
              <a:t>Figure: Moir et al. (2013), Fig. 1(b). Greater wax-moth tympanum; scale bar 0.1 mm.</a:t>
            </a:r>
          </a:p>
          <a:p>
            <a:r>
              <a:t>Figure source: https://doi.org/10.1098/rsbl.2013.0241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Moir and colleagues recorded the wax moth’s auditory nerve during 20-ms pure-tone pulses. A response criterion requiring repeated sound-associated spikes reduced the chance of mistaking spontaneous firing for an auditory response.</a:t>
            </a:r>
          </a:p>
          <a:p>
            <a:r>
              <a:t>• The lowest measured threshold was approximately 55 dB SPL at 80 kHz. In responding animals, thresholds rose to approximately 83 dB SPL at 280 kHz and 87 dB SPL at 300 kHz; some animals did not respond at the maximum tested 90 dB SPL.</a:t>
            </a:r>
          </a:p>
          <a:p>
            <a:r>
              <a:t>  – The threshold curve reports sensitivity, not the loudness of a call normally encountered outdoors. Higher thresholds mean that stronger sound is required to evoke spikes. The authors explicitly called for behavioral studies to test whether the extreme frequencies lead to defensive responses.</a:t>
            </a:r>
          </a:p>
          <a:p>
            <a:r>
              <a:t>• These recordings establish neural sensitivity to exceptionally high frequencies in this preparation. The threshold curve reports sensitivity, so higher thresholds mean that stronger sound is required to evoke spikes, and the authors called for behavioral studies to test whether the extreme frequencies lead to defensive responses.</a:t>
            </a:r>
          </a:p>
          <a:p/>
          <a:p>
            <a:r>
              <a:t>References:</a:t>
            </a:r>
          </a:p>
          <a:p>
            <a:r>
              <a:t>Moir HM, Jackson JC, Windmill JFC (2013). Extremely high frequency sensitivity in a ‘simple’ ear. Biology Letters 9: 20130241. https://doi.org/10.1098/rsbl.2013.0241</a:t>
            </a:r>
          </a:p>
          <a:p/>
          <a:p>
            <a:r>
              <a:t>Figure: Moir et al. (2013), Fig. 1(d). Neural thresholds across frequency.</a:t>
            </a:r>
          </a:p>
          <a:p>
            <a:r>
              <a:t>Figure source: https://doi.org/10.1098/rsbl.2013.0241</a:t>
            </a:r>
          </a:p>
          <a:p/>
          <a:p>
            <a:r>
              <a:t>Figure: Moir et al. (2013), Fig. 1(b). Greater wax-moth tympanum; scale bar 0.1 mm.</a:t>
            </a:r>
          </a:p>
          <a:p>
            <a:r>
              <a:t>Figure source: https://doi.org/10.1098/rsbl.2013.0241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**First-spike latency** is the delay between stimulus arrival and the first auditory action potential. Ter Hofstede and colleagues measured A1 latency while holding either membrane velocity or displacement constant across frequencies.</a:t>
            </a:r>
          </a:p>
          <a:p>
            <a:r>
              <a:t>• At constant displacement, the first spike remained near 7 ms over most of the tested range. At constant velocity, latency increased with frequency. The relationship was consistent with the displacement-based thresholds obtained independently.</a:t>
            </a:r>
          </a:p>
          <a:p>
            <a:r>
              <a:t>  – A generator potential is the local graded electrical response that precedes spike production. The study recorded the resulting spikes and membrane movement, rather than directly measuring that potential. Constant displacement preserving timing is a second test of the mechanical-input hypothesis.</a:t>
            </a:r>
          </a:p>
          <a:p>
            <a:r>
              <a:t>• Displacement constrains receptor excitation more closely than velocity under these conditions. The experiment links the mechanical input to the timing of neuronal output, rather than only to the presence of spikes. A generator potential is the local graded electrical response that precedes spike production, and constant displacement preserving first-spike timing is a second test of the mechanical-input hypothesis.</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2(g–h). A1 latency at constant velocity or displacement.</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Gordon and ter Hofstede compared acoustic thresholds in noctuid and erebid moths using extracellular auditory-nerve recordings. An **audiogram** is the relationship between stimulus frequency and the level needed to evoke a specified response.</a:t>
            </a:r>
          </a:p>
          <a:p>
            <a:r>
              <a:t>• The moths were most sensitive between 15 and 55 kHz. A2 thresholds generally exceeded A1 thresholds by 15–20 dB. At 5–10 kHz, substantially stronger sound was needed, and thresholds also increased at higher ultrasonic frequencies.</a:t>
            </a:r>
          </a:p>
          <a:p>
            <a:r>
              <a:t>  – The recording and comparison distinguish the more sensitive A1 cell from A2 using threshold, timing and spike form together. The curves concern sound at the ear, referenced to a stated calibration. They are not direct measurements of a bat’s distance or of a freely flying moth’s escape decision.</a:t>
            </a:r>
          </a:p>
          <a:p>
            <a:r>
              <a:t>• The two cells expand the range of sound levels that can influence the nerve signal. A1 was distinguished from A2 by threshold, timing and spike form together, and the audiogram curves describe sound at the ear referenced to a stated calibration.</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1(B). A1 and A2 frequency thresholds.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**Range fractionation** divides a sensory intensity range among receptors with different thresholds. In moths, A1 begins responding at lower levels and A2 is recruited when the sound is stronger.</a:t>
            </a:r>
          </a:p>
          <a:p>
            <a:r>
              <a:t>• Gordon and ter Hofstede measured separate A1 and A2 spike counts for 50-kHz pulses lasting 2, 5, 10 or 20 ms. Longer pulses often permitted A1 output to increase toward the level at which A2 began firing.</a:t>
            </a:r>
          </a:p>
          <a:p>
            <a:r>
              <a:t>  – Saturation means that raising the input no longer increases the selected output measure. Here the selected measure is spikes per sound pulse. The output of the two cells must be examined separately because their sum can conceal a plateau in A1 before A2 begins to contribute.</a:t>
            </a:r>
          </a:p>
          <a:p>
            <a:r>
              <a:t>• For short pulses, A1 could reach a plateau before A2 was recruited, leaving a gap in count-based intensity coding. Saturation means that raising the input no longer increases the selected output measure, here spikes per sound pulse, and the output of the two cells must be examined separately because their sum can conceal a plateau in A1 before A2 begins to contribute. The same sound level can yield different spike counts when pulse duration changes.</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2(C–D). Separate A1 and A2 intensity responses by duration.</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**Adaptation** is a reduction in sensory response during continuing or repeated stimulation. Roeder and Treat followed the more sensitive acoustic unit during a sustained 70-kHz tone and counted its spikes over time.</a:t>
            </a:r>
          </a:p>
          <a:p>
            <a:r>
              <a:t>• In that recording, the initial rate approached 1000 spikes per second, fell to about half that rate within 0.1 s, and reached roughly one quarter by 1 s. A slower decline continued toward an irregular discharge near 90 spikes per second.</a:t>
            </a:r>
          </a:p>
          <a:p>
            <a:r>
              <a:t>  – The initial and later rates belong to the same recorded response, rather than to different receptor populations. Overlapping spikes often prevented reliable counts at high intensity; this recording was selected because the sensitive unit could be distinguished. The mechanism of the rate decline remained unresolved.</a:t>
            </a:r>
          </a:p>
          <a:p>
            <a:r>
              <a:t>• The result establishes a time-dependent change in the peripheral output despite continuing sound. The initial and later rates belong to the same recorded response, and overlapping spikes often prevented reliable counts at high intensity, so this recording was selected because the sensitive unit could be distinguished.</a:t>
            </a:r>
          </a:p>
          <a:p/>
          <a:p>
            <a:r>
              <a:t>References:</a:t>
            </a:r>
          </a:p>
          <a:p>
            <a:r>
              <a:t>Roeder KD, Treat AE (1957). Ultrasonic reception by the tympanic organ of noctuid moths. Journal of Experimental Zoology 134: 127-157. https://doi.org/10.1002/jez.1401340107</a:t>
            </a:r>
          </a:p>
          <a:p/>
          <a:p>
            <a:r>
              <a:t>Figure: Roeder &amp; Treat (1957), Fig. 6. Spike-rate adaptation to a 70-kHz tone.</a:t>
            </a:r>
          </a:p>
          <a:p>
            <a:r>
              <a:t>Figure source: https://doi.org/10.1002/jez.1401340107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Roeder recorded tympanic responses to repeated short ultrasonic pulses while increasing amplitude in calibrated increments relative to an individual preparation’s threshold. This isolates changes in timing and spike count from changes in pulse frequency or duration.</a:t>
            </a:r>
          </a:p>
          <a:p>
            <a:r>
              <a:t>• After subtracting the 2.9-ms sound-transmission delay over 1 m, the biological response time ranged from approximately 3.2–4.0 ms near threshold to 1.9 ms at the strongest tested level. Timing was also more variable near threshold.</a:t>
            </a:r>
          </a:p>
          <a:p>
            <a:r>
              <a:t>  – The biological delay still includes axonal conduction between the receptor and recording electrode. Roeder treated that component as approximately constant within the same preparation. Subtracting sound travel time avoids treating a physical delay through air as part of the neuron’s excitation process.</a:t>
            </a:r>
          </a:p>
          <a:p>
            <a:r>
              <a:t>• The shorter delay is consistent with faster excitation of the receptor as sound grows stronger. The biological delay still includes axonal conduction between the receptor and the recording electrode, which Roeder treated as approximately constant within a preparation, and subtracting the sound travel time avoids counting a physical delay through air as part of the neuron's excitation process.</a:t>
            </a:r>
          </a:p>
          <a:p/>
          <a:p>
            <a:r>
              <a:t>References:</a:t>
            </a:r>
          </a:p>
          <a:p>
            <a:r>
              <a:t>Roeder KD (1964). Aspects of the noctuid tympanic nerve response having significance in the avoidance of bats. Journal of Insect Physiology 10: 529-546. https://doi.org/10.1016/0022-1910(64)90025-3</a:t>
            </a:r>
          </a:p>
          <a:p>
            <a:r>
              <a:t>Roeder KD, Treat AE (1957). Ultrasonic reception by the tympanic organ of noctuid moths. Journal of Experimental Zoology 134: 127-157. https://doi.org/10.1002/jez.1401340107</a:t>
            </a:r>
          </a:p>
          <a:p/>
          <a:p>
            <a:r>
              <a:t>Figure: Roeder (1964), Fig. 2. Near-threshold responses at 1-dB increments.</a:t>
            </a:r>
          </a:p>
          <a:p>
            <a:r>
              <a:t>Figure source: https://doi.org/10.1016/0022-1910(64)90025-3</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Roeder compared free-flight behavior during pulsed ultrasound and continuous tones of the same frequency and amplitude. Turning away occurred much more often with pulses, while tones elicited more total A1 spikes during a matched recording interval.</a:t>
            </a:r>
          </a:p>
          <a:p>
            <a:r>
              <a:t>• For the 60-kHz comparison, 3-ms pulses repeated 30 times per second were compared with a continuous tone. Recordings made at different source distances linked the same acoustic conditions to the nerve response.</a:t>
            </a:r>
          </a:p>
          <a:p>
            <a:r>
              <a:t>  – The field signals were alternated over the evening to reduce changes in the moth population as a confound. An initial observer-blind schedule reduced classification bias. Behavioral observations pooled unidentified flying moths, whereas nerve recordings came from identified preparations, limiting a precise neuron-to-behavior assignment.</a:t>
            </a:r>
          </a:p>
          <a:p>
            <a:r>
              <a:t>• Tones produced longer spike trains but adapted more rapidly; pulses repeatedly generated short-interval bursts. The result rejects total afferent spike count alone as a sufficient explanation of behavioral effectiveness. The field signals were alternated over the evening to reduce changes in the moth population as a confound, and the results support sensitivity to the temporal organization of the sound.</a:t>
            </a:r>
          </a:p>
          <a:p/>
          <a:p>
            <a:r>
              <a:t>References:</a:t>
            </a:r>
          </a:p>
          <a:p>
            <a:r>
              <a:t>Roeder KD (1964). Aspects of the noctuid tympanic nerve response having significance in the avoidance of bats. Journal of Insect Physiology 10: 529-546. https://doi.org/10.1016/0022-1910(64)90025-3</a:t>
            </a:r>
          </a:p>
          <a:p/>
          <a:p>
            <a:r>
              <a:t>Figure: Roeder (1964), Fig. 4. Spike counts for tones and pulses over distance.</a:t>
            </a:r>
          </a:p>
          <a:p>
            <a:r>
              <a:t>Figure source: https://doi.org/10.1016/0022-1910(64)90025-3</a:t>
            </a:r>
          </a:p>
          <a:p/>
          <a:p>
            <a:r>
              <a:t>Figure: Roeder (1964), Fig. 5(A–D). Spontaneous activity, tone, pulses and bat calls.</a:t>
            </a:r>
          </a:p>
          <a:p>
            <a:r>
              <a:t>Figure source: https://doi.org/10.1016/0022-1910(64)90025-3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**interneuron** is a central neuron connecting sensory input with other central processing or motor pathways. Roeder recorded sound-responsive activity within the thoracic ganglia, the central nerve-cell clusters associated with flight control.</a:t>
            </a:r>
          </a:p>
          <a:p>
            <a:r>
              <a:t>• Some units closely repeated the A1 burst but fired later. These **repeater neurons** included crossed responses passing to the opposite side and ipsilateral responses continuing toward the head. Simultaneously recorded A1 and repeater spikes differed in their temporal ordering.</a:t>
            </a:r>
          </a:p>
          <a:p>
            <a:r>
              <a:t>  – Destroying one ear helped separate true crossed neural transmission from sound leaking acoustically to the opposite ear. Repeater output resembled A1 output closely enough that timing was essential for distinguishing them. Their eventual contribution to a particular wing movement was not determined.</a:t>
            </a:r>
          </a:p>
          <a:p>
            <a:r>
              <a:t>• The recordings establish central transmission of tympanic input and some transformation during longer stimuli. Destroying one ear helped separate true crossed neural transmission from sound leaking acoustically to the opposite ear, and because repeater output resembled A1 output closely, timing was essential for distinguishing the two.</a:t>
            </a:r>
          </a:p>
          <a:p/>
          <a:p>
            <a:r>
              <a:t>References:</a:t>
            </a:r>
          </a:p>
          <a:p>
            <a:r>
              <a:t>Roeder KD (1966). Interneurons of the thoracic nerve cord activated by tympanic nerve fibres in noctuid moths. Journal of Insect Physiology 12: 1227-1244. https://doi.org/10.1016/0022-1910(66)90014-x</a:t>
            </a:r>
          </a:p>
          <a:p/>
          <a:p>
            <a:r>
              <a:t>Figure: Roeder (1966), Fig. 4(A–D). Afferent and repeater responses with different timing.</a:t>
            </a:r>
          </a:p>
          <a:p>
            <a:r>
              <a:t>Figure source: https://doi.org/10.1016/0022-1910(66)90014-x</a:t>
            </a:r>
          </a:p>
          <a:p/>
          <a:p>
            <a:r>
              <a:t>Figure: Roeder (1966), Fig. 1(A–B). Thoracic ganglia and recording coordinates.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Some recorded units responded to stimulation of either ear, and simultaneous stimulation produced a larger discharge. **Bilateral summation** combines input from the two sides rather than necessarily comparing which side received the stronger signal.</a:t>
            </a:r>
          </a:p>
          <a:p>
            <a:r>
              <a:t>• Roeder presented matched 5-ms ultrasonic pulses to the right ear, the left ear or both. A summating unit near the ganglion midline could produce a bilateral response resembling that evoked by stronger stimulation of one ear alone.</a:t>
            </a:r>
          </a:p>
          <a:p>
            <a:r>
              <a:t>  – A neuron that responds more when both ears are stimulated may encode overall input strength. It need not specify whether the source lies to the left or right. Roeder explicitly distinguished this observed summation from the still-undiscovered mechanism hypothesized to steer avoidance.</a:t>
            </a:r>
          </a:p>
          <a:p>
            <a:r>
              <a:t>• Such activity establishes convergence of auditory inputs. A neuron that responds more when both ears are stimulated may encode overall input strength without specifying whether the source lies to the left or right, and Roeder distinguished this observed summation from the still-undiscovered mechanism hypothesized to steer avoidance.</a:t>
            </a:r>
          </a:p>
          <a:p/>
          <a:p>
            <a:r>
              <a:t>References:</a:t>
            </a:r>
          </a:p>
          <a:p>
            <a:r>
              <a:t>Roeder KD (1966). Interneurons of the thoracic nerve cord activated by tympanic nerve fibres in noctuid moths. Journal of Insect Physiology 12: 1227-1244. https://doi.org/10.1016/0022-1910(66)90014-x</a:t>
            </a:r>
          </a:p>
          <a:p/>
          <a:p>
            <a:r>
              <a:t>Figure: Roeder (1966), Fig. 7(C). Responses to separate and simultaneous ear stimulation.</a:t>
            </a:r>
          </a:p>
          <a:p>
            <a:r>
              <a:t>Figure source: https://doi.org/10.1016/0022-1910(66)90014-x</a:t>
            </a:r>
          </a:p>
          <a:p/>
          <a:p>
            <a:r>
              <a:t>Figure: Roeder (1966), Fig. 1(A–B). Thoracic ganglia and recording coordinates.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**pulse-marker neuron** usually generated one spike after an A1 burst, even when the burst contained several spikes. This transformation reduces the detailed duration information in the afferent train while retaining the occurrence of an acoustic event.</a:t>
            </a:r>
          </a:p>
          <a:p>
            <a:r>
              <a:t>• Roeder’s extracellular recordings associated the response with groups of three or four A1 impulses at intervals near 2 ms or less. For brief periods, the central unit could follow sound pulses repeated up to 40 times per second.</a:t>
            </a:r>
          </a:p>
          <a:p>
            <a:r>
              <a:t>  – The published location map represents where these response classes were encountered, not the complete morphology of each neuron. An A1 burst can contain information about duration and amplitude that is absent from the pulse-marker’s single output spike. The lost information may still exist in parallel pathways.</a:t>
            </a:r>
          </a:p>
          <a:p>
            <a:r>
              <a:t>• The response supports a temporal filtering operation rather than a faithful copy of every afferent spike. **Temporal summation**, the accumulation of excitation from closely spaced inputs, is consistent with the triggering requirement. The recordings did not directly identify the underlying synaptic current or establish that this unit alone initiates escape.</a:t>
            </a:r>
          </a:p>
          <a:p/>
          <a:p>
            <a:r>
              <a:t>References:</a:t>
            </a:r>
          </a:p>
          <a:p>
            <a:r>
              <a:t>Roeder KD (1966). Interneurons of the thoracic nerve cord activated by tympanic nerve fibres in noctuid moths. Journal of Insect Physiology 12: 1227-1244. https://doi.org/10.1016/0022-1910(66)90014-x</a:t>
            </a:r>
          </a:p>
          <a:p/>
          <a:p>
            <a:r>
              <a:t>Figure: Roeder (1966), Fig. 6(A). Afferent bursts and pulse-marker spikes.</a:t>
            </a:r>
          </a:p>
          <a:p>
            <a:r>
              <a:t>Figure source: https://doi.org/10.1016/0022-1910(66)90014-x</a:t>
            </a:r>
          </a:p>
          <a:p/>
          <a:p>
            <a:r>
              <a:t>Figure: Roeder (1966), Fig. 8(A–C). Recorded afferent, relay and integrator locations.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pulse-marker response depended on a preceding interval with reduced afferent activity. A long continuous A1 train often generated only one central spike, even when short interspike intervals continued after the initial response.</a:t>
            </a:r>
          </a:p>
          <a:p>
            <a:r>
              <a:t>• With 30–40-ms stimuli, stronger pulses could elicit one pulse-marker spike, whereas weaker, irregular afferent bursts sometimes elicited more than one. Pulse-marker latency shortened from a variable value near 20 ms to about 6 ms with increasing intensity.</a:t>
            </a:r>
          </a:p>
          <a:p>
            <a:r>
              <a:t>  – The term recovery describes the observed ability to respond again after reduced input, rather than naming a specific membrane conductance. Roeder proposed that gaps among irregular weak-input bursts could permit resetting. The contrast remained based on extracellular timing rather than direct intracellular measurement of that reset.</a:t>
            </a:r>
          </a:p>
          <a:p>
            <a:r>
              <a:t>• A quiet interval may permit the unit to become responsive again, and Roeder proposed that gaps among irregular weak-input bursts could permit resetting. These results indicate that stronger or longer sound does not necessarily produce more central spikes, because the temporal arrangement of the afferent burst influences its central transformation.</a:t>
            </a:r>
          </a:p>
          <a:p/>
          <a:p>
            <a:r>
              <a:t>References:</a:t>
            </a:r>
          </a:p>
          <a:p>
            <a:r>
              <a:t>Roeder KD (1966). Interneurons of the thoracic nerve cord activated by tympanic nerve fibres in noctuid moths. Journal of Insect Physiology 12: 1227-1244. https://doi.org/10.1016/0022-1910(66)90014-x</a:t>
            </a:r>
          </a:p>
          <a:p/>
          <a:p>
            <a:r>
              <a:t>Figure: Roeder (1966), Fig. 6(E). Pulse-marker latency and output at three intensities.</a:t>
            </a:r>
          </a:p>
          <a:p>
            <a:r>
              <a:t>Figure source: https://doi.org/10.1016/0022-1910(66)90014-x</a:t>
            </a:r>
          </a:p>
          <a:p/>
          <a:p>
            <a:r>
              <a:t>Figure: Roeder (1966), Fig. 8(A–C). Recorded afferent, relay and integrator locations.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Gordon and ter Hofstede varied pulse duration while keeping the carrier at 50 kHz. The **carrier frequency** is the oscillation rate within each pulse, distinct from how often pulses repeat.</a:t>
            </a:r>
          </a:p>
          <a:p>
            <a:r>
              <a:t>• Both A1 and A2 generally required stronger sound for shorter pulses. In _Heliothis virescens_, the mean A1 threshold for a 2-ms pulse exceeded that for a 5-ms pulse by 5.5 dB. A2 thresholds decreased more gradually across the tested durations.</a:t>
            </a:r>
          </a:p>
          <a:p>
            <a:r>
              <a:t>  – Stimulus amplitudes were calibrated as peak-equivalent sound pressure level, using a sinusoid with the same peak-to-peak amplitude as the brief pulse. That convention differs from a meter average over silence and sound together. It permits duration effects to be interpreted against an explicit measure of pulse amplitude.</a:t>
            </a:r>
          </a:p>
          <a:p>
            <a:r>
              <a:t>• The dependence links stimulus duration to receptor sensitivity and changes when a moth can first detect a call. Stimulus amplitudes were calibrated as peak-equivalent sound pressure level, using a sinusoid with the same peak-to-peak amplitude as the brief pulse, which is an explicit measure of pulse amplitude, and a comparison of different bat calls must account for their duration as well as their level at the ear.</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5. Duration dependence of A1 and A2 thresholds.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**saturation range** is the amplitude interval over which A1 spike count remains nearly unchanged before A2 begins responding. Gordon and ter Hofstede measured that interval separately from each cell’s threshold.</a:t>
            </a:r>
          </a:p>
          <a:p>
            <a:r>
              <a:t>• For 2-ms pulses, the plateau commonly contained only 2–5 A1 spikes per pulse. For 20-ms pulses, plateau counts ranged from 8–18 spikes per pulse. Shorter pulses generally left a wider saturation range below the A2 threshold.</a:t>
            </a:r>
          </a:p>
          <a:p>
            <a:r>
              <a:t>  – The bar plots summarize the range and count measures obtained from individual recordings. A higher number of spikes in a longer pulse is not evidence that the ear represents intensity more accurately at all levels; the relevant quantity is whether that count changes as intensity changes.</a:t>
            </a:r>
          </a:p>
          <a:p>
            <a:r>
              <a:t>• More sensitive detection therefore does not guarantee fine intensity coding after detection. Increasing sound level may add little information through A1 spike count while A2 is still silent. A higher spike count in a longer pulse does not by itself mean that intensity is represented more accurately, because the relevant quantity is whether the count changes as intensity changes.</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3(B). Saturation ranges and spike counts by duration.</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_Raphia frater_ recording, a 2-ms, 50-kHz pulse elicited about four A1 spikes across an interval of increasing sound amplitudes. A2 remained silent during much of this plateau and was recruited only at higher levels.</a:t>
            </a:r>
          </a:p>
          <a:p>
            <a:r>
              <a:t>• The experiment increased amplitude systematically while the auditory nerve was recorded. The plateau therefore reflects repeated neural output to different controlled sound levels, rather than a constant input being measured repeatedly.</a:t>
            </a:r>
          </a:p>
          <a:p>
            <a:r>
              <a:t>  – The figure labels the saturation interval relative to the individual A1 threshold. Relative dB values should not be confused with absolute sound pressure levels at the ear. The particular plateau belongs to this preparation, while the multi-species tests establish how commonly the pattern occurred.</a:t>
            </a:r>
          </a:p>
          <a:p>
            <a:r>
              <a:t>• An approaching bat can become acoustically stronger without changing this selected output measure. The moth still hears the bat within this range, and information about direction, stimulus history or a later A2 response remains available through other response features. The figure labels the saturation interval relative to the individual A1 threshold, so the values are relative levels.</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3(A). A1 saturation before A2 recruitment in Raphia frater.</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**interspike interval** is the time between successive action potentials. It can carry information even when spike count is unchanged, because the same number of spikes can be distributed differently in time.</a:t>
            </a:r>
          </a:p>
          <a:p>
            <a:r>
              <a:t>• Gordon and ter Hofstede examined A1 intervals during the short-pulse saturation range. Apart from a larger interval at the lowest sampled amplitude, the first interval and the mean of the initial intervals changed little as sound level increased.</a:t>
            </a:r>
          </a:p>
          <a:p>
            <a:r>
              <a:t>  – The experiment tests two different claims about timing: whether spikes form a burst, and whether the burst’s internal spacing encodes additional intensity differences. A reliable short interval can contribute to central excitation even if it changes little over the plateau.</a:t>
            </a:r>
          </a:p>
          <a:p>
            <a:r>
              <a:t>• This comparison constrains interval timing as an alternative continuous intensity code in that range. A reliable short interval can contribute to central excitation even if it changes little over the plateau, and timing can identify a meaningful event without distinguishing every stronger amplitude once the response is saturated.</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4. Interspike intervals within the saturation range.</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Gordon and ter Hofstede compared sequences modeled on searching and approaching bats. Search-like stimuli used 5-ms pulses every 75 ms, whereas approach-like stimuli used 2.5-ms pulses every 37.5 ms.</a:t>
            </a:r>
          </a:p>
          <a:p>
            <a:r>
              <a:t>• The sequences had the same duty cycle, the fraction of time occupied by sound, while differing in pulse duration and repetition rate. A1 and A2 output was measured as the amplitude of the entire sequence increased.</a:t>
            </a:r>
          </a:p>
          <a:p>
            <a:r>
              <a:t>  – A moth receives its own receptor output rather than the average across many individuals. One individual’s plateau can occur at a different relative amplitude from another’s, making the pooled curve smoother than any one receptor response. The matching duty cycle controls one aspect of the acoustic sequence while deliberately varying others.</a:t>
            </a:r>
          </a:p>
          <a:p>
            <a:r>
              <a:t>• Averaged responses could appear smoothly graded, but individual moths retained A1 saturation ranges of 4–12 dB before A2 recruitment. Population averaging therefore concealed some within-animal coding gaps. A moth receives its own receptor output instead of an average across individuals, and one individual's plateau can occur at a different relative amplitude from another's, which makes the pooled curve smoother than any single receptor response.</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6(A–B). Search- and approach-like pulse-sequence responses.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effect of repeated pulses depended on both timing and sound level. Gordon and ter Hofstede compared A1 spikes after the first and last pulse in each search-like or approach-like sequence.</a:t>
            </a:r>
          </a:p>
          <a:p>
            <a:r>
              <a:t>• Search-like sequences showed little systematic decline, even at high levels. In approach-like sequences, stronger stimulation produced fewer spikes near the sequence’s end; the mean first-to-last difference exceeded half a spike per pulse only above 10 dB relative to A1 threshold.</a:t>
            </a:r>
          </a:p>
          <a:p>
            <a:r>
              <a:t>  – The first and last pulses are compared at the same sequence amplitude. The decline therefore reflects stimulus history within the sequence, rather than a planned reduction in acoustic intensity. The authors did not test terminal-buzz repetition rates in this experiment.</a:t>
            </a:r>
          </a:p>
          <a:p>
            <a:r>
              <a:t>• Adaptation therefore cannot be assumed simply because sound repeats. Its expression depends on the input pattern and receptor operating range. The first and last pulses were compared at the same sequence amplitude, so the decline reflects stimulus history within the sequence, and the measurements concern the peripheral nerve.</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7. Adaptation within search- and approach-like sequences.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tiger moth _Bertholdia trigona_ produces defensive ultrasonic clicks using a **tymbal**, a sound-producing structure distinct from the tympanum that receives sound. Corcoran and colleagues measured the input levels required to trigger clicking.</a:t>
            </a:r>
          </a:p>
          <a:p>
            <a:r>
              <a:t>• Laboratory playbacks used 40-kHz pulses of 2-ms duration, with intensity rising from 70 to 120 dB SPL. Pulse intervals were varied to represent different stages of bat echolocation, and the first moth click defined the behavioral threshold.</a:t>
            </a:r>
          </a:p>
          <a:p>
            <a:r>
              <a:t>  – The playbacks were stopped when clicking began, and silent intervals separated presentations. This reduces contamination by a continuing defensive response from the preceding test. The tymbal photograph identifies the output organ, while the threshold experiment concerns the sensory conditions that activate it.</a:t>
            </a:r>
          </a:p>
          <a:p>
            <a:r>
              <a:t>• The lowest clicking thresholds occurred at intervals of 20–30 ms, resembling late approach calls. Search-like and very rapid terminal timing required greater sound levels. This is a behavioral response curve rather than a receptor audiogram: hearing a pulse and deciding to emit a defensive signal are different measured events.</a:t>
            </a:r>
          </a:p>
          <a:p/>
          <a:p>
            <a:r>
              <a:t>References:</a:t>
            </a:r>
          </a:p>
          <a:p>
            <a:r>
              <a:t>Corcoran AJ, Wagner RD, Conner WE (2013). Optimal Predator Risk Assessment by the Sonar-Jamming Arctiine Moth Bertholdia trigona. PLoS ONE 8: e63609. https://doi.org/10.1371/journal.pone.0063609</a:t>
            </a:r>
          </a:p>
          <a:p>
            <a:r>
              <a:t>Corcoran AJ, Barber JR, Conner WE (2009). Tiger Moth Jams Bat Sonar. Science 325: 325-327. https://doi.org/10.1126/science.1174096</a:t>
            </a:r>
          </a:p>
          <a:p/>
          <a:p>
            <a:r>
              <a:t>Figure: Corcoran et al. (2013), Fig. 4. Measured clicking thresholds and real/false threat calls.</a:t>
            </a:r>
          </a:p>
          <a:p>
            <a:r>
              <a:t>Figure source: https://doi.org/10.1371/journal.pone.0063609</a:t>
            </a:r>
          </a:p>
          <a:p/>
          <a:p>
            <a:r>
              <a:t>Figure: Corcoran et al. (2009), Fig. 1(A). Sound-producing tymbal; scale bar 1 mm.</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moth can hear a bat that is attacking another insect. Corcoran and colleagues defined a **real threat** as an attack on the focal moth and a **false threat** as an attack on a neighboring free-flying moth.</a:t>
            </a:r>
          </a:p>
          <a:p>
            <a:r>
              <a:t>• Synchronized infrared video and ultrasonic recordings estimated call pressure at the focal moth while reconstructing bat position. During real attacks, received intensity generally increased before leveling late in the approach. During false threats, intensity at the non-target moth tended to decrease.</a:t>
            </a:r>
          </a:p>
          <a:p>
            <a:r>
              <a:t>  – The bat’s emitted intensity and the intensity arriving at a moth are separate quantities. Beam orientation, distance and source-level changes all influence the received signal. The investigators therefore estimated pressure at the insect rather than relying only on the bat’s call timing.</a:t>
            </a:r>
          </a:p>
          <a:p>
            <a:r>
              <a:t>• Pulse intervals shortened in both circumstances, so increasing call rate alone did not uniquely identify the victim. The contrast supports combined use of timing and received level. The bat's emitted intensity and the intensity arriving at a moth are separate quantities, since beam orientation, distance and source-level changes all influence the received signal, and the field amplitudes are expressed as peak-equivalent sound pressure level (peSPL), matched to the peak amplitude of a reference sinusoid.</a:t>
            </a:r>
          </a:p>
          <a:p/>
          <a:p>
            <a:r>
              <a:t>References:</a:t>
            </a:r>
          </a:p>
          <a:p>
            <a:r>
              <a:t>Corcoran AJ, Wagner RD, Conner WE (2013). Optimal Predator Risk Assessment by the Sonar-Jamming Arctiine Moth Bertholdia trigona. PLoS ONE 8: e63609. https://doi.org/10.1371/journal.pone.0063609</a:t>
            </a:r>
          </a:p>
          <a:p/>
          <a:p>
            <a:r>
              <a:t>Figure: Corcoran et al. (2013), Fig. 5(A–C). Call levels and flight parameters during real/false threats.</a:t>
            </a:r>
          </a:p>
          <a:p>
            <a:r>
              <a:t>Figure source: https://doi.org/10.1371/journal.pone.0063609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colleagues recorded free-flying bats passing tethered _Bertholdia trigona_ and compared encounters that elicited clicks with those that did not. The focal moths could hear and click, but their flight trajectories were constrained.</a:t>
            </a:r>
          </a:p>
          <a:p>
            <a:r>
              <a:t>• Clicking usually began during early-to-middle approach, with bat pulse intervals of 25–60 ms. Sound level at the moth discriminated clicking from silent passes more consistently than bat distance or flight approach angle alone.</a:t>
            </a:r>
          </a:p>
          <a:p>
            <a:r>
              <a:t>  – A close bat may remain acoustically weak at the focal moth if its beam points elsewhere. Conversely, a directed sequence can identify an escalating threat before a major change in flight approach angle. The laboratory threshold test and field observations address complementary input–output conditions.</a:t>
            </a:r>
          </a:p>
          <a:p>
            <a:r>
              <a:t>• These observations link natural acoustic input with the onset of a defensive output. A close bat may remain acoustically weak at the focal moth if its beam points elsewhere, whereas a directed sequence can identify an escalating threat before a major change in flight approach angle, so timing depends on what the insect receives acoustically.</a:t>
            </a:r>
          </a:p>
          <a:p/>
          <a:p>
            <a:r>
              <a:t>References:</a:t>
            </a:r>
          </a:p>
          <a:p>
            <a:r>
              <a:t>Corcoran AJ, Wagner RD, Conner WE (2013). Optimal Predator Risk Assessment by the Sonar-Jamming Arctiine Moth Bertholdia trigona. PLoS ONE 8: e63609. https://doi.org/10.1371/journal.pone.0063609</a:t>
            </a:r>
          </a:p>
          <a:p/>
          <a:p>
            <a:r>
              <a:t>Figure: Corcoran et al. (2013), Fig. 6, first two rows. Clicking versus silent passes by acoustic and distance cues.</a:t>
            </a:r>
          </a:p>
          <a:p>
            <a:r>
              <a:t>Figure source: https://doi.org/10.1371/journal.pone.0063609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the interval preceding defensive clicks, bat calls increased in received intensity while their pulse intervals became slightly shorter. Corcoran and colleagues measured these changes over the 250 ms before clicking onset.</a:t>
            </a:r>
          </a:p>
          <a:p>
            <a:r>
              <a:t>• The acoustic combination is consistent with a bat detecting and targeting the moth. In real attacks, received intensity could subsequently plateau near 95 dB peSPL while the bat reduced its source output as it approached.</a:t>
            </a:r>
          </a:p>
          <a:p>
            <a:r>
              <a:t>  – Call-level and interval changes were measured relative to clicking onset. The claim concerns changes before a measured behavioral event. Selection for efficient timing was proposed by the authors; the field records alone do not demonstrate the evolutionary process that produced it.</a:t>
            </a:r>
          </a:p>
          <a:p>
            <a:r>
              <a:t>• A decreasing emitted level therefore need not mean decreasing threat at the prey. Geometry and source regulation jointly shape the signal that reaches the ear. The call-level and interval changes were measured relative to clicking onset, so the association concerns changes before a measured behavioral event and supports threat-sensitive timing of the defense.</a:t>
            </a:r>
          </a:p>
          <a:p/>
          <a:p>
            <a:r>
              <a:t>References:</a:t>
            </a:r>
          </a:p>
          <a:p>
            <a:r>
              <a:t>Corcoran AJ, Wagner RD, Conner WE (2013). Optimal Predator Risk Assessment by the Sonar-Jamming Arctiine Moth Bertholdia trigona. PLoS ONE 8: e63609. https://doi.org/10.1371/journal.pone.0063609</a:t>
            </a:r>
          </a:p>
          <a:p/>
          <a:p>
            <a:r>
              <a:t>Figure: Corcoran et al. (2013), Fig. 6, last two rows. Call-level and pulse-interval changes preceding clicks.</a:t>
            </a:r>
          </a:p>
          <a:p>
            <a:r>
              <a:t>Figure source: https://doi.org/10.1371/journal.pone.0063609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Conner compared maximum flight performance during measured bat–moth encounters. Bats exceeded evasive moths in speed and several acceleration measures, yet many evasive moths escaped.</a:t>
            </a:r>
          </a:p>
          <a:p>
            <a:r>
              <a:t>• The bats’ advantage also included tighter minimum turn radii and greater peak turning performance. Non-evasive prey generally performed worse than evasive prey, but comparing maximum values alone did not determine the outcome of a chase.</a:t>
            </a:r>
          </a:p>
          <a:p>
            <a:r>
              <a:t>  – Peak performance is the strongest measured movement during an encounter, not necessarily the movement occurring simultaneously in predator and prey. A bat capable of a superior maximum can still be unable to follow a specific sudden turn at the required moment.</a:t>
            </a:r>
          </a:p>
          <a:p>
            <a:r>
              <a:t>• A moth can exploit the timing and geometry of a maneuver rather than outrunning the bat along the same path. Peak performance is the strongest measured movement during an encounter, not necessarily the movement occurring simultaneously in predator and prey, so a bat capable of a superior maximum can still be unable to follow a specific sudden turn at the required moment.</a:t>
            </a:r>
          </a:p>
          <a:p/>
          <a:p>
            <a:r>
              <a:t>References:</a:t>
            </a:r>
          </a:p>
          <a:p>
            <a:r>
              <a:t>Corcoran AJ, Conner WE (2016). How moths escape bats: predicting outcomes of predator-prey interactions. Journal of Experimental Biology 219: 2704–2715. https://doi.org/10.1242/jeb.137638</a:t>
            </a:r>
          </a:p>
          <a:p/>
          <a:p>
            <a:r>
              <a:t>Figure: Corcoran &amp; Conner (2016), Fig. 5. Bat and moth flight performance.</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**Radial acceleration** describes the change in velocity direction during a curved turn. A tighter turn at a given speed requires greater radial acceleration; speed alone omits the geometry of the motion.</a:t>
            </a:r>
          </a:p>
          <a:p>
            <a:r>
              <a:t>• Corcoran and Conner extracted turn speed, radius and radial acceleration from reconstructed flight paths. Moth radial acceleration increased with turn speed, whereas bat radial acceleration was much less dependent on turn speed in the measured range.</a:t>
            </a:r>
          </a:p>
          <a:p>
            <a:r>
              <a:t>  – A minimum turn radius and a maximum speed measured at different moments should not be combined as though they occurred together. The study examined relationships among simultaneously measured turn variables, which preserves the physical relationship within each maneuver.</a:t>
            </a:r>
          </a:p>
          <a:p>
            <a:r>
              <a:t>• These differences constrain the maneuvers available during pursuit. The relevant outcome depends on whether a particular turn changes the interception path before the bat can follow it. The study examined relationships among turn variables measured simultaneously, which preserves the physical relationship within each maneuver.</a:t>
            </a:r>
          </a:p>
          <a:p/>
          <a:p>
            <a:r>
              <a:t>References:</a:t>
            </a:r>
          </a:p>
          <a:p>
            <a:r>
              <a:t>Corcoran AJ, Conner WE (2016). How moths escape bats: predicting outcomes of predator-prey interactions. Journal of Experimental Biology 219: 2704–2715. https://doi.org/10.1242/jeb.137638</a:t>
            </a:r>
          </a:p>
          <a:p/>
          <a:p>
            <a:r>
              <a:t>Figure: Corcoran &amp; Conner (2016), Fig. 6(A–B). Turn speed, radius and radial acceleration.</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**escape angle** is the direction of the moth’s movement relative to the approaching predator. Corcoran and Conner measured it after the initial evasive turn, along with the moth’s radial acceleration.</a:t>
            </a:r>
          </a:p>
          <a:p>
            <a:r>
              <a:t>• Moths escaping with angles of 40–100° survived more often than those taking angles above 100°. Escaping prey averaged an angle near 83°, whereas captured prey averaged near 126°. Greater radial acceleration also distinguished successful maneuvers.</a:t>
            </a:r>
          </a:p>
          <a:p>
            <a:r>
              <a:t>  – The escape angle is different from the initial direction of travel before the evasive turn. The source comparison concerns the maneuver’s resulting geometry. High radial acceleration allows rapid redirection, while the angle determines where that redirection places the moth relative to interception.</a:t>
            </a:r>
          </a:p>
          <a:p>
            <a:r>
              <a:t>• Turning partly toward or across the approaching bat can therefore be more effective than continuing directly away during a chase. The escape angle differs from the initial direction of travel before the evasive turn, and high radial acceleration allows rapid redirection while the angle determines where that redirection places the moth relative to interception.</a:t>
            </a:r>
          </a:p>
          <a:p/>
          <a:p>
            <a:r>
              <a:t>References:</a:t>
            </a:r>
          </a:p>
          <a:p>
            <a:r>
              <a:t>Corcoran AJ, Conner WE (2016). How moths escape bats: predicting outcomes of predator-prey interactions. Journal of Experimental Biology 219: 2704–2715. https://doi.org/10.1242/jeb.137638</a:t>
            </a:r>
          </a:p>
          <a:p/>
          <a:p>
            <a:r>
              <a:t>Figure: Corcoran &amp; Conner (2016), Fig. 7(C). Escape outcomes by angle and radial acceleration.</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Escaping moths often moved into regions flanking the approaching bat rather than retreating along its existing pursuit axis. Corcoran and Conner compared reconstructed paths with the safety regions predicted by their geometrical model.</a:t>
            </a:r>
          </a:p>
          <a:p>
            <a:r>
              <a:t>• Their **safety zone** is a modeled region the bat cannot immediately intercept under assumptions about reaction delay, capture width and turning radius. Measured escape paths entered it more often than capture paths did.</a:t>
            </a:r>
          </a:p>
          <a:p>
            <a:r>
              <a:t>  – Measured flight trajectories are evaluated against regions derived from the authors’ geometrical assumptions. A useful geometrical prediction can explain outcomes even when the animal’s decision mechanism remains unknown.</a:t>
            </a:r>
          </a:p>
          <a:p>
            <a:r>
              <a:t>• The flight coordinates are empirical; the shaded regions and simplified boundaries are the authors’ model-derived interpretation. Measured trajectories are evaluated against regions derived from the authors' geometrical assumptions, and agreement between the two supports a geometrical explanation of the observed maneuvers; a geometrical prediction can explain outcomes even when the animal's decision mechanism is unknown.</a:t>
            </a:r>
          </a:p>
          <a:p/>
          <a:p>
            <a:r>
              <a:t>References:</a:t>
            </a:r>
          </a:p>
          <a:p>
            <a:r>
              <a:t>Corcoran AJ, Conner WE (2016). How moths escape bats: predicting outcomes of predator-prey interactions. Journal of Experimental Biology 219: 2704–2715. https://doi.org/10.1242/jeb.137638</a:t>
            </a:r>
          </a:p>
          <a:p/>
          <a:p>
            <a:r>
              <a:t>Figure: Corcoran &amp; Conner (2016), Fig. 9(A–B). Measured paths relative to the authors’ modeled safety zones.</a:t>
            </a:r>
          </a:p>
          <a:p>
            <a:r>
              <a:t>Figure source: https://doi.org/10.1242/jeb.137638</a:t>
            </a:r>
          </a:p>
          <a:p/>
          <a:p>
            <a:r>
              <a:t>Figure: Corcoran &amp; Conner (2016), Fig. 3(A–D). Measured three-dimensional evasive flight trajectories.</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_Bertholdia trigona_ produces dense ultrasonic clicking in response to attacking bats. Its tymbal has a specialized surface associated with sound production, documented by scanning electron microscopy.</a:t>
            </a:r>
          </a:p>
          <a:p>
            <a:r>
              <a:t>• Corcoran and colleagues compared an example echo from a big brown bat, _Eptesicus fuscus_, with two overlapping moth click cycles. The published acoustic comparison uses signals at estimated levels reaching a bat 1 m from the moth.</a:t>
            </a:r>
          </a:p>
          <a:p>
            <a:r>
              <a:t>  – The echo in the published comparison is a constructed example described by the source authors, whereas the click sequence comes from the moth’s sound production. That acoustic comparison alone does not prove jamming. The tymbal is the sound-output organ and should not be confused with the hearing membrane.</a:t>
            </a:r>
          </a:p>
          <a:p>
            <a:r>
              <a:t>• The clicks occupy time and frequency ranges capable of interfering with returning echoes. **Sonar jamming** means disruption of the bat’s use of echoes for prey localization, rather than simply making the moth audible. Acoustic overlap supports a plausible interference mechanism, but the defense’s effectiveness requires behavioral tests of the predator.</a:t>
            </a:r>
          </a:p>
          <a:p/>
          <a:p>
            <a:r>
              <a:t>References:</a:t>
            </a:r>
          </a:p>
          <a:p>
            <a:r>
              <a:t>Corcoran AJ, Barber JR, Conner WE (2009). Tiger Moth Jams Bat Sonar. Science 325: 325-327. https://doi.org/10.1126/science.1174096</a:t>
            </a:r>
          </a:p>
          <a:p/>
          <a:p>
            <a:r>
              <a:t>Figure: Corcoran et al. (2009), Fig. 1(B–C). Published comparison of an example echo and moth clicks.</a:t>
            </a:r>
          </a:p>
          <a:p>
            <a:r>
              <a:t>Figure source: https://doi.org/10.1126/science.1174096</a:t>
            </a:r>
          </a:p>
          <a:p/>
          <a:p>
            <a:r>
              <a:t>Figure: Corcoran et al. (2009), Fig. 1(A). Sound-producing tymbal; scale bar 1 mm.</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colleagues presented tethered moths to trained big brown bats in a flight room while recording attacks with infrared video and ultrasound. Silent palatable moths provided a comparison with clicking _Bertholdia trigona_.</a:t>
            </a:r>
          </a:p>
          <a:p>
            <a:r>
              <a:t>• Bats contacted the silent controls much more frequently than clicking moths. After the sound-producing tymbals were ablated, the bats contacted all presented _B. trigona_ in that silenced condition. **Ablation** means physical removal of the tested structure.</a:t>
            </a:r>
          </a:p>
          <a:p>
            <a:r>
              <a:t>  – The same moth species was tested with and without the ability to click, helping separate sound production from differences among prey species. Contact was the measured attack-success endpoint. It should not automatically be treated as identical to consumption or long-term survival.</a:t>
            </a:r>
          </a:p>
          <a:p>
            <a:r>
              <a:t>• The intervention links the intact acoustic defense to reduced attack success. It is stronger evidence than observing clicks near a missed capture alone. The same moth species was tested with and without the ability to click, which separates sound production from differences among prey species, and contact with the moth was the measured endpoint of attack success.</a:t>
            </a:r>
          </a:p>
          <a:p/>
          <a:p>
            <a:r>
              <a:t>References:</a:t>
            </a:r>
          </a:p>
          <a:p>
            <a:r>
              <a:t>Corcoran AJ, Barber JR, Conner WE (2009). Tiger Moth Jams Bat Sonar. Science 325: 325-327. https://doi.org/10.1126/science.1174096</a:t>
            </a:r>
          </a:p>
          <a:p/>
          <a:p>
            <a:r>
              <a:t>Figure: Corcoran et al. (2009), Fig. 2(B–C). Observed contact rates and tymbal-silencing control.</a:t>
            </a:r>
          </a:p>
          <a:p>
            <a:r>
              <a:t>Figure source: https://doi.org/10.1126/science.1174096</a:t>
            </a:r>
          </a:p>
          <a:p/>
          <a:p>
            <a:r>
              <a:t>Figure: Corcoran et al. (2009), Fig. 1(A). Sound-producing tymbal; scale bar 1 mm.</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startle defense should weaken as a predator becomes accustomed to the sound, whereas a learned warning should change as the predator associates the signal with an unpleasant prey item. These alternatives predict different attack patterns over repeated experience.</a:t>
            </a:r>
          </a:p>
          <a:p>
            <a:r>
              <a:t>• In Corcoran and colleagues’ experiment, protection from _Bertholdia trigona_ clicks appeared immediately and persisted over successive nights. Bats that ate the moths still had difficulty contacting clicking individuals, and attacks often continued after the sound began.</a:t>
            </a:r>
          </a:p>
          <a:p>
            <a:r>
              <a:t>  – The investigators included juvenile bats without prior experience of clicking prey and an experienced adult. The persistence comparison is behavioral evidence, while palatability observations address the warning alternative. More than one defensive function can coexist, so the conclusion is not that moth clicks can never warn or startle.</a:t>
            </a:r>
          </a:p>
          <a:p>
            <a:r>
              <a:t>• The pattern supports sonar interference over a purely transient startle effect or learned rejection of distasteful prey. Individual bats differed in palatability responses, so the strongest interpretation concerns those that consumed the moths. The investigators included juvenile bats without prior experience of clicking prey and an experienced adult, and more than one defensive function can coexist, so the persistent protection supports jamming without excluding a warning or startle function.</a:t>
            </a:r>
          </a:p>
          <a:p/>
          <a:p>
            <a:r>
              <a:t>References:</a:t>
            </a:r>
          </a:p>
          <a:p>
            <a:r>
              <a:t>Corcoran AJ, Barber JR, Conner WE (2009). Tiger Moth Jams Bat Sonar. Science 325: 325-327. https://doi.org/10.1126/science.1174096</a:t>
            </a:r>
          </a:p>
          <a:p/>
          <a:p>
            <a:r>
              <a:t>Figure: Corcoran et al. (2009), Fig. 2(B–C). Observed contact rates and tymbal-silencing control.</a:t>
            </a:r>
          </a:p>
          <a:p>
            <a:r>
              <a:t>Figure source: https://doi.org/10.1126/science.1174096</a:t>
            </a:r>
          </a:p>
          <a:p/>
          <a:p>
            <a:r>
              <a:t>Figure: Corcoran et al. (2009), Fig. 3(A–B). Echolocation timing during an attack on a clicking moth.</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Big brown bats attacking silent control moths normally progressed through approach, tracking and terminal echolocation stages. Corcoran and colleagues recorded a different temporal pattern during some attacks on clicking _Bertholdia trigona_.</a:t>
            </a:r>
          </a:p>
          <a:p>
            <a:r>
              <a:t>• After moth clicks began, bats sometimes lengthened their pulse intervals and returned to an earlier attack stage before continuing pursuit. Such reversals occurred in roughly one third of the clicking-moth attacks and persisted with experience.</a:t>
            </a:r>
          </a:p>
          <a:p>
            <a:r>
              <a:t>  – The spectrogram records frequency against time, and the interval plot records the spacing between emitted bat calls. Moth click timing is retained separately. A change in call progression is an observed predator response, while the precise sensory confusion inside the bat remains inferred.</a:t>
            </a:r>
          </a:p>
          <a:p>
            <a:r>
              <a:t>• The acoustic record links interference with disrupted hunting progression rather than simple abandonment whenever a click is heard. It complements the tymbal-silencing and repeated-exposure controls. The spectrogram records frequency against time and the interval plot records the spacing between emitted bat calls, with the timing of the moth clicks retained separately, so a change in call progression is an observed predator response.</a:t>
            </a:r>
          </a:p>
          <a:p/>
          <a:p>
            <a:r>
              <a:t>References:</a:t>
            </a:r>
          </a:p>
          <a:p>
            <a:r>
              <a:t>Corcoran AJ, Barber JR, Conner WE (2009). Tiger Moth Jams Bat Sonar. Science 325: 325-327. https://doi.org/10.1126/science.1174096</a:t>
            </a:r>
          </a:p>
          <a:p/>
          <a:p>
            <a:r>
              <a:t>Figure: Corcoran et al. (2009), Fig. 3(A–B). Echolocation timing during an attack on a clicking moth.</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Sound reception, neural coding and defensive behavior are distinct experimental outcomes. Wax-moth recordings established spikes to 300-kHz stimulation, but did not establish evasive flight at that frequency.</a:t>
            </a:r>
          </a:p>
          <a:p>
            <a:r>
              <a:t>• In noctuid moths, a short-pulse A1 plateau established limited intensity coding through spike count despite a clear auditory response. A receptor can therefore register the presence of sound without continuously reporting every change in its amplitude.</a:t>
            </a:r>
          </a:p>
          <a:p>
            <a:r>
              <a:t>  – The wax-moth traces distinguish sound-associated A spikes from non-acoustic B spikes, including an example without an auditory response at the tested high frequency. The noctuid plateau is a separate limitation in a different preparation. Neither result should be generalized as a complete account of all moth hearing.</a:t>
            </a:r>
          </a:p>
          <a:p>
            <a:r>
              <a:t>• Connecting those signals to behavior requires central recordings and interventions, as well as measurements of the actual escape or clicking response. Roeder’s pulse-marker observations and the later flight and tymbal experiments address different links in that chain. Together, the receptor measurements, the central recordings and the behavioral and ablation experiments support a sensory defense, with each experiment addressing one link between the sound and the moth's response.</a:t>
            </a:r>
          </a:p>
          <a:p/>
          <a:p>
            <a:r>
              <a:t>References:</a:t>
            </a:r>
          </a:p>
          <a:p>
            <a:r>
              <a:t>Moir HM, Jackson JC, Windmill JFC (2013). Extremely high frequency sensitivity in a ‘simple’ ear. Biology Letters 9: 20130241. https://doi.org/10.1098/rsbl.2013.0241</a:t>
            </a:r>
          </a:p>
          <a:p>
            <a:r>
              <a:t>Gordon SD, ter Hofstede HM (2018). The influence of bat echolocation call duration and timing on auditory encoding of predator distance in noctuoid moths. Journal of Experimental Biology 221: jeb171561. https://doi.org/10.1242/jeb.171561</a:t>
            </a:r>
          </a:p>
          <a:p>
            <a:r>
              <a:t>Roeder KD (1966). Interneurons of the thoracic nerve cord activated by tympanic nerve fibres in noctuid moths. Journal of Insect Physiology 12: 1227-1244. https://doi.org/10.1016/0022-1910(66)90014-x</a:t>
            </a:r>
          </a:p>
          <a:p>
            <a:r>
              <a:t>Corcoran AJ, Conner WE (2016). How moths escape bats: predicting outcomes of predator-prey interactions. Journal of Experimental Biology 219: 2704–2715. https://doi.org/10.1242/jeb.137638</a:t>
            </a:r>
          </a:p>
          <a:p>
            <a:r>
              <a:t>Corcoran AJ, Barber JR, Conner WE (2009). Tiger Moth Jams Bat Sonar. Science 325: 325-327. https://doi.org/10.1126/science.1174096</a:t>
            </a:r>
          </a:p>
          <a:p/>
          <a:p>
            <a:r>
              <a:t>Figure: Moir et al. (2013), Fig. 2(a–d). Auditory spikes at 80, 280 and 300 kHz.</a:t>
            </a:r>
          </a:p>
          <a:p>
            <a:r>
              <a:t>Figure source: https://doi.org/10.1098/rsbl.2013.0241</a:t>
            </a:r>
          </a:p>
          <a:p/>
          <a:p>
            <a:r>
              <a:t>Figure: Gordon &amp; ter Hofstede (2018), Fig. 3(A). A1 saturation before A2 recruitment in Raphia frater.</a:t>
            </a:r>
          </a:p>
          <a:p>
            <a:r>
              <a:t>Figure source: https://doi.org/10.1242/jeb.171561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a:t>
            </a:r>
          </a:p>
          <a:p/>
          <a:p>
            <a:r>
              <a:t>ter Hofstede HM, Goerlitz HR, Montealegre-Z F, Robert D, Holderied MW (2011). Tympanal mechanics and neural responses in the ears of a noctuid moth. Naturwissenschaften 98: 1057-1061. https://doi.org/10.1007/s00114-011-0851-7</a:t>
            </a:r>
          </a:p>
          <a:p/>
          <a:p>
            <a:r>
              <a:t>Gordon SD, ter Hofstede HM (2018). The influence of bat echolocation call duration and timing on auditory encoding of predator distance in noctuoid moths. Journal of Experimental Biology 221: jeb171561. https://doi.org/10.1242/jeb.171561</a:t>
            </a:r>
          </a:p>
          <a:p/>
          <a:p>
            <a:r>
              <a:t>Roeder KD (1966). Interneurons of the thoracic nerve cord activated by tympanic nerve fibres in noctuid moths. Journal of Insect Physiology 12: 1227-1244. https://doi.org/10.1016/0022-1910(66)90014-x</a:t>
            </a:r>
          </a:p>
          <a:p/>
          <a:p>
            <a:r>
              <a:t>Corcoran AJ, Conner WE (2016). How moths escape bats: predicting outcomes of predator-prey interactions. Journal of Experimental Biology 219: 2704–2715. https://doi.org/10.1242/jeb.137638</a:t>
            </a:r>
          </a:p>
          <a:p/>
          <a:p>
            <a:r>
              <a:t>Corcoran AJ, Barber JR, Conner WE (2009). Tiger Moth Jams Bat Sonar. Science 325: 325-327.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Each hypothesis for the function of moth clicks predicts a different pattern across repeated attacks, so repeated exposure discriminates between them.</a:t>
            </a:r>
          </a:p>
          <a:p>
            <a:r>
              <a:rPr lang="en-US" sz="1200"/>
              <a:t>• Startle.</a:t>
            </a:r>
          </a:p>
          <a:p>
            <a:r>
              <a:rPr lang="en-US" sz="1200"/>
              <a:t>– A startle effect weakens as the predator becomes accustomed to the sound.</a:t>
            </a:r>
          </a:p>
          <a:p>
            <a:r>
              <a:rPr lang="en-US" sz="1200"/>
              <a:t>• Warning.</a:t>
            </a:r>
          </a:p>
          <a:p>
            <a:r>
              <a:rPr lang="en-US" sz="1200"/>
              <a:t>– A learned warning changes as the predator associates the signal with an unpleasant prey item.</a:t>
            </a:r>
          </a:p>
          <a:p>
            <a:r>
              <a:rPr lang="en-US" sz="1200"/>
              <a:t>– Palatability observations address this alternative.</a:t>
            </a:r>
          </a:p>
          <a:p>
            <a:r>
              <a:rPr lang="en-US" sz="1200"/>
              <a:t>• Jamming.</a:t>
            </a:r>
          </a:p>
          <a:p>
            <a:r>
              <a:rPr lang="en-US" sz="1200"/>
              <a:t>– Protection from clicks appeared immediately and persisted across successive nights.</a:t>
            </a:r>
          </a:p>
          <a:p>
            <a:r>
              <a:rPr lang="en-US" sz="1200"/>
              <a:t>– Bats that ate the moths still had difficulty contacting clicking individuals.</a:t>
            </a:r>
          </a:p>
          <a:p>
            <a:r>
              <a:rPr lang="en-US" sz="1200"/>
              <a:t>• Coexisting functions.</a:t>
            </a:r>
          </a:p>
          <a:p>
            <a:r>
              <a:rPr lang="en-US" sz="1200"/>
              <a:t>– More than one defensive function can coexist, so the persistent protection supports jamming without excluding a warning or startle function in other conditions.</a:t>
            </a:r>
          </a:p>
          <a:p>
            <a:r>
              <a:rPr lang="en-US" sz="1200"/>
              <a:t>– The bats in the experiment included juveniles without prior experience of clicking prey and an experienced adult.</a:t>
            </a:r>
          </a:p>
          <a:p>
            <a:r>
              <a:rPr lang="en-US" sz="1200"/>
              <a:t>• Repeated nights.</a:t>
            </a:r>
          </a:p>
          <a:p>
            <a:r>
              <a:rPr lang="en-US" sz="1200"/>
              <a:t>– Protection persisted over successive nights, so it did not fade as the bats gained experience.</a:t>
            </a:r>
          </a:p>
          <a:p>
            <a:r>
              <a:rPr lang="en-US" sz="1200"/>
              <a:t>– A startle response would be expected to decline with repeated exposure.</a:t>
            </a:r>
          </a:p>
          <a:p>
            <a:r>
              <a:rPr lang="en-US" sz="1200"/>
              <a:t>– The persistence therefore fits sonar interference better than a transient startle.</a:t>
            </a:r>
          </a:p>
          <a:p>
            <a:r>
              <a:rPr lang="en-US" sz="1200"/>
              <a:t/>
            </a:r>
          </a:p>
          <a:p>
            <a:r>
              <a:rPr lang="en-US" sz="1200"/>
              <a:t>References:</a:t>
            </a:r>
          </a:p>
          <a:p>
            <a:r>
              <a:rPr lang="en-US" sz="1200"/>
              <a:t>Corcoran AJ, Barber JR, Conner WE (2009). Tiger Moth Jams Bat Sonar. Science 325: 325-327.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Maximum values describe capacity, and the outcome of a chase depends on how each animal's movements interact at specific moments.</a:t>
            </a:r>
          </a:p>
          <a:p>
            <a:r>
              <a:rPr lang="en-US" sz="1200"/>
              <a:t>• Comparing capacity.</a:t>
            </a:r>
          </a:p>
          <a:p>
            <a:r>
              <a:rPr lang="en-US" sz="1200"/>
              <a:t>– Bats exceeded evasive moths in speed and several acceleration measures and had tighter minimum turn radii.</a:t>
            </a:r>
          </a:p>
          <a:p>
            <a:r>
              <a:rPr lang="en-US" sz="1200"/>
              <a:t>– Many evasive moths still escaped.</a:t>
            </a:r>
          </a:p>
          <a:p>
            <a:r>
              <a:rPr lang="en-US" sz="1200"/>
              <a:t>• Maxima at different moments.</a:t>
            </a:r>
          </a:p>
          <a:p>
            <a:r>
              <a:rPr lang="en-US" sz="1200"/>
              <a:t>– A peak value is the strongest movement during an encounter, not necessarily one that occurs in predator and prey at the same time.</a:t>
            </a:r>
          </a:p>
          <a:p>
            <a:r>
              <a:rPr lang="en-US" sz="1200"/>
              <a:t>– A superior maximum does not guarantee that a bat can follow a specific sudden turn.</a:t>
            </a:r>
          </a:p>
          <a:p>
            <a:r>
              <a:rPr lang="en-US" sz="1200"/>
              <a:t>• Radial acceleration.</a:t>
            </a:r>
          </a:p>
          <a:p>
            <a:r>
              <a:rPr lang="en-US" sz="1200"/>
              <a:t>– It describes the change in velocity direction during a curved turn.</a:t>
            </a:r>
          </a:p>
          <a:p>
            <a:r>
              <a:rPr lang="en-US" sz="1200"/>
              <a:t>– Moth radial acceleration increased with turn speed, whereas bat radial acceleration depended much less on turn speed.</a:t>
            </a:r>
          </a:p>
          <a:p>
            <a:r>
              <a:rPr lang="en-US" sz="1200"/>
              <a:t>• Simultaneous variables.</a:t>
            </a:r>
          </a:p>
          <a:p>
            <a:r>
              <a:rPr lang="en-US" sz="1200"/>
              <a:t>– The study examined relationships among turn variables measured simultaneously, which preserves the physical relationship within each maneuver.</a:t>
            </a:r>
          </a:p>
          <a:p>
            <a:r>
              <a:rPr lang="en-US" sz="1200"/>
              <a:t>• Escape and capture.</a:t>
            </a:r>
          </a:p>
          <a:p>
            <a:r>
              <a:rPr lang="en-US" sz="1200"/>
              <a:t>– Non-evasive prey generally performed worse than evasive prey, and comparing maximum values alone did not determine the outcome of a chase.</a:t>
            </a:r>
          </a:p>
          <a:p>
            <a:r>
              <a:rPr lang="en-US" sz="1200"/>
              <a:t/>
            </a:r>
          </a:p>
          <a:p>
            <a:r>
              <a:rPr lang="en-US" sz="1200"/>
              <a:t>References:</a:t>
            </a:r>
          </a:p>
          <a:p>
            <a:r>
              <a:rPr lang="en-US" sz="1200"/>
              <a:t>Corcoran AJ, Conner WE (2016). How moths escape bats: predicting outcomes of predator-prey interactions. Journal of Experimental Biology 219: 2704–2715.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Spike count and spike timing are separate candidates for an intensity code, and both were checked inside the saturation range.</a:t>
            </a:r>
          </a:p>
          <a:p>
            <a:r>
              <a:rPr lang="en-US" sz="1200"/>
              <a:t>• Two possible codes.</a:t>
            </a:r>
          </a:p>
          <a:p>
            <a:r>
              <a:rPr lang="en-US" sz="1200"/>
              <a:t>– Spike count is the number of spikes per pulse.</a:t>
            </a:r>
          </a:p>
          <a:p>
            <a:r>
              <a:rPr lang="en-US" sz="1200"/>
              <a:t>– The interspike interval is the time between successive spikes and can carry information even when the count is unchanged.</a:t>
            </a:r>
          </a:p>
          <a:p>
            <a:r>
              <a:rPr lang="en-US" sz="1200"/>
              <a:t>• The test.</a:t>
            </a:r>
          </a:p>
          <a:p>
            <a:r>
              <a:rPr lang="en-US" sz="1200"/>
              <a:t>– Gordon and ter Hofstede examined the first interval and the mean of the initial intervals during the short-pulse saturation range.</a:t>
            </a:r>
          </a:p>
          <a:p>
            <a:r>
              <a:rPr lang="en-US" sz="1200"/>
              <a:t>– Apart from the lowest sampled amplitude, those intervals changed little with sound level.</a:t>
            </a:r>
          </a:p>
          <a:p>
            <a:r>
              <a:rPr lang="en-US" sz="1200"/>
              <a:t>• Two different claims about timing.</a:t>
            </a:r>
          </a:p>
          <a:p>
            <a:r>
              <a:rPr lang="en-US" sz="1200"/>
              <a:t>– One concerns whether spikes form a burst, and the other concerns whether the internal spacing of the burst encodes intensity differences.</a:t>
            </a:r>
          </a:p>
          <a:p>
            <a:r>
              <a:rPr lang="en-US" sz="1200"/>
              <a:t>– A reliable short interval can contribute to central excitation even if it changes little across the plateau.</a:t>
            </a:r>
          </a:p>
          <a:p>
            <a:r>
              <a:rPr lang="en-US" sz="1200"/>
              <a:t>• Consistency with earlier work.</a:t>
            </a:r>
          </a:p>
          <a:p>
            <a:r>
              <a:rPr lang="en-US" sz="1200"/>
              <a:t>– Roeder showed that tightly grouped bursts differ from spontaneous isolated spikes and from adapted responses to tones.</a:t>
            </a:r>
          </a:p>
          <a:p>
            <a:r>
              <a:rPr lang="en-US" sz="1200"/>
              <a:t/>
            </a:r>
          </a:p>
          <a:p>
            <a:r>
              <a:rPr lang="en-US" sz="1200"/>
              <a:t>References:</a:t>
            </a:r>
          </a:p>
          <a:p>
            <a:r>
              <a:rPr lang="en-US" sz="1200"/>
              <a:t>Gordon SD, ter Hofstede HM (2018). The influence of bat echolocation call duration and timing on auditory encoding of predator distance in noctuoid moths. Journal of Experimental Biology 221: jeb171561. https://doi.org/10.1242/jeb.171561</a:t>
            </a:r>
          </a:p>
          <a:p>
            <a:r>
              <a:rPr lang="en-US" sz="1200"/>
              <a:t>Roeder KD, Treat AE (1957). Ultrasonic reception by the tympanic organ of noctuid moths. Journal of Experimental Zoology 134: 127-157.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pulse-marker neuron compresses a burst of afferent spikes into a single event signal, and its recovery depends on the pattern of afferent activity.</a:t>
            </a:r>
          </a:p>
          <a:p>
            <a:r>
              <a:rPr lang="en-US" sz="1200"/>
              <a:t>• Temporal summation.</a:t>
            </a:r>
          </a:p>
          <a:p>
            <a:r>
              <a:rPr lang="en-US" sz="1200"/>
              <a:t>– Excitation from closely spaced inputs accumulates until the threshold is crossed.</a:t>
            </a:r>
          </a:p>
          <a:p>
            <a:r>
              <a:rPr lang="en-US" sz="1200"/>
              <a:t>– Isolated, widely spaced inputs do not accumulate.</a:t>
            </a:r>
          </a:p>
          <a:p>
            <a:r>
              <a:rPr lang="en-US" sz="1200"/>
              <a:t>• What the unit passes on.</a:t>
            </a:r>
          </a:p>
          <a:p>
            <a:r>
              <a:rPr lang="en-US" sz="1200"/>
              <a:t>– It generates one spike after a burst of three or four A1 impulses at intervals near 2 ms or less.</a:t>
            </a:r>
          </a:p>
          <a:p>
            <a:r>
              <a:rPr lang="en-US" sz="1200"/>
              <a:t>– The occurrence of the event is kept, and the duration information of the burst is not.</a:t>
            </a:r>
          </a:p>
          <a:p>
            <a:r>
              <a:rPr lang="en-US" sz="1200"/>
              <a:t>• Recovery.</a:t>
            </a:r>
          </a:p>
          <a:p>
            <a:r>
              <a:rPr lang="en-US" sz="1200"/>
              <a:t>– A long continuous afferent train often evoked only one central spike.</a:t>
            </a:r>
          </a:p>
          <a:p>
            <a:r>
              <a:rPr lang="en-US" sz="1200"/>
              <a:t>– Pulse-marker latency shortened from a variable value near 20 ms to about 6 ms with increasing intensity.</a:t>
            </a:r>
          </a:p>
          <a:p>
            <a:r>
              <a:rPr lang="en-US" sz="1200"/>
              <a:t>• Where the information goes.</a:t>
            </a:r>
          </a:p>
          <a:p>
            <a:r>
              <a:rPr lang="en-US" sz="1200"/>
              <a:t>– The location map records where response classes were encountered and gives the position of each class, whereas the morphology of each neuron is not reconstructed.</a:t>
            </a:r>
          </a:p>
          <a:p>
            <a:r>
              <a:rPr lang="en-US" sz="1200"/>
              <a:t>• Burst structure.</a:t>
            </a:r>
          </a:p>
          <a:p>
            <a:r>
              <a:rPr lang="en-US" sz="1200"/>
              <a:t>– The A1 impulses in a burst arrive at intervals near 2 ms or less.</a:t>
            </a:r>
          </a:p>
          <a:p>
            <a:r>
              <a:rPr lang="en-US" sz="1200"/>
              <a:t>– The pulse-marker neuron responds to that closely spaced input with a single spike.</a:t>
            </a:r>
          </a:p>
          <a:p>
            <a:r>
              <a:rPr lang="en-US" sz="1200"/>
              <a:t/>
            </a:r>
          </a:p>
          <a:p>
            <a:r>
              <a:rPr lang="en-US" sz="1200"/>
              <a:t>References:</a:t>
            </a:r>
          </a:p>
          <a:p>
            <a:r>
              <a:rPr lang="en-US" sz="1200"/>
              <a:t>Roeder KD (1966). Interneurons of the thoracic nerve cord activated by tympanic nerve fibres in noctuid moths. Journal of Insect Physiology 12: 1227-1244.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Summation and comparison are separate operations on the two ears' inputs, and a unit that sums does not by itself steer the moth.</a:t>
            </a:r>
          </a:p>
          <a:p>
            <a:r>
              <a:rPr lang="en-US" sz="1200"/>
              <a:t>• Summation.</a:t>
            </a:r>
          </a:p>
          <a:p>
            <a:r>
              <a:rPr lang="en-US" sz="1200"/>
              <a:t>– A summating unit responds to either ear and responds more when both ears are stimulated.</a:t>
            </a:r>
          </a:p>
          <a:p>
            <a:r>
              <a:rPr lang="en-US" sz="1200"/>
              <a:t>– It reports overall input strength.</a:t>
            </a:r>
          </a:p>
          <a:p>
            <a:r>
              <a:rPr lang="en-US" sz="1200"/>
              <a:t>• Comparison.</a:t>
            </a:r>
          </a:p>
          <a:p>
            <a:r>
              <a:rPr lang="en-US" sz="1200"/>
              <a:t>– A direction detector would respond according to the difference between the two sides.</a:t>
            </a:r>
          </a:p>
          <a:p>
            <a:r>
              <a:rPr lang="en-US" sz="1200"/>
              <a:t>– Subtraction and temporal precedence are proposed ways to form such a difference.</a:t>
            </a:r>
          </a:p>
          <a:p>
            <a:r>
              <a:rPr lang="en-US" sz="1200"/>
              <a:t>• Roeder's test.</a:t>
            </a:r>
          </a:p>
          <a:p>
            <a:r>
              <a:rPr lang="en-US" sz="1200"/>
              <a:t>– Matched 5-ms ultrasonic pulses went to the right ear, the left ear or both.</a:t>
            </a:r>
          </a:p>
          <a:p>
            <a:r>
              <a:rPr lang="en-US" sz="1200"/>
              <a:t>– A bilateral response resembled the response to stronger stimulation of a single ear.</a:t>
            </a:r>
          </a:p>
          <a:p>
            <a:r>
              <a:rPr lang="en-US" sz="1200"/>
              <a:t>• Link to steering.</a:t>
            </a:r>
          </a:p>
          <a:p>
            <a:r>
              <a:rPr lang="en-US" sz="1200"/>
              <a:t>– Steering needs a relationship between side-specific information and motor output.</a:t>
            </a:r>
          </a:p>
          <a:p>
            <a:r>
              <a:rPr lang="en-US" sz="1200"/>
              <a:t>• Hypothesized mechanisms.</a:t>
            </a:r>
          </a:p>
          <a:p>
            <a:r>
              <a:rPr lang="en-US" sz="1200"/>
              <a:t>– Roeder discussed subtraction and temporal precedence as possible ways to compare the two sides.</a:t>
            </a:r>
          </a:p>
          <a:p>
            <a:r>
              <a:rPr lang="en-US" sz="1200"/>
              <a:t>– The summating response he recorded did not resolve which mechanism steers avoidance.</a:t>
            </a:r>
          </a:p>
          <a:p>
            <a:r>
              <a:rPr lang="en-US" sz="1200"/>
              <a:t>• Position of the unit.</a:t>
            </a:r>
          </a:p>
          <a:p>
            <a:r>
              <a:rPr lang="en-US" sz="1200"/>
              <a:t>– The summating unit lay near the ganglion midline, where input from both sides can converge.</a:t>
            </a:r>
          </a:p>
          <a:p>
            <a:r>
              <a:rPr lang="en-US" sz="1200"/>
              <a:t/>
            </a:r>
          </a:p>
          <a:p>
            <a:r>
              <a:rPr lang="en-US" sz="1200"/>
              <a:t>References:</a:t>
            </a:r>
          </a:p>
          <a:p>
            <a:r>
              <a:rPr lang="en-US" sz="1200"/>
              <a:t>Roeder KD (1966). Interneurons of the thoracic nerve cord activated by tympanic nerve fibres in noctuid moths. Journal of Insect Physiology 12: 1227-1244.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comparison of pulses and tones at equal frequency and amplitude separates the temporal pattern of a sound from its total energy.</a:t>
            </a:r>
          </a:p>
          <a:p>
            <a:r>
              <a:rPr lang="en-US" sz="1200"/>
              <a:t>• The two stimuli.</a:t>
            </a:r>
          </a:p>
          <a:p>
            <a:r>
              <a:rPr lang="en-US" sz="1200"/>
              <a:t>– Pulses of 3 ms repeated 30 times per second were compared with a continuous tone at 60 kHz.</a:t>
            </a:r>
          </a:p>
          <a:p>
            <a:r>
              <a:rPr lang="en-US" sz="1200"/>
              <a:t>– Both had the same frequency and amplitude.</a:t>
            </a:r>
          </a:p>
          <a:p>
            <a:r>
              <a:rPr lang="en-US" sz="1200"/>
              <a:t>• Opposite outcomes.</a:t>
            </a:r>
          </a:p>
          <a:p>
            <a:r>
              <a:rPr lang="en-US" sz="1200"/>
              <a:t>– Turning away occurred much more often with pulses.</a:t>
            </a:r>
          </a:p>
          <a:p>
            <a:r>
              <a:rPr lang="en-US" sz="1200"/>
              <a:t>– Tones elicited more total A1 spikes in a matched recording interval.</a:t>
            </a:r>
          </a:p>
          <a:p>
            <a:r>
              <a:rPr lang="en-US" sz="1200"/>
              <a:t>• Why tones lose effectiveness.</a:t>
            </a:r>
          </a:p>
          <a:p>
            <a:r>
              <a:rPr lang="en-US" sz="1200"/>
              <a:t>– Tones produced longer spike trains but adapted more rapidly.</a:t>
            </a:r>
          </a:p>
          <a:p>
            <a:r>
              <a:rPr lang="en-US" sz="1200"/>
              <a:t>– Pulses repeatedly generated short-interval bursts.</a:t>
            </a:r>
          </a:p>
          <a:p>
            <a:r>
              <a:rPr lang="en-US" sz="1200"/>
              <a:t>• Experimental design.</a:t>
            </a:r>
          </a:p>
          <a:p>
            <a:r>
              <a:rPr lang="en-US" sz="1200"/>
              <a:t>– The field signals were alternated over the evening to reduce changes in the moth population as a confound.</a:t>
            </a:r>
          </a:p>
          <a:p>
            <a:r>
              <a:rPr lang="en-US" sz="1200"/>
              <a:t>– The nerve recordings came from identified preparations, whereas the behavior pooled unidentified flying moths.</a:t>
            </a:r>
          </a:p>
          <a:p>
            <a:r>
              <a:rPr lang="en-US" sz="1200"/>
              <a:t>• Spike trains and adaptation.</a:t>
            </a:r>
          </a:p>
          <a:p>
            <a:r>
              <a:rPr lang="en-US" sz="1200"/>
              <a:t>– Adaptation is a reduction in sensory response during continuing or repeated stimulation.</a:t>
            </a:r>
          </a:p>
          <a:p>
            <a:r>
              <a:rPr lang="en-US" sz="1200"/>
              <a:t>– A continuous tone adapts the response, whereas pulses repeatedly generate bursts.</a:t>
            </a:r>
          </a:p>
          <a:p>
            <a:r>
              <a:rPr lang="en-US" sz="1200"/>
              <a:t/>
            </a:r>
          </a:p>
          <a:p>
            <a:r>
              <a:rPr lang="en-US" sz="1200"/>
              <a:t>References:</a:t>
            </a:r>
          </a:p>
          <a:p>
            <a:r>
              <a:rPr lang="en-US" sz="1200"/>
              <a:t>Roeder KD (1964). Aspects of the noctuid tympanic nerve response having significance in the avoidance of bats. Journal of Insect Physiology 10: 529-546. https://doi.org/10.1016/0022-1910(64)90025-3</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Two receptor cells with different thresholds extend the range of sound levels that change the nerve signal, and the extension has gaps for short pulses.</a:t>
            </a:r>
          </a:p>
          <a:p>
            <a:r>
              <a:rPr lang="en-US" sz="1200"/>
              <a:t>• The division of labor.</a:t>
            </a:r>
          </a:p>
          <a:p>
            <a:r>
              <a:rPr lang="en-US" sz="1200"/>
              <a:t>– A1 begins responding at lower levels.</a:t>
            </a:r>
          </a:p>
          <a:p>
            <a:r>
              <a:rPr lang="en-US" sz="1200"/>
              <a:t>– A2 has a higher threshold and is recruited when the sound is stronger.</a:t>
            </a:r>
          </a:p>
          <a:p>
            <a:r>
              <a:rPr lang="en-US" sz="1200"/>
              <a:t>• Pulse duration changes the gap.</a:t>
            </a:r>
          </a:p>
          <a:p>
            <a:r>
              <a:rPr lang="en-US" sz="1200"/>
              <a:t>– Short pulses can leave A1 at a plateau before A2 is recruited.</a:t>
            </a:r>
          </a:p>
          <a:p>
            <a:r>
              <a:rPr lang="en-US" sz="1200"/>
              <a:t>– Longer pulses often let A1 output rise toward the level at which A2 begins to fire.</a:t>
            </a:r>
          </a:p>
          <a:p>
            <a:r>
              <a:rPr lang="en-US" sz="1200"/>
              <a:t>• Why the sum misleads.</a:t>
            </a:r>
          </a:p>
          <a:p>
            <a:r>
              <a:rPr lang="en-US" sz="1200"/>
              <a:t>– Saturation means that raising the input no longer increases the output measure, here spikes per pulse.</a:t>
            </a:r>
          </a:p>
          <a:p>
            <a:r>
              <a:rPr lang="en-US" sz="1200"/>
              <a:t>– The same sound level can yield different spike counts when pulse duration changes.</a:t>
            </a:r>
          </a:p>
          <a:p>
            <a:r>
              <a:rPr lang="en-US" sz="1200"/>
              <a:t>• Measured conditions.</a:t>
            </a:r>
          </a:p>
          <a:p>
            <a:r>
              <a:rPr lang="en-US" sz="1200"/>
              <a:t>– The experiments used 50-kHz pulses lasting 2, 5, 10 or 20 ms.</a:t>
            </a:r>
          </a:p>
          <a:p>
            <a:r>
              <a:rPr lang="en-US" sz="1200"/>
              <a:t>• Consequence for intensity coding.</a:t>
            </a:r>
          </a:p>
          <a:p>
            <a:r>
              <a:rPr lang="en-US" sz="1200"/>
              <a:t>– Within the plateau, an approaching bat can become louder without changing the A1 spike count.</a:t>
            </a:r>
          </a:p>
          <a:p>
            <a:r>
              <a:rPr lang="en-US" sz="1200"/>
              <a:t>– A2 adds information once the sound is strong enough to recruit it.</a:t>
            </a:r>
          </a:p>
          <a:p>
            <a:r>
              <a:rPr lang="en-US" sz="1200"/>
              <a:t/>
            </a:r>
          </a:p>
          <a:p>
            <a:r>
              <a:rPr lang="en-US" sz="1200"/>
              <a:t>References:</a:t>
            </a:r>
          </a:p>
          <a:p>
            <a:r>
              <a:rPr lang="en-US" sz="1200"/>
              <a:t>Gordon SD, ter Hofstede HM (2018). The influence of bat echolocation call duration and timing on auditory encoding of predator distance in noctuoid moths. Journal of Experimental Biology 221: jeb171561. https://doi.org/10.1242/jeb.171561</a:t>
            </a:r>
          </a:p>
          <a:p>
            <a:r>
              <a:rPr lang="en-US" sz="1200"/>
              <a:t>Roeder KD, Treat AE (1957). Ultrasonic reception by the tympanic organ of noctuid moths. Journal of Experimental Zoology 134: 127-157.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threshold curve describes how sensitive a receptor is to each frequency, and its value comes from a defined response criterion.</a:t>
            </a:r>
          </a:p>
          <a:p>
            <a:r>
              <a:rPr lang="en-US" sz="1200"/>
              <a:t>• Defining threshold.</a:t>
            </a:r>
          </a:p>
          <a:p>
            <a:r>
              <a:rPr lang="en-US" sz="1200"/>
              <a:t>– A neural threshold is the lowest stimulus satisfying a stated response criterion.</a:t>
            </a:r>
          </a:p>
          <a:p>
            <a:r>
              <a:rPr lang="en-US" sz="1200"/>
              <a:t>– Requiring repeated sound-associated spikes reduces the chance of mistaking spontaneous firing for an auditory response.</a:t>
            </a:r>
          </a:p>
          <a:p>
            <a:r>
              <a:rPr lang="en-US" sz="1200"/>
              <a:t>• Reading the curve.</a:t>
            </a:r>
          </a:p>
          <a:p>
            <a:r>
              <a:rPr lang="en-US" sz="1200"/>
              <a:t>– Higher thresholds mean that stronger sound is required to evoke spikes.</a:t>
            </a:r>
          </a:p>
          <a:p>
            <a:r>
              <a:rPr lang="en-US" sz="1200"/>
              <a:t>– The lowest value in the wax moth was about 55 dB SPL at 80 kHz.</a:t>
            </a:r>
          </a:p>
          <a:p>
            <a:r>
              <a:rPr lang="en-US" sz="1200"/>
              <a:t>• The high-frequency end.</a:t>
            </a:r>
          </a:p>
          <a:p>
            <a:r>
              <a:rPr lang="en-US" sz="1200"/>
              <a:t>– In responding animals thresholds rose to about 83 dB SPL at 280 kHz and 87 dB SPL at 300 kHz.</a:t>
            </a:r>
          </a:p>
          <a:p>
            <a:r>
              <a:rPr lang="en-US" sz="1200"/>
              <a:t>– Some animals did not respond at the maximum tested 90 dB SPL.</a:t>
            </a:r>
          </a:p>
          <a:p>
            <a:r>
              <a:rPr lang="en-US" sz="1200"/>
              <a:t>• Receptor cells.</a:t>
            </a:r>
          </a:p>
          <a:p>
            <a:r>
              <a:rPr lang="en-US" sz="1200"/>
              <a:t>– The greater wax moth has four auditory receptor cells per ear, in contrast to the two-cell noctuid system.</a:t>
            </a:r>
          </a:p>
          <a:p>
            <a:r>
              <a:rPr lang="en-US" sz="1200"/>
              <a:t>• Behavioral relevance.</a:t>
            </a:r>
          </a:p>
          <a:p>
            <a:r>
              <a:rPr lang="en-US" sz="1200"/>
              <a:t>– A neural threshold describes whether spikes occur, and defensive flight requires a separate behavioral measurement.</a:t>
            </a:r>
          </a:p>
          <a:p>
            <a:r>
              <a:rPr lang="en-US" sz="1200"/>
              <a:t>– The authors identified behavioral studies as the way to test whether the extreme frequencies lead to defensive responses.</a:t>
            </a:r>
          </a:p>
          <a:p>
            <a:r>
              <a:rPr lang="en-US" sz="1200"/>
              <a:t/>
            </a:r>
          </a:p>
          <a:p>
            <a:r>
              <a:rPr lang="en-US" sz="1200"/>
              <a:t>References:</a:t>
            </a:r>
          </a:p>
          <a:p>
            <a:r>
              <a:rPr lang="en-US" sz="1200"/>
              <a:t>Moir HM, Jackson JC, Windmill JFC (2013). Extremely high frequency sensitivity in a ‘simple’ ear. Biology Letters 9: 20130241. https://doi.org/10.1098/rsbl.2013.0241</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pressure attributed to a pulse depends on how it was measured, so the calibration method affects the interpretation of every threshold.</a:t>
            </a:r>
          </a:p>
          <a:p>
            <a:r>
              <a:rPr lang="en-US" sz="1200"/>
              <a:t>• How a meter averages.</a:t>
            </a:r>
          </a:p>
          <a:p>
            <a:r>
              <a:rPr lang="en-US" sz="1200"/>
              <a:t>– A conventional meter averages brief pulses through a time-weighting circuit.</a:t>
            </a:r>
          </a:p>
          <a:p>
            <a:r>
              <a:rPr lang="en-US" sz="1200"/>
              <a:t>– A pulse with a shorter duty cycle can read lower even when its peak pressure is the same.</a:t>
            </a:r>
          </a:p>
          <a:p>
            <a:r>
              <a:rPr lang="en-US" sz="1200"/>
              <a:t>• The reanalysis.</a:t>
            </a:r>
          </a:p>
          <a:p>
            <a:r>
              <a:rPr lang="en-US" sz="1200"/>
              <a:t>– Thevenon and Pfuhl used a mathematical account of meter damping to reanalyze published recordings.</a:t>
            </a:r>
          </a:p>
          <a:p>
            <a:r>
              <a:rPr lang="en-US" sz="1200"/>
              <a:t>– They compared the original spike curves with curves after the assumed bias was corrected.</a:t>
            </a:r>
          </a:p>
          <a:p>
            <a:r>
              <a:rPr lang="en-US" sz="1200"/>
              <a:t>• What the correction changes.</a:t>
            </a:r>
          </a:p>
          <a:p>
            <a:r>
              <a:rPr lang="en-US" sz="1200"/>
              <a:t>– The recorded spikes stay the same, and the pressure assigned to the stimulus changes.</a:t>
            </a:r>
          </a:p>
          <a:p>
            <a:r>
              <a:rPr lang="en-US" sz="1200"/>
              <a:t>– The apparent relation between duration and spike count changes with it.</a:t>
            </a:r>
          </a:p>
          <a:p>
            <a:r>
              <a:rPr lang="en-US" sz="1200"/>
              <a:t>• Nature of the reanalysis.</a:t>
            </a:r>
          </a:p>
          <a:p>
            <a:r>
              <a:rPr lang="en-US" sz="1200"/>
              <a:t>– The reanalysis supplies no new recordings, and missing meter settings prevent complete reconstruction of the original stimuli.</a:t>
            </a:r>
          </a:p>
          <a:p>
            <a:r>
              <a:rPr lang="en-US" sz="1200"/>
              <a:t>• Why calibration matters.</a:t>
            </a:r>
          </a:p>
          <a:p>
            <a:r>
              <a:rPr lang="en-US" sz="1200"/>
              <a:t>– Matching the displayed level across pulses of different durations does not match their peak pressure, which affects the comparison of thresholds across durations.</a:t>
            </a:r>
          </a:p>
          <a:p>
            <a:r>
              <a:rPr lang="en-US" sz="1200"/>
              <a:t/>
            </a:r>
          </a:p>
          <a:p>
            <a:r>
              <a:rPr lang="en-US" sz="1200"/>
              <a:t>References:</a:t>
            </a:r>
          </a:p>
          <a:p>
            <a:r>
              <a:rPr lang="en-US" sz="1200"/>
              <a:t>Thevenon H, Pfuhl G (2018). Discrepancies in the spiking threshold and frequency sensitivity of nocturnal moths explainable by biases in the canonical auditory stimulation method. Royal Society Open Science 5: 172404. https://doi.org/10.1098/rsos.172404</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neural threshold expressed as displacement is nearly constant across frequency, which identifies displacement as the mechanical input that the receptor follows.</a:t>
            </a:r>
          </a:p>
          <a:p>
            <a:r>
              <a:rPr lang="en-US" sz="1200"/>
              <a:t>• Two mechanical quantities.</a:t>
            </a:r>
          </a:p>
          <a:p>
            <a:r>
              <a:rPr lang="en-US" sz="1200"/>
              <a:t>– Velocity is the speed of membrane motion and displacement is its excursion from rest.</a:t>
            </a:r>
          </a:p>
          <a:p>
            <a:r>
              <a:rPr lang="en-US" sz="1200"/>
              <a:t>– A higher-frequency oscillation can reach a higher velocity with the same displacement.</a:t>
            </a:r>
          </a:p>
          <a:p>
            <a:r>
              <a:rPr lang="en-US" sz="1200"/>
              <a:t>• What stayed constant.</a:t>
            </a:r>
          </a:p>
          <a:p>
            <a:r>
              <a:rPr lang="en-US" sz="1200"/>
              <a:t>– Across 15–80 kHz the displacement at neural threshold stayed approximately constant.</a:t>
            </a:r>
          </a:p>
          <a:p>
            <a:r>
              <a:rPr lang="en-US" sz="1200"/>
              <a:t>– The velocity at threshold increased with frequency.</a:t>
            </a:r>
          </a:p>
          <a:p>
            <a:r>
              <a:rPr lang="en-US" sz="1200"/>
              <a:t>• Threshold in picometres.</a:t>
            </a:r>
          </a:p>
          <a:p>
            <a:r>
              <a:rPr lang="en-US" sz="1200"/>
              <a:t>– The mean threshold displacement was 140 pm for A1 and 2510 pm for A2.</a:t>
            </a:r>
          </a:p>
          <a:p>
            <a:r>
              <a:rPr lang="en-US" sz="1200"/>
              <a:t>– A picometre is one trillionth of a metre, so A2 needed far more membrane motion than A1.</a:t>
            </a:r>
          </a:p>
          <a:p>
            <a:r>
              <a:rPr lang="en-US" sz="1200"/>
              <a:t>• Why this is more informative than sound pressure.</a:t>
            </a:r>
          </a:p>
          <a:p>
            <a:r>
              <a:rPr lang="en-US" sz="1200"/>
              <a:t>– Sound-pressure thresholds combine the ear's mechanical response with the receptor's sensitivity.</a:t>
            </a:r>
          </a:p>
          <a:p>
            <a:r>
              <a:rPr lang="en-US" sz="1200"/>
              <a:t>– Displacement thresholds separate the mechanical stage from the receptor stage.</a:t>
            </a:r>
          </a:p>
          <a:p>
            <a:r>
              <a:rPr lang="en-US" sz="1200"/>
              <a:t>• Two acoustic cells.</a:t>
            </a:r>
          </a:p>
          <a:p>
            <a:r>
              <a:rPr lang="en-US" sz="1200"/>
              <a:t>– A1 and A2 denote the more sensitive and the less sensitive acoustic receptor cells.</a:t>
            </a:r>
          </a:p>
          <a:p>
            <a:r>
              <a:rPr lang="en-US" sz="1200"/>
              <a:t>– The threshold displacement therefore characterizes the sensitivity of each cell.</a:t>
            </a:r>
          </a:p>
          <a:p>
            <a:r>
              <a:rPr lang="en-US" sz="1200"/>
              <a:t/>
            </a:r>
          </a:p>
          <a:p>
            <a:r>
              <a:rPr lang="en-US" sz="1200"/>
              <a:t>References:</a:t>
            </a:r>
          </a:p>
          <a:p>
            <a:r>
              <a:rPr lang="en-US" sz="1200"/>
              <a:t>ter Hofstede HM, Goerlitz HR, Montealegre-Z F, Robert D, Holderied MW (2011). Tympanal mechanics and neural responses in the ears of a noctuid moth. Naturwissenschaften 98: 1057-1061. https://doi.org/10.1007/s00114-011-0851-7</a:t>
            </a:r>
          </a:p>
          <a:p>
            <a:r>
              <a:rPr lang="en-US" sz="1200"/>
              <a:t>Roeder KD, Treat AE (1957). Ultrasonic reception by the tympanic organ of noctuid moths. Journal of Experimental Zoology 134: 127-157.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Several kinds of nerve impulse appear in one recording, so the experiment separates acoustic units from other activity before counting hearing.</a:t>
            </a:r>
          </a:p>
          <a:p>
            <a:r>
              <a:rPr lang="en-US" sz="1200"/>
              <a:t>• Afferent spikes.</a:t>
            </a:r>
          </a:p>
          <a:p>
            <a:r>
              <a:rPr lang="en-US" sz="1200"/>
              <a:t>– An afferent carries information from a sensory organ toward the central nervous system.</a:t>
            </a:r>
          </a:p>
          <a:p>
            <a:r>
              <a:rPr lang="en-US" sz="1200"/>
              <a:t>– An extracellular electrode detects voltage changes from nearby action potentials.</a:t>
            </a:r>
          </a:p>
          <a:p>
            <a:r>
              <a:rPr lang="en-US" sz="1200"/>
              <a:t>• Two acoustic units and a background unit.</a:t>
            </a:r>
          </a:p>
          <a:p>
            <a:r>
              <a:rPr lang="en-US" sz="1200"/>
              <a:t>– Sound produced rapid trains in two acoustic units.</a:t>
            </a:r>
          </a:p>
          <a:p>
            <a:r>
              <a:rPr lang="en-US" sz="1200"/>
              <a:t>– A larger non-acoustic unit discharged regularly at 5–20 spikes per second and did not respond to sound.</a:t>
            </a:r>
          </a:p>
          <a:p>
            <a:r>
              <a:rPr lang="en-US" sz="1200"/>
              <a:t>• Identifying units.</a:t>
            </a:r>
          </a:p>
          <a:p>
            <a:r>
              <a:rPr lang="en-US" sz="1200"/>
              <a:t>– Different acoustic thresholds distinguish receptor units even when their recorded spike sizes overlap.</a:t>
            </a:r>
          </a:p>
          <a:p>
            <a:r>
              <a:rPr lang="en-US" sz="1200"/>
              <a:t>– The electrical signal is measured outside the axon, so its size depends partly on electrode geometry.</a:t>
            </a:r>
          </a:p>
          <a:p>
            <a:r>
              <a:rPr lang="en-US" sz="1200"/>
              <a:t>• Peripheral origin.</a:t>
            </a:r>
          </a:p>
          <a:p>
            <a:r>
              <a:rPr lang="en-US" sz="1200"/>
              <a:t>– Because the nerve was disconnected from the central ganglion, the sound-evoked activity originated in the ear and did not depend on a command from the brain.</a:t>
            </a:r>
          </a:p>
          <a:p>
            <a:r>
              <a:rPr lang="en-US" sz="1200"/>
              <a:t>• Why identification matters.</a:t>
            </a:r>
          </a:p>
          <a:p>
            <a:r>
              <a:rPr lang="en-US" sz="1200"/>
              <a:t>– Counting every nerve event as hearing would include the regular non-acoustic discharge.</a:t>
            </a:r>
          </a:p>
          <a:p>
            <a:r>
              <a:rPr lang="en-US" sz="1200"/>
              <a:t>– Sound-evoked spikes are therefore assigned to the units that respond to sound and have defined thresholds.</a:t>
            </a:r>
          </a:p>
          <a:p>
            <a:r>
              <a:rPr lang="en-US" sz="1200"/>
              <a:t/>
            </a:r>
          </a:p>
          <a:p>
            <a:r>
              <a:rPr lang="en-US" sz="1200"/>
              <a:t>References:</a:t>
            </a:r>
          </a:p>
          <a:p>
            <a:r>
              <a:rPr lang="en-US" sz="1200"/>
              <a:t>Roeder KD, Treat AE (1957). Ultrasonic reception by the tympanic organ of noctuid moths. Journal of Experimental Zoology 134: 127-157.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ear of a noctuid moth is a chain of three components, and each link has its own measurement.</a:t>
            </a:r>
          </a:p>
          <a:p>
            <a:r>
              <a:rPr lang="en-US" sz="1200"/>
              <a:t>• The membrane.</a:t>
            </a:r>
          </a:p>
          <a:p>
            <a:r>
              <a:rPr lang="en-US" sz="1200"/>
              <a:t>– A tympanum is a thin membrane that vibrates in response to airborne sound.</a:t>
            </a:r>
          </a:p>
          <a:p>
            <a:r>
              <a:rPr lang="en-US" sz="1200"/>
              <a:t>– In noctuid moths it lies in a recessed region of the posterior thorax.</a:t>
            </a:r>
          </a:p>
          <a:p>
            <a:r>
              <a:rPr lang="en-US" sz="1200"/>
              <a:t>• The sensory attachment.</a:t>
            </a:r>
          </a:p>
          <a:p>
            <a:r>
              <a:rPr lang="en-US" sz="1200"/>
              <a:t>– Roeder and Treat described an attachment on the inner surface of the membrane, enclosed within the tympanic air sac.</a:t>
            </a:r>
          </a:p>
          <a:p>
            <a:r>
              <a:rPr lang="en-US" sz="1200"/>
              <a:t>– Receptors in the attachment convert membrane movement into neural activity.</a:t>
            </a:r>
          </a:p>
          <a:p>
            <a:r>
              <a:rPr lang="en-US" sz="1200"/>
              <a:t>• The nerve.</a:t>
            </a:r>
          </a:p>
          <a:p>
            <a:r>
              <a:rPr lang="en-US" sz="1200"/>
              <a:t>– The tympanic nerve is a bundle carrying sensory axons from this apparatus toward the thoracic ganglion.</a:t>
            </a:r>
          </a:p>
          <a:p>
            <a:r>
              <a:rPr lang="en-US" sz="1200"/>
              <a:t>– The published reconstruction identifies named supporting structures.</a:t>
            </a:r>
          </a:p>
          <a:p>
            <a:r>
              <a:rPr lang="en-US" sz="1200"/>
              <a:t>• Separate measurements.</a:t>
            </a:r>
          </a:p>
          <a:p>
            <a:r>
              <a:rPr lang="en-US" sz="1200"/>
              <a:t>– The mechanical response of the membrane is measured with vibrometry, and the neural response is measured with nerve recordings.</a:t>
            </a:r>
          </a:p>
          <a:p>
            <a:r>
              <a:rPr lang="en-US" sz="1200"/>
              <a:t>• Why the components are separate.</a:t>
            </a:r>
          </a:p>
          <a:p>
            <a:r>
              <a:rPr lang="en-US" sz="1200"/>
              <a:t>– Sound must first move the membrane, receptors in the attachment must then convert that movement into activity, and the nerve must carry the activity onward.</a:t>
            </a:r>
          </a:p>
          <a:p>
            <a:r>
              <a:rPr lang="en-US" sz="1200"/>
              <a:t>– The anatomy identifies the route, and thresholds come from the separate mechanical and neural measurements.</a:t>
            </a:r>
          </a:p>
          <a:p>
            <a:r>
              <a:rPr lang="en-US" sz="1200"/>
              <a:t/>
            </a:r>
          </a:p>
          <a:p>
            <a:r>
              <a:rPr lang="en-US" sz="1200"/>
              <a:t>References:</a:t>
            </a:r>
          </a:p>
          <a:p>
            <a:r>
              <a:rPr lang="en-US" sz="1200"/>
              <a:t>Roeder KD, Treat AE (1957). Ultrasonic reception by the tympanic organ of noctuid moths. Journal of Experimental Zoology 134: 127-157.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Three-dimensional reconstruction supplies measurements of speed, turning and encounter outcome that a single camera view cannot provide.</a:t>
            </a:r>
          </a:p>
          <a:p>
            <a:r>
              <a:rPr lang="en-US" sz="1200"/>
              <a:t>• Why one view is not enough.</a:t>
            </a:r>
          </a:p>
          <a:p>
            <a:r>
              <a:rPr lang="en-US" sz="1200"/>
              <a:t>– A turn observed from one camera can conceal changes in altitude or depth.</a:t>
            </a:r>
          </a:p>
          <a:p>
            <a:r>
              <a:rPr lang="en-US" sz="1200"/>
              <a:t>– Synchronized camera views were calibrated and reconstructed into three-dimensional trajectories.</a:t>
            </a:r>
          </a:p>
          <a:p>
            <a:r>
              <a:rPr lang="en-US" sz="1200"/>
              <a:t>• The enclosure.</a:t>
            </a:r>
          </a:p>
          <a:p>
            <a:r>
              <a:rPr lang="en-US" sz="1200"/>
              <a:t>– The outdoor enclosure measured 6 m by 4 m with a height of 2.2–3 m.</a:t>
            </a:r>
          </a:p>
          <a:p>
            <a:r>
              <a:rPr lang="en-US" sz="1200"/>
              <a:t>– Infrared cameras avoided the visible floodlighting that Roeder's photographic method required.</a:t>
            </a:r>
          </a:p>
          <a:p>
            <a:r>
              <a:rPr lang="en-US" sz="1200"/>
              <a:t>• What the trajectories allow.</a:t>
            </a:r>
          </a:p>
          <a:p>
            <a:r>
              <a:rPr lang="en-US" sz="1200"/>
              <a:t>– Speed and turning performance can be measured from the reconstructed paths.</a:t>
            </a:r>
          </a:p>
          <a:p>
            <a:r>
              <a:rPr lang="en-US" sz="1200"/>
              <a:t>– Each movement sequence can be tied to the capture or escape of the moth.</a:t>
            </a:r>
          </a:p>
          <a:p>
            <a:r>
              <a:rPr lang="en-US" sz="1200"/>
              <a:t>• Natural behavior.</a:t>
            </a:r>
          </a:p>
          <a:p>
            <a:r>
              <a:rPr lang="en-US" sz="1200"/>
              <a:t>– Released moths flew naturally before attacks were analyzed, and the bats were hunting moths in flight.</a:t>
            </a:r>
          </a:p>
          <a:p>
            <a:r>
              <a:rPr lang="en-US" sz="1200"/>
              <a:t>• Why trajectories help.</a:t>
            </a:r>
          </a:p>
          <a:p>
            <a:r>
              <a:rPr lang="en-US" sz="1200"/>
              <a:t>– Three-dimensional positions allow speed, turn radius and acceleration to be measured for both predator and moth.</a:t>
            </a:r>
          </a:p>
          <a:p>
            <a:r>
              <a:rPr lang="en-US" sz="1200"/>
              <a:t>– The outcome of each encounter can then be linked to the maneuver that preceded it.</a:t>
            </a:r>
          </a:p>
          <a:p>
            <a:r>
              <a:rPr lang="en-US" sz="1200"/>
              <a:t/>
            </a:r>
          </a:p>
          <a:p>
            <a:r>
              <a:rPr lang="en-US" sz="1200"/>
              <a:t>References:</a:t>
            </a:r>
          </a:p>
          <a:p>
            <a:r>
              <a:rPr lang="en-US" sz="1200"/>
              <a:t>Corcoran AJ, Conner WE (2016). How moths escape bats: predicting outcomes of predator-prey interactions. Journal of Experimental Biology 219: 2704–2715.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directional response depends on where the sound source lies relative to the moth, and the experiment keeps the source fixed while moths cross the sound field.</a:t>
            </a:r>
          </a:p>
          <a:p>
            <a:r>
              <a:rPr lang="en-US" sz="1200"/>
              <a:t>• Defining direction.</a:t>
            </a:r>
          </a:p>
          <a:p>
            <a:r>
              <a:rPr lang="en-US" sz="1200"/>
              <a:t>– Direction refers to the relationship between the insect's path and the ultrasonic source.</a:t>
            </a:r>
          </a:p>
          <a:p>
            <a:r>
              <a:rPr lang="en-US" sz="1200"/>
              <a:t>– A dive alone does not determine whether directional information influenced the response.</a:t>
            </a:r>
          </a:p>
          <a:p>
            <a:r>
              <a:rPr lang="en-US" sz="1200"/>
              <a:t>• Position relative to the source.</a:t>
            </a:r>
          </a:p>
          <a:p>
            <a:r>
              <a:rPr lang="en-US" sz="1200"/>
              <a:t>– Moths approaching the source could reverse their course, those below it sometimes descended and those above it could turn upward.</a:t>
            </a:r>
          </a:p>
          <a:p>
            <a:r>
              <a:rPr lang="en-US" sz="1200"/>
              <a:t>– A downward movement is directional when it carries the moth away from a source above it.</a:t>
            </a:r>
          </a:p>
          <a:p>
            <a:r>
              <a:rPr lang="en-US" sz="1200"/>
              <a:t>• Control of the light gradient.</a:t>
            </a:r>
          </a:p>
          <a:p>
            <a:r>
              <a:rPr lang="en-US" sz="1200"/>
              <a:t>– Turning away occurred whether the path carried the insect toward, away from, or across the light gradient.</a:t>
            </a:r>
          </a:p>
          <a:p>
            <a:r>
              <a:rPr lang="en-US" sz="1200"/>
              <a:t>– The comparison supports an acoustic contribution to direction.</a:t>
            </a:r>
          </a:p>
          <a:p>
            <a:r>
              <a:rPr lang="en-US" sz="1200"/>
              <a:t>• Distance and output.</a:t>
            </a:r>
          </a:p>
          <a:p>
            <a:r>
              <a:rPr lang="en-US" sz="1200"/>
              <a:t>– At greater distances from the source, or with reduced ultrasonic output, moths turned and flew away from the loudspeaker.</a:t>
            </a:r>
          </a:p>
          <a:p>
            <a:r>
              <a:rPr lang="en-US" sz="1200"/>
              <a:t>– The same behavior therefore varies with the strength of the stimulus at the ears.</a:t>
            </a:r>
          </a:p>
          <a:p>
            <a:r>
              <a:rPr lang="en-US" sz="1200"/>
              <a:t/>
            </a:r>
          </a:p>
          <a:p>
            <a:r>
              <a:rPr lang="en-US" sz="1200"/>
              <a:t>References:</a:t>
            </a:r>
          </a:p>
          <a:p>
            <a:r>
              <a:rPr lang="en-US" sz="1200"/>
              <a:t>Roeder KD (1962). The behaviour of free flying moths in the presence of artificial ultrasonic pulses. Animal Behaviour 10: 300-304. https://doi.org/10.1016/0003-3472(62)90053-2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5.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8.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8.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8.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8.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8.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8.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5.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37.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37.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3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8.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5.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8.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B5258"/>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1DFE7"/>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1DFE7"/>
                </a:solidFill>
                <a:latin typeface="Arial"/>
              </a:rPr>
              <a:t>Lecture 15</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900" b="1" i="0">
                <a:solidFill>
                  <a:srgbClr val="FFFFFF"/>
                </a:solidFill>
                <a:latin typeface="Arial"/>
              </a:rPr>
              <a:t>Insect hearing II:</a:t>
            </a:r>
          </a:p>
          <a:p>
            <a:pPr algn="l">
              <a:lnSpc>
                <a:spcPct val="108000"/>
              </a:lnSpc>
              <a:spcAft>
                <a:spcPts val="0"/>
              </a:spcAft>
            </a:pPr>
            <a:r>
              <a:rPr sz="2900" b="1" i="0">
                <a:solidFill>
                  <a:srgbClr val="FFFFFF"/>
                </a:solidFill>
                <a:latin typeface="Arial"/>
              </a:rPr>
              <a:t>moth ears and bat-evasion behavior (Roeder)</a:t>
            </a:r>
          </a:p>
        </p:txBody>
      </p:sp>
      <p:sp>
        <p:nvSpPr>
          <p:cNvPr id="6" name="TextBox 5"/>
          <p:cNvSpPr txBox="1"/>
          <p:nvPr/>
        </p:nvSpPr>
        <p:spPr>
          <a:xfrm>
            <a:off x="685800" y="440523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1DFE7"/>
                </a:solidFill>
                <a:latin typeface="Arial"/>
              </a:rPr>
              <a:t>Monday, September 28,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1DFE7"/>
                </a:solidFill>
                <a:latin typeface="Arial"/>
              </a:rPr>
              <a:t>Jordan Lopez, Ph.D.</a:t>
            </a:r>
          </a:p>
          <a:p>
            <a:pPr algn="l">
              <a:lnSpc>
                <a:spcPct val="108000"/>
              </a:lnSpc>
              <a:spcAft>
                <a:spcPts val="200"/>
              </a:spcAft>
            </a:pPr>
            <a:r>
              <a:rPr sz="1200" b="0" i="0">
                <a:solidFill>
                  <a:srgbClr val="D1DFE7"/>
                </a:solidFill>
                <a:latin typeface="Arial"/>
              </a:rPr>
              <a:t>Professor of Neurobiology &amp; Biomedical Engineering</a:t>
            </a:r>
          </a:p>
        </p:txBody>
      </p:sp>
      <p:pic>
        <p:nvPicPr>
          <p:cNvPr id="8" name="Picture 7" descr="h13_animal.png"/>
          <p:cNvPicPr>
            <a:picLocks noChangeAspect="1"/>
          </p:cNvPicPr>
          <p:nvPr/>
        </p:nvPicPr>
        <p:blipFill>
          <a:blip r:embed="rId2"/>
          <a:stretch>
            <a:fillRect/>
          </a:stretch>
        </p:blipFill>
        <p:spPr>
          <a:xfrm>
            <a:off x="6700032" y="822960"/>
            <a:ext cx="4887477"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1(a). Greater wax moth; scale bar 5 mm.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Ultrasound changes the flight of unrestrained moths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0" i="0">
                <a:solidFill>
                  <a:srgbClr val="263039"/>
                </a:solidFill>
                <a:latin typeface="Arial"/>
              </a:rPr>
              <a:t>Free-flying moths exposed to artificial </a:t>
            </a:r>
            <a:r>
              <a:rPr sz="1550" b="1" i="0">
                <a:solidFill>
                  <a:srgbClr val="384E60"/>
                </a:solidFill>
                <a:latin typeface="Arial"/>
              </a:rPr>
              <a:t>ultrasound</a:t>
            </a:r>
            <a:r>
              <a:rPr sz="1550" b="0" i="0">
                <a:solidFill>
                  <a:srgbClr val="263039"/>
                </a:solidFill>
                <a:latin typeface="Arial"/>
              </a:rPr>
              <a:t>, sound above the human audible range, changed course or stopped beating their wings. Roeder photographed these responses on an open lawn rather than restricting the insects to a wire or tether.</a:t>
            </a:r>
          </a:p>
          <a:p>
            <a:pPr algn="l">
              <a:lnSpc>
                <a:spcPct val="108000"/>
              </a:lnSpc>
              <a:spcAft>
                <a:spcPts val="960"/>
              </a:spcAft>
            </a:pPr>
            <a:r>
              <a:rPr sz="1550" b="0" i="0">
                <a:solidFill>
                  <a:srgbClr val="263039"/>
                </a:solidFill>
                <a:latin typeface="Arial"/>
              </a:rPr>
              <a:t>A marker flash identified stimulus onset, and interruptions in the photographic tracks provided a 0.25-s time base. Flash-only trials caused no flight deviation; enclosing the camera reduced unwanted ultrasound from its shutter.</a:t>
            </a:r>
          </a:p>
          <a:p>
            <a:pPr algn="l">
              <a:lnSpc>
                <a:spcPct val="108000"/>
              </a:lnSpc>
              <a:spcAft>
                <a:spcPts val="960"/>
              </a:spcAft>
            </a:pPr>
            <a:r>
              <a:rPr sz="1550" b="0" i="0">
                <a:solidFill>
                  <a:srgbClr val="263039"/>
                </a:solidFill>
                <a:latin typeface="Arial"/>
              </a:rPr>
              <a:t>Some moths made passive dives with motionless wings, whereas others continued powered flight. Recorded reaction times ranged from 0.2 s to more than 1 s. A stationary-flight preparation can constrain turning and may itself disturb the animal, so Roeder examined insects that entered the sound field during their own flights, and the timing control separates the effect of the ultrasound from the visible flash that marked its onset.</a:t>
            </a:r>
          </a:p>
        </p:txBody>
      </p:sp>
      <p:pic>
        <p:nvPicPr>
          <p:cNvPr id="4" name="Picture 3" descr="r62_f1de.png"/>
          <p:cNvPicPr>
            <a:picLocks noChangeAspect="1"/>
          </p:cNvPicPr>
          <p:nvPr/>
        </p:nvPicPr>
        <p:blipFill>
          <a:blip r:embed="rId2"/>
          <a:stretch>
            <a:fillRect/>
          </a:stretch>
        </p:blipFill>
        <p:spPr>
          <a:xfrm>
            <a:off x="6138367" y="1280160"/>
            <a:ext cx="5486400" cy="3856776"/>
          </a:xfrm>
          <a:prstGeom prst="rect">
            <a:avLst/>
          </a:prstGeom>
        </p:spPr>
      </p:pic>
      <p:sp>
        <p:nvSpPr>
          <p:cNvPr id="5" name="Figure caption"/>
          <p:cNvSpPr txBox="1"/>
          <p:nvPr/>
        </p:nvSpPr>
        <p:spPr>
          <a:xfrm>
            <a:off x="6138367" y="522837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(1962), Fig. 1(D–E). Passive moth dives; gaps mark 0.25 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Weaker ultrasound elicits flight away from the source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0" i="0">
                <a:solidFill>
                  <a:srgbClr val="263039"/>
                </a:solidFill>
                <a:latin typeface="Arial"/>
              </a:rPr>
              <a:t>At greater distances from the source, or after the ultrasonic output was reduced, moths turned and flew away from the loudspeaker. This </a:t>
            </a:r>
            <a:r>
              <a:rPr sz="1500" b="1" i="0">
                <a:solidFill>
                  <a:srgbClr val="384E60"/>
                </a:solidFill>
                <a:latin typeface="Arial"/>
              </a:rPr>
              <a:t>directional avoidance</a:t>
            </a:r>
            <a:r>
              <a:rPr sz="1500" b="0" i="0">
                <a:solidFill>
                  <a:srgbClr val="263039"/>
                </a:solidFill>
                <a:latin typeface="Arial"/>
              </a:rPr>
              <a:t> changed the flight path relative to the source, rather than simply reducing altitude.</a:t>
            </a:r>
          </a:p>
          <a:p>
            <a:pPr algn="l">
              <a:lnSpc>
                <a:spcPct val="108000"/>
              </a:lnSpc>
              <a:spcAft>
                <a:spcPts val="960"/>
              </a:spcAft>
            </a:pPr>
            <a:r>
              <a:rPr sz="1500" b="0" i="0">
                <a:solidFill>
                  <a:srgbClr val="263039"/>
                </a:solidFill>
                <a:latin typeface="Arial"/>
              </a:rPr>
              <a:t>The source position was fixed while naturally flying moths crossed the illuminated area. Moths approaching the source could reverse their course; those below it sometimes descended, and those above it could turn upward.</a:t>
            </a:r>
          </a:p>
          <a:p>
            <a:pPr algn="l">
              <a:lnSpc>
                <a:spcPct val="108000"/>
              </a:lnSpc>
              <a:spcAft>
                <a:spcPts val="960"/>
              </a:spcAft>
            </a:pPr>
            <a:r>
              <a:rPr sz="1500" b="0" i="0">
                <a:solidFill>
                  <a:srgbClr val="263039"/>
                </a:solidFill>
                <a:latin typeface="Arial"/>
              </a:rPr>
              <a:t>Turning away occurred whether the resulting path carried an insect toward, away from, or across the light gradient. The comparison supports an acoustic contribution to direction. Direction refers to the relationship between the insect's path and the ultrasonic source, so a downward movement is directional when it carries the moth away from a source above it, and a dive qualifies as directional only when its path depends on the position of the source.</a:t>
            </a:r>
          </a:p>
        </p:txBody>
      </p:sp>
      <p:pic>
        <p:nvPicPr>
          <p:cNvPr id="4" name="Picture 3" descr="r62_f2.png"/>
          <p:cNvPicPr>
            <a:picLocks noChangeAspect="1"/>
          </p:cNvPicPr>
          <p:nvPr/>
        </p:nvPicPr>
        <p:blipFill>
          <a:blip r:embed="rId2"/>
          <a:stretch>
            <a:fillRect/>
          </a:stretch>
        </p:blipFill>
        <p:spPr>
          <a:xfrm>
            <a:off x="6514118" y="1280160"/>
            <a:ext cx="4734896"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(1962), Fig. 2(A–D). Flight turns away from the sound source.</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Stronger stimulation recruits varied diving maneuvers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0" i="0">
                <a:solidFill>
                  <a:srgbClr val="263039"/>
                </a:solidFill>
                <a:latin typeface="Arial"/>
              </a:rPr>
              <a:t>Moths closer to the transducer exhibited a range of escape maneuvers: sharp passive dives, powered dives, loops, tight turns, and climbs followed by descents. Their common tendency was movement toward the ground, rather than a uniform direction away from the source.</a:t>
            </a:r>
          </a:p>
          <a:p>
            <a:pPr algn="l">
              <a:lnSpc>
                <a:spcPct val="108000"/>
              </a:lnSpc>
              <a:spcAft>
                <a:spcPts val="960"/>
              </a:spcAft>
            </a:pPr>
            <a:r>
              <a:rPr sz="1500" b="0" i="0">
                <a:solidFill>
                  <a:srgbClr val="263039"/>
                </a:solidFill>
                <a:latin typeface="Arial"/>
              </a:rPr>
              <a:t>Roeder usually repeated ultrasonic pulses 30 times per second. The stimulus continued while flight was photographed, allowing the trajectory after sound onset to be distinguished from the insect’s preceding movement.</a:t>
            </a:r>
          </a:p>
          <a:p>
            <a:pPr algn="l">
              <a:lnSpc>
                <a:spcPct val="108000"/>
              </a:lnSpc>
              <a:spcAft>
                <a:spcPts val="960"/>
              </a:spcAft>
            </a:pPr>
            <a:r>
              <a:rPr sz="1500" b="0" i="0">
                <a:solidFill>
                  <a:srgbClr val="263039"/>
                </a:solidFill>
                <a:latin typeface="Arial"/>
              </a:rPr>
              <a:t>Wing movements could cease or increase in frequency after stimulation. The behavioral distinction between weaker-source avoidance and stronger-source diving is supported by these records. The climb preceding a dive and the continuing wingbeats during a turn are different motor solutions to an acoustic threat, and pooling them into one rigid reflex would discard the variation recorded in free flight.</a:t>
            </a:r>
          </a:p>
        </p:txBody>
      </p:sp>
      <p:pic>
        <p:nvPicPr>
          <p:cNvPr id="4" name="Picture 3" descr="r62_f1ghi.png"/>
          <p:cNvPicPr>
            <a:picLocks noChangeAspect="1"/>
          </p:cNvPicPr>
          <p:nvPr/>
        </p:nvPicPr>
        <p:blipFill>
          <a:blip r:embed="rId2"/>
          <a:stretch>
            <a:fillRect/>
          </a:stretch>
        </p:blipFill>
        <p:spPr>
          <a:xfrm>
            <a:off x="6138367" y="1280160"/>
            <a:ext cx="5486400" cy="2179528"/>
          </a:xfrm>
          <a:prstGeom prst="rect">
            <a:avLst/>
          </a:prstGeom>
        </p:spPr>
      </p:pic>
      <p:sp>
        <p:nvSpPr>
          <p:cNvPr id="5" name="Figure caption"/>
          <p:cNvSpPr txBox="1"/>
          <p:nvPr/>
        </p:nvSpPr>
        <p:spPr>
          <a:xfrm>
            <a:off x="6138367" y="355112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(1962), Fig. 1(G–I). Climb–dive and turning responses.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Three-dimensional tracking measures actual bat attacks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0" i="0">
                <a:solidFill>
                  <a:srgbClr val="263039"/>
                </a:solidFill>
                <a:latin typeface="Arial"/>
              </a:rPr>
              <a:t>Corcoran and Conner recorded long-legged myotis bats, </a:t>
            </a:r>
            <a:r>
              <a:rPr sz="1500" b="0" i="1">
                <a:solidFill>
                  <a:srgbClr val="263039"/>
                </a:solidFill>
                <a:latin typeface="Arial"/>
              </a:rPr>
              <a:t>Myotis volans</a:t>
            </a:r>
            <a:r>
              <a:rPr sz="1500" b="0" i="0">
                <a:solidFill>
                  <a:srgbClr val="263039"/>
                </a:solidFill>
                <a:latin typeface="Arial"/>
              </a:rPr>
              <a:t>, pursuing naturally flying moths in an outdoor enclosure. Infrared cameras registered predator and prey positions without the visible floodlighting required by Roeder’s photographic method.</a:t>
            </a:r>
          </a:p>
          <a:p>
            <a:pPr algn="l">
              <a:lnSpc>
                <a:spcPct val="108000"/>
              </a:lnSpc>
              <a:spcAft>
                <a:spcPts val="960"/>
              </a:spcAft>
            </a:pPr>
            <a:r>
              <a:rPr sz="1500" b="0" i="0">
                <a:solidFill>
                  <a:srgbClr val="263039"/>
                </a:solidFill>
                <a:latin typeface="Arial"/>
              </a:rPr>
              <a:t>The enclosure measured 6 m by 4 m, with a height of 2.2–3 m. Synchronized camera views were calibrated and reconstructed into three-dimensional trajectories, linking movements in space to the outcome of each encounter.</a:t>
            </a:r>
          </a:p>
          <a:p>
            <a:pPr algn="l">
              <a:lnSpc>
                <a:spcPct val="108000"/>
              </a:lnSpc>
              <a:spcAft>
                <a:spcPts val="960"/>
              </a:spcAft>
            </a:pPr>
            <a:r>
              <a:rPr sz="1500" b="0" i="0">
                <a:solidFill>
                  <a:srgbClr val="263039"/>
                </a:solidFill>
                <a:latin typeface="Arial"/>
              </a:rPr>
              <a:t>A turn observed from one camera can conceal changes in altitude or depth. Reconstructed trajectories resolve those components and permit measurements of speed and turning performance. Calibration assigns a common spatial coordinate system to the camera recordings, so the measured paths are trajectories through a volume, and released moths flew naturally before the attacks were analyzed.</a:t>
            </a:r>
          </a:p>
        </p:txBody>
      </p:sp>
      <p:pic>
        <p:nvPicPr>
          <p:cNvPr id="4" name="Picture 3" descr="e16_f3abcd.png"/>
          <p:cNvPicPr>
            <a:picLocks noChangeAspect="1"/>
          </p:cNvPicPr>
          <p:nvPr/>
        </p:nvPicPr>
        <p:blipFill>
          <a:blip r:embed="rId2"/>
          <a:stretch>
            <a:fillRect/>
          </a:stretch>
        </p:blipFill>
        <p:spPr>
          <a:xfrm>
            <a:off x="6172513" y="1280160"/>
            <a:ext cx="5418107"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3(A–D). Measured three-dimensional evasive flight trajectories.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Evasion greatly reduces capture during aerial pursuit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In the observed bat–moth encounters, bats captured 37.5% of evasive prey but 98% of non-evasive prey. Evasion was identified by sharp turns or accelerations during the attack, rather than by labeling every surviving moth as evasive.</a:t>
            </a:r>
          </a:p>
          <a:p>
            <a:pPr algn="l">
              <a:lnSpc>
                <a:spcPct val="108000"/>
              </a:lnSpc>
              <a:spcAft>
                <a:spcPts val="960"/>
              </a:spcAft>
            </a:pPr>
            <a:r>
              <a:rPr sz="1600" b="0" i="0">
                <a:solidFill>
                  <a:srgbClr val="263039"/>
                </a:solidFill>
                <a:latin typeface="Arial"/>
              </a:rPr>
              <a:t>Infrared video linked each movement sequence to capture or escape. Non-evasive moths followed comparatively slow or broad paths, whereas evasive moths changed speed or direction abruptly as the bat approached.</a:t>
            </a:r>
          </a:p>
          <a:p>
            <a:pPr algn="l">
              <a:lnSpc>
                <a:spcPct val="108000"/>
              </a:lnSpc>
              <a:spcAft>
                <a:spcPts val="960"/>
              </a:spcAft>
            </a:pPr>
            <a:r>
              <a:rPr sz="1600" b="0" i="0">
                <a:solidFill>
                  <a:srgbClr val="263039"/>
                </a:solidFill>
                <a:latin typeface="Arial"/>
              </a:rPr>
              <a:t>The comparison connects flight behavior with survival in this preparation. Separating the movement from the outcome prevents a circular definition of escape, because an evasive moth can still be captured, and the authors measured kinematics to examine why some evasive paths succeeded while others failed.</a:t>
            </a:r>
          </a:p>
        </p:txBody>
      </p:sp>
      <p:pic>
        <p:nvPicPr>
          <p:cNvPr id="4" name="Picture 3" descr="e16_f4abcd.png"/>
          <p:cNvPicPr>
            <a:picLocks noChangeAspect="1"/>
          </p:cNvPicPr>
          <p:nvPr/>
        </p:nvPicPr>
        <p:blipFill>
          <a:blip r:embed="rId2"/>
          <a:stretch>
            <a:fillRect/>
          </a:stretch>
        </p:blipFill>
        <p:spPr>
          <a:xfrm>
            <a:off x="7518478" y="1280160"/>
            <a:ext cx="2726177" cy="2194560"/>
          </a:xfrm>
          <a:prstGeom prst="rect">
            <a:avLst/>
          </a:prstGeom>
        </p:spPr>
      </p:pic>
      <p:sp>
        <p:nvSpPr>
          <p:cNvPr id="5" name="Figure caption"/>
          <p:cNvSpPr txBox="1"/>
          <p:nvPr/>
        </p:nvSpPr>
        <p:spPr>
          <a:xfrm>
            <a:off x="6138367" y="35661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4(A–D). Measured capture of a non-evasive moth.</a:t>
            </a:r>
          </a:p>
        </p:txBody>
      </p:sp>
      <p:pic>
        <p:nvPicPr>
          <p:cNvPr id="6" name="Picture 5" descr="e16_f3abcd.png"/>
          <p:cNvPicPr>
            <a:picLocks noChangeAspect="1"/>
          </p:cNvPicPr>
          <p:nvPr/>
        </p:nvPicPr>
        <p:blipFill>
          <a:blip r:embed="rId3"/>
          <a:stretch>
            <a:fillRect/>
          </a:stretch>
        </p:blipFill>
        <p:spPr>
          <a:xfrm>
            <a:off x="7786417" y="4023360"/>
            <a:ext cx="2190298" cy="17373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3(A–D). Measured three-dimensional evasive flight trajectories.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Noctuid ears connect the tympanum to sensory neurons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 </a:t>
            </a:r>
            <a:r>
              <a:rPr sz="1600" b="1" i="0">
                <a:solidFill>
                  <a:srgbClr val="384E60"/>
                </a:solidFill>
                <a:latin typeface="Arial"/>
              </a:rPr>
              <a:t>tympanum</a:t>
            </a:r>
            <a:r>
              <a:rPr sz="1600" b="0" i="0">
                <a:solidFill>
                  <a:srgbClr val="263039"/>
                </a:solidFill>
                <a:latin typeface="Arial"/>
              </a:rPr>
              <a:t> is a thin membrane that vibrates in response to airborne sound. In noctuid moths it occupies a recessed region of the posterior thorax, near the junction between thorax and abdomen.</a:t>
            </a:r>
          </a:p>
          <a:p>
            <a:pPr algn="l">
              <a:lnSpc>
                <a:spcPct val="108000"/>
              </a:lnSpc>
              <a:spcAft>
                <a:spcPts val="960"/>
              </a:spcAft>
            </a:pPr>
            <a:r>
              <a:rPr sz="1600" b="0" i="0">
                <a:solidFill>
                  <a:srgbClr val="263039"/>
                </a:solidFill>
                <a:latin typeface="Arial"/>
              </a:rPr>
              <a:t>Roeder and Treat described a sensory attachment on the membrane’s inner surface, enclosed within the tympanic air sac. The </a:t>
            </a:r>
            <a:r>
              <a:rPr sz="1600" b="1" i="0">
                <a:solidFill>
                  <a:srgbClr val="384E60"/>
                </a:solidFill>
                <a:latin typeface="Arial"/>
              </a:rPr>
              <a:t>tympanic nerve</a:t>
            </a:r>
            <a:r>
              <a:rPr sz="1600" b="0" i="0">
                <a:solidFill>
                  <a:srgbClr val="263039"/>
                </a:solidFill>
                <a:latin typeface="Arial"/>
              </a:rPr>
              <a:t>, a bundle carrying sensory axons, runs from this apparatus toward the thoracic ganglion.</a:t>
            </a:r>
          </a:p>
          <a:p>
            <a:pPr algn="l">
              <a:lnSpc>
                <a:spcPct val="108000"/>
              </a:lnSpc>
              <a:spcAft>
                <a:spcPts val="960"/>
              </a:spcAft>
            </a:pPr>
            <a:r>
              <a:rPr sz="1600" b="0" i="0">
                <a:solidFill>
                  <a:srgbClr val="263039"/>
                </a:solidFill>
                <a:latin typeface="Arial"/>
              </a:rPr>
              <a:t>This anatomy provides a mechanical route from external sound to sensory tissue and a neural route into the central nervous system. The membrane, the sensory attachment and the nerve are distinct components: sound first moves the membrane, the attached receptors convert that movement into neural activity, and the tympanic nerve carries the signal to the thoracic ganglion.</a:t>
            </a:r>
          </a:p>
        </p:txBody>
      </p:sp>
      <p:pic>
        <p:nvPicPr>
          <p:cNvPr id="4" name="Picture 3" descr="r57_f1.png"/>
          <p:cNvPicPr>
            <a:picLocks noChangeAspect="1"/>
          </p:cNvPicPr>
          <p:nvPr/>
        </p:nvPicPr>
        <p:blipFill>
          <a:blip r:embed="rId2"/>
          <a:stretch>
            <a:fillRect/>
          </a:stretch>
        </p:blipFill>
        <p:spPr>
          <a:xfrm>
            <a:off x="6913541" y="1280160"/>
            <a:ext cx="3936050"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1. Published noctuid ear, nerve and ganglion anatomy.</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Sensory attachments couple membrane motion to the ear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263039"/>
                </a:solidFill>
                <a:latin typeface="Arial"/>
              </a:rPr>
              <a:t>The noctuid tympanic sensory organ contains two </a:t>
            </a:r>
            <a:r>
              <a:rPr sz="1450" b="1" i="0">
                <a:solidFill>
                  <a:srgbClr val="384E60"/>
                </a:solidFill>
                <a:latin typeface="Arial"/>
              </a:rPr>
              <a:t>scolopes</a:t>
            </a:r>
            <a:r>
              <a:rPr sz="1450" b="0" i="0">
                <a:solidFill>
                  <a:srgbClr val="263039"/>
                </a:solidFill>
                <a:latin typeface="Arial"/>
              </a:rPr>
              <a:t>, specialized supporting elements associated with sensory-cell dendrites. A dendrite is the peripheral region of a sensory neuron that receives the mechanical stimulus, whereas its axon carries the resulting signal centrally.</a:t>
            </a:r>
          </a:p>
          <a:p>
            <a:pPr algn="l">
              <a:lnSpc>
                <a:spcPct val="108000"/>
              </a:lnSpc>
              <a:spcAft>
                <a:spcPts val="900"/>
              </a:spcAft>
            </a:pPr>
            <a:r>
              <a:rPr sz="1450" b="0" i="0">
                <a:solidFill>
                  <a:srgbClr val="263039"/>
                </a:solidFill>
                <a:latin typeface="Arial"/>
              </a:rPr>
              <a:t>The sensory attachment extends inward from the tympanic membrane and is supported by a ligament and surrounding tissues. Roeder and Treat’s published section represents these relationships while explicitly leaving some cellular details presumptive.</a:t>
            </a:r>
          </a:p>
          <a:p>
            <a:pPr algn="l">
              <a:lnSpc>
                <a:spcPct val="108000"/>
              </a:lnSpc>
              <a:spcAft>
                <a:spcPts val="900"/>
              </a:spcAft>
            </a:pPr>
            <a:r>
              <a:rPr sz="1450" b="0" i="0">
                <a:solidFill>
                  <a:srgbClr val="263039"/>
                </a:solidFill>
                <a:latin typeface="Arial"/>
              </a:rPr>
              <a:t>Two acoustic response units were subsequently distinguished in the nerve recordings. Agreement between the two scolopes in the anatomy and the two acoustic units in the nerve recordings supports a small receptor population. A scolops belongs to the supporting receptor apparatus instead of being a separate central neuron, and the authors noted that cap cells, accessory cells and surrounding epithelium complicate the microscopic picture.</a:t>
            </a:r>
          </a:p>
        </p:txBody>
      </p:sp>
      <p:pic>
        <p:nvPicPr>
          <p:cNvPr id="4" name="Picture 3" descr="r57_f2.png"/>
          <p:cNvPicPr>
            <a:picLocks noChangeAspect="1"/>
          </p:cNvPicPr>
          <p:nvPr/>
        </p:nvPicPr>
        <p:blipFill>
          <a:blip r:embed="rId2"/>
          <a:stretch>
            <a:fillRect/>
          </a:stretch>
        </p:blipFill>
        <p:spPr>
          <a:xfrm>
            <a:off x="6138367" y="1280160"/>
            <a:ext cx="5486400" cy="3831520"/>
          </a:xfrm>
          <a:prstGeom prst="rect">
            <a:avLst/>
          </a:prstGeom>
        </p:spPr>
      </p:pic>
      <p:sp>
        <p:nvSpPr>
          <p:cNvPr id="5" name="Figure caption"/>
          <p:cNvSpPr txBox="1"/>
          <p:nvPr/>
        </p:nvSpPr>
        <p:spPr>
          <a:xfrm>
            <a:off x="6138367" y="5203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Sound recruits acoustic units within the tympanic nerve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An </a:t>
            </a:r>
            <a:r>
              <a:rPr sz="1600" b="1" i="0">
                <a:solidFill>
                  <a:srgbClr val="384E60"/>
                </a:solidFill>
                <a:latin typeface="Arial"/>
              </a:rPr>
              <a:t>afferent</a:t>
            </a:r>
            <a:r>
              <a:rPr sz="1600" b="0" i="0">
                <a:solidFill>
                  <a:srgbClr val="263039"/>
                </a:solidFill>
                <a:latin typeface="Arial"/>
              </a:rPr>
              <a:t> is a neuron carrying information from a sensory organ toward the central nervous system. Roeder and Treat recorded afferent spikes extracellularly from the tympanic nerve after separating it from central connections.</a:t>
            </a:r>
          </a:p>
          <a:p>
            <a:pPr algn="l">
              <a:lnSpc>
                <a:spcPct val="108000"/>
              </a:lnSpc>
              <a:spcAft>
                <a:spcPts val="960"/>
              </a:spcAft>
            </a:pPr>
            <a:r>
              <a:rPr sz="1600" b="0" i="0">
                <a:solidFill>
                  <a:srgbClr val="263039"/>
                </a:solidFill>
                <a:latin typeface="Arial"/>
              </a:rPr>
              <a:t>An extracellular electrode detects voltage changes produced by nearby action potentials, the brief electrical impulses propagated along axons. Sound produced rapid trains in two acoustic units; a larger, regularly recurring non-acoustic unit remained insensitive to the stimulus.</a:t>
            </a:r>
          </a:p>
          <a:p>
            <a:pPr algn="l">
              <a:lnSpc>
                <a:spcPct val="108000"/>
              </a:lnSpc>
              <a:spcAft>
                <a:spcPts val="960"/>
              </a:spcAft>
            </a:pPr>
            <a:r>
              <a:rPr sz="1600" b="0" i="0">
                <a:solidFill>
                  <a:srgbClr val="263039"/>
                </a:solidFill>
                <a:latin typeface="Arial"/>
              </a:rPr>
              <a:t>The non-acoustic discharge commonly occurred at 5–20 spikes per second. Separating this activity from sound-evoked spikes prevents every nerve event from being counted as hearing. Different acoustic thresholds distinguish receptor units even when their recorded spike sizes overlap; recording amplitude alone is an unreliable cell label.</a:t>
            </a:r>
          </a:p>
        </p:txBody>
      </p:sp>
      <p:pic>
        <p:nvPicPr>
          <p:cNvPr id="4" name="Picture 3" descr="r57_f3.png"/>
          <p:cNvPicPr>
            <a:picLocks noChangeAspect="1"/>
          </p:cNvPicPr>
          <p:nvPr/>
        </p:nvPicPr>
        <p:blipFill>
          <a:blip r:embed="rId2"/>
          <a:stretch>
            <a:fillRect/>
          </a:stretch>
        </p:blipFill>
        <p:spPr>
          <a:xfrm>
            <a:off x="7225370" y="1280160"/>
            <a:ext cx="3312393" cy="2423160"/>
          </a:xfrm>
          <a:prstGeom prst="rect">
            <a:avLst/>
          </a:prstGeom>
        </p:spPr>
      </p:pic>
      <p:sp>
        <p:nvSpPr>
          <p:cNvPr id="5" name="Figure caption"/>
          <p:cNvSpPr txBox="1"/>
          <p:nvPr/>
        </p:nvSpPr>
        <p:spPr>
          <a:xfrm>
            <a:off x="6138367" y="37947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3(A–C). Spontaneous and sound-evoked nerve activity.</a:t>
            </a:r>
          </a:p>
        </p:txBody>
      </p:sp>
      <p:pic>
        <p:nvPicPr>
          <p:cNvPr id="6" name="Picture 5" descr="r57_f2.png"/>
          <p:cNvPicPr>
            <a:picLocks noChangeAspect="1"/>
          </p:cNvPicPr>
          <p:nvPr/>
        </p:nvPicPr>
        <p:blipFill>
          <a:blip r:embed="rId3"/>
          <a:stretch>
            <a:fillRect/>
          </a:stretch>
        </p:blipFill>
        <p:spPr>
          <a:xfrm>
            <a:off x="7801361" y="4251960"/>
            <a:ext cx="2160411"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Vibrometry links membrane motion to neural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1" i="0">
                <a:solidFill>
                  <a:srgbClr val="384E60"/>
                </a:solidFill>
                <a:latin typeface="Arial"/>
              </a:rPr>
              <a:t>Laser Doppler vibrometry</a:t>
            </a:r>
            <a:r>
              <a:rPr sz="1500" b="0" i="0">
                <a:solidFill>
                  <a:srgbClr val="263039"/>
                </a:solidFill>
                <a:latin typeface="Arial"/>
              </a:rPr>
              <a:t> measures surface motion from changes in reflected laser light. In </a:t>
            </a:r>
            <a:r>
              <a:rPr sz="1500" b="0" i="1">
                <a:solidFill>
                  <a:srgbClr val="263039"/>
                </a:solidFill>
                <a:latin typeface="Arial"/>
              </a:rPr>
              <a:t>Noctua pronuba</a:t>
            </a:r>
            <a:r>
              <a:rPr sz="1500" b="0" i="0">
                <a:solidFill>
                  <a:srgbClr val="263039"/>
                </a:solidFill>
                <a:latin typeface="Arial"/>
              </a:rPr>
              <a:t>, ter Hofstede and colleagues directed the laser at the tympanum’s sensory-cell attachment while presenting calibrated sound pulses.</a:t>
            </a:r>
          </a:p>
          <a:p>
            <a:pPr algn="l">
              <a:lnSpc>
                <a:spcPct val="108000"/>
              </a:lnSpc>
              <a:spcAft>
                <a:spcPts val="960"/>
              </a:spcAft>
            </a:pPr>
            <a:r>
              <a:rPr sz="1500" b="0" i="0">
                <a:solidFill>
                  <a:srgbClr val="263039"/>
                </a:solidFill>
                <a:latin typeface="Arial"/>
              </a:rPr>
              <a:t>The method recorded velocity, the speed of membrane motion, and displacement, its excursion from the resting position. Stimuli lasted 20 ms and sampled frequencies from 5 to 80 kHz; incident sound was measured beside the ear.</a:t>
            </a:r>
          </a:p>
          <a:p>
            <a:pPr algn="l">
              <a:lnSpc>
                <a:spcPct val="108000"/>
              </a:lnSpc>
              <a:spcAft>
                <a:spcPts val="960"/>
              </a:spcAft>
            </a:pPr>
            <a:r>
              <a:rPr sz="1500" b="0" i="0">
                <a:solidFill>
                  <a:srgbClr val="263039"/>
                </a:solidFill>
                <a:latin typeface="Arial"/>
              </a:rPr>
              <a:t>Simultaneous auditory-nerve recordings linked mechanical responses to spike production. Measuring the same attachment rather than an arbitrary membrane location constrains the relevant receptor input. The speaker stood 30 cm from the preparation and the microphone sat about 2 mm beside the ear, so the sound was measured locally at the ear, and the sensory attachment is the mechanical location relevant to the receptor.</a:t>
            </a:r>
          </a:p>
        </p:txBody>
      </p:sp>
      <p:pic>
        <p:nvPicPr>
          <p:cNvPr id="4" name="Picture 3" descr="m11_f1.png"/>
          <p:cNvPicPr>
            <a:picLocks noChangeAspect="1"/>
          </p:cNvPicPr>
          <p:nvPr/>
        </p:nvPicPr>
        <p:blipFill>
          <a:blip r:embed="rId2"/>
          <a:stretch>
            <a:fillRect/>
          </a:stretch>
        </p:blipFill>
        <p:spPr>
          <a:xfrm>
            <a:off x="6579860" y="1280160"/>
            <a:ext cx="2500293"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1(a–f). Membrane velocity in intact and dissected preparations.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Displacement predicts the threshold for auditory spikes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0" i="0">
                <a:solidFill>
                  <a:srgbClr val="263039"/>
                </a:solidFill>
                <a:latin typeface="Arial"/>
              </a:rPr>
              <a:t>A </a:t>
            </a:r>
            <a:r>
              <a:rPr sz="1550" b="1" i="0">
                <a:solidFill>
                  <a:srgbClr val="384E60"/>
                </a:solidFill>
                <a:latin typeface="Arial"/>
              </a:rPr>
              <a:t>neural threshold</a:t>
            </a:r>
            <a:r>
              <a:rPr sz="1550" b="0" i="0">
                <a:solidFill>
                  <a:srgbClr val="263039"/>
                </a:solidFill>
                <a:latin typeface="Arial"/>
              </a:rPr>
              <a:t> is the lowest stimulus satisfying a stated response criterion. Across 15–80 kHz, the tympanic displacement at threshold remained approximately constant, whereas the corresponding membrane velocity increased with frequency.</a:t>
            </a:r>
          </a:p>
          <a:p>
            <a:pPr algn="l">
              <a:lnSpc>
                <a:spcPct val="108000"/>
              </a:lnSpc>
              <a:spcAft>
                <a:spcPts val="960"/>
              </a:spcAft>
            </a:pPr>
            <a:r>
              <a:rPr sz="1550" b="0" i="0">
                <a:solidFill>
                  <a:srgbClr val="263039"/>
                </a:solidFill>
                <a:latin typeface="Arial"/>
              </a:rPr>
              <a:t>The mean threshold displacement was 140 pm for A1 and 2510 pm for A2. A picometre is one trillionth of a metre. A1 and A2 denote the more sensitive and less sensitive acoustic receptor cells, respectively.</a:t>
            </a:r>
          </a:p>
          <a:p>
            <a:pPr algn="l">
              <a:lnSpc>
                <a:spcPct val="108000"/>
              </a:lnSpc>
              <a:spcAft>
                <a:spcPts val="960"/>
              </a:spcAft>
            </a:pPr>
            <a:r>
              <a:rPr sz="1550" b="0" i="0">
                <a:solidFill>
                  <a:srgbClr val="263039"/>
                </a:solidFill>
                <a:latin typeface="Arial"/>
              </a:rPr>
              <a:t>Sound-pressure thresholds alone combine the ear’s mechanical response with the receptor’s sensitivity. The stable displacement thresholds support displacement as the relevant mechanical input under these pure-tone conditions. A higher-frequency oscillation can move faster while covering the same displacement, so the relevant comparison is the membrane motion required for the same neural response, and A2 required considerably greater movement than A1.</a:t>
            </a:r>
          </a:p>
        </p:txBody>
      </p:sp>
      <p:pic>
        <p:nvPicPr>
          <p:cNvPr id="4" name="Picture 3" descr="m11_f2abc.png"/>
          <p:cNvPicPr>
            <a:picLocks noChangeAspect="1"/>
          </p:cNvPicPr>
          <p:nvPr/>
        </p:nvPicPr>
        <p:blipFill>
          <a:blip r:embed="rId2"/>
          <a:stretch>
            <a:fillRect/>
          </a:stretch>
        </p:blipFill>
        <p:spPr>
          <a:xfrm>
            <a:off x="6431934" y="1280160"/>
            <a:ext cx="2796144"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2(a–c). Pressure, velocity and displacement at neural threshold.</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Dissection preserves near-threshold membrane motion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Exposing the auditory nerve could alter the ear’s biomechanics. Ter Hofstede and colleagues therefore compared the same moth in intact flight orientation, intact inverted orientation, and an inverted preparation with the nerve-recording electrodes inserted.</a:t>
            </a:r>
          </a:p>
          <a:p>
            <a:pPr algn="l">
              <a:lnSpc>
                <a:spcPct val="108000"/>
              </a:lnSpc>
              <a:spcAft>
                <a:spcPts val="960"/>
              </a:spcAft>
            </a:pPr>
            <a:r>
              <a:rPr sz="1600" b="0" i="0">
                <a:solidFill>
                  <a:srgbClr val="263039"/>
                </a:solidFill>
                <a:latin typeface="Arial"/>
              </a:rPr>
              <a:t>Near neural threshold, tympanic velocity and displacement showed no consistent difference across those treatments. Sound levels were defined as </a:t>
            </a:r>
            <a:r>
              <a:rPr sz="1600" b="1" i="0">
                <a:solidFill>
                  <a:srgbClr val="384E60"/>
                </a:solidFill>
                <a:latin typeface="Arial"/>
              </a:rPr>
              <a:t>dB SPL</a:t>
            </a:r>
            <a:r>
              <a:rPr sz="1600" b="0" i="0">
                <a:solidFill>
                  <a:srgbClr val="263039"/>
                </a:solidFill>
                <a:latin typeface="Arial"/>
              </a:rPr>
              <a:t>, a logarithmic sound-pressure measure referenced to 20 µPa.</a:t>
            </a:r>
          </a:p>
          <a:p>
            <a:pPr algn="l">
              <a:lnSpc>
                <a:spcPct val="108000"/>
              </a:lnSpc>
              <a:spcAft>
                <a:spcPts val="960"/>
              </a:spcAft>
            </a:pPr>
            <a:r>
              <a:rPr sz="1600" b="0" i="0">
                <a:solidFill>
                  <a:srgbClr val="263039"/>
                </a:solidFill>
                <a:latin typeface="Arial"/>
              </a:rPr>
              <a:t>At stronger stimulation, particularly below 35 kHz, dissected preparations could show greater membrane movement than intact animals. The control supports near-threshold recordings as estimates of intact hearing under the tested conditions. The order of the two intact orientations alternated between animals to reduce an order effect, so the validation applies to the measured near-threshold range.</a:t>
            </a:r>
          </a:p>
        </p:txBody>
      </p:sp>
      <p:pic>
        <p:nvPicPr>
          <p:cNvPr id="4" name="Picture 3" descr="m11_f1.png"/>
          <p:cNvPicPr>
            <a:picLocks noChangeAspect="1"/>
          </p:cNvPicPr>
          <p:nvPr/>
        </p:nvPicPr>
        <p:blipFill>
          <a:blip r:embed="rId2"/>
          <a:stretch>
            <a:fillRect/>
          </a:stretch>
        </p:blipFill>
        <p:spPr>
          <a:xfrm>
            <a:off x="6579860" y="1280160"/>
            <a:ext cx="2500293"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1(a–f). Membrane velocity in intact and dissected preparations.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Sound-level meters can bias pulse-duration comparisons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 conventional sound-level meter can average brief pulses through its time-weighting circuit. For the published 1.5–50-ms pulses, holding the displayed reading constant can require different true pulse amplitudes when duration changes.</a:t>
            </a:r>
          </a:p>
          <a:p>
            <a:pPr algn="l">
              <a:lnSpc>
                <a:spcPct val="108000"/>
              </a:lnSpc>
              <a:spcAft>
                <a:spcPts val="960"/>
              </a:spcAft>
            </a:pPr>
            <a:r>
              <a:rPr sz="1600" b="0" i="0">
                <a:solidFill>
                  <a:srgbClr val="263039"/>
                </a:solidFill>
                <a:latin typeface="Arial"/>
              </a:rPr>
              <a:t>Thevenon and Pfuhl reanalyzed published moth recordings using a mathematical account of meter damping. Their article compares original duration-dependent spike curves with curves after the assumed measurement bias was corrected.</a:t>
            </a:r>
          </a:p>
          <a:p>
            <a:pPr algn="l">
              <a:lnSpc>
                <a:spcPct val="108000"/>
              </a:lnSpc>
              <a:spcAft>
                <a:spcPts val="960"/>
              </a:spcAft>
            </a:pPr>
            <a:r>
              <a:rPr sz="1600" b="0" i="0">
                <a:solidFill>
                  <a:srgbClr val="263039"/>
                </a:solidFill>
                <a:latin typeface="Arial"/>
              </a:rPr>
              <a:t>Corrected pressures change the apparent relation between duration and spike count. A pulse with a shorter duty cycle can produce a lower averaged meter reading even when its peak pressure is unchanged, and correcting the measurement does not change the recorded spikes but changes the pressure assigned to the stimulus that elicited them.</a:t>
            </a:r>
          </a:p>
        </p:txBody>
      </p:sp>
      <p:pic>
        <p:nvPicPr>
          <p:cNvPr id="4" name="Picture 3" descr="d18_f6.png"/>
          <p:cNvPicPr>
            <a:picLocks noChangeAspect="1"/>
          </p:cNvPicPr>
          <p:nvPr/>
        </p:nvPicPr>
        <p:blipFill>
          <a:blip r:embed="rId2"/>
          <a:stretch>
            <a:fillRect/>
          </a:stretch>
        </p:blipFill>
        <p:spPr>
          <a:xfrm>
            <a:off x="6138367" y="1280160"/>
            <a:ext cx="5486400" cy="2891666"/>
          </a:xfrm>
          <a:prstGeom prst="rect">
            <a:avLst/>
          </a:prstGeom>
        </p:spPr>
      </p:pic>
      <p:sp>
        <p:nvSpPr>
          <p:cNvPr id="5" name="Figure caption"/>
          <p:cNvSpPr txBox="1"/>
          <p:nvPr/>
        </p:nvSpPr>
        <p:spPr>
          <a:xfrm>
            <a:off x="6138367" y="426326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Thevenon &amp; Pfuhl (2018), Fig. 6(a–b). Published reanalysis before and after meter correction.</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Thevenon &amp; Pfuhl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Repetition-rate effects depend on amplitude calibration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Thevenon and Pfuhl also examined published spike responses to pulses repeated at 20, 33, 50 or 100 Hz. More frequent pulses occupy more of the meter’s averaging interval, so a matched displayed level need not mean matched instantaneous sound pressure.</a:t>
            </a:r>
          </a:p>
          <a:p>
            <a:pPr algn="l">
              <a:lnSpc>
                <a:spcPct val="108000"/>
              </a:lnSpc>
              <a:spcAft>
                <a:spcPts val="960"/>
              </a:spcAft>
            </a:pPr>
            <a:r>
              <a:rPr sz="1600" b="0" i="0">
                <a:solidFill>
                  <a:srgbClr val="263039"/>
                </a:solidFill>
                <a:latin typeface="Arial"/>
              </a:rPr>
              <a:t>Their published correction aligned much of the repetition-rate dependence in the reanalyzed dataset. The result raises a calibration-based alternative to interpreting every reduction in spikes per pulse as neural adaptation.</a:t>
            </a:r>
          </a:p>
          <a:p>
            <a:pPr algn="l">
              <a:lnSpc>
                <a:spcPct val="108000"/>
              </a:lnSpc>
              <a:spcAft>
                <a:spcPts val="960"/>
              </a:spcAft>
            </a:pPr>
            <a:r>
              <a:rPr sz="1600" b="0" i="0">
                <a:solidFill>
                  <a:srgbClr val="263039"/>
                </a:solidFill>
                <a:latin typeface="Arial"/>
              </a:rPr>
              <a:t>The analysis depends on the modeled damping circuit and information reported in the original methods. Pulse rate and pulse duration both influence the time occupied by sound, so a stronger test measures the local sound waveform directly and compares responses under a clearly defined amplitude convention.</a:t>
            </a:r>
          </a:p>
        </p:txBody>
      </p:sp>
      <p:pic>
        <p:nvPicPr>
          <p:cNvPr id="4" name="Picture 3" descr="d18_f7.png"/>
          <p:cNvPicPr>
            <a:picLocks noChangeAspect="1"/>
          </p:cNvPicPr>
          <p:nvPr/>
        </p:nvPicPr>
        <p:blipFill>
          <a:blip r:embed="rId2"/>
          <a:stretch>
            <a:fillRect/>
          </a:stretch>
        </p:blipFill>
        <p:spPr>
          <a:xfrm>
            <a:off x="6138367" y="1280160"/>
            <a:ext cx="5486400" cy="4141008"/>
          </a:xfrm>
          <a:prstGeom prst="rect">
            <a:avLst/>
          </a:prstGeom>
        </p:spPr>
      </p:pic>
      <p:sp>
        <p:nvSpPr>
          <p:cNvPr id="5" name="Figure caption"/>
          <p:cNvSpPr txBox="1"/>
          <p:nvPr/>
        </p:nvSpPr>
        <p:spPr>
          <a:xfrm>
            <a:off x="6138367" y="551260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Thevenon &amp; Pfuhl (2018), Fig. 7(a–b). Published repetition-rate data reanalysis.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Thevenon &amp; Pfuhl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Wax-moth membranes respond across a broad bandwidth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greater wax moth, </a:t>
            </a:r>
            <a:r>
              <a:rPr sz="1600" b="0" i="1">
                <a:solidFill>
                  <a:srgbClr val="263039"/>
                </a:solidFill>
                <a:latin typeface="Arial"/>
              </a:rPr>
              <a:t>Galleria mellonella</a:t>
            </a:r>
            <a:r>
              <a:rPr sz="1600" b="0" i="0">
                <a:solidFill>
                  <a:srgbClr val="263039"/>
                </a:solidFill>
                <a:latin typeface="Arial"/>
              </a:rPr>
              <a:t>, has four auditory receptor cells per ear, contrasting with the two-cell noctuid system. Moir and colleagues measured membrane movement optically to determine how broadly its tympanum responds to ultrasound.</a:t>
            </a:r>
          </a:p>
          <a:p>
            <a:pPr algn="l">
              <a:lnSpc>
                <a:spcPct val="108000"/>
              </a:lnSpc>
              <a:spcAft>
                <a:spcPts val="960"/>
              </a:spcAft>
            </a:pPr>
            <a:r>
              <a:rPr sz="1600" b="0" i="0">
                <a:solidFill>
                  <a:srgbClr val="263039"/>
                </a:solidFill>
                <a:latin typeface="Arial"/>
              </a:rPr>
              <a:t>At 90 dB SPL, membrane oscillations exceeded 1 nm throughout the tested 50–300-kHz range. A nanometre is one billionth of a metre. Maximum movement occurred at the sensory attachment, rather than uniformly across the membrane.</a:t>
            </a:r>
          </a:p>
          <a:p>
            <a:pPr algn="l">
              <a:lnSpc>
                <a:spcPct val="108000"/>
              </a:lnSpc>
              <a:spcAft>
                <a:spcPts val="960"/>
              </a:spcAft>
            </a:pPr>
            <a:r>
              <a:rPr sz="1600" b="0" i="0">
                <a:solidFill>
                  <a:srgbClr val="263039"/>
                </a:solidFill>
                <a:latin typeface="Arial"/>
              </a:rPr>
              <a:t>The membrane must move enough to activate its receptors, and neural responses were measured separately from mechanical responses. The female displacement maximum occurred around 90–95 kHz, within the reported male calling range, and mechanical sensitivity and neural sensitivity describe different stages of the ear's response.</a:t>
            </a:r>
          </a:p>
        </p:txBody>
      </p:sp>
      <p:pic>
        <p:nvPicPr>
          <p:cNvPr id="4" name="Picture 3" descr="h13_f1c.png"/>
          <p:cNvPicPr>
            <a:picLocks noChangeAspect="1"/>
          </p:cNvPicPr>
          <p:nvPr/>
        </p:nvPicPr>
        <p:blipFill>
          <a:blip r:embed="rId2"/>
          <a:stretch>
            <a:fillRect/>
          </a:stretch>
        </p:blipFill>
        <p:spPr>
          <a:xfrm>
            <a:off x="6530452" y="1280160"/>
            <a:ext cx="4702229"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1(c). Membrane displacement at 90 dB SPL.</a:t>
            </a:r>
          </a:p>
        </p:txBody>
      </p:sp>
      <p:pic>
        <p:nvPicPr>
          <p:cNvPr id="6" name="Picture 5" descr="h13_ear.png"/>
          <p:cNvPicPr>
            <a:picLocks noChangeAspect="1"/>
          </p:cNvPicPr>
          <p:nvPr/>
        </p:nvPicPr>
        <p:blipFill>
          <a:blip r:embed="rId3"/>
          <a:stretch>
            <a:fillRect/>
          </a:stretch>
        </p:blipFill>
        <p:spPr>
          <a:xfrm>
            <a:off x="7932693" y="4069080"/>
            <a:ext cx="1897747"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1(b). Greater wax-moth tympanum; scale bar 0.1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Moir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Wax-moth receptors respond at frequencies up to 300 kHz</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Moir and colleagues recorded the wax moth’s auditory nerve during 20-ms pure-tone pulses. A response criterion requiring repeated sound-associated spikes reduced the chance of mistaking spontaneous firing for an auditory response.</a:t>
            </a:r>
          </a:p>
          <a:p>
            <a:pPr algn="l">
              <a:lnSpc>
                <a:spcPct val="108000"/>
              </a:lnSpc>
              <a:spcAft>
                <a:spcPts val="960"/>
              </a:spcAft>
            </a:pPr>
            <a:r>
              <a:rPr sz="1600" b="0" i="0">
                <a:solidFill>
                  <a:srgbClr val="263039"/>
                </a:solidFill>
                <a:latin typeface="Arial"/>
              </a:rPr>
              <a:t>The lowest measured threshold was approximately 55 dB SPL at 80 kHz. In responding animals, thresholds rose to approximately 83 dB SPL at 280 kHz and 87 dB SPL at 300 kHz; some animals did not respond at the maximum tested 90 dB SPL.</a:t>
            </a:r>
          </a:p>
          <a:p>
            <a:pPr algn="l">
              <a:lnSpc>
                <a:spcPct val="108000"/>
              </a:lnSpc>
              <a:spcAft>
                <a:spcPts val="960"/>
              </a:spcAft>
            </a:pPr>
            <a:r>
              <a:rPr sz="1600" b="0" i="0">
                <a:solidFill>
                  <a:srgbClr val="263039"/>
                </a:solidFill>
                <a:latin typeface="Arial"/>
              </a:rPr>
              <a:t>These recordings establish neural sensitivity to exceptionally high frequencies in this preparation. The threshold curve reports sensitivity, so higher thresholds mean that stronger sound is required to evoke spikes, and the authors called for behavioral studies to test whether the extreme frequencies lead to defensive responses.</a:t>
            </a:r>
          </a:p>
        </p:txBody>
      </p:sp>
      <p:pic>
        <p:nvPicPr>
          <p:cNvPr id="4" name="Picture 3" descr="h13_f1d.png"/>
          <p:cNvPicPr>
            <a:picLocks noChangeAspect="1"/>
          </p:cNvPicPr>
          <p:nvPr/>
        </p:nvPicPr>
        <p:blipFill>
          <a:blip r:embed="rId2"/>
          <a:stretch>
            <a:fillRect/>
          </a:stretch>
        </p:blipFill>
        <p:spPr>
          <a:xfrm>
            <a:off x="6759690" y="1280160"/>
            <a:ext cx="4243753"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1(d). Neural thresholds across frequency.</a:t>
            </a:r>
          </a:p>
        </p:txBody>
      </p:sp>
      <p:pic>
        <p:nvPicPr>
          <p:cNvPr id="6" name="Picture 5" descr="h13_ear.png"/>
          <p:cNvPicPr>
            <a:picLocks noChangeAspect="1"/>
          </p:cNvPicPr>
          <p:nvPr/>
        </p:nvPicPr>
        <p:blipFill>
          <a:blip r:embed="rId3"/>
          <a:stretch>
            <a:fillRect/>
          </a:stretch>
        </p:blipFill>
        <p:spPr>
          <a:xfrm>
            <a:off x="8009628" y="4206240"/>
            <a:ext cx="1743876"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1(b). Greater wax-moth tympanum; scale bar 0.1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Moir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Constant displacement stabilizes A1 response latency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1" i="0">
                <a:solidFill>
                  <a:srgbClr val="384E60"/>
                </a:solidFill>
                <a:latin typeface="Arial"/>
              </a:rPr>
              <a:t>First-spike latency</a:t>
            </a:r>
            <a:r>
              <a:rPr sz="1550" b="0" i="0">
                <a:solidFill>
                  <a:srgbClr val="263039"/>
                </a:solidFill>
                <a:latin typeface="Arial"/>
              </a:rPr>
              <a:t> is the delay between stimulus arrival and the first auditory action potential. Ter Hofstede and colleagues measured A1 latency while holding either membrane velocity or displacement constant across frequencies.</a:t>
            </a:r>
          </a:p>
          <a:p>
            <a:pPr algn="l">
              <a:lnSpc>
                <a:spcPct val="108000"/>
              </a:lnSpc>
              <a:spcAft>
                <a:spcPts val="960"/>
              </a:spcAft>
            </a:pPr>
            <a:r>
              <a:rPr sz="1550" b="0" i="0">
                <a:solidFill>
                  <a:srgbClr val="263039"/>
                </a:solidFill>
                <a:latin typeface="Arial"/>
              </a:rPr>
              <a:t>At constant displacement, the first spike remained near 7 ms over most of the tested range. At constant velocity, latency increased with frequency. The relationship was consistent with the displacement-based thresholds obtained independently.</a:t>
            </a:r>
          </a:p>
          <a:p>
            <a:pPr algn="l">
              <a:lnSpc>
                <a:spcPct val="108000"/>
              </a:lnSpc>
              <a:spcAft>
                <a:spcPts val="960"/>
              </a:spcAft>
            </a:pPr>
            <a:r>
              <a:rPr sz="1550" b="0" i="0">
                <a:solidFill>
                  <a:srgbClr val="263039"/>
                </a:solidFill>
                <a:latin typeface="Arial"/>
              </a:rPr>
              <a:t>Displacement constrains receptor excitation more closely than velocity under these conditions. The experiment links the mechanical input to the timing of neuronal output, rather than only to the presence of spikes. A generator potential is the local graded electrical response that precedes spike production, and constant displacement preserving first-spike timing is a second test of the mechanical-input hypothesis.</a:t>
            </a:r>
          </a:p>
        </p:txBody>
      </p:sp>
      <p:pic>
        <p:nvPicPr>
          <p:cNvPr id="4" name="Picture 3" descr="m11_f2gh.png"/>
          <p:cNvPicPr>
            <a:picLocks noChangeAspect="1"/>
          </p:cNvPicPr>
          <p:nvPr/>
        </p:nvPicPr>
        <p:blipFill>
          <a:blip r:embed="rId2"/>
          <a:stretch>
            <a:fillRect/>
          </a:stretch>
        </p:blipFill>
        <p:spPr>
          <a:xfrm>
            <a:off x="6138367" y="1280160"/>
            <a:ext cx="3383280" cy="3981586"/>
          </a:xfrm>
          <a:prstGeom prst="rect">
            <a:avLst/>
          </a:prstGeom>
        </p:spPr>
      </p:pic>
      <p:sp>
        <p:nvSpPr>
          <p:cNvPr id="5" name="Figure caption"/>
          <p:cNvSpPr txBox="1"/>
          <p:nvPr/>
        </p:nvSpPr>
        <p:spPr>
          <a:xfrm>
            <a:off x="6138367" y="5353186"/>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2(g–h). A1 latency at constant velocity or displacement.</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A1 and A2 sample different sound-level ranges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Gordon and ter Hofstede compared acoustic thresholds in noctuid and erebid moths using extracellular auditory-nerve recordings. An </a:t>
            </a:r>
            <a:r>
              <a:rPr sz="1600" b="1" i="0">
                <a:solidFill>
                  <a:srgbClr val="384E60"/>
                </a:solidFill>
                <a:latin typeface="Arial"/>
              </a:rPr>
              <a:t>audiogram</a:t>
            </a:r>
            <a:r>
              <a:rPr sz="1600" b="0" i="0">
                <a:solidFill>
                  <a:srgbClr val="263039"/>
                </a:solidFill>
                <a:latin typeface="Arial"/>
              </a:rPr>
              <a:t> is the relationship between stimulus frequency and the level needed to evoke a specified response.</a:t>
            </a:r>
          </a:p>
          <a:p>
            <a:pPr algn="l">
              <a:lnSpc>
                <a:spcPct val="108000"/>
              </a:lnSpc>
              <a:spcAft>
                <a:spcPts val="960"/>
              </a:spcAft>
            </a:pPr>
            <a:r>
              <a:rPr sz="1600" b="0" i="0">
                <a:solidFill>
                  <a:srgbClr val="263039"/>
                </a:solidFill>
                <a:latin typeface="Arial"/>
              </a:rPr>
              <a:t>The moths were most sensitive between 15 and 55 kHz. A2 thresholds generally exceeded A1 thresholds by 15–20 dB. At 5–10 kHz, substantially stronger sound was needed, and thresholds also increased at higher ultrasonic frequencies.</a:t>
            </a:r>
          </a:p>
          <a:p>
            <a:pPr algn="l">
              <a:lnSpc>
                <a:spcPct val="108000"/>
              </a:lnSpc>
              <a:spcAft>
                <a:spcPts val="960"/>
              </a:spcAft>
            </a:pPr>
            <a:r>
              <a:rPr sz="1600" b="0" i="0">
                <a:solidFill>
                  <a:srgbClr val="263039"/>
                </a:solidFill>
                <a:latin typeface="Arial"/>
              </a:rPr>
              <a:t>The two cells expand the range of sound levels that can influence the nerve signal. A1 was distinguished from A2 by threshold, timing and spike form together, and the audiogram curves describe sound at the ear referenced to a stated calibration.</a:t>
            </a:r>
          </a:p>
        </p:txBody>
      </p:sp>
      <p:pic>
        <p:nvPicPr>
          <p:cNvPr id="4" name="Picture 3" descr="g18_f1b.png"/>
          <p:cNvPicPr>
            <a:picLocks noChangeAspect="1"/>
          </p:cNvPicPr>
          <p:nvPr/>
        </p:nvPicPr>
        <p:blipFill>
          <a:blip r:embed="rId2"/>
          <a:stretch>
            <a:fillRect/>
          </a:stretch>
        </p:blipFill>
        <p:spPr>
          <a:xfrm>
            <a:off x="6138367" y="1280160"/>
            <a:ext cx="5486400" cy="2403728"/>
          </a:xfrm>
          <a:prstGeom prst="rect">
            <a:avLst/>
          </a:prstGeom>
        </p:spPr>
      </p:pic>
      <p:sp>
        <p:nvSpPr>
          <p:cNvPr id="5" name="Figure caption"/>
          <p:cNvSpPr txBox="1"/>
          <p:nvPr/>
        </p:nvSpPr>
        <p:spPr>
          <a:xfrm>
            <a:off x="6138367" y="377532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1(B). A1 and A2 frequency thresholds.</a:t>
            </a:r>
          </a:p>
        </p:txBody>
      </p:sp>
      <p:pic>
        <p:nvPicPr>
          <p:cNvPr id="6" name="Picture 5" descr="r57_f2.png"/>
          <p:cNvPicPr>
            <a:picLocks noChangeAspect="1"/>
          </p:cNvPicPr>
          <p:nvPr/>
        </p:nvPicPr>
        <p:blipFill>
          <a:blip r:embed="rId3"/>
          <a:stretch>
            <a:fillRect/>
          </a:stretch>
        </p:blipFill>
        <p:spPr>
          <a:xfrm>
            <a:off x="7899561" y="4389120"/>
            <a:ext cx="1964010"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A2 extends coding after A1 activity begins to saturate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650" b="1" i="0">
                <a:solidFill>
                  <a:srgbClr val="384E60"/>
                </a:solidFill>
                <a:latin typeface="Arial"/>
              </a:rPr>
              <a:t>Range fractionation</a:t>
            </a:r>
            <a:r>
              <a:rPr sz="1650" b="0" i="0">
                <a:solidFill>
                  <a:srgbClr val="263039"/>
                </a:solidFill>
                <a:latin typeface="Arial"/>
              </a:rPr>
              <a:t> divides a sensory intensity range among receptors with different thresholds. In moths, A1 begins responding at lower levels and A2 is recruited when the sound is stronger.</a:t>
            </a:r>
          </a:p>
          <a:p>
            <a:pPr algn="l">
              <a:lnSpc>
                <a:spcPct val="108000"/>
              </a:lnSpc>
              <a:spcAft>
                <a:spcPts val="1019"/>
              </a:spcAft>
            </a:pPr>
            <a:r>
              <a:rPr sz="1650" b="0" i="0">
                <a:solidFill>
                  <a:srgbClr val="263039"/>
                </a:solidFill>
                <a:latin typeface="Arial"/>
              </a:rPr>
              <a:t>Gordon and ter Hofstede measured separate A1 and A2 spike counts for 50-kHz pulses lasting 2, 5, 10 or 20 ms. Longer pulses often permitted A1 output to increase toward the level at which A2 began firing.</a:t>
            </a:r>
          </a:p>
          <a:p>
            <a:pPr algn="l">
              <a:lnSpc>
                <a:spcPct val="108000"/>
              </a:lnSpc>
              <a:spcAft>
                <a:spcPts val="1019"/>
              </a:spcAft>
            </a:pPr>
            <a:r>
              <a:rPr sz="1650" b="0" i="0">
                <a:solidFill>
                  <a:srgbClr val="263039"/>
                </a:solidFill>
                <a:latin typeface="Arial"/>
              </a:rPr>
              <a:t>For short pulses, A1 could reach a plateau before A2 was recruited, leaving a gap in count-based intensity coding. Saturation means that raising the input no longer increases the selected output measure, here spikes per sound pulse, and the output of the two cells must be examined separately because their sum can conceal a plateau in A1 before A2 begins to contribute. The same sound level can yield different spike counts when pulse duration changes.</a:t>
            </a:r>
          </a:p>
        </p:txBody>
      </p:sp>
      <p:pic>
        <p:nvPicPr>
          <p:cNvPr id="4" name="Picture 3" descr="g18_f2cd.png"/>
          <p:cNvPicPr>
            <a:picLocks noChangeAspect="1"/>
          </p:cNvPicPr>
          <p:nvPr/>
        </p:nvPicPr>
        <p:blipFill>
          <a:blip r:embed="rId2"/>
          <a:stretch>
            <a:fillRect/>
          </a:stretch>
        </p:blipFill>
        <p:spPr>
          <a:xfrm>
            <a:off x="6138367" y="1280160"/>
            <a:ext cx="5486400" cy="2396505"/>
          </a:xfrm>
          <a:prstGeom prst="rect">
            <a:avLst/>
          </a:prstGeom>
        </p:spPr>
      </p:pic>
      <p:sp>
        <p:nvSpPr>
          <p:cNvPr id="5" name="Figure caption"/>
          <p:cNvSpPr txBox="1"/>
          <p:nvPr/>
        </p:nvSpPr>
        <p:spPr>
          <a:xfrm>
            <a:off x="6138367" y="3768105"/>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2(C–D). Separate A1 and A2 intensity responses by duration.</a:t>
            </a:r>
          </a:p>
        </p:txBody>
      </p:sp>
      <p:pic>
        <p:nvPicPr>
          <p:cNvPr id="6" name="Picture 5" descr="r57_f2.png"/>
          <p:cNvPicPr>
            <a:picLocks noChangeAspect="1"/>
          </p:cNvPicPr>
          <p:nvPr/>
        </p:nvPicPr>
        <p:blipFill>
          <a:blip r:embed="rId3"/>
          <a:stretch>
            <a:fillRect/>
          </a:stretch>
        </p:blipFill>
        <p:spPr>
          <a:xfrm>
            <a:off x="7801361" y="4251960"/>
            <a:ext cx="2160411"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 sustained tone rapidly adapts the acoustic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Adaptation</a:t>
            </a:r>
            <a:r>
              <a:rPr sz="1600" b="0" i="0">
                <a:solidFill>
                  <a:srgbClr val="263039"/>
                </a:solidFill>
                <a:latin typeface="Arial"/>
              </a:rPr>
              <a:t> is a reduction in sensory response during continuing or repeated stimulation. Roeder and Treat followed the more sensitive acoustic unit during a sustained 70-kHz tone and counted its spikes over time.</a:t>
            </a:r>
          </a:p>
          <a:p>
            <a:pPr algn="l">
              <a:lnSpc>
                <a:spcPct val="108000"/>
              </a:lnSpc>
              <a:spcAft>
                <a:spcPts val="960"/>
              </a:spcAft>
            </a:pPr>
            <a:r>
              <a:rPr sz="1600" b="0" i="0">
                <a:solidFill>
                  <a:srgbClr val="263039"/>
                </a:solidFill>
                <a:latin typeface="Arial"/>
              </a:rPr>
              <a:t>In that recording, the initial rate approached 1000 spikes per second, fell to about half that rate within 0.1 s, and reached roughly one quarter by 1 s. A slower decline continued toward an irregular discharge near 90 spikes per second.</a:t>
            </a:r>
          </a:p>
          <a:p>
            <a:pPr algn="l">
              <a:lnSpc>
                <a:spcPct val="108000"/>
              </a:lnSpc>
              <a:spcAft>
                <a:spcPts val="960"/>
              </a:spcAft>
            </a:pPr>
            <a:r>
              <a:rPr sz="1600" b="0" i="0">
                <a:solidFill>
                  <a:srgbClr val="263039"/>
                </a:solidFill>
                <a:latin typeface="Arial"/>
              </a:rPr>
              <a:t>The result establishes a time-dependent change in the peripheral output despite continuing sound. The initial and later rates belong to the same recorded response, and overlapping spikes often prevented reliable counts at high intensity, so this recording was selected because the sensitive unit could be distinguished.</a:t>
            </a:r>
          </a:p>
        </p:txBody>
      </p:sp>
      <p:pic>
        <p:nvPicPr>
          <p:cNvPr id="4" name="Picture 3" descr="r57_f6.png"/>
          <p:cNvPicPr>
            <a:picLocks noChangeAspect="1"/>
          </p:cNvPicPr>
          <p:nvPr/>
        </p:nvPicPr>
        <p:blipFill>
          <a:blip r:embed="rId2"/>
          <a:stretch>
            <a:fillRect/>
          </a:stretch>
        </p:blipFill>
        <p:spPr>
          <a:xfrm>
            <a:off x="6539230" y="1280160"/>
            <a:ext cx="4684672"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6. Spike-rate adaptation to a 70-kHz tone.</a:t>
            </a:r>
          </a:p>
        </p:txBody>
      </p:sp>
      <p:pic>
        <p:nvPicPr>
          <p:cNvPr id="6" name="Picture 5" descr="r57_f2.png"/>
          <p:cNvPicPr>
            <a:picLocks noChangeAspect="1"/>
          </p:cNvPicPr>
          <p:nvPr/>
        </p:nvPicPr>
        <p:blipFill>
          <a:blip r:embed="rId3"/>
          <a:stretch>
            <a:fillRect/>
          </a:stretch>
        </p:blipFill>
        <p:spPr>
          <a:xfrm>
            <a:off x="7866828" y="4343400"/>
            <a:ext cx="2029477"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Stronger pulses shorten peripheral response latency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3039"/>
                </a:solidFill>
                <a:latin typeface="Arial"/>
              </a:rPr>
              <a:t>Roeder recorded tympanic responses to repeated short ultrasonic pulses while increasing amplitude in calibrated increments relative to an individual preparation’s threshold. This isolates changes in timing and spike count from changes in pulse frequency or duration.</a:t>
            </a:r>
          </a:p>
          <a:p>
            <a:pPr algn="l">
              <a:lnSpc>
                <a:spcPct val="108000"/>
              </a:lnSpc>
              <a:spcAft>
                <a:spcPts val="900"/>
              </a:spcAft>
            </a:pPr>
            <a:r>
              <a:rPr sz="1500" b="0" i="0">
                <a:solidFill>
                  <a:srgbClr val="263039"/>
                </a:solidFill>
                <a:latin typeface="Arial"/>
              </a:rPr>
              <a:t>After subtracting the 2.9-ms sound-transmission delay over 1 m, the biological response time ranged from approximately 3.2–4.0 ms near threshold to 1.9 ms at the strongest tested level. Timing was also more variable near threshold.</a:t>
            </a:r>
          </a:p>
          <a:p>
            <a:pPr algn="l">
              <a:lnSpc>
                <a:spcPct val="108000"/>
              </a:lnSpc>
              <a:spcAft>
                <a:spcPts val="900"/>
              </a:spcAft>
            </a:pPr>
            <a:r>
              <a:rPr sz="1500" b="0" i="0">
                <a:solidFill>
                  <a:srgbClr val="263039"/>
                </a:solidFill>
                <a:latin typeface="Arial"/>
              </a:rPr>
              <a:t>The shorter delay is consistent with faster excitation of the receptor as sound grows stronger. The biological delay still includes axonal conduction between the receptor and the recording electrode, which Roeder treated as approximately constant within a preparation, and subtracting the sound travel time avoids counting a physical delay through air as part of the neuron's excitation process.</a:t>
            </a:r>
          </a:p>
        </p:txBody>
      </p:sp>
      <p:pic>
        <p:nvPicPr>
          <p:cNvPr id="4" name="Picture 3" descr="r64_f2.png"/>
          <p:cNvPicPr>
            <a:picLocks noChangeAspect="1"/>
          </p:cNvPicPr>
          <p:nvPr/>
        </p:nvPicPr>
        <p:blipFill>
          <a:blip r:embed="rId2"/>
          <a:stretch>
            <a:fillRect/>
          </a:stretch>
        </p:blipFill>
        <p:spPr>
          <a:xfrm>
            <a:off x="6138367" y="1280160"/>
            <a:ext cx="3383280" cy="2947836"/>
          </a:xfrm>
          <a:prstGeom prst="rect">
            <a:avLst/>
          </a:prstGeom>
        </p:spPr>
      </p:pic>
      <p:sp>
        <p:nvSpPr>
          <p:cNvPr id="5" name="Figure caption"/>
          <p:cNvSpPr txBox="1"/>
          <p:nvPr/>
        </p:nvSpPr>
        <p:spPr>
          <a:xfrm>
            <a:off x="6138367" y="4319436"/>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2. Near-threshold responses at 1-dB increments.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(1964);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Total spike count does not predict pulse effectiveness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0" i="0">
                <a:solidFill>
                  <a:srgbClr val="263039"/>
                </a:solidFill>
                <a:latin typeface="Arial"/>
              </a:rPr>
              <a:t>Roeder compared free-flight behavior during pulsed ultrasound and continuous tones of the same frequency and amplitude. Turning away occurred much more often with pulses, while tones elicited more total A1 spikes during a matched recording interval.</a:t>
            </a:r>
          </a:p>
          <a:p>
            <a:pPr algn="l">
              <a:lnSpc>
                <a:spcPct val="108000"/>
              </a:lnSpc>
              <a:spcAft>
                <a:spcPts val="960"/>
              </a:spcAft>
            </a:pPr>
            <a:r>
              <a:rPr sz="1550" b="0" i="0">
                <a:solidFill>
                  <a:srgbClr val="263039"/>
                </a:solidFill>
                <a:latin typeface="Arial"/>
              </a:rPr>
              <a:t>For the 60-kHz comparison, 3-ms pulses repeated 30 times per second were compared with a continuous tone. Recordings made at different source distances linked the same acoustic conditions to the nerve response.</a:t>
            </a:r>
          </a:p>
          <a:p>
            <a:pPr algn="l">
              <a:lnSpc>
                <a:spcPct val="108000"/>
              </a:lnSpc>
              <a:spcAft>
                <a:spcPts val="960"/>
              </a:spcAft>
            </a:pPr>
            <a:r>
              <a:rPr sz="1550" b="0" i="0">
                <a:solidFill>
                  <a:srgbClr val="263039"/>
                </a:solidFill>
                <a:latin typeface="Arial"/>
              </a:rPr>
              <a:t>Tones produced longer spike trains but adapted more rapidly; pulses repeatedly generated short-interval bursts. The result rejects total afferent spike count alone as a sufficient explanation of behavioral effectiveness. The field signals were alternated over the evening to reduce changes in the moth population as a confound, and the results support sensitivity to the temporal organization of the sound.</a:t>
            </a:r>
          </a:p>
        </p:txBody>
      </p:sp>
      <p:pic>
        <p:nvPicPr>
          <p:cNvPr id="4" name="Picture 3" descr="r64_f4.png"/>
          <p:cNvPicPr>
            <a:picLocks noChangeAspect="1"/>
          </p:cNvPicPr>
          <p:nvPr/>
        </p:nvPicPr>
        <p:blipFill>
          <a:blip r:embed="rId2"/>
          <a:stretch>
            <a:fillRect/>
          </a:stretch>
        </p:blipFill>
        <p:spPr>
          <a:xfrm>
            <a:off x="7366275" y="1280160"/>
            <a:ext cx="3030582" cy="2423160"/>
          </a:xfrm>
          <a:prstGeom prst="rect">
            <a:avLst/>
          </a:prstGeom>
        </p:spPr>
      </p:pic>
      <p:sp>
        <p:nvSpPr>
          <p:cNvPr id="5" name="Figure caption"/>
          <p:cNvSpPr txBox="1"/>
          <p:nvPr/>
        </p:nvSpPr>
        <p:spPr>
          <a:xfrm>
            <a:off x="6138367" y="37947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4. Spike counts for tones and pulses over distance.</a:t>
            </a:r>
          </a:p>
        </p:txBody>
      </p:sp>
      <p:pic>
        <p:nvPicPr>
          <p:cNvPr id="6" name="Picture 5" descr="r64_f5.png"/>
          <p:cNvPicPr>
            <a:picLocks noChangeAspect="1"/>
          </p:cNvPicPr>
          <p:nvPr/>
        </p:nvPicPr>
        <p:blipFill>
          <a:blip r:embed="rId3"/>
          <a:stretch>
            <a:fillRect/>
          </a:stretch>
        </p:blipFill>
        <p:spPr>
          <a:xfrm>
            <a:off x="7769656" y="4251960"/>
            <a:ext cx="2223820"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5(A–D). Spontaneous activity, tone, pulses and bat calls.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Thoracic repeaters relay the afferent burst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An </a:t>
            </a:r>
            <a:r>
              <a:rPr sz="1600" b="1" i="0">
                <a:solidFill>
                  <a:srgbClr val="384E60"/>
                </a:solidFill>
                <a:latin typeface="Arial"/>
              </a:rPr>
              <a:t>interneuron</a:t>
            </a:r>
            <a:r>
              <a:rPr sz="1600" b="0" i="0">
                <a:solidFill>
                  <a:srgbClr val="263039"/>
                </a:solidFill>
                <a:latin typeface="Arial"/>
              </a:rPr>
              <a:t> is a central neuron connecting sensory input with other central processing or motor pathways. Roeder recorded sound-responsive activity within the thoracic ganglia, the central nerve-cell clusters associated with flight control.</a:t>
            </a:r>
          </a:p>
          <a:p>
            <a:pPr algn="l">
              <a:lnSpc>
                <a:spcPct val="108000"/>
              </a:lnSpc>
              <a:spcAft>
                <a:spcPts val="960"/>
              </a:spcAft>
            </a:pPr>
            <a:r>
              <a:rPr sz="1600" b="0" i="0">
                <a:solidFill>
                  <a:srgbClr val="263039"/>
                </a:solidFill>
                <a:latin typeface="Arial"/>
              </a:rPr>
              <a:t>Some units closely repeated the A1 burst but fired later. These </a:t>
            </a:r>
            <a:r>
              <a:rPr sz="1600" b="1" i="0">
                <a:solidFill>
                  <a:srgbClr val="384E60"/>
                </a:solidFill>
                <a:latin typeface="Arial"/>
              </a:rPr>
              <a:t>repeater neurons</a:t>
            </a:r>
            <a:r>
              <a:rPr sz="1600" b="0" i="0">
                <a:solidFill>
                  <a:srgbClr val="263039"/>
                </a:solidFill>
                <a:latin typeface="Arial"/>
              </a:rPr>
              <a:t> included crossed responses passing to the opposite side and ipsilateral responses continuing toward the head. Simultaneously recorded A1 and repeater spikes differed in their temporal ordering.</a:t>
            </a:r>
          </a:p>
          <a:p>
            <a:pPr algn="l">
              <a:lnSpc>
                <a:spcPct val="108000"/>
              </a:lnSpc>
              <a:spcAft>
                <a:spcPts val="960"/>
              </a:spcAft>
            </a:pPr>
            <a:r>
              <a:rPr sz="1600" b="0" i="0">
                <a:solidFill>
                  <a:srgbClr val="263039"/>
                </a:solidFill>
                <a:latin typeface="Arial"/>
              </a:rPr>
              <a:t>The recordings establish central transmission of tympanic input and some transformation during longer stimuli. Destroying one ear helped separate true crossed neural transmission from sound leaking acoustically to the opposite ear, and because repeater output resembled A1 output closely, timing was essential for distinguishing the two.</a:t>
            </a:r>
          </a:p>
        </p:txBody>
      </p:sp>
      <p:pic>
        <p:nvPicPr>
          <p:cNvPr id="4" name="Picture 3" descr="r66_f4.png"/>
          <p:cNvPicPr>
            <a:picLocks noChangeAspect="1"/>
          </p:cNvPicPr>
          <p:nvPr/>
        </p:nvPicPr>
        <p:blipFill>
          <a:blip r:embed="rId2"/>
          <a:stretch>
            <a:fillRect/>
          </a:stretch>
        </p:blipFill>
        <p:spPr>
          <a:xfrm>
            <a:off x="6138367" y="1280160"/>
            <a:ext cx="3383280" cy="2797430"/>
          </a:xfrm>
          <a:prstGeom prst="rect">
            <a:avLst/>
          </a:prstGeom>
        </p:spPr>
      </p:pic>
      <p:sp>
        <p:nvSpPr>
          <p:cNvPr id="5" name="Figure caption"/>
          <p:cNvSpPr txBox="1"/>
          <p:nvPr/>
        </p:nvSpPr>
        <p:spPr>
          <a:xfrm>
            <a:off x="6138367" y="4169030"/>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4(A–D). Afferent and repeater responses with different timing.</a:t>
            </a:r>
          </a:p>
        </p:txBody>
      </p:sp>
      <p:pic>
        <p:nvPicPr>
          <p:cNvPr id="6" name="Picture 5" descr="r66_f1.png"/>
          <p:cNvPicPr>
            <a:picLocks noChangeAspect="1"/>
          </p:cNvPicPr>
          <p:nvPr/>
        </p:nvPicPr>
        <p:blipFill>
          <a:blip r:embed="rId3"/>
          <a:stretch>
            <a:fillRect/>
          </a:stretch>
        </p:blipFill>
        <p:spPr>
          <a:xfrm>
            <a:off x="9704527" y="2148840"/>
            <a:ext cx="1920239" cy="1409224"/>
          </a:xfrm>
          <a:prstGeom prst="rect">
            <a:avLst/>
          </a:prstGeom>
        </p:spPr>
      </p:pic>
      <p:sp>
        <p:nvSpPr>
          <p:cNvPr id="7" name="Figure caption"/>
          <p:cNvSpPr txBox="1"/>
          <p:nvPr/>
        </p:nvSpPr>
        <p:spPr>
          <a:xfrm>
            <a:off x="9704527" y="3631216"/>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1(A–B). Thoracic ganglia and recording coordinates.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Bilateral summation differs from a direction comparator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Some recorded units responded to stimulation of either ear, and simultaneous stimulation produced a larger discharge. </a:t>
            </a:r>
            <a:r>
              <a:rPr sz="1600" b="1" i="0">
                <a:solidFill>
                  <a:srgbClr val="384E60"/>
                </a:solidFill>
                <a:latin typeface="Arial"/>
              </a:rPr>
              <a:t>Bilateral summation</a:t>
            </a:r>
            <a:r>
              <a:rPr sz="1600" b="0" i="0">
                <a:solidFill>
                  <a:srgbClr val="263039"/>
                </a:solidFill>
                <a:latin typeface="Arial"/>
              </a:rPr>
              <a:t> combines input from the two sides rather than necessarily comparing which side received the stronger signal.</a:t>
            </a:r>
          </a:p>
          <a:p>
            <a:pPr algn="l">
              <a:lnSpc>
                <a:spcPct val="108000"/>
              </a:lnSpc>
              <a:spcAft>
                <a:spcPts val="960"/>
              </a:spcAft>
            </a:pPr>
            <a:r>
              <a:rPr sz="1600" b="0" i="0">
                <a:solidFill>
                  <a:srgbClr val="263039"/>
                </a:solidFill>
                <a:latin typeface="Arial"/>
              </a:rPr>
              <a:t>Roeder presented matched 5-ms ultrasonic pulses to the right ear, the left ear or both. A summating unit near the ganglion midline could produce a bilateral response resembling that evoked by stronger stimulation of one ear alone.</a:t>
            </a:r>
          </a:p>
          <a:p>
            <a:pPr algn="l">
              <a:lnSpc>
                <a:spcPct val="108000"/>
              </a:lnSpc>
              <a:spcAft>
                <a:spcPts val="960"/>
              </a:spcAft>
            </a:pPr>
            <a:r>
              <a:rPr sz="1600" b="0" i="0">
                <a:solidFill>
                  <a:srgbClr val="263039"/>
                </a:solidFill>
                <a:latin typeface="Arial"/>
              </a:rPr>
              <a:t>Such activity establishes convergence of auditory inputs. A neuron that responds more when both ears are stimulated may encode overall input strength without specifying whether the source lies to the left or right, and Roeder distinguished this observed summation from the still-undiscovered mechanism hypothesized to steer avoidance.</a:t>
            </a:r>
          </a:p>
        </p:txBody>
      </p:sp>
      <p:pic>
        <p:nvPicPr>
          <p:cNvPr id="4" name="Picture 3" descr="r66_f7c.png"/>
          <p:cNvPicPr>
            <a:picLocks noChangeAspect="1"/>
          </p:cNvPicPr>
          <p:nvPr/>
        </p:nvPicPr>
        <p:blipFill>
          <a:blip r:embed="rId2"/>
          <a:stretch>
            <a:fillRect/>
          </a:stretch>
        </p:blipFill>
        <p:spPr>
          <a:xfrm>
            <a:off x="7148037" y="1280160"/>
            <a:ext cx="3467060" cy="2331720"/>
          </a:xfrm>
          <a:prstGeom prst="rect">
            <a:avLst/>
          </a:prstGeom>
        </p:spPr>
      </p:pic>
      <p:sp>
        <p:nvSpPr>
          <p:cNvPr id="5" name="Figure caption"/>
          <p:cNvSpPr txBox="1"/>
          <p:nvPr/>
        </p:nvSpPr>
        <p:spPr>
          <a:xfrm>
            <a:off x="6138367" y="37033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7(C). Responses to separate and simultaneous ear stimulation.</a:t>
            </a:r>
          </a:p>
        </p:txBody>
      </p:sp>
      <p:pic>
        <p:nvPicPr>
          <p:cNvPr id="6" name="Picture 5" descr="r66_f1.png"/>
          <p:cNvPicPr>
            <a:picLocks noChangeAspect="1"/>
          </p:cNvPicPr>
          <p:nvPr/>
        </p:nvPicPr>
        <p:blipFill>
          <a:blip r:embed="rId3"/>
          <a:stretch>
            <a:fillRect/>
          </a:stretch>
        </p:blipFill>
        <p:spPr>
          <a:xfrm>
            <a:off x="7791333" y="4160520"/>
            <a:ext cx="2180467" cy="160020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1(A–B). Thoracic ganglia and recording coordinates.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Pulse-marker units transform bursts into single events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0" i="0">
                <a:solidFill>
                  <a:srgbClr val="263039"/>
                </a:solidFill>
                <a:latin typeface="Arial"/>
              </a:rPr>
              <a:t>A </a:t>
            </a:r>
            <a:r>
              <a:rPr sz="1550" b="1" i="0">
                <a:solidFill>
                  <a:srgbClr val="384E60"/>
                </a:solidFill>
                <a:latin typeface="Arial"/>
              </a:rPr>
              <a:t>pulse-marker neuron</a:t>
            </a:r>
            <a:r>
              <a:rPr sz="1550" b="0" i="0">
                <a:solidFill>
                  <a:srgbClr val="263039"/>
                </a:solidFill>
                <a:latin typeface="Arial"/>
              </a:rPr>
              <a:t> usually generated one spike after an A1 burst, even when the burst contained several spikes. This transformation reduces the detailed duration information in the afferent train while retaining the occurrence of an acoustic event.</a:t>
            </a:r>
          </a:p>
          <a:p>
            <a:pPr algn="l">
              <a:lnSpc>
                <a:spcPct val="108000"/>
              </a:lnSpc>
              <a:spcAft>
                <a:spcPts val="960"/>
              </a:spcAft>
            </a:pPr>
            <a:r>
              <a:rPr sz="1550" b="0" i="0">
                <a:solidFill>
                  <a:srgbClr val="263039"/>
                </a:solidFill>
                <a:latin typeface="Arial"/>
              </a:rPr>
              <a:t>Roeder’s extracellular recordings associated the response with groups of three or four A1 impulses at intervals near 2 ms or less. For brief periods, the central unit could follow sound pulses repeated up to 40 times per second.</a:t>
            </a:r>
          </a:p>
          <a:p>
            <a:pPr algn="l">
              <a:lnSpc>
                <a:spcPct val="108000"/>
              </a:lnSpc>
              <a:spcAft>
                <a:spcPts val="960"/>
              </a:spcAft>
            </a:pPr>
            <a:r>
              <a:rPr sz="1550" b="0" i="0">
                <a:solidFill>
                  <a:srgbClr val="263039"/>
                </a:solidFill>
                <a:latin typeface="Arial"/>
              </a:rPr>
              <a:t>The response supports a temporal filtering operation rather than a faithful copy of every afferent spike. Temporal summation, the accumulation of excitation from closely spaced inputs, is consistent with the triggering requirement. An A1 burst contains information about duration and amplitude that is absent from the pulse-marker's single output spike, and the information that is lost may still exist in parallel pathways.</a:t>
            </a:r>
          </a:p>
        </p:txBody>
      </p:sp>
      <p:pic>
        <p:nvPicPr>
          <p:cNvPr id="4" name="Picture 3" descr="r66_f6ab.png"/>
          <p:cNvPicPr>
            <a:picLocks noChangeAspect="1"/>
          </p:cNvPicPr>
          <p:nvPr/>
        </p:nvPicPr>
        <p:blipFill>
          <a:blip r:embed="rId2"/>
          <a:stretch>
            <a:fillRect/>
          </a:stretch>
        </p:blipFill>
        <p:spPr>
          <a:xfrm>
            <a:off x="7363287" y="1280160"/>
            <a:ext cx="3036559" cy="2103120"/>
          </a:xfrm>
          <a:prstGeom prst="rect">
            <a:avLst/>
          </a:prstGeom>
        </p:spPr>
      </p:pic>
      <p:sp>
        <p:nvSpPr>
          <p:cNvPr id="5" name="Figure caption"/>
          <p:cNvSpPr txBox="1"/>
          <p:nvPr/>
        </p:nvSpPr>
        <p:spPr>
          <a:xfrm>
            <a:off x="6138367" y="34747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6(A). Afferent bursts and pulse-marker spikes.</a:t>
            </a:r>
          </a:p>
        </p:txBody>
      </p:sp>
      <p:pic>
        <p:nvPicPr>
          <p:cNvPr id="6" name="Picture 5" descr="r66_f8.png"/>
          <p:cNvPicPr>
            <a:picLocks noChangeAspect="1"/>
          </p:cNvPicPr>
          <p:nvPr/>
        </p:nvPicPr>
        <p:blipFill>
          <a:blip r:embed="rId3"/>
          <a:stretch>
            <a:fillRect/>
          </a:stretch>
        </p:blipFill>
        <p:spPr>
          <a:xfrm>
            <a:off x="7516192" y="3931920"/>
            <a:ext cx="2730749" cy="182880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8(A–C). Recorded afferent, relay and integrator locations.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Pulse-marker recovery depends on the afferent pattern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pulse-marker response depended on a preceding interval with reduced afferent activity. A long continuous A1 train often generated only one central spike, even when short interspike intervals continued after the initial response.</a:t>
            </a:r>
          </a:p>
          <a:p>
            <a:pPr algn="l">
              <a:lnSpc>
                <a:spcPct val="108000"/>
              </a:lnSpc>
              <a:spcAft>
                <a:spcPts val="960"/>
              </a:spcAft>
            </a:pPr>
            <a:r>
              <a:rPr sz="1600" b="0" i="0">
                <a:solidFill>
                  <a:srgbClr val="263039"/>
                </a:solidFill>
                <a:latin typeface="Arial"/>
              </a:rPr>
              <a:t>With 30–40-ms stimuli, stronger pulses could elicit one pulse-marker spike, whereas weaker, irregular afferent bursts sometimes elicited more than one. Pulse-marker latency shortened from a variable value near 20 ms to about 6 ms with increasing intensity.</a:t>
            </a:r>
          </a:p>
          <a:p>
            <a:pPr algn="l">
              <a:lnSpc>
                <a:spcPct val="108000"/>
              </a:lnSpc>
              <a:spcAft>
                <a:spcPts val="960"/>
              </a:spcAft>
            </a:pPr>
            <a:r>
              <a:rPr sz="1600" b="0" i="0">
                <a:solidFill>
                  <a:srgbClr val="263039"/>
                </a:solidFill>
                <a:latin typeface="Arial"/>
              </a:rPr>
              <a:t>A quiet interval may permit the unit to become responsive again, and Roeder proposed that gaps among irregular weak-input bursts could permit resetting. These results indicate that stronger or longer sound does not necessarily produce more central spikes, because the temporal arrangement of the afferent burst influences its central transformation.</a:t>
            </a:r>
          </a:p>
        </p:txBody>
      </p:sp>
      <p:pic>
        <p:nvPicPr>
          <p:cNvPr id="4" name="Picture 3" descr="r66_f6e.png"/>
          <p:cNvPicPr>
            <a:picLocks noChangeAspect="1"/>
          </p:cNvPicPr>
          <p:nvPr/>
        </p:nvPicPr>
        <p:blipFill>
          <a:blip r:embed="rId2"/>
          <a:stretch>
            <a:fillRect/>
          </a:stretch>
        </p:blipFill>
        <p:spPr>
          <a:xfrm>
            <a:off x="6138367" y="1280160"/>
            <a:ext cx="3383280" cy="3798042"/>
          </a:xfrm>
          <a:prstGeom prst="rect">
            <a:avLst/>
          </a:prstGeom>
        </p:spPr>
      </p:pic>
      <p:sp>
        <p:nvSpPr>
          <p:cNvPr id="5" name="Figure caption"/>
          <p:cNvSpPr txBox="1"/>
          <p:nvPr/>
        </p:nvSpPr>
        <p:spPr>
          <a:xfrm>
            <a:off x="6138367" y="5169642"/>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6(E). Pulse-marker latency and output at three intensities.</a:t>
            </a:r>
          </a:p>
        </p:txBody>
      </p:sp>
      <p:pic>
        <p:nvPicPr>
          <p:cNvPr id="6" name="Picture 5" descr="r66_f8.png"/>
          <p:cNvPicPr>
            <a:picLocks noChangeAspect="1"/>
          </p:cNvPicPr>
          <p:nvPr/>
        </p:nvPicPr>
        <p:blipFill>
          <a:blip r:embed="rId3"/>
          <a:stretch>
            <a:fillRect/>
          </a:stretch>
        </p:blipFill>
        <p:spPr>
          <a:xfrm>
            <a:off x="9704527" y="2148840"/>
            <a:ext cx="1920239" cy="1285996"/>
          </a:xfrm>
          <a:prstGeom prst="rect">
            <a:avLst/>
          </a:prstGeom>
        </p:spPr>
      </p:pic>
      <p:sp>
        <p:nvSpPr>
          <p:cNvPr id="7" name="Figure caption"/>
          <p:cNvSpPr txBox="1"/>
          <p:nvPr/>
        </p:nvSpPr>
        <p:spPr>
          <a:xfrm>
            <a:off x="9704527" y="3507988"/>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8(A–C). Recorded afferent, relay and integrator locations.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Longer sound pulses lower A1 and A2 thresholds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Gordon and ter Hofstede varied pulse duration while keeping the carrier at 50 kHz. The </a:t>
            </a:r>
            <a:r>
              <a:rPr sz="1600" b="1" i="0">
                <a:solidFill>
                  <a:srgbClr val="384E60"/>
                </a:solidFill>
                <a:latin typeface="Arial"/>
              </a:rPr>
              <a:t>carrier frequency</a:t>
            </a:r>
            <a:r>
              <a:rPr sz="1600" b="0" i="0">
                <a:solidFill>
                  <a:srgbClr val="263039"/>
                </a:solidFill>
                <a:latin typeface="Arial"/>
              </a:rPr>
              <a:t> is the oscillation rate within each pulse, distinct from how often pulses repeat.</a:t>
            </a:r>
          </a:p>
          <a:p>
            <a:pPr algn="l">
              <a:lnSpc>
                <a:spcPct val="108000"/>
              </a:lnSpc>
              <a:spcAft>
                <a:spcPts val="960"/>
              </a:spcAft>
            </a:pPr>
            <a:r>
              <a:rPr sz="1600" b="0" i="0">
                <a:solidFill>
                  <a:srgbClr val="263039"/>
                </a:solidFill>
                <a:latin typeface="Arial"/>
              </a:rPr>
              <a:t>Both A1 and A2 generally required stronger sound for shorter pulses. In </a:t>
            </a:r>
            <a:r>
              <a:rPr sz="1600" b="0" i="1">
                <a:solidFill>
                  <a:srgbClr val="263039"/>
                </a:solidFill>
                <a:latin typeface="Arial"/>
              </a:rPr>
              <a:t>Heliothis virescens</a:t>
            </a:r>
            <a:r>
              <a:rPr sz="1600" b="0" i="0">
                <a:solidFill>
                  <a:srgbClr val="263039"/>
                </a:solidFill>
                <a:latin typeface="Arial"/>
              </a:rPr>
              <a:t>, the mean A1 threshold for a 2-ms pulse exceeded that for a 5-ms pulse by 5.5 dB. A2 thresholds decreased more gradually across the tested durations.</a:t>
            </a:r>
          </a:p>
          <a:p>
            <a:pPr algn="l">
              <a:lnSpc>
                <a:spcPct val="108000"/>
              </a:lnSpc>
              <a:spcAft>
                <a:spcPts val="960"/>
              </a:spcAft>
            </a:pPr>
            <a:r>
              <a:rPr sz="1600" b="0" i="0">
                <a:solidFill>
                  <a:srgbClr val="263039"/>
                </a:solidFill>
                <a:latin typeface="Arial"/>
              </a:rPr>
              <a:t>The dependence links stimulus duration to receptor sensitivity and changes when a moth can first detect a call. Stimulus amplitudes were calibrated as peak-equivalent sound pressure level, using a sinusoid with the same peak-to-peak amplitude as the brief pulse, which is an explicit measure of pulse amplitude, and a comparison of different bat calls must account for their duration as well as their level at the ear.</a:t>
            </a:r>
          </a:p>
        </p:txBody>
      </p:sp>
      <p:pic>
        <p:nvPicPr>
          <p:cNvPr id="4" name="Picture 3" descr="g18_f5.png"/>
          <p:cNvPicPr>
            <a:picLocks noChangeAspect="1"/>
          </p:cNvPicPr>
          <p:nvPr/>
        </p:nvPicPr>
        <p:blipFill>
          <a:blip r:embed="rId2"/>
          <a:stretch>
            <a:fillRect/>
          </a:stretch>
        </p:blipFill>
        <p:spPr>
          <a:xfrm>
            <a:off x="6138367" y="1280160"/>
            <a:ext cx="3383280" cy="3494591"/>
          </a:xfrm>
          <a:prstGeom prst="rect">
            <a:avLst/>
          </a:prstGeom>
        </p:spPr>
      </p:pic>
      <p:sp>
        <p:nvSpPr>
          <p:cNvPr id="5" name="Figure caption"/>
          <p:cNvSpPr txBox="1"/>
          <p:nvPr/>
        </p:nvSpPr>
        <p:spPr>
          <a:xfrm>
            <a:off x="6138367" y="4866191"/>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5. Duration dependence of A1 and A2 thresholds.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Short calls leave wider gaps in count-based intensity coding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a:t>
            </a:r>
            <a:r>
              <a:rPr sz="1600" b="1" i="0">
                <a:solidFill>
                  <a:srgbClr val="384E60"/>
                </a:solidFill>
                <a:latin typeface="Arial"/>
              </a:rPr>
              <a:t>saturation range</a:t>
            </a:r>
            <a:r>
              <a:rPr sz="1600" b="0" i="0">
                <a:solidFill>
                  <a:srgbClr val="263039"/>
                </a:solidFill>
                <a:latin typeface="Arial"/>
              </a:rPr>
              <a:t> is the amplitude interval over which A1 spike count remains nearly unchanged before A2 begins responding. Gordon and ter Hofstede measured that interval separately from each cell’s threshold.</a:t>
            </a:r>
          </a:p>
          <a:p>
            <a:pPr algn="l">
              <a:lnSpc>
                <a:spcPct val="108000"/>
              </a:lnSpc>
              <a:spcAft>
                <a:spcPts val="960"/>
              </a:spcAft>
            </a:pPr>
            <a:r>
              <a:rPr sz="1600" b="0" i="0">
                <a:solidFill>
                  <a:srgbClr val="263039"/>
                </a:solidFill>
                <a:latin typeface="Arial"/>
              </a:rPr>
              <a:t>For 2-ms pulses, the plateau commonly contained only 2–5 A1 spikes per pulse. For 20-ms pulses, plateau counts ranged from 8–18 spikes per pulse. Shorter pulses generally left a wider saturation range below the A2 threshold.</a:t>
            </a:r>
          </a:p>
          <a:p>
            <a:pPr algn="l">
              <a:lnSpc>
                <a:spcPct val="108000"/>
              </a:lnSpc>
              <a:spcAft>
                <a:spcPts val="960"/>
              </a:spcAft>
            </a:pPr>
            <a:r>
              <a:rPr sz="1600" b="0" i="0">
                <a:solidFill>
                  <a:srgbClr val="263039"/>
                </a:solidFill>
                <a:latin typeface="Arial"/>
              </a:rPr>
              <a:t>More sensitive detection therefore does not guarantee fine intensity coding after detection. Increasing sound level may add little information through A1 spike count while A2 is still silent. A higher spike count in a longer pulse does not by itself mean that intensity is represented more accurately, because the relevant quantity is whether the count changes as intensity changes.</a:t>
            </a:r>
          </a:p>
        </p:txBody>
      </p:sp>
      <p:pic>
        <p:nvPicPr>
          <p:cNvPr id="4" name="Picture 3" descr="g18_f3b.png"/>
          <p:cNvPicPr>
            <a:picLocks noChangeAspect="1"/>
          </p:cNvPicPr>
          <p:nvPr/>
        </p:nvPicPr>
        <p:blipFill>
          <a:blip r:embed="rId2"/>
          <a:stretch>
            <a:fillRect/>
          </a:stretch>
        </p:blipFill>
        <p:spPr>
          <a:xfrm>
            <a:off x="6138367" y="1280160"/>
            <a:ext cx="3383280" cy="2966205"/>
          </a:xfrm>
          <a:prstGeom prst="rect">
            <a:avLst/>
          </a:prstGeom>
        </p:spPr>
      </p:pic>
      <p:sp>
        <p:nvSpPr>
          <p:cNvPr id="5" name="Figure caption"/>
          <p:cNvSpPr txBox="1"/>
          <p:nvPr/>
        </p:nvSpPr>
        <p:spPr>
          <a:xfrm>
            <a:off x="6138367" y="4337805"/>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3(B). Saturation ranges and spike counts by duration.</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An A1 plateau can conceal increasing sound level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In the </a:t>
            </a:r>
            <a:r>
              <a:rPr sz="1600" b="0" i="1">
                <a:solidFill>
                  <a:srgbClr val="263039"/>
                </a:solidFill>
                <a:latin typeface="Arial"/>
              </a:rPr>
              <a:t>Raphia frater</a:t>
            </a:r>
            <a:r>
              <a:rPr sz="1600" b="0" i="0">
                <a:solidFill>
                  <a:srgbClr val="263039"/>
                </a:solidFill>
                <a:latin typeface="Arial"/>
              </a:rPr>
              <a:t> recording, a 2-ms, 50-kHz pulse elicited about four A1 spikes across an interval of increasing sound amplitudes. A2 remained silent during much of this plateau and was recruited only at higher levels.</a:t>
            </a:r>
          </a:p>
          <a:p>
            <a:pPr algn="l">
              <a:lnSpc>
                <a:spcPct val="108000"/>
              </a:lnSpc>
              <a:spcAft>
                <a:spcPts val="960"/>
              </a:spcAft>
            </a:pPr>
            <a:r>
              <a:rPr sz="1600" b="0" i="0">
                <a:solidFill>
                  <a:srgbClr val="263039"/>
                </a:solidFill>
                <a:latin typeface="Arial"/>
              </a:rPr>
              <a:t>The experiment increased amplitude systematically while the auditory nerve was recorded. The plateau therefore reflects repeated neural output to different controlled sound levels, rather than a constant input being measured repeatedly.</a:t>
            </a:r>
          </a:p>
          <a:p>
            <a:pPr algn="l">
              <a:lnSpc>
                <a:spcPct val="108000"/>
              </a:lnSpc>
              <a:spcAft>
                <a:spcPts val="960"/>
              </a:spcAft>
            </a:pPr>
            <a:r>
              <a:rPr sz="1600" b="0" i="0">
                <a:solidFill>
                  <a:srgbClr val="263039"/>
                </a:solidFill>
                <a:latin typeface="Arial"/>
              </a:rPr>
              <a:t>An approaching bat can become acoustically stronger without changing this selected output measure. The moth still hears the bat within this range, and information about direction, stimulus history or a later A2 response remains available through other response features. The figure labels the saturation interval relative to the individual A1 threshold, so the values are relative levels.</a:t>
            </a:r>
          </a:p>
        </p:txBody>
      </p:sp>
      <p:pic>
        <p:nvPicPr>
          <p:cNvPr id="4" name="Picture 3" descr="g18_f3a.png"/>
          <p:cNvPicPr>
            <a:picLocks noChangeAspect="1"/>
          </p:cNvPicPr>
          <p:nvPr/>
        </p:nvPicPr>
        <p:blipFill>
          <a:blip r:embed="rId2"/>
          <a:stretch>
            <a:fillRect/>
          </a:stretch>
        </p:blipFill>
        <p:spPr>
          <a:xfrm>
            <a:off x="6720589" y="1280160"/>
            <a:ext cx="4321956"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3(A). A1 saturation before A2 recruitment in Raphia frater.</a:t>
            </a:r>
          </a:p>
        </p:txBody>
      </p:sp>
      <p:pic>
        <p:nvPicPr>
          <p:cNvPr id="6" name="Picture 5" descr="r57_f2.png"/>
          <p:cNvPicPr>
            <a:picLocks noChangeAspect="1"/>
          </p:cNvPicPr>
          <p:nvPr/>
        </p:nvPicPr>
        <p:blipFill>
          <a:blip r:embed="rId3"/>
          <a:stretch>
            <a:fillRect/>
          </a:stretch>
        </p:blipFill>
        <p:spPr>
          <a:xfrm>
            <a:off x="7670427" y="4069080"/>
            <a:ext cx="2422279"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Spike intervals change little within the saturation range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An </a:t>
            </a:r>
            <a:r>
              <a:rPr sz="1600" b="1" i="0">
                <a:solidFill>
                  <a:srgbClr val="384E60"/>
                </a:solidFill>
                <a:latin typeface="Arial"/>
              </a:rPr>
              <a:t>interspike interval</a:t>
            </a:r>
            <a:r>
              <a:rPr sz="1600" b="0" i="0">
                <a:solidFill>
                  <a:srgbClr val="263039"/>
                </a:solidFill>
                <a:latin typeface="Arial"/>
              </a:rPr>
              <a:t> is the time between successive action potentials. It can carry information even when spike count is unchanged, because the same number of spikes can be distributed differently in time.</a:t>
            </a:r>
          </a:p>
          <a:p>
            <a:pPr algn="l">
              <a:lnSpc>
                <a:spcPct val="108000"/>
              </a:lnSpc>
              <a:spcAft>
                <a:spcPts val="960"/>
              </a:spcAft>
            </a:pPr>
            <a:r>
              <a:rPr sz="1600" b="0" i="0">
                <a:solidFill>
                  <a:srgbClr val="263039"/>
                </a:solidFill>
                <a:latin typeface="Arial"/>
              </a:rPr>
              <a:t>Gordon and ter Hofstede examined A1 intervals during the short-pulse saturation range. Apart from a larger interval at the lowest sampled amplitude, the first interval and the mean of the initial intervals changed little as sound level increased.</a:t>
            </a:r>
          </a:p>
          <a:p>
            <a:pPr algn="l">
              <a:lnSpc>
                <a:spcPct val="108000"/>
              </a:lnSpc>
              <a:spcAft>
                <a:spcPts val="960"/>
              </a:spcAft>
            </a:pPr>
            <a:r>
              <a:rPr sz="1600" b="0" i="0">
                <a:solidFill>
                  <a:srgbClr val="263039"/>
                </a:solidFill>
                <a:latin typeface="Arial"/>
              </a:rPr>
              <a:t>This comparison constrains interval timing as an alternative continuous intensity code in that range. A reliable short interval can contribute to central excitation even if it changes little over the plateau, and timing can identify a meaningful event without distinguishing every stronger amplitude once the response is saturated.</a:t>
            </a:r>
          </a:p>
        </p:txBody>
      </p:sp>
      <p:pic>
        <p:nvPicPr>
          <p:cNvPr id="4" name="Picture 3" descr="g18_f4.png"/>
          <p:cNvPicPr>
            <a:picLocks noChangeAspect="1"/>
          </p:cNvPicPr>
          <p:nvPr/>
        </p:nvPicPr>
        <p:blipFill>
          <a:blip r:embed="rId2"/>
          <a:stretch>
            <a:fillRect/>
          </a:stretch>
        </p:blipFill>
        <p:spPr>
          <a:xfrm>
            <a:off x="6138367" y="1280160"/>
            <a:ext cx="3383280" cy="3485803"/>
          </a:xfrm>
          <a:prstGeom prst="rect">
            <a:avLst/>
          </a:prstGeom>
        </p:spPr>
      </p:pic>
      <p:sp>
        <p:nvSpPr>
          <p:cNvPr id="5" name="Figure caption"/>
          <p:cNvSpPr txBox="1"/>
          <p:nvPr/>
        </p:nvSpPr>
        <p:spPr>
          <a:xfrm>
            <a:off x="6138367" y="4857403"/>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4. Interspike intervals within the saturation range.</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Bat-like pulse sequences preserve individual coding gaps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0" i="0">
                <a:solidFill>
                  <a:srgbClr val="263039"/>
                </a:solidFill>
                <a:latin typeface="Arial"/>
              </a:rPr>
              <a:t>Gordon and ter Hofstede compared sequences modeled on searching and approaching bats. Search-like stimuli used 5-ms pulses every 75 ms, whereas approach-like stimuli used 2.5-ms pulses every 37.5 ms.</a:t>
            </a:r>
          </a:p>
          <a:p>
            <a:pPr algn="l">
              <a:lnSpc>
                <a:spcPct val="108000"/>
              </a:lnSpc>
              <a:spcAft>
                <a:spcPts val="960"/>
              </a:spcAft>
            </a:pPr>
            <a:r>
              <a:rPr sz="1550" b="0" i="0">
                <a:solidFill>
                  <a:srgbClr val="263039"/>
                </a:solidFill>
                <a:latin typeface="Arial"/>
              </a:rPr>
              <a:t>The sequences had the same duty cycle, the fraction of time occupied by sound, while differing in pulse duration and repetition rate. A1 and A2 output was measured as the amplitude of the entire sequence increased.</a:t>
            </a:r>
          </a:p>
          <a:p>
            <a:pPr algn="l">
              <a:lnSpc>
                <a:spcPct val="108000"/>
              </a:lnSpc>
              <a:spcAft>
                <a:spcPts val="960"/>
              </a:spcAft>
            </a:pPr>
            <a:r>
              <a:rPr sz="1550" b="0" i="0">
                <a:solidFill>
                  <a:srgbClr val="263039"/>
                </a:solidFill>
                <a:latin typeface="Arial"/>
              </a:rPr>
              <a:t>Averaged responses could appear smoothly graded, but individual moths retained A1 saturation ranges of 4–12 dB before A2 recruitment. Population averaging therefore concealed some within-animal coding gaps. A moth receives its own receptor output instead of an average across individuals, and one individual's plateau can occur at a different relative amplitude from another's, which makes the pooled curve smoother than any single receptor response.</a:t>
            </a:r>
          </a:p>
        </p:txBody>
      </p:sp>
      <p:pic>
        <p:nvPicPr>
          <p:cNvPr id="4" name="Picture 3" descr="g18_f6.png"/>
          <p:cNvPicPr>
            <a:picLocks noChangeAspect="1"/>
          </p:cNvPicPr>
          <p:nvPr/>
        </p:nvPicPr>
        <p:blipFill>
          <a:blip r:embed="rId2"/>
          <a:stretch>
            <a:fillRect/>
          </a:stretch>
        </p:blipFill>
        <p:spPr>
          <a:xfrm>
            <a:off x="6138367" y="1280160"/>
            <a:ext cx="3383280" cy="3596472"/>
          </a:xfrm>
          <a:prstGeom prst="rect">
            <a:avLst/>
          </a:prstGeom>
        </p:spPr>
      </p:pic>
      <p:sp>
        <p:nvSpPr>
          <p:cNvPr id="5" name="Figure caption"/>
          <p:cNvSpPr txBox="1"/>
          <p:nvPr/>
        </p:nvSpPr>
        <p:spPr>
          <a:xfrm>
            <a:off x="6138367" y="4968072"/>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6(A–B). Search- and approach-like pulse-sequence responses.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Approach-like sequences adapt more at higher amplitudes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effect of repeated pulses depended on both timing and sound level. Gordon and ter Hofstede compared A1 spikes after the first and last pulse in each search-like or approach-like sequence.</a:t>
            </a:r>
          </a:p>
          <a:p>
            <a:pPr algn="l">
              <a:lnSpc>
                <a:spcPct val="108000"/>
              </a:lnSpc>
              <a:spcAft>
                <a:spcPts val="960"/>
              </a:spcAft>
            </a:pPr>
            <a:r>
              <a:rPr sz="1600" b="0" i="0">
                <a:solidFill>
                  <a:srgbClr val="263039"/>
                </a:solidFill>
                <a:latin typeface="Arial"/>
              </a:rPr>
              <a:t>Search-like sequences showed little systematic decline, even at high levels. In approach-like sequences, stronger stimulation produced fewer spikes near the sequence’s end; the mean first-to-last difference exceeded half a spike per pulse only above 10 dB relative to A1 threshold.</a:t>
            </a:r>
          </a:p>
          <a:p>
            <a:pPr algn="l">
              <a:lnSpc>
                <a:spcPct val="108000"/>
              </a:lnSpc>
              <a:spcAft>
                <a:spcPts val="960"/>
              </a:spcAft>
            </a:pPr>
            <a:r>
              <a:rPr sz="1600" b="0" i="0">
                <a:solidFill>
                  <a:srgbClr val="263039"/>
                </a:solidFill>
                <a:latin typeface="Arial"/>
              </a:rPr>
              <a:t>Adaptation therefore cannot be assumed simply because sound repeats. Its expression depends on the input pattern and receptor operating range. The first and last pulses were compared at the same sequence amplitude, so the decline reflects stimulus history within the sequence, and the measurements concern the peripheral nerve.</a:t>
            </a:r>
          </a:p>
        </p:txBody>
      </p:sp>
      <p:pic>
        <p:nvPicPr>
          <p:cNvPr id="4" name="Picture 3" descr="g18_f7.png"/>
          <p:cNvPicPr>
            <a:picLocks noChangeAspect="1"/>
          </p:cNvPicPr>
          <p:nvPr/>
        </p:nvPicPr>
        <p:blipFill>
          <a:blip r:embed="rId2"/>
          <a:stretch>
            <a:fillRect/>
          </a:stretch>
        </p:blipFill>
        <p:spPr>
          <a:xfrm>
            <a:off x="7138254" y="1280160"/>
            <a:ext cx="3486625"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7. Adaptation within search- and approach-like sequences.</a:t>
            </a:r>
          </a:p>
        </p:txBody>
      </p:sp>
      <p:pic>
        <p:nvPicPr>
          <p:cNvPr id="6" name="Picture 5" descr="r57_f2.png"/>
          <p:cNvPicPr>
            <a:picLocks noChangeAspect="1"/>
          </p:cNvPicPr>
          <p:nvPr/>
        </p:nvPicPr>
        <p:blipFill>
          <a:blip r:embed="rId3"/>
          <a:stretch>
            <a:fillRect/>
          </a:stretch>
        </p:blipFill>
        <p:spPr>
          <a:xfrm>
            <a:off x="7768627" y="4206240"/>
            <a:ext cx="2225878"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Clicking thresholds depend on bat-like pulse timing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tiger moth </a:t>
            </a:r>
            <a:r>
              <a:rPr sz="1600" b="0" i="1">
                <a:solidFill>
                  <a:srgbClr val="263039"/>
                </a:solidFill>
                <a:latin typeface="Arial"/>
              </a:rPr>
              <a:t>Bertholdia trigona</a:t>
            </a:r>
            <a:r>
              <a:rPr sz="1600" b="0" i="0">
                <a:solidFill>
                  <a:srgbClr val="263039"/>
                </a:solidFill>
                <a:latin typeface="Arial"/>
              </a:rPr>
              <a:t> produces defensive ultrasonic clicks using a </a:t>
            </a:r>
            <a:r>
              <a:rPr sz="1600" b="1" i="0">
                <a:solidFill>
                  <a:srgbClr val="384E60"/>
                </a:solidFill>
                <a:latin typeface="Arial"/>
              </a:rPr>
              <a:t>tymbal</a:t>
            </a:r>
            <a:r>
              <a:rPr sz="1600" b="0" i="0">
                <a:solidFill>
                  <a:srgbClr val="263039"/>
                </a:solidFill>
                <a:latin typeface="Arial"/>
              </a:rPr>
              <a:t>, a sound-producing structure distinct from the tympanum that receives sound. Corcoran and colleagues measured the input levels required to trigger clicking.</a:t>
            </a:r>
          </a:p>
          <a:p>
            <a:pPr algn="l">
              <a:lnSpc>
                <a:spcPct val="108000"/>
              </a:lnSpc>
              <a:spcAft>
                <a:spcPts val="960"/>
              </a:spcAft>
            </a:pPr>
            <a:r>
              <a:rPr sz="1600" b="0" i="0">
                <a:solidFill>
                  <a:srgbClr val="263039"/>
                </a:solidFill>
                <a:latin typeface="Arial"/>
              </a:rPr>
              <a:t>Laboratory playbacks used 40-kHz pulses of 2-ms duration, with intensity rising from 70 to 120 dB SPL. Pulse intervals were varied to represent different stages of bat echolocation, and the first moth click defined the behavioral threshold.</a:t>
            </a:r>
          </a:p>
          <a:p>
            <a:pPr algn="l">
              <a:lnSpc>
                <a:spcPct val="108000"/>
              </a:lnSpc>
              <a:spcAft>
                <a:spcPts val="960"/>
              </a:spcAft>
            </a:pPr>
            <a:r>
              <a:rPr sz="1600" b="0" i="0">
                <a:solidFill>
                  <a:srgbClr val="263039"/>
                </a:solidFill>
                <a:latin typeface="Arial"/>
              </a:rPr>
              <a:t>The lowest clicking thresholds occurred at intervals of 20–30 ms, resembling late approach calls. Search-like and very rapid terminal timing required greater sound levels. This is a behavioral response curve rather than a receptor audiogram: hearing a pulse and deciding to emit a defensive signal are different measured events.</a:t>
            </a:r>
          </a:p>
        </p:txBody>
      </p:sp>
      <p:pic>
        <p:nvPicPr>
          <p:cNvPr id="4" name="Picture 3" descr="risk13_f4.png"/>
          <p:cNvPicPr>
            <a:picLocks noChangeAspect="1"/>
          </p:cNvPicPr>
          <p:nvPr/>
        </p:nvPicPr>
        <p:blipFill>
          <a:blip r:embed="rId2"/>
          <a:stretch>
            <a:fillRect/>
          </a:stretch>
        </p:blipFill>
        <p:spPr>
          <a:xfrm>
            <a:off x="6138367" y="1280160"/>
            <a:ext cx="3383280" cy="3769229"/>
          </a:xfrm>
          <a:prstGeom prst="rect">
            <a:avLst/>
          </a:prstGeom>
        </p:spPr>
      </p:pic>
      <p:sp>
        <p:nvSpPr>
          <p:cNvPr id="5" name="Figure caption"/>
          <p:cNvSpPr txBox="1"/>
          <p:nvPr/>
        </p:nvSpPr>
        <p:spPr>
          <a:xfrm>
            <a:off x="6138367" y="514082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4. Measured clicking thresholds and real/false threat calls.</a:t>
            </a:r>
          </a:p>
        </p:txBody>
      </p:sp>
      <p:pic>
        <p:nvPicPr>
          <p:cNvPr id="6" name="Picture 5" descr="j09_tymbal.png"/>
          <p:cNvPicPr>
            <a:picLocks noChangeAspect="1"/>
          </p:cNvPicPr>
          <p:nvPr/>
        </p:nvPicPr>
        <p:blipFill>
          <a:blip r:embed="rId3"/>
          <a:stretch>
            <a:fillRect/>
          </a:stretch>
        </p:blipFill>
        <p:spPr>
          <a:xfrm>
            <a:off x="9704527" y="2148840"/>
            <a:ext cx="1920239" cy="1618631"/>
          </a:xfrm>
          <a:prstGeom prst="rect">
            <a:avLst/>
          </a:prstGeom>
        </p:spPr>
      </p:pic>
      <p:sp>
        <p:nvSpPr>
          <p:cNvPr id="7" name="Figure caption"/>
          <p:cNvSpPr txBox="1"/>
          <p:nvPr/>
        </p:nvSpPr>
        <p:spPr>
          <a:xfrm>
            <a:off x="9704527" y="3840623"/>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1(A). Sound-producing tymbal; scale bar 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 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Targeted attacks differ acoustically from nearby attacks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450" b="0" i="0">
                <a:solidFill>
                  <a:srgbClr val="263039"/>
                </a:solidFill>
                <a:latin typeface="Arial"/>
              </a:rPr>
              <a:t>A moth can hear a bat that is attacking another insect. Corcoran and colleagues defined a </a:t>
            </a:r>
            <a:r>
              <a:rPr sz="1450" b="1" i="0">
                <a:solidFill>
                  <a:srgbClr val="384E60"/>
                </a:solidFill>
                <a:latin typeface="Arial"/>
              </a:rPr>
              <a:t>real threat</a:t>
            </a:r>
            <a:r>
              <a:rPr sz="1450" b="0" i="0">
                <a:solidFill>
                  <a:srgbClr val="263039"/>
                </a:solidFill>
                <a:latin typeface="Arial"/>
              </a:rPr>
              <a:t> as an attack on the focal moth and a </a:t>
            </a:r>
            <a:r>
              <a:rPr sz="1450" b="1" i="0">
                <a:solidFill>
                  <a:srgbClr val="384E60"/>
                </a:solidFill>
                <a:latin typeface="Arial"/>
              </a:rPr>
              <a:t>false threat</a:t>
            </a:r>
            <a:r>
              <a:rPr sz="1450" b="0" i="0">
                <a:solidFill>
                  <a:srgbClr val="263039"/>
                </a:solidFill>
                <a:latin typeface="Arial"/>
              </a:rPr>
              <a:t> as an attack on a neighboring free-flying moth.</a:t>
            </a:r>
          </a:p>
          <a:p>
            <a:pPr algn="l">
              <a:lnSpc>
                <a:spcPct val="108000"/>
              </a:lnSpc>
              <a:spcAft>
                <a:spcPts val="900"/>
              </a:spcAft>
            </a:pPr>
            <a:r>
              <a:rPr sz="1450" b="0" i="0">
                <a:solidFill>
                  <a:srgbClr val="263039"/>
                </a:solidFill>
                <a:latin typeface="Arial"/>
              </a:rPr>
              <a:t>Synchronized infrared video and ultrasonic recordings estimated call pressure at the focal moth while reconstructing bat position. During real attacks, received intensity generally increased before leveling late in the approach. During false threats, intensity at the non-target moth tended to decrease.</a:t>
            </a:r>
          </a:p>
          <a:p>
            <a:pPr algn="l">
              <a:lnSpc>
                <a:spcPct val="108000"/>
              </a:lnSpc>
              <a:spcAft>
                <a:spcPts val="900"/>
              </a:spcAft>
            </a:pPr>
            <a:r>
              <a:rPr sz="1450" b="0" i="0">
                <a:solidFill>
                  <a:srgbClr val="263039"/>
                </a:solidFill>
                <a:latin typeface="Arial"/>
              </a:rPr>
              <a:t>Pulse intervals shortened in both circumstances, so increasing call rate alone did not uniquely identify the victim. The contrast supports combined use of timing and received level. The bat's emitted intensity and the intensity arriving at a moth are separate quantities, since beam orientation, distance and source-level changes all influence the received signal, and the field amplitudes are expressed as peak-equivalent sound pressure level (peSPL), matched to the peak amplitude of a reference sinusoid.</a:t>
            </a:r>
          </a:p>
        </p:txBody>
      </p:sp>
      <p:pic>
        <p:nvPicPr>
          <p:cNvPr id="4" name="Picture 3" descr="risk13_f5.png"/>
          <p:cNvPicPr>
            <a:picLocks noChangeAspect="1"/>
          </p:cNvPicPr>
          <p:nvPr/>
        </p:nvPicPr>
        <p:blipFill>
          <a:blip r:embed="rId2"/>
          <a:stretch>
            <a:fillRect/>
          </a:stretch>
        </p:blipFill>
        <p:spPr>
          <a:xfrm>
            <a:off x="6138367" y="1280160"/>
            <a:ext cx="5486400" cy="3987401"/>
          </a:xfrm>
          <a:prstGeom prst="rect">
            <a:avLst/>
          </a:prstGeom>
        </p:spPr>
      </p:pic>
      <p:sp>
        <p:nvSpPr>
          <p:cNvPr id="5" name="Figure caption"/>
          <p:cNvSpPr txBox="1"/>
          <p:nvPr/>
        </p:nvSpPr>
        <p:spPr>
          <a:xfrm>
            <a:off x="6138367" y="535900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5(A–C). Call levels and flight parameters during real/false threats.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Field clicking begins during early-to-middle approach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Corcoran and colleagues recorded free-flying bats passing tethered </a:t>
            </a:r>
            <a:r>
              <a:rPr sz="1600" b="0" i="1">
                <a:solidFill>
                  <a:srgbClr val="263039"/>
                </a:solidFill>
                <a:latin typeface="Arial"/>
              </a:rPr>
              <a:t>Bertholdia trigona</a:t>
            </a:r>
            <a:r>
              <a:rPr sz="1600" b="0" i="0">
                <a:solidFill>
                  <a:srgbClr val="263039"/>
                </a:solidFill>
                <a:latin typeface="Arial"/>
              </a:rPr>
              <a:t> and compared encounters that elicited clicks with those that did not. The focal moths could hear and click, but their flight trajectories were constrained.</a:t>
            </a:r>
          </a:p>
          <a:p>
            <a:pPr algn="l">
              <a:lnSpc>
                <a:spcPct val="108000"/>
              </a:lnSpc>
              <a:spcAft>
                <a:spcPts val="960"/>
              </a:spcAft>
            </a:pPr>
            <a:r>
              <a:rPr sz="1600" b="0" i="0">
                <a:solidFill>
                  <a:srgbClr val="263039"/>
                </a:solidFill>
                <a:latin typeface="Arial"/>
              </a:rPr>
              <a:t>Clicking usually began during early-to-middle approach, with bat pulse intervals of 25–60 ms. Sound level at the moth discriminated clicking from silent passes more consistently than bat distance or flight approach angle alone.</a:t>
            </a:r>
          </a:p>
          <a:p>
            <a:pPr algn="l">
              <a:lnSpc>
                <a:spcPct val="108000"/>
              </a:lnSpc>
              <a:spcAft>
                <a:spcPts val="960"/>
              </a:spcAft>
            </a:pPr>
            <a:r>
              <a:rPr sz="1600" b="0" i="0">
                <a:solidFill>
                  <a:srgbClr val="263039"/>
                </a:solidFill>
                <a:latin typeface="Arial"/>
              </a:rPr>
              <a:t>These observations link natural acoustic input with the onset of a defensive output. A close bat may remain acoustically weak at the focal moth if its beam points elsewhere, whereas a directed sequence can identify an escalating threat before a major change in flight approach angle, so timing depends on what the insect receives acoustically.</a:t>
            </a:r>
          </a:p>
        </p:txBody>
      </p:sp>
      <p:pic>
        <p:nvPicPr>
          <p:cNvPr id="4" name="Picture 3" descr="risk13_f6ab.png"/>
          <p:cNvPicPr>
            <a:picLocks noChangeAspect="1"/>
          </p:cNvPicPr>
          <p:nvPr/>
        </p:nvPicPr>
        <p:blipFill>
          <a:blip r:embed="rId2"/>
          <a:stretch>
            <a:fillRect/>
          </a:stretch>
        </p:blipFill>
        <p:spPr>
          <a:xfrm>
            <a:off x="6138367" y="1280160"/>
            <a:ext cx="5486400" cy="3525774"/>
          </a:xfrm>
          <a:prstGeom prst="rect">
            <a:avLst/>
          </a:prstGeom>
        </p:spPr>
      </p:pic>
      <p:sp>
        <p:nvSpPr>
          <p:cNvPr id="5" name="Figure caption"/>
          <p:cNvSpPr txBox="1"/>
          <p:nvPr/>
        </p:nvSpPr>
        <p:spPr>
          <a:xfrm>
            <a:off x="6138367" y="489737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6, first two rows. Clicking versus silent passes by acoustic and distance cues.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Rising call levels precede defensive clicking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During the interval preceding defensive clicks, bat calls increased in received intensity while their pulse intervals became slightly shorter. Corcoran and colleagues measured these changes over the 250 ms before clicking onset.</a:t>
            </a:r>
          </a:p>
          <a:p>
            <a:pPr algn="l">
              <a:lnSpc>
                <a:spcPct val="108000"/>
              </a:lnSpc>
              <a:spcAft>
                <a:spcPts val="960"/>
              </a:spcAft>
            </a:pPr>
            <a:r>
              <a:rPr sz="1600" b="0" i="0">
                <a:solidFill>
                  <a:srgbClr val="263039"/>
                </a:solidFill>
                <a:latin typeface="Arial"/>
              </a:rPr>
              <a:t>The acoustic combination is consistent with a bat detecting and targeting the moth. In real attacks, received intensity could subsequently plateau near 95 dB peSPL while the bat reduced its source output as it approached.</a:t>
            </a:r>
          </a:p>
          <a:p>
            <a:pPr algn="l">
              <a:lnSpc>
                <a:spcPct val="108000"/>
              </a:lnSpc>
              <a:spcAft>
                <a:spcPts val="960"/>
              </a:spcAft>
            </a:pPr>
            <a:r>
              <a:rPr sz="1600" b="0" i="0">
                <a:solidFill>
                  <a:srgbClr val="263039"/>
                </a:solidFill>
                <a:latin typeface="Arial"/>
              </a:rPr>
              <a:t>A decreasing emitted level therefore need not mean decreasing threat at the prey. Geometry and source regulation jointly shape the signal that reaches the ear. The call-level and interval changes were measured relative to clicking onset, so the association concerns changes before a measured behavioral event and supports threat-sensitive timing of the defense.</a:t>
            </a:r>
          </a:p>
        </p:txBody>
      </p:sp>
      <p:pic>
        <p:nvPicPr>
          <p:cNvPr id="4" name="Picture 3" descr="risk13_f6cd.png"/>
          <p:cNvPicPr>
            <a:picLocks noChangeAspect="1"/>
          </p:cNvPicPr>
          <p:nvPr/>
        </p:nvPicPr>
        <p:blipFill>
          <a:blip r:embed="rId2"/>
          <a:stretch>
            <a:fillRect/>
          </a:stretch>
        </p:blipFill>
        <p:spPr>
          <a:xfrm>
            <a:off x="6138367" y="1280160"/>
            <a:ext cx="5486400" cy="1709746"/>
          </a:xfrm>
          <a:prstGeom prst="rect">
            <a:avLst/>
          </a:prstGeom>
        </p:spPr>
      </p:pic>
      <p:sp>
        <p:nvSpPr>
          <p:cNvPr id="5" name="Figure caption"/>
          <p:cNvSpPr txBox="1"/>
          <p:nvPr/>
        </p:nvSpPr>
        <p:spPr>
          <a:xfrm>
            <a:off x="6138367" y="308134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6, last two rows. Call-level and pulse-interval changes preceding clicks.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Escape does not require greater speed than the bat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600" b="0" i="0">
                <a:solidFill>
                  <a:srgbClr val="263039"/>
                </a:solidFill>
                <a:latin typeface="Arial"/>
              </a:rPr>
              <a:t>Corcoran and Conner compared maximum flight performance during measured bat–moth encounters. Bats exceeded evasive moths in speed and several acceleration measures, yet many evasive moths escaped.</a:t>
            </a:r>
          </a:p>
          <a:p>
            <a:pPr algn="l">
              <a:lnSpc>
                <a:spcPct val="108000"/>
              </a:lnSpc>
              <a:spcAft>
                <a:spcPts val="1019"/>
              </a:spcAft>
            </a:pPr>
            <a:r>
              <a:rPr sz="1600" b="0" i="0">
                <a:solidFill>
                  <a:srgbClr val="263039"/>
                </a:solidFill>
                <a:latin typeface="Arial"/>
              </a:rPr>
              <a:t>The bats’ advantage also included tighter minimum turn radii and greater peak turning performance. Non-evasive prey generally performed worse than evasive prey, but comparing maximum values alone did not determine the outcome of a chase.</a:t>
            </a:r>
          </a:p>
          <a:p>
            <a:pPr algn="l">
              <a:lnSpc>
                <a:spcPct val="108000"/>
              </a:lnSpc>
              <a:spcAft>
                <a:spcPts val="1019"/>
              </a:spcAft>
            </a:pPr>
            <a:r>
              <a:rPr sz="1600" b="0" i="0">
                <a:solidFill>
                  <a:srgbClr val="263039"/>
                </a:solidFill>
                <a:latin typeface="Arial"/>
              </a:rPr>
              <a:t>A moth can exploit the timing and geometry of a maneuver rather than outrunning the bat along the same path. Peak performance is the strongest measured movement during an encounter, not necessarily the movement occurring simultaneously in predator and prey, so a bat capable of a superior maximum can still be unable to follow a specific sudden turn at the required moment.</a:t>
            </a:r>
          </a:p>
        </p:txBody>
      </p:sp>
      <p:pic>
        <p:nvPicPr>
          <p:cNvPr id="4" name="Picture 3" descr="e16_f5.png"/>
          <p:cNvPicPr>
            <a:picLocks noChangeAspect="1"/>
          </p:cNvPicPr>
          <p:nvPr/>
        </p:nvPicPr>
        <p:blipFill>
          <a:blip r:embed="rId2"/>
          <a:stretch>
            <a:fillRect/>
          </a:stretch>
        </p:blipFill>
        <p:spPr>
          <a:xfrm>
            <a:off x="6138367" y="1280160"/>
            <a:ext cx="5486400" cy="3191410"/>
          </a:xfrm>
          <a:prstGeom prst="rect">
            <a:avLst/>
          </a:prstGeom>
        </p:spPr>
      </p:pic>
      <p:sp>
        <p:nvSpPr>
          <p:cNvPr id="5" name="Figure caption"/>
          <p:cNvSpPr txBox="1"/>
          <p:nvPr/>
        </p:nvSpPr>
        <p:spPr>
          <a:xfrm>
            <a:off x="6138367" y="456301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5. Bat and moth flight performance.</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Turning performance combines speed and turn radius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Radial acceleration</a:t>
            </a:r>
            <a:r>
              <a:rPr sz="1600" b="0" i="0">
                <a:solidFill>
                  <a:srgbClr val="263039"/>
                </a:solidFill>
                <a:latin typeface="Arial"/>
              </a:rPr>
              <a:t> describes the change in velocity direction during a curved turn. A tighter turn at a given speed requires greater radial acceleration; speed alone omits the geometry of the motion.</a:t>
            </a:r>
          </a:p>
          <a:p>
            <a:pPr algn="l">
              <a:lnSpc>
                <a:spcPct val="108000"/>
              </a:lnSpc>
              <a:spcAft>
                <a:spcPts val="960"/>
              </a:spcAft>
            </a:pPr>
            <a:r>
              <a:rPr sz="1600" b="0" i="0">
                <a:solidFill>
                  <a:srgbClr val="263039"/>
                </a:solidFill>
                <a:latin typeface="Arial"/>
              </a:rPr>
              <a:t>Corcoran and Conner extracted turn speed, radius and radial acceleration from reconstructed flight paths. Moth radial acceleration increased with turn speed, whereas bat radial acceleration was much less dependent on turn speed in the measured range.</a:t>
            </a:r>
          </a:p>
          <a:p>
            <a:pPr algn="l">
              <a:lnSpc>
                <a:spcPct val="108000"/>
              </a:lnSpc>
              <a:spcAft>
                <a:spcPts val="960"/>
              </a:spcAft>
            </a:pPr>
            <a:r>
              <a:rPr sz="1600" b="0" i="0">
                <a:solidFill>
                  <a:srgbClr val="263039"/>
                </a:solidFill>
                <a:latin typeface="Arial"/>
              </a:rPr>
              <a:t>These differences constrain the maneuvers available during pursuit. The relevant outcome depends on whether a particular turn changes the interception path before the bat can follow it. The study examined relationships among turn variables measured simultaneously, which preserves the physical relationship within each maneuver.</a:t>
            </a:r>
          </a:p>
        </p:txBody>
      </p:sp>
      <p:pic>
        <p:nvPicPr>
          <p:cNvPr id="4" name="Picture 3" descr="e16_f6.png"/>
          <p:cNvPicPr>
            <a:picLocks noChangeAspect="1"/>
          </p:cNvPicPr>
          <p:nvPr/>
        </p:nvPicPr>
        <p:blipFill>
          <a:blip r:embed="rId2"/>
          <a:stretch>
            <a:fillRect/>
          </a:stretch>
        </p:blipFill>
        <p:spPr>
          <a:xfrm>
            <a:off x="7159601" y="1280160"/>
            <a:ext cx="3443932"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6(A–B). Turn speed, radius and radial acceleration.</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Sharp turns and smaller escape angles favor survival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a:t>
            </a:r>
            <a:r>
              <a:rPr sz="1600" b="1" i="0">
                <a:solidFill>
                  <a:srgbClr val="384E60"/>
                </a:solidFill>
                <a:latin typeface="Arial"/>
              </a:rPr>
              <a:t>escape angle</a:t>
            </a:r>
            <a:r>
              <a:rPr sz="1600" b="0" i="0">
                <a:solidFill>
                  <a:srgbClr val="263039"/>
                </a:solidFill>
                <a:latin typeface="Arial"/>
              </a:rPr>
              <a:t> is the direction of the moth’s movement relative to the approaching predator. Corcoran and Conner measured it after the initial evasive turn, along with the moth’s radial acceleration.</a:t>
            </a:r>
          </a:p>
          <a:p>
            <a:pPr algn="l">
              <a:lnSpc>
                <a:spcPct val="108000"/>
              </a:lnSpc>
              <a:spcAft>
                <a:spcPts val="960"/>
              </a:spcAft>
            </a:pPr>
            <a:r>
              <a:rPr sz="1600" b="0" i="0">
                <a:solidFill>
                  <a:srgbClr val="263039"/>
                </a:solidFill>
                <a:latin typeface="Arial"/>
              </a:rPr>
              <a:t>Moths escaping with angles of 40–100° survived more often than those taking angles above 100°. Escaping prey averaged an angle near 83°, whereas captured prey averaged near 126°. Greater radial acceleration also distinguished successful maneuvers.</a:t>
            </a:r>
          </a:p>
          <a:p>
            <a:pPr algn="l">
              <a:lnSpc>
                <a:spcPct val="108000"/>
              </a:lnSpc>
              <a:spcAft>
                <a:spcPts val="960"/>
              </a:spcAft>
            </a:pPr>
            <a:r>
              <a:rPr sz="1600" b="0" i="0">
                <a:solidFill>
                  <a:srgbClr val="263039"/>
                </a:solidFill>
                <a:latin typeface="Arial"/>
              </a:rPr>
              <a:t>Turning partly toward or across the approaching bat can therefore be more effective than continuing directly away during a chase. The escape angle differs from the initial direction of travel before the evasive turn, and high radial acceleration allows rapid redirection while the angle determines where that redirection places the moth relative to interception.</a:t>
            </a:r>
          </a:p>
        </p:txBody>
      </p:sp>
      <p:pic>
        <p:nvPicPr>
          <p:cNvPr id="4" name="Picture 3" descr="e16_f7c.png"/>
          <p:cNvPicPr>
            <a:picLocks noChangeAspect="1"/>
          </p:cNvPicPr>
          <p:nvPr/>
        </p:nvPicPr>
        <p:blipFill>
          <a:blip r:embed="rId2"/>
          <a:stretch>
            <a:fillRect/>
          </a:stretch>
        </p:blipFill>
        <p:spPr>
          <a:xfrm>
            <a:off x="6138367" y="1280160"/>
            <a:ext cx="5486400" cy="4226767"/>
          </a:xfrm>
          <a:prstGeom prst="rect">
            <a:avLst/>
          </a:prstGeom>
        </p:spPr>
      </p:pic>
      <p:sp>
        <p:nvSpPr>
          <p:cNvPr id="5" name="Figure caption"/>
          <p:cNvSpPr txBox="1"/>
          <p:nvPr/>
        </p:nvSpPr>
        <p:spPr>
          <a:xfrm>
            <a:off x="6138367" y="559836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7(C). Escape outcomes by angle and radial acceleration.</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Successful trajectories reach the bat’s flanks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0" i="0">
                <a:solidFill>
                  <a:srgbClr val="263039"/>
                </a:solidFill>
                <a:latin typeface="Arial"/>
              </a:rPr>
              <a:t>Escaping moths often moved into regions flanking the approaching bat rather than retreating along its existing pursuit axis. Corcoran and Conner compared reconstructed paths with the safety regions predicted by their geometrical model.</a:t>
            </a:r>
          </a:p>
          <a:p>
            <a:pPr algn="l">
              <a:lnSpc>
                <a:spcPct val="108000"/>
              </a:lnSpc>
              <a:spcAft>
                <a:spcPts val="960"/>
              </a:spcAft>
            </a:pPr>
            <a:r>
              <a:rPr sz="1500" b="0" i="0">
                <a:solidFill>
                  <a:srgbClr val="263039"/>
                </a:solidFill>
                <a:latin typeface="Arial"/>
              </a:rPr>
              <a:t>Their </a:t>
            </a:r>
            <a:r>
              <a:rPr sz="1500" b="1" i="0">
                <a:solidFill>
                  <a:srgbClr val="384E60"/>
                </a:solidFill>
                <a:latin typeface="Arial"/>
              </a:rPr>
              <a:t>safety zone</a:t>
            </a:r>
            <a:r>
              <a:rPr sz="1500" b="0" i="0">
                <a:solidFill>
                  <a:srgbClr val="263039"/>
                </a:solidFill>
                <a:latin typeface="Arial"/>
              </a:rPr>
              <a:t> is a modeled region the bat cannot immediately intercept under assumptions about reaction delay, capture width and turning radius. Measured escape paths entered it more often than capture paths did.</a:t>
            </a:r>
          </a:p>
          <a:p>
            <a:pPr algn="l">
              <a:lnSpc>
                <a:spcPct val="108000"/>
              </a:lnSpc>
              <a:spcAft>
                <a:spcPts val="960"/>
              </a:spcAft>
            </a:pPr>
            <a:r>
              <a:rPr sz="1500" b="0" i="0">
                <a:solidFill>
                  <a:srgbClr val="263039"/>
                </a:solidFill>
                <a:latin typeface="Arial"/>
              </a:rPr>
              <a:t>The flight coordinates are empirical; the shaded regions and simplified boundaries are the authors’ model-derived interpretation. Measured trajectories are evaluated against regions derived from the authors' geometrical assumptions, and agreement between the two supports a geometrical explanation of the observed maneuvers; a geometrical prediction can explain outcomes even when the animal's decision mechanism is unknown.</a:t>
            </a:r>
          </a:p>
        </p:txBody>
      </p:sp>
      <p:pic>
        <p:nvPicPr>
          <p:cNvPr id="4" name="Picture 3" descr="e16_f9.png"/>
          <p:cNvPicPr>
            <a:picLocks noChangeAspect="1"/>
          </p:cNvPicPr>
          <p:nvPr/>
        </p:nvPicPr>
        <p:blipFill>
          <a:blip r:embed="rId2"/>
          <a:stretch>
            <a:fillRect/>
          </a:stretch>
        </p:blipFill>
        <p:spPr>
          <a:xfrm>
            <a:off x="6524058" y="1280160"/>
            <a:ext cx="2611896"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9(A–B). Measured paths relative to the authors’ modeled safety zones.</a:t>
            </a:r>
          </a:p>
        </p:txBody>
      </p:sp>
      <p:pic>
        <p:nvPicPr>
          <p:cNvPr id="6" name="Picture 5" descr="e16_f3abcd.png"/>
          <p:cNvPicPr>
            <a:picLocks noChangeAspect="1"/>
          </p:cNvPicPr>
          <p:nvPr/>
        </p:nvPicPr>
        <p:blipFill>
          <a:blip r:embed="rId3"/>
          <a:stretch>
            <a:fillRect/>
          </a:stretch>
        </p:blipFill>
        <p:spPr>
          <a:xfrm>
            <a:off x="9704527" y="2148840"/>
            <a:ext cx="1920239" cy="1523147"/>
          </a:xfrm>
          <a:prstGeom prst="rect">
            <a:avLst/>
          </a:prstGeom>
        </p:spPr>
      </p:pic>
      <p:sp>
        <p:nvSpPr>
          <p:cNvPr id="7" name="Figure caption"/>
          <p:cNvSpPr txBox="1"/>
          <p:nvPr/>
        </p:nvSpPr>
        <p:spPr>
          <a:xfrm>
            <a:off x="9704527" y="3745139"/>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3(A–D). Measured three-dimensional evasive flight trajectories.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Tiger-moth tymbals produce overlapping ultrasonic clicks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1">
                <a:solidFill>
                  <a:srgbClr val="263039"/>
                </a:solidFill>
                <a:latin typeface="Arial"/>
              </a:rPr>
              <a:t>Bertholdia trigona</a:t>
            </a:r>
            <a:r>
              <a:rPr sz="1600" b="0" i="0">
                <a:solidFill>
                  <a:srgbClr val="263039"/>
                </a:solidFill>
                <a:latin typeface="Arial"/>
              </a:rPr>
              <a:t> produces dense ultrasonic clicking in response to attacking bats. Its tymbal has a specialized surface associated with sound production, documented by scanning electron microscopy.</a:t>
            </a:r>
          </a:p>
          <a:p>
            <a:pPr algn="l">
              <a:lnSpc>
                <a:spcPct val="108000"/>
              </a:lnSpc>
              <a:spcAft>
                <a:spcPts val="960"/>
              </a:spcAft>
            </a:pPr>
            <a:r>
              <a:rPr sz="1600" b="0" i="0">
                <a:solidFill>
                  <a:srgbClr val="263039"/>
                </a:solidFill>
                <a:latin typeface="Arial"/>
              </a:rPr>
              <a:t>Corcoran and colleagues compared an example echo from a big brown bat, </a:t>
            </a:r>
            <a:r>
              <a:rPr sz="1600" b="0" i="1">
                <a:solidFill>
                  <a:srgbClr val="263039"/>
                </a:solidFill>
                <a:latin typeface="Arial"/>
              </a:rPr>
              <a:t>Eptesicus fuscus</a:t>
            </a:r>
            <a:r>
              <a:rPr sz="1600" b="0" i="0">
                <a:solidFill>
                  <a:srgbClr val="263039"/>
                </a:solidFill>
                <a:latin typeface="Arial"/>
              </a:rPr>
              <a:t>, with two overlapping moth click cycles. The published acoustic comparison uses signals at estimated levels reaching a bat 1 m from the moth.</a:t>
            </a:r>
          </a:p>
          <a:p>
            <a:pPr algn="l">
              <a:lnSpc>
                <a:spcPct val="108000"/>
              </a:lnSpc>
              <a:spcAft>
                <a:spcPts val="960"/>
              </a:spcAft>
            </a:pPr>
            <a:r>
              <a:rPr sz="1600" b="0" i="0">
                <a:solidFill>
                  <a:srgbClr val="263039"/>
                </a:solidFill>
                <a:latin typeface="Arial"/>
              </a:rPr>
              <a:t>The clicks occupy time and frequency ranges capable of interfering with returning echoes. Sonar jamming means disruption of the bat’s use of echoes for prey localization, rather than simply making the moth audible. Sonar jamming means disruption of the bat's use of echoes for prey localization, and the tymbal is the sound-output organ, distinct from the hearing membrane.</a:t>
            </a:r>
          </a:p>
        </p:txBody>
      </p:sp>
      <p:pic>
        <p:nvPicPr>
          <p:cNvPr id="4" name="Picture 3" descr="j09_f1bc.png"/>
          <p:cNvPicPr>
            <a:picLocks noChangeAspect="1"/>
          </p:cNvPicPr>
          <p:nvPr/>
        </p:nvPicPr>
        <p:blipFill>
          <a:blip r:embed="rId2"/>
          <a:stretch>
            <a:fillRect/>
          </a:stretch>
        </p:blipFill>
        <p:spPr>
          <a:xfrm>
            <a:off x="6910374" y="1280160"/>
            <a:ext cx="3942384"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1(B–C). Published comparison of an example echo and moth clicks.</a:t>
            </a:r>
          </a:p>
        </p:txBody>
      </p:sp>
      <p:pic>
        <p:nvPicPr>
          <p:cNvPr id="6" name="Picture 5" descr="j09_tymbal.png"/>
          <p:cNvPicPr>
            <a:picLocks noChangeAspect="1"/>
          </p:cNvPicPr>
          <p:nvPr/>
        </p:nvPicPr>
        <p:blipFill>
          <a:blip r:embed="rId3"/>
          <a:stretch>
            <a:fillRect/>
          </a:stretch>
        </p:blipFill>
        <p:spPr>
          <a:xfrm>
            <a:off x="8176456" y="4572000"/>
            <a:ext cx="1410220"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1(A). Sound-producing tymbal; scale bar 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Silencing tymbals removes the protection from clicks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Corcoran and colleagues presented tethered moths to trained big brown bats in a flight room while recording attacks with infrared video and ultrasound. Silent palatable moths provided a comparison with clicking </a:t>
            </a:r>
            <a:r>
              <a:rPr sz="1600" b="0" i="1">
                <a:solidFill>
                  <a:srgbClr val="263039"/>
                </a:solidFill>
                <a:latin typeface="Arial"/>
              </a:rPr>
              <a:t>Bertholdia trigona</a:t>
            </a:r>
            <a:r>
              <a:rPr sz="1600" b="0" i="0">
                <a:solidFill>
                  <a:srgbClr val="263039"/>
                </a:solidFill>
                <a:latin typeface="Arial"/>
              </a:rPr>
              <a:t>.</a:t>
            </a:r>
          </a:p>
          <a:p>
            <a:pPr algn="l">
              <a:lnSpc>
                <a:spcPct val="108000"/>
              </a:lnSpc>
              <a:spcAft>
                <a:spcPts val="960"/>
              </a:spcAft>
            </a:pPr>
            <a:r>
              <a:rPr sz="1600" b="0" i="0">
                <a:solidFill>
                  <a:srgbClr val="263039"/>
                </a:solidFill>
                <a:latin typeface="Arial"/>
              </a:rPr>
              <a:t>Bats contacted the silent controls much more frequently than clicking moths. After the sound-producing tymbals were ablated, the bats contacted all presented </a:t>
            </a:r>
            <a:r>
              <a:rPr sz="1600" b="0" i="1">
                <a:solidFill>
                  <a:srgbClr val="263039"/>
                </a:solidFill>
                <a:latin typeface="Arial"/>
              </a:rPr>
              <a:t>B. trigona</a:t>
            </a:r>
            <a:r>
              <a:rPr sz="1600" b="0" i="0">
                <a:solidFill>
                  <a:srgbClr val="263039"/>
                </a:solidFill>
                <a:latin typeface="Arial"/>
              </a:rPr>
              <a:t> in that silenced condition. </a:t>
            </a:r>
            <a:r>
              <a:rPr sz="1600" b="1" i="0">
                <a:solidFill>
                  <a:srgbClr val="384E60"/>
                </a:solidFill>
                <a:latin typeface="Arial"/>
              </a:rPr>
              <a:t>Ablation</a:t>
            </a:r>
            <a:r>
              <a:rPr sz="1600" b="0" i="0">
                <a:solidFill>
                  <a:srgbClr val="263039"/>
                </a:solidFill>
                <a:latin typeface="Arial"/>
              </a:rPr>
              <a:t> means physical removal of the tested structure.</a:t>
            </a:r>
          </a:p>
          <a:p>
            <a:pPr algn="l">
              <a:lnSpc>
                <a:spcPct val="108000"/>
              </a:lnSpc>
              <a:spcAft>
                <a:spcPts val="960"/>
              </a:spcAft>
            </a:pPr>
            <a:r>
              <a:rPr sz="1600" b="0" i="0">
                <a:solidFill>
                  <a:srgbClr val="263039"/>
                </a:solidFill>
                <a:latin typeface="Arial"/>
              </a:rPr>
              <a:t>The intervention links the intact acoustic defense to reduced attack success. It is stronger evidence than observing clicks near a missed capture alone. The same moth species was tested with and without the ability to click, which separates sound production from differences among prey species, and contact with the moth was the measured endpoint of attack success.</a:t>
            </a:r>
          </a:p>
        </p:txBody>
      </p:sp>
      <p:pic>
        <p:nvPicPr>
          <p:cNvPr id="4" name="Picture 3" descr="j09_f2bc.png"/>
          <p:cNvPicPr>
            <a:picLocks noChangeAspect="1"/>
          </p:cNvPicPr>
          <p:nvPr/>
        </p:nvPicPr>
        <p:blipFill>
          <a:blip r:embed="rId2"/>
          <a:stretch>
            <a:fillRect/>
          </a:stretch>
        </p:blipFill>
        <p:spPr>
          <a:xfrm>
            <a:off x="6254356" y="1280160"/>
            <a:ext cx="52544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2(B–C). Observed contact rates and tymbal-silencing control.</a:t>
            </a:r>
          </a:p>
        </p:txBody>
      </p:sp>
      <p:pic>
        <p:nvPicPr>
          <p:cNvPr id="6" name="Picture 5" descr="j09_tymbal.png"/>
          <p:cNvPicPr>
            <a:picLocks noChangeAspect="1"/>
          </p:cNvPicPr>
          <p:nvPr/>
        </p:nvPicPr>
        <p:blipFill>
          <a:blip r:embed="rId3"/>
          <a:stretch>
            <a:fillRect/>
          </a:stretch>
        </p:blipFill>
        <p:spPr>
          <a:xfrm>
            <a:off x="8013739" y="4297680"/>
            <a:ext cx="173565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1(A). Sound-producing tymbal; scale bar 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Persistent protection supports jamming over startle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3039"/>
                </a:solidFill>
                <a:latin typeface="Arial"/>
              </a:rPr>
              <a:t>A startle defense should weaken as a predator becomes accustomed to the sound, whereas a learned warning should change as the predator associates the signal with an unpleasant prey item. These alternatives predict different attack patterns over repeated experience.</a:t>
            </a:r>
          </a:p>
          <a:p>
            <a:pPr algn="l">
              <a:lnSpc>
                <a:spcPct val="108000"/>
              </a:lnSpc>
              <a:spcAft>
                <a:spcPts val="900"/>
              </a:spcAft>
            </a:pPr>
            <a:r>
              <a:rPr sz="1500" b="0" i="0">
                <a:solidFill>
                  <a:srgbClr val="263039"/>
                </a:solidFill>
                <a:latin typeface="Arial"/>
              </a:rPr>
              <a:t>In Corcoran and colleagues’ experiment, protection from </a:t>
            </a:r>
            <a:r>
              <a:rPr sz="1500" b="0" i="1">
                <a:solidFill>
                  <a:srgbClr val="263039"/>
                </a:solidFill>
                <a:latin typeface="Arial"/>
              </a:rPr>
              <a:t>Bertholdia trigona</a:t>
            </a:r>
            <a:r>
              <a:rPr sz="1500" b="0" i="0">
                <a:solidFill>
                  <a:srgbClr val="263039"/>
                </a:solidFill>
                <a:latin typeface="Arial"/>
              </a:rPr>
              <a:t> clicks appeared immediately and persisted over successive nights. Bats that ate the moths still had difficulty contacting clicking individuals, and attacks often continued after the sound began.</a:t>
            </a:r>
          </a:p>
          <a:p>
            <a:pPr algn="l">
              <a:lnSpc>
                <a:spcPct val="108000"/>
              </a:lnSpc>
              <a:spcAft>
                <a:spcPts val="900"/>
              </a:spcAft>
            </a:pPr>
            <a:r>
              <a:rPr sz="1500" b="0" i="0">
                <a:solidFill>
                  <a:srgbClr val="263039"/>
                </a:solidFill>
                <a:latin typeface="Arial"/>
              </a:rPr>
              <a:t>The pattern supports sonar interference over a purely transient startle effect or learned rejection of distasteful prey. Individual bats differed in palatability responses, so the strongest interpretation concerns those that consumed the moths. The investigators included juvenile bats without prior experience of clicking prey and an experienced adult, and more than one defensive function can coexist, so the persistent protection supports jamming without excluding a warning or startle function.</a:t>
            </a:r>
          </a:p>
        </p:txBody>
      </p:sp>
      <p:pic>
        <p:nvPicPr>
          <p:cNvPr id="4" name="Picture 3" descr="j09_f2bc.png"/>
          <p:cNvPicPr>
            <a:picLocks noChangeAspect="1"/>
          </p:cNvPicPr>
          <p:nvPr/>
        </p:nvPicPr>
        <p:blipFill>
          <a:blip r:embed="rId2"/>
          <a:stretch>
            <a:fillRect/>
          </a:stretch>
        </p:blipFill>
        <p:spPr>
          <a:xfrm>
            <a:off x="6351660" y="1280160"/>
            <a:ext cx="5059812"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2(B–C). Observed contact rates and tymbal-silencing control.</a:t>
            </a:r>
          </a:p>
        </p:txBody>
      </p:sp>
      <p:pic>
        <p:nvPicPr>
          <p:cNvPr id="6" name="Picture 5" descr="j09_f3.png"/>
          <p:cNvPicPr>
            <a:picLocks noChangeAspect="1"/>
          </p:cNvPicPr>
          <p:nvPr/>
        </p:nvPicPr>
        <p:blipFill>
          <a:blip r:embed="rId3"/>
          <a:stretch>
            <a:fillRect/>
          </a:stretch>
        </p:blipFill>
        <p:spPr>
          <a:xfrm>
            <a:off x="7920295" y="4206240"/>
            <a:ext cx="1922543"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3(A–B). Echolocation timing during an attack on a clicking moth.</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Moth clicks disrupt the progression of an attack</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3039"/>
                </a:solidFill>
                <a:latin typeface="Arial"/>
              </a:rPr>
              <a:t>Big brown bats attacking silent control moths normally progressed through approach, tracking and terminal echolocation stages. Corcoran and colleagues recorded a different temporal pattern during some attacks on clicking </a:t>
            </a:r>
            <a:r>
              <a:rPr sz="1500" b="0" i="1">
                <a:solidFill>
                  <a:srgbClr val="263039"/>
                </a:solidFill>
                <a:latin typeface="Arial"/>
              </a:rPr>
              <a:t>Bertholdia trigona</a:t>
            </a:r>
            <a:r>
              <a:rPr sz="1500" b="0" i="0">
                <a:solidFill>
                  <a:srgbClr val="263039"/>
                </a:solidFill>
                <a:latin typeface="Arial"/>
              </a:rPr>
              <a:t>.</a:t>
            </a:r>
          </a:p>
          <a:p>
            <a:pPr algn="l">
              <a:lnSpc>
                <a:spcPct val="108000"/>
              </a:lnSpc>
              <a:spcAft>
                <a:spcPts val="900"/>
              </a:spcAft>
            </a:pPr>
            <a:r>
              <a:rPr sz="1500" b="0" i="0">
                <a:solidFill>
                  <a:srgbClr val="263039"/>
                </a:solidFill>
                <a:latin typeface="Arial"/>
              </a:rPr>
              <a:t>After moth clicks began, bats sometimes lengthened their pulse intervals and returned to an earlier attack stage before continuing pursuit. Such reversals occurred in roughly one third of the clicking-moth attacks and persisted with experience.</a:t>
            </a:r>
          </a:p>
          <a:p>
            <a:pPr algn="l">
              <a:lnSpc>
                <a:spcPct val="108000"/>
              </a:lnSpc>
              <a:spcAft>
                <a:spcPts val="900"/>
              </a:spcAft>
            </a:pPr>
            <a:r>
              <a:rPr sz="1500" b="0" i="0">
                <a:solidFill>
                  <a:srgbClr val="263039"/>
                </a:solidFill>
                <a:latin typeface="Arial"/>
              </a:rPr>
              <a:t>The acoustic record links interference with disrupted hunting progression rather than simple abandonment whenever a click is heard. It complements the tymbal-silencing and repeated-exposure controls. The spectrogram records frequency against time and the interval plot records the spacing between emitted bat calls, with the timing of the moth clicks retained separately, so a change in call progression is an observed predator response.</a:t>
            </a:r>
          </a:p>
        </p:txBody>
      </p:sp>
      <p:pic>
        <p:nvPicPr>
          <p:cNvPr id="4" name="Picture 3" descr="j09_f3.png"/>
          <p:cNvPicPr>
            <a:picLocks noChangeAspect="1"/>
          </p:cNvPicPr>
          <p:nvPr/>
        </p:nvPicPr>
        <p:blipFill>
          <a:blip r:embed="rId2"/>
          <a:stretch>
            <a:fillRect/>
          </a:stretch>
        </p:blipFill>
        <p:spPr>
          <a:xfrm>
            <a:off x="6223933" y="1280160"/>
            <a:ext cx="5315266"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3(A–B). Echolocation timing during an attack on a clicking moth.</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Hearing measurements constrain claims about escape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3039"/>
                </a:solidFill>
                <a:latin typeface="Arial"/>
              </a:rPr>
              <a:t>Sound reception, neural coding and defensive behavior are distinct experimental outcomes. Wax-moth recordings established spikes to 300-kHz stimulation, but did not establish evasive flight at that frequency.</a:t>
            </a:r>
          </a:p>
          <a:p>
            <a:pPr algn="l">
              <a:lnSpc>
                <a:spcPct val="108000"/>
              </a:lnSpc>
              <a:spcAft>
                <a:spcPts val="900"/>
              </a:spcAft>
            </a:pPr>
            <a:r>
              <a:rPr sz="1500" b="0" i="0">
                <a:solidFill>
                  <a:srgbClr val="263039"/>
                </a:solidFill>
                <a:latin typeface="Arial"/>
              </a:rPr>
              <a:t>In noctuid moths, a short-pulse A1 plateau established limited intensity coding through spike count despite a clear auditory response. A receptor can therefore register the presence of sound without continuously reporting every change in its amplitude.</a:t>
            </a:r>
          </a:p>
          <a:p>
            <a:pPr algn="l">
              <a:lnSpc>
                <a:spcPct val="108000"/>
              </a:lnSpc>
              <a:spcAft>
                <a:spcPts val="900"/>
              </a:spcAft>
            </a:pPr>
            <a:r>
              <a:rPr sz="1500" b="0" i="0">
                <a:solidFill>
                  <a:srgbClr val="263039"/>
                </a:solidFill>
                <a:latin typeface="Arial"/>
              </a:rPr>
              <a:t>Connecting those signals to behavior requires central recordings and interventions, as well as measurements of the actual escape or clicking response. Roeder’s pulse-marker observations and the later flight and tymbal experiments address different links in that chain. Together, the receptor measurements, the central recordings and the behavioral and ablation experiments support a sensory defense, with each experiment addressing one link between the sound and the moth's response.</a:t>
            </a:r>
          </a:p>
        </p:txBody>
      </p:sp>
      <p:pic>
        <p:nvPicPr>
          <p:cNvPr id="4" name="Picture 3" descr="h13_f2.png"/>
          <p:cNvPicPr>
            <a:picLocks noChangeAspect="1"/>
          </p:cNvPicPr>
          <p:nvPr/>
        </p:nvPicPr>
        <p:blipFill>
          <a:blip r:embed="rId2"/>
          <a:stretch>
            <a:fillRect/>
          </a:stretch>
        </p:blipFill>
        <p:spPr>
          <a:xfrm>
            <a:off x="6138367" y="1280160"/>
            <a:ext cx="2834640" cy="3159854"/>
          </a:xfrm>
          <a:prstGeom prst="rect">
            <a:avLst/>
          </a:prstGeom>
        </p:spPr>
      </p:pic>
      <p:sp>
        <p:nvSpPr>
          <p:cNvPr id="5" name="Figure caption"/>
          <p:cNvSpPr txBox="1"/>
          <p:nvPr/>
        </p:nvSpPr>
        <p:spPr>
          <a:xfrm>
            <a:off x="6138367" y="4531454"/>
            <a:ext cx="283464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2(a–d). Auditory spikes at 80, 280 and 300 kHz.</a:t>
            </a:r>
          </a:p>
        </p:txBody>
      </p:sp>
      <p:pic>
        <p:nvPicPr>
          <p:cNvPr id="6" name="Picture 5" descr="g18_f3a.png"/>
          <p:cNvPicPr>
            <a:picLocks noChangeAspect="1"/>
          </p:cNvPicPr>
          <p:nvPr/>
        </p:nvPicPr>
        <p:blipFill>
          <a:blip r:embed="rId3"/>
          <a:stretch>
            <a:fillRect/>
          </a:stretch>
        </p:blipFill>
        <p:spPr>
          <a:xfrm>
            <a:off x="9155887" y="2148840"/>
            <a:ext cx="2468880" cy="1279740"/>
          </a:xfrm>
          <a:prstGeom prst="rect">
            <a:avLst/>
          </a:prstGeom>
        </p:spPr>
      </p:pic>
      <p:sp>
        <p:nvSpPr>
          <p:cNvPr id="7" name="Figure caption"/>
          <p:cNvSpPr txBox="1"/>
          <p:nvPr/>
        </p:nvSpPr>
        <p:spPr>
          <a:xfrm>
            <a:off x="9155887" y="3501732"/>
            <a:ext cx="246887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3(A). A1 saturation before A2 recruitment in Raphia frater.</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Moir et al. (2013); Gordon &amp; ter Hofstede (2018); Roeder (1966); Corcoran &amp; Conner (2016); 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Key takeaways</a:t>
            </a:r>
          </a:p>
        </p:txBody>
      </p:sp>
      <p:sp>
        <p:nvSpPr>
          <p:cNvPr id="3" name="Rectangle 2"/>
          <p:cNvSpPr/>
          <p:nvPr/>
        </p:nvSpPr>
        <p:spPr>
          <a:xfrm>
            <a:off x="566928" y="1234440"/>
            <a:ext cx="5391759" cy="1478279"/>
          </a:xfrm>
          <a:prstGeom prst="rect">
            <a:avLst/>
          </a:prstGeom>
          <a:solidFill>
            <a:srgbClr val="F0F4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Mechanical coupling:</a:t>
            </a:r>
            <a:r>
              <a:rPr sz="1600" b="0" i="0">
                <a:solidFill>
                  <a:srgbClr val="263039"/>
                </a:solidFill>
                <a:latin typeface="Arial"/>
              </a:rPr>
              <a:t> Tympanic displacement drives receptor excitation; in the measured noctuid preparation, A1 and A2 differ substantially in displacement threshold.</a:t>
            </a:r>
          </a:p>
        </p:txBody>
      </p:sp>
      <p:sp>
        <p:nvSpPr>
          <p:cNvPr id="5" name="Rectangle 4"/>
          <p:cNvSpPr/>
          <p:nvPr/>
        </p:nvSpPr>
        <p:spPr>
          <a:xfrm>
            <a:off x="6233007" y="1234440"/>
            <a:ext cx="5391759" cy="1478279"/>
          </a:xfrm>
          <a:prstGeom prst="rect">
            <a:avLst/>
          </a:prstGeom>
          <a:solidFill>
            <a:srgbClr val="F0F4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Range and timing:</a:t>
            </a:r>
            <a:r>
              <a:rPr sz="1500" b="0" i="0">
                <a:solidFill>
                  <a:srgbClr val="263039"/>
                </a:solidFill>
                <a:latin typeface="Arial"/>
              </a:rPr>
              <a:t> A1 is more sensitive than A2, but short calls can saturate A1 before A2 recruitment. Pulse duration and repetition influence the information reaching central neurons.</a:t>
            </a:r>
          </a:p>
        </p:txBody>
      </p:sp>
      <p:sp>
        <p:nvSpPr>
          <p:cNvPr id="7" name="Rectangle 6"/>
          <p:cNvSpPr/>
          <p:nvPr/>
        </p:nvSpPr>
        <p:spPr>
          <a:xfrm>
            <a:off x="566928" y="2987040"/>
            <a:ext cx="5391759" cy="1478279"/>
          </a:xfrm>
          <a:prstGeom prst="rect">
            <a:avLst/>
          </a:prstGeom>
          <a:solidFill>
            <a:srgbClr val="F0F4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Central transformation:</a:t>
            </a:r>
            <a:r>
              <a:rPr sz="1500" b="0" i="0">
                <a:solidFill>
                  <a:srgbClr val="263039"/>
                </a:solidFill>
                <a:latin typeface="Arial"/>
              </a:rPr>
              <a:t> Repeaters preserve much of an afferent burst, whereas pulse-marker units select event timing. Their transmitters and complete causal escape circuit were not established by the extracellular recordings.</a:t>
            </a:r>
          </a:p>
        </p:txBody>
      </p:sp>
      <p:sp>
        <p:nvSpPr>
          <p:cNvPr id="9" name="Rectangle 8"/>
          <p:cNvSpPr/>
          <p:nvPr/>
        </p:nvSpPr>
        <p:spPr>
          <a:xfrm>
            <a:off x="6233007" y="2987040"/>
            <a:ext cx="5391759" cy="1478279"/>
          </a:xfrm>
          <a:prstGeom prst="rect">
            <a:avLst/>
          </a:prstGeom>
          <a:solidFill>
            <a:srgbClr val="F0F4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Escape geometry:</a:t>
            </a:r>
            <a:r>
              <a:rPr sz="1500" b="0" i="0">
                <a:solidFill>
                  <a:srgbClr val="263039"/>
                </a:solidFill>
                <a:latin typeface="Arial"/>
              </a:rPr>
              <a:t> Moths can survive faster bats through sharply timed turns and trajectories toward the predator’s flanks. Radial acceleration and escape angle predict outcomes better than speed alone.</a:t>
            </a:r>
          </a:p>
        </p:txBody>
      </p:sp>
      <p:sp>
        <p:nvSpPr>
          <p:cNvPr id="11" name="Rectangle 10"/>
          <p:cNvSpPr/>
          <p:nvPr/>
        </p:nvSpPr>
        <p:spPr>
          <a:xfrm>
            <a:off x="566928" y="4739640"/>
            <a:ext cx="5391759" cy="1478279"/>
          </a:xfrm>
          <a:prstGeom prst="rect">
            <a:avLst/>
          </a:prstGeom>
          <a:solidFill>
            <a:srgbClr val="F0F4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Acoustic defense:</a:t>
            </a:r>
            <a:r>
              <a:rPr sz="1600" b="0" i="0">
                <a:solidFill>
                  <a:srgbClr val="263039"/>
                </a:solidFill>
                <a:latin typeface="Arial"/>
              </a:rPr>
              <a:t> Tiger-moth clicks can jam bat sonar. Sound-organ silencing and persistent protection across repeated attacks provide causal and comparative evidence for this defense.</a:t>
            </a:r>
          </a:p>
        </p:txBody>
      </p:sp>
      <p:sp>
        <p:nvSpPr>
          <p:cNvPr id="13" name="Rectangle 12"/>
          <p:cNvSpPr/>
          <p:nvPr/>
        </p:nvSpPr>
        <p:spPr>
          <a:xfrm>
            <a:off x="6233007" y="4739640"/>
            <a:ext cx="5391759" cy="1478279"/>
          </a:xfrm>
          <a:prstGeom prst="rect">
            <a:avLst/>
          </a:prstGeom>
          <a:solidFill>
            <a:srgbClr val="F0F4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Evidence limits:</a:t>
            </a:r>
            <a:r>
              <a:rPr sz="1500" b="0" i="0">
                <a:solidFill>
                  <a:srgbClr val="263039"/>
                </a:solidFill>
                <a:latin typeface="Arial"/>
              </a:rPr>
              <a:t> Hearing a sound, encoding its intensity and executing escape are different outcomes. A neural threshold or a model prediction alone does not prove the corresponding defensive behavior.</a:t>
            </a:r>
          </a:p>
        </p:txBody>
      </p:sp>
      <p:sp>
        <p:nvSpPr>
          <p:cNvPr id="15" name="Rectangle 14"/>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Gordon &amp; ter Hofstede (2018); Roeder (1966); Corcoran &amp; Conner (2016); Corcoran et al. (2009)</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Three defenses make different predictions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3039"/>
                </a:solidFill>
                <a:latin typeface="Arial"/>
              </a:rPr>
              <a:t>A startle defense should weaken as a predator becomes accustomed to the sound. A learned warning should change as the predator associates the signal with an unpleasant prey item, and sonar jamming should keep working because it interferes with the echoes that the bat uses to find the prey.</a:t>
            </a:r>
          </a:p>
          <a:p>
            <a:pPr algn="l">
              <a:lnSpc>
                <a:spcPct val="108000"/>
              </a:lnSpc>
              <a:spcAft>
                <a:spcPts val="900"/>
              </a:spcAft>
            </a:pPr>
            <a:r>
              <a:rPr sz="1500" b="0" i="0">
                <a:solidFill>
                  <a:srgbClr val="263039"/>
                </a:solidFill>
                <a:latin typeface="Arial"/>
              </a:rPr>
              <a:t>These alternatives predict different attack patterns over repeated experience. In Corcoran and colleagues' experiment, protection from Bertholdia trigona clicks appeared immediately and persisted over successive nights, and bats that had eaten the moths still had difficulty contacting clicking individuals.</a:t>
            </a:r>
          </a:p>
          <a:p>
            <a:pPr algn="l">
              <a:lnSpc>
                <a:spcPct val="108000"/>
              </a:lnSpc>
              <a:spcAft>
                <a:spcPts val="900"/>
              </a:spcAft>
            </a:pPr>
            <a:r>
              <a:rPr sz="1500" b="0" i="0">
                <a:solidFill>
                  <a:srgbClr val="263039"/>
                </a:solidFill>
                <a:latin typeface="Arial"/>
              </a:rPr>
              <a:t>Attacks often continued after the sound began. The experiment included juvenile bats without prior experience of clicking prey and an experienced adult, which allows the persistence of protection to be compared across experience levels, and more than one defensive function can coexist.</a:t>
            </a:r>
          </a:p>
        </p:txBody>
      </p:sp>
      <p:pic>
        <p:nvPicPr>
          <p:cNvPr id="4" name="Picture 3" descr="j09_f2bc.png"/>
          <p:cNvPicPr>
            <a:picLocks noChangeAspect="1"/>
          </p:cNvPicPr>
          <p:nvPr/>
        </p:nvPicPr>
        <p:blipFill>
          <a:blip r:embed="rId2"/>
          <a:stretch>
            <a:fillRect/>
          </a:stretch>
        </p:blipFill>
        <p:spPr>
          <a:xfrm>
            <a:off x="6351660" y="1280160"/>
            <a:ext cx="5059812"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2(B–C). Observed contact rates and tymbal-silencing control.</a:t>
            </a:r>
          </a:p>
        </p:txBody>
      </p:sp>
      <p:pic>
        <p:nvPicPr>
          <p:cNvPr id="6" name="Picture 5" descr="j09_f3.png"/>
          <p:cNvPicPr>
            <a:picLocks noChangeAspect="1"/>
          </p:cNvPicPr>
          <p:nvPr/>
        </p:nvPicPr>
        <p:blipFill>
          <a:blip r:embed="rId3"/>
          <a:stretch>
            <a:fillRect/>
          </a:stretch>
        </p:blipFill>
        <p:spPr>
          <a:xfrm>
            <a:off x="7920295" y="4206240"/>
            <a:ext cx="1922543"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3(A–B). Echolocation timing during an attack on a clicking moth.</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43a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Maximum speed does not decide a pursuit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450" b="0" i="0">
                <a:solidFill>
                  <a:srgbClr val="263039"/>
                </a:solidFill>
                <a:latin typeface="Arial"/>
              </a:rPr>
              <a:t>A chase can be compared by the maximum speed, acceleration and turning performance that each animal reaches. Corcoran and Conner found that bats exceeded evasive moths in speed and in several acceleration measures, with tighter minimum turn radii and greater peak turning performance, yet many evasive moths escaped.</a:t>
            </a:r>
          </a:p>
          <a:p>
            <a:pPr algn="l">
              <a:lnSpc>
                <a:spcPct val="108000"/>
              </a:lnSpc>
              <a:spcAft>
                <a:spcPts val="1019"/>
              </a:spcAft>
            </a:pPr>
            <a:r>
              <a:rPr sz="1450" b="0" i="0">
                <a:solidFill>
                  <a:srgbClr val="263039"/>
                </a:solidFill>
                <a:latin typeface="Arial"/>
              </a:rPr>
              <a:t>Peak performance is the strongest measured movement during an encounter, and it need not occur at the same moment in predator and prey. A bat capable of a superior maximum can still be unable to follow a specific sudden turn at the required moment.</a:t>
            </a:r>
          </a:p>
          <a:p>
            <a:pPr algn="l">
              <a:lnSpc>
                <a:spcPct val="108000"/>
              </a:lnSpc>
              <a:spcAft>
                <a:spcPts val="1019"/>
              </a:spcAft>
            </a:pPr>
            <a:r>
              <a:rPr sz="1450" b="0" i="0">
                <a:solidFill>
                  <a:srgbClr val="263039"/>
                </a:solidFill>
                <a:latin typeface="Arial"/>
              </a:rPr>
              <a:t>Radial acceleration describes the change in velocity direction during a curved turn, so a tighter turn at a given speed requires greater radial acceleration. Moth radial acceleration increased with turn speed, whereas bat radial acceleration was much less dependent on turn speed in the measured range, so a moth can exploit the timing and geometry of a maneuver instead of outrunning the bat.</a:t>
            </a:r>
          </a:p>
        </p:txBody>
      </p:sp>
      <p:pic>
        <p:nvPicPr>
          <p:cNvPr id="4" name="Picture 3" descr="e16_f5.png"/>
          <p:cNvPicPr>
            <a:picLocks noChangeAspect="1"/>
          </p:cNvPicPr>
          <p:nvPr/>
        </p:nvPicPr>
        <p:blipFill>
          <a:blip r:embed="rId2"/>
          <a:stretch>
            <a:fillRect/>
          </a:stretch>
        </p:blipFill>
        <p:spPr>
          <a:xfrm>
            <a:off x="6138367" y="1280160"/>
            <a:ext cx="5486400" cy="3191410"/>
          </a:xfrm>
          <a:prstGeom prst="rect">
            <a:avLst/>
          </a:prstGeom>
        </p:spPr>
      </p:pic>
      <p:sp>
        <p:nvSpPr>
          <p:cNvPr id="5" name="Figure caption"/>
          <p:cNvSpPr txBox="1"/>
          <p:nvPr/>
        </p:nvSpPr>
        <p:spPr>
          <a:xfrm>
            <a:off x="6138367" y="456301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5. Bat and moth flight performance.</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37a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Spike count and interspike interval are separate codes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 neuron can signal stimulus intensity with its spike count, the number of spikes per pulse, or with the timing of those spikes. An interspike interval is the time between successive action potentials, and the same number of spikes can be distributed differently in time.</a:t>
            </a:r>
          </a:p>
          <a:p>
            <a:pPr algn="l">
              <a:lnSpc>
                <a:spcPct val="108000"/>
              </a:lnSpc>
              <a:spcAft>
                <a:spcPts val="960"/>
              </a:spcAft>
            </a:pPr>
            <a:r>
              <a:rPr sz="1600" b="0" i="0">
                <a:solidFill>
                  <a:srgbClr val="263039"/>
                </a:solidFill>
                <a:latin typeface="Arial"/>
              </a:rPr>
              <a:t>Gordon and ter Hofstede examined A1 intervals within the saturation range for short pulses, where the spike count stayed nearly constant. Apart from a larger interval at the lowest sampled amplitude, the first interval and the mean of the initial intervals changed little as sound level increased.</a:t>
            </a:r>
          </a:p>
          <a:p>
            <a:pPr algn="l">
              <a:lnSpc>
                <a:spcPct val="108000"/>
              </a:lnSpc>
              <a:spcAft>
                <a:spcPts val="960"/>
              </a:spcAft>
            </a:pPr>
            <a:r>
              <a:rPr sz="1600" b="0" i="0">
                <a:solidFill>
                  <a:srgbClr val="263039"/>
                </a:solidFill>
                <a:latin typeface="Arial"/>
              </a:rPr>
              <a:t>Interval timing therefore did not provide a continuous intensity code within that range. A reliable short interval can still identify a burst as a meaningful acoustic event, in contrast with spontaneous isolated spikes or the adapted response to a tone.</a:t>
            </a:r>
          </a:p>
        </p:txBody>
      </p:sp>
      <p:pic>
        <p:nvPicPr>
          <p:cNvPr id="4" name="Picture 3" descr="g18_f4.png"/>
          <p:cNvPicPr>
            <a:picLocks noChangeAspect="1"/>
          </p:cNvPicPr>
          <p:nvPr/>
        </p:nvPicPr>
        <p:blipFill>
          <a:blip r:embed="rId2"/>
          <a:stretch>
            <a:fillRect/>
          </a:stretch>
        </p:blipFill>
        <p:spPr>
          <a:xfrm>
            <a:off x="6138367" y="1280160"/>
            <a:ext cx="3383280" cy="3485803"/>
          </a:xfrm>
          <a:prstGeom prst="rect">
            <a:avLst/>
          </a:prstGeom>
        </p:spPr>
      </p:pic>
      <p:sp>
        <p:nvSpPr>
          <p:cNvPr id="5" name="Figure caption"/>
          <p:cNvSpPr txBox="1"/>
          <p:nvPr/>
        </p:nvSpPr>
        <p:spPr>
          <a:xfrm>
            <a:off x="6138367" y="4857403"/>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4. Interspike intervals within the saturation range.</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30a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Temporal summation reduces a burst to one event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0" i="0">
                <a:solidFill>
                  <a:srgbClr val="263039"/>
                </a:solidFill>
                <a:latin typeface="Arial"/>
              </a:rPr>
              <a:t>Temporal summation is the accumulation of excitation from closely spaced inputs. A neuron whose firing threshold needs several nearby inputs responds to a burst of afferent spikes and ignores isolated spikes.</a:t>
            </a:r>
          </a:p>
          <a:p>
            <a:pPr algn="l">
              <a:lnSpc>
                <a:spcPct val="108000"/>
              </a:lnSpc>
              <a:spcAft>
                <a:spcPts val="960"/>
              </a:spcAft>
            </a:pPr>
            <a:r>
              <a:rPr sz="1550" b="0" i="0">
                <a:solidFill>
                  <a:srgbClr val="263039"/>
                </a:solidFill>
                <a:latin typeface="Arial"/>
              </a:rPr>
              <a:t>Roeder's pulse-marker neuron usually generated one spike after an A1 burst, even when the burst contained several spikes. Its response was associated with groups of three or four A1 impulses at intervals near 2 ms or less, and for brief periods the unit could follow sound pulses repeated up to 40 times per second.</a:t>
            </a:r>
          </a:p>
          <a:p>
            <a:pPr algn="l">
              <a:lnSpc>
                <a:spcPct val="108000"/>
              </a:lnSpc>
              <a:spcAft>
                <a:spcPts val="960"/>
              </a:spcAft>
            </a:pPr>
            <a:r>
              <a:rPr sz="1550" b="0" i="0">
                <a:solidFill>
                  <a:srgbClr val="263039"/>
                </a:solidFill>
                <a:latin typeface="Arial"/>
              </a:rPr>
              <a:t>The unit retains the occurrence of an acoustic event while discarding the detailed duration information of the burst, and that information may still exist in parallel pathways. A long continuous A1 train often generated only one central spike, and recovery depended on a preceding interval with reduced afferent activity.</a:t>
            </a:r>
          </a:p>
        </p:txBody>
      </p:sp>
      <p:pic>
        <p:nvPicPr>
          <p:cNvPr id="4" name="Picture 3" descr="r66_f6ab.png"/>
          <p:cNvPicPr>
            <a:picLocks noChangeAspect="1"/>
          </p:cNvPicPr>
          <p:nvPr/>
        </p:nvPicPr>
        <p:blipFill>
          <a:blip r:embed="rId2"/>
          <a:stretch>
            <a:fillRect/>
          </a:stretch>
        </p:blipFill>
        <p:spPr>
          <a:xfrm>
            <a:off x="7363287" y="1280160"/>
            <a:ext cx="3036559" cy="2103120"/>
          </a:xfrm>
          <a:prstGeom prst="rect">
            <a:avLst/>
          </a:prstGeom>
        </p:spPr>
      </p:pic>
      <p:sp>
        <p:nvSpPr>
          <p:cNvPr id="5" name="Figure caption"/>
          <p:cNvSpPr txBox="1"/>
          <p:nvPr/>
        </p:nvSpPr>
        <p:spPr>
          <a:xfrm>
            <a:off x="6138367" y="34747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6(A). Afferent bursts and pulse-marker spikes.</a:t>
            </a:r>
          </a:p>
        </p:txBody>
      </p:sp>
      <p:pic>
        <p:nvPicPr>
          <p:cNvPr id="6" name="Picture 5" descr="r66_f8.png"/>
          <p:cNvPicPr>
            <a:picLocks noChangeAspect="1"/>
          </p:cNvPicPr>
          <p:nvPr/>
        </p:nvPicPr>
        <p:blipFill>
          <a:blip r:embed="rId3"/>
          <a:stretch>
            <a:fillRect/>
          </a:stretch>
        </p:blipFill>
        <p:spPr>
          <a:xfrm>
            <a:off x="7516192" y="3931920"/>
            <a:ext cx="2730749" cy="182880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8(A–C). Recorded afferent, relay and integrator locations.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25a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Summation and comparison are different operations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Bilateral summation combines input from the two ears and responds more when both are stimulated. A directional comparison instead depends on the difference between the two sides, so the output changes with which side receives the stronger signal.</a:t>
            </a:r>
          </a:p>
          <a:p>
            <a:pPr algn="l">
              <a:lnSpc>
                <a:spcPct val="108000"/>
              </a:lnSpc>
              <a:spcAft>
                <a:spcPts val="960"/>
              </a:spcAft>
            </a:pPr>
            <a:r>
              <a:rPr sz="1600" b="0" i="0">
                <a:solidFill>
                  <a:srgbClr val="263039"/>
                </a:solidFill>
                <a:latin typeface="Arial"/>
              </a:rPr>
              <a:t>Roeder presented matched 5-ms ultrasonic pulses to the right ear, the left ear or both. A summating unit near the ganglion midline produced a larger discharge with simultaneous stimulation, resembling the response evoked by stronger stimulation of one ear alone.</a:t>
            </a:r>
          </a:p>
          <a:p>
            <a:pPr algn="l">
              <a:lnSpc>
                <a:spcPct val="108000"/>
              </a:lnSpc>
              <a:spcAft>
                <a:spcPts val="960"/>
              </a:spcAft>
            </a:pPr>
            <a:r>
              <a:rPr sz="1600" b="0" i="0">
                <a:solidFill>
                  <a:srgbClr val="263039"/>
                </a:solidFill>
                <a:latin typeface="Arial"/>
              </a:rPr>
              <a:t>Such a unit encodes overall input strength and need not specify whether the source lies to the left or the right. Steering requires a relationship between side-specific information and motor output, and Roeder distinguished the observed summation from the still-undiscovered mechanism hypothesized to steer avoidance.</a:t>
            </a:r>
          </a:p>
        </p:txBody>
      </p:sp>
      <p:pic>
        <p:nvPicPr>
          <p:cNvPr id="4" name="Picture 3" descr="r66_f7c.png"/>
          <p:cNvPicPr>
            <a:picLocks noChangeAspect="1"/>
          </p:cNvPicPr>
          <p:nvPr/>
        </p:nvPicPr>
        <p:blipFill>
          <a:blip r:embed="rId2"/>
          <a:stretch>
            <a:fillRect/>
          </a:stretch>
        </p:blipFill>
        <p:spPr>
          <a:xfrm>
            <a:off x="7148037" y="1280160"/>
            <a:ext cx="3467060" cy="2331720"/>
          </a:xfrm>
          <a:prstGeom prst="rect">
            <a:avLst/>
          </a:prstGeom>
        </p:spPr>
      </p:pic>
      <p:sp>
        <p:nvSpPr>
          <p:cNvPr id="5" name="Figure caption"/>
          <p:cNvSpPr txBox="1"/>
          <p:nvPr/>
        </p:nvSpPr>
        <p:spPr>
          <a:xfrm>
            <a:off x="6138367" y="37033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7(C). Responses to separate and simultaneous ear stimulation.</a:t>
            </a:r>
          </a:p>
        </p:txBody>
      </p:sp>
      <p:pic>
        <p:nvPicPr>
          <p:cNvPr id="6" name="Picture 5" descr="r66_f1.png"/>
          <p:cNvPicPr>
            <a:picLocks noChangeAspect="1"/>
          </p:cNvPicPr>
          <p:nvPr/>
        </p:nvPicPr>
        <p:blipFill>
          <a:blip r:embed="rId3"/>
          <a:stretch>
            <a:fillRect/>
          </a:stretch>
        </p:blipFill>
        <p:spPr>
          <a:xfrm>
            <a:off x="7791333" y="4160520"/>
            <a:ext cx="2180467" cy="160020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1(A–B). Thoracic ganglia and recording coordinates.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24a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Spike count and pulse effectiveness are different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0" i="0">
                <a:solidFill>
                  <a:srgbClr val="263039"/>
                </a:solidFill>
                <a:latin typeface="Arial"/>
              </a:rPr>
              <a:t>Total spike count is a simple measure of the afferent signal, and effectiveness is a behavioral measure of how often a sound makes a moth turn away. The two measures agree only if more spikes make a sound more effective.</a:t>
            </a:r>
          </a:p>
          <a:p>
            <a:pPr algn="l">
              <a:lnSpc>
                <a:spcPct val="108000"/>
              </a:lnSpc>
              <a:spcAft>
                <a:spcPts val="960"/>
              </a:spcAft>
            </a:pPr>
            <a:r>
              <a:rPr sz="1550" b="0" i="0">
                <a:solidFill>
                  <a:srgbClr val="263039"/>
                </a:solidFill>
                <a:latin typeface="Arial"/>
              </a:rPr>
              <a:t>Roeder compared free-flight behavior during 60-kHz pulses, 3-ms pulses repeated 30 times per second, with a continuous tone of the same frequency and amplitude. Turning away occurred much more often with pulses, whereas tones elicited more total A1 spikes during a matched recording interval.</a:t>
            </a:r>
          </a:p>
          <a:p>
            <a:pPr algn="l">
              <a:lnSpc>
                <a:spcPct val="108000"/>
              </a:lnSpc>
              <a:spcAft>
                <a:spcPts val="960"/>
              </a:spcAft>
            </a:pPr>
            <a:r>
              <a:rPr sz="1550" b="0" i="0">
                <a:solidFill>
                  <a:srgbClr val="263039"/>
                </a:solidFill>
                <a:latin typeface="Arial"/>
              </a:rPr>
              <a:t>Tones produced longer spike trains but adapted more rapidly, and pulses repeatedly generated short-interval bursts. Total afferent spike count is therefore insufficient to explain behavioral effectiveness, and the results indicate sensitivity to the temporal organization of the sound.</a:t>
            </a:r>
          </a:p>
        </p:txBody>
      </p:sp>
      <p:pic>
        <p:nvPicPr>
          <p:cNvPr id="4" name="Picture 3" descr="r64_f4.png"/>
          <p:cNvPicPr>
            <a:picLocks noChangeAspect="1"/>
          </p:cNvPicPr>
          <p:nvPr/>
        </p:nvPicPr>
        <p:blipFill>
          <a:blip r:embed="rId2"/>
          <a:stretch>
            <a:fillRect/>
          </a:stretch>
        </p:blipFill>
        <p:spPr>
          <a:xfrm>
            <a:off x="7366275" y="1280160"/>
            <a:ext cx="3030582" cy="2423160"/>
          </a:xfrm>
          <a:prstGeom prst="rect">
            <a:avLst/>
          </a:prstGeom>
        </p:spPr>
      </p:pic>
      <p:sp>
        <p:nvSpPr>
          <p:cNvPr id="5" name="Figure caption"/>
          <p:cNvSpPr txBox="1"/>
          <p:nvPr/>
        </p:nvSpPr>
        <p:spPr>
          <a:xfrm>
            <a:off x="6138367" y="37947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4. Spike counts for tones and pulses over distance.</a:t>
            </a:r>
          </a:p>
        </p:txBody>
      </p:sp>
      <p:pic>
        <p:nvPicPr>
          <p:cNvPr id="6" name="Picture 5" descr="r64_f5.png"/>
          <p:cNvPicPr>
            <a:picLocks noChangeAspect="1"/>
          </p:cNvPicPr>
          <p:nvPr/>
        </p:nvPicPr>
        <p:blipFill>
          <a:blip r:embed="rId3"/>
          <a:stretch>
            <a:fillRect/>
          </a:stretch>
        </p:blipFill>
        <p:spPr>
          <a:xfrm>
            <a:off x="7769656" y="4251960"/>
            <a:ext cx="2223820"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5(A–D). Spontaneous activity, tone, pulses and bat calls.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22a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Range fractionation divides the intensity range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650" b="0" i="0">
                <a:solidFill>
                  <a:srgbClr val="263039"/>
                </a:solidFill>
                <a:latin typeface="Arial"/>
              </a:rPr>
              <a:t>Range fractionation divides a sensory intensity range among receptors with different thresholds. In moths, A1 begins responding at lower sound levels, and A2 is recruited when the sound is stronger, so the two cells cover different parts of the range.</a:t>
            </a:r>
          </a:p>
          <a:p>
            <a:pPr algn="l">
              <a:lnSpc>
                <a:spcPct val="108000"/>
              </a:lnSpc>
              <a:spcAft>
                <a:spcPts val="1019"/>
              </a:spcAft>
            </a:pPr>
            <a:r>
              <a:rPr sz="1650" b="0" i="0">
                <a:solidFill>
                  <a:srgbClr val="263039"/>
                </a:solidFill>
                <a:latin typeface="Arial"/>
              </a:rPr>
              <a:t>Gordon and ter Hofstede measured separate A1 and A2 spike counts for 50-kHz pulses lasting 2, 5, 10 or 20 ms. For short pulses A1 could reach a plateau before A2 was recruited, and longer pulses often allowed A1 output to increase toward the level at which A2 began firing.</a:t>
            </a:r>
          </a:p>
          <a:p>
            <a:pPr algn="l">
              <a:lnSpc>
                <a:spcPct val="108000"/>
              </a:lnSpc>
              <a:spcAft>
                <a:spcPts val="1019"/>
              </a:spcAft>
            </a:pPr>
            <a:r>
              <a:rPr sz="1650" b="0" i="0">
                <a:solidFill>
                  <a:srgbClr val="263039"/>
                </a:solidFill>
                <a:latin typeface="Arial"/>
              </a:rPr>
              <a:t>Saturation means that raising the input no longer increases the selected output measure, which here is spikes per sound pulse. The sum of the two cells can conceal a plateau in A1 before A2 begins to contribute, so the cells have to be examined separately.</a:t>
            </a:r>
          </a:p>
        </p:txBody>
      </p:sp>
      <p:pic>
        <p:nvPicPr>
          <p:cNvPr id="4" name="Picture 3" descr="g18_f2cd.png"/>
          <p:cNvPicPr>
            <a:picLocks noChangeAspect="1"/>
          </p:cNvPicPr>
          <p:nvPr/>
        </p:nvPicPr>
        <p:blipFill>
          <a:blip r:embed="rId2"/>
          <a:stretch>
            <a:fillRect/>
          </a:stretch>
        </p:blipFill>
        <p:spPr>
          <a:xfrm>
            <a:off x="6138367" y="1280160"/>
            <a:ext cx="5486400" cy="2396505"/>
          </a:xfrm>
          <a:prstGeom prst="rect">
            <a:avLst/>
          </a:prstGeom>
        </p:spPr>
      </p:pic>
      <p:sp>
        <p:nvSpPr>
          <p:cNvPr id="5" name="Figure caption"/>
          <p:cNvSpPr txBox="1"/>
          <p:nvPr/>
        </p:nvSpPr>
        <p:spPr>
          <a:xfrm>
            <a:off x="6138367" y="3768105"/>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2(C–D). Separate A1 and A2 intensity responses by duration.</a:t>
            </a:r>
          </a:p>
        </p:txBody>
      </p:sp>
      <p:pic>
        <p:nvPicPr>
          <p:cNvPr id="6" name="Picture 5" descr="r57_f2.png"/>
          <p:cNvPicPr>
            <a:picLocks noChangeAspect="1"/>
          </p:cNvPicPr>
          <p:nvPr/>
        </p:nvPicPr>
        <p:blipFill>
          <a:blip r:embed="rId3"/>
          <a:stretch>
            <a:fillRect/>
          </a:stretch>
        </p:blipFill>
        <p:spPr>
          <a:xfrm>
            <a:off x="7801361" y="4251960"/>
            <a:ext cx="2160411"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19a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 threshold curve describes sensitivity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0" i="0">
                <a:solidFill>
                  <a:srgbClr val="263039"/>
                </a:solidFill>
                <a:latin typeface="Arial"/>
              </a:rPr>
              <a:t>A neural threshold is the lowest stimulus that satisfies a stated response criterion, and a threshold curve plots that level across stimulus frequency. A higher threshold means that a stronger sound is required to evoke spikes, so low values mark high sensitivity.</a:t>
            </a:r>
          </a:p>
          <a:p>
            <a:pPr algn="l">
              <a:lnSpc>
                <a:spcPct val="108000"/>
              </a:lnSpc>
              <a:spcAft>
                <a:spcPts val="960"/>
              </a:spcAft>
            </a:pPr>
            <a:r>
              <a:rPr sz="1500" b="0" i="0">
                <a:solidFill>
                  <a:srgbClr val="263039"/>
                </a:solidFill>
                <a:latin typeface="Arial"/>
              </a:rPr>
              <a:t>Moir and colleagues recorded the wax moth's auditory nerve during 20-ms pure-tone pulses and required repeated sound-associated spikes before counting a response, which reduced the chance of mistaking spontaneous firing for hearing. The lowest threshold was approximately 55 dB SPL at 80 kHz, rising to approximately 83 dB SPL at 280 kHz and 87 dB SPL at 300 kHz.</a:t>
            </a:r>
          </a:p>
          <a:p>
            <a:pPr algn="l">
              <a:lnSpc>
                <a:spcPct val="108000"/>
              </a:lnSpc>
              <a:spcAft>
                <a:spcPts val="960"/>
              </a:spcAft>
            </a:pPr>
            <a:r>
              <a:rPr sz="1500" b="0" i="0">
                <a:solidFill>
                  <a:srgbClr val="263039"/>
                </a:solidFill>
                <a:latin typeface="Arial"/>
              </a:rPr>
              <a:t>Some animals did not respond at the maximum tested 90 dB SPL. The curve reports the level at the ear needed to evoke spikes, which is different from the loudness of a call that a moth normally encounters outdoors, and the authors called for behavioral tests of whether the extreme frequencies trigger defensive responses.</a:t>
            </a:r>
          </a:p>
        </p:txBody>
      </p:sp>
      <p:pic>
        <p:nvPicPr>
          <p:cNvPr id="4" name="Picture 3" descr="h13_f1d.png"/>
          <p:cNvPicPr>
            <a:picLocks noChangeAspect="1"/>
          </p:cNvPicPr>
          <p:nvPr/>
        </p:nvPicPr>
        <p:blipFill>
          <a:blip r:embed="rId2"/>
          <a:stretch>
            <a:fillRect/>
          </a:stretch>
        </p:blipFill>
        <p:spPr>
          <a:xfrm>
            <a:off x="6759690" y="1280160"/>
            <a:ext cx="4243753"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1(d). Neural thresholds across frequency.</a:t>
            </a:r>
          </a:p>
        </p:txBody>
      </p:sp>
      <p:pic>
        <p:nvPicPr>
          <p:cNvPr id="6" name="Picture 5" descr="h13_ear.png"/>
          <p:cNvPicPr>
            <a:picLocks noChangeAspect="1"/>
          </p:cNvPicPr>
          <p:nvPr/>
        </p:nvPicPr>
        <p:blipFill>
          <a:blip r:embed="rId3"/>
          <a:stretch>
            <a:fillRect/>
          </a:stretch>
        </p:blipFill>
        <p:spPr>
          <a:xfrm>
            <a:off x="8009628" y="4206240"/>
            <a:ext cx="1743876"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1(b). Greater wax-moth tympanum; scale bar 0.1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Moir et al. (2013)</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16a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 sound-level meter averages brief pulses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450" b="0" i="0">
                <a:solidFill>
                  <a:srgbClr val="263039"/>
                </a:solidFill>
                <a:latin typeface="Arial"/>
              </a:rPr>
              <a:t>A conventional sound-level meter passes the signal through a time-weighting circuit that averages it over a short interval. A brief pulse occupies only part of that interval, so its displayed level is lower than the peak pressure of the pulse, and the shortfall depends on the pulse duration.</a:t>
            </a:r>
          </a:p>
          <a:p>
            <a:pPr algn="l">
              <a:lnSpc>
                <a:spcPct val="108000"/>
              </a:lnSpc>
              <a:spcAft>
                <a:spcPts val="960"/>
              </a:spcAft>
            </a:pPr>
            <a:r>
              <a:rPr sz="1450" b="0" i="0">
                <a:solidFill>
                  <a:srgbClr val="263039"/>
                </a:solidFill>
                <a:latin typeface="Arial"/>
              </a:rPr>
              <a:t>For the published 1.5–50-ms pulses, holding the displayed reading constant can require different true pulse amplitudes when the duration changes. Thevenon and Pfuhl reanalyzed published moth recordings using a mathematical account of the damping and compared the original duration-dependent spike curves with corrected curves.</a:t>
            </a:r>
          </a:p>
          <a:p>
            <a:pPr algn="l">
              <a:lnSpc>
                <a:spcPct val="108000"/>
              </a:lnSpc>
              <a:spcAft>
                <a:spcPts val="960"/>
              </a:spcAft>
            </a:pPr>
            <a:r>
              <a:rPr sz="1450" b="0" i="0">
                <a:solidFill>
                  <a:srgbClr val="263039"/>
                </a:solidFill>
                <a:latin typeface="Arial"/>
              </a:rPr>
              <a:t>A pulse with a shorter duty cycle can produce a lower averaged reading even when its peak pressure is unchanged. Correcting the measurement leaves the recorded spikes unchanged and changes the pressure assigned to the stimulus that elicited them, which changes the apparent relation between pulse duration and spike count.</a:t>
            </a:r>
          </a:p>
        </p:txBody>
      </p:sp>
      <p:pic>
        <p:nvPicPr>
          <p:cNvPr id="4" name="Picture 3" descr="d18_f6.png"/>
          <p:cNvPicPr>
            <a:picLocks noChangeAspect="1"/>
          </p:cNvPicPr>
          <p:nvPr/>
        </p:nvPicPr>
        <p:blipFill>
          <a:blip r:embed="rId2"/>
          <a:stretch>
            <a:fillRect/>
          </a:stretch>
        </p:blipFill>
        <p:spPr>
          <a:xfrm>
            <a:off x="6138367" y="1280160"/>
            <a:ext cx="5486400" cy="2891666"/>
          </a:xfrm>
          <a:prstGeom prst="rect">
            <a:avLst/>
          </a:prstGeom>
        </p:spPr>
      </p:pic>
      <p:sp>
        <p:nvSpPr>
          <p:cNvPr id="5" name="Figure caption"/>
          <p:cNvSpPr txBox="1"/>
          <p:nvPr/>
        </p:nvSpPr>
        <p:spPr>
          <a:xfrm>
            <a:off x="6138367" y="426326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Thevenon &amp; Pfuhl (2018), Fig. 6(a–b). Published reanalysis before and after meter correction.</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Thevenon &amp; Pfuhl (2018)</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13a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Frequency separates displacement from velocity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0" i="0">
                <a:solidFill>
                  <a:srgbClr val="263039"/>
                </a:solidFill>
                <a:latin typeface="Arial"/>
              </a:rPr>
              <a:t>Membrane velocity is the speed of the tympanum's motion, and displacement is its excursion from the resting position. A higher-frequency oscillation can move faster while covering the same displacement, so the two quantities change differently as frequency rises.</a:t>
            </a:r>
          </a:p>
          <a:p>
            <a:pPr algn="l">
              <a:lnSpc>
                <a:spcPct val="108000"/>
              </a:lnSpc>
              <a:spcAft>
                <a:spcPts val="960"/>
              </a:spcAft>
            </a:pPr>
            <a:r>
              <a:rPr sz="1550" b="0" i="0">
                <a:solidFill>
                  <a:srgbClr val="263039"/>
                </a:solidFill>
                <a:latin typeface="Arial"/>
              </a:rPr>
              <a:t>Ter Hofstede and colleagues measured both with laser Doppler vibrometry at the sensory attachment of Noctua pronuba. Across 15–80 kHz, the tympanic displacement at the neural threshold remained approximately constant, whereas the corresponding membrane velocity increased with frequency.</a:t>
            </a:r>
          </a:p>
          <a:p>
            <a:pPr algn="l">
              <a:lnSpc>
                <a:spcPct val="108000"/>
              </a:lnSpc>
              <a:spcAft>
                <a:spcPts val="960"/>
              </a:spcAft>
            </a:pPr>
            <a:r>
              <a:rPr sz="1550" b="0" i="0">
                <a:solidFill>
                  <a:srgbClr val="263039"/>
                </a:solidFill>
                <a:latin typeface="Arial"/>
              </a:rPr>
              <a:t>The mean threshold displacement was 140 pm for the more sensitive cell, A1, and 2510 pm for A2, where a picometre is one trillionth of a metre. The relevant comparison is the membrane motion required for the same neural response, and A2 needed considerably greater movement than A1.</a:t>
            </a:r>
          </a:p>
        </p:txBody>
      </p:sp>
      <p:pic>
        <p:nvPicPr>
          <p:cNvPr id="4" name="Picture 3" descr="m11_f2abc.png"/>
          <p:cNvPicPr>
            <a:picLocks noChangeAspect="1"/>
          </p:cNvPicPr>
          <p:nvPr/>
        </p:nvPicPr>
        <p:blipFill>
          <a:blip r:embed="rId2"/>
          <a:stretch>
            <a:fillRect/>
          </a:stretch>
        </p:blipFill>
        <p:spPr>
          <a:xfrm>
            <a:off x="6431934" y="1280160"/>
            <a:ext cx="2796144"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2(a–c). Pressure, velocity and displacement at neural threshold.</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11a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Acoustic units are separated by threshold and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0" i="0">
                <a:solidFill>
                  <a:srgbClr val="263039"/>
                </a:solidFill>
                <a:latin typeface="Arial"/>
              </a:rPr>
              <a:t>An afferent is a neuron carrying information from a sensory organ toward the central nervous system. An extracellular electrode near the tympanic nerve detects the voltage changes produced by the action potentials of nearby axons, which are the brief electrical impulses propagated along axons.</a:t>
            </a:r>
          </a:p>
          <a:p>
            <a:pPr algn="l">
              <a:lnSpc>
                <a:spcPct val="108000"/>
              </a:lnSpc>
              <a:spcAft>
                <a:spcPts val="960"/>
              </a:spcAft>
            </a:pPr>
            <a:r>
              <a:rPr sz="1500" b="0" i="0">
                <a:solidFill>
                  <a:srgbClr val="263039"/>
                </a:solidFill>
                <a:latin typeface="Arial"/>
              </a:rPr>
              <a:t>Roeder and Treat separated the nerve from central connections and recorded afferent spikes. Sound produced rapid trains in two acoustic units, whereas a larger, regularly recurring non-acoustic unit discharged at 5–20 spikes per second and remained insensitive to the stimulus.</a:t>
            </a:r>
          </a:p>
          <a:p>
            <a:pPr algn="l">
              <a:lnSpc>
                <a:spcPct val="108000"/>
              </a:lnSpc>
              <a:spcAft>
                <a:spcPts val="960"/>
              </a:spcAft>
            </a:pPr>
            <a:r>
              <a:rPr sz="1500" b="0" i="0">
                <a:solidFill>
                  <a:srgbClr val="263039"/>
                </a:solidFill>
                <a:latin typeface="Arial"/>
              </a:rPr>
              <a:t>The size of an extracellular spike depends partly on the geometry of the electrode, so recording amplitude is an unreliable cell label. Different acoustic thresholds distinguish the receptor units even when their spike sizes overlap, and the nerve was disconnected from the ganglion, so the sound-evoked activity originated peripherally.</a:t>
            </a:r>
          </a:p>
        </p:txBody>
      </p:sp>
      <p:pic>
        <p:nvPicPr>
          <p:cNvPr id="4" name="Picture 3" descr="r57_f3.png"/>
          <p:cNvPicPr>
            <a:picLocks noChangeAspect="1"/>
          </p:cNvPicPr>
          <p:nvPr/>
        </p:nvPicPr>
        <p:blipFill>
          <a:blip r:embed="rId2"/>
          <a:stretch>
            <a:fillRect/>
          </a:stretch>
        </p:blipFill>
        <p:spPr>
          <a:xfrm>
            <a:off x="7225370" y="1280160"/>
            <a:ext cx="3312393" cy="2423160"/>
          </a:xfrm>
          <a:prstGeom prst="rect">
            <a:avLst/>
          </a:prstGeom>
        </p:spPr>
      </p:pic>
      <p:sp>
        <p:nvSpPr>
          <p:cNvPr id="5" name="Figure caption"/>
          <p:cNvSpPr txBox="1"/>
          <p:nvPr/>
        </p:nvSpPr>
        <p:spPr>
          <a:xfrm>
            <a:off x="6138367" y="37947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3(A–C). Spontaneous and sound-evoked nerve activity.</a:t>
            </a:r>
          </a:p>
        </p:txBody>
      </p:sp>
      <p:pic>
        <p:nvPicPr>
          <p:cNvPr id="6" name="Picture 5" descr="r57_f2.png"/>
          <p:cNvPicPr>
            <a:picLocks noChangeAspect="1"/>
          </p:cNvPicPr>
          <p:nvPr/>
        </p:nvPicPr>
        <p:blipFill>
          <a:blip r:embed="rId3"/>
          <a:stretch>
            <a:fillRect/>
          </a:stretch>
        </p:blipFill>
        <p:spPr>
          <a:xfrm>
            <a:off x="7801361" y="4251960"/>
            <a:ext cx="2160411"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09a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From membrane motion to nerve impulses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0" i="0">
                <a:solidFill>
                  <a:srgbClr val="263039"/>
                </a:solidFill>
                <a:latin typeface="Arial"/>
              </a:rPr>
              <a:t>Hearing in a noctuid moth passes through three components. The tympanum is a thin membrane that vibrates in response to airborne sound, a sensory attachment on its inner surface converts that movement into neural activity, and the tympanic nerve carries the resulting signals toward the thoracic ganglion.</a:t>
            </a:r>
          </a:p>
          <a:p>
            <a:pPr algn="l">
              <a:lnSpc>
                <a:spcPct val="108000"/>
              </a:lnSpc>
              <a:spcAft>
                <a:spcPts val="960"/>
              </a:spcAft>
            </a:pPr>
            <a:r>
              <a:rPr sz="1550" b="0" i="0">
                <a:solidFill>
                  <a:srgbClr val="263039"/>
                </a:solidFill>
                <a:latin typeface="Arial"/>
              </a:rPr>
              <a:t>Roeder and Treat described the sensory attachment as enclosed within the tympanic air sac. The anatomy identifies the route from sound to nerve, and mechanical sensitivity and neural threshold are measured separately by vibrometry and by nerve recording.</a:t>
            </a:r>
          </a:p>
          <a:p>
            <a:pPr algn="l">
              <a:lnSpc>
                <a:spcPct val="108000"/>
              </a:lnSpc>
              <a:spcAft>
                <a:spcPts val="960"/>
              </a:spcAft>
            </a:pPr>
            <a:r>
              <a:rPr sz="1550" b="0" i="0">
                <a:solidFill>
                  <a:srgbClr val="263039"/>
                </a:solidFill>
                <a:latin typeface="Arial"/>
              </a:rPr>
              <a:t>The tympanum occupies a recessed region of the posterior thorax, near the junction between thorax and abdomen. Sound must first move the membrane, the attached receptors must then convert that motion into spikes, and the nerve must then carry those spikes into the central nervous system.</a:t>
            </a:r>
          </a:p>
        </p:txBody>
      </p:sp>
      <p:pic>
        <p:nvPicPr>
          <p:cNvPr id="4" name="Picture 3" descr="r57_f1.png"/>
          <p:cNvPicPr>
            <a:picLocks noChangeAspect="1"/>
          </p:cNvPicPr>
          <p:nvPr/>
        </p:nvPicPr>
        <p:blipFill>
          <a:blip r:embed="rId2"/>
          <a:stretch>
            <a:fillRect/>
          </a:stretch>
        </p:blipFill>
        <p:spPr>
          <a:xfrm>
            <a:off x="6913541" y="1280160"/>
            <a:ext cx="3936050"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1. Published noctuid ear, nerve and ganglion anatomy.</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07a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Calibrated cameras turn video into trajectories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0" i="0">
                <a:solidFill>
                  <a:srgbClr val="263039"/>
                </a:solidFill>
                <a:latin typeface="Arial"/>
              </a:rPr>
              <a:t>A single camera view collapses three-dimensional motion into two dimensions, so a turn seen from one camera can conceal changes in altitude or depth. Calibration assigns a common spatial coordinate system to several synchronized recordings, which allows each position to be reconstructed in three dimensions.</a:t>
            </a:r>
          </a:p>
          <a:p>
            <a:pPr algn="l">
              <a:lnSpc>
                <a:spcPct val="108000"/>
              </a:lnSpc>
              <a:spcAft>
                <a:spcPts val="960"/>
              </a:spcAft>
            </a:pPr>
            <a:r>
              <a:rPr sz="1500" b="0" i="0">
                <a:solidFill>
                  <a:srgbClr val="263039"/>
                </a:solidFill>
                <a:latin typeface="Arial"/>
              </a:rPr>
              <a:t>Corcoran and Conner recorded long-legged myotis bats, Myotis volans, pursuing naturally flying moths in an outdoor enclosure measuring 6 m by 4 m with a height of 2.2–3 m. Infrared cameras registered the positions of predator and prey without the visible floodlighting that Roeder's photographic method required.</a:t>
            </a:r>
          </a:p>
          <a:p>
            <a:pPr algn="l">
              <a:lnSpc>
                <a:spcPct val="108000"/>
              </a:lnSpc>
              <a:spcAft>
                <a:spcPts val="960"/>
              </a:spcAft>
            </a:pPr>
            <a:r>
              <a:rPr sz="1500" b="0" i="0">
                <a:solidFill>
                  <a:srgbClr val="263039"/>
                </a:solidFill>
                <a:latin typeface="Arial"/>
              </a:rPr>
              <a:t>Reconstructed trajectories resolve altitude and depth and permit measurements of speed and turning performance. Each movement sequence can then be linked to the outcome of the encounter, so the paths are trajectories through a volume and not drawings inferred from a single photograph.</a:t>
            </a:r>
          </a:p>
        </p:txBody>
      </p:sp>
      <p:pic>
        <p:nvPicPr>
          <p:cNvPr id="4" name="Picture 3" descr="e16_f3abcd.png"/>
          <p:cNvPicPr>
            <a:picLocks noChangeAspect="1"/>
          </p:cNvPicPr>
          <p:nvPr/>
        </p:nvPicPr>
        <p:blipFill>
          <a:blip r:embed="rId2"/>
          <a:stretch>
            <a:fillRect/>
          </a:stretch>
        </p:blipFill>
        <p:spPr>
          <a:xfrm>
            <a:off x="6172513" y="1280160"/>
            <a:ext cx="5418107"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3(A–D). Measured three-dimensional evasive flight trajectories.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05a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Direction is a relationship between path and source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0" i="0">
                <a:solidFill>
                  <a:srgbClr val="263039"/>
                </a:solidFill>
                <a:latin typeface="Arial"/>
              </a:rPr>
              <a:t>Direction in a behavioral response refers to the relationship between the insect's path and the ultrasonic source. A response is directional when the path changes in a way that depends on where the source lies, and a change in altitude by itself does not specify direction.</a:t>
            </a:r>
          </a:p>
          <a:p>
            <a:pPr algn="l">
              <a:lnSpc>
                <a:spcPct val="108000"/>
              </a:lnSpc>
              <a:spcAft>
                <a:spcPts val="960"/>
              </a:spcAft>
            </a:pPr>
            <a:r>
              <a:rPr sz="1500" b="0" i="0">
                <a:solidFill>
                  <a:srgbClr val="263039"/>
                </a:solidFill>
                <a:latin typeface="Arial"/>
              </a:rPr>
              <a:t>At greater distances from the source, or after the output was reduced, Roeder's moths turned and flew away from the loudspeaker. A downward movement is directional when it carries the moth away from a source above it, and moths below the source sometimes descended while those above it could turn upward.</a:t>
            </a:r>
          </a:p>
          <a:p>
            <a:pPr algn="l">
              <a:lnSpc>
                <a:spcPct val="108000"/>
              </a:lnSpc>
              <a:spcAft>
                <a:spcPts val="960"/>
              </a:spcAft>
            </a:pPr>
            <a:r>
              <a:rPr sz="1500" b="0" i="0">
                <a:solidFill>
                  <a:srgbClr val="263039"/>
                </a:solidFill>
                <a:latin typeface="Arial"/>
              </a:rPr>
              <a:t>Moths approaching the source could reverse their course, and turning away occurred whether the resulting path carried an insect toward, away from, or across the light gradient. Because the source position was fixed, a path that depends on where the moth lies relative to the source indicates that the ears supplied information about the sound's location.</a:t>
            </a:r>
          </a:p>
        </p:txBody>
      </p:sp>
      <p:pic>
        <p:nvPicPr>
          <p:cNvPr id="4" name="Picture 3" descr="r62_f2.png"/>
          <p:cNvPicPr>
            <a:picLocks noChangeAspect="1"/>
          </p:cNvPicPr>
          <p:nvPr/>
        </p:nvPicPr>
        <p:blipFill>
          <a:blip r:embed="rId2"/>
          <a:stretch>
            <a:fillRect/>
          </a:stretch>
        </p:blipFill>
        <p:spPr>
          <a:xfrm>
            <a:off x="6514118" y="1280160"/>
            <a:ext cx="4734896"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(1962), Fig. 2(A–D). Flight turns away from the sound source.</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(1962)</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03a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Insect hearing II: moth ears and bat-evasion behavior (Roeder)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