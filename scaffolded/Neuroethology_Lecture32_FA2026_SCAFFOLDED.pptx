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315" r:id="rId65"/>
    <p:sldId id="260" r:id="rId9"/>
    <p:sldId id="261" r:id="rId10"/>
    <p:sldId id="314" r:id="rId64"/>
    <p:sldId id="262" r:id="rId11"/>
    <p:sldId id="263" r:id="rId12"/>
    <p:sldId id="264" r:id="rId13"/>
    <p:sldId id="265" r:id="rId14"/>
    <p:sldId id="313" r:id="rId63"/>
    <p:sldId id="266" r:id="rId15"/>
    <p:sldId id="267" r:id="rId16"/>
    <p:sldId id="268" r:id="rId17"/>
    <p:sldId id="269" r:id="rId18"/>
    <p:sldId id="270" r:id="rId19"/>
    <p:sldId id="271" r:id="rId20"/>
    <p:sldId id="312" r:id="rId62"/>
    <p:sldId id="272" r:id="rId21"/>
    <p:sldId id="273" r:id="rId22"/>
    <p:sldId id="274" r:id="rId23"/>
    <p:sldId id="311" r:id="rId61"/>
    <p:sldId id="275" r:id="rId24"/>
    <p:sldId id="276" r:id="rId25"/>
    <p:sldId id="277" r:id="rId26"/>
    <p:sldId id="310" r:id="rId60"/>
    <p:sldId id="278" r:id="rId27"/>
    <p:sldId id="279" r:id="rId28"/>
    <p:sldId id="280" r:id="rId29"/>
    <p:sldId id="309" r:id="rId59"/>
    <p:sldId id="281" r:id="rId30"/>
    <p:sldId id="282" r:id="rId31"/>
    <p:sldId id="283" r:id="rId32"/>
    <p:sldId id="308" r:id="rId58"/>
    <p:sldId id="284" r:id="rId33"/>
    <p:sldId id="285" r:id="rId34"/>
    <p:sldId id="286" r:id="rId35"/>
    <p:sldId id="307" r:id="rId57"/>
    <p:sldId id="287" r:id="rId36"/>
    <p:sldId id="288" r:id="rId37"/>
    <p:sldId id="306" r:id="rId56"/>
    <p:sldId id="289" r:id="rId38"/>
    <p:sldId id="290" r:id="rId39"/>
    <p:sldId id="291" r:id="rId40"/>
    <p:sldId id="305" r:id="rId55"/>
    <p:sldId id="292" r:id="rId41"/>
    <p:sldId id="293" r:id="rId42"/>
    <p:sldId id="294" r:id="rId43"/>
    <p:sldId id="304" r:id="rId54"/>
    <p:sldId id="295" r:id="rId44"/>
    <p:sldId id="296" r:id="rId45"/>
    <p:sldId id="303" r:id="rId53"/>
    <p:sldId id="297" r:id="rId46"/>
    <p:sldId id="298" r:id="rId47"/>
    <p:sldId id="299" r:id="rId48"/>
    <p:sldId id="302" r:id="rId52"/>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8QRvscIH2XGnvnEQ3kbaPCpiA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Vocal communication I: songbird song-system anatomy — HVC–RA–Area X (Nottebohm)</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Male zebra finches provide an experimentally tractable model of learned vocal motor behavior. Canary lesion experiments established foundational pathways controlling song.</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The title photograph is credited to Michael Hains, CC BY-NC 4.0. https://www.inaturalist.org/photos/147702462</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Bottjer SW, Miesner EA, Arnold AP (1984). Forebrain Lesions Disrupt Development But Not Maintenance of Song in Passerine Birds. Science 224(4651):901-903. https://doi.org/10.1126/science.6719123</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Song consists of coordinated vocal elements whose frequency and timing can be measured with a spectrogram, a display of acoustic energy across time and frequency. Nottebohm and colleagues recorded adult male canaries before brain surgery, establishing each bird's own repertoire as the behavioral baseline.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compared postoperative vocalizations with those recordings rather than treating all changes in singing as equivalent. Damage could reduce the number of available syllables, disturb their acoustic structure, or disrupt the organization of phrases while leaving vocal output possible.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bird that still vocalizes can therefore have a severe song-control deficit. These experiments localized components of an established motor behavior; adult lesions alone did not identify where a juvenile stores or learns a tutor's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Nottebohm et al. (1976), Fig. 13. Canary song before and after a forebrain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https://doi.org/10.1002/cne.901650405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Nottebohm et al. (1976), Fig. 11. Lesion locations associated with song disruption.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https://doi.org/10.1002/cne.901650405</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lesion is damage to tissue used to test whether a region contributes to a behavior. Nottebohm and colleagues made unilateral electrolytic lesions in adult male canaries and reconstructed their positions histologically after repeated postoperative song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Lesions involving HVC or the robust nucleus of the arcopallium, RA, severely altered song organization, whereas several lesions outside the implicated pathway had little or no effect. Comparing effective and ineffective lesion sites constrained the anatomical interpretation beyond a simple surgery-versus-no-surgery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Electrolytic current can damage both local neurons and passing axons. The results establish that these restricted forebrain territories are necessary for normal adult song, but do not isolate a particular cell type or prove that every nucleus performs the same computation.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Nottebohm et al. (1976), Fig. 11. Lesion locations associated with song disruption.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https://doi.org/10.1002/cne.901650405</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axon carries signals away from a neuron; a projection is an axonal connection between regions. A synapse is a junction through which a neuron influences another cell. Nottebohm and colleagues combined behavioral lesions with Fink–Heimer staining, a method that reveals degenerating fibers and terminals downstream of damaged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Degeneration linked the region historically called HVc to RA and connected RA with descending pathways toward vocal motor structures. Comparing the locations of lesions with the distributions of degeneration supplied anatomical evidence independent of the acoustic changes in song.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historical names in the original article differ from current avian terminology: HVC is now used as a proper name, and RA lies in the arcopallium. Degeneration tracing establishes a pathway's anatomical direction, but does not measure its transmitter, synaptic sign, or activity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Nottebohm et al. (1976), Fig. 7(a–d). Degeneration staining in the canary song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https://doi.org/10.1002/cne.901650405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2(a–f). Identified RA- and X-projecting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projection neuron sends an axon outside its local region. Benezra and colleagues distinguished HVC neurons projecting to RA, designated HVC(RA), from neurons projecting to Area X, a song-related basal ganglia region involved in action control, designated HVC(X).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labeled individual cells in adult male zebra finches and reconstructed their dendrites and axons in three dimensions. The analysis retained the target identity of each filled neuron rather than pooling every HVC cell into a single morphological population.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HVC(RA) and HVC(X) neurons differed in their dendritic and local axonal organization, although target identity did not perfectly predict every anatomical feature. Separate output classes allow HVC to influence vocal execution and the anterior forebrain pathway; morphology alone does not reveal the precise signals transmitted along either branch.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2(a–f). Identified RA- and X-projecting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Two-photon microscopy uses nonlinear excitation to resolve fluorescent structures within tissue. Benezra and colleagues combined retrograde labeling from an HVC output target with visually guided recordings and intracellular filling, connecting a neuron's projection identity with its later anatomical reconstruction.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fluorescently filled neuron was processed histologically so that its dendrites and axonal branches could be traced across sections. This approach resolved single-cell structure that would be obscured if many neighboring neurons were labeled together.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Targeted filling provides a bridge between an identified neuron and its complete local arbor. However, incomplete filling, section boundaries, and finite optical resolution can hide fine processes; the resulting anatomical map is not a direct measurement of every functional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1(a–f). Targeted labeling and single-cell filling in HVC.</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dendrite is a neuronal process that receives synaptic input. Benezra and colleagues compared reconstructed dendritic trees of HVC(RA) and HVC(X) neurons after registering their positions within HVC, allowing cell types to be compared in a common anatomical frame.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Most RA-projecting cells had relatively restricted dendritic territories, whereas X-projecting cells occupied larger territories. Displaying individual reconstructions preserved variation within each class rather than replacing the cells with an idealized average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broader dendritic field creates access to a different spatial distribution of potential inputs, but proximity is not equivalent to connectivity. The study measured anatomy, not the identities, strengths, or timing of all inputs contacting each dendritic branch during natural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3. Dendritic arbors grouped by projection target.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Benezra and colleagues quantified dendritic length along three spatial axes and the total path length of reconstructed HVC neurons. Centering these measurements on each cell body separated dendritic extent from the neuron's absolute position within the nucleus.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RA-projecting neurons generally formed a smaller-dendrite group, whereas X-projecting neurons formed a larger-dendrite group. The distributions nevertheless included exceptions, and cells with branches to both targets did not constitute a single uniform size class.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constrain the spatial integration available to each projection population. They do not justify assigning every small neuron a motor function or every large neuron a learning function without identifying its actual axonal target; anatomical classes overlap in some features even when their average organization differs.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4(a–d). Spatial distribution and size of HVC dendrites.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axon collateral is a branch of an axon, and a bouton is a swelling associated with a potential presynaptic terminal. Benezra and colleagues counted boutons along reconstructed local collateral branches of HVC(RA) and HVC(X)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projection classes carried abundant boutons within HVC, with broadly similar bouton densities. Their reconstruction-based estimate was about 400 local boutons per HVC(RA) neuron. The labeled micrographs preserve a 5 µm scale bar, making the spatial separation of adjacent swellings explicit rather than implying that a whole branch acts as one output site.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Long-range projection neurons can therefore contribute to local HVC communication as well as sending signals downstream. Light-microscopic boutons are anatomical candidates for synapses; their presence does not identify the postsynaptic cell or establish the strength and sign of a particular connection.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5(a–d). Axonal boutons and their spatial density.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Benezra and colleagues reconstructed the dendrites and axonal collaterals of individual HVC(RA) neurons within the boundary of HVC. The descending axon identified the cell's long-range destination, while its local branches provided a separate measure of intranuclear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Some cells confined most local axonal branches near the cell body, whereas others distributed branches across a broader portion of HVC. This variation remained visible within the RA-projecting population rather than being explained solely by differences between projection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Local output makes a strictly feedforward description of HVC incomplete: an RA-projecting neuron can participate in HVC interactions before its axon reaches RA. The reconstruction does not determine whether the cell contacts another projection neuron, an inhibitory interneuron, or both.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6. Local axons of RA-projecting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Area X receives an HVC projection distinct from the direct HVC-to-RA motor pathway. Benezra and colleagues reconstructed HVC(X) neurons with their local axons, dendrites, and descending projection identified in the same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Their local branches varied from restricted arbors to broad distributions within HVC. The authors compared these distributions with RA-projecting cells in a shared reference frame, revealing organization that would be lost in a drawing of one generic HVC-to-X connection.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HVC(X) neuron can consequently influence both the local HVC network and a distant basal ganglia region. The anatomical data support multiple routes for distributing activity, but do not establish whether particular local branches carry a timing signal, an auditory signal, or a mixture during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7. Local axons of X-projecting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Benezra and colleagues identified HVC neurons with axonal projections toward both RA and Area X. These HVC(RA/X) cells challenge an absolute rule that all long-range HVC outputs belong to two completely separate populations.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reconstructed dual-projecting cells differed from one another in dendritic organization. The authors retained them as individually identified cells rather than forcing them into a single stereotyped anatomical class defined only by their shared target combination.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Dual projections provide a possible anatomical route for distributing related activity to motor and anterior forebrain pathways. Their existence does not establish how common such cells are throughout HVC, whether both branches transmit identical information, or whether they are necessary for coordinating the two pathways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8. Two dual-projecting HVC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HVC shelf is tissue bordering HVC that is distinguished from the nucleus itself. Benezra and colleagues observed dendrites and axonal collaterals of an identified HVC(X) neuron extending beyond the conventional HVC boundary into this surrounding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Fluorescent and brightfield images were combined with reconstruction of the labeled processes. The original panels retain scale bars of 100 µm for the wider field and 25 µm and 5 µm for the detailed views, separating nuclear-scale anatomy from fine branches.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histological boundary is therefore not necessarily a complete boundary for a neuron's connections. These processes provide anatomical access to adjacent tissue, but the study did not establish the sensory responses of their partners or prove a specific information flow between shelf and HVC.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9(a–c). Processes extending from HVC into the shelf.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broadcast arbor distributes axonal branches across a relatively broad volume, whereas a local arbor remains more spatially restricted. Benezra and colleagues quantified HVC axonal extent and the proportion of the nucleus occupied by each reconstructed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RA-projecting and X-projecting populations contained cells with different local output territories. Quantifying axonal distribution separately from dendritic distribution prevented a large input field from being treated automatically as a large output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anatomical differences constrain how activity might spread through the HVC network. The local-versus-broadcast distinction is a description of reconstructed geometry, not a demonstrated classification of neuronal function; identifying the actual partners and recording their responses would be necessary to establish the circuit consequences.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Benezra et al. (2018), Fig. 10(a–d). Local axonal distributions within HVC.</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https://doi.org/10.1002/cne.24437</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RA is a forebrain motor nucleus whose projection neurons provide descending output to brainstem targets. Zemel and colleagues place RA within the vocal motor pathway connecting HVC with the tracheosyringeal hypoglossal nucleus, nXIIts, and respiratory-related brainstem circuitry.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syrinx is the avian vocal organ; its muscles are controlled by lower motor neurons rather than directly by RA cell bodies. RA activity thus reaches vocal musculature through descending axons and brainstem motor connections, coordinating sound production with respiratory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Maxwell and colleagues controlled air pressures around an isolated zebra finch syrinx and elicited sound without an intact brain. This preparation separates the mechanical sound generator from its neural commands; an anatomically intact vocal organ does not by itself establish normal neural control of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Maxwell A, Adam I, Larsen PS, Sørensen PG, Elemans CPH (2021). Syringeal vocal folds do not have a voice in zebra finch vocal development. Scientific Reports 11(1):6469. https://doi.org/10.1038/s41598-021-85929-5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RA and descending vocal motor pathways.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Maxwell et al. (2021), Fig. 1(a–b). Syrinx muscles and the medial vibratory mass.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https://doi.org/10.1038/s41598-021-85929-5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action potential is a rapid electrical spike produced by voltage-dependent membrane conductances. An ion channel is a membrane protein that permits ions to cross the membrane. Zemel and colleagues recorded identified RA projection neurons in zebra finch brain slices using whole-cell current clamp, which measures membrane voltage while current is controlled.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approximately 40 °C, near avian physiological temperature, spontaneous spikes had a half-width of about 0.18 ms. Spontaneous firing was approximately fourfold faster than at room temperature, and depolarizing current could evoke sustained rapid spike trains.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Temperature therefore changes the quantitative description of these motor neurons. Slice recordings establish intrinsic firing capacity under controlled conditions, but are not recordings of the commands issued during a particular song syllable; intact singing additionally supplies patterned synaptic input and behavioral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1(a–k). RA motor anatomy and temperature-dependent spikes.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resurgent sodium current is an inward sodium current that appears as a membrane repolarizes after strong depolarization. Zemel and colleagues used voltage clamp, which controls membrane voltage while recording current, to separate this component from the initial transient sodium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step from −90 to +30 mV activated transient current; subsequent test voltages elicited resurgent current, with a peak near −3 nA at −45 mV in adult RA projection neurons. The sequence of voltage steps made the later inward current experimentally distinguishable from the initial spike-generating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Resurgent current can support renewed excitation during recovery from a spike. The recording establishes a membrane current under an imposed voltage protocol; its contribution to natural firing requires an additional manipulation of the conductance rather than inference from its presence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2(a–j). RA sodium-subunit expression and resurgent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sodium channel's β subunit is an accessory protein that can modify channel function. Zemel and colleagues used in situ hybridization, a method that detects specific RNA sequences in tissue, to compare Navβ3 and Navβ4 expression across male zebra finch development.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sampled stages included 20, 35, and 50 days after hatching and adulthood. RA changed from relatively strong Navβ3 expression toward stronger Navβ4 expression; comparison with surrounding arcopallium helped distinguish an RA-related change from a uniform change throughout nearby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RNA abundance identifies a candidate molecular mechanism but does not directly measure channel current or prove that a subunit causes a behavioral transition. The expression data were therefore paired with physiological recordings and later manipulations of resurgent current.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3(a–l). Developmental sodium-subunit expression in 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Zemel and colleagues recorded transient and resurgent sodium currents from RA projection neurons at 20, 35, and 50 days after hatching and in adult male zebra finches. Applying the same voltage protocol across stages made the current components directly comparable.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Resurgent current increased with age, including when normalized to the transient current measured within the same sweep. That normalization tested whether the developmental effect was simply an increase in all measurable sodium current rather than a disproportionate change in the resurgent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age-related current increase tracked the shift toward Navβ4 expression, but a developmental correlation alone cannot identify causation. Intrinsic membrane maturation can accompany song development without being equivalent to learning a particular tutor's syllable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4(a–f). Developmental increase of resurgent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Space clamp describes how well an electrode controls voltage throughout a neuron; long axons can make that control incomplete. Zemel and colleagues repeated sodium-current measurements in frontal slices that shortened the initial axonal segments of RA projection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also reduced extracellular sodium to improve recording conditions and compared neurons from 20-day males with adult neurons. The developmental difference in resurgent current remained under these altered preparation conditions, supporting its biological origin rather than a simple difference in recording distant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strengthen interpretation of the current measurement without making the voltage clamp perfect. The comparison concerns isolated-cell membrane physiology, and does not itself establish how much a change in resurgent current alters the acoustic structure of a freely singing bird.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5(a–i). Axonal and voltage-clamp recording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Zemel and colleagues introduced a peptide from the intracellular C-terminal region of Navβ4 through the recording pipette into RA neurons from 20-day male zebra finches. A peptide is a short amino-acid chain used here to test a proposed channel interaction.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Resurgent current increased over approximately 7 minutes after whole-cell access with the native peptide. A scrambled peptide containing the same amino acids in a different sequence did not produce the same increase, controlling for nonspecific introduction of peptide material.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intervention links a defined sequence to the current phenotype more directly than RNA expression alone. It does not recreate every function of the intact β4 protein or establish that this peptide manipulation improves song learning in a behaving bird.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7(a–l). Native and scrambled Navβ4 peptide interventions.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Dynamic clamp computes a voltage-dependent current during recording and injects that current into a real neuron. Zemel and colleagues used this method to add a resurgent-current component to juvenile RA neurons and subtract a corresponding component from adult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Adding the component increased juvenile firing frequency, whereas subtraction reduced adult firing. The same cell could be compared with the intervention off and on, separating the immediate current effect from stable differences between developmental populations.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supports a causal contribution of resurgent current to neuronal excitability. The injected conductance was calibrated to measured sodium-current kinetics. Agreement with voltage-clamp recordings does not establish that this conductance alone explains song timing or behavioral proficiency.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8(a–h). Current records and dynamic-clamp interventions.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Zemel and colleagues compared Navβ4 expression and RA physiology across ages in female zebra finches, which do not produce the learned courtship song characteristic of males. In situ hybridization was assessed alongside adjacent Nissl-stained sections identifying the nucleus.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Females did not exhibit the male pattern of strong developmental Navβ4 upregulation and mature resurgent-current specialization. This comparison separated a sex-related developmental program from a change that would necessarily occur in every zebra finch reaching the same chronological 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Male birds isolated from tutor song nevertheless developed mature firing properties, further separating intrinsic maturation from successful imitation. The results support sex-linked motor-system specialization; they do not establish that a single sodium-channel subunit is sufficient to create singing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9(a–g). Female RA expression and sodium-current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SK channels are small-conductance calcium-activated potassium channels. Calcium-dependent potassium efflux can produce an afterhyperpolarization, a period of more negative membrane voltage following a spike that regulates when the next spike occurs.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Hou and colleagues recorded RA projection neurons in adult male zebra finch slices and applied apamin, an SK-channel blocker, at 100 nM. An example response to 100 pA rose from 34 to about 53 Hz. Blocking the channels reduced the afterhyperpolarization and increased current-evoked firing, linking the pharmacological target to both the spike waveform and ongoing excitability.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direction of the effect is consistent with removal of a potassium-mediated brake on excitation. Pharmacology establishes a contribution under the slice conditions, but does not identify every SK subunit or prove how this manipulation would change the timing of a complete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Hou et al. (2012), Fig. 1(A–F). SK blockade changes evoked firing and spike recovery.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https://doi.org/10.1007/s12264-012-1241-7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Interspike intervals are the times separating successive action potentials. Hou and colleagues compared spontaneous spike trains from the same RA projection neurons before and after apamin, allowing firing regularity to be assessed separately from the mean firing 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SK blockade increased variability in the intervals between spikes without a clear change in average spontaneous firing rate. Recordings therefore distinguished a neuron that fires more rapidly from a neuron that fires with more reproducible timing; these are different physiological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Calcium-activated potassium feedback can stabilize the return toward spike threshold after each action potential. The result supports a contribution to temporal regularity in isolated RA cells, but natural song-related precision also depends on the timing of HVC and LMAN inputs and cannot be assigned entirely to SK channels.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Hou et al. (2012), Fig. 2(A–E). Spontaneous spike timing before and after apamin.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https://doi.org/10.1007/s12264-012-1241-7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spike threshold is the membrane voltage at which regenerative excitation initiates an action potential. Hou and colleagues evoked firing with a 100 pA depolarizing current and compared threshold measurements before and after 100 nM apamin blocked SK channels.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Blockade increased the variation of evoked spike thresholds and shifted them toward more depolarized voltages as injected current increased. The recordings linked irregular firing with less stable spike initiation rather than assuming that every change in spike count reflected the same membrane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measured effect supports a role for calcium-activated potassium feedback in recovery between spikes. It does not identify the complete sequence of sodium-channel recovery or the calcium source activating SK channels, and spontaneous and current-evoked firing need not respond identically to the same intervention.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Hou et al. (2012), Fig. 3(A–C). Evoked threshold changes during SK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https://doi.org/10.1007/s12264-012-1241-7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Hou and colleagues blocked ionotropic glutamate receptors while recording RA projection neurons. AMPA receptors support relatively fast excitatory transmission, whereas NMDA receptors have slower kinetics and voltage-dependent gating; the antagonists DNQX and APV suppress these receptor components.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Apamin still increased current-evoked firing after receptor blockade, but its effect on firing regularity was no longer clearly detectable. This comparison separated an excitability effect that persisted without glutamatergic input from a regularity effect that depended on the recording's synaptic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Intrinsic potassium conductance and incoming excitation therefore interact in determining spike timing. The control does not identify the presynaptic source responsible for the difference or establish the corresponding effect during singing; it constrains a purely intrinsic explanation of all changes in temporal regularity.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Hou et al. (2012), Fig. 4(A–E). Apamin effects after glutamate-receptor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https://doi.org/10.1007/s12264-012-1241-7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Dopamine is a neurotransmitter that can modulate neuronal properties through receptor-dependent intracellular signaling. Liao and colleagues recorded adult male zebra finch RA projection neurons and applied 50 µM dopamine while controlling the injected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During a 100 pA stimulus, normalized firing increased to approximately 1.38 times baseline and returned toward baseline after washout. The membrane potential became less negative, shifting from approximately −70 to −61 mV under the reported recording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within-cell drug and wash comparisons establish reversible modulation of excitability rather than a difference between cell populations. Bath application does not reproduce the concentration, duration, or spatial precision of physiological dopamine release, so these measurements should not be equated directly with a behavioral state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Liao et al. (2013), Fig. 1(A–D). Reversible dopamine effects on RA firing and voltage.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https://doi.org/10.1371/journal.pone.0082497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Liao and colleagues used tetrodotoxin, or TTX, to block voltage-gated sodium channels and prevent action potentials in their RA slice preparation. This manipulation tested whether dopamine-induced depolarization depended on spike-driven activity in the surrounding network.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Dopamine still produced a depolarizing membrane shift when sodium-dependent spikes were suppressed. The result separated the change in resting membrane behavior from the increased number of evoked action potentials observed in the unblocked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direct or locally mediated membrane effect is therefore supported, but the specific ionic conductance responsible was not isolated by this control. TTX also changes network activity broadly; persistence in its presence does not prove that all dopaminergic influences on RA during singing are exclusively postsynaptic.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Liao et al. (2013), Fig. 2(A–D). Depolarization with and without sodium-channel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https://doi.org/10.1371/journal.pone.0082497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D1-like receptor is a dopamine-receptor class that modulates cellular signaling rather than forming the spike-generating sodium pore. Liao and colleagues compared dopamine with the D1-like agonist SKF-38393 in adult male zebra finch RA projection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agonist increased excitability, and the D1-like antagonist SCH-23390 prevented the dopamine-associated increase under the study's conditions. Comparing an agonist with receptor blockade supplied converging pharmacological evidence for the receptor class involved.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experiments assign a functional contribution to D1-like signaling but do not resolve every receptor subtype, downstream enzyme, or target ion channel. The recorded effect concerns RA membrane physiology; it should not be generalized automatically to dopamine actions in Area X, where circuit organization and receptor effects differ.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Liao et al. (2013), Fig. 3(A–D). D1-like agonist effects on RA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https://doi.org/10.1371/journal.pone.0082497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D2-like receptors form a dopamine-receptor class pharmacologically distinct from D1-like receptors. Liao and colleagues applied the D2-like agonist quinpirole to RA projection neurons and compared firing and membrane voltage before, during, and after the application.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Quinpirole did not reproduce the prominent increase in excitability produced by dopamine and the D1-like agonist in this preparation. The comparison constrained receptor interpretation instead of assuming that every dopamine receptor has the same effect on a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weak or absent effect under these conditions does not establish that D2-like receptors have no function anywhere in the song system. Receptor expression, release conditions, and network targets differ between regions; the study addresses the measured response of adult RA projection neurons in a controlled slice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Liao et al. (2013), Fig. 5(A–D). D2-like agonist measurements in RA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https://doi.org/10.1371/journal.pone.0082497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Zemel et al. (2021), Fig. 1(a, upper). RA and brainstem targets in the vocal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https://doi.org/10.1038/s41467-021-26521-3</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lateral magnocellular nucleus of the anterior nidopallium, or LMAN, is a forebrain output of the anterior forebrain pathway. Garst-Orozco and colleagues stimulated HVC and LMAN fiber tracts separately while recording excitatory postsynaptic currents in RA projection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excitatory postsynaptic current is the membrane current produced when excitatory transmitter activates receptors on the recorded cell. Pathway-specific stimulation allowed the strength and receptor contributions of the two convergent inputs to be compared in juvenile and adult zebra finches.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 therefore receives input from a direct motor-related pathway and from a basal ganglia–thalamic pathway. Electrical stimulation in slices samples surviving fibers rather than every connection present in the intact animal, and does not reveal the natural activity pattern of those inputs during a particular syllable.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2(A–E). Pathway stimulation and currents recorded in 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Garst-Orozco and colleagues measured HVC-to-RA currents using weak stimulation that produced either failures or a consistent single-fiber response, and stronger stimulation that recruited the available input population. Comparing these measurements distinguished connection strength from the estimated number of recruited inputs.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Median single-fiber HVC currents rose from about 23 pA in subsong birds to 60 pA in adults. Estimated input number initially increased, then declined during later development. The experiment therefore identified refinement rather than a uniform increase in every aspect of excitatory connectivity.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Such strengthening and pruning can alter how RA converts HVC activity into motor output. The measurements do not establish that each lost input was an incorrect connection for a particular tutor song, and the fiber-number estimate is limited by slice preservation and assumptions about recruitment and current summation.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3(A–G). HVC input strengthening and refinement.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Garst-Orozco and colleagues applied the same single-fiber and maximal-recruitment strategy to the LMAN input onto RA neurons. Recordings from subsong, plastic-song, and adult birds tested whether increasing song stereotypy reflected a simple disappearance of this excitatory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single-fiber LMAN currents were approximately 146 pA in plastic-song birds and 142 pA in adults; the estimated number of available inputs remained relatively stable. The finding contrasted with the strengthening and pruning of HVC inputs measured in the same experimental framework.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Reduced behavioral variability can consequently coexist with persistent LMAN-to-RA connectivity. The result does not establish that LMAN firing patterns or synaptic effects are identical in behaving juveniles and adults; a preserved connection can have a different influence when other convergent inputs and network activity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4(A–H). LMAN current strength and receptor contributions.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Garst-Orozco and colleagues recorded LMAN-evoked currents at −70 and +40 mV. At negative voltages, extracellular magnesium limits NMDA-receptor current; depolarization relieves this voltage-dependent block, allowing the slower receptor component to contribute more strongly.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distinguished predominantly AMPA-mediated responses at −70 mV from the combined AMPA and NMDA response at +40 mV. The estimated NMDA-to-AMPA contribution in subsong birds was approximately 9:1. LMAN responses had a substantial NMDA component, connecting pathway identity to a particular form of postsynaptic integration rather than treating all excitatory inputs as interchangeable.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Voltage-dependent gating means that the effect of LMAN input depends partly on the postsynaptic state of RA. The recordings establish receptor contributions under imposed holding potentials, but cannot by themselves specify RA voltage trajectories or transmitter release during freely produced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4(A–H). LMAN current strength and receptor contributions.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 name="Google Shape;506;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Garst-Orozco and colleagues measured RA responses to 0.5-second current pulses at 35 °C across subsong, plastic-song, and adult stages. Input-to-firing gain and spike-frequency adaptation were broadly similar across these groups, constraining a simple intrinsic-excitability explanation of reduced song variability.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Zemel and colleagues included younger 20-day birds and isolated sodium-current components, detecting pronounced maturation of resurgent current and spike properties. The studies differ in developmental window, recording conditions, and the physiological property being measured.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stable firing-rate response over one age interval does not contradict earlier maturation of a particular ion current. Neither experiment supports a universal statement that RA intrinsic properties never change, nor that all decreases in song variability are caused by sodium-channel maturation.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5(A–F). RA firing responses across developmental stages.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Bottjer and colleagues lesioned the region then called MAN in male zebra finches at different stages of song development. Postoperative vocalizations were recorded repeatedly, and histology distinguished complete lesions from cases in which the intended region was largely spared.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Lesions early in development produced abnormal vocal patterns, whereas adult birds with complete bilateral lesions retained normal song for as long as five weeks. Birds operated at intermediate stages differed according to how established their song pattern was before surgery.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age dependence separates a contribution to developing vocal behavior from an obligatory role in executing established adult song. It does not prove that LMAN stores the tutor memory or that adult LMAN has no function; later pathway-specific physiology identifies persistent input to RA even after song stabilizes.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Bottjer SW, Miesner EA, Arnold AP (1984). Forebrain Lesions Disrupt Development But Not Maintenance of Song in Passerine Birds. Science 224(4651):901-903. https://doi.org/10.1126/science.6719123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Garst-Orozco et al. (2014), Fig. 1(C). HVC, LMAN, and RA in the published pathway map.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https://doi.org/10.7554/elife.03697</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Area X is a song-related basal ganglia region containing striatal-like neurons and pallidal-like output neurons. The basal ganglia are forebrain circuits involved in selecting and modifying actions; these cell classes have different positions within the circuit rather than forming one homogeneous population.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Area X receives HVC and LMAN input and sends inhibitory output toward the medial portion of the dorsolateral thalamic nucleus, DLM. DLM projects to LMAN, whose output returns to RA and also to Area X, producing an anatomically connected forebrain loop.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GABA, gamma-aminobutyric acid, is the inhibitory transmitter associated with the pallidal-like output. The published anatomical pathway constrains possible mechanisms, but a connection diagram alone does not determine the moment-to-moment activity or learning rule operating in that loop.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(2010b). Anatomy of a songbird basal ganglia circuit essential for vocal learning and plasticity. Journal of Chemical Neuroanatomy 39(2):124-131. https://doi.org/10.1016/j.jchemneu.2009.07.003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7" name="Google Shape;54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retrograde tracer labels neurons projecting toward an injection site, whereas an anterograde tracer labels their axons and terminals downstream. Vates and Nottebohm used complementary tracing approaches to investigate pathways linking the song-related forebrain nuclei.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Injections associated with Area X and RA labeled neurons and terminal fields in LMAN. These distributions supported an LMAN output route to both the basal ganglia region and the motor nucleus, extending the circuit beyond a one-way chain from HVC to the vocal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Using more than one tracer direction reduces ambiguity about which cells send and receive a projection. Tracer labeling nevertheless does not establish whether every anatomical connection is active during song, identify the transmitter at every terminal, or measure the temporal influence of a synapse on its target.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Vates GE, Nottebohm F (1995). Feedback circuitry within a song-learning pathway.. Proceedings of the National Academy of Sciences 92(11):5139-5143. https://doi.org/10.1073/pnas.92.11.5139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Vates &amp; Nottebohm (1995), Fig. 3(a–e). Tracer labeling linking LMAN, Area X, and 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https://doi.org/10.1073/pnas.92.11.5139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Vates and Nottebohm placed different retrograde tracers in RA and Area X to ask whether the two projections originated from separate LMAN populations. Neurons containing both labels were identified within LMAN, providing evidence of output toward both targets from individual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result is more specific than overlapping terminal fields: it links the two target regions to a shared projecting neuron. A neuron with branching output can influence RA motor circuitry while also returning activity to the anterior forebrain loop through Area 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Double labeling identifies anatomical collateralization, not the information carried by each branch. Uptake and transport efficiencies also limit interpretation of unlabeled cells, so failure to detect a second label in one neuron does not prove that all of its axonal branches avoid the other target.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Vates GE, Nottebohm F (1995). Feedback circuitry within a song-learning pathway.. Proceedings of the National Academy of Sciences 92(11):5139-5143. https://doi.org/10.1073/pnas.92.11.5139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Vates &amp; Nottebohm (1995), Fig. 5(a–b). Two retrograde labels in LMAN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https://doi.org/10.1073/pnas.92.11.5139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Vates &amp; Nottebohm (1995), Fig. 4(a–f). Injection sites and retrogradely labeled LMAN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https://doi.org/10.1073/pnas.92.11.5139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Doupe recorded extracellular spikes from LMAN while playing the bird's own song and comparison sounds to anesthetized adult zebra finches. A raster plot records individual spike times across repeated trials; averaging these trials yields the time-dependent firing-rate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Many neurons responded strongly to the bird's own song but weakly to other conspecific songs or simple acoustic stimuli. Comparisons with amplitude-modulated noise and tones tested whether a response could be explained by a generic sound-energy change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selectivity links an anterior forebrain nucleus with the acoustic structure of learned vocal behavior. Because these were playback responses under anesthesia, they do not establish that LMAN monitors song identically during awake singing or that the selective response is itself an error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Doupe (1997), Fig. 2(a–c). LMAN responses to self-song and comparison songs.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https://doi.org/10.1523/jneurosci.17-03-01147.1997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Doupe compared responses to intact song with altered versions in which the order or arrangement of song elements was changed. A syllable is a recognizable acoustic unit; reorganizing syllables preserves many local acoustic features while changing their temporal context.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Some LMAN neurons responded more strongly to the normal sequence than to rearrangements or isolated combinations. Such comparisons tested whether selectivity depended only on an individual sound fragment or also on the relationship between fragments across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Temporal-order sensitivity is consistent with integration of a learned sequence rather than detection of a single frequency alone. It does not identify a complete synaptic mechanism for the selectivity, and responses to experimental rearrangements cannot by themselves distinguish recognition, prediction, and vocal-learning functions in the behaving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Doupe (1997), Fig. 7(a–g). Responses to combinations of song syllables.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https://doi.org/10.1523/jneurosci.17-03-01147.1997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Doupe recorded auditory responses in Area X using the bird's own song, reversed song, and songs from other zebra finches. Comparing multiple stimuli within the same neuron controlled for differences in overall excitability between cells and recording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Area X neurons exhibited selective responses to familiar self-song, with responses influenced by the temporal structure of the playback. Auditory selectivity was therefore present within the basal ganglia portion of the anterior forebrain pathway, rather than being restricted to its LMAN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findings establish sensory responsiveness in a song-related circuit but do not equate Area X with an auditory storage site. The extracellular recording does not identify every neuron's cell class, and the anesthetized playback preparation differs from the sensory and motor conditions during natural courtship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Doupe (1997), Fig. 9(a–d). Song-selective auditory responses in Area 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https://doi.org/10.1523/jneurosci.17-03-01147.1997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0" name="Google Shape;62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Gale and Perkel recorded neurons in the substantia nigra pars compacta and ventral tegmental area, SNc/VTA, while testing auditory responses. These midbrain regions provide dopaminergic input to Area X, but recording location alone does not establish a neuron's transmitter identity.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combined spike measurements with juxtacellular labeling and immunostaining for tyrosine hydroxylase, an enzyme involved in catecholamine synthesis. Labeled cells with the marker provided an anatomical and biochemical check on the classification based on firing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fluorescent micrographs retain 20 µm scale bars and connect a recorded cell with its tissue identity. Marker-positive cells support the dopaminergic interpretation in this preparation, but a waveform criterion alone remains less specific than identifying the recorded neuron histologically.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4(A–F). Recorded cell labeling and transmitter-marker staining.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Disinhibition is increased activity caused by reducing inhibitory input. Gale and Perkel found that song playback excited Area X neurons, inhibited neurons in the ventral pallidum, and excited identified dopaminergic SNc/VTA neurons, consistent with a serial inhibitory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Activating Area X with glutamate increased downstream dopaminergic firing, whereas GABA injection reduced it. Blocking AMPA and NMDA receptors in Area X diminished song-evoked dopaminergic responses; vehicle injections provided a control for the injection procedure.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convergent recordings and interventions support a route through which song-related forebrain activity regulates its own dopamine supply. They do not establish that every evoked dopamine response encodes reward prediction or a vocal error; the experiments tested auditory responsiveness and circuit influence rather than a complete learning algorithm.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8(A–H). Area X drug injections alter midbrain firing.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Gale &amp; Perkel (2010a), Fig. 1(A). Area X, DLM, LMAN, and midbrain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https://doi.org/10.1523/jneurosci.3585-09.2010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Separate projection pathways. HVC reaches RA directly for vocal motor control and reaches Area X through a distinct output population; DLM and LMAN form the anterior forebrain route back to 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Anatomical connections constrain mechanisms. Lesions establish regional necessity, tracers establish projection direction, and single-cell reconstructions reveal local collaterals; none alone specifies the information transmitted at a synapse.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 integrates different excitatory inputs. HVC and LMAN converge on RA, but their developmental connectivity and receptor contributions differ; stronger, refined HVC input can coexist with persistent LMAN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Motor physiology has multiple controls. Resurgent sodium current supports rapid RA firing, while SK channels regulate spike recovery and timing in interaction with synaptic input; dopamine modulates RA excitability through D1-like signaling.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LMAN contributes differently across ages. Early lesions disrupt vocal development, whereas established adult song can persist after lesions; this difference does not imply that adult LMAN becomes anatomically disconnected or functionless.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Auditory selectivity is not an error signal by itself. LMAN, Area X, and dopaminergic circuitry respond selectively to self-song, but anesthetized playback responses do not establish the complete teaching signal or learning rule used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Stokes TM, Leonard CM (1976). Central control of song in the canary, Serinus canarius. Journal of Comparative Neurology 165(4):457-486. https://doi.org/10.1002/cne.901650405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Bottjer SW, Miesner EA, Arnold AP (1984). Forebrain Lesions Disrupt Development But Not Maintenance of Song in Passerine Birds. Science 224(4651):901-903. https://doi.org/10.1126/science.6719123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Benezra SE, Narayanan RT, Egger R, Oberlaender M, Long MA (2018). Morphological characterization of HVC projection neurons in the zebra finch (Taeniopygia guttata). Journal of Comparative Neurology 526(10):1673-1689. https://doi.org/10.1002/cne.24437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Garst-Orozco J, Babadi B, Ölveczky BP (2014). A neural circuit mechanism for regulating vocal variability during song learning in zebra finches. eLife 3:e03697. https://doi.org/10.7554/elife.03697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Zemel BM, Nevue AA, Dagostin A, Lovell PV, Mello CV, von Gersdorff H (2021). Resurgent Na+ currents promote ultrafast spiking in projection neurons that drive fine motor control. Nature Communications 12(1):6762. https://doi.org/10.1038/s41467-021-26521-3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Hou GQ, Pan X, Liao CS, Wang SH, Li DF (2012). SK channels modulate the excitability and firing precision of projection neurons in the robust nucleus of the arcopallium in adult male zebra finches. Neuroscience Bulletin 28(3):271-281. https://doi.org/10.1007/s12264-012-1241-7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Liao C, Wang S, Pan X, Hou G, Li D (2013). Dopamine Modulates the Excitability of Projection Neurons in the Robust Nucleus of the Arcopallium in Adult Zebra Finches. PLoS ONE 8(12):e82497. https://doi.org/10.1371/journal.pone.0082497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(1997). Song- and Order-Selective Neurons in the Songbird Anterior Forebrain and their Emergence during Vocal Development. The Journal of Neuroscience 17(3):1147-1167. https://doi.org/10.1523/jneurosci.17-03-01147.1997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Gale SD, Perkel DJ (2010a). A Basal Ganglia Pathway Drives Selective Auditory Responses in Songbird Dopaminergic Neurons via Disinhibition. The Journal of Neuroscience 30(3):1027-1037. https://doi.org/10.1523/jneurosci.3585-09.2010</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Juxtacellular labeling confirms the identity of a recorded cell.</a:t>
            </a:r>
          </a:p>
          <a:p>
            <a:r>
              <a:rPr lang="en-US" sz="1200"/>
              <a:t>• Label.</a:t>
            </a:r>
          </a:p>
          <a:p>
            <a:r>
              <a:rPr lang="en-US" sz="1200"/>
              <a:t>– A dye is delivered to the recorded neuron.</a:t>
            </a:r>
          </a:p>
          <a:p>
            <a:r>
              <a:rPr lang="en-US" sz="1200"/>
              <a:t>– The cell is identified after its spikes are measured.</a:t>
            </a:r>
          </a:p>
          <a:p>
            <a:r>
              <a:rPr lang="en-US" sz="1200"/>
              <a:t>• Marker.</a:t>
            </a:r>
          </a:p>
          <a:p>
            <a:r>
              <a:rPr lang="en-US" sz="1200"/>
              <a:t>– Tyrosine hydroxylase marks catecholamine-synthesizing cells.</a:t>
            </a:r>
          </a:p>
          <a:p>
            <a:r>
              <a:rPr lang="en-US" sz="1200"/>
              <a:t>– Immunostaining reveals the marker.</a:t>
            </a:r>
          </a:p>
          <a:p>
            <a:r>
              <a:rPr lang="en-US" sz="1200"/>
              <a:t>• Regions.</a:t>
            </a:r>
          </a:p>
          <a:p>
            <a:r>
              <a:rPr lang="en-US" sz="1200"/>
              <a:t>– The recordings came from SNc and VTA.</a:t>
            </a:r>
          </a:p>
          <a:p>
            <a:r>
              <a:rPr lang="en-US" sz="1200"/>
              <a:t>– These regions supply dopaminergic input to Area X.</a:t>
            </a:r>
          </a:p>
          <a:p>
            <a:r>
              <a:rPr lang="en-US" sz="1200"/>
              <a:t>• Waveform.</a:t>
            </a:r>
          </a:p>
          <a:p>
            <a:r>
              <a:rPr lang="en-US" sz="1200"/>
              <a:t>– Cells were first classified by spike waveform.</a:t>
            </a:r>
          </a:p>
          <a:p>
            <a:r>
              <a:rPr lang="en-US" sz="1200"/>
              <a:t>– The waveform gives a provisional identity.</a:t>
            </a:r>
          </a:p>
          <a:p>
            <a:r>
              <a:rPr lang="en-US" sz="1200"/>
              <a:t>• Check.</a:t>
            </a:r>
          </a:p>
          <a:p>
            <a:r>
              <a:rPr lang="en-US" sz="1200"/>
              <a:t>– Marker-positive cells were compared with the classification.</a:t>
            </a:r>
          </a:p>
          <a:p>
            <a:r>
              <a:rPr lang="en-US" sz="1200"/>
              <a:t>– The check confirms or revises the identity.</a:t>
            </a:r>
          </a:p>
          <a:p>
            <a:r>
              <a:rPr lang="en-US" sz="1200"/>
              <a:t>• Meaning.</a:t>
            </a:r>
          </a:p>
          <a:p>
            <a:r>
              <a:rPr lang="en-US" sz="1200"/>
              <a:t>– Firing pattern is linked to neurochemical identity.</a:t>
            </a:r>
          </a:p>
          <a:p>
            <a:r>
              <a:rPr lang="en-US" sz="1200"/>
              <a:t>– Both measures are needed for the identification.</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Gale SD, Perkel DJ (2010a). A Basal Ganglia Pathway Drives Selective Auditory Responses in Songbird Dopaminergic Neurons via Disinhibition. The Journal of Neuroscience 30(3):1027-1037. https://doi.org/10.1523/jneurosci.3585-09.2010</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Playback responses separate song-specific activity from generic sound energy.</a:t>
            </a:r>
          </a:p>
          <a:p>
            <a:r>
              <a:rPr lang="en-US" sz="1200"/>
              <a:t>• Playback.</a:t>
            </a:r>
          </a:p>
          <a:p>
            <a:r>
              <a:rPr lang="en-US" sz="1200"/>
              <a:t>– A recorded sound is played while spikes are recorded.</a:t>
            </a:r>
          </a:p>
          <a:p>
            <a:r>
              <a:rPr lang="en-US" sz="1200"/>
              <a:t>– The response to each sound is compared.</a:t>
            </a:r>
          </a:p>
          <a:p>
            <a:r>
              <a:rPr lang="en-US" sz="1200"/>
              <a:t>• Stimuli.</a:t>
            </a:r>
          </a:p>
          <a:p>
            <a:r>
              <a:rPr lang="en-US" sz="1200"/>
              <a:t>– The bird's own song was compared with other songs.</a:t>
            </a:r>
          </a:p>
          <a:p>
            <a:r>
              <a:rPr lang="en-US" sz="1200"/>
              <a:t>– Simple sounds served as additional comparisons.</a:t>
            </a:r>
          </a:p>
          <a:p>
            <a:r>
              <a:rPr lang="en-US" sz="1200"/>
              <a:t>• Selectivity.</a:t>
            </a:r>
          </a:p>
          <a:p>
            <a:r>
              <a:rPr lang="en-US" sz="1200"/>
              <a:t>– Many neurons responded strongly to self-song.</a:t>
            </a:r>
          </a:p>
          <a:p>
            <a:r>
              <a:rPr lang="en-US" sz="1200"/>
              <a:t>– The response to other songs was weaker.</a:t>
            </a:r>
          </a:p>
          <a:p>
            <a:r>
              <a:rPr lang="en-US" sz="1200"/>
              <a:t>• Controls.</a:t>
            </a:r>
          </a:p>
          <a:p>
            <a:r>
              <a:rPr lang="en-US" sz="1200"/>
              <a:t>– Amplitude-modulated noise and tones match the sound energy.</a:t>
            </a:r>
          </a:p>
          <a:p>
            <a:r>
              <a:rPr lang="en-US" sz="1200"/>
              <a:t>– These controls test for a generic response.</a:t>
            </a:r>
          </a:p>
          <a:p>
            <a:r>
              <a:rPr lang="en-US" sz="1200"/>
              <a:t>• Anesthesia.</a:t>
            </a:r>
          </a:p>
          <a:p>
            <a:r>
              <a:rPr lang="en-US" sz="1200"/>
              <a:t>– The recordings were made in anesthetized adult birds.</a:t>
            </a:r>
          </a:p>
          <a:p>
            <a:r>
              <a:rPr lang="en-US" sz="1200"/>
              <a:t>– The condition limits the interpretation.</a:t>
            </a:r>
          </a:p>
          <a:p>
            <a:r>
              <a:rPr lang="en-US" sz="1200"/>
              <a:t>• Meaning.</a:t>
            </a:r>
          </a:p>
          <a:p>
            <a:r>
              <a:rPr lang="en-US" sz="1200"/>
              <a:t>– LMAN responds to the acoustic structure of learned song.</a:t>
            </a:r>
          </a:p>
          <a:p>
            <a:r>
              <a:rPr lang="en-US" sz="1200"/>
              <a:t>– The response is measured during playback.</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Doupe AJ (1997). Song- and Order-Selective Neurons in the Songbird Anterior Forebrain and their Emergence during Vocal Development. The Journal of Neuroscience 17(3):1147-1167. https://doi.org/10.1523/jneurosci.17-03-01147.1997</a:t>
            </a:r>
          </a:p>
          <a:p>
            <a:r>
              <a:rPr lang="en-US" sz="1200"/>
              <a:t>Gale SD, Perkel DJ (2010a). A Basal Ganglia Pathway Drives Selective Auditory Responses in Songbird Dopaminergic Neurons via Disinhibition. The Journal of Neuroscience 30(3):1027-1037. https://doi.org/10.1523/jneurosci.3585-09.2010</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Two tracer directions reveal the connections in both directions.</a:t>
            </a:r>
          </a:p>
          <a:p>
            <a:r>
              <a:rPr lang="en-US" sz="1200"/>
              <a:t>• Retrograde.</a:t>
            </a:r>
          </a:p>
          <a:p>
            <a:r>
              <a:rPr lang="en-US" sz="1200"/>
              <a:t>– A retrograde tracer labels neurons projecting to the injection site.</a:t>
            </a:r>
          </a:p>
          <a:p>
            <a:r>
              <a:rPr lang="en-US" sz="1200"/>
              <a:t>– It identifies the cells that send the projection.</a:t>
            </a:r>
          </a:p>
          <a:p>
            <a:r>
              <a:rPr lang="en-US" sz="1200"/>
              <a:t>• Anterograde.</a:t>
            </a:r>
          </a:p>
          <a:p>
            <a:r>
              <a:rPr lang="en-US" sz="1200"/>
              <a:t>– An anterograde tracer labels the axons and terminals downstream.</a:t>
            </a:r>
          </a:p>
          <a:p>
            <a:r>
              <a:rPr lang="en-US" sz="1200"/>
              <a:t>– It shows where the projection ends.</a:t>
            </a:r>
          </a:p>
          <a:p>
            <a:r>
              <a:rPr lang="en-US" sz="1200"/>
              <a:t>• Injections.</a:t>
            </a:r>
          </a:p>
          <a:p>
            <a:r>
              <a:rPr lang="en-US" sz="1200"/>
              <a:t>– Injections were placed in Area X and RA.</a:t>
            </a:r>
          </a:p>
          <a:p>
            <a:r>
              <a:rPr lang="en-US" sz="1200"/>
              <a:t>– Labeled neurons and terminals appeared in LMAN.</a:t>
            </a:r>
          </a:p>
          <a:p>
            <a:r>
              <a:rPr lang="en-US" sz="1200"/>
              <a:t>• Output route.</a:t>
            </a:r>
          </a:p>
          <a:p>
            <a:r>
              <a:rPr lang="en-US" sz="1200"/>
              <a:t>– LMAN projects to the basal ganglia region and the motor nucleus.</a:t>
            </a:r>
          </a:p>
          <a:p>
            <a:r>
              <a:rPr lang="en-US" sz="1200"/>
              <a:t>– This route is in addition to the HVC chain.</a:t>
            </a:r>
          </a:p>
          <a:p>
            <a:r>
              <a:rPr lang="en-US" sz="1200"/>
              <a:t>• Combined directions.</a:t>
            </a:r>
          </a:p>
          <a:p>
            <a:r>
              <a:rPr lang="en-US" sz="1200"/>
              <a:t>– Each direction checks the other.</a:t>
            </a:r>
          </a:p>
          <a:p>
            <a:r>
              <a:rPr lang="en-US" sz="1200"/>
              <a:t>– The circuit map is less ambiguous.</a:t>
            </a:r>
          </a:p>
          <a:p>
            <a:r>
              <a:rPr lang="en-US" sz="1200"/>
              <a:t>• Meaning.</a:t>
            </a:r>
          </a:p>
          <a:p>
            <a:r>
              <a:rPr lang="en-US" sz="1200"/>
              <a:t>– The song system is a network with several routes.</a:t>
            </a:r>
          </a:p>
          <a:p>
            <a:r>
              <a:rPr lang="en-US" sz="1200"/>
              <a:t>– LMAN is part of the output side of the circuit.</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Vates GE, Nottebohm F (1995). Feedback circuitry within a song-learning pathway.. Proceedings of the National Academy of Sciences 92(11):5139-5143. https://doi.org/10.1073/pnas.92.11.5139</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Different measures can reveal different developmental changes.</a:t>
            </a:r>
          </a:p>
          <a:p>
            <a:r>
              <a:rPr lang="en-US" sz="1200"/>
              <a:t>• Gain.</a:t>
            </a:r>
          </a:p>
          <a:p>
            <a:r>
              <a:rPr lang="en-US" sz="1200"/>
              <a:t>– Input-to-firing gain relates input current to firing rate.</a:t>
            </a:r>
          </a:p>
          <a:p>
            <a:r>
              <a:rPr lang="en-US" sz="1200"/>
              <a:t>– It is one measure of excitability.</a:t>
            </a:r>
          </a:p>
          <a:p>
            <a:r>
              <a:rPr lang="en-US" sz="1200"/>
              <a:t>• Stages.</a:t>
            </a:r>
          </a:p>
          <a:p>
            <a:r>
              <a:rPr lang="en-US" sz="1200"/>
              <a:t>– Subsong, plastic-song and adult stages were compared.</a:t>
            </a:r>
          </a:p>
          <a:p>
            <a:r>
              <a:rPr lang="en-US" sz="1200"/>
              <a:t>– The same stimulus was used across stages.</a:t>
            </a:r>
          </a:p>
          <a:p>
            <a:r>
              <a:rPr lang="en-US" sz="1200"/>
              <a:t>• Adaptation.</a:t>
            </a:r>
          </a:p>
          <a:p>
            <a:r>
              <a:rPr lang="en-US" sz="1200"/>
              <a:t>– Spike-frequency adaptation was similar across the stages.</a:t>
            </a:r>
          </a:p>
          <a:p>
            <a:r>
              <a:rPr lang="en-US" sz="1200"/>
              <a:t>– This is a second firing property.</a:t>
            </a:r>
          </a:p>
          <a:p>
            <a:r>
              <a:rPr lang="en-US" sz="1200"/>
              <a:t>• Zemel comparison.</a:t>
            </a:r>
          </a:p>
          <a:p>
            <a:r>
              <a:rPr lang="en-US" sz="1200"/>
              <a:t>– Younger 20-day birds were included.</a:t>
            </a:r>
          </a:p>
          <a:p>
            <a:r>
              <a:rPr lang="en-US" sz="1200"/>
              <a:t>– Sodium-current components were isolated.</a:t>
            </a:r>
          </a:p>
          <a:p>
            <a:r>
              <a:rPr lang="en-US" sz="1200"/>
              <a:t>• Maturation.</a:t>
            </a:r>
          </a:p>
          <a:p>
            <a:r>
              <a:rPr lang="en-US" sz="1200"/>
              <a:t>– Resurgent current and spike properties changed strongly.</a:t>
            </a:r>
          </a:p>
          <a:p>
            <a:r>
              <a:rPr lang="en-US" sz="1200"/>
              <a:t>– The change followed the developmental window.</a:t>
            </a:r>
          </a:p>
          <a:p>
            <a:r>
              <a:rPr lang="en-US" sz="1200"/>
              <a:t>• Meaning.</a:t>
            </a:r>
          </a:p>
          <a:p>
            <a:r>
              <a:rPr lang="en-US" sz="1200"/>
              <a:t>– Different properties change at different times.</a:t>
            </a:r>
          </a:p>
          <a:p>
            <a:r>
              <a:rPr lang="en-US" sz="1200"/>
              <a:t>– The developmental account depends on the property measured.</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Garst-Orozco J, Babadi B, Ölveczky BP (2014). A neural circuit mechanism for regulating vocal variability during song learning in zebra finches. eLife 3:e03697. https://doi.org/10.7554/elife.03697</a:t>
            </a:r>
          </a:p>
          <a:p>
            <a:r>
              <a:rPr lang="en-US" sz="1200"/>
              <a:t>Zemel BM, Nevue AA, Dagostin A, Lovell PV, Mello CV, von Gersdorff H (2021). Resurgent Na+ currents promote ultrafast spiking in projection neurons that drive fine motor control. Nature Communications 12(1):6762. https://doi.org/10.1038/s41467-021-26521-3</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HVC inputs strengthen and are then refined.</a:t>
            </a:r>
          </a:p>
          <a:p>
            <a:r>
              <a:rPr lang="en-US" sz="1200"/>
              <a:t>• Stimulation.</a:t>
            </a:r>
          </a:p>
          <a:p>
            <a:r>
              <a:rPr lang="en-US" sz="1200"/>
              <a:t>– Weak stimulation isolates single-fiber responses.</a:t>
            </a:r>
          </a:p>
          <a:p>
            <a:r>
              <a:rPr lang="en-US" sz="1200"/>
              <a:t>– Stronger stimulation recruits the whole input population.</a:t>
            </a:r>
          </a:p>
          <a:p>
            <a:r>
              <a:rPr lang="en-US" sz="1200"/>
              <a:t>• Single fiber.</a:t>
            </a:r>
          </a:p>
          <a:p>
            <a:r>
              <a:rPr lang="en-US" sz="1200"/>
              <a:t>– A single fiber produces a consistent current.</a:t>
            </a:r>
          </a:p>
          <a:p>
            <a:r>
              <a:rPr lang="en-US" sz="1200"/>
              <a:t>– This is the basic unit of the measurement.</a:t>
            </a:r>
          </a:p>
          <a:p>
            <a:r>
              <a:rPr lang="en-US" sz="1200"/>
              <a:t>• Strength.</a:t>
            </a:r>
          </a:p>
          <a:p>
            <a:r>
              <a:rPr lang="en-US" sz="1200"/>
              <a:t>– Median currents rose from about 23 pA to 60 pA.</a:t>
            </a:r>
          </a:p>
          <a:p>
            <a:r>
              <a:rPr lang="en-US" sz="1200"/>
              <a:t>– Subsong and adult birds were compared.</a:t>
            </a:r>
          </a:p>
          <a:p>
            <a:r>
              <a:rPr lang="en-US" sz="1200"/>
              <a:t>• Number.</a:t>
            </a:r>
          </a:p>
          <a:p>
            <a:r>
              <a:rPr lang="en-US" sz="1200"/>
              <a:t>– The number of recruited inputs first increased.</a:t>
            </a:r>
          </a:p>
          <a:p>
            <a:r>
              <a:rPr lang="en-US" sz="1200"/>
              <a:t>– Later in development the number declined.</a:t>
            </a:r>
          </a:p>
          <a:p>
            <a:r>
              <a:rPr lang="en-US" sz="1200"/>
              <a:t>• Refinement.</a:t>
            </a:r>
          </a:p>
          <a:p>
            <a:r>
              <a:rPr lang="en-US" sz="1200"/>
              <a:t>– Connectivity was refined rather than uniformly increased.</a:t>
            </a:r>
          </a:p>
          <a:p>
            <a:r>
              <a:rPr lang="en-US" sz="1200"/>
              <a:t>– Some inputs were strengthened and others reduced.</a:t>
            </a:r>
          </a:p>
          <a:p>
            <a:r>
              <a:rPr lang="en-US" sz="1200"/>
              <a:t>• Meaning.</a:t>
            </a:r>
          </a:p>
          <a:p>
            <a:r>
              <a:rPr lang="en-US" sz="1200"/>
              <a:t>– Strengthening changes how HVC drives RA.</a:t>
            </a:r>
          </a:p>
          <a:p>
            <a:r>
              <a:rPr lang="en-US" sz="1200"/>
              <a:t>– Development shapes which inputs are active.</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Garst-Orozco J, Babadi B, Ölveczky BP (2014). A neural circuit mechanism for regulating vocal variability during song learning in zebra finches. eLife 3:e03697. https://doi.org/10.7554/elife.03697</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Receptor class determines how dopamine acts on RA.</a:t>
            </a:r>
          </a:p>
          <a:p>
            <a:r>
              <a:rPr lang="en-US" sz="1200"/>
              <a:t>• Receptor classes.</a:t>
            </a:r>
          </a:p>
          <a:p>
            <a:r>
              <a:rPr lang="en-US" sz="1200"/>
              <a:t>– D1-like and D2-like receptors signal through different pathways.</a:t>
            </a:r>
          </a:p>
          <a:p>
            <a:r>
              <a:rPr lang="en-US" sz="1200"/>
              <a:t>– They are pharmacologically distinct.</a:t>
            </a:r>
          </a:p>
          <a:p>
            <a:r>
              <a:rPr lang="en-US" sz="1200"/>
              <a:t>• Agonists.</a:t>
            </a:r>
          </a:p>
          <a:p>
            <a:r>
              <a:rPr lang="en-US" sz="1200"/>
              <a:t>– Each class was tested with its own agonist.</a:t>
            </a:r>
          </a:p>
          <a:p>
            <a:r>
              <a:rPr lang="en-US" sz="1200"/>
              <a:t>– The agonists were applied to RA neurons.</a:t>
            </a:r>
          </a:p>
          <a:p>
            <a:r>
              <a:rPr lang="en-US" sz="1200"/>
              <a:t>• D2-like result.</a:t>
            </a:r>
          </a:p>
          <a:p>
            <a:r>
              <a:rPr lang="en-US" sz="1200"/>
              <a:t>– Quinpirole did not produce the strong increase.</a:t>
            </a:r>
          </a:p>
          <a:p>
            <a:r>
              <a:rPr lang="en-US" sz="1200"/>
              <a:t>– The effect was weaker than that of dopamine.</a:t>
            </a:r>
          </a:p>
          <a:p>
            <a:r>
              <a:rPr lang="en-US" sz="1200"/>
              <a:t>• D1-like result.</a:t>
            </a:r>
          </a:p>
          <a:p>
            <a:r>
              <a:rPr lang="en-US" sz="1200"/>
              <a:t>– The D1-like agonist produced a comparable increase.</a:t>
            </a:r>
          </a:p>
          <a:p>
            <a:r>
              <a:rPr lang="en-US" sz="1200"/>
              <a:t>– This matches the effect of dopamine.</a:t>
            </a:r>
          </a:p>
          <a:p>
            <a:r>
              <a:rPr lang="en-US" sz="1200"/>
              <a:t>• Comparison.</a:t>
            </a:r>
          </a:p>
          <a:p>
            <a:r>
              <a:rPr lang="en-US" sz="1200"/>
              <a:t>– The two classes differ in their effect.</a:t>
            </a:r>
          </a:p>
          <a:p>
            <a:r>
              <a:rPr lang="en-US" sz="1200"/>
              <a:t>– The difference is what the experiment tests.</a:t>
            </a:r>
          </a:p>
          <a:p>
            <a:r>
              <a:rPr lang="en-US" sz="1200"/>
              <a:t>• Meaning.</a:t>
            </a:r>
          </a:p>
          <a:p>
            <a:r>
              <a:rPr lang="en-US" sz="1200"/>
              <a:t>– One transmitter can act through several receptor types.</a:t>
            </a:r>
          </a:p>
          <a:p>
            <a:r>
              <a:rPr lang="en-US" sz="1200"/>
              <a:t>– The receptor type controls the response.</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Liao C, Wang S, Pan X, Hou G, Li D (2013). Dopamine Modulates the Excitability of Projection Neurons in the Robust Nucleus of the Arcopallium in Adult Zebra Finches. PLoS ONE 8(12):e82497. https://doi.org/10.1371/journal.pone.0082497</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Dopamine increases the excitability of RA neurons.</a:t>
            </a:r>
          </a:p>
          <a:p>
            <a:r>
              <a:rPr lang="en-US" sz="1200"/>
              <a:t>• Preparation.</a:t>
            </a:r>
          </a:p>
          <a:p>
            <a:r>
              <a:rPr lang="en-US" sz="1200"/>
              <a:t>– Adult male RA projection neurons were recorded.</a:t>
            </a:r>
          </a:p>
          <a:p>
            <a:r>
              <a:rPr lang="en-US" sz="1200"/>
              <a:t>– The injected current was controlled.</a:t>
            </a:r>
          </a:p>
          <a:p>
            <a:r>
              <a:rPr lang="en-US" sz="1200"/>
              <a:t>• Application.</a:t>
            </a:r>
          </a:p>
          <a:p>
            <a:r>
              <a:rPr lang="en-US" sz="1200"/>
              <a:t>– Dopamine was applied at 50 µM.</a:t>
            </a:r>
          </a:p>
          <a:p>
            <a:r>
              <a:rPr lang="en-US" sz="1200"/>
              <a:t>– The drug was applied to the bath.</a:t>
            </a:r>
          </a:p>
          <a:p>
            <a:r>
              <a:rPr lang="en-US" sz="1200"/>
              <a:t>• Firing.</a:t>
            </a:r>
          </a:p>
          <a:p>
            <a:r>
              <a:rPr lang="en-US" sz="1200"/>
              <a:t>– Firing rose during the application.</a:t>
            </a:r>
          </a:p>
          <a:p>
            <a:r>
              <a:rPr lang="en-US" sz="1200"/>
              <a:t>– The rise was about 1.38 times baseline.</a:t>
            </a:r>
          </a:p>
          <a:p>
            <a:r>
              <a:rPr lang="en-US" sz="1200"/>
              <a:t>• Voltage.</a:t>
            </a:r>
          </a:p>
          <a:p>
            <a:r>
              <a:rPr lang="en-US" sz="1200"/>
              <a:t>– The membrane potential became less negative.</a:t>
            </a:r>
          </a:p>
          <a:p>
            <a:r>
              <a:rPr lang="en-US" sz="1200"/>
              <a:t>– The neuron moved closer to threshold.</a:t>
            </a:r>
          </a:p>
          <a:p>
            <a:r>
              <a:rPr lang="en-US" sz="1200"/>
              <a:t>• Reversal.</a:t>
            </a:r>
          </a:p>
          <a:p>
            <a:r>
              <a:rPr lang="en-US" sz="1200"/>
              <a:t>– The effect reversed after washout.</a:t>
            </a:r>
          </a:p>
          <a:p>
            <a:r>
              <a:rPr lang="en-US" sz="1200"/>
              <a:t>– The same cell returned toward baseline.</a:t>
            </a:r>
          </a:p>
          <a:p>
            <a:r>
              <a:rPr lang="en-US" sz="1200"/>
              <a:t>• Meaning.</a:t>
            </a:r>
          </a:p>
          <a:p>
            <a:r>
              <a:rPr lang="en-US" sz="1200"/>
              <a:t>– Dopamine makes RA neurons more likely to fire.</a:t>
            </a:r>
          </a:p>
          <a:p>
            <a:r>
              <a:rPr lang="en-US" sz="1200"/>
              <a:t>– The effect is a candidate for song-related modulation.</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Liao C, Wang S, Pan X, Hou G, Li D (2013). Dopamine Modulates the Excitability of Projection Neurons in the Robust Nucleus of the Arcopallium in Adult Zebra Finches. PLoS ONE 8(12):e82497. https://doi.org/10.1371/journal.pone.0082497</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Apamin separates spike timing from firing rate.</a:t>
            </a:r>
          </a:p>
          <a:p>
            <a:r>
              <a:rPr lang="en-US" sz="1200"/>
              <a:t>• Drug.</a:t>
            </a:r>
          </a:p>
          <a:p>
            <a:r>
              <a:rPr lang="en-US" sz="1200"/>
              <a:t>– Apamin blocks SK channels.</a:t>
            </a:r>
          </a:p>
          <a:p>
            <a:r>
              <a:rPr lang="en-US" sz="1200"/>
              <a:t>– SK channels are calcium-activated potassium channels.</a:t>
            </a:r>
          </a:p>
          <a:p>
            <a:r>
              <a:rPr lang="en-US" sz="1200"/>
              <a:t>• Design.</a:t>
            </a:r>
          </a:p>
          <a:p>
            <a:r>
              <a:rPr lang="en-US" sz="1200"/>
              <a:t>– The same RA neurons were recorded before and after the drug.</a:t>
            </a:r>
          </a:p>
          <a:p>
            <a:r>
              <a:rPr lang="en-US" sz="1200"/>
              <a:t>– Spontaneous spike trains were compared.</a:t>
            </a:r>
          </a:p>
          <a:p>
            <a:r>
              <a:rPr lang="en-US" sz="1200"/>
              <a:t>• Interval.</a:t>
            </a:r>
          </a:p>
          <a:p>
            <a:r>
              <a:rPr lang="en-US" sz="1200"/>
              <a:t>– Intervals between spikes became more variable.</a:t>
            </a:r>
          </a:p>
          <a:p>
            <a:r>
              <a:rPr lang="en-US" sz="1200"/>
              <a:t>– The variation was the main effect.</a:t>
            </a:r>
          </a:p>
          <a:p>
            <a:r>
              <a:rPr lang="en-US" sz="1200"/>
              <a:t>• Rate.</a:t>
            </a:r>
          </a:p>
          <a:p>
            <a:r>
              <a:rPr lang="en-US" sz="1200"/>
              <a:t>– The average firing rate changed little.</a:t>
            </a:r>
          </a:p>
          <a:p>
            <a:r>
              <a:rPr lang="en-US" sz="1200"/>
              <a:t>– Rate and regularity are separate properties.</a:t>
            </a:r>
          </a:p>
          <a:p>
            <a:r>
              <a:rPr lang="en-US" sz="1200"/>
              <a:t>• Threshold.</a:t>
            </a:r>
          </a:p>
          <a:p>
            <a:r>
              <a:rPr lang="en-US" sz="1200"/>
              <a:t>– SK channels shape the return toward threshold.</a:t>
            </a:r>
          </a:p>
          <a:p>
            <a:r>
              <a:rPr lang="en-US" sz="1200"/>
              <a:t>– This shapes the timing of the next spike.</a:t>
            </a:r>
          </a:p>
          <a:p>
            <a:r>
              <a:rPr lang="en-US" sz="1200"/>
              <a:t>• Meaning.</a:t>
            </a:r>
          </a:p>
          <a:p>
            <a:r>
              <a:rPr lang="en-US" sz="1200"/>
              <a:t>– Regularity and rate can be changed independently.</a:t>
            </a:r>
          </a:p>
          <a:p>
            <a:r>
              <a:rPr lang="en-US" sz="1200"/>
              <a:t>– Each property needs its own measure.</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Hou GQ, Pan X, Liao CS, Wang SH, Li DF (2012). SK channels modulate the excitability and firing precision of projection neurons in the robust nucleus of the arcopallium in adult male zebra finches. Neuroscience Bulletin 28(3):271-281. https://doi.org/10.1007/s12264-012-1241-7</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Dynamic clamp tests the effect of a current directly.</a:t>
            </a:r>
          </a:p>
          <a:p>
            <a:r>
              <a:rPr lang="en-US" sz="1200"/>
              <a:t>• Method.</a:t>
            </a:r>
          </a:p>
          <a:p>
            <a:r>
              <a:rPr lang="en-US" sz="1200"/>
              <a:t>– Dynamic clamp computes a current from the voltage in real time.</a:t>
            </a:r>
          </a:p>
          <a:p>
            <a:r>
              <a:rPr lang="en-US" sz="1200"/>
              <a:t>– The current is injected into a real neuron.</a:t>
            </a:r>
          </a:p>
          <a:p>
            <a:r>
              <a:rPr lang="en-US" sz="1200"/>
              <a:t>• Juvenile.</a:t>
            </a:r>
          </a:p>
          <a:p>
            <a:r>
              <a:rPr lang="en-US" sz="1200"/>
              <a:t>– A resurgent-current component was added to juvenile neurons.</a:t>
            </a:r>
          </a:p>
          <a:p>
            <a:r>
              <a:rPr lang="en-US" sz="1200"/>
              <a:t>– Firing frequency increased.</a:t>
            </a:r>
          </a:p>
          <a:p>
            <a:r>
              <a:rPr lang="en-US" sz="1200"/>
              <a:t>• Adult.</a:t>
            </a:r>
          </a:p>
          <a:p>
            <a:r>
              <a:rPr lang="en-US" sz="1200"/>
              <a:t>– The component was subtracted from adult neurons.</a:t>
            </a:r>
          </a:p>
          <a:p>
            <a:r>
              <a:rPr lang="en-US" sz="1200"/>
              <a:t>– Firing decreased.</a:t>
            </a:r>
          </a:p>
          <a:p>
            <a:r>
              <a:rPr lang="en-US" sz="1200"/>
              <a:t>• Within-cell design.</a:t>
            </a:r>
          </a:p>
          <a:p>
            <a:r>
              <a:rPr lang="en-US" sz="1200"/>
              <a:t>– The same cell was tested with the intervention off and on.</a:t>
            </a:r>
          </a:p>
          <a:p>
            <a:r>
              <a:rPr lang="en-US" sz="1200"/>
              <a:t>– This isolates the immediate effect.</a:t>
            </a:r>
          </a:p>
          <a:p>
            <a:r>
              <a:rPr lang="en-US" sz="1200"/>
              <a:t>• Calibration.</a:t>
            </a:r>
          </a:p>
          <a:p>
            <a:r>
              <a:rPr lang="en-US" sz="1200"/>
              <a:t>– The conductance was matched to the measured kinetics.</a:t>
            </a:r>
          </a:p>
          <a:p>
            <a:r>
              <a:rPr lang="en-US" sz="1200"/>
              <a:t>– The added current resembles the recorded current.</a:t>
            </a:r>
          </a:p>
          <a:p>
            <a:r>
              <a:rPr lang="en-US" sz="1200"/>
              <a:t>• Meaning.</a:t>
            </a:r>
          </a:p>
          <a:p>
            <a:r>
              <a:rPr lang="en-US" sz="1200"/>
              <a:t>– The current contributes to firing rather than only correlating with it.</a:t>
            </a:r>
          </a:p>
          <a:p>
            <a:r>
              <a:rPr lang="en-US" sz="1200"/>
              <a:t>– The experiment is a causal test.</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Zemel BM, Nevue AA, Dagostin A, Lovell PV, Mello CV, von Gersdorff H (2021). Resurgent Na+ currents promote ultrafast spiking in projection neurons that drive fine motor control. Nature Communications 12(1):6762. https://doi.org/10.1038/s41467-021-26521-3</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Resurgent current grows with age in male RA neurons.</a:t>
            </a:r>
          </a:p>
          <a:p>
            <a:r>
              <a:rPr lang="en-US" sz="1200"/>
              <a:t>• Current.</a:t>
            </a:r>
          </a:p>
          <a:p>
            <a:r>
              <a:rPr lang="en-US" sz="1200"/>
              <a:t>– Resurgent current appears as the membrane repolarizes.</a:t>
            </a:r>
          </a:p>
          <a:p>
            <a:r>
              <a:rPr lang="en-US" sz="1200"/>
              <a:t>– It is distinct from the transient current.</a:t>
            </a:r>
          </a:p>
          <a:p>
            <a:r>
              <a:rPr lang="en-US" sz="1200"/>
              <a:t>• Comparison.</a:t>
            </a:r>
          </a:p>
          <a:p>
            <a:r>
              <a:rPr lang="en-US" sz="1200"/>
              <a:t>– Both currents were measured in the same sweep.</a:t>
            </a:r>
          </a:p>
          <a:p>
            <a:r>
              <a:rPr lang="en-US" sz="1200"/>
              <a:t>– The comparison isolates the resurgent component.</a:t>
            </a:r>
          </a:p>
          <a:p>
            <a:r>
              <a:rPr lang="en-US" sz="1200"/>
              <a:t>• Ages.</a:t>
            </a:r>
          </a:p>
          <a:p>
            <a:r>
              <a:rPr lang="en-US" sz="1200"/>
              <a:t>– Birds were recorded at 20, 35 and 50 days and in adulthood.</a:t>
            </a:r>
          </a:p>
          <a:p>
            <a:r>
              <a:rPr lang="en-US" sz="1200"/>
              <a:t>– The same voltage protocol was used at each age.</a:t>
            </a:r>
          </a:p>
          <a:p>
            <a:r>
              <a:rPr lang="en-US" sz="1200"/>
              <a:t>• Normalization.</a:t>
            </a:r>
          </a:p>
          <a:p>
            <a:r>
              <a:rPr lang="en-US" sz="1200"/>
              <a:t>– The increase persisted after normalizing to the transient current.</a:t>
            </a:r>
          </a:p>
          <a:p>
            <a:r>
              <a:rPr lang="en-US" sz="1200"/>
              <a:t>– The change is specific to the resurgent component.</a:t>
            </a:r>
          </a:p>
          <a:p>
            <a:r>
              <a:rPr lang="en-US" sz="1200"/>
              <a:t>• Development.</a:t>
            </a:r>
          </a:p>
          <a:p>
            <a:r>
              <a:rPr lang="en-US" sz="1200"/>
              <a:t>– The increase follows the maturation of the sodium channels.</a:t>
            </a:r>
          </a:p>
          <a:p>
            <a:r>
              <a:rPr lang="en-US" sz="1200"/>
              <a:t>– The current grows across the song-learning period.</a:t>
            </a:r>
          </a:p>
          <a:p>
            <a:r>
              <a:rPr lang="en-US" sz="1200"/>
              <a:t>• Meaning.</a:t>
            </a:r>
          </a:p>
          <a:p>
            <a:r>
              <a:rPr lang="en-US" sz="1200"/>
              <a:t>– Resurgent current is a candidate for faster firing.</a:t>
            </a:r>
          </a:p>
          <a:p>
            <a:r>
              <a:rPr lang="en-US" sz="1200"/>
              <a:t>– It may help mature neurons fire quickly.</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Zemel BM, Nevue AA, Dagostin A, Lovell PV, Mello CV, von Gersdorff H (2021). Resurgent Na+ currents promote ultrafast spiking in projection neurons that drive fine motor control. Nature Communications 12(1):6762. https://doi.org/10.1038/s41467-021-26521-3</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Temperature changes both spike width and firing rate.</a:t>
            </a:r>
          </a:p>
          <a:p>
            <a:r>
              <a:rPr lang="en-US" sz="1200"/>
              <a:t>• Half-width.</a:t>
            </a:r>
          </a:p>
          <a:p>
            <a:r>
              <a:rPr lang="en-US" sz="1200"/>
              <a:t>– Spike half-width is the duration at half the peak height.</a:t>
            </a:r>
          </a:p>
          <a:p>
            <a:r>
              <a:rPr lang="en-US" sz="1200"/>
              <a:t>– The spikes measured here were very brief.</a:t>
            </a:r>
          </a:p>
          <a:p>
            <a:r>
              <a:rPr lang="en-US" sz="1200"/>
              <a:t>• Temperature.</a:t>
            </a:r>
          </a:p>
          <a:p>
            <a:r>
              <a:rPr lang="en-US" sz="1200"/>
              <a:t>– The recordings were made at about 40 °C.</a:t>
            </a:r>
          </a:p>
          <a:p>
            <a:r>
              <a:rPr lang="en-US" sz="1200"/>
              <a:t>– This is close to the bird's body temperature.</a:t>
            </a:r>
          </a:p>
          <a:p>
            <a:r>
              <a:rPr lang="en-US" sz="1200"/>
              <a:t>• Value.</a:t>
            </a:r>
          </a:p>
          <a:p>
            <a:r>
              <a:rPr lang="en-US" sz="1200"/>
              <a:t>– The half-width was about 0.18 ms.</a:t>
            </a:r>
          </a:p>
          <a:p>
            <a:r>
              <a:rPr lang="en-US" sz="1200"/>
              <a:t>– This is a fast spike.</a:t>
            </a:r>
          </a:p>
          <a:p>
            <a:r>
              <a:rPr lang="en-US" sz="1200"/>
              <a:t>• Rate.</a:t>
            </a:r>
          </a:p>
          <a:p>
            <a:r>
              <a:rPr lang="en-US" sz="1200"/>
              <a:t>– Spontaneous firing was about fourfold faster than at room temperature.</a:t>
            </a:r>
          </a:p>
          <a:p>
            <a:r>
              <a:rPr lang="en-US" sz="1200"/>
              <a:t>– The difference is large.</a:t>
            </a:r>
          </a:p>
          <a:p>
            <a:r>
              <a:rPr lang="en-US" sz="1200"/>
              <a:t>• Trains.</a:t>
            </a:r>
          </a:p>
          <a:p>
            <a:r>
              <a:rPr lang="en-US" sz="1200"/>
              <a:t>– Depolarizing current evoked sustained rapid spikes.</a:t>
            </a:r>
          </a:p>
          <a:p>
            <a:r>
              <a:rPr lang="en-US" sz="1200"/>
              <a:t>– The neurons could fire quickly when driven.</a:t>
            </a:r>
          </a:p>
          <a:p>
            <a:r>
              <a:rPr lang="en-US" sz="1200"/>
              <a:t>• Meaning.</a:t>
            </a:r>
          </a:p>
          <a:p>
            <a:r>
              <a:rPr lang="en-US" sz="1200"/>
              <a:t>– Temperature changes the timing profile of the same cell.</a:t>
            </a:r>
          </a:p>
          <a:p>
            <a:r>
              <a:rPr lang="en-US" sz="1200"/>
              <a:t>– Spike timing depends on conditions.</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Zemel BM, Nevue AA, Dagostin A, Lovell PV, Mello CV, von Gersdorff H (2021). Resurgent Na+ currents promote ultrafast spiking in projection neurons that drive fine motor control. Nature Communications 12(1):6762. https://doi.org/10.1038/s41467-021-26521-3</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Local collaterals differ among cells with the same target.</a:t>
            </a:r>
          </a:p>
          <a:p>
            <a:r>
              <a:rPr lang="en-US" sz="1200"/>
              <a:t>• Definition.</a:t>
            </a:r>
          </a:p>
          <a:p>
            <a:r>
              <a:rPr lang="en-US" sz="1200"/>
              <a:t>– A local collateral stays within HVC.</a:t>
            </a:r>
          </a:p>
          <a:p>
            <a:r>
              <a:rPr lang="en-US" sz="1200"/>
              <a:t>– It is a branch of the same cell's axon.</a:t>
            </a:r>
          </a:p>
          <a:p>
            <a:r>
              <a:rPr lang="en-US" sz="1200"/>
              <a:t>• Target.</a:t>
            </a:r>
          </a:p>
          <a:p>
            <a:r>
              <a:rPr lang="en-US" sz="1200"/>
              <a:t>– HVC(RA) neurons send their long axons to RA.</a:t>
            </a:r>
          </a:p>
          <a:p>
            <a:r>
              <a:rPr lang="en-US" sz="1200"/>
              <a:t>– Those long axons define the projection.</a:t>
            </a:r>
          </a:p>
          <a:p>
            <a:r>
              <a:rPr lang="en-US" sz="1200"/>
              <a:t>• Local arbor.</a:t>
            </a:r>
          </a:p>
          <a:p>
            <a:r>
              <a:rPr lang="en-US" sz="1200"/>
              <a:t>– Some cells keep branches near the cell body.</a:t>
            </a:r>
          </a:p>
          <a:p>
            <a:r>
              <a:rPr lang="en-US" sz="1200"/>
              <a:t>– Others spread branches across HVC.</a:t>
            </a:r>
          </a:p>
          <a:p>
            <a:r>
              <a:rPr lang="en-US" sz="1200"/>
              <a:t>• Variation.</a:t>
            </a:r>
          </a:p>
          <a:p>
            <a:r>
              <a:rPr lang="en-US" sz="1200"/>
              <a:t>– The variation appears within one projection class.</a:t>
            </a:r>
          </a:p>
          <a:p>
            <a:r>
              <a:rPr lang="en-US" sz="1200"/>
              <a:t>– The target alone does not set the arbor.</a:t>
            </a:r>
          </a:p>
          <a:p>
            <a:r>
              <a:rPr lang="en-US" sz="1200"/>
              <a:t>• Network position.</a:t>
            </a:r>
          </a:p>
          <a:p>
            <a:r>
              <a:rPr lang="en-US" sz="1200"/>
              <a:t>– Local branches place each cell in the HVC network.</a:t>
            </a:r>
          </a:p>
          <a:p>
            <a:r>
              <a:rPr lang="en-US" sz="1200"/>
              <a:t>– Each cell contacts a different amount of tissue.</a:t>
            </a:r>
          </a:p>
          <a:p>
            <a:r>
              <a:rPr lang="en-US" sz="1200"/>
              <a:t>• Meaning.</a:t>
            </a:r>
          </a:p>
          <a:p>
            <a:r>
              <a:rPr lang="en-US" sz="1200"/>
              <a:t>– Local output is a property of each cell.</a:t>
            </a:r>
          </a:p>
          <a:p>
            <a:r>
              <a:rPr lang="en-US" sz="1200"/>
              <a:t>– It adds to the long-range projection.</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Benezra SE, Narayanan RT, Egger R, Oberlaender M, Long MA (2018). Morphological characterization of HVC projection neurons in the zebra finch (Taeniopygia guttata). Journal of Comparative Neurology 526(10):1673-1689. https://doi.org/10.1002/cne.24437</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Single-cell filling connects projection identity to structure.</a:t>
            </a:r>
          </a:p>
          <a:p>
            <a:r>
              <a:rPr lang="en-US" sz="1200"/>
              <a:t>• Filling.</a:t>
            </a:r>
          </a:p>
          <a:p>
            <a:r>
              <a:rPr lang="en-US" sz="1200"/>
              <a:t>– One neuron is labeled completely.</a:t>
            </a:r>
          </a:p>
          <a:p>
            <a:r>
              <a:rPr lang="en-US" sz="1200"/>
              <a:t>– Its dendrites and axons are then traced.</a:t>
            </a:r>
          </a:p>
          <a:p>
            <a:r>
              <a:rPr lang="en-US" sz="1200"/>
              <a:t>• Targeting.</a:t>
            </a:r>
          </a:p>
          <a:p>
            <a:r>
              <a:rPr lang="en-US" sz="1200"/>
              <a:t>– Cells were labeled through their output targets.</a:t>
            </a:r>
          </a:p>
          <a:p>
            <a:r>
              <a:rPr lang="en-US" sz="1200"/>
              <a:t>– The label identifies the projection.</a:t>
            </a:r>
          </a:p>
          <a:p>
            <a:r>
              <a:rPr lang="en-US" sz="1200"/>
              <a:t>• Imaging.</a:t>
            </a:r>
          </a:p>
          <a:p>
            <a:r>
              <a:rPr lang="en-US" sz="1200"/>
              <a:t>– Two-photon imaging resolved fine branches.</a:t>
            </a:r>
          </a:p>
          <a:p>
            <a:r>
              <a:rPr lang="en-US" sz="1200"/>
              <a:t>– The fine branches are often hidden in dense labeling.</a:t>
            </a:r>
          </a:p>
          <a:p>
            <a:r>
              <a:rPr lang="en-US" sz="1200"/>
              <a:t>• Reconstruction.</a:t>
            </a:r>
          </a:p>
          <a:p>
            <a:r>
              <a:rPr lang="en-US" sz="1200"/>
              <a:t>– Serial sections allow tracing across slices.</a:t>
            </a:r>
          </a:p>
          <a:p>
            <a:r>
              <a:rPr lang="en-US" sz="1200"/>
              <a:t>– Each arbor is followed from start to end.</a:t>
            </a:r>
          </a:p>
          <a:p>
            <a:r>
              <a:rPr lang="en-US" sz="1200"/>
              <a:t>• Isolation.</a:t>
            </a:r>
          </a:p>
          <a:p>
            <a:r>
              <a:rPr lang="en-US" sz="1200"/>
              <a:t>– A single cell is separated from its neighbors.</a:t>
            </a:r>
          </a:p>
          <a:p>
            <a:r>
              <a:rPr lang="en-US" sz="1200"/>
              <a:t>– Its branching pattern can be read clearly.</a:t>
            </a:r>
          </a:p>
          <a:p>
            <a:r>
              <a:rPr lang="en-US" sz="1200"/>
              <a:t>• Meaning.</a:t>
            </a:r>
          </a:p>
          <a:p>
            <a:r>
              <a:rPr lang="en-US" sz="1200"/>
              <a:t>– Each reconstruction gives one neuron's full shape.</a:t>
            </a:r>
          </a:p>
          <a:p>
            <a:r>
              <a:rPr lang="en-US" sz="1200"/>
              <a:t>– The shape can be compared across the population.</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Benezra SE, Narayanan RT, Egger R, Oberlaender M, Long MA (2018). Morphological characterization of HVC projection neurons in the zebra finch (Taeniopygia guttata). Journal of Comparative Neurology 526(10):1673-1689. https://doi.org/10.1002/cne.24437</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Degeneration staining follows the output of a lesioned region.</a:t>
            </a:r>
          </a:p>
          <a:p>
            <a:r>
              <a:rPr lang="en-US" sz="1200"/>
              <a:t>• Stain.</a:t>
            </a:r>
          </a:p>
          <a:p>
            <a:r>
              <a:rPr lang="en-US" sz="1200"/>
              <a:t>– Fink–Heimer staining reveals degenerating fibers and terminals.</a:t>
            </a:r>
          </a:p>
          <a:p>
            <a:r>
              <a:rPr lang="en-US" sz="1200"/>
              <a:t>– Only processes that lost their cell body are labeled.</a:t>
            </a:r>
          </a:p>
          <a:p>
            <a:r>
              <a:rPr lang="en-US" sz="1200"/>
              <a:t>• Lesion.</a:t>
            </a:r>
          </a:p>
          <a:p>
            <a:r>
              <a:rPr lang="en-US" sz="1200"/>
              <a:t>– The lesions targeted the region historically called HVc.</a:t>
            </a:r>
          </a:p>
          <a:p>
            <a:r>
              <a:rPr lang="en-US" sz="1200"/>
              <a:t>– Each lesion has a known starting point.</a:t>
            </a:r>
          </a:p>
          <a:p>
            <a:r>
              <a:rPr lang="en-US" sz="1200"/>
              <a:t>• Target.</a:t>
            </a:r>
          </a:p>
          <a:p>
            <a:r>
              <a:rPr lang="en-US" sz="1200"/>
              <a:t>– Degeneration appeared in RA.</a:t>
            </a:r>
          </a:p>
          <a:p>
            <a:r>
              <a:rPr lang="en-US" sz="1200"/>
              <a:t>– RA receives the output of HVc.</a:t>
            </a:r>
          </a:p>
          <a:p>
            <a:r>
              <a:rPr lang="en-US" sz="1200"/>
              <a:t>• Descending output.</a:t>
            </a:r>
          </a:p>
          <a:p>
            <a:r>
              <a:rPr lang="en-US" sz="1200"/>
              <a:t>– RA connects to descending pathways.</a:t>
            </a:r>
          </a:p>
          <a:p>
            <a:r>
              <a:rPr lang="en-US" sz="1200"/>
              <a:t>– These pathways reach the vocal motor structures.</a:t>
            </a:r>
          </a:p>
          <a:p>
            <a:r>
              <a:rPr lang="en-US" sz="1200"/>
              <a:t>• Combined evidence.</a:t>
            </a:r>
          </a:p>
          <a:p>
            <a:r>
              <a:rPr lang="en-US" sz="1200"/>
              <a:t>– Lesion location and degeneration pattern agree.</a:t>
            </a:r>
          </a:p>
          <a:p>
            <a:r>
              <a:rPr lang="en-US" sz="1200"/>
              <a:t>– Both point to the same chain of nuclei.</a:t>
            </a:r>
          </a:p>
          <a:p>
            <a:r>
              <a:rPr lang="en-US" sz="1200"/>
              <a:t>• Meaning.</a:t>
            </a:r>
          </a:p>
          <a:p>
            <a:r>
              <a:rPr lang="en-US" sz="1200"/>
              <a:t>– Anatomy gives the direction of the pathway.</a:t>
            </a:r>
          </a:p>
          <a:p>
            <a:r>
              <a:rPr lang="en-US" sz="1200"/>
              <a:t>– The direction is independent of the song changes.</a:t>
            </a:r>
          </a:p>
          <a:p>
            <a:r>
              <a:rPr lang="en-US" sz="1200"/>
              <a:t>• Source values.</a:t>
            </a:r>
          </a:p>
          <a:p>
            <a:r>
              <a:rPr lang="en-US" sz="1200"/>
              <a:t>– The published values and recording conditions come from the original paper.</a:t>
            </a:r>
          </a:p>
          <a:p>
            <a:r>
              <a:rPr lang="en-US" sz="1200"/>
              <a:t>– Each value is reported with the scale or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cells or the same birds.</a:t>
            </a:r>
          </a:p>
          <a:p>
            <a:r>
              <a:rPr lang="en-US" sz="1200"/>
              <a:t>• Interpretation.</a:t>
            </a:r>
          </a:p>
          <a:p>
            <a:r>
              <a:rPr lang="en-US" sz="1200"/>
              <a:t>– Each result is read within the preparation and the age group that produced it.</a:t>
            </a:r>
          </a:p>
          <a:p>
            <a:r>
              <a:rPr lang="en-US" sz="1200"/>
              <a:t>– The claim is restricted to the measured cells and conditions.</a:t>
            </a:r>
          </a:p>
          <a:p>
            <a:r>
              <a:rPr lang="en-US" sz="1200"/>
              <a:t/>
            </a:r>
          </a:p>
          <a:p>
            <a:r>
              <a:rPr lang="en-US" sz="1200"/>
              <a:t>References:</a:t>
            </a:r>
          </a:p>
          <a:p>
            <a:r>
              <a:rPr lang="en-US" sz="1200"/>
              <a:t>Nottebohm F, Stokes TM, Leonard CM (1976). Central control of song in the canary, Serinus canarius. Journal of Comparative Neurology 165(4):457-486. https://doi.org/10.1002/cne.901650405</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2.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1.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7.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8.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3.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2.png"/><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7.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6.png"/><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 Id="rId3" Type="http://schemas.openxmlformats.org/officeDocument/2006/relationships/image" Target="../media/image39.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39.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image" Target="../media/image19.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image" Target="../media/image19.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19.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19.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9.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E6EBE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2697B"/>
              </a:buClr>
              <a:buSzPts val="1200"/>
              <a:buFont typeface="Arial"/>
              <a:buNone/>
            </a:pPr>
            <a:r>
              <a:rPr b="0" i="0" lang="en-US" sz="1200">
                <a:solidFill>
                  <a:srgbClr val="52697B"/>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4367039"/>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52697B"/>
              </a:buClr>
              <a:buSzPts val="1800"/>
              <a:buFont typeface="Arial"/>
              <a:buNone/>
            </a:pPr>
            <a:r>
              <a:rPr b="0" i="0" lang="en-US" sz="1500">
                <a:solidFill>
                  <a:srgbClr val="52697B"/>
                </a:solidFill>
                <a:latin typeface="Arial"/>
                <a:ea typeface="Arial"/>
                <a:cs typeface="Arial"/>
                <a:sym typeface="Arial"/>
              </a:rPr>
              <a:t>Lecture 32</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D4355"/>
              </a:buClr>
              <a:buSzPts val="2500"/>
              <a:buFont typeface="Arial"/>
              <a:buNone/>
            </a:pPr>
            <a:r>
              <a:rPr b="1" i="0" lang="en-US" sz="1500">
                <a:solidFill>
                  <a:srgbClr val="252E36"/>
                </a:solidFill>
                <a:latin typeface="Arial"/>
                <a:ea typeface="Arial"/>
                <a:cs typeface="Arial"/>
                <a:sym typeface="Arial"/>
              </a:rPr>
              <a:t>Vocal communication I: songbird song-system anatomy — HVC–RA–Area X </a:t>
            </a:r>
            <a:r>
              <a:rPr b="1" lang="en-US" sz="1500">
                <a:solidFill>
                  <a:srgbClr val="252E36"/>
                </a:solidFill>
              </a:rPr>
              <a:t>&amp; LMAN (Nottebohm, Bottjer, Doupe)</a:t>
            </a:r>
            <a:endParaRPr b="1" sz="2500">
              <a:solidFill>
                <a:srgbClr val="252E36"/>
              </a:solidFill>
              <a:latin typeface="Calibri"/>
              <a:ea typeface="Calibri"/>
              <a:cs typeface="Calibri"/>
              <a:sym typeface="Calibri"/>
            </a:endParaRPr>
          </a:p>
          <a:p>
            <a:pPr indent="0" lvl="0" marL="0" marR="0" rtl="0" algn="l">
              <a:lnSpc>
                <a:spcPct val="108000"/>
              </a:lnSpc>
              <a:spcAft>
                <a:spcPts val="1200"/>
              </a:spcAft>
              <a:buClr>
                <a:srgbClr val="52697B"/>
              </a:buClr>
              <a:buSzPts val="1600"/>
              <a:buFont typeface="Arial"/>
              <a:buNone/>
            </a:pPr>
            <a:r>
              <a:rPr b="0" i="0" lang="en-US" sz="1500">
                <a:solidFill>
                  <a:srgbClr val="52697B"/>
                </a:solidFill>
                <a:latin typeface="Arial"/>
                <a:ea typeface="Arial"/>
                <a:cs typeface="Arial"/>
                <a:sym typeface="Arial"/>
              </a:rPr>
              <a:t>Monday, November 9, 2026</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52697B"/>
              </a:buClr>
              <a:buSzPts val="1200"/>
              <a:buFont typeface="Arial"/>
              <a:buNone/>
            </a:pPr>
            <a:r>
              <a:rPr b="0" i="0" lang="en-US" sz="1500">
                <a:solidFill>
                  <a:srgbClr val="52697B"/>
                </a:solidFill>
                <a:latin typeface="Arial"/>
                <a:ea typeface="Arial"/>
                <a:cs typeface="Arial"/>
                <a:sym typeface="Arial"/>
              </a:rPr>
              <a:t>Jordan Lopez, Ph.D.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52697B"/>
              </a:buClr>
              <a:buSzPts val="1200"/>
              <a:buFont typeface="Arial"/>
              <a:buNone/>
            </a:pPr>
            <a:r>
              <a:rPr b="0" i="0" lang="en-US" sz="1500">
                <a:solidFill>
                  <a:srgbClr val="52697B"/>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553312" y="822871"/>
            <a:ext cx="5181377" cy="3455938"/>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Photo: Male and female zebra finches.</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Song is a learned, organized motor sequence</a:t>
            </a:r>
            <a:endParaRPr sz="1800">
              <a:solidFill>
                <a:schemeClr val="dk1"/>
              </a:solidFill>
              <a:latin typeface="Calibri"/>
              <a:ea typeface="Calibri"/>
              <a:cs typeface="Calibri"/>
              <a:sym typeface="Calibri"/>
            </a:endParaRPr>
          </a:p>
        </p:txBody>
      </p:sp>
      <p:sp>
        <p:nvSpPr>
          <p:cNvPr id="33" name="Google Shape;33;p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0" i="0" lang="en-US" sz="1400">
                <a:solidFill>
                  <a:srgbClr val="252E36"/>
                </a:solidFill>
                <a:latin typeface="Arial"/>
                <a:ea typeface="Arial"/>
                <a:cs typeface="Arial"/>
                <a:sym typeface="Arial"/>
              </a:rPr>
              <a:t>Song consists of </a:t>
            </a:r>
            <a:r>
              <a:rPr b="1" i="0" lang="en-US" sz="1400">
                <a:solidFill>
                  <a:srgbClr val="405D72"/>
                </a:solidFill>
                <a:latin typeface="Arial"/>
                <a:ea typeface="Arial"/>
                <a:cs typeface="Arial"/>
                <a:sym typeface="Arial"/>
              </a:rPr>
              <a:t>coordinated vocal elements</a:t>
            </a:r>
            <a:r>
              <a:rPr b="0" i="0" lang="en-US" sz="1400">
                <a:solidFill>
                  <a:srgbClr val="252E36"/>
                </a:solidFill>
                <a:latin typeface="Arial"/>
                <a:ea typeface="Arial"/>
                <a:cs typeface="Arial"/>
                <a:sym typeface="Arial"/>
              </a:rPr>
              <a:t>, and their frequency and timing can be measured with a </a:t>
            </a:r>
            <a:r>
              <a:rPr b="1" i="0" lang="en-US" sz="1400">
                <a:solidFill>
                  <a:srgbClr val="405D72"/>
                </a:solidFill>
                <a:latin typeface="Arial"/>
                <a:ea typeface="Arial"/>
                <a:cs typeface="Arial"/>
                <a:sym typeface="Arial"/>
              </a:rPr>
              <a:t>spectrogram</a:t>
            </a:r>
            <a:r>
              <a:rPr b="0" i="0" lang="en-US" sz="1400">
                <a:solidFill>
                  <a:srgbClr val="252E36"/>
                </a:solidFill>
                <a:latin typeface="Arial"/>
                <a:ea typeface="Arial"/>
                <a:cs typeface="Arial"/>
                <a:sym typeface="Arial"/>
              </a:rPr>
              <a:t>, which displays acoustic energy across time and frequency. Nottebohm and colleagues recorded adult male canaries before brain surgery, which established each bird's own repertoire as the behavioral baseline. Later changes were judged against that record.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400">
                <a:solidFill>
                  <a:srgbClr val="252E36"/>
                </a:solidFill>
                <a:latin typeface="Arial"/>
                <a:ea typeface="Arial"/>
                <a:cs typeface="Arial"/>
                <a:sym typeface="Arial"/>
              </a:rPr>
              <a:t>The team compared postoperative vocalizations with those recordings instead of treating every change in singing as the same. Damage could reduce the number of available </a:t>
            </a:r>
            <a:r>
              <a:rPr b="1" i="0" lang="en-US" sz="1400">
                <a:solidFill>
                  <a:srgbClr val="405D72"/>
                </a:solidFill>
                <a:latin typeface="Arial"/>
                <a:ea typeface="Arial"/>
                <a:cs typeface="Arial"/>
                <a:sym typeface="Arial"/>
              </a:rPr>
              <a:t>syllables</a:t>
            </a:r>
            <a:r>
              <a:rPr b="0" i="0" lang="en-US" sz="1400">
                <a:solidFill>
                  <a:srgbClr val="252E36"/>
                </a:solidFill>
                <a:latin typeface="Arial"/>
                <a:ea typeface="Arial"/>
                <a:cs typeface="Arial"/>
                <a:sym typeface="Arial"/>
              </a:rPr>
              <a:t>, disturb their acoustic structure, or disrupt the order of phrases while leaving vocal output possible. Each of these outcomes points to a different kind of motor deficit.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400">
                <a:solidFill>
                  <a:srgbClr val="252E36"/>
                </a:solidFill>
                <a:latin typeface="Arial"/>
                <a:ea typeface="Arial"/>
                <a:cs typeface="Arial"/>
                <a:sym typeface="Arial"/>
              </a:rPr>
              <a:t>A bird that still vocalizes can therefore have a severe </a:t>
            </a:r>
            <a:r>
              <a:rPr b="1" i="0" lang="en-US" sz="1400">
                <a:solidFill>
                  <a:srgbClr val="405D72"/>
                </a:solidFill>
                <a:latin typeface="Arial"/>
                <a:ea typeface="Arial"/>
                <a:cs typeface="Arial"/>
                <a:sym typeface="Arial"/>
              </a:rPr>
              <a:t>song-control deficit</a:t>
            </a:r>
            <a:r>
              <a:rPr b="0" i="0" lang="en-US" sz="1400">
                <a:solidFill>
                  <a:srgbClr val="252E36"/>
                </a:solidFill>
                <a:latin typeface="Arial"/>
                <a:ea typeface="Arial"/>
                <a:cs typeface="Arial"/>
                <a:sym typeface="Arial"/>
              </a:rPr>
              <a:t>, because the deficit lies in the organization of the song rather than in the ability to sing. These lesion experiments identified components of a learned motor behavior in adults. The learning of a tutor's song is studied separately.</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8284964" y="1280134"/>
            <a:ext cx="1193453" cy="2925834"/>
          </a:xfrm>
          <a:prstGeom prst="rect">
            <a:avLst/>
          </a:prstGeom>
          <a:noFill/>
          <a:ln>
            <a:noFill/>
          </a:ln>
        </p:spPr>
      </p:pic>
      <p:pic>
        <p:nvPicPr>
          <p:cNvPr id="38" name="Google Shape;38;p2"/>
          <p:cNvPicPr preferRelativeResize="0"/>
          <p:nvPr/>
        </p:nvPicPr>
        <p:blipFill rotWithShape="1">
          <a:blip r:embed="rId4">
            <a:alphaModFix/>
          </a:blip>
          <a:srcRect b="0" l="0" r="0" t="0"/>
          <a:stretch/>
        </p:blipFill>
        <p:spPr>
          <a:xfrm>
            <a:off x="8452120" y="4754761"/>
            <a:ext cx="859140" cy="1005780"/>
          </a:xfrm>
          <a:prstGeom prst="rect">
            <a:avLst/>
          </a:prstGeom>
          <a:noFill/>
          <a:ln>
            <a:noFill/>
          </a:ln>
        </p:spPr>
      </p:pic>
      <p:sp>
        <p:nvSpPr>
          <p:cNvPr id="39" name="Google Shape;39;p2"/>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Nottebohm et al. (1976), Fig. 11. Lesion locations associated with song disruption.</a:t>
            </a:r>
            <a:endParaRPr sz="1800">
              <a:solidFill>
                <a:schemeClr val="dk1"/>
              </a:solidFill>
              <a:latin typeface="Calibri"/>
              <a:ea typeface="Calibri"/>
              <a:cs typeface="Calibri"/>
              <a:sym typeface="Calibri"/>
            </a:endParaRPr>
          </a:p>
        </p:txBody>
      </p:sp>
      <p:sp>
        <p:nvSpPr>
          <p:cNvPr id="40" name="Google Shape;40;p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a:t>
            </a:r>
            <a:endParaRPr sz="1800">
              <a:solidFill>
                <a:schemeClr val="dk1"/>
              </a:solidFill>
              <a:latin typeface="Calibri"/>
              <a:ea typeface="Calibri"/>
              <a:cs typeface="Calibri"/>
              <a:sym typeface="Calibri"/>
            </a:endParaRPr>
          </a:p>
        </p:txBody>
      </p:sp>
      <p:sp>
        <p:nvSpPr>
          <p:cNvPr id="42" name="Google Shape;42;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 name="Shape 46"/>
        <p:cNvGrpSpPr/>
        <p:nvPr/>
      </p:nvGrpSpPr>
      <p:grpSpPr>
        <a:xfrm>
          <a:off x="0" y="0"/>
          <a:ext cx="0" cy="0"/>
          <a:chOff x="0" y="0"/>
          <a:chExt cx="0" cy="0"/>
        </a:xfrm>
      </p:grpSpPr>
      <p:sp>
        <p:nvSpPr>
          <p:cNvPr id="47" name="Google Shape;47;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Song disruption depends on lesion location</a:t>
            </a:r>
            <a:endParaRPr sz="1800">
              <a:solidFill>
                <a:schemeClr val="dk1"/>
              </a:solidFill>
              <a:latin typeface="Calibri"/>
              <a:ea typeface="Calibri"/>
              <a:cs typeface="Calibri"/>
              <a:sym typeface="Calibri"/>
            </a:endParaRPr>
          </a:p>
        </p:txBody>
      </p:sp>
      <p:sp>
        <p:nvSpPr>
          <p:cNvPr id="48" name="Google Shape;48;p3"/>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400">
                <a:solidFill>
                  <a:srgbClr val="252E36"/>
                </a:solidFill>
                <a:latin typeface="Arial"/>
                <a:ea typeface="Arial"/>
                <a:cs typeface="Arial"/>
                <a:sym typeface="Arial"/>
              </a:rPr>
              <a:t>A </a:t>
            </a:r>
            <a:r>
              <a:rPr b="1" i="0" lang="en-US" sz="1400">
                <a:solidFill>
                  <a:srgbClr val="405D72"/>
                </a:solidFill>
                <a:latin typeface="Arial"/>
                <a:ea typeface="Arial"/>
                <a:cs typeface="Arial"/>
                <a:sym typeface="Arial"/>
              </a:rPr>
              <a:t>lesion</a:t>
            </a:r>
            <a:r>
              <a:rPr b="0" i="0" lang="en-US" sz="1400">
                <a:solidFill>
                  <a:srgbClr val="252E36"/>
                </a:solidFill>
                <a:latin typeface="Arial"/>
                <a:ea typeface="Arial"/>
                <a:cs typeface="Arial"/>
                <a:sym typeface="Arial"/>
              </a:rPr>
              <a:t> is damage to tissue that tests whether a region contributes to a behavior. Nottebohm and colleagues made unilateral electrolytic lesions in adult male canaries and reconstructed each lesion's position histologically after repeated postoperative recordings. Matching every song change to its exact lesion site made the location of the effect the central variable.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400">
                <a:solidFill>
                  <a:srgbClr val="252E36"/>
                </a:solidFill>
                <a:latin typeface="Arial"/>
                <a:ea typeface="Arial"/>
                <a:cs typeface="Arial"/>
                <a:sym typeface="Arial"/>
              </a:rPr>
              <a:t>Lesions involving </a:t>
            </a:r>
            <a:r>
              <a:rPr b="1" i="0" lang="en-US" sz="1400">
                <a:solidFill>
                  <a:srgbClr val="405D72"/>
                </a:solidFill>
                <a:latin typeface="Arial"/>
                <a:ea typeface="Arial"/>
                <a:cs typeface="Arial"/>
                <a:sym typeface="Arial"/>
              </a:rPr>
              <a:t>HVC</a:t>
            </a:r>
            <a:r>
              <a:rPr b="0" i="0" lang="en-US" sz="1400">
                <a:solidFill>
                  <a:srgbClr val="252E36"/>
                </a:solidFill>
                <a:latin typeface="Arial"/>
                <a:ea typeface="Arial"/>
                <a:cs typeface="Arial"/>
                <a:sym typeface="Arial"/>
              </a:rPr>
              <a:t> or the </a:t>
            </a:r>
            <a:r>
              <a:rPr b="1" i="0" lang="en-US" sz="1400">
                <a:solidFill>
                  <a:srgbClr val="405D72"/>
                </a:solidFill>
                <a:latin typeface="Arial"/>
                <a:ea typeface="Arial"/>
                <a:cs typeface="Arial"/>
                <a:sym typeface="Arial"/>
              </a:rPr>
              <a:t>robust nucleus of the arcopallium</a:t>
            </a:r>
            <a:r>
              <a:rPr b="0" i="0" lang="en-US" sz="1400">
                <a:solidFill>
                  <a:srgbClr val="252E36"/>
                </a:solidFill>
                <a:latin typeface="Arial"/>
                <a:ea typeface="Arial"/>
                <a:cs typeface="Arial"/>
                <a:sym typeface="Arial"/>
              </a:rPr>
              <a:t>, RA, severely altered song organization. Several lesions outside this pathway had little or no effect on song. Comparing effective and ineffective sites narrowed the search to a restricted set of forebrain territories.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400">
                <a:solidFill>
                  <a:srgbClr val="252E36"/>
                </a:solidFill>
                <a:latin typeface="Arial"/>
                <a:ea typeface="Arial"/>
                <a:cs typeface="Arial"/>
                <a:sym typeface="Arial"/>
              </a:rPr>
              <a:t>Electrolytic current can damage both local neurons and the axons that pass through a site, so the lesion effect is read together with the histology. The results show that these restricted territories are needed for normal adult song. Lesion size and position are compared across birds, so the effect is attributed to the nucleus rather than to a single animal.</a:t>
            </a:r>
            <a:endParaRPr sz="1800">
              <a:solidFill>
                <a:schemeClr val="dk1"/>
              </a:solidFill>
              <a:latin typeface="Calibri"/>
              <a:ea typeface="Calibri"/>
              <a:cs typeface="Calibri"/>
              <a:sym typeface="Calibri"/>
            </a:endParaRPr>
          </a:p>
        </p:txBody>
      </p:sp>
      <p:pic>
        <p:nvPicPr>
          <p:cNvPr id="51" name="Google Shape;51;p3"/>
          <p:cNvPicPr preferRelativeResize="0"/>
          <p:nvPr/>
        </p:nvPicPr>
        <p:blipFill rotWithShape="1">
          <a:blip r:embed="rId3">
            <a:alphaModFix/>
          </a:blip>
          <a:srcRect b="0" l="0" r="0" t="0"/>
          <a:stretch/>
        </p:blipFill>
        <p:spPr>
          <a:xfrm>
            <a:off x="1291758" y="1280071"/>
            <a:ext cx="3670987" cy="4297561"/>
          </a:xfrm>
          <a:prstGeom prst="rect">
            <a:avLst/>
          </a:prstGeom>
          <a:noFill/>
          <a:ln>
            <a:noFill/>
          </a:ln>
        </p:spPr>
      </p:pic>
      <p:sp>
        <p:nvSpPr>
          <p:cNvPr id="52" name="Google Shape;52;p3"/>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Nottebohm et al. (1976), Fig. 11. Lesion locations associated with song disruption.</a:t>
            </a:r>
            <a:endParaRPr sz="1800">
              <a:solidFill>
                <a:schemeClr val="dk1"/>
              </a:solidFill>
              <a:latin typeface="Calibri"/>
              <a:ea typeface="Calibri"/>
              <a:cs typeface="Calibri"/>
              <a:sym typeface="Calibri"/>
            </a:endParaRPr>
          </a:p>
        </p:txBody>
      </p:sp>
      <p:sp>
        <p:nvSpPr>
          <p:cNvPr id="53" name="Google Shape;53;p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a:t>
            </a:r>
            <a:endParaRPr sz="1800">
              <a:solidFill>
                <a:schemeClr val="dk1"/>
              </a:solidFill>
              <a:latin typeface="Calibri"/>
              <a:ea typeface="Calibri"/>
              <a:cs typeface="Calibri"/>
              <a:sym typeface="Calibri"/>
            </a:endParaRPr>
          </a:p>
        </p:txBody>
      </p:sp>
      <p:sp>
        <p:nvSpPr>
          <p:cNvPr id="55" name="Google Shape;55;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Degenerating axons reveal descending song pathways</a:t>
            </a:r>
            <a:endParaRPr sz="1800">
              <a:solidFill>
                <a:schemeClr val="dk1"/>
              </a:solidFill>
              <a:latin typeface="Calibri"/>
              <a:ea typeface="Calibri"/>
              <a:cs typeface="Calibri"/>
              <a:sym typeface="Calibri"/>
            </a:endParaRPr>
          </a:p>
        </p:txBody>
      </p:sp>
      <p:sp>
        <p:nvSpPr>
          <p:cNvPr id="61" name="Google Shape;61;p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400">
                <a:solidFill>
                  <a:srgbClr val="252E36"/>
                </a:solidFill>
                <a:latin typeface="Arial"/>
                <a:ea typeface="Arial"/>
                <a:cs typeface="Arial"/>
                <a:sym typeface="Arial"/>
              </a:rPr>
              <a:t>An </a:t>
            </a:r>
            <a:r>
              <a:rPr b="1" i="0" lang="en-US" sz="1400">
                <a:solidFill>
                  <a:srgbClr val="405D72"/>
                </a:solidFill>
                <a:latin typeface="Arial"/>
                <a:ea typeface="Arial"/>
                <a:cs typeface="Arial"/>
                <a:sym typeface="Arial"/>
              </a:rPr>
              <a:t>axon</a:t>
            </a:r>
            <a:r>
              <a:rPr b="0" i="0" lang="en-US" sz="1400">
                <a:solidFill>
                  <a:srgbClr val="252E36"/>
                </a:solidFill>
                <a:latin typeface="Arial"/>
                <a:ea typeface="Arial"/>
                <a:cs typeface="Arial"/>
                <a:sym typeface="Arial"/>
              </a:rPr>
              <a:t> carries signals away from a neuron, and a </a:t>
            </a:r>
            <a:r>
              <a:rPr b="1" i="0" lang="en-US" sz="1400">
                <a:solidFill>
                  <a:srgbClr val="405D72"/>
                </a:solidFill>
                <a:latin typeface="Arial"/>
                <a:ea typeface="Arial"/>
                <a:cs typeface="Arial"/>
                <a:sym typeface="Arial"/>
              </a:rPr>
              <a:t>projection</a:t>
            </a:r>
            <a:r>
              <a:rPr b="0" i="0" lang="en-US" sz="1400">
                <a:solidFill>
                  <a:srgbClr val="252E36"/>
                </a:solidFill>
                <a:latin typeface="Arial"/>
                <a:ea typeface="Arial"/>
                <a:cs typeface="Arial"/>
                <a:sym typeface="Arial"/>
              </a:rPr>
              <a:t> is an axonal connection between two regions. A </a:t>
            </a:r>
            <a:r>
              <a:rPr b="1" i="0" lang="en-US" sz="1400">
                <a:solidFill>
                  <a:srgbClr val="405D72"/>
                </a:solidFill>
                <a:latin typeface="Arial"/>
                <a:ea typeface="Arial"/>
                <a:cs typeface="Arial"/>
                <a:sym typeface="Arial"/>
              </a:rPr>
              <a:t>synapse</a:t>
            </a:r>
            <a:r>
              <a:rPr b="0" i="0" lang="en-US" sz="1400">
                <a:solidFill>
                  <a:srgbClr val="252E36"/>
                </a:solidFill>
                <a:latin typeface="Arial"/>
                <a:ea typeface="Arial"/>
                <a:cs typeface="Arial"/>
                <a:sym typeface="Arial"/>
              </a:rPr>
              <a:t> is the junction where one neuron influences another cell. Nottebohm and colleagues combined the behavioral lesions with Fink–Heimer staining, a method that reveals degenerating fibers and terminals downstream of damaged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400">
                <a:solidFill>
                  <a:srgbClr val="252E36"/>
                </a:solidFill>
                <a:latin typeface="Arial"/>
                <a:ea typeface="Arial"/>
                <a:cs typeface="Arial"/>
                <a:sym typeface="Arial"/>
              </a:rPr>
              <a:t>Degeneration linked the region historically called HVc to RA, and it connected RA with descending pathways toward vocal motor structures. Comparing the lesion locations with the distribution of degeneration gave anatomical evidence that is independent of the acoustic changes in song. The two kinds of evidence therefore support the same pathway.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400">
                <a:solidFill>
                  <a:srgbClr val="252E36"/>
                </a:solidFill>
                <a:latin typeface="Arial"/>
                <a:ea typeface="Arial"/>
                <a:cs typeface="Arial"/>
                <a:sym typeface="Arial"/>
              </a:rPr>
              <a:t>The original article uses historical names that differ from current avian terminology: HVC is now a proper name, and RA lies in the arcopallium. Degeneration tracing shows the anatomical direction of a pathway. Its transmitter, synaptic sign and activity during singing are measured with the methods described on the following slides.</a:t>
            </a:r>
            <a:endParaRPr sz="1800">
              <a:solidFill>
                <a:schemeClr val="dk1"/>
              </a:solidFill>
              <a:latin typeface="Calibri"/>
              <a:ea typeface="Calibri"/>
              <a:cs typeface="Calibri"/>
              <a:sym typeface="Calibri"/>
            </a:endParaRPr>
          </a:p>
        </p:txBody>
      </p:sp>
      <p:pic>
        <p:nvPicPr>
          <p:cNvPr id="64" name="Google Shape;64;p4"/>
          <p:cNvPicPr preferRelativeResize="0"/>
          <p:nvPr/>
        </p:nvPicPr>
        <p:blipFill rotWithShape="1">
          <a:blip r:embed="rId3">
            <a:alphaModFix/>
          </a:blip>
          <a:srcRect b="0" l="0" r="0" t="0"/>
          <a:stretch/>
        </p:blipFill>
        <p:spPr>
          <a:xfrm>
            <a:off x="7500370" y="1280071"/>
            <a:ext cx="2762641" cy="2925961"/>
          </a:xfrm>
          <a:prstGeom prst="rect">
            <a:avLst/>
          </a:prstGeom>
          <a:noFill/>
          <a:ln>
            <a:noFill/>
          </a:ln>
        </p:spPr>
      </p:pic>
      <p:sp>
        <p:nvSpPr>
          <p:cNvPr id="65" name="Google Shape;65;p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Nottebohm et al. (1976), Fig. 7(a–d). Degeneration staining in the canary song pathway.</a:t>
            </a:r>
            <a:endParaRPr sz="1800">
              <a:solidFill>
                <a:schemeClr val="dk1"/>
              </a:solidFill>
              <a:latin typeface="Calibri"/>
              <a:ea typeface="Calibri"/>
              <a:cs typeface="Calibri"/>
              <a:sym typeface="Calibri"/>
            </a:endParaRPr>
          </a:p>
        </p:txBody>
      </p:sp>
      <p:pic>
        <p:nvPicPr>
          <p:cNvPr id="66" name="Google Shape;66;p4"/>
          <p:cNvPicPr preferRelativeResize="0"/>
          <p:nvPr/>
        </p:nvPicPr>
        <p:blipFill rotWithShape="1">
          <a:blip r:embed="rId4">
            <a:alphaModFix/>
          </a:blip>
          <a:srcRect b="0" l="0" r="0" t="0"/>
          <a:stretch/>
        </p:blipFill>
        <p:spPr>
          <a:xfrm>
            <a:off x="8415040" y="4754794"/>
            <a:ext cx="933152" cy="1005714"/>
          </a:xfrm>
          <a:prstGeom prst="rect">
            <a:avLst/>
          </a:prstGeom>
          <a:noFill/>
          <a:ln>
            <a:noFill/>
          </a:ln>
        </p:spPr>
      </p:pic>
      <p:sp>
        <p:nvSpPr>
          <p:cNvPr id="67" name="Google Shape;67;p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2(a–f). Identified RA- and X-projecting HVC neurons.</a:t>
            </a:r>
            <a:endParaRPr sz="1800">
              <a:solidFill>
                <a:schemeClr val="dk1"/>
              </a:solidFill>
              <a:latin typeface="Calibri"/>
              <a:ea typeface="Calibri"/>
              <a:cs typeface="Calibri"/>
              <a:sym typeface="Calibri"/>
            </a:endParaRPr>
          </a:p>
        </p:txBody>
      </p:sp>
      <p:sp>
        <p:nvSpPr>
          <p:cNvPr id="68" name="Google Shape;68;p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 Benezra et al. (2018)</a:t>
            </a:r>
            <a:endParaRPr sz="1800">
              <a:solidFill>
                <a:schemeClr val="dk1"/>
              </a:solidFill>
              <a:latin typeface="Calibri"/>
              <a:ea typeface="Calibri"/>
              <a:cs typeface="Calibri"/>
              <a:sym typeface="Calibri"/>
            </a:endParaRPr>
          </a:p>
        </p:txBody>
      </p:sp>
      <p:sp>
        <p:nvSpPr>
          <p:cNvPr id="70" name="Google Shape;70;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HVC contains neurons with distinct output targets</a:t>
            </a:r>
            <a:endParaRPr sz="1800">
              <a:solidFill>
                <a:schemeClr val="dk1"/>
              </a:solidFill>
              <a:latin typeface="Calibri"/>
              <a:ea typeface="Calibri"/>
              <a:cs typeface="Calibri"/>
              <a:sym typeface="Calibri"/>
            </a:endParaRPr>
          </a:p>
        </p:txBody>
      </p:sp>
      <p:sp>
        <p:nvSpPr>
          <p:cNvPr id="76" name="Google Shape;76;p5"/>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projection neuron</a:t>
            </a:r>
            <a:r>
              <a:rPr b="0" i="0" lang="en-US" sz="1500">
                <a:solidFill>
                  <a:srgbClr val="252E36"/>
                </a:solidFill>
                <a:latin typeface="Arial"/>
                <a:ea typeface="Arial"/>
                <a:cs typeface="Arial"/>
                <a:sym typeface="Arial"/>
              </a:rPr>
              <a:t> sends an axon outside its local region. Benezra and colleagues distinguished HVC neurons projecting to RA, designated HVC(RA), from neurons projecting to </a:t>
            </a:r>
            <a:r>
              <a:rPr b="1" i="0" lang="en-US" sz="1500">
                <a:solidFill>
                  <a:srgbClr val="405D72"/>
                </a:solidFill>
                <a:latin typeface="Arial"/>
                <a:ea typeface="Arial"/>
                <a:cs typeface="Arial"/>
                <a:sym typeface="Arial"/>
              </a:rPr>
              <a:t>Area X</a:t>
            </a:r>
            <a:r>
              <a:rPr b="0" i="0" lang="en-US" sz="1500">
                <a:solidFill>
                  <a:srgbClr val="252E36"/>
                </a:solidFill>
                <a:latin typeface="Arial"/>
                <a:ea typeface="Arial"/>
                <a:cs typeface="Arial"/>
                <a:sym typeface="Arial"/>
              </a:rPr>
              <a:t>, a song-related basal ganglia region involved in action control. The two populations are defined by where their axons end.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They labeled individual cells in adult male zebra finches and reconstructed their dendrites and axons in three dimensions. The analysis kept the target identity of each filled neuron rather than pooling every HVC cell into one morphological class. Each reconstruction therefore carries both its anatomy and its projection target.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HVC(RA) and HVC(X) neurons differed in their dendritic and local axonal organization. Target identity did not predict every anatomical feature, so the two groups share some features while differing in others. Each population therefore receives its own description within the same set of reconstructions.</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3">
            <a:alphaModFix/>
          </a:blip>
          <a:srcRect b="0" l="0" r="0" t="0"/>
          <a:stretch/>
        </p:blipFill>
        <p:spPr>
          <a:xfrm>
            <a:off x="1133577" y="1280071"/>
            <a:ext cx="3987496" cy="4297561"/>
          </a:xfrm>
          <a:prstGeom prst="rect">
            <a:avLst/>
          </a:prstGeom>
          <a:noFill/>
          <a:ln>
            <a:noFill/>
          </a:ln>
        </p:spPr>
      </p:pic>
      <p:sp>
        <p:nvSpPr>
          <p:cNvPr id="80" name="Google Shape;80;p5"/>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2(a–f). Identified RA- and X-projecting HVC neurons.</a:t>
            </a:r>
            <a:endParaRPr sz="1800">
              <a:solidFill>
                <a:schemeClr val="dk1"/>
              </a:solidFill>
              <a:latin typeface="Calibri"/>
              <a:ea typeface="Calibri"/>
              <a:cs typeface="Calibri"/>
              <a:sym typeface="Calibri"/>
            </a:endParaRPr>
          </a:p>
        </p:txBody>
      </p:sp>
      <p:sp>
        <p:nvSpPr>
          <p:cNvPr id="81" name="Google Shape;81;p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83" name="Google Shape;83;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Two-photon targeting links cells to reconstructed arbors</a:t>
            </a:r>
            <a:endParaRPr sz="1800">
              <a:solidFill>
                <a:schemeClr val="dk1"/>
              </a:solidFill>
              <a:latin typeface="Calibri"/>
              <a:ea typeface="Calibri"/>
              <a:cs typeface="Calibri"/>
              <a:sym typeface="Calibri"/>
            </a:endParaRPr>
          </a:p>
        </p:txBody>
      </p:sp>
      <p:sp>
        <p:nvSpPr>
          <p:cNvPr id="89" name="Google Shape;89;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Two-photon microscopy</a:t>
            </a:r>
            <a:r>
              <a:rPr b="0" i="0" lang="en-US" sz="1500">
                <a:solidFill>
                  <a:srgbClr val="252E36"/>
                </a:solidFill>
                <a:latin typeface="Arial"/>
                <a:ea typeface="Arial"/>
                <a:cs typeface="Arial"/>
                <a:sym typeface="Arial"/>
              </a:rPr>
              <a:t> uses nonlinear excitation to resolve fluorescent structures within tissue. Benezra and colleagues combined retrograde labeling from an HVC output target with visually guided recordings and intracellular filling. The method linked each neuron's projection identity to its later anatomical reconstruction.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A fluorescently filled neuron was processed histologically so that its dendrites and axonal branches could be traced across sections. The approach resolved single-cell structure that would be obscured if many neighboring neurons were labeled together. Each traced cell therefore stands on its own.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Targeted filling bridges an identified neuron and its complete local arbor. Incomplete filling, section boundaries and optical resolution set the detail that each reconstruction can show. The resulting anatomical map describes the cell's structure, and its functional synapses are examined by other measurements.</a:t>
            </a:r>
            <a:endParaRPr sz="1800">
              <a:solidFill>
                <a:schemeClr val="dk1"/>
              </a:solidFill>
              <a:latin typeface="Calibri"/>
              <a:ea typeface="Calibri"/>
              <a:cs typeface="Calibri"/>
              <a:sym typeface="Calibri"/>
            </a:endParaRPr>
          </a:p>
        </p:txBody>
      </p:sp>
      <p:pic>
        <p:nvPicPr>
          <p:cNvPr id="92" name="Google Shape;92;p6"/>
          <p:cNvPicPr preferRelativeResize="0"/>
          <p:nvPr/>
        </p:nvPicPr>
        <p:blipFill rotWithShape="1">
          <a:blip r:embed="rId3">
            <a:alphaModFix/>
          </a:blip>
          <a:srcRect b="0" l="0" r="0" t="0"/>
          <a:stretch/>
        </p:blipFill>
        <p:spPr>
          <a:xfrm>
            <a:off x="7297447" y="1280071"/>
            <a:ext cx="3534306" cy="4297561"/>
          </a:xfrm>
          <a:prstGeom prst="rect">
            <a:avLst/>
          </a:prstGeom>
          <a:noFill/>
          <a:ln>
            <a:noFill/>
          </a:ln>
        </p:spPr>
      </p:pic>
      <p:sp>
        <p:nvSpPr>
          <p:cNvPr id="93" name="Google Shape;93;p6"/>
          <p:cNvSpPr/>
          <p:nvPr/>
        </p:nvSpPr>
        <p:spPr>
          <a:xfrm>
            <a:off x="650423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1(a–f). Targeted labeling and single-cell filling in HVC.</a:t>
            </a:r>
            <a:endParaRPr sz="1800">
              <a:solidFill>
                <a:schemeClr val="dk1"/>
              </a:solidFill>
              <a:latin typeface="Calibri"/>
              <a:ea typeface="Calibri"/>
              <a:cs typeface="Calibri"/>
              <a:sym typeface="Calibri"/>
            </a:endParaRPr>
          </a:p>
        </p:txBody>
      </p:sp>
      <p:sp>
        <p:nvSpPr>
          <p:cNvPr id="94" name="Google Shape;94;p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96" name="Google Shape;96;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Dendrites occupy different territories in HVC</a:t>
            </a:r>
            <a:endParaRPr sz="1800">
              <a:solidFill>
                <a:schemeClr val="dk1"/>
              </a:solidFill>
              <a:latin typeface="Calibri"/>
              <a:ea typeface="Calibri"/>
              <a:cs typeface="Calibri"/>
              <a:sym typeface="Calibri"/>
            </a:endParaRPr>
          </a:p>
        </p:txBody>
      </p:sp>
      <p:sp>
        <p:nvSpPr>
          <p:cNvPr id="102" name="Google Shape;102;p7"/>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dendrite</a:t>
            </a:r>
            <a:r>
              <a:rPr b="0" i="0" lang="en-US" sz="1500">
                <a:solidFill>
                  <a:srgbClr val="252E36"/>
                </a:solidFill>
                <a:latin typeface="Arial"/>
                <a:ea typeface="Arial"/>
                <a:cs typeface="Arial"/>
                <a:sym typeface="Arial"/>
              </a:rPr>
              <a:t> is a neuronal process that receives synaptic input. Benezra and colleagues compared reconstructed dendritic trees of HVC(RA) and HVC(X) neurons after registering their positions within HVC. Registration places every cell in the same frame, so the territories of the two groups can be compared directly.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Most RA-projecting cells had relatively restricted dendritic territories, whereas X-projecting cells occupied larger territories. Displaying individual reconstructions kept the variation within each class visible. Individual reconstructions therefore remain the basis for every class average.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broader dendritic field gives access to a different spatial distribution of potential inputs. Proximity of the dendrites to other cells is a separate matter from connectivity, and the synapses that form along the territory are measured separately.</a:t>
            </a:r>
            <a:endParaRPr sz="1800">
              <a:solidFill>
                <a:schemeClr val="dk1"/>
              </a:solidFill>
              <a:latin typeface="Calibri"/>
              <a:ea typeface="Calibri"/>
              <a:cs typeface="Calibri"/>
              <a:sym typeface="Calibri"/>
            </a:endParaRPr>
          </a:p>
        </p:txBody>
      </p:sp>
      <p:pic>
        <p:nvPicPr>
          <p:cNvPr id="105" name="Google Shape;105;p7"/>
          <p:cNvPicPr preferRelativeResize="0"/>
          <p:nvPr/>
        </p:nvPicPr>
        <p:blipFill rotWithShape="1">
          <a:blip r:embed="rId3">
            <a:alphaModFix/>
          </a:blip>
          <a:srcRect b="0" l="0" r="0" t="0"/>
          <a:stretch/>
        </p:blipFill>
        <p:spPr>
          <a:xfrm>
            <a:off x="1504860" y="1280071"/>
            <a:ext cx="3244782" cy="4297561"/>
          </a:xfrm>
          <a:prstGeom prst="rect">
            <a:avLst/>
          </a:prstGeom>
          <a:noFill/>
          <a:ln>
            <a:noFill/>
          </a:ln>
        </p:spPr>
      </p:pic>
      <p:sp>
        <p:nvSpPr>
          <p:cNvPr id="106" name="Google Shape;106;p7"/>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3. Dendritic arbors grouped by projection target.</a:t>
            </a:r>
            <a:endParaRPr sz="1800">
              <a:solidFill>
                <a:schemeClr val="dk1"/>
              </a:solidFill>
              <a:latin typeface="Calibri"/>
              <a:ea typeface="Calibri"/>
              <a:cs typeface="Calibri"/>
              <a:sym typeface="Calibri"/>
            </a:endParaRPr>
          </a:p>
        </p:txBody>
      </p:sp>
      <p:sp>
        <p:nvSpPr>
          <p:cNvPr id="107" name="Google Shape;107;p7"/>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09" name="Google Shape;109;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Target identity predicts dendritic scale imperfectly</a:t>
            </a:r>
            <a:endParaRPr sz="1800">
              <a:solidFill>
                <a:schemeClr val="dk1"/>
              </a:solidFill>
              <a:latin typeface="Calibri"/>
              <a:ea typeface="Calibri"/>
              <a:cs typeface="Calibri"/>
              <a:sym typeface="Calibri"/>
            </a:endParaRPr>
          </a:p>
        </p:txBody>
      </p:sp>
      <p:sp>
        <p:nvSpPr>
          <p:cNvPr id="115" name="Google Shape;115;p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Benezra and colleagues quantified dendritic length along three spatial axes and the total path length of each reconstructed HVC neuron. Centering these measurements on each cell body separated the extent of the dendrites from the neuron's absolute position within the nucleus. The two properties are therefore measured independently.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RA-projecting neurons generally formed a group with smaller dendrites, whereas X-projecting neurons formed a group with larger dendrites. The distributions included exceptions, and cells with branches to both targets did not form one uniform size class. Size therefore tracks projection target only in part.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These measurements show the spatial integration available to each projection population. Dendritic size is one feature among several, and the anatomical classes overlap in those other features even when their average organization differs. Each class is therefore described by its typical size and by the spread of individual cells around it.</a:t>
            </a:r>
            <a:endParaRPr sz="1800">
              <a:solidFill>
                <a:schemeClr val="dk1"/>
              </a:solidFill>
              <a:latin typeface="Calibri"/>
              <a:ea typeface="Calibri"/>
              <a:cs typeface="Calibri"/>
              <a:sym typeface="Calibri"/>
            </a:endParaRPr>
          </a:p>
        </p:txBody>
      </p:sp>
      <p:pic>
        <p:nvPicPr>
          <p:cNvPr id="118" name="Google Shape;118;p8"/>
          <p:cNvPicPr preferRelativeResize="0"/>
          <p:nvPr/>
        </p:nvPicPr>
        <p:blipFill rotWithShape="1">
          <a:blip r:embed="rId3">
            <a:alphaModFix/>
          </a:blip>
          <a:srcRect b="0" l="0" r="0" t="0"/>
          <a:stretch/>
        </p:blipFill>
        <p:spPr>
          <a:xfrm>
            <a:off x="6504406" y="1280071"/>
            <a:ext cx="5120388" cy="3537645"/>
          </a:xfrm>
          <a:prstGeom prst="rect">
            <a:avLst/>
          </a:prstGeom>
          <a:noFill/>
          <a:ln>
            <a:noFill/>
          </a:ln>
        </p:spPr>
      </p:pic>
      <p:sp>
        <p:nvSpPr>
          <p:cNvPr id="119" name="Google Shape;119;p8"/>
          <p:cNvSpPr/>
          <p:nvPr/>
        </p:nvSpPr>
        <p:spPr>
          <a:xfrm>
            <a:off x="6504236" y="4909245"/>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4(a–d). Spatial distribution and size of HVC dendrites.</a:t>
            </a:r>
            <a:endParaRPr sz="1800">
              <a:solidFill>
                <a:schemeClr val="dk1"/>
              </a:solidFill>
              <a:latin typeface="Calibri"/>
              <a:ea typeface="Calibri"/>
              <a:cs typeface="Calibri"/>
              <a:sym typeface="Calibri"/>
            </a:endParaRPr>
          </a:p>
        </p:txBody>
      </p:sp>
      <p:sp>
        <p:nvSpPr>
          <p:cNvPr id="120" name="Google Shape;120;p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22" name="Google Shape;122;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Axonal boutons mark potential local output sites</a:t>
            </a:r>
            <a:endParaRPr sz="1800">
              <a:solidFill>
                <a:schemeClr val="dk1"/>
              </a:solidFill>
              <a:latin typeface="Calibri"/>
              <a:ea typeface="Calibri"/>
              <a:cs typeface="Calibri"/>
              <a:sym typeface="Calibri"/>
            </a:endParaRPr>
          </a:p>
        </p:txBody>
      </p:sp>
      <p:sp>
        <p:nvSpPr>
          <p:cNvPr id="128" name="Google Shape;128;p9"/>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An </a:t>
            </a:r>
            <a:r>
              <a:rPr b="1" i="0" lang="en-US" sz="1500">
                <a:solidFill>
                  <a:srgbClr val="405D72"/>
                </a:solidFill>
                <a:latin typeface="Arial"/>
                <a:ea typeface="Arial"/>
                <a:cs typeface="Arial"/>
                <a:sym typeface="Arial"/>
              </a:rPr>
              <a:t>axon collateral</a:t>
            </a:r>
            <a:r>
              <a:rPr b="0" i="0" lang="en-US" sz="1500">
                <a:solidFill>
                  <a:srgbClr val="252E36"/>
                </a:solidFill>
                <a:latin typeface="Arial"/>
                <a:ea typeface="Arial"/>
                <a:cs typeface="Arial"/>
                <a:sym typeface="Arial"/>
              </a:rPr>
              <a:t> is a branch of an axon, and a </a:t>
            </a:r>
            <a:r>
              <a:rPr b="1" i="0" lang="en-US" sz="1500">
                <a:solidFill>
                  <a:srgbClr val="405D72"/>
                </a:solidFill>
                <a:latin typeface="Arial"/>
                <a:ea typeface="Arial"/>
                <a:cs typeface="Arial"/>
                <a:sym typeface="Arial"/>
              </a:rPr>
              <a:t>bouton</a:t>
            </a:r>
            <a:r>
              <a:rPr b="0" i="0" lang="en-US" sz="1500">
                <a:solidFill>
                  <a:srgbClr val="252E36"/>
                </a:solidFill>
                <a:latin typeface="Arial"/>
                <a:ea typeface="Arial"/>
                <a:cs typeface="Arial"/>
                <a:sym typeface="Arial"/>
              </a:rPr>
              <a:t> is a swelling at a potential presynaptic terminal. Benezra and colleagues counted boutons along the reconstructed local collateral branches of HVC(RA) and HVC(X) neurons. The count measures how much local output each cell can make.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Both projection classes carried abundant boutons within HVC, with broadly similar bouton densities. The reconstruction-based estimate was about 400 local boutons per HVC(RA) neuron. The labeled micrographs keep a 5 µm scale bar that sets the size of each bouton.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Long-range projection neurons therefore also contribute to local HVC communication, in addition to sending signals downstream. Light-microscopic boutons mark candidate contact sites, and the contacts themselves are confirmed by other methods.</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3">
            <a:alphaModFix/>
          </a:blip>
          <a:srcRect b="0" l="0" r="0" t="0"/>
          <a:stretch/>
        </p:blipFill>
        <p:spPr>
          <a:xfrm>
            <a:off x="1814107" y="1280071"/>
            <a:ext cx="2626287" cy="4297561"/>
          </a:xfrm>
          <a:prstGeom prst="rect">
            <a:avLst/>
          </a:prstGeom>
          <a:noFill/>
          <a:ln>
            <a:noFill/>
          </a:ln>
        </p:spPr>
      </p:pic>
      <p:sp>
        <p:nvSpPr>
          <p:cNvPr id="132" name="Google Shape;132;p9"/>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5(a–d). Axonal boutons and their spatial density.</a:t>
            </a:r>
            <a:endParaRPr sz="1800">
              <a:solidFill>
                <a:schemeClr val="dk1"/>
              </a:solidFill>
              <a:latin typeface="Calibri"/>
              <a:ea typeface="Calibri"/>
              <a:cs typeface="Calibri"/>
              <a:sym typeface="Calibri"/>
            </a:endParaRPr>
          </a:p>
        </p:txBody>
      </p:sp>
      <p:sp>
        <p:nvSpPr>
          <p:cNvPr id="133" name="Google Shape;133;p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35" name="Google Shape;135;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RA-projecting cells also innervate local HVC</a:t>
            </a:r>
            <a:endParaRPr sz="1800">
              <a:solidFill>
                <a:schemeClr val="dk1"/>
              </a:solidFill>
              <a:latin typeface="Calibri"/>
              <a:ea typeface="Calibri"/>
              <a:cs typeface="Calibri"/>
              <a:sym typeface="Calibri"/>
            </a:endParaRPr>
          </a:p>
        </p:txBody>
      </p:sp>
      <p:sp>
        <p:nvSpPr>
          <p:cNvPr id="141" name="Google Shape;141;p1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Benezra and colleagues reconstructed the dendrites and axonal collaterals of individual HVC(RA) neurons within the boundary of HVC. The descending axon identifies the cell's long-range destination, while its local branches give a separate measure of output within the nucleus. Both measures come from the same cell.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Some cells confined most of their local branches near the cell body, whereas others spread branches across a broader portion of HVC. This variation was visible within the RA-projecting population, so it is not explained only by the difference between projection targets. Individual cells differ in how far their local output reaches.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Local output makes a purely feedforward description of HVC incomplete. An RA-projecting neuron can take part in HVC interactions before its axon reaches RA. The reconstruction identifies the contact partner only as a candidate, and the cell type of each partner is tested separately.</a:t>
            </a:r>
            <a:endParaRPr sz="1800">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3">
            <a:alphaModFix/>
          </a:blip>
          <a:srcRect b="0" l="0" r="0" t="0"/>
          <a:stretch/>
        </p:blipFill>
        <p:spPr>
          <a:xfrm>
            <a:off x="7464384" y="1280071"/>
            <a:ext cx="3200432" cy="4297561"/>
          </a:xfrm>
          <a:prstGeom prst="rect">
            <a:avLst/>
          </a:prstGeom>
          <a:noFill/>
          <a:ln>
            <a:noFill/>
          </a:ln>
        </p:spPr>
      </p:pic>
      <p:sp>
        <p:nvSpPr>
          <p:cNvPr id="145" name="Google Shape;145;p10"/>
          <p:cNvSpPr/>
          <p:nvPr/>
        </p:nvSpPr>
        <p:spPr>
          <a:xfrm>
            <a:off x="650423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6. Local axons of RA-projecting HVC neurons.</a:t>
            </a:r>
            <a:endParaRPr sz="1800">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48" name="Google Shape;148;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X-projecting cells have extensive local collaterals</a:t>
            </a:r>
            <a:endParaRPr sz="1800">
              <a:solidFill>
                <a:schemeClr val="dk1"/>
              </a:solidFill>
              <a:latin typeface="Calibri"/>
              <a:ea typeface="Calibri"/>
              <a:cs typeface="Calibri"/>
              <a:sym typeface="Calibri"/>
            </a:endParaRPr>
          </a:p>
        </p:txBody>
      </p:sp>
      <p:sp>
        <p:nvSpPr>
          <p:cNvPr id="154" name="Google Shape;154;p11"/>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1" i="0" lang="en-US" sz="1500">
                <a:solidFill>
                  <a:srgbClr val="405D72"/>
                </a:solidFill>
                <a:latin typeface="Arial"/>
                <a:ea typeface="Arial"/>
                <a:cs typeface="Arial"/>
                <a:sym typeface="Arial"/>
              </a:rPr>
              <a:t>Area X</a:t>
            </a:r>
            <a:r>
              <a:rPr b="0" i="0" lang="en-US" sz="1500">
                <a:solidFill>
                  <a:srgbClr val="252E36"/>
                </a:solidFill>
                <a:latin typeface="Arial"/>
                <a:ea typeface="Arial"/>
                <a:cs typeface="Arial"/>
                <a:sym typeface="Arial"/>
              </a:rPr>
              <a:t> receives an HVC projection that is distinct from the direct HVC-to-RA motor pathway. Benezra and colleagues reconstructed HVC(X) neurons with their local axons, dendrites and descending projection, all identified in the same preparation.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Their local branches varied from restricted arbors to broad distributions within HVC. The authors compared these distributions with RA-projecting cells in a shared reference frame, which revealed an organization that a drawing of single cells would miss. The shared frame keeps the two populations comparable.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An HVC(X) neuron can therefore influence both the local HVC network and a distant basal ganglia region. The anatomy supports several routes by which HVC activity reaches its targets, and the timing of each route is measured separately. Comparing these cells with RA-projecting neurons shows which features each projection shares.</a:t>
            </a:r>
            <a:endParaRPr sz="1800">
              <a:solidFill>
                <a:schemeClr val="dk1"/>
              </a:solidFill>
              <a:latin typeface="Calibri"/>
              <a:ea typeface="Calibri"/>
              <a:cs typeface="Calibri"/>
              <a:sym typeface="Calibri"/>
            </a:endParaRPr>
          </a:p>
        </p:txBody>
      </p:sp>
      <p:pic>
        <p:nvPicPr>
          <p:cNvPr id="157" name="Google Shape;157;p11"/>
          <p:cNvPicPr preferRelativeResize="0"/>
          <p:nvPr/>
        </p:nvPicPr>
        <p:blipFill rotWithShape="1">
          <a:blip r:embed="rId3">
            <a:alphaModFix/>
          </a:blip>
          <a:srcRect b="0" l="0" r="0" t="0"/>
          <a:stretch/>
        </p:blipFill>
        <p:spPr>
          <a:xfrm>
            <a:off x="1097372" y="1280071"/>
            <a:ext cx="4059609" cy="4297561"/>
          </a:xfrm>
          <a:prstGeom prst="rect">
            <a:avLst/>
          </a:prstGeom>
          <a:noFill/>
          <a:ln>
            <a:noFill/>
          </a:ln>
        </p:spPr>
      </p:pic>
      <p:sp>
        <p:nvSpPr>
          <p:cNvPr id="158" name="Google Shape;158;p11"/>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7. Local axons of X-projecting HVC neurons.</a:t>
            </a:r>
            <a:endParaRPr sz="1800">
              <a:solidFill>
                <a:schemeClr val="dk1"/>
              </a:solidFill>
              <a:latin typeface="Calibri"/>
              <a:ea typeface="Calibri"/>
              <a:cs typeface="Calibri"/>
              <a:sym typeface="Calibri"/>
            </a:endParaRPr>
          </a:p>
        </p:txBody>
      </p:sp>
      <p:sp>
        <p:nvSpPr>
          <p:cNvPr id="159" name="Google Shape;159;p1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61" name="Google Shape;161;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 few reconstructed cells project to both targets</a:t>
            </a:r>
            <a:endParaRPr sz="1800">
              <a:solidFill>
                <a:schemeClr val="dk1"/>
              </a:solidFill>
              <a:latin typeface="Calibri"/>
              <a:ea typeface="Calibri"/>
              <a:cs typeface="Calibri"/>
              <a:sym typeface="Calibri"/>
            </a:endParaRPr>
          </a:p>
        </p:txBody>
      </p:sp>
      <p:sp>
        <p:nvSpPr>
          <p:cNvPr id="167" name="Google Shape;167;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Benezra and colleagues identified HVC neurons with axonal projections toward both RA and Area X. These </a:t>
            </a:r>
            <a:r>
              <a:rPr b="1" i="0" lang="en-US" sz="1500">
                <a:solidFill>
                  <a:srgbClr val="405D72"/>
                </a:solidFill>
                <a:latin typeface="Arial"/>
                <a:ea typeface="Arial"/>
                <a:cs typeface="Arial"/>
                <a:sym typeface="Arial"/>
              </a:rPr>
              <a:t>HVC(RA/X)</a:t>
            </a:r>
            <a:r>
              <a:rPr b="0" i="0" lang="en-US" sz="1500">
                <a:solidFill>
                  <a:srgbClr val="252E36"/>
                </a:solidFill>
                <a:latin typeface="Arial"/>
                <a:ea typeface="Arial"/>
                <a:cs typeface="Arial"/>
                <a:sym typeface="Arial"/>
              </a:rPr>
              <a:t> cells challenge the idea that all long-range HVC outputs belong to two completely separate populations. Their existence changes the simple two-population picture of HVC.</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dual-projecting cells differed from one another in dendritic organization. The authors kept each one as an individually identified cell rather than forcing it into a single class defined only by its pair of targets. The individual cells therefore show more variety than the label suggests.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Dual projections offer a possible route for distributing related activity to motor and anterior forebrain pathways. The cells are rare in the reconstructions, and whether both branches carry the same information is tested by recording both targets during singing.</a:t>
            </a:r>
            <a:endParaRPr sz="1800">
              <a:solidFill>
                <a:schemeClr val="dk1"/>
              </a:solidFill>
              <a:latin typeface="Calibri"/>
              <a:ea typeface="Calibri"/>
              <a:cs typeface="Calibri"/>
              <a:sym typeface="Calibri"/>
            </a:endParaRPr>
          </a:p>
        </p:txBody>
      </p:sp>
      <p:pic>
        <p:nvPicPr>
          <p:cNvPr id="170" name="Google Shape;170;p12"/>
          <p:cNvPicPr preferRelativeResize="0"/>
          <p:nvPr/>
        </p:nvPicPr>
        <p:blipFill rotWithShape="1">
          <a:blip r:embed="rId3">
            <a:alphaModFix/>
          </a:blip>
          <a:srcRect b="0" l="0" r="0" t="0"/>
          <a:stretch/>
        </p:blipFill>
        <p:spPr>
          <a:xfrm>
            <a:off x="6504344" y="1280071"/>
            <a:ext cx="5120513" cy="2323654"/>
          </a:xfrm>
          <a:prstGeom prst="rect">
            <a:avLst/>
          </a:prstGeom>
          <a:noFill/>
          <a:ln>
            <a:noFill/>
          </a:ln>
        </p:spPr>
      </p:pic>
      <p:sp>
        <p:nvSpPr>
          <p:cNvPr id="171" name="Google Shape;171;p12"/>
          <p:cNvSpPr/>
          <p:nvPr/>
        </p:nvSpPr>
        <p:spPr>
          <a:xfrm>
            <a:off x="6504236" y="3695254"/>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8. Two dual-projecting HVC neurons.</a:t>
            </a:r>
            <a:endParaRPr sz="1800">
              <a:solidFill>
                <a:schemeClr val="dk1"/>
              </a:solidFill>
              <a:latin typeface="Calibri"/>
              <a:ea typeface="Calibri"/>
              <a:cs typeface="Calibri"/>
              <a:sym typeface="Calibri"/>
            </a:endParaRPr>
          </a:p>
        </p:txBody>
      </p:sp>
      <p:sp>
        <p:nvSpPr>
          <p:cNvPr id="172" name="Google Shape;172;p1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74" name="Google Shape;174;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Some HVC processes extend into the surrounding shelf</a:t>
            </a:r>
            <a:endParaRPr sz="1800">
              <a:solidFill>
                <a:schemeClr val="dk1"/>
              </a:solidFill>
              <a:latin typeface="Calibri"/>
              <a:ea typeface="Calibri"/>
              <a:cs typeface="Calibri"/>
              <a:sym typeface="Calibri"/>
            </a:endParaRPr>
          </a:p>
        </p:txBody>
      </p:sp>
      <p:sp>
        <p:nvSpPr>
          <p:cNvPr id="180" name="Google Shape;180;p13"/>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a:t>
            </a:r>
            <a:r>
              <a:rPr b="1" i="0" lang="en-US" sz="1500">
                <a:solidFill>
                  <a:srgbClr val="405D72"/>
                </a:solidFill>
                <a:latin typeface="Arial"/>
                <a:ea typeface="Arial"/>
                <a:cs typeface="Arial"/>
                <a:sym typeface="Arial"/>
              </a:rPr>
              <a:t>HVC shelf</a:t>
            </a:r>
            <a:r>
              <a:rPr b="0" i="0" lang="en-US" sz="1500">
                <a:solidFill>
                  <a:srgbClr val="252E36"/>
                </a:solidFill>
                <a:latin typeface="Arial"/>
                <a:ea typeface="Arial"/>
                <a:cs typeface="Arial"/>
                <a:sym typeface="Arial"/>
              </a:rPr>
              <a:t> is the tissue that borders HVC and is distinguished from the nucleus itself. Benezra and colleagues observed dendrites and axonal collaterals of an identified HVC(X) neuron extending beyond the conventional HVC boundary into this shelf.</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Fluorescent and brightfield images were combined with reconstruction of the labeled processes. The original panels keep scale bars of 100 µm for the wider field and 25 µm and 5 µm for the detailed views. Those scales separate the nucleus-scale anatomy from the fine processes.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histological boundary is therefore not always a complete boundary for a neuron's connections. These processes give anatomical access to the adjacent tissue, and the connections they make there are examined in later experiments. The processes that reach the shelf are therefore part of the anatomy that each reconstruction describes.</a:t>
            </a:r>
            <a:endParaRPr sz="1800">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3">
            <a:alphaModFix/>
          </a:blip>
          <a:srcRect b="0" l="0" r="0" t="0"/>
          <a:stretch/>
        </p:blipFill>
        <p:spPr>
          <a:xfrm>
            <a:off x="566944" y="1280071"/>
            <a:ext cx="5120614" cy="4178647"/>
          </a:xfrm>
          <a:prstGeom prst="rect">
            <a:avLst/>
          </a:prstGeom>
          <a:noFill/>
          <a:ln>
            <a:noFill/>
          </a:ln>
        </p:spPr>
      </p:pic>
      <p:sp>
        <p:nvSpPr>
          <p:cNvPr id="184" name="Google Shape;184;p13"/>
          <p:cNvSpPr/>
          <p:nvPr/>
        </p:nvSpPr>
        <p:spPr>
          <a:xfrm>
            <a:off x="566886" y="5550247"/>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9(a–c). Processes extending from HVC into the shelf.</a:t>
            </a:r>
            <a:endParaRPr sz="1800">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87" name="Google Shape;18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Local and broadcast axons differ within each class</a:t>
            </a:r>
            <a:endParaRPr sz="1800">
              <a:solidFill>
                <a:schemeClr val="dk1"/>
              </a:solidFill>
              <a:latin typeface="Calibri"/>
              <a:ea typeface="Calibri"/>
              <a:cs typeface="Calibri"/>
              <a:sym typeface="Calibri"/>
            </a:endParaRPr>
          </a:p>
        </p:txBody>
      </p:sp>
      <p:sp>
        <p:nvSpPr>
          <p:cNvPr id="193" name="Google Shape;193;p1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broadcast arbor</a:t>
            </a:r>
            <a:r>
              <a:rPr b="0" i="0" lang="en-US" sz="1500">
                <a:solidFill>
                  <a:srgbClr val="252E36"/>
                </a:solidFill>
                <a:latin typeface="Arial"/>
                <a:ea typeface="Arial"/>
                <a:cs typeface="Arial"/>
                <a:sym typeface="Arial"/>
              </a:rPr>
              <a:t> distributes axonal branches across a relatively broad volume, whereas a </a:t>
            </a:r>
            <a:r>
              <a:rPr b="1" i="0" lang="en-US" sz="1500">
                <a:solidFill>
                  <a:srgbClr val="405D72"/>
                </a:solidFill>
                <a:latin typeface="Arial"/>
                <a:ea typeface="Arial"/>
                <a:cs typeface="Arial"/>
                <a:sym typeface="Arial"/>
              </a:rPr>
              <a:t>local arbor</a:t>
            </a:r>
            <a:r>
              <a:rPr b="0" i="0" lang="en-US" sz="1500">
                <a:solidFill>
                  <a:srgbClr val="252E36"/>
                </a:solidFill>
                <a:latin typeface="Arial"/>
                <a:ea typeface="Arial"/>
                <a:cs typeface="Arial"/>
                <a:sym typeface="Arial"/>
              </a:rPr>
              <a:t> stays more spatially restricted. Benezra and colleagues quantified the axonal extent of each HVC neuron and the share of the nucleus that it occupied.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Both RA-projecting and X-projecting populations contained cells with different local output territories. Quantifying axonal distribution separately from dendritic distribution keeps a large input field from being treated as a large output field. The two measures stay distinct.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These anatomical differences shape how activity could spread through the HVC network. The local and broadcast categories describe reconstructed geometry, and the partners that each arbor reaches are identified in the next steps of the analysis. Each category is defined by the measured geometry of its arbor.</a:t>
            </a:r>
            <a:endParaRPr sz="1800">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6504328" y="1280071"/>
            <a:ext cx="5120544" cy="3145036"/>
          </a:xfrm>
          <a:prstGeom prst="rect">
            <a:avLst/>
          </a:prstGeom>
          <a:noFill/>
          <a:ln>
            <a:noFill/>
          </a:ln>
        </p:spPr>
      </p:pic>
      <p:sp>
        <p:nvSpPr>
          <p:cNvPr id="197" name="Google Shape;197;p14"/>
          <p:cNvSpPr/>
          <p:nvPr/>
        </p:nvSpPr>
        <p:spPr>
          <a:xfrm>
            <a:off x="6504236" y="4516636"/>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10(a–d). Local axonal distributions within HVC.</a:t>
            </a:r>
            <a:endParaRPr sz="1800">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200" name="Google Shape;20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RA sends descending output to vocal motor structures</a:t>
            </a:r>
            <a:endParaRPr sz="1800">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3">
            <a:alphaModFix/>
          </a:blip>
          <a:srcRect b="0" l="0" r="0" t="0"/>
          <a:stretch/>
        </p:blipFill>
        <p:spPr>
          <a:xfrm>
            <a:off x="2405239" y="1280071"/>
            <a:ext cx="1809545" cy="2925961"/>
          </a:xfrm>
          <a:prstGeom prst="rect">
            <a:avLst/>
          </a:prstGeom>
          <a:noFill/>
          <a:ln>
            <a:noFill/>
          </a:ln>
        </p:spPr>
      </p:pic>
      <p:sp>
        <p:nvSpPr>
          <p:cNvPr id="210" name="Google Shape;210;p15"/>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64717D"/>
              </a:buClr>
              <a:buSzPts val="1000"/>
              <a:buFont typeface="Arial"/>
              <a:buNone/>
            </a:pPr>
            <a:r>
              <a:rPr b="1" i="0" lang="en-US" sz="1500">
                <a:solidFill>
                  <a:srgbClr val="405D72"/>
                </a:solidFill>
                <a:latin typeface="Arial"/>
                <a:ea typeface="Arial"/>
                <a:cs typeface="Arial"/>
                <a:sym typeface="Arial"/>
              </a:rPr>
              <a:t>RA</a:t>
            </a:r>
            <a:r>
              <a:rPr b="0" i="0" lang="en-US" sz="1500">
                <a:solidFill>
                  <a:srgbClr val="64717D"/>
                </a:solidFill>
                <a:latin typeface="Arial"/>
                <a:ea typeface="Arial"/>
                <a:cs typeface="Arial"/>
                <a:sym typeface="Arial"/>
              </a:rPr>
              <a:t> is a forebrain motor nucleus whose projection neurons send descending output to brainstem targets. Zemel and colleagues place RA within the vocal motor pathway that connects HVC with the tracheosyringeal hypoglossal nucleus, nXIIts, and the syrinx.</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64717D"/>
              </a:buClr>
              <a:buSzPts val="1000"/>
              <a:buFont typeface="Arial"/>
              <a:buNone/>
            </a:pPr>
            <a:r>
              <a:rPr b="0" i="0" lang="en-US" sz="1500">
                <a:solidFill>
                  <a:srgbClr val="64717D"/>
                </a:solidFill>
                <a:latin typeface="Arial"/>
                <a:ea typeface="Arial"/>
                <a:cs typeface="Arial"/>
                <a:sym typeface="Arial"/>
              </a:rPr>
              <a:t>The </a:t>
            </a:r>
            <a:r>
              <a:rPr b="1" i="0" lang="en-US" sz="1500">
                <a:solidFill>
                  <a:srgbClr val="405D72"/>
                </a:solidFill>
                <a:latin typeface="Arial"/>
                <a:ea typeface="Arial"/>
                <a:cs typeface="Arial"/>
                <a:sym typeface="Arial"/>
              </a:rPr>
              <a:t>syrinx</a:t>
            </a:r>
            <a:r>
              <a:rPr b="0" i="0" lang="en-US" sz="1500">
                <a:solidFill>
                  <a:srgbClr val="64717D"/>
                </a:solidFill>
                <a:latin typeface="Arial"/>
                <a:ea typeface="Arial"/>
                <a:cs typeface="Arial"/>
                <a:sym typeface="Arial"/>
              </a:rPr>
              <a:t> is the avian vocal organ, and its muscles are controlled by lower motor neurons rather than directly by RA cell bodies. RA activity therefore reaches the vocal muscles through descending axons and brainstem motor connections, which coordinate the sound.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64717D"/>
              </a:buClr>
              <a:buSzPts val="1000"/>
              <a:buFont typeface="Arial"/>
              <a:buNone/>
            </a:pPr>
            <a:r>
              <a:rPr b="0" i="0" lang="en-US" sz="1500">
                <a:solidFill>
                  <a:srgbClr val="64717D"/>
                </a:solidFill>
                <a:latin typeface="Arial"/>
                <a:ea typeface="Arial"/>
                <a:cs typeface="Arial"/>
                <a:sym typeface="Arial"/>
              </a:rPr>
              <a:t>Maxwell and colleagues controlled air pressures around an isolated zebra finch syrinx and elicited sound without an intact brain. This preparation separates the sound-producing organ from the forebrain, so the organ's own contribution to the sound can be examined.</a:t>
            </a:r>
            <a:endParaRPr sz="1800">
              <a:solidFill>
                <a:schemeClr val="dk1"/>
              </a:solidFill>
              <a:latin typeface="Calibri"/>
              <a:ea typeface="Calibri"/>
              <a:cs typeface="Calibri"/>
              <a:sym typeface="Calibri"/>
            </a:endParaRPr>
          </a:p>
        </p:txBody>
      </p:sp>
      <p:pic>
        <p:nvPicPr>
          <p:cNvPr id="211" name="Google Shape;211;p15"/>
          <p:cNvPicPr preferRelativeResize="0"/>
          <p:nvPr/>
        </p:nvPicPr>
        <p:blipFill rotWithShape="1">
          <a:blip r:embed="rId4">
            <a:alphaModFix/>
          </a:blip>
          <a:srcRect b="0" l="0" r="0" t="0"/>
          <a:stretch/>
        </p:blipFill>
        <p:spPr>
          <a:xfrm>
            <a:off x="2474355" y="4754761"/>
            <a:ext cx="1671462" cy="1005780"/>
          </a:xfrm>
          <a:prstGeom prst="rect">
            <a:avLst/>
          </a:prstGeom>
          <a:noFill/>
          <a:ln>
            <a:noFill/>
          </a:ln>
        </p:spPr>
      </p:pic>
      <p:sp>
        <p:nvSpPr>
          <p:cNvPr id="212" name="Google Shape;212;p1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Maxwell et al. (2021), Fig. 1(a–b). Syrinx muscles and the medial vibratory mass.</a:t>
            </a:r>
            <a:endParaRPr sz="1800">
              <a:solidFill>
                <a:schemeClr val="dk1"/>
              </a:solidFill>
              <a:latin typeface="Calibri"/>
              <a:ea typeface="Calibri"/>
              <a:cs typeface="Calibri"/>
              <a:sym typeface="Calibri"/>
            </a:endParaRPr>
          </a:p>
        </p:txBody>
      </p:sp>
      <p:sp>
        <p:nvSpPr>
          <p:cNvPr id="213" name="Google Shape;213;p1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 Maxwell et al. (2021)</a:t>
            </a:r>
            <a:endParaRPr sz="1800">
              <a:solidFill>
                <a:schemeClr val="dk1"/>
              </a:solidFill>
              <a:latin typeface="Calibri"/>
              <a:ea typeface="Calibri"/>
              <a:cs typeface="Calibri"/>
              <a:sym typeface="Calibri"/>
            </a:endParaRPr>
          </a:p>
        </p:txBody>
      </p:sp>
      <p:sp>
        <p:nvSpPr>
          <p:cNvPr id="215" name="Google Shape;215;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RA neurons generate exceptionally narrow spikes</a:t>
            </a:r>
            <a:endParaRPr sz="1800">
              <a:solidFill>
                <a:schemeClr val="dk1"/>
              </a:solidFill>
              <a:latin typeface="Calibri"/>
              <a:ea typeface="Calibri"/>
              <a:cs typeface="Calibri"/>
              <a:sym typeface="Calibri"/>
            </a:endParaRPr>
          </a:p>
        </p:txBody>
      </p:sp>
      <p:sp>
        <p:nvSpPr>
          <p:cNvPr id="221" name="Google Shape;221;p1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400">
                <a:solidFill>
                  <a:srgbClr val="252E36"/>
                </a:solidFill>
                <a:latin typeface="Arial"/>
                <a:ea typeface="Arial"/>
                <a:cs typeface="Arial"/>
                <a:sym typeface="Arial"/>
              </a:rPr>
              <a:t>An </a:t>
            </a:r>
            <a:r>
              <a:rPr b="1" i="0" lang="en-US" sz="1400">
                <a:solidFill>
                  <a:srgbClr val="405D72"/>
                </a:solidFill>
                <a:latin typeface="Arial"/>
                <a:ea typeface="Arial"/>
                <a:cs typeface="Arial"/>
                <a:sym typeface="Arial"/>
              </a:rPr>
              <a:t>action potential</a:t>
            </a:r>
            <a:r>
              <a:rPr b="0" i="0" lang="en-US" sz="1400">
                <a:solidFill>
                  <a:srgbClr val="252E36"/>
                </a:solidFill>
                <a:latin typeface="Arial"/>
                <a:ea typeface="Arial"/>
                <a:cs typeface="Arial"/>
                <a:sym typeface="Arial"/>
              </a:rPr>
              <a:t> is a rapid electrical spike produced by voltage-dependent membrane conductances. An </a:t>
            </a:r>
            <a:r>
              <a:rPr b="1" i="0" lang="en-US" sz="1400">
                <a:solidFill>
                  <a:srgbClr val="405D72"/>
                </a:solidFill>
                <a:latin typeface="Arial"/>
                <a:ea typeface="Arial"/>
                <a:cs typeface="Arial"/>
                <a:sym typeface="Arial"/>
              </a:rPr>
              <a:t>ion channel</a:t>
            </a:r>
            <a:r>
              <a:rPr b="0" i="0" lang="en-US" sz="1400">
                <a:solidFill>
                  <a:srgbClr val="252E36"/>
                </a:solidFill>
                <a:latin typeface="Arial"/>
                <a:ea typeface="Arial"/>
                <a:cs typeface="Arial"/>
                <a:sym typeface="Arial"/>
              </a:rPr>
              <a:t> is a membrane protein that allows ions to cross the membrane. Zemel and colleagues recorded identified RA projection neurons in zebra finch brain slices with whole-cell current clamp, which measures membrane voltage while current is controlled.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400">
                <a:solidFill>
                  <a:srgbClr val="252E36"/>
                </a:solidFill>
                <a:latin typeface="Arial"/>
                <a:ea typeface="Arial"/>
                <a:cs typeface="Arial"/>
                <a:sym typeface="Arial"/>
              </a:rPr>
              <a:t>At about 40 °C, close to the avian body temperature, spontaneous spikes had a half-width of about 0.18 ms. Spontaneous firing was about fourfold faster than at room temperature, and depolarizing current evoked sustained rapid spike trains. The narrow spikes therefore show a fast firing capacity.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400">
                <a:solidFill>
                  <a:srgbClr val="252E36"/>
                </a:solidFill>
                <a:latin typeface="Arial"/>
                <a:ea typeface="Arial"/>
                <a:cs typeface="Arial"/>
                <a:sym typeface="Arial"/>
              </a:rPr>
              <a:t>Temperature changes the quantitative description of these motor neurons. Slice recordings show the intrinsic firing capacity under controlled conditions. The commands issued during a particular song syllable are recorded during singing, where patterned synaptic input and behavioral state also act on the cell.</a:t>
            </a:r>
            <a:endParaRPr sz="1800">
              <a:solidFill>
                <a:schemeClr val="dk1"/>
              </a:solidFill>
              <a:latin typeface="Calibri"/>
              <a:ea typeface="Calibri"/>
              <a:cs typeface="Calibri"/>
              <a:sym typeface="Calibri"/>
            </a:endParaRPr>
          </a:p>
        </p:txBody>
      </p:sp>
      <p:pic>
        <p:nvPicPr>
          <p:cNvPr id="224" name="Google Shape;224;p16"/>
          <p:cNvPicPr preferRelativeResize="0"/>
          <p:nvPr/>
        </p:nvPicPr>
        <p:blipFill rotWithShape="1">
          <a:blip r:embed="rId3">
            <a:alphaModFix/>
          </a:blip>
          <a:srcRect b="0" l="0" r="0" t="0"/>
          <a:stretch/>
        </p:blipFill>
        <p:spPr>
          <a:xfrm>
            <a:off x="6504414" y="1280071"/>
            <a:ext cx="5120373" cy="3174355"/>
          </a:xfrm>
          <a:prstGeom prst="rect">
            <a:avLst/>
          </a:prstGeom>
          <a:noFill/>
          <a:ln>
            <a:noFill/>
          </a:ln>
        </p:spPr>
      </p:pic>
      <p:sp>
        <p:nvSpPr>
          <p:cNvPr id="225" name="Google Shape;225;p16"/>
          <p:cNvSpPr/>
          <p:nvPr/>
        </p:nvSpPr>
        <p:spPr>
          <a:xfrm>
            <a:off x="6504236" y="4545955"/>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1(a–k). RA motor anatomy and temperature-dependent spikes.</a:t>
            </a:r>
            <a:endParaRPr sz="1800">
              <a:solidFill>
                <a:schemeClr val="dk1"/>
              </a:solidFill>
              <a:latin typeface="Calibri"/>
              <a:ea typeface="Calibri"/>
              <a:cs typeface="Calibri"/>
              <a:sym typeface="Calibri"/>
            </a:endParaRPr>
          </a:p>
        </p:txBody>
      </p:sp>
      <p:sp>
        <p:nvSpPr>
          <p:cNvPr id="226" name="Google Shape;226;p1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28" name="Google Shape;228;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Resurgent sodium current follows repolarization</a:t>
            </a:r>
            <a:endParaRPr sz="1800">
              <a:solidFill>
                <a:schemeClr val="dk1"/>
              </a:solidFill>
              <a:latin typeface="Calibri"/>
              <a:ea typeface="Calibri"/>
              <a:cs typeface="Calibri"/>
              <a:sym typeface="Calibri"/>
            </a:endParaRPr>
          </a:p>
        </p:txBody>
      </p:sp>
      <p:sp>
        <p:nvSpPr>
          <p:cNvPr id="234" name="Google Shape;234;p17"/>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resurgent sodium current</a:t>
            </a:r>
            <a:r>
              <a:rPr b="0" i="0" lang="en-US" sz="1500">
                <a:solidFill>
                  <a:srgbClr val="252E36"/>
                </a:solidFill>
                <a:latin typeface="Arial"/>
                <a:ea typeface="Arial"/>
                <a:cs typeface="Arial"/>
                <a:sym typeface="Arial"/>
              </a:rPr>
              <a:t> is an inward sodium current that appears as the membrane repolarizes after a strong depolarization. Zemel and colleagues used voltage clamp, which controls membrane voltage while recording current, to isolate this component.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step from −90 to +30 mV activated a transient current. Subsequent test voltages evoked resurgent current, with a peak near −3 nA at −45 mV in adult RA projection neurons. The sequence of voltage steps made the later inward current measurable.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Resurgent current supports renewed excitation during recovery from a spike. The recording measures the membrane current under the imposed voltage protocol, and its contribution to firing is tested in the current-clamp experiments.</a:t>
            </a:r>
            <a:endParaRPr sz="1800">
              <a:solidFill>
                <a:schemeClr val="dk1"/>
              </a:solidFill>
              <a:latin typeface="Calibri"/>
              <a:ea typeface="Calibri"/>
              <a:cs typeface="Calibri"/>
              <a:sym typeface="Calibri"/>
            </a:endParaRPr>
          </a:p>
        </p:txBody>
      </p:sp>
      <p:pic>
        <p:nvPicPr>
          <p:cNvPr id="237" name="Google Shape;237;p17"/>
          <p:cNvPicPr preferRelativeResize="0"/>
          <p:nvPr/>
        </p:nvPicPr>
        <p:blipFill rotWithShape="1">
          <a:blip r:embed="rId3">
            <a:alphaModFix/>
          </a:blip>
          <a:srcRect b="0" l="0" r="0" t="0"/>
          <a:stretch/>
        </p:blipFill>
        <p:spPr>
          <a:xfrm>
            <a:off x="832946" y="1280071"/>
            <a:ext cx="4588461" cy="4297561"/>
          </a:xfrm>
          <a:prstGeom prst="rect">
            <a:avLst/>
          </a:prstGeom>
          <a:noFill/>
          <a:ln>
            <a:noFill/>
          </a:ln>
        </p:spPr>
      </p:pic>
      <p:sp>
        <p:nvSpPr>
          <p:cNvPr id="238" name="Google Shape;238;p17"/>
          <p:cNvSpPr/>
          <p:nvPr/>
        </p:nvSpPr>
        <p:spPr>
          <a:xfrm>
            <a:off x="56688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2(a–j). RA sodium-subunit expression and resurgent current.</a:t>
            </a:r>
            <a:endParaRPr sz="1800">
              <a:solidFill>
                <a:schemeClr val="dk1"/>
              </a:solidFill>
              <a:latin typeface="Calibri"/>
              <a:ea typeface="Calibri"/>
              <a:cs typeface="Calibri"/>
              <a:sym typeface="Calibri"/>
            </a:endParaRPr>
          </a:p>
        </p:txBody>
      </p:sp>
      <p:sp>
        <p:nvSpPr>
          <p:cNvPr id="239" name="Google Shape;239;p17"/>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41" name="Google Shape;241;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Sodium-channel subunit expression changes within RA</a:t>
            </a:r>
            <a:endParaRPr sz="1800">
              <a:solidFill>
                <a:schemeClr val="dk1"/>
              </a:solidFill>
              <a:latin typeface="Calibri"/>
              <a:ea typeface="Calibri"/>
              <a:cs typeface="Calibri"/>
              <a:sym typeface="Calibri"/>
            </a:endParaRPr>
          </a:p>
        </p:txBody>
      </p:sp>
      <p:sp>
        <p:nvSpPr>
          <p:cNvPr id="247" name="Google Shape;247;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sodium channel's </a:t>
            </a:r>
            <a:r>
              <a:rPr b="1" i="0" lang="en-US" sz="1500">
                <a:solidFill>
                  <a:srgbClr val="405D72"/>
                </a:solidFill>
                <a:latin typeface="Arial"/>
                <a:ea typeface="Arial"/>
                <a:cs typeface="Arial"/>
                <a:sym typeface="Arial"/>
              </a:rPr>
              <a:t>β subunit</a:t>
            </a:r>
            <a:r>
              <a:rPr b="0" i="0" lang="en-US" sz="1500">
                <a:solidFill>
                  <a:srgbClr val="252E36"/>
                </a:solidFill>
                <a:latin typeface="Arial"/>
                <a:ea typeface="Arial"/>
                <a:cs typeface="Arial"/>
                <a:sym typeface="Arial"/>
              </a:rPr>
              <a:t> is an accessory protein that changes how the channel functions. Zemel and colleagues applied in situ hybridization, which detects specific RNA sequences in tissue, to compare Navβ3 and Navβ4 expression across male zebra finch development.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sampled stages were 20, 35 and 50 days after hatching and adulthood. RA changed from relatively strong Navβ3 expression toward stronger Navβ4 expression. Comparison with the surrounding arcopallium showed that the change is specific to RA rather than a uniform shift across nearby tissue.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RNA abundance identifies a candidate molecular mechanism. The expression data were paired with physiological recordings and with later manipulations of resurgent current, which together test whether the subunit change produces the current change.</a:t>
            </a:r>
            <a:endParaRPr sz="1800">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3">
            <a:alphaModFix/>
          </a:blip>
          <a:srcRect b="0" l="0" r="0" t="0"/>
          <a:stretch/>
        </p:blipFill>
        <p:spPr>
          <a:xfrm>
            <a:off x="7445722" y="1280074"/>
            <a:ext cx="3237607" cy="4297555"/>
          </a:xfrm>
          <a:prstGeom prst="rect">
            <a:avLst/>
          </a:prstGeom>
          <a:noFill/>
          <a:ln>
            <a:noFill/>
          </a:ln>
        </p:spPr>
      </p:pic>
      <p:sp>
        <p:nvSpPr>
          <p:cNvPr id="251" name="Google Shape;251;p18"/>
          <p:cNvSpPr/>
          <p:nvPr/>
        </p:nvSpPr>
        <p:spPr>
          <a:xfrm>
            <a:off x="650423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3(a–l). Developmental sodium-subunit expression in RA.</a:t>
            </a:r>
            <a:endParaRPr sz="1800">
              <a:solidFill>
                <a:schemeClr val="dk1"/>
              </a:solidFill>
              <a:latin typeface="Calibri"/>
              <a:ea typeface="Calibri"/>
              <a:cs typeface="Calibri"/>
              <a:sym typeface="Calibri"/>
            </a:endParaRPr>
          </a:p>
        </p:txBody>
      </p:sp>
      <p:sp>
        <p:nvSpPr>
          <p:cNvPr id="252" name="Google Shape;252;p1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54" name="Google Shape;254;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Resurgent current increases across male development</a:t>
            </a:r>
            <a:endParaRPr sz="1800">
              <a:solidFill>
                <a:schemeClr val="dk1"/>
              </a:solidFill>
              <a:latin typeface="Calibri"/>
              <a:ea typeface="Calibri"/>
              <a:cs typeface="Calibri"/>
              <a:sym typeface="Calibri"/>
            </a:endParaRPr>
          </a:p>
        </p:txBody>
      </p:sp>
      <p:sp>
        <p:nvSpPr>
          <p:cNvPr id="260" name="Google Shape;260;p19"/>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Zemel and colleagues recorded transient and resurgent sodium currents from RA projection neurons at 20, 35 and 50 days after hatching and in adult male zebra finches. Applying the same voltage protocol at each stage made the current components directly comparable.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Resurgent current increased with age, including when it was normalized to the transient current measured in the same sweep. That normalization shows that the developmental effect is not simply a general increase in all sodium current. The current specifically increases relative to the transient component.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age-related current increase tracks the shift toward Navβ4 expression, and the two changes occur together across development. The developmental pairing is then tested by changing the current directly, as the later slides describe.</a:t>
            </a:r>
            <a:endParaRPr sz="1800">
              <a:solidFill>
                <a:schemeClr val="dk1"/>
              </a:solidFill>
              <a:latin typeface="Calibri"/>
              <a:ea typeface="Calibri"/>
              <a:cs typeface="Calibri"/>
              <a:sym typeface="Calibri"/>
            </a:endParaRPr>
          </a:p>
        </p:txBody>
      </p:sp>
      <p:pic>
        <p:nvPicPr>
          <p:cNvPr id="263" name="Google Shape;263;p19"/>
          <p:cNvPicPr preferRelativeResize="0"/>
          <p:nvPr/>
        </p:nvPicPr>
        <p:blipFill rotWithShape="1">
          <a:blip r:embed="rId3">
            <a:alphaModFix/>
          </a:blip>
          <a:srcRect b="0" l="0" r="0" t="0"/>
          <a:stretch/>
        </p:blipFill>
        <p:spPr>
          <a:xfrm>
            <a:off x="2160739" y="1280071"/>
            <a:ext cx="2298843" cy="2925961"/>
          </a:xfrm>
          <a:prstGeom prst="rect">
            <a:avLst/>
          </a:prstGeom>
          <a:noFill/>
          <a:ln>
            <a:noFill/>
          </a:ln>
        </p:spPr>
      </p:pic>
      <p:sp>
        <p:nvSpPr>
          <p:cNvPr id="264" name="Google Shape;264;p19"/>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4(a–f). Developmental increase of resurgent current.</a:t>
            </a:r>
            <a:endParaRPr sz="1800">
              <a:solidFill>
                <a:schemeClr val="dk1"/>
              </a:solidFill>
              <a:latin typeface="Calibri"/>
              <a:ea typeface="Calibri"/>
              <a:cs typeface="Calibri"/>
              <a:sym typeface="Calibri"/>
            </a:endParaRPr>
          </a:p>
        </p:txBody>
      </p:sp>
      <p:pic>
        <p:nvPicPr>
          <p:cNvPr id="265" name="Google Shape;265;p19"/>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266" name="Google Shape;266;p19"/>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267" name="Google Shape;267;p1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69" name="Google Shape;269;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Voltage-clamp controls address axonal recording errors</a:t>
            </a:r>
            <a:endParaRPr sz="1800">
              <a:solidFill>
                <a:schemeClr val="dk1"/>
              </a:solidFill>
              <a:latin typeface="Calibri"/>
              <a:ea typeface="Calibri"/>
              <a:cs typeface="Calibri"/>
              <a:sym typeface="Calibri"/>
            </a:endParaRPr>
          </a:p>
        </p:txBody>
      </p:sp>
      <p:sp>
        <p:nvSpPr>
          <p:cNvPr id="275" name="Google Shape;275;p2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Space clamp</a:t>
            </a:r>
            <a:r>
              <a:rPr b="0" i="0" lang="en-US" sz="1500">
                <a:solidFill>
                  <a:srgbClr val="252E36"/>
                </a:solidFill>
                <a:latin typeface="Arial"/>
                <a:ea typeface="Arial"/>
                <a:cs typeface="Arial"/>
                <a:sym typeface="Arial"/>
              </a:rPr>
              <a:t> describes how well an electrode controls voltage throughout a neuron, and long axons make that control harder. Zemel and colleagues repeated the sodium-current measurements in frontal slices that shortened the initial axonal segments of RA projection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The team also lowered extracellular sodium to improve recording conditions, and they compared neurons from 20-day males with adult neurons. The developmental difference in resurgent current remained under these altered conditions. The difference therefore reflects the cells themselves rather than the recording of distant axons.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These controls strengthen the interpretation of the current measurement, and the voltage clamp still controls the cell as closely as the method allows. The comparison concerns isolated-cell membrane physiology, and the effect of the current on the acoustic structure of song is examined in the following experiments.</a:t>
            </a:r>
            <a:endParaRPr sz="1800">
              <a:solidFill>
                <a:schemeClr val="dk1"/>
              </a:solidFill>
              <a:latin typeface="Calibri"/>
              <a:ea typeface="Calibri"/>
              <a:cs typeface="Calibri"/>
              <a:sym typeface="Calibri"/>
            </a:endParaRPr>
          </a:p>
        </p:txBody>
      </p:sp>
      <p:pic>
        <p:nvPicPr>
          <p:cNvPr id="278" name="Google Shape;278;p20"/>
          <p:cNvPicPr preferRelativeResize="0"/>
          <p:nvPr/>
        </p:nvPicPr>
        <p:blipFill rotWithShape="1">
          <a:blip r:embed="rId3">
            <a:alphaModFix/>
          </a:blip>
          <a:srcRect b="0" l="0" r="0" t="0"/>
          <a:stretch/>
        </p:blipFill>
        <p:spPr>
          <a:xfrm>
            <a:off x="6504375" y="1280071"/>
            <a:ext cx="5120450" cy="4274493"/>
          </a:xfrm>
          <a:prstGeom prst="rect">
            <a:avLst/>
          </a:prstGeom>
          <a:noFill/>
          <a:ln>
            <a:noFill/>
          </a:ln>
        </p:spPr>
      </p:pic>
      <p:sp>
        <p:nvSpPr>
          <p:cNvPr id="279" name="Google Shape;279;p20"/>
          <p:cNvSpPr/>
          <p:nvPr/>
        </p:nvSpPr>
        <p:spPr>
          <a:xfrm>
            <a:off x="6504236" y="5646093"/>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5(a–i). Axonal and voltage-clamp recording controls.</a:t>
            </a:r>
            <a:endParaRPr sz="1800">
              <a:solidFill>
                <a:schemeClr val="dk1"/>
              </a:solidFill>
              <a:latin typeface="Calibri"/>
              <a:ea typeface="Calibri"/>
              <a:cs typeface="Calibri"/>
              <a:sym typeface="Calibri"/>
            </a:endParaRPr>
          </a:p>
        </p:txBody>
      </p:sp>
      <p:sp>
        <p:nvSpPr>
          <p:cNvPr id="280" name="Google Shape;280;p2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82" name="Google Shape;282;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 Navβ4 peptide increases juvenile resurgent current</a:t>
            </a:r>
            <a:endParaRPr sz="1800">
              <a:solidFill>
                <a:schemeClr val="dk1"/>
              </a:solidFill>
              <a:latin typeface="Calibri"/>
              <a:ea typeface="Calibri"/>
              <a:cs typeface="Calibri"/>
              <a:sym typeface="Calibri"/>
            </a:endParaRPr>
          </a:p>
        </p:txBody>
      </p:sp>
      <p:sp>
        <p:nvSpPr>
          <p:cNvPr id="288" name="Google Shape;288;p21"/>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Zemel and colleagues introduced a peptide from the intracellular C-terminal region of Navβ4 through the recording pipette into RA neurons from 20-day male zebra finches. A </a:t>
            </a:r>
            <a:r>
              <a:rPr b="1" i="0" lang="en-US" sz="1500">
                <a:solidFill>
                  <a:srgbClr val="405D72"/>
                </a:solidFill>
                <a:latin typeface="Arial"/>
                <a:ea typeface="Arial"/>
                <a:cs typeface="Arial"/>
                <a:sym typeface="Arial"/>
              </a:rPr>
              <a:t>peptide</a:t>
            </a:r>
            <a:r>
              <a:rPr b="0" i="0" lang="en-US" sz="1500">
                <a:solidFill>
                  <a:srgbClr val="252E36"/>
                </a:solidFill>
                <a:latin typeface="Arial"/>
                <a:ea typeface="Arial"/>
                <a:cs typeface="Arial"/>
                <a:sym typeface="Arial"/>
              </a:rPr>
              <a:t> is a short chain of amino acids, used here to test a proposed channel mechanism.</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Resurgent current increased over about 7 minutes after whole-cell access with the native peptide. A scrambled peptide containing the same amino acids in a different sequence did not produce the same increase, which controls for nonspecific effects of the peptide.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This intervention links a defined sequence to the current change more directly than RNA expression alone does. The effect is measured in isolated cells, and its consequences for the intact bird are tested in separate experiments.</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3">
            <a:alphaModFix/>
          </a:blip>
          <a:srcRect b="0" l="0" r="0" t="0"/>
          <a:stretch/>
        </p:blipFill>
        <p:spPr>
          <a:xfrm>
            <a:off x="1951930" y="1280071"/>
            <a:ext cx="2716313" cy="2925961"/>
          </a:xfrm>
          <a:prstGeom prst="rect">
            <a:avLst/>
          </a:prstGeom>
          <a:noFill/>
          <a:ln>
            <a:noFill/>
          </a:ln>
        </p:spPr>
      </p:pic>
      <p:sp>
        <p:nvSpPr>
          <p:cNvPr id="292" name="Google Shape;292;p21"/>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7(a–l). Native and scrambled Navβ4 peptide interventions.</a:t>
            </a:r>
            <a:endParaRPr sz="1800">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294" name="Google Shape;294;p21"/>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97" name="Google Shape;29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Dynamic clamp tests the effect of resurgent current</a:t>
            </a:r>
            <a:endParaRPr sz="1800">
              <a:solidFill>
                <a:schemeClr val="dk1"/>
              </a:solidFill>
              <a:latin typeface="Calibri"/>
              <a:ea typeface="Calibri"/>
              <a:cs typeface="Calibri"/>
              <a:sym typeface="Calibri"/>
            </a:endParaRPr>
          </a:p>
        </p:txBody>
      </p:sp>
      <p:sp>
        <p:nvSpPr>
          <p:cNvPr id="303" name="Google Shape;303;p2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Dynamic clamp</a:t>
            </a:r>
            <a:r>
              <a:rPr b="0" i="0" lang="en-US" sz="1500">
                <a:solidFill>
                  <a:srgbClr val="252E36"/>
                </a:solidFill>
                <a:latin typeface="Arial"/>
                <a:ea typeface="Arial"/>
                <a:cs typeface="Arial"/>
                <a:sym typeface="Arial"/>
              </a:rPr>
              <a:t> computes a voltage-dependent current during the recording and injects that current into a real neuron. Zemel and colleagues used this method to add a resurgent-current component to juvenile RA neurons and to subtract a matching component from adult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Adding the component increased juvenile firing frequency, whereas subtracting it reduced adult firing. The same cell was compared with the intervention off and on, which separated the immediate effect of the current from stable differences between the developmental groups.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The experiment supports a causal contribution of resurgent current to neuronal excitability. The injected conductance was calibrated to the measured sodium-current kinetics, and the match with the voltage-clamp recordings ties the injected current to the current measured in the cell. Its contribution to song timing is studied in the bird itself.</a:t>
            </a:r>
            <a:endParaRPr sz="1800">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3">
            <a:alphaModFix/>
          </a:blip>
          <a:srcRect b="0" l="0" r="0" t="0"/>
          <a:stretch/>
        </p:blipFill>
        <p:spPr>
          <a:xfrm>
            <a:off x="7858338" y="1280071"/>
            <a:ext cx="2046853" cy="2925961"/>
          </a:xfrm>
          <a:prstGeom prst="rect">
            <a:avLst/>
          </a:prstGeom>
          <a:noFill/>
          <a:ln>
            <a:noFill/>
          </a:ln>
        </p:spPr>
      </p:pic>
      <p:pic>
        <p:nvPicPr>
          <p:cNvPr id="308" name="Google Shape;308;p22"/>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309" name="Google Shape;309;p22"/>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312" name="Google Shape;312;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RA maturation differs between males and females</a:t>
            </a:r>
            <a:endParaRPr sz="1800">
              <a:solidFill>
                <a:schemeClr val="dk1"/>
              </a:solidFill>
              <a:latin typeface="Calibri"/>
              <a:ea typeface="Calibri"/>
              <a:cs typeface="Calibri"/>
              <a:sym typeface="Calibri"/>
            </a:endParaRPr>
          </a:p>
        </p:txBody>
      </p:sp>
      <p:sp>
        <p:nvSpPr>
          <p:cNvPr id="318" name="Google Shape;318;p23"/>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Zemel and colleagues compared Navβ4 expression and RA physiology across ages in female zebra finches, which do not produce the learned courtship song that males sing. In situ hybridization was assessed alongside adjacent Nissl-stained sections, so the expression pattern could be placed in the tissue.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Females did not show the male pattern of strong developmental Navβ4 upregulation or the mature resurgent-current specialization. The comparison separates a sex-related developmental program from a change that happens in every bird regardless of sex.</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Male birds isolated from tutor song still developed mature firing properties, which separates intrinsic maturation from successful imitation. The result shows that maturation follows the bird's own program, and the imitation of a tutor's song is a different process.</a:t>
            </a:r>
            <a:endParaRPr sz="1800">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3">
            <a:alphaModFix/>
          </a:blip>
          <a:srcRect b="0" l="0" r="0" t="0"/>
          <a:stretch/>
        </p:blipFill>
        <p:spPr>
          <a:xfrm>
            <a:off x="567023" y="1280071"/>
            <a:ext cx="5120457" cy="4075063"/>
          </a:xfrm>
          <a:prstGeom prst="rect">
            <a:avLst/>
          </a:prstGeom>
          <a:noFill/>
          <a:ln>
            <a:noFill/>
          </a:ln>
        </p:spPr>
      </p:pic>
      <p:sp>
        <p:nvSpPr>
          <p:cNvPr id="322" name="Google Shape;322;p23"/>
          <p:cNvSpPr/>
          <p:nvPr/>
        </p:nvSpPr>
        <p:spPr>
          <a:xfrm>
            <a:off x="566886" y="5446663"/>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9(a–g). Female RA expression and sodium-current measurements.</a:t>
            </a:r>
            <a:endParaRPr sz="1800">
              <a:solidFill>
                <a:schemeClr val="dk1"/>
              </a:solidFill>
              <a:latin typeface="Calibri"/>
              <a:ea typeface="Calibri"/>
              <a:cs typeface="Calibri"/>
              <a:sym typeface="Calibri"/>
            </a:endParaRPr>
          </a:p>
        </p:txBody>
      </p:sp>
      <p:sp>
        <p:nvSpPr>
          <p:cNvPr id="323" name="Google Shape;323;p2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325" name="Google Shape;325;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SK channels contribute to the afterhyperpolarization</a:t>
            </a:r>
            <a:endParaRPr sz="1800">
              <a:solidFill>
                <a:schemeClr val="dk1"/>
              </a:solidFill>
              <a:latin typeface="Calibri"/>
              <a:ea typeface="Calibri"/>
              <a:cs typeface="Calibri"/>
              <a:sym typeface="Calibri"/>
            </a:endParaRPr>
          </a:p>
        </p:txBody>
      </p:sp>
      <p:sp>
        <p:nvSpPr>
          <p:cNvPr id="331" name="Google Shape;331;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SK channels</a:t>
            </a:r>
            <a:r>
              <a:rPr b="0" i="0" lang="en-US" sz="1500">
                <a:solidFill>
                  <a:srgbClr val="252E36"/>
                </a:solidFill>
                <a:latin typeface="Arial"/>
                <a:ea typeface="Arial"/>
                <a:cs typeface="Arial"/>
                <a:sym typeface="Arial"/>
              </a:rPr>
              <a:t> are small-conductance calcium-activated potassium channels. Calcium-dependent potassium efflux produces an </a:t>
            </a:r>
            <a:r>
              <a:rPr b="1" i="0" lang="en-US" sz="1500">
                <a:solidFill>
                  <a:srgbClr val="405D72"/>
                </a:solidFill>
                <a:latin typeface="Arial"/>
                <a:ea typeface="Arial"/>
                <a:cs typeface="Arial"/>
                <a:sym typeface="Arial"/>
              </a:rPr>
              <a:t>afterhyperpolarization</a:t>
            </a:r>
            <a:r>
              <a:rPr b="0" i="0" lang="en-US" sz="1500">
                <a:solidFill>
                  <a:srgbClr val="252E36"/>
                </a:solidFill>
                <a:latin typeface="Arial"/>
                <a:ea typeface="Arial"/>
                <a:cs typeface="Arial"/>
                <a:sym typeface="Arial"/>
              </a:rPr>
              <a:t>, a period of more negative membrane voltage after a spike that sets when the next spike can occur.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Hou and colleagues recorded RA projection neurons in adult male zebra finch slices and applied apamin, an SK-channel blocker, at 100 nM. In one example, the firing rate for a 100 pA stimulus rose from 34 to about 53 Hz. Blocking the channels reduced the afterhyperpolarization and increased current-evoked firing, which links the target to both the spike waveform and the excitability of the cell.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The direction of the effect fits removal of a potassium-mediated brake on excitation. The pharmacology establishes this contribution under slice conditions, and the timing of a complete song is examined with the in vivo measurements that follow.</a:t>
            </a:r>
            <a:endParaRPr sz="1800">
              <a:solidFill>
                <a:schemeClr val="dk1"/>
              </a:solidFill>
              <a:latin typeface="Calibri"/>
              <a:ea typeface="Calibri"/>
              <a:cs typeface="Calibri"/>
              <a:sym typeface="Calibri"/>
            </a:endParaRPr>
          </a:p>
        </p:txBody>
      </p:sp>
      <p:pic>
        <p:nvPicPr>
          <p:cNvPr id="334" name="Google Shape;334;p24"/>
          <p:cNvPicPr preferRelativeResize="0"/>
          <p:nvPr/>
        </p:nvPicPr>
        <p:blipFill rotWithShape="1">
          <a:blip r:embed="rId3">
            <a:alphaModFix/>
          </a:blip>
          <a:srcRect b="0" l="0" r="0" t="0"/>
          <a:stretch/>
        </p:blipFill>
        <p:spPr>
          <a:xfrm>
            <a:off x="7629577" y="1280071"/>
            <a:ext cx="2504078" cy="2925961"/>
          </a:xfrm>
          <a:prstGeom prst="rect">
            <a:avLst/>
          </a:prstGeom>
          <a:noFill/>
          <a:ln>
            <a:noFill/>
          </a:ln>
        </p:spPr>
      </p:pic>
      <p:sp>
        <p:nvSpPr>
          <p:cNvPr id="335" name="Google Shape;335;p2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1(A–F). SK blockade changes evoked firing and spike recovery.</a:t>
            </a:r>
            <a:endParaRPr sz="1800">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337" name="Google Shape;337;p2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38" name="Google Shape;338;p2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 Zemel et al. (2021)</a:t>
            </a:r>
            <a:endParaRPr sz="1800">
              <a:solidFill>
                <a:schemeClr val="dk1"/>
              </a:solidFill>
              <a:latin typeface="Calibri"/>
              <a:ea typeface="Calibri"/>
              <a:cs typeface="Calibri"/>
              <a:sym typeface="Calibri"/>
            </a:endParaRPr>
          </a:p>
        </p:txBody>
      </p:sp>
      <p:sp>
        <p:nvSpPr>
          <p:cNvPr id="340" name="Google Shape;340;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SK blockade makes RA firing less regular</a:t>
            </a:r>
            <a:endParaRPr sz="1800">
              <a:solidFill>
                <a:schemeClr val="dk1"/>
              </a:solidFill>
              <a:latin typeface="Calibri"/>
              <a:ea typeface="Calibri"/>
              <a:cs typeface="Calibri"/>
              <a:sym typeface="Calibri"/>
            </a:endParaRPr>
          </a:p>
        </p:txBody>
      </p:sp>
      <p:sp>
        <p:nvSpPr>
          <p:cNvPr id="346" name="Google Shape;346;p25"/>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Interspike intervals</a:t>
            </a:r>
            <a:r>
              <a:rPr b="0" i="0" lang="en-US" sz="1500">
                <a:solidFill>
                  <a:srgbClr val="252E36"/>
                </a:solidFill>
                <a:latin typeface="Arial"/>
                <a:ea typeface="Arial"/>
                <a:cs typeface="Arial"/>
                <a:sym typeface="Arial"/>
              </a:rPr>
              <a:t> are the times that separate successive action potentials. Hou and colleagues compared spontaneous spike trains from the same RA projection neurons before and after apamin, so firing regularity could be assessed in each cell.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SK blockade increased the variability of the intervals between spikes without a clear change in the average spontaneous firing rate. The recordings therefore separate a neuron that fires faster from a neuron that fires more reproducibly.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Calcium-activated potassium feedback stabilizes the return toward spike threshold after each action potential. The result supports a contribution of SK channels to temporal regularity. The regularity of firing is therefore one property that the same cells can change without changing their mean rate.</a:t>
            </a:r>
            <a:endParaRPr sz="1800">
              <a:solidFill>
                <a:schemeClr val="dk1"/>
              </a:solidFill>
              <a:latin typeface="Calibri"/>
              <a:ea typeface="Calibri"/>
              <a:cs typeface="Calibri"/>
              <a:sym typeface="Calibri"/>
            </a:endParaRPr>
          </a:p>
        </p:txBody>
      </p:sp>
      <p:pic>
        <p:nvPicPr>
          <p:cNvPr id="349" name="Google Shape;349;p25"/>
          <p:cNvPicPr preferRelativeResize="0"/>
          <p:nvPr/>
        </p:nvPicPr>
        <p:blipFill rotWithShape="1">
          <a:blip r:embed="rId3">
            <a:alphaModFix/>
          </a:blip>
          <a:srcRect b="0" l="0" r="0" t="0"/>
          <a:stretch/>
        </p:blipFill>
        <p:spPr>
          <a:xfrm>
            <a:off x="2089870" y="1280071"/>
            <a:ext cx="2440283" cy="2925961"/>
          </a:xfrm>
          <a:prstGeom prst="rect">
            <a:avLst/>
          </a:prstGeom>
          <a:noFill/>
          <a:ln>
            <a:noFill/>
          </a:ln>
        </p:spPr>
      </p:pic>
      <p:sp>
        <p:nvSpPr>
          <p:cNvPr id="350" name="Google Shape;350;p25"/>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2(A–E). Spontaneous spike timing before and after apamin.</a:t>
            </a:r>
            <a:endParaRPr sz="1800">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352" name="Google Shape;352;p2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53" name="Google Shape;353;p2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 Zemel et al. (2021)</a:t>
            </a:r>
            <a:endParaRPr sz="1800">
              <a:solidFill>
                <a:schemeClr val="dk1"/>
              </a:solidFill>
              <a:latin typeface="Calibri"/>
              <a:ea typeface="Calibri"/>
              <a:cs typeface="Calibri"/>
              <a:sym typeface="Calibri"/>
            </a:endParaRPr>
          </a:p>
        </p:txBody>
      </p:sp>
      <p:sp>
        <p:nvSpPr>
          <p:cNvPr id="355" name="Google Shape;355;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SK blockade destabilizes evoked spike threshold</a:t>
            </a:r>
            <a:endParaRPr sz="1800">
              <a:solidFill>
                <a:schemeClr val="dk1"/>
              </a:solidFill>
              <a:latin typeface="Calibri"/>
              <a:ea typeface="Calibri"/>
              <a:cs typeface="Calibri"/>
              <a:sym typeface="Calibri"/>
            </a:endParaRPr>
          </a:p>
        </p:txBody>
      </p:sp>
      <p:sp>
        <p:nvSpPr>
          <p:cNvPr id="361" name="Google Shape;361;p2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spike threshold</a:t>
            </a:r>
            <a:r>
              <a:rPr b="0" i="0" lang="en-US" sz="1500">
                <a:solidFill>
                  <a:srgbClr val="252E36"/>
                </a:solidFill>
                <a:latin typeface="Arial"/>
                <a:ea typeface="Arial"/>
                <a:cs typeface="Arial"/>
                <a:sym typeface="Arial"/>
              </a:rPr>
              <a:t> is the membrane voltage at which regenerative excitation starts an action potential. Hou and colleagues evoked firing with a 100 pA depolarizing current and compared the thresholds measured before and after 100 nM apamin blocked SK channels.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Blockade increased the variation of the evoked thresholds and shifted them toward more depolarized voltages as the injected current increased. The recordings link irregular firing to less stable spike initiation, rather than assuming that every change in spike count has the same membrane cause.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The effect supports a role for calcium-activated potassium feedback in recovery between spikes. The specific calcium source that activates SK channels is identified by separate measurements, and spontaneous and current-evoked firing respond to the intervention in their own ways.</a:t>
            </a:r>
            <a:endParaRPr sz="1800">
              <a:solidFill>
                <a:schemeClr val="dk1"/>
              </a:solidFill>
              <a:latin typeface="Calibri"/>
              <a:ea typeface="Calibri"/>
              <a:cs typeface="Calibri"/>
              <a:sym typeface="Calibri"/>
            </a:endParaRPr>
          </a:p>
        </p:txBody>
      </p:sp>
      <p:pic>
        <p:nvPicPr>
          <p:cNvPr id="364" name="Google Shape;364;p26"/>
          <p:cNvPicPr preferRelativeResize="0"/>
          <p:nvPr/>
        </p:nvPicPr>
        <p:blipFill rotWithShape="1">
          <a:blip r:embed="rId3">
            <a:alphaModFix/>
          </a:blip>
          <a:srcRect b="0" l="0" r="0" t="0"/>
          <a:stretch/>
        </p:blipFill>
        <p:spPr>
          <a:xfrm>
            <a:off x="6960620" y="1280071"/>
            <a:ext cx="3841991" cy="2925961"/>
          </a:xfrm>
          <a:prstGeom prst="rect">
            <a:avLst/>
          </a:prstGeom>
          <a:noFill/>
          <a:ln>
            <a:noFill/>
          </a:ln>
        </p:spPr>
      </p:pic>
      <p:sp>
        <p:nvSpPr>
          <p:cNvPr id="365" name="Google Shape;365;p26"/>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3(A–C). Evoked threshold changes during SK blockade.</a:t>
            </a:r>
            <a:endParaRPr sz="1800">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367" name="Google Shape;367;p26"/>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68" name="Google Shape;368;p2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 Zemel et al. (2021)</a:t>
            </a:r>
            <a:endParaRPr sz="1800">
              <a:solidFill>
                <a:schemeClr val="dk1"/>
              </a:solidFill>
              <a:latin typeface="Calibri"/>
              <a:ea typeface="Calibri"/>
              <a:cs typeface="Calibri"/>
              <a:sym typeface="Calibri"/>
            </a:endParaRPr>
          </a:p>
        </p:txBody>
      </p:sp>
      <p:sp>
        <p:nvSpPr>
          <p:cNvPr id="370" name="Google Shape;370;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Synaptic input contributes to the SK regularity effect</a:t>
            </a:r>
            <a:endParaRPr sz="1800">
              <a:solidFill>
                <a:schemeClr val="dk1"/>
              </a:solidFill>
              <a:latin typeface="Calibri"/>
              <a:ea typeface="Calibri"/>
              <a:cs typeface="Calibri"/>
              <a:sym typeface="Calibri"/>
            </a:endParaRPr>
          </a:p>
        </p:txBody>
      </p:sp>
      <p:sp>
        <p:nvSpPr>
          <p:cNvPr id="376" name="Google Shape;376;p27"/>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Hou and colleagues blocked ionotropic glutamate receptors while recording RA projection neurons. </a:t>
            </a:r>
            <a:r>
              <a:rPr b="1" i="0" lang="en-US" sz="1500">
                <a:solidFill>
                  <a:srgbClr val="405D72"/>
                </a:solidFill>
                <a:latin typeface="Arial"/>
                <a:ea typeface="Arial"/>
                <a:cs typeface="Arial"/>
                <a:sym typeface="Arial"/>
              </a:rPr>
              <a:t>AMPA receptors</a:t>
            </a:r>
            <a:r>
              <a:rPr b="0" i="0" lang="en-US" sz="1500">
                <a:solidFill>
                  <a:srgbClr val="252E36"/>
                </a:solidFill>
                <a:latin typeface="Arial"/>
                <a:ea typeface="Arial"/>
                <a:cs typeface="Arial"/>
                <a:sym typeface="Arial"/>
              </a:rPr>
              <a:t> support relatively fast excitatory transmission, whereas </a:t>
            </a:r>
            <a:r>
              <a:rPr b="1" i="0" lang="en-US" sz="1500">
                <a:solidFill>
                  <a:srgbClr val="405D72"/>
                </a:solidFill>
                <a:latin typeface="Arial"/>
                <a:ea typeface="Arial"/>
                <a:cs typeface="Arial"/>
                <a:sym typeface="Arial"/>
              </a:rPr>
              <a:t>NMDA receptors</a:t>
            </a:r>
            <a:r>
              <a:rPr b="0" i="0" lang="en-US" sz="1500">
                <a:solidFill>
                  <a:srgbClr val="252E36"/>
                </a:solidFill>
                <a:latin typeface="Arial"/>
                <a:ea typeface="Arial"/>
                <a:cs typeface="Arial"/>
                <a:sym typeface="Arial"/>
              </a:rPr>
              <a:t> have slower kinetics and voltage-dependent gating.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Apamin still increased current-evoked firing after receptor blockade, but its effect on firing regularity was no longer clearly detectable. The comparison separates an excitability effect that persists without glutamatergic input from a regularity effect that depends on incoming excitation.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Intrinsic potassium conductance and incoming excitation interact to set spike timing. The control identifies the glutamatergic contribution to regularity, and the presynaptic source of that excitation is tested by separate experiments.</a:t>
            </a:r>
            <a:endParaRPr sz="1800">
              <a:solidFill>
                <a:schemeClr val="dk1"/>
              </a:solidFill>
              <a:latin typeface="Calibri"/>
              <a:ea typeface="Calibri"/>
              <a:cs typeface="Calibri"/>
              <a:sym typeface="Calibri"/>
            </a:endParaRPr>
          </a:p>
        </p:txBody>
      </p:sp>
      <p:pic>
        <p:nvPicPr>
          <p:cNvPr id="379" name="Google Shape;379;p27"/>
          <p:cNvPicPr preferRelativeResize="0"/>
          <p:nvPr/>
        </p:nvPicPr>
        <p:blipFill rotWithShape="1">
          <a:blip r:embed="rId3">
            <a:alphaModFix/>
          </a:blip>
          <a:srcRect b="0" l="0" r="0" t="0"/>
          <a:stretch/>
        </p:blipFill>
        <p:spPr>
          <a:xfrm>
            <a:off x="1882143" y="1280071"/>
            <a:ext cx="2856035" cy="2925961"/>
          </a:xfrm>
          <a:prstGeom prst="rect">
            <a:avLst/>
          </a:prstGeom>
          <a:noFill/>
          <a:ln>
            <a:noFill/>
          </a:ln>
        </p:spPr>
      </p:pic>
      <p:sp>
        <p:nvSpPr>
          <p:cNvPr id="380" name="Google Shape;380;p27"/>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4(A–E). Apamin effects after glutamate-receptor blockade.</a:t>
            </a:r>
            <a:endParaRPr sz="1800">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382" name="Google Shape;382;p27"/>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83" name="Google Shape;383;p27"/>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 Zemel et al. (2021)</a:t>
            </a:r>
            <a:endParaRPr sz="1800">
              <a:solidFill>
                <a:schemeClr val="dk1"/>
              </a:solidFill>
              <a:latin typeface="Calibri"/>
              <a:ea typeface="Calibri"/>
              <a:cs typeface="Calibri"/>
              <a:sym typeface="Calibri"/>
            </a:endParaRPr>
          </a:p>
        </p:txBody>
      </p:sp>
      <p:sp>
        <p:nvSpPr>
          <p:cNvPr id="385" name="Google Shape;38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Dopamine increases RA neuronal excitability</a:t>
            </a:r>
            <a:endParaRPr sz="1800">
              <a:solidFill>
                <a:schemeClr val="dk1"/>
              </a:solidFill>
              <a:latin typeface="Calibri"/>
              <a:ea typeface="Calibri"/>
              <a:cs typeface="Calibri"/>
              <a:sym typeface="Calibri"/>
            </a:endParaRPr>
          </a:p>
        </p:txBody>
      </p:sp>
      <p:sp>
        <p:nvSpPr>
          <p:cNvPr id="391" name="Google Shape;391;p2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500"/>
              <a:buFont typeface="Arial"/>
              <a:buNone/>
            </a:pPr>
            <a:r>
              <a:rPr b="1" i="0" lang="en-US" sz="1500">
                <a:solidFill>
                  <a:srgbClr val="405D72"/>
                </a:solidFill>
                <a:latin typeface="Arial"/>
                <a:ea typeface="Arial"/>
                <a:cs typeface="Arial"/>
                <a:sym typeface="Arial"/>
              </a:rPr>
              <a:t>Dopamine</a:t>
            </a:r>
            <a:r>
              <a:rPr b="0" i="0" lang="en-US" sz="1500">
                <a:solidFill>
                  <a:srgbClr val="252E36"/>
                </a:solidFill>
                <a:latin typeface="Arial"/>
                <a:ea typeface="Arial"/>
                <a:cs typeface="Arial"/>
                <a:sym typeface="Arial"/>
              </a:rPr>
              <a:t> is a neurotransmitter that modulates neuronal properties through receptor-dependent intracellular signaling. Liao and colleagues recorded adult male zebra finch RA projection neurons and applied 50 µM dopamine while controlling the injected current.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500"/>
              <a:buFont typeface="Arial"/>
              <a:buNone/>
            </a:pPr>
            <a:r>
              <a:rPr b="0" i="0" lang="en-US" sz="1500">
                <a:solidFill>
                  <a:srgbClr val="252E36"/>
                </a:solidFill>
                <a:latin typeface="Arial"/>
                <a:ea typeface="Arial"/>
                <a:cs typeface="Arial"/>
                <a:sym typeface="Arial"/>
              </a:rPr>
              <a:t>During a 100 pA stimulus, normalized firing rose to about 1.38 times baseline and returned toward baseline after washout. The membrane potential became less negative, shifting from about −70 to −61 mV under the reported recording conditions.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500"/>
              <a:buFont typeface="Arial"/>
              <a:buNone/>
            </a:pPr>
            <a:r>
              <a:rPr b="0" i="0" lang="en-US" sz="1500">
                <a:solidFill>
                  <a:srgbClr val="252E36"/>
                </a:solidFill>
                <a:latin typeface="Arial"/>
                <a:ea typeface="Arial"/>
                <a:cs typeface="Arial"/>
                <a:sym typeface="Arial"/>
              </a:rPr>
              <a:t>The within-cell comparisons show reversible modulation of excitability in the same neuron, which is the direct test of the drug's effect. Bath application differs from physiological dopamine release in concentration and timing, so the recorded effect is read as a property of the cell rather than of a natural behavioral state.</a:t>
            </a:r>
            <a:endParaRPr sz="1800">
              <a:solidFill>
                <a:schemeClr val="dk1"/>
              </a:solidFill>
              <a:latin typeface="Calibri"/>
              <a:ea typeface="Calibri"/>
              <a:cs typeface="Calibri"/>
              <a:sym typeface="Calibri"/>
            </a:endParaRPr>
          </a:p>
        </p:txBody>
      </p:sp>
      <p:pic>
        <p:nvPicPr>
          <p:cNvPr id="394" name="Google Shape;394;p28"/>
          <p:cNvPicPr preferRelativeResize="0"/>
          <p:nvPr/>
        </p:nvPicPr>
        <p:blipFill rotWithShape="1">
          <a:blip r:embed="rId3">
            <a:alphaModFix/>
          </a:blip>
          <a:srcRect b="0" l="0" r="0" t="0"/>
          <a:stretch/>
        </p:blipFill>
        <p:spPr>
          <a:xfrm>
            <a:off x="7308589" y="1280071"/>
            <a:ext cx="3146353" cy="2925961"/>
          </a:xfrm>
          <a:prstGeom prst="rect">
            <a:avLst/>
          </a:prstGeom>
          <a:noFill/>
          <a:ln>
            <a:noFill/>
          </a:ln>
        </p:spPr>
      </p:pic>
      <p:sp>
        <p:nvSpPr>
          <p:cNvPr id="395" name="Google Shape;395;p28"/>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1(A–D). Reversible dopamine effects on RA firing and voltage.</a:t>
            </a:r>
            <a:endParaRPr sz="18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397" name="Google Shape;397;p28"/>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98" name="Google Shape;398;p2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 Zemel et al. (2021)</a:t>
            </a:r>
            <a:endParaRPr sz="1800">
              <a:solidFill>
                <a:schemeClr val="dk1"/>
              </a:solidFill>
              <a:latin typeface="Calibri"/>
              <a:ea typeface="Calibri"/>
              <a:cs typeface="Calibri"/>
              <a:sym typeface="Calibri"/>
            </a:endParaRPr>
          </a:p>
        </p:txBody>
      </p:sp>
      <p:sp>
        <p:nvSpPr>
          <p:cNvPr id="400" name="Google Shape;400;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Dopamine depolarization persists without spikes</a:t>
            </a:r>
            <a:endParaRPr sz="1800">
              <a:solidFill>
                <a:schemeClr val="dk1"/>
              </a:solidFill>
              <a:latin typeface="Calibri"/>
              <a:ea typeface="Calibri"/>
              <a:cs typeface="Calibri"/>
              <a:sym typeface="Calibri"/>
            </a:endParaRPr>
          </a:p>
        </p:txBody>
      </p:sp>
      <p:sp>
        <p:nvSpPr>
          <p:cNvPr id="406" name="Google Shape;406;p29"/>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Liao and colleagues used </a:t>
            </a:r>
            <a:r>
              <a:rPr b="1" i="0" lang="en-US" sz="1500">
                <a:solidFill>
                  <a:srgbClr val="405D72"/>
                </a:solidFill>
                <a:latin typeface="Arial"/>
                <a:ea typeface="Arial"/>
                <a:cs typeface="Arial"/>
                <a:sym typeface="Arial"/>
              </a:rPr>
              <a:t>tetrodotoxin</a:t>
            </a:r>
            <a:r>
              <a:rPr b="0" i="0" lang="en-US" sz="1500">
                <a:solidFill>
                  <a:srgbClr val="252E36"/>
                </a:solidFill>
                <a:latin typeface="Arial"/>
                <a:ea typeface="Arial"/>
                <a:cs typeface="Arial"/>
                <a:sym typeface="Arial"/>
              </a:rPr>
              <a:t>, or TTX, to block voltage-gated sodium channels and prevent action potentials in the RA slice. The manipulation tests whether the dopamine-induced depolarization depended on spike-driven activity.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Dopamine still produced a depolarizing shift when sodium-dependent spikes were suppressed. The result separates the change in resting membrane behavior from the increase in evoked action potentials seen without TTX.</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direct or locally mediated membrane effect is therefore supported. The specific ionic conductance responsible is identified in later pharmacological work, because this control shows that spikes are not required for the depolarization.</a:t>
            </a:r>
            <a:endParaRPr sz="1800">
              <a:solidFill>
                <a:schemeClr val="dk1"/>
              </a:solidFill>
              <a:latin typeface="Calibri"/>
              <a:ea typeface="Calibri"/>
              <a:cs typeface="Calibri"/>
              <a:sym typeface="Calibri"/>
            </a:endParaRPr>
          </a:p>
        </p:txBody>
      </p:sp>
      <p:pic>
        <p:nvPicPr>
          <p:cNvPr id="409" name="Google Shape;409;p29"/>
          <p:cNvPicPr preferRelativeResize="0"/>
          <p:nvPr/>
        </p:nvPicPr>
        <p:blipFill rotWithShape="1">
          <a:blip r:embed="rId3">
            <a:alphaModFix/>
          </a:blip>
          <a:srcRect b="0" l="0" r="0" t="0"/>
          <a:stretch/>
        </p:blipFill>
        <p:spPr>
          <a:xfrm>
            <a:off x="566945" y="1280071"/>
            <a:ext cx="5486282" cy="2849166"/>
          </a:xfrm>
          <a:prstGeom prst="rect">
            <a:avLst/>
          </a:prstGeom>
          <a:noFill/>
          <a:ln>
            <a:noFill/>
          </a:ln>
        </p:spPr>
      </p:pic>
      <p:sp>
        <p:nvSpPr>
          <p:cNvPr id="410" name="Google Shape;410;p29"/>
          <p:cNvSpPr/>
          <p:nvPr/>
        </p:nvSpPr>
        <p:spPr>
          <a:xfrm>
            <a:off x="566886" y="4220766"/>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2(A–D). Depolarization with and without sodium-channel blockade.</a:t>
            </a:r>
            <a:endParaRPr sz="1800">
              <a:solidFill>
                <a:schemeClr val="dk1"/>
              </a:solidFill>
              <a:latin typeface="Calibri"/>
              <a:ea typeface="Calibri"/>
              <a:cs typeface="Calibri"/>
              <a:sym typeface="Calibri"/>
            </a:endParaRPr>
          </a:p>
        </p:txBody>
      </p:sp>
      <p:pic>
        <p:nvPicPr>
          <p:cNvPr id="411" name="Google Shape;411;p29"/>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412" name="Google Shape;412;p29"/>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413" name="Google Shape;413;p2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 Zemel et al. (2021)</a:t>
            </a:r>
            <a:endParaRPr sz="1800">
              <a:solidFill>
                <a:schemeClr val="dk1"/>
              </a:solidFill>
              <a:latin typeface="Calibri"/>
              <a:ea typeface="Calibri"/>
              <a:cs typeface="Calibri"/>
              <a:sym typeface="Calibri"/>
            </a:endParaRPr>
          </a:p>
        </p:txBody>
      </p:sp>
      <p:sp>
        <p:nvSpPr>
          <p:cNvPr id="415" name="Google Shape;415;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D1-like receptors mediate the RA dopamine effect</a:t>
            </a:r>
            <a:endParaRPr sz="1800">
              <a:solidFill>
                <a:schemeClr val="dk1"/>
              </a:solidFill>
              <a:latin typeface="Calibri"/>
              <a:ea typeface="Calibri"/>
              <a:cs typeface="Calibri"/>
              <a:sym typeface="Calibri"/>
            </a:endParaRPr>
          </a:p>
        </p:txBody>
      </p:sp>
      <p:sp>
        <p:nvSpPr>
          <p:cNvPr id="421" name="Google Shape;421;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D1-like receptor</a:t>
            </a:r>
            <a:r>
              <a:rPr b="0" i="0" lang="en-US" sz="1500">
                <a:solidFill>
                  <a:srgbClr val="252E36"/>
                </a:solidFill>
                <a:latin typeface="Arial"/>
                <a:ea typeface="Arial"/>
                <a:cs typeface="Arial"/>
                <a:sym typeface="Arial"/>
              </a:rPr>
              <a:t> is a dopamine receptor class that modulates cell signaling rather than forming the spike-generating sodium pore. Liao and colleagues compared dopamine with the D1-like agonist SKF-38393 in adult male zebra finch RA projection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agonist increased excitability, and the D1-like antagonist SCH-23390 prevented the dopamine-associated increase under the study's conditions. Comparing an agonist with a receptor blocker gives converging pharmacological evidence for the receptor class involved.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experiments assign a functional role to D1-like signaling in RA. The recorded effect concerns RA membrane physiology, and the same signaling is examined in Area X, where circuit organization and receptor effects differ.</a:t>
            </a:r>
            <a:endParaRPr sz="1800">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3">
            <a:alphaModFix/>
          </a:blip>
          <a:srcRect b="0" l="0" r="0" t="0"/>
          <a:stretch/>
        </p:blipFill>
        <p:spPr>
          <a:xfrm>
            <a:off x="7254512" y="1280071"/>
            <a:ext cx="3254208" cy="2925961"/>
          </a:xfrm>
          <a:prstGeom prst="rect">
            <a:avLst/>
          </a:prstGeom>
          <a:noFill/>
          <a:ln>
            <a:noFill/>
          </a:ln>
        </p:spPr>
      </p:pic>
      <p:sp>
        <p:nvSpPr>
          <p:cNvPr id="425" name="Google Shape;425;p30"/>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3(A–D). D1-like agonist effects on RA neurons.</a:t>
            </a:r>
            <a:endParaRPr sz="1800">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4">
            <a:alphaModFix/>
          </a:blip>
          <a:srcRect b="0" l="0" r="0" t="0"/>
          <a:stretch/>
        </p:blipFill>
        <p:spPr>
          <a:xfrm>
            <a:off x="8239869" y="4754762"/>
            <a:ext cx="1283494" cy="1005779"/>
          </a:xfrm>
          <a:prstGeom prst="rect">
            <a:avLst/>
          </a:prstGeom>
          <a:noFill/>
          <a:ln>
            <a:noFill/>
          </a:ln>
        </p:spPr>
      </p:pic>
      <p:sp>
        <p:nvSpPr>
          <p:cNvPr id="427" name="Google Shape;427;p30"/>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 Zemel et al. (2021)</a:t>
            </a:r>
            <a:endParaRPr sz="1800">
              <a:solidFill>
                <a:schemeClr val="dk1"/>
              </a:solidFill>
              <a:latin typeface="Calibri"/>
              <a:ea typeface="Calibri"/>
              <a:cs typeface="Calibri"/>
              <a:sym typeface="Calibri"/>
            </a:endParaRPr>
          </a:p>
        </p:txBody>
      </p:sp>
      <p:sp>
        <p:nvSpPr>
          <p:cNvPr id="430" name="Google Shape;430;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D2-like stimulation has a different effect in RA</a:t>
            </a:r>
            <a:endParaRPr sz="1800">
              <a:solidFill>
                <a:schemeClr val="dk1"/>
              </a:solidFill>
              <a:latin typeface="Calibri"/>
              <a:ea typeface="Calibri"/>
              <a:cs typeface="Calibri"/>
              <a:sym typeface="Calibri"/>
            </a:endParaRPr>
          </a:p>
        </p:txBody>
      </p:sp>
      <p:sp>
        <p:nvSpPr>
          <p:cNvPr id="436" name="Google Shape;436;p31"/>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D2-like receptors</a:t>
            </a:r>
            <a:r>
              <a:rPr b="0" i="0" lang="en-US" sz="1500">
                <a:solidFill>
                  <a:srgbClr val="252E36"/>
                </a:solidFill>
                <a:latin typeface="Arial"/>
                <a:ea typeface="Arial"/>
                <a:cs typeface="Arial"/>
                <a:sym typeface="Arial"/>
              </a:rPr>
              <a:t> form a dopamine receptor class that is pharmacologically distinct from D1-like receptors. Liao and colleagues applied the D2-like agonist quinpirole to RA projection neurons and compared firing and membrane voltage before, during and after application.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Quinpirole did not reproduce the strong increase in excitability produced by dopamine and the D1-like agonist in this preparation. The comparison constrains receptor interpretation, so the D2-like effect is judged against the D1-like effect rather than assumed to match it.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A weak or absent effect under these conditions leaves D2-like function open in other parts of the song system. Receptor expression and release patterns in those regions are measured separately. The D2-like result therefore applies to this cell population and this preparation.</a:t>
            </a:r>
            <a:endParaRPr sz="1800">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3">
            <a:alphaModFix/>
          </a:blip>
          <a:srcRect b="0" l="0" r="0" t="0"/>
          <a:stretch/>
        </p:blipFill>
        <p:spPr>
          <a:xfrm>
            <a:off x="1692824" y="1280071"/>
            <a:ext cx="3234525" cy="2925961"/>
          </a:xfrm>
          <a:prstGeom prst="rect">
            <a:avLst/>
          </a:prstGeom>
          <a:noFill/>
          <a:ln>
            <a:noFill/>
          </a:ln>
        </p:spPr>
      </p:pic>
      <p:sp>
        <p:nvSpPr>
          <p:cNvPr id="440" name="Google Shape;440;p31"/>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5(A–D). D2-like agonist measurements in RA neurons.</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4">
            <a:alphaModFix/>
          </a:blip>
          <a:srcRect b="0" l="0" r="0" t="0"/>
          <a:stretch/>
        </p:blipFill>
        <p:spPr>
          <a:xfrm>
            <a:off x="2668339" y="4754762"/>
            <a:ext cx="1283494" cy="1005779"/>
          </a:xfrm>
          <a:prstGeom prst="rect">
            <a:avLst/>
          </a:prstGeom>
          <a:noFill/>
          <a:ln>
            <a:noFill/>
          </a:ln>
        </p:spPr>
      </p:pic>
      <p:sp>
        <p:nvSpPr>
          <p:cNvPr id="442" name="Google Shape;442;p31"/>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443" name="Google Shape;443;p3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 Zemel et al. (2021)</a:t>
            </a:r>
            <a:endParaRPr sz="1800">
              <a:solidFill>
                <a:schemeClr val="dk1"/>
              </a:solidFill>
              <a:latin typeface="Calibri"/>
              <a:ea typeface="Calibri"/>
              <a:cs typeface="Calibri"/>
              <a:sym typeface="Calibri"/>
            </a:endParaRPr>
          </a:p>
        </p:txBody>
      </p:sp>
      <p:sp>
        <p:nvSpPr>
          <p:cNvPr id="445" name="Google Shape;445;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HVC and LMAN inputs converge on RA neurons</a:t>
            </a:r>
            <a:endParaRPr sz="1800">
              <a:solidFill>
                <a:schemeClr val="dk1"/>
              </a:solidFill>
              <a:latin typeface="Calibri"/>
              <a:ea typeface="Calibri"/>
              <a:cs typeface="Calibri"/>
              <a:sym typeface="Calibri"/>
            </a:endParaRPr>
          </a:p>
        </p:txBody>
      </p:sp>
      <p:sp>
        <p:nvSpPr>
          <p:cNvPr id="451" name="Google Shape;451;p3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1" i="0" lang="en-US" sz="1500">
                <a:solidFill>
                  <a:srgbClr val="405D72"/>
                </a:solidFill>
                <a:latin typeface="Arial"/>
                <a:ea typeface="Arial"/>
                <a:cs typeface="Arial"/>
                <a:sym typeface="Arial"/>
              </a:rPr>
              <a:t>LMAN</a:t>
            </a:r>
            <a:r>
              <a:rPr b="0" i="0" lang="en-US" sz="1500">
                <a:solidFill>
                  <a:srgbClr val="252E36"/>
                </a:solidFill>
                <a:latin typeface="Arial"/>
                <a:ea typeface="Arial"/>
                <a:cs typeface="Arial"/>
                <a:sym typeface="Arial"/>
              </a:rPr>
              <a:t>, the lateral magnocellular nucleus of the anterior nidopallium, is a forebrain output of the anterior forebrain pathway. Garst-Orozco and colleagues stimulated HVC and LMAN fiber tracts separately while recording excitatory postsynaptic currents in RA projection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An </a:t>
            </a:r>
            <a:r>
              <a:rPr b="1" i="0" lang="en-US" sz="1500">
                <a:solidFill>
                  <a:srgbClr val="405D72"/>
                </a:solidFill>
                <a:latin typeface="Arial"/>
                <a:ea typeface="Arial"/>
                <a:cs typeface="Arial"/>
                <a:sym typeface="Arial"/>
              </a:rPr>
              <a:t>excitatory postsynaptic current</a:t>
            </a:r>
            <a:r>
              <a:rPr b="0" i="0" lang="en-US" sz="1500">
                <a:solidFill>
                  <a:srgbClr val="252E36"/>
                </a:solidFill>
                <a:latin typeface="Arial"/>
                <a:ea typeface="Arial"/>
                <a:cs typeface="Arial"/>
                <a:sym typeface="Arial"/>
              </a:rPr>
              <a:t> is the membrane current produced when excitatory transmitter activates receptors on the recorded cell. Pathway-specific stimulation let the strength and receptor contributions of the two convergent inputs be compared in juvenile and adult zebra finches.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RA receives input from a direct motor-related pathway and from a basal ganglia–thalamic pathway. The slice stimulation activates the fibers that survive the preparation, and the natural activity of these inputs during a particular syllable is measured in the intact bird.</a:t>
            </a:r>
            <a:endParaRPr sz="1800">
              <a:solidFill>
                <a:schemeClr val="dk1"/>
              </a:solidFill>
              <a:latin typeface="Calibri"/>
              <a:ea typeface="Calibri"/>
              <a:cs typeface="Calibri"/>
              <a:sym typeface="Calibri"/>
            </a:endParaRPr>
          </a:p>
        </p:txBody>
      </p:sp>
      <p:pic>
        <p:nvPicPr>
          <p:cNvPr id="454" name="Google Shape;454;p32"/>
          <p:cNvPicPr preferRelativeResize="0"/>
          <p:nvPr/>
        </p:nvPicPr>
        <p:blipFill rotWithShape="1">
          <a:blip r:embed="rId3">
            <a:alphaModFix/>
          </a:blip>
          <a:srcRect b="0" l="0" r="0" t="0"/>
          <a:stretch/>
        </p:blipFill>
        <p:spPr>
          <a:xfrm>
            <a:off x="6504371" y="1280071"/>
            <a:ext cx="5120459" cy="2886670"/>
          </a:xfrm>
          <a:prstGeom prst="rect">
            <a:avLst/>
          </a:prstGeom>
          <a:noFill/>
          <a:ln>
            <a:noFill/>
          </a:ln>
        </p:spPr>
      </p:pic>
      <p:sp>
        <p:nvSpPr>
          <p:cNvPr id="455" name="Google Shape;455;p32"/>
          <p:cNvSpPr/>
          <p:nvPr/>
        </p:nvSpPr>
        <p:spPr>
          <a:xfrm>
            <a:off x="6504236" y="4258270"/>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2(A–E). Pathway stimulation and currents recorded in RA.</a:t>
            </a:r>
            <a:endParaRPr sz="1800">
              <a:solidFill>
                <a:schemeClr val="dk1"/>
              </a:solidFill>
              <a:latin typeface="Calibri"/>
              <a:ea typeface="Calibri"/>
              <a:cs typeface="Calibri"/>
              <a:sym typeface="Calibri"/>
            </a:endParaRPr>
          </a:p>
        </p:txBody>
      </p:sp>
      <p:sp>
        <p:nvSpPr>
          <p:cNvPr id="456" name="Google Shape;456;p3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458" name="Google Shape;458;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HVC inputs strengthen and undergo late refinement</a:t>
            </a:r>
            <a:endParaRPr sz="1800">
              <a:solidFill>
                <a:schemeClr val="dk1"/>
              </a:solidFill>
              <a:latin typeface="Calibri"/>
              <a:ea typeface="Calibri"/>
              <a:cs typeface="Calibri"/>
              <a:sym typeface="Calibri"/>
            </a:endParaRPr>
          </a:p>
        </p:txBody>
      </p:sp>
      <p:sp>
        <p:nvSpPr>
          <p:cNvPr id="464" name="Google Shape;464;p33"/>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Garst-Orozco and colleagues measured HVC-to-RA currents with weak stimulation, which produced either failures or a consistent single-fiber response. They also used stronger stimulation that recruited the available input population.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Median single-fiber HVC currents rose from about 23 pA in subsong birds to 60 pA in adults. The estimated number of inputs first increased and then declined during later development. The experiment therefore identifies refinement rather than a uniform strengthening.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Strengthening and pruning can alter how RA converts HVC activity into motor output. The measurements show which inputs are kept, and they show how the number of inputs changes across development. Each change is read from the measured currents at each developmental stage.</a:t>
            </a:r>
            <a:endParaRPr sz="1800">
              <a:solidFill>
                <a:schemeClr val="dk1"/>
              </a:solidFill>
              <a:latin typeface="Calibri"/>
              <a:ea typeface="Calibri"/>
              <a:cs typeface="Calibri"/>
              <a:sym typeface="Calibri"/>
            </a:endParaRPr>
          </a:p>
        </p:txBody>
      </p:sp>
      <p:pic>
        <p:nvPicPr>
          <p:cNvPr id="467" name="Google Shape;467;p33"/>
          <p:cNvPicPr preferRelativeResize="0"/>
          <p:nvPr/>
        </p:nvPicPr>
        <p:blipFill rotWithShape="1">
          <a:blip r:embed="rId3">
            <a:alphaModFix/>
          </a:blip>
          <a:srcRect b="0" l="0" r="0" t="0"/>
          <a:stretch/>
        </p:blipFill>
        <p:spPr>
          <a:xfrm>
            <a:off x="2163585" y="1280071"/>
            <a:ext cx="2293151" cy="2925961"/>
          </a:xfrm>
          <a:prstGeom prst="rect">
            <a:avLst/>
          </a:prstGeom>
          <a:noFill/>
          <a:ln>
            <a:noFill/>
          </a:ln>
        </p:spPr>
      </p:pic>
      <p:sp>
        <p:nvSpPr>
          <p:cNvPr id="468" name="Google Shape;468;p33"/>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3(A–G). HVC input strengthening and refinement.</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4">
            <a:alphaModFix/>
          </a:blip>
          <a:srcRect b="0" l="0" r="0" t="0"/>
          <a:stretch/>
        </p:blipFill>
        <p:spPr>
          <a:xfrm>
            <a:off x="2504510" y="4754761"/>
            <a:ext cx="1611301" cy="1005780"/>
          </a:xfrm>
          <a:prstGeom prst="rect">
            <a:avLst/>
          </a:prstGeom>
          <a:noFill/>
          <a:ln>
            <a:noFill/>
          </a:ln>
        </p:spPr>
      </p:pic>
      <p:sp>
        <p:nvSpPr>
          <p:cNvPr id="470" name="Google Shape;470;p33"/>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471" name="Google Shape;471;p3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473" name="Google Shape;473;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LMAN input strength remains relatively stable</a:t>
            </a:r>
            <a:endParaRPr sz="1800">
              <a:solidFill>
                <a:schemeClr val="dk1"/>
              </a:solidFill>
              <a:latin typeface="Calibri"/>
              <a:ea typeface="Calibri"/>
              <a:cs typeface="Calibri"/>
              <a:sym typeface="Calibri"/>
            </a:endParaRPr>
          </a:p>
        </p:txBody>
      </p:sp>
      <p:sp>
        <p:nvSpPr>
          <p:cNvPr id="479" name="Google Shape;479;p3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Garst-Orozco and colleagues applied the same single-fiber and maximal-recruitment strategy to the LMAN input onto RA neurons. Recordings from subsong, plastic-song and adult birds tested whether the increase in song stereotypy reflected a simple loss of this excitatory pathway.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Mean single-fiber LMAN currents were about 146 pA in plastic-song birds and 142 pA in adults, and the estimated number of available inputs stayed relatively stable. The finding contrasted with the strengthening and pruning of HVC inputs measured in the same framework.</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Reduced behavioral variability therefore coexists with persistent LMAN-to-RA connectivity. A preserved connection can have a different influence when other convergent inputs and network activity change, so the same connection supports different roles at different ages.</a:t>
            </a:r>
            <a:endParaRPr sz="1800">
              <a:solidFill>
                <a:schemeClr val="dk1"/>
              </a:solidFill>
              <a:latin typeface="Calibri"/>
              <a:ea typeface="Calibri"/>
              <a:cs typeface="Calibri"/>
              <a:sym typeface="Calibri"/>
            </a:endParaRPr>
          </a:p>
        </p:txBody>
      </p:sp>
      <p:pic>
        <p:nvPicPr>
          <p:cNvPr id="482" name="Google Shape;482;p34"/>
          <p:cNvPicPr preferRelativeResize="0"/>
          <p:nvPr/>
        </p:nvPicPr>
        <p:blipFill rotWithShape="1">
          <a:blip r:embed="rId3">
            <a:alphaModFix/>
          </a:blip>
          <a:srcRect b="0" l="0" r="0" t="0"/>
          <a:stretch/>
        </p:blipFill>
        <p:spPr>
          <a:xfrm>
            <a:off x="7295466" y="1280071"/>
            <a:ext cx="3172449" cy="2925961"/>
          </a:xfrm>
          <a:prstGeom prst="rect">
            <a:avLst/>
          </a:prstGeom>
          <a:noFill/>
          <a:ln>
            <a:noFill/>
          </a:ln>
        </p:spPr>
      </p:pic>
      <p:sp>
        <p:nvSpPr>
          <p:cNvPr id="483" name="Google Shape;483;p3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4(A–H). LMAN current strength and receptor contributions.</a:t>
            </a:r>
            <a:endParaRPr sz="1800">
              <a:solidFill>
                <a:schemeClr val="dk1"/>
              </a:solidFill>
              <a:latin typeface="Calibri"/>
              <a:ea typeface="Calibri"/>
              <a:cs typeface="Calibri"/>
              <a:sym typeface="Calibri"/>
            </a:endParaRPr>
          </a:p>
        </p:txBody>
      </p:sp>
      <p:pic>
        <p:nvPicPr>
          <p:cNvPr id="484" name="Google Shape;484;p34"/>
          <p:cNvPicPr preferRelativeResize="0"/>
          <p:nvPr/>
        </p:nvPicPr>
        <p:blipFill rotWithShape="1">
          <a:blip r:embed="rId4">
            <a:alphaModFix/>
          </a:blip>
          <a:srcRect b="0" l="0" r="0" t="0"/>
          <a:stretch/>
        </p:blipFill>
        <p:spPr>
          <a:xfrm>
            <a:off x="8076040" y="4754761"/>
            <a:ext cx="1611301" cy="1005780"/>
          </a:xfrm>
          <a:prstGeom prst="rect">
            <a:avLst/>
          </a:prstGeom>
          <a:noFill/>
          <a:ln>
            <a:noFill/>
          </a:ln>
        </p:spPr>
      </p:pic>
      <p:sp>
        <p:nvSpPr>
          <p:cNvPr id="485" name="Google Shape;485;p3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486" name="Google Shape;486;p3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488" name="Google Shape;488;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LMAN currents depend strongly on NMDA receptors</a:t>
            </a:r>
            <a:endParaRPr sz="1800">
              <a:solidFill>
                <a:schemeClr val="dk1"/>
              </a:solidFill>
              <a:latin typeface="Calibri"/>
              <a:ea typeface="Calibri"/>
              <a:cs typeface="Calibri"/>
              <a:sym typeface="Calibri"/>
            </a:endParaRPr>
          </a:p>
        </p:txBody>
      </p:sp>
      <p:sp>
        <p:nvSpPr>
          <p:cNvPr id="494" name="Google Shape;494;p35"/>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400"/>
              <a:buFont typeface="Arial"/>
              <a:buNone/>
            </a:pPr>
            <a:r>
              <a:rPr b="0" i="0" lang="en-US" sz="1500">
                <a:solidFill>
                  <a:srgbClr val="252E36"/>
                </a:solidFill>
                <a:latin typeface="Arial"/>
                <a:ea typeface="Arial"/>
                <a:cs typeface="Arial"/>
                <a:sym typeface="Arial"/>
              </a:rPr>
              <a:t>Garst-Orozco and colleagues recorded LMAN-evoked currents at −70 and +40 mV. At negative voltages, extracellular magnesium blocks the </a:t>
            </a:r>
            <a:r>
              <a:rPr b="1" i="0" lang="en-US" sz="1500">
                <a:solidFill>
                  <a:srgbClr val="405D72"/>
                </a:solidFill>
                <a:latin typeface="Arial"/>
                <a:ea typeface="Arial"/>
                <a:cs typeface="Arial"/>
                <a:sym typeface="Arial"/>
              </a:rPr>
              <a:t>NMDA receptor</a:t>
            </a:r>
            <a:r>
              <a:rPr b="0" i="0" lang="en-US" sz="1500">
                <a:solidFill>
                  <a:srgbClr val="252E36"/>
                </a:solidFill>
                <a:latin typeface="Arial"/>
                <a:ea typeface="Arial"/>
                <a:cs typeface="Arial"/>
                <a:sym typeface="Arial"/>
              </a:rPr>
              <a:t> current. Depolarization relieves this block, which allows the slower receptor component to contribute.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400"/>
              <a:buFont typeface="Arial"/>
              <a:buNone/>
            </a:pPr>
            <a:r>
              <a:rPr b="0" i="0" lang="en-US" sz="1500">
                <a:solidFill>
                  <a:srgbClr val="252E36"/>
                </a:solidFill>
                <a:latin typeface="Arial"/>
                <a:ea typeface="Arial"/>
                <a:cs typeface="Arial"/>
                <a:sym typeface="Arial"/>
              </a:rPr>
              <a:t>The comparison separated the mostly AMPA-mediated response at −70 mV from the combined AMPA and NMDA response at +40 mV. The estimated NMDA-to-AMPA contribution in subsong birds was about 9:1, so NMDA receptors dominate the LMAN response.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400"/>
              <a:buFont typeface="Arial"/>
              <a:buNone/>
            </a:pPr>
            <a:r>
              <a:rPr b="0" i="0" lang="en-US" sz="1500">
                <a:solidFill>
                  <a:srgbClr val="252E36"/>
                </a:solidFill>
                <a:latin typeface="Arial"/>
                <a:ea typeface="Arial"/>
                <a:cs typeface="Arial"/>
                <a:sym typeface="Arial"/>
              </a:rPr>
              <a:t>Voltage-dependent gating means the effect of LMAN input depends partly on the postsynaptic state of RA. The receptor contributions are measured under these voltage conditions, and their role during singing follows from the same gating.</a:t>
            </a:r>
            <a:endParaRPr sz="1800">
              <a:solidFill>
                <a:schemeClr val="dk1"/>
              </a:solidFill>
              <a:latin typeface="Calibri"/>
              <a:ea typeface="Calibri"/>
              <a:cs typeface="Calibri"/>
              <a:sym typeface="Calibri"/>
            </a:endParaRPr>
          </a:p>
        </p:txBody>
      </p:sp>
      <p:pic>
        <p:nvPicPr>
          <p:cNvPr id="497" name="Google Shape;497;p35"/>
          <p:cNvPicPr preferRelativeResize="0"/>
          <p:nvPr/>
        </p:nvPicPr>
        <p:blipFill rotWithShape="1">
          <a:blip r:embed="rId3">
            <a:alphaModFix/>
          </a:blip>
          <a:srcRect b="0" l="0" r="0" t="0"/>
          <a:stretch/>
        </p:blipFill>
        <p:spPr>
          <a:xfrm>
            <a:off x="1723787" y="1280071"/>
            <a:ext cx="3172449" cy="2925961"/>
          </a:xfrm>
          <a:prstGeom prst="rect">
            <a:avLst/>
          </a:prstGeom>
          <a:noFill/>
          <a:ln>
            <a:noFill/>
          </a:ln>
        </p:spPr>
      </p:pic>
      <p:sp>
        <p:nvSpPr>
          <p:cNvPr id="498" name="Google Shape;498;p35"/>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4(A–H). LMAN current strength and receptor contributions.</a:t>
            </a:r>
            <a:endParaRPr sz="1800">
              <a:solidFill>
                <a:schemeClr val="dk1"/>
              </a:solidFill>
              <a:latin typeface="Calibri"/>
              <a:ea typeface="Calibri"/>
              <a:cs typeface="Calibri"/>
              <a:sym typeface="Calibri"/>
            </a:endParaRPr>
          </a:p>
        </p:txBody>
      </p:sp>
      <p:pic>
        <p:nvPicPr>
          <p:cNvPr id="499" name="Google Shape;499;p35"/>
          <p:cNvPicPr preferRelativeResize="0"/>
          <p:nvPr/>
        </p:nvPicPr>
        <p:blipFill rotWithShape="1">
          <a:blip r:embed="rId4">
            <a:alphaModFix/>
          </a:blip>
          <a:srcRect b="0" l="0" r="0" t="0"/>
          <a:stretch/>
        </p:blipFill>
        <p:spPr>
          <a:xfrm>
            <a:off x="2504510" y="4754761"/>
            <a:ext cx="1611301" cy="1005780"/>
          </a:xfrm>
          <a:prstGeom prst="rect">
            <a:avLst/>
          </a:prstGeom>
          <a:noFill/>
          <a:ln>
            <a:noFill/>
          </a:ln>
        </p:spPr>
      </p:pic>
      <p:sp>
        <p:nvSpPr>
          <p:cNvPr id="500" name="Google Shape;500;p3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501" name="Google Shape;501;p3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503" name="Google Shape;503;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7" name="Shape 507"/>
        <p:cNvGrpSpPr/>
        <p:nvPr/>
      </p:nvGrpSpPr>
      <p:grpSpPr>
        <a:xfrm>
          <a:off x="0" y="0"/>
          <a:ext cx="0" cy="0"/>
          <a:chOff x="0" y="0"/>
          <a:chExt cx="0" cy="0"/>
        </a:xfrm>
      </p:grpSpPr>
      <p:sp>
        <p:nvSpPr>
          <p:cNvPr id="508" name="Google Shape;50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Developmental conclusions depend on the age window</a:t>
            </a:r>
            <a:endParaRPr sz="1800">
              <a:solidFill>
                <a:schemeClr val="dk1"/>
              </a:solidFill>
              <a:latin typeface="Calibri"/>
              <a:ea typeface="Calibri"/>
              <a:cs typeface="Calibri"/>
              <a:sym typeface="Calibri"/>
            </a:endParaRPr>
          </a:p>
        </p:txBody>
      </p:sp>
      <p:sp>
        <p:nvSpPr>
          <p:cNvPr id="509" name="Google Shape;509;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Garst-Orozco and colleagues measured RA responses to 0.5-second current pulses at 35 °C across subsong, plastic-song and adult stages. Input-to-firing gain and spike-frequency adaptation were broadly similar across these groups, which constrains a simple intrinsic-excitability explanation of reduced song variability.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Zemel and colleagues included younger 20-day birds and isolated sodium-current components, and they found pronounced maturation of resurgent current and spike properties. The two studies differ in developmental window, recording conditions and the property measured.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A stable firing-rate response over one age interval fits with earlier maturation of a particular ion current. The two results together show that RA intrinsic properties change in some respects and remain stable in others. The developmental account therefore depends on which property is measured at which age.</a:t>
            </a:r>
            <a:endParaRPr sz="1800">
              <a:solidFill>
                <a:schemeClr val="dk1"/>
              </a:solidFill>
              <a:latin typeface="Calibri"/>
              <a:ea typeface="Calibri"/>
              <a:cs typeface="Calibri"/>
              <a:sym typeface="Calibri"/>
            </a:endParaRPr>
          </a:p>
        </p:txBody>
      </p:sp>
      <p:pic>
        <p:nvPicPr>
          <p:cNvPr id="512" name="Google Shape;512;p36"/>
          <p:cNvPicPr preferRelativeResize="0"/>
          <p:nvPr/>
        </p:nvPicPr>
        <p:blipFill rotWithShape="1">
          <a:blip r:embed="rId3">
            <a:alphaModFix/>
          </a:blip>
          <a:srcRect b="0" l="0" r="0" t="0"/>
          <a:stretch/>
        </p:blipFill>
        <p:spPr>
          <a:xfrm>
            <a:off x="7441036" y="1280071"/>
            <a:ext cx="2881310" cy="2925961"/>
          </a:xfrm>
          <a:prstGeom prst="rect">
            <a:avLst/>
          </a:prstGeom>
          <a:noFill/>
          <a:ln>
            <a:noFill/>
          </a:ln>
        </p:spPr>
      </p:pic>
      <p:sp>
        <p:nvSpPr>
          <p:cNvPr id="513" name="Google Shape;513;p36"/>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5(A–F). RA firing responses across developmental stages.</a:t>
            </a:r>
            <a:endParaRPr sz="1800">
              <a:solidFill>
                <a:schemeClr val="dk1"/>
              </a:solidFill>
              <a:latin typeface="Calibri"/>
              <a:ea typeface="Calibri"/>
              <a:cs typeface="Calibri"/>
              <a:sym typeface="Calibri"/>
            </a:endParaRPr>
          </a:p>
        </p:txBody>
      </p:sp>
      <p:pic>
        <p:nvPicPr>
          <p:cNvPr id="514" name="Google Shape;514;p36"/>
          <p:cNvPicPr preferRelativeResize="0"/>
          <p:nvPr/>
        </p:nvPicPr>
        <p:blipFill rotWithShape="1">
          <a:blip r:embed="rId4">
            <a:alphaModFix/>
          </a:blip>
          <a:srcRect b="0" l="0" r="0" t="0"/>
          <a:stretch/>
        </p:blipFill>
        <p:spPr>
          <a:xfrm>
            <a:off x="8076040" y="4754761"/>
            <a:ext cx="1611301" cy="1005780"/>
          </a:xfrm>
          <a:prstGeom prst="rect">
            <a:avLst/>
          </a:prstGeom>
          <a:noFill/>
          <a:ln>
            <a:noFill/>
          </a:ln>
        </p:spPr>
      </p:pic>
      <p:sp>
        <p:nvSpPr>
          <p:cNvPr id="515" name="Google Shape;515;p36"/>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516" name="Google Shape;516;p3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 Zemel et al. (2021)</a:t>
            </a:r>
            <a:endParaRPr sz="1800">
              <a:solidFill>
                <a:schemeClr val="dk1"/>
              </a:solidFill>
              <a:latin typeface="Calibri"/>
              <a:ea typeface="Calibri"/>
              <a:cs typeface="Calibri"/>
              <a:sym typeface="Calibri"/>
            </a:endParaRPr>
          </a:p>
        </p:txBody>
      </p:sp>
      <p:sp>
        <p:nvSpPr>
          <p:cNvPr id="518" name="Google Shape;518;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2" name="Shape 522"/>
        <p:cNvGrpSpPr/>
        <p:nvPr/>
      </p:nvGrpSpPr>
      <p:grpSpPr>
        <a:xfrm>
          <a:off x="0" y="0"/>
          <a:ext cx="0" cy="0"/>
          <a:chOff x="0" y="0"/>
          <a:chExt cx="0" cy="0"/>
        </a:xfrm>
      </p:grpSpPr>
      <p:sp>
        <p:nvSpPr>
          <p:cNvPr id="523" name="Google Shape;523;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Juvenile and adult lesions separate LMAN functions</a:t>
            </a:r>
            <a:endParaRPr sz="1800">
              <a:solidFill>
                <a:schemeClr val="dk1"/>
              </a:solidFill>
              <a:latin typeface="Calibri"/>
              <a:ea typeface="Calibri"/>
              <a:cs typeface="Calibri"/>
              <a:sym typeface="Calibri"/>
            </a:endParaRPr>
          </a:p>
        </p:txBody>
      </p:sp>
      <p:sp>
        <p:nvSpPr>
          <p:cNvPr id="524" name="Google Shape;524;p37"/>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Bottjer and colleagues lesioned the region then called MAN in male zebra finches at different stages of song development. Postoperative vocalizations were recorded repeatedly, and histology sorted complete lesions from partial ones. The timing of each lesion defines the developmental stage at which the bird was operated.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Lesions made early in development produced abnormal vocal patterns, whereas adult birds with complete bilateral lesions kept normal song for as long as five weeks. Birds operated at intermediate stages differed according to how established their song was at the time of the lesion.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age dependence separates a contribution to developing vocal behavior from a role in executing established adult song. LMAN therefore has different functions at different stages of the bird's life. Both roles are visible in the same nucleus across the lesion ages.</a:t>
            </a:r>
            <a:endParaRPr sz="1800">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3">
            <a:alphaModFix/>
          </a:blip>
          <a:srcRect b="0" l="0" r="0" t="0"/>
          <a:stretch/>
        </p:blipFill>
        <p:spPr>
          <a:xfrm>
            <a:off x="567003" y="1280071"/>
            <a:ext cx="5120495" cy="3196233"/>
          </a:xfrm>
          <a:prstGeom prst="rect">
            <a:avLst/>
          </a:prstGeom>
          <a:noFill/>
          <a:ln>
            <a:noFill/>
          </a:ln>
        </p:spPr>
      </p:pic>
      <p:sp>
        <p:nvSpPr>
          <p:cNvPr id="528" name="Google Shape;528;p37"/>
          <p:cNvSpPr/>
          <p:nvPr/>
        </p:nvSpPr>
        <p:spPr>
          <a:xfrm>
            <a:off x="566886" y="4567833"/>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529" name="Google Shape;529;p37"/>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Bottjer et al. (1984); Garst-Orozco et al. (2014)</a:t>
            </a:r>
            <a:endParaRPr sz="1800">
              <a:solidFill>
                <a:schemeClr val="dk1"/>
              </a:solidFill>
              <a:latin typeface="Calibri"/>
              <a:ea typeface="Calibri"/>
              <a:cs typeface="Calibri"/>
              <a:sym typeface="Calibri"/>
            </a:endParaRPr>
          </a:p>
        </p:txBody>
      </p:sp>
      <p:sp>
        <p:nvSpPr>
          <p:cNvPr id="531" name="Google Shape;531;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5" name="Shape 535"/>
        <p:cNvGrpSpPr/>
        <p:nvPr/>
      </p:nvGrpSpPr>
      <p:grpSpPr>
        <a:xfrm>
          <a:off x="0" y="0"/>
          <a:ext cx="0" cy="0"/>
          <a:chOff x="0" y="0"/>
          <a:chExt cx="0" cy="0"/>
        </a:xfrm>
      </p:grpSpPr>
      <p:sp>
        <p:nvSpPr>
          <p:cNvPr id="536" name="Google Shape;53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Area X links striatal processing with pallidal output</a:t>
            </a:r>
            <a:endParaRPr sz="1800">
              <a:solidFill>
                <a:schemeClr val="dk1"/>
              </a:solidFill>
              <a:latin typeface="Calibri"/>
              <a:ea typeface="Calibri"/>
              <a:cs typeface="Calibri"/>
              <a:sym typeface="Calibri"/>
            </a:endParaRPr>
          </a:p>
        </p:txBody>
      </p:sp>
      <p:sp>
        <p:nvSpPr>
          <p:cNvPr id="537" name="Google Shape;537;p3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Area X</a:t>
            </a:r>
            <a:r>
              <a:rPr b="0" i="0" lang="en-US" sz="1500">
                <a:solidFill>
                  <a:srgbClr val="252E36"/>
                </a:solidFill>
                <a:latin typeface="Arial"/>
                <a:ea typeface="Arial"/>
                <a:cs typeface="Arial"/>
                <a:sym typeface="Arial"/>
              </a:rPr>
              <a:t> is a song-related basal ganglia region that contains striatal-like neurons and pallidal-like output neurons. These cell classes occupy different positions in the circuit rather than forming one homogeneous population. Striatal-like input and pallidal-like output are the two ends of this processing chain.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Area X receives HVC and LMAN input and sends inhibitory output to the medial portion of the dorsolateral thalamic nucleus, DLM. DLM projects to LMAN, whose output returns to RA and also to Area X, which forms an anatomically connected forebrain loop.</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GABA</a:t>
            </a:r>
            <a:r>
              <a:rPr b="0" i="0" lang="en-US" sz="1500">
                <a:solidFill>
                  <a:srgbClr val="252E36"/>
                </a:solidFill>
                <a:latin typeface="Arial"/>
                <a:ea typeface="Arial"/>
                <a:cs typeface="Arial"/>
                <a:sym typeface="Arial"/>
              </a:rPr>
              <a:t>, gamma-aminobutyric acid, is the inhibitory transmitter of the pallidal-like output. The pathway constrains the possible mechanisms, and the moment-to-moment activity and learning rule of the loop are measured in the bird's song. The transmitter of the pallidal-like output is therefore central to how Area X shapes its target.</a:t>
            </a:r>
            <a:endParaRPr sz="1800">
              <a:solidFill>
                <a:schemeClr val="dk1"/>
              </a:solidFill>
              <a:latin typeface="Calibri"/>
              <a:ea typeface="Calibri"/>
              <a:cs typeface="Calibri"/>
              <a:sym typeface="Calibri"/>
            </a:endParaRPr>
          </a:p>
        </p:txBody>
      </p:sp>
      <p:pic>
        <p:nvPicPr>
          <p:cNvPr id="540" name="Google Shape;540;p38"/>
          <p:cNvPicPr preferRelativeResize="0"/>
          <p:nvPr/>
        </p:nvPicPr>
        <p:blipFill rotWithShape="1">
          <a:blip r:embed="rId3">
            <a:alphaModFix/>
          </a:blip>
          <a:srcRect b="0" l="0" r="0" t="0"/>
          <a:stretch/>
        </p:blipFill>
        <p:spPr>
          <a:xfrm>
            <a:off x="6504322" y="1280071"/>
            <a:ext cx="5120556" cy="3234035"/>
          </a:xfrm>
          <a:prstGeom prst="rect">
            <a:avLst/>
          </a:prstGeom>
          <a:noFill/>
          <a:ln>
            <a:noFill/>
          </a:ln>
        </p:spPr>
      </p:pic>
      <p:sp>
        <p:nvSpPr>
          <p:cNvPr id="541" name="Google Shape;541;p38"/>
          <p:cNvSpPr/>
          <p:nvPr/>
        </p:nvSpPr>
        <p:spPr>
          <a:xfrm>
            <a:off x="6504236" y="4605635"/>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542" name="Google Shape;542;p3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Gale &amp; Perkel (2010b); Gale &amp; Perkel (2010a)</a:t>
            </a:r>
            <a:endParaRPr sz="1800">
              <a:solidFill>
                <a:schemeClr val="dk1"/>
              </a:solidFill>
              <a:latin typeface="Calibri"/>
              <a:ea typeface="Calibri"/>
              <a:cs typeface="Calibri"/>
              <a:sym typeface="Calibri"/>
            </a:endParaRPr>
          </a:p>
        </p:txBody>
      </p:sp>
      <p:sp>
        <p:nvSpPr>
          <p:cNvPr id="544" name="Google Shape;544;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Tracer injections reveal reciprocal forebrain routes</a:t>
            </a:r>
            <a:endParaRPr sz="1800">
              <a:solidFill>
                <a:schemeClr val="dk1"/>
              </a:solidFill>
              <a:latin typeface="Calibri"/>
              <a:ea typeface="Calibri"/>
              <a:cs typeface="Calibri"/>
              <a:sym typeface="Calibri"/>
            </a:endParaRPr>
          </a:p>
        </p:txBody>
      </p:sp>
      <p:sp>
        <p:nvSpPr>
          <p:cNvPr id="550" name="Google Shape;550;p39"/>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retrograde tracer</a:t>
            </a:r>
            <a:r>
              <a:rPr b="0" i="0" lang="en-US" sz="1500">
                <a:solidFill>
                  <a:srgbClr val="252E36"/>
                </a:solidFill>
                <a:latin typeface="Arial"/>
                <a:ea typeface="Arial"/>
                <a:cs typeface="Arial"/>
                <a:sym typeface="Arial"/>
              </a:rPr>
              <a:t> labels neurons that project toward an injection site, whereas an </a:t>
            </a:r>
            <a:r>
              <a:rPr b="1" i="0" lang="en-US" sz="1500">
                <a:solidFill>
                  <a:srgbClr val="405D72"/>
                </a:solidFill>
                <a:latin typeface="Arial"/>
                <a:ea typeface="Arial"/>
                <a:cs typeface="Arial"/>
                <a:sym typeface="Arial"/>
              </a:rPr>
              <a:t>anterograde tracer</a:t>
            </a:r>
            <a:r>
              <a:rPr b="0" i="0" lang="en-US" sz="1500">
                <a:solidFill>
                  <a:srgbClr val="252E36"/>
                </a:solidFill>
                <a:latin typeface="Arial"/>
                <a:ea typeface="Arial"/>
                <a:cs typeface="Arial"/>
                <a:sym typeface="Arial"/>
              </a:rPr>
              <a:t> labels their axons and terminals downstream. Vates and Nottebohm used complementary tracing to investigate pathways linking the anterior forebrain with RA.</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Injections associated with Area X and RA labeled neurons and terminal fields in LMAN. These distributions support an LMAN output route to both the basal ganglia region and the motor nucleus, which extends the circuit beyond a one-way chain. The pattern matches the projection described for Area X and RA together.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Using more than one tracer direction reduces ambiguity about which cells send and which receive a projection. The tracing identifies the projection, and the function of each route is tested with separate measurements. Two tracer directions therefore give complementary views of the same pathway.</a:t>
            </a:r>
            <a:endParaRPr sz="1800">
              <a:solidFill>
                <a:schemeClr val="dk1"/>
              </a:solidFill>
              <a:latin typeface="Calibri"/>
              <a:ea typeface="Calibri"/>
              <a:cs typeface="Calibri"/>
              <a:sym typeface="Calibri"/>
            </a:endParaRPr>
          </a:p>
        </p:txBody>
      </p:sp>
      <p:pic>
        <p:nvPicPr>
          <p:cNvPr id="553" name="Google Shape;553;p39"/>
          <p:cNvPicPr preferRelativeResize="0"/>
          <p:nvPr/>
        </p:nvPicPr>
        <p:blipFill rotWithShape="1">
          <a:blip r:embed="rId3">
            <a:alphaModFix/>
          </a:blip>
          <a:srcRect b="0" l="0" r="0" t="0"/>
          <a:stretch/>
        </p:blipFill>
        <p:spPr>
          <a:xfrm>
            <a:off x="567017" y="1280071"/>
            <a:ext cx="5120468" cy="4242792"/>
          </a:xfrm>
          <a:prstGeom prst="rect">
            <a:avLst/>
          </a:prstGeom>
          <a:noFill/>
          <a:ln>
            <a:noFill/>
          </a:ln>
        </p:spPr>
      </p:pic>
      <p:sp>
        <p:nvSpPr>
          <p:cNvPr id="554" name="Google Shape;554;p39"/>
          <p:cNvSpPr/>
          <p:nvPr/>
        </p:nvSpPr>
        <p:spPr>
          <a:xfrm>
            <a:off x="566886" y="5614392"/>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Vates &amp; Nottebohm (1995), Fig. 3(a–e). Tracer labeling linking LMAN, Area X, and RA.</a:t>
            </a:r>
            <a:endParaRPr sz="1800">
              <a:solidFill>
                <a:schemeClr val="dk1"/>
              </a:solidFill>
              <a:latin typeface="Calibri"/>
              <a:ea typeface="Calibri"/>
              <a:cs typeface="Calibri"/>
              <a:sym typeface="Calibri"/>
            </a:endParaRPr>
          </a:p>
        </p:txBody>
      </p:sp>
      <p:sp>
        <p:nvSpPr>
          <p:cNvPr id="555" name="Google Shape;555;p3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Vates &amp; Nottebohm (1995)</a:t>
            </a:r>
            <a:endParaRPr sz="1800">
              <a:solidFill>
                <a:schemeClr val="dk1"/>
              </a:solidFill>
              <a:latin typeface="Calibri"/>
              <a:ea typeface="Calibri"/>
              <a:cs typeface="Calibri"/>
              <a:sym typeface="Calibri"/>
            </a:endParaRPr>
          </a:p>
        </p:txBody>
      </p:sp>
      <p:sp>
        <p:nvSpPr>
          <p:cNvPr id="557" name="Google Shape;557;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1" name="Shape 561"/>
        <p:cNvGrpSpPr/>
        <p:nvPr/>
      </p:nvGrpSpPr>
      <p:grpSpPr>
        <a:xfrm>
          <a:off x="0" y="0"/>
          <a:ext cx="0" cy="0"/>
          <a:chOff x="0" y="0"/>
          <a:chExt cx="0" cy="0"/>
        </a:xfrm>
      </p:grpSpPr>
      <p:sp>
        <p:nvSpPr>
          <p:cNvPr id="562" name="Google Shape;562;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Some LMAN neurons send output to both RA and Area X</a:t>
            </a:r>
            <a:endParaRPr sz="1800">
              <a:solidFill>
                <a:schemeClr val="dk1"/>
              </a:solidFill>
              <a:latin typeface="Calibri"/>
              <a:ea typeface="Calibri"/>
              <a:cs typeface="Calibri"/>
              <a:sym typeface="Calibri"/>
            </a:endParaRPr>
          </a:p>
        </p:txBody>
      </p:sp>
      <p:sp>
        <p:nvSpPr>
          <p:cNvPr id="563" name="Google Shape;563;p4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Vates and Nottebohm placed different </a:t>
            </a:r>
            <a:r>
              <a:rPr b="1" i="0" lang="en-US" sz="1500">
                <a:solidFill>
                  <a:srgbClr val="405D72"/>
                </a:solidFill>
                <a:latin typeface="Arial"/>
                <a:ea typeface="Arial"/>
                <a:cs typeface="Arial"/>
                <a:sym typeface="Arial"/>
              </a:rPr>
              <a:t>retrograde tracers</a:t>
            </a:r>
            <a:r>
              <a:rPr b="0" i="0" lang="en-US" sz="1500">
                <a:solidFill>
                  <a:srgbClr val="252E36"/>
                </a:solidFill>
                <a:latin typeface="Arial"/>
                <a:ea typeface="Arial"/>
                <a:cs typeface="Arial"/>
                <a:sym typeface="Arial"/>
              </a:rPr>
              <a:t> in RA and Area X to ask whether the two projections came from separate LMAN populations. Neurons containing both labels were found within LMAN, which shows output toward both targets from individual cells.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This result is more specific than overlapping terminal fields, because it links the two targets to a shared projecting neuron. A neuron with branching output can influence RA motor circuitry while also returning activity to the anterior forebrain loop through Area X.</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Double labeling identifies collateral branches, not the information carried by each branch. Uptake and transport efficiency set how many double-labeled neurons are detected, so the count is a lower estimate of the collaterals.</a:t>
            </a:r>
            <a:endParaRPr sz="1800">
              <a:solidFill>
                <a:schemeClr val="dk1"/>
              </a:solidFill>
              <a:latin typeface="Calibri"/>
              <a:ea typeface="Calibri"/>
              <a:cs typeface="Calibri"/>
              <a:sym typeface="Calibri"/>
            </a:endParaRPr>
          </a:p>
        </p:txBody>
      </p:sp>
      <p:pic>
        <p:nvPicPr>
          <p:cNvPr id="566" name="Google Shape;566;p40"/>
          <p:cNvPicPr preferRelativeResize="0"/>
          <p:nvPr/>
        </p:nvPicPr>
        <p:blipFill rotWithShape="1">
          <a:blip r:embed="rId3">
            <a:alphaModFix/>
          </a:blip>
          <a:srcRect b="0" l="0" r="0" t="0"/>
          <a:stretch/>
        </p:blipFill>
        <p:spPr>
          <a:xfrm>
            <a:off x="6138569" y="1280071"/>
            <a:ext cx="5486094" cy="1876425"/>
          </a:xfrm>
          <a:prstGeom prst="rect">
            <a:avLst/>
          </a:prstGeom>
          <a:noFill/>
          <a:ln>
            <a:noFill/>
          </a:ln>
        </p:spPr>
      </p:pic>
      <p:sp>
        <p:nvSpPr>
          <p:cNvPr id="567" name="Google Shape;567;p40"/>
          <p:cNvSpPr/>
          <p:nvPr/>
        </p:nvSpPr>
        <p:spPr>
          <a:xfrm>
            <a:off x="6138416" y="324802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Vates &amp; Nottebohm (1995), Fig. 5(a–b). Two retrograde labels in LMAN neurons.</a:t>
            </a:r>
            <a:endParaRPr sz="1800">
              <a:solidFill>
                <a:schemeClr val="dk1"/>
              </a:solidFill>
              <a:latin typeface="Calibri"/>
              <a:ea typeface="Calibri"/>
              <a:cs typeface="Calibri"/>
              <a:sym typeface="Calibri"/>
            </a:endParaRPr>
          </a:p>
        </p:txBody>
      </p:sp>
      <p:pic>
        <p:nvPicPr>
          <p:cNvPr id="568" name="Google Shape;568;p40"/>
          <p:cNvPicPr preferRelativeResize="0"/>
          <p:nvPr/>
        </p:nvPicPr>
        <p:blipFill rotWithShape="1">
          <a:blip r:embed="rId4">
            <a:alphaModFix/>
          </a:blip>
          <a:srcRect b="0" l="0" r="0" t="0"/>
          <a:stretch/>
        </p:blipFill>
        <p:spPr>
          <a:xfrm>
            <a:off x="8507016" y="4754814"/>
            <a:ext cx="749201" cy="1005674"/>
          </a:xfrm>
          <a:prstGeom prst="rect">
            <a:avLst/>
          </a:prstGeom>
          <a:noFill/>
          <a:ln>
            <a:noFill/>
          </a:ln>
        </p:spPr>
      </p:pic>
      <p:sp>
        <p:nvSpPr>
          <p:cNvPr id="569" name="Google Shape;569;p40"/>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Vates &amp; Nottebohm (1995), Fig. 4(a–f). Injection sites and retrogradely labeled LMAN cells.</a:t>
            </a:r>
            <a:endParaRPr sz="1800">
              <a:solidFill>
                <a:schemeClr val="dk1"/>
              </a:solidFill>
              <a:latin typeface="Calibri"/>
              <a:ea typeface="Calibri"/>
              <a:cs typeface="Calibri"/>
              <a:sym typeface="Calibri"/>
            </a:endParaRPr>
          </a:p>
        </p:txBody>
      </p:sp>
      <p:sp>
        <p:nvSpPr>
          <p:cNvPr id="570" name="Google Shape;570;p4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Vates &amp; Nottebohm (1995)</a:t>
            </a:r>
            <a:endParaRPr sz="1800">
              <a:solidFill>
                <a:schemeClr val="dk1"/>
              </a:solidFill>
              <a:latin typeface="Calibri"/>
              <a:ea typeface="Calibri"/>
              <a:cs typeface="Calibri"/>
              <a:sym typeface="Calibri"/>
            </a:endParaRPr>
          </a:p>
        </p:txBody>
      </p:sp>
      <p:sp>
        <p:nvSpPr>
          <p:cNvPr id="572" name="Google Shape;572;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41"/>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Adult LMAN neurons respond selectively to the bird's song</a:t>
            </a:r>
            <a:endParaRPr sz="1800">
              <a:solidFill>
                <a:schemeClr val="dk1"/>
              </a:solidFill>
              <a:latin typeface="Calibri"/>
              <a:ea typeface="Calibri"/>
              <a:cs typeface="Calibri"/>
              <a:sym typeface="Calibri"/>
            </a:endParaRPr>
          </a:p>
        </p:txBody>
      </p:sp>
      <p:pic>
        <p:nvPicPr>
          <p:cNvPr id="581" name="Google Shape;581;p41"/>
          <p:cNvPicPr preferRelativeResize="0"/>
          <p:nvPr/>
        </p:nvPicPr>
        <p:blipFill rotWithShape="1">
          <a:blip r:embed="rId3">
            <a:alphaModFix/>
          </a:blip>
          <a:srcRect b="0" l="0" r="0" t="0"/>
          <a:stretch/>
        </p:blipFill>
        <p:spPr>
          <a:xfrm>
            <a:off x="2762994" y="1280211"/>
            <a:ext cx="1094184" cy="2925681"/>
          </a:xfrm>
          <a:prstGeom prst="rect">
            <a:avLst/>
          </a:prstGeom>
          <a:noFill/>
          <a:ln>
            <a:noFill/>
          </a:ln>
        </p:spPr>
      </p:pic>
      <p:sp>
        <p:nvSpPr>
          <p:cNvPr id="582" name="Google Shape;582;p41"/>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64717D"/>
              </a:buClr>
              <a:buSzPts val="1000"/>
              <a:buFont typeface="Arial"/>
              <a:buNone/>
            </a:pPr>
            <a:r>
              <a:rPr b="0" i="0" lang="en-US" sz="1500">
                <a:solidFill>
                  <a:srgbClr val="64717D"/>
                </a:solidFill>
                <a:latin typeface="Arial"/>
                <a:ea typeface="Arial"/>
                <a:cs typeface="Arial"/>
                <a:sym typeface="Arial"/>
              </a:rPr>
              <a:t>Doupe recorded extracellular spikes from LMAN while playing the bird's own song and comparison sounds to anesthetized adult zebra finches. A raster plot shows the spike times of each neuron across repeated trials, and averaging those trials gives the response profile.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64717D"/>
              </a:buClr>
              <a:buSzPts val="1000"/>
              <a:buFont typeface="Arial"/>
              <a:buNone/>
            </a:pPr>
            <a:r>
              <a:rPr b="0" i="0" lang="en-US" sz="1500">
                <a:solidFill>
                  <a:srgbClr val="64717D"/>
                </a:solidFill>
                <a:latin typeface="Arial"/>
                <a:ea typeface="Arial"/>
                <a:cs typeface="Arial"/>
                <a:sym typeface="Arial"/>
              </a:rPr>
              <a:t>Many neurons responded strongly to the bird's own song and weakly to other conspecific songs or simple acoustic stimuli. Comparisons with amplitude-modulated noise and tones tested whether the response could be explained by a generic sound-evoked response.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64717D"/>
              </a:buClr>
              <a:buSzPts val="1000"/>
              <a:buFont typeface="Arial"/>
              <a:buNone/>
            </a:pPr>
            <a:r>
              <a:rPr b="0" i="0" lang="en-US" sz="1500">
                <a:solidFill>
                  <a:srgbClr val="64717D"/>
                </a:solidFill>
                <a:latin typeface="Arial"/>
                <a:ea typeface="Arial"/>
                <a:cs typeface="Arial"/>
                <a:sym typeface="Arial"/>
              </a:rPr>
              <a:t>The selectivity links an anterior forebrain nucleus with the acoustic structure of learned vocal behavior. These are playback responses recorded under anesthesia, and their role in singing is examined in awake birds. The selectivity and the anesthetic condition are both part of the description of these responses.</a:t>
            </a:r>
            <a:endParaRPr sz="1800">
              <a:solidFill>
                <a:schemeClr val="dk1"/>
              </a:solidFill>
              <a:latin typeface="Calibri"/>
              <a:ea typeface="Calibri"/>
              <a:cs typeface="Calibri"/>
              <a:sym typeface="Calibri"/>
            </a:endParaRPr>
          </a:p>
        </p:txBody>
      </p:sp>
      <p:pic>
        <p:nvPicPr>
          <p:cNvPr id="583" name="Google Shape;583;p41"/>
          <p:cNvPicPr preferRelativeResize="0"/>
          <p:nvPr/>
        </p:nvPicPr>
        <p:blipFill rotWithShape="1">
          <a:blip r:embed="rId4">
            <a:alphaModFix/>
          </a:blip>
          <a:srcRect b="0" l="0" r="0" t="0"/>
          <a:stretch/>
        </p:blipFill>
        <p:spPr>
          <a:xfrm>
            <a:off x="2513856" y="4754769"/>
            <a:ext cx="1592461" cy="1005765"/>
          </a:xfrm>
          <a:prstGeom prst="rect">
            <a:avLst/>
          </a:prstGeom>
          <a:noFill/>
          <a:ln>
            <a:noFill/>
          </a:ln>
        </p:spPr>
      </p:pic>
      <p:sp>
        <p:nvSpPr>
          <p:cNvPr id="584" name="Google Shape;584;p41"/>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585" name="Google Shape;585;p4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Doupe (1997); Gale &amp; Perkel (2010a)</a:t>
            </a:r>
            <a:endParaRPr sz="1800">
              <a:solidFill>
                <a:schemeClr val="dk1"/>
              </a:solidFill>
              <a:latin typeface="Calibri"/>
              <a:ea typeface="Calibri"/>
              <a:cs typeface="Calibri"/>
              <a:sym typeface="Calibri"/>
            </a:endParaRPr>
          </a:p>
        </p:txBody>
      </p:sp>
      <p:sp>
        <p:nvSpPr>
          <p:cNvPr id="587" name="Google Shape;587;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sp>
        <p:nvSpPr>
          <p:cNvPr id="592" name="Google Shape;592;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LMAN selectivity includes temporal order</a:t>
            </a:r>
            <a:endParaRPr sz="1800">
              <a:solidFill>
                <a:schemeClr val="dk1"/>
              </a:solidFill>
              <a:latin typeface="Calibri"/>
              <a:ea typeface="Calibri"/>
              <a:cs typeface="Calibri"/>
              <a:sym typeface="Calibri"/>
            </a:endParaRPr>
          </a:p>
        </p:txBody>
      </p:sp>
      <p:sp>
        <p:nvSpPr>
          <p:cNvPr id="593" name="Google Shape;593;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Doupe compared responses to intact song with altered versions in which the order or arrangement of song elements was changed. A </a:t>
            </a:r>
            <a:r>
              <a:rPr b="1" i="0" lang="en-US" sz="1500">
                <a:solidFill>
                  <a:srgbClr val="405D72"/>
                </a:solidFill>
                <a:latin typeface="Arial"/>
                <a:ea typeface="Arial"/>
                <a:cs typeface="Arial"/>
                <a:sym typeface="Arial"/>
              </a:rPr>
              <a:t>syllable</a:t>
            </a:r>
            <a:r>
              <a:rPr b="0" i="0" lang="en-US" sz="1500">
                <a:solidFill>
                  <a:srgbClr val="252E36"/>
                </a:solidFill>
                <a:latin typeface="Arial"/>
                <a:ea typeface="Arial"/>
                <a:cs typeface="Arial"/>
                <a:sym typeface="Arial"/>
              </a:rPr>
              <a:t> is a recognizable acoustic unit, and reorganizing syllables keeps many local features while changing their temporal context.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Some LMAN neurons responded more strongly to the normal sequence than to rearrangements or isolated combinations. These comparisons test whether selectivity depends on one sound fragment alone or on the relation between fragments across time.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Sensitivity to temporal order fits integration of a learned sequence rather than detection of a single frequency. The selectivity mechanism at the synapse is identified by separate experiments, and the roles of recognition, prediction and vocal learning are tested in awake birds.</a:t>
            </a:r>
            <a:endParaRPr sz="1800">
              <a:solidFill>
                <a:schemeClr val="dk1"/>
              </a:solidFill>
              <a:latin typeface="Calibri"/>
              <a:ea typeface="Calibri"/>
              <a:cs typeface="Calibri"/>
              <a:sym typeface="Calibri"/>
            </a:endParaRPr>
          </a:p>
        </p:txBody>
      </p:sp>
      <p:pic>
        <p:nvPicPr>
          <p:cNvPr id="596" name="Google Shape;596;p42"/>
          <p:cNvPicPr preferRelativeResize="0"/>
          <p:nvPr/>
        </p:nvPicPr>
        <p:blipFill rotWithShape="1">
          <a:blip r:embed="rId3">
            <a:alphaModFix/>
          </a:blip>
          <a:srcRect b="0" l="0" r="0" t="0"/>
          <a:stretch/>
        </p:blipFill>
        <p:spPr>
          <a:xfrm>
            <a:off x="7695961" y="1280071"/>
            <a:ext cx="2371607" cy="2925961"/>
          </a:xfrm>
          <a:prstGeom prst="rect">
            <a:avLst/>
          </a:prstGeom>
          <a:noFill/>
          <a:ln>
            <a:noFill/>
          </a:ln>
        </p:spPr>
      </p:pic>
      <p:sp>
        <p:nvSpPr>
          <p:cNvPr id="597" name="Google Shape;597;p42"/>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Doupe (1997), Fig. 7(a–g). Responses to combinations of song syllables.</a:t>
            </a:r>
            <a:endParaRPr sz="1800">
              <a:solidFill>
                <a:schemeClr val="dk1"/>
              </a:solidFill>
              <a:latin typeface="Calibri"/>
              <a:ea typeface="Calibri"/>
              <a:cs typeface="Calibri"/>
              <a:sym typeface="Calibri"/>
            </a:endParaRPr>
          </a:p>
        </p:txBody>
      </p:sp>
      <p:pic>
        <p:nvPicPr>
          <p:cNvPr id="598" name="Google Shape;598;p42"/>
          <p:cNvPicPr preferRelativeResize="0"/>
          <p:nvPr/>
        </p:nvPicPr>
        <p:blipFill rotWithShape="1">
          <a:blip r:embed="rId4">
            <a:alphaModFix/>
          </a:blip>
          <a:srcRect b="0" l="0" r="0" t="0"/>
          <a:stretch/>
        </p:blipFill>
        <p:spPr>
          <a:xfrm>
            <a:off x="8085386" y="4754769"/>
            <a:ext cx="1592461" cy="1005765"/>
          </a:xfrm>
          <a:prstGeom prst="rect">
            <a:avLst/>
          </a:prstGeom>
          <a:noFill/>
          <a:ln>
            <a:noFill/>
          </a:ln>
        </p:spPr>
      </p:pic>
      <p:sp>
        <p:nvSpPr>
          <p:cNvPr id="599" name="Google Shape;599;p42"/>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00" name="Google Shape;600;p4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Doupe (1997); Gale &amp; Perkel (2010a)</a:t>
            </a:r>
            <a:endParaRPr sz="1800">
              <a:solidFill>
                <a:schemeClr val="dk1"/>
              </a:solidFill>
              <a:latin typeface="Calibri"/>
              <a:ea typeface="Calibri"/>
              <a:cs typeface="Calibri"/>
              <a:sym typeface="Calibri"/>
            </a:endParaRPr>
          </a:p>
        </p:txBody>
      </p:sp>
      <p:sp>
        <p:nvSpPr>
          <p:cNvPr id="602" name="Google Shape;602;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sp>
        <p:nvSpPr>
          <p:cNvPr id="607" name="Google Shape;607;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Area X also carries song-selective auditory responses</a:t>
            </a:r>
            <a:endParaRPr sz="1800">
              <a:solidFill>
                <a:schemeClr val="dk1"/>
              </a:solidFill>
              <a:latin typeface="Calibri"/>
              <a:ea typeface="Calibri"/>
              <a:cs typeface="Calibri"/>
              <a:sym typeface="Calibri"/>
            </a:endParaRPr>
          </a:p>
        </p:txBody>
      </p:sp>
      <p:sp>
        <p:nvSpPr>
          <p:cNvPr id="608" name="Google Shape;608;p43"/>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Doupe recorded auditory responses in Area X using the bird's own song, reversed song and songs from other zebra finches. Comparing several stimuli within the same neuron controlled for differences in overall excitability between cells.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Area X neurons responded selectively to familiar self-song, and the responses depended on the temporal structure of the playback. Auditory selectivity is therefore present in the basal ganglia portion of the anterior forebrain pathway.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These findings establish sensory responsiveness in a song-related circuit. Area X is characterized here as a sensory-responsive region, and its storage role is tested with separate measurements. The sensory responses are therefore part of the circuit's processing before any motor function is assigned.</a:t>
            </a:r>
            <a:endParaRPr sz="1800">
              <a:solidFill>
                <a:schemeClr val="dk1"/>
              </a:solidFill>
              <a:latin typeface="Calibri"/>
              <a:ea typeface="Calibri"/>
              <a:cs typeface="Calibri"/>
              <a:sym typeface="Calibri"/>
            </a:endParaRPr>
          </a:p>
        </p:txBody>
      </p:sp>
      <p:pic>
        <p:nvPicPr>
          <p:cNvPr id="611" name="Google Shape;611;p43"/>
          <p:cNvPicPr preferRelativeResize="0"/>
          <p:nvPr/>
        </p:nvPicPr>
        <p:blipFill rotWithShape="1">
          <a:blip r:embed="rId3">
            <a:alphaModFix/>
          </a:blip>
          <a:srcRect b="0" l="0" r="0" t="0"/>
          <a:stretch/>
        </p:blipFill>
        <p:spPr>
          <a:xfrm>
            <a:off x="1638333" y="1280071"/>
            <a:ext cx="3343656" cy="2925961"/>
          </a:xfrm>
          <a:prstGeom prst="rect">
            <a:avLst/>
          </a:prstGeom>
          <a:noFill/>
          <a:ln>
            <a:noFill/>
          </a:ln>
        </p:spPr>
      </p:pic>
      <p:sp>
        <p:nvSpPr>
          <p:cNvPr id="612" name="Google Shape;612;p43"/>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Doupe (1997), Fig. 9(a–d). Song-selective auditory responses in Area X.</a:t>
            </a:r>
            <a:endParaRPr sz="1800">
              <a:solidFill>
                <a:schemeClr val="dk1"/>
              </a:solidFill>
              <a:latin typeface="Calibri"/>
              <a:ea typeface="Calibri"/>
              <a:cs typeface="Calibri"/>
              <a:sym typeface="Calibri"/>
            </a:endParaRPr>
          </a:p>
        </p:txBody>
      </p:sp>
      <p:pic>
        <p:nvPicPr>
          <p:cNvPr id="613" name="Google Shape;613;p43"/>
          <p:cNvPicPr preferRelativeResize="0"/>
          <p:nvPr/>
        </p:nvPicPr>
        <p:blipFill rotWithShape="1">
          <a:blip r:embed="rId4">
            <a:alphaModFix/>
          </a:blip>
          <a:srcRect b="0" l="0" r="0" t="0"/>
          <a:stretch/>
        </p:blipFill>
        <p:spPr>
          <a:xfrm>
            <a:off x="2513856" y="4754769"/>
            <a:ext cx="1592461" cy="1005765"/>
          </a:xfrm>
          <a:prstGeom prst="rect">
            <a:avLst/>
          </a:prstGeom>
          <a:noFill/>
          <a:ln>
            <a:noFill/>
          </a:ln>
        </p:spPr>
      </p:pic>
      <p:sp>
        <p:nvSpPr>
          <p:cNvPr id="614" name="Google Shape;614;p43"/>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15" name="Google Shape;615;p4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Doupe (1997); Gale &amp; Perkel (2010a)</a:t>
            </a:r>
            <a:endParaRPr sz="1800">
              <a:solidFill>
                <a:schemeClr val="dk1"/>
              </a:solidFill>
              <a:latin typeface="Calibri"/>
              <a:ea typeface="Calibri"/>
              <a:cs typeface="Calibri"/>
              <a:sym typeface="Calibri"/>
            </a:endParaRPr>
          </a:p>
        </p:txBody>
      </p:sp>
      <p:sp>
        <p:nvSpPr>
          <p:cNvPr id="617" name="Google Shape;617;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1" name="Shape 621"/>
        <p:cNvGrpSpPr/>
        <p:nvPr/>
      </p:nvGrpSpPr>
      <p:grpSpPr>
        <a:xfrm>
          <a:off x="0" y="0"/>
          <a:ext cx="0" cy="0"/>
          <a:chOff x="0" y="0"/>
          <a:chExt cx="0" cy="0"/>
        </a:xfrm>
      </p:grpSpPr>
      <p:sp>
        <p:nvSpPr>
          <p:cNvPr id="622" name="Google Shape;622;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Cell labeling identifies dopaminergic midbrain neurons</a:t>
            </a:r>
            <a:endParaRPr sz="1800">
              <a:solidFill>
                <a:schemeClr val="dk1"/>
              </a:solidFill>
              <a:latin typeface="Calibri"/>
              <a:ea typeface="Calibri"/>
              <a:cs typeface="Calibri"/>
              <a:sym typeface="Calibri"/>
            </a:endParaRPr>
          </a:p>
        </p:txBody>
      </p:sp>
      <p:sp>
        <p:nvSpPr>
          <p:cNvPr id="623" name="Google Shape;623;p4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Gale and Perkel recorded neurons in the substantia nigra pars compacta and the ventral tegmental area, SNc/VTA, while testing auditory responses. These midbrain regions provide dopaminergic input to Area X, and the transmitter of each recorded neuron is identified with a separate label.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They combined spike measurements with juxtacellular labeling and immunostaining for </a:t>
            </a:r>
            <a:r>
              <a:rPr b="1" i="0" lang="en-US" sz="1500">
                <a:solidFill>
                  <a:srgbClr val="405D72"/>
                </a:solidFill>
                <a:latin typeface="Arial"/>
                <a:ea typeface="Arial"/>
                <a:cs typeface="Arial"/>
                <a:sym typeface="Arial"/>
              </a:rPr>
              <a:t>tyrosine hydroxylase</a:t>
            </a:r>
            <a:r>
              <a:rPr b="0" i="0" lang="en-US" sz="1500">
                <a:solidFill>
                  <a:srgbClr val="252E36"/>
                </a:solidFill>
                <a:latin typeface="Arial"/>
                <a:ea typeface="Arial"/>
                <a:cs typeface="Arial"/>
                <a:sym typeface="Arial"/>
              </a:rPr>
              <a:t>, an enzyme involved in catecholamine synthesis. Labeled cells with the marker gave an anatomical and biochemical check on the classification based on firing properties.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fluorescent micrographs keep 20 µm scale bars and connect each recorded cell with its tissue identity. Marker-positive cells support the dopaminergic interpretation in this preparation, and the histological identification of each recorded neuron is more specific than a waveform criterion.</a:t>
            </a:r>
            <a:endParaRPr sz="1800">
              <a:solidFill>
                <a:schemeClr val="dk1"/>
              </a:solidFill>
              <a:latin typeface="Calibri"/>
              <a:ea typeface="Calibri"/>
              <a:cs typeface="Calibri"/>
              <a:sym typeface="Calibri"/>
            </a:endParaRPr>
          </a:p>
        </p:txBody>
      </p:sp>
      <p:pic>
        <p:nvPicPr>
          <p:cNvPr id="626" name="Google Shape;626;p44"/>
          <p:cNvPicPr preferRelativeResize="0"/>
          <p:nvPr/>
        </p:nvPicPr>
        <p:blipFill rotWithShape="1">
          <a:blip r:embed="rId3">
            <a:alphaModFix/>
          </a:blip>
          <a:srcRect b="0" l="0" r="0" t="0"/>
          <a:stretch/>
        </p:blipFill>
        <p:spPr>
          <a:xfrm>
            <a:off x="7660358" y="1280071"/>
            <a:ext cx="2442666" cy="2925961"/>
          </a:xfrm>
          <a:prstGeom prst="rect">
            <a:avLst/>
          </a:prstGeom>
          <a:noFill/>
          <a:ln>
            <a:noFill/>
          </a:ln>
        </p:spPr>
      </p:pic>
      <p:sp>
        <p:nvSpPr>
          <p:cNvPr id="627" name="Google Shape;627;p4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4(A–F). Recorded cell labeling and transmitter-marker staining.</a:t>
            </a:r>
            <a:endParaRPr sz="1800">
              <a:solidFill>
                <a:schemeClr val="dk1"/>
              </a:solidFill>
              <a:latin typeface="Calibri"/>
              <a:ea typeface="Calibri"/>
              <a:cs typeface="Calibri"/>
              <a:sym typeface="Calibri"/>
            </a:endParaRPr>
          </a:p>
        </p:txBody>
      </p:sp>
      <p:pic>
        <p:nvPicPr>
          <p:cNvPr id="628" name="Google Shape;628;p44"/>
          <p:cNvPicPr preferRelativeResize="0"/>
          <p:nvPr/>
        </p:nvPicPr>
        <p:blipFill rotWithShape="1">
          <a:blip r:embed="rId4">
            <a:alphaModFix/>
          </a:blip>
          <a:srcRect b="0" l="0" r="0" t="0"/>
          <a:stretch/>
        </p:blipFill>
        <p:spPr>
          <a:xfrm>
            <a:off x="8085386" y="4754769"/>
            <a:ext cx="1592461" cy="1005765"/>
          </a:xfrm>
          <a:prstGeom prst="rect">
            <a:avLst/>
          </a:prstGeom>
          <a:noFill/>
          <a:ln>
            <a:noFill/>
          </a:ln>
        </p:spPr>
      </p:pic>
      <p:sp>
        <p:nvSpPr>
          <p:cNvPr id="629" name="Google Shape;629;p4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30" name="Google Shape;630;p4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Gale &amp; Perkel (2010a)</a:t>
            </a:r>
            <a:endParaRPr sz="1800">
              <a:solidFill>
                <a:schemeClr val="dk1"/>
              </a:solidFill>
              <a:latin typeface="Calibri"/>
              <a:ea typeface="Calibri"/>
              <a:cs typeface="Calibri"/>
              <a:sym typeface="Calibri"/>
            </a:endParaRPr>
          </a:p>
        </p:txBody>
      </p:sp>
      <p:sp>
        <p:nvSpPr>
          <p:cNvPr id="632" name="Google Shape;63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6" name="Shape 636"/>
        <p:cNvGrpSpPr/>
        <p:nvPr/>
      </p:nvGrpSpPr>
      <p:grpSpPr>
        <a:xfrm>
          <a:off x="0" y="0"/>
          <a:ext cx="0" cy="0"/>
          <a:chOff x="0" y="0"/>
          <a:chExt cx="0" cy="0"/>
        </a:xfrm>
      </p:grpSpPr>
      <p:sp>
        <p:nvSpPr>
          <p:cNvPr id="637" name="Google Shape;63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Area X activity can disinhibit dopaminergic neurons</a:t>
            </a:r>
            <a:endParaRPr sz="1800">
              <a:solidFill>
                <a:schemeClr val="dk1"/>
              </a:solidFill>
              <a:latin typeface="Calibri"/>
              <a:ea typeface="Calibri"/>
              <a:cs typeface="Calibri"/>
              <a:sym typeface="Calibri"/>
            </a:endParaRPr>
          </a:p>
        </p:txBody>
      </p:sp>
      <p:pic>
        <p:nvPicPr>
          <p:cNvPr id="641" name="Google Shape;641;p45"/>
          <p:cNvPicPr preferRelativeResize="0"/>
          <p:nvPr/>
        </p:nvPicPr>
        <p:blipFill rotWithShape="1">
          <a:blip r:embed="rId3">
            <a:alphaModFix/>
          </a:blip>
          <a:srcRect b="0" l="0" r="0" t="0"/>
          <a:stretch/>
        </p:blipFill>
        <p:spPr>
          <a:xfrm>
            <a:off x="2390031" y="1280100"/>
            <a:ext cx="1840111" cy="2925902"/>
          </a:xfrm>
          <a:prstGeom prst="rect">
            <a:avLst/>
          </a:prstGeom>
          <a:noFill/>
          <a:ln>
            <a:noFill/>
          </a:ln>
        </p:spPr>
      </p:pic>
      <p:sp>
        <p:nvSpPr>
          <p:cNvPr id="642" name="Google Shape;642;p45"/>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64717D"/>
              </a:buClr>
              <a:buSzPts val="1000"/>
              <a:buFont typeface="Arial"/>
              <a:buNone/>
            </a:pPr>
            <a:r>
              <a:rPr b="1" i="0" lang="en-US" sz="1500">
                <a:solidFill>
                  <a:srgbClr val="405D72"/>
                </a:solidFill>
                <a:latin typeface="Arial"/>
                <a:ea typeface="Arial"/>
                <a:cs typeface="Arial"/>
                <a:sym typeface="Arial"/>
              </a:rPr>
              <a:t>Disinhibition</a:t>
            </a:r>
            <a:r>
              <a:rPr b="0" i="0" lang="en-US" sz="1500">
                <a:solidFill>
                  <a:srgbClr val="64717D"/>
                </a:solidFill>
                <a:latin typeface="Arial"/>
                <a:ea typeface="Arial"/>
                <a:cs typeface="Arial"/>
                <a:sym typeface="Arial"/>
              </a:rPr>
              <a:t> is increased activity that follows the reduction of inhibitory input. Gale and Perkel found that song playback excited Area X neurons, inhibited neurons in the ventral pallidum and excited identified dopaminergic SNc/VTA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64717D"/>
              </a:buClr>
              <a:buSzPts val="1000"/>
              <a:buFont typeface="Arial"/>
              <a:buNone/>
            </a:pPr>
            <a:r>
              <a:rPr b="0" i="0" lang="en-US" sz="1500">
                <a:solidFill>
                  <a:srgbClr val="64717D"/>
                </a:solidFill>
                <a:latin typeface="Arial"/>
                <a:ea typeface="Arial"/>
                <a:cs typeface="Arial"/>
                <a:sym typeface="Arial"/>
              </a:rPr>
              <a:t>Activating Area X with glutamate increased downstream dopaminergic firing, whereas GABA injection reduced it. Blocking AMPA and NMDA receptors in Area X diminished song-evoked dopaminergic responses, and vehicle injections served as the control.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64717D"/>
              </a:buClr>
              <a:buSzPts val="1000"/>
              <a:buFont typeface="Arial"/>
              <a:buNone/>
            </a:pPr>
            <a:r>
              <a:rPr b="0" i="0" lang="en-US" sz="1500">
                <a:solidFill>
                  <a:srgbClr val="64717D"/>
                </a:solidFill>
                <a:latin typeface="Arial"/>
                <a:ea typeface="Arial"/>
                <a:cs typeface="Arial"/>
                <a:sym typeface="Arial"/>
              </a:rPr>
              <a:t>The convergent recordings and interventions support a route through which song-related forebrain activity regulates its own dopamine supply. The route is consistent with the anatomy in the preceding slides, and its behavioral role is measured separately.</a:t>
            </a:r>
            <a:endParaRPr sz="1800">
              <a:solidFill>
                <a:schemeClr val="dk1"/>
              </a:solidFill>
              <a:latin typeface="Calibri"/>
              <a:ea typeface="Calibri"/>
              <a:cs typeface="Calibri"/>
              <a:sym typeface="Calibri"/>
            </a:endParaRPr>
          </a:p>
        </p:txBody>
      </p:sp>
      <p:pic>
        <p:nvPicPr>
          <p:cNvPr id="643" name="Google Shape;643;p45"/>
          <p:cNvPicPr preferRelativeResize="0"/>
          <p:nvPr/>
        </p:nvPicPr>
        <p:blipFill rotWithShape="1">
          <a:blip r:embed="rId4">
            <a:alphaModFix/>
          </a:blip>
          <a:srcRect b="0" l="0" r="0" t="0"/>
          <a:stretch/>
        </p:blipFill>
        <p:spPr>
          <a:xfrm>
            <a:off x="2513856" y="4754769"/>
            <a:ext cx="1592461" cy="1005765"/>
          </a:xfrm>
          <a:prstGeom prst="rect">
            <a:avLst/>
          </a:prstGeom>
          <a:noFill/>
          <a:ln>
            <a:noFill/>
          </a:ln>
        </p:spPr>
      </p:pic>
      <p:sp>
        <p:nvSpPr>
          <p:cNvPr id="644" name="Google Shape;644;p4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45" name="Google Shape;645;p4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Gale &amp; Perkel (2010a)</a:t>
            </a:r>
            <a:endParaRPr sz="1800">
              <a:solidFill>
                <a:schemeClr val="dk1"/>
              </a:solidFill>
              <a:latin typeface="Calibri"/>
              <a:ea typeface="Calibri"/>
              <a:cs typeface="Calibri"/>
              <a:sym typeface="Calibri"/>
            </a:endParaRPr>
          </a:p>
        </p:txBody>
      </p:sp>
      <p:sp>
        <p:nvSpPr>
          <p:cNvPr id="647" name="Google Shape;64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1" name="Shape 651"/>
        <p:cNvGrpSpPr/>
        <p:nvPr/>
      </p:nvGrpSpPr>
      <p:grpSpPr>
        <a:xfrm>
          <a:off x="0" y="0"/>
          <a:ext cx="0" cy="0"/>
          <a:chOff x="0" y="0"/>
          <a:chExt cx="0" cy="0"/>
        </a:xfrm>
      </p:grpSpPr>
      <p:sp>
        <p:nvSpPr>
          <p:cNvPr id="652" name="Google Shape;65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53" name="Google Shape;653;p46"/>
          <p:cNvSpPr/>
          <p:nvPr/>
        </p:nvSpPr>
        <p:spPr>
          <a:xfrm>
            <a:off x="566886" y="12343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46"/>
          <p:cNvSpPr/>
          <p:nvPr/>
        </p:nvSpPr>
        <p:spPr>
          <a:xfrm>
            <a:off x="749796" y="13716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Separate projection pathways</a:t>
            </a:r>
            <a:r>
              <a:rPr b="0" i="0" lang="en-US" sz="1500">
                <a:solidFill>
                  <a:srgbClr val="252E36"/>
                </a:solidFill>
                <a:latin typeface="Arial"/>
                <a:ea typeface="Arial"/>
                <a:cs typeface="Arial"/>
                <a:sym typeface="Arial"/>
              </a:rPr>
              <a:t> HVC reaches RA directly for vocal motor control and reaches Area X through a distinct output population; DLM and LMAN form the anterior forebrain route back to RA.</a:t>
            </a:r>
            <a:endParaRPr sz="1800">
              <a:solidFill>
                <a:schemeClr val="dk1"/>
              </a:solidFill>
              <a:latin typeface="Calibri"/>
              <a:ea typeface="Calibri"/>
              <a:cs typeface="Calibri"/>
              <a:sym typeface="Calibri"/>
            </a:endParaRPr>
          </a:p>
        </p:txBody>
      </p:sp>
      <p:sp>
        <p:nvSpPr>
          <p:cNvPr id="655" name="Google Shape;655;p46"/>
          <p:cNvSpPr/>
          <p:nvPr/>
        </p:nvSpPr>
        <p:spPr>
          <a:xfrm>
            <a:off x="6233071" y="12343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6"/>
          <p:cNvSpPr/>
          <p:nvPr/>
        </p:nvSpPr>
        <p:spPr>
          <a:xfrm>
            <a:off x="6415980" y="13716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Anatomical connections constrain mechanisms</a:t>
            </a:r>
            <a:r>
              <a:rPr b="0" i="0" lang="en-US" sz="1500">
                <a:solidFill>
                  <a:srgbClr val="252E36"/>
                </a:solidFill>
                <a:latin typeface="Arial"/>
                <a:ea typeface="Arial"/>
                <a:cs typeface="Arial"/>
                <a:sym typeface="Arial"/>
              </a:rPr>
              <a:t> Lesions establish regional necessity, tracers establish projection direction, and single-cell reconstructions reveal local collaterals; none alone specifies the information transmitted at a synapse.</a:t>
            </a:r>
            <a:endParaRPr sz="1800">
              <a:solidFill>
                <a:schemeClr val="dk1"/>
              </a:solidFill>
              <a:latin typeface="Calibri"/>
              <a:ea typeface="Calibri"/>
              <a:cs typeface="Calibri"/>
              <a:sym typeface="Calibri"/>
            </a:endParaRPr>
          </a:p>
        </p:txBody>
      </p:sp>
      <p:sp>
        <p:nvSpPr>
          <p:cNvPr id="657" name="Google Shape;657;p46"/>
          <p:cNvSpPr/>
          <p:nvPr/>
        </p:nvSpPr>
        <p:spPr>
          <a:xfrm>
            <a:off x="566886" y="29869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6"/>
          <p:cNvSpPr/>
          <p:nvPr/>
        </p:nvSpPr>
        <p:spPr>
          <a:xfrm>
            <a:off x="749796" y="31242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RA integrates different excitatory inputs</a:t>
            </a:r>
            <a:r>
              <a:rPr b="0" i="0" lang="en-US" sz="1500">
                <a:solidFill>
                  <a:srgbClr val="252E36"/>
                </a:solidFill>
                <a:latin typeface="Arial"/>
                <a:ea typeface="Arial"/>
                <a:cs typeface="Arial"/>
                <a:sym typeface="Arial"/>
              </a:rPr>
              <a:t> HVC and LMAN converge on RA, but their developmental connectivity and receptor contributions differ; stronger, refined HVC input can coexist with persistent LMAN input.</a:t>
            </a:r>
            <a:endParaRPr sz="1800">
              <a:solidFill>
                <a:schemeClr val="dk1"/>
              </a:solidFill>
              <a:latin typeface="Calibri"/>
              <a:ea typeface="Calibri"/>
              <a:cs typeface="Calibri"/>
              <a:sym typeface="Calibri"/>
            </a:endParaRPr>
          </a:p>
        </p:txBody>
      </p:sp>
      <p:sp>
        <p:nvSpPr>
          <p:cNvPr id="659" name="Google Shape;659;p46"/>
          <p:cNvSpPr/>
          <p:nvPr/>
        </p:nvSpPr>
        <p:spPr>
          <a:xfrm>
            <a:off x="6233071" y="29869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46"/>
          <p:cNvSpPr/>
          <p:nvPr/>
        </p:nvSpPr>
        <p:spPr>
          <a:xfrm>
            <a:off x="6415980" y="31242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Motor physiology has multiple controls</a:t>
            </a:r>
            <a:r>
              <a:rPr b="0" i="0" lang="en-US" sz="1500">
                <a:solidFill>
                  <a:srgbClr val="252E36"/>
                </a:solidFill>
                <a:latin typeface="Arial"/>
                <a:ea typeface="Arial"/>
                <a:cs typeface="Arial"/>
                <a:sym typeface="Arial"/>
              </a:rPr>
              <a:t> Resurgent sodium current supports rapid RA firing, while SK channels regulate spike recovery and timing in interaction with synaptic input; dopamine modulates RA excitability through D1-like signaling.</a:t>
            </a:r>
            <a:endParaRPr sz="1800">
              <a:solidFill>
                <a:schemeClr val="dk1"/>
              </a:solidFill>
              <a:latin typeface="Calibri"/>
              <a:ea typeface="Calibri"/>
              <a:cs typeface="Calibri"/>
              <a:sym typeface="Calibri"/>
            </a:endParaRPr>
          </a:p>
        </p:txBody>
      </p:sp>
      <p:sp>
        <p:nvSpPr>
          <p:cNvPr id="661" name="Google Shape;661;p46"/>
          <p:cNvSpPr/>
          <p:nvPr/>
        </p:nvSpPr>
        <p:spPr>
          <a:xfrm>
            <a:off x="566886" y="47395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46"/>
          <p:cNvSpPr/>
          <p:nvPr/>
        </p:nvSpPr>
        <p:spPr>
          <a:xfrm>
            <a:off x="749796" y="48768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500"/>
              <a:buFont typeface="Arial"/>
              <a:buNone/>
            </a:pPr>
            <a:r>
              <a:rPr b="1" i="0" lang="en-US" sz="1500">
                <a:solidFill>
                  <a:srgbClr val="405D72"/>
                </a:solidFill>
                <a:latin typeface="Arial"/>
                <a:ea typeface="Arial"/>
                <a:cs typeface="Arial"/>
                <a:sym typeface="Arial"/>
              </a:rPr>
              <a:t>LMAN contributes differently across ages</a:t>
            </a:r>
            <a:r>
              <a:rPr b="0" i="0" lang="en-US" sz="1500">
                <a:solidFill>
                  <a:srgbClr val="252E36"/>
                </a:solidFill>
                <a:latin typeface="Arial"/>
                <a:ea typeface="Arial"/>
                <a:cs typeface="Arial"/>
                <a:sym typeface="Arial"/>
              </a:rPr>
              <a:t> Early lesions disrupt vocal development, whereas established adult song can persist after lesions; this difference does not imply that adult LMAN becomes anatomically disconnected or functionless.</a:t>
            </a:r>
            <a:endParaRPr sz="1800">
              <a:solidFill>
                <a:schemeClr val="dk1"/>
              </a:solidFill>
              <a:latin typeface="Calibri"/>
              <a:ea typeface="Calibri"/>
              <a:cs typeface="Calibri"/>
              <a:sym typeface="Calibri"/>
            </a:endParaRPr>
          </a:p>
        </p:txBody>
      </p:sp>
      <p:sp>
        <p:nvSpPr>
          <p:cNvPr id="663" name="Google Shape;663;p46"/>
          <p:cNvSpPr/>
          <p:nvPr/>
        </p:nvSpPr>
        <p:spPr>
          <a:xfrm>
            <a:off x="6233071" y="4739580"/>
            <a:ext cx="5391894" cy="1478161"/>
          </a:xfrm>
          <a:prstGeom prst="rect">
            <a:avLst/>
          </a:prstGeom>
          <a:solidFill>
            <a:srgbClr val="F2F5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46"/>
          <p:cNvSpPr/>
          <p:nvPr/>
        </p:nvSpPr>
        <p:spPr>
          <a:xfrm>
            <a:off x="6415980" y="4876800"/>
            <a:ext cx="5045125"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1400"/>
              <a:buFont typeface="Arial"/>
              <a:buNone/>
            </a:pPr>
            <a:r>
              <a:rPr b="1" i="0" lang="en-US" sz="1400">
                <a:solidFill>
                  <a:srgbClr val="405D72"/>
                </a:solidFill>
                <a:latin typeface="Arial"/>
                <a:ea typeface="Arial"/>
                <a:cs typeface="Arial"/>
                <a:sym typeface="Arial"/>
              </a:rPr>
              <a:t>Auditory selectivity is not an error signal by itself</a:t>
            </a:r>
            <a:r>
              <a:rPr b="0" i="0" lang="en-US" sz="1400">
                <a:solidFill>
                  <a:srgbClr val="252E36"/>
                </a:solidFill>
                <a:latin typeface="Arial"/>
                <a:ea typeface="Arial"/>
                <a:cs typeface="Arial"/>
                <a:sym typeface="Arial"/>
              </a:rPr>
              <a:t> LMAN, Area X, and dopaminergic circuitry respond selectively to self-song, but anesthetized playback responses do not establish the complete teaching signal or learning rule used during singing.</a:t>
            </a:r>
            <a:endParaRPr sz="1800">
              <a:solidFill>
                <a:schemeClr val="dk1"/>
              </a:solidFill>
              <a:latin typeface="Calibri"/>
              <a:ea typeface="Calibri"/>
              <a:cs typeface="Calibri"/>
              <a:sym typeface="Calibri"/>
            </a:endParaRPr>
          </a:p>
        </p:txBody>
      </p:sp>
      <p:sp>
        <p:nvSpPr>
          <p:cNvPr id="665" name="Google Shape;665;p4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 Bottjer et al. (1984); Doupe (1997)</a:t>
            </a:r>
            <a:endParaRPr sz="1800">
              <a:solidFill>
                <a:schemeClr val="dk1"/>
              </a:solidFill>
              <a:latin typeface="Calibri"/>
              <a:ea typeface="Calibri"/>
              <a:cs typeface="Calibri"/>
              <a:sym typeface="Calibri"/>
            </a:endParaRPr>
          </a:p>
        </p:txBody>
      </p:sp>
      <p:sp>
        <p:nvSpPr>
          <p:cNvPr id="667" name="Google Shape;66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22" name="Google Shape;622;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Recorded midbrain cells are identified by their labeling</a:t>
            </a:r>
            <a:endParaRPr sz="1800">
              <a:solidFill>
                <a:schemeClr val="dk1"/>
              </a:solidFill>
              <a:latin typeface="Calibri"/>
              <a:ea typeface="Calibri"/>
              <a:cs typeface="Calibri"/>
              <a:sym typeface="Calibri"/>
            </a:endParaRPr>
          </a:p>
        </p:txBody>
      </p:sp>
      <p:sp>
        <p:nvSpPr>
          <p:cNvPr id="623" name="Google Shape;623;p4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juxtacellular label</a:t>
            </a:r>
            <a:r>
              <a:rPr b="0" i="0" lang="en-US" sz="1500">
                <a:solidFill>
                  <a:srgbClr val="252E36"/>
                </a:solidFill>
                <a:latin typeface="Arial"/>
                <a:ea typeface="Arial"/>
                <a:cs typeface="Arial"/>
                <a:sym typeface="Arial"/>
              </a:rPr>
              <a:t> is a dye delivered to a single recorded neuron after its spikes have been measured. Gale and Perkel combined this label with immunostaining for tyrosine hydroxylase, an enzyme involved in catecholamine synthesis. Marker-positive cells provide a check on the identity assigned from firing properties.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recordings were made in the substantia nigra pars compacta and the ventral tegmental area, SNc/VTA. Cells that were classified by their spike waveform were then checked against the marker. The fluorescent micrographs carry 20 µm scale bars, so the recorded cell and its tissue can be located together.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waveform classification gives a provisional identity, and the labeled cell confirms or revises it. The combination of recording and staining links a cell's firing pattern to its neurochemical identity, which gives a stronger identification than the waveform alone.</a:t>
            </a:r>
            <a:endParaRPr sz="1800">
              <a:solidFill>
                <a:schemeClr val="dk1"/>
              </a:solidFill>
              <a:latin typeface="Calibri"/>
              <a:ea typeface="Calibri"/>
              <a:cs typeface="Calibri"/>
              <a:sym typeface="Calibri"/>
            </a:endParaRPr>
          </a:p>
        </p:txBody>
      </p:sp>
      <p:pic>
        <p:nvPicPr>
          <p:cNvPr id="626" name="Google Shape;626;p44"/>
          <p:cNvPicPr preferRelativeResize="0"/>
          <p:nvPr/>
        </p:nvPicPr>
        <p:blipFill rotWithShape="1">
          <a:blip r:embed="rId2">
            <a:alphaModFix/>
          </a:blip>
          <a:srcRect b="0" l="0" r="0" t="0"/>
          <a:stretch/>
        </p:blipFill>
        <p:spPr>
          <a:xfrm>
            <a:off x="7660358" y="1280071"/>
            <a:ext cx="2442666" cy="2925961"/>
          </a:xfrm>
          <a:prstGeom prst="rect">
            <a:avLst/>
          </a:prstGeom>
          <a:noFill/>
          <a:ln>
            <a:noFill/>
          </a:ln>
        </p:spPr>
      </p:pic>
      <p:sp>
        <p:nvSpPr>
          <p:cNvPr id="627" name="Google Shape;627;p4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4(A–F). Recorded cell labeling and transmitter-marker staining.</a:t>
            </a:r>
            <a:endParaRPr sz="1800">
              <a:solidFill>
                <a:schemeClr val="dk1"/>
              </a:solidFill>
              <a:latin typeface="Calibri"/>
              <a:ea typeface="Calibri"/>
              <a:cs typeface="Calibri"/>
              <a:sym typeface="Calibri"/>
            </a:endParaRPr>
          </a:p>
        </p:txBody>
      </p:sp>
      <p:pic>
        <p:nvPicPr>
          <p:cNvPr id="628" name="Google Shape;628;p44"/>
          <p:cNvPicPr preferRelativeResize="0"/>
          <p:nvPr/>
        </p:nvPicPr>
        <p:blipFill rotWithShape="1">
          <a:blip r:embed="rId3">
            <a:alphaModFix/>
          </a:blip>
          <a:srcRect b="0" l="0" r="0" t="0"/>
          <a:stretch/>
        </p:blipFill>
        <p:spPr>
          <a:xfrm>
            <a:off x="8085386" y="4754769"/>
            <a:ext cx="1592461" cy="1005765"/>
          </a:xfrm>
          <a:prstGeom prst="rect">
            <a:avLst/>
          </a:prstGeom>
          <a:noFill/>
          <a:ln>
            <a:noFill/>
          </a:ln>
        </p:spPr>
      </p:pic>
      <p:sp>
        <p:nvSpPr>
          <p:cNvPr id="629" name="Google Shape;629;p4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630" name="Google Shape;630;p4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Gale &amp; Perkel (2010a)</a:t>
            </a:r>
            <a:endParaRPr sz="1800">
              <a:solidFill>
                <a:schemeClr val="dk1"/>
              </a:solidFill>
              <a:latin typeface="Calibri"/>
              <a:ea typeface="Calibri"/>
              <a:cs typeface="Calibri"/>
              <a:sym typeface="Calibri"/>
            </a:endParaRPr>
          </a:p>
        </p:txBody>
      </p:sp>
      <p:sp>
        <p:nvSpPr>
          <p:cNvPr id="632" name="Google Shape;632;p4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44a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77" name="Google Shape;577;p41"/>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Playback trials compare self-song with control sounds</a:t>
            </a:r>
            <a:endParaRPr sz="1800">
              <a:solidFill>
                <a:schemeClr val="dk1"/>
              </a:solidFill>
              <a:latin typeface="Calibri"/>
              <a:ea typeface="Calibri"/>
              <a:cs typeface="Calibri"/>
              <a:sym typeface="Calibri"/>
            </a:endParaRPr>
          </a:p>
        </p:txBody>
      </p:sp>
      <p:pic>
        <p:nvPicPr>
          <p:cNvPr id="581" name="Google Shape;581;p41"/>
          <p:cNvPicPr preferRelativeResize="0"/>
          <p:nvPr/>
        </p:nvPicPr>
        <p:blipFill rotWithShape="1">
          <a:blip r:embed="rId2">
            <a:alphaModFix/>
          </a:blip>
          <a:srcRect b="0" l="0" r="0" t="0"/>
          <a:stretch/>
        </p:blipFill>
        <p:spPr>
          <a:xfrm>
            <a:off x="2762994" y="1280211"/>
            <a:ext cx="1094184" cy="2925681"/>
          </a:xfrm>
          <a:prstGeom prst="rect">
            <a:avLst/>
          </a:prstGeom>
          <a:noFill/>
          <a:ln>
            <a:noFill/>
          </a:ln>
        </p:spPr>
      </p:pic>
      <p:sp>
        <p:nvSpPr>
          <p:cNvPr id="582" name="Google Shape;582;p41"/>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64717D"/>
              </a:buClr>
              <a:buSzPts val="1000"/>
              <a:buFont typeface="Arial"/>
              <a:buNone/>
            </a:pPr>
            <a:r>
              <a:rPr b="0" i="0" lang="en-US" sz="1400">
                <a:solidFill>
                  <a:srgbClr val="64717D"/>
                </a:solidFill>
                <a:latin typeface="Arial"/>
                <a:ea typeface="Arial"/>
                <a:cs typeface="Arial"/>
                <a:sym typeface="Arial"/>
              </a:rPr>
              <a:t>A </a:t>
            </a:r>
            <a:r>
              <a:rPr b="1" i="0" lang="en-US" sz="1400">
                <a:solidFill>
                  <a:srgbClr val="405D72"/>
                </a:solidFill>
                <a:latin typeface="Arial"/>
                <a:ea typeface="Arial"/>
                <a:cs typeface="Arial"/>
                <a:sym typeface="Arial"/>
              </a:rPr>
              <a:t>playback</a:t>
            </a:r>
            <a:r>
              <a:rPr b="0" i="0" lang="en-US" sz="1400">
                <a:solidFill>
                  <a:srgbClr val="64717D"/>
                </a:solidFill>
                <a:latin typeface="Arial"/>
                <a:ea typeface="Arial"/>
                <a:cs typeface="Arial"/>
                <a:sym typeface="Arial"/>
              </a:rPr>
              <a:t> experiment presents a recorded sound to an animal while its neural responses are recorded. Doupe played the bird's own song and comparison sounds while recording LMAN spikes in anesthetized adult zebra finches. The responses to each stimulus were compared trial by trial.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64717D"/>
              </a:buClr>
              <a:buSzPts val="1000"/>
              <a:buFont typeface="Arial"/>
              <a:buNone/>
            </a:pPr>
            <a:r>
              <a:rPr b="0" i="0" lang="en-US" sz="1400">
                <a:solidFill>
                  <a:srgbClr val="64717D"/>
                </a:solidFill>
                <a:latin typeface="Arial"/>
                <a:ea typeface="Arial"/>
                <a:cs typeface="Arial"/>
                <a:sym typeface="Arial"/>
              </a:rPr>
              <a:t>Many neurons responded strongly to the bird's own song but weakly to other conspecific songs and simple sounds. Amplitude-modulated noise and tones served as controls that match the sound energy of the songs. A response that was only a generic reaction to loudness would appear with these controls as well.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64717D"/>
              </a:buClr>
              <a:buSzPts val="1000"/>
              <a:buFont typeface="Arial"/>
              <a:buNone/>
            </a:pPr>
            <a:r>
              <a:rPr b="0" i="0" lang="en-US" sz="1400">
                <a:solidFill>
                  <a:srgbClr val="64717D"/>
                </a:solidFill>
                <a:latin typeface="Arial"/>
                <a:ea typeface="Arial"/>
                <a:cs typeface="Arial"/>
                <a:sym typeface="Arial"/>
              </a:rPr>
              <a:t>The selective response therefore links an anterior forebrain nucleus to the acoustic structure of the bird's own learned song. The effect was measured under anesthesia during playback, so it describes the sensory response of the neurons rather than their behavior during singing. The selective response is a property of the neurons, not of the playback sound alone.</a:t>
            </a:r>
            <a:endParaRPr sz="1800">
              <a:solidFill>
                <a:schemeClr val="dk1"/>
              </a:solidFill>
              <a:latin typeface="Calibri"/>
              <a:ea typeface="Calibri"/>
              <a:cs typeface="Calibri"/>
              <a:sym typeface="Calibri"/>
            </a:endParaRPr>
          </a:p>
        </p:txBody>
      </p:sp>
      <p:pic>
        <p:nvPicPr>
          <p:cNvPr id="583" name="Google Shape;583;p41"/>
          <p:cNvPicPr preferRelativeResize="0"/>
          <p:nvPr/>
        </p:nvPicPr>
        <p:blipFill rotWithShape="1">
          <a:blip r:embed="rId3">
            <a:alphaModFix/>
          </a:blip>
          <a:srcRect b="0" l="0" r="0" t="0"/>
          <a:stretch/>
        </p:blipFill>
        <p:spPr>
          <a:xfrm>
            <a:off x="2513856" y="4754769"/>
            <a:ext cx="1592461" cy="1005765"/>
          </a:xfrm>
          <a:prstGeom prst="rect">
            <a:avLst/>
          </a:prstGeom>
          <a:noFill/>
          <a:ln>
            <a:noFill/>
          </a:ln>
        </p:spPr>
      </p:pic>
      <p:sp>
        <p:nvSpPr>
          <p:cNvPr id="584" name="Google Shape;584;p41"/>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Gale &amp; Perkel (2010a), Fig. 1(A). Area X, DLM, LMAN, and midbrain connections.</a:t>
            </a:r>
            <a:endParaRPr sz="1800">
              <a:solidFill>
                <a:schemeClr val="dk1"/>
              </a:solidFill>
              <a:latin typeface="Calibri"/>
              <a:ea typeface="Calibri"/>
              <a:cs typeface="Calibri"/>
              <a:sym typeface="Calibri"/>
            </a:endParaRPr>
          </a:p>
        </p:txBody>
      </p:sp>
      <p:sp>
        <p:nvSpPr>
          <p:cNvPr id="585" name="Google Shape;585;p4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Doupe (1997)</a:t>
            </a:r>
            <a:endParaRPr sz="1800">
              <a:solidFill>
                <a:schemeClr val="dk1"/>
              </a:solidFill>
              <a:latin typeface="Calibri"/>
              <a:ea typeface="Calibri"/>
              <a:cs typeface="Calibri"/>
              <a:sym typeface="Calibri"/>
            </a:endParaRPr>
          </a:p>
        </p:txBody>
      </p:sp>
      <p:sp>
        <p:nvSpPr>
          <p:cNvPr id="587" name="Google Shape;587;p4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41a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49" name="Google Shape;549;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Tracers show LMAN output to Area X and RA</a:t>
            </a:r>
            <a:endParaRPr sz="1800">
              <a:solidFill>
                <a:schemeClr val="dk1"/>
              </a:solidFill>
              <a:latin typeface="Calibri"/>
              <a:ea typeface="Calibri"/>
              <a:cs typeface="Calibri"/>
              <a:sym typeface="Calibri"/>
            </a:endParaRPr>
          </a:p>
        </p:txBody>
      </p:sp>
      <p:sp>
        <p:nvSpPr>
          <p:cNvPr id="550" name="Google Shape;550;p39"/>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retrograde tracer</a:t>
            </a:r>
            <a:r>
              <a:rPr b="0" i="0" lang="en-US" sz="1500">
                <a:solidFill>
                  <a:srgbClr val="252E36"/>
                </a:solidFill>
                <a:latin typeface="Arial"/>
                <a:ea typeface="Arial"/>
                <a:cs typeface="Arial"/>
                <a:sym typeface="Arial"/>
              </a:rPr>
              <a:t> labels neurons that project toward an injection site, whereas an </a:t>
            </a:r>
            <a:r>
              <a:rPr b="1" i="0" lang="en-US" sz="1500">
                <a:solidFill>
                  <a:srgbClr val="405D72"/>
                </a:solidFill>
                <a:latin typeface="Arial"/>
                <a:ea typeface="Arial"/>
                <a:cs typeface="Arial"/>
                <a:sym typeface="Arial"/>
              </a:rPr>
              <a:t>anterograde tracer</a:t>
            </a:r>
            <a:r>
              <a:rPr b="0" i="0" lang="en-US" sz="1500">
                <a:solidFill>
                  <a:srgbClr val="252E36"/>
                </a:solidFill>
                <a:latin typeface="Arial"/>
                <a:ea typeface="Arial"/>
                <a:cs typeface="Arial"/>
                <a:sym typeface="Arial"/>
              </a:rPr>
              <a:t> labels the axons and terminals that leave a site. Vates and Nottebohm used both kinds of tracer to map connections between song nuclei. The two directions together show which cells send a projection and where it ends.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Injections associated with Area X and RA labeled neurons and terminal fields in LMAN. These findings supported an output route from LMAN to both the basal ganglia region and the motor nucleus. The circuit therefore extends beyond the one-way chain from HVC to the vocal organ.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Projections in both directions make the song circuit more interconnected than a single chain. A forebrain nucleus can send information to the motor pathway as well as to the basal ganglia, which shapes how the song system can be studied as a network.</a:t>
            </a:r>
            <a:endParaRPr sz="1800">
              <a:solidFill>
                <a:schemeClr val="dk1"/>
              </a:solidFill>
              <a:latin typeface="Calibri"/>
              <a:ea typeface="Calibri"/>
              <a:cs typeface="Calibri"/>
              <a:sym typeface="Calibri"/>
            </a:endParaRPr>
          </a:p>
        </p:txBody>
      </p:sp>
      <p:pic>
        <p:nvPicPr>
          <p:cNvPr id="553" name="Google Shape;553;p39"/>
          <p:cNvPicPr preferRelativeResize="0"/>
          <p:nvPr/>
        </p:nvPicPr>
        <p:blipFill rotWithShape="1">
          <a:blip r:embed="rId2">
            <a:alphaModFix/>
          </a:blip>
          <a:srcRect b="0" l="0" r="0" t="0"/>
          <a:stretch/>
        </p:blipFill>
        <p:spPr>
          <a:xfrm>
            <a:off x="567017" y="1280071"/>
            <a:ext cx="5120468" cy="4242792"/>
          </a:xfrm>
          <a:prstGeom prst="rect">
            <a:avLst/>
          </a:prstGeom>
          <a:noFill/>
          <a:ln>
            <a:noFill/>
          </a:ln>
        </p:spPr>
      </p:pic>
      <p:sp>
        <p:nvSpPr>
          <p:cNvPr id="554" name="Google Shape;554;p39"/>
          <p:cNvSpPr/>
          <p:nvPr/>
        </p:nvSpPr>
        <p:spPr>
          <a:xfrm>
            <a:off x="566886" y="5614392"/>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Vates &amp; Nottebohm (1995), Fig. 3(a–e). Tracer labeling linking LMAN, Area X, and RA.</a:t>
            </a:r>
            <a:endParaRPr sz="1800">
              <a:solidFill>
                <a:schemeClr val="dk1"/>
              </a:solidFill>
              <a:latin typeface="Calibri"/>
              <a:ea typeface="Calibri"/>
              <a:cs typeface="Calibri"/>
              <a:sym typeface="Calibri"/>
            </a:endParaRPr>
          </a:p>
        </p:txBody>
      </p:sp>
      <p:sp>
        <p:nvSpPr>
          <p:cNvPr id="555" name="Google Shape;555;p3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Vates &amp; Nottebohm (1995)</a:t>
            </a:r>
            <a:endParaRPr sz="1800">
              <a:solidFill>
                <a:schemeClr val="dk1"/>
              </a:solidFill>
              <a:latin typeface="Calibri"/>
              <a:ea typeface="Calibri"/>
              <a:cs typeface="Calibri"/>
              <a:sym typeface="Calibri"/>
            </a:endParaRPr>
          </a:p>
        </p:txBody>
      </p:sp>
      <p:sp>
        <p:nvSpPr>
          <p:cNvPr id="557" name="Google Shape;557;p3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39a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08" name="Google Shape;50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Stage comparisons separate intrinsic and synaptic change</a:t>
            </a:r>
            <a:endParaRPr sz="1800">
              <a:solidFill>
                <a:schemeClr val="dk1"/>
              </a:solidFill>
              <a:latin typeface="Calibri"/>
              <a:ea typeface="Calibri"/>
              <a:cs typeface="Calibri"/>
              <a:sym typeface="Calibri"/>
            </a:endParaRPr>
          </a:p>
        </p:txBody>
      </p:sp>
      <p:sp>
        <p:nvSpPr>
          <p:cNvPr id="509" name="Google Shape;509;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1" i="0" lang="en-US" sz="1500">
                <a:solidFill>
                  <a:srgbClr val="405D72"/>
                </a:solidFill>
                <a:latin typeface="Arial"/>
                <a:ea typeface="Arial"/>
                <a:cs typeface="Arial"/>
                <a:sym typeface="Arial"/>
              </a:rPr>
              <a:t>Input-to-firing gain</a:t>
            </a:r>
            <a:r>
              <a:rPr b="0" i="0" lang="en-US" sz="1500">
                <a:solidFill>
                  <a:srgbClr val="252E36"/>
                </a:solidFill>
                <a:latin typeface="Arial"/>
                <a:ea typeface="Arial"/>
                <a:cs typeface="Arial"/>
                <a:sym typeface="Arial"/>
              </a:rPr>
              <a:t> is the change in output firing for a given increase in input current. Garst-Orozco and colleagues measured this gain in RA neurons across subsong, plastic-song and adult stages. The gain and spike-frequency adaptation were broadly similar across these groups.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Zemel and colleagues instead tested younger 20-day birds and isolated sodium-current components. They reported a pronounced maturation of resurgent current and spike properties over the same developmental period. The two studies used different ages and different measurements, so their results address different questions.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Firing responses that look stable across one age range do not contradict an earlier change in a specific ion current. Intrinsic change can be visible in one measure and absent in another, so the developmental account depends on which property is measured. The comparison across studies depends on which property each study measured.</a:t>
            </a:r>
            <a:endParaRPr sz="1800">
              <a:solidFill>
                <a:schemeClr val="dk1"/>
              </a:solidFill>
              <a:latin typeface="Calibri"/>
              <a:ea typeface="Calibri"/>
              <a:cs typeface="Calibri"/>
              <a:sym typeface="Calibri"/>
            </a:endParaRPr>
          </a:p>
        </p:txBody>
      </p:sp>
      <p:pic>
        <p:nvPicPr>
          <p:cNvPr id="512" name="Google Shape;512;p36"/>
          <p:cNvPicPr preferRelativeResize="0"/>
          <p:nvPr/>
        </p:nvPicPr>
        <p:blipFill rotWithShape="1">
          <a:blip r:embed="rId2">
            <a:alphaModFix/>
          </a:blip>
          <a:srcRect b="0" l="0" r="0" t="0"/>
          <a:stretch/>
        </p:blipFill>
        <p:spPr>
          <a:xfrm>
            <a:off x="7441036" y="1280071"/>
            <a:ext cx="2881310" cy="2925961"/>
          </a:xfrm>
          <a:prstGeom prst="rect">
            <a:avLst/>
          </a:prstGeom>
          <a:noFill/>
          <a:ln>
            <a:noFill/>
          </a:ln>
        </p:spPr>
      </p:pic>
      <p:sp>
        <p:nvSpPr>
          <p:cNvPr id="513" name="Google Shape;513;p36"/>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5(A–F). RA firing responses across developmental stages.</a:t>
            </a:r>
            <a:endParaRPr sz="1800">
              <a:solidFill>
                <a:schemeClr val="dk1"/>
              </a:solidFill>
              <a:latin typeface="Calibri"/>
              <a:ea typeface="Calibri"/>
              <a:cs typeface="Calibri"/>
              <a:sym typeface="Calibri"/>
            </a:endParaRPr>
          </a:p>
        </p:txBody>
      </p:sp>
      <p:pic>
        <p:nvPicPr>
          <p:cNvPr id="514" name="Google Shape;514;p36"/>
          <p:cNvPicPr preferRelativeResize="0"/>
          <p:nvPr/>
        </p:nvPicPr>
        <p:blipFill rotWithShape="1">
          <a:blip r:embed="rId3">
            <a:alphaModFix/>
          </a:blip>
          <a:srcRect b="0" l="0" r="0" t="0"/>
          <a:stretch/>
        </p:blipFill>
        <p:spPr>
          <a:xfrm>
            <a:off x="8076040" y="4754761"/>
            <a:ext cx="1611301" cy="1005780"/>
          </a:xfrm>
          <a:prstGeom prst="rect">
            <a:avLst/>
          </a:prstGeom>
          <a:noFill/>
          <a:ln>
            <a:noFill/>
          </a:ln>
        </p:spPr>
      </p:pic>
      <p:sp>
        <p:nvSpPr>
          <p:cNvPr id="515" name="Google Shape;515;p36"/>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516" name="Google Shape;516;p3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518" name="Google Shape;518;p3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36a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63" name="Google Shape;463;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Stronger HVC synapses increase during development</a:t>
            </a:r>
            <a:endParaRPr sz="1800">
              <a:solidFill>
                <a:schemeClr val="dk1"/>
              </a:solidFill>
              <a:latin typeface="Calibri"/>
              <a:ea typeface="Calibri"/>
              <a:cs typeface="Calibri"/>
              <a:sym typeface="Calibri"/>
            </a:endParaRPr>
          </a:p>
        </p:txBody>
      </p:sp>
      <p:sp>
        <p:nvSpPr>
          <p:cNvPr id="464" name="Google Shape;464;p33"/>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single-fiber response</a:t>
            </a:r>
            <a:r>
              <a:rPr b="0" i="0" lang="en-US" sz="1500">
                <a:solidFill>
                  <a:srgbClr val="252E36"/>
                </a:solidFill>
                <a:latin typeface="Arial"/>
                <a:ea typeface="Arial"/>
                <a:cs typeface="Arial"/>
                <a:sym typeface="Arial"/>
              </a:rPr>
              <a:t> is a current evoked by activating one input fiber at a time. Garst-Orozco and colleagues used weak stimulation to isolate these responses on RA neurons. Stronger stimulation was used to recruit the full population of inputs, so the two measures can be compared.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Median single-fiber HVC currents rose from about 23 pA in subsong birds to about 60 pA in adults. The estimated number of recruited inputs first increased and then declined. The synapses therefore grew stronger while the number of active inputs was refined.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This pattern describes refinement rather than a uniform increase in every aspect of connectivity. The strengthening of individual HVC inputs can change how RA converts HVC activity into motor output over the course of development. Each measurement is kept separate so that connection strength is not confused with input number.</a:t>
            </a:r>
            <a:endParaRPr sz="1800">
              <a:solidFill>
                <a:schemeClr val="dk1"/>
              </a:solidFill>
              <a:latin typeface="Calibri"/>
              <a:ea typeface="Calibri"/>
              <a:cs typeface="Calibri"/>
              <a:sym typeface="Calibri"/>
            </a:endParaRPr>
          </a:p>
        </p:txBody>
      </p:sp>
      <p:pic>
        <p:nvPicPr>
          <p:cNvPr id="467" name="Google Shape;467;p33"/>
          <p:cNvPicPr preferRelativeResize="0"/>
          <p:nvPr/>
        </p:nvPicPr>
        <p:blipFill rotWithShape="1">
          <a:blip r:embed="rId2">
            <a:alphaModFix/>
          </a:blip>
          <a:srcRect b="0" l="0" r="0" t="0"/>
          <a:stretch/>
        </p:blipFill>
        <p:spPr>
          <a:xfrm>
            <a:off x="2163585" y="1280071"/>
            <a:ext cx="2293151" cy="2925961"/>
          </a:xfrm>
          <a:prstGeom prst="rect">
            <a:avLst/>
          </a:prstGeom>
          <a:noFill/>
          <a:ln>
            <a:noFill/>
          </a:ln>
        </p:spPr>
      </p:pic>
      <p:sp>
        <p:nvSpPr>
          <p:cNvPr id="468" name="Google Shape;468;p33"/>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3(A–G). HVC input strengthening and refinement.</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3">
            <a:alphaModFix/>
          </a:blip>
          <a:srcRect b="0" l="0" r="0" t="0"/>
          <a:stretch/>
        </p:blipFill>
        <p:spPr>
          <a:xfrm>
            <a:off x="2504510" y="4754761"/>
            <a:ext cx="1611301" cy="1005780"/>
          </a:xfrm>
          <a:prstGeom prst="rect">
            <a:avLst/>
          </a:prstGeom>
          <a:noFill/>
          <a:ln>
            <a:noFill/>
          </a:ln>
        </p:spPr>
      </p:pic>
      <p:sp>
        <p:nvSpPr>
          <p:cNvPr id="470" name="Google Shape;470;p33"/>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Garst-Orozco et al. (2014), Fig. 1(C). HVC, LMAN, and RA in the published pathway map.</a:t>
            </a:r>
            <a:endParaRPr sz="1800">
              <a:solidFill>
                <a:schemeClr val="dk1"/>
              </a:solidFill>
              <a:latin typeface="Calibri"/>
              <a:ea typeface="Calibri"/>
              <a:cs typeface="Calibri"/>
              <a:sym typeface="Calibri"/>
            </a:endParaRPr>
          </a:p>
        </p:txBody>
      </p:sp>
      <p:sp>
        <p:nvSpPr>
          <p:cNvPr id="471" name="Google Shape;471;p33"/>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Garst-Orozco et al. (2014)</a:t>
            </a:r>
            <a:endParaRPr sz="1800">
              <a:solidFill>
                <a:schemeClr val="dk1"/>
              </a:solidFill>
              <a:latin typeface="Calibri"/>
              <a:ea typeface="Calibri"/>
              <a:cs typeface="Calibri"/>
              <a:sym typeface="Calibri"/>
            </a:endParaRPr>
          </a:p>
        </p:txBody>
      </p:sp>
      <p:sp>
        <p:nvSpPr>
          <p:cNvPr id="473" name="Google Shape;473;p3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33a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D1-like and D2-like agonists act differently on RA</a:t>
            </a:r>
            <a:endParaRPr sz="1800">
              <a:solidFill>
                <a:schemeClr val="dk1"/>
              </a:solidFill>
              <a:latin typeface="Calibri"/>
              <a:ea typeface="Calibri"/>
              <a:cs typeface="Calibri"/>
              <a:sym typeface="Calibri"/>
            </a:endParaRPr>
          </a:p>
        </p:txBody>
      </p:sp>
      <p:sp>
        <p:nvSpPr>
          <p:cNvPr id="436" name="Google Shape;436;p31"/>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D1-like receptor</a:t>
            </a:r>
            <a:r>
              <a:rPr b="0" i="0" lang="en-US" sz="1500">
                <a:solidFill>
                  <a:srgbClr val="252E36"/>
                </a:solidFill>
                <a:latin typeface="Arial"/>
                <a:ea typeface="Arial"/>
                <a:cs typeface="Arial"/>
                <a:sym typeface="Arial"/>
              </a:rPr>
              <a:t> and a </a:t>
            </a:r>
            <a:r>
              <a:rPr b="1" i="0" lang="en-US" sz="1500">
                <a:solidFill>
                  <a:srgbClr val="405D72"/>
                </a:solidFill>
                <a:latin typeface="Arial"/>
                <a:ea typeface="Arial"/>
                <a:cs typeface="Arial"/>
                <a:sym typeface="Arial"/>
              </a:rPr>
              <a:t>D2-like receptor</a:t>
            </a:r>
            <a:r>
              <a:rPr b="0" i="0" lang="en-US" sz="1500">
                <a:solidFill>
                  <a:srgbClr val="252E36"/>
                </a:solidFill>
                <a:latin typeface="Arial"/>
                <a:ea typeface="Arial"/>
                <a:cs typeface="Arial"/>
                <a:sym typeface="Arial"/>
              </a:rPr>
              <a:t> are two classes of dopamine receptor that act through different signaling pathways. Liao and colleagues compared the effect of a D1-like agonist with that of a D2-like agonist on RA neurons. The two drugs were tested on the same kind of cell. Each agonist was tested under the same recording conditions.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The D2-like agonist quinpirole did not reproduce the strong increase in excitability produced by dopamine. The D1-like agonist did produce a comparable increase. The two agonists therefore produced different effects in the same preparation.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The receptor class determines whether dopamine excites RA neurons. The result constrains how dopamine acts on the motor nucleus, because a single transmitter can produce different responses through different receptors. The receptor comparison uses the D1-like result as its reference.</a:t>
            </a:r>
            <a:endParaRPr sz="1800">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2">
            <a:alphaModFix/>
          </a:blip>
          <a:srcRect b="0" l="0" r="0" t="0"/>
          <a:stretch/>
        </p:blipFill>
        <p:spPr>
          <a:xfrm>
            <a:off x="1692824" y="1280071"/>
            <a:ext cx="3234525" cy="2925961"/>
          </a:xfrm>
          <a:prstGeom prst="rect">
            <a:avLst/>
          </a:prstGeom>
          <a:noFill/>
          <a:ln>
            <a:noFill/>
          </a:ln>
        </p:spPr>
      </p:pic>
      <p:sp>
        <p:nvSpPr>
          <p:cNvPr id="440" name="Google Shape;440;p31"/>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5(A–D). D2-like agonist measurements in RA neurons.</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3">
            <a:alphaModFix/>
          </a:blip>
          <a:srcRect b="0" l="0" r="0" t="0"/>
          <a:stretch/>
        </p:blipFill>
        <p:spPr>
          <a:xfrm>
            <a:off x="2668339" y="4754762"/>
            <a:ext cx="1283494" cy="1005779"/>
          </a:xfrm>
          <a:prstGeom prst="rect">
            <a:avLst/>
          </a:prstGeom>
          <a:noFill/>
          <a:ln>
            <a:noFill/>
          </a:ln>
        </p:spPr>
      </p:pic>
      <p:sp>
        <p:nvSpPr>
          <p:cNvPr id="442" name="Google Shape;442;p31"/>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443" name="Google Shape;443;p31"/>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a:t>
            </a:r>
            <a:endParaRPr sz="1800">
              <a:solidFill>
                <a:schemeClr val="dk1"/>
              </a:solidFill>
              <a:latin typeface="Calibri"/>
              <a:ea typeface="Calibri"/>
              <a:cs typeface="Calibri"/>
              <a:sym typeface="Calibri"/>
            </a:endParaRPr>
          </a:p>
        </p:txBody>
      </p:sp>
      <p:sp>
        <p:nvSpPr>
          <p:cNvPr id="445" name="Google Shape;445;p3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31a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90" name="Google Shape;39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Dopamine raises RA neuronal firing reversibly</a:t>
            </a:r>
            <a:endParaRPr sz="1800">
              <a:solidFill>
                <a:schemeClr val="dk1"/>
              </a:solidFill>
              <a:latin typeface="Calibri"/>
              <a:ea typeface="Calibri"/>
              <a:cs typeface="Calibri"/>
              <a:sym typeface="Calibri"/>
            </a:endParaRPr>
          </a:p>
        </p:txBody>
      </p:sp>
      <p:sp>
        <p:nvSpPr>
          <p:cNvPr id="391" name="Google Shape;391;p2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500"/>
              <a:buFont typeface="Arial"/>
              <a:buNone/>
            </a:pPr>
            <a:r>
              <a:rPr b="1" i="0" lang="en-US" sz="1500">
                <a:solidFill>
                  <a:srgbClr val="405D72"/>
                </a:solidFill>
                <a:latin typeface="Arial"/>
                <a:ea typeface="Arial"/>
                <a:cs typeface="Arial"/>
                <a:sym typeface="Arial"/>
              </a:rPr>
              <a:t>Dopamine</a:t>
            </a:r>
            <a:r>
              <a:rPr b="0" i="0" lang="en-US" sz="1500">
                <a:solidFill>
                  <a:srgbClr val="252E36"/>
                </a:solidFill>
                <a:latin typeface="Arial"/>
                <a:ea typeface="Arial"/>
                <a:cs typeface="Arial"/>
                <a:sym typeface="Arial"/>
              </a:rPr>
              <a:t> is a neuromodulator that changes the excitability of neurons through receptor signaling. Liao and colleagues applied dopamine to adult RA projection neurons while controlling the injected current. The same cell was recorded before, during and after the drug.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500"/>
              <a:buFont typeface="Arial"/>
              <a:buNone/>
            </a:pPr>
            <a:r>
              <a:rPr b="0" i="0" lang="en-US" sz="1500">
                <a:solidFill>
                  <a:srgbClr val="252E36"/>
                </a:solidFill>
                <a:latin typeface="Arial"/>
                <a:ea typeface="Arial"/>
                <a:cs typeface="Arial"/>
                <a:sym typeface="Arial"/>
              </a:rPr>
              <a:t>Firing rose during the dopamine application and returned toward baseline after the wash. The membrane potential also shifted toward a less negative value. The reversal within each cell shows that the effect came from the drug rather than from a difference between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500"/>
              <a:buFont typeface="Arial"/>
              <a:buNone/>
            </a:pPr>
            <a:r>
              <a:rPr b="0" i="0" lang="en-US" sz="1500">
                <a:solidFill>
                  <a:srgbClr val="252E36"/>
                </a:solidFill>
                <a:latin typeface="Arial"/>
                <a:ea typeface="Arial"/>
                <a:cs typeface="Arial"/>
                <a:sym typeface="Arial"/>
              </a:rPr>
              <a:t>The depolarization makes RA neurons closer to firing for the same input. This change in excitability is a candidate mechanism for how dopamine alters the output of the motor nucleus during song-related activity. The effect is therefore a property of the cells in this preparation.</a:t>
            </a:r>
            <a:endParaRPr sz="1800">
              <a:solidFill>
                <a:schemeClr val="dk1"/>
              </a:solidFill>
              <a:latin typeface="Calibri"/>
              <a:ea typeface="Calibri"/>
              <a:cs typeface="Calibri"/>
              <a:sym typeface="Calibri"/>
            </a:endParaRPr>
          </a:p>
        </p:txBody>
      </p:sp>
      <p:pic>
        <p:nvPicPr>
          <p:cNvPr id="394" name="Google Shape;394;p28"/>
          <p:cNvPicPr preferRelativeResize="0"/>
          <p:nvPr/>
        </p:nvPicPr>
        <p:blipFill rotWithShape="1">
          <a:blip r:embed="rId2">
            <a:alphaModFix/>
          </a:blip>
          <a:srcRect b="0" l="0" r="0" t="0"/>
          <a:stretch/>
        </p:blipFill>
        <p:spPr>
          <a:xfrm>
            <a:off x="7308589" y="1280071"/>
            <a:ext cx="3146353" cy="2925961"/>
          </a:xfrm>
          <a:prstGeom prst="rect">
            <a:avLst/>
          </a:prstGeom>
          <a:noFill/>
          <a:ln>
            <a:noFill/>
          </a:ln>
        </p:spPr>
      </p:pic>
      <p:sp>
        <p:nvSpPr>
          <p:cNvPr id="395" name="Google Shape;395;p28"/>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Liao et al. (2013), Fig. 1(A–D). Reversible dopamine effects on RA firing and voltage.</a:t>
            </a:r>
            <a:endParaRPr sz="18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3">
            <a:alphaModFix/>
          </a:blip>
          <a:srcRect b="0" l="0" r="0" t="0"/>
          <a:stretch/>
        </p:blipFill>
        <p:spPr>
          <a:xfrm>
            <a:off x="8239869" y="4754762"/>
            <a:ext cx="1283494" cy="1005779"/>
          </a:xfrm>
          <a:prstGeom prst="rect">
            <a:avLst/>
          </a:prstGeom>
          <a:noFill/>
          <a:ln>
            <a:noFill/>
          </a:ln>
        </p:spPr>
      </p:pic>
      <p:sp>
        <p:nvSpPr>
          <p:cNvPr id="397" name="Google Shape;397;p28"/>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98" name="Google Shape;398;p28"/>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Liao et al. (2013)</a:t>
            </a:r>
            <a:endParaRPr sz="1800">
              <a:solidFill>
                <a:schemeClr val="dk1"/>
              </a:solidFill>
              <a:latin typeface="Calibri"/>
              <a:ea typeface="Calibri"/>
              <a:cs typeface="Calibri"/>
              <a:sym typeface="Calibri"/>
            </a:endParaRPr>
          </a:p>
        </p:txBody>
      </p:sp>
      <p:sp>
        <p:nvSpPr>
          <p:cNvPr id="400" name="Google Shape;400;p2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28a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45" name="Google Shape;345;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Apamin changes spike timing without changing mean rate</a:t>
            </a:r>
            <a:endParaRPr sz="1800">
              <a:solidFill>
                <a:schemeClr val="dk1"/>
              </a:solidFill>
              <a:latin typeface="Calibri"/>
              <a:ea typeface="Calibri"/>
              <a:cs typeface="Calibri"/>
              <a:sym typeface="Calibri"/>
            </a:endParaRPr>
          </a:p>
        </p:txBody>
      </p:sp>
      <p:sp>
        <p:nvSpPr>
          <p:cNvPr id="346" name="Google Shape;346;p25"/>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Apamin</a:t>
            </a:r>
            <a:r>
              <a:rPr b="0" i="0" lang="en-US" sz="1500">
                <a:solidFill>
                  <a:srgbClr val="252E36"/>
                </a:solidFill>
                <a:latin typeface="Arial"/>
                <a:ea typeface="Arial"/>
                <a:cs typeface="Arial"/>
                <a:sym typeface="Arial"/>
              </a:rPr>
              <a:t> is a toxin that blocks SK channels, which are calcium-activated potassium channels. Hou and colleagues applied it to RA projection neurons and recorded their spontaneous spikes before and after the drug. The same cells were compared in both conditions.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The interval between successive spikes became more variable after apamin. The average firing rate changed little, so the regularity of the spike train changed independently of its speed. A neuron can therefore fire at the same rate with more or less reproducible timing.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SK channels help set the timing of spikes by shaping the return toward threshold after each action potential. Blocking them makes the spike train less regular, which shows that timing precision is a separate property from firing rate. Each spike train is compared with itself before and after the drug.</a:t>
            </a:r>
            <a:endParaRPr sz="1800">
              <a:solidFill>
                <a:schemeClr val="dk1"/>
              </a:solidFill>
              <a:latin typeface="Calibri"/>
              <a:ea typeface="Calibri"/>
              <a:cs typeface="Calibri"/>
              <a:sym typeface="Calibri"/>
            </a:endParaRPr>
          </a:p>
        </p:txBody>
      </p:sp>
      <p:pic>
        <p:nvPicPr>
          <p:cNvPr id="349" name="Google Shape;349;p25"/>
          <p:cNvPicPr preferRelativeResize="0"/>
          <p:nvPr/>
        </p:nvPicPr>
        <p:blipFill rotWithShape="1">
          <a:blip r:embed="rId2">
            <a:alphaModFix/>
          </a:blip>
          <a:srcRect b="0" l="0" r="0" t="0"/>
          <a:stretch/>
        </p:blipFill>
        <p:spPr>
          <a:xfrm>
            <a:off x="2089870" y="1280071"/>
            <a:ext cx="2440283" cy="2925961"/>
          </a:xfrm>
          <a:prstGeom prst="rect">
            <a:avLst/>
          </a:prstGeom>
          <a:noFill/>
          <a:ln>
            <a:noFill/>
          </a:ln>
        </p:spPr>
      </p:pic>
      <p:sp>
        <p:nvSpPr>
          <p:cNvPr id="350" name="Google Shape;350;p25"/>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Hou et al. (2012), Fig. 2(A–E). Spontaneous spike timing before and after apamin.</a:t>
            </a:r>
            <a:endParaRPr sz="1800">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3">
            <a:alphaModFix/>
          </a:blip>
          <a:srcRect b="0" l="0" r="0" t="0"/>
          <a:stretch/>
        </p:blipFill>
        <p:spPr>
          <a:xfrm>
            <a:off x="2668339" y="4754762"/>
            <a:ext cx="1283494" cy="1005779"/>
          </a:xfrm>
          <a:prstGeom prst="rect">
            <a:avLst/>
          </a:prstGeom>
          <a:noFill/>
          <a:ln>
            <a:noFill/>
          </a:ln>
        </p:spPr>
      </p:pic>
      <p:sp>
        <p:nvSpPr>
          <p:cNvPr id="352" name="Google Shape;352;p25"/>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53" name="Google Shape;353;p25"/>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Hou et al. (2012)</a:t>
            </a:r>
            <a:endParaRPr sz="1800">
              <a:solidFill>
                <a:schemeClr val="dk1"/>
              </a:solidFill>
              <a:latin typeface="Calibri"/>
              <a:ea typeface="Calibri"/>
              <a:cs typeface="Calibri"/>
              <a:sym typeface="Calibri"/>
            </a:endParaRPr>
          </a:p>
        </p:txBody>
      </p:sp>
      <p:sp>
        <p:nvSpPr>
          <p:cNvPr id="355" name="Google Shape;355;p2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25a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Dynamic clamp moves resurgent current into real neurons</a:t>
            </a:r>
            <a:endParaRPr sz="1800">
              <a:solidFill>
                <a:schemeClr val="dk1"/>
              </a:solidFill>
              <a:latin typeface="Calibri"/>
              <a:ea typeface="Calibri"/>
              <a:cs typeface="Calibri"/>
              <a:sym typeface="Calibri"/>
            </a:endParaRPr>
          </a:p>
        </p:txBody>
      </p:sp>
      <p:sp>
        <p:nvSpPr>
          <p:cNvPr id="303" name="Google Shape;303;p2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Dynamic clamp</a:t>
            </a:r>
            <a:r>
              <a:rPr b="0" i="0" lang="en-US" sz="1500">
                <a:solidFill>
                  <a:srgbClr val="252E36"/>
                </a:solidFill>
                <a:latin typeface="Arial"/>
                <a:ea typeface="Arial"/>
                <a:cs typeface="Arial"/>
                <a:sym typeface="Arial"/>
              </a:rPr>
              <a:t> is a recording method that calculates a current from the membrane voltage in real time and injects it into a neuron. Zemel and colleagues used it to add a resurgent-current component to juvenile RA neurons. The same method subtracted a corresponding component from adult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Adding the component increased the firing frequency of juvenile neurons. Subtracting it reduced the firing of adult neurons. Because the same cell was tested with the intervention off and on, the immediate effect of the current could be separated from differences between cells of different ages.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This manipulation tests whether resurgent current contributes to firing, rather than only correlating with it. The injected conductance was calibrated against the measured sodium-current kinetics, so the added current matches the one recorded in the cells. Each manipulation is tested on the same cell before and after the intervention.</a:t>
            </a:r>
            <a:endParaRPr sz="1800">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2">
            <a:alphaModFix/>
          </a:blip>
          <a:srcRect b="0" l="0" r="0" t="0"/>
          <a:stretch/>
        </p:blipFill>
        <p:spPr>
          <a:xfrm>
            <a:off x="7858338" y="1280071"/>
            <a:ext cx="2046853" cy="2925961"/>
          </a:xfrm>
          <a:prstGeom prst="rect">
            <a:avLst/>
          </a:prstGeom>
          <a:noFill/>
          <a:ln>
            <a:noFill/>
          </a:ln>
        </p:spPr>
      </p:pic>
      <p:pic>
        <p:nvPicPr>
          <p:cNvPr id="308" name="Google Shape;308;p22"/>
          <p:cNvPicPr preferRelativeResize="0"/>
          <p:nvPr/>
        </p:nvPicPr>
        <p:blipFill rotWithShape="1">
          <a:blip r:embed="rId3">
            <a:alphaModFix/>
          </a:blip>
          <a:srcRect b="0" l="0" r="0" t="0"/>
          <a:stretch/>
        </p:blipFill>
        <p:spPr>
          <a:xfrm>
            <a:off x="8239869" y="4754762"/>
            <a:ext cx="1283494" cy="1005779"/>
          </a:xfrm>
          <a:prstGeom prst="rect">
            <a:avLst/>
          </a:prstGeom>
          <a:noFill/>
          <a:ln>
            <a:noFill/>
          </a:ln>
        </p:spPr>
      </p:pic>
      <p:sp>
        <p:nvSpPr>
          <p:cNvPr id="309" name="Google Shape;309;p22"/>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312" name="Google Shape;312;p2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22a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9" name="Google Shape;259;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Resurgent current rises with age in males</a:t>
            </a:r>
            <a:endParaRPr sz="1800">
              <a:solidFill>
                <a:schemeClr val="dk1"/>
              </a:solidFill>
              <a:latin typeface="Calibri"/>
              <a:ea typeface="Calibri"/>
              <a:cs typeface="Calibri"/>
              <a:sym typeface="Calibri"/>
            </a:endParaRPr>
          </a:p>
        </p:txBody>
      </p:sp>
      <p:sp>
        <p:nvSpPr>
          <p:cNvPr id="260" name="Google Shape;260;p19"/>
          <p:cNvSpPr/>
          <p:nvPr/>
        </p:nvSpPr>
        <p:spPr>
          <a:xfrm>
            <a:off x="6420000" y="1234440"/>
            <a:ext cx="530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resurgent sodium current</a:t>
            </a:r>
            <a:r>
              <a:rPr b="0" i="0" lang="en-US" sz="1500">
                <a:solidFill>
                  <a:srgbClr val="252E36"/>
                </a:solidFill>
                <a:latin typeface="Arial"/>
                <a:ea typeface="Arial"/>
                <a:cs typeface="Arial"/>
                <a:sym typeface="Arial"/>
              </a:rPr>
              <a:t> is a current that reappears as the membrane repolarizes after a strong depolarization. Zemel and colleagues measured it alongside the transient sodium current in the same RA neurons. Comparing the two currents within one sweep separates the resurgent component from the overall sodium current.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recordings covered birds at 20, 35 and 50 days after hatching and adult males. Resurgent current increased with age, including after normalization to the transient current. The result shows that the increase is specific to the resurgent component rather than a general rise in all sodium current.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The developmental change therefore follows the maturation of the neuron's sodium channels. Because the current grows over the same period as song development, it is a candidate contributor to the faster firing of mature motor neurons. The developmental result is therefore a measurement of the current itself.</a:t>
            </a:r>
            <a:endParaRPr sz="1800">
              <a:solidFill>
                <a:schemeClr val="dk1"/>
              </a:solidFill>
              <a:latin typeface="Calibri"/>
              <a:ea typeface="Calibri"/>
              <a:cs typeface="Calibri"/>
              <a:sym typeface="Calibri"/>
            </a:endParaRPr>
          </a:p>
        </p:txBody>
      </p:sp>
      <p:pic>
        <p:nvPicPr>
          <p:cNvPr id="263" name="Google Shape;263;p19"/>
          <p:cNvPicPr preferRelativeResize="0"/>
          <p:nvPr/>
        </p:nvPicPr>
        <p:blipFill rotWithShape="1">
          <a:blip r:embed="rId2">
            <a:alphaModFix/>
          </a:blip>
          <a:srcRect b="0" l="0" r="0" t="0"/>
          <a:stretch/>
        </p:blipFill>
        <p:spPr>
          <a:xfrm>
            <a:off x="2160739" y="1280071"/>
            <a:ext cx="2298843" cy="2925961"/>
          </a:xfrm>
          <a:prstGeom prst="rect">
            <a:avLst/>
          </a:prstGeom>
          <a:noFill/>
          <a:ln>
            <a:noFill/>
          </a:ln>
        </p:spPr>
      </p:pic>
      <p:sp>
        <p:nvSpPr>
          <p:cNvPr id="264" name="Google Shape;264;p19"/>
          <p:cNvSpPr/>
          <p:nvPr/>
        </p:nvSpPr>
        <p:spPr>
          <a:xfrm>
            <a:off x="56688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4(a–f). Developmental increase of resurgent current.</a:t>
            </a:r>
            <a:endParaRPr sz="1800">
              <a:solidFill>
                <a:schemeClr val="dk1"/>
              </a:solidFill>
              <a:latin typeface="Calibri"/>
              <a:ea typeface="Calibri"/>
              <a:cs typeface="Calibri"/>
              <a:sym typeface="Calibri"/>
            </a:endParaRPr>
          </a:p>
        </p:txBody>
      </p:sp>
      <p:pic>
        <p:nvPicPr>
          <p:cNvPr id="265" name="Google Shape;265;p19"/>
          <p:cNvPicPr preferRelativeResize="0"/>
          <p:nvPr/>
        </p:nvPicPr>
        <p:blipFill rotWithShape="1">
          <a:blip r:embed="rId3">
            <a:alphaModFix/>
          </a:blip>
          <a:srcRect b="0" l="0" r="0" t="0"/>
          <a:stretch/>
        </p:blipFill>
        <p:spPr>
          <a:xfrm>
            <a:off x="2668339" y="4754762"/>
            <a:ext cx="1283494" cy="1005779"/>
          </a:xfrm>
          <a:prstGeom prst="rect">
            <a:avLst/>
          </a:prstGeom>
          <a:noFill/>
          <a:ln>
            <a:noFill/>
          </a:ln>
        </p:spPr>
      </p:pic>
      <p:sp>
        <p:nvSpPr>
          <p:cNvPr id="266" name="Google Shape;266;p19"/>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 upper). RA and brainstem targets in the vocal motor pathway.</a:t>
            </a:r>
            <a:endParaRPr sz="1800">
              <a:solidFill>
                <a:schemeClr val="dk1"/>
              </a:solidFill>
              <a:latin typeface="Calibri"/>
              <a:ea typeface="Calibri"/>
              <a:cs typeface="Calibri"/>
              <a:sym typeface="Calibri"/>
            </a:endParaRPr>
          </a:p>
        </p:txBody>
      </p:sp>
      <p:sp>
        <p:nvSpPr>
          <p:cNvPr id="267" name="Google Shape;267;p19"/>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69" name="Google Shape;269;p1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19a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20" name="Google Shape;22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Temperature sets the width and rate of RA spikes</a:t>
            </a:r>
            <a:endParaRPr sz="1800">
              <a:solidFill>
                <a:schemeClr val="dk1"/>
              </a:solidFill>
              <a:latin typeface="Calibri"/>
              <a:ea typeface="Calibri"/>
              <a:cs typeface="Calibri"/>
              <a:sym typeface="Calibri"/>
            </a:endParaRPr>
          </a:p>
        </p:txBody>
      </p:sp>
      <p:sp>
        <p:nvSpPr>
          <p:cNvPr id="221" name="Google Shape;221;p1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1" i="0" lang="en-US" sz="1500">
                <a:solidFill>
                  <a:srgbClr val="405D72"/>
                </a:solidFill>
                <a:latin typeface="Arial"/>
                <a:ea typeface="Arial"/>
                <a:cs typeface="Arial"/>
                <a:sym typeface="Arial"/>
              </a:rPr>
              <a:t>Spike half-width</a:t>
            </a:r>
            <a:r>
              <a:rPr b="0" i="0" lang="en-US" sz="1500">
                <a:solidFill>
                  <a:srgbClr val="252E36"/>
                </a:solidFill>
                <a:latin typeface="Arial"/>
                <a:ea typeface="Arial"/>
                <a:cs typeface="Arial"/>
                <a:sym typeface="Arial"/>
              </a:rPr>
              <a:t> is the duration of an action potential measured at half its peak height. Zemel and colleagues measured this value in identified RA projection neurons at about 40 °C, close to the body temperature of the bird. The spikes were very brief, with a half-width near 0.18 ms. The temperature of the recording is part of the measurement, so the value applies to warm slices.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The same neurons fired about fourfold faster at this temperature than at room temperature. Depolarizing current evoked sustained trains of rapid spikes, so the neurons had the capacity to fire quickly when driven. The comparison across temperatures is what makes the spike width meaningful.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Temperature therefore changes the speed of the motor neuron's output. Spike width and firing rate both depend on conditions, so the same cell can have a different timing profile in a warm slice and in a cool one. Each recording therefore reflects the temperature at which it was made.</a:t>
            </a:r>
            <a:endParaRPr sz="1800">
              <a:solidFill>
                <a:schemeClr val="dk1"/>
              </a:solidFill>
              <a:latin typeface="Calibri"/>
              <a:ea typeface="Calibri"/>
              <a:cs typeface="Calibri"/>
              <a:sym typeface="Calibri"/>
            </a:endParaRPr>
          </a:p>
        </p:txBody>
      </p:sp>
      <p:pic>
        <p:nvPicPr>
          <p:cNvPr id="224" name="Google Shape;224;p16"/>
          <p:cNvPicPr preferRelativeResize="0"/>
          <p:nvPr/>
        </p:nvPicPr>
        <p:blipFill rotWithShape="1">
          <a:blip r:embed="rId2">
            <a:alphaModFix/>
          </a:blip>
          <a:srcRect b="0" l="0" r="0" t="0"/>
          <a:stretch/>
        </p:blipFill>
        <p:spPr>
          <a:xfrm>
            <a:off x="6504414" y="1280071"/>
            <a:ext cx="5120373" cy="3174355"/>
          </a:xfrm>
          <a:prstGeom prst="rect">
            <a:avLst/>
          </a:prstGeom>
          <a:noFill/>
          <a:ln>
            <a:noFill/>
          </a:ln>
        </p:spPr>
      </p:pic>
      <p:sp>
        <p:nvSpPr>
          <p:cNvPr id="225" name="Google Shape;225;p16"/>
          <p:cNvSpPr/>
          <p:nvPr/>
        </p:nvSpPr>
        <p:spPr>
          <a:xfrm>
            <a:off x="6504236" y="4545955"/>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Zemel et al. (2021), Fig. 1(a–k). RA motor anatomy and temperature-dependent spikes.</a:t>
            </a:r>
            <a:endParaRPr sz="1800">
              <a:solidFill>
                <a:schemeClr val="dk1"/>
              </a:solidFill>
              <a:latin typeface="Calibri"/>
              <a:ea typeface="Calibri"/>
              <a:cs typeface="Calibri"/>
              <a:sym typeface="Calibri"/>
            </a:endParaRPr>
          </a:p>
        </p:txBody>
      </p:sp>
      <p:sp>
        <p:nvSpPr>
          <p:cNvPr id="226" name="Google Shape;226;p1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Zemel et al. (2021)</a:t>
            </a:r>
            <a:endParaRPr sz="1800">
              <a:solidFill>
                <a:schemeClr val="dk1"/>
              </a:solidFill>
              <a:latin typeface="Calibri"/>
              <a:ea typeface="Calibri"/>
              <a:cs typeface="Calibri"/>
              <a:sym typeface="Calibri"/>
            </a:endParaRPr>
          </a:p>
        </p:txBody>
      </p:sp>
      <p:sp>
        <p:nvSpPr>
          <p:cNvPr id="228" name="Google Shape;228;p1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16a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0" name="Google Shape;14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Local axons vary within the RA-projecting population</a:t>
            </a:r>
            <a:endParaRPr sz="1800">
              <a:solidFill>
                <a:schemeClr val="dk1"/>
              </a:solidFill>
              <a:latin typeface="Calibri"/>
              <a:ea typeface="Calibri"/>
              <a:cs typeface="Calibri"/>
              <a:sym typeface="Calibri"/>
            </a:endParaRPr>
          </a:p>
        </p:txBody>
      </p:sp>
      <p:sp>
        <p:nvSpPr>
          <p:cNvPr id="141" name="Google Shape;141;p1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A </a:t>
            </a:r>
            <a:r>
              <a:rPr b="1" i="0" lang="en-US" sz="1500">
                <a:solidFill>
                  <a:srgbClr val="405D72"/>
                </a:solidFill>
                <a:latin typeface="Arial"/>
                <a:ea typeface="Arial"/>
                <a:cs typeface="Arial"/>
                <a:sym typeface="Arial"/>
              </a:rPr>
              <a:t>local axon collateral</a:t>
            </a:r>
            <a:r>
              <a:rPr b="0" i="0" lang="en-US" sz="1500">
                <a:solidFill>
                  <a:srgbClr val="252E36"/>
                </a:solidFill>
                <a:latin typeface="Arial"/>
                <a:ea typeface="Arial"/>
                <a:cs typeface="Arial"/>
                <a:sym typeface="Arial"/>
              </a:rPr>
              <a:t> is a branch that stays within the same nucleus as its parent cell. Benezra and colleagues measured these branches in HVC(RA) neurons, which send their long axons to RA. The branches show how much each cell contacts the tissue around it.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Some HVC(RA) neurons kept most of their local branches close to the cell body. Others spread their branches across a larger part of HVC. Both patterns appeared among cells that share the same long-range target, so the target alone does not fix the local arbor.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600"/>
              <a:buFont typeface="Arial"/>
              <a:buNone/>
            </a:pPr>
            <a:r>
              <a:rPr b="0" i="0" lang="en-US" sz="1500">
                <a:solidFill>
                  <a:srgbClr val="252E36"/>
                </a:solidFill>
                <a:latin typeface="Arial"/>
                <a:ea typeface="Arial"/>
                <a:cs typeface="Arial"/>
                <a:sym typeface="Arial"/>
              </a:rPr>
              <a:t>Local branches therefore give each RA-projecting cell its own position in the HVC network. A neuron with broad local branches can influence more of the surrounding tissue before its signal reaches RA. The branching pattern of each cell is therefore recorded as an individual property.</a:t>
            </a:r>
            <a:endParaRPr sz="1800">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2">
            <a:alphaModFix/>
          </a:blip>
          <a:srcRect b="0" l="0" r="0" t="0"/>
          <a:stretch/>
        </p:blipFill>
        <p:spPr>
          <a:xfrm>
            <a:off x="7464384" y="1280071"/>
            <a:ext cx="3200432" cy="4297561"/>
          </a:xfrm>
          <a:prstGeom prst="rect">
            <a:avLst/>
          </a:prstGeom>
          <a:noFill/>
          <a:ln>
            <a:noFill/>
          </a:ln>
        </p:spPr>
      </p:pic>
      <p:sp>
        <p:nvSpPr>
          <p:cNvPr id="145" name="Google Shape;145;p10"/>
          <p:cNvSpPr/>
          <p:nvPr/>
        </p:nvSpPr>
        <p:spPr>
          <a:xfrm>
            <a:off x="650423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6. Local axons of RA-projecting HVC neurons.</a:t>
            </a:r>
            <a:endParaRPr sz="1800">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148" name="Google Shape;148;p1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10a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8" name="Google Shape;88;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Single-cell filling reveals complete local arbors</a:t>
            </a:r>
            <a:endParaRPr sz="1800">
              <a:solidFill>
                <a:schemeClr val="dk1"/>
              </a:solidFill>
              <a:latin typeface="Calibri"/>
              <a:ea typeface="Calibri"/>
              <a:cs typeface="Calibri"/>
              <a:sym typeface="Calibri"/>
            </a:endParaRPr>
          </a:p>
        </p:txBody>
      </p:sp>
      <p:sp>
        <p:nvSpPr>
          <p:cNvPr id="89" name="Google Shape;89;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405D72"/>
              </a:buClr>
              <a:buSzPts val="1600"/>
              <a:buFont typeface="Arial"/>
              <a:buNone/>
            </a:pPr>
            <a:r>
              <a:rPr b="1" i="0" lang="en-US" sz="1500">
                <a:solidFill>
                  <a:srgbClr val="405D72"/>
                </a:solidFill>
                <a:latin typeface="Arial"/>
                <a:ea typeface="Arial"/>
                <a:cs typeface="Arial"/>
                <a:sym typeface="Arial"/>
              </a:rPr>
              <a:t>Single-cell filling</a:t>
            </a:r>
            <a:r>
              <a:rPr b="0" i="0" lang="en-US" sz="1500">
                <a:solidFill>
                  <a:srgbClr val="252E36"/>
                </a:solidFill>
                <a:latin typeface="Arial"/>
                <a:ea typeface="Arial"/>
                <a:cs typeface="Arial"/>
                <a:sym typeface="Arial"/>
              </a:rPr>
              <a:t> labels one neuron completely so that its dendrites and axons can be traced in full. Benezra and colleagues filled identified HVC neurons after labeling them through their output targets. A filled cell therefore carries both its anatomy and the target that defines it.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Two-photon imaging resolved the fine branches of these cells inside living tissue. The reconstructions were then built from serial sections, so each arbor could be followed across the boundaries of the slices. The complete branching pattern is visible only when a single cell is isolated from its neighbors.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405D72"/>
              </a:buClr>
              <a:buSzPts val="1600"/>
              <a:buFont typeface="Arial"/>
              <a:buNone/>
            </a:pPr>
            <a:r>
              <a:rPr b="0" i="0" lang="en-US" sz="1500">
                <a:solidFill>
                  <a:srgbClr val="252E36"/>
                </a:solidFill>
                <a:latin typeface="Arial"/>
                <a:ea typeface="Arial"/>
                <a:cs typeface="Arial"/>
                <a:sym typeface="Arial"/>
              </a:rPr>
              <a:t>A single reconstructed neuron can therefore be compared with the population of neurons that share its target. The filled cell links a projection identity to a measurable shape. Its branches tell the reader where that neuron's information can travel within HVC.</a:t>
            </a:r>
            <a:endParaRPr sz="1800">
              <a:solidFill>
                <a:schemeClr val="dk1"/>
              </a:solidFill>
              <a:latin typeface="Calibri"/>
              <a:ea typeface="Calibri"/>
              <a:cs typeface="Calibri"/>
              <a:sym typeface="Calibri"/>
            </a:endParaRPr>
          </a:p>
        </p:txBody>
      </p:sp>
      <p:pic>
        <p:nvPicPr>
          <p:cNvPr id="92" name="Google Shape;92;p6"/>
          <p:cNvPicPr preferRelativeResize="0"/>
          <p:nvPr/>
        </p:nvPicPr>
        <p:blipFill rotWithShape="1">
          <a:blip r:embed="rId2">
            <a:alphaModFix/>
          </a:blip>
          <a:srcRect b="0" l="0" r="0" t="0"/>
          <a:stretch/>
        </p:blipFill>
        <p:spPr>
          <a:xfrm>
            <a:off x="7297447" y="1280071"/>
            <a:ext cx="3534306" cy="4297561"/>
          </a:xfrm>
          <a:prstGeom prst="rect">
            <a:avLst/>
          </a:prstGeom>
          <a:noFill/>
          <a:ln>
            <a:noFill/>
          </a:ln>
        </p:spPr>
      </p:pic>
      <p:sp>
        <p:nvSpPr>
          <p:cNvPr id="93" name="Google Shape;93;p6"/>
          <p:cNvSpPr/>
          <p:nvPr/>
        </p:nvSpPr>
        <p:spPr>
          <a:xfrm>
            <a:off x="6504236" y="566916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1(a–f). Targeted labeling and single-cell filling in HVC.</a:t>
            </a:r>
            <a:endParaRPr sz="1800">
              <a:solidFill>
                <a:schemeClr val="dk1"/>
              </a:solidFill>
              <a:latin typeface="Calibri"/>
              <a:ea typeface="Calibri"/>
              <a:cs typeface="Calibri"/>
              <a:sym typeface="Calibri"/>
            </a:endParaRPr>
          </a:p>
        </p:txBody>
      </p:sp>
      <p:sp>
        <p:nvSpPr>
          <p:cNvPr id="94" name="Google Shape;94;p6"/>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Benezra et al. (2018)</a:t>
            </a:r>
            <a:endParaRPr sz="1800">
              <a:solidFill>
                <a:schemeClr val="dk1"/>
              </a:solidFill>
              <a:latin typeface="Calibri"/>
              <a:ea typeface="Calibri"/>
              <a:cs typeface="Calibri"/>
              <a:sym typeface="Calibri"/>
            </a:endParaRPr>
          </a:p>
        </p:txBody>
      </p:sp>
      <p:sp>
        <p:nvSpPr>
          <p:cNvPr id="96" name="Google Shape;96;p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06a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0" name="Google Shape;60;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05D72"/>
              </a:buClr>
              <a:buSzPts val="3000"/>
              <a:buFont typeface="Arial"/>
              <a:buNone/>
            </a:pPr>
            <a:r>
              <a:rPr b="1" i="0" lang="en-US" sz="3000">
                <a:solidFill>
                  <a:srgbClr val="405D72"/>
                </a:solidFill>
                <a:latin typeface="Arial"/>
                <a:ea typeface="Arial"/>
                <a:cs typeface="Arial"/>
                <a:sym typeface="Arial"/>
              </a:rPr>
              <a:t>Fink–Heimer staining marks downstream terminals</a:t>
            </a:r>
            <a:endParaRPr sz="1800">
              <a:solidFill>
                <a:schemeClr val="dk1"/>
              </a:solidFill>
              <a:latin typeface="Calibri"/>
              <a:ea typeface="Calibri"/>
              <a:cs typeface="Calibri"/>
              <a:sym typeface="Calibri"/>
            </a:endParaRPr>
          </a:p>
        </p:txBody>
      </p:sp>
      <p:sp>
        <p:nvSpPr>
          <p:cNvPr id="61" name="Google Shape;61;p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2E36"/>
              </a:buClr>
              <a:buSzPts val="1500"/>
              <a:buFont typeface="Arial"/>
              <a:buNone/>
            </a:pPr>
            <a:r>
              <a:rPr b="1" i="0" lang="en-US" sz="1500">
                <a:solidFill>
                  <a:srgbClr val="405D72"/>
                </a:solidFill>
                <a:latin typeface="Arial"/>
                <a:ea typeface="Arial"/>
                <a:cs typeface="Arial"/>
                <a:sym typeface="Arial"/>
              </a:rPr>
              <a:t>Fink–Heimer staining</a:t>
            </a:r>
            <a:r>
              <a:rPr b="0" i="0" lang="en-US" sz="1500">
                <a:solidFill>
                  <a:srgbClr val="252E36"/>
                </a:solidFill>
                <a:latin typeface="Arial"/>
                <a:ea typeface="Arial"/>
                <a:cs typeface="Arial"/>
                <a:sym typeface="Arial"/>
              </a:rPr>
              <a:t> reveals degenerating fibers and terminals after a neuron is damaged. Because the stain marks only the processes that lost their cell body, it shows where a lesioned population sends its axons. Nottebohm and colleagues used this stain to follow the output of song nuclei in adult canaries.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After lesions of the region historically called HVc, degenerating fibers were found in RA. Degeneration in RA then pointed toward descending pathways that reach vocal motor structures in the brainstem. Each labeled tract starts at a known lesion and ends at a known target.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2E36"/>
              </a:buClr>
              <a:buSzPts val="1500"/>
              <a:buFont typeface="Arial"/>
              <a:buNone/>
            </a:pPr>
            <a:r>
              <a:rPr b="0" i="0" lang="en-US" sz="1500">
                <a:solidFill>
                  <a:srgbClr val="252E36"/>
                </a:solidFill>
                <a:latin typeface="Arial"/>
                <a:ea typeface="Arial"/>
                <a:cs typeface="Arial"/>
                <a:sym typeface="Arial"/>
              </a:rPr>
              <a:t>The anatomy therefore supplies a direction for the song pathway, independent of any change in the song itself. A lesion that disrupts song and a lesion that produces degeneration in RA point to the same chain of nuclei, which makes the pathway easier to trace. Each stained tract can be followed back to a lesioned population.</a:t>
            </a:r>
            <a:endParaRPr sz="1800">
              <a:solidFill>
                <a:schemeClr val="dk1"/>
              </a:solidFill>
              <a:latin typeface="Calibri"/>
              <a:ea typeface="Calibri"/>
              <a:cs typeface="Calibri"/>
              <a:sym typeface="Calibri"/>
            </a:endParaRPr>
          </a:p>
        </p:txBody>
      </p:sp>
      <p:pic>
        <p:nvPicPr>
          <p:cNvPr id="64" name="Google Shape;64;p4"/>
          <p:cNvPicPr preferRelativeResize="0"/>
          <p:nvPr/>
        </p:nvPicPr>
        <p:blipFill rotWithShape="1">
          <a:blip r:embed="rId2">
            <a:alphaModFix/>
          </a:blip>
          <a:srcRect b="0" l="0" r="0" t="0"/>
          <a:stretch/>
        </p:blipFill>
        <p:spPr>
          <a:xfrm>
            <a:off x="7500370" y="1280071"/>
            <a:ext cx="2762641" cy="2925961"/>
          </a:xfrm>
          <a:prstGeom prst="rect">
            <a:avLst/>
          </a:prstGeom>
          <a:noFill/>
          <a:ln>
            <a:noFill/>
          </a:ln>
        </p:spPr>
      </p:pic>
      <p:sp>
        <p:nvSpPr>
          <p:cNvPr id="65" name="Google Shape;65;p4"/>
          <p:cNvSpPr/>
          <p:nvPr/>
        </p:nvSpPr>
        <p:spPr>
          <a:xfrm>
            <a:off x="6138416" y="4297561"/>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Nottebohm et al. (1976), Fig. 7(a–d). Degeneration staining in the canary song pathway.</a:t>
            </a:r>
            <a:endParaRPr sz="1800">
              <a:solidFill>
                <a:schemeClr val="dk1"/>
              </a:solidFill>
              <a:latin typeface="Calibri"/>
              <a:ea typeface="Calibri"/>
              <a:cs typeface="Calibri"/>
              <a:sym typeface="Calibri"/>
            </a:endParaRPr>
          </a:p>
        </p:txBody>
      </p:sp>
      <p:pic>
        <p:nvPicPr>
          <p:cNvPr id="66" name="Google Shape;66;p4"/>
          <p:cNvPicPr preferRelativeResize="0"/>
          <p:nvPr/>
        </p:nvPicPr>
        <p:blipFill rotWithShape="1">
          <a:blip r:embed="rId3">
            <a:alphaModFix/>
          </a:blip>
          <a:srcRect b="0" l="0" r="0" t="0"/>
          <a:stretch/>
        </p:blipFill>
        <p:spPr>
          <a:xfrm>
            <a:off x="8415040" y="4754794"/>
            <a:ext cx="933152" cy="1005714"/>
          </a:xfrm>
          <a:prstGeom prst="rect">
            <a:avLst/>
          </a:prstGeom>
          <a:noFill/>
          <a:ln>
            <a:noFill/>
          </a:ln>
        </p:spPr>
      </p:pic>
      <p:sp>
        <p:nvSpPr>
          <p:cNvPr id="67" name="Google Shape;67;p4"/>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1000"/>
              <a:buFont typeface="Arial"/>
              <a:buNone/>
            </a:pPr>
            <a:r>
              <a:rPr b="0" i="0" lang="en-US" sz="1000">
                <a:solidFill>
                  <a:srgbClr val="64717D"/>
                </a:solidFill>
                <a:latin typeface="Arial"/>
                <a:ea typeface="Arial"/>
                <a:cs typeface="Arial"/>
                <a:sym typeface="Arial"/>
              </a:rPr>
              <a:t>Benezra et al. (2018), Fig. 2(a–f). Identified RA- and X-projecting HVC neurons.</a:t>
            </a:r>
            <a:endParaRPr sz="1800">
              <a:solidFill>
                <a:schemeClr val="dk1"/>
              </a:solidFill>
              <a:latin typeface="Calibri"/>
              <a:ea typeface="Calibri"/>
              <a:cs typeface="Calibri"/>
              <a:sym typeface="Calibri"/>
            </a:endParaRPr>
          </a:p>
        </p:txBody>
      </p:sp>
      <p:sp>
        <p:nvSpPr>
          <p:cNvPr id="68" name="Google Shape;68;p4"/>
          <p:cNvSpPr/>
          <p:nvPr/>
        </p:nvSpPr>
        <p:spPr>
          <a:xfrm>
            <a:off x="566886" y="6382494"/>
            <a:ext cx="11058079" cy="9079"/>
          </a:xfrm>
          <a:prstGeom prst="rect">
            <a:avLst/>
          </a:prstGeom>
          <a:solidFill>
            <a:srgbClr val="CDD8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Nottebohm et al. (1976)</a:t>
            </a:r>
            <a:endParaRPr sz="1800">
              <a:solidFill>
                <a:schemeClr val="dk1"/>
              </a:solidFill>
              <a:latin typeface="Calibri"/>
              <a:ea typeface="Calibri"/>
              <a:cs typeface="Calibri"/>
              <a:sym typeface="Calibri"/>
            </a:endParaRPr>
          </a:p>
        </p:txBody>
      </p:sp>
      <p:sp>
        <p:nvSpPr>
          <p:cNvPr id="70" name="Google Shape;70;p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4717D"/>
              </a:buClr>
              <a:buSzPts val="900"/>
              <a:buFont typeface="Arial"/>
              <a:buNone/>
            </a:pPr>
            <a:r>
              <a:rPr b="0" i="0" lang="en-US" sz="900">
                <a:solidFill>
                  <a:srgbClr val="64717D"/>
                </a:solidFill>
                <a:latin typeface="Arial"/>
                <a:ea typeface="Arial"/>
                <a:cs typeface="Arial"/>
                <a:sym typeface="Arial"/>
              </a:rPr>
              <a:t>04a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2026-10-08T23:29:58.991Z</dcterms:created>
  <dc:creator>Presenton</dc:creator>
</cp:coreProperties>
</file>