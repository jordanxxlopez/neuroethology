
<file path=[Content_Types].xml><?xml version="1.0" encoding="utf-8"?>
<Types xmlns="http://schemas.openxmlformats.org/package/2006/content-types">
  <Default Extension="png" ContentType="image/png"/>
  <Default Extension="rels" ContentType="application/vnd.openxmlformats-package.relationships+xml"/>
  <Default Extension="xml" ContentType="application/xml"/>
  <Override PartName="/docProps/core.xml" ContentType="application/vnd.openxmlformats-package.core-properties+xml"/>
  <Override PartName="/ppt/metadata" ContentType="application/binary"/>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package/2006/relationships/metadata/core-properties" Target="docProps/core.xml"/><Relationship Id="rId2"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48" r:id="rId4"/>
  </p:sldMasterIdLst>
  <p:notesMasterIdLst>
    <p:notesMasterId r:id="rId5"/>
  </p:notesMasterIdLst>
  <p:sldIdLst>
    <p:sldId id="256" r:id="rId6"/>
    <p:sldId id="257" r:id="rId7"/>
    <p:sldId id="258" r:id="rId8"/>
    <p:sldId id="315" r:id="rId66"/>
    <p:sldId id="259" r:id="rId9"/>
    <p:sldId id="260" r:id="rId10"/>
    <p:sldId id="314" r:id="rId65"/>
    <p:sldId id="261" r:id="rId11"/>
    <p:sldId id="262" r:id="rId12"/>
    <p:sldId id="263" r:id="rId13"/>
    <p:sldId id="313" r:id="rId64"/>
    <p:sldId id="264" r:id="rId14"/>
    <p:sldId id="265" r:id="rId15"/>
    <p:sldId id="266" r:id="rId16"/>
    <p:sldId id="312" r:id="rId63"/>
    <p:sldId id="267" r:id="rId17"/>
    <p:sldId id="268" r:id="rId18"/>
    <p:sldId id="269" r:id="rId19"/>
    <p:sldId id="270" r:id="rId20"/>
    <p:sldId id="311" r:id="rId62"/>
    <p:sldId id="271" r:id="rId21"/>
    <p:sldId id="272" r:id="rId22"/>
    <p:sldId id="273" r:id="rId23"/>
    <p:sldId id="310" r:id="rId61"/>
    <p:sldId id="274" r:id="rId24"/>
    <p:sldId id="275" r:id="rId25"/>
    <p:sldId id="276" r:id="rId26"/>
    <p:sldId id="277" r:id="rId27"/>
    <p:sldId id="309" r:id="rId60"/>
    <p:sldId id="278" r:id="rId28"/>
    <p:sldId id="279" r:id="rId29"/>
    <p:sldId id="280" r:id="rId30"/>
    <p:sldId id="308" r:id="rId59"/>
    <p:sldId id="281" r:id="rId31"/>
    <p:sldId id="282" r:id="rId32"/>
    <p:sldId id="283" r:id="rId33"/>
    <p:sldId id="307" r:id="rId58"/>
    <p:sldId id="284" r:id="rId34"/>
    <p:sldId id="285" r:id="rId35"/>
    <p:sldId id="286" r:id="rId36"/>
    <p:sldId id="306" r:id="rId57"/>
    <p:sldId id="287" r:id="rId37"/>
    <p:sldId id="288" r:id="rId38"/>
    <p:sldId id="289" r:id="rId39"/>
    <p:sldId id="305" r:id="rId56"/>
    <p:sldId id="290" r:id="rId40"/>
    <p:sldId id="291" r:id="rId41"/>
    <p:sldId id="292" r:id="rId42"/>
    <p:sldId id="304" r:id="rId55"/>
    <p:sldId id="293" r:id="rId43"/>
    <p:sldId id="294" r:id="rId44"/>
    <p:sldId id="303" r:id="rId54"/>
    <p:sldId id="295" r:id="rId45"/>
    <p:sldId id="296" r:id="rId46"/>
    <p:sldId id="297" r:id="rId47"/>
    <p:sldId id="302" r:id="rId53"/>
    <p:sldId id="298" r:id="rId48"/>
    <p:sldId id="299" r:id="rId49"/>
    <p:sldId id="300" r:id="rId50"/>
    <p:sldId id="301" r:id="rId51"/>
  </p:sldIdLst>
  <p:sldSz cy="6858000" cx="12191675"/>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2160">
          <p15:clr>
            <a:srgbClr val="000000"/>
          </p15:clr>
        </p15:guide>
        <p15:guide id="2" pos="2880">
          <p15:clr>
            <a:srgbClr val="000000"/>
          </p15:clr>
        </p15:guide>
      </p15:sldGuideLst>
    </p:ext>
    <p:ext uri="GoogleSlidesCustomDataVersion2">
      <go:slidesCustomData xmlns:go="http://customooxmlschemas.google.com/" r:id="rId52" roundtripDataSignature="AMtx7mhHhXO7yXaiCEJE356YHIPugOTZMQ=="/>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2160" orient="horz"/>
        <p:guide pos="2880"/>
      </p:guideLst>
    </p:cSldViewPr>
  </p:slideViewPr>
</p:viewPr>
</file>

<file path=ppt/_rels/presentation.xml.rels><?xml version='1.0' encoding='UTF-8' standalone='yes'?>
<Relationships xmlns="http://schemas.openxmlformats.org/package/2006/relationships"><Relationship Id="rId1" Type="http://schemas.openxmlformats.org/officeDocument/2006/relationships/theme" Target="theme/theme1.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slideMaster" Target="slideMasters/slideMaster1.xml"/><Relationship Id="rId5" Type="http://schemas.openxmlformats.org/officeDocument/2006/relationships/notesMaster" Target="notesMasters/notesMaster1.xml"/><Relationship Id="rId6" Type="http://schemas.openxmlformats.org/officeDocument/2006/relationships/slide" Target="slides/slide1.xml"/><Relationship Id="rId7" Type="http://schemas.openxmlformats.org/officeDocument/2006/relationships/slide" Target="slides/slide2.xml"/><Relationship Id="rId8" Type="http://schemas.openxmlformats.org/officeDocument/2006/relationships/slide" Target="slides/slide3.xml"/><Relationship Id="rId9" Type="http://schemas.openxmlformats.org/officeDocument/2006/relationships/slide" Target="slides/slide4.xml"/><Relationship Id="rId10" Type="http://schemas.openxmlformats.org/officeDocument/2006/relationships/slide" Target="slides/slide5.xml"/><Relationship Id="rId11" Type="http://schemas.openxmlformats.org/officeDocument/2006/relationships/slide" Target="slides/slide6.xml"/><Relationship Id="rId12" Type="http://schemas.openxmlformats.org/officeDocument/2006/relationships/slide" Target="slides/slide7.xml"/><Relationship Id="rId13" Type="http://schemas.openxmlformats.org/officeDocument/2006/relationships/slide" Target="slides/slide8.xml"/><Relationship Id="rId14" Type="http://schemas.openxmlformats.org/officeDocument/2006/relationships/slide" Target="slides/slide9.xml"/><Relationship Id="rId15" Type="http://schemas.openxmlformats.org/officeDocument/2006/relationships/slide" Target="slides/slide10.xml"/><Relationship Id="rId16" Type="http://schemas.openxmlformats.org/officeDocument/2006/relationships/slide" Target="slides/slide11.xml"/><Relationship Id="rId17" Type="http://schemas.openxmlformats.org/officeDocument/2006/relationships/slide" Target="slides/slide12.xml"/><Relationship Id="rId18" Type="http://schemas.openxmlformats.org/officeDocument/2006/relationships/slide" Target="slides/slide13.xml"/><Relationship Id="rId19" Type="http://schemas.openxmlformats.org/officeDocument/2006/relationships/slide" Target="slides/slide14.xml"/><Relationship Id="rId20" Type="http://schemas.openxmlformats.org/officeDocument/2006/relationships/slide" Target="slides/slide15.xml"/><Relationship Id="rId21" Type="http://schemas.openxmlformats.org/officeDocument/2006/relationships/slide" Target="slides/slide16.xml"/><Relationship Id="rId22" Type="http://schemas.openxmlformats.org/officeDocument/2006/relationships/slide" Target="slides/slide17.xml"/><Relationship Id="rId23" Type="http://schemas.openxmlformats.org/officeDocument/2006/relationships/slide" Target="slides/slide18.xml"/><Relationship Id="rId24" Type="http://schemas.openxmlformats.org/officeDocument/2006/relationships/slide" Target="slides/slide19.xml"/><Relationship Id="rId25" Type="http://schemas.openxmlformats.org/officeDocument/2006/relationships/slide" Target="slides/slide20.xml"/><Relationship Id="rId26" Type="http://schemas.openxmlformats.org/officeDocument/2006/relationships/slide" Target="slides/slide21.xml"/><Relationship Id="rId27" Type="http://schemas.openxmlformats.org/officeDocument/2006/relationships/slide" Target="slides/slide22.xml"/><Relationship Id="rId28" Type="http://schemas.openxmlformats.org/officeDocument/2006/relationships/slide" Target="slides/slide23.xml"/><Relationship Id="rId29" Type="http://schemas.openxmlformats.org/officeDocument/2006/relationships/slide" Target="slides/slide24.xml"/><Relationship Id="rId30" Type="http://schemas.openxmlformats.org/officeDocument/2006/relationships/slide" Target="slides/slide25.xml"/><Relationship Id="rId31" Type="http://schemas.openxmlformats.org/officeDocument/2006/relationships/slide" Target="slides/slide26.xml"/><Relationship Id="rId32" Type="http://schemas.openxmlformats.org/officeDocument/2006/relationships/slide" Target="slides/slide27.xml"/><Relationship Id="rId33" Type="http://schemas.openxmlformats.org/officeDocument/2006/relationships/slide" Target="slides/slide28.xml"/><Relationship Id="rId34" Type="http://schemas.openxmlformats.org/officeDocument/2006/relationships/slide" Target="slides/slide29.xml"/><Relationship Id="rId35" Type="http://schemas.openxmlformats.org/officeDocument/2006/relationships/slide" Target="slides/slide30.xml"/><Relationship Id="rId36" Type="http://schemas.openxmlformats.org/officeDocument/2006/relationships/slide" Target="slides/slide31.xml"/><Relationship Id="rId37" Type="http://schemas.openxmlformats.org/officeDocument/2006/relationships/slide" Target="slides/slide32.xml"/><Relationship Id="rId38" Type="http://schemas.openxmlformats.org/officeDocument/2006/relationships/slide" Target="slides/slide33.xml"/><Relationship Id="rId39" Type="http://schemas.openxmlformats.org/officeDocument/2006/relationships/slide" Target="slides/slide34.xml"/><Relationship Id="rId40" Type="http://schemas.openxmlformats.org/officeDocument/2006/relationships/slide" Target="slides/slide35.xml"/><Relationship Id="rId41" Type="http://schemas.openxmlformats.org/officeDocument/2006/relationships/slide" Target="slides/slide36.xml"/><Relationship Id="rId42" Type="http://schemas.openxmlformats.org/officeDocument/2006/relationships/slide" Target="slides/slide37.xml"/><Relationship Id="rId43" Type="http://schemas.openxmlformats.org/officeDocument/2006/relationships/slide" Target="slides/slide38.xml"/><Relationship Id="rId44" Type="http://schemas.openxmlformats.org/officeDocument/2006/relationships/slide" Target="slides/slide39.xml"/><Relationship Id="rId45" Type="http://schemas.openxmlformats.org/officeDocument/2006/relationships/slide" Target="slides/slide40.xml"/><Relationship Id="rId46" Type="http://schemas.openxmlformats.org/officeDocument/2006/relationships/slide" Target="slides/slide41.xml"/><Relationship Id="rId47" Type="http://schemas.openxmlformats.org/officeDocument/2006/relationships/slide" Target="slides/slide42.xml"/><Relationship Id="rId48" Type="http://schemas.openxmlformats.org/officeDocument/2006/relationships/slide" Target="slides/slide43.xml"/><Relationship Id="rId49" Type="http://schemas.openxmlformats.org/officeDocument/2006/relationships/slide" Target="slides/slide44.xml"/><Relationship Id="rId50" Type="http://schemas.openxmlformats.org/officeDocument/2006/relationships/slide" Target="slides/slide45.xml"/><Relationship Id="rId51" Type="http://schemas.openxmlformats.org/officeDocument/2006/relationships/slide" Target="slides/slide46.xml"/><Relationship Id="rId52" Type="http://customschemas.google.com/relationships/presentationmetadata" Target="metadata"/><Relationship Id="rId53" Type="http://schemas.openxmlformats.org/officeDocument/2006/relationships/slide" Target="slides/slide47.xml"/><Relationship Id="rId54" Type="http://schemas.openxmlformats.org/officeDocument/2006/relationships/slide" Target="slides/slide48.xml"/><Relationship Id="rId55" Type="http://schemas.openxmlformats.org/officeDocument/2006/relationships/slide" Target="slides/slide49.xml"/><Relationship Id="rId56" Type="http://schemas.openxmlformats.org/officeDocument/2006/relationships/slide" Target="slides/slide50.xml"/><Relationship Id="rId57" Type="http://schemas.openxmlformats.org/officeDocument/2006/relationships/slide" Target="slides/slide51.xml"/><Relationship Id="rId58" Type="http://schemas.openxmlformats.org/officeDocument/2006/relationships/slide" Target="slides/slide52.xml"/><Relationship Id="rId59" Type="http://schemas.openxmlformats.org/officeDocument/2006/relationships/slide" Target="slides/slide53.xml"/><Relationship Id="rId60" Type="http://schemas.openxmlformats.org/officeDocument/2006/relationships/slide" Target="slides/slide54.xml"/><Relationship Id="rId61" Type="http://schemas.openxmlformats.org/officeDocument/2006/relationships/slide" Target="slides/slide55.xml"/><Relationship Id="rId62" Type="http://schemas.openxmlformats.org/officeDocument/2006/relationships/slide" Target="slides/slide56.xml"/><Relationship Id="rId63" Type="http://schemas.openxmlformats.org/officeDocument/2006/relationships/slide" Target="slides/slide57.xml"/><Relationship Id="rId64" Type="http://schemas.openxmlformats.org/officeDocument/2006/relationships/slide" Target="slides/slide58.xml"/><Relationship Id="rId65" Type="http://schemas.openxmlformats.org/officeDocument/2006/relationships/slide" Target="slides/slide59.xml"/><Relationship Id="rId66" Type="http://schemas.openxmlformats.org/officeDocument/2006/relationships/slide" Target="slides/slide60.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1143225" y="685800"/>
            <a:ext cx="457222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7.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9.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80" name="Shape 80"/>
        <p:cNvGrpSpPr/>
        <p:nvPr/>
      </p:nvGrpSpPr>
      <p:grpSpPr>
        <a:xfrm>
          <a:off x="0" y="0"/>
          <a:ext cx="0" cy="0"/>
          <a:chOff x="0" y="0"/>
          <a:chExt cx="0" cy="0"/>
        </a:xfrm>
      </p:grpSpPr>
      <p:sp>
        <p:nvSpPr>
          <p:cNvPr id="81" name="Google Shape;81;p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82" name="Google Shape;82;p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Navigation IV: homing pigeon multimodal navigation</a:t>
            </a:r>
            <a:endParaRPr/>
          </a:p>
          <a:p>
            <a:pPr indent="0" lvl="0" marL="0" rtl="0" algn="l">
              <a:spcBef>
                <a:spcPts val="0"/>
              </a:spcBef>
              <a:spcAft>
                <a:spcPts val="0"/>
              </a:spcAft>
              <a:buNone/>
            </a:pPr>
            <a:r>
              <a:rPr lang="en-US"/>
              <a:t>Lecture 31. NEUR 411 · NEUROETHOLOGY · FALL 2026. Friday, November 6, 2026.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1A. A pigeon wearing the neural and positional recording devices.</a:t>
            </a:r>
            <a:endParaRPr/>
          </a:p>
          <a:p>
            <a:pPr indent="0" lvl="0" marL="0" rtl="0" algn="l">
              <a:spcBef>
                <a:spcPts val="0"/>
              </a:spcBef>
              <a:spcAft>
                <a:spcPts val="0"/>
              </a:spcAft>
              <a:buNone/>
            </a:pPr>
            <a:r>
              <a:rPr lang="en-US"/>
              <a:t>Figure source: https://doi.org/10.1523/JNEUROSCI.0185-25.2025</a:t>
            </a:r>
            <a:endParaRPr/>
          </a:p>
        </p:txBody>
      </p:sp>
      <p:sp>
        <p:nvSpPr>
          <p:cNvPr id="83" name="Google Shape;83;p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93" name="Shape 93"/>
        <p:cNvGrpSpPr/>
        <p:nvPr/>
      </p:nvGrpSpPr>
      <p:grpSpPr>
        <a:xfrm>
          <a:off x="0" y="0"/>
          <a:ext cx="0" cy="0"/>
          <a:chOff x="0" y="0"/>
          <a:chExt cx="0" cy="0"/>
        </a:xfrm>
      </p:grpSpPr>
      <p:sp>
        <p:nvSpPr>
          <p:cNvPr id="94" name="Google Shape;94;p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95" name="Google Shape;95;p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**Homing** is navigation back to a familiar home after displacement. In pigeons, a **map** estimates position relative to home, whereas a **compass** supplies a directional reference. These are functional distinctions; the word map does not by itself imply a complete mental representation of geography.</a:t>
            </a:r>
            <a:endParaRPr/>
          </a:p>
          <a:p>
            <a:pPr indent="0" lvl="0" marL="0" rtl="0" algn="l">
              <a:spcBef>
                <a:spcPts val="0"/>
              </a:spcBef>
              <a:spcAft>
                <a:spcPts val="0"/>
              </a:spcAft>
              <a:buNone/>
            </a:pPr>
            <a:r>
              <a:rPr lang="en-US"/>
              <a:t>• Biro and colleagues recorded homing pigeons with a **global positioning system**, or GPS, logging position every 1 s. Repeated releases and off-route tests separated following a familiar corridor from taking the shortest available course home.</a:t>
            </a:r>
            <a:endParaRPr/>
          </a:p>
          <a:p>
            <a:pPr indent="0" lvl="0" marL="0" rtl="0" algn="l">
              <a:spcBef>
                <a:spcPts val="0"/>
              </a:spcBef>
              <a:spcAft>
                <a:spcPts val="0"/>
              </a:spcAft>
              <a:buNone/>
            </a:pPr>
            <a:r>
              <a:rPr lang="en-US"/>
              <a:t>• Birds repeatedly used individually distinctive routes rather than converging on one direct line. Such route guidance can coexist with other location and compass information; the GPS tracks do not identify which sensory signal first establishes position at an unfamiliar release site.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96" name="Google Shape;96;p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05" name="Shape 105"/>
        <p:cNvGrpSpPr/>
        <p:nvPr/>
      </p:nvGrpSpPr>
      <p:grpSpPr>
        <a:xfrm>
          <a:off x="0" y="0"/>
          <a:ext cx="0" cy="0"/>
          <a:chOff x="0" y="0"/>
          <a:chExt cx="0" cy="0"/>
        </a:xfrm>
      </p:grpSpPr>
      <p:sp>
        <p:nvSpPr>
          <p:cNvPr id="106" name="Google Shape;106;p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07" name="Google Shape;107;p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fidelity** is repeated use of a similar path by the same animal. It differs from accuracy of arrival: a pigeon can reach home along a reliable but indirect corridor. Biro and colleagues compared the last three training flights from each release site.</a:t>
            </a:r>
            <a:endParaRPr/>
          </a:p>
          <a:p>
            <a:pPr indent="0" lvl="0" marL="0" rtl="0" algn="l">
              <a:spcBef>
                <a:spcPts val="0"/>
              </a:spcBef>
              <a:spcAft>
                <a:spcPts val="0"/>
              </a:spcAft>
              <a:buNone/>
            </a:pPr>
            <a:r>
              <a:rPr lang="en-US"/>
              <a:t>• After repeated homing experience, mean corridor widths were 151 m at Weston Wood and 176 m at High Cogges. These widths describe the area enclosed by each bird’s final training tracks relative to its route length, rather than the uncertainty of a neural location code.</a:t>
            </a:r>
            <a:endParaRPr/>
          </a:p>
          <a:p>
            <a:pPr indent="0" lvl="0" marL="0" rtl="0" algn="l">
              <a:spcBef>
                <a:spcPts val="0"/>
              </a:spcBef>
              <a:spcAft>
                <a:spcPts val="0"/>
              </a:spcAft>
              <a:buNone/>
            </a:pPr>
            <a:r>
              <a:rPr lang="en-US"/>
              <a:t>• Tracks from the same bird were more similar than tracks from different birds. Individuality argues against a single obligatory physical corridor, although shared terrain and weather can still constrain available paths without determining the particular route learned by each pigeon.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08" name="Google Shape;108;p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17" name="Shape 117"/>
        <p:cNvGrpSpPr/>
        <p:nvPr/>
      </p:nvGrpSpPr>
      <p:grpSpPr>
        <a:xfrm>
          <a:off x="0" y="0"/>
          <a:ext cx="0" cy="0"/>
          <a:chOff x="0" y="0"/>
          <a:chExt cx="0" cy="0"/>
        </a:xfrm>
      </p:grpSpPr>
      <p:sp>
        <p:nvSpPr>
          <p:cNvPr id="118" name="Google Shape;118;p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19" name="Google Shape;119;p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**Route efficiency** compares the direct home distance with the distance actually flown. A lower value means a longer journey, even if the bird ultimately reaches the loft. Efficiency and fidelity therefore measure different properties of successful homing.</a:t>
            </a:r>
            <a:endParaRPr/>
          </a:p>
          <a:p>
            <a:pPr indent="0" lvl="0" marL="0" rtl="0" algn="l">
              <a:spcBef>
                <a:spcPts val="0"/>
              </a:spcBef>
              <a:spcAft>
                <a:spcPts val="0"/>
              </a:spcAft>
              <a:buNone/>
            </a:pPr>
            <a:r>
              <a:rPr lang="en-US"/>
              <a:t>• Biro and colleagues found that final training routes remained indirect after 20 successive releases. Birds flew approximately 18–25% farther than the direct home distance, while continuing to reproduce their individually distinctive paths. The GPS records retained the turns that would be lost in a single departure bearing.</a:t>
            </a:r>
            <a:endParaRPr/>
          </a:p>
          <a:p>
            <a:pPr indent="0" lvl="0" marL="0" rtl="0" algn="l">
              <a:spcBef>
                <a:spcPts val="0"/>
              </a:spcBef>
              <a:spcAft>
                <a:spcPts val="0"/>
              </a:spcAft>
              <a:buNone/>
            </a:pPr>
            <a:r>
              <a:rPr lang="en-US"/>
              <a:t>• Persistent detours support learned route guidance rather than progressive convergence on the shortest path. They do not establish that a detour is maladaptive: the experiment did not measure all ecological costs, visual reliability or risks along alternative routes.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20" name="Google Shape;120;p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29" name="Shape 129"/>
        <p:cNvGrpSpPr/>
        <p:nvPr/>
      </p:nvGrpSpPr>
      <p:grpSpPr>
        <a:xfrm>
          <a:off x="0" y="0"/>
          <a:ext cx="0" cy="0"/>
          <a:chOff x="0" y="0"/>
          <a:chExt cx="0" cy="0"/>
        </a:xfrm>
      </p:grpSpPr>
      <p:sp>
        <p:nvSpPr>
          <p:cNvPr id="130" name="Google Shape;130;p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31" name="Google Shape;131;p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displacement away from a trained release point separates recognition of the starting location from recognition of features along an established route. Biro and colleagues released trained pigeons at positions outside their preferred corridors and recorded their complete homing tracks.</a:t>
            </a:r>
            <a:endParaRPr/>
          </a:p>
          <a:p>
            <a:pPr indent="0" lvl="0" marL="0" rtl="0" algn="l">
              <a:spcBef>
                <a:spcPts val="0"/>
              </a:spcBef>
              <a:spcAft>
                <a:spcPts val="0"/>
              </a:spcAft>
              <a:buNone/>
            </a:pPr>
            <a:r>
              <a:rPr lang="en-US"/>
              <a:t>• The off-route tracks often converged on the previously used route before continuing toward the loft. The original maps preserve both training tracks and later test tracks, with a 2 km scale for comparing the displacement with the surrounding landscape.</a:t>
            </a:r>
            <a:endParaRPr/>
          </a:p>
          <a:p>
            <a:pPr indent="0" lvl="0" marL="0" rtl="0" algn="l">
              <a:spcBef>
                <a:spcPts val="0"/>
              </a:spcBef>
              <a:spcAft>
                <a:spcPts val="0"/>
              </a:spcAft>
              <a:buNone/>
            </a:pPr>
            <a:r>
              <a:rPr lang="en-US"/>
              <a:t>• Convergence is consistent with attraction toward familiar visual landmarks rather than a newly selected direct course from the test site. The experiment does not imply that every off-route flight used visual information exclusively, because other navigational systems remained available throughout the journey.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32" name="Google Shape;132;p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41" name="Shape 141"/>
        <p:cNvGrpSpPr/>
        <p:nvPr/>
      </p:nvGrpSpPr>
      <p:grpSpPr>
        <a:xfrm>
          <a:off x="0" y="0"/>
          <a:ext cx="0" cy="0"/>
          <a:chOff x="0" y="0"/>
          <a:chExt cx="0" cy="0"/>
        </a:xfrm>
      </p:grpSpPr>
      <p:sp>
        <p:nvSpPr>
          <p:cNvPr id="142" name="Google Shape;142;p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43" name="Google Shape;143;p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**Visual pilotage** means using recognized landscape features to guide movement along a familiar route. A landmark can provide local guidance without representing the bird’s position in a universal coordinate system. The route may be learned as a succession of familiar places.</a:t>
            </a:r>
            <a:endParaRPr/>
          </a:p>
          <a:p>
            <a:pPr indent="0" lvl="0" marL="0" rtl="0" algn="l">
              <a:spcBef>
                <a:spcPts val="0"/>
              </a:spcBef>
              <a:spcAft>
                <a:spcPts val="0"/>
              </a:spcAft>
              <a:buNone/>
            </a:pPr>
            <a:r>
              <a:rPr lang="en-US"/>
              <a:t>• Biro and colleagues compared repeated training flights with off-route releases in the same landscape. Birds were attracted toward their preferred corridors even when this required an indirect journey. The 2 km map scale places these deviations beyond small fluctuations around a single straight course.</a:t>
            </a:r>
            <a:endParaRPr/>
          </a:p>
          <a:p>
            <a:pPr indent="0" lvl="0" marL="0" rtl="0" algn="l">
              <a:spcBef>
                <a:spcPts val="0"/>
              </a:spcBef>
              <a:spcAft>
                <a:spcPts val="0"/>
              </a:spcAft>
              <a:buNone/>
            </a:pPr>
            <a:r>
              <a:rPr lang="en-US"/>
              <a:t>• The behavior supports route-based visual guidance, but GPS alone cannot determine which particular feature controlled each turn. It also cannot distinguish a continuous visual panorama from a succession of discrete landmarks without additional manipulation of the visual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1B. Training and off-route homing tracks at High Cogges.</a:t>
            </a:r>
            <a:endParaRPr/>
          </a:p>
          <a:p>
            <a:pPr indent="0" lvl="0" marL="0" rtl="0" algn="l">
              <a:spcBef>
                <a:spcPts val="0"/>
              </a:spcBef>
              <a:spcAft>
                <a:spcPts val="0"/>
              </a:spcAft>
              <a:buNone/>
            </a:pPr>
            <a:r>
              <a:rPr lang="en-US"/>
              <a:t>Figure source: https://doi.org/10.1073/pnas.0406984101</a:t>
            </a:r>
            <a:endParaRPr/>
          </a:p>
        </p:txBody>
      </p:sp>
      <p:sp>
        <p:nvSpPr>
          <p:cNvPr id="144" name="Google Shape;144;p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53" name="Shape 153"/>
        <p:cNvGrpSpPr/>
        <p:nvPr/>
      </p:nvGrpSpPr>
      <p:grpSpPr>
        <a:xfrm>
          <a:off x="0" y="0"/>
          <a:ext cx="0" cy="0"/>
          <a:chOff x="0" y="0"/>
          <a:chExt cx="0" cy="0"/>
        </a:xfrm>
      </p:grpSpPr>
      <p:sp>
        <p:nvSpPr>
          <p:cNvPr id="154" name="Google Shape;154;p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55" name="Google Shape;155;p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common landscape can constrain flight without forcing all birds onto identical routes. Comparing different pigeons within that same terrain separates a shared environmental influence from an individual’s accumulated experience with particular features.</a:t>
            </a:r>
            <a:endParaRPr/>
          </a:p>
          <a:p>
            <a:pPr indent="0" lvl="0" marL="0" rtl="0" algn="l">
              <a:spcBef>
                <a:spcPts val="0"/>
              </a:spcBef>
              <a:spcAft>
                <a:spcPts val="0"/>
              </a:spcAft>
              <a:buNone/>
            </a:pPr>
            <a:r>
              <a:rPr lang="en-US"/>
              <a:t>• The training and off-route maps contain clearly different paths for pigeons returning to the same loft. Within-bird training corridors averaged 151 m at Weston Wood, whereas routes from different birds overlapped less closely. The geographical target was shared while the preferred trajectory was individual.</a:t>
            </a:r>
            <a:endParaRPr/>
          </a:p>
          <a:p>
            <a:pPr indent="0" lvl="0" marL="0" rtl="0" algn="l">
              <a:spcBef>
                <a:spcPts val="0"/>
              </a:spcBef>
              <a:spcAft>
                <a:spcPts val="0"/>
              </a:spcAft>
              <a:buNone/>
            </a:pPr>
            <a:r>
              <a:rPr lang="en-US"/>
              <a:t>• This comparison supports an acquired route memory rather than a single obligatory terrain channel. It does not specify the memory’s neural location or prove that all routes were learned independently of social experience; the tracked tests concern individual expression of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(2004), Fig. 1A. Training and off-route homing tracks at Weston Wood.</a:t>
            </a:r>
            <a:endParaRPr/>
          </a:p>
          <a:p>
            <a:pPr indent="0" lvl="0" marL="0" rtl="0" algn="l">
              <a:spcBef>
                <a:spcPts val="0"/>
              </a:spcBef>
              <a:spcAft>
                <a:spcPts val="0"/>
              </a:spcAft>
              <a:buNone/>
            </a:pPr>
            <a:r>
              <a:rPr lang="en-US"/>
              <a:t>Figure source: https://doi.org/10.1073/pnas.0406984101</a:t>
            </a:r>
            <a:endParaRPr/>
          </a:p>
        </p:txBody>
      </p:sp>
      <p:sp>
        <p:nvSpPr>
          <p:cNvPr id="156" name="Google Shape;156;p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65" name="Shape 165"/>
        <p:cNvGrpSpPr/>
        <p:nvPr/>
      </p:nvGrpSpPr>
      <p:grpSpPr>
        <a:xfrm>
          <a:off x="0" y="0"/>
          <a:ext cx="0" cy="0"/>
          <a:chOff x="0" y="0"/>
          <a:chExt cx="0" cy="0"/>
        </a:xfrm>
      </p:grpSpPr>
      <p:sp>
        <p:nvSpPr>
          <p:cNvPr id="166" name="Google Shape;166;p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67" name="Google Shape;167;p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**time-compensated sun compass** uses the sun’s position together with internal time to estimate direction. Because solar position changes across the day, altering the bird’s internal clock can change its inferred direction while leaving the landscape physically unchanged.</a:t>
            </a:r>
            <a:endParaRPr/>
          </a:p>
          <a:p>
            <a:pPr indent="0" lvl="0" marL="0" rtl="0" algn="l">
              <a:spcBef>
                <a:spcPts val="0"/>
              </a:spcBef>
              <a:spcAft>
                <a:spcPts val="0"/>
              </a:spcAft>
              <a:buNone/>
            </a:pPr>
            <a:r>
              <a:rPr lang="en-US"/>
              <a:t>• Biro and colleagues delayed artificial sunrise and sunset by 4 h for 5–7 days. This treatment predicted a solar-compass error of approximately 90° at the release dates. GPS tracks after treatment were compared with each bird’s own earlier flights.</a:t>
            </a:r>
            <a:endParaRPr/>
          </a:p>
          <a:p>
            <a:pPr indent="0" lvl="0" marL="0" rtl="0" algn="l">
              <a:spcBef>
                <a:spcPts val="0"/>
              </a:spcBef>
              <a:spcAft>
                <a:spcPts val="0"/>
              </a:spcAft>
              <a:buNone/>
            </a:pPr>
            <a:r>
              <a:rPr lang="en-US"/>
              <a:t>• The manipulation creates a conflict between a familiar visual route and compass information. A displaced course supports continued use of time-dependent directional information, but the treatment does not remove landmarks or establish that the sun is the only remaining compass cue.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68" name="Google Shape;168;p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77" name="Shape 177"/>
        <p:cNvGrpSpPr/>
        <p:nvPr/>
      </p:nvGrpSpPr>
      <p:grpSpPr>
        <a:xfrm>
          <a:off x="0" y="0"/>
          <a:ext cx="0" cy="0"/>
          <a:chOff x="0" y="0"/>
          <a:chExt cx="0" cy="0"/>
        </a:xfrm>
      </p:grpSpPr>
      <p:sp>
        <p:nvSpPr>
          <p:cNvPr id="178" name="Google Shape;178;p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79" name="Google Shape;179;p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**Cue weighting** describes the relative influence of different information sources on behavior. It need not imply a conscious decision or a single identifiable neuron that assigns numerical weights. Familiarity can alter how strongly a recognized route constrains compass-guided movement.</a:t>
            </a:r>
            <a:endParaRPr/>
          </a:p>
          <a:p>
            <a:pPr indent="0" lvl="0" marL="0" rtl="0" algn="l">
              <a:spcBef>
                <a:spcPts val="0"/>
              </a:spcBef>
              <a:spcAft>
                <a:spcPts val="0"/>
              </a:spcAft>
              <a:buNone/>
            </a:pPr>
            <a:r>
              <a:rPr lang="en-US"/>
              <a:t>• Biro and colleagues compared high-familiarity birds with low-familiarity birds at four sites 5.1–10.6 km from the loft. After the same clock shift, highly familiar birds generally remained closer to their previous tracks, whereas less familiar birds deviated farther.</a:t>
            </a:r>
            <a:endParaRPr/>
          </a:p>
          <a:p>
            <a:pPr indent="0" lvl="0" marL="0" rtl="0" algn="l">
              <a:spcBef>
                <a:spcPts val="0"/>
              </a:spcBef>
              <a:spcAft>
                <a:spcPts val="0"/>
              </a:spcAft>
              <a:buNone/>
            </a:pPr>
            <a:r>
              <a:rPr lang="en-US"/>
              <a:t>• The comparison supports experience-dependent interaction between landmark guidance and the solar compass. It does not establish a universal weighting rule, because the magnitude of the treatment effect also depended on the release site and the geometry of its surrounding landscape.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2C. Route displacement distributions by familiarity and clock treatment.</a:t>
            </a:r>
            <a:endParaRPr/>
          </a:p>
          <a:p>
            <a:pPr indent="0" lvl="0" marL="0" rtl="0" algn="l">
              <a:spcBef>
                <a:spcPts val="0"/>
              </a:spcBef>
              <a:spcAft>
                <a:spcPts val="0"/>
              </a:spcAft>
              <a:buNone/>
            </a:pPr>
            <a:r>
              <a:rPr lang="en-US"/>
              <a:t>Figure source: https://doi.org/10.1073/pnas.0701575104</a:t>
            </a:r>
            <a:endParaRPr/>
          </a:p>
        </p:txBody>
      </p:sp>
      <p:sp>
        <p:nvSpPr>
          <p:cNvPr id="180" name="Google Shape;180;p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189" name="Shape 189"/>
        <p:cNvGrpSpPr/>
        <p:nvPr/>
      </p:nvGrpSpPr>
      <p:grpSpPr>
        <a:xfrm>
          <a:off x="0" y="0"/>
          <a:ext cx="0" cy="0"/>
          <a:chOff x="0" y="0"/>
          <a:chExt cx="0" cy="0"/>
        </a:xfrm>
      </p:grpSpPr>
      <p:sp>
        <p:nvSpPr>
          <p:cNvPr id="190" name="Google Shape;190;p1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191" name="Google Shape;191;p1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**nearest-neighbour vector** connects a recorded point on one flight to the closest point on a comparison flight. Its length measures spatial separation. Its angle relative to current flight direction distinguishes a lateral displacement from separation ahead or behind the bird.</a:t>
            </a:r>
            <a:endParaRPr/>
          </a:p>
          <a:p>
            <a:pPr indent="0" lvl="0" marL="0" rtl="0" algn="l">
              <a:spcBef>
                <a:spcPts val="0"/>
              </a:spcBef>
              <a:spcAft>
                <a:spcPts val="0"/>
              </a:spcAft>
              <a:buNone/>
            </a:pPr>
            <a:r>
              <a:rPr lang="en-US"/>
              <a:t>• Biro and colleagues calculated these vectors for clock-shifted flights and earlier GPS tracks. The source axes express eastings and northings in metres, preserving route geometry rather than reducing the flight to a single departure angle.</a:t>
            </a:r>
            <a:endParaRPr/>
          </a:p>
          <a:p>
            <a:pPr indent="0" lvl="0" marL="0" rtl="0" algn="l">
              <a:spcBef>
                <a:spcPts val="0"/>
              </a:spcBef>
              <a:spcAft>
                <a:spcPts val="0"/>
              </a:spcAft>
              <a:buNone/>
            </a:pPr>
            <a:r>
              <a:rPr lang="en-US"/>
              <a:t>• This analysis tests whether a shifted bird remains near its learned corridor throughout travel. The vectors are investigators’ measurements, not evidence that the pigeon computes the same geometrical operation or represents its route as a stored array of GPS coordinates.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2A. A clock-shifted track and nearest-neighbour vectors.</a:t>
            </a:r>
            <a:endParaRPr/>
          </a:p>
          <a:p>
            <a:pPr indent="0" lvl="0" marL="0" rtl="0" algn="l">
              <a:spcBef>
                <a:spcPts val="0"/>
              </a:spcBef>
              <a:spcAft>
                <a:spcPts val="0"/>
              </a:spcAft>
              <a:buNone/>
            </a:pPr>
            <a:r>
              <a:rPr lang="en-US"/>
              <a:t>Figure source: https://doi.org/10.1073/pnas.0701575104</a:t>
            </a:r>
            <a:endParaRPr/>
          </a:p>
        </p:txBody>
      </p:sp>
      <p:sp>
        <p:nvSpPr>
          <p:cNvPr id="192" name="Google Shape;192;p1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01" name="Shape 201"/>
        <p:cNvGrpSpPr/>
        <p:nvPr/>
      </p:nvGrpSpPr>
      <p:grpSpPr>
        <a:xfrm>
          <a:off x="0" y="0"/>
          <a:ext cx="0" cy="0"/>
          <a:chOff x="0" y="0"/>
          <a:chExt cx="0" cy="0"/>
        </a:xfrm>
      </p:grpSpPr>
      <p:sp>
        <p:nvSpPr>
          <p:cNvPr id="202" name="Google Shape;202;p1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03" name="Google Shape;203;p1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**parallel offset** occurs when a flight retains the shape of a previous route while moving consistently to one side of it. Such a trajectory differs from complete abandonment of the route in favor of a straight compass-directed flight.</a:t>
            </a:r>
            <a:endParaRPr/>
          </a:p>
          <a:p>
            <a:pPr indent="0" lvl="0" marL="0" rtl="0" algn="l">
              <a:spcBef>
                <a:spcPts val="0"/>
              </a:spcBef>
              <a:spcAft>
                <a:spcPts val="0"/>
              </a:spcAft>
              <a:buNone/>
            </a:pPr>
            <a:r>
              <a:rPr lang="en-US"/>
              <a:t>• After clock shift, some highly familiar pigeons followed paths displaced to the anticlockwise side of their former tracks. The route-relative vectors retained this lateral bias, with distances expressed in metres and reference rings at 100, 300 and 500 m.</a:t>
            </a:r>
            <a:endParaRPr/>
          </a:p>
          <a:p>
            <a:pPr indent="0" lvl="0" marL="0" rtl="0" algn="l">
              <a:spcBef>
                <a:spcPts val="0"/>
              </a:spcBef>
              <a:spcAft>
                <a:spcPts val="0"/>
              </a:spcAft>
              <a:buNone/>
            </a:pPr>
            <a:r>
              <a:rPr lang="en-US"/>
              <a:t>• The combination is consistent with landmark attraction and compass influence operating together. The tracks cannot distinguish continuous neural integration from rapid switching between sources, and preservation of shape does not prove that the bird recognizes every particular landmark along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2B. Route-relative distances and angles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04" name="Google Shape;204;p1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3" name="Shape 213"/>
        <p:cNvGrpSpPr/>
        <p:nvPr/>
      </p:nvGrpSpPr>
      <p:grpSpPr>
        <a:xfrm>
          <a:off x="0" y="0"/>
          <a:ext cx="0" cy="0"/>
          <a:chOff x="0" y="0"/>
          <a:chExt cx="0" cy="0"/>
        </a:xfrm>
      </p:grpSpPr>
      <p:sp>
        <p:nvSpPr>
          <p:cNvPr id="214" name="Google Shape;214;p1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15" name="Google Shape;215;p1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Group averages can conceal distinct individual responses to conflicting cues. In Biro and colleagues’ experiment, each highly familiar pigeon’s final training flights were compared with its single clock-shifted test flight, allowing retention and disruption of route shape to be separated.</a:t>
            </a:r>
            <a:endParaRPr/>
          </a:p>
          <a:p>
            <a:pPr indent="0" lvl="0" marL="0" rtl="0" algn="l">
              <a:spcBef>
                <a:spcPts val="0"/>
              </a:spcBef>
              <a:spcAft>
                <a:spcPts val="0"/>
              </a:spcAft>
              <a:buNone/>
            </a:pPr>
            <a:r>
              <a:rPr lang="en-US"/>
              <a:t>• Some shifted pigeons deviated prominently from the learned corridor, some followed parallel offsets, and others reproduced their earlier route closely. The published tracks were rotated to a common release-to-home orientation and retain a 1 km scale for spatial comparison.</a:t>
            </a:r>
            <a:endParaRPr/>
          </a:p>
          <a:p>
            <a:pPr indent="0" lvl="0" marL="0" rtl="0" algn="l">
              <a:spcBef>
                <a:spcPts val="0"/>
              </a:spcBef>
              <a:spcAft>
                <a:spcPts val="0"/>
              </a:spcAft>
              <a:buNone/>
            </a:pPr>
            <a:r>
              <a:rPr lang="en-US"/>
              <a:t>• These differences constrain a binary account in which familiarity either eliminates compass influence or leaves it unchanged. They do not identify stable sensory types among pigeons, because an individual response can also depend on route geometry, local visibility and the particular test conditions.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3A–B. Individual homing tracks before and after clock shift.</a:t>
            </a:r>
            <a:endParaRPr/>
          </a:p>
          <a:p>
            <a:pPr indent="0" lvl="0" marL="0" rtl="0" algn="l">
              <a:spcBef>
                <a:spcPts val="0"/>
              </a:spcBef>
              <a:spcAft>
                <a:spcPts val="0"/>
              </a:spcAft>
              <a:buNone/>
            </a:pPr>
            <a:r>
              <a:rPr lang="en-US"/>
              <a:t>Figure source: https://doi.org/10.1073/pnas.0701575104</a:t>
            </a:r>
            <a:endParaRPr/>
          </a:p>
        </p:txBody>
      </p:sp>
      <p:sp>
        <p:nvSpPr>
          <p:cNvPr id="216" name="Google Shape;216;p1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5" name="Shape 225"/>
        <p:cNvGrpSpPr/>
        <p:nvPr/>
      </p:nvGrpSpPr>
      <p:grpSpPr>
        <a:xfrm>
          <a:off x="0" y="0"/>
          <a:ext cx="0" cy="0"/>
          <a:chOff x="0" y="0"/>
          <a:chExt cx="0" cy="0"/>
        </a:xfrm>
      </p:grpSpPr>
      <p:sp>
        <p:nvSpPr>
          <p:cNvPr id="226" name="Google Shape;226;p1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27" name="Google Shape;227;p1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initial departure bearing samples only one portion of a homing journey. Landmark and compass influences can change after a bird has already entered a familiar corridor, so absence of an early deviation does not establish absence of compass use.</a:t>
            </a:r>
            <a:endParaRPr/>
          </a:p>
          <a:p>
            <a:pPr indent="0" lvl="0" marL="0" rtl="0" algn="l">
              <a:spcBef>
                <a:spcPts val="0"/>
              </a:spcBef>
              <a:spcAft>
                <a:spcPts val="0"/>
              </a:spcAft>
              <a:buNone/>
            </a:pPr>
            <a:r>
              <a:rPr lang="en-US"/>
              <a:t>• At Weston Wood, some highly familiar pigeons initially recapitulated their route after clock shift and deviated later. Complete GPS trajectories retained this delayed effect, whereas a bearing taken only as the bird left the release site could miss it. The map retains a 1 km scale.</a:t>
            </a:r>
            <a:endParaRPr/>
          </a:p>
          <a:p>
            <a:pPr indent="0" lvl="0" marL="0" rtl="0" algn="l">
              <a:spcBef>
                <a:spcPts val="0"/>
              </a:spcBef>
              <a:spcAft>
                <a:spcPts val="0"/>
              </a:spcAft>
              <a:buNone/>
            </a:pPr>
            <a:r>
              <a:rPr lang="en-US"/>
              <a:t>• The timing argues for continued interaction during travel rather than recognition of the release point alone. It does not establish precisely when the internal conflict was detected or which neural process caused the later change in route position.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4. Weston Wood routes before and after clock shift.</a:t>
            </a:r>
            <a:endParaRPr/>
          </a:p>
          <a:p>
            <a:pPr indent="0" lvl="0" marL="0" rtl="0" algn="l">
              <a:spcBef>
                <a:spcPts val="0"/>
              </a:spcBef>
              <a:spcAft>
                <a:spcPts val="0"/>
              </a:spcAft>
              <a:buNone/>
            </a:pPr>
            <a:r>
              <a:rPr lang="en-US"/>
              <a:t>Figure source: https://doi.org/10.1073/pnas.0701575104</a:t>
            </a:r>
            <a:endParaRPr/>
          </a:p>
        </p:txBody>
      </p:sp>
      <p:sp>
        <p:nvSpPr>
          <p:cNvPr id="228" name="Google Shape;228;p1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7" name="Shape 237"/>
        <p:cNvGrpSpPr/>
        <p:nvPr/>
      </p:nvGrpSpPr>
      <p:grpSpPr>
        <a:xfrm>
          <a:off x="0" y="0"/>
          <a:ext cx="0" cy="0"/>
          <a:chOff x="0" y="0"/>
          <a:chExt cx="0" cy="0"/>
        </a:xfrm>
      </p:grpSpPr>
      <p:sp>
        <p:nvSpPr>
          <p:cNvPr id="238" name="Google Shape;238;p1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39" name="Google Shape;239;p1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**Multimodal navigation** uses information from more than one sensory system. In familiar pigeon routes, visual landmarks can constrain movement while a time-dependent compass continues to influence heading. A recognized landscape does not necessarily silence every other directional source.</a:t>
            </a:r>
            <a:endParaRPr/>
          </a:p>
          <a:p>
            <a:pPr indent="0" lvl="0" marL="0" rtl="0" algn="l">
              <a:spcBef>
                <a:spcPts val="0"/>
              </a:spcBef>
              <a:spcAft>
                <a:spcPts val="0"/>
              </a:spcAft>
              <a:buNone/>
            </a:pPr>
            <a:r>
              <a:rPr lang="en-US"/>
              <a:t>• Biro and colleagues’ 4 h clock shift produced individual displacement vectors ranging from little route change to pronounced lateral offsets. Many highly familiar birds stayed close to previous tracks despite the predicted approximately 90° solar-compass error.</a:t>
            </a:r>
            <a:endParaRPr/>
          </a:p>
          <a:p>
            <a:pPr indent="0" lvl="0" marL="0" rtl="0" algn="l">
              <a:spcBef>
                <a:spcPts val="0"/>
              </a:spcBef>
              <a:spcAft>
                <a:spcPts val="0"/>
              </a:spcAft>
              <a:buNone/>
            </a:pPr>
            <a:r>
              <a:rPr lang="en-US"/>
              <a:t>• The evidence supports combined guidance while leaving its implementation unresolved. A proposed tolerance around the familiar corridor could permit some compass-driven displacement, but this is an interpretation of trajectories rather than a directly measured neural integration circuit.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Biro et al. (2007), Fig. 2D. Individual route displacement after clock shift.</a:t>
            </a:r>
            <a:endParaRPr/>
          </a:p>
          <a:p>
            <a:pPr indent="0" lvl="0" marL="0" rtl="0" algn="l">
              <a:spcBef>
                <a:spcPts val="0"/>
              </a:spcBef>
              <a:spcAft>
                <a:spcPts val="0"/>
              </a:spcAft>
              <a:buNone/>
            </a:pPr>
            <a:r>
              <a:rPr lang="en-US"/>
              <a:t>Figure source: https://doi.org/10.1073/pnas.0701575104</a:t>
            </a:r>
            <a:endParaRPr/>
          </a:p>
        </p:txBody>
      </p:sp>
      <p:sp>
        <p:nvSpPr>
          <p:cNvPr id="240" name="Google Shape;240;p1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49" name="Shape 249"/>
        <p:cNvGrpSpPr/>
        <p:nvPr/>
      </p:nvGrpSpPr>
      <p:grpSpPr>
        <a:xfrm>
          <a:off x="0" y="0"/>
          <a:ext cx="0" cy="0"/>
          <a:chOff x="0" y="0"/>
          <a:chExt cx="0" cy="0"/>
        </a:xfrm>
      </p:grpSpPr>
      <p:sp>
        <p:nvSpPr>
          <p:cNvPr id="250" name="Google Shape;250;p1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51" name="Google Shape;251;p1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 **olfactory map** uses learned environmental odor information to estimate position relative to home. An **olfactory activation hypothesis** instead proposes that smelling unfamiliar odors enables navigation based on other cues, even when the smells themselves contain no location information.</a:t>
            </a:r>
            <a:endParaRPr/>
          </a:p>
          <a:p>
            <a:pPr indent="0" lvl="0" marL="0" rtl="0" algn="l">
              <a:spcBef>
                <a:spcPts val="0"/>
              </a:spcBef>
              <a:spcAft>
                <a:spcPts val="0"/>
              </a:spcAft>
              <a:buNone/>
            </a:pPr>
            <a:r>
              <a:rPr lang="en-US"/>
              <a:t>• Gagliardo and colleagues transported pigeons in containers supplied with natural air, charcoal-filtered air or filtered air plus artificial plant odors. Artificial odor puffs were supplied about every 20 min during transport and waiting at the release site.</a:t>
            </a:r>
            <a:endParaRPr/>
          </a:p>
          <a:p>
            <a:pPr indent="0" lvl="0" marL="0" rtl="0" algn="l">
              <a:spcBef>
                <a:spcPts val="0"/>
              </a:spcBef>
              <a:spcAft>
                <a:spcPts val="0"/>
              </a:spcAft>
              <a:buNone/>
            </a:pPr>
            <a:r>
              <a:rPr lang="en-US"/>
              <a:t>• Natural air and artificial odors therefore both stimulated smell, but only natural air retained the geographical odor mixture. Comparing subsequent tracks tested whether sensory activation alone was sufficient under this preparation; it did not identify which environmental chemicals conveyed usable location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52" name="Google Shape;252;p1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1" name="Shape 261"/>
        <p:cNvGrpSpPr/>
        <p:nvPr/>
      </p:nvGrpSpPr>
      <p:grpSpPr>
        <a:xfrm>
          <a:off x="0" y="0"/>
          <a:ext cx="0" cy="0"/>
          <a:chOff x="0" y="0"/>
          <a:chExt cx="0" cy="0"/>
        </a:xfrm>
      </p:grpSpPr>
      <p:sp>
        <p:nvSpPr>
          <p:cNvPr id="262" name="Google Shape;262;p1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63" name="Google Shape;263;p1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**Anosmia** is loss of the ability to smell. Gagliardo and colleagues anesthetized the olfactory mucosa, the nasal sensory tissue that detects odors, with Xylocaine immediately before release. This treatment was applied to all three air-exposure groups.</a:t>
            </a:r>
            <a:endParaRPr/>
          </a:p>
          <a:p>
            <a:pPr indent="0" lvl="0" marL="0" rtl="0" algn="l">
              <a:spcBef>
                <a:spcPts val="0"/>
              </a:spcBef>
              <a:spcAft>
                <a:spcPts val="0"/>
              </a:spcAft>
              <a:buNone/>
            </a:pPr>
            <a:r>
              <a:rPr lang="en-US"/>
              <a:t>• Birds had already experienced natural air, filtered air or artificial odors during transport and before takeoff. Release occurred at sites 53 km and 61 km from home. The common nasal treatment reduced new odor sampling during early flight while preserving differences in prior exposure.</a:t>
            </a:r>
            <a:endParaRPr/>
          </a:p>
          <a:p>
            <a:pPr indent="0" lvl="0" marL="0" rtl="0" algn="l">
              <a:spcBef>
                <a:spcPts val="0"/>
              </a:spcBef>
              <a:spcAft>
                <a:spcPts val="0"/>
              </a:spcAft>
              <a:buNone/>
            </a:pPr>
            <a:r>
              <a:rPr lang="en-US"/>
              <a:t>• The design concentrates the comparison on information acquired before release. Because local anesthesia wears off, later flight cannot be treated as permanently odor-free; a delayed homeward correction may follow recovery of smell rather than accurate navigation during the initial treatment period.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64" name="Google Shape;264;p1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3" name="Shape 273"/>
        <p:cNvGrpSpPr/>
        <p:nvPr/>
      </p:nvGrpSpPr>
      <p:grpSpPr>
        <a:xfrm>
          <a:off x="0" y="0"/>
          <a:ext cx="0" cy="0"/>
          <a:chOff x="0" y="0"/>
          <a:chExt cx="0" cy="0"/>
        </a:xfrm>
      </p:grpSpPr>
      <p:sp>
        <p:nvSpPr>
          <p:cNvPr id="274" name="Google Shape;274;p1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75" name="Google Shape;275;p1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useful odor treatment must improve navigation rather than merely induce movement. Gagliardo and colleagues recorded GPS tracks at 1 Hz after releasing pigeons exposed to different air conditions, with the same temporary nasal anesthesia applied across groups.</a:t>
            </a:r>
            <a:endParaRPr/>
          </a:p>
          <a:p>
            <a:pPr indent="0" lvl="0" marL="0" rtl="0" algn="l">
              <a:spcBef>
                <a:spcPts val="0"/>
              </a:spcBef>
              <a:spcAft>
                <a:spcPts val="0"/>
              </a:spcAft>
              <a:buNone/>
            </a:pPr>
            <a:r>
              <a:rPr lang="en-US"/>
              <a:t>• Control birds exposed to intact environmental odors showed better homeward movement during the first hour. Filtered-air and artificial-odor birds displayed poorer initial navigation, despite artificial odors providing repeated olfactory stimulation. Tracks retain a 5 km scale and the time sequence of movement.</a:t>
            </a:r>
            <a:endParaRPr/>
          </a:p>
          <a:p>
            <a:pPr indent="0" lvl="0" marL="0" rtl="0" algn="l">
              <a:spcBef>
                <a:spcPts val="0"/>
              </a:spcBef>
              <a:spcAft>
                <a:spcPts val="0"/>
              </a:spcAft>
              <a:buNone/>
            </a:pPr>
            <a:r>
              <a:rPr lang="en-US"/>
              <a:t>• The outcome supports a specific navigational contribution of environmental odors under these conditions. It does not prove that olfaction always dominates every pigeon journey, especially in familiar terrain where recognized landmarks can supply a different form of guidance.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276" name="Google Shape;276;p1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85" name="Shape 285"/>
        <p:cNvGrpSpPr/>
        <p:nvPr/>
      </p:nvGrpSpPr>
      <p:grpSpPr>
        <a:xfrm>
          <a:off x="0" y="0"/>
          <a:ext cx="0" cy="0"/>
          <a:chOff x="0" y="0"/>
          <a:chExt cx="0" cy="0"/>
        </a:xfrm>
      </p:grpSpPr>
      <p:sp>
        <p:nvSpPr>
          <p:cNvPr id="286" name="Google Shape;286;p1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87" name="Google Shape;287;p1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Artificial odors can stimulate olfactory receptors without reproducing the natural relationship between odor mixtures and geographical position. In Gagliardo and colleagues’ experiment, plant odors were delivered in filtered air during transport and the pre-release waiting period.</a:t>
            </a:r>
            <a:endParaRPr/>
          </a:p>
          <a:p>
            <a:pPr indent="0" lvl="0" marL="0" rtl="0" algn="l">
              <a:spcBef>
                <a:spcPts val="0"/>
              </a:spcBef>
              <a:spcAft>
                <a:spcPts val="0"/>
              </a:spcAft>
              <a:buNone/>
            </a:pPr>
            <a:r>
              <a:rPr lang="en-US"/>
              <a:t>• The artificial-odor group did not match controls exposed to environmental air at either the 53 km or 61 km release site. Its GPS tracks often remained tortuous or near release rather than progressing reliably homeward during the first hour.</a:t>
            </a:r>
            <a:endParaRPr/>
          </a:p>
          <a:p>
            <a:pPr indent="0" lvl="0" marL="0" rtl="0" algn="l">
              <a:spcBef>
                <a:spcPts val="0"/>
              </a:spcBef>
              <a:spcAft>
                <a:spcPts val="0"/>
              </a:spcAft>
              <a:buNone/>
            </a:pPr>
            <a:r>
              <a:rPr lang="en-US"/>
              <a:t>• This failure contradicts a simple activation-only prediction for this preparation. It does not demonstrate that unfamiliar smells can never modulate navigation, because stimulation strength, odor history and the type of navigational task can influence how an olfactory treatment affects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288" name="Google Shape;288;p1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7" name="Shape 297"/>
        <p:cNvGrpSpPr/>
        <p:nvPr/>
      </p:nvGrpSpPr>
      <p:grpSpPr>
        <a:xfrm>
          <a:off x="0" y="0"/>
          <a:ext cx="0" cy="0"/>
          <a:chOff x="0" y="0"/>
          <a:chExt cx="0" cy="0"/>
        </a:xfrm>
      </p:grpSpPr>
      <p:sp>
        <p:nvSpPr>
          <p:cNvPr id="298" name="Google Shape;298;p1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299" name="Google Shape;299;p1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**Tortuosity** describes how winding a path is relative to its net displacement. A pigeon can remain actively flying while making little progress toward home. Total movement and navigational success must therefore be distinguished when interpreting an odor manipulation.</a:t>
            </a:r>
            <a:endParaRPr/>
          </a:p>
          <a:p>
            <a:pPr indent="0" lvl="0" marL="0" rtl="0" algn="l">
              <a:spcBef>
                <a:spcPts val="0"/>
              </a:spcBef>
              <a:spcAft>
                <a:spcPts val="0"/>
              </a:spcAft>
              <a:buNone/>
            </a:pPr>
            <a:r>
              <a:rPr lang="en-US"/>
              <a:t>• Gagliardo and colleagues analyzed first-hour flight after releases 53 km and 61 km from the loft. Artificial-odor birds had more tortuous paths and reduced homeward progress compared with controls, even though the comparison did not reveal a consistent difference in time spent flying.</a:t>
            </a:r>
            <a:endParaRPr/>
          </a:p>
          <a:p>
            <a:pPr indent="0" lvl="0" marL="0" rtl="0" algn="l">
              <a:spcBef>
                <a:spcPts val="0"/>
              </a:spcBef>
              <a:spcAft>
                <a:spcPts val="0"/>
              </a:spcAft>
              <a:buNone/>
            </a:pPr>
            <a:r>
              <a:rPr lang="en-US"/>
              <a:t>• The impairment concerns guidance rather than a simple inability to move. GPS does not reveal the bird’s motivation directly, but the combination of movement and poor progress makes generalized inactivity insufficient as the sole explanation of the olfactory-treatment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00" name="Google Shape;300;p1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9" name="Shape 309"/>
        <p:cNvGrpSpPr/>
        <p:nvPr/>
      </p:nvGrpSpPr>
      <p:grpSpPr>
        <a:xfrm>
          <a:off x="0" y="0"/>
          <a:ext cx="0" cy="0"/>
          <a:chOff x="0" y="0"/>
          <a:chExt cx="0" cy="0"/>
        </a:xfrm>
      </p:grpSpPr>
      <p:sp>
        <p:nvSpPr>
          <p:cNvPr id="310" name="Google Shape;310;p2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11" name="Google Shape;311;p2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distance still separating a bird from its loft measures progress toward the goal independently of total path length. A wandering bird may accumulate a long flight without substantially decreasing this distance, whereas a directed flight reduces it steadily.</a:t>
            </a:r>
            <a:endParaRPr/>
          </a:p>
          <a:p>
            <a:pPr indent="0" lvl="0" marL="0" rtl="0" algn="l">
              <a:spcBef>
                <a:spcPts val="0"/>
              </a:spcBef>
              <a:spcAft>
                <a:spcPts val="0"/>
              </a:spcAft>
              <a:buNone/>
            </a:pPr>
            <a:r>
              <a:rPr lang="en-US"/>
              <a:t>• One hour after the 53 km Bolgheri release, median distances from home were 29.9 km for controls, 43.8 km for filtered-air birds and 53.5 km for artificial-odor birds. Every group received the same immediate pre-release nasal anesthesia.</a:t>
            </a:r>
            <a:endParaRPr/>
          </a:p>
          <a:p>
            <a:pPr indent="0" lvl="0" marL="0" rtl="0" algn="l">
              <a:spcBef>
                <a:spcPts val="0"/>
              </a:spcBef>
              <a:spcAft>
                <a:spcPts val="0"/>
              </a:spcAft>
              <a:buNone/>
            </a:pPr>
            <a:r>
              <a:rPr lang="en-US"/>
              <a:t>• The values support stronger early homeward progress after exposure to environmental air. They are condition-specific behavioral outcomes rather than a direct measure of spatial-memory precision; stopping, circling and route selection can all contribute to the remaining distance.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1. Homing tracks after natural air, filtered air or artificial odors.</a:t>
            </a:r>
            <a:endParaRPr/>
          </a:p>
          <a:p>
            <a:pPr indent="0" lvl="0" marL="0" rtl="0" algn="l">
              <a:spcBef>
                <a:spcPts val="0"/>
              </a:spcBef>
              <a:spcAft>
                <a:spcPts val="0"/>
              </a:spcAft>
              <a:buNone/>
            </a:pPr>
            <a:r>
              <a:rPr lang="en-US"/>
              <a:t>Figure source: https://doi.org/10.1371/journal.pone.0022385</a:t>
            </a:r>
            <a:endParaRPr/>
          </a:p>
        </p:txBody>
      </p:sp>
      <p:sp>
        <p:nvSpPr>
          <p:cNvPr id="312" name="Google Shape;312;p2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1" name="Shape 321"/>
        <p:cNvGrpSpPr/>
        <p:nvPr/>
      </p:nvGrpSpPr>
      <p:grpSpPr>
        <a:xfrm>
          <a:off x="0" y="0"/>
          <a:ext cx="0" cy="0"/>
          <a:chOff x="0" y="0"/>
          <a:chExt cx="0" cy="0"/>
        </a:xfrm>
      </p:grpSpPr>
      <p:sp>
        <p:nvSpPr>
          <p:cNvPr id="322" name="Google Shape;322;p2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23" name="Google Shape;323;p2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Temporal separation matters when a manipulation decays during a journey. Gagliardo and colleagues distinguished the first, second and third hours of GPS tracking rather than assuming nasal anesthesia remained equally effective throughout the experiment.</a:t>
            </a:r>
            <a:endParaRPr/>
          </a:p>
          <a:p>
            <a:pPr indent="0" lvl="0" marL="0" rtl="0" algn="l">
              <a:spcBef>
                <a:spcPts val="0"/>
              </a:spcBef>
              <a:spcAft>
                <a:spcPts val="0"/>
              </a:spcAft>
              <a:buNone/>
            </a:pPr>
            <a:r>
              <a:rPr lang="en-US"/>
              <a:t>• Some filtered-air pigeons improved their homeward orientation after the earliest period, consistent with access to natural odors after recovery. Artificial-odor pigeons remained impaired in broader portions of the tracks. Published paths preserve the successive hours and a 5 km scale.</a:t>
            </a:r>
            <a:endParaRPr/>
          </a:p>
          <a:p>
            <a:pPr indent="0" lvl="0" marL="0" rtl="0" algn="l">
              <a:spcBef>
                <a:spcPts val="0"/>
              </a:spcBef>
              <a:spcAft>
                <a:spcPts val="0"/>
              </a:spcAft>
              <a:buNone/>
            </a:pPr>
            <a:r>
              <a:rPr lang="en-US"/>
              <a:t>• Later improvement cannot retrospectively establish intact navigation during the first hour. Conversely, a late return to the loft does not make the initial treatment ineffective; complete trajectories separate the immediate guidance deficit from subsequent compensation, recovery and searching.</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24" name="Google Shape;324;p2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3" name="Shape 333"/>
        <p:cNvGrpSpPr/>
        <p:nvPr/>
      </p:nvGrpSpPr>
      <p:grpSpPr>
        <a:xfrm>
          <a:off x="0" y="0"/>
          <a:ext cx="0" cy="0"/>
          <a:chOff x="0" y="0"/>
          <a:chExt cx="0" cy="0"/>
        </a:xfrm>
      </p:grpSpPr>
      <p:sp>
        <p:nvSpPr>
          <p:cNvPr id="334" name="Google Shape;334;p2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35" name="Google Shape;335;p2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**vanishing bearing** is the direction recorded when a released bird disappears from direct observation. It measures an early departure, whereas a complete GPS track includes later circling, stopping, course correction and progress toward home.</a:t>
            </a:r>
            <a:endParaRPr/>
          </a:p>
          <a:p>
            <a:pPr indent="0" lvl="0" marL="0" rtl="0" algn="l">
              <a:spcBef>
                <a:spcPts val="0"/>
              </a:spcBef>
              <a:spcAft>
                <a:spcPts val="0"/>
              </a:spcAft>
              <a:buNone/>
            </a:pPr>
            <a:r>
              <a:rPr lang="en-US"/>
              <a:t>• Gagliardo and colleagues found that bearings inferred from early track sections did not fully capture the deficits evident over the first hour and beyond. At the 53 km release, artificial-odor birds could depart without subsequently making substantial homeward progress.</a:t>
            </a:r>
            <a:endParaRPr/>
          </a:p>
          <a:p>
            <a:pPr indent="0" lvl="0" marL="0" rtl="0" algn="l">
              <a:spcBef>
                <a:spcPts val="0"/>
              </a:spcBef>
              <a:spcAft>
                <a:spcPts val="0"/>
              </a:spcAft>
              <a:buNone/>
            </a:pPr>
            <a:r>
              <a:rPr lang="en-US"/>
              <a:t>• The discrepancy limits conclusions drawn from departure alone. A compass can support an initial direction without an adequate location estimate, while an apparently poor early direction may later be corrected; neither possibility can be resolved from a single brief observation.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Gagliardo et al. (2011), Fig. 2. Contrasting routes after the three odor treatments.</a:t>
            </a:r>
            <a:endParaRPr/>
          </a:p>
          <a:p>
            <a:pPr indent="0" lvl="0" marL="0" rtl="0" algn="l">
              <a:spcBef>
                <a:spcPts val="0"/>
              </a:spcBef>
              <a:spcAft>
                <a:spcPts val="0"/>
              </a:spcAft>
              <a:buNone/>
            </a:pPr>
            <a:r>
              <a:rPr lang="en-US"/>
              <a:t>Figure source: https://doi.org/10.1371/journal.pone.0022385</a:t>
            </a:r>
            <a:endParaRPr/>
          </a:p>
        </p:txBody>
      </p:sp>
      <p:sp>
        <p:nvSpPr>
          <p:cNvPr id="336" name="Google Shape;336;p2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5" name="Shape 345"/>
        <p:cNvGrpSpPr/>
        <p:nvPr/>
      </p:nvGrpSpPr>
      <p:grpSpPr>
        <a:xfrm>
          <a:off x="0" y="0"/>
          <a:ext cx="0" cy="0"/>
          <a:chOff x="0" y="0"/>
          <a:chExt cx="0" cy="0"/>
        </a:xfrm>
      </p:grpSpPr>
      <p:sp>
        <p:nvSpPr>
          <p:cNvPr id="346" name="Google Shape;346;p2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47" name="Google Shape;347;p2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**Path integration** estimates displacement using information gathered during movement. It differs from a learned environmental map. Jorge and colleagues studied young pigeons 7–8 weeks old during displacement or simulated displacement, whereas Gagliardo and colleagues assessed complete homing tracks after odor treatments.</a:t>
            </a:r>
            <a:endParaRPr/>
          </a:p>
          <a:p>
            <a:pPr indent="0" lvl="0" marL="0" rtl="0" algn="l">
              <a:spcBef>
                <a:spcPts val="0"/>
              </a:spcBef>
              <a:spcAft>
                <a:spcPts val="0"/>
              </a:spcAft>
              <a:buNone/>
            </a:pPr>
            <a:r>
              <a:rPr lang="en-US"/>
              <a:t>• Jorge and colleagues compared natural odors, artificial odors and filtered air, including birds exposed at the home loft rather than transported. They measured activity-related labeling in the **hippocampal formation**, a forebrain region associated with spatial processing.</a:t>
            </a:r>
            <a:endParaRPr/>
          </a:p>
          <a:p>
            <a:pPr indent="0" lvl="0" marL="0" rtl="0" algn="l">
              <a:spcBef>
                <a:spcPts val="0"/>
              </a:spcBef>
              <a:spcAft>
                <a:spcPts val="0"/>
              </a:spcAft>
              <a:buNone/>
            </a:pPr>
            <a:r>
              <a:rPr lang="en-US"/>
              <a:t>• The neural and behavioral studies address different endpoints and developmental conditions. Odor-dependent brain activation can occur without establishing that artificial odors provide geographical information or restore the first-hour homing performance measured in the other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1e. Sampled subdivisions of the pigeon hippocampal formation.</a:t>
            </a:r>
            <a:endParaRPr/>
          </a:p>
          <a:p>
            <a:pPr indent="0" lvl="0" marL="0" rtl="0" algn="l">
              <a:spcBef>
                <a:spcPts val="0"/>
              </a:spcBef>
              <a:spcAft>
                <a:spcPts val="0"/>
              </a:spcAft>
              <a:buNone/>
            </a:pPr>
            <a:r>
              <a:rPr lang="en-US"/>
              <a:t>Figure source: https://doi.org/10.1098/rspb.2014.0025</a:t>
            </a:r>
            <a:endParaRPr/>
          </a:p>
        </p:txBody>
      </p:sp>
      <p:sp>
        <p:nvSpPr>
          <p:cNvPr id="348" name="Google Shape;348;p2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p2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59" name="Google Shape;359;p2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**c-Fos** is an activity-related gene product whose expression can mark recent neuronal activation. Immunoreactive nuclei are cells detected by antibody labeling. Their density provides a regional index accumulated over time, rather than an instantaneous record of action potentials.</a:t>
            </a:r>
            <a:endParaRPr/>
          </a:p>
          <a:p>
            <a:pPr indent="0" lvl="0" marL="0" rtl="0" algn="l">
              <a:spcBef>
                <a:spcPts val="0"/>
              </a:spcBef>
              <a:spcAft>
                <a:spcPts val="0"/>
              </a:spcAft>
              <a:buNone/>
            </a:pPr>
            <a:r>
              <a:rPr lang="en-US"/>
              <a:t>• Jorge and colleagues collected pigeon brains 1–2 h after odor manipulation and compared c-Fos-labeled nuclei per square millimetre. The sampled regions included the hippocampal formation, olfactory bulb and piriform cortex, with separate odor and flight conditions.</a:t>
            </a:r>
            <a:endParaRPr/>
          </a:p>
          <a:p>
            <a:pPr indent="0" lvl="0" marL="0" rtl="0" algn="l">
              <a:spcBef>
                <a:spcPts val="0"/>
              </a:spcBef>
              <a:spcAft>
                <a:spcPts val="0"/>
              </a:spcAft>
              <a:buNone/>
            </a:pPr>
            <a:r>
              <a:rPr lang="en-US"/>
              <a:t>• The measurement links exposure history to a regional response, but does not identify a neuron encoding home direction. Expression depends on cellular signaling and timing; these data do not specify a neurotransmitter, receptor subtype or ion channel responsible for the navigation-related effect.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3a–f. Regional c-Fos activation after odor and flight treatments.</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60" name="Google Shape;360;p2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71" name="Shape 371"/>
        <p:cNvGrpSpPr/>
        <p:nvPr/>
      </p:nvGrpSpPr>
      <p:grpSpPr>
        <a:xfrm>
          <a:off x="0" y="0"/>
          <a:ext cx="0" cy="0"/>
          <a:chOff x="0" y="0"/>
          <a:chExt cx="0" cy="0"/>
        </a:xfrm>
      </p:grpSpPr>
      <p:sp>
        <p:nvSpPr>
          <p:cNvPr id="372" name="Google Shape;372;p2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73" name="Google Shape;373;p2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**dorsolateral hippocampal area** is one subdivision of the pigeon hippocampal formation, distinct from its dorsomedial and triangular subdivisions. Jorge and colleagues measured c-Fos labeling separately in these regions to avoid treating the forebrain response as spatially uniform.</a:t>
            </a:r>
            <a:endParaRPr/>
          </a:p>
          <a:p>
            <a:pPr indent="0" lvl="0" marL="0" rtl="0" algn="l">
              <a:spcBef>
                <a:spcPts val="0"/>
              </a:spcBef>
              <a:spcAft>
                <a:spcPts val="0"/>
              </a:spcAft>
              <a:buNone/>
            </a:pPr>
            <a:r>
              <a:rPr lang="en-US"/>
              <a:t>• Natural odors during displacement and unfamiliar artificial odors increased dorsolateral activation relative to filtered air. Artificial odor exposure at the home loft also produced activation comparable to exposure during displacement. The response was quantified as labeled nuclei per square millimetre.</a:t>
            </a:r>
            <a:endParaRPr/>
          </a:p>
          <a:p>
            <a:pPr indent="0" lvl="0" marL="0" rtl="0" algn="l">
              <a:spcBef>
                <a:spcPts val="0"/>
              </a:spcBef>
              <a:spcAft>
                <a:spcPts val="0"/>
              </a:spcAft>
              <a:buNone/>
            </a:pPr>
            <a:r>
              <a:rPr lang="en-US"/>
              <a:t>• This pattern supports an effect of non-home odor exposure rather than a response uniquely dependent on geographical displacement. The authors proposed activation of navigation-related processing, but the labeling does not establish that the dorsolateral tissue computes a complete location estimate.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3e–f. Dorsomedial and dorsolateral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74" name="Google Shape;374;p2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85" name="Shape 385"/>
        <p:cNvGrpSpPr/>
        <p:nvPr/>
      </p:nvGrpSpPr>
      <p:grpSpPr>
        <a:xfrm>
          <a:off x="0" y="0"/>
          <a:ext cx="0" cy="0"/>
          <a:chOff x="0" y="0"/>
          <a:chExt cx="0" cy="0"/>
        </a:xfrm>
      </p:grpSpPr>
      <p:sp>
        <p:nvSpPr>
          <p:cNvPr id="386" name="Google Shape;386;p2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387" name="Google Shape;387;p2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**dorsal thalamic nucleus** is a brain region receiving inputs relevant to sensory integration. Jorge and colleagues compared this region with subdivisions of the hippocampal formation, using displacement and simulated displacement to separate movement history from odor treatment.</a:t>
            </a:r>
            <a:endParaRPr/>
          </a:p>
          <a:p>
            <a:pPr indent="0" lvl="0" marL="0" rtl="0" algn="l">
              <a:spcBef>
                <a:spcPts val="0"/>
              </a:spcBef>
              <a:spcAft>
                <a:spcPts val="0"/>
              </a:spcAft>
              <a:buNone/>
            </a:pPr>
            <a:r>
              <a:rPr lang="en-US"/>
              <a:t>• Dorsal thalamic c-Fos labeling increased in birds that experienced displacement and homing flight. Hippocampal subdivisions did not all follow the same response pattern, and the dorsolateral response was particularly associated with odor exposure. Activity was measured as nuclei per square millimetre.</a:t>
            </a:r>
            <a:endParaRPr/>
          </a:p>
          <a:p>
            <a:pPr indent="0" lvl="0" marL="0" rtl="0" algn="l">
              <a:spcBef>
                <a:spcPts val="0"/>
              </a:spcBef>
              <a:spcAft>
                <a:spcPts val="0"/>
              </a:spcAft>
              <a:buNone/>
            </a:pPr>
            <a:r>
              <a:rPr lang="en-US"/>
              <a:t>• Regional differences oppose an account based solely on uniform whole-brain arousal. Nevertheless, activity-related labeling cannot establish the direction of information flow or prove a causal connection between thalamic activation and the hippocampal response.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3c–d. Dorsal thalamic and triangular hippocampal activation.</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388" name="Google Shape;388;p2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99" name="Shape 399"/>
        <p:cNvGrpSpPr/>
        <p:nvPr/>
      </p:nvGrpSpPr>
      <p:grpSpPr>
        <a:xfrm>
          <a:off x="0" y="0"/>
          <a:ext cx="0" cy="0"/>
          <a:chOff x="0" y="0"/>
          <a:chExt cx="0" cy="0"/>
        </a:xfrm>
      </p:grpSpPr>
      <p:sp>
        <p:nvSpPr>
          <p:cNvPr id="400" name="Google Shape;400;p2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01" name="Google Shape;401;p2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**Lateralization** is a difference in function or activity between the left and right sides of the brain. Jorge and colleagues counted c-Fos-labeled nuclei separately in each hemisphere after odor exposure and homing rather than pooling bilateral tissue.</a:t>
            </a:r>
            <a:endParaRPr/>
          </a:p>
          <a:p>
            <a:pPr indent="0" lvl="0" marL="0" rtl="0" algn="l">
              <a:spcBef>
                <a:spcPts val="0"/>
              </a:spcBef>
              <a:spcAft>
                <a:spcPts val="0"/>
              </a:spcAft>
              <a:buNone/>
            </a:pPr>
            <a:r>
              <a:rPr lang="en-US"/>
              <a:t>• Olfactory treatments affected the hemispheric pattern in the olfactory bulb, piriform cortex and hippocampal subdivisions. Dorsolateral and dorsomedial hippocampal responses were consistent with a greater contribution of left-sided tissue to aspects of processing under the tested conditions.</a:t>
            </a:r>
            <a:endParaRPr/>
          </a:p>
          <a:p>
            <a:pPr indent="0" lvl="0" marL="0" rtl="0" algn="l">
              <a:spcBef>
                <a:spcPts val="0"/>
              </a:spcBef>
              <a:spcAft>
                <a:spcPts val="0"/>
              </a:spcAft>
              <a:buNone/>
            </a:pPr>
            <a:r>
              <a:rPr lang="en-US"/>
              <a:t>• These density measurements, expressed per square millimetre, support anatomical specificity. They do not prove that one hemisphere contains the olfactory map or that odor activation alone restores successful navigation; regional expression remains an indirect endpoint with multiple possible functional interpretations.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4a–e. Left and right forebrain activation in birds that flew home.</a:t>
            </a:r>
            <a:endParaRPr/>
          </a:p>
          <a:p>
            <a:pPr indent="0" lvl="0" marL="0" rtl="0" algn="l">
              <a:spcBef>
                <a:spcPts val="0"/>
              </a:spcBef>
              <a:spcAft>
                <a:spcPts val="0"/>
              </a:spcAft>
              <a:buNone/>
            </a:pPr>
            <a:r>
              <a:rPr lang="en-US"/>
              <a:t>Figure source: https://doi.org/10.1098/rspb.2014.0025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Jorge et al. (2014), Fig. 1a–g. Treatment conditions and sampled forebrain and vestibular anatomy.</a:t>
            </a:r>
            <a:endParaRPr/>
          </a:p>
          <a:p>
            <a:pPr indent="0" lvl="0" marL="0" rtl="0" algn="l">
              <a:spcBef>
                <a:spcPts val="0"/>
              </a:spcBef>
              <a:spcAft>
                <a:spcPts val="0"/>
              </a:spcAft>
              <a:buNone/>
            </a:pPr>
            <a:r>
              <a:rPr lang="en-US"/>
              <a:t>Figure source: https://doi.org/10.1098/rspb.2014.0025</a:t>
            </a:r>
            <a:endParaRPr/>
          </a:p>
        </p:txBody>
      </p:sp>
      <p:sp>
        <p:nvSpPr>
          <p:cNvPr id="402" name="Google Shape;402;p2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13" name="Shape 413"/>
        <p:cNvGrpSpPr/>
        <p:nvPr/>
      </p:nvGrpSpPr>
      <p:grpSpPr>
        <a:xfrm>
          <a:off x="0" y="0"/>
          <a:ext cx="0" cy="0"/>
          <a:chOff x="0" y="0"/>
          <a:chExt cx="0" cy="0"/>
        </a:xfrm>
      </p:grpSpPr>
      <p:sp>
        <p:nvSpPr>
          <p:cNvPr id="414" name="Google Shape;414;p2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15" name="Google Shape;415;p2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**trigeminal nerve** carries sensory information from the head. Its **ophthalmic branch**, designated V1, projects to brainstem trigeminal nuclei. Lefeldt and colleagues asked whether changing magnetic fields activated these receiving regions in pigeons.</a:t>
            </a:r>
            <a:endParaRPr/>
          </a:p>
          <a:p>
            <a:pPr indent="0" lvl="0" marL="0" rtl="0" algn="l">
              <a:spcBef>
                <a:spcPts val="0"/>
              </a:spcBef>
              <a:spcAft>
                <a:spcPts val="0"/>
              </a:spcAft>
              <a:buNone/>
            </a:pPr>
            <a:r>
              <a:rPr lang="en-US"/>
              <a:t>• Birds experienced a constantly changing magnetic field, a compensated zero field, or the changing field after bilateral V1 section. Exposure lasted 3 h. **ZENK**, an activity-related gene product, was detected in the principal and spinal trigeminal nuclei.</a:t>
            </a:r>
            <a:endParaRPr/>
          </a:p>
          <a:p>
            <a:pPr indent="0" lvl="0" marL="0" rtl="0" algn="l">
              <a:spcBef>
                <a:spcPts val="0"/>
              </a:spcBef>
              <a:spcAft>
                <a:spcPts val="0"/>
              </a:spcAft>
              <a:buNone/>
            </a:pPr>
            <a:r>
              <a:rPr lang="en-US"/>
              <a:t>• Changing-field exposure increased regional labeling when V1 was intact, while field removal and nerve section reduced it. The evidence links magnetic stimulation to a peripheral afferent pathway, but does not identify the receptor cell or establish successful magnetic navigation in the arena.</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16" name="Google Shape;416;p2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25" name="Shape 425"/>
        <p:cNvGrpSpPr/>
        <p:nvPr/>
      </p:nvGrpSpPr>
      <p:grpSpPr>
        <a:xfrm>
          <a:off x="0" y="0"/>
          <a:ext cx="0" cy="0"/>
          <a:chOff x="0" y="0"/>
          <a:chExt cx="0" cy="0"/>
        </a:xfrm>
      </p:grpSpPr>
      <p:sp>
        <p:nvSpPr>
          <p:cNvPr id="426" name="Google Shape;426;p2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27" name="Google Shape;427;p2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**principal sensory nucleus of the trigeminal nerve**, abbreviated PrV, receives ascending sensory input from the head. Its ventral region, PrVv, can be distinguished from the dorsal region using the brainstem anatomy preserved in the source sections.</a:t>
            </a:r>
            <a:endParaRPr/>
          </a:p>
          <a:p>
            <a:pPr indent="0" lvl="0" marL="0" rtl="0" algn="l">
              <a:spcBef>
                <a:spcPts val="0"/>
              </a:spcBef>
              <a:spcAft>
                <a:spcPts val="0"/>
              </a:spcAft>
              <a:buNone/>
            </a:pPr>
            <a:r>
              <a:rPr lang="en-US"/>
              <a:t>• After 3 h of changing magnetic fields, Lefeldt and colleagues found ZENK labeling concentrated in a crescent-shaped ventral region. Zero-field exposure and bilateral V1 section reduced the response. The original micrographs retain a 100 µm scale bar.</a:t>
            </a:r>
            <a:endParaRPr/>
          </a:p>
          <a:p>
            <a:pPr indent="0" lvl="0" marL="0" rtl="0" algn="l">
              <a:spcBef>
                <a:spcPts val="0"/>
              </a:spcBef>
              <a:spcAft>
                <a:spcPts val="0"/>
              </a:spcAft>
              <a:buNone/>
            </a:pPr>
            <a:r>
              <a:rPr lang="en-US"/>
              <a:t>• Spatial concentration is consistent with a specific receiving region rather than uniform activation of every PrV neuron. ZENK labeling does not measure the firing rate of those cells, establish their magnetic tuning or identify whether the input encodes direction, intensity or another field property.</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1a–c. Principal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28" name="Google Shape;428;p2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37" name="Shape 437"/>
        <p:cNvGrpSpPr/>
        <p:nvPr/>
      </p:nvGrpSpPr>
      <p:grpSpPr>
        <a:xfrm>
          <a:off x="0" y="0"/>
          <a:ext cx="0" cy="0"/>
          <a:chOff x="0" y="0"/>
          <a:chExt cx="0" cy="0"/>
        </a:xfrm>
      </p:grpSpPr>
      <p:sp>
        <p:nvSpPr>
          <p:cNvPr id="438" name="Google Shape;438;p3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39" name="Google Shape;439;p3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**spinal trigeminal nucleus**, or SpV, receives descending trigeminal sensory input. Lefeldt and colleagues distinguished medial and lateral subdivisions, allowing the magnetic response to be localized rather than assigning all labeled cells to one undifferentiated brainstem region.</a:t>
            </a:r>
            <a:endParaRPr/>
          </a:p>
          <a:p>
            <a:pPr indent="0" lvl="0" marL="0" rtl="0" algn="l">
              <a:spcBef>
                <a:spcPts val="0"/>
              </a:spcBef>
              <a:spcAft>
                <a:spcPts val="0"/>
              </a:spcAft>
              <a:buNone/>
            </a:pPr>
            <a:r>
              <a:rPr lang="en-US"/>
              <a:t>• The medial subdivision showed the strongest increase under changing magnetic fields, and bilateral V1 section reduced activation. Source sections compare changing-field, zero-field and sectioned conditions directly, with a 200 µm scale bar for the spinal nucleus.</a:t>
            </a:r>
            <a:endParaRPr/>
          </a:p>
          <a:p>
            <a:pPr indent="0" lvl="0" marL="0" rtl="0" algn="l">
              <a:spcBef>
                <a:spcPts val="0"/>
              </a:spcBef>
              <a:spcAft>
                <a:spcPts val="0"/>
              </a:spcAft>
              <a:buNone/>
            </a:pPr>
            <a:r>
              <a:rPr lang="en-US"/>
              <a:t>• The loss after section supports a contribution from V1-transmitted information. It does not establish that the activated SpV cells form a magnetic map or that they are sufficient for choosing a homeward course; the experiment measured labeling without a homing task.</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1d–f. Spinal trigeminal nucleus activation across treatments.</a:t>
            </a:r>
            <a:endParaRPr/>
          </a:p>
          <a:p>
            <a:pPr indent="0" lvl="0" marL="0" rtl="0" algn="l">
              <a:spcBef>
                <a:spcPts val="0"/>
              </a:spcBef>
              <a:spcAft>
                <a:spcPts val="0"/>
              </a:spcAft>
              <a:buNone/>
            </a:pPr>
            <a:r>
              <a:rPr lang="en-US"/>
              <a:t>Figure source: https://doi.org/10.1098/rsif.2014.0777</a:t>
            </a:r>
            <a:endParaRPr/>
          </a:p>
        </p:txBody>
      </p:sp>
      <p:sp>
        <p:nvSpPr>
          <p:cNvPr id="440" name="Google Shape;440;p3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49" name="Shape 449"/>
        <p:cNvGrpSpPr/>
        <p:nvPr/>
      </p:nvGrpSpPr>
      <p:grpSpPr>
        <a:xfrm>
          <a:off x="0" y="0"/>
          <a:ext cx="0" cy="0"/>
          <a:chOff x="0" y="0"/>
          <a:chExt cx="0" cy="0"/>
        </a:xfrm>
      </p:grpSpPr>
      <p:sp>
        <p:nvSpPr>
          <p:cNvPr id="450" name="Google Shape;450;p3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51" name="Google Shape;451;p3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**Neuronal tracing** labels anatomical pathways from an injection site. Lefeldt and colleagues introduced cholera toxin B into V1 to identify its central projections, then compared labeled afferents with regions containing ZENK-positive neurons after magnetic stimulation.</a:t>
            </a:r>
            <a:endParaRPr/>
          </a:p>
          <a:p>
            <a:pPr indent="0" lvl="0" marL="0" rtl="0" algn="l">
              <a:spcBef>
                <a:spcPts val="0"/>
              </a:spcBef>
              <a:spcAft>
                <a:spcPts val="0"/>
              </a:spcAft>
              <a:buNone/>
            </a:pPr>
            <a:r>
              <a:rPr lang="en-US"/>
              <a:t>• V1 fibers terminated in the principal and spinal trigeminal nuclei. The published overlays preserve the spatial relationship between traced fibers and activation, with 100 µm and 200 µm scales. Acetylcholinesterase staining supplied anatomical boundaries for locating the subdivisions.</a:t>
            </a:r>
            <a:endParaRPr/>
          </a:p>
          <a:p>
            <a:pPr indent="0" lvl="0" marL="0" rtl="0" algn="l">
              <a:spcBef>
                <a:spcPts val="0"/>
              </a:spcBef>
              <a:spcAft>
                <a:spcPts val="0"/>
              </a:spcAft>
              <a:buNone/>
            </a:pPr>
            <a:r>
              <a:rPr lang="en-US"/>
              <a:t>• Regional overlap supports a plausible route for peripheral signals to reach the responsive tissue. It does not establish a functional synapse onto each labeled cell. Acetylcholinesterase used as an anatomical marker also does not prove that acetylcholine transmits the putative magnetic signal.</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2a–f. Trigeminal anatomy, afferent tracing and ZENK labeling.</a:t>
            </a:r>
            <a:endParaRPr/>
          </a:p>
          <a:p>
            <a:pPr indent="0" lvl="0" marL="0" rtl="0" algn="l">
              <a:spcBef>
                <a:spcPts val="0"/>
              </a:spcBef>
              <a:spcAft>
                <a:spcPts val="0"/>
              </a:spcAft>
              <a:buNone/>
            </a:pPr>
            <a:r>
              <a:rPr lang="en-US"/>
              <a:t>Figure source: https://doi.org/10.1098/rsif.2014.0777</a:t>
            </a:r>
            <a:endParaRPr/>
          </a:p>
        </p:txBody>
      </p:sp>
      <p:sp>
        <p:nvSpPr>
          <p:cNvPr id="452" name="Google Shape;452;p3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61" name="Shape 461"/>
        <p:cNvGrpSpPr/>
        <p:nvPr/>
      </p:nvGrpSpPr>
      <p:grpSpPr>
        <a:xfrm>
          <a:off x="0" y="0"/>
          <a:ext cx="0" cy="0"/>
          <a:chOff x="0" y="0"/>
          <a:chExt cx="0" cy="0"/>
        </a:xfrm>
      </p:grpSpPr>
      <p:sp>
        <p:nvSpPr>
          <p:cNvPr id="462" name="Google Shape;462;p3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63" name="Google Shape;463;p3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**loss-of-function test** interrupts a candidate pathway and measures the remaining response. Lefeldt and colleagues cut both V1 branches, then exposed the birds to the same changing magnetic stimulus used for intact animals.</a:t>
            </a:r>
            <a:endParaRPr/>
          </a:p>
          <a:p>
            <a:pPr indent="0" lvl="0" marL="0" rtl="0" algn="l">
              <a:spcBef>
                <a:spcPts val="0"/>
              </a:spcBef>
              <a:spcAft>
                <a:spcPts val="0"/>
              </a:spcAft>
              <a:buNone/>
            </a:pPr>
            <a:r>
              <a:rPr lang="en-US"/>
              <a:t>• Trigeminal activation decreased after section, whereas the **optic tectum**, a midbrain sensory region included as a comparison, did not differ appreciably among the magnetic conditions. Counts were collected after 3 h of exposure, with field and nerve manipulations compared separately.</a:t>
            </a:r>
            <a:endParaRPr/>
          </a:p>
          <a:p>
            <a:pPr indent="0" lvl="0" marL="0" rtl="0" algn="l">
              <a:spcBef>
                <a:spcPts val="0"/>
              </a:spcBef>
              <a:spcAft>
                <a:spcPts val="0"/>
              </a:spcAft>
              <a:buNone/>
            </a:pPr>
            <a:r>
              <a:rPr lang="en-US"/>
              <a:t>• This specificity argues against uniform activation of all measured brain regions. It does not establish the molecular transducer or the bird’s perceptual experience. The unchanged tectal control cannot rule out every other visual or magnetic pathway in the brain.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3. Activation in trigeminal regions and the optic tectum.</a:t>
            </a:r>
            <a:endParaRPr/>
          </a:p>
          <a:p>
            <a:pPr indent="0" lvl="0" marL="0" rtl="0" algn="l">
              <a:spcBef>
                <a:spcPts val="0"/>
              </a:spcBef>
              <a:spcAft>
                <a:spcPts val="0"/>
              </a:spcAft>
              <a:buNone/>
            </a:pPr>
            <a:r>
              <a:rPr lang="en-US"/>
              <a:t>Figure source: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6a–c and enlargements. Optic tectum anatomy and antibody-staining controls.</a:t>
            </a:r>
            <a:endParaRPr/>
          </a:p>
          <a:p>
            <a:pPr indent="0" lvl="0" marL="0" rtl="0" algn="l">
              <a:spcBef>
                <a:spcPts val="0"/>
              </a:spcBef>
              <a:spcAft>
                <a:spcPts val="0"/>
              </a:spcAft>
              <a:buNone/>
            </a:pPr>
            <a:r>
              <a:rPr lang="en-US"/>
              <a:t>Figure source: https://doi.org/10.1098/rsif.2014.0777</a:t>
            </a:r>
            <a:endParaRPr/>
          </a:p>
        </p:txBody>
      </p:sp>
      <p:sp>
        <p:nvSpPr>
          <p:cNvPr id="464" name="Google Shape;464;p3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75" name="Shape 475"/>
        <p:cNvGrpSpPr/>
        <p:nvPr/>
      </p:nvGrpSpPr>
      <p:grpSpPr>
        <a:xfrm>
          <a:off x="0" y="0"/>
          <a:ext cx="0" cy="0"/>
          <a:chOff x="0" y="0"/>
          <a:chExt cx="0" cy="0"/>
        </a:xfrm>
      </p:grpSpPr>
      <p:sp>
        <p:nvSpPr>
          <p:cNvPr id="476" name="Google Shape;476;p3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77" name="Google Shape;477;p3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V1 also carries ordinary mechanical information from the head, so pecking, grooming and contact with the cage could activate its receiving nuclei. A magnetic manipulation requires behavioral controls before increased trigeminal labeling can be assigned to field-dependent input.</a:t>
            </a:r>
            <a:endParaRPr/>
          </a:p>
          <a:p>
            <a:pPr indent="0" lvl="0" marL="0" rtl="0" algn="l">
              <a:spcBef>
                <a:spcPts val="0"/>
              </a:spcBef>
              <a:spcAft>
                <a:spcPts val="0"/>
              </a:spcAft>
              <a:buNone/>
            </a:pPr>
            <a:r>
              <a:rPr lang="en-US"/>
              <a:t>• Lefeldt and colleagues monitored pigeons with infrared cameras during the 3 h exposure and quantified movement and beak contacts. They found no systematic positive relationship explaining the regional ZENK increase as a consequence of more mechanical stimulation under the changing-field condition.</a:t>
            </a:r>
            <a:endParaRPr/>
          </a:p>
          <a:p>
            <a:pPr indent="0" lvl="0" marL="0" rtl="0" algn="l">
              <a:spcBef>
                <a:spcPts val="0"/>
              </a:spcBef>
              <a:spcAft>
                <a:spcPts val="0"/>
              </a:spcAft>
              <a:buNone/>
            </a:pPr>
            <a:r>
              <a:rPr lang="en-US"/>
              <a:t>• The controls reduce a simple contact-driven account without identifying the sensory receptor. The experiment also supplied no stable navigational direction and did not ask the pigeons to orient; neural responsiveness must be distinguished from evidence for a behavioral compass or map.</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Lefeldt et al. (2014), Fig. 1a–f. ZENK labeling after magnetic stimulation and nerve section.</a:t>
            </a:r>
            <a:endParaRPr/>
          </a:p>
          <a:p>
            <a:pPr indent="0" lvl="0" marL="0" rtl="0" algn="l">
              <a:spcBef>
                <a:spcPts val="0"/>
              </a:spcBef>
              <a:spcAft>
                <a:spcPts val="0"/>
              </a:spcAft>
              <a:buNone/>
            </a:pPr>
            <a:r>
              <a:rPr lang="en-US"/>
              <a:t>Figure source: https://doi.org/10.1098/rsif.2014.0777</a:t>
            </a:r>
            <a:endParaRPr/>
          </a:p>
        </p:txBody>
      </p:sp>
      <p:sp>
        <p:nvSpPr>
          <p:cNvPr id="478" name="Google Shape;478;p3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87" name="Shape 487"/>
        <p:cNvGrpSpPr/>
        <p:nvPr/>
      </p:nvGrpSpPr>
      <p:grpSpPr>
        <a:xfrm>
          <a:off x="0" y="0"/>
          <a:ext cx="0" cy="0"/>
          <a:chOff x="0" y="0"/>
          <a:chExt cx="0" cy="0"/>
        </a:xfrm>
      </p:grpSpPr>
      <p:sp>
        <p:nvSpPr>
          <p:cNvPr id="488" name="Google Shape;488;p3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489" name="Google Shape;489;p3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**Magnetite** is an iron oxide proposed as a material for magnetic sensory transduction. Finding iron in tissue is insufficient to identify a magnetic receptor, because iron also occurs in metabolic storage and immune cells.</a:t>
            </a:r>
            <a:endParaRPr/>
          </a:p>
          <a:p>
            <a:pPr indent="0" lvl="0" marL="0" rtl="0" algn="l">
              <a:spcBef>
                <a:spcPts val="0"/>
              </a:spcBef>
              <a:spcAft>
                <a:spcPts val="0"/>
              </a:spcAft>
              <a:buNone/>
            </a:pPr>
            <a:r>
              <a:rPr lang="en-US"/>
              <a:t>• Treiber and colleagues stained pigeon upper beaks with **Prussian blue**, which detects ferric iron, and mapped labeled cells through serial sections. Iron-rich cells occurred in respiratory epithelium, subepidermal tissue and feather follicles. The source preserves the anatomy of these distinct tissue locations.</a:t>
            </a:r>
            <a:endParaRPr/>
          </a:p>
          <a:p>
            <a:pPr indent="0" lvl="0" marL="0" rtl="0" algn="l">
              <a:spcBef>
                <a:spcPts val="0"/>
              </a:spcBef>
              <a:spcAft>
                <a:spcPts val="0"/>
              </a:spcAft>
              <a:buNone/>
            </a:pPr>
            <a:r>
              <a:rPr lang="en-US"/>
              <a:t>• The observations challenge identification by position and iron content alone. Prussian blue is not a selective test for magnetite or neurons, so additional cellular markers and ultrastructure were needed before assigning a sensory function to the stained cells.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490" name="Google Shape;490;p3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499" name="Shape 499"/>
        <p:cNvGrpSpPr/>
        <p:nvPr/>
      </p:nvGrpSpPr>
      <p:grpSpPr>
        <a:xfrm>
          <a:off x="0" y="0"/>
          <a:ext cx="0" cy="0"/>
          <a:chOff x="0" y="0"/>
          <a:chExt cx="0" cy="0"/>
        </a:xfrm>
      </p:grpSpPr>
      <p:sp>
        <p:nvSpPr>
          <p:cNvPr id="500" name="Google Shape;500;p3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01" name="Google Shape;501;p3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reproducible sensory organ should have an anatomical organization consistent with its proposed function. Earlier descriptions had assigned magnetoreception to six bilateral iron-rich clusters in the upper beak, but that claim required systematic examination across individuals.</a:t>
            </a:r>
            <a:endParaRPr/>
          </a:p>
          <a:p>
            <a:pPr indent="0" lvl="0" marL="0" rtl="0" algn="l">
              <a:spcBef>
                <a:spcPts val="0"/>
              </a:spcBef>
              <a:spcAft>
                <a:spcPts val="0"/>
              </a:spcAft>
              <a:buNone/>
            </a:pPr>
            <a:r>
              <a:rPr lang="en-US"/>
              <a:t>• Treiber and colleagues counted Prussian-blue-positive cells in successive 500 µm increments along the beak. Their locations and numbers varied widely among pigeons, with cells distributed through multiple tissues rather than a consistent six-cluster arrangement.</a:t>
            </a:r>
            <a:endParaRPr/>
          </a:p>
          <a:p>
            <a:pPr indent="0" lvl="0" marL="0" rtl="0" algn="l">
              <a:spcBef>
                <a:spcPts val="0"/>
              </a:spcBef>
              <a:spcAft>
                <a:spcPts val="0"/>
              </a:spcAft>
              <a:buNone/>
            </a:pPr>
            <a:r>
              <a:rPr lang="en-US"/>
              <a:t>• The distribution does not fit the claimed stereotyped receptor array. Variation alone cannot exclude every possible sensory cell elsewhere in the beak, but it removes a central anatomical premise of that specific magnetic-receptor account.</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2a–c. Variable distribution of iron-positive cells along the beak.</a:t>
            </a:r>
            <a:endParaRPr/>
          </a:p>
          <a:p>
            <a:pPr indent="0" lvl="0" marL="0" rtl="0" algn="l">
              <a:spcBef>
                <a:spcPts val="0"/>
              </a:spcBef>
              <a:spcAft>
                <a:spcPts val="0"/>
              </a:spcAft>
              <a:buNone/>
            </a:pPr>
            <a:r>
              <a:rPr lang="en-US"/>
              <a:t>Figure source: https://doi.org/10.1038/nature11046</a:t>
            </a:r>
            <a:endParaRPr/>
          </a:p>
        </p:txBody>
      </p:sp>
      <p:sp>
        <p:nvSpPr>
          <p:cNvPr id="502" name="Google Shape;502;p3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11" name="Shape 511"/>
        <p:cNvGrpSpPr/>
        <p:nvPr/>
      </p:nvGrpSpPr>
      <p:grpSpPr>
        <a:xfrm>
          <a:off x="0" y="0"/>
          <a:ext cx="0" cy="0"/>
          <a:chOff x="0" y="0"/>
          <a:chExt cx="0" cy="0"/>
        </a:xfrm>
      </p:grpSpPr>
      <p:sp>
        <p:nvSpPr>
          <p:cNvPr id="512" name="Google Shape;512;p3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13" name="Google Shape;513;p3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**Ultrastructure** is cellular organization resolved with electron microscopy. Treiber and colleagues examined iron-rich beak cells in three tissue compartments rather than assuming that their blue staining indicated sensory dendrites.</a:t>
            </a:r>
            <a:endParaRPr/>
          </a:p>
          <a:p>
            <a:pPr indent="0" lvl="0" marL="0" rtl="0" algn="l">
              <a:spcBef>
                <a:spcPts val="0"/>
              </a:spcBef>
              <a:spcAft>
                <a:spcPts val="0"/>
              </a:spcAft>
              <a:buNone/>
            </a:pPr>
            <a:r>
              <a:rPr lang="en-US"/>
              <a:t>• Cells contained ferritin-like granules 6–9 nm in diameter, **haemosiderin**, an aggregated iron-storage material, and membrane-bound iron-containing compartments termed **siderosomes**. The source micrographs retain 1 µm scale bars and the labeled cellular structures.</a:t>
            </a:r>
            <a:endParaRPr/>
          </a:p>
          <a:p>
            <a:pPr indent="0" lvl="0" marL="0" rtl="0" algn="l">
              <a:spcBef>
                <a:spcPts val="0"/>
              </a:spcBef>
              <a:spcAft>
                <a:spcPts val="0"/>
              </a:spcAft>
              <a:buNone/>
            </a:pPr>
            <a:r>
              <a:rPr lang="en-US"/>
              <a:t>• These features are consistent with cellular iron storage rather than the proposed specialized magnetite receptor. Electron microscopy and material analyses did not identify the claimed sensory magnetite organization, but this negative result concerns the sampled iron-rich cells, not every possible magnetic transduction mechanism.</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3a–f. Ultrastructure of iron-rich cells in three beak tissues.</a:t>
            </a:r>
            <a:endParaRPr/>
          </a:p>
          <a:p>
            <a:pPr indent="0" lvl="0" marL="0" rtl="0" algn="l">
              <a:spcBef>
                <a:spcPts val="0"/>
              </a:spcBef>
              <a:spcAft>
                <a:spcPts val="0"/>
              </a:spcAft>
              <a:buNone/>
            </a:pPr>
            <a:r>
              <a:rPr lang="en-US"/>
              <a:t>Figure source: https://doi.org/10.1038/nature11046</a:t>
            </a:r>
            <a:endParaRPr/>
          </a:p>
        </p:txBody>
      </p:sp>
      <p:sp>
        <p:nvSpPr>
          <p:cNvPr id="514" name="Google Shape;514;p3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23" name="Shape 523"/>
        <p:cNvGrpSpPr/>
        <p:nvPr/>
      </p:nvGrpSpPr>
      <p:grpSpPr>
        <a:xfrm>
          <a:off x="0" y="0"/>
          <a:ext cx="0" cy="0"/>
          <a:chOff x="0" y="0"/>
          <a:chExt cx="0" cy="0"/>
        </a:xfrm>
      </p:grpSpPr>
      <p:sp>
        <p:nvSpPr>
          <p:cNvPr id="524" name="Google Shape;524;p37: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25" name="Google Shape;525;p37: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**Macrophages** are immune cells that engulf material and participate in tissue defense. **MHC II** is a cell-surface antigen-presentation marker expressed by several immune cell types. Treiber and colleagues combined this marker with iron staining to determine the identity of the beak cells.</a:t>
            </a:r>
            <a:endParaRPr/>
          </a:p>
          <a:p>
            <a:pPr indent="0" lvl="0" marL="0" rtl="0" algn="l">
              <a:spcBef>
                <a:spcPts val="0"/>
              </a:spcBef>
              <a:spcAft>
                <a:spcPts val="0"/>
              </a:spcAft>
              <a:buNone/>
            </a:pPr>
            <a:r>
              <a:rPr lang="en-US"/>
              <a:t>• MHC II labeling colocalized with iron-positive cells in respiratory epithelium, subepidermal tissue and feather follicles. Combined with their ultrastructure and lack of convincing neuronal-marker labeling, the findings supported macrophages rather than magnetosensitive neurons. The micrographs preserve a 10 µm scale.</a:t>
            </a:r>
            <a:endParaRPr/>
          </a:p>
          <a:p>
            <a:pPr indent="0" lvl="0" marL="0" rtl="0" algn="l">
              <a:spcBef>
                <a:spcPts val="0"/>
              </a:spcBef>
              <a:spcAft>
                <a:spcPts val="0"/>
              </a:spcAft>
              <a:buNone/>
            </a:pPr>
            <a:r>
              <a:rPr lang="en-US"/>
              <a:t>• Cell identity matters because iron accumulation in a macrophage need not transduce magnetic information. MHC II alone is not a uniquely macrophage-specific test; the inference relies on converging morphology, marker expression and material evidence across the sampled tissues.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4a–c. MHC II staining of iron-positive beak cells.</a:t>
            </a:r>
            <a:endParaRPr/>
          </a:p>
          <a:p>
            <a:pPr indent="0" lvl="0" marL="0" rtl="0" algn="l">
              <a:spcBef>
                <a:spcPts val="0"/>
              </a:spcBef>
              <a:spcAft>
                <a:spcPts val="0"/>
              </a:spcAft>
              <a:buNone/>
            </a:pPr>
            <a:r>
              <a:rPr lang="en-US"/>
              <a:t>Figure source: https://doi.org/10.1038/nature11046</a:t>
            </a:r>
            <a:endParaRPr/>
          </a:p>
        </p:txBody>
      </p:sp>
      <p:sp>
        <p:nvSpPr>
          <p:cNvPr id="526" name="Google Shape;526;p37: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35" name="Shape 535"/>
        <p:cNvGrpSpPr/>
        <p:nvPr/>
      </p:nvGrpSpPr>
      <p:grpSpPr>
        <a:xfrm>
          <a:off x="0" y="0"/>
          <a:ext cx="0" cy="0"/>
          <a:chOff x="0" y="0"/>
          <a:chExt cx="0" cy="0"/>
        </a:xfrm>
      </p:grpSpPr>
      <p:sp>
        <p:nvSpPr>
          <p:cNvPr id="536" name="Google Shape;536;p38: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37" name="Google Shape;537;p38: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peripheral cell candidate and a responsive neural pathway are distinct claims. Treiber and colleagues rejected the identification of the sampled iron-rich beak cells as magnetosensitive neurons, using histology, immune labeling and electron microscopy.</a:t>
            </a:r>
            <a:endParaRPr/>
          </a:p>
          <a:p>
            <a:pPr indent="0" lvl="0" marL="0" rtl="0" algn="l">
              <a:spcBef>
                <a:spcPts val="0"/>
              </a:spcBef>
              <a:spcAft>
                <a:spcPts val="0"/>
              </a:spcAft>
              <a:buNone/>
            </a:pPr>
            <a:r>
              <a:rPr lang="en-US"/>
              <a:t>• Lefeldt and colleagues subsequently found magnetic-field-related ZENK induction in trigeminal nuclei that depended on intact V1 after 3 h of exposure. Those data establish a pathway-associated response without locating the transducer among the cells characterized by Treiber and colleagues.</a:t>
            </a:r>
            <a:endParaRPr/>
          </a:p>
          <a:p>
            <a:pPr indent="0" lvl="0" marL="0" rtl="0" algn="l">
              <a:spcBef>
                <a:spcPts val="0"/>
              </a:spcBef>
              <a:spcAft>
                <a:spcPts val="0"/>
              </a:spcAft>
              <a:buNone/>
            </a:pPr>
            <a:r>
              <a:rPr lang="en-US"/>
              <a:t>• The results can coexist: the earlier beak-cell candidate fails while the origin of the V1-associated response remains unresolved. Neither experiment identifies a magnetic receptor molecule, a mechanically gated channel or a complete causal circuit for homing behavior.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Treiber et al. (2012), Fig. 1a–k. Anatomical distribution and nucleation of iron-rich beak cells.</a:t>
            </a:r>
            <a:endParaRPr/>
          </a:p>
          <a:p>
            <a:pPr indent="0" lvl="0" marL="0" rtl="0" algn="l">
              <a:spcBef>
                <a:spcPts val="0"/>
              </a:spcBef>
              <a:spcAft>
                <a:spcPts val="0"/>
              </a:spcAft>
              <a:buNone/>
            </a:pPr>
            <a:r>
              <a:rPr lang="en-US"/>
              <a:t>Figure source: https://doi.org/10.1038/nature11046</a:t>
            </a:r>
            <a:endParaRPr/>
          </a:p>
        </p:txBody>
      </p:sp>
      <p:sp>
        <p:nvSpPr>
          <p:cNvPr id="538" name="Google Shape;538;p38: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47" name="Shape 547"/>
        <p:cNvGrpSpPr/>
        <p:nvPr/>
      </p:nvGrpSpPr>
      <p:grpSpPr>
        <a:xfrm>
          <a:off x="0" y="0"/>
          <a:ext cx="0" cy="0"/>
          <a:chOff x="0" y="0"/>
          <a:chExt cx="0" cy="0"/>
        </a:xfrm>
      </p:grpSpPr>
      <p:sp>
        <p:nvSpPr>
          <p:cNvPr id="548" name="Google Shape;548;p39: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49" name="Google Shape;549;p39: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**local field potential**, or LFP, is an extracellular voltage reflecting coordinated activity and transmembrane currents in surrounding neural tissue. It differs from the isolated action potentials of an identified single neuron.</a:t>
            </a:r>
            <a:endParaRPr/>
          </a:p>
          <a:p>
            <a:pPr indent="0" lvl="0" marL="0" rtl="0" algn="l">
              <a:spcBef>
                <a:spcPts val="0"/>
              </a:spcBef>
              <a:spcAft>
                <a:spcPts val="0"/>
              </a:spcAft>
              <a:buNone/>
            </a:pPr>
            <a:r>
              <a:rPr lang="en-US"/>
              <a:t>• Yang and colleagues recorded hippocampal LFPs together with position during outdoor pigeon homing. Electrodes sampled the left hippocampal formation, while the positional recorder tracked the flight. Release sites were more than 0.8 km from the loft, and trials used clear weather with low wind.</a:t>
            </a:r>
            <a:endParaRPr/>
          </a:p>
          <a:p>
            <a:pPr indent="0" lvl="0" marL="0" rtl="0" algn="l">
              <a:spcBef>
                <a:spcPts val="0"/>
              </a:spcBef>
              <a:spcAft>
                <a:spcPts val="0"/>
              </a:spcAft>
              <a:buNone/>
            </a:pPr>
            <a:r>
              <a:rPr lang="en-US"/>
              <a:t>• The paired records associate neural state with behavior under natural movement conditions. They do not identify a neuron encoding a home vector or establish which transmitter generates the signal; population activity and movement artifacts require separate interpretation.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50" name="Google Shape;550;p39: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59" name="Shape 559"/>
        <p:cNvGrpSpPr/>
        <p:nvPr/>
      </p:nvGrpSpPr>
      <p:grpSpPr>
        <a:xfrm>
          <a:off x="0" y="0"/>
          <a:ext cx="0" cy="0"/>
          <a:chOff x="0" y="0"/>
          <a:chExt cx="0" cy="0"/>
        </a:xfrm>
      </p:grpSpPr>
      <p:sp>
        <p:nvSpPr>
          <p:cNvPr id="560" name="Google Shape;560;p40: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61" name="Google Shape;561;p40: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Flight produces muscle activity and electrode movement that can contaminate neural recordings. **Denoising** separates estimated signal components to reduce these contributions, but processed data must still be compared with the original voltages.</a:t>
            </a:r>
            <a:endParaRPr/>
          </a:p>
          <a:p>
            <a:pPr indent="0" lvl="0" marL="0" rtl="0" algn="l">
              <a:spcBef>
                <a:spcPts val="0"/>
              </a:spcBef>
              <a:spcAft>
                <a:spcPts val="0"/>
              </a:spcAft>
              <a:buNone/>
            </a:pPr>
            <a:r>
              <a:rPr lang="en-US"/>
              <a:t>• Yang and colleagues used multivariate empirical mode decomposition followed by independent component analysis. The source preserves raw and processed multichannel hippocampal traces and their time–frequency power. Recordings spanned the transition from initial circling to directed flight toward the loft.</a:t>
            </a:r>
            <a:endParaRPr/>
          </a:p>
          <a:p>
            <a:pPr indent="0" lvl="0" marL="0" rtl="0" algn="l">
              <a:spcBef>
                <a:spcPts val="0"/>
              </a:spcBef>
              <a:spcAft>
                <a:spcPts val="0"/>
              </a:spcAft>
              <a:buNone/>
            </a:pPr>
            <a:r>
              <a:rPr lang="en-US"/>
              <a:t>• The analysis supports stage-associated differences that survived the reported processing comparisons. It cannot exclude every residual artifact or assign each frequency component to a particular cell type. A recording during movement remains correlational even when its preprocessing is carefully controlled.</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1D. Raw and processed hippocampal recordings.</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62" name="Google Shape;562;p40: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73" name="Shape 573"/>
        <p:cNvGrpSpPr/>
        <p:nvPr/>
      </p:nvGrpSpPr>
      <p:grpSpPr>
        <a:xfrm>
          <a:off x="0" y="0"/>
          <a:ext cx="0" cy="0"/>
          <a:chOff x="0" y="0"/>
          <a:chExt cx="0" cy="0"/>
        </a:xfrm>
      </p:grpSpPr>
      <p:sp>
        <p:nvSpPr>
          <p:cNvPr id="574" name="Google Shape;574;p41: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75" name="Google Shape;575;p41: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The **initial decision-making stage**, abbreviated DM, is the early circling or exploratory portion of a homing flight. The **en route stage**, abbreviated ER, begins when the bird adopts a more stable direction toward home. These are behavioral classifications rather than direct measurements of subjective decisions.</a:t>
            </a:r>
            <a:endParaRPr/>
          </a:p>
          <a:p>
            <a:pPr indent="0" lvl="0" marL="0" rtl="0" algn="l">
              <a:spcBef>
                <a:spcPts val="0"/>
              </a:spcBef>
              <a:spcAft>
                <a:spcPts val="0"/>
              </a:spcAft>
              <a:buNone/>
            </a:pPr>
            <a:r>
              <a:rPr lang="en-US"/>
              <a:t>• Yang and colleagues identified the transition from heading stability and distance to the loft, then aligned hippocampal frequency power with that point. The published example tracks both variables over seconds and retains the LFP frequency axis in hertz.</a:t>
            </a:r>
            <a:endParaRPr/>
          </a:p>
          <a:p>
            <a:pPr indent="0" lvl="0" marL="0" rtl="0" algn="l">
              <a:spcBef>
                <a:spcPts val="0"/>
              </a:spcBef>
              <a:spcAft>
                <a:spcPts val="0"/>
              </a:spcAft>
              <a:buNone/>
            </a:pPr>
            <a:r>
              <a:rPr lang="en-US"/>
              <a:t>• The alignment relates neural changes to a defined transition in behavior. It does not prove that the hippocampal signal caused the turn, or that a single instant marks completion of every sensory and memory process involved in selecting the route.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2A. Flight direction, distance and hippocampal frequency power.</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76" name="Google Shape;576;p41: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587" name="Shape 587"/>
        <p:cNvGrpSpPr/>
        <p:nvPr/>
      </p:nvGrpSpPr>
      <p:grpSpPr>
        <a:xfrm>
          <a:off x="0" y="0"/>
          <a:ext cx="0" cy="0"/>
          <a:chOff x="0" y="0"/>
          <a:chExt cx="0" cy="0"/>
        </a:xfrm>
      </p:grpSpPr>
      <p:sp>
        <p:nvSpPr>
          <p:cNvPr id="588" name="Google Shape;588;p42: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589" name="Google Shape;589;p42: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**Spectral power** measures the contribution of a frequency range to a recorded voltage signal. Yang and colleagues defined theta as 4–12 Hz, beta as 12–30 Hz, low gamma as 30–60 Hz and high gamma as 60–120 Hz.</a:t>
            </a:r>
            <a:endParaRPr/>
          </a:p>
          <a:p>
            <a:pPr indent="0" lvl="0" marL="0" rtl="0" algn="l">
              <a:spcBef>
                <a:spcPts val="0"/>
              </a:spcBef>
              <a:spcAft>
                <a:spcPts val="0"/>
              </a:spcAft>
              <a:buNone/>
            </a:pPr>
            <a:r>
              <a:rPr lang="en-US"/>
              <a:t>• Theta and beta power ratios were higher during initial decision-making than during en route flight. High-gamma power ratio was greater en route, whereas low gamma lacked the same consistent stage difference. The comparisons used paired behavioral stages within the recorded homing flights.</a:t>
            </a:r>
            <a:endParaRPr/>
          </a:p>
          <a:p>
            <a:pPr indent="0" lvl="0" marL="0" rtl="0" algn="l">
              <a:spcBef>
                <a:spcPts val="0"/>
              </a:spcBef>
              <a:spcAft>
                <a:spcPts val="0"/>
              </a:spcAft>
              <a:buNone/>
            </a:pPr>
            <a:r>
              <a:rPr lang="en-US"/>
              <a:t>• The pattern supports different population activity across flight stages rather than a uniform increase in every band. Frequency bands do not independently identify a transmitter, inhibitory interneuron or ion channel, and power differences alone cannot establish the content of the spatial representation.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2C. Frequency-band power during initial and en route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590" name="Google Shape;590;p42: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01" name="Shape 601"/>
        <p:cNvGrpSpPr/>
        <p:nvPr/>
      </p:nvGrpSpPr>
      <p:grpSpPr>
        <a:xfrm>
          <a:off x="0" y="0"/>
          <a:ext cx="0" cy="0"/>
          <a:chOff x="0" y="0"/>
          <a:chExt cx="0" cy="0"/>
        </a:xfrm>
      </p:grpSpPr>
      <p:sp>
        <p:nvSpPr>
          <p:cNvPr id="602" name="Google Shape;602;p43: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03" name="Google Shape;603;p43: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**Phase–amplitude coupling** means that the amplitude of a faster oscillation varies with the phase of a slower oscillation. Phase specifies position within a repeated voltage cycle, while amplitude measures the size of the faster component.</a:t>
            </a:r>
            <a:endParaRPr/>
          </a:p>
          <a:p>
            <a:pPr indent="0" lvl="0" marL="0" rtl="0" algn="l">
              <a:spcBef>
                <a:spcPts val="0"/>
              </a:spcBef>
              <a:spcAft>
                <a:spcPts val="0"/>
              </a:spcAft>
              <a:buNone/>
            </a:pPr>
            <a:r>
              <a:rPr lang="en-US"/>
              <a:t>• Yang and colleagues found stronger coupling between theta phase at 5–8 Hz and beta amplitude at 20–30 Hz during en route navigation than during initial decision-making. The source compares the two stages using the same frequency–frequency analysis and its original coupling scale.</a:t>
            </a:r>
            <a:endParaRPr/>
          </a:p>
          <a:p>
            <a:pPr indent="0" lvl="0" marL="0" rtl="0" algn="l">
              <a:spcBef>
                <a:spcPts val="0"/>
              </a:spcBef>
              <a:spcAft>
                <a:spcPts val="0"/>
              </a:spcAft>
              <a:buNone/>
            </a:pPr>
            <a:r>
              <a:rPr lang="en-US"/>
              <a:t>• The relationship supports stage-dependent coordination of hippocampal population activity. It does not establish information flow from one cell group to another, demonstrate synaptic causation or prove that the oscillations themselves compute the direction and distance to home.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2D. Theta–beta phase–amplitude coupling during navigation.</a:t>
            </a:r>
            <a:endParaRPr/>
          </a:p>
          <a:p>
            <a:pPr indent="0" lvl="0" marL="0" rtl="0" algn="l">
              <a:spcBef>
                <a:spcPts val="0"/>
              </a:spcBef>
              <a:spcAft>
                <a:spcPts val="0"/>
              </a:spcAft>
              <a:buNone/>
            </a:pPr>
            <a:r>
              <a:rPr lang="en-US"/>
              <a:t>Figure source: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1C. Recording devices and hippocampal electrode placement.</a:t>
            </a:r>
            <a:endParaRPr/>
          </a:p>
          <a:p>
            <a:pPr indent="0" lvl="0" marL="0" rtl="0" algn="l">
              <a:spcBef>
                <a:spcPts val="0"/>
              </a:spcBef>
              <a:spcAft>
                <a:spcPts val="0"/>
              </a:spcAft>
              <a:buNone/>
            </a:pPr>
            <a:r>
              <a:rPr lang="en-US"/>
              <a:t>Figure source: https://doi.org/10.1523/JNEUROSCI.0185-25.2025</a:t>
            </a:r>
            <a:endParaRPr/>
          </a:p>
        </p:txBody>
      </p:sp>
      <p:sp>
        <p:nvSpPr>
          <p:cNvPr id="604" name="Google Shape;604;p43: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15" name="Shape 615"/>
        <p:cNvGrpSpPr/>
        <p:nvPr/>
      </p:nvGrpSpPr>
      <p:grpSpPr>
        <a:xfrm>
          <a:off x="0" y="0"/>
          <a:ext cx="0" cy="0"/>
          <a:chOff x="0" y="0"/>
          <a:chExt cx="0" cy="0"/>
        </a:xfrm>
      </p:grpSpPr>
      <p:sp>
        <p:nvSpPr>
          <p:cNvPr id="616" name="Google Shape;616;p44: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17" name="Google Shape;617;p44: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A single release location can confound behavioral stage with a particular heading or piece of terrain. Yang and colleagues alternated among three release sites more than 0.8 km from the loft, comparing initial and en route activity within each direction of approach.</a:t>
            </a:r>
            <a:endParaRPr/>
          </a:p>
          <a:p>
            <a:pPr indent="0" lvl="0" marL="0" rtl="0" algn="l">
              <a:spcBef>
                <a:spcPts val="0"/>
              </a:spcBef>
              <a:spcAft>
                <a:spcPts val="0"/>
              </a:spcAft>
              <a:buNone/>
            </a:pPr>
            <a:r>
              <a:rPr lang="en-US"/>
              <a:t>• Theta and beta power ratios declined during the transition to en route flight, while high-gamma ratios increased across sites. Theta–beta coupling likewise strengthened en route. The route maps and paired measurements preserve the individual flights and their geographical relationship to the home loft.</a:t>
            </a:r>
            <a:endParaRPr/>
          </a:p>
          <a:p>
            <a:pPr indent="0" lvl="0" marL="0" rtl="0" algn="l">
              <a:spcBef>
                <a:spcPts val="0"/>
              </a:spcBef>
              <a:spcAft>
                <a:spcPts val="0"/>
              </a:spcAft>
              <a:buNone/>
            </a:pPr>
            <a:r>
              <a:rPr lang="en-US"/>
              <a:t>• Consistency across directions reduces a single-site explanation of the observed neural state. It does not prove generality across long-distance releases, unfamiliar environments or every breed of homing pigeon, because the experiment sampled a specific local setting and recording preparation.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3A–D. Behavior and hippocampal activity across three release sites.</a:t>
            </a:r>
            <a:endParaRPr/>
          </a:p>
          <a:p>
            <a:pPr indent="0" lvl="0" marL="0" rtl="0" algn="l">
              <a:spcBef>
                <a:spcPts val="0"/>
              </a:spcBef>
              <a:spcAft>
                <a:spcPts val="0"/>
              </a:spcAft>
              <a:buNone/>
            </a:pPr>
            <a:r>
              <a:rPr lang="en-US"/>
              <a:t>Figure source: https://doi.org/10.1523/JNEUROSCI.0185-25.2025</a:t>
            </a:r>
            <a:endParaRPr/>
          </a:p>
        </p:txBody>
      </p:sp>
      <p:sp>
        <p:nvSpPr>
          <p:cNvPr id="618" name="Google Shape;618;p44: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27" name="Shape 627"/>
        <p:cNvGrpSpPr/>
        <p:nvPr/>
      </p:nvGrpSpPr>
      <p:grpSpPr>
        <a:xfrm>
          <a:off x="0" y="0"/>
          <a:ext cx="0" cy="0"/>
          <a:chOff x="0" y="0"/>
          <a:chExt cx="0" cy="0"/>
        </a:xfrm>
      </p:grpSpPr>
      <p:sp>
        <p:nvSpPr>
          <p:cNvPr id="628" name="Google Shape;628;p45: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29" name="Google Shape;629;p45: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 **Experience-dependent plasticity** is a change associated with prior experience; a correlation with repeated journeys does not identify its cellular mechanism. Yang and colleagues compared five homing releases while continuing to record hippocampal activity and position.</a:t>
            </a:r>
            <a:endParaRPr/>
          </a:p>
          <a:p>
            <a:pPr indent="0" lvl="0" marL="0" rtl="0" algn="l">
              <a:spcBef>
                <a:spcPts val="0"/>
              </a:spcBef>
              <a:spcAft>
                <a:spcPts val="0"/>
              </a:spcAft>
              <a:buNone/>
            </a:pPr>
            <a:r>
              <a:rPr lang="en-US"/>
              <a:t>• Routes became more efficient with repeated release experience. Differences between initial and en route theta, beta and high-gamma power narrowed, and the stage difference in theta–beta coupling also approached zero. The source retains the first and fifth routes and the repeated-release measurements.</a:t>
            </a:r>
            <a:endParaRPr/>
          </a:p>
          <a:p>
            <a:pPr indent="0" lvl="0" marL="0" rtl="0" algn="l">
              <a:spcBef>
                <a:spcPts val="0"/>
              </a:spcBef>
              <a:spcAft>
                <a:spcPts val="0"/>
              </a:spcAft>
              <a:buNone/>
            </a:pPr>
            <a:r>
              <a:rPr lang="en-US"/>
              <a:t>• The findings link behavioral improvement with changing population activity, but do not identify synaptic storage of landmarks or prove that the measured oscillations drive learning. Odor, compass and visual-route evidence concern separable information sources that can interact within such changing navigational states.</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Figure: Yang et al. (2025), Fig. 4A–D. Behavior and hippocampal activity across repeated releases.</a:t>
            </a:r>
            <a:endParaRPr/>
          </a:p>
          <a:p>
            <a:pPr indent="0" lvl="0" marL="0" rtl="0" algn="l">
              <a:spcBef>
                <a:spcPts val="0"/>
              </a:spcBef>
              <a:spcAft>
                <a:spcPts val="0"/>
              </a:spcAft>
              <a:buNone/>
            </a:pPr>
            <a:r>
              <a:rPr lang="en-US"/>
              <a:t>Figure source: https://doi.org/10.1523/JNEUROSCI.0185-25.2025</a:t>
            </a:r>
            <a:endParaRPr/>
          </a:p>
        </p:txBody>
      </p:sp>
      <p:sp>
        <p:nvSpPr>
          <p:cNvPr id="630" name="Google Shape;630;p45: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639" name="Shape 639"/>
        <p:cNvGrpSpPr/>
        <p:nvPr/>
      </p:nvGrpSpPr>
      <p:grpSpPr>
        <a:xfrm>
          <a:off x="0" y="0"/>
          <a:ext cx="0" cy="0"/>
          <a:chOff x="0" y="0"/>
          <a:chExt cx="0" cy="0"/>
        </a:xfrm>
      </p:grpSpPr>
      <p:sp>
        <p:nvSpPr>
          <p:cNvPr id="640" name="Google Shape;640;p46:notes"/>
          <p:cNvSpPr/>
          <p:nvPr>
            <p:ph idx="2" type="sldImg"/>
          </p:nvPr>
        </p:nvSpPr>
        <p:spPr>
          <a:xfrm>
            <a:off x="0" y="0"/>
            <a:ext cx="3000000" cy="3000000"/>
          </a:xfrm>
          <a:custGeom>
            <a:rect b="b" l="l" r="r" t="t"/>
            <a:pathLst>
              <a:path extrusionOk="0" h="120000" w="120000">
                <a:moveTo>
                  <a:pt x="0" y="0"/>
                </a:moveTo>
                <a:lnTo>
                  <a:pt x="120000" y="0"/>
                </a:lnTo>
                <a:lnTo>
                  <a:pt x="120000" y="120000"/>
                </a:lnTo>
                <a:lnTo>
                  <a:pt x="0" y="120000"/>
                </a:lnTo>
                <a:close/>
              </a:path>
            </a:pathLst>
          </a:custGeom>
          <a:noFill/>
          <a:ln>
            <a:noFill/>
          </a:ln>
        </p:spPr>
      </p:sp>
      <p:sp>
        <p:nvSpPr>
          <p:cNvPr id="641" name="Google Shape;641;p46:notes"/>
          <p:cNvSpPr txBox="1"/>
          <p:nvPr>
            <p:ph idx="1" type="body"/>
          </p:nvPr>
        </p:nvSpPr>
        <p:spPr>
          <a:xfrm>
            <a:off x="0" y="0"/>
            <a:ext cx="3000000" cy="3000000"/>
          </a:xfrm>
          <a:prstGeom prst="rect">
            <a:avLst/>
          </a:prstGeom>
          <a:noFill/>
          <a:ln>
            <a:noFill/>
          </a:ln>
        </p:spPr>
        <p:txBody>
          <a:bodyPr anchorCtr="0" anchor="t" bIns="45700" lIns="91425" spcFirstLastPara="1" rIns="91425" wrap="square" tIns="45700">
            <a:noAutofit/>
          </a:bodyPr>
          <a:lstStyle/>
          <a:p>
            <a:pPr indent="0" lvl="0" marL="0" rtl="0" algn="l">
              <a:spcBef>
                <a:spcPts val="0"/>
              </a:spcBef>
              <a:spcAft>
                <a:spcPts val="0"/>
              </a:spcAft>
              <a:buNone/>
            </a:pPr>
            <a:r>
              <a:rPr lang="en-US"/>
              <a:t>Teaching transcript:</a:t>
            </a:r>
            <a:endParaRPr/>
          </a:p>
          <a:p>
            <a:pPr indent="0" lvl="0" marL="0" rtl="0" algn="l">
              <a:spcBef>
                <a:spcPts val="0"/>
              </a:spcBef>
              <a:spcAft>
                <a:spcPts val="0"/>
              </a:spcAft>
              <a:buNone/>
            </a:pPr>
            <a:r>
              <a:rPr lang="en-US"/>
              <a:t>• Map and compass solve different problems: estimating position relative to home and maintaining a directional reference.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Visual pilotage supports individual familiar routes; clock-shifted pigeons can retain route shape while continuing to respond to compass information.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Environmental odors support early homing in the controlled GPS experiment; artificial odor stimulation alone did not restore that performance.</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Regional activation links odor exposure and magnetic stimulation with specific brain regions, but immediate-early-gene labeling is not a real-time code or proof of behavioral causation.</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Magnetic mechanisms remain partly unresolved: iron-rich beak cells were macrophages, while V1-dependent responses identify an afferent contribution without locating its receptor.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 Hippocampal dynamics vary with flight stage and experience; band power and theta–beta coupling are population correlations, not established cellular computations of a home vector.</a:t>
            </a:r>
            <a:endParaRPr/>
          </a:p>
          <a:p>
            <a:pPr indent="0" lvl="0" marL="0" rtl="0" algn="l">
              <a:spcBef>
                <a:spcPts val="0"/>
              </a:spcBef>
              <a:spcAft>
                <a:spcPts val="0"/>
              </a:spcAft>
              <a:buNone/>
            </a:pPr>
            <a:r>
              <a:t/>
            </a:r>
            <a:endParaRPr/>
          </a:p>
          <a:p>
            <a:pPr indent="0" lvl="0" marL="0" rtl="0" algn="l">
              <a:spcBef>
                <a:spcPts val="0"/>
              </a:spcBef>
              <a:spcAft>
                <a:spcPts val="0"/>
              </a:spcAft>
              <a:buNone/>
            </a:pPr>
            <a:r>
              <a:rPr lang="en-US"/>
              <a:t>References:</a:t>
            </a:r>
            <a:endParaRPr/>
          </a:p>
          <a:p>
            <a:pPr indent="0" lvl="0" marL="0" rtl="0" algn="l">
              <a:spcBef>
                <a:spcPts val="0"/>
              </a:spcBef>
              <a:spcAft>
                <a:spcPts val="0"/>
              </a:spcAft>
              <a:buNone/>
            </a:pPr>
            <a:r>
              <a:rPr lang="en-US"/>
              <a:t>Biro D, Meade J, Guilford T (2004). Familiar route loyalty implies visual pilotage in the homing pigeon. Proceedings of the National Academy of Sciences 101(50):17440–17443. https://doi.org/10.1073/pnas.0406984101</a:t>
            </a:r>
            <a:endParaRPr/>
          </a:p>
          <a:p>
            <a:pPr indent="0" lvl="0" marL="0" rtl="0" algn="l">
              <a:spcBef>
                <a:spcPts val="0"/>
              </a:spcBef>
              <a:spcAft>
                <a:spcPts val="0"/>
              </a:spcAft>
              <a:buNone/>
            </a:pPr>
            <a:r>
              <a:rPr lang="en-US"/>
              <a:t>Biro D, Freeman R, Meade J, Roberts S, Guilford T (2007). Pigeons combine compass and landmark guidance in familiar route navigation. Proceedings of the National Academy of Sciences 104(18):7471–7476. https://doi.org/10.1073/pnas.0701575104</a:t>
            </a:r>
            <a:endParaRPr/>
          </a:p>
          <a:p>
            <a:pPr indent="0" lvl="0" marL="0" rtl="0" algn="l">
              <a:spcBef>
                <a:spcPts val="0"/>
              </a:spcBef>
              <a:spcAft>
                <a:spcPts val="0"/>
              </a:spcAft>
              <a:buNone/>
            </a:pPr>
            <a:r>
              <a:rPr lang="en-US"/>
              <a:t>Gagliardo A, Ioalè P, Filannino C, Wikelski M (2011). Homing pigeons only navigate in air with intact environmental odours: a test of the olfactory activation hypothesis with GPS data loggers. PLOS ONE 6(8):e22385. https://doi.org/10.1371/journal.pone.0022385</a:t>
            </a:r>
            <a:endParaRPr/>
          </a:p>
          <a:p>
            <a:pPr indent="0" lvl="0" marL="0" rtl="0" algn="l">
              <a:spcBef>
                <a:spcPts val="0"/>
              </a:spcBef>
              <a:spcAft>
                <a:spcPts val="0"/>
              </a:spcAft>
              <a:buNone/>
            </a:pPr>
            <a:r>
              <a:rPr lang="en-US"/>
              <a:t>Jorge PE, Phillips JB, Gonçalves A, Marques PAM, Němec P (2014). Odours stimulate neuronal activity in the dorsolateral area of the hippocampal formation during path integration. Proceedings of the Royal Society B 281(1783):20140025. https://doi.org/10.1098/rspb.2014.0025</a:t>
            </a:r>
            <a:endParaRPr/>
          </a:p>
          <a:p>
            <a:pPr indent="0" lvl="0" marL="0" rtl="0" algn="l">
              <a:spcBef>
                <a:spcPts val="0"/>
              </a:spcBef>
              <a:spcAft>
                <a:spcPts val="0"/>
              </a:spcAft>
              <a:buNone/>
            </a:pPr>
            <a:r>
              <a:rPr lang="en-US"/>
              <a:t>Treiber CD, Salzer MC, Riegler J, Edelman N, Sugar C, Breuss M, Pichler P, Cadiou H, Saunders M, Lythgoe M, Shaw J, Keays DA (2012). Clusters of iron-rich cells in the upper beak of pigeons are macrophages not magnetosensitive neurons. Nature 484(7394):367–370. https://doi.org/10.1038/nature11046</a:t>
            </a:r>
            <a:endParaRPr/>
          </a:p>
          <a:p>
            <a:pPr indent="0" lvl="0" marL="0" rtl="0" algn="l">
              <a:spcBef>
                <a:spcPts val="0"/>
              </a:spcBef>
              <a:spcAft>
                <a:spcPts val="0"/>
              </a:spcAft>
              <a:buNone/>
            </a:pPr>
            <a:r>
              <a:rPr lang="en-US"/>
              <a:t>Lefeldt N, Heyers D, Schneider NL, Engels S, Elbers D, Mouritsen H (2014). Magnetic field-driven induction of ZENK in the trigeminal system of pigeons (Columba livia). Journal of the Royal Society Interface 11(100):20140777. https://doi.org/10.1098/rsif.2014.0777</a:t>
            </a:r>
            <a:endParaRPr/>
          </a:p>
          <a:p>
            <a:pPr indent="0" lvl="0" marL="0" rtl="0" algn="l">
              <a:spcBef>
                <a:spcPts val="0"/>
              </a:spcBef>
              <a:spcAft>
                <a:spcPts val="0"/>
              </a:spcAft>
              <a:buNone/>
            </a:pPr>
            <a:r>
              <a:rPr lang="en-US"/>
              <a:t>Yang L, Li M, Yang L, Wang Z, Shang Z (2025). Hippocampal LFP Responses during Pigeon Homing Flight in Outdoors. Journal of Neuroscience 45(30):e0185252025. https://doi.org/10.1523/JNEUROSCI.0185-25.2025</a:t>
            </a:r>
            <a:endParaRPr/>
          </a:p>
        </p:txBody>
      </p:sp>
      <p:sp>
        <p:nvSpPr>
          <p:cNvPr id="642" name="Google Shape;642;p46:notes"/>
          <p:cNvSpPr txBox="1"/>
          <p:nvPr>
            <p:ph idx="12" type="sldNum"/>
          </p:nvPr>
        </p:nvSpPr>
        <p:spPr>
          <a:xfrm>
            <a:off x="0" y="0"/>
            <a:ext cx="3000000" cy="30000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Each frequency band reflects a different pattern of activity.</a:t>
            </a:r>
          </a:p>
          <a:p>
            <a:r>
              <a:rPr lang="en-US" sz="1200"/>
              <a:t>• Bands.</a:t>
            </a:r>
          </a:p>
          <a:p>
            <a:r>
              <a:rPr lang="en-US" sz="1200"/>
              <a:t>– Theta is 4–12 Hz and beta is 12–30 Hz.</a:t>
            </a:r>
          </a:p>
          <a:p>
            <a:r>
              <a:rPr lang="en-US" sz="1200"/>
              <a:t>– Low gamma is 30–60 Hz and high gamma is 60–120 Hz.</a:t>
            </a:r>
          </a:p>
          <a:p>
            <a:r>
              <a:rPr lang="en-US" sz="1200"/>
              <a:t>• Stages.</a:t>
            </a:r>
          </a:p>
          <a:p>
            <a:r>
              <a:rPr lang="en-US" sz="1200"/>
              <a:t>– Initial decision-making is the early circling stage.</a:t>
            </a:r>
          </a:p>
          <a:p>
            <a:r>
              <a:rPr lang="en-US" sz="1200"/>
              <a:t>– En route flight is the stable homeward stage.</a:t>
            </a:r>
          </a:p>
          <a:p>
            <a:r>
              <a:rPr lang="en-US" sz="1200"/>
              <a:t>• Theta and beta.</a:t>
            </a:r>
          </a:p>
          <a:p>
            <a:r>
              <a:rPr lang="en-US" sz="1200"/>
              <a:t>– Both ratios were higher during decision-making.</a:t>
            </a:r>
          </a:p>
          <a:p>
            <a:r>
              <a:rPr lang="en-US" sz="1200"/>
              <a:t>– The ratios fell during the en route stage.</a:t>
            </a:r>
          </a:p>
          <a:p>
            <a:r>
              <a:rPr lang="en-US" sz="1200"/>
              <a:t>• High gamma.</a:t>
            </a:r>
          </a:p>
          <a:p>
            <a:r>
              <a:rPr lang="en-US" sz="1200"/>
              <a:t>– High gamma rose during the en route stage.</a:t>
            </a:r>
          </a:p>
          <a:p>
            <a:r>
              <a:rPr lang="en-US" sz="1200"/>
              <a:t>– Low gamma showed no consistent change.</a:t>
            </a:r>
          </a:p>
          <a:p>
            <a:r>
              <a:rPr lang="en-US" sz="1200"/>
              <a:t>• Pairing.</a:t>
            </a:r>
          </a:p>
          <a:p>
            <a:r>
              <a:rPr lang="en-US" sz="1200"/>
              <a:t>– The comparisons used stages from the same flights.</a:t>
            </a:r>
          </a:p>
          <a:p>
            <a:r>
              <a:rPr lang="en-US" sz="1200"/>
              <a:t>– Individual birds served as their own controls.</a:t>
            </a:r>
          </a:p>
          <a:p>
            <a:r>
              <a:rPr lang="en-US" sz="1200"/>
              <a:t>• Meaning.</a:t>
            </a:r>
          </a:p>
          <a:p>
            <a:r>
              <a:rPr lang="en-US" sz="1200"/>
              <a:t>– The stage difference is in the distribution across bands.</a:t>
            </a:r>
          </a:p>
          <a:p>
            <a:r>
              <a:rPr lang="en-US" sz="1200"/>
              <a:t>– No single band captures the change.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LFP is a population signal recorded during flight.</a:t>
            </a:r>
          </a:p>
          <a:p>
            <a:r>
              <a:rPr lang="en-US" sz="1200"/>
              <a:t>• Definition.</a:t>
            </a:r>
          </a:p>
          <a:p>
            <a:r>
              <a:rPr lang="en-US" sz="1200"/>
              <a:t>– An LFP is an extracellular voltage from many cells.</a:t>
            </a:r>
          </a:p>
          <a:p>
            <a:r>
              <a:rPr lang="en-US" sz="1200"/>
              <a:t>– It differs from a single neuron's spike.</a:t>
            </a:r>
          </a:p>
          <a:p>
            <a:r>
              <a:rPr lang="en-US" sz="1200"/>
              <a:t>• Recording.</a:t>
            </a:r>
          </a:p>
          <a:p>
            <a:r>
              <a:rPr lang="en-US" sz="1200"/>
              <a:t>– LFPs were recorded with the bird's position.</a:t>
            </a:r>
          </a:p>
          <a:p>
            <a:r>
              <a:rPr lang="en-US" sz="1200"/>
              <a:t>– Both signals share one time base.</a:t>
            </a:r>
          </a:p>
          <a:p>
            <a:r>
              <a:rPr lang="en-US" sz="1200"/>
              <a:t>• Site.</a:t>
            </a:r>
          </a:p>
          <a:p>
            <a:r>
              <a:rPr lang="en-US" sz="1200"/>
              <a:t>– Electrodes sampled the left hippocampal formation.</a:t>
            </a:r>
          </a:p>
          <a:p>
            <a:r>
              <a:rPr lang="en-US" sz="1200"/>
              <a:t>– The side of the recording is fixed.</a:t>
            </a:r>
          </a:p>
          <a:p>
            <a:r>
              <a:rPr lang="en-US" sz="1200"/>
              <a:t>• Flights.</a:t>
            </a:r>
          </a:p>
          <a:p>
            <a:r>
              <a:rPr lang="en-US" sz="1200"/>
              <a:t>– Release sites were more than 0.8 km from the loft.</a:t>
            </a:r>
          </a:p>
          <a:p>
            <a:r>
              <a:rPr lang="en-US" sz="1200"/>
              <a:t>– Trials were run in clear weather with low wind.</a:t>
            </a:r>
          </a:p>
          <a:p>
            <a:r>
              <a:rPr lang="en-US" sz="1200"/>
              <a:t>• Analysis.</a:t>
            </a:r>
          </a:p>
          <a:p>
            <a:r>
              <a:rPr lang="en-US" sz="1200"/>
              <a:t>– The population signal is compared across flight stages.</a:t>
            </a:r>
          </a:p>
          <a:p>
            <a:r>
              <a:rPr lang="en-US" sz="1200"/>
              <a:t>– The position data identify each stage.</a:t>
            </a:r>
          </a:p>
          <a:p>
            <a:r>
              <a:rPr lang="en-US" sz="1200"/>
              <a:t>• Meaning.</a:t>
            </a:r>
          </a:p>
          <a:p>
            <a:r>
              <a:rPr lang="en-US" sz="1200"/>
              <a:t>– Population activity tracks the bird's trip.</a:t>
            </a:r>
          </a:p>
          <a:p>
            <a:r>
              <a:rPr lang="en-US" sz="1200"/>
              <a:t>– The LFP summarizes many cells together.</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Yang L, Li M, Yang L, Wang Z, Shang Z (2025). Hippocampal LFP Responses during Pigeon Homing Flight in Outdoors. Journal of Neuroscience 45(30):e0185252025. https://doi.org/10.1523/JNEUROSCI.0185-25.2025</a:t>
            </a:r>
          </a:p>
        </p:txBody>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Immune markers identify the iron-containing cells.</a:t>
            </a:r>
          </a:p>
          <a:p>
            <a:r>
              <a:rPr lang="en-US" sz="1200"/>
              <a:t>• Macrophage.</a:t>
            </a:r>
          </a:p>
          <a:p>
            <a:r>
              <a:rPr lang="en-US" sz="1200"/>
              <a:t>– Macrophages engulf material in tissue.</a:t>
            </a:r>
          </a:p>
          <a:p>
            <a:r>
              <a:rPr lang="en-US" sz="1200"/>
              <a:t>– They are part of the immune system.</a:t>
            </a:r>
          </a:p>
          <a:p>
            <a:r>
              <a:rPr lang="en-US" sz="1200"/>
              <a:t>• Marker.</a:t>
            </a:r>
          </a:p>
          <a:p>
            <a:r>
              <a:rPr lang="en-US" sz="1200"/>
              <a:t>– MHC II marks antigen presentation.</a:t>
            </a:r>
          </a:p>
          <a:p>
            <a:r>
              <a:rPr lang="en-US" sz="1200"/>
              <a:t>– Several immune cell types express it.</a:t>
            </a:r>
          </a:p>
          <a:p>
            <a:r>
              <a:rPr lang="en-US" sz="1200"/>
              <a:t>• Colocalization.</a:t>
            </a:r>
          </a:p>
          <a:p>
            <a:r>
              <a:rPr lang="en-US" sz="1200"/>
              <a:t>– MHC II labeling overlapped the iron-positive cells.</a:t>
            </a:r>
          </a:p>
          <a:p>
            <a:r>
              <a:rPr lang="en-US" sz="1200"/>
              <a:t>– The overlap occurred in all three tissues.</a:t>
            </a:r>
          </a:p>
          <a:p>
            <a:r>
              <a:rPr lang="en-US" sz="1200"/>
              <a:t>• Neuronal markers.</a:t>
            </a:r>
          </a:p>
          <a:p>
            <a:r>
              <a:rPr lang="en-US" sz="1200"/>
              <a:t>– Convincing neuronal-marker labeling was absent.</a:t>
            </a:r>
          </a:p>
          <a:p>
            <a:r>
              <a:rPr lang="en-US" sz="1200"/>
              <a:t>– The absence weakens the neuron identity.</a:t>
            </a:r>
          </a:p>
          <a:p>
            <a:r>
              <a:rPr lang="en-US" sz="1200"/>
              <a:t>• Scale.</a:t>
            </a:r>
          </a:p>
          <a:p>
            <a:r>
              <a:rPr lang="en-US" sz="1200"/>
              <a:t>– The micrographs carry a 10 µm scale bar.</a:t>
            </a:r>
          </a:p>
          <a:p>
            <a:r>
              <a:rPr lang="en-US" sz="1200"/>
              <a:t>– The cell size can be checked.</a:t>
            </a:r>
          </a:p>
          <a:p>
            <a:r>
              <a:rPr lang="en-US" sz="1200"/>
              <a:t>• Meaning.</a:t>
            </a:r>
          </a:p>
          <a:p>
            <a:r>
              <a:rPr lang="en-US" sz="1200"/>
              <a:t>– The cells are best identified as macrophages.</a:t>
            </a:r>
          </a:p>
          <a:p>
            <a:r>
              <a:rPr lang="en-US" sz="1200"/>
              <a:t>– Iron in these cells is a storage product.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Context.</a:t>
            </a:r>
          </a:p>
          <a:p>
            <a:r>
              <a:rPr lang="en-US" sz="1200"/>
              <a:t>– Macrophages are normal residents of many tissues.</a:t>
            </a:r>
          </a:p>
          <a:p>
            <a:r>
              <a:rPr lang="en-US" sz="1200"/>
              <a:t>– Their iron load comes from the material they clear.</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Staining locates iron, and a cell is identified by more markers.</a:t>
            </a:r>
          </a:p>
          <a:p>
            <a:r>
              <a:rPr lang="en-US" sz="1200"/>
              <a:t>• Stain.</a:t>
            </a:r>
          </a:p>
          <a:p>
            <a:r>
              <a:rPr lang="en-US" sz="1200"/>
              <a:t>– Prussian blue detects ferric iron.</a:t>
            </a:r>
          </a:p>
          <a:p>
            <a:r>
              <a:rPr lang="en-US" sz="1200"/>
              <a:t>– A blue spot marks iron, not a cell type.</a:t>
            </a:r>
          </a:p>
          <a:p>
            <a:r>
              <a:rPr lang="en-US" sz="1200"/>
              <a:t>• Sections.</a:t>
            </a:r>
          </a:p>
          <a:p>
            <a:r>
              <a:rPr lang="en-US" sz="1200"/>
              <a:t>– Labeled cells were mapped through serial sections.</a:t>
            </a:r>
          </a:p>
          <a:p>
            <a:r>
              <a:rPr lang="en-US" sz="1200"/>
              <a:t>– Each cell has a recorded position.</a:t>
            </a:r>
          </a:p>
          <a:p>
            <a:r>
              <a:rPr lang="en-US" sz="1200"/>
              <a:t>• Tissues.</a:t>
            </a:r>
          </a:p>
          <a:p>
            <a:r>
              <a:rPr lang="en-US" sz="1200"/>
              <a:t>– Labeled cells lay in three tissue types.</a:t>
            </a:r>
          </a:p>
          <a:p>
            <a:r>
              <a:rPr lang="en-US" sz="1200"/>
              <a:t>– These tissues are distinct in the beak.</a:t>
            </a:r>
          </a:p>
          <a:p>
            <a:r>
              <a:rPr lang="en-US" sz="1200"/>
              <a:t>• Iron sources.</a:t>
            </a:r>
          </a:p>
          <a:p>
            <a:r>
              <a:rPr lang="en-US" sz="1200"/>
              <a:t>– Iron also appears in storage and immune cells.</a:t>
            </a:r>
          </a:p>
          <a:p>
            <a:r>
              <a:rPr lang="en-US" sz="1200"/>
              <a:t>– A stain alone cannot name the cell.</a:t>
            </a:r>
          </a:p>
          <a:p>
            <a:r>
              <a:rPr lang="en-US" sz="1200"/>
              <a:t>• Next step.</a:t>
            </a:r>
          </a:p>
          <a:p>
            <a:r>
              <a:rPr lang="en-US" sz="1200"/>
              <a:t>– Additional markers and ultrastructure identify the cell.</a:t>
            </a:r>
          </a:p>
          <a:p>
            <a:r>
              <a:rPr lang="en-US" sz="1200"/>
              <a:t>– Those tests decide the cell's role.</a:t>
            </a:r>
          </a:p>
          <a:p>
            <a:r>
              <a:rPr lang="en-US" sz="1200"/>
              <a:t>• Meaning.</a:t>
            </a:r>
          </a:p>
          <a:p>
            <a:r>
              <a:rPr lang="en-US" sz="1200"/>
              <a:t>– The stain gives the first map of iron positions.</a:t>
            </a:r>
          </a:p>
          <a:p>
            <a:r>
              <a:rPr lang="en-US" sz="1200"/>
              <a:t>– Identification follows from further tests.</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Treiber CD, Salzer MC, Riegler J, Edelman N, Sugar C, Breuss M, Pichler P, Cadiou H, Saunders M, Lythgoe M, Shaw J, Keays DA (2012). Clusters of iron-rich cells in the upper beak of pigeons are macrophages not magnetosensitive neurons. Nature 484(7394):367–370. https://doi.org/10.1038/nature11046</a:t>
            </a:r>
          </a:p>
        </p:txBody>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Tracing links the nerve to the labeled brainstem.</a:t>
            </a:r>
          </a:p>
          <a:p>
            <a:r>
              <a:rPr lang="en-US" sz="1200"/>
              <a:t>• Injection.</a:t>
            </a:r>
          </a:p>
          <a:p>
            <a:r>
              <a:rPr lang="en-US" sz="1200"/>
              <a:t>– Cholera toxin B was injected into V1.</a:t>
            </a:r>
          </a:p>
          <a:p>
            <a:r>
              <a:rPr lang="en-US" sz="1200"/>
              <a:t>– It labels the central projections of V1.</a:t>
            </a:r>
          </a:p>
          <a:p>
            <a:r>
              <a:rPr lang="en-US" sz="1200"/>
              <a:t>• Overlap.</a:t>
            </a:r>
          </a:p>
          <a:p>
            <a:r>
              <a:rPr lang="en-US" sz="1200"/>
              <a:t>– The labeled fibers overlapped the ZENK-positive nuclei.</a:t>
            </a:r>
          </a:p>
          <a:p>
            <a:r>
              <a:rPr lang="en-US" sz="1200"/>
              <a:t>– The same nuclei received V1 input.</a:t>
            </a:r>
          </a:p>
          <a:p>
            <a:r>
              <a:rPr lang="en-US" sz="1200"/>
              <a:t>• Scale.</a:t>
            </a:r>
          </a:p>
          <a:p>
            <a:r>
              <a:rPr lang="en-US" sz="1200"/>
              <a:t>– The overlays carry 100 µm and 200 µm scale bars.</a:t>
            </a:r>
          </a:p>
          <a:p>
            <a:r>
              <a:rPr lang="en-US" sz="1200"/>
              <a:t>– Positions can be compared across sections.</a:t>
            </a:r>
          </a:p>
          <a:p>
            <a:r>
              <a:rPr lang="en-US" sz="1200"/>
              <a:t>• Boundaries.</a:t>
            </a:r>
          </a:p>
          <a:p>
            <a:r>
              <a:rPr lang="en-US" sz="1200"/>
              <a:t>– Acetylcholinesterase outlines the nuclei.</a:t>
            </a:r>
          </a:p>
          <a:p>
            <a:r>
              <a:rPr lang="en-US" sz="1200"/>
              <a:t>– Subdivisions are located from the stain.</a:t>
            </a:r>
          </a:p>
          <a:p>
            <a:r>
              <a:rPr lang="en-US" sz="1200"/>
              <a:t>• Route.</a:t>
            </a:r>
          </a:p>
          <a:p>
            <a:r>
              <a:rPr lang="en-US" sz="1200"/>
              <a:t>– The fibers link the nerve to the brainstem.</a:t>
            </a:r>
          </a:p>
          <a:p>
            <a:r>
              <a:rPr lang="en-US" sz="1200"/>
              <a:t>– The route runs from the periphery to the labeled tissue.</a:t>
            </a:r>
          </a:p>
          <a:p>
            <a:r>
              <a:rPr lang="en-US" sz="1200"/>
              <a:t>• Anatomy.</a:t>
            </a:r>
          </a:p>
          <a:p>
            <a:r>
              <a:rPr lang="en-US" sz="1200"/>
              <a:t>– The tracing keeps the response within known regions.</a:t>
            </a:r>
          </a:p>
          <a:p>
            <a:r>
              <a:rPr lang="en-US" sz="1200"/>
              <a:t>– Each step follows an anatomical pathway.</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Trigeminal labeling depends on both the field and the nerve.</a:t>
            </a:r>
          </a:p>
          <a:p>
            <a:r>
              <a:rPr lang="en-US" sz="1200"/>
              <a:t>• Nerve.</a:t>
            </a:r>
          </a:p>
          <a:p>
            <a:r>
              <a:rPr lang="en-US" sz="1200"/>
              <a:t>– V1 is the ophthalmic branch of the trigeminal nerve.</a:t>
            </a:r>
          </a:p>
          <a:p>
            <a:r>
              <a:rPr lang="en-US" sz="1200"/>
              <a:t>– It carries sensory input from the head.</a:t>
            </a:r>
          </a:p>
          <a:p>
            <a:r>
              <a:rPr lang="en-US" sz="1200"/>
              <a:t>• Nuclei.</a:t>
            </a:r>
          </a:p>
          <a:p>
            <a:r>
              <a:rPr lang="en-US" sz="1200"/>
              <a:t>– The principal and spinal trigeminal nuclei receive V1 input.</a:t>
            </a:r>
          </a:p>
          <a:p>
            <a:r>
              <a:rPr lang="en-US" sz="1200"/>
              <a:t>– ZENK marks them after exposure.</a:t>
            </a:r>
          </a:p>
          <a:p>
            <a:r>
              <a:rPr lang="en-US" sz="1200"/>
              <a:t>• Exposure.</a:t>
            </a:r>
          </a:p>
          <a:p>
            <a:r>
              <a:rPr lang="en-US" sz="1200"/>
              <a:t>– Birds spent 3 h in one of three magnetic conditions.</a:t>
            </a:r>
          </a:p>
          <a:p>
            <a:r>
              <a:rPr lang="en-US" sz="1200"/>
              <a:t>– The conditions were changing, zero, and changing with V1 section.</a:t>
            </a:r>
          </a:p>
          <a:p>
            <a:r>
              <a:rPr lang="en-US" sz="1200"/>
              <a:t>• Pattern.</a:t>
            </a:r>
          </a:p>
          <a:p>
            <a:r>
              <a:rPr lang="en-US" sz="1200"/>
              <a:t>– Labeling was highest with an intact nerve and a changing field.</a:t>
            </a:r>
          </a:p>
          <a:p>
            <a:r>
              <a:rPr lang="en-US" sz="1200"/>
              <a:t>– Removing either reduced it.</a:t>
            </a:r>
          </a:p>
          <a:p>
            <a:r>
              <a:rPr lang="en-US" sz="1200"/>
              <a:t>• Controls.</a:t>
            </a:r>
          </a:p>
          <a:p>
            <a:r>
              <a:rPr lang="en-US" sz="1200"/>
              <a:t>– The zero-field condition removes the changing stimulus.</a:t>
            </a:r>
          </a:p>
          <a:p>
            <a:r>
              <a:rPr lang="en-US" sz="1200"/>
              <a:t>– V1 section removes the nerve input.</a:t>
            </a:r>
          </a:p>
          <a:p>
            <a:r>
              <a:rPr lang="en-US" sz="1200"/>
              <a:t>• Link.</a:t>
            </a:r>
          </a:p>
          <a:p>
            <a:r>
              <a:rPr lang="en-US" sz="1200"/>
              <a:t>– The result connects magnetic stimulation to a peripheral pathway.</a:t>
            </a:r>
          </a:p>
          <a:p>
            <a:r>
              <a:rPr lang="en-US" sz="1200"/>
              <a:t>– The pathway runs through V1.</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Lefeldt N, Heyers D, Schneider NL, Engels S, Elbers D, Mouritsen H (2014). Magnetic field-driven induction of ZENK in the trigeminal system of pigeons (Columba livia). Journal of the Royal Society Interface 11(100):20140777. https://doi.org/10.1098/rsif.2014.0777</a:t>
            </a:r>
          </a:p>
        </p:txBody>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c-Fos is a regional index of recent activity.</a:t>
            </a:r>
          </a:p>
          <a:p>
            <a:r>
              <a:rPr lang="en-US" sz="1200"/>
              <a:t>• Marker.</a:t>
            </a:r>
          </a:p>
          <a:p>
            <a:r>
              <a:rPr lang="en-US" sz="1200"/>
              <a:t>– c-Fos marks cells that recently fired.</a:t>
            </a:r>
          </a:p>
          <a:p>
            <a:r>
              <a:rPr lang="en-US" sz="1200"/>
              <a:t>– Labeled nuclei are detected with an antibody.</a:t>
            </a:r>
          </a:p>
          <a:p>
            <a:r>
              <a:rPr lang="en-US" sz="1200"/>
              <a:t>• Density.</a:t>
            </a:r>
          </a:p>
          <a:p>
            <a:r>
              <a:rPr lang="en-US" sz="1200"/>
              <a:t>– Labeled nuclei were counted per square millimetre.</a:t>
            </a:r>
          </a:p>
          <a:p>
            <a:r>
              <a:rPr lang="en-US" sz="1200"/>
              <a:t>– The density gives a regional value.</a:t>
            </a:r>
          </a:p>
          <a:p>
            <a:r>
              <a:rPr lang="en-US" sz="1200"/>
              <a:t>• Timing.</a:t>
            </a:r>
          </a:p>
          <a:p>
            <a:r>
              <a:rPr lang="en-US" sz="1200"/>
              <a:t>– Brains were sampled 1–2 h after each treatment.</a:t>
            </a:r>
          </a:p>
          <a:p>
            <a:r>
              <a:rPr lang="en-US" sz="1200"/>
              <a:t>– The label reflects activity over that window.</a:t>
            </a:r>
          </a:p>
          <a:p>
            <a:r>
              <a:rPr lang="en-US" sz="1200"/>
              <a:t>• Regions.</a:t>
            </a:r>
          </a:p>
          <a:p>
            <a:r>
              <a:rPr lang="en-US" sz="1200"/>
              <a:t>– The hippocampal formation, olfactory bulb and piriform cortex were sampled.</a:t>
            </a:r>
          </a:p>
          <a:p>
            <a:r>
              <a:rPr lang="en-US" sz="1200"/>
              <a:t>– Each region gives its own count.</a:t>
            </a:r>
          </a:p>
          <a:p>
            <a:r>
              <a:rPr lang="en-US" sz="1200"/>
              <a:t>• Controls.</a:t>
            </a:r>
          </a:p>
          <a:p>
            <a:r>
              <a:rPr lang="en-US" sz="1200"/>
              <a:t>– Each condition was compared against matched controls.</a:t>
            </a:r>
          </a:p>
          <a:p>
            <a:r>
              <a:rPr lang="en-US" sz="1200"/>
              <a:t>– Differences reflect the treatment.</a:t>
            </a:r>
          </a:p>
          <a:p>
            <a:r>
              <a:rPr lang="en-US" sz="1200"/>
              <a:t>• Result.</a:t>
            </a:r>
          </a:p>
          <a:p>
            <a:r>
              <a:rPr lang="en-US" sz="1200"/>
              <a:t>– The dorsolateral hippocampal area responded most to the odors.</a:t>
            </a:r>
          </a:p>
          <a:p>
            <a:r>
              <a:rPr lang="en-US" sz="1200"/>
              <a:t>– The regional pattern shows where the activity was strongest.</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Jorge PE, Phillips JB, Gonçalves A, Marques PAM, Němec P (2014). Odours stimulate neuronal activity in the dorsolateral area of the hippocampal formation during path integration. Proceedings of the Royal Society B 281(1783):20140025. https://doi.org/10.1098/rspb.2014.0025</a:t>
            </a:r>
          </a:p>
        </p:txBody>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departure bearing is only the first part of a flight.</a:t>
            </a:r>
          </a:p>
          <a:p>
            <a:r>
              <a:rPr lang="en-US" sz="1200"/>
              <a:t>• Bearing.</a:t>
            </a:r>
          </a:p>
          <a:p>
            <a:r>
              <a:rPr lang="en-US" sz="1200"/>
              <a:t>– The bearing is the direction at which the bird is last seen.</a:t>
            </a:r>
          </a:p>
          <a:p>
            <a:r>
              <a:rPr lang="en-US" sz="1200"/>
              <a:t>– It describes the start of the flight.</a:t>
            </a:r>
          </a:p>
          <a:p>
            <a:r>
              <a:rPr lang="en-US" sz="1200"/>
              <a:t>• Full track.</a:t>
            </a:r>
          </a:p>
          <a:p>
            <a:r>
              <a:rPr lang="en-US" sz="1200"/>
              <a:t>– The complete GPS track records the whole route.</a:t>
            </a:r>
          </a:p>
          <a:p>
            <a:r>
              <a:rPr lang="en-US" sz="1200"/>
              <a:t>– It includes circling, stops and course correction.</a:t>
            </a:r>
          </a:p>
          <a:p>
            <a:r>
              <a:rPr lang="en-US" sz="1200"/>
              <a:t>• Early results.</a:t>
            </a:r>
          </a:p>
          <a:p>
            <a:r>
              <a:rPr lang="en-US" sz="1200"/>
              <a:t>– Early bearings missed some differences.</a:t>
            </a:r>
          </a:p>
          <a:p>
            <a:r>
              <a:rPr lang="en-US" sz="1200"/>
              <a:t>– The differences appeared over the first hour.</a:t>
            </a:r>
          </a:p>
          <a:p>
            <a:r>
              <a:rPr lang="en-US" sz="1200"/>
              <a:t>• Release site.</a:t>
            </a:r>
          </a:p>
          <a:p>
            <a:r>
              <a:rPr lang="en-US" sz="1200"/>
              <a:t>– At 53 km, artificial-odor birds departed and then progressed little.</a:t>
            </a:r>
          </a:p>
          <a:p>
            <a:r>
              <a:rPr lang="en-US" sz="1200"/>
              <a:t>– The departure alone looked normal.</a:t>
            </a:r>
          </a:p>
          <a:p>
            <a:r>
              <a:rPr lang="en-US" sz="1200"/>
              <a:t>• Two stages.</a:t>
            </a:r>
          </a:p>
          <a:p>
            <a:r>
              <a:rPr lang="en-US" sz="1200"/>
              <a:t>– Departure and later progress are separate measures.</a:t>
            </a:r>
          </a:p>
          <a:p>
            <a:r>
              <a:rPr lang="en-US" sz="1200"/>
              <a:t>– Each one reports a different phase.</a:t>
            </a:r>
          </a:p>
          <a:p>
            <a:r>
              <a:rPr lang="en-US" sz="1200"/>
              <a:t>• Judgment.</a:t>
            </a:r>
          </a:p>
          <a:p>
            <a:r>
              <a:rPr lang="en-US" sz="1200"/>
              <a:t>– Navigation quality is judged from the full track.</a:t>
            </a:r>
          </a:p>
          <a:p>
            <a:r>
              <a:rPr lang="en-US" sz="1200"/>
              <a:t>– A single early direction is not enough.</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nasal block holds new odor input constant across groups.</a:t>
            </a:r>
          </a:p>
          <a:p>
            <a:r>
              <a:rPr lang="en-US" sz="1200"/>
              <a:t>• Anesthetic.</a:t>
            </a:r>
          </a:p>
          <a:p>
            <a:r>
              <a:rPr lang="en-US" sz="1200"/>
              <a:t>– Xylocaine was applied to the olfactory mucosa.</a:t>
            </a:r>
          </a:p>
          <a:p>
            <a:r>
              <a:rPr lang="en-US" sz="1200"/>
              <a:t>– The block was applied immediately before release.</a:t>
            </a:r>
          </a:p>
          <a:p>
            <a:r>
              <a:rPr lang="en-US" sz="1200"/>
              <a:t>• Common condition.</a:t>
            </a:r>
          </a:p>
          <a:p>
            <a:r>
              <a:rPr lang="en-US" sz="1200"/>
              <a:t>– All three air-exposure groups received the same block.</a:t>
            </a:r>
          </a:p>
          <a:p>
            <a:r>
              <a:rPr lang="en-US" sz="1200"/>
              <a:t>– New odor input was reduced equally.</a:t>
            </a:r>
          </a:p>
          <a:p>
            <a:r>
              <a:rPr lang="en-US" sz="1200"/>
              <a:t>• Prior exposure.</a:t>
            </a:r>
          </a:p>
          <a:p>
            <a:r>
              <a:rPr lang="en-US" sz="1200"/>
              <a:t>– Birds had experienced their assigned air before release.</a:t>
            </a:r>
          </a:p>
          <a:p>
            <a:r>
              <a:rPr lang="en-US" sz="1200"/>
              <a:t>– The earlier exposure was the variable under test.</a:t>
            </a:r>
          </a:p>
          <a:p>
            <a:r>
              <a:rPr lang="en-US" sz="1200"/>
              <a:t>• Release sites.</a:t>
            </a:r>
          </a:p>
          <a:p>
            <a:r>
              <a:rPr lang="en-US" sz="1200"/>
              <a:t>– Releases occurred at 53 km and 61 km from home.</a:t>
            </a:r>
          </a:p>
          <a:p>
            <a:r>
              <a:rPr lang="en-US" sz="1200"/>
              <a:t>– Two sites allowed the result to be checked.</a:t>
            </a:r>
          </a:p>
          <a:p>
            <a:r>
              <a:rPr lang="en-US" sz="1200"/>
              <a:t>• Recovery.</a:t>
            </a:r>
          </a:p>
          <a:p>
            <a:r>
              <a:rPr lang="en-US" sz="1200"/>
              <a:t>– The block wears off during the flight.</a:t>
            </a:r>
          </a:p>
          <a:p>
            <a:r>
              <a:rPr lang="en-US" sz="1200"/>
              <a:t>– The later flight includes returning smell.</a:t>
            </a:r>
          </a:p>
          <a:p>
            <a:r>
              <a:rPr lang="en-US" sz="1200"/>
              <a:t>• Interpretation.</a:t>
            </a:r>
          </a:p>
          <a:p>
            <a:r>
              <a:rPr lang="en-US" sz="1200"/>
              <a:t>– Differences between groups reflect earlier odor history.</a:t>
            </a:r>
          </a:p>
          <a:p>
            <a:r>
              <a:rPr lang="en-US" sz="1200"/>
              <a:t>– Early navigation is the main outcome.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two odor accounts make different predictions.</a:t>
            </a:r>
          </a:p>
          <a:p>
            <a:r>
              <a:rPr lang="en-US" sz="1200"/>
              <a:t>• Map account.</a:t>
            </a:r>
          </a:p>
          <a:p>
            <a:r>
              <a:rPr lang="en-US" sz="1200"/>
              <a:t>– Odors carry location through their mixture.</a:t>
            </a:r>
          </a:p>
          <a:p>
            <a:r>
              <a:rPr lang="en-US" sz="1200"/>
              <a:t>– Only natural air holds the geographical signature.</a:t>
            </a:r>
          </a:p>
          <a:p>
            <a:r>
              <a:rPr lang="en-US" sz="1200"/>
              <a:t>• Activation account.</a:t>
            </a:r>
          </a:p>
          <a:p>
            <a:r>
              <a:rPr lang="en-US" sz="1200"/>
              <a:t>– Any unfamiliar odor stimulates the sense of smell.</a:t>
            </a:r>
          </a:p>
          <a:p>
            <a:r>
              <a:rPr lang="en-US" sz="1200"/>
              <a:t>– Stimulation alone may help navigation.</a:t>
            </a:r>
          </a:p>
          <a:p>
            <a:r>
              <a:rPr lang="en-US" sz="1200"/>
              <a:t>• Transport.</a:t>
            </a:r>
          </a:p>
          <a:p>
            <a:r>
              <a:rPr lang="en-US" sz="1200"/>
              <a:t>– Birds were carried in containers with different air supplies.</a:t>
            </a:r>
          </a:p>
          <a:p>
            <a:r>
              <a:rPr lang="en-US" sz="1200"/>
              <a:t>– Artificial odors were added in puffs about every 20 min.</a:t>
            </a:r>
          </a:p>
          <a:p>
            <a:r>
              <a:rPr lang="en-US" sz="1200"/>
              <a:t>• Waiting period.</a:t>
            </a:r>
          </a:p>
          <a:p>
            <a:r>
              <a:rPr lang="en-US" sz="1200"/>
              <a:t>– The same air conditions applied while birds waited at the release site.</a:t>
            </a:r>
          </a:p>
          <a:p>
            <a:r>
              <a:rPr lang="en-US" sz="1200"/>
              <a:t>– The odor history continued up to release.</a:t>
            </a:r>
          </a:p>
          <a:p>
            <a:r>
              <a:rPr lang="en-US" sz="1200"/>
              <a:t>• Comparison.</a:t>
            </a:r>
          </a:p>
          <a:p>
            <a:r>
              <a:rPr lang="en-US" sz="1200"/>
              <a:t>– The later tracks show which prediction holds.</a:t>
            </a:r>
          </a:p>
          <a:p>
            <a:r>
              <a:rPr lang="en-US" sz="1200"/>
              <a:t>– The groups differ only in the air they received.</a:t>
            </a:r>
          </a:p>
          <a:p>
            <a:r>
              <a:rPr lang="en-US" sz="1200"/>
              <a:t>• Outcome.</a:t>
            </a:r>
          </a:p>
          <a:p>
            <a:r>
              <a:rPr lang="en-US" sz="1200"/>
              <a:t>– The result depends on whether location information was present.</a:t>
            </a:r>
          </a:p>
          <a:p>
            <a:r>
              <a:rPr lang="en-US" sz="1200"/>
              <a:t>– Sensory stimulation alone was tested as a separate condition.</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Gagliardo A, Ioalè P, Filannino C, Wikelski M (2011). Homing pigeons only navigate in air with intact environmental odours: a test of the olfactory activation hypothesis with GPS data loggers. PLOS ONE 6(8):e22385. https://doi.org/10.1371/journal.pone.0022385</a:t>
            </a:r>
          </a:p>
        </p:txBody>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A parallel offset separates the shape of a route from its position.</a:t>
            </a:r>
          </a:p>
          <a:p>
            <a:r>
              <a:rPr lang="en-US" sz="1200"/>
              <a:t>• Definition.</a:t>
            </a:r>
          </a:p>
          <a:p>
            <a:r>
              <a:rPr lang="en-US" sz="1200"/>
              <a:t>– The bird keeps the shape of its earlier route.</a:t>
            </a:r>
          </a:p>
          <a:p>
            <a:r>
              <a:rPr lang="en-US" sz="1200"/>
              <a:t>– The whole route is moved to one side.</a:t>
            </a:r>
          </a:p>
          <a:p>
            <a:r>
              <a:rPr lang="en-US" sz="1200"/>
              <a:t>• Measurement.</a:t>
            </a:r>
          </a:p>
          <a:p>
            <a:r>
              <a:rPr lang="en-US" sz="1200"/>
              <a:t>– Vectors were calculated relative to the route.</a:t>
            </a:r>
          </a:p>
          <a:p>
            <a:r>
              <a:rPr lang="en-US" sz="1200"/>
              <a:t>– Rings at 100, 300 and 500 m mark the size of the offset.</a:t>
            </a:r>
          </a:p>
          <a:p>
            <a:r>
              <a:rPr lang="en-US" sz="1200"/>
              <a:t>• Direction.</a:t>
            </a:r>
          </a:p>
          <a:p>
            <a:r>
              <a:rPr lang="en-US" sz="1200"/>
              <a:t>– Some pigeons shifted anticlockwise of their former tracks.</a:t>
            </a:r>
          </a:p>
          <a:p>
            <a:r>
              <a:rPr lang="en-US" sz="1200"/>
              <a:t>– The bias was retained in the route-relative vectors.</a:t>
            </a:r>
          </a:p>
          <a:p>
            <a:r>
              <a:rPr lang="en-US" sz="1200"/>
              <a:t>• Two sources.</a:t>
            </a:r>
          </a:p>
          <a:p>
            <a:r>
              <a:rPr lang="en-US" sz="1200"/>
              <a:t>– Landmark attraction keeps the shape.</a:t>
            </a:r>
          </a:p>
          <a:p>
            <a:r>
              <a:rPr lang="en-US" sz="1200"/>
              <a:t>– Compass influence moves the position.</a:t>
            </a:r>
          </a:p>
          <a:p>
            <a:r>
              <a:rPr lang="en-US" sz="1200"/>
              <a:t>• Contrast.</a:t>
            </a:r>
          </a:p>
          <a:p>
            <a:r>
              <a:rPr lang="en-US" sz="1200"/>
              <a:t>– A straight compass flight would abandon the route shape.</a:t>
            </a:r>
          </a:p>
          <a:p>
            <a:r>
              <a:rPr lang="en-US" sz="1200"/>
              <a:t>– The offsets do not do that.</a:t>
            </a:r>
          </a:p>
          <a:p>
            <a:r>
              <a:rPr lang="en-US" sz="1200"/>
              <a:t>• Meaning.</a:t>
            </a:r>
          </a:p>
          <a:p>
            <a:r>
              <a:rPr lang="en-US" sz="1200"/>
              <a:t>– Route memory and the compass operate together.</a:t>
            </a:r>
          </a:p>
          <a:p>
            <a:r>
              <a:rPr lang="en-US" sz="1200"/>
              <a:t>– Each flight shows the balance between them.</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The sun compass depends on time as well as on the sun.</a:t>
            </a:r>
          </a:p>
          <a:p>
            <a:r>
              <a:rPr lang="en-US" sz="1200"/>
              <a:t>• Principle.</a:t>
            </a:r>
          </a:p>
          <a:p>
            <a:r>
              <a:rPr lang="en-US" sz="1200"/>
              <a:t>– The sun's position changes steadily through the day.</a:t>
            </a:r>
          </a:p>
          <a:p>
            <a:r>
              <a:rPr lang="en-US" sz="1200"/>
              <a:t>– A bird must know the time to read the sun correctly.</a:t>
            </a:r>
          </a:p>
          <a:p>
            <a:r>
              <a:rPr lang="en-US" sz="1200"/>
              <a:t>• Manipulation.</a:t>
            </a:r>
          </a:p>
          <a:p>
            <a:r>
              <a:rPr lang="en-US" sz="1200"/>
              <a:t>– Artificial sunrise and sunset were delayed by 4 h.</a:t>
            </a:r>
          </a:p>
          <a:p>
            <a:r>
              <a:rPr lang="en-US" sz="1200"/>
              <a:t>– The delay lasted 5–7 days.</a:t>
            </a:r>
          </a:p>
          <a:p>
            <a:r>
              <a:rPr lang="en-US" sz="1200"/>
              <a:t>• Prediction.</a:t>
            </a:r>
          </a:p>
          <a:p>
            <a:r>
              <a:rPr lang="en-US" sz="1200"/>
              <a:t>– The shift predicted a solar-compass error of about 90°.</a:t>
            </a:r>
          </a:p>
          <a:p>
            <a:r>
              <a:rPr lang="en-US" sz="1200"/>
              <a:t>– The predicted error is the size of the directional conflict.</a:t>
            </a:r>
          </a:p>
          <a:p>
            <a:r>
              <a:rPr lang="en-US" sz="1200"/>
              <a:t>• Controls.</a:t>
            </a:r>
          </a:p>
          <a:p>
            <a:r>
              <a:rPr lang="en-US" sz="1200"/>
              <a:t>– Each pigeon was compared with its own earlier flights.</a:t>
            </a:r>
          </a:p>
          <a:p>
            <a:r>
              <a:rPr lang="en-US" sz="1200"/>
              <a:t>– This keeps individual routes as the reference.</a:t>
            </a:r>
          </a:p>
          <a:p>
            <a:r>
              <a:rPr lang="en-US" sz="1200"/>
              <a:t>• Conflict.</a:t>
            </a:r>
          </a:p>
          <a:p>
            <a:r>
              <a:rPr lang="en-US" sz="1200"/>
              <a:t>– The familiar route and the compass point in different directions.</a:t>
            </a:r>
          </a:p>
          <a:p>
            <a:r>
              <a:rPr lang="en-US" sz="1200"/>
              <a:t>– The bird's track shows which one it follows.</a:t>
            </a:r>
          </a:p>
          <a:p>
            <a:r>
              <a:rPr lang="en-US" sz="1200"/>
              <a:t>• Combination.</a:t>
            </a:r>
          </a:p>
          <a:p>
            <a:r>
              <a:rPr lang="en-US" sz="1200"/>
              <a:t>– The sun is one of several cues that the bird weighs.</a:t>
            </a:r>
          </a:p>
          <a:p>
            <a:r>
              <a:rPr lang="en-US" sz="1200"/>
              <a:t>– Landmarks and other cues remain available.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Freeman R, Meade J, Roberts S, Guilford T (2007). Pigeons combine compass and landmark guidance in familiar route navigation. Proceedings of the National Academy of Sciences 104(18):7471–7476. https://doi.org/10.1073/pnas.0701575104</a:t>
            </a:r>
          </a:p>
        </p:txBody>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Displacement tests show what a bird goes back to.</a:t>
            </a:r>
          </a:p>
          <a:p>
            <a:r>
              <a:rPr lang="en-US" sz="1200"/>
              <a:t>• Off-route release.</a:t>
            </a:r>
          </a:p>
          <a:p>
            <a:r>
              <a:rPr lang="en-US" sz="1200"/>
              <a:t>– Each pigeon was released outside its preferred corridor.</a:t>
            </a:r>
          </a:p>
          <a:p>
            <a:r>
              <a:rPr lang="en-US" sz="1200"/>
              <a:t>– Its complete track shows the route it followed.</a:t>
            </a:r>
          </a:p>
          <a:p>
            <a:r>
              <a:rPr lang="en-US" sz="1200"/>
              <a:t>• Merging.</a:t>
            </a:r>
          </a:p>
          <a:p>
            <a:r>
              <a:rPr lang="en-US" sz="1200"/>
              <a:t>– Many tracks rejoined the previously used corridor.</a:t>
            </a:r>
          </a:p>
          <a:p>
            <a:r>
              <a:rPr lang="en-US" sz="1200"/>
              <a:t>– The rejoining happened well away from the release point.</a:t>
            </a:r>
          </a:p>
          <a:p>
            <a:r>
              <a:rPr lang="en-US" sz="1200"/>
              <a:t>• Scale.</a:t>
            </a:r>
          </a:p>
          <a:p>
            <a:r>
              <a:rPr lang="en-US" sz="1200"/>
              <a:t>– The maps use a scale of about 2 km.</a:t>
            </a:r>
          </a:p>
          <a:p>
            <a:r>
              <a:rPr lang="en-US" sz="1200"/>
              <a:t>– Each displacement can be compared with the surrounding landscape.</a:t>
            </a:r>
          </a:p>
          <a:p>
            <a:r>
              <a:rPr lang="en-US" sz="1200"/>
              <a:t>• Interpretation.</a:t>
            </a:r>
          </a:p>
          <a:p>
            <a:r>
              <a:rPr lang="en-US" sz="1200"/>
              <a:t>– The merge fits attraction toward recognized landmarks.</a:t>
            </a:r>
          </a:p>
          <a:p>
            <a:r>
              <a:rPr lang="en-US" sz="1200"/>
              <a:t>– A fresh shortest-path calculation does not explain the pattern.</a:t>
            </a:r>
          </a:p>
          <a:p>
            <a:r>
              <a:rPr lang="en-US" sz="1200"/>
              <a:t>• Other systems.</a:t>
            </a:r>
          </a:p>
          <a:p>
            <a:r>
              <a:rPr lang="en-US" sz="1200"/>
              <a:t>– Other navigational systems stayed available during the flights.</a:t>
            </a:r>
          </a:p>
          <a:p>
            <a:r>
              <a:rPr lang="en-US" sz="1200"/>
              <a:t>– The pull of the route is one part of the guidance.</a:t>
            </a:r>
          </a:p>
          <a:p>
            <a:r>
              <a:rPr lang="en-US" sz="1200"/>
              <a:t>• Route memory.</a:t>
            </a:r>
          </a:p>
          <a:p>
            <a:r>
              <a:rPr lang="en-US" sz="1200"/>
              <a:t>– The learned corridor shapes where the bird goes after displacement.</a:t>
            </a:r>
          </a:p>
          <a:p>
            <a:r>
              <a:rPr lang="en-US" sz="1200"/>
              <a:t>– The effect depends on the familiar features along the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1"/>
          </p:nvPr>
        </p:nvSpPr>
        <p:spPr/>
        <p:txBody>
          <a:bodyPr/>
          <a:lstStyle/>
          <a:p>
            <a:r>
              <a:rPr lang="en-US" sz="1200"/>
              <a:t>• Corridor width is a property of the flight tracks themselves.</a:t>
            </a:r>
          </a:p>
          <a:p>
            <a:r>
              <a:rPr lang="en-US" sz="1200"/>
              <a:t>• Definition.</a:t>
            </a:r>
          </a:p>
          <a:p>
            <a:r>
              <a:rPr lang="en-US" sz="1200"/>
              <a:t>– A corridor is the band of ground covered on repeated flights along one learned path.</a:t>
            </a:r>
          </a:p>
          <a:p>
            <a:r>
              <a:rPr lang="en-US" sz="1200"/>
              <a:t>– A narrow band means the tracks cluster tightly.</a:t>
            </a:r>
          </a:p>
          <a:p>
            <a:r>
              <a:rPr lang="en-US" sz="1200"/>
              <a:t>• Measurement.</a:t>
            </a:r>
          </a:p>
          <a:p>
            <a:r>
              <a:rPr lang="en-US" sz="1200"/>
              <a:t>– Widths came from each bird's final training tracks.</a:t>
            </a:r>
          </a:p>
          <a:p>
            <a:r>
              <a:rPr lang="en-US" sz="1200"/>
              <a:t>– The widths were scaled to route length so that routes could be compared.</a:t>
            </a:r>
          </a:p>
          <a:p>
            <a:r>
              <a:rPr lang="en-US" sz="1200"/>
              <a:t>• Values.</a:t>
            </a:r>
          </a:p>
          <a:p>
            <a:r>
              <a:rPr lang="en-US" sz="1200"/>
              <a:t>– Mean widths were 151 m at Weston Wood and 176 m at High Cogges.</a:t>
            </a:r>
          </a:p>
          <a:p>
            <a:r>
              <a:rPr lang="en-US" sz="1200"/>
              <a:t>– Both values come from repeated training flights.</a:t>
            </a:r>
          </a:p>
          <a:p>
            <a:r>
              <a:rPr lang="en-US" sz="1200"/>
              <a:t>• Consistency and accuracy.</a:t>
            </a:r>
          </a:p>
          <a:p>
            <a:r>
              <a:rPr lang="en-US" sz="1200"/>
              <a:t>– A consistent route can still be indirect.</a:t>
            </a:r>
          </a:p>
          <a:p>
            <a:r>
              <a:rPr lang="en-US" sz="1200"/>
              <a:t>– The width measures repeatability, while arrival is a separate outcome.</a:t>
            </a:r>
          </a:p>
          <a:p>
            <a:r>
              <a:rPr lang="en-US" sz="1200"/>
              <a:t>• Data source.</a:t>
            </a:r>
          </a:p>
          <a:p>
            <a:r>
              <a:rPr lang="en-US" sz="1200"/>
              <a:t>– The GPS records supply the positions used for the widths.</a:t>
            </a:r>
          </a:p>
          <a:p>
            <a:r>
              <a:rPr lang="en-US" sz="1200"/>
              <a:t>– The measure follows directly from the recorded tracks.</a:t>
            </a:r>
          </a:p>
          <a:p>
            <a:r>
              <a:rPr lang="en-US" sz="1200"/>
              <a:t>• Meaning.</a:t>
            </a:r>
          </a:p>
          <a:p>
            <a:r>
              <a:rPr lang="en-US" sz="1200"/>
              <a:t>– Narrow corridors show that each bird keeps to its own route.</a:t>
            </a:r>
          </a:p>
          <a:p>
            <a:r>
              <a:rPr lang="en-US" sz="1200"/>
              <a:t>– The width gives a compact summary of that route.</a:t>
            </a:r>
          </a:p>
          <a:p>
            <a:r>
              <a:rPr lang="en-US" sz="1200"/>
              <a:t>• Source values.</a:t>
            </a:r>
          </a:p>
          <a:p>
            <a:r>
              <a:rPr lang="en-US" sz="1200"/>
              <a:t>– The published tracks and the measured values come from the original paper.</a:t>
            </a:r>
          </a:p>
          <a:p>
            <a:r>
              <a:rPr lang="en-US" sz="1200"/>
              <a:t>– Each value is reported with the scale used in the source.</a:t>
            </a:r>
          </a:p>
          <a:p>
            <a:r>
              <a:rPr lang="en-US" sz="1200"/>
              <a:t>• Why the measure matters.</a:t>
            </a:r>
          </a:p>
          <a:p>
            <a:r>
              <a:rPr lang="en-US" sz="1200"/>
              <a:t>– The result separates the bird's measured behavior from the mechanism that produces it.</a:t>
            </a:r>
          </a:p>
          <a:p>
            <a:r>
              <a:rPr lang="en-US" sz="1200"/>
              <a:t>– The comparison stays within the same birds or sites.</a:t>
            </a:r>
          </a:p>
          <a:p>
            <a:r>
              <a:rPr lang="en-US" sz="1200"/>
              <a:t/>
            </a:r>
          </a:p>
          <a:p>
            <a:r>
              <a:rPr lang="en-US" sz="1200"/>
              <a:t>References:</a:t>
            </a:r>
          </a:p>
          <a:p>
            <a:r>
              <a:rPr lang="en-US" sz="1200"/>
              <a:t>Biro D, Meade J, Guilford T (2004). Familiar route loyalty implies visual pilotage in the homing pigeon. Proceedings of the National Academy of Sciences 101(50):17440–17443. https://doi.org/10.1073/pnas.0406984101</a:t>
            </a:r>
          </a:p>
        </p:txBody>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1" name="Shape 11"/>
        <p:cNvGrpSpPr/>
        <p:nvPr/>
      </p:nvGrpSpPr>
      <p:grpSpPr>
        <a:xfrm>
          <a:off x="0" y="0"/>
          <a:ext cx="0" cy="0"/>
          <a:chOff x="0" y="0"/>
          <a:chExt cx="0" cy="0"/>
        </a:xfrm>
      </p:grpSpPr>
      <p:sp>
        <p:nvSpPr>
          <p:cNvPr id="12" name="Google Shape;12;p4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3" name="Google Shape;13;p4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4" name="Google Shape;14;p4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15" name="Shape 15"/>
        <p:cNvGrpSpPr/>
        <p:nvPr/>
      </p:nvGrpSpPr>
      <p:grpSpPr>
        <a:xfrm>
          <a:off x="0" y="0"/>
          <a:ext cx="0" cy="0"/>
          <a:chOff x="0" y="0"/>
          <a:chExt cx="0" cy="0"/>
        </a:xfrm>
      </p:grpSpPr>
      <p:sp>
        <p:nvSpPr>
          <p:cNvPr id="16" name="Google Shape;16;p49"/>
          <p:cNvSpPr txBox="1"/>
          <p:nvPr>
            <p:ph type="ctrTitle"/>
          </p:nvPr>
        </p:nvSpPr>
        <p:spPr>
          <a:xfrm>
            <a:off x="685800" y="2130425"/>
            <a:ext cx="7772400" cy="1470025"/>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7" name="Google Shape;17;p49"/>
          <p:cNvSpPr txBox="1"/>
          <p:nvPr>
            <p:ph idx="1" type="subTitle"/>
          </p:nvPr>
        </p:nvSpPr>
        <p:spPr>
          <a:xfrm>
            <a:off x="1371600" y="3886200"/>
            <a:ext cx="6400800" cy="1752600"/>
          </a:xfrm>
          <a:prstGeom prst="rect">
            <a:avLst/>
          </a:prstGeom>
          <a:noFill/>
          <a:ln>
            <a:noFill/>
          </a:ln>
        </p:spPr>
        <p:txBody>
          <a:bodyPr anchorCtr="0" anchor="t" bIns="45700" lIns="91425" spcFirstLastPara="1" rIns="91425" wrap="square" tIns="45700">
            <a:normAutofit/>
          </a:bodyPr>
          <a:lstStyle>
            <a:lvl1pPr lvl="0" algn="ctr">
              <a:spcBef>
                <a:spcPts val="640"/>
              </a:spcBef>
              <a:spcAft>
                <a:spcPts val="0"/>
              </a:spcAft>
              <a:buClr>
                <a:srgbClr val="888888"/>
              </a:buClr>
              <a:buSzPts val="3200"/>
              <a:buNone/>
              <a:defRPr>
                <a:solidFill>
                  <a:srgbClr val="888888"/>
                </a:solidFill>
              </a:defRPr>
            </a:lvl1pPr>
            <a:lvl2pPr lvl="1" algn="ctr">
              <a:spcBef>
                <a:spcPts val="560"/>
              </a:spcBef>
              <a:spcAft>
                <a:spcPts val="0"/>
              </a:spcAft>
              <a:buClr>
                <a:srgbClr val="888888"/>
              </a:buClr>
              <a:buSzPts val="2800"/>
              <a:buNone/>
              <a:defRPr>
                <a:solidFill>
                  <a:srgbClr val="888888"/>
                </a:solidFill>
              </a:defRPr>
            </a:lvl2pPr>
            <a:lvl3pPr lvl="2" algn="ctr">
              <a:spcBef>
                <a:spcPts val="480"/>
              </a:spcBef>
              <a:spcAft>
                <a:spcPts val="0"/>
              </a:spcAft>
              <a:buClr>
                <a:srgbClr val="888888"/>
              </a:buClr>
              <a:buSzPts val="2400"/>
              <a:buNone/>
              <a:defRPr>
                <a:solidFill>
                  <a:srgbClr val="888888"/>
                </a:solidFill>
              </a:defRPr>
            </a:lvl3pPr>
            <a:lvl4pPr lvl="3" algn="ctr">
              <a:spcBef>
                <a:spcPts val="400"/>
              </a:spcBef>
              <a:spcAft>
                <a:spcPts val="0"/>
              </a:spcAft>
              <a:buClr>
                <a:srgbClr val="888888"/>
              </a:buClr>
              <a:buSzPts val="2000"/>
              <a:buNone/>
              <a:defRPr>
                <a:solidFill>
                  <a:srgbClr val="888888"/>
                </a:solidFill>
              </a:defRPr>
            </a:lvl4pPr>
            <a:lvl5pPr lvl="4" algn="ctr">
              <a:spcBef>
                <a:spcPts val="400"/>
              </a:spcBef>
              <a:spcAft>
                <a:spcPts val="0"/>
              </a:spcAft>
              <a:buClr>
                <a:srgbClr val="888888"/>
              </a:buClr>
              <a:buSzPts val="2000"/>
              <a:buNone/>
              <a:defRPr>
                <a:solidFill>
                  <a:srgbClr val="888888"/>
                </a:solidFill>
              </a:defRPr>
            </a:lvl5pPr>
            <a:lvl6pPr lvl="5" algn="ctr">
              <a:spcBef>
                <a:spcPts val="400"/>
              </a:spcBef>
              <a:spcAft>
                <a:spcPts val="0"/>
              </a:spcAft>
              <a:buClr>
                <a:srgbClr val="888888"/>
              </a:buClr>
              <a:buSzPts val="2000"/>
              <a:buNone/>
              <a:defRPr>
                <a:solidFill>
                  <a:srgbClr val="888888"/>
                </a:solidFill>
              </a:defRPr>
            </a:lvl6pPr>
            <a:lvl7pPr lvl="6" algn="ctr">
              <a:spcBef>
                <a:spcPts val="400"/>
              </a:spcBef>
              <a:spcAft>
                <a:spcPts val="0"/>
              </a:spcAft>
              <a:buClr>
                <a:srgbClr val="888888"/>
              </a:buClr>
              <a:buSzPts val="2000"/>
              <a:buNone/>
              <a:defRPr>
                <a:solidFill>
                  <a:srgbClr val="888888"/>
                </a:solidFill>
              </a:defRPr>
            </a:lvl7pPr>
            <a:lvl8pPr lvl="7" algn="ctr">
              <a:spcBef>
                <a:spcPts val="400"/>
              </a:spcBef>
              <a:spcAft>
                <a:spcPts val="0"/>
              </a:spcAft>
              <a:buClr>
                <a:srgbClr val="888888"/>
              </a:buClr>
              <a:buSzPts val="2000"/>
              <a:buNone/>
              <a:defRPr>
                <a:solidFill>
                  <a:srgbClr val="888888"/>
                </a:solidFill>
              </a:defRPr>
            </a:lvl8pPr>
            <a:lvl9pPr lvl="8" algn="ctr">
              <a:spcBef>
                <a:spcPts val="400"/>
              </a:spcBef>
              <a:spcAft>
                <a:spcPts val="0"/>
              </a:spcAft>
              <a:buClr>
                <a:srgbClr val="888888"/>
              </a:buClr>
              <a:buSzPts val="2000"/>
              <a:buNone/>
              <a:defRPr>
                <a:solidFill>
                  <a:srgbClr val="888888"/>
                </a:solidFill>
              </a:defRPr>
            </a:lvl9pPr>
          </a:lstStyle>
          <a:p/>
        </p:txBody>
      </p:sp>
      <p:sp>
        <p:nvSpPr>
          <p:cNvPr id="18" name="Google Shape;18;p49"/>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19" name="Google Shape;19;p49"/>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49"/>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Content" type="obj">
  <p:cSld name="OBJECT">
    <p:spTree>
      <p:nvGrpSpPr>
        <p:cNvPr id="21" name="Shape 21"/>
        <p:cNvGrpSpPr/>
        <p:nvPr/>
      </p:nvGrpSpPr>
      <p:grpSpPr>
        <a:xfrm>
          <a:off x="0" y="0"/>
          <a:ext cx="0" cy="0"/>
          <a:chOff x="0" y="0"/>
          <a:chExt cx="0" cy="0"/>
        </a:xfrm>
      </p:grpSpPr>
      <p:sp>
        <p:nvSpPr>
          <p:cNvPr id="22" name="Google Shape;22;p50"/>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3" name="Google Shape;23;p50"/>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24" name="Google Shape;24;p50"/>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5" name="Google Shape;25;p50"/>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6" name="Google Shape;26;p50"/>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27" name="Shape 27"/>
        <p:cNvGrpSpPr/>
        <p:nvPr/>
      </p:nvGrpSpPr>
      <p:grpSpPr>
        <a:xfrm>
          <a:off x="0" y="0"/>
          <a:ext cx="0" cy="0"/>
          <a:chOff x="0" y="0"/>
          <a:chExt cx="0" cy="0"/>
        </a:xfrm>
      </p:grpSpPr>
      <p:sp>
        <p:nvSpPr>
          <p:cNvPr id="28" name="Google Shape;28;p51"/>
          <p:cNvSpPr txBox="1"/>
          <p:nvPr>
            <p:ph type="title"/>
          </p:nvPr>
        </p:nvSpPr>
        <p:spPr>
          <a:xfrm>
            <a:off x="722313" y="4406900"/>
            <a:ext cx="7772400" cy="1362075"/>
          </a:xfrm>
          <a:prstGeom prst="rect">
            <a:avLst/>
          </a:prstGeom>
          <a:noFill/>
          <a:ln>
            <a:noFill/>
          </a:ln>
        </p:spPr>
        <p:txBody>
          <a:bodyPr anchorCtr="0" anchor="t" bIns="45700" lIns="91425" spcFirstLastPara="1" rIns="91425" wrap="square" tIns="45700">
            <a:normAutofit/>
          </a:bodyPr>
          <a:lstStyle>
            <a:lvl1pPr lvl="0" algn="l">
              <a:spcBef>
                <a:spcPts val="0"/>
              </a:spcBef>
              <a:spcAft>
                <a:spcPts val="0"/>
              </a:spcAft>
              <a:buClr>
                <a:schemeClr val="dk1"/>
              </a:buClr>
              <a:buSzPts val="4000"/>
              <a:buFont typeface="Calibri"/>
              <a:buNone/>
              <a:defRPr b="1" sz="4000" cap="none"/>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9" name="Google Shape;29;p51"/>
          <p:cNvSpPr txBox="1"/>
          <p:nvPr>
            <p:ph idx="1" type="body"/>
          </p:nvPr>
        </p:nvSpPr>
        <p:spPr>
          <a:xfrm>
            <a:off x="722313" y="2906713"/>
            <a:ext cx="7772400" cy="1500187"/>
          </a:xfrm>
          <a:prstGeom prst="rect">
            <a:avLst/>
          </a:prstGeom>
          <a:noFill/>
          <a:ln>
            <a:noFill/>
          </a:ln>
        </p:spPr>
        <p:txBody>
          <a:bodyPr anchorCtr="0" anchor="b" bIns="45700" lIns="91425" spcFirstLastPara="1" rIns="91425" wrap="square" tIns="45700">
            <a:normAutofit/>
          </a:bodyPr>
          <a:lstStyle>
            <a:lvl1pPr indent="-228600" lvl="0" marL="457200" algn="l">
              <a:spcBef>
                <a:spcPts val="400"/>
              </a:spcBef>
              <a:spcAft>
                <a:spcPts val="0"/>
              </a:spcAft>
              <a:buClr>
                <a:srgbClr val="888888"/>
              </a:buClr>
              <a:buSzPts val="2000"/>
              <a:buNone/>
              <a:defRPr sz="2000">
                <a:solidFill>
                  <a:srgbClr val="888888"/>
                </a:solidFill>
              </a:defRPr>
            </a:lvl1pPr>
            <a:lvl2pPr indent="-228600" lvl="1" marL="914400" algn="l">
              <a:spcBef>
                <a:spcPts val="360"/>
              </a:spcBef>
              <a:spcAft>
                <a:spcPts val="0"/>
              </a:spcAft>
              <a:buClr>
                <a:srgbClr val="888888"/>
              </a:buClr>
              <a:buSzPts val="1800"/>
              <a:buNone/>
              <a:defRPr sz="1800">
                <a:solidFill>
                  <a:srgbClr val="888888"/>
                </a:solidFill>
              </a:defRPr>
            </a:lvl2pPr>
            <a:lvl3pPr indent="-228600" lvl="2" marL="1371600" algn="l">
              <a:spcBef>
                <a:spcPts val="320"/>
              </a:spcBef>
              <a:spcAft>
                <a:spcPts val="0"/>
              </a:spcAft>
              <a:buClr>
                <a:srgbClr val="888888"/>
              </a:buClr>
              <a:buSzPts val="1600"/>
              <a:buNone/>
              <a:defRPr sz="1600">
                <a:solidFill>
                  <a:srgbClr val="888888"/>
                </a:solidFill>
              </a:defRPr>
            </a:lvl3pPr>
            <a:lvl4pPr indent="-228600" lvl="3" marL="1828800" algn="l">
              <a:spcBef>
                <a:spcPts val="280"/>
              </a:spcBef>
              <a:spcAft>
                <a:spcPts val="0"/>
              </a:spcAft>
              <a:buClr>
                <a:srgbClr val="888888"/>
              </a:buClr>
              <a:buSzPts val="1400"/>
              <a:buNone/>
              <a:defRPr sz="1400">
                <a:solidFill>
                  <a:srgbClr val="888888"/>
                </a:solidFill>
              </a:defRPr>
            </a:lvl4pPr>
            <a:lvl5pPr indent="-228600" lvl="4" marL="2286000" algn="l">
              <a:spcBef>
                <a:spcPts val="280"/>
              </a:spcBef>
              <a:spcAft>
                <a:spcPts val="0"/>
              </a:spcAft>
              <a:buClr>
                <a:srgbClr val="888888"/>
              </a:buClr>
              <a:buSzPts val="1400"/>
              <a:buNone/>
              <a:defRPr sz="1400">
                <a:solidFill>
                  <a:srgbClr val="888888"/>
                </a:solidFill>
              </a:defRPr>
            </a:lvl5pPr>
            <a:lvl6pPr indent="-228600" lvl="5" marL="2743200" algn="l">
              <a:spcBef>
                <a:spcPts val="280"/>
              </a:spcBef>
              <a:spcAft>
                <a:spcPts val="0"/>
              </a:spcAft>
              <a:buClr>
                <a:srgbClr val="888888"/>
              </a:buClr>
              <a:buSzPts val="1400"/>
              <a:buNone/>
              <a:defRPr sz="1400">
                <a:solidFill>
                  <a:srgbClr val="888888"/>
                </a:solidFill>
              </a:defRPr>
            </a:lvl6pPr>
            <a:lvl7pPr indent="-228600" lvl="6" marL="3200400" algn="l">
              <a:spcBef>
                <a:spcPts val="280"/>
              </a:spcBef>
              <a:spcAft>
                <a:spcPts val="0"/>
              </a:spcAft>
              <a:buClr>
                <a:srgbClr val="888888"/>
              </a:buClr>
              <a:buSzPts val="1400"/>
              <a:buNone/>
              <a:defRPr sz="1400">
                <a:solidFill>
                  <a:srgbClr val="888888"/>
                </a:solidFill>
              </a:defRPr>
            </a:lvl7pPr>
            <a:lvl8pPr indent="-228600" lvl="7" marL="3657600" algn="l">
              <a:spcBef>
                <a:spcPts val="280"/>
              </a:spcBef>
              <a:spcAft>
                <a:spcPts val="0"/>
              </a:spcAft>
              <a:buClr>
                <a:srgbClr val="888888"/>
              </a:buClr>
              <a:buSzPts val="1400"/>
              <a:buNone/>
              <a:defRPr sz="1400">
                <a:solidFill>
                  <a:srgbClr val="888888"/>
                </a:solidFill>
              </a:defRPr>
            </a:lvl8pPr>
            <a:lvl9pPr indent="-228600" lvl="8" marL="4114800" algn="l">
              <a:spcBef>
                <a:spcPts val="280"/>
              </a:spcBef>
              <a:spcAft>
                <a:spcPts val="0"/>
              </a:spcAft>
              <a:buClr>
                <a:srgbClr val="888888"/>
              </a:buClr>
              <a:buSzPts val="1400"/>
              <a:buNone/>
              <a:defRPr sz="1400">
                <a:solidFill>
                  <a:srgbClr val="888888"/>
                </a:solidFill>
              </a:defRPr>
            </a:lvl9pPr>
          </a:lstStyle>
          <a:p/>
        </p:txBody>
      </p:sp>
      <p:sp>
        <p:nvSpPr>
          <p:cNvPr id="30" name="Google Shape;30;p51"/>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1" name="Google Shape;31;p51"/>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2" name="Google Shape;32;p51"/>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wo Content" type="twoObj">
  <p:cSld name="TWO_OBJECTS">
    <p:spTree>
      <p:nvGrpSpPr>
        <p:cNvPr id="33" name="Shape 33"/>
        <p:cNvGrpSpPr/>
        <p:nvPr/>
      </p:nvGrpSpPr>
      <p:grpSpPr>
        <a:xfrm>
          <a:off x="0" y="0"/>
          <a:ext cx="0" cy="0"/>
          <a:chOff x="0" y="0"/>
          <a:chExt cx="0" cy="0"/>
        </a:xfrm>
      </p:grpSpPr>
      <p:sp>
        <p:nvSpPr>
          <p:cNvPr id="34" name="Google Shape;34;p52"/>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5" name="Google Shape;35;p52"/>
          <p:cNvSpPr txBox="1"/>
          <p:nvPr>
            <p:ph idx="1" type="body"/>
          </p:nvPr>
        </p:nvSpPr>
        <p:spPr>
          <a:xfrm>
            <a:off x="457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6" name="Google Shape;36;p52"/>
          <p:cNvSpPr txBox="1"/>
          <p:nvPr>
            <p:ph idx="2" type="body"/>
          </p:nvPr>
        </p:nvSpPr>
        <p:spPr>
          <a:xfrm>
            <a:off x="4648200" y="1600200"/>
            <a:ext cx="4038600" cy="4525963"/>
          </a:xfrm>
          <a:prstGeom prst="rect">
            <a:avLst/>
          </a:prstGeom>
          <a:noFill/>
          <a:ln>
            <a:noFill/>
          </a:ln>
        </p:spPr>
        <p:txBody>
          <a:bodyPr anchorCtr="0" anchor="t" bIns="45700" lIns="91425" spcFirstLastPara="1" rIns="91425" wrap="square" tIns="45700">
            <a:normAutofit/>
          </a:bodyPr>
          <a:lstStyle>
            <a:lvl1pPr indent="-406400" lvl="0" marL="457200" algn="l">
              <a:spcBef>
                <a:spcPts val="560"/>
              </a:spcBef>
              <a:spcAft>
                <a:spcPts val="0"/>
              </a:spcAft>
              <a:buClr>
                <a:schemeClr val="dk1"/>
              </a:buClr>
              <a:buSzPts val="2800"/>
              <a:buChar char="•"/>
              <a:defRPr sz="2800"/>
            </a:lvl1pPr>
            <a:lvl2pPr indent="-381000" lvl="1" marL="914400" algn="l">
              <a:spcBef>
                <a:spcPts val="480"/>
              </a:spcBef>
              <a:spcAft>
                <a:spcPts val="0"/>
              </a:spcAft>
              <a:buClr>
                <a:schemeClr val="dk1"/>
              </a:buClr>
              <a:buSzPts val="2400"/>
              <a:buChar char="–"/>
              <a:defRPr sz="2400"/>
            </a:lvl2pPr>
            <a:lvl3pPr indent="-355600" lvl="2" marL="1371600" algn="l">
              <a:spcBef>
                <a:spcPts val="400"/>
              </a:spcBef>
              <a:spcAft>
                <a:spcPts val="0"/>
              </a:spcAft>
              <a:buClr>
                <a:schemeClr val="dk1"/>
              </a:buClr>
              <a:buSzPts val="2000"/>
              <a:buChar char="•"/>
              <a:defRPr sz="2000"/>
            </a:lvl3pPr>
            <a:lvl4pPr indent="-342900" lvl="3" marL="1828800" algn="l">
              <a:spcBef>
                <a:spcPts val="360"/>
              </a:spcBef>
              <a:spcAft>
                <a:spcPts val="0"/>
              </a:spcAft>
              <a:buClr>
                <a:schemeClr val="dk1"/>
              </a:buClr>
              <a:buSzPts val="1800"/>
              <a:buChar char="–"/>
              <a:defRPr sz="1800"/>
            </a:lvl4pPr>
            <a:lvl5pPr indent="-342900" lvl="4" marL="2286000" algn="l">
              <a:spcBef>
                <a:spcPts val="360"/>
              </a:spcBef>
              <a:spcAft>
                <a:spcPts val="0"/>
              </a:spcAft>
              <a:buClr>
                <a:schemeClr val="dk1"/>
              </a:buClr>
              <a:buSzPts val="1800"/>
              <a:buChar char="»"/>
              <a:defRPr sz="1800"/>
            </a:lvl5pPr>
            <a:lvl6pPr indent="-342900" lvl="5" marL="2743200" algn="l">
              <a:spcBef>
                <a:spcPts val="360"/>
              </a:spcBef>
              <a:spcAft>
                <a:spcPts val="0"/>
              </a:spcAft>
              <a:buClr>
                <a:schemeClr val="dk1"/>
              </a:buClr>
              <a:buSzPts val="1800"/>
              <a:buChar char="•"/>
              <a:defRPr sz="1800"/>
            </a:lvl6pPr>
            <a:lvl7pPr indent="-342900" lvl="6" marL="3200400" algn="l">
              <a:spcBef>
                <a:spcPts val="360"/>
              </a:spcBef>
              <a:spcAft>
                <a:spcPts val="0"/>
              </a:spcAft>
              <a:buClr>
                <a:schemeClr val="dk1"/>
              </a:buClr>
              <a:buSzPts val="1800"/>
              <a:buChar char="•"/>
              <a:defRPr sz="1800"/>
            </a:lvl7pPr>
            <a:lvl8pPr indent="-342900" lvl="7" marL="3657600" algn="l">
              <a:spcBef>
                <a:spcPts val="360"/>
              </a:spcBef>
              <a:spcAft>
                <a:spcPts val="0"/>
              </a:spcAft>
              <a:buClr>
                <a:schemeClr val="dk1"/>
              </a:buClr>
              <a:buSzPts val="1800"/>
              <a:buChar char="•"/>
              <a:defRPr sz="1800"/>
            </a:lvl8pPr>
            <a:lvl9pPr indent="-342900" lvl="8" marL="4114800" algn="l">
              <a:spcBef>
                <a:spcPts val="360"/>
              </a:spcBef>
              <a:spcAft>
                <a:spcPts val="0"/>
              </a:spcAft>
              <a:buClr>
                <a:schemeClr val="dk1"/>
              </a:buClr>
              <a:buSzPts val="1800"/>
              <a:buChar char="•"/>
              <a:defRPr sz="1800"/>
            </a:lvl9pPr>
          </a:lstStyle>
          <a:p/>
        </p:txBody>
      </p:sp>
      <p:sp>
        <p:nvSpPr>
          <p:cNvPr id="37" name="Google Shape;37;p52"/>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8" name="Google Shape;38;p52"/>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9" name="Google Shape;39;p52"/>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mparison" type="twoTxTwoObj">
  <p:cSld name="TWO_OBJECTS_WITH_TEXT">
    <p:spTree>
      <p:nvGrpSpPr>
        <p:cNvPr id="40" name="Shape 40"/>
        <p:cNvGrpSpPr/>
        <p:nvPr/>
      </p:nvGrpSpPr>
      <p:grpSpPr>
        <a:xfrm>
          <a:off x="0" y="0"/>
          <a:ext cx="0" cy="0"/>
          <a:chOff x="0" y="0"/>
          <a:chExt cx="0" cy="0"/>
        </a:xfrm>
      </p:grpSpPr>
      <p:sp>
        <p:nvSpPr>
          <p:cNvPr id="41" name="Google Shape;41;p53"/>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4400"/>
              <a:buFont typeface="Calibri"/>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2" name="Google Shape;42;p53"/>
          <p:cNvSpPr txBox="1"/>
          <p:nvPr>
            <p:ph idx="1" type="body"/>
          </p:nvPr>
        </p:nvSpPr>
        <p:spPr>
          <a:xfrm>
            <a:off x="457200" y="1535113"/>
            <a:ext cx="4040188"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3" name="Google Shape;43;p53"/>
          <p:cNvSpPr txBox="1"/>
          <p:nvPr>
            <p:ph idx="2" type="body"/>
          </p:nvPr>
        </p:nvSpPr>
        <p:spPr>
          <a:xfrm>
            <a:off x="457200" y="2174875"/>
            <a:ext cx="4040188"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4" name="Google Shape;44;p53"/>
          <p:cNvSpPr txBox="1"/>
          <p:nvPr>
            <p:ph idx="3" type="body"/>
          </p:nvPr>
        </p:nvSpPr>
        <p:spPr>
          <a:xfrm>
            <a:off x="4645025" y="1535113"/>
            <a:ext cx="4041775" cy="639762"/>
          </a:xfrm>
          <a:prstGeom prst="rect">
            <a:avLst/>
          </a:prstGeom>
          <a:noFill/>
          <a:ln>
            <a:noFill/>
          </a:ln>
        </p:spPr>
        <p:txBody>
          <a:bodyPr anchorCtr="0" anchor="b" bIns="45700" lIns="91425" spcFirstLastPara="1" rIns="91425" wrap="square" tIns="45700">
            <a:normAutofit/>
          </a:bodyPr>
          <a:lstStyle>
            <a:lvl1pPr indent="-228600" lvl="0" marL="457200" algn="l">
              <a:spcBef>
                <a:spcPts val="480"/>
              </a:spcBef>
              <a:spcAft>
                <a:spcPts val="0"/>
              </a:spcAft>
              <a:buClr>
                <a:schemeClr val="dk1"/>
              </a:buClr>
              <a:buSzPts val="2400"/>
              <a:buNone/>
              <a:defRPr b="1" sz="2400"/>
            </a:lvl1pPr>
            <a:lvl2pPr indent="-228600" lvl="1" marL="914400" algn="l">
              <a:spcBef>
                <a:spcPts val="400"/>
              </a:spcBef>
              <a:spcAft>
                <a:spcPts val="0"/>
              </a:spcAft>
              <a:buClr>
                <a:schemeClr val="dk1"/>
              </a:buClr>
              <a:buSzPts val="2000"/>
              <a:buNone/>
              <a:defRPr b="1" sz="2000"/>
            </a:lvl2pPr>
            <a:lvl3pPr indent="-228600" lvl="2" marL="1371600" algn="l">
              <a:spcBef>
                <a:spcPts val="360"/>
              </a:spcBef>
              <a:spcAft>
                <a:spcPts val="0"/>
              </a:spcAft>
              <a:buClr>
                <a:schemeClr val="dk1"/>
              </a:buClr>
              <a:buSzPts val="1800"/>
              <a:buNone/>
              <a:defRPr b="1" sz="1800"/>
            </a:lvl3pPr>
            <a:lvl4pPr indent="-228600" lvl="3" marL="1828800" algn="l">
              <a:spcBef>
                <a:spcPts val="320"/>
              </a:spcBef>
              <a:spcAft>
                <a:spcPts val="0"/>
              </a:spcAft>
              <a:buClr>
                <a:schemeClr val="dk1"/>
              </a:buClr>
              <a:buSzPts val="1600"/>
              <a:buNone/>
              <a:defRPr b="1" sz="1600"/>
            </a:lvl4pPr>
            <a:lvl5pPr indent="-228600" lvl="4" marL="2286000" algn="l">
              <a:spcBef>
                <a:spcPts val="320"/>
              </a:spcBef>
              <a:spcAft>
                <a:spcPts val="0"/>
              </a:spcAft>
              <a:buClr>
                <a:schemeClr val="dk1"/>
              </a:buClr>
              <a:buSzPts val="1600"/>
              <a:buNone/>
              <a:defRPr b="1" sz="1600"/>
            </a:lvl5pPr>
            <a:lvl6pPr indent="-228600" lvl="5" marL="2743200" algn="l">
              <a:spcBef>
                <a:spcPts val="320"/>
              </a:spcBef>
              <a:spcAft>
                <a:spcPts val="0"/>
              </a:spcAft>
              <a:buClr>
                <a:schemeClr val="dk1"/>
              </a:buClr>
              <a:buSzPts val="1600"/>
              <a:buNone/>
              <a:defRPr b="1" sz="1600"/>
            </a:lvl6pPr>
            <a:lvl7pPr indent="-228600" lvl="6" marL="3200400" algn="l">
              <a:spcBef>
                <a:spcPts val="320"/>
              </a:spcBef>
              <a:spcAft>
                <a:spcPts val="0"/>
              </a:spcAft>
              <a:buClr>
                <a:schemeClr val="dk1"/>
              </a:buClr>
              <a:buSzPts val="1600"/>
              <a:buNone/>
              <a:defRPr b="1" sz="1600"/>
            </a:lvl7pPr>
            <a:lvl8pPr indent="-228600" lvl="7" marL="3657600" algn="l">
              <a:spcBef>
                <a:spcPts val="320"/>
              </a:spcBef>
              <a:spcAft>
                <a:spcPts val="0"/>
              </a:spcAft>
              <a:buClr>
                <a:schemeClr val="dk1"/>
              </a:buClr>
              <a:buSzPts val="1600"/>
              <a:buNone/>
              <a:defRPr b="1" sz="1600"/>
            </a:lvl8pPr>
            <a:lvl9pPr indent="-228600" lvl="8" marL="4114800" algn="l">
              <a:spcBef>
                <a:spcPts val="320"/>
              </a:spcBef>
              <a:spcAft>
                <a:spcPts val="0"/>
              </a:spcAft>
              <a:buClr>
                <a:schemeClr val="dk1"/>
              </a:buClr>
              <a:buSzPts val="1600"/>
              <a:buNone/>
              <a:defRPr b="1" sz="1600"/>
            </a:lvl9pPr>
          </a:lstStyle>
          <a:p/>
        </p:txBody>
      </p:sp>
      <p:sp>
        <p:nvSpPr>
          <p:cNvPr id="45" name="Google Shape;45;p53"/>
          <p:cNvSpPr txBox="1"/>
          <p:nvPr>
            <p:ph idx="4" type="body"/>
          </p:nvPr>
        </p:nvSpPr>
        <p:spPr>
          <a:xfrm>
            <a:off x="4645025" y="2174875"/>
            <a:ext cx="4041775" cy="3951288"/>
          </a:xfrm>
          <a:prstGeom prst="rect">
            <a:avLst/>
          </a:prstGeom>
          <a:noFill/>
          <a:ln>
            <a:noFill/>
          </a:ln>
        </p:spPr>
        <p:txBody>
          <a:bodyPr anchorCtr="0" anchor="t" bIns="45700" lIns="91425" spcFirstLastPara="1" rIns="91425" wrap="square" tIns="45700">
            <a:normAutofit/>
          </a:bodyPr>
          <a:lstStyle>
            <a:lvl1pPr indent="-381000" lvl="0" marL="457200" algn="l">
              <a:spcBef>
                <a:spcPts val="480"/>
              </a:spcBef>
              <a:spcAft>
                <a:spcPts val="0"/>
              </a:spcAft>
              <a:buClr>
                <a:schemeClr val="dk1"/>
              </a:buClr>
              <a:buSzPts val="2400"/>
              <a:buChar char="•"/>
              <a:defRPr sz="2400"/>
            </a:lvl1pPr>
            <a:lvl2pPr indent="-355600" lvl="1" marL="914400" algn="l">
              <a:spcBef>
                <a:spcPts val="400"/>
              </a:spcBef>
              <a:spcAft>
                <a:spcPts val="0"/>
              </a:spcAft>
              <a:buClr>
                <a:schemeClr val="dk1"/>
              </a:buClr>
              <a:buSzPts val="2000"/>
              <a:buChar char="–"/>
              <a:defRPr sz="2000"/>
            </a:lvl2pPr>
            <a:lvl3pPr indent="-342900" lvl="2" marL="1371600" algn="l">
              <a:spcBef>
                <a:spcPts val="360"/>
              </a:spcBef>
              <a:spcAft>
                <a:spcPts val="0"/>
              </a:spcAft>
              <a:buClr>
                <a:schemeClr val="dk1"/>
              </a:buClr>
              <a:buSzPts val="1800"/>
              <a:buChar char="•"/>
              <a:defRPr sz="1800"/>
            </a:lvl3pPr>
            <a:lvl4pPr indent="-330200" lvl="3" marL="1828800" algn="l">
              <a:spcBef>
                <a:spcPts val="320"/>
              </a:spcBef>
              <a:spcAft>
                <a:spcPts val="0"/>
              </a:spcAft>
              <a:buClr>
                <a:schemeClr val="dk1"/>
              </a:buClr>
              <a:buSzPts val="1600"/>
              <a:buChar char="–"/>
              <a:defRPr sz="1600"/>
            </a:lvl4pPr>
            <a:lvl5pPr indent="-330200" lvl="4" marL="2286000" algn="l">
              <a:spcBef>
                <a:spcPts val="320"/>
              </a:spcBef>
              <a:spcAft>
                <a:spcPts val="0"/>
              </a:spcAft>
              <a:buClr>
                <a:schemeClr val="dk1"/>
              </a:buClr>
              <a:buSzPts val="1600"/>
              <a:buChar char="»"/>
              <a:defRPr sz="1600"/>
            </a:lvl5pPr>
            <a:lvl6pPr indent="-330200" lvl="5" marL="2743200" algn="l">
              <a:spcBef>
                <a:spcPts val="320"/>
              </a:spcBef>
              <a:spcAft>
                <a:spcPts val="0"/>
              </a:spcAft>
              <a:buClr>
                <a:schemeClr val="dk1"/>
              </a:buClr>
              <a:buSzPts val="1600"/>
              <a:buChar char="•"/>
              <a:defRPr sz="1600"/>
            </a:lvl6pPr>
            <a:lvl7pPr indent="-330200" lvl="6" marL="3200400" algn="l">
              <a:spcBef>
                <a:spcPts val="320"/>
              </a:spcBef>
              <a:spcAft>
                <a:spcPts val="0"/>
              </a:spcAft>
              <a:buClr>
                <a:schemeClr val="dk1"/>
              </a:buClr>
              <a:buSzPts val="1600"/>
              <a:buChar char="•"/>
              <a:defRPr sz="1600"/>
            </a:lvl7pPr>
            <a:lvl8pPr indent="-330200" lvl="7" marL="3657600" algn="l">
              <a:spcBef>
                <a:spcPts val="320"/>
              </a:spcBef>
              <a:spcAft>
                <a:spcPts val="0"/>
              </a:spcAft>
              <a:buClr>
                <a:schemeClr val="dk1"/>
              </a:buClr>
              <a:buSzPts val="1600"/>
              <a:buChar char="•"/>
              <a:defRPr sz="1600"/>
            </a:lvl8pPr>
            <a:lvl9pPr indent="-330200" lvl="8" marL="4114800" algn="l">
              <a:spcBef>
                <a:spcPts val="320"/>
              </a:spcBef>
              <a:spcAft>
                <a:spcPts val="0"/>
              </a:spcAft>
              <a:buClr>
                <a:schemeClr val="dk1"/>
              </a:buClr>
              <a:buSzPts val="1600"/>
              <a:buChar char="•"/>
              <a:defRPr sz="1600"/>
            </a:lvl9pPr>
          </a:lstStyle>
          <a:p/>
        </p:txBody>
      </p:sp>
      <p:sp>
        <p:nvSpPr>
          <p:cNvPr id="46" name="Google Shape;46;p53"/>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7" name="Google Shape;47;p53"/>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8" name="Google Shape;48;p53"/>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49" name="Shape 49"/>
        <p:cNvGrpSpPr/>
        <p:nvPr/>
      </p:nvGrpSpPr>
      <p:grpSpPr>
        <a:xfrm>
          <a:off x="0" y="0"/>
          <a:ext cx="0" cy="0"/>
          <a:chOff x="0" y="0"/>
          <a:chExt cx="0" cy="0"/>
        </a:xfrm>
      </p:grpSpPr>
      <p:sp>
        <p:nvSpPr>
          <p:cNvPr id="50" name="Google Shape;50;p54"/>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1" name="Google Shape;51;p54"/>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54"/>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54"/>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ontent with Caption" type="objTx">
  <p:cSld name="OBJECT_WITH_CAPTION_TEXT">
    <p:spTree>
      <p:nvGrpSpPr>
        <p:cNvPr id="54" name="Shape 54"/>
        <p:cNvGrpSpPr/>
        <p:nvPr/>
      </p:nvGrpSpPr>
      <p:grpSpPr>
        <a:xfrm>
          <a:off x="0" y="0"/>
          <a:ext cx="0" cy="0"/>
          <a:chOff x="0" y="0"/>
          <a:chExt cx="0" cy="0"/>
        </a:xfrm>
      </p:grpSpPr>
      <p:sp>
        <p:nvSpPr>
          <p:cNvPr id="55" name="Google Shape;55;p55"/>
          <p:cNvSpPr txBox="1"/>
          <p:nvPr>
            <p:ph type="title"/>
          </p:nvPr>
        </p:nvSpPr>
        <p:spPr>
          <a:xfrm>
            <a:off x="457200" y="273050"/>
            <a:ext cx="3008313" cy="1162050"/>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55"/>
          <p:cNvSpPr txBox="1"/>
          <p:nvPr>
            <p:ph idx="1" type="body"/>
          </p:nvPr>
        </p:nvSpPr>
        <p:spPr>
          <a:xfrm>
            <a:off x="3575050" y="273050"/>
            <a:ext cx="5111750" cy="5853113"/>
          </a:xfrm>
          <a:prstGeom prst="rect">
            <a:avLst/>
          </a:prstGeom>
          <a:noFill/>
          <a:ln>
            <a:noFill/>
          </a:ln>
        </p:spPr>
        <p:txBody>
          <a:bodyPr anchorCtr="0" anchor="t" bIns="45700" lIns="91425" spcFirstLastPara="1" rIns="91425" wrap="square" tIns="45700">
            <a:normAutofit/>
          </a:bodyPr>
          <a:lstStyle>
            <a:lvl1pPr indent="-431800" lvl="0" marL="457200" algn="l">
              <a:spcBef>
                <a:spcPts val="640"/>
              </a:spcBef>
              <a:spcAft>
                <a:spcPts val="0"/>
              </a:spcAft>
              <a:buClr>
                <a:schemeClr val="dk1"/>
              </a:buClr>
              <a:buSzPts val="3200"/>
              <a:buChar char="•"/>
              <a:defRPr sz="3200"/>
            </a:lvl1pPr>
            <a:lvl2pPr indent="-406400" lvl="1" marL="914400" algn="l">
              <a:spcBef>
                <a:spcPts val="560"/>
              </a:spcBef>
              <a:spcAft>
                <a:spcPts val="0"/>
              </a:spcAft>
              <a:buClr>
                <a:schemeClr val="dk1"/>
              </a:buClr>
              <a:buSzPts val="2800"/>
              <a:buChar char="–"/>
              <a:defRPr sz="2800"/>
            </a:lvl2pPr>
            <a:lvl3pPr indent="-381000" lvl="2" marL="1371600" algn="l">
              <a:spcBef>
                <a:spcPts val="480"/>
              </a:spcBef>
              <a:spcAft>
                <a:spcPts val="0"/>
              </a:spcAft>
              <a:buClr>
                <a:schemeClr val="dk1"/>
              </a:buClr>
              <a:buSzPts val="2400"/>
              <a:buChar char="•"/>
              <a:defRPr sz="2400"/>
            </a:lvl3pPr>
            <a:lvl4pPr indent="-355600" lvl="3" marL="1828800" algn="l">
              <a:spcBef>
                <a:spcPts val="400"/>
              </a:spcBef>
              <a:spcAft>
                <a:spcPts val="0"/>
              </a:spcAft>
              <a:buClr>
                <a:schemeClr val="dk1"/>
              </a:buClr>
              <a:buSzPts val="2000"/>
              <a:buChar char="–"/>
              <a:defRPr sz="2000"/>
            </a:lvl4pPr>
            <a:lvl5pPr indent="-355600" lvl="4" marL="2286000" algn="l">
              <a:spcBef>
                <a:spcPts val="400"/>
              </a:spcBef>
              <a:spcAft>
                <a:spcPts val="0"/>
              </a:spcAft>
              <a:buClr>
                <a:schemeClr val="dk1"/>
              </a:buClr>
              <a:buSzPts val="2000"/>
              <a:buChar char="»"/>
              <a:defRPr sz="2000"/>
            </a:lvl5pPr>
            <a:lvl6pPr indent="-355600" lvl="5" marL="2743200" algn="l">
              <a:spcBef>
                <a:spcPts val="400"/>
              </a:spcBef>
              <a:spcAft>
                <a:spcPts val="0"/>
              </a:spcAft>
              <a:buClr>
                <a:schemeClr val="dk1"/>
              </a:buClr>
              <a:buSzPts val="2000"/>
              <a:buChar char="•"/>
              <a:defRPr sz="2000"/>
            </a:lvl6pPr>
            <a:lvl7pPr indent="-355600" lvl="6" marL="3200400" algn="l">
              <a:spcBef>
                <a:spcPts val="400"/>
              </a:spcBef>
              <a:spcAft>
                <a:spcPts val="0"/>
              </a:spcAft>
              <a:buClr>
                <a:schemeClr val="dk1"/>
              </a:buClr>
              <a:buSzPts val="2000"/>
              <a:buChar char="•"/>
              <a:defRPr sz="2000"/>
            </a:lvl7pPr>
            <a:lvl8pPr indent="-355600" lvl="7" marL="3657600" algn="l">
              <a:spcBef>
                <a:spcPts val="400"/>
              </a:spcBef>
              <a:spcAft>
                <a:spcPts val="0"/>
              </a:spcAft>
              <a:buClr>
                <a:schemeClr val="dk1"/>
              </a:buClr>
              <a:buSzPts val="2000"/>
              <a:buChar char="•"/>
              <a:defRPr sz="2000"/>
            </a:lvl8pPr>
            <a:lvl9pPr indent="-355600" lvl="8" marL="4114800" algn="l">
              <a:spcBef>
                <a:spcPts val="400"/>
              </a:spcBef>
              <a:spcAft>
                <a:spcPts val="0"/>
              </a:spcAft>
              <a:buClr>
                <a:schemeClr val="dk1"/>
              </a:buClr>
              <a:buSzPts val="2000"/>
              <a:buChar char="•"/>
              <a:defRPr sz="2000"/>
            </a:lvl9pPr>
          </a:lstStyle>
          <a:p/>
        </p:txBody>
      </p:sp>
      <p:sp>
        <p:nvSpPr>
          <p:cNvPr id="57" name="Google Shape;57;p55"/>
          <p:cNvSpPr txBox="1"/>
          <p:nvPr>
            <p:ph idx="2" type="body"/>
          </p:nvPr>
        </p:nvSpPr>
        <p:spPr>
          <a:xfrm>
            <a:off x="457200" y="1435100"/>
            <a:ext cx="3008313" cy="4691063"/>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58" name="Google Shape;58;p55"/>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9" name="Google Shape;59;p55"/>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0" name="Google Shape;60;p55"/>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icture with Caption" type="picTx">
  <p:cSld name="PICTURE_WITH_CAPTION_TEXT">
    <p:spTree>
      <p:nvGrpSpPr>
        <p:cNvPr id="61" name="Shape 61"/>
        <p:cNvGrpSpPr/>
        <p:nvPr/>
      </p:nvGrpSpPr>
      <p:grpSpPr>
        <a:xfrm>
          <a:off x="0" y="0"/>
          <a:ext cx="0" cy="0"/>
          <a:chOff x="0" y="0"/>
          <a:chExt cx="0" cy="0"/>
        </a:xfrm>
      </p:grpSpPr>
      <p:sp>
        <p:nvSpPr>
          <p:cNvPr id="62" name="Google Shape;62;p56"/>
          <p:cNvSpPr txBox="1"/>
          <p:nvPr>
            <p:ph type="title"/>
          </p:nvPr>
        </p:nvSpPr>
        <p:spPr>
          <a:xfrm>
            <a:off x="1792288" y="4800600"/>
            <a:ext cx="5486400" cy="566738"/>
          </a:xfrm>
          <a:prstGeom prst="rect">
            <a:avLst/>
          </a:prstGeom>
          <a:noFill/>
          <a:ln>
            <a:noFill/>
          </a:ln>
        </p:spPr>
        <p:txBody>
          <a:bodyPr anchorCtr="0" anchor="b" bIns="45700" lIns="91425" spcFirstLastPara="1" rIns="91425" wrap="square" tIns="45700">
            <a:normAutofit/>
          </a:bodyPr>
          <a:lstStyle>
            <a:lvl1pPr lvl="0" algn="l">
              <a:spcBef>
                <a:spcPts val="0"/>
              </a:spcBef>
              <a:spcAft>
                <a:spcPts val="0"/>
              </a:spcAft>
              <a:buClr>
                <a:schemeClr val="dk1"/>
              </a:buClr>
              <a:buSzPts val="2000"/>
              <a:buFont typeface="Calibri"/>
              <a:buNone/>
              <a:defRPr b="1" sz="2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3" name="Google Shape;63;p56"/>
          <p:cNvSpPr/>
          <p:nvPr>
            <p:ph idx="2" type="pic"/>
          </p:nvPr>
        </p:nvSpPr>
        <p:spPr>
          <a:xfrm>
            <a:off x="1792288" y="612775"/>
            <a:ext cx="5486400" cy="4114800"/>
          </a:xfrm>
          <a:prstGeom prst="rect">
            <a:avLst/>
          </a:prstGeom>
          <a:noFill/>
          <a:ln>
            <a:noFill/>
          </a:ln>
        </p:spPr>
      </p:sp>
      <p:sp>
        <p:nvSpPr>
          <p:cNvPr id="64" name="Google Shape;64;p56"/>
          <p:cNvSpPr txBox="1"/>
          <p:nvPr>
            <p:ph idx="1" type="body"/>
          </p:nvPr>
        </p:nvSpPr>
        <p:spPr>
          <a:xfrm>
            <a:off x="1792288" y="5367338"/>
            <a:ext cx="5486400" cy="804862"/>
          </a:xfrm>
          <a:prstGeom prst="rect">
            <a:avLst/>
          </a:prstGeom>
          <a:noFill/>
          <a:ln>
            <a:noFill/>
          </a:ln>
        </p:spPr>
        <p:txBody>
          <a:bodyPr anchorCtr="0" anchor="t" bIns="45700" lIns="91425" spcFirstLastPara="1" rIns="91425" wrap="square" tIns="45700">
            <a:normAutofit/>
          </a:bodyPr>
          <a:lstStyle>
            <a:lvl1pPr indent="-228600" lvl="0" marL="457200" algn="l">
              <a:spcBef>
                <a:spcPts val="280"/>
              </a:spcBef>
              <a:spcAft>
                <a:spcPts val="0"/>
              </a:spcAft>
              <a:buClr>
                <a:schemeClr val="dk1"/>
              </a:buClr>
              <a:buSzPts val="1400"/>
              <a:buNone/>
              <a:defRPr sz="1400"/>
            </a:lvl1pPr>
            <a:lvl2pPr indent="-228600" lvl="1" marL="914400" algn="l">
              <a:spcBef>
                <a:spcPts val="240"/>
              </a:spcBef>
              <a:spcAft>
                <a:spcPts val="0"/>
              </a:spcAft>
              <a:buClr>
                <a:schemeClr val="dk1"/>
              </a:buClr>
              <a:buSzPts val="1200"/>
              <a:buNone/>
              <a:defRPr sz="1200"/>
            </a:lvl2pPr>
            <a:lvl3pPr indent="-228600" lvl="2" marL="1371600" algn="l">
              <a:spcBef>
                <a:spcPts val="200"/>
              </a:spcBef>
              <a:spcAft>
                <a:spcPts val="0"/>
              </a:spcAft>
              <a:buClr>
                <a:schemeClr val="dk1"/>
              </a:buClr>
              <a:buSzPts val="1000"/>
              <a:buNone/>
              <a:defRPr sz="1000"/>
            </a:lvl3pPr>
            <a:lvl4pPr indent="-228600" lvl="3" marL="1828800" algn="l">
              <a:spcBef>
                <a:spcPts val="180"/>
              </a:spcBef>
              <a:spcAft>
                <a:spcPts val="0"/>
              </a:spcAft>
              <a:buClr>
                <a:schemeClr val="dk1"/>
              </a:buClr>
              <a:buSzPts val="900"/>
              <a:buNone/>
              <a:defRPr sz="900"/>
            </a:lvl4pPr>
            <a:lvl5pPr indent="-228600" lvl="4" marL="2286000" algn="l">
              <a:spcBef>
                <a:spcPts val="180"/>
              </a:spcBef>
              <a:spcAft>
                <a:spcPts val="0"/>
              </a:spcAft>
              <a:buClr>
                <a:schemeClr val="dk1"/>
              </a:buClr>
              <a:buSzPts val="900"/>
              <a:buNone/>
              <a:defRPr sz="900"/>
            </a:lvl5pPr>
            <a:lvl6pPr indent="-228600" lvl="5" marL="2743200" algn="l">
              <a:spcBef>
                <a:spcPts val="180"/>
              </a:spcBef>
              <a:spcAft>
                <a:spcPts val="0"/>
              </a:spcAft>
              <a:buClr>
                <a:schemeClr val="dk1"/>
              </a:buClr>
              <a:buSzPts val="900"/>
              <a:buNone/>
              <a:defRPr sz="900"/>
            </a:lvl6pPr>
            <a:lvl7pPr indent="-228600" lvl="6" marL="3200400" algn="l">
              <a:spcBef>
                <a:spcPts val="180"/>
              </a:spcBef>
              <a:spcAft>
                <a:spcPts val="0"/>
              </a:spcAft>
              <a:buClr>
                <a:schemeClr val="dk1"/>
              </a:buClr>
              <a:buSzPts val="900"/>
              <a:buNone/>
              <a:defRPr sz="900"/>
            </a:lvl7pPr>
            <a:lvl8pPr indent="-228600" lvl="7" marL="3657600" algn="l">
              <a:spcBef>
                <a:spcPts val="180"/>
              </a:spcBef>
              <a:spcAft>
                <a:spcPts val="0"/>
              </a:spcAft>
              <a:buClr>
                <a:schemeClr val="dk1"/>
              </a:buClr>
              <a:buSzPts val="900"/>
              <a:buNone/>
              <a:defRPr sz="900"/>
            </a:lvl8pPr>
            <a:lvl9pPr indent="-228600" lvl="8" marL="4114800" algn="l">
              <a:spcBef>
                <a:spcPts val="180"/>
              </a:spcBef>
              <a:spcAft>
                <a:spcPts val="0"/>
              </a:spcAft>
              <a:buClr>
                <a:schemeClr val="dk1"/>
              </a:buClr>
              <a:buSzPts val="900"/>
              <a:buNone/>
              <a:defRPr sz="900"/>
            </a:lvl9pPr>
          </a:lstStyle>
          <a:p/>
        </p:txBody>
      </p:sp>
      <p:sp>
        <p:nvSpPr>
          <p:cNvPr id="65" name="Google Shape;65;p56"/>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6" name="Google Shape;66;p56"/>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7" name="Google Shape;67;p56"/>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Vertical Text" type="vertTx">
  <p:cSld name="VERTICAL_TEXT">
    <p:spTree>
      <p:nvGrpSpPr>
        <p:cNvPr id="68" name="Shape 68"/>
        <p:cNvGrpSpPr/>
        <p:nvPr/>
      </p:nvGrpSpPr>
      <p:grpSpPr>
        <a:xfrm>
          <a:off x="0" y="0"/>
          <a:ext cx="0" cy="0"/>
          <a:chOff x="0" y="0"/>
          <a:chExt cx="0" cy="0"/>
        </a:xfrm>
      </p:grpSpPr>
      <p:sp>
        <p:nvSpPr>
          <p:cNvPr id="69" name="Google Shape;69;p5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0" name="Google Shape;70;p57"/>
          <p:cNvSpPr txBox="1"/>
          <p:nvPr>
            <p:ph idx="1" type="body"/>
          </p:nvPr>
        </p:nvSpPr>
        <p:spPr>
          <a:xfrm rot="5400000">
            <a:off x="2309019" y="-251618"/>
            <a:ext cx="4525963" cy="82296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1" name="Google Shape;71;p5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2" name="Google Shape;72;p5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3" name="Google Shape;73;p5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Vertical Title and Text" type="vertTitleAndTx">
  <p:cSld name="VERTICAL_TITLE_AND_VERTICAL_TEXT">
    <p:spTree>
      <p:nvGrpSpPr>
        <p:cNvPr id="74" name="Shape 74"/>
        <p:cNvGrpSpPr/>
        <p:nvPr/>
      </p:nvGrpSpPr>
      <p:grpSpPr>
        <a:xfrm>
          <a:off x="0" y="0"/>
          <a:ext cx="0" cy="0"/>
          <a:chOff x="0" y="0"/>
          <a:chExt cx="0" cy="0"/>
        </a:xfrm>
      </p:grpSpPr>
      <p:sp>
        <p:nvSpPr>
          <p:cNvPr id="75" name="Google Shape;75;p58"/>
          <p:cNvSpPr txBox="1"/>
          <p:nvPr>
            <p:ph type="title"/>
          </p:nvPr>
        </p:nvSpPr>
        <p:spPr>
          <a:xfrm rot="5400000">
            <a:off x="4732338" y="2171701"/>
            <a:ext cx="5851525" cy="2057400"/>
          </a:xfrm>
          <a:prstGeom prst="rect">
            <a:avLst/>
          </a:prstGeom>
          <a:noFill/>
          <a:ln>
            <a:noFill/>
          </a:ln>
        </p:spPr>
        <p:txBody>
          <a:bodyPr anchorCtr="0" anchor="ctr" bIns="45700" lIns="91425" spcFirstLastPara="1" rIns="91425" wrap="square" tIns="45700">
            <a:normAutofit/>
          </a:bodyPr>
          <a:lstStyle>
            <a:lvl1pPr lvl="0" algn="ctr">
              <a:spcBef>
                <a:spcPts val="0"/>
              </a:spcBef>
              <a:spcAft>
                <a:spcPts val="0"/>
              </a:spcAft>
              <a:buClr>
                <a:schemeClr val="dk1"/>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6" name="Google Shape;76;p58"/>
          <p:cNvSpPr txBox="1"/>
          <p:nvPr>
            <p:ph idx="1" type="body"/>
          </p:nvPr>
        </p:nvSpPr>
        <p:spPr>
          <a:xfrm rot="5400000">
            <a:off x="541338" y="190500"/>
            <a:ext cx="5851525" cy="6019800"/>
          </a:xfrm>
          <a:prstGeom prst="rect">
            <a:avLst/>
          </a:prstGeom>
          <a:noFill/>
          <a:ln>
            <a:noFill/>
          </a:ln>
        </p:spPr>
        <p:txBody>
          <a:bodyPr anchorCtr="0" anchor="t" bIns="45700" lIns="91425" spcFirstLastPara="1" rIns="91425" wrap="square" tIns="45700">
            <a:normAutofit/>
          </a:bodyPr>
          <a:lstStyle>
            <a:lvl1pPr indent="-342900" lvl="0" marL="457200" algn="l">
              <a:spcBef>
                <a:spcPts val="360"/>
              </a:spcBef>
              <a:spcAft>
                <a:spcPts val="0"/>
              </a:spcAft>
              <a:buClr>
                <a:schemeClr val="dk1"/>
              </a:buClr>
              <a:buSzPts val="1800"/>
              <a:buChar char="•"/>
              <a:defRPr/>
            </a:lvl1pPr>
            <a:lvl2pPr indent="-342900" lvl="1" marL="914400" algn="l">
              <a:spcBef>
                <a:spcPts val="360"/>
              </a:spcBef>
              <a:spcAft>
                <a:spcPts val="0"/>
              </a:spcAft>
              <a:buClr>
                <a:schemeClr val="dk1"/>
              </a:buClr>
              <a:buSzPts val="1800"/>
              <a:buChar char="–"/>
              <a:defRPr/>
            </a:lvl2pPr>
            <a:lvl3pPr indent="-342900" lvl="2" marL="1371600" algn="l">
              <a:spcBef>
                <a:spcPts val="360"/>
              </a:spcBef>
              <a:spcAft>
                <a:spcPts val="0"/>
              </a:spcAft>
              <a:buClr>
                <a:schemeClr val="dk1"/>
              </a:buClr>
              <a:buSzPts val="1800"/>
              <a:buChar char="•"/>
              <a:defRPr/>
            </a:lvl3pPr>
            <a:lvl4pPr indent="-342900" lvl="3" marL="1828800" algn="l">
              <a:spcBef>
                <a:spcPts val="360"/>
              </a:spcBef>
              <a:spcAft>
                <a:spcPts val="0"/>
              </a:spcAft>
              <a:buClr>
                <a:schemeClr val="dk1"/>
              </a:buClr>
              <a:buSzPts val="1800"/>
              <a:buChar char="–"/>
              <a:defRPr/>
            </a:lvl4pPr>
            <a:lvl5pPr indent="-342900" lvl="4" marL="2286000" algn="l">
              <a:spcBef>
                <a:spcPts val="360"/>
              </a:spcBef>
              <a:spcAft>
                <a:spcPts val="0"/>
              </a:spcAft>
              <a:buClr>
                <a:schemeClr val="dk1"/>
              </a:buClr>
              <a:buSzPts val="1800"/>
              <a:buChar char="»"/>
              <a:defRPr/>
            </a:lvl5pPr>
            <a:lvl6pPr indent="-342900" lvl="5" marL="2743200" algn="l">
              <a:spcBef>
                <a:spcPts val="360"/>
              </a:spcBef>
              <a:spcAft>
                <a:spcPts val="0"/>
              </a:spcAft>
              <a:buClr>
                <a:schemeClr val="dk1"/>
              </a:buClr>
              <a:buSzPts val="1800"/>
              <a:buChar char="•"/>
              <a:defRPr/>
            </a:lvl6pPr>
            <a:lvl7pPr indent="-342900" lvl="6" marL="3200400" algn="l">
              <a:spcBef>
                <a:spcPts val="360"/>
              </a:spcBef>
              <a:spcAft>
                <a:spcPts val="0"/>
              </a:spcAft>
              <a:buClr>
                <a:schemeClr val="dk1"/>
              </a:buClr>
              <a:buSzPts val="1800"/>
              <a:buChar char="•"/>
              <a:defRPr/>
            </a:lvl7pPr>
            <a:lvl8pPr indent="-342900" lvl="7" marL="3657600" algn="l">
              <a:spcBef>
                <a:spcPts val="360"/>
              </a:spcBef>
              <a:spcAft>
                <a:spcPts val="0"/>
              </a:spcAft>
              <a:buClr>
                <a:schemeClr val="dk1"/>
              </a:buClr>
              <a:buSzPts val="1800"/>
              <a:buChar char="•"/>
              <a:defRPr/>
            </a:lvl8pPr>
            <a:lvl9pPr indent="-342900" lvl="8" marL="4114800" algn="l">
              <a:spcBef>
                <a:spcPts val="360"/>
              </a:spcBef>
              <a:spcAft>
                <a:spcPts val="0"/>
              </a:spcAft>
              <a:buClr>
                <a:schemeClr val="dk1"/>
              </a:buClr>
              <a:buSzPts val="1800"/>
              <a:buChar char="•"/>
              <a:defRPr/>
            </a:lvl9pPr>
          </a:lstStyle>
          <a:p/>
        </p:txBody>
      </p:sp>
      <p:sp>
        <p:nvSpPr>
          <p:cNvPr id="77" name="Google Shape;77;p58"/>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8" name="Google Shape;78;p58"/>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algn="ct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9" name="Google Shape;79;p58"/>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algn="r">
              <a:spcBef>
                <a:spcPts val="0"/>
              </a:spcBef>
              <a:buNone/>
              <a:defRPr/>
            </a:lvl1pPr>
            <a:lvl2pPr indent="0" lvl="1" marL="0" algn="r">
              <a:spcBef>
                <a:spcPts val="0"/>
              </a:spcBef>
              <a:buNone/>
              <a:defRPr/>
            </a:lvl2pPr>
            <a:lvl3pPr indent="0" lvl="2" marL="0" algn="r">
              <a:spcBef>
                <a:spcPts val="0"/>
              </a:spcBef>
              <a:buNone/>
              <a:defRPr/>
            </a:lvl3pPr>
            <a:lvl4pPr indent="0" lvl="3" marL="0" algn="r">
              <a:spcBef>
                <a:spcPts val="0"/>
              </a:spcBef>
              <a:buNone/>
              <a:defRPr/>
            </a:lvl4pPr>
            <a:lvl5pPr indent="0" lvl="4" marL="0" algn="r">
              <a:spcBef>
                <a:spcPts val="0"/>
              </a:spcBef>
              <a:buNone/>
              <a:defRPr/>
            </a:lvl5pPr>
            <a:lvl6pPr indent="0" lvl="5" marL="0" algn="r">
              <a:spcBef>
                <a:spcPts val="0"/>
              </a:spcBef>
              <a:buNone/>
              <a:defRPr/>
            </a:lvl6pPr>
            <a:lvl7pPr indent="0" lvl="6" marL="0" algn="r">
              <a:spcBef>
                <a:spcPts val="0"/>
              </a:spcBef>
              <a:buNone/>
              <a:defRPr/>
            </a:lvl7pPr>
            <a:lvl8pPr indent="0" lvl="7" marL="0" algn="r">
              <a:spcBef>
                <a:spcPts val="0"/>
              </a:spcBef>
              <a:buNone/>
              <a:defRPr/>
            </a:lvl8pPr>
            <a:lvl9pPr indent="0" lvl="8" marL="0" algn="r">
              <a:spcBef>
                <a:spcPts val="0"/>
              </a:spcBef>
              <a:buNone/>
              <a:defRPr/>
            </a:lvl9pPr>
          </a:lstStyle>
          <a:p>
            <a:pPr indent="0" lvl="0" marL="0" rtl="0" algn="r">
              <a:spcBef>
                <a:spcPts val="0"/>
              </a:spcBef>
              <a:spcAft>
                <a:spcPts val="0"/>
              </a:spcAft>
              <a:buNone/>
            </a:pPr>
            <a:fld id="{00000000-1234-1234-1234-123412341234}" type="slidenum">
              <a:rPr lang="en-US"/>
              <a:t>‹#›</a:t>
            </a:fld>
            <a:endParaRPr/>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chemeClr val="lt1"/>
        </a:solidFill>
      </p:bgPr>
    </p:bg>
    <p:spTree>
      <p:nvGrpSpPr>
        <p:cNvPr id="5" name="Shape 5"/>
        <p:cNvGrpSpPr/>
        <p:nvPr/>
      </p:nvGrpSpPr>
      <p:grpSpPr>
        <a:xfrm>
          <a:off x="0" y="0"/>
          <a:ext cx="0" cy="0"/>
          <a:chOff x="0" y="0"/>
          <a:chExt cx="0" cy="0"/>
        </a:xfrm>
      </p:grpSpPr>
      <p:sp>
        <p:nvSpPr>
          <p:cNvPr id="6" name="Google Shape;6;p47"/>
          <p:cNvSpPr txBox="1"/>
          <p:nvPr>
            <p:ph type="title"/>
          </p:nvPr>
        </p:nvSpPr>
        <p:spPr>
          <a:xfrm>
            <a:off x="457200" y="274638"/>
            <a:ext cx="8229600" cy="1143000"/>
          </a:xfrm>
          <a:prstGeom prst="rect">
            <a:avLst/>
          </a:prstGeom>
          <a:noFill/>
          <a:ln>
            <a:noFill/>
          </a:ln>
        </p:spPr>
        <p:txBody>
          <a:bodyPr anchorCtr="0" anchor="ctr" bIns="45700" lIns="91425" spcFirstLastPara="1" rIns="91425" wrap="square" tIns="45700">
            <a:normAutofit/>
          </a:bodyPr>
          <a:lstStyle>
            <a:lvl1pPr lvl="0" marR="0" rtl="0" algn="ctr">
              <a:spcBef>
                <a:spcPts val="0"/>
              </a:spcBef>
              <a:spcAft>
                <a:spcPts val="0"/>
              </a:spcAft>
              <a:buClr>
                <a:schemeClr val="dk1"/>
              </a:buClr>
              <a:buSzPts val="4400"/>
              <a:buFont typeface="Calibri"/>
              <a:buNone/>
              <a:defRPr b="0" i="0" sz="4400" u="none" cap="none" strike="noStrike">
                <a:solidFill>
                  <a:schemeClr val="dk1"/>
                </a:solidFill>
                <a:latin typeface="Calibri"/>
                <a:ea typeface="Calibri"/>
                <a:cs typeface="Calibri"/>
                <a:sym typeface="Calibri"/>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7" name="Google Shape;7;p47"/>
          <p:cNvSpPr txBox="1"/>
          <p:nvPr>
            <p:ph idx="1" type="body"/>
          </p:nvPr>
        </p:nvSpPr>
        <p:spPr>
          <a:xfrm>
            <a:off x="457200" y="1600200"/>
            <a:ext cx="8229600" cy="4525963"/>
          </a:xfrm>
          <a:prstGeom prst="rect">
            <a:avLst/>
          </a:prstGeom>
          <a:noFill/>
          <a:ln>
            <a:noFill/>
          </a:ln>
        </p:spPr>
        <p:txBody>
          <a:bodyPr anchorCtr="0" anchor="t" bIns="45700" lIns="91425" spcFirstLastPara="1" rIns="91425" wrap="square" tIns="45700">
            <a:normAutofit/>
          </a:bodyPr>
          <a:lstStyle>
            <a:lvl1pPr indent="-431800" lvl="0" marL="457200" marR="0" rtl="0" algn="l">
              <a:spcBef>
                <a:spcPts val="640"/>
              </a:spcBef>
              <a:spcAft>
                <a:spcPts val="0"/>
              </a:spcAft>
              <a:buClr>
                <a:schemeClr val="dk1"/>
              </a:buClr>
              <a:buSzPts val="3200"/>
              <a:buFont typeface="Arial"/>
              <a:buChar char="•"/>
              <a:defRPr b="0" i="0" sz="3200" u="none" cap="none" strike="noStrike">
                <a:solidFill>
                  <a:schemeClr val="dk1"/>
                </a:solidFill>
                <a:latin typeface="Calibri"/>
                <a:ea typeface="Calibri"/>
                <a:cs typeface="Calibri"/>
                <a:sym typeface="Calibri"/>
              </a:defRPr>
            </a:lvl1pPr>
            <a:lvl2pPr indent="-406400" lvl="1" marL="914400" marR="0" rtl="0" algn="l">
              <a:spcBef>
                <a:spcPts val="560"/>
              </a:spcBef>
              <a:spcAft>
                <a:spcPts val="0"/>
              </a:spcAft>
              <a:buClr>
                <a:schemeClr val="dk1"/>
              </a:buClr>
              <a:buSzPts val="2800"/>
              <a:buFont typeface="Arial"/>
              <a:buChar char="–"/>
              <a:defRPr b="0" i="0" sz="2800" u="none" cap="none" strike="noStrike">
                <a:solidFill>
                  <a:schemeClr val="dk1"/>
                </a:solidFill>
                <a:latin typeface="Calibri"/>
                <a:ea typeface="Calibri"/>
                <a:cs typeface="Calibri"/>
                <a:sym typeface="Calibri"/>
              </a:defRPr>
            </a:lvl2pPr>
            <a:lvl3pPr indent="-381000" lvl="2" marL="1371600" marR="0" rtl="0" algn="l">
              <a:spcBef>
                <a:spcPts val="480"/>
              </a:spcBef>
              <a:spcAft>
                <a:spcPts val="0"/>
              </a:spcAft>
              <a:buClr>
                <a:schemeClr val="dk1"/>
              </a:buClr>
              <a:buSzPts val="2400"/>
              <a:buFont typeface="Arial"/>
              <a:buChar char="•"/>
              <a:defRPr b="0" i="0" sz="2400" u="none" cap="none" strike="noStrike">
                <a:solidFill>
                  <a:schemeClr val="dk1"/>
                </a:solidFill>
                <a:latin typeface="Calibri"/>
                <a:ea typeface="Calibri"/>
                <a:cs typeface="Calibri"/>
                <a:sym typeface="Calibri"/>
              </a:defRPr>
            </a:lvl3pPr>
            <a:lvl4pPr indent="-355600" lvl="3" marL="1828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4pPr>
            <a:lvl5pPr indent="-355600" lvl="4" marL="22860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5pPr>
            <a:lvl6pPr indent="-355600" lvl="5" marL="27432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6pPr>
            <a:lvl7pPr indent="-355600" lvl="6" marL="32004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7pPr>
            <a:lvl8pPr indent="-355600" lvl="7" marL="36576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8pPr>
            <a:lvl9pPr indent="-355600" lvl="8" marL="4114800" marR="0" rtl="0" algn="l">
              <a:spcBef>
                <a:spcPts val="400"/>
              </a:spcBef>
              <a:spcAft>
                <a:spcPts val="0"/>
              </a:spcAft>
              <a:buClr>
                <a:schemeClr val="dk1"/>
              </a:buClr>
              <a:buSzPts val="2000"/>
              <a:buFont typeface="Arial"/>
              <a:buChar char="•"/>
              <a:defRPr b="0" i="0" sz="2000" u="none" cap="none" strike="noStrike">
                <a:solidFill>
                  <a:schemeClr val="dk1"/>
                </a:solidFill>
                <a:latin typeface="Calibri"/>
                <a:ea typeface="Calibri"/>
                <a:cs typeface="Calibri"/>
                <a:sym typeface="Calibri"/>
              </a:defRPr>
            </a:lvl9pPr>
          </a:lstStyle>
          <a:p/>
        </p:txBody>
      </p:sp>
      <p:sp>
        <p:nvSpPr>
          <p:cNvPr id="8" name="Google Shape;8;p47"/>
          <p:cNvSpPr txBox="1"/>
          <p:nvPr>
            <p:ph idx="10" type="dt"/>
          </p:nvPr>
        </p:nvSpPr>
        <p:spPr>
          <a:xfrm>
            <a:off x="457200" y="6356350"/>
            <a:ext cx="2133600" cy="365125"/>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9" name="Google Shape;9;p47"/>
          <p:cNvSpPr txBox="1"/>
          <p:nvPr>
            <p:ph idx="11" type="ftr"/>
          </p:nvPr>
        </p:nvSpPr>
        <p:spPr>
          <a:xfrm>
            <a:off x="3124200" y="6356350"/>
            <a:ext cx="2895600" cy="365125"/>
          </a:xfrm>
          <a:prstGeom prst="rect">
            <a:avLst/>
          </a:prstGeom>
          <a:noFill/>
          <a:ln>
            <a:noFill/>
          </a:ln>
        </p:spPr>
        <p:txBody>
          <a:bodyPr anchorCtr="0" anchor="ctr" bIns="45700" lIns="91425" spcFirstLastPara="1" rIns="91425" wrap="square" tIns="45700">
            <a:noAutofit/>
          </a:bodyPr>
          <a:lstStyle>
            <a:lvl1pPr lvl="0" marR="0" rtl="0" algn="ctr">
              <a:spcBef>
                <a:spcPts val="0"/>
              </a:spcBef>
              <a:spcAft>
                <a:spcPts val="0"/>
              </a:spcAft>
              <a:buSzPts val="1400"/>
              <a:buNone/>
              <a:defRPr b="0" i="0" sz="1200" u="none" cap="none" strike="noStrike">
                <a:solidFill>
                  <a:srgbClr val="888888"/>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10" name="Google Shape;10;p47"/>
          <p:cNvSpPr txBox="1"/>
          <p:nvPr>
            <p:ph idx="12" type="sldNum"/>
          </p:nvPr>
        </p:nvSpPr>
        <p:spPr>
          <a:xfrm>
            <a:off x="6553200" y="6356350"/>
            <a:ext cx="2133600" cy="365125"/>
          </a:xfrm>
          <a:prstGeom prst="rect">
            <a:avLst/>
          </a:prstGeom>
          <a:noFill/>
          <a:ln>
            <a:noFill/>
          </a:ln>
        </p:spPr>
        <p:txBody>
          <a:bodyPr anchorCtr="0" anchor="ctr" bIns="45700" lIns="91425" spcFirstLastPara="1" rIns="91425" wrap="square" tIns="45700">
            <a:noAutofit/>
          </a:bodyPr>
          <a:lstStyle>
            <a:lvl1pPr indent="0" lvl="0" marL="0" marR="0" rtl="0" algn="r">
              <a:spcBef>
                <a:spcPts val="0"/>
              </a:spcBef>
              <a:buNone/>
              <a:defRPr b="0" i="0" sz="1200" u="none" cap="none" strike="noStrike">
                <a:solidFill>
                  <a:srgbClr val="888888"/>
                </a:solidFill>
                <a:latin typeface="Calibri"/>
                <a:ea typeface="Calibri"/>
                <a:cs typeface="Calibri"/>
                <a:sym typeface="Calibri"/>
              </a:defRPr>
            </a:lvl1pPr>
            <a:lvl2pPr indent="0" lvl="1" marL="0" marR="0" rtl="0" algn="r">
              <a:spcBef>
                <a:spcPts val="0"/>
              </a:spcBef>
              <a:buNone/>
              <a:defRPr b="0" i="0" sz="1200" u="none" cap="none" strike="noStrike">
                <a:solidFill>
                  <a:srgbClr val="888888"/>
                </a:solidFill>
                <a:latin typeface="Calibri"/>
                <a:ea typeface="Calibri"/>
                <a:cs typeface="Calibri"/>
                <a:sym typeface="Calibri"/>
              </a:defRPr>
            </a:lvl2pPr>
            <a:lvl3pPr indent="0" lvl="2" marL="0" marR="0" rtl="0" algn="r">
              <a:spcBef>
                <a:spcPts val="0"/>
              </a:spcBef>
              <a:buNone/>
              <a:defRPr b="0" i="0" sz="1200" u="none" cap="none" strike="noStrike">
                <a:solidFill>
                  <a:srgbClr val="888888"/>
                </a:solidFill>
                <a:latin typeface="Calibri"/>
                <a:ea typeface="Calibri"/>
                <a:cs typeface="Calibri"/>
                <a:sym typeface="Calibri"/>
              </a:defRPr>
            </a:lvl3pPr>
            <a:lvl4pPr indent="0" lvl="3" marL="0" marR="0" rtl="0" algn="r">
              <a:spcBef>
                <a:spcPts val="0"/>
              </a:spcBef>
              <a:buNone/>
              <a:defRPr b="0" i="0" sz="1200" u="none" cap="none" strike="noStrike">
                <a:solidFill>
                  <a:srgbClr val="888888"/>
                </a:solidFill>
                <a:latin typeface="Calibri"/>
                <a:ea typeface="Calibri"/>
                <a:cs typeface="Calibri"/>
                <a:sym typeface="Calibri"/>
              </a:defRPr>
            </a:lvl4pPr>
            <a:lvl5pPr indent="0" lvl="4" marL="0" marR="0" rtl="0" algn="r">
              <a:spcBef>
                <a:spcPts val="0"/>
              </a:spcBef>
              <a:buNone/>
              <a:defRPr b="0" i="0" sz="1200" u="none" cap="none" strike="noStrike">
                <a:solidFill>
                  <a:srgbClr val="888888"/>
                </a:solidFill>
                <a:latin typeface="Calibri"/>
                <a:ea typeface="Calibri"/>
                <a:cs typeface="Calibri"/>
                <a:sym typeface="Calibri"/>
              </a:defRPr>
            </a:lvl5pPr>
            <a:lvl6pPr indent="0" lvl="5" marL="0" marR="0" rtl="0" algn="r">
              <a:spcBef>
                <a:spcPts val="0"/>
              </a:spcBef>
              <a:buNone/>
              <a:defRPr b="0" i="0" sz="1200" u="none" cap="none" strike="noStrike">
                <a:solidFill>
                  <a:srgbClr val="888888"/>
                </a:solidFill>
                <a:latin typeface="Calibri"/>
                <a:ea typeface="Calibri"/>
                <a:cs typeface="Calibri"/>
                <a:sym typeface="Calibri"/>
              </a:defRPr>
            </a:lvl6pPr>
            <a:lvl7pPr indent="0" lvl="6" marL="0" marR="0" rtl="0" algn="r">
              <a:spcBef>
                <a:spcPts val="0"/>
              </a:spcBef>
              <a:buNone/>
              <a:defRPr b="0" i="0" sz="1200" u="none" cap="none" strike="noStrike">
                <a:solidFill>
                  <a:srgbClr val="888888"/>
                </a:solidFill>
                <a:latin typeface="Calibri"/>
                <a:ea typeface="Calibri"/>
                <a:cs typeface="Calibri"/>
                <a:sym typeface="Calibri"/>
              </a:defRPr>
            </a:lvl7pPr>
            <a:lvl8pPr indent="0" lvl="7" marL="0" marR="0" rtl="0" algn="r">
              <a:spcBef>
                <a:spcPts val="0"/>
              </a:spcBef>
              <a:buNone/>
              <a:defRPr b="0" i="0" sz="1200" u="none" cap="none" strike="noStrike">
                <a:solidFill>
                  <a:srgbClr val="888888"/>
                </a:solidFill>
                <a:latin typeface="Calibri"/>
                <a:ea typeface="Calibri"/>
                <a:cs typeface="Calibri"/>
                <a:sym typeface="Calibri"/>
              </a:defRPr>
            </a:lvl8pPr>
            <a:lvl9pPr indent="0" lvl="8" marL="0" marR="0" rtl="0" algn="r">
              <a:spcBef>
                <a:spcPts val="0"/>
              </a:spcBef>
              <a:buNone/>
              <a:defRPr b="0" i="0" sz="1200" u="none" cap="none" strike="noStrike">
                <a:solidFill>
                  <a:srgbClr val="888888"/>
                </a:solidFill>
                <a:latin typeface="Calibri"/>
                <a:ea typeface="Calibri"/>
                <a:cs typeface="Calibri"/>
                <a:sym typeface="Calibri"/>
              </a:defRPr>
            </a:lvl9pPr>
          </a:lstStyle>
          <a:p>
            <a:pPr indent="0" lvl="0" marL="0" rtl="0" algn="r">
              <a:spcBef>
                <a:spcPts val="0"/>
              </a:spcBef>
              <a:spcAft>
                <a:spcPts val="0"/>
              </a:spcAft>
              <a:buNone/>
            </a:pPr>
            <a:fld id="{00000000-1234-1234-1234-123412341234}" type="slidenum">
              <a:rPr lang="en-US"/>
              <a:t>‹#›</a:t>
            </a:fld>
            <a:endParaRPr/>
          </a:p>
        </p:txBody>
      </p:sp>
    </p:spTree>
  </p:cSld>
  <p:clrMap accent1="accent1" accent2="accent2" accent3="accent3" accent4="accent4" accent5="accent5" accent6="accent6" bg1="lt1" bg2="dk2" tx1="dk1" tx2="lt2" folHlink="folHlink" hlink="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pc="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 Id="rId3"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8.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6.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6.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8.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3.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3.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4.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12.pn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7.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9.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9.png"/></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10.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10.png"/></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9.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10.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10.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11.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17.png"/><Relationship Id="rId4" Type="http://schemas.openxmlformats.org/officeDocument/2006/relationships/image" Target="../media/image18.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14.png"/><Relationship Id="rId4" Type="http://schemas.openxmlformats.org/officeDocument/2006/relationships/image" Target="../media/image1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13.png"/><Relationship Id="rId4" Type="http://schemas.openxmlformats.org/officeDocument/2006/relationships/image" Target="../media/image18.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16.png"/><Relationship Id="rId4" Type="http://schemas.openxmlformats.org/officeDocument/2006/relationships/image" Target="../media/image18.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2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 Id="rId3" Type="http://schemas.openxmlformats.org/officeDocument/2006/relationships/image" Target="../media/image21.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 Id="rId3" Type="http://schemas.openxmlformats.org/officeDocument/2006/relationships/image" Target="../media/image19.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 Id="rId3" Type="http://schemas.openxmlformats.org/officeDocument/2006/relationships/image" Target="../media/image2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 Id="rId3" Type="http://schemas.openxmlformats.org/officeDocument/2006/relationships/image" Target="../media/image15.png"/><Relationship Id="rId4" Type="http://schemas.openxmlformats.org/officeDocument/2006/relationships/image" Target="../media/image23.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 Id="rId3" Type="http://schemas.openxmlformats.org/officeDocument/2006/relationships/image" Target="../media/image2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4.xml"/><Relationship Id="rId3" Type="http://schemas.openxmlformats.org/officeDocument/2006/relationships/image" Target="../media/image24.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5.xml"/><Relationship Id="rId3"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6.xml"/><Relationship Id="rId3" Type="http://schemas.openxmlformats.org/officeDocument/2006/relationships/image" Target="../media/image32.pn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7.xml"/><Relationship Id="rId3" Type="http://schemas.openxmlformats.org/officeDocument/2006/relationships/image" Target="../media/image22.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8.xml"/><Relationship Id="rId3" Type="http://schemas.openxmlformats.org/officeDocument/2006/relationships/image" Target="../media/image24.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9.xml"/><Relationship Id="rId3" Type="http://schemas.openxmlformats.org/officeDocument/2006/relationships/image" Target="../media/image26.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0.xml"/><Relationship Id="rId3" Type="http://schemas.openxmlformats.org/officeDocument/2006/relationships/image" Target="../media/image31.png"/><Relationship Id="rId4" Type="http://schemas.openxmlformats.org/officeDocument/2006/relationships/image" Target="../media/image26.png"/></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1.xml"/><Relationship Id="rId3" Type="http://schemas.openxmlformats.org/officeDocument/2006/relationships/image" Target="../media/image30.png"/><Relationship Id="rId4" Type="http://schemas.openxmlformats.org/officeDocument/2006/relationships/image" Target="../media/image26.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2.xml"/><Relationship Id="rId3" Type="http://schemas.openxmlformats.org/officeDocument/2006/relationships/image" Target="../media/image29.png"/><Relationship Id="rId4" Type="http://schemas.openxmlformats.org/officeDocument/2006/relationships/image" Target="../media/image26.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3.xml"/><Relationship Id="rId3" Type="http://schemas.openxmlformats.org/officeDocument/2006/relationships/image" Target="../media/image27.png"/><Relationship Id="rId4" Type="http://schemas.openxmlformats.org/officeDocument/2006/relationships/image" Target="../media/image26.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4.xml"/><Relationship Id="rId3" Type="http://schemas.openxmlformats.org/officeDocument/2006/relationships/image" Target="../media/image34.png"/></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5.xml"/><Relationship Id="rId3" Type="http://schemas.openxmlformats.org/officeDocument/2006/relationships/image" Target="../media/image33.png"/></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6.xml"/></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9.png"/><Relationship Id="rId3" Type="http://schemas.openxmlformats.org/officeDocument/2006/relationships/image" Target="../media/image26.png"/><Relationship Id="rId4" Type="http://schemas.openxmlformats.org/officeDocument/2006/relationships/notesSlide" Target="../notesSlides/notesSlide4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6.png"/><Relationship Id="rId3" Type="http://schemas.openxmlformats.org/officeDocument/2006/relationships/notesSlide" Target="../notesSlides/notesSlide48.xml"/></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2.png"/><Relationship Id="rId3" Type="http://schemas.openxmlformats.org/officeDocument/2006/relationships/notesSlide" Target="../notesSlides/notesSlide49.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4.png"/><Relationship Id="rId3" Type="http://schemas.openxmlformats.org/officeDocument/2006/relationships/notesSlide" Target="../notesSlides/notesSlide50.xml"/></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8.png"/><Relationship Id="rId3" Type="http://schemas.openxmlformats.org/officeDocument/2006/relationships/notesSlide" Target="../notesSlides/notesSlide51.xml"/></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20.png"/><Relationship Id="rId3" Type="http://schemas.openxmlformats.org/officeDocument/2006/relationships/notesSlide" Target="../notesSlides/notesSlide52.xml"/></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4.png"/><Relationship Id="rId3" Type="http://schemas.openxmlformats.org/officeDocument/2006/relationships/image" Target="../media/image18.png"/><Relationship Id="rId4" Type="http://schemas.openxmlformats.org/officeDocument/2006/relationships/notesSlide" Target="../notesSlides/notesSlide53.xml"/></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4.xml"/></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0.png"/><Relationship Id="rId3" Type="http://schemas.openxmlformats.org/officeDocument/2006/relationships/notesSlide" Target="../notesSlides/notesSlide55.xml"/></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9.png"/><Relationship Id="rId3" Type="http://schemas.openxmlformats.org/officeDocument/2006/relationships/notesSlide" Target="../notesSlides/notesSlide56.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4.png"/><Relationship Id="rId3" Type="http://schemas.openxmlformats.org/officeDocument/2006/relationships/notesSlide" Target="../notesSlides/notesSlide57.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3.png"/><Relationship Id="rId3" Type="http://schemas.openxmlformats.org/officeDocument/2006/relationships/notesSlide" Target="../notesSlides/notesSlide58.xml"/></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59.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8.png"/><Relationship Id="rId3" Type="http://schemas.openxmlformats.org/officeDocument/2006/relationships/notesSlide" Target="../notesSlides/notesSlide60.xml"/></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84" name="Shape 84"/>
        <p:cNvGrpSpPr/>
        <p:nvPr/>
      </p:nvGrpSpPr>
      <p:grpSpPr>
        <a:xfrm>
          <a:off x="0" y="0"/>
          <a:ext cx="0" cy="0"/>
          <a:chOff x="0" y="0"/>
          <a:chExt cx="0" cy="0"/>
        </a:xfrm>
      </p:grpSpPr>
      <p:sp>
        <p:nvSpPr>
          <p:cNvPr id="85" name="Google Shape;85;p1"/>
          <p:cNvSpPr/>
          <p:nvPr/>
        </p:nvSpPr>
        <p:spPr>
          <a:xfrm>
            <a:off x="0" y="0"/>
            <a:ext cx="6095847" cy="6858000"/>
          </a:xfrm>
          <a:prstGeom prst="rect">
            <a:avLst/>
          </a:prstGeom>
          <a:solidFill>
            <a:srgbClr val="30383C"/>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rgbClr val="D0D9DE"/>
              </a:solidFill>
              <a:latin typeface="Calibri"/>
              <a:ea typeface="Calibri"/>
              <a:cs typeface="Calibri"/>
              <a:sym typeface="Calibri"/>
            </a:endParaRPr>
          </a:p>
        </p:txBody>
      </p:sp>
      <p:sp>
        <p:nvSpPr>
          <p:cNvPr id="86" name="Google Shape;86;p1"/>
          <p:cNvSpPr txBox="1"/>
          <p:nvPr/>
        </p:nvSpPr>
        <p:spPr>
          <a:xfrm>
            <a:off x="685800" y="822960"/>
            <a:ext cx="4724100" cy="1848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200" u="none" cap="none" strike="noStrike">
                <a:solidFill>
                  <a:srgbClr val="D0D9DE"/>
                </a:solidFill>
                <a:latin typeface="Arial"/>
                <a:ea typeface="Arial"/>
                <a:cs typeface="Arial"/>
                <a:sym typeface="Arial"/>
              </a:rPr>
              <a:t>NEUR 411 · NEUROETHOLOGY · FALL 2026</a:t>
            </a:r>
            <a:endParaRPr>
              <a:solidFill>
                <a:srgbClr val="D0D9DE"/>
              </a:solidFill>
            </a:endParaRPr>
          </a:p>
        </p:txBody>
      </p:sp>
      <p:sp>
        <p:nvSpPr>
          <p:cNvPr id="87" name="Google Shape;87;p1"/>
          <p:cNvSpPr txBox="1"/>
          <p:nvPr/>
        </p:nvSpPr>
        <p:spPr>
          <a:xfrm>
            <a:off x="685800" y="1783080"/>
            <a:ext cx="4724100" cy="4366920"/>
          </a:xfrm>
          <a:prstGeom prst="rect">
            <a:avLst/>
          </a:prstGeom>
          <a:noFill/>
          <a:ln>
            <a:noFill/>
          </a:ln>
        </p:spPr>
        <p:txBody>
          <a:bodyPr anchorCtr="0" anchor="t" bIns="0" lIns="0" spcFirstLastPara="1" rIns="0" wrap="square" tIns="0">
            <a:spAutoFit/>
          </a:bodyPr>
          <a:lstStyle/>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Lecture 31</a:t>
            </a:r>
            <a:endParaRPr>
              <a:solidFill>
                <a:srgbClr val="D0D9DE"/>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Navigation IV:</a:t>
            </a:r>
            <a:endParaRPr>
              <a:solidFill>
                <a:schemeClr val="lt1"/>
              </a:solidFill>
            </a:endParaRPr>
          </a:p>
          <a:p>
            <a:pPr indent="0" lvl="0" marL="0" marR="0" rtl="0" algn="l">
              <a:lnSpc>
                <a:spcPct val="108000"/>
              </a:lnSpc>
              <a:spcAft>
                <a:spcPts val="1200"/>
              </a:spcAft>
              <a:buNone/>
            </a:pPr>
            <a:r>
              <a:rPr b="1" i="0" lang="en-US" sz="1500" u="none" cap="none" strike="noStrike">
                <a:solidFill>
                  <a:schemeClr val="lt1"/>
                </a:solidFill>
                <a:latin typeface="Arial"/>
                <a:ea typeface="Arial"/>
                <a:cs typeface="Arial"/>
                <a:sym typeface="Arial"/>
              </a:rPr>
              <a:t>homing pigeon multimodal navigation</a:t>
            </a:r>
            <a:endParaRPr>
              <a:solidFill>
                <a:schemeClr val="lt1"/>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Friday, November 6, 2026</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Jordan Lopez, Ph.D.</a:t>
            </a:r>
            <a:endParaRPr>
              <a:solidFill>
                <a:srgbClr val="D0D9DE"/>
              </a:solidFill>
            </a:endParaRPr>
          </a:p>
          <a:p>
            <a:pPr indent="0" lvl="0" marL="0" marR="0" rtl="0" algn="l">
              <a:lnSpc>
                <a:spcPct val="108000"/>
              </a:lnSpc>
              <a:spcAft>
                <a:spcPts val="1200"/>
              </a:spcAft>
              <a:buNone/>
            </a:pPr>
            <a:r>
              <a:rPr b="0" i="0" lang="en-US" sz="1500" u="none" cap="none" strike="noStrike">
                <a:solidFill>
                  <a:srgbClr val="D0D9DE"/>
                </a:solidFill>
                <a:latin typeface="Arial"/>
                <a:ea typeface="Arial"/>
                <a:cs typeface="Arial"/>
                <a:sym typeface="Arial"/>
              </a:rPr>
              <a:t>Professor of Neurobiology &amp; Biomedical Engineering</a:t>
            </a:r>
            <a:endParaRPr>
              <a:solidFill>
                <a:srgbClr val="D0D9DE"/>
              </a:solidFill>
            </a:endParaRPr>
          </a:p>
        </p:txBody>
      </p:sp>
      <p:pic>
        <p:nvPicPr>
          <p:cNvPr descr="Y25_1A.png" id="91" name="Google Shape;91;p1"/>
          <p:cNvPicPr preferRelativeResize="0"/>
          <p:nvPr/>
        </p:nvPicPr>
        <p:blipFill rotWithShape="1">
          <a:blip r:embed="rId3">
            <a:alphaModFix/>
          </a:blip>
          <a:srcRect b="0" l="0" r="0" t="0"/>
          <a:stretch/>
        </p:blipFill>
        <p:spPr>
          <a:xfrm>
            <a:off x="6607802" y="822960"/>
            <a:ext cx="5071938" cy="4937760"/>
          </a:xfrm>
          <a:prstGeom prst="rect">
            <a:avLst/>
          </a:prstGeom>
          <a:noFill/>
          <a:ln>
            <a:noFill/>
          </a:ln>
        </p:spPr>
      </p:pic>
      <p:sp>
        <p:nvSpPr>
          <p:cNvPr id="92" name="Google Shape;92;p1"/>
          <p:cNvSpPr txBox="1"/>
          <p:nvPr/>
        </p:nvSpPr>
        <p:spPr>
          <a:xfrm>
            <a:off x="6553047" y="5943600"/>
            <a:ext cx="5181447"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1A. A pigeon wearing the neural and positional recording devices.</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97" name="Shape 97"/>
        <p:cNvGrpSpPr/>
        <p:nvPr/>
      </p:nvGrpSpPr>
      <p:grpSpPr>
        <a:xfrm>
          <a:off x="0" y="0"/>
          <a:ext cx="0" cy="0"/>
          <a:chOff x="0" y="0"/>
          <a:chExt cx="0" cy="0"/>
        </a:xfrm>
      </p:grpSpPr>
      <p:sp>
        <p:nvSpPr>
          <p:cNvPr id="98" name="Google Shape;98;p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Homing uses location estimates and directional guidance</a:t>
            </a:r>
            <a:endParaRPr/>
          </a:p>
        </p:txBody>
      </p:sp>
      <p:sp>
        <p:nvSpPr>
          <p:cNvPr id="99" name="Google Shape;99;p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Homing</a:t>
            </a:r>
            <a:r>
              <a:rPr b="0" i="0" lang="en-US" sz="1500" u="none" cap="none" strike="noStrike">
                <a:solidFill>
                  <a:srgbClr val="263139"/>
                </a:solidFill>
                <a:latin typeface="Arial"/>
                <a:ea typeface="Arial"/>
                <a:cs typeface="Arial"/>
                <a:sym typeface="Arial"/>
              </a:rPr>
              <a:t> is navigation back to a familiar home after displacement. In pigeons, a </a:t>
            </a:r>
            <a:r>
              <a:rPr b="1" i="0" lang="en-US" sz="1500" u="none" cap="none" strike="noStrike">
                <a:solidFill>
                  <a:srgbClr val="48545B"/>
                </a:solidFill>
                <a:latin typeface="Arial"/>
                <a:ea typeface="Arial"/>
                <a:cs typeface="Arial"/>
                <a:sym typeface="Arial"/>
              </a:rPr>
              <a:t>map</a:t>
            </a:r>
            <a:r>
              <a:rPr b="0" i="0" lang="en-US" sz="1500" u="none" cap="none" strike="noStrike">
                <a:solidFill>
                  <a:srgbClr val="263139"/>
                </a:solidFill>
                <a:latin typeface="Arial"/>
                <a:ea typeface="Arial"/>
                <a:cs typeface="Arial"/>
                <a:sym typeface="Arial"/>
              </a:rPr>
              <a:t> estimates position relative to home, whereas a </a:t>
            </a:r>
            <a:r>
              <a:rPr b="1" i="0" lang="en-US" sz="1500" u="none" cap="none" strike="noStrike">
                <a:solidFill>
                  <a:srgbClr val="48545B"/>
                </a:solidFill>
                <a:latin typeface="Arial"/>
                <a:ea typeface="Arial"/>
                <a:cs typeface="Arial"/>
                <a:sym typeface="Arial"/>
              </a:rPr>
              <a:t>compass</a:t>
            </a:r>
            <a:r>
              <a:rPr b="0" i="0" lang="en-US" sz="1500" u="none" cap="none" strike="noStrike">
                <a:solidFill>
                  <a:srgbClr val="263139"/>
                </a:solidFill>
                <a:latin typeface="Arial"/>
                <a:ea typeface="Arial"/>
                <a:cs typeface="Arial"/>
                <a:sym typeface="Arial"/>
              </a:rPr>
              <a:t> supplies a directional reference. Biro and colleagues recorded homing pigeons with a global positioning system, or GPS, logging position every second. Releases from trained sites and off-route tests showed how each bird reached home from unfamiliar ground.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Off-route releases separated birds that followed a familiar corridor from birds that flew straight toward the loft. Their complete tracks show which landmarks and directions guided each journey. The same GPS record also reveals the detours that a bird took on the way to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therefore use a learned route and a directional reference at the same time. A route can be followed through a series of changing headings, because each position on the track is recorded in sequence.</a:t>
            </a:r>
            <a:endParaRPr/>
          </a:p>
        </p:txBody>
      </p:sp>
      <p:pic>
        <p:nvPicPr>
          <p:cNvPr descr="B04_1A.png" id="100" name="Google Shape;100;p2"/>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01" name="Google Shape;101;p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02" name="Google Shape;102;p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03" name="Google Shape;103;p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04" name="Google Shape;104;p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02</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09" name="Shape 109"/>
        <p:cNvGrpSpPr/>
        <p:nvPr/>
      </p:nvGrpSpPr>
      <p:grpSpPr>
        <a:xfrm>
          <a:off x="0" y="0"/>
          <a:ext cx="0" cy="0"/>
          <a:chOff x="0" y="0"/>
          <a:chExt cx="0" cy="0"/>
        </a:xfrm>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Repeated journeys establish narrow individual corridors</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Route fidelity</a:t>
            </a:r>
            <a:r>
              <a:rPr b="0" i="0" lang="en-US" sz="1500" u="none" cap="none" strike="noStrike">
                <a:solidFill>
                  <a:srgbClr val="263139"/>
                </a:solidFill>
                <a:latin typeface="Arial"/>
                <a:ea typeface="Arial"/>
                <a:cs typeface="Arial"/>
                <a:sym typeface="Arial"/>
              </a:rPr>
              <a:t> is the repeated use of a similar path by the same animal. It differs from accuracy of arrival, because a pigeon can reach home along a reliable but indirect corridor. Biro and colleagues compared the last three training flights from each release site to measure how consistent each route was.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repeated homing experience, mean corridor widths were 151 m at Weston Wood and 176 m at High Cogges. These widths describe the area enclosed by each bird's final training tracks, scaled to its route length. Routes of different lengths can therefore be compared on one scale.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narrow corridor reflects a route that each bird flies again and again. Birds with narrow corridors return to nearly the same ground on each flight, and the corridor width summarizes that repetition in a single number.</a:t>
            </a:r>
            <a:endParaRPr/>
          </a:p>
        </p:txBody>
      </p:sp>
      <p:pic>
        <p:nvPicPr>
          <p:cNvPr descr="B04_1A.png" id="112" name="Google Shape;112;p3"/>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21" name="Shape 121"/>
        <p:cNvGrpSpPr/>
        <p:nvPr/>
      </p:nvGrpSpPr>
      <p:grpSpPr>
        <a:xfrm>
          <a:off x="0" y="0"/>
          <a:ext cx="0" cy="0"/>
          <a:chOff x="0" y="0"/>
          <a:chExt cx="0" cy="0"/>
        </a:xfrm>
      </p:grpSpPr>
      <p:sp>
        <p:nvSpPr>
          <p:cNvPr id="122" name="Google Shape;122;p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 familiar route need not minimize distance</a:t>
            </a:r>
            <a:endParaRPr/>
          </a:p>
        </p:txBody>
      </p:sp>
      <p:sp>
        <p:nvSpPr>
          <p:cNvPr id="123" name="Google Shape;123;p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Route efficiency</a:t>
            </a:r>
            <a:r>
              <a:rPr b="0" i="0" lang="en-US" sz="1500" u="none" cap="none" strike="noStrike">
                <a:solidFill>
                  <a:srgbClr val="263139"/>
                </a:solidFill>
                <a:latin typeface="Arial"/>
                <a:ea typeface="Arial"/>
                <a:cs typeface="Arial"/>
                <a:sym typeface="Arial"/>
              </a:rPr>
              <a:t> compares the direct home distance with the distance actually flown. A lower value means a longer journey, even when the bird ultimately reaches the loft. Efficiency and fidelity measure different properties of successful homing.</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found that final training routes remained indirect after 20 successive releases. Birds flew approximately 18–25% farther than the direct home distance while still reproducing their individually distinctive paths. The 2 km map scale shows how far each detour extends from the straight line to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detours are a stable part of each bird's route rather than a sign of poor navigation. A pigeon keeps the same indirect path across days, so its route becomes a personal habit that it follows reliably.</a:t>
            </a:r>
            <a:endParaRPr/>
          </a:p>
        </p:txBody>
      </p:sp>
      <p:pic>
        <p:nvPicPr>
          <p:cNvPr descr="B04_1B.png" id="124" name="Google Shape;124;p4"/>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25" name="Google Shape;125;p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26" name="Google Shape;126;p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27" name="Google Shape;127;p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28" name="Google Shape;128;p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04</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33" name="Shape 133"/>
        <p:cNvGrpSpPr/>
        <p:nvPr/>
      </p:nvGrpSpPr>
      <p:grpSpPr>
        <a:xfrm>
          <a:off x="0" y="0"/>
          <a:ext cx="0" cy="0"/>
          <a:chOff x="0" y="0"/>
          <a:chExt cx="0" cy="0"/>
        </a:xfrm>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Off-route release tests attraction to a learned corridor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displacement</a:t>
            </a:r>
            <a:r>
              <a:rPr b="0" i="0" lang="en-US" sz="1500" u="none" cap="none" strike="noStrike">
                <a:solidFill>
                  <a:srgbClr val="263139"/>
                </a:solidFill>
                <a:latin typeface="Arial"/>
                <a:ea typeface="Arial"/>
                <a:cs typeface="Arial"/>
                <a:sym typeface="Arial"/>
              </a:rPr>
              <a:t> moves a bird away from its trained release point. Biro and colleagues released trained pigeons at positions outside their preferred corridors and recorded the complete homing track from each release. The tracks show whether a bird heads toward home directly or first returns to a familiar route.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off-route tracks often converged on the previously used route before continuing toward the loft. The original maps preserve both the training tracks and the later test tracks at a 2 km scale. The merge point sits well away from the release site, which places the pull of the route over a broad area.</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rejoin a familiar route when they encounter its landmarks, even when a shorter path to home exists. The merging pattern shows which feature a bird uses first when it is displaced.</a:t>
            </a:r>
            <a:endParaRPr/>
          </a:p>
        </p:txBody>
      </p:sp>
      <p:pic>
        <p:nvPicPr>
          <p:cNvPr descr="B04_1A.png" id="136" name="Google Shape;136;p5"/>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45" name="Shape 145"/>
        <p:cNvGrpSpPr/>
        <p:nvPr/>
      </p:nvGrpSpPr>
      <p:grpSpPr>
        <a:xfrm>
          <a:off x="0" y="0"/>
          <a:ext cx="0" cy="0"/>
          <a:chOff x="0" y="0"/>
          <a:chExt cx="0" cy="0"/>
        </a:xfrm>
      </p:grpSpPr>
      <p:sp>
        <p:nvSpPr>
          <p:cNvPr id="146" name="Google Shape;146;p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Pilotage links movement to recognized landmarks</a:t>
            </a:r>
            <a:endParaRPr/>
          </a:p>
        </p:txBody>
      </p:sp>
      <p:sp>
        <p:nvSpPr>
          <p:cNvPr id="147" name="Google Shape;147;p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Visual pilotage</a:t>
            </a:r>
            <a:r>
              <a:rPr b="0" i="0" lang="en-US" sz="1500" u="none" cap="none" strike="noStrike">
                <a:solidFill>
                  <a:srgbClr val="263139"/>
                </a:solidFill>
                <a:latin typeface="Arial"/>
                <a:ea typeface="Arial"/>
                <a:cs typeface="Arial"/>
                <a:sym typeface="Arial"/>
              </a:rPr>
              <a:t> is the use of recognized landscape features to guide movement along a familiar route. A landmark gives local guidance without placing the bird in a universal coordinate system, so the route can be learned as a succession of familiar places. Biro and colleagues compared repeated training flights with off-route releases in the same landscape.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were attracted toward their preferred corridors even when this required an indirect journey. The 2 km map scale sets the size of each displacement against the surrounding terrain. The corridor attracts the birds across this terrain, so their tracks bend back toward it.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Visual pilotage supplies a continuous guide that works without a map of the whole region. A bird that recognizes the next landmark on its route can keep moving toward the loft from that point.</a:t>
            </a:r>
            <a:endParaRPr/>
          </a:p>
        </p:txBody>
      </p:sp>
      <p:pic>
        <p:nvPicPr>
          <p:cNvPr descr="B04_1B.png" id="148" name="Google Shape;148;p6"/>
          <p:cNvPicPr preferRelativeResize="0"/>
          <p:nvPr/>
        </p:nvPicPr>
        <p:blipFill rotWithShape="1">
          <a:blip r:embed="rId3">
            <a:alphaModFix/>
          </a:blip>
          <a:srcRect b="0" l="0" r="0" t="0"/>
          <a:stretch/>
        </p:blipFill>
        <p:spPr>
          <a:xfrm>
            <a:off x="7702482" y="1280160"/>
            <a:ext cx="2723930" cy="4297679"/>
          </a:xfrm>
          <a:prstGeom prst="rect">
            <a:avLst/>
          </a:prstGeom>
          <a:noFill/>
          <a:ln>
            <a:noFill/>
          </a:ln>
        </p:spPr>
      </p:pic>
      <p:sp>
        <p:nvSpPr>
          <p:cNvPr id="149" name="Google Shape;149;p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1B. Training and off-route homing tracks at High Cogges.</a:t>
            </a:r>
            <a:endParaRPr/>
          </a:p>
        </p:txBody>
      </p:sp>
      <p:sp>
        <p:nvSpPr>
          <p:cNvPr id="150" name="Google Shape;150;p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51" name="Google Shape;151;p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52" name="Google Shape;152;p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06</a:t>
            </a:r>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57" name="Shape 157"/>
        <p:cNvGrpSpPr/>
        <p:nvPr/>
      </p:nvGrpSpPr>
      <p:grpSpPr>
        <a:xfrm>
          <a:off x="0" y="0"/>
          <a:ext cx="0" cy="0"/>
          <a:chOff x="0" y="0"/>
          <a:chExt cx="0" cy="0"/>
        </a:xfrm>
      </p:grpSpPr>
      <p:sp>
        <p:nvSpPr>
          <p:cNvPr id="158" name="Google Shape;158;p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Individual routes distinguish memory from common terrain</a:t>
            </a:r>
            <a:endParaRPr/>
          </a:p>
        </p:txBody>
      </p:sp>
      <p:sp>
        <p:nvSpPr>
          <p:cNvPr id="159" name="Google Shape;159;p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shared landscape</a:t>
            </a:r>
            <a:r>
              <a:rPr b="0" i="0" lang="en-US" sz="1500" u="none" cap="none" strike="noStrike">
                <a:solidFill>
                  <a:srgbClr val="263139"/>
                </a:solidFill>
                <a:latin typeface="Arial"/>
                <a:ea typeface="Arial"/>
                <a:cs typeface="Arial"/>
                <a:sym typeface="Arial"/>
              </a:rPr>
              <a:t> constrains flight, and individual birds still follow different routes through it. Biro and colleagues compared several pigeons returning to the same loft from the same release sites. The training and off-route maps contain clearly different paths for each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Within-bird training corridors averaged 151 m at Weston Wood, while routes from different birds overlapped less closely. Each bird's track therefore carries its own history of flights through the area. The individual corridor is built from that bird's experience with particular features.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Two pigeons starting from the same place can follow different corridors and still reach the same loft. Individual experience sets the route, while the terrain sets the broad limits within which the route falls.</a:t>
            </a:r>
            <a:endParaRPr/>
          </a:p>
        </p:txBody>
      </p:sp>
      <p:pic>
        <p:nvPicPr>
          <p:cNvPr descr="B04_1A.png" id="160" name="Google Shape;160;p7"/>
          <p:cNvPicPr preferRelativeResize="0"/>
          <p:nvPr/>
        </p:nvPicPr>
        <p:blipFill rotWithShape="1">
          <a:blip r:embed="rId3">
            <a:alphaModFix/>
          </a:blip>
          <a:srcRect b="0" l="0" r="0" t="0"/>
          <a:stretch/>
        </p:blipFill>
        <p:spPr>
          <a:xfrm>
            <a:off x="7310292" y="1280160"/>
            <a:ext cx="3508310" cy="4297679"/>
          </a:xfrm>
          <a:prstGeom prst="rect">
            <a:avLst/>
          </a:prstGeom>
          <a:noFill/>
          <a:ln>
            <a:noFill/>
          </a:ln>
        </p:spPr>
      </p:pic>
      <p:sp>
        <p:nvSpPr>
          <p:cNvPr id="161" name="Google Shape;161;p7"/>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62" name="Google Shape;162;p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63" name="Google Shape;163;p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64" name="Google Shape;164;p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07</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69" name="Shape 169"/>
        <p:cNvGrpSpPr/>
        <p:nvPr/>
      </p:nvGrpSpPr>
      <p:grpSpPr>
        <a:xfrm>
          <a:off x="0" y="0"/>
          <a:ext cx="0" cy="0"/>
          <a:chOff x="0" y="0"/>
          <a:chExt cx="0" cy="0"/>
        </a:xfrm>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Clock shift makes solar direction conflict with landmarks</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time-compensated sun compass</a:t>
            </a:r>
            <a:r>
              <a:rPr b="0" i="0" lang="en-US" sz="1500" u="none" cap="none" strike="noStrike">
                <a:solidFill>
                  <a:srgbClr val="263139"/>
                </a:solidFill>
                <a:latin typeface="Arial"/>
                <a:ea typeface="Arial"/>
                <a:cs typeface="Arial"/>
                <a:sym typeface="Arial"/>
              </a:rPr>
              <a:t> uses the sun's position together with an internal sense of time to estimate direction. Because the sun's position changes across the day, altering a bird's internal clock changes the direction it infers, while the landscape stays the same. Biro and colleagues delayed artificial sunrise and sunset by 4 h for 5–7 days.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This treatment predicted a solar-compass error of about 90° at the release dates. Each pigeon's GPS tracks after treatment were set against its own earlier flights, so each bird's route is its own baseline. The shift set the sun's direction against the familiar landscape.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that trusts its clock-shifted compass heads away from its route, while a bird that follows its landmarks keeps near the route. Each track shows which of these two cues the bird weights more heavily.</a:t>
            </a:r>
            <a:endParaRPr/>
          </a:p>
        </p:txBody>
      </p:sp>
      <p:pic>
        <p:nvPicPr>
          <p:cNvPr descr="B07_2A.png" id="172" name="Google Shape;172;p8"/>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t>
            </a:r>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81" name="Shape 181"/>
        <p:cNvGrpSpPr/>
        <p:nvPr/>
      </p:nvGrpSpPr>
      <p:grpSpPr>
        <a:xfrm>
          <a:off x="0" y="0"/>
          <a:ext cx="0" cy="0"/>
          <a:chOff x="0" y="0"/>
          <a:chExt cx="0" cy="0"/>
        </a:xfrm>
      </p:grpSpPr>
      <p:sp>
        <p:nvSpPr>
          <p:cNvPr id="182" name="Google Shape;182;p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the effect of conflicting cues</a:t>
            </a:r>
            <a:endParaRPr/>
          </a:p>
        </p:txBody>
      </p:sp>
      <p:sp>
        <p:nvSpPr>
          <p:cNvPr id="183" name="Google Shape;183;p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Cue weighting</a:t>
            </a:r>
            <a:r>
              <a:rPr b="0" i="0" lang="en-US" sz="1500" u="none" cap="none" strike="noStrike">
                <a:solidFill>
                  <a:srgbClr val="263139"/>
                </a:solidFill>
                <a:latin typeface="Arial"/>
                <a:ea typeface="Arial"/>
                <a:cs typeface="Arial"/>
                <a:sym typeface="Arial"/>
              </a:rPr>
              <a:t> describes how strongly each information source influences behavior. The weighting can run without a conscious decision or a single neuron that sets the numbers. Familiarity can alter how strongly a recognized route constrains compass-guided movement. Biro and colleagues compared highly familiar birds with less familiar birds at four sites 5.1–10.6 km from the loft.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the same clock shift, highly familiar birds generally stayed closer to their previous tracks than less familiar birds did. The gap between the two groups is largest at the sites farthest from the loft. The familiar route therefore holds birds closer to their original paths when the compass signal changes.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Route memory can outweigh a conflicting compass signal once the route is well learned. Experience with the landscape makes the learned route a stronger guide for the same bird.</a:t>
            </a:r>
            <a:endParaRPr/>
          </a:p>
        </p:txBody>
      </p:sp>
      <p:pic>
        <p:nvPicPr>
          <p:cNvPr descr="B07_2C.png" id="184" name="Google Shape;184;p9"/>
          <p:cNvPicPr preferRelativeResize="0"/>
          <p:nvPr/>
        </p:nvPicPr>
        <p:blipFill rotWithShape="1">
          <a:blip r:embed="rId3">
            <a:alphaModFix/>
          </a:blip>
          <a:srcRect b="0" l="0" r="0" t="0"/>
          <a:stretch/>
        </p:blipFill>
        <p:spPr>
          <a:xfrm>
            <a:off x="6566273" y="1280160"/>
            <a:ext cx="4996346" cy="4297679"/>
          </a:xfrm>
          <a:prstGeom prst="rect">
            <a:avLst/>
          </a:prstGeom>
          <a:noFill/>
          <a:ln>
            <a:noFill/>
          </a:ln>
        </p:spPr>
      </p:pic>
      <p:sp>
        <p:nvSpPr>
          <p:cNvPr id="185" name="Google Shape;185;p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2C. Route displacement distributions by familiarity and clock treatment.</a:t>
            </a:r>
            <a:endParaRPr/>
          </a:p>
        </p:txBody>
      </p:sp>
      <p:sp>
        <p:nvSpPr>
          <p:cNvPr id="186" name="Google Shape;186;p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87" name="Google Shape;187;p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88" name="Google Shape;188;p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09</a:t>
            </a:r>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193" name="Shape 193"/>
        <p:cNvGrpSpPr/>
        <p:nvPr/>
      </p:nvGrpSpPr>
      <p:grpSpPr>
        <a:xfrm>
          <a:off x="0" y="0"/>
          <a:ext cx="0" cy="0"/>
          <a:chOff x="0" y="0"/>
          <a:chExt cx="0" cy="0"/>
        </a:xfrm>
      </p:grpSpPr>
      <p:sp>
        <p:nvSpPr>
          <p:cNvPr id="194" name="Google Shape;194;p1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Nearest-neighbour vectors quantify route displacement</a:t>
            </a:r>
            <a:endParaRPr/>
          </a:p>
        </p:txBody>
      </p:sp>
      <p:sp>
        <p:nvSpPr>
          <p:cNvPr id="195" name="Google Shape;195;p1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nearest-neighbour vector</a:t>
            </a:r>
            <a:r>
              <a:rPr b="0" i="0" lang="en-US" sz="1500" u="none" cap="none" strike="noStrike">
                <a:solidFill>
                  <a:srgbClr val="263139"/>
                </a:solidFill>
                <a:latin typeface="Arial"/>
                <a:ea typeface="Arial"/>
                <a:cs typeface="Arial"/>
                <a:sym typeface="Arial"/>
              </a:rPr>
              <a:t> connects a recorded point on one flight to the closest point on a comparison flight. Its length measures the spatial separation between the two flights. Its angle relative to the current flight direction tells a lateral displacement apart from a separation ahead of or behind the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calculated these vectors for clock-shifted flights and for earlier GPS tracks. The axes express eastings and northings in metres, which preserves the geometry of each route rather than reducing the flight to a single number. Each vector is drawn from the same bird's own earlier track.</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Vector angle reveals the direction in which a route is displaced, and vector length reveals the size of the displacement. Together the two values describe the offset of a flight from its own history.</a:t>
            </a:r>
            <a:endParaRPr/>
          </a:p>
        </p:txBody>
      </p:sp>
      <p:pic>
        <p:nvPicPr>
          <p:cNvPr descr="B07_2A.png" id="196" name="Google Shape;196;p10"/>
          <p:cNvPicPr preferRelativeResize="0"/>
          <p:nvPr/>
        </p:nvPicPr>
        <p:blipFill rotWithShape="1">
          <a:blip r:embed="rId3">
            <a:alphaModFix/>
          </a:blip>
          <a:srcRect b="0" l="0" r="0" t="0"/>
          <a:stretch/>
        </p:blipFill>
        <p:spPr>
          <a:xfrm>
            <a:off x="6738290" y="1280160"/>
            <a:ext cx="4652313" cy="4297679"/>
          </a:xfrm>
          <a:prstGeom prst="rect">
            <a:avLst/>
          </a:prstGeom>
          <a:noFill/>
          <a:ln>
            <a:noFill/>
          </a:ln>
        </p:spPr>
      </p:pic>
      <p:sp>
        <p:nvSpPr>
          <p:cNvPr id="197" name="Google Shape;197;p10"/>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98" name="Google Shape;198;p1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99" name="Google Shape;199;p1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00" name="Google Shape;200;p1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10</a:t>
            </a:r>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05" name="Shape 205"/>
        <p:cNvGrpSpPr/>
        <p:nvPr/>
      </p:nvGrpSpPr>
      <p:grpSpPr>
        <a:xfrm>
          <a:off x="0" y="0"/>
          <a:ext cx="0" cy="0"/>
          <a:chOff x="0" y="0"/>
          <a:chExt cx="0" cy="0"/>
        </a:xfrm>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preserve route shape under clock shift</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occurs when a flight keeps the shape of a previous route while running consistently to one side of it. The bird keeps its route instead of switching to a straight compass-directed flight. Biro and colleagues measured these offsets with route-relative vectors after the clock shift.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clock shift, some highly familiar pigeons followed paths displaced to the anticlockwise side of their former tracks. The route-relative vectors kept this lateral bias, with distances expressed in metres and reference rings at 100, 300 and 500 m. The offsets were consistent across the birds that showed them.</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parallel offset shows that landmark attraction and compass influence act together during the same journey. The bird keeps the sequence of turns that its route requires, while the compass shifts the whole route sideways.</a:t>
            </a:r>
            <a:endParaRPr/>
          </a:p>
        </p:txBody>
      </p:sp>
      <p:pic>
        <p:nvPicPr>
          <p:cNvPr descr="B07_2B.png" id="208" name="Google Shape;208;p11"/>
          <p:cNvPicPr preferRelativeResize="0"/>
          <p:nvPr/>
        </p:nvPicPr>
        <p:blipFill rotWithShape="1">
          <a:blip r:embed="rId3">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17" name="Shape 217"/>
        <p:cNvGrpSpPr/>
        <p:nvPr/>
      </p:nvGrpSpPr>
      <p:grpSpPr>
        <a:xfrm>
          <a:off x="0" y="0"/>
          <a:ext cx="0" cy="0"/>
          <a:chOff x="0" y="0"/>
          <a:chExt cx="0" cy="0"/>
        </a:xfrm>
      </p:grpSpPr>
      <p:sp>
        <p:nvSpPr>
          <p:cNvPr id="218" name="Google Shape;218;p1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same manipulation produces different individual routes</a:t>
            </a:r>
            <a:endParaRPr/>
          </a:p>
        </p:txBody>
      </p:sp>
      <p:sp>
        <p:nvSpPr>
          <p:cNvPr id="219" name="Google Shape;219;p1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Group averages can hide distinct individual responses to conflicting cues. In Biro and colleagues' experiment, each highly familiar pigeon's final training flights were paired with its single clock-shifted test flight. Comparing each bird with itself allows retention and disruption of route shape to be seen side by side.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Some shifted pigeons deviated prominently from the learned corridor, some followed parallel offsets, and others reproduced their earlier route closely. The published tracks were rotated to a common reference direction, so the three response types can be read on the same map.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Three different responses to the same clock shift appear among individual birds from one site. Each bird's response depends on how strongly its route is learned.</a:t>
            </a:r>
            <a:endParaRPr/>
          </a:p>
        </p:txBody>
      </p:sp>
      <p:pic>
        <p:nvPicPr>
          <p:cNvPr descr="B07_3.png" id="220" name="Google Shape;220;p12"/>
          <p:cNvPicPr preferRelativeResize="0"/>
          <p:nvPr/>
        </p:nvPicPr>
        <p:blipFill rotWithShape="1">
          <a:blip r:embed="rId3">
            <a:alphaModFix/>
          </a:blip>
          <a:srcRect b="0" l="0" r="0" t="0"/>
          <a:stretch/>
        </p:blipFill>
        <p:spPr>
          <a:xfrm>
            <a:off x="7667227" y="1280160"/>
            <a:ext cx="2794438" cy="4297679"/>
          </a:xfrm>
          <a:prstGeom prst="rect">
            <a:avLst/>
          </a:prstGeom>
          <a:noFill/>
          <a:ln>
            <a:noFill/>
          </a:ln>
        </p:spPr>
      </p:pic>
      <p:sp>
        <p:nvSpPr>
          <p:cNvPr id="221" name="Google Shape;221;p1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3A–B. Individual homing tracks before and after clock shift.</a:t>
            </a:r>
            <a:endParaRPr/>
          </a:p>
        </p:txBody>
      </p:sp>
      <p:sp>
        <p:nvSpPr>
          <p:cNvPr id="222" name="Google Shape;222;p1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23" name="Google Shape;223;p1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24" name="Google Shape;224;p1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12</a:t>
            </a:r>
            <a:endParaRPr/>
          </a:p>
        </p:txBody>
      </p:sp>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29" name="Shape 229"/>
        <p:cNvGrpSpPr/>
        <p:nvPr/>
      </p:nvGrpSpPr>
      <p:grpSpPr>
        <a:xfrm>
          <a:off x="0" y="0"/>
          <a:ext cx="0" cy="0"/>
          <a:chOff x="0" y="0"/>
          <a:chExt cx="0" cy="0"/>
        </a:xfrm>
      </p:grpSpPr>
      <p:sp>
        <p:nvSpPr>
          <p:cNvPr id="230" name="Google Shape;230;p1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Compass effects can emerge after departure</a:t>
            </a:r>
            <a:endParaRPr/>
          </a:p>
        </p:txBody>
      </p:sp>
      <p:sp>
        <p:nvSpPr>
          <p:cNvPr id="231" name="Google Shape;231;p1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initial departure bearing</a:t>
            </a:r>
            <a:r>
              <a:rPr b="0" i="0" lang="en-US" sz="1500" u="none" cap="none" strike="noStrike">
                <a:solidFill>
                  <a:srgbClr val="263139"/>
                </a:solidFill>
                <a:latin typeface="Arial"/>
                <a:ea typeface="Arial"/>
                <a:cs typeface="Arial"/>
                <a:sym typeface="Arial"/>
              </a:rPr>
              <a:t> records the first portion of a homing journey. Landmark and compass influences can change after a bird has already entered a familiar corridor. A bird that leaves in the correct direction can still deviate later, and a bird that leaves poorly can recover.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At Weston Wood, some highly familiar pigeons initially reproduced their route after clock shift and deviated later. Complete GPS trajectories retained this delayed effect. A bearing taken only as the bird left the release site would have recorded the early part of the flight and missed the later deviation.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timing of a deviation is therefore part of the measured response. A bird's heading can shift several minutes into the flight, and the complete track is what records the moment of the shift.</a:t>
            </a:r>
            <a:endParaRPr/>
          </a:p>
        </p:txBody>
      </p:sp>
      <p:pic>
        <p:nvPicPr>
          <p:cNvPr descr="B07_4.png" id="232" name="Google Shape;232;p13"/>
          <p:cNvPicPr preferRelativeResize="0"/>
          <p:nvPr/>
        </p:nvPicPr>
        <p:blipFill rotWithShape="1">
          <a:blip r:embed="rId3">
            <a:alphaModFix/>
          </a:blip>
          <a:srcRect b="0" l="0" r="0" t="0"/>
          <a:stretch/>
        </p:blipFill>
        <p:spPr>
          <a:xfrm>
            <a:off x="7336121" y="1280160"/>
            <a:ext cx="3456652" cy="4297679"/>
          </a:xfrm>
          <a:prstGeom prst="rect">
            <a:avLst/>
          </a:prstGeom>
          <a:noFill/>
          <a:ln>
            <a:noFill/>
          </a:ln>
        </p:spPr>
      </p:pic>
      <p:sp>
        <p:nvSpPr>
          <p:cNvPr id="233" name="Google Shape;233;p1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4. Weston Wood routes before and after clock shift.</a:t>
            </a:r>
            <a:endParaRPr/>
          </a:p>
        </p:txBody>
      </p:sp>
      <p:sp>
        <p:nvSpPr>
          <p:cNvPr id="234" name="Google Shape;234;p1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35" name="Google Shape;235;p1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36" name="Google Shape;236;p1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13</a:t>
            </a:r>
            <a:endParaRPr/>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41" name="Shape 241"/>
        <p:cNvGrpSpPr/>
        <p:nvPr/>
      </p:nvGrpSpPr>
      <p:grpSpPr>
        <a:xfrm>
          <a:off x="0" y="0"/>
          <a:ext cx="0" cy="0"/>
          <a:chOff x="0" y="0"/>
          <a:chExt cx="0" cy="0"/>
        </a:xfrm>
      </p:grpSpPr>
      <p:sp>
        <p:nvSpPr>
          <p:cNvPr id="242" name="Google Shape;242;p1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Familiar navigation combines guidance systems</a:t>
            </a:r>
            <a:endParaRPr/>
          </a:p>
        </p:txBody>
      </p:sp>
      <p:sp>
        <p:nvSpPr>
          <p:cNvPr id="243" name="Google Shape;243;p1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Multimodal navigation</a:t>
            </a:r>
            <a:r>
              <a:rPr b="0" i="0" lang="en-US" sz="1500" u="none" cap="none" strike="noStrike">
                <a:solidFill>
                  <a:srgbClr val="263139"/>
                </a:solidFill>
                <a:latin typeface="Arial"/>
                <a:ea typeface="Arial"/>
                <a:cs typeface="Arial"/>
                <a:sym typeface="Arial"/>
              </a:rPr>
              <a:t> uses information from more than one sensory system. On familiar pigeon routes, visual landmarks constrain movement while a time-dependent compass continues to influence heading. A recognized landscape keeps the bird close to its route even when the compass signal conflicts with it.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4 h clock shift produced individual displacement vectors ranging from little route change to pronounced lateral offsets. Many highly familiar birds stayed close to their previous tracks despite the shift. The spread of vectors across birds is the main result of the figure.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Individual birds respond to the same clock shift with very different route changes. The size of each change depends on how familiar the bird is with the landmarks along its route.</a:t>
            </a:r>
            <a:endParaRPr/>
          </a:p>
        </p:txBody>
      </p:sp>
      <p:pic>
        <p:nvPicPr>
          <p:cNvPr descr="B07_2D.png" id="244" name="Google Shape;244;p14"/>
          <p:cNvPicPr preferRelativeResize="0"/>
          <p:nvPr/>
        </p:nvPicPr>
        <p:blipFill rotWithShape="1">
          <a:blip r:embed="rId3">
            <a:alphaModFix/>
          </a:blip>
          <a:srcRect b="0" l="0" r="0" t="0"/>
          <a:stretch/>
        </p:blipFill>
        <p:spPr>
          <a:xfrm>
            <a:off x="6646270" y="1280160"/>
            <a:ext cx="4836353" cy="4297679"/>
          </a:xfrm>
          <a:prstGeom prst="rect">
            <a:avLst/>
          </a:prstGeom>
          <a:noFill/>
          <a:ln>
            <a:noFill/>
          </a:ln>
        </p:spPr>
      </p:pic>
      <p:sp>
        <p:nvSpPr>
          <p:cNvPr id="245" name="Google Shape;245;p1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2D. Individual route displacement after clock shift.</a:t>
            </a:r>
            <a:endParaRPr/>
          </a:p>
        </p:txBody>
      </p:sp>
      <p:sp>
        <p:nvSpPr>
          <p:cNvPr id="246" name="Google Shape;246;p1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47" name="Google Shape;247;p1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48" name="Google Shape;248;p1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14</a:t>
            </a:r>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53" name="Shape 253"/>
        <p:cNvGrpSpPr/>
        <p:nvPr/>
      </p:nvGrpSpPr>
      <p:grpSpPr>
        <a:xfrm>
          <a:off x="0" y="0"/>
          <a:ext cx="0" cy="0"/>
          <a:chOff x="0" y="0"/>
          <a:chExt cx="0" cy="0"/>
        </a:xfrm>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treatments separate information from activation</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environmental odor information to estimate position relative to home.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that smelling unfamiliar odors enables navigation based on other cues, even when the odors carry no location information. The two accounts make different predictions about which odors matter.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plus artificial plant odors. Artificial odor puffs were supplied about every 20 min during transport and while the birds waited at the release site. Each group carried a different odor history into the release.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natural air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t>
            </a:r>
            <a:endParaRPr/>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65" name="Shape 265"/>
        <p:cNvGrpSpPr/>
        <p:nvPr/>
      </p:nvGrpSpPr>
      <p:grpSpPr>
        <a:xfrm>
          <a:off x="0" y="0"/>
          <a:ext cx="0" cy="0"/>
          <a:chOff x="0" y="0"/>
          <a:chExt cx="0" cy="0"/>
        </a:xfrm>
      </p:grpSpPr>
      <p:sp>
        <p:nvSpPr>
          <p:cNvPr id="266" name="Google Shape;266;p1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Temporary anosmia restricts access to new flight odors</a:t>
            </a:r>
            <a:endParaRPr/>
          </a:p>
        </p:txBody>
      </p:sp>
      <p:sp>
        <p:nvSpPr>
          <p:cNvPr id="267" name="Google Shape;267;p1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Anosmia</a:t>
            </a:r>
            <a:r>
              <a:rPr b="0" i="0" lang="en-US" sz="1500" u="none" cap="none" strike="noStrike">
                <a:solidFill>
                  <a:srgbClr val="263139"/>
                </a:solidFill>
                <a:latin typeface="Arial"/>
                <a:ea typeface="Arial"/>
                <a:cs typeface="Arial"/>
                <a:sym typeface="Arial"/>
              </a:rPr>
              <a:t> is loss of the ability to smell. Gagliardo and colleagues anesthetized the olfactory mucosa, the nasal tissue that detects odors, with Xylocaine immediately before release. The same treatment was applied to all three air-exposure groups, so the groups differ only in their earlier odor history.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had already experienced natural air, filtered air or artificial odors during transport and before takeoff. Release occurred at sites 53 km and 61 km from home. The shared nasal treatment reduced new odor sampling during early flight, so the groups' odor histories are compared in isolation.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New odor sampling was limited during early flight in every group. The anesthetic wears off during the journey, so the later part of each track reflects the return of smell.</a:t>
            </a:r>
            <a:endParaRPr/>
          </a:p>
        </p:txBody>
      </p:sp>
      <p:pic>
        <p:nvPicPr>
          <p:cNvPr descr="G11_1.png" id="268" name="Google Shape;268;p16"/>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69" name="Google Shape;269;p16"/>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70" name="Google Shape;270;p1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71" name="Google Shape;271;p1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72" name="Google Shape;272;p1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16</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77" name="Shape 277"/>
        <p:cNvGrpSpPr/>
        <p:nvPr/>
      </p:nvGrpSpPr>
      <p:grpSpPr>
        <a:xfrm>
          <a:off x="0" y="0"/>
          <a:ext cx="0" cy="0"/>
          <a:chOff x="0" y="0"/>
          <a:chExt cx="0" cy="0"/>
        </a:xfrm>
      </p:grpSpPr>
      <p:sp>
        <p:nvSpPr>
          <p:cNvPr id="278" name="Google Shape;278;p1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Natural environmental odors support early homing</a:t>
            </a:r>
            <a:endParaRPr/>
          </a:p>
        </p:txBody>
      </p:sp>
      <p:sp>
        <p:nvSpPr>
          <p:cNvPr id="279" name="Google Shape;279;p1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useful odor treatment must improve navigation, not merely induce movement. Gagliardo and colleagues recorded GPS tracks at 1 Hz after releasing pigeons exposed to different air conditions. The same temporary nasal anesthesia was applied across groups, so the tracks can be compared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Control birds exposed to intact environmental odors showed better homeward movement during the first hour. Filtered-air and artificial-odor birds navigated more poorly at the start of the flight. Artificial odors provided repeated olfactory stimulation, yet they did not restore the homeward performance of the controls.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environmental odors therefore carry information that the bird uses for early homing. The odor mixture of a place sets the direction a bird takes at departure.</a:t>
            </a:r>
            <a:endParaRPr/>
          </a:p>
        </p:txBody>
      </p:sp>
      <p:pic>
        <p:nvPicPr>
          <p:cNvPr descr="G11_1.png" id="280" name="Google Shape;280;p17"/>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281" name="Google Shape;281;p17"/>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82" name="Google Shape;282;p1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83" name="Google Shape;283;p1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84" name="Google Shape;284;p1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17</a:t>
            </a:r>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289" name="Shape 289"/>
        <p:cNvGrpSpPr/>
        <p:nvPr/>
      </p:nvGrpSpPr>
      <p:grpSpPr>
        <a:xfrm>
          <a:off x="0" y="0"/>
          <a:ext cx="0" cy="0"/>
          <a:chOff x="0" y="0"/>
          <a:chExt cx="0" cy="0"/>
        </a:xfrm>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Artificial odors do not restore navigational information</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Artificial odors</a:t>
            </a:r>
            <a:r>
              <a:rPr b="0" i="0" lang="en-US" sz="1500" u="none" cap="none" strike="noStrike">
                <a:solidFill>
                  <a:srgbClr val="263139"/>
                </a:solidFill>
                <a:latin typeface="Arial"/>
                <a:ea typeface="Arial"/>
                <a:cs typeface="Arial"/>
                <a:sym typeface="Arial"/>
              </a:rPr>
              <a:t> can stimulate olfactory receptors without reproducing the natural relationship between odor mixtures and geographical position. In Gagliardo and colleagues' experiment, plant odors were delivered in filtered air during transport and during the pre-release waiting period. Stimulation was therefore present, but the spatial pattern was absent.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artificial-odor group matched the controls exposed to environmental air at neither the 53 km nor the 61 km release site. Its GPS tracks often remained tortuous or near the release point, rather than progressing reliably toward home. The artificial-odor birds made less progress toward home than the controls.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Stimulating the nose alone leaves the homing route unorganized. A bird needs odors that vary with position, and artificial plant odors lacked that variation in this experiment.</a:t>
            </a:r>
            <a:endParaRPr/>
          </a:p>
        </p:txBody>
      </p:sp>
      <p:pic>
        <p:nvPicPr>
          <p:cNvPr descr="G11_2.png" id="292" name="Google Shape;292;p18"/>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t>
            </a:r>
            <a:endParaRPr/>
          </a:p>
        </p:txBody>
      </p:sp>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01" name="Shape 301"/>
        <p:cNvGrpSpPr/>
        <p:nvPr/>
      </p:nvGrpSpPr>
      <p:grpSpPr>
        <a:xfrm>
          <a:off x="0" y="0"/>
          <a:ext cx="0" cy="0"/>
          <a:chOff x="0" y="0"/>
          <a:chExt cx="0" cy="0"/>
        </a:xfrm>
      </p:grpSpPr>
      <p:sp>
        <p:nvSpPr>
          <p:cNvPr id="302" name="Google Shape;302;p1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Route tortuosity separates travel from homeward progress</a:t>
            </a:r>
            <a:endParaRPr/>
          </a:p>
        </p:txBody>
      </p:sp>
      <p:sp>
        <p:nvSpPr>
          <p:cNvPr id="303" name="Google Shape;303;p1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Tortuosity</a:t>
            </a:r>
            <a:r>
              <a:rPr b="0" i="0" lang="en-US" sz="1500" u="none" cap="none" strike="noStrike">
                <a:solidFill>
                  <a:srgbClr val="263139"/>
                </a:solidFill>
                <a:latin typeface="Arial"/>
                <a:ea typeface="Arial"/>
                <a:cs typeface="Arial"/>
                <a:sym typeface="Arial"/>
              </a:rPr>
              <a:t> describes how winding a path is relative to its net displacement. A pigeon can remain actively flying while making little progress toward home. Total movement and homeward progress are two measures, and the odor results are reported for both.</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analyzed first-hour flight after releases 53 km and 61 km from the loft. Artificial-odor birds had more tortuous paths and reduced homeward progress than controls. The filtered-air group fell between the two, with paths that were less tortuous than the artificial-odor group's paths.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Winding paths with little progress indicate a failure to orient, while straight paths toward home indicate successful orientation. The measure tells these two outcomes apart for each individual track.</a:t>
            </a:r>
            <a:endParaRPr/>
          </a:p>
        </p:txBody>
      </p:sp>
      <p:pic>
        <p:nvPicPr>
          <p:cNvPr descr="G11_2.png" id="304" name="Google Shape;304;p19"/>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05" name="Google Shape;305;p1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06" name="Google Shape;306;p1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07" name="Google Shape;307;p1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08" name="Google Shape;308;p1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19</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13" name="Shape 313"/>
        <p:cNvGrpSpPr/>
        <p:nvPr/>
      </p:nvGrpSpPr>
      <p:grpSpPr>
        <a:xfrm>
          <a:off x="0" y="0"/>
          <a:ext cx="0" cy="0"/>
          <a:chOff x="0" y="0"/>
          <a:chExt cx="0" cy="0"/>
        </a:xfrm>
      </p:grpSpPr>
      <p:sp>
        <p:nvSpPr>
          <p:cNvPr id="314" name="Google Shape;314;p2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Distance remaining provides a separate homing measure</a:t>
            </a:r>
            <a:endParaRPr/>
          </a:p>
        </p:txBody>
      </p:sp>
      <p:sp>
        <p:nvSpPr>
          <p:cNvPr id="315" name="Google Shape;315;p2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distance remaining</a:t>
            </a:r>
            <a:r>
              <a:rPr b="0" i="0" lang="en-US" sz="1500" u="none" cap="none" strike="noStrike">
                <a:solidFill>
                  <a:srgbClr val="263139"/>
                </a:solidFill>
                <a:latin typeface="Arial"/>
                <a:ea typeface="Arial"/>
                <a:cs typeface="Arial"/>
                <a:sym typeface="Arial"/>
              </a:rPr>
              <a:t> to the loft measures progress toward the goal, independent of the total path length. A wandering bird may accumulate a long flight without reducing this distance, whereas a directed flight reduces it steadily. Gagliardo and colleagues used this measure alongside the tortuosity values.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One hour after the 53 km release, median distances from home were 29.9 km for controls, 43.8 km for filtered-air birds and 53.5 km for artificial-odor birds. Every group received the same immediate pre-release nasal anesthesia, so the three values reflect differences in odor history.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control birds had covered the largest share of the distance to home by the end of the first hour. The artificial-odor birds had covered the least, and their median distance remained close to the starting distance.</a:t>
            </a:r>
            <a:endParaRPr/>
          </a:p>
        </p:txBody>
      </p:sp>
      <p:pic>
        <p:nvPicPr>
          <p:cNvPr descr="G11_1.png" id="316" name="Google Shape;316;p20"/>
          <p:cNvPicPr preferRelativeResize="0"/>
          <p:nvPr/>
        </p:nvPicPr>
        <p:blipFill rotWithShape="1">
          <a:blip r:embed="rId3">
            <a:alphaModFix/>
          </a:blip>
          <a:srcRect b="0" l="0" r="0" t="0"/>
          <a:stretch/>
        </p:blipFill>
        <p:spPr>
          <a:xfrm>
            <a:off x="6504127" y="1280160"/>
            <a:ext cx="5120640" cy="3159058"/>
          </a:xfrm>
          <a:prstGeom prst="rect">
            <a:avLst/>
          </a:prstGeom>
          <a:noFill/>
          <a:ln>
            <a:noFill/>
          </a:ln>
        </p:spPr>
      </p:pic>
      <p:sp>
        <p:nvSpPr>
          <p:cNvPr id="317" name="Google Shape;317;p20"/>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318" name="Google Shape;318;p2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19" name="Google Shape;319;p2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20" name="Google Shape;320;p2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20</a:t>
            </a:r>
            <a:endParaRPr/>
          </a:p>
        </p:txBody>
      </p:sp>
    </p:spTree>
  </p:cSld>
  <p:clrMapOvr>
    <a:masterClrMapping/>
  </p:clrMapOvr>
</p:sld>
</file>

<file path=ppt/slides/slide2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25" name="Shape 325"/>
        <p:cNvGrpSpPr/>
        <p:nvPr/>
      </p:nvGrpSpPr>
      <p:grpSpPr>
        <a:xfrm>
          <a:off x="0" y="0"/>
          <a:ext cx="0" cy="0"/>
          <a:chOff x="0" y="0"/>
          <a:chExt cx="0" cy="0"/>
        </a:xfrm>
      </p:grpSpPr>
      <p:sp>
        <p:nvSpPr>
          <p:cNvPr id="326" name="Google Shape;326;p2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Long tracks reveal recovery and persistent impairment</a:t>
            </a:r>
            <a:endParaRPr/>
          </a:p>
        </p:txBody>
      </p:sp>
      <p:sp>
        <p:nvSpPr>
          <p:cNvPr id="327" name="Google Shape;327;p2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manipulation can decay during a journey, so time is a variable in the result. Gagliardo and colleagues distinguished the first, second and third hours of GPS tracking. Nasal anesthesia was not assumed to remain equally effective throughout the flight.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Some filtered-air pigeons improved their homeward orientation after the earliest period, consistent with access to natural odors after recovery. Artificial-odor pigeons remained impaired in broader portions of their tracks. The published paths show the same pattern across the three hours.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Recovery of orientation over time shows that the odor deficit is not fixed at departure. Birds can regain the ability to navigate homeward as the nasal block wears off.</a:t>
            </a:r>
            <a:endParaRPr/>
          </a:p>
        </p:txBody>
      </p:sp>
      <p:pic>
        <p:nvPicPr>
          <p:cNvPr descr="G11_2.png" id="328" name="Google Shape;328;p21"/>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29" name="Google Shape;329;p2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30" name="Google Shape;330;p2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31" name="Google Shape;331;p2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32" name="Google Shape;332;p2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21</a:t>
            </a:r>
            <a:endParaRPr/>
          </a:p>
        </p:txBody>
      </p:sp>
    </p:spTree>
  </p:cSld>
  <p:clrMapOvr>
    <a:masterClrMapping/>
  </p:clrMapOvr>
</p:sld>
</file>

<file path=ppt/slides/slide2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37" name="Shape 337"/>
        <p:cNvGrpSpPr/>
        <p:nvPr/>
      </p:nvGrpSpPr>
      <p:grpSpPr>
        <a:xfrm>
          <a:off x="0" y="0"/>
          <a:ext cx="0" cy="0"/>
          <a:chOff x="0" y="0"/>
          <a:chExt cx="0" cy="0"/>
        </a:xfrm>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Short departures can conceal later navigation failure</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direction recorded when a released bird disappears from direct observation. It measures the early departure, whereas a complete GPS track includes later circling, stopping, course correction and progress toward home. Gagliardo and colleagues compared bearings with complete tracks for the same birds.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Bearings inferred from early track sections did not fully capture the deficits evident over the first hour and beyond. At the 53 km release, artificial-odor birds could depart in a set direction and then make little homeward progress. The full track showed a deficit that the departure alone did not show.</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leave in a reasonable direction and then fail to make progress. The full track is needed to see that failure.</a:t>
            </a:r>
            <a:endParaRPr/>
          </a:p>
        </p:txBody>
      </p:sp>
      <p:pic>
        <p:nvPicPr>
          <p:cNvPr descr="G11_2.png" id="340" name="Google Shape;340;p22"/>
          <p:cNvPicPr preferRelativeResize="0"/>
          <p:nvPr/>
        </p:nvPicPr>
        <p:blipFill rotWithShape="1">
          <a:blip r:embed="rId3">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t>
            </a:r>
            <a:endParaRPr/>
          </a:p>
        </p:txBody>
      </p:sp>
    </p:spTree>
  </p:cSld>
  <p:clrMapOvr>
    <a:masterClrMapping/>
  </p:clrMapOvr>
</p:sld>
</file>

<file path=ppt/slides/slide2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49" name="Shape 349"/>
        <p:cNvGrpSpPr/>
        <p:nvPr/>
      </p:nvGrpSpPr>
      <p:grpSpPr>
        <a:xfrm>
          <a:off x="0" y="0"/>
          <a:ext cx="0" cy="0"/>
          <a:chOff x="0" y="0"/>
          <a:chExt cx="0" cy="0"/>
        </a:xfrm>
      </p:grpSpPr>
      <p:sp>
        <p:nvSpPr>
          <p:cNvPr id="350" name="Google Shape;350;p2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Odor experiments test distinct behavioral preparations</a:t>
            </a:r>
            <a:endParaRPr/>
          </a:p>
        </p:txBody>
      </p:sp>
      <p:sp>
        <p:nvSpPr>
          <p:cNvPr id="351" name="Google Shape;351;p2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Path integration</a:t>
            </a:r>
            <a:r>
              <a:rPr b="0" i="0" lang="en-US" sz="1500" u="none" cap="none" strike="noStrike">
                <a:solidFill>
                  <a:srgbClr val="263139"/>
                </a:solidFill>
                <a:latin typeface="Arial"/>
                <a:ea typeface="Arial"/>
                <a:cs typeface="Arial"/>
                <a:sym typeface="Arial"/>
              </a:rPr>
              <a:t> estimates displacement from information gathered during movement, and it differs from a learned environmental map. Jorge and colleagues studied young pigeons 7–8 weeks old during displacement or simulated displacement. Gagliardo and colleagues instead assessed complete homing tracks after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Jorge and colleagues compared natural odors, artificial odors and filtered air, including birds exposed at the home loft rather than during transport. They measured activity-related gene expression in the forebrain after each treatment. The sampled subdivisions of the pigeon hippocampal formation were defined from the same sections.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two studies use different behavioral preparations, and each produces its own pattern of forebrain activity. Displacement and homing flight each produce a distinct pattern of forebrain activity.</a:t>
            </a:r>
            <a:endParaRPr/>
          </a:p>
        </p:txBody>
      </p:sp>
      <p:pic>
        <p:nvPicPr>
          <p:cNvPr descr="J14_1e.png" id="352" name="Google Shape;352;p23"/>
          <p:cNvPicPr preferRelativeResize="0"/>
          <p:nvPr/>
        </p:nvPicPr>
        <p:blipFill rotWithShape="1">
          <a:blip r:embed="rId3">
            <a:alphaModFix/>
          </a:blip>
          <a:srcRect b="0" l="0" r="0" t="0"/>
          <a:stretch/>
        </p:blipFill>
        <p:spPr>
          <a:xfrm>
            <a:off x="7391304" y="1280160"/>
            <a:ext cx="3346285" cy="4297679"/>
          </a:xfrm>
          <a:prstGeom prst="rect">
            <a:avLst/>
          </a:prstGeom>
          <a:noFill/>
          <a:ln>
            <a:noFill/>
          </a:ln>
        </p:spPr>
      </p:pic>
      <p:sp>
        <p:nvSpPr>
          <p:cNvPr id="353" name="Google Shape;353;p2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1e. Sampled subdivisions of the pigeon hippocampal formation.</a:t>
            </a:r>
            <a:endParaRPr/>
          </a:p>
        </p:txBody>
      </p:sp>
      <p:sp>
        <p:nvSpPr>
          <p:cNvPr id="354" name="Google Shape;354;p2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55" name="Google Shape;355;p2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 Gagliardo et al. (2011)</a:t>
            </a:r>
            <a:endParaRPr/>
          </a:p>
        </p:txBody>
      </p:sp>
      <p:sp>
        <p:nvSpPr>
          <p:cNvPr id="356" name="Google Shape;356;p2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23</a:t>
            </a:r>
            <a:endParaRPr/>
          </a:p>
        </p:txBody>
      </p:sp>
    </p:spTree>
  </p:cSld>
  <p:clrMapOvr>
    <a:masterClrMapping/>
  </p:clrMapOvr>
</p:sld>
</file>

<file path=ppt/slides/slide2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61" name="Shape 361"/>
        <p:cNvGrpSpPr/>
        <p:nvPr/>
      </p:nvGrpSpPr>
      <p:grpSpPr>
        <a:xfrm>
          <a:off x="0" y="0"/>
          <a:ext cx="0" cy="0"/>
          <a:chOff x="0" y="0"/>
          <a:chExt cx="0" cy="0"/>
        </a:xfrm>
      </p:grpSpPr>
      <p:sp>
        <p:nvSpPr>
          <p:cNvPr id="362" name="Google Shape;362;p2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labeling measures accumulated neuronal activation</a:t>
            </a:r>
            <a:endParaRPr/>
          </a:p>
        </p:txBody>
      </p:sp>
      <p:sp>
        <p:nvSpPr>
          <p:cNvPr id="363" name="Google Shape;363;p24"/>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c-Fos</a:t>
            </a:r>
            <a:r>
              <a:rPr b="0" i="0" lang="en-US" sz="1500" u="none" cap="none" strike="noStrike">
                <a:solidFill>
                  <a:srgbClr val="263139"/>
                </a:solidFill>
                <a:latin typeface="Arial"/>
                <a:ea typeface="Arial"/>
                <a:cs typeface="Arial"/>
                <a:sym typeface="Arial"/>
              </a:rPr>
              <a:t> is an activity-related gene product whose expression marks recent neuronal activation. </a:t>
            </a:r>
            <a:r>
              <a:rPr b="1" i="0" lang="en-US" sz="1500" u="none" cap="none" strike="noStrike">
                <a:solidFill>
                  <a:srgbClr val="48545B"/>
                </a:solidFill>
                <a:latin typeface="Arial"/>
                <a:ea typeface="Arial"/>
                <a:cs typeface="Arial"/>
                <a:sym typeface="Arial"/>
              </a:rPr>
              <a:t>Immunoreactive nuclei</a:t>
            </a:r>
            <a:r>
              <a:rPr b="0" i="0" lang="en-US" sz="1500" u="none" cap="none" strike="noStrike">
                <a:solidFill>
                  <a:srgbClr val="263139"/>
                </a:solidFill>
                <a:latin typeface="Arial"/>
                <a:ea typeface="Arial"/>
                <a:cs typeface="Arial"/>
                <a:sym typeface="Arial"/>
              </a:rPr>
              <a:t> are cells detected by antibody labeling. Their density provides a regional index of activity accumulated over time, rather than an instantaneous record of action potentials.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Jorge and colleagues collected pigeon brains 1–2 h after the odor manipulation and counted c-Fos-labeled nuclei per square millimetre. The sampled regions included the hippocampal formation, olfactory bulb and piriform cortex. Each region gives its own count for each treatment group.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regional density reflects the activity of many cells at once. The counts show where activity accumulated across the sampled tissue, which is a different measure from the firing of any single neuron.</a:t>
            </a:r>
            <a:endParaRPr/>
          </a:p>
        </p:txBody>
      </p:sp>
      <p:pic>
        <p:nvPicPr>
          <p:cNvPr descr="J14_3.png" id="364" name="Google Shape;364;p24"/>
          <p:cNvPicPr preferRelativeResize="0"/>
          <p:nvPr/>
        </p:nvPicPr>
        <p:blipFill rotWithShape="1">
          <a:blip r:embed="rId3">
            <a:alphaModFix/>
          </a:blip>
          <a:srcRect b="0" l="0" r="0" t="0"/>
          <a:stretch/>
        </p:blipFill>
        <p:spPr>
          <a:xfrm>
            <a:off x="6321247" y="1280160"/>
            <a:ext cx="3291840" cy="3433139"/>
          </a:xfrm>
          <a:prstGeom prst="rect">
            <a:avLst/>
          </a:prstGeom>
          <a:noFill/>
          <a:ln>
            <a:noFill/>
          </a:ln>
        </p:spPr>
      </p:pic>
      <p:sp>
        <p:nvSpPr>
          <p:cNvPr id="365" name="Google Shape;365;p24"/>
          <p:cNvSpPr txBox="1"/>
          <p:nvPr/>
        </p:nvSpPr>
        <p:spPr>
          <a:xfrm>
            <a:off x="6321247" y="480473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3a–f. Regional c-Fos activation after odor and flight treatments.</a:t>
            </a:r>
            <a:endParaRPr/>
          </a:p>
        </p:txBody>
      </p:sp>
      <p:pic>
        <p:nvPicPr>
          <p:cNvPr descr="J14_1.png" id="366" name="Google Shape;366;p24"/>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67" name="Google Shape;367;p24"/>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68" name="Google Shape;368;p2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69" name="Google Shape;369;p2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70" name="Google Shape;370;p2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24</a:t>
            </a:r>
            <a:endParaRPr/>
          </a:p>
        </p:txBody>
      </p:sp>
    </p:spTree>
  </p:cSld>
  <p:clrMapOvr>
    <a:masterClrMapping/>
  </p:clrMapOvr>
</p:sld>
</file>

<file path=ppt/slides/slide2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75" name="Shape 375"/>
        <p:cNvGrpSpPr/>
        <p:nvPr/>
      </p:nvGrpSpPr>
      <p:grpSpPr>
        <a:xfrm>
          <a:off x="0" y="0"/>
          <a:ext cx="0" cy="0"/>
          <a:chOff x="0" y="0"/>
          <a:chExt cx="0" cy="0"/>
        </a:xfrm>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Non-home odors activate dorsolateral hippocampal tissue</a:t>
            </a:r>
            <a:endParaRPr/>
          </a:p>
        </p:txBody>
      </p:sp>
      <p:sp>
        <p:nvSpPr>
          <p:cNvPr id="377" name="Google Shape;377;p2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dorsolateral hippocampal area</a:t>
            </a:r>
            <a:r>
              <a:rPr b="0" i="0" lang="en-US" sz="15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these regions. The separate measurements show where the forebrain response is strongest.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also produced activation comparable to the displacement groups. The dorsolateral subdivision responded most strongly to the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Non-home odors reach the dorsolateral hippocampus even when the bird has not been moved. The same region responds to the odor without any displacement.</a:t>
            </a:r>
            <a:endParaRPr/>
          </a:p>
        </p:txBody>
      </p:sp>
      <p:pic>
        <p:nvPicPr>
          <p:cNvPr descr="J14_3ef.png" id="378" name="Google Shape;378;p25"/>
          <p:cNvPicPr preferRelativeResize="0"/>
          <p:nvPr/>
        </p:nvPicPr>
        <p:blipFill rotWithShape="1">
          <a:blip r:embed="rId3">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t>
            </a:r>
            <a:endParaRPr/>
          </a:p>
        </p:txBody>
      </p:sp>
    </p:spTree>
  </p:cSld>
  <p:clrMapOvr>
    <a:masterClrMapping/>
  </p:clrMapOvr>
</p:sld>
</file>

<file path=ppt/slides/slide2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389" name="Shape 389"/>
        <p:cNvGrpSpPr/>
        <p:nvPr/>
      </p:nvGrpSpPr>
      <p:grpSpPr>
        <a:xfrm>
          <a:off x="0" y="0"/>
          <a:ext cx="0" cy="0"/>
          <a:chOff x="0" y="0"/>
          <a:chExt cx="0" cy="0"/>
        </a:xfrm>
      </p:grpSpPr>
      <p:sp>
        <p:nvSpPr>
          <p:cNvPr id="390" name="Google Shape;390;p2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Flight and odor exposure have region-specific effects</a:t>
            </a:r>
            <a:endParaRPr/>
          </a:p>
        </p:txBody>
      </p:sp>
      <p:sp>
        <p:nvSpPr>
          <p:cNvPr id="391" name="Google Shape;391;p26"/>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dorsal thalamic nucleus</a:t>
            </a:r>
            <a:r>
              <a:rPr b="0" i="0" lang="en-US" sz="1500" u="none" cap="none" strike="noStrike">
                <a:solidFill>
                  <a:srgbClr val="263139"/>
                </a:solidFill>
                <a:latin typeface="Arial"/>
                <a:ea typeface="Arial"/>
                <a:cs typeface="Arial"/>
                <a:sym typeface="Arial"/>
              </a:rPr>
              <a:t> is a brain region that receives inputs relevant to sensory integration. Jorge and colleagues compared this region with subdivisions of the hippocampal formation, using displacement and simulated displacement to separate movement history from odor treatment. Each region has its own pattern across the two conditions.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Dorsal thalamic c-Fos labeling increased in birds that experienced displacement and homing flight. The hippocampal subdivisions did not all follow the same pattern. The dorsolateral response was particularly strong, while the triangular subdivision responded differently.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Displacement and homing flight engage the thalamus and the hippocampus in different proportions. The same flight therefore produces a different regional profile in each structure.</a:t>
            </a:r>
            <a:endParaRPr/>
          </a:p>
        </p:txBody>
      </p:sp>
      <p:pic>
        <p:nvPicPr>
          <p:cNvPr descr="J14_3cd_final.png" id="392" name="Google Shape;392;p26"/>
          <p:cNvPicPr preferRelativeResize="0"/>
          <p:nvPr/>
        </p:nvPicPr>
        <p:blipFill rotWithShape="1">
          <a:blip r:embed="rId3">
            <a:alphaModFix/>
          </a:blip>
          <a:srcRect b="0" l="0" r="0" t="0"/>
          <a:stretch/>
        </p:blipFill>
        <p:spPr>
          <a:xfrm>
            <a:off x="6321247" y="1280160"/>
            <a:ext cx="3291840" cy="1229748"/>
          </a:xfrm>
          <a:prstGeom prst="rect">
            <a:avLst/>
          </a:prstGeom>
          <a:noFill/>
          <a:ln>
            <a:noFill/>
          </a:ln>
        </p:spPr>
      </p:pic>
      <p:sp>
        <p:nvSpPr>
          <p:cNvPr id="393" name="Google Shape;393;p26"/>
          <p:cNvSpPr txBox="1"/>
          <p:nvPr/>
        </p:nvSpPr>
        <p:spPr>
          <a:xfrm>
            <a:off x="6321247" y="260134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3c–d. Dorsal thalamic and triangular hippocampal activation.</a:t>
            </a:r>
            <a:endParaRPr/>
          </a:p>
        </p:txBody>
      </p:sp>
      <p:pic>
        <p:nvPicPr>
          <p:cNvPr descr="J14_1.png" id="394" name="Google Shape;394;p26"/>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395" name="Google Shape;395;p26"/>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96" name="Google Shape;396;p2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97" name="Google Shape;397;p2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98" name="Google Shape;398;p2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26</a:t>
            </a:r>
            <a:endParaRPr/>
          </a:p>
        </p:txBody>
      </p:sp>
    </p:spTree>
  </p:cSld>
  <p:clrMapOvr>
    <a:masterClrMapping/>
  </p:clrMapOvr>
</p:sld>
</file>

<file path=ppt/slides/slide2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03" name="Shape 403"/>
        <p:cNvGrpSpPr/>
        <p:nvPr/>
      </p:nvGrpSpPr>
      <p:grpSpPr>
        <a:xfrm>
          <a:off x="0" y="0"/>
          <a:ext cx="0" cy="0"/>
          <a:chOff x="0" y="0"/>
          <a:chExt cx="0" cy="0"/>
        </a:xfrm>
      </p:grpSpPr>
      <p:sp>
        <p:nvSpPr>
          <p:cNvPr id="404" name="Google Shape;404;p2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Lateralized activity does not prove a unique odor map</a:t>
            </a:r>
            <a:endParaRPr/>
          </a:p>
        </p:txBody>
      </p:sp>
      <p:sp>
        <p:nvSpPr>
          <p:cNvPr id="405" name="Google Shape;405;p27"/>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Lateralization</a:t>
            </a:r>
            <a:r>
              <a:rPr b="0" i="0" lang="en-US" sz="1500" u="none" cap="none" strike="noStrike">
                <a:solidFill>
                  <a:srgbClr val="263139"/>
                </a:solidFill>
                <a:latin typeface="Arial"/>
                <a:ea typeface="Arial"/>
                <a:cs typeface="Arial"/>
                <a:sym typeface="Arial"/>
              </a:rPr>
              <a:t> is a difference in function or activity between the left and right sides of the brain. Jorge and colleagues counted c-Fos-labeled nuclei separately in each hemisphere after odor exposure and homing. The counts were kept apart rather than pooled across both sides.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Olfactory treatments affected the hemispheric pattern in the olfactory bulb, the piriform cortex and the hippocampal subdivisions. Dorsolateral and dorsomedial hippocampal responses were consistent with a larger contribution from left-sided tissue to these odor responses.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Left-sided hippocampal tissue responds more strongly to the odor treatments in this experiment. The difference between sides is one of the measured features of the response.</a:t>
            </a:r>
            <a:endParaRPr/>
          </a:p>
        </p:txBody>
      </p:sp>
      <p:pic>
        <p:nvPicPr>
          <p:cNvPr descr="J14_4.png" id="406" name="Google Shape;406;p27"/>
          <p:cNvPicPr preferRelativeResize="0"/>
          <p:nvPr/>
        </p:nvPicPr>
        <p:blipFill rotWithShape="1">
          <a:blip r:embed="rId3">
            <a:alphaModFix/>
          </a:blip>
          <a:srcRect b="0" l="0" r="0" t="0"/>
          <a:stretch/>
        </p:blipFill>
        <p:spPr>
          <a:xfrm>
            <a:off x="6321247" y="1280160"/>
            <a:ext cx="3291840" cy="803988"/>
          </a:xfrm>
          <a:prstGeom prst="rect">
            <a:avLst/>
          </a:prstGeom>
          <a:noFill/>
          <a:ln>
            <a:noFill/>
          </a:ln>
        </p:spPr>
      </p:pic>
      <p:sp>
        <p:nvSpPr>
          <p:cNvPr id="407" name="Google Shape;407;p27"/>
          <p:cNvSpPr txBox="1"/>
          <p:nvPr/>
        </p:nvSpPr>
        <p:spPr>
          <a:xfrm>
            <a:off x="6321247" y="2175588"/>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4a–e. Left and right forebrain activation in birds that flew home.</a:t>
            </a:r>
            <a:endParaRPr/>
          </a:p>
        </p:txBody>
      </p:sp>
      <p:pic>
        <p:nvPicPr>
          <p:cNvPr descr="J14_1.png" id="408" name="Google Shape;408;p27"/>
          <p:cNvPicPr preferRelativeResize="0"/>
          <p:nvPr/>
        </p:nvPicPr>
        <p:blipFill rotWithShape="1">
          <a:blip r:embed="rId4">
            <a:alphaModFix/>
          </a:blip>
          <a:srcRect b="0" l="0" r="0" t="0"/>
          <a:stretch/>
        </p:blipFill>
        <p:spPr>
          <a:xfrm>
            <a:off x="9795967" y="2148840"/>
            <a:ext cx="1828799" cy="1211193"/>
          </a:xfrm>
          <a:prstGeom prst="rect">
            <a:avLst/>
          </a:prstGeom>
          <a:noFill/>
          <a:ln>
            <a:noFill/>
          </a:ln>
        </p:spPr>
      </p:pic>
      <p:sp>
        <p:nvSpPr>
          <p:cNvPr id="409" name="Google Shape;409;p27"/>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410" name="Google Shape;410;p2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11" name="Google Shape;411;p2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412" name="Google Shape;412;p2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27</a:t>
            </a:r>
            <a:endParaRPr/>
          </a:p>
        </p:txBody>
      </p:sp>
    </p:spTree>
  </p:cSld>
  <p:clrMapOvr>
    <a:masterClrMapping/>
  </p:clrMapOvr>
</p:sld>
</file>

<file path=ppt/slides/slide2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17" name="Shape 417"/>
        <p:cNvGrpSpPr/>
        <p:nvPr/>
      </p:nvGrpSpPr>
      <p:grpSpPr>
        <a:xfrm>
          <a:off x="0" y="0"/>
          <a:ext cx="0" cy="0"/>
          <a:chOff x="0" y="0"/>
          <a:chExt cx="0" cy="0"/>
        </a:xfrm>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recruits trigeminal brain regions</a:t>
            </a:r>
            <a:endParaRPr/>
          </a:p>
        </p:txBody>
      </p:sp>
      <p:sp>
        <p:nvSpPr>
          <p:cNvPr id="419" name="Google Shape;419;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Its ophthalmic branch, designated V1, projects to brainstem trigeminal nuclei. Lefeldt and colleagues asked whether changing magnetic fields activate these receiving regions in pigeons.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Birds experienced a constantly changing magnetic field, a compensated zero field, or the changing field after bilateral V1 section. Exposure lasted 3 h. </a:t>
            </a:r>
            <a:r>
              <a:rPr b="1" i="0" lang="en-US" sz="1500" u="none" cap="none" strike="noStrike">
                <a:solidFill>
                  <a:srgbClr val="48545B"/>
                </a:solidFill>
                <a:latin typeface="Arial"/>
                <a:ea typeface="Arial"/>
                <a:cs typeface="Arial"/>
                <a:sym typeface="Arial"/>
              </a:rPr>
              <a:t>ZENK</a:t>
            </a:r>
            <a:r>
              <a:rPr b="0" i="0" lang="en-US" sz="1500" u="none" cap="none" strike="noStrike">
                <a:solidFill>
                  <a:srgbClr val="263139"/>
                </a:solidFill>
                <a:latin typeface="Arial"/>
                <a:ea typeface="Arial"/>
                <a:cs typeface="Arial"/>
                <a:sym typeface="Arial"/>
              </a:rPr>
              <a:t>, an activity-related gene product, was detected in the principal and spinal trigeminal nuclei after each exposure, and the pattern across the three groups shows where the changing field acts.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Labeling was highest when the field changed and V1 was intact, and it fell when the field was removed or the nerve was cut. The result links the magnetic stimulus to the peripheral sensory pathway that runs through V1.</a:t>
            </a:r>
            <a:endParaRPr/>
          </a:p>
        </p:txBody>
      </p:sp>
      <p:pic>
        <p:nvPicPr>
          <p:cNvPr descr="L14_1.png" id="420" name="Google Shape;420;p28"/>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t>
            </a:r>
            <a:endParaRPr/>
          </a:p>
        </p:txBody>
      </p:sp>
    </p:spTree>
  </p:cSld>
  <p:clrMapOvr>
    <a:masterClrMapping/>
  </p:clrMapOvr>
</p:sld>
</file>

<file path=ppt/slides/slide2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29" name="Shape 429"/>
        <p:cNvGrpSpPr/>
        <p:nvPr/>
      </p:nvGrpSpPr>
      <p:grpSpPr>
        <a:xfrm>
          <a:off x="0" y="0"/>
          <a:ext cx="0" cy="0"/>
          <a:chOff x="0" y="0"/>
          <a:chExt cx="0" cy="0"/>
        </a:xfrm>
      </p:grpSpPr>
      <p:sp>
        <p:nvSpPr>
          <p:cNvPr id="430" name="Google Shape;430;p2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 principal trigeminal response is anatomically selective</a:t>
            </a:r>
            <a:endParaRPr/>
          </a:p>
        </p:txBody>
      </p:sp>
      <p:sp>
        <p:nvSpPr>
          <p:cNvPr id="431" name="Google Shape;431;p2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principal sensory nucleus</a:t>
            </a:r>
            <a:r>
              <a:rPr b="0" i="0" lang="en-US" sz="1500" u="none" cap="none" strike="noStrike">
                <a:solidFill>
                  <a:srgbClr val="263139"/>
                </a:solidFill>
                <a:latin typeface="Arial"/>
                <a:ea typeface="Arial"/>
                <a:cs typeface="Arial"/>
                <a:sym typeface="Arial"/>
              </a:rPr>
              <a:t> of the trigeminal nerve, abbreviated PrV, receives ascending sensory input from the head. Its ventral region, PrVv, can be distinguished from the dorsal region using the brainstem anatomy preserved in the source sections. The subdivisions are identified from the same sections.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3 h of changing magnetic fields, Lefeldt and colleagues found ZENK labeling concentrated in a crescent-shaped ventral region. Zero-field exposure and bilateral V1 section reduced the response. The micrographs retain a 100 µm scale bar, so the size of the labeled region can be read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activated region sits in a fixed position within the nucleus, and it is the same region in each bird. Its shape gives the location of the magnetic response within the brainstem.</a:t>
            </a:r>
            <a:endParaRPr/>
          </a:p>
        </p:txBody>
      </p:sp>
      <p:pic>
        <p:nvPicPr>
          <p:cNvPr descr="L14_1abc.png" id="432" name="Google Shape;432;p29"/>
          <p:cNvPicPr preferRelativeResize="0"/>
          <p:nvPr/>
        </p:nvPicPr>
        <p:blipFill rotWithShape="1">
          <a:blip r:embed="rId3">
            <a:alphaModFix/>
          </a:blip>
          <a:srcRect b="0" l="0" r="0" t="0"/>
          <a:stretch/>
        </p:blipFill>
        <p:spPr>
          <a:xfrm>
            <a:off x="6504127" y="1280160"/>
            <a:ext cx="5120640" cy="2535064"/>
          </a:xfrm>
          <a:prstGeom prst="rect">
            <a:avLst/>
          </a:prstGeom>
          <a:noFill/>
          <a:ln>
            <a:noFill/>
          </a:ln>
        </p:spPr>
      </p:pic>
      <p:sp>
        <p:nvSpPr>
          <p:cNvPr id="433" name="Google Shape;433;p29"/>
          <p:cNvSpPr txBox="1"/>
          <p:nvPr/>
        </p:nvSpPr>
        <p:spPr>
          <a:xfrm>
            <a:off x="6504127" y="390666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1a–c. Principal trigeminal nucleus activation across treatments.</a:t>
            </a:r>
            <a:endParaRPr/>
          </a:p>
        </p:txBody>
      </p:sp>
      <p:sp>
        <p:nvSpPr>
          <p:cNvPr id="434" name="Google Shape;434;p2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35" name="Google Shape;435;p2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36" name="Google Shape;436;p2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29</a:t>
            </a:r>
            <a:endParaRPr/>
          </a:p>
        </p:txBody>
      </p:sp>
    </p:spTree>
  </p:cSld>
  <p:clrMapOvr>
    <a:masterClrMapping/>
  </p:clrMapOvr>
</p:sld>
</file>

<file path=ppt/slides/slide3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41" name="Shape 441"/>
        <p:cNvGrpSpPr/>
        <p:nvPr/>
      </p:nvGrpSpPr>
      <p:grpSpPr>
        <a:xfrm>
          <a:off x="0" y="0"/>
          <a:ext cx="0" cy="0"/>
          <a:chOff x="0" y="0"/>
          <a:chExt cx="0" cy="0"/>
        </a:xfrm>
      </p:grpSpPr>
      <p:sp>
        <p:nvSpPr>
          <p:cNvPr id="442" name="Google Shape;442;p3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Spinal trigeminal activation requires intact afferents</a:t>
            </a:r>
            <a:endParaRPr/>
          </a:p>
        </p:txBody>
      </p:sp>
      <p:sp>
        <p:nvSpPr>
          <p:cNvPr id="443" name="Google Shape;443;p30"/>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spinal trigeminal nucleus</a:t>
            </a:r>
            <a:r>
              <a:rPr b="0" i="0" lang="en-US" sz="1500" u="none" cap="none" strike="noStrike">
                <a:solidFill>
                  <a:srgbClr val="263139"/>
                </a:solidFill>
                <a:latin typeface="Arial"/>
                <a:ea typeface="Arial"/>
                <a:cs typeface="Arial"/>
                <a:sym typeface="Arial"/>
              </a:rPr>
              <a:t>, or SpV, receives descending trigeminal sensory input. Lefeldt and colleagues distinguished medial and lateral subdivisions. The magnetic response is localized to these subdivisions rather than spread across one undifferentiated brainstem region.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medial subdivision showed the strongest increase under changing magnetic fields, and bilateral V1 section reduced activation. The source sections compare the changing-field, zero-field and sectioned conditions directly, with each subdivision measured in each animal.</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medial SpV response depends on intact V1 afferents, which carry the signal from the head. The response is therefore carried by a defined sensory pathway into the brainstem.</a:t>
            </a:r>
            <a:endParaRPr/>
          </a:p>
        </p:txBody>
      </p:sp>
      <p:pic>
        <p:nvPicPr>
          <p:cNvPr descr="L14_1def.png" id="444" name="Google Shape;444;p30"/>
          <p:cNvPicPr preferRelativeResize="0"/>
          <p:nvPr/>
        </p:nvPicPr>
        <p:blipFill rotWithShape="1">
          <a:blip r:embed="rId3">
            <a:alphaModFix/>
          </a:blip>
          <a:srcRect b="0" l="0" r="0" t="0"/>
          <a:stretch/>
        </p:blipFill>
        <p:spPr>
          <a:xfrm>
            <a:off x="6504127" y="1280160"/>
            <a:ext cx="5120640" cy="1269110"/>
          </a:xfrm>
          <a:prstGeom prst="rect">
            <a:avLst/>
          </a:prstGeom>
          <a:noFill/>
          <a:ln>
            <a:noFill/>
          </a:ln>
        </p:spPr>
      </p:pic>
      <p:sp>
        <p:nvSpPr>
          <p:cNvPr id="445" name="Google Shape;445;p30"/>
          <p:cNvSpPr txBox="1"/>
          <p:nvPr/>
        </p:nvSpPr>
        <p:spPr>
          <a:xfrm>
            <a:off x="6504127" y="264071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1d–f. Spinal trigeminal nucleus activation across treatments.</a:t>
            </a:r>
            <a:endParaRPr/>
          </a:p>
        </p:txBody>
      </p:sp>
      <p:sp>
        <p:nvSpPr>
          <p:cNvPr id="446" name="Google Shape;446;p3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47" name="Google Shape;447;p3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48" name="Google Shape;448;p3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30</a:t>
            </a:r>
            <a:endParaRPr/>
          </a:p>
        </p:txBody>
      </p:sp>
    </p:spTree>
  </p:cSld>
  <p:clrMapOvr>
    <a:masterClrMapping/>
  </p:clrMapOvr>
</p:sld>
</file>

<file path=ppt/slides/slide3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53" name="Shape 453"/>
        <p:cNvGrpSpPr/>
        <p:nvPr/>
      </p:nvGrpSpPr>
      <p:grpSpPr>
        <a:xfrm>
          <a:off x="0" y="0"/>
          <a:ext cx="0" cy="0"/>
          <a:chOff x="0" y="0"/>
          <a:chExt cx="0" cy="0"/>
        </a:xfrm>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Anatomical tracing links afferents with activated regions</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labels the anatomical pathways that leave an injection site. Lefeldt and colleagues introduced cholera toxin B into V1 to identify its central projections. They then compared the labeled afferents with the regions containing ZENK-positive neurons after magnetic stimulation.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fibers terminated in the principal and spinal trigeminal nuclei. The published overlays preserve the spatial relationship between the traced fibers and the activated cells, with 100 µm and 200 µm scales. </a:t>
            </a:r>
            <a:r>
              <a:rPr b="1" i="0" lang="en-US" sz="1500" u="none" cap="none" strike="noStrike">
                <a:solidFill>
                  <a:srgbClr val="48545B"/>
                </a:solidFill>
                <a:latin typeface="Arial"/>
                <a:ea typeface="Arial"/>
                <a:cs typeface="Arial"/>
                <a:sym typeface="Arial"/>
              </a:rPr>
              <a:t>Acetylcholinesterase</a:t>
            </a:r>
            <a:r>
              <a:rPr b="0" i="0" lang="en-US" sz="1500" u="none" cap="none" strike="noStrike">
                <a:solidFill>
                  <a:srgbClr val="263139"/>
                </a:solidFill>
                <a:latin typeface="Arial"/>
                <a:ea typeface="Arial"/>
                <a:cs typeface="Arial"/>
                <a:sym typeface="Arial"/>
              </a:rPr>
              <a:t> staining marked the nuclear boundaries, so each subdivision can be located precisely.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The stain keeps the labeled tissue tied to the known anatomy of each nucleus.</a:t>
            </a:r>
            <a:endParaRPr/>
          </a:p>
        </p:txBody>
      </p:sp>
      <p:pic>
        <p:nvPicPr>
          <p:cNvPr descr="L14_2.png" id="456" name="Google Shape;456;p31"/>
          <p:cNvPicPr preferRelativeResize="0"/>
          <p:nvPr/>
        </p:nvPicPr>
        <p:blipFill rotWithShape="1">
          <a:blip r:embed="rId3">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t>
            </a:r>
            <a:endParaRPr/>
          </a:p>
        </p:txBody>
      </p:sp>
    </p:spTree>
  </p:cSld>
  <p:clrMapOvr>
    <a:masterClrMapping/>
  </p:clrMapOvr>
</p:sld>
</file>

<file path=ppt/slides/slide3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65" name="Shape 465"/>
        <p:cNvGrpSpPr/>
        <p:nvPr/>
      </p:nvGrpSpPr>
      <p:grpSpPr>
        <a:xfrm>
          <a:off x="0" y="0"/>
          <a:ext cx="0" cy="0"/>
          <a:chOff x="0" y="0"/>
          <a:chExt cx="0" cy="0"/>
        </a:xfrm>
      </p:grpSpPr>
      <p:sp>
        <p:nvSpPr>
          <p:cNvPr id="466" name="Google Shape;466;p3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Nerve section and control regions constrain the response</a:t>
            </a:r>
            <a:endParaRPr/>
          </a:p>
        </p:txBody>
      </p:sp>
      <p:sp>
        <p:nvSpPr>
          <p:cNvPr id="467" name="Google Shape;467;p3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loss-of-function test</a:t>
            </a:r>
            <a:r>
              <a:rPr b="0" i="0" lang="en-US" sz="1500" u="none" cap="none" strike="noStrike">
                <a:solidFill>
                  <a:srgbClr val="263139"/>
                </a:solidFill>
                <a:latin typeface="Arial"/>
                <a:ea typeface="Arial"/>
                <a:cs typeface="Arial"/>
                <a:sym typeface="Arial"/>
              </a:rPr>
              <a:t> interrupts a candidate pathway and measures the remaining response. Lefeldt and colleagues cut both V1 branches and then exposed the birds to the same changing magnetic stimulus used for intact animals. The response was then measured in each group.</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Trigeminal activation decreased after section. The </a:t>
            </a:r>
            <a:r>
              <a:rPr b="1" i="0" lang="en-US" sz="1500" u="none" cap="none" strike="noStrike">
                <a:solidFill>
                  <a:srgbClr val="48545B"/>
                </a:solidFill>
                <a:latin typeface="Arial"/>
                <a:ea typeface="Arial"/>
                <a:cs typeface="Arial"/>
                <a:sym typeface="Arial"/>
              </a:rPr>
              <a:t>optic tectum</a:t>
            </a:r>
            <a:r>
              <a:rPr b="0" i="0" lang="en-US" sz="1500" u="none" cap="none" strike="noStrike">
                <a:solidFill>
                  <a:srgbClr val="263139"/>
                </a:solidFill>
                <a:latin typeface="Arial"/>
                <a:ea typeface="Arial"/>
                <a:cs typeface="Arial"/>
                <a:sym typeface="Arial"/>
              </a:rPr>
              <a:t>, a midbrain sensory region included as a comparison, did not change appreciably among the magnetic conditions. Counts were collected after 3 h of exposure, and the field and nerve manipulations were compared under the same timing.</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loss of the trigeminal response after section places the trigeminal input on the response pathway. The unchanged optic tectum shows that the effect is specific to the trigeminal system.</a:t>
            </a:r>
            <a:endParaRPr/>
          </a:p>
        </p:txBody>
      </p:sp>
      <p:pic>
        <p:nvPicPr>
          <p:cNvPr descr="L14_3.png" id="468" name="Google Shape;468;p32"/>
          <p:cNvPicPr preferRelativeResize="0"/>
          <p:nvPr/>
        </p:nvPicPr>
        <p:blipFill rotWithShape="1">
          <a:blip r:embed="rId3">
            <a:alphaModFix/>
          </a:blip>
          <a:srcRect b="0" l="0" r="0" t="0"/>
          <a:stretch/>
        </p:blipFill>
        <p:spPr>
          <a:xfrm>
            <a:off x="6321247" y="1280160"/>
            <a:ext cx="3291840" cy="2411220"/>
          </a:xfrm>
          <a:prstGeom prst="rect">
            <a:avLst/>
          </a:prstGeom>
          <a:noFill/>
          <a:ln>
            <a:noFill/>
          </a:ln>
        </p:spPr>
      </p:pic>
      <p:sp>
        <p:nvSpPr>
          <p:cNvPr id="469" name="Google Shape;469;p32"/>
          <p:cNvSpPr txBox="1"/>
          <p:nvPr/>
        </p:nvSpPr>
        <p:spPr>
          <a:xfrm>
            <a:off x="6321247" y="3782820"/>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3. Activation in trigeminal regions and the optic tectum.</a:t>
            </a:r>
            <a:endParaRPr/>
          </a:p>
        </p:txBody>
      </p:sp>
      <p:pic>
        <p:nvPicPr>
          <p:cNvPr descr="L14_6.png" id="470" name="Google Shape;470;p32"/>
          <p:cNvPicPr preferRelativeResize="0"/>
          <p:nvPr/>
        </p:nvPicPr>
        <p:blipFill rotWithShape="1">
          <a:blip r:embed="rId4">
            <a:alphaModFix/>
          </a:blip>
          <a:srcRect b="0" l="0" r="0" t="0"/>
          <a:stretch/>
        </p:blipFill>
        <p:spPr>
          <a:xfrm>
            <a:off x="9795967" y="2148840"/>
            <a:ext cx="1828799" cy="1275425"/>
          </a:xfrm>
          <a:prstGeom prst="rect">
            <a:avLst/>
          </a:prstGeom>
          <a:noFill/>
          <a:ln>
            <a:noFill/>
          </a:ln>
        </p:spPr>
      </p:pic>
      <p:sp>
        <p:nvSpPr>
          <p:cNvPr id="471" name="Google Shape;471;p32"/>
          <p:cNvSpPr txBox="1"/>
          <p:nvPr/>
        </p:nvSpPr>
        <p:spPr>
          <a:xfrm>
            <a:off x="9795967" y="3497417"/>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6a–c and enlargements. Optic tectum anatomy and antibody-staining controls.</a:t>
            </a:r>
            <a:endParaRPr/>
          </a:p>
        </p:txBody>
      </p:sp>
      <p:sp>
        <p:nvSpPr>
          <p:cNvPr id="472" name="Google Shape;472;p3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73" name="Google Shape;473;p3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74" name="Google Shape;474;p3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32</a:t>
            </a:r>
            <a:endParaRPr/>
          </a:p>
        </p:txBody>
      </p:sp>
    </p:spTree>
  </p:cSld>
  <p:clrMapOvr>
    <a:masterClrMapping/>
  </p:clrMapOvr>
</p:sld>
</file>

<file path=ppt/slides/slide3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79" name="Shape 479"/>
        <p:cNvGrpSpPr/>
        <p:nvPr/>
      </p:nvGrpSpPr>
      <p:grpSpPr>
        <a:xfrm>
          <a:off x="0" y="0"/>
          <a:ext cx="0" cy="0"/>
          <a:chOff x="0" y="0"/>
          <a:chExt cx="0" cy="0"/>
        </a:xfrm>
      </p:grpSpPr>
      <p:sp>
        <p:nvSpPr>
          <p:cNvPr id="480" name="Google Shape;480;p3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Behavioral controls limit a mechanical explanation</a:t>
            </a:r>
            <a:endParaRPr/>
          </a:p>
        </p:txBody>
      </p:sp>
      <p:sp>
        <p:nvSpPr>
          <p:cNvPr id="481" name="Google Shape;481;p3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also carries ordinary mechanical information from the head, so pecking, grooming and contact with the cage could activate its receiving nuclei. Lefeldt and colleagues therefore monitored the pigeons with infrared cameras during the 3 h exposure. The cameras recorded movement and beak contacts throughout the exposure.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Movement and beak contacts were quantified for each bird. Behavior did not explain the regional ZENK increase, which followed the magnetic condition instead. The analysis compared the behavioral counts across the changing, zero-field and sectioned groups.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magnetic effect on trigeminal labeling is separate from the animals' ordinary movements. Behavior and field exposure therefore produce distinct patterns of labeling.</a:t>
            </a:r>
            <a:endParaRPr/>
          </a:p>
        </p:txBody>
      </p:sp>
      <p:pic>
        <p:nvPicPr>
          <p:cNvPr descr="L14_1.png" id="482" name="Google Shape;482;p33"/>
          <p:cNvPicPr preferRelativeResize="0"/>
          <p:nvPr/>
        </p:nvPicPr>
        <p:blipFill rotWithShape="1">
          <a:blip r:embed="rId3">
            <a:alphaModFix/>
          </a:blip>
          <a:srcRect b="0" l="0" r="0" t="0"/>
          <a:stretch/>
        </p:blipFill>
        <p:spPr>
          <a:xfrm>
            <a:off x="6504127" y="1280160"/>
            <a:ext cx="5120640" cy="3829430"/>
          </a:xfrm>
          <a:prstGeom prst="rect">
            <a:avLst/>
          </a:prstGeom>
          <a:noFill/>
          <a:ln>
            <a:noFill/>
          </a:ln>
        </p:spPr>
      </p:pic>
      <p:sp>
        <p:nvSpPr>
          <p:cNvPr id="483" name="Google Shape;483;p33"/>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84" name="Google Shape;484;p3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85" name="Google Shape;485;p3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86" name="Google Shape;486;p3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33</a:t>
            </a:r>
            <a:endParaRPr/>
          </a:p>
        </p:txBody>
      </p:sp>
    </p:spTree>
  </p:cSld>
  <p:clrMapOvr>
    <a:masterClrMapping/>
  </p:clrMapOvr>
</p:sld>
</file>

<file path=ppt/slides/slide3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491" name="Shape 491"/>
        <p:cNvGrpSpPr/>
        <p:nvPr/>
      </p:nvGrpSpPr>
      <p:grpSpPr>
        <a:xfrm>
          <a:off x="0" y="0"/>
          <a:ext cx="0" cy="0"/>
          <a:chOff x="0" y="0"/>
          <a:chExt cx="0" cy="0"/>
        </a:xfrm>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Iron-rich beak cells require independent identification</a:t>
            </a:r>
            <a:endParaRPr/>
          </a:p>
        </p:txBody>
      </p:sp>
      <p:sp>
        <p:nvSpPr>
          <p:cNvPr id="493" name="Google Shape;49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Magnetite</a:t>
            </a:r>
            <a:r>
              <a:rPr b="0" i="0" lang="en-US" sz="1500" u="none" cap="none" strike="noStrike">
                <a:solidFill>
                  <a:srgbClr val="263139"/>
                </a:solidFill>
                <a:latin typeface="Arial"/>
                <a:ea typeface="Arial"/>
                <a:cs typeface="Arial"/>
                <a:sym typeface="Arial"/>
              </a:rPr>
              <a:t> is an iron oxide that has been proposed as a material for magnetic sensory transduction. Finding iron in tissue identifies the material but not the receptor, because iron also occurs in metabolic storage and immune cells. Treiber and colleagues examined the pigeon beak to determine which cells contain iron.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stained pigeon upper beaks with Prussian blue, which detects ferric iron, and mapped the labeled cells through serial sections. Iron-rich cells occurred in the respiratory epithelium, the subepidermal tissue and the feather follicles. The source preserves the anatomy of each tissue at the same scale.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stained positions give a map of where iron occurs in the beak. Identifying a receptor requires additional markers of cell type and ultrastructure.</a:t>
            </a:r>
            <a:endParaRPr/>
          </a:p>
        </p:txBody>
      </p:sp>
      <p:pic>
        <p:nvPicPr>
          <p:cNvPr descr="T12_1.png" id="494" name="Google Shape;494;p34"/>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t>
            </a:r>
            <a:endParaRPr/>
          </a:p>
        </p:txBody>
      </p:sp>
    </p:spTree>
  </p:cSld>
  <p:clrMapOvr>
    <a:masterClrMapping/>
  </p:clrMapOvr>
</p:sld>
</file>

<file path=ppt/slides/slide3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03" name="Shape 503"/>
        <p:cNvGrpSpPr/>
        <p:nvPr/>
      </p:nvGrpSpPr>
      <p:grpSpPr>
        <a:xfrm>
          <a:off x="0" y="0"/>
          <a:ext cx="0" cy="0"/>
          <a:chOff x="0" y="0"/>
          <a:chExt cx="0" cy="0"/>
        </a:xfrm>
      </p:grpSpPr>
      <p:sp>
        <p:nvSpPr>
          <p:cNvPr id="504" name="Google Shape;504;p3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Iron-positive cells do not form a fixed bilateral array</a:t>
            </a:r>
            <a:endParaRPr/>
          </a:p>
        </p:txBody>
      </p:sp>
      <p:sp>
        <p:nvSpPr>
          <p:cNvPr id="505" name="Google Shape;505;p3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reproducible sensory organ should have an anatomical organization that matches its proposed function. Earlier descriptions assigned magnetoreception to six bilateral iron-rich clusters in the upper beak. That arrangement had to be tested by systematic examination across individual birds.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counted Prussian-blue-positive cells in successive 500 µm increments along the beak. The locations and numbers of these cells varied widely among pigeons, with cells distributed through multiple tissues rather than gathered into six clusters. The variation was measured in every bird.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Iron-positive cells in the beak are arranged differently from the six-cluster description. The cells form a scattered population across several tissues in each bird.</a:t>
            </a:r>
            <a:endParaRPr/>
          </a:p>
        </p:txBody>
      </p:sp>
      <p:pic>
        <p:nvPicPr>
          <p:cNvPr descr="T12_2.png" id="506" name="Google Shape;506;p35"/>
          <p:cNvPicPr preferRelativeResize="0"/>
          <p:nvPr/>
        </p:nvPicPr>
        <p:blipFill rotWithShape="1">
          <a:blip r:embed="rId3">
            <a:alphaModFix/>
          </a:blip>
          <a:srcRect b="0" l="0" r="0" t="0"/>
          <a:stretch/>
        </p:blipFill>
        <p:spPr>
          <a:xfrm>
            <a:off x="7703198" y="1280160"/>
            <a:ext cx="2722497" cy="4297679"/>
          </a:xfrm>
          <a:prstGeom prst="rect">
            <a:avLst/>
          </a:prstGeom>
          <a:noFill/>
          <a:ln>
            <a:noFill/>
          </a:ln>
        </p:spPr>
      </p:pic>
      <p:sp>
        <p:nvSpPr>
          <p:cNvPr id="507" name="Google Shape;507;p3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2a–c. Variable distribution of iron-positive cells along the beak.</a:t>
            </a:r>
            <a:endParaRPr/>
          </a:p>
        </p:txBody>
      </p:sp>
      <p:sp>
        <p:nvSpPr>
          <p:cNvPr id="508" name="Google Shape;508;p3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09" name="Google Shape;509;p3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10" name="Google Shape;510;p3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35</a:t>
            </a:r>
            <a:endParaRPr/>
          </a:p>
        </p:txBody>
      </p:sp>
    </p:spTree>
  </p:cSld>
  <p:clrMapOvr>
    <a:masterClrMapping/>
  </p:clrMapOvr>
</p:sld>
</file>

<file path=ppt/slides/slide3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15" name="Shape 515"/>
        <p:cNvGrpSpPr/>
        <p:nvPr/>
      </p:nvGrpSpPr>
      <p:grpSpPr>
        <a:xfrm>
          <a:off x="0" y="0"/>
          <a:ext cx="0" cy="0"/>
          <a:chOff x="0" y="0"/>
          <a:chExt cx="0" cy="0"/>
        </a:xfrm>
      </p:grpSpPr>
      <p:sp>
        <p:nvSpPr>
          <p:cNvPr id="516" name="Google Shape;516;p3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Ultrastructure identifies iron-storage compartments</a:t>
            </a:r>
            <a:endParaRPr/>
          </a:p>
        </p:txBody>
      </p:sp>
      <p:sp>
        <p:nvSpPr>
          <p:cNvPr id="517" name="Google Shape;517;p36"/>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Ultrastructure</a:t>
            </a:r>
            <a:r>
              <a:rPr b="0" i="0" lang="en-US" sz="1500" u="none" cap="none" strike="noStrike">
                <a:solidFill>
                  <a:srgbClr val="263139"/>
                </a:solidFill>
                <a:latin typeface="Arial"/>
                <a:ea typeface="Arial"/>
                <a:cs typeface="Arial"/>
                <a:sym typeface="Arial"/>
              </a:rPr>
              <a:t> is cellular organization resolved with electron microscopy. Treiber and colleagues examined the iron-rich beak cells in three tissue compartments, rather than assuming that their blue staining indicated sensory dendrites. The electron micrographs identify the internal structures of each labeled cell.</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cells contained ferritin-like granules 6–9 nm in diameter, haemosiderin, an aggregated iron-storage material, and membrane-bound iron-containing compartments termed siderosomes. The source micrographs retain 1 µm scale bars and mark the labeled cellular structures.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internal structures are those of iron storage, which fixes the identity of the labeled cells as storage cells. The granules, haemosiderin and siderosomes are compartments of iron deposition.</a:t>
            </a:r>
            <a:endParaRPr/>
          </a:p>
        </p:txBody>
      </p:sp>
      <p:pic>
        <p:nvPicPr>
          <p:cNvPr descr="T12_3.png" id="518" name="Google Shape;518;p36"/>
          <p:cNvPicPr preferRelativeResize="0"/>
          <p:nvPr/>
        </p:nvPicPr>
        <p:blipFill rotWithShape="1">
          <a:blip r:embed="rId3">
            <a:alphaModFix/>
          </a:blip>
          <a:srcRect b="0" l="0" r="0" t="0"/>
          <a:stretch/>
        </p:blipFill>
        <p:spPr>
          <a:xfrm>
            <a:off x="7150354" y="1280160"/>
            <a:ext cx="3828185" cy="4297679"/>
          </a:xfrm>
          <a:prstGeom prst="rect">
            <a:avLst/>
          </a:prstGeom>
          <a:noFill/>
          <a:ln>
            <a:noFill/>
          </a:ln>
        </p:spPr>
      </p:pic>
      <p:sp>
        <p:nvSpPr>
          <p:cNvPr id="519" name="Google Shape;519;p36"/>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3a–f. Ultrastructure of iron-rich cells in three beak tissues.</a:t>
            </a:r>
            <a:endParaRPr/>
          </a:p>
        </p:txBody>
      </p:sp>
      <p:sp>
        <p:nvSpPr>
          <p:cNvPr id="520" name="Google Shape;520;p3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21" name="Google Shape;521;p3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22" name="Google Shape;522;p3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36</a:t>
            </a:r>
            <a:endParaRPr/>
          </a:p>
        </p:txBody>
      </p:sp>
    </p:spTree>
  </p:cSld>
  <p:clrMapOvr>
    <a:masterClrMapping/>
  </p:clrMapOvr>
</p:sld>
</file>

<file path=ppt/slides/slide3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27" name="Shape 527"/>
        <p:cNvGrpSpPr/>
        <p:nvPr/>
      </p:nvGrpSpPr>
      <p:grpSpPr>
        <a:xfrm>
          <a:off x="0" y="0"/>
          <a:ext cx="0" cy="0"/>
          <a:chOff x="0" y="0"/>
          <a:chExt cx="0" cy="0"/>
        </a:xfrm>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labeling identifies macrophages in beak tissue</a:t>
            </a:r>
            <a:endParaRPr/>
          </a:p>
        </p:txBody>
      </p:sp>
      <p:sp>
        <p:nvSpPr>
          <p:cNvPr id="529" name="Google Shape;52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a:t>
            </a:r>
            <a:r>
              <a:rPr b="1" i="0" lang="en-US" sz="1500" u="none" cap="none" strike="noStrike">
                <a:solidFill>
                  <a:srgbClr val="48545B"/>
                </a:solidFill>
                <a:latin typeface="Arial"/>
                <a:ea typeface="Arial"/>
                <a:cs typeface="Arial"/>
                <a:sym typeface="Arial"/>
              </a:rPr>
              <a:t>MHC II</a:t>
            </a:r>
            <a:r>
              <a:rPr b="0" i="0" lang="en-US" sz="1500" u="none" cap="none" strike="noStrike">
                <a:solidFill>
                  <a:srgbClr val="263139"/>
                </a:solidFill>
                <a:latin typeface="Arial"/>
                <a:ea typeface="Arial"/>
                <a:cs typeface="Arial"/>
                <a:sym typeface="Arial"/>
              </a:rPr>
              <a:t> is a cell-surface antigen-presentation marker expressed by several immune cell types. Treiber and colleagues combined this marker with iron staining to identify the beak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MHC II labeling colocalized with the iron-positive cells in the respiratory epithelium, the subepidermal tissue and the feather follicles. Combined with the ultrastructure and the absence of convincing neuronal-marker labeling, this result identifies the cells as macrophages.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Macrophages in these tissues carry iron as a storage product. The identity of the iron-laden cells rests on several markers taken together.</a:t>
            </a:r>
            <a:endParaRPr/>
          </a:p>
        </p:txBody>
      </p:sp>
      <p:pic>
        <p:nvPicPr>
          <p:cNvPr descr="T12_4.png" id="530" name="Google Shape;530;p37"/>
          <p:cNvPicPr preferRelativeResize="0"/>
          <p:nvPr/>
        </p:nvPicPr>
        <p:blipFill rotWithShape="1">
          <a:blip r:embed="rId3">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t>
            </a:r>
            <a:endParaRPr/>
          </a:p>
        </p:txBody>
      </p:sp>
    </p:spTree>
  </p:cSld>
  <p:clrMapOvr>
    <a:masterClrMapping/>
  </p:clrMapOvr>
</p:sld>
</file>

<file path=ppt/slides/slide3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39" name="Shape 539"/>
        <p:cNvGrpSpPr/>
        <p:nvPr/>
      </p:nvGrpSpPr>
      <p:grpSpPr>
        <a:xfrm>
          <a:off x="0" y="0"/>
          <a:ext cx="0" cy="0"/>
          <a:chOff x="0" y="0"/>
          <a:chExt cx="0" cy="0"/>
        </a:xfrm>
      </p:grpSpPr>
      <p:sp>
        <p:nvSpPr>
          <p:cNvPr id="540" name="Google Shape;540;p3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An invalid receptor candidate leaves a pathway unresolved</a:t>
            </a:r>
            <a:endParaRPr/>
          </a:p>
        </p:txBody>
      </p:sp>
      <p:sp>
        <p:nvSpPr>
          <p:cNvPr id="541" name="Google Shape;541;p3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peripheral cell candidate and a responsive neural pathway are different claims. Treiber and colleagues rejected the identification of the sampled iron-rich beak cells as magnetosensitive neurons, using histology, immune labeling and electron microscopy. Those three methods point to the same conclusion.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Lefeldt and colleagues later found magnetic-field-related ZENK induction in trigeminal nuclei that depended on intact V1 after 3 h of exposure. The induction establishes a pathway-associated response, while the transducer itself remains to be located. The magnetic response therefore runs through V1 without identifying the receptor.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trigeminal pathway and the beak cells are separate lines of evidence. The beak cells are one line of evidence, and the trigeminal response is a second line that points to a sensory route carrying the signal.</a:t>
            </a:r>
            <a:endParaRPr/>
          </a:p>
        </p:txBody>
      </p:sp>
      <p:pic>
        <p:nvPicPr>
          <p:cNvPr descr="T12_1.png" id="542" name="Google Shape;542;p38"/>
          <p:cNvPicPr preferRelativeResize="0"/>
          <p:nvPr/>
        </p:nvPicPr>
        <p:blipFill rotWithShape="1">
          <a:blip r:embed="rId3">
            <a:alphaModFix/>
          </a:blip>
          <a:srcRect b="0" l="0" r="0" t="0"/>
          <a:stretch/>
        </p:blipFill>
        <p:spPr>
          <a:xfrm>
            <a:off x="7061211" y="1280160"/>
            <a:ext cx="4006471" cy="4297679"/>
          </a:xfrm>
          <a:prstGeom prst="rect">
            <a:avLst/>
          </a:prstGeom>
          <a:noFill/>
          <a:ln>
            <a:noFill/>
          </a:ln>
        </p:spPr>
      </p:pic>
      <p:sp>
        <p:nvSpPr>
          <p:cNvPr id="543" name="Google Shape;543;p3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544" name="Google Shape;544;p3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45" name="Google Shape;545;p3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 Lefeldt et al. (2014)</a:t>
            </a:r>
            <a:endParaRPr/>
          </a:p>
        </p:txBody>
      </p:sp>
      <p:sp>
        <p:nvSpPr>
          <p:cNvPr id="546" name="Google Shape;546;p38"/>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38</a:t>
            </a:r>
            <a:endParaRPr/>
          </a:p>
        </p:txBody>
      </p:sp>
    </p:spTree>
  </p:cSld>
  <p:clrMapOvr>
    <a:masterClrMapping/>
  </p:clrMapOvr>
</p:sld>
</file>

<file path=ppt/slides/slide3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51" name="Shape 551"/>
        <p:cNvGrpSpPr/>
        <p:nvPr/>
      </p:nvGrpSpPr>
      <p:grpSpPr>
        <a:xfrm>
          <a:off x="0" y="0"/>
          <a:ext cx="0" cy="0"/>
          <a:chOff x="0" y="0"/>
          <a:chExt cx="0" cy="0"/>
        </a:xfrm>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Wearable recordings connect brain signals with flight</a:t>
            </a:r>
            <a:endParaRPr/>
          </a:p>
        </p:txBody>
      </p:sp>
      <p:sp>
        <p:nvSpPr>
          <p:cNvPr id="553" name="Google Shape;55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and transmembrane currents in the surrounding neural tissue. It differs from the isolated action potentials of an identified single neuron. The LFP sums the activity of many cells near the electrode.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recorded hippocampal LFPs together with position during outdoor pigeon homing. Electrodes sampled the left hippocampal formation, while the positional recorder tracked the flight. Release sites were more than 0.8 km from the loft, and trials were run under clear weather with low wind.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Simultaneous recording of the population signal and the position makes it possible to link a neural state to a stage of the journey. The shared time base lets each stage be matched to a moment in the recording.</a:t>
            </a:r>
            <a:endParaRPr/>
          </a:p>
        </p:txBody>
      </p:sp>
      <p:pic>
        <p:nvPicPr>
          <p:cNvPr descr="Y25_1BC.png" id="554" name="Google Shape;554;p39"/>
          <p:cNvPicPr preferRelativeResize="0"/>
          <p:nvPr/>
        </p:nvPicPr>
        <p:blipFill rotWithShape="1">
          <a:blip r:embed="rId3">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t>
            </a:r>
            <a:endParaRPr/>
          </a:p>
        </p:txBody>
      </p:sp>
    </p:spTree>
  </p:cSld>
  <p:clrMapOvr>
    <a:masterClrMapping/>
  </p:clrMapOvr>
</p:sld>
</file>

<file path=ppt/slides/slide4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63" name="Shape 563"/>
        <p:cNvGrpSpPr/>
        <p:nvPr/>
      </p:nvGrpSpPr>
      <p:grpSpPr>
        <a:xfrm>
          <a:off x="0" y="0"/>
          <a:ext cx="0" cy="0"/>
          <a:chOff x="0" y="0"/>
          <a:chExt cx="0" cy="0"/>
        </a:xfrm>
      </p:grpSpPr>
      <p:sp>
        <p:nvSpPr>
          <p:cNvPr id="564" name="Google Shape;564;p40"/>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Raw recordings require artifact-aware interpretation</a:t>
            </a:r>
            <a:endParaRPr/>
          </a:p>
        </p:txBody>
      </p:sp>
      <p:sp>
        <p:nvSpPr>
          <p:cNvPr id="565" name="Google Shape;565;p40"/>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Flight</a:t>
            </a:r>
            <a:r>
              <a:rPr b="0" i="0" lang="en-US" sz="1500" u="none" cap="none" strike="noStrike">
                <a:solidFill>
                  <a:srgbClr val="263139"/>
                </a:solidFill>
                <a:latin typeface="Arial"/>
                <a:ea typeface="Arial"/>
                <a:cs typeface="Arial"/>
                <a:sym typeface="Arial"/>
              </a:rPr>
              <a:t> produces muscle activity and electrode movement that can contaminate neural recordings. </a:t>
            </a:r>
            <a:r>
              <a:rPr b="1" i="0" lang="en-US" sz="1500" u="none" cap="none" strike="noStrike">
                <a:solidFill>
                  <a:srgbClr val="48545B"/>
                </a:solidFill>
                <a:latin typeface="Arial"/>
                <a:ea typeface="Arial"/>
                <a:cs typeface="Arial"/>
                <a:sym typeface="Arial"/>
              </a:rPr>
              <a:t>Denoising</a:t>
            </a:r>
            <a:r>
              <a:rPr b="0" i="0" lang="en-US" sz="1500" u="none" cap="none" strike="noStrike">
                <a:solidFill>
                  <a:srgbClr val="263139"/>
                </a:solidFill>
                <a:latin typeface="Arial"/>
                <a:ea typeface="Arial"/>
                <a:cs typeface="Arial"/>
                <a:sym typeface="Arial"/>
              </a:rPr>
              <a:t> estimates signal components and removes the contributions from movement. The processed traces are shown next to the original voltages. Yang and colleagues applied multivariate empirical mode decomposition followed by independent component analysis.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source preserves raw and processed multichannel hippocampal traces and their time–frequency power. The recordings spanned the transition from initial circling to sustained homeward flight. Both the raw and the cleaned traces are kept in the figure.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cleaned traces show the same stage-related pattern as the raw traces. The denoised signal therefore keeps the neural activity that the analysis uses.</a:t>
            </a:r>
            <a:endParaRPr/>
          </a:p>
        </p:txBody>
      </p:sp>
      <p:pic>
        <p:nvPicPr>
          <p:cNvPr descr="Y25_1D.png" id="566" name="Google Shape;566;p40"/>
          <p:cNvPicPr preferRelativeResize="0"/>
          <p:nvPr/>
        </p:nvPicPr>
        <p:blipFill rotWithShape="1">
          <a:blip r:embed="rId3">
            <a:alphaModFix/>
          </a:blip>
          <a:srcRect b="0" l="0" r="0" t="0"/>
          <a:stretch/>
        </p:blipFill>
        <p:spPr>
          <a:xfrm>
            <a:off x="6321247" y="1280160"/>
            <a:ext cx="3291840" cy="3785112"/>
          </a:xfrm>
          <a:prstGeom prst="rect">
            <a:avLst/>
          </a:prstGeom>
          <a:noFill/>
          <a:ln>
            <a:noFill/>
          </a:ln>
        </p:spPr>
      </p:pic>
      <p:sp>
        <p:nvSpPr>
          <p:cNvPr id="567" name="Google Shape;567;p40"/>
          <p:cNvSpPr txBox="1"/>
          <p:nvPr/>
        </p:nvSpPr>
        <p:spPr>
          <a:xfrm>
            <a:off x="6321247" y="5156712"/>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1D. Raw and processed hippocampal recordings.</a:t>
            </a:r>
            <a:endParaRPr/>
          </a:p>
        </p:txBody>
      </p:sp>
      <p:pic>
        <p:nvPicPr>
          <p:cNvPr descr="Y25_1BC.png" id="568" name="Google Shape;568;p40"/>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69" name="Google Shape;569;p40"/>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70" name="Google Shape;570;p40"/>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71" name="Google Shape;571;p40"/>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72" name="Google Shape;572;p40"/>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40</a:t>
            </a:r>
            <a:endParaRPr/>
          </a:p>
        </p:txBody>
      </p:sp>
    </p:spTree>
  </p:cSld>
  <p:clrMapOvr>
    <a:masterClrMapping/>
  </p:clrMapOvr>
</p:sld>
</file>

<file path=ppt/slides/slide4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77" name="Shape 577"/>
        <p:cNvGrpSpPr/>
        <p:nvPr/>
      </p:nvGrpSpPr>
      <p:grpSpPr>
        <a:xfrm>
          <a:off x="0" y="0"/>
          <a:ext cx="0" cy="0"/>
          <a:chOff x="0" y="0"/>
          <a:chExt cx="0" cy="0"/>
        </a:xfrm>
      </p:grpSpPr>
      <p:sp>
        <p:nvSpPr>
          <p:cNvPr id="578" name="Google Shape;578;p4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Initial circling differs from sustained homeward flight</a:t>
            </a:r>
            <a:endParaRPr/>
          </a:p>
        </p:txBody>
      </p:sp>
      <p:sp>
        <p:nvSpPr>
          <p:cNvPr id="579" name="Google Shape;579;p41"/>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initial decision-making stage</a:t>
            </a:r>
            <a:r>
              <a:rPr b="0" i="0" lang="en-US" sz="1500" u="none" cap="none" strike="noStrike">
                <a:solidFill>
                  <a:srgbClr val="263139"/>
                </a:solidFill>
                <a:latin typeface="Arial"/>
                <a:ea typeface="Arial"/>
                <a:cs typeface="Arial"/>
                <a:sym typeface="Arial"/>
              </a:rPr>
              <a:t>, abbreviated DM, is the early circling or exploratory portion of a homing flight. The </a:t>
            </a:r>
            <a:r>
              <a:rPr b="1" i="0" lang="en-US" sz="1500" u="none" cap="none" strike="noStrike">
                <a:solidFill>
                  <a:srgbClr val="48545B"/>
                </a:solidFill>
                <a:latin typeface="Arial"/>
                <a:ea typeface="Arial"/>
                <a:cs typeface="Arial"/>
                <a:sym typeface="Arial"/>
              </a:rPr>
              <a:t>en route stage</a:t>
            </a:r>
            <a:r>
              <a:rPr b="0" i="0" lang="en-US" sz="1500" u="none" cap="none" strike="noStrike">
                <a:solidFill>
                  <a:srgbClr val="263139"/>
                </a:solidFill>
                <a:latin typeface="Arial"/>
                <a:ea typeface="Arial"/>
                <a:cs typeface="Arial"/>
                <a:sym typeface="Arial"/>
              </a:rPr>
              <a:t>, abbreviated ER, begins when the bird adopts a more stable direction toward home. These stages are behavioral classifications of the flight rather than measurements of decisions.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identified the transition from heading instability and distance to the loft, then aligned hippocampal frequency power to that transition. The published example tracks both flight direction and distance, with the hippocampal power plotted on the same time axis.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transition point is defined from the flight itself, so the neural data are aligned to behavior. Each recording is then split into the two stages at the same behavioral marker.</a:t>
            </a:r>
            <a:endParaRPr/>
          </a:p>
        </p:txBody>
      </p:sp>
      <p:pic>
        <p:nvPicPr>
          <p:cNvPr descr="Y25_2A.png" id="580" name="Google Shape;580;p41"/>
          <p:cNvPicPr preferRelativeResize="0"/>
          <p:nvPr/>
        </p:nvPicPr>
        <p:blipFill rotWithShape="1">
          <a:blip r:embed="rId3">
            <a:alphaModFix/>
          </a:blip>
          <a:srcRect b="0" l="0" r="0" t="0"/>
          <a:stretch/>
        </p:blipFill>
        <p:spPr>
          <a:xfrm>
            <a:off x="6321247" y="1280160"/>
            <a:ext cx="3291840" cy="2915785"/>
          </a:xfrm>
          <a:prstGeom prst="rect">
            <a:avLst/>
          </a:prstGeom>
          <a:noFill/>
          <a:ln>
            <a:noFill/>
          </a:ln>
        </p:spPr>
      </p:pic>
      <p:sp>
        <p:nvSpPr>
          <p:cNvPr id="581" name="Google Shape;581;p41"/>
          <p:cNvSpPr txBox="1"/>
          <p:nvPr/>
        </p:nvSpPr>
        <p:spPr>
          <a:xfrm>
            <a:off x="6321247" y="4287385"/>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2A. Flight direction, distance and hippocampal frequency power.</a:t>
            </a:r>
            <a:endParaRPr/>
          </a:p>
        </p:txBody>
      </p:sp>
      <p:pic>
        <p:nvPicPr>
          <p:cNvPr descr="Y25_1BC.png" id="582" name="Google Shape;582;p41"/>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83" name="Google Shape;583;p41"/>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84" name="Google Shape;584;p4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85" name="Google Shape;585;p4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86" name="Google Shape;586;p41"/>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41</a:t>
            </a:r>
            <a:endParaRPr/>
          </a:p>
        </p:txBody>
      </p:sp>
    </p:spTree>
  </p:cSld>
  <p:clrMapOvr>
    <a:masterClrMapping/>
  </p:clrMapOvr>
</p:sld>
</file>

<file path=ppt/slides/slide4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591" name="Shape 591"/>
        <p:cNvGrpSpPr/>
        <p:nvPr/>
      </p:nvGrpSpPr>
      <p:grpSpPr>
        <a:xfrm>
          <a:off x="0" y="0"/>
          <a:ext cx="0" cy="0"/>
          <a:chOff x="0" y="0"/>
          <a:chExt cx="0" cy="0"/>
        </a:xfrm>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Navigation stages redistribute hippocampal band power</a:t>
            </a:r>
            <a:endParaRPr/>
          </a:p>
        </p:txBody>
      </p:sp>
      <p:sp>
        <p:nvSpPr>
          <p:cNvPr id="593" name="Google Shape;593;p4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the contribution of a frequency range to a recorded voltage signal. Yang and colleagues defined theta as 4–12 Hz, beta as 12–30 Hz, low gamma as 30–60 Hz and high gamma as 60–120 Hz. Each band gives its own power value for each stage.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were higher during initial decision-making than during en route flight. The high-gamma ratio was greater en route, whereas low gamma showed no consistent difference between the stages. The comparisons used paired behavioral stages from the same homing flights.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Each frequency band follows its own pattern across the two stages. The band-specific pattern shows that the stage difference depends on which frequency is measured.</a:t>
            </a:r>
            <a:endParaRPr/>
          </a:p>
        </p:txBody>
      </p:sp>
      <p:pic>
        <p:nvPicPr>
          <p:cNvPr descr="Y25_2C.png" id="594" name="Google Shape;594;p42"/>
          <p:cNvPicPr preferRelativeResize="0"/>
          <p:nvPr/>
        </p:nvPicPr>
        <p:blipFill rotWithShape="1">
          <a:blip r:embed="rId3">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t>
            </a:r>
            <a:endParaRPr/>
          </a:p>
        </p:txBody>
      </p:sp>
    </p:spTree>
  </p:cSld>
  <p:clrMapOvr>
    <a:masterClrMapping/>
  </p:clrMapOvr>
</p:sld>
</file>

<file path=ppt/slides/slide4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05" name="Shape 605"/>
        <p:cNvGrpSpPr/>
        <p:nvPr/>
      </p:nvGrpSpPr>
      <p:grpSpPr>
        <a:xfrm>
          <a:off x="0" y="0"/>
          <a:ext cx="0" cy="0"/>
          <a:chOff x="0" y="0"/>
          <a:chExt cx="0" cy="0"/>
        </a:xfrm>
      </p:grpSpPr>
      <p:sp>
        <p:nvSpPr>
          <p:cNvPr id="606" name="Google Shape;606;p4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Theta phase organizes beta amplitude during travel</a:t>
            </a:r>
            <a:endParaRPr/>
          </a:p>
        </p:txBody>
      </p:sp>
      <p:sp>
        <p:nvSpPr>
          <p:cNvPr id="607" name="Google Shape;607;p43"/>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Phase–amplitude coupling</a:t>
            </a:r>
            <a:r>
              <a:rPr b="0" i="0" lang="en-US" sz="1500" u="none" cap="none" strike="noStrike">
                <a:solidFill>
                  <a:srgbClr val="263139"/>
                </a:solidFill>
                <a:latin typeface="Arial"/>
                <a:ea typeface="Arial"/>
                <a:cs typeface="Arial"/>
                <a:sym typeface="Arial"/>
              </a:rPr>
              <a:t> means that the amplitude of a faster oscillation varies with the phase of a slower oscillation. Phase specifies position within a repeated voltage cycle, while amplitude measures the size of the faster component. The coupling is calculated for each pair of frequencies.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found stronger coupling between theta phase at 5–8 Hz and beta amplitude at 20–30 Hz during en route navigation than during initial decision-making. The source compares the two stages using the same frequency-by-frequency analysis, applied to the same recordings.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phase organizes the beta amplitude more strongly once the bird is on its way home. The coupling therefore changes with the stage of the flight.</a:t>
            </a:r>
            <a:endParaRPr/>
          </a:p>
        </p:txBody>
      </p:sp>
      <p:pic>
        <p:nvPicPr>
          <p:cNvPr descr="Y25_2D.png" id="608" name="Google Shape;608;p43"/>
          <p:cNvPicPr preferRelativeResize="0"/>
          <p:nvPr/>
        </p:nvPicPr>
        <p:blipFill rotWithShape="1">
          <a:blip r:embed="rId3">
            <a:alphaModFix/>
          </a:blip>
          <a:srcRect b="0" l="0" r="0" t="0"/>
          <a:stretch/>
        </p:blipFill>
        <p:spPr>
          <a:xfrm>
            <a:off x="6953812" y="1280160"/>
            <a:ext cx="2026709" cy="4297679"/>
          </a:xfrm>
          <a:prstGeom prst="rect">
            <a:avLst/>
          </a:prstGeom>
          <a:noFill/>
          <a:ln>
            <a:noFill/>
          </a:ln>
        </p:spPr>
      </p:pic>
      <p:sp>
        <p:nvSpPr>
          <p:cNvPr id="609" name="Google Shape;609;p43"/>
          <p:cNvSpPr txBox="1"/>
          <p:nvPr/>
        </p:nvSpPr>
        <p:spPr>
          <a:xfrm>
            <a:off x="6321247" y="5669279"/>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2D. Theta–beta phase–amplitude coupling during navigation.</a:t>
            </a:r>
            <a:endParaRPr/>
          </a:p>
        </p:txBody>
      </p:sp>
      <p:pic>
        <p:nvPicPr>
          <p:cNvPr descr="Y25_1BC.png" id="610" name="Google Shape;610;p43"/>
          <p:cNvPicPr preferRelativeResize="0"/>
          <p:nvPr/>
        </p:nvPicPr>
        <p:blipFill rotWithShape="1">
          <a:blip r:embed="rId4">
            <a:alphaModFix/>
          </a:blip>
          <a:srcRect b="0" l="0" r="0" t="0"/>
          <a:stretch/>
        </p:blipFill>
        <p:spPr>
          <a:xfrm>
            <a:off x="9795967" y="2148840"/>
            <a:ext cx="1828799" cy="2498034"/>
          </a:xfrm>
          <a:prstGeom prst="rect">
            <a:avLst/>
          </a:prstGeom>
          <a:noFill/>
          <a:ln>
            <a:noFill/>
          </a:ln>
        </p:spPr>
      </p:pic>
      <p:sp>
        <p:nvSpPr>
          <p:cNvPr id="611" name="Google Shape;611;p43"/>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612" name="Google Shape;612;p4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13" name="Google Shape;613;p4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14" name="Google Shape;614;p43"/>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43</a:t>
            </a:r>
            <a:endParaRPr/>
          </a:p>
        </p:txBody>
      </p:sp>
    </p:spTree>
  </p:cSld>
  <p:clrMapOvr>
    <a:masterClrMapping/>
  </p:clrMapOvr>
</p:sld>
</file>

<file path=ppt/slides/slide4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19" name="Shape 619"/>
        <p:cNvGrpSpPr/>
        <p:nvPr/>
      </p:nvGrpSpPr>
      <p:grpSpPr>
        <a:xfrm>
          <a:off x="0" y="0"/>
          <a:ext cx="0" cy="0"/>
          <a:chOff x="0" y="0"/>
          <a:chExt cx="0" cy="0"/>
        </a:xfrm>
      </p:grpSpPr>
      <p:sp>
        <p:nvSpPr>
          <p:cNvPr id="620" name="Google Shape;620;p4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Release direction does not eliminate stage differences</a:t>
            </a:r>
            <a:endParaRPr/>
          </a:p>
        </p:txBody>
      </p:sp>
      <p:sp>
        <p:nvSpPr>
          <p:cNvPr id="621" name="Google Shape;621;p4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single release location can confound behavioral stage with a particular heading or a piece of terrain. Yang and colleagues alternated among three release sites more than 0.8 km from the loft. Initial and en route activity were measured within each direction of approach.</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declined during the transition to en route flight, while high-gamma ratios increased across the sites. Theta–beta coupling also strengthened en route. The route maps and paired measurements show these changes at each release site.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stage effect appears at all three release sites, so the change follows the transition itself rather than one heading. The same change in neural activity accompanies the transition to homeward flight from each direction.</a:t>
            </a:r>
            <a:endParaRPr/>
          </a:p>
        </p:txBody>
      </p:sp>
      <p:pic>
        <p:nvPicPr>
          <p:cNvPr descr="Y25_3.png" id="622" name="Google Shape;622;p44"/>
          <p:cNvPicPr preferRelativeResize="0"/>
          <p:nvPr/>
        </p:nvPicPr>
        <p:blipFill rotWithShape="1">
          <a:blip r:embed="rId3">
            <a:alphaModFix/>
          </a:blip>
          <a:srcRect b="0" l="0" r="0" t="0"/>
          <a:stretch/>
        </p:blipFill>
        <p:spPr>
          <a:xfrm>
            <a:off x="6504127" y="1280160"/>
            <a:ext cx="5120640" cy="4178034"/>
          </a:xfrm>
          <a:prstGeom prst="rect">
            <a:avLst/>
          </a:prstGeom>
          <a:noFill/>
          <a:ln>
            <a:noFill/>
          </a:ln>
        </p:spPr>
      </p:pic>
      <p:sp>
        <p:nvSpPr>
          <p:cNvPr id="623" name="Google Shape;623;p44"/>
          <p:cNvSpPr txBox="1"/>
          <p:nvPr/>
        </p:nvSpPr>
        <p:spPr>
          <a:xfrm>
            <a:off x="6504127" y="5549634"/>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3A–D. Behavior and hippocampal activity across three release sites.</a:t>
            </a:r>
            <a:endParaRPr/>
          </a:p>
        </p:txBody>
      </p:sp>
      <p:sp>
        <p:nvSpPr>
          <p:cNvPr id="624" name="Google Shape;624;p4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25" name="Google Shape;625;p4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26" name="Google Shape;626;p44"/>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44</a:t>
            </a:r>
            <a:endParaRPr/>
          </a:p>
        </p:txBody>
      </p:sp>
    </p:spTree>
  </p:cSld>
  <p:clrMapOvr>
    <a:masterClrMapping/>
  </p:clrMapOvr>
</p:sld>
</file>

<file path=ppt/slides/slide4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31" name="Shape 631"/>
        <p:cNvGrpSpPr/>
        <p:nvPr/>
      </p:nvGrpSpPr>
      <p:grpSpPr>
        <a:xfrm>
          <a:off x="0" y="0"/>
          <a:ext cx="0" cy="0"/>
          <a:chOff x="0" y="0"/>
          <a:chExt cx="0" cy="0"/>
        </a:xfrm>
      </p:grpSpPr>
      <p:sp>
        <p:nvSpPr>
          <p:cNvPr id="632" name="Google Shape;632;p4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Experience changes routes and neural stage contrasts</a:t>
            </a:r>
            <a:endParaRPr/>
          </a:p>
        </p:txBody>
      </p:sp>
      <p:sp>
        <p:nvSpPr>
          <p:cNvPr id="633" name="Google Shape;633;p4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Experience-dependent plasticity</a:t>
            </a:r>
            <a:r>
              <a:rPr b="0" i="0" lang="en-US" sz="1500" u="none" cap="none" strike="noStrike">
                <a:solidFill>
                  <a:srgbClr val="263139"/>
                </a:solidFill>
                <a:latin typeface="Arial"/>
                <a:ea typeface="Arial"/>
                <a:cs typeface="Arial"/>
                <a:sym typeface="Arial"/>
              </a:rPr>
              <a:t> is a change associated with prior experience. A correlation with repeated journeys points to a change in the circuit without naming the cellular mechanism. Yang and colleagues compared five homing releases while continuing to record hippocampal activity and position.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Routes became more efficient with repeated release experience. The differences between initial and en route theta, beta and high-gamma power narrowed, and the stage difference in theta–beta coupling approached zero. The source figure shows these changes across the five releases.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Repeated flights change the neural stage contrast as well as the route. Each release adds to the experience that narrows the difference between the two stages.</a:t>
            </a:r>
            <a:endParaRPr/>
          </a:p>
        </p:txBody>
      </p:sp>
      <p:pic>
        <p:nvPicPr>
          <p:cNvPr descr="Y25_4.png" id="634" name="Google Shape;634;p45"/>
          <p:cNvPicPr preferRelativeResize="0"/>
          <p:nvPr/>
        </p:nvPicPr>
        <p:blipFill rotWithShape="1">
          <a:blip r:embed="rId3">
            <a:alphaModFix/>
          </a:blip>
          <a:srcRect b="0" l="0" r="0" t="0"/>
          <a:stretch/>
        </p:blipFill>
        <p:spPr>
          <a:xfrm>
            <a:off x="6504127" y="1280160"/>
            <a:ext cx="5120640" cy="3826203"/>
          </a:xfrm>
          <a:prstGeom prst="rect">
            <a:avLst/>
          </a:prstGeom>
          <a:noFill/>
          <a:ln>
            <a:noFill/>
          </a:ln>
        </p:spPr>
      </p:pic>
      <p:sp>
        <p:nvSpPr>
          <p:cNvPr id="635" name="Google Shape;635;p45"/>
          <p:cNvSpPr txBox="1"/>
          <p:nvPr/>
        </p:nvSpPr>
        <p:spPr>
          <a:xfrm>
            <a:off x="6504127" y="51978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4A–D. Behavior and hippocampal activity across repeated releases.</a:t>
            </a:r>
            <a:endParaRPr/>
          </a:p>
        </p:txBody>
      </p:sp>
      <p:sp>
        <p:nvSpPr>
          <p:cNvPr id="636" name="Google Shape;636;p4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37" name="Google Shape;637;p4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38" name="Google Shape;638;p45"/>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45</a:t>
            </a:r>
            <a:endParaRPr/>
          </a:p>
        </p:txBody>
      </p:sp>
    </p:spTree>
  </p:cSld>
  <p:clrMapOvr>
    <a:masterClrMapping/>
  </p:clrMapOvr>
</p:sld>
</file>

<file path=ppt/slides/slide4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bg>
      <p:bgPr>
        <a:solidFill>
          <a:srgbClr val="FFFFFF"/>
        </a:solidFill>
      </p:bgPr>
    </p:bg>
    <p:spTree>
      <p:nvGrpSpPr>
        <p:cNvPr id="643" name="Shape 643"/>
        <p:cNvGrpSpPr/>
        <p:nvPr/>
      </p:nvGrpSpPr>
      <p:grpSpPr>
        <a:xfrm>
          <a:off x="0" y="0"/>
          <a:ext cx="0" cy="0"/>
          <a:chOff x="0" y="0"/>
          <a:chExt cx="0" cy="0"/>
        </a:xfrm>
      </p:grpSpPr>
      <p:sp>
        <p:nvSpPr>
          <p:cNvPr id="644" name="Google Shape;644;p46"/>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Key takeaways</a:t>
            </a:r>
            <a:endParaRPr/>
          </a:p>
        </p:txBody>
      </p:sp>
      <p:sp>
        <p:nvSpPr>
          <p:cNvPr id="645" name="Google Shape;645;p46"/>
          <p:cNvSpPr/>
          <p:nvPr/>
        </p:nvSpPr>
        <p:spPr>
          <a:xfrm>
            <a:off x="566928"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6" name="Google Shape;646;p46"/>
          <p:cNvSpPr txBox="1"/>
          <p:nvPr/>
        </p:nvSpPr>
        <p:spPr>
          <a:xfrm>
            <a:off x="749808"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Map and compass</a:t>
            </a:r>
            <a:r>
              <a:rPr b="0" i="0" lang="en-US" sz="1600" u="none" cap="none" strike="noStrike">
                <a:solidFill>
                  <a:srgbClr val="263139"/>
                </a:solidFill>
                <a:latin typeface="Arial"/>
                <a:ea typeface="Arial"/>
                <a:cs typeface="Arial"/>
                <a:sym typeface="Arial"/>
              </a:rPr>
              <a:t> solve different problems: estimating position relative to home and maintaining a directional reference.</a:t>
            </a:r>
            <a:endParaRPr/>
          </a:p>
        </p:txBody>
      </p:sp>
      <p:sp>
        <p:nvSpPr>
          <p:cNvPr id="647" name="Google Shape;647;p46"/>
          <p:cNvSpPr/>
          <p:nvPr/>
        </p:nvSpPr>
        <p:spPr>
          <a:xfrm>
            <a:off x="6233007" y="12344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48" name="Google Shape;648;p46"/>
          <p:cNvSpPr txBox="1"/>
          <p:nvPr/>
        </p:nvSpPr>
        <p:spPr>
          <a:xfrm>
            <a:off x="6415887" y="13716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Visual pilotage</a:t>
            </a:r>
            <a:r>
              <a:rPr b="0" i="0" lang="en-US" sz="1600" u="none" cap="none" strike="noStrike">
                <a:solidFill>
                  <a:srgbClr val="263139"/>
                </a:solidFill>
                <a:latin typeface="Arial"/>
                <a:ea typeface="Arial"/>
                <a:cs typeface="Arial"/>
                <a:sym typeface="Arial"/>
              </a:rPr>
              <a:t> supports individual familiar routes; clock-shifted pigeons can retain route shape while continuing to respond to compass information.</a:t>
            </a:r>
            <a:endParaRPr/>
          </a:p>
        </p:txBody>
      </p:sp>
      <p:sp>
        <p:nvSpPr>
          <p:cNvPr id="649" name="Google Shape;649;p46"/>
          <p:cNvSpPr/>
          <p:nvPr/>
        </p:nvSpPr>
        <p:spPr>
          <a:xfrm>
            <a:off x="566928"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0" name="Google Shape;650;p46"/>
          <p:cNvSpPr txBox="1"/>
          <p:nvPr/>
        </p:nvSpPr>
        <p:spPr>
          <a:xfrm>
            <a:off x="749808"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Environmental odors</a:t>
            </a:r>
            <a:r>
              <a:rPr b="0" i="0" lang="en-US" sz="1600" u="none" cap="none" strike="noStrike">
                <a:solidFill>
                  <a:srgbClr val="263139"/>
                </a:solidFill>
                <a:latin typeface="Arial"/>
                <a:ea typeface="Arial"/>
                <a:cs typeface="Arial"/>
                <a:sym typeface="Arial"/>
              </a:rPr>
              <a:t> support early homing in the controlled GPS experiment; artificial odor stimulation alone did not restore that performance.</a:t>
            </a:r>
            <a:endParaRPr/>
          </a:p>
        </p:txBody>
      </p:sp>
      <p:sp>
        <p:nvSpPr>
          <p:cNvPr id="651" name="Google Shape;651;p46"/>
          <p:cNvSpPr/>
          <p:nvPr/>
        </p:nvSpPr>
        <p:spPr>
          <a:xfrm>
            <a:off x="6233007" y="29870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2" name="Google Shape;652;p46"/>
          <p:cNvSpPr txBox="1"/>
          <p:nvPr/>
        </p:nvSpPr>
        <p:spPr>
          <a:xfrm>
            <a:off x="6415887" y="31242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Regional activation</a:t>
            </a:r>
            <a:r>
              <a:rPr b="0" i="0" lang="en-US" sz="1600" u="none" cap="none" strike="noStrike">
                <a:solidFill>
                  <a:srgbClr val="263139"/>
                </a:solidFill>
                <a:latin typeface="Arial"/>
                <a:ea typeface="Arial"/>
                <a:cs typeface="Arial"/>
                <a:sym typeface="Arial"/>
              </a:rPr>
              <a:t> links odor exposure and magnetic stimulation with specific brain regions, but immediate-early-gene labeling is not a real-time code or proof of behavioral causation.</a:t>
            </a:r>
            <a:endParaRPr/>
          </a:p>
        </p:txBody>
      </p:sp>
      <p:sp>
        <p:nvSpPr>
          <p:cNvPr id="653" name="Google Shape;653;p46"/>
          <p:cNvSpPr/>
          <p:nvPr/>
        </p:nvSpPr>
        <p:spPr>
          <a:xfrm>
            <a:off x="566928"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4" name="Google Shape;654;p46"/>
          <p:cNvSpPr txBox="1"/>
          <p:nvPr/>
        </p:nvSpPr>
        <p:spPr>
          <a:xfrm>
            <a:off x="749808"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Magnetic mechanisms</a:t>
            </a:r>
            <a:r>
              <a:rPr b="0" i="0" lang="en-US" sz="1600" u="none" cap="none" strike="noStrike">
                <a:solidFill>
                  <a:srgbClr val="263139"/>
                </a:solidFill>
                <a:latin typeface="Arial"/>
                <a:ea typeface="Arial"/>
                <a:cs typeface="Arial"/>
                <a:sym typeface="Arial"/>
              </a:rPr>
              <a:t> remain partly unresolved: iron-rich beak cells were macrophages, while V1-dependent responses identify an afferent contribution without locating its receptor.</a:t>
            </a:r>
            <a:endParaRPr/>
          </a:p>
        </p:txBody>
      </p:sp>
      <p:sp>
        <p:nvSpPr>
          <p:cNvPr id="655" name="Google Shape;655;p46"/>
          <p:cNvSpPr/>
          <p:nvPr/>
        </p:nvSpPr>
        <p:spPr>
          <a:xfrm>
            <a:off x="6233007" y="4739640"/>
            <a:ext cx="5391759" cy="1478279"/>
          </a:xfrm>
          <a:prstGeom prst="rect">
            <a:avLst/>
          </a:prstGeom>
          <a:solidFill>
            <a:srgbClr val="F0F3F4"/>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6" name="Google Shape;656;p46"/>
          <p:cNvSpPr txBox="1"/>
          <p:nvPr/>
        </p:nvSpPr>
        <p:spPr>
          <a:xfrm>
            <a:off x="6415887" y="4876800"/>
            <a:ext cx="5025999" cy="120395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1600" u="none" cap="none" strike="noStrike">
                <a:solidFill>
                  <a:srgbClr val="48545B"/>
                </a:solidFill>
                <a:latin typeface="Arial"/>
                <a:ea typeface="Arial"/>
                <a:cs typeface="Arial"/>
                <a:sym typeface="Arial"/>
              </a:rPr>
              <a:t>Hippocampal dynamics</a:t>
            </a:r>
            <a:r>
              <a:rPr b="0" i="0" lang="en-US" sz="1600" u="none" cap="none" strike="noStrike">
                <a:solidFill>
                  <a:srgbClr val="263139"/>
                </a:solidFill>
                <a:latin typeface="Arial"/>
                <a:ea typeface="Arial"/>
                <a:cs typeface="Arial"/>
                <a:sym typeface="Arial"/>
              </a:rPr>
              <a:t> vary with flight stage and experience; band power and theta–beta coupling are population correlations, not established cellular computations of a home vector.</a:t>
            </a:r>
            <a:endParaRPr/>
          </a:p>
        </p:txBody>
      </p:sp>
      <p:sp>
        <p:nvSpPr>
          <p:cNvPr id="657" name="Google Shape;657;p46"/>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658" name="Google Shape;658;p46"/>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 Gagliardo et al. (2011); Yang et al. (2025)</a:t>
            </a:r>
            <a:endParaRPr/>
          </a:p>
        </p:txBody>
      </p:sp>
      <p:sp>
        <p:nvSpPr>
          <p:cNvPr id="659" name="Google Shape;659;p46"/>
          <p:cNvSpPr txBox="1"/>
          <p:nvPr/>
        </p:nvSpPr>
        <p:spPr>
          <a:xfrm>
            <a:off x="11167567" y="6455664"/>
            <a:ext cx="457200"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46</a:t>
            </a:r>
            <a:endParaRP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92" name="Google Shape;592;p4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Band power changes between navigation stages</a:t>
            </a:r>
            <a:endParaRPr/>
          </a:p>
        </p:txBody>
      </p:sp>
      <p:sp>
        <p:nvSpPr>
          <p:cNvPr id="593" name="Google Shape;593;p42"/>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Spectral power</a:t>
            </a:r>
            <a:r>
              <a:rPr b="0" i="0" lang="en-US" sz="1500" u="none" cap="none" strike="noStrike">
                <a:solidFill>
                  <a:srgbClr val="263139"/>
                </a:solidFill>
                <a:latin typeface="Arial"/>
                <a:ea typeface="Arial"/>
                <a:cs typeface="Arial"/>
                <a:sym typeface="Arial"/>
              </a:rPr>
              <a:t> measures how much of a recorded voltage falls within a chosen frequency range. Yang and colleagues assigned theta to 4–12 Hz, beta to 12–30 Hz, low gamma to 30–60 Hz and high gamma to 60–120 Hz, so each band has a fixed range.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Theta and beta power ratios were higher in the initial decision-making stage than during en route flight. The high-gamma ratio rose en route, while low gamma showed no consistent difference between the stages. The comparisons used paired stages from the same homing flights.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stages therefore differ in how power is distributed across the bands rather than in a single overall increase. Each band reflects its own pattern of population activity.</a:t>
            </a:r>
            <a:endParaRPr/>
          </a:p>
        </p:txBody>
      </p:sp>
      <p:pic>
        <p:nvPicPr>
          <p:cNvPr descr="Y25_2C.png" id="594" name="Google Shape;594;p42"/>
          <p:cNvPicPr preferRelativeResize="0"/>
          <p:nvPr/>
        </p:nvPicPr>
        <p:blipFill rotWithShape="1">
          <a:blip r:embed="rId2">
            <a:alphaModFix/>
          </a:blip>
          <a:srcRect b="0" l="0" r="0" t="0"/>
          <a:stretch/>
        </p:blipFill>
        <p:spPr>
          <a:xfrm>
            <a:off x="6321247" y="1280160"/>
            <a:ext cx="3291840" cy="4273351"/>
          </a:xfrm>
          <a:prstGeom prst="rect">
            <a:avLst/>
          </a:prstGeom>
          <a:noFill/>
          <a:ln>
            <a:noFill/>
          </a:ln>
        </p:spPr>
      </p:pic>
      <p:sp>
        <p:nvSpPr>
          <p:cNvPr id="595" name="Google Shape;595;p42"/>
          <p:cNvSpPr txBox="1"/>
          <p:nvPr/>
        </p:nvSpPr>
        <p:spPr>
          <a:xfrm>
            <a:off x="6321247" y="5644951"/>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2C. Frequency-band power during initial and en route navigation.</a:t>
            </a:r>
            <a:endParaRPr/>
          </a:p>
        </p:txBody>
      </p:sp>
      <p:pic>
        <p:nvPicPr>
          <p:cNvPr descr="Y25_1BC.png" id="596" name="Google Shape;596;p42"/>
          <p:cNvPicPr preferRelativeResize="0"/>
          <p:nvPr/>
        </p:nvPicPr>
        <p:blipFill rotWithShape="1">
          <a:blip r:embed="rId3">
            <a:alphaModFix/>
          </a:blip>
          <a:srcRect b="0" l="0" r="0" t="0"/>
          <a:stretch/>
        </p:blipFill>
        <p:spPr>
          <a:xfrm>
            <a:off x="9795967" y="2148840"/>
            <a:ext cx="1828799" cy="2498034"/>
          </a:xfrm>
          <a:prstGeom prst="rect">
            <a:avLst/>
          </a:prstGeom>
          <a:noFill/>
          <a:ln>
            <a:noFill/>
          </a:ln>
        </p:spPr>
      </p:pic>
      <p:sp>
        <p:nvSpPr>
          <p:cNvPr id="597" name="Google Shape;597;p42"/>
          <p:cNvSpPr txBox="1"/>
          <p:nvPr/>
        </p:nvSpPr>
        <p:spPr>
          <a:xfrm>
            <a:off x="9795967" y="4720026"/>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98" name="Google Shape;598;p4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99" name="Google Shape;599;p4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600" name="Google Shape;600;p4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42a</a:t>
            </a:r>
            <a:endParaRP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52" name="Google Shape;552;p39"/>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Local field potentials sum population activity</a:t>
            </a:r>
            <a:endParaRPr/>
          </a:p>
        </p:txBody>
      </p:sp>
      <p:sp>
        <p:nvSpPr>
          <p:cNvPr id="553" name="Google Shape;553;p39"/>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local field potential</a:t>
            </a:r>
            <a:r>
              <a:rPr b="0" i="0" lang="en-US" sz="1500" u="none" cap="none" strike="noStrike">
                <a:solidFill>
                  <a:srgbClr val="263139"/>
                </a:solidFill>
                <a:latin typeface="Arial"/>
                <a:ea typeface="Arial"/>
                <a:cs typeface="Arial"/>
                <a:sym typeface="Arial"/>
              </a:rPr>
              <a:t>, or LFP, is an extracellular voltage that reflects coordinated activity in a population of neurons around the electrode. It differs from the spike of one identified neuron, because it sums the currents of many cells at once.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Yang and colleagues recorded hippocampal LFPs and the bird's position at the same time during outdoor homing flights. The electrodes sampled the left hippocampal formation, and the release sites lay more than 0.8 km from the loft. Trials were run in clear weather with low wind.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Recording the population signal during flight links a neural state to a particular stage of the trip. The shared time base lets each stage be matched to a moment in the recording.</a:t>
            </a:r>
            <a:endParaRPr/>
          </a:p>
        </p:txBody>
      </p:sp>
      <p:pic>
        <p:nvPicPr>
          <p:cNvPr descr="Y25_1BC.png" id="554" name="Google Shape;554;p39"/>
          <p:cNvPicPr preferRelativeResize="0"/>
          <p:nvPr/>
        </p:nvPicPr>
        <p:blipFill rotWithShape="1">
          <a:blip r:embed="rId2">
            <a:alphaModFix/>
          </a:blip>
          <a:srcRect b="0" l="0" r="0" t="0"/>
          <a:stretch/>
        </p:blipFill>
        <p:spPr>
          <a:xfrm>
            <a:off x="7491291" y="1280160"/>
            <a:ext cx="3146312" cy="4297679"/>
          </a:xfrm>
          <a:prstGeom prst="rect">
            <a:avLst/>
          </a:prstGeom>
          <a:noFill/>
          <a:ln>
            <a:noFill/>
          </a:ln>
        </p:spPr>
      </p:pic>
      <p:sp>
        <p:nvSpPr>
          <p:cNvPr id="555" name="Google Shape;555;p39"/>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Yang et al. (2025), Fig. 1C. Recording devices and hippocampal electrode placement.</a:t>
            </a:r>
            <a:endParaRPr/>
          </a:p>
        </p:txBody>
      </p:sp>
      <p:sp>
        <p:nvSpPr>
          <p:cNvPr id="556" name="Google Shape;556;p39"/>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57" name="Google Shape;557;p39"/>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Yang et al. (2025)</a:t>
            </a:r>
            <a:endParaRPr/>
          </a:p>
        </p:txBody>
      </p:sp>
      <p:sp>
        <p:nvSpPr>
          <p:cNvPr id="558" name="Google Shape;558;p39"/>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39a</a:t>
            </a:r>
            <a:endParaRP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528" name="Google Shape;528;p37"/>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Immune markers test cell identity in beak tissue</a:t>
            </a:r>
            <a:endParaRPr/>
          </a:p>
        </p:txBody>
      </p:sp>
      <p:sp>
        <p:nvSpPr>
          <p:cNvPr id="529" name="Google Shape;529;p37"/>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Macrophages</a:t>
            </a:r>
            <a:r>
              <a:rPr b="0" i="0" lang="en-US" sz="1500" u="none" cap="none" strike="noStrike">
                <a:solidFill>
                  <a:srgbClr val="263139"/>
                </a:solidFill>
                <a:latin typeface="Arial"/>
                <a:ea typeface="Arial"/>
                <a:cs typeface="Arial"/>
                <a:sym typeface="Arial"/>
              </a:rPr>
              <a:t> are immune cells that engulf material and take part in tissue defense. </a:t>
            </a:r>
            <a:r>
              <a:rPr b="1" i="0" lang="en-US" sz="1500" u="none" cap="none" strike="noStrike">
                <a:solidFill>
                  <a:srgbClr val="48545B"/>
                </a:solidFill>
                <a:latin typeface="Arial"/>
                <a:ea typeface="Arial"/>
                <a:cs typeface="Arial"/>
                <a:sym typeface="Arial"/>
              </a:rPr>
              <a:t>MHC II</a:t>
            </a:r>
            <a:r>
              <a:rPr b="0" i="0" lang="en-US" sz="1500" u="none" cap="none" strike="noStrike">
                <a:solidFill>
                  <a:srgbClr val="263139"/>
                </a:solidFill>
                <a:latin typeface="Arial"/>
                <a:ea typeface="Arial"/>
                <a:cs typeface="Arial"/>
                <a:sym typeface="Arial"/>
              </a:rPr>
              <a:t> is a cell-surface marker of antigen presentation that several immune cell types express. Treiber and colleagues combined this marker with iron staining to identify the beak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MHC II labeling colocalized with the iron-positive cells in the respiratory epithelium, the subepidermal tissue and the feather follicles. Together with the ultrastructure and the absence of convincing neuronal-marker labeling, this result identifies the cells as macrophages. The micrographs carry a 10 µm scale bar.</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Macrophages carry iron as a storage product, so the iron in these cells is stored rather than sensed. The identity of the cells rests on several markers taken together across the tissues.</a:t>
            </a:r>
            <a:endParaRPr/>
          </a:p>
        </p:txBody>
      </p:sp>
      <p:pic>
        <p:nvPicPr>
          <p:cNvPr descr="T12_4.png" id="530" name="Google Shape;530;p37"/>
          <p:cNvPicPr preferRelativeResize="0"/>
          <p:nvPr/>
        </p:nvPicPr>
        <p:blipFill rotWithShape="1">
          <a:blip r:embed="rId2">
            <a:alphaModFix/>
          </a:blip>
          <a:srcRect b="0" l="0" r="0" t="0"/>
          <a:stretch/>
        </p:blipFill>
        <p:spPr>
          <a:xfrm>
            <a:off x="6504127" y="1280160"/>
            <a:ext cx="5120640" cy="1500353"/>
          </a:xfrm>
          <a:prstGeom prst="rect">
            <a:avLst/>
          </a:prstGeom>
          <a:noFill/>
          <a:ln>
            <a:noFill/>
          </a:ln>
        </p:spPr>
      </p:pic>
      <p:sp>
        <p:nvSpPr>
          <p:cNvPr id="531" name="Google Shape;531;p37"/>
          <p:cNvSpPr txBox="1"/>
          <p:nvPr/>
        </p:nvSpPr>
        <p:spPr>
          <a:xfrm>
            <a:off x="6504127" y="287195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4a–c. MHC II staining of iron-positive beak cells.</a:t>
            </a:r>
            <a:endParaRPr/>
          </a:p>
        </p:txBody>
      </p:sp>
      <p:sp>
        <p:nvSpPr>
          <p:cNvPr id="532" name="Google Shape;532;p37"/>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533" name="Google Shape;533;p37"/>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534" name="Google Shape;534;p37"/>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37a</a:t>
            </a:r>
            <a:endParaRP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92" name="Google Shape;492;p34"/>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Stains locate iron, not the cell that holds it</a:t>
            </a:r>
            <a:endParaRPr/>
          </a:p>
        </p:txBody>
      </p:sp>
      <p:sp>
        <p:nvSpPr>
          <p:cNvPr id="493" name="Google Shape;493;p34"/>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Prussian blue</a:t>
            </a:r>
            <a:r>
              <a:rPr b="0" i="0" lang="en-US" sz="1500" u="none" cap="none" strike="noStrike">
                <a:solidFill>
                  <a:srgbClr val="263139"/>
                </a:solidFill>
                <a:latin typeface="Arial"/>
                <a:ea typeface="Arial"/>
                <a:cs typeface="Arial"/>
                <a:sym typeface="Arial"/>
              </a:rPr>
              <a:t> is a stain that reveals ferric iron in tissue. A stained spot shows where iron accumulates, but identifying the cell that holds it needs a second line of evidence, because iron also appears in metabolic storage and immune cells.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Treiber and colleagues stained pigeon upper beaks with Prussian blue and mapped the labeled cells through serial sections. The stained cells lay in the respiratory epithelium, the subepidermal tissue and the feather follicles. The position of each labeled cell is recorded together with its tissue.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stained positions give a map of where iron occurs, which is the first step toward identifying a magnetic receptor. Additional markers and ultrastructure then identify the stained cells.</a:t>
            </a:r>
            <a:endParaRPr/>
          </a:p>
        </p:txBody>
      </p:sp>
      <p:pic>
        <p:nvPicPr>
          <p:cNvPr descr="T12_1.png" id="494" name="Google Shape;494;p34"/>
          <p:cNvPicPr preferRelativeResize="0"/>
          <p:nvPr/>
        </p:nvPicPr>
        <p:blipFill rotWithShape="1">
          <a:blip r:embed="rId2">
            <a:alphaModFix/>
          </a:blip>
          <a:srcRect b="0" l="0" r="0" t="0"/>
          <a:stretch/>
        </p:blipFill>
        <p:spPr>
          <a:xfrm>
            <a:off x="7061211" y="1280160"/>
            <a:ext cx="4006471" cy="4297679"/>
          </a:xfrm>
          <a:prstGeom prst="rect">
            <a:avLst/>
          </a:prstGeom>
          <a:noFill/>
          <a:ln>
            <a:noFill/>
          </a:ln>
        </p:spPr>
      </p:pic>
      <p:sp>
        <p:nvSpPr>
          <p:cNvPr id="495" name="Google Shape;495;p34"/>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Treiber et al. (2012), Fig. 1a–k. Anatomical distribution and nucleation of iron-rich beak cells.</a:t>
            </a:r>
            <a:endParaRPr/>
          </a:p>
        </p:txBody>
      </p:sp>
      <p:sp>
        <p:nvSpPr>
          <p:cNvPr id="496" name="Google Shape;496;p34"/>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97" name="Google Shape;497;p34"/>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Treiber et al. (2012)</a:t>
            </a:r>
            <a:endParaRPr/>
          </a:p>
        </p:txBody>
      </p:sp>
      <p:sp>
        <p:nvSpPr>
          <p:cNvPr id="498" name="Google Shape;498;p34"/>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34a</a:t>
            </a:r>
            <a:endParaRP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54" name="Google Shape;454;p3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Tracing shows a route from V1 to labeled nuclei</a:t>
            </a:r>
            <a:endParaRPr/>
          </a:p>
        </p:txBody>
      </p:sp>
      <p:sp>
        <p:nvSpPr>
          <p:cNvPr id="455" name="Google Shape;455;p3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Neuronal tracing</a:t>
            </a:r>
            <a:r>
              <a:rPr b="0" i="0" lang="en-US" sz="1500" u="none" cap="none" strike="noStrike">
                <a:solidFill>
                  <a:srgbClr val="263139"/>
                </a:solidFill>
                <a:latin typeface="Arial"/>
                <a:ea typeface="Arial"/>
                <a:cs typeface="Arial"/>
                <a:sym typeface="Arial"/>
              </a:rPr>
              <a:t> follows the anatomical pathways that leave an injection site. Lefeldt and colleagues injected cholera toxin B into V1 to label its central projections. The labeled fibers were then compared with the regions that showed ZENK after magnetic stimulation.</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V1 fibers terminated in the principal and spinal trigeminal nuclei, the same nuclei that contained ZENK-positive cells. The overlays keep the position of each traced fiber relative to the activated cells, with scales of 100 µm and 200 µm. Acetylcholinesterase staining marked the nuclear boundaries, so each subdivision could be located precisely.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overlap places the magnetic response along a known route from the nerve to the brainstem. Acetylcholinesterase keeps the labeled tissue tied to the known anatomy of each nucleus.</a:t>
            </a:r>
            <a:endParaRPr/>
          </a:p>
        </p:txBody>
      </p:sp>
      <p:pic>
        <p:nvPicPr>
          <p:cNvPr descr="L14_2.png" id="456" name="Google Shape;456;p31"/>
          <p:cNvPicPr preferRelativeResize="0"/>
          <p:nvPr/>
        </p:nvPicPr>
        <p:blipFill rotWithShape="1">
          <a:blip r:embed="rId2">
            <a:alphaModFix/>
          </a:blip>
          <a:srcRect b="0" l="0" r="0" t="0"/>
          <a:stretch/>
        </p:blipFill>
        <p:spPr>
          <a:xfrm>
            <a:off x="6504127" y="1280160"/>
            <a:ext cx="5120640" cy="3501103"/>
          </a:xfrm>
          <a:prstGeom prst="rect">
            <a:avLst/>
          </a:prstGeom>
          <a:noFill/>
          <a:ln>
            <a:noFill/>
          </a:ln>
        </p:spPr>
      </p:pic>
      <p:sp>
        <p:nvSpPr>
          <p:cNvPr id="457" name="Google Shape;457;p31"/>
          <p:cNvSpPr txBox="1"/>
          <p:nvPr/>
        </p:nvSpPr>
        <p:spPr>
          <a:xfrm>
            <a:off x="6504127" y="4872703"/>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2a–f. Trigeminal anatomy, afferent tracing and ZENK labeling.</a:t>
            </a:r>
            <a:endParaRPr/>
          </a:p>
        </p:txBody>
      </p:sp>
      <p:sp>
        <p:nvSpPr>
          <p:cNvPr id="458" name="Google Shape;458;p3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59" name="Google Shape;459;p3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60" name="Google Shape;460;p3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31a</a:t>
            </a:r>
            <a:endParaRP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418" name="Google Shape;418;p2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Magnetic stimulation labels trigeminal nuclei</a:t>
            </a:r>
            <a:endParaRPr/>
          </a:p>
        </p:txBody>
      </p:sp>
      <p:sp>
        <p:nvSpPr>
          <p:cNvPr id="419" name="Google Shape;419;p2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trigeminal nerve</a:t>
            </a:r>
            <a:r>
              <a:rPr b="0" i="0" lang="en-US" sz="1500" u="none" cap="none" strike="noStrike">
                <a:solidFill>
                  <a:srgbClr val="263139"/>
                </a:solidFill>
                <a:latin typeface="Arial"/>
                <a:ea typeface="Arial"/>
                <a:cs typeface="Arial"/>
                <a:sym typeface="Arial"/>
              </a:rPr>
              <a:t> carries sensory information from the head, and its ophthalmic branch, V1, projects to brainstem trigeminal nuclei. Lefeldt and colleagues used ZENK labeling to ask whether changing magnetic fields activated these nuclei in pigeons.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Pigeons were exposed for 3 h to a constantly changing magnetic field, to a compensated zero field, or to the changing field after bilateral V1 section. ZENK was detected in the principal and spinal trigeminal nuclei after each exposure, and the pattern across the three groups shows where the changing field had its effect.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Labeling rose when the field changed and V1 was intact, and it fell when the field was removed or the nerve was cut. The response therefore runs through the peripheral sensory pathway that passes through V1.</a:t>
            </a:r>
            <a:endParaRPr/>
          </a:p>
        </p:txBody>
      </p:sp>
      <p:pic>
        <p:nvPicPr>
          <p:cNvPr descr="L14_1.png" id="420" name="Google Shape;420;p28"/>
          <p:cNvPicPr preferRelativeResize="0"/>
          <p:nvPr/>
        </p:nvPicPr>
        <p:blipFill rotWithShape="1">
          <a:blip r:embed="rId2">
            <a:alphaModFix/>
          </a:blip>
          <a:srcRect b="0" l="0" r="0" t="0"/>
          <a:stretch/>
        </p:blipFill>
        <p:spPr>
          <a:xfrm>
            <a:off x="6504127" y="1280160"/>
            <a:ext cx="5120640" cy="3829430"/>
          </a:xfrm>
          <a:prstGeom prst="rect">
            <a:avLst/>
          </a:prstGeom>
          <a:noFill/>
          <a:ln>
            <a:noFill/>
          </a:ln>
        </p:spPr>
      </p:pic>
      <p:sp>
        <p:nvSpPr>
          <p:cNvPr id="421" name="Google Shape;421;p28"/>
          <p:cNvSpPr txBox="1"/>
          <p:nvPr/>
        </p:nvSpPr>
        <p:spPr>
          <a:xfrm>
            <a:off x="6504127" y="5201030"/>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Lefeldt et al. (2014), Fig. 1a–f. ZENK labeling after magnetic stimulation and nerve section.</a:t>
            </a:r>
            <a:endParaRPr/>
          </a:p>
        </p:txBody>
      </p:sp>
      <p:sp>
        <p:nvSpPr>
          <p:cNvPr id="422" name="Google Shape;422;p2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423" name="Google Shape;423;p2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Lefeldt et al. (2014)</a:t>
            </a:r>
            <a:endParaRPr/>
          </a:p>
        </p:txBody>
      </p:sp>
      <p:sp>
        <p:nvSpPr>
          <p:cNvPr id="424" name="Google Shape;424;p2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28a</a:t>
            </a:r>
            <a:endParaRP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76" name="Google Shape;376;p2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c-Fos maps regional activity, not single neurons</a:t>
            </a:r>
            <a:endParaRPr/>
          </a:p>
        </p:txBody>
      </p:sp>
      <p:sp>
        <p:nvSpPr>
          <p:cNvPr id="377" name="Google Shape;377;p25"/>
          <p:cNvSpPr txBox="1"/>
          <p:nvPr/>
        </p:nvSpPr>
        <p:spPr>
          <a:xfrm>
            <a:off x="566928" y="1234440"/>
            <a:ext cx="538855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t>
            </a:r>
            <a:r>
              <a:rPr b="1" i="0" lang="en-US" sz="1500" u="none" cap="none" strike="noStrike">
                <a:solidFill>
                  <a:srgbClr val="48545B"/>
                </a:solidFill>
                <a:latin typeface="Arial"/>
                <a:ea typeface="Arial"/>
                <a:cs typeface="Arial"/>
                <a:sym typeface="Arial"/>
              </a:rPr>
              <a:t>dorsolateral hippocampal area</a:t>
            </a:r>
            <a:r>
              <a:rPr b="0" i="0" lang="en-US" sz="1500" u="none" cap="none" strike="noStrike">
                <a:solidFill>
                  <a:srgbClr val="263139"/>
                </a:solidFill>
                <a:latin typeface="Arial"/>
                <a:ea typeface="Arial"/>
                <a:cs typeface="Arial"/>
                <a:sym typeface="Arial"/>
              </a:rPr>
              <a:t> is one subdivision of the pigeon hippocampal formation, distinct from its dorsomedial and triangular subdivisions. Jorge and colleagues measured c-Fos labeling separately in each region, so the forebrain response is not treated as uniform across the hippocampus.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Natural odors during displacement and unfamiliar artificial odors increased dorsolateral activation relative to filtered air. Artificial odor exposure at the home loft produced activation comparable to the displacement groups. The dorsolateral subdivision responded most strongly to the odor treatments.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same region responds to odor even when the bird has not been moved. Odor exposure alone is therefore enough to activate this part of the hippocampus.</a:t>
            </a:r>
            <a:endParaRPr/>
          </a:p>
        </p:txBody>
      </p:sp>
      <p:pic>
        <p:nvPicPr>
          <p:cNvPr descr="J14_3ef.png" id="378" name="Google Shape;378;p25"/>
          <p:cNvPicPr preferRelativeResize="0"/>
          <p:nvPr/>
        </p:nvPicPr>
        <p:blipFill rotWithShape="1">
          <a:blip r:embed="rId2">
            <a:alphaModFix/>
          </a:blip>
          <a:srcRect b="0" l="0" r="0" t="0"/>
          <a:stretch/>
        </p:blipFill>
        <p:spPr>
          <a:xfrm>
            <a:off x="6321247" y="1280160"/>
            <a:ext cx="3291840" cy="1092864"/>
          </a:xfrm>
          <a:prstGeom prst="rect">
            <a:avLst/>
          </a:prstGeom>
          <a:noFill/>
          <a:ln>
            <a:noFill/>
          </a:ln>
        </p:spPr>
      </p:pic>
      <p:sp>
        <p:nvSpPr>
          <p:cNvPr id="379" name="Google Shape;379;p25"/>
          <p:cNvSpPr txBox="1"/>
          <p:nvPr/>
        </p:nvSpPr>
        <p:spPr>
          <a:xfrm>
            <a:off x="6321247" y="2464464"/>
            <a:ext cx="32918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3e–f. Dorsomedial and dorsolateral hippocampal activation.</a:t>
            </a:r>
            <a:endParaRPr/>
          </a:p>
        </p:txBody>
      </p:sp>
      <p:pic>
        <p:nvPicPr>
          <p:cNvPr descr="J14_1.png" id="380" name="Google Shape;380;p25"/>
          <p:cNvPicPr preferRelativeResize="0"/>
          <p:nvPr/>
        </p:nvPicPr>
        <p:blipFill rotWithShape="1">
          <a:blip r:embed="rId3">
            <a:alphaModFix/>
          </a:blip>
          <a:srcRect b="0" l="0" r="0" t="0"/>
          <a:stretch/>
        </p:blipFill>
        <p:spPr>
          <a:xfrm>
            <a:off x="9795967" y="2148840"/>
            <a:ext cx="1828799" cy="1211193"/>
          </a:xfrm>
          <a:prstGeom prst="rect">
            <a:avLst/>
          </a:prstGeom>
          <a:noFill/>
          <a:ln>
            <a:noFill/>
          </a:ln>
        </p:spPr>
      </p:pic>
      <p:sp>
        <p:nvSpPr>
          <p:cNvPr id="381" name="Google Shape;381;p25"/>
          <p:cNvSpPr txBox="1"/>
          <p:nvPr/>
        </p:nvSpPr>
        <p:spPr>
          <a:xfrm>
            <a:off x="9795967" y="3433185"/>
            <a:ext cx="1828799"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Jorge et al. (2014), Fig. 1a–g. Treatment conditions and sampled forebrain and vestibular anatomy.</a:t>
            </a:r>
            <a:endParaRPr/>
          </a:p>
        </p:txBody>
      </p:sp>
      <p:sp>
        <p:nvSpPr>
          <p:cNvPr id="382" name="Google Shape;382;p2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83" name="Google Shape;383;p2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Jorge et al. (2014)</a:t>
            </a:r>
            <a:endParaRPr/>
          </a:p>
        </p:txBody>
      </p:sp>
      <p:sp>
        <p:nvSpPr>
          <p:cNvPr id="384" name="Google Shape;384;p2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25a</a:t>
            </a:r>
            <a:endParaRP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338" name="Google Shape;338;p22"/>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Bearings and tracks describe different flight phases</a:t>
            </a:r>
            <a:endParaRPr/>
          </a:p>
        </p:txBody>
      </p:sp>
      <p:sp>
        <p:nvSpPr>
          <p:cNvPr id="339" name="Google Shape;339;p22"/>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vanishing bearing</a:t>
            </a:r>
            <a:r>
              <a:rPr b="0" i="0" lang="en-US" sz="1500" u="none" cap="none" strike="noStrike">
                <a:solidFill>
                  <a:srgbClr val="263139"/>
                </a:solidFill>
                <a:latin typeface="Arial"/>
                <a:ea typeface="Arial"/>
                <a:cs typeface="Arial"/>
                <a:sym typeface="Arial"/>
              </a:rPr>
              <a:t> is the compass direction in which a released bird disappears from view. It records the first moments of the flight. A complete GPS track instead records the whole journey, including circling, stops, course correction and progress toward home.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Bearings from the early part of each track did not reflect all the differences that appeared over the first hour. At the 53 km release, artificial-odor birds could leave in a set direction and then make little homeward progress. The full track revealed a deficit that the departure alone did not show.</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can leave in a reasonable direction and then correct later, or leave poorly and recover. The full track is what shows how well the bird navigated.</a:t>
            </a:r>
            <a:endParaRPr/>
          </a:p>
        </p:txBody>
      </p:sp>
      <p:pic>
        <p:nvPicPr>
          <p:cNvPr descr="G11_2.png" id="340" name="Google Shape;340;p22"/>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341" name="Google Shape;341;p22"/>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342" name="Google Shape;342;p22"/>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343" name="Google Shape;343;p22"/>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344" name="Google Shape;344;p22"/>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22a</a:t>
            </a:r>
            <a:endParaRP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90" name="Google Shape;290;p1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Nasal anesthesia applies the same block to all groups</a:t>
            </a:r>
            <a:endParaRPr/>
          </a:p>
        </p:txBody>
      </p:sp>
      <p:sp>
        <p:nvSpPr>
          <p:cNvPr id="291" name="Google Shape;291;p1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nasal block</a:t>
            </a:r>
            <a:r>
              <a:rPr b="0" i="0" lang="en-US" sz="1500" u="none" cap="none" strike="noStrike">
                <a:solidFill>
                  <a:srgbClr val="263139"/>
                </a:solidFill>
                <a:latin typeface="Arial"/>
                <a:ea typeface="Arial"/>
                <a:cs typeface="Arial"/>
                <a:sym typeface="Arial"/>
              </a:rPr>
              <a:t> removes the sense of smell for a short time by anesthetizing the olfactory mucosa. Gagliardo and colleagues applied Xylocaine immediately before release, so every pigeon lost new odor input during early flight. The earlier odor histories of the groups stay in place.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birds had already been exposed to natural air, filtered air or artificial odors during transport and before takeoff. Releases occurred at sites 53 km and 61 km from home. The nasal block therefore limited new odor sampling for every group, while the earlier exposure differences remained.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anesthetic wears off during the flight, so the later part of each track reflects the return of smell. The timing of that recovery is part of each measured flight.</a:t>
            </a:r>
            <a:endParaRPr/>
          </a:p>
        </p:txBody>
      </p:sp>
      <p:pic>
        <p:nvPicPr>
          <p:cNvPr descr="G11_2.png" id="292" name="Google Shape;292;p18"/>
          <p:cNvPicPr preferRelativeResize="0"/>
          <p:nvPr/>
        </p:nvPicPr>
        <p:blipFill rotWithShape="1">
          <a:blip r:embed="rId2">
            <a:alphaModFix/>
          </a:blip>
          <a:srcRect b="0" l="0" r="0" t="0"/>
          <a:stretch/>
        </p:blipFill>
        <p:spPr>
          <a:xfrm>
            <a:off x="7230861" y="1280160"/>
            <a:ext cx="3667171" cy="4297679"/>
          </a:xfrm>
          <a:prstGeom prst="rect">
            <a:avLst/>
          </a:prstGeom>
          <a:noFill/>
          <a:ln>
            <a:noFill/>
          </a:ln>
        </p:spPr>
      </p:pic>
      <p:sp>
        <p:nvSpPr>
          <p:cNvPr id="293" name="Google Shape;293;p1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2. Contrasting routes after the three odor treatments.</a:t>
            </a:r>
            <a:endParaRPr/>
          </a:p>
        </p:txBody>
      </p:sp>
      <p:sp>
        <p:nvSpPr>
          <p:cNvPr id="294" name="Google Shape;294;p1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95" name="Google Shape;295;p1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96" name="Google Shape;296;p1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18a</a:t>
            </a:r>
            <a:endParaRP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54" name="Google Shape;254;p1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Olfactory map versus activation hypothesis</a:t>
            </a:r>
            <a:endParaRPr/>
          </a:p>
        </p:txBody>
      </p:sp>
      <p:sp>
        <p:nvSpPr>
          <p:cNvPr id="255" name="Google Shape;255;p1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An </a:t>
            </a:r>
            <a:r>
              <a:rPr b="1" i="0" lang="en-US" sz="1500" u="none" cap="none" strike="noStrike">
                <a:solidFill>
                  <a:srgbClr val="48545B"/>
                </a:solidFill>
                <a:latin typeface="Arial"/>
                <a:ea typeface="Arial"/>
                <a:cs typeface="Arial"/>
                <a:sym typeface="Arial"/>
              </a:rPr>
              <a:t>olfactory map</a:t>
            </a:r>
            <a:r>
              <a:rPr b="0" i="0" lang="en-US" sz="1500" u="none" cap="none" strike="noStrike">
                <a:solidFill>
                  <a:srgbClr val="263139"/>
                </a:solidFill>
                <a:latin typeface="Arial"/>
                <a:ea typeface="Arial"/>
                <a:cs typeface="Arial"/>
                <a:sym typeface="Arial"/>
              </a:rPr>
              <a:t> uses learned odor information to estimate position relative to home, so the smell of a place carries location. An </a:t>
            </a:r>
            <a:r>
              <a:rPr b="1" i="0" lang="en-US" sz="1500" u="none" cap="none" strike="noStrike">
                <a:solidFill>
                  <a:srgbClr val="48545B"/>
                </a:solidFill>
                <a:latin typeface="Arial"/>
                <a:ea typeface="Arial"/>
                <a:cs typeface="Arial"/>
                <a:sym typeface="Arial"/>
              </a:rPr>
              <a:t>olfactory activation hypothesis</a:t>
            </a:r>
            <a:r>
              <a:rPr b="0" i="0" lang="en-US" sz="1500" u="none" cap="none" strike="noStrike">
                <a:solidFill>
                  <a:srgbClr val="263139"/>
                </a:solidFill>
                <a:latin typeface="Arial"/>
                <a:ea typeface="Arial"/>
                <a:cs typeface="Arial"/>
                <a:sym typeface="Arial"/>
              </a:rPr>
              <a:t> proposes that the experience of unfamiliar odors helps navigation even when the odors carry no location information. The two accounts predict different results when the odor history is changed.</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Gagliardo and colleagues transported pigeons in containers supplied with natural air, charcoal-filtered air or filtered air with artificial plant odors. Artificial odor puffs were supplied about every 20 min during transport and while the birds waited at the release site. Each group carried a different odor history into the release.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activation account predicts that artificial odors should help as much as natural air. The map account predicts that only natural air helps, because only natural air carries the geographical odor signature. The later tracks decide between these predictions.</a:t>
            </a:r>
            <a:endParaRPr/>
          </a:p>
        </p:txBody>
      </p:sp>
      <p:pic>
        <p:nvPicPr>
          <p:cNvPr descr="G11_1.png" id="256" name="Google Shape;256;p15"/>
          <p:cNvPicPr preferRelativeResize="0"/>
          <p:nvPr/>
        </p:nvPicPr>
        <p:blipFill rotWithShape="1">
          <a:blip r:embed="rId2">
            <a:alphaModFix/>
          </a:blip>
          <a:srcRect b="0" l="0" r="0" t="0"/>
          <a:stretch/>
        </p:blipFill>
        <p:spPr>
          <a:xfrm>
            <a:off x="6504127" y="1280160"/>
            <a:ext cx="5120640" cy="3159058"/>
          </a:xfrm>
          <a:prstGeom prst="rect">
            <a:avLst/>
          </a:prstGeom>
          <a:noFill/>
          <a:ln>
            <a:noFill/>
          </a:ln>
        </p:spPr>
      </p:pic>
      <p:sp>
        <p:nvSpPr>
          <p:cNvPr id="257" name="Google Shape;257;p15"/>
          <p:cNvSpPr txBox="1"/>
          <p:nvPr/>
        </p:nvSpPr>
        <p:spPr>
          <a:xfrm>
            <a:off x="6504127" y="4530658"/>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Gagliardo et al. (2011), Fig. 1. Homing tracks after natural air, filtered air or artificial odors.</a:t>
            </a:r>
            <a:endParaRPr/>
          </a:p>
        </p:txBody>
      </p:sp>
      <p:sp>
        <p:nvSpPr>
          <p:cNvPr id="258" name="Google Shape;258;p1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59" name="Google Shape;259;p1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Gagliardo et al. (2011)</a:t>
            </a:r>
            <a:endParaRPr/>
          </a:p>
        </p:txBody>
      </p:sp>
      <p:sp>
        <p:nvSpPr>
          <p:cNvPr id="260" name="Google Shape;260;p1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15a</a:t>
            </a:r>
            <a:endParaRP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206" name="Google Shape;206;p11"/>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Parallel offsets keep shape while shifting position</a:t>
            </a:r>
            <a:endParaRPr/>
          </a:p>
        </p:txBody>
      </p:sp>
      <p:sp>
        <p:nvSpPr>
          <p:cNvPr id="207" name="Google Shape;207;p11"/>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parallel offset</a:t>
            </a:r>
            <a:r>
              <a:rPr b="0" i="0" lang="en-US" sz="1500" u="none" cap="none" strike="noStrike">
                <a:solidFill>
                  <a:srgbClr val="263139"/>
                </a:solidFill>
                <a:latin typeface="Arial"/>
                <a:ea typeface="Arial"/>
                <a:cs typeface="Arial"/>
                <a:sym typeface="Arial"/>
              </a:rPr>
              <a:t> is a flight that keeps the shape of an earlier route while sitting consistently to one side of it. The bird maintains the sequence of turns and the overall form of the route, and only its position changes sideways.</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After the clock shift, some highly familiar pigeons flew parallel to their former tracks on the anticlockwise side. Route-relative vectors measured the lateral offset in metres, with reference rings at 100, 300 and 500 m. The offsets were consistent across the birds that showed them.</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parallel offset combines recognition of the route with a directional correction from the compass. The shape of the familiar route is kept while the whole route is moved to one side.</a:t>
            </a:r>
            <a:endParaRPr/>
          </a:p>
        </p:txBody>
      </p:sp>
      <p:pic>
        <p:nvPicPr>
          <p:cNvPr descr="B07_2B.png" id="208" name="Google Shape;208;p11"/>
          <p:cNvPicPr preferRelativeResize="0"/>
          <p:nvPr/>
        </p:nvPicPr>
        <p:blipFill rotWithShape="1">
          <a:blip r:embed="rId2">
            <a:alphaModFix/>
          </a:blip>
          <a:srcRect b="0" l="0" r="0" t="0"/>
          <a:stretch/>
        </p:blipFill>
        <p:spPr>
          <a:xfrm>
            <a:off x="6717157" y="1280160"/>
            <a:ext cx="4694579" cy="4297679"/>
          </a:xfrm>
          <a:prstGeom prst="rect">
            <a:avLst/>
          </a:prstGeom>
          <a:noFill/>
          <a:ln>
            <a:noFill/>
          </a:ln>
        </p:spPr>
      </p:pic>
      <p:sp>
        <p:nvSpPr>
          <p:cNvPr id="209" name="Google Shape;209;p11"/>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2B. Route-relative distances and angles before and after clock shift.</a:t>
            </a:r>
            <a:endParaRPr/>
          </a:p>
        </p:txBody>
      </p:sp>
      <p:sp>
        <p:nvSpPr>
          <p:cNvPr id="210" name="Google Shape;210;p11"/>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211" name="Google Shape;211;p11"/>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212" name="Google Shape;212;p11"/>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11a</a:t>
            </a:r>
            <a:endParaRP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70" name="Google Shape;170;p8"/>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Time-compensated sun compass uses the sun and clock</a:t>
            </a:r>
            <a:endParaRPr/>
          </a:p>
        </p:txBody>
      </p:sp>
      <p:sp>
        <p:nvSpPr>
          <p:cNvPr id="171" name="Google Shape;171;p8"/>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time-compensated sun compass</a:t>
            </a:r>
            <a:r>
              <a:rPr b="0" i="0" lang="en-US" sz="1500" u="none" cap="none" strike="noStrike">
                <a:solidFill>
                  <a:srgbClr val="263139"/>
                </a:solidFill>
                <a:latin typeface="Arial"/>
                <a:ea typeface="Arial"/>
                <a:cs typeface="Arial"/>
                <a:sym typeface="Arial"/>
              </a:rPr>
              <a:t> combines the sun's position with the bird's internal sense of time to estimate a direction. The sun moves across the sky at a steady rate, so the same solar position corresponds to a different compass direction at a different hour. Keeping the internal clock matched to local time keeps the sun compass accurate.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shifted the birds' clock by delaying artificial sunrise and sunset by 4 h for 5–7 days. The shift predicted a solar-compass error of about 90° on the release dates. Tracks after treatment were set against each bird's earlier flights, so every pigeon's own route served as its baseline.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bird that follows its familiar route ignores part of the compass error, whereas a bird that trusts the compass moves away from the route. Each track shows which of these two cues the bird weights more heavily.</a:t>
            </a:r>
            <a:endParaRPr/>
          </a:p>
        </p:txBody>
      </p:sp>
      <p:pic>
        <p:nvPicPr>
          <p:cNvPr descr="B07_2A.png" id="172" name="Google Shape;172;p8"/>
          <p:cNvPicPr preferRelativeResize="0"/>
          <p:nvPr/>
        </p:nvPicPr>
        <p:blipFill rotWithShape="1">
          <a:blip r:embed="rId2">
            <a:alphaModFix/>
          </a:blip>
          <a:srcRect b="0" l="0" r="0" t="0"/>
          <a:stretch/>
        </p:blipFill>
        <p:spPr>
          <a:xfrm>
            <a:off x="6738290" y="1280160"/>
            <a:ext cx="4652313" cy="4297679"/>
          </a:xfrm>
          <a:prstGeom prst="rect">
            <a:avLst/>
          </a:prstGeom>
          <a:noFill/>
          <a:ln>
            <a:noFill/>
          </a:ln>
        </p:spPr>
      </p:pic>
      <p:sp>
        <p:nvSpPr>
          <p:cNvPr id="173" name="Google Shape;173;p8"/>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(2007), Fig. 2A. A clock-shifted track and nearest-neighbour vectors.</a:t>
            </a:r>
            <a:endParaRPr/>
          </a:p>
        </p:txBody>
      </p:sp>
      <p:sp>
        <p:nvSpPr>
          <p:cNvPr id="174" name="Google Shape;174;p8"/>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75" name="Google Shape;175;p8"/>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(2007)</a:t>
            </a:r>
            <a:endParaRPr/>
          </a:p>
        </p:txBody>
      </p:sp>
      <p:sp>
        <p:nvSpPr>
          <p:cNvPr id="176" name="Google Shape;176;p8"/>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08a</a:t>
            </a:r>
            <a:endParaRP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34" name="Google Shape;134;p5"/>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Convergence reveals a pull toward a learned corridor</a:t>
            </a:r>
            <a:endParaRPr/>
          </a:p>
        </p:txBody>
      </p:sp>
      <p:sp>
        <p:nvSpPr>
          <p:cNvPr id="135" name="Google Shape;135;p5"/>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1" i="0" lang="en-US" sz="1500" u="none" cap="none" strike="noStrike">
                <a:solidFill>
                  <a:srgbClr val="48545B"/>
                </a:solidFill>
                <a:latin typeface="Arial"/>
                <a:ea typeface="Arial"/>
                <a:cs typeface="Arial"/>
                <a:sym typeface="Arial"/>
              </a:rPr>
              <a:t>Convergence</a:t>
            </a:r>
            <a:r>
              <a:rPr b="0" i="0" lang="en-US" sz="1500" u="none" cap="none" strike="noStrike">
                <a:solidFill>
                  <a:srgbClr val="263139"/>
                </a:solidFill>
                <a:latin typeface="Arial"/>
                <a:ea typeface="Arial"/>
                <a:cs typeface="Arial"/>
                <a:sym typeface="Arial"/>
              </a:rPr>
              <a:t> is the movement of a displaced bird back toward a route it has flown before. In an off-route release, the bird begins far from its usual corridor, so any turn toward the old track shows what draws it. Biro and colleagues recorded the complete homing track of each pigeon to see whether it headed straight for the loft or first rejoined the familiar route.</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Many off-route tracks merged with the previously used corridor before continuing toward home. The published maps show training and test tracks at a scale of about 2 km, so each displacement can be read against the surrounding terrain. The merge happened far from the release point, which places the pull of the route over a broad area.</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The merging points to attraction toward familiar visual landmarks, with the bird reaching recognized features before it turns toward the loft. Other navigational systems remained available during the same flights.</a:t>
            </a:r>
            <a:endParaRPr/>
          </a:p>
        </p:txBody>
      </p:sp>
      <p:pic>
        <p:nvPicPr>
          <p:cNvPr descr="B04_1A.png" id="136" name="Google Shape;136;p5"/>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37" name="Google Shape;137;p5"/>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38" name="Google Shape;138;p5"/>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39" name="Google Shape;139;p5"/>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40" name="Google Shape;140;p5"/>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05a</a:t>
            </a:r>
            <a:endParaRP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p:bgPr>
    </p:bg>
    <p:spTree>
      <p:nvGrpSpPr>
        <p:cNvPr id="1" name=""/>
        <p:cNvGrpSpPr/>
        <p:nvPr/>
      </p:nvGrpSpPr>
      <p:grpSpPr/>
      <p:sp>
        <p:nvSpPr>
          <p:cNvPr id="110" name="Google Shape;110;p3"/>
          <p:cNvSpPr txBox="1"/>
          <p:nvPr/>
        </p:nvSpPr>
        <p:spPr>
          <a:xfrm>
            <a:off x="566928" y="329184"/>
            <a:ext cx="11057839" cy="566928"/>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1" i="0" lang="en-US" sz="3000" u="none" cap="none" strike="noStrike">
                <a:solidFill>
                  <a:srgbClr val="48545B"/>
                </a:solidFill>
                <a:latin typeface="Arial"/>
                <a:ea typeface="Arial"/>
                <a:cs typeface="Arial"/>
                <a:sym typeface="Arial"/>
              </a:rPr>
              <a:t>Corridor width measures how consistent a route is</a:t>
            </a:r>
            <a:endParaRPr/>
          </a:p>
        </p:txBody>
      </p:sp>
      <p:sp>
        <p:nvSpPr>
          <p:cNvPr id="111" name="Google Shape;111;p3"/>
          <p:cNvSpPr txBox="1"/>
          <p:nvPr/>
        </p:nvSpPr>
        <p:spPr>
          <a:xfrm>
            <a:off x="566928" y="1234440"/>
            <a:ext cx="5571439" cy="4983479"/>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a:t>
            </a:r>
            <a:r>
              <a:rPr b="1" i="0" lang="en-US" sz="1500" u="none" cap="none" strike="noStrike">
                <a:solidFill>
                  <a:srgbClr val="48545B"/>
                </a:solidFill>
                <a:latin typeface="Arial"/>
                <a:ea typeface="Arial"/>
                <a:cs typeface="Arial"/>
                <a:sym typeface="Arial"/>
              </a:rPr>
              <a:t>corridor</a:t>
            </a:r>
            <a:r>
              <a:rPr b="0" i="0" lang="en-US" sz="1500" u="none" cap="none" strike="noStrike">
                <a:solidFill>
                  <a:srgbClr val="263139"/>
                </a:solidFill>
                <a:latin typeface="Arial"/>
                <a:ea typeface="Arial"/>
                <a:cs typeface="Arial"/>
                <a:sym typeface="Arial"/>
              </a:rPr>
              <a:t> is the band of ground that a bird covers repeatedly when it flies home along the same learned path. Its width describes how tightly a bird's training tracks cluster around one route. A narrow corridor means the bird returns to nearly the same ground on each journey, while a wide corridor means its paths vary more from flight to flight.</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Biro and colleagues measured corridor widths from each bird's final training tracks and expressed them relative to route length. The average width was 151 m at Weston Wood and 176 m at High Cogges. Scaling by route length places routes of different lengths on one scale, so the widths can be compared directly.</a:t>
            </a:r>
            <a:endParaRPr/>
          </a:p>
          <a:p>
            <a:pPr indent="0" lvl="0" marL="0" marR="0" rtl="0" algn="l">
              <a:lnSpc>
                <a:spcPct val="108000"/>
              </a:lnSpc>
              <a:spcBef>
                <a:spcPts val="0"/>
              </a:spcBef>
              <a:spcAft>
                <a:spcPts val="1200"/>
              </a:spcAft>
              <a:buNone/>
            </a:pPr>
            <a:r>
              <a:rPr b="0" i="0" lang="en-US" sz="1500" u="none" cap="none" strike="noStrike">
                <a:solidFill>
                  <a:srgbClr val="263139"/>
                </a:solidFill>
                <a:latin typeface="Arial"/>
                <a:ea typeface="Arial"/>
                <a:cs typeface="Arial"/>
                <a:sym typeface="Arial"/>
              </a:rPr>
              <a:t>A consistent route can still be indirect, so the width measures repeatability of the path rather than accuracy of arrival at the loft. The GPS records supply the positions used to calculate each width.</a:t>
            </a:r>
            <a:endParaRPr/>
          </a:p>
        </p:txBody>
      </p:sp>
      <p:pic>
        <p:nvPicPr>
          <p:cNvPr descr="B04_1A.png" id="112" name="Google Shape;112;p3"/>
          <p:cNvPicPr preferRelativeResize="0"/>
          <p:nvPr/>
        </p:nvPicPr>
        <p:blipFill rotWithShape="1">
          <a:blip r:embed="rId2">
            <a:alphaModFix/>
          </a:blip>
          <a:srcRect b="0" l="0" r="0" t="0"/>
          <a:stretch/>
        </p:blipFill>
        <p:spPr>
          <a:xfrm>
            <a:off x="7310292" y="1280160"/>
            <a:ext cx="3508310" cy="4297679"/>
          </a:xfrm>
          <a:prstGeom prst="rect">
            <a:avLst/>
          </a:prstGeom>
          <a:noFill/>
          <a:ln>
            <a:noFill/>
          </a:ln>
        </p:spPr>
      </p:pic>
      <p:sp>
        <p:nvSpPr>
          <p:cNvPr id="113" name="Google Shape;113;p3"/>
          <p:cNvSpPr txBox="1"/>
          <p:nvPr/>
        </p:nvSpPr>
        <p:spPr>
          <a:xfrm>
            <a:off x="6504127" y="5669279"/>
            <a:ext cx="5120640" cy="50292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1000" u="none" cap="none" strike="noStrike">
                <a:solidFill>
                  <a:srgbClr val="64717A"/>
                </a:solidFill>
                <a:latin typeface="Arial"/>
                <a:ea typeface="Arial"/>
                <a:cs typeface="Arial"/>
                <a:sym typeface="Arial"/>
              </a:rPr>
              <a:t>Biro et al. (2004), Fig. 1A. Training and off-route homing tracks at Weston Wood.</a:t>
            </a:r>
            <a:endParaRPr/>
          </a:p>
        </p:txBody>
      </p:sp>
      <p:sp>
        <p:nvSpPr>
          <p:cNvPr id="114" name="Google Shape;114;p3"/>
          <p:cNvSpPr/>
          <p:nvPr/>
        </p:nvSpPr>
        <p:spPr>
          <a:xfrm>
            <a:off x="566928" y="6382512"/>
            <a:ext cx="11057839" cy="9144"/>
          </a:xfrm>
          <a:prstGeom prst="rect">
            <a:avLst/>
          </a:prstGeom>
          <a:solidFill>
            <a:srgbClr val="D0D9DE"/>
          </a:solidFill>
          <a:ln>
            <a:noFill/>
          </a:ln>
        </p:spPr>
        <p:txBody>
          <a:bodyPr anchorCtr="0" anchor="ctr" bIns="45700" lIns="91425" spcFirstLastPara="1" rIns="91425" wrap="square" tIns="45700">
            <a:noAutofit/>
          </a:bodyPr>
          <a:lstStyle/>
          <a:p>
            <a:pPr indent="0" lvl="0" marL="0" marR="0" rtl="0" algn="ctr">
              <a:spcBef>
                <a:spcPts val="0"/>
              </a:spcBef>
              <a:spcAft>
                <a:spcPts val="0"/>
              </a:spcAft>
              <a:buNone/>
            </a:pPr>
            <a:r>
              <a:t/>
            </a:r>
            <a:endParaRPr b="0" i="0" sz="1800" u="none" cap="none" strike="noStrike">
              <a:solidFill>
                <a:schemeClr val="dk1"/>
              </a:solidFill>
              <a:latin typeface="Calibri"/>
              <a:ea typeface="Calibri"/>
              <a:cs typeface="Calibri"/>
              <a:sym typeface="Calibri"/>
            </a:endParaRPr>
          </a:p>
        </p:txBody>
      </p:sp>
      <p:sp>
        <p:nvSpPr>
          <p:cNvPr id="115" name="Google Shape;115;p3"/>
          <p:cNvSpPr txBox="1"/>
          <p:nvPr/>
        </p:nvSpPr>
        <p:spPr>
          <a:xfrm>
            <a:off x="566928" y="6455664"/>
            <a:ext cx="10509199" cy="228600"/>
          </a:xfrm>
          <a:prstGeom prst="rect">
            <a:avLst/>
          </a:prstGeom>
          <a:noFill/>
          <a:ln>
            <a:noFill/>
          </a:ln>
        </p:spPr>
        <p:txBody>
          <a:bodyPr anchorCtr="0" anchor="t" bIns="0" lIns="0" spcFirstLastPara="1" rIns="0" wrap="square" tIns="0">
            <a:spAutoFit/>
          </a:bodyPr>
          <a:lstStyle/>
          <a:p>
            <a:pPr indent="0" lvl="0" marL="0" marR="0" rtl="0" algn="l">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Biro et al. (2004)</a:t>
            </a:r>
            <a:endParaRPr/>
          </a:p>
        </p:txBody>
      </p:sp>
      <p:sp>
        <p:nvSpPr>
          <p:cNvPr id="116" name="Google Shape;116;p3"/>
          <p:cNvSpPr txBox="1"/>
          <p:nvPr/>
        </p:nvSpPr>
        <p:spPr>
          <a:xfrm>
            <a:off x="11105150" y="6455664"/>
            <a:ext cx="519617" cy="228600"/>
          </a:xfrm>
          <a:prstGeom prst="rect">
            <a:avLst/>
          </a:prstGeom>
          <a:noFill/>
          <a:ln>
            <a:noFill/>
          </a:ln>
        </p:spPr>
        <p:txBody>
          <a:bodyPr anchorCtr="0" anchor="t" bIns="0" lIns="0" spcFirstLastPara="1" rIns="0" wrap="square" tIns="0">
            <a:spAutoFit/>
          </a:bodyPr>
          <a:lstStyle/>
          <a:p>
            <a:pPr indent="0" lvl="0" marL="0" marR="0" rtl="0" algn="r">
              <a:lnSpc>
                <a:spcPct val="108000"/>
              </a:lnSpc>
              <a:spcBef>
                <a:spcPts val="0"/>
              </a:spcBef>
              <a:spcAft>
                <a:spcPts val="0"/>
              </a:spcAft>
              <a:buNone/>
            </a:pPr>
            <a:r>
              <a:rPr b="0" i="0" lang="en-US" sz="900" u="none" cap="none" strike="noStrike">
                <a:solidFill>
                  <a:srgbClr val="64717A"/>
                </a:solidFill>
                <a:latin typeface="Arial"/>
                <a:ea typeface="Arial"/>
                <a:cs typeface="Arial"/>
                <a:sym typeface="Arial"/>
              </a:rPr>
              <a:t>03a</a:t>
            </a:r>
            <a:endParaRPr/>
          </a:p>
        </p:txBody>
      </p:sp>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erms:created xsi:type="dcterms:W3CDTF">2013-01-27T09:14:16Z</dcterms:created>
  <dc:creator>Jordan Lopez, Ph.D.</dc:creator>
</cp:coreProperties>
</file>