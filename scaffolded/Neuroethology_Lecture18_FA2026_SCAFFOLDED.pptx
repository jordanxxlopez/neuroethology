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315" r:id="rId66"/>
    <p:sldId id="259" r:id="rId5"/>
    <p:sldId id="260" r:id="rId6"/>
    <p:sldId id="261" r:id="rId7"/>
    <p:sldId id="314" r:id="rId65"/>
    <p:sldId id="262" r:id="rId8"/>
    <p:sldId id="263" r:id="rId9"/>
    <p:sldId id="264" r:id="rId10"/>
    <p:sldId id="313" r:id="rId64"/>
    <p:sldId id="265" r:id="rId11"/>
    <p:sldId id="266" r:id="rId12"/>
    <p:sldId id="267" r:id="rId13"/>
    <p:sldId id="312" r:id="rId63"/>
    <p:sldId id="268" r:id="rId14"/>
    <p:sldId id="269" r:id="rId15"/>
    <p:sldId id="270" r:id="rId16"/>
    <p:sldId id="311" r:id="rId62"/>
    <p:sldId id="271" r:id="rId17"/>
    <p:sldId id="272" r:id="rId18"/>
    <p:sldId id="273" r:id="rId19"/>
    <p:sldId id="310" r:id="rId61"/>
    <p:sldId id="274" r:id="rId20"/>
    <p:sldId id="275" r:id="rId21"/>
    <p:sldId id="276" r:id="rId22"/>
    <p:sldId id="309" r:id="rId60"/>
    <p:sldId id="277" r:id="rId23"/>
    <p:sldId id="278" r:id="rId24"/>
    <p:sldId id="279" r:id="rId25"/>
    <p:sldId id="308" r:id="rId59"/>
    <p:sldId id="280" r:id="rId26"/>
    <p:sldId id="281" r:id="rId27"/>
    <p:sldId id="282" r:id="rId28"/>
    <p:sldId id="307" r:id="rId58"/>
    <p:sldId id="283" r:id="rId29"/>
    <p:sldId id="284" r:id="rId30"/>
    <p:sldId id="285" r:id="rId31"/>
    <p:sldId id="306" r:id="rId57"/>
    <p:sldId id="286" r:id="rId32"/>
    <p:sldId id="287" r:id="rId33"/>
    <p:sldId id="288" r:id="rId34"/>
    <p:sldId id="305" r:id="rId56"/>
    <p:sldId id="289" r:id="rId35"/>
    <p:sldId id="290" r:id="rId36"/>
    <p:sldId id="291" r:id="rId37"/>
    <p:sldId id="304" r:id="rId55"/>
    <p:sldId id="292" r:id="rId38"/>
    <p:sldId id="293" r:id="rId39"/>
    <p:sldId id="294" r:id="rId40"/>
    <p:sldId id="303" r:id="rId54"/>
    <p:sldId id="295" r:id="rId41"/>
    <p:sldId id="296" r:id="rId42"/>
    <p:sldId id="297" r:id="rId43"/>
    <p:sldId id="302" r:id="rId53"/>
    <p:sldId id="298" r:id="rId44"/>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Owl sound localization I: ITD/ILD maps in the inferior colliculus (Konishi &amp; Knudsen)
Lecture 18. NEUR 411 · NEUROETHOLOGY · FALL 2026. Monday, October 5, 2026.
Figure: Knudsen &amp; Konishi (1978), Fig. 1. Ordered receptive fields and their measured midbrain locations.
Figure source: https://doi.org/10.1126/science.644324
References:
Knudsen EI, Konishi M (1978). A Neural Map of Auditory Space in the Owl. Science 200(4343):795-797. https://doi.org/10.1126/science.644324</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barn owl, Tyto alba, is a nocturnal predator whose auditory system converts prey-generated sound into directed head movements. Azimuth is horizontal direction; elevation is vertical direction. Head turns provide a behavioral measure of the location the owl perceives.
  – A head-turn trajectory measures the animal’s response to an auditory percept, rather than neuronal tuning itself. The earphone conditions control the acoustic difference between ears while the bird remains able to orient. The published comparisons include broadband sounds, pure tones, and narrowband noise under the same timing manipulation.
• Kettler and colleagues recorded head orientation while presenting sounds through earphones. At an interaural delay of 100 µs, broadband noise produced turns toward the corresponding target. A 5-kHz tone could instead elicit turns toward an alternative location in the opposite hemifield.
• This phantom source is a localization illusion, not a second physical loudspeaker. Broadband and 1.5-kHz-wide narrowband stimuli distinguished spectral effects from a change in the imposed delay. The behavior connects auditory timing ambiguity to an observable orienting decision.
References:
Kettler L, Griebel H, Ferger R, Wagner H (2017). Combination of Interaural Level and Time Difference in Azimuthal Sound Localization in Owls. eNeuro 4(6):ENEURO.0238-17.2017. https://doi.org/10.1523/eneuro.0238-17.2017
Figure: Kettler et al. (2017), Fig. 2(A–D). Head-turn trajectories for broadband, tonal, and narrowband sounds.
Figure source: https://doi.org/10.1523/eneuro.0238-17.2017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Interaural time difference, or ITD, is the difference in sound arrival time between ears, measured in microseconds. Interaural level difference, or ILD, is the difference in sound pressure level, measured in decibels. Neither cue is a location label at the auditory nerve.
  – The head-related transfer function describes how the head and external ears change the level and phase of each frequency arriving from a particular direction. Measuring it close to the eardrum includes the filtering actually available to the animal. A small horizontal level component can matter when timing information admits two competing locations.
• Kettler and colleagues used ear-canal probe microphones to measure the head’s acoustic filtering. The frontal ITD map varied chiefly with azimuth; ILD varied strongly with elevation and also contained an azimuthal component. The facial ruff and asymmetric ears contribute to this filtering.
• Acoustic measurements and playback tests used directions corresponding to delays of 50, 100, and 150 µs. Natural level cues reduced timing ambiguities. The familiar association of ITD with horizontal direction and ILD with vertical direction is therefore a useful specialization, not an absolute separation of behavioral functions.
References:
Kettler L, Griebel H, Ferger R, Wagner H (2017). Combination of Interaural Level and Time Difference in Azimuthal Sound Localization in Owls. eNeuro 4(6):ENEURO.0238-17.2017. https://doi.org/10.1523/eneuro.0238-17.2017
Figure: Kettler et al. (2017), Fig. 1(A–D). Measured timing and level differences across acoustic space.
Figure source: https://doi.org/10.1523/eneuro.0238-17.2017</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receptive field is the set of stimulus conditions that changes a neuron’s activity. Knudsen and Konishi mapped auditory receptive fields by moving a loudspeaker around the head of a lightly anesthetized owl in an anechoic chamber, which minimized reflected sound.
  – An extracellular electrode detects the action potentials of a unit while the experimenter controls speaker position. The published field includes responses collected at different positions, not a spatial image received by the cochlea. The neurons were recorded in darkness, and tests with visual stimuli did not evoke the reported auditory responses.
• Noise bursts lasted 100 ms and were delivered 10 dB above each unit’s threshold. Speaker positions were sampled in azimuth and elevation while extracellular spikes were recorded. A smaller best area was defined by the positions producing maximal rather than merely detectable responses.
• Most mapped fields were vertically elongated. Their widths ranged from 7° to 40° in azimuth, with a mean of 25°. A broad response boundary and a smaller best area describe different aspects of selectivity; neither alone is a behavioral localization threshold.
References:
Knudsen EI, Konishi M (1978). A Neural Map of Auditory Space in the Owl. Science 200(4343):795-797. https://doi.org/10.1126/science.644324
Figure: Knudsen &amp; Konishi (1978), Fig. 2. Measured receptive-field boundaries and best area.
Figure source: https://doi.org/10.1126/science.644324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Knudsen and Konishi reconstructed electrode tracks histologically and compared recording position with the center of each neuron’s best area. The auditory region was called MLD, nucleus mesencephalicus lateralis dorsalis, the avian homolog of the inferior colliculus.
  – Contralateral means on the side opposite the recording hemisphere; ipsilateral means on the same side. Histological lesions identified track endpoints so that receptive-field order could be matched to tissue position. The original report established an orderly physiological map, while later experiments identified the separate computations that supply its coordinates.
• Best-area azimuth shifted from approximately 60° contralateral in the posterolateral region to 15° ipsilateral anteromedially. Best-area elevation ranged from about +20° to −90°, with higher directions represented dorsally and lower directions ventrally. Neighboring neurons generally had overlapping receptive fields.
• Tone bursts, clicks, and noise usually preserved best-area location; changing level from 10 to 30 dB above threshold also preserved its position. The orderly representation supports a computed map of auditory space rather than a simple map of acoustic frequency or overall loudness.
References:
Knudsen EI, Konishi M (1978). A Neural Map of Auditory Space in the Owl. Science 200(4343):795-797. https://doi.org/10.1126/science.644324
Figure: Knudsen &amp; Konishi (1978), Fig. 1. Ordered receptive fields and their measured midbrain locations.
Figure source: https://doi.org/10.1126/science.644324</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tuning curve relates neuronal response to a controlled stimulus parameter. Takahashi, Moiseff, and Konishi varied ITD while holding ILD fixed, then varied ILD while holding ITD fixed, recording from space-specific midbrain neurons through calibrated earphone stimulation.
  – Earphones allow one binaural cue to change without the acoustically coupled changes produced by moving a real speaker. The critical observation concerns the location of the tuning peak, rather than complete invariance of all spike counts. Holding the other cue fixed tests whether one preference shifts when the other input changes.
• Changing the level difference over a 20-dB range did not systematically displace the timing preference. Conversely, changes in timing altered response magnitude without systematically displacing the preferred level difference. The positions of the two response peaks were separable.
• Independence of preferred values does not mean that both cues are irrelevant to firing rate. A neuron can respond strongly only when both are favorable. The experiments separate how each cue is represented from how the two representations jointly determine the output.
References:
Takahashi T, Moiseff A, Konishi M (1984). Time and intensity cues are processed independently in the auditory system of the owl. The Journal of Neuroscience 4(7):1781-1786. https://doi.org/10.1523/jneurosci.04-07-01781.1984
Figure: Takahashi et al. (1984), Fig. 4. Independent tuning to timing and level differences.
Figure source: https://doi.org/10.1523/jneurosci.04-07-01781.1984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Nucleus angularis, or NA, is a cochlear nucleus receiving auditory-nerve input. Takahashi and colleagues locally injected lidocaine into NA while recording a space-specific neuron in the inferior colliculus. Lidocaine is a local anesthetic that blocks neuronal impulse conduction.
  – When one cochlear nucleus contributes less activity, the downstream circuit receives an unbalanced representation even though the earphone stimulus itself has not changed. The timing curve serves as a within-neuron control against a general collapse of midbrain responsiveness. Histological localization distinguishes an angularis injection from neighboring magnocellularis tissue.
• After unilateral NA inactivation, the neuron’s ILD response shifted toward the injected side’s altered effective input. In the same preparation, the ITD response peak remained essentially stable. Recovery measurements and an injection-site marker linked the change to a localized, reversible manipulation.
• The selective alteration supports a level-processing pathway originating in NA. It does not imply that NA alone calculates a binaural level difference: its monaural output must subsequently be compared with information from the other ear. Local inactivation also cannot identify every downstream synapse.
References:
Takahashi T, Moiseff A, Konishi M (1984). Time and intensity cues are processed independently in the auditory system of the owl. The Journal of Neuroscience 4(7):1781-1786. https://doi.org/10.1523/jneurosci.04-07-01781.1984
Figure: Takahashi et al. (1984), Fig. 1. Angularis inactivation changes level tuning while sparing time tuning.
Figure source: https://doi.org/10.1523/jneurosci.04-07-01781.1984</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Nucleus magnocellularis, or NM, is a second cochlear nucleus receiving auditory-nerve input. Takahashi and colleagues injected lidocaine into NM and measured the same two binaural tuning dimensions used in the angularis experiments, separating neural impairment from an acoustic change.
  – A double dissociation is stronger than observing two kinds of tuning in separate neurons. Each intervention is evaluated against both response dimensions. The result constrains the origin of the information reaching the midbrain, while leaving open the precise transformations carried out between the cochlear nuclei and the recorded space-specific cell.
• NM inactivation altered the ITD tuning of a space-specific neuron, while its preferred ILD remained approximately unchanged. Recordings before injection, during the effect, and after recovery supplied a temporal control. Injection-site histology checked the anatomical locus of the manipulation.
• The reciprocal effects of NM and NA inactivation form a double dissociation: disrupting one pathway selectively changes timing, whereas disrupting the other selectively changes level. This establishes functional separation at the cochlear nuclei without claiming that the final spatial response is generated by only one pathway.
References:
Takahashi T, Moiseff A, Konishi M (1984). Time and intensity cues are processed independently in the auditory system of the owl. The Journal of Neuroscience 4(7):1781-1786. https://doi.org/10.1523/jneurosci.04-07-01781.1984
Figure: Takahashi et al. (1984), Fig. 3. Magnocellularis inactivation changes time tuning while sparing level tuning.
Figure source: https://doi.org/10.1523/jneurosci.04-07-01781.1984</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eighth cranial nerve carries auditory information from the cochlea into the brainstem. Carr and Konishi identified NA, NM, and nucleus laminaris, or NL, in transverse tissue sections. NL lies in the timing pathway downstream of bilateral NM input.
  – Auditory-nerve fibers carry both temporal and level information. Parallel nuclei need not receive completely different acoustic signals to emphasize different variables. The relevant distinction is how neurons transform their shared peripheral input. The original micrograph supplies anatomical positions and a scale bar; its labeled nuclei are experimental tissue, not an invented circuit.
• A neurofilament stain distinguished fiber-rich laminaris from neighboring nuclei and the cerebellar peduncle. Histology supplied landmarks for intracellular recording and tracer experiments, preventing recording depth alone from being treated as proof of a particular nucleus.
• The anatomical separation is compatible with parallel timing and level computations, but staining does not measure what a neuron encodes. Functional assignments require the phase-locking, rate-level, binaural, and inactivation experiments that connect these structures to particular acoustic variables.
References:
Carr CE, Konishi M (1990). A circuit for detection of interaural time differences in the brain stem of the barn owl. The Journal of Neuroscience 10(10):3227-3246. https://doi.org/10.1523/jneurosci.10-10-03227.1990
Figure: Carr &amp; Konishi (1990), Fig. 1. Histological positions of the owl auditory brainstem nuclei.
Figure source: https://doi.org/10.1523/jneurosci.10-10-03227.1990</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Phase locking means that spikes occur preferentially at a particular phase of a repeating sound waveform. Sullivan and Konishi recorded NM neurons during tonal stimulation and grouped spike times into period histograms, which align successive stimulus cycles.
  – A high spontaneous rate does not prevent a sound from reorganizing spike timing. A neuron can convey more temporal information without greatly increasing its average spike count. The comparison with angularis is functional: magnocellularis emphasizes phase, whereas angularis supplies a more informative rate representation of sound level.
• NM neurons retained phase locking at frequencies up to 9 kHz in that study. The distributions were not identical at every frequency: spikes could occur on different cycles while remaining concentrated near a preferred position within the cycle. Timing information therefore survived without one spike per cycle.
• NM rate-level functions were comparatively narrow and often changed little above spontaneous discharge. This specialization supports timing transmission to NL. A phase histogram measures temporal alignment; it does not, by itself, establish a neuron’s sensitivity to differences between the two ears.
References:
Sullivan WE, Konishi M (1984). Segregation of stimulus phase and intensity coding in the cochlear nucleus of the barn owl. The Journal of Neuroscience 4(7):1787-1799. https://doi.org/10.1523/jneurosci.04-07-01787.1984
Figure: Sullivan &amp; Konishi (1984), Fig. 1(A–D). Phase-locked magnocellular spike distributions.
Figure source: https://doi.org/10.1523/jneurosci.04-07-01787.1984</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Sullivan and Konishi measured rate-level functions, the relation between stimulus level and spike count, in NA neurons. Compared with NM, NA typically had lower spontaneous discharge and larger increases in firing as the level of a tone rose.
  – The two cochlear nuclei can have similar frequency selectivity while differing substantially in temporal and intensity responses. Frequency tuning therefore cannot substitute for testing rate-level and phase-locking properties. The plotted decibel scale is the original experimental level scale; it should not be relabeled as an absolute environmental sound level.
• Angularis responses commonly changed over more than 20 dB, often 30 dB or more. The dynamic range is the range of levels over which the response changes substantially. Different cells showed different slopes and saturation levels, preserving a population representation of level.
• NA showed little or no phase locking at higher frequencies, although weak locking occurred below about 3.5 kHz. The contrast with NM concerns relative specialization, not perfectly exclusive coding. Monaural level-sensitive discharge provides input for later comparison between ears.
References:
Sullivan WE, Konishi M (1984). Segregation of stimulus phase and intensity coding in the cochlear nucleus of the barn owl. The Journal of Neuroscience 4(7):1787-1799. https://doi.org/10.1523/jneurosci.04-07-01787.1984
Figure: Sullivan &amp; Konishi (1984), Fig. 10(A–D). Angularis spike counts increase over a broad sound-level range.
Figure source: https://doi.org/10.1523/jneurosci.04-07-01787.1984</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Köppl recorded single auditory-nerve fibers with calibrated tones and compared their spike timing across frequency and sound level. Vector strength quantifies concentration of spike phases: values near one indicate tight phase alignment, whereas values near zero indicate dispersed phases.
  – The study used ear-canal calibration for individual animals, so stimulus level was measured at the auditory input rather than inferred from a speaker setting. Vector strength compares phases across many cycles. A high-frequency neuron need not fire on every cycle to retain information about a preferred stimulus phase.
• Auditory-nerve phase locking extended to approximately 10 kHz. Its quality declined with frequency, but the decline included a plateau around 1.5–3 kHz. Phase organization could be detected below the level at which a clear increase in average spike rate appeared.
• The peripheral temporal code supplies the brainstem with information needed for ITD processing. Detectable locking is not equivalent to equally precise locking at every frequency. Rate threshold and timing sensitivity also describe different response measurements and should not be treated as interchangeable.
References:
Köppl C (1997). Phase Locking to High Frequencies in the Auditory Nerve and Cochlear Nucleus Magnocellularis of the Barn Owl,Tyto alba. The Journal of Neuroscience 17(9):3312-3321. https://doi.org/10.1523/jneurosci.17-09-03312.1997
Figure: Köppl (1997), Fig. 1(A–N). Auditory-nerve phase locking at high stimulus frequencies.
Figure source: https://doi.org/10.1523/jneurosci.17-09-03312.1997</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Köppl obtained auditory-nerve and NM recordings in the same animals, permitting a direct comparison of temporal information before and after the first central relay. Tone frequency and level were controlled while saturated phase-locking quality was assessed.
  – Saturated phase locking refers to the response after increasing sound level no longer improves timing alignment substantially. Comparisons at appropriate levels avoid attributing a level-dependent improvement to the relay itself. Earlier NM studies remain plotted in the original article, but the same-animal nerve-versus-NM comparison supplies the direct experimental test.
• Above approximately 1 kHz, NM vector strength was consistently lower than auditory-nerve vector strength. The comparison does not support a universal sharpening of phase locking at this relay. Both populations retained locking well into the frequency range used for owl localization.
• The additional synaptic transformation can introduce temporal dispersion even in a highly specialized pathway. These recordings identify a functional limitation of transmission; they do not isolate a particular ion-channel subtype or determine whether convergence compensates for the loss at later stages.
References:
Köppl C (1997). Phase Locking to High Frequencies in the Auditory Nerve and Cochlear Nucleus Magnocellularis of the Barn Owl,Tyto alba. The Journal of Neuroscience 17(9):3312-3321. https://doi.org/10.1523/jneurosci.17-09-03312.1997
Figure: Köppl (1997), Fig. 12. Direct comparison of auditory-nerve and magnocellular phase locking.
Figure source: https://doi.org/10.1523/jneurosci.17-09-03312.1997</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Tonotopy is the orderly anatomical representation of acoustic frequency. Carr and Konishi traced NM projections and recorded afferent fibers within NL. Inputs from opposite ears entered corresponding frequency regions rather than mixing all frequencies indiscriminately.
  – The best frequency is the frequency producing the strongest response under the measurement conditions. The original normalized curves permit comparison of tuning shape even when absolute spike counts differ. The study also found mismatched fibers near borders, which limits any claim that every axon encountered around NL belongs to the same frequency channel.
• Injections into NM regions tuned near 5.5 and 7 kHz labeled different projection territories. Physiological recordings from a single NL penetration found closely matched ipsilateral and contralateral frequency tuning, including fibers encountered at depths of 1320 and 1400 µm.
• Frequency matching permits comparison of the timing of corresponding waveform components. Comparing unrelated frequencies would not preserve a stable phase relation. Anatomical tracing establishes projection order, while the paired frequency-response measurements establish the functional matching needed by a timing comparator.
References:
Carr CE, Konishi M (1990). A circuit for detection of interaural time differences in the brain stem of the barn owl. The Journal of Neuroscience 10(10):3227-3246. https://doi.org/10.1523/jneurosci.10-10-03227.1990
Figure: Carr &amp; Konishi (1990), Fig. 3(A–D). Frequency-matched bilateral inputs to nucleus laminaris.
Figure source: https://doi.org/10.1523/jneurosci.10-10-03227.1990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Konishi injected horseradish peroxidase, or HRP, into NM and followed labeled axons through serial brain sections. HRP is a tracer that permits projection pathways to be visualized after a histochemical reaction.
  – The original authors reconstructed three-dimensional arbors across serial sections and adjusted their projection onto the published two-dimensional view. The drawing is their published anatomical result, cropped unchanged from the article. Its geometry should not be interpreted as an exact flattened measurement of every branch length or physical separation.
• An NM neuron sends branches to NL on both sides. Ipsilateral afferents approach the dorsal border, whereas contralateral afferents approach the ventral border. The published reconstruction preserves this opposing arrangement and includes a 1-mm scale bar.
• Opposing entry directions supply an anatomical basis for position-dependent differences in arrival time. The tracing identifies axonal paths, not conduction speed. A functioning delay line, a pathway whose travel time changes with position, also requires physiological evidence of orderly timing differences.
References:
Carr CE, Konishi M (1990). A circuit for detection of interaural time differences in the brain stem of the barn owl. The Journal of Neuroscience 10(10):3227-3246. https://doi.org/10.1523/jneurosci.10-10-03227.1990
Figure: Carr &amp; Konishi (1990), Fig. 2. Published traced magnocellular axons entering laminaris from opposite borders.
Figure source: https://doi.org/10.1523/jneurosci.10-10-03227.1990</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Konishi recorded phase-locked NM afferents at different depths within NL. They stimulated one ear with a tone and measured the mean phase of the resulting intracellularly recorded spikes, testing whether conduction time changed along the projection.
  – The physiological measurement concerns the arrival time of afferent spikes, not the external arrival time of sound at the ears. A longer axonal travel path shifts spike phase systematically. At a high enough stimulus frequency, a real delay can span more than one cycle, requiring the authors to track the neighboring cycle.
• At 4 kHz, the tonal period was 250 µs; at 5.5 kHz it was approximately 182 µs. Mean phase changed regularly with depth. In a 7-kHz region, abrupt apparent phase jumps corresponded to crossing into the next stimulus cycle.
• Phase wrapping occurs because phase repeats after a complete cycle even when physical delay continues increasing. The data support orderly neural delays rather than independent random timing at each site. Reading phase alone without recognizing cycle repetition would misidentify these continuous gradients.
References:
Carr CE, Konishi M (1990). A circuit for detection of interaural time differences in the brain stem of the barn owl. The Journal of Neuroscience 10(10):3227-3246. https://doi.org/10.1523/jneurosci.10-10-03227.1990
Figure: Carr &amp; Konishi (1990), Fig. 7(A–C). Input spike phase changes systematically with recording depth.
Figure source: https://doi.org/10.1523/jneurosci.10-10-03227.1990</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Within a common frequency region, Carr and Konishi found that ipsilateral afferent delay increased with recording depth while contralateral delay decreased. Intracellular recordings distinguished the two input populations during separate stimulation of the ears.
  – The original Figure 8A contains paired gradients from multiple penetrations. The plotted time axes preserve the authors’ conversion of phase to delay. A coincidence detector responds to arrival times after both external acoustic travel and internal neural conduction have contributed; changing either contribution can change the favored ITD.
• Across NL’s approximately 700-µm depth, conduction time changed by about 160 µs for frequencies between 4 and 7.5 kHz. Similar delay ranges across frequency channels support comparison of common external timing differences rather than unrelated phase preferences.
• At a particular position, an external ITD can compensate for the difference in internal path delays. The two spike trains then arrive together. This spatially ordered compensation explains how a physical time difference can be represented by the location of strongly activated NL neurons.
References:
Carr CE, Konishi M (1990). A circuit for detection of interaural time differences in the brain stem of the barn owl. The Journal of Neuroscience 10(10):3227-3246. https://doi.org/10.1523/jneurosci.10-10-03227.1990
Figure: Carr &amp; Konishi (1990), Fig. 8(A). Opposed timing gradients in ipsilateral and contralateral afferents.
Figure source: https://doi.org/10.1523/jneurosci.10-10-03227.1990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myelin internode is the insulated axonal segment between successive nodes where impulse propagation is renewed. Carr and Konishi measured internodal spacing in HRP-labeled NM axons inside and outside NL, comparing anatomy with physiological delay gradients.
  – Nodes are interruptions of the myelin sheath, and nodal spacing is one anatomical contributor to impulse propagation. The experiment does not establish a particular sodium- or potassium-channel density at each node. Its interpretation combines measured axonal anatomy with measured conduction delays while keeping that mechanistic inference separate from direct intervention.
• Internodes within NL were about 60 µm long and more regularly spaced than many segments outside the nucleus. The physiological estimates placed local conduction velocity around 3–5 m/s. Published micrographs identify nodes at branch points and along axon segments.
• The authors proposed that short internodes help regulate the slow propagation needed for delay lines. The spacing measurements and timing gradients are established observations; the causal contribution of internodal length was not tested by selectively changing myelination while recording conduction speed.
References:
Carr CE, Konishi M (1990). A circuit for detection of interaural time differences in the brain stem of the barn owl. The Journal of Neuroscience 10(10):3227-3246. https://doi.org/10.1523/jneurosci.10-10-03227.1990
Figure: Carr &amp; Konishi (1990), Fig. 10(A–C). Short myelin internodes within laminaris and labeled axons.
Figure source: https://doi.org/10.1523/jneurosci.10-10-03227.1990</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Coincidence detection is enhanced firing when two inputs arrive within a short interval. Carr and Konishi recorded NL neurons intracellularly, first stimulating each ear separately and then varying ITD during binaural stimulation.
  – The displayed totals come from the published stimulus-repetition protocol and are not firing rates in spikes per second. Separate-ear histograms supply a prediction of which delay aligns the inputs; the binaural delay curve tests that prediction. Intracellular recording avoids confusing the strong population field potential in NL with a single neuron’s spikes.
• For a neuron tested at 4409 Hz, monaural response phases were approximately 338° and 294°. A favorable delay of 30 µs, with the contralateral ear leading, increased the recorded response to 1107 spikes, compared with 393 and 360 for the separate-ear conditions.
• The same neuron responded much less at unfavorable delays. The binaural enhancement therefore depended on relative timing rather than simply the presence of two sounds. Across the study, favorable binaural responses were roughly twice monaural responses, consistent with coincidence-sensitive integration.
References:
Carr CE, Konishi M (1990). A circuit for detection of interaural time differences in the brain stem of the barn owl. The Journal of Neuroscience 10(10):3227-3246. https://doi.org/10.1523/jneurosci.10-10-03227.1990
Figure: Carr &amp; Konishi (1990), Fig. 13(A–D). Monaural and binaural spikes in a coincidence-detecting neuron.
Figure source: https://doi.org/10.1523/jneurosci.10-10-03227.1990</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NL neurons receive frequency-selective, phase-locked inputs. With a tone, the same phase alignment recurs whenever the interaural delay changes by a whole stimulus period. Carr and Konishi measured periodic firing peaks across a range of imposed delays.
  – The original curves also preserve monaural response markers and spontaneous levels. Responses at unfavorable binaural timing could fall below the monaural level, so the entire curve cannot be explained by simple summation of two independent firing rates. Repeated response peaks reflect waveform periodicity rather than multiple real sound sources.
• The delay curves differed in preferred timing and modulation depth, but their repeated maxima were consistent with the frequency of the stimulus. At 4 kHz, the 250-µs period gives repeated opportunities for alignment, including delays beyond the strongest peak near the physiological range.
• Phase ambiguity is this inability of a single narrowband channel to identify one unique ITD from its firing rate. Precise coincidence detection and an unambiguous estimate of sound direction are different computations. Later integration must distinguish the true timing relation from repeated phase matches.
References:
Carr CE, Konishi M (1990). A circuit for detection of interaural time differences in the brain stem of the barn owl. The Journal of Neuroscience 10(10):3227-3246. https://doi.org/10.1523/jneurosci.10-10-03227.1990
Figure: Carr &amp; Konishi (1990), Fig. 12. Periodic interaural-delay response curves of laminaris neurons.
Figure source: https://doi.org/10.1523/jneurosci.10-10-03227.1990</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Takahashi, and Konishi recorded neurons while advancing an electrode through the central nucleus of the inferior colliculus, or ICC. Individual cells were narrowly frequency tuned and had periodic ITD response curves.
  – The curves are normalized to each recording’s maximum, so alignment refers to relative response levels rather than identical absolute firing. The study compared single-unit and multi-unit recordings and found closely matching peak positions. A preferred phase for one frequency is insufficient to identify the array-specific ITD without the cross-frequency relation.
• One penetration sampled best frequencies from approximately 2100 to 6700 Hz. Despite different peak spacings, its neurons shared an array-specific ITD at which their relative responses aligned. Mean interaural phase changed systematically with frequency across the array.
• An array is a group of neurons arranged across frequency laminae with a common timing relation. Convergence from such an array can supply a downstream neuron with agreement across frequencies at one delay, even when each contributing channel remains individually ambiguous.
References:
Wagner H, Takahashi T, Konishi M (1987). Representation of interaural time difference in the central nucleus of the barn owl's inferior colliculus. The Journal of Neuroscience 7(10):3105-3116. https://doi.org/10.1523/jneurosci.07-10-03105.1987
Figure: Wagner et al. (1987), Fig. 1(A–B). Frequency channels in one neuronal array share a timing preference.
Figure source: https://doi.org/10.1523/jneurosci.07-10-03105.1987</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isofrequency lamina is a sheet of neurons with similar frequency tuning. Wagner and colleagues used dorsoventral electrode penetrations through ICC to sample multiple laminae and establish the anatomical orientation of the physiological arrays.
  – A shared delay produces different preferred phase values at different frequencies, because each waveform has a different period. Sampling a broad frequency range makes that relation testable. Electrode depth supplies an anatomical coordinate, while the measured frequency at each site provides the functional coordinate of the lamina.
• In a representative penetration, best frequency rose monotonically with depth from approximately 500 Hz to 10 kHz. This organization provided the frequency diversity needed to test whether different channels share a common delay rather than merely a common preferred phase.
• The recording trajectory crossed frequency laminae; it did not trace one neuron’s dendrite through every channel. The observed tonotopy establishes the organization of the sampled population. Connectivity to the external nucleus requires separate tracer measurements rather than an inference from adjacent recording sites alone.
References:
Wagner H, Takahashi T, Konishi M (1987). Representation of interaural time difference in the central nucleus of the barn owl's inferior colliculus. The Journal of Neuroscience 7(10):3105-3116. https://doi.org/10.1523/jneurosci.07-10-03105.1987
Figure: Wagner et al. (1987), Fig. 4. Best frequency varies with depth through an array.
Figure source: https://doi.org/10.1523/jneurosci.07-10-03105.1987</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and colleagues compared ITD-frequency relations across seven penetrations whose positions were reconstructed histologically. Each penetration contained an array, but the slope of its phase-frequency relation differed from slopes in neighboring arrays.
  – The characteristic delay is the delay associated with a frequency-dependent phase relation. The original authors distinguished a neuron exhibiting such a relation across tests from its ability to signal an unambiguous delay in a single narrowband response. Population organization can preserve the relation even when each cell’s rate curve repeats.
• Mean interaural phase was plotted against frequencies up to approximately 8 kHz. The different slopes identified different array-specific delays. Their orderly change across ICC established a map of timing preference superimposed on the frequency organization.
• This representation is not yet the full two-dimensional map of external sound direction. It is a map of a computed binaural timing variable distributed across frequency channels. ILD selectivity and broader integration are needed to produce the restricted spatial receptive fields of the external nucleus.
References:
Wagner H, Takahashi T, Konishi M (1987). Representation of interaural time difference in the central nucleus of the barn owl's inferior colliculus. The Journal of Neuroscience 7(10):3105-3116. https://doi.org/10.1523/jneurosci.07-10-03105.1987
Figure: Wagner et al. (1987), Fig. 9. Systematic differences in array-specific timing across penetrations.
Figure source: https://doi.org/10.1523/jneurosci.07-10-03105.1987</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external nucleus of the inferior colliculus, or ICx, contains space-specific neurons. Wagner and colleagues recorded timing preference at an ICx site, injected HRP there, and located retrogradely labeled neurons in ICC.
  – The experiment combines two independent kinds of evidence: physiological cue tuning and anatomical projection labeling. An injection region can encompass more than one cell, so the result concerns a restricted target region rather than a complete single-cell wiring diagram. The preserved original sections and response curves retain that distinction.
• Labeled somata occupied an array crossing frequency laminae. Nearby physiological measurements in ICC shared the timing preference measured at the injection site. The published example includes a −120-µs array-specific relation and a 1-mm anatomical scale bar.
• Retrograde tracing identifies neurons projecting toward the injection region. Matching tracer distribution with measured tuning supports convergence from an appropriate ICC array to a localized ICx region. It does not establish the synaptic weight or connectivity of every labeled neuron to one particular recorded cell.
References:
Wagner H, Takahashi T, Konishi M (1987). Representation of interaural time difference in the central nucleus of the barn owl's inferior colliculus. The Journal of Neuroscience 7(10):3105-3116. https://doi.org/10.1523/jneurosci.07-10-03105.1987
Figure: Wagner et al. (1987), Fig. 6(A–B). Physiological timing preferences matched to retrogradely labeled arrays.
Figure source: https://doi.org/10.1523/jneurosci.07-10-03105.1987</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Wagner and colleagues repeated retrograde labeling at ICx sites with different timing preferences. They counted labeled ICC somata as a function of distance from the posterior end of the colliculus, testing whether projection origins moved systematically.
  – A target with a different preferred timing cue receives input from a differently positioned array. Frequency convergence can therefore preserve one timing relation while passing through the broad set of frequencies represented in that array. This anatomical selectivity is compatible with the physiological absence of strong phase ambiguity for broadband ICx stimulation.
• The ICx injection sites preferred delays of 120, 90, and 60 µs with the contralateral ear leading, or 15 µs with the ipsilateral ear leading. The distributions of labeled cells shifted with these target preferences rather than remaining at one fixed ICC position.
• The covariation supports an ordered transformation from an ICC timing map into the horizontal coordinate of the ICx space map. Cell-count distributions locate projection populations; their height does not directly report synaptic strength, firing rate, or the probability of a behavioral turn.
References:
Wagner H, Takahashi T, Konishi M (1987). Representation of interaural time difference in the central nucleus of the barn owl's inferior colliculus. The Journal of Neuroscience 7(10):3105-3116. https://doi.org/10.1523/jneurosci.07-10-03105.1987
Figure: Wagner et al. (1987), Fig. 7. Projection position shifts with timing preference at the injection site.
Figure source: https://doi.org/10.1523/jneurosci.07-10-03105.1987</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compared ICx delay curves evoked by a tone at the neuron’s best frequency with curves evoked by broadband noise. A tone contains a repeated cycle, whereas broadband noise supplies multiple frequency components with different periods.
  – The best frequency describes the channel most effective for that neuron; broadband input recruits additional channels. The authors compared response levels for tones and noise because a weaker tone could otherwise create an apparent difference in selectivity merely by lowering firing. The neural output becomes less ambiguous when independent spectral components agree.
• Tonal stimulation commonly produced a principal peak and repeated secondary peaks. Noise greatly reduced the secondary responses while preserving the timing near the principal peak. The comparison was performed within the same neuron, holding recording site constant.
• Cross-frequency agreement is strongest at the actual delay shared by the broadband components. This supports convergence as part of ambiguity resolution, but spectral convergence alone does not establish every source of suppression. Level controls, response nonlinearities, and later inhibitory manipulations constrain the mechanism more directly.
References:
Takahashi T, Konishi M (1986). Selectivity for interaural time difference in the owl's midbrain. The Journal of Neuroscience 6(12):3413-3422. https://doi.org/10.1523/jneurosci.06-12-03413.1986
Figure: Takahashi &amp; Konishi (1986), Fig. 7(A–C). Broadband stimulation suppresses the secondary peaks present for tones.
Figure source: https://doi.org/10.1523/jneurosci.06-12-03413.1986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presented two tones individually and together while varying ITD. The tones were selected within a neuron’s frequency-response range, permitting a controlled test of integration rather than comparing one tone with an unrestricted noise spectrum.
  – Two tones share a true imposed interaural delay while their repeated phase matches occur at different delays. Component-only conditions supply the control needed to distinguish spectral integration from simply increasing the sound level. The source article analyzes how the joint response compares with the expected combination of the separate component responses.
• In the published examples, tones near 7 and 8 kHz generated differently spaced delay peaks. Their joint presentation favored the common principal delay and altered secondary responses. The combined response was compared with the responses to each component alone.
• This preparation tests whether timing evidence from different frequency channels interacts at a space-specific neuron. It supports a convergence mechanism but does not prove linear addition or identify each presynaptic source. The final selectivity can include inhibitory and spike-generation nonlinearities as well as excitatory agreement.
References:
Takahashi T, Konishi M (1986). Selectivity for interaural time difference in the owl's midbrain. The Journal of Neuroscience 6(12):3413-3422. https://doi.org/10.1523/jneurosci.06-12-03413.1986
Figure: Takahashi &amp; Konishi (1986), Fig. 9(A–C). Two-tone responses test convergence across frequency channels.
Figure source: https://doi.org/10.1523/jneurosci.06-12-03413.1986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Takahashi and Konishi quantified the strongest secondary response relative to the principal response during broadband stimulation. The secondary-to-primary peak ratio describes residual ambiguity, with a ratio near one indicating similarly strong competing peaks.
  – The principal peak is identified by its relation to the neuron’s characteristic delay, while the secondary peak is a different local maximum. The ratio measures relative response within one neuron and should not be interpreted as a response rate. Neural suppression and behavioral disambiguation are related, but they require different experimental readouts.
• The published distribution spans approximately zero to one, with many neurons retaining a substantial but smaller secondary response. Broadband selectivity therefore varied across ICx cells rather than forming a perfectly uniform all-or-none solution.
• Population firing, inhibitory sharpening, and output thresholds can reduce the impact of residual peaks. A low peak ratio is evidence of improved single-cell selectivity; it is not a direct measurement of the probability that an owl will orient toward a phantom source under every listening condition.
References:
Takahashi T, Konishi M (1986). Selectivity for interaural time difference in the owl's midbrain. The Journal of Neuroscience 6(12):3413-3422. https://doi.org/10.1523/jneurosci.06-12-03413.1986
Figure: Takahashi &amp; Konishi (1986), Fig. 6. Distribution of secondary-to-primary peak response ratios.
Figure source: https://doi.org/10.1523/jneurosci.06-12-03413.1986</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VLVp, the posterior part of the ventral nucleus of the lateral lemniscus, is an early binaural station in the level pathway. Manley, Köppl, and Konishi recorded its responses while independently changing sound levels at the two ears.
  – Monotonic means that response changes mainly in one direction as the cue increases across the tested range. The same binaural difference can be produced at several absolute levels, so testing multiple average levels assesses how robust the response is to source intensity. VLVp contributes an intermediate representation rather than a complete spatial receptive field.
• Contralateral stimulation excited VLVp cells; ipsilateral stimulation inhibited them. Dorsal, intermediate, and ventral sites differed in inhibitory strength. The published examples include a strongly inhibited dorsal cell at 7.9 kHz and an intermediate cell with approximately 60% inhibition at 8.6 kHz.
• Varying ILD while holding average binaural level constant separated interaural balance from overall loudness. These largely monotonic response functions supply a graded code for level disparity. They should not be equated with the sharply peaked ILD tuning that emerges at later collicular stages.
References:
Manley GA, Köppl C, Konishi M (1988). A neural map of interaural intensity differences in the brain stem of the barn owl. The Journal of Neuroscience 8(8):2665-2676. https://doi.org/10.1523/jneurosci.08-08-02665.1988
Figure: Manley et al. (1988), Fig. 3(A–C). Level-difference functions at dorsal, intermediate, and ventral sites.
Figure source: https://doi.org/10.1523/jneurosci.08-08-02665.1988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Manley and colleagues described a VLVp response by its half-maximum point, the ILD at which firing reaches half of the response maximum. Sequential recording sites within a penetration were compared to test for an anatomical order of this response criterion.
  – Average binaural level is the mean of the two ear levels expressed in decibels in this experiment. Opposite changes at the ears vary ILD while preserving that average. The authors grouped cells by their relative position within each penetration, so the ordering is a physiological-anatomical relation rather than a measurement of external elevation in degrees.
• Dorsal sites had more contralaterally biased half-maximum points; progressively ventral sites shifted toward ipsilateral values. Some cells changed their half-maximum point by 2 dB or less when average binaural level rose by 10 dB, providing a measure of level stability.
• This is an ordered map of response thresholds along a binaural level axis. It differs from a spatial map of receptive-field centers. A half-maximum point can be well defined for a monotonic curve even when the neuron has no sharply bounded preferred ILD.
References:
Manley GA, Köppl C, Konishi M (1988). A neural map of interaural intensity differences in the brain stem of the barn owl. The Journal of Neuroscience 8(8):2665-2676. https://doi.org/10.1523/jneurosci.08-08-02665.1988
Figure: Manley et al. (1988), Fig. 4(A–B). Dorsoventral ordering and level-stable half-maximum points.
Figure source: https://doi.org/10.1523/jneurosci.08-08-02665.1988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Manley and colleagues measured monaural excitatory and inhibitory thresholds in VLVp. Inhibition was assessed against an established discharge produced by contralateral stimulation, allowing reductions in spikes to be measured rather than requiring a cell to fire below zero.
  – An inhibitory threshold is meaningful only when activity is available to suppress. Background excitation supplies that activity, so an apparent absence of spikes is not mistaken for proof that an inhibitory input is absent. The difference between the thresholds determines when inhibition begins relative to the growth of excitatory firing.
• The difference between excitatory and inhibitory thresholds covaried with the strength of inhibition. Threshold relationships and ILD half-maximum points changed along the dorsoventral recording sequence. The interaction, rather than one ear’s absolute sensitivity alone, shaped the binaural response.
• This physiology supports an excitation-inhibition comparison as the basis of level sensitivity. It does not identify a unique molecular receptor at every connection. Later pharmacological experiments tested the contribution of GABAergic inhibition and the effects of manipulating the two VLVp populations independently.
References:
Manley GA, Köppl C, Konishi M (1988). A neural map of interaural intensity differences in the brain stem of the barn owl. The Journal of Neuroscience 8(8):2665-2676. https://doi.org/10.1523/jneurosci.08-08-02665.1988
Figure: Manley et al. (1988), Fig. 6(A–B). Excitatory and inhibitory thresholds vary with position and inhibition.
Figure source: https://doi.org/10.1523/jneurosci.08-08-02665.1988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injected PHA-L, an anterograde tract tracer, into VLVp and examined labeled terminals in the inferior colliculus. Anterograde tracing follows projections away from the injected neuronal population toward its targets.
  – The lateral shell is a subdivision of the central inferior colliculus that supplies input to the spatial map. Anatomical localization prevents a timing-pathway injection from being misclassified as a level-pathway experiment. The source photographs preserve the labeled terminals, injection region, and scale bars needed to evaluate that localization.
• Label appeared in the lateral shell of ICC on both sides of the brain. The published tissue sections include the VLVp injection site and 500-µm scale bars. The injection was anatomically separated from the adjacent anterior subdivision, VLVa, in the illustrated preparation.
• Bilateral connectivity gives the colliculus access to two differently biased level signals. Tracer labeling establishes projection pathways but not whether a terminal is excitatory or inhibitory. Functional manipulations and receptor-sensitive interventions are required to establish the signs and consequences of those connections.
References:
Adolphs R (1993). Bilateral inhibition generates neuronal responses tuned to interaural level differences in the auditory brainstem of the barn owl. The Journal of Neuroscience 13(9):3647-3668. https://doi.org/10.1523/jneurosci.13-09-03647.1993
Figure: Adolphs (1993), Fig. 2(A–C). Tracer labeling of bilateral collicular projections and the VLVp injection site.
Figure source: https://doi.org/10.1523/jneurosci.13-09-03647.1993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manipulated VLVp while recording an ICC lateral-shell neuron. GABA, gamma-aminobutyric acid, is an inhibitory transmitter; bicuculline methiodide, or BMI, blocks GABA-A receptors. Blocking inhibition within VLVp can increase the activity sent to its targets.
  – Disinhibition means increased activity after an inhibitory influence is removed. The sign of a drug’s effect at its injection site need not match the sign of the effect at a distant recording site. Reversible changes and the time course of recovery help distinguish acute circuit modulation from irreversible tissue damage.
• In the published experiment, a 0.5-µL BMI injection into contralateral VLVp nearly eliminated the lateral-shell response. Responses were measured before injection, 2 and 7 minutes afterward, and during recovery. The response returned toward its original ILD dependence by about 60 minutes.
• The remote reduction supports an inhibitory influence from that VLVp population onto the collicular circuit. Blocking an inhibitory receptor upstream can decrease downstream firing by disinhibiting an inhibitory projection. Injection spread and network effects limit assignment of the entire effect to one directly connected neuron.
References:
Adolphs R (1993). Bilateral inhibition generates neuronal responses tuned to interaural level differences in the auditory brainstem of the barn owl. The Journal of Neuroscience 13(9):3647-3668. https://doi.org/10.1523/jneurosci.13-09-03647.1993
Figure: Adolphs (1993), Fig. 11(A–D). Increasing contralateral VLVp activity suppresses lateral-shell responses.
Figure source: https://doi.org/10.1523/jneurosci.13-09-03647.1993</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Adolphs injected lidocaine into one VLVp and recorded a neuron in contralateral ICx. The earphone stimulus remained controlled while ILD and ITD response curves were tested separately, providing a comparison of level and timing effects in the same downstream cell.
  – The intact ITD response is a within-cell control against a general loss of auditory responsiveness. Recovery supplies an additional control against permanent damage. The experiment links a brainstem population to a particular dimension of an ICx receptive field, without equating drug-induced tuning shifts with the owl’s immediate orienting behavior.
• At approximately 7 minutes after injection, responses at large ipsilateral ILDs increased and the ILD peak shifted. The original response recovered by about 25 minutes. The neuron’s ITD curve remained nearly unchanged during the same manipulation.
• The result supports an inhibitory level signal that normally limits responses on one side of the ILD range. Removing that signal broadens or shifts level tuning while sparing the timing preference. Lidocaine reduces activity broadly at the injection site, so it is not a transmitter-specific test.
References:
Adolphs R (1993). Bilateral inhibition generates neuronal responses tuned to interaural level differences in the auditory brainstem of the barn owl. The Journal of Neuroscience 13(9):3647-3668. https://doi.org/10.1523/jneurosci.13-09-03647.1993
Figure: Adolphs (1993), Fig. 12. Reversible VLVp inactivation alters ILD tuning while sparing ITD tuning.
Figure source: https://doi.org/10.1523/jneurosci.13-09-03647.1993</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sharply peaked ILD curve requires reduced firing on both sides of its preferred range. Adolphs tested whether the two VLVp populations supply opposing inhibitory influences by increasing activity in one population with local BMI injection.
  – The original study used complementary increases and decreases of VLVp activity, rather than relying on a single drug condition. Opposite physiological effects strengthen the interpretation that level tuning depends on the upstream population. Preserved timing sensitivity limits the effect to the level-processing contribution under the tested stimulus conditions.
• At about 3 minutes, ICx responses decreased at large ipsilateral ILDs, opposite to the effect of inactivating that VLVp. The ILD response recovered toward its baseline over approximately 50 minutes. The ITD response measured during the experiment remained stable.
• Combined anatomical and manipulation evidence supports bilateral inhibition as a mechanism for peaked collicular level tuning. The circuit transforms two graded, differently biased inputs into a restricted response range. Exact synaptic weights and the contribution of additional local inhibition were not determined by these injections.
References:
Adolphs R (1993). Bilateral inhibition generates neuronal responses tuned to interaural level differences in the auditory brainstem of the barn owl. The Journal of Neuroscience 13(9):3647-3668. https://doi.org/10.1523/jneurosci.13-09-03647.1993
Figure: Adolphs (1993), Fig. 14. VLVp disinhibition changes ILD selectivity and preserves ITD responses.
Figure source: https://doi.org/10.1523/jneurosci.13-09-03647.1993</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ILD spectrum is the set of level differences across acoustic frequencies at one sound direction. Euston and Takahashi measured head-related transfer functions and used them to deliver virtual sources through earphones, preserving frequency-dependent acoustic filtering.
  – Virtual acoustic space is an experimental playback method using measured head filtering; the published response maps are recordings from neurons under those conditions. The surrounding inhibitory regions were retained in the authors’ maps. The comparison holds timing favorable to isolate level contributions without moving a real sound source.
• For 100-ms stimuli, they compared normal receptive fields with ILD-alone fields, in which ITD was fixed at the neuron’s preferred value while natural ILD spectra varied with location. ILD-alone responses typically formed a horizontal band containing the normal receptive field.
• An ILD spectrum therefore supplies substantial vertical selectivity, while timing information restricts the horizontal region. The two conditions often had different response maxima. The neuron’s normal preferred direction cannot be inferred simply by selecting the largest ILD-alone response.
References:
Euston DR, Takahashi TT (2002). From Spectrum to Space: The Contribution of Level Difference Cues to Spatial Receptive Fields in the Barn Owl Inferior Colliculus. The Journal of Neuroscience 22(1):284-293. https://doi.org/10.1523/jneurosci.22-01-00284.2002
Figure: Euston &amp; Takahashi (2002), Fig. 3(A, columns 1–2). Normal and ILD-alone receptive fields of the same neuron.
Figure source: https://doi.org/10.1523/jneurosci.22-01-00284.2002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Euston and Takahashi measured pure-tone ILD tuning across frequency and compared preferred ILDs with the values occurring at the peaks of normal and ILD-alone receptive fields. They examined bands spanning 3–5, 5–7, and 7–9 kHz.
  – The regression comparisons separate a neuron’s favorite level difference for a tone from the actual spectral values at a spatial response peak. A direction can be preferred under broadband stimulation without providing the best ILD at every frequency. The remaining prediction error limits a simple account based only on summing measured tonal responses.
• Frequency-specific preferences matched the ILDs at the ILD-alone peak more closely than those at the normal receptive-field peak. A sum of frequency-specific inputs accounted for approximately 56% of the variance in measured ILD-alone fields, leaving substantial unexplained structure.
• The normal receptive field reflects a balance of inputs rather than independent maximization of every frequency-specific channel. The reported prediction supports a contribution from spectral integration; it does not establish that the computation is purely additive or explain all inhibitory interactions.
References:
Euston DR, Takahashi TT (2002). From Spectrum to Space: The Contribution of Level Difference Cues to Spatial Receptive Fields in the Barn Owl Inferior Colliculus. The Journal of Neuroscience 22(1):284-293. https://doi.org/10.1523/jneurosci.22-01-00284.2002
Figure: Euston &amp; Takahashi (2002), Fig. 7(A–B). Preferred frequency-specific ILDs compared with ILDs at receptive-field peaks.
Figure source: https://doi.org/10.1523/jneurosci.22-01-00284.2002</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recorded identified ICx neurons intracellularly and labeled them with neurobiotin. A postsynaptic potential is a membrane-voltage change caused by synaptic input; it can depolarize toward spike threshold or hyperpolarize away from it.
  – The paper verified inhibitory voltage behavior by changing membrane potential, rather than identifying inhibition solely from absent spikes. Neurobiotin labeling connects the physiological recording to an ICx cell with a tectal projection. The figure retains the original 25-µm cellular scale bar and the 1-mm projection scale.
• Broadband noise bursts lasted 100 ms and were presented 30 dB above threshold. Testing ITD-ILD pairs produced depolarizing responses near a preferred combination and hyperpolarizing responses outside it. Spike output formed a more restricted excitatory center surrounded by reduced firing.
• The intracellular measurement distinguishes input integration from the thresholded spike response. Depolarization at an unfavorable cue pair need not produce spikes. Hyperpolarizing responses support inhibition, but the recorded voltage can contain a mixture of excitatory and inhibitory influences rather than a single isolated conductance.
References:
Peña JL, Konishi M (2001). Auditory Spatial Receptive Fields Created by Multiplication. Science 292(5515):249-252. https://doi.org/10.1126/science.1059201
Figure: Peña &amp; Konishi (2001), Fig. 1(A–D). Identified ICx neuron, intracellular potentials, and spatially selective spikes.
Figure source: https://doi.org/10.1126/science.1059201</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arranged subthreshold membrane responses into a matrix of ITD-ILD combinations. A multiplicative interaction means that the effectiveness of one cue depends on the strength of the other, rather than two cue-dependent responses simply being added.
  – An analog conjunction can permit firing only when both timing and level are favorable. The measured response matrix and the authors’ fitted matrix are reproduced directly from the paper, including their original units and axes. The fit is the authors’ published analysis; no response surfaces have been reconstructed for this deck.
• After accounting for a constant membrane-voltage offset, a separable multiplicative component described about 96.6% of the response structure in the studied neurons. Singular value decomposition separated the measured matrix into ranked components, allowing multiplicative and additive accounts to be compared.
• Multiplication captured the data better than a simple additive alternative. This describes an experimentally supported computation at the membrane-response level. The analysis does not prove that one particular receptor or dendritic compartment literally performs multiplication, and it does not eliminate smaller contributions from other interactions.
References:
Peña JL, Konishi M (2001). Auditory Spatial Receptive Fields Created by Multiplication. Science 292(5515):249-252. https://doi.org/10.1126/science.1059201
Figure: Peña &amp; Konishi (2001), Fig. 2(A–F). Recorded response matrix and the authors’ multiplicative decomposition.
Figure source: https://doi.org/10.1126/science.1059201</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Peña and Konishi compared membrane-potential and spike tuning in the same ICx neurons. The spike threshold is the voltage-dependent boundary above which the neuron can generate an action potential; small depolarizations need not cross it.
  – A small secondary depolarization can be visible in an intracellular record yet fail to produce any spike output. The disappearance of a firing peak does not prove that the corresponding input has vanished. The experiment separates membrane integration from the output transformation and limits conclusions based only on extracellular spike tuning.
• The example retained several subthreshold timing peaks but produced spikes mainly near the dominant timing peak. ILD tuning was also narrower in spike output than in membrane voltage. The original records use milliseconds for the stimulus traces and microseconds for imposed interaural timing.
• The quality of a multiplicative description was lower for spike output than for subthreshold responses. Additional nonlinear processes therefore intervene between synaptic integration and discharge. Thresholding is consistent with this sharpening, while inhibition can also change the underlying voltage response before spikes occur.
References:
Peña JL, Konishi M (2001). Auditory Spatial Receptive Fields Created by Multiplication. Science 292(5515):249-252. https://doi.org/10.1126/science.1059201
Figure: Peña &amp; Konishi (2001), Fig. 5(A–D). Additional sharpening between postsynaptic potentials and spike output.
Figure source: https://doi.org/10.1126/science.1059201</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Binaural correlation measures similarity of the fine temporal waveform at the two ears. Peña and Konishi varied correlation while recording intracellular responses, changing timing reliability without simply replacing the level difference with a different spatial cue.
  – The same nominal delay becomes unreliable when the two ear signals no longer share matching fine structure. The study changed the temporal relationship independently of the level tuning measurement. A flat timing response under uncorrelated noise does not imply deafness; it indicates loss of evidence for one specific interaural delay.
• Correlation values of zero, 0.25, 0.5, 0.75, and one altered the amplitude of ITD-dependent membrane responses. ILD tuning was comparatively stable. At zero correlation, the timing component became nearly flat even though level-dependent responses could remain.
• Multiplicative descriptions remained effective across much of the manipulated range. When one input is almost constant, additive and multiplicative alternatives become harder to distinguish. Correlation manipulations therefore test robustness while exposing an identifiability limit of the mathematical description.
References:
Peña JL, Konishi M (2004). Robustness of Multiplicative Processes in Auditory Spatial Tuning. The Journal of Neuroscience 24(40):8907-8910. https://doi.org/10.1523/jneurosci.2924-04.2004
Figure: Peña &amp; Konishi (2004), Fig. 1(a–d). Binaural correlation changes timing tuning and synaptic response amplitude.
Figure source: https://doi.org/10.1523/jneurosci.2924-04.2004</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Fujita and Konishi applied BMI locally while recording timing-sensitive neurons across auditory nuclei. GABA-A receptors are ligand-gated chloride channels. GABA binding changes chloride conductance and can reduce the effectiveness of excitatory input. Antagonist application tests whether this inhibitory transmission contributes to the response curve.
  – The half-peak width measures the range of delays over which a response remains above half of its peak. A broader curve indicates weaker selectivity even if the maximum response rises. GABA application produced opposite effects, and simultaneous BMI could antagonize those effects, supporting a GABA-receptor-mediated interpretation.
• In ICC and ICx, BMI broadened tonal ITD tuning and increased responses at unfavorable delays. The lateral-shell example compares tuning before, during, and after application; a 3-kHz tonal condition was followed through recovery. VLVa timing selectivity was comparatively unaffected.
• GABAergic inhibition therefore sharpens the timing representation at selected collicular stages rather than uniformly creating timing sensitivity everywhere. Local drug application establishes a receptor-sensitive contribution. It does not separately identify every inhibitory source or specify an unmeasured ion-channel subtype.
References:
Fujita I, Konishi M (1991). The role of GABAergic inhibition in processing of interaural time difference in the owl's auditory system. The Journal of Neuroscience 11(3):722-739. https://doi.org/10.1523/jneurosci.11-03-00722.1991
Figure: Fujita &amp; Konishi (1991), Fig. 8(A–C). GABA-receptor blockade broadens timing tuning in the lateral shell.
Figure source: https://doi.org/10.1523/jneurosci.11-03-00722.1991</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Fujita and Konishi compared broadband ICx timing responses before and during local GABA-A receptor blockade. Broadband input normally emphasizes a principal timing peak while suppressing repeated matches inherited from narrowband channels.
  – An increase in all responses can differ from a selective release of secondary peaks. The source compares the secondary-to-primary relation as well as response time courses, helping distinguish these possibilities. Phase ambiguity can therefore reappear when inhibition is weakened even though the excitatory inputs still carry the same physical sound timing.
• BMI increased secondary-peak responses and could restore phase ambiguity for noise. The published records include time-dependent increases at delays such as −270 and +120 µs while the principal timing preference remained distinguishable. Recovery measurements tested reversibility after drug application.
• Cross-frequency convergence and inhibitory suppression jointly support unique broadband timing selectivity. The antagonist result establishes an inhibitory contribution but does not imply that inhibition alone can compute the correct delay without frequency-matched excitation. Drug spread and altered network gain limit a single-synapse interpretation.
References:
Fujita I, Konishi M (1991). The role of GABAergic inhibition in processing of interaural time difference in the owl's auditory system. The Journal of Neuroscience 11(3):722-739. https://doi.org/10.1523/jneurosci.11-03-00722.1991
Figure: Fujita &amp; Konishi (1991), Fig. 12(A–D). GABA-receptor blockade releases secondary timing-response peaks.
Figure source: https://doi.org/10.1523/jneurosci.11-03-00722.1991</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Glutamate is an excitatory transmitter. Feldman and Knudsen applied AP5, an antagonist of NMDA (N-methyl-D-aspartate) receptors, and CNQX, a non-NMDA glutamate-receptor antagonist, by iontophoresis while recording from ICx and the ICC lateral shell.
  – Iontophoresis uses an electrical current to deliver a drug locally. The two-antagonist comparison constrains whether a weak AP5 effect reflects little NMDA contribution or generally ineffective local delivery. NMDA and non-NMDA receptors are distinct glutamate-sensitive ion-channel families. NMDA channels have voltage-dependent magnesium block that can be relieved by depolarization. The ICx responses retained an NMDA contribution across their tested dynamic range, rather than recruiting it only above a separate high-level threshold. Antagonist-sensitive spikes do not constitute a complete molecular census.
• AP5 removed about 55% of auditory-evoked spikes at ICx multiunit sites and 64% at single units, compared with approximately 19% and 25% in the lateral shell. Combined AP5 and CNQX strongly suppressed responses in both subdivisions, often eliminating them.
• NMDA-dependent transmission contributes more prominently to ICx responses, while non-NMDA transmission is substantial in both regions. Normalizing AP5 blockade against combined blockade addressed variation in drug efficacy across sites. Spike reduction measures functional contribution, not receptor abundance or a direct percentage of synaptic current.
References:
Feldman DE, Knudsen EI (1994). NMDA and non-NMDA glutamate receptors in auditory transmission in the barn owl inferior colliculus. The Journal of Neuroscience 14(10):5939-5958. https://doi.org/10.1523/jneurosci.14-10-05939.1994
Figure: Feldman &amp; Knudsen (1994), Fig. 8(A–B). NMDA blockade differs between ICx and lateral shell.
Figure source: https://doi.org/10.1523/jneurosci.14-10-05939.1994</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Feldman and Knudsen analyzed peristimulus time histograms, which align repeated spike trains to sound onset. They tested ICx units with transient, sustained, or mixed responses to 50-ms broadband stimuli at their preferred ITD and ILD.
  – An iontophoretic current is a drug-delivery setting, not the synaptic current flowing through a neuron. The 50-ms sound duration and the sequence of control, blockade, and recovery remain in the original figure. A slow excitatory postsynaptic current can persist between successive inputs and summate during a sustained spike train. The authors proposed this mechanism for the growing late NMDA contribution. These experiments concern transmission in established spatial circuits; a role in developmental plasticity requires separate evidence.
• AP5 at 25 nA reduced spikes, with a larger effect on late activity in mixed transient-sustained responses. Responses were measured before application, during blockade, and after recovery. CNQX, in contrast, reduced activity more uniformly across the response time course.
• The temporal difference is consistent with slower NMDA-dependent excitation supplementing faster non-NMDA transmission. It does not directly measure receptor kinetics in voltage clamp. Together with coincidence detection, bilateral inhibition, and cross-frequency convergence, synaptic integration supports the sustained spatial signals available for owl orienting.
References:
Feldman DE, Knudsen EI (1994). NMDA and non-NMDA glutamate receptors in auditory transmission in the barn owl inferior colliculus. The Journal of Neuroscience 14(10):5939-5958. https://doi.org/10.1523/jneurosci.14-10-05939.1994
Figure: Feldman &amp; Knudsen (1994), Fig. 9(A–C). NMDA blockade alters the time course of auditory spike responses.
Figure source: https://doi.org/10.1523/jneurosci.14-10-05939.1994</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Computed spatial maps. ICx receptive-field centers are ordered by sound direction; the map is computed from binaural signals rather than copied from a spatial receptor surface.
• Parallel cue pathways. NM preserves timing and NA emphasizes sound level. Selective inactivation dissociates their contributions before the cues converge.
• Delay lines and coincidence. Opposed NM conduction gradients and coincidence-sensitive NL neurons transform interaural timing into place-dependent activity.
• Convergence and inhibition. Frequency-matched ICC arrays provide cross-frequency agreement, while GABAergic inhibition suppresses competing timing peaks in ICx.
• Level tuning and cue combination. Bilateral inhibitory influences create peaked ILD tuning; approximately multiplicative membrane integration combines timing and level selectivity.
• Mechanisms have experimental limits. NMDA and non-NMDA antagonists identify transmission contributions. Natural ILDs can also aid horizontal disambiguation, so ITD and ILD are not exclusive behavioral axes.
References:
Knudsen EI, Konishi M (1978). A Neural Map of Auditory Space in the Owl. Science 200(4343):795-797. https://doi.org/10.1126/science.644324
Sullivan WE, Konishi M (1984). Segregation of stimulus phase and intensity coding in the cochlear nucleus of the barn owl. The Journal of Neuroscience 4(7):1787-1799. https://doi.org/10.1523/jneurosci.04-07-01787.1984
Takahashi T, Moiseff A, Konishi M (1984). Time and intensity cues are processed independently in the auditory system of the owl. The Journal of Neuroscience 4(7):1781-1786. https://doi.org/10.1523/jneurosci.04-07-01781.1984
Carr CE, Konishi M (1990). A circuit for detection of interaural time differences in the brain stem of the barn owl. The Journal of Neuroscience 10(10):3227-3246. https://doi.org/10.1523/jneurosci.10-10-03227.1990
Wagner H, Takahashi T, Konishi M (1987). Representation of interaural time difference in the central nucleus of the barn owl's inferior colliculus. The Journal of Neuroscience 7(10):3105-3116. https://doi.org/10.1523/jneurosci.07-10-03105.1987
Manley GA, Köppl C, Konishi M (1988). A neural map of interaural intensity differences in the brain stem of the barn owl. The Journal of Neuroscience 8(8):2665-2676. https://doi.org/10.1523/jneurosci.08-08-02665.1988
Adolphs R (1993). Bilateral inhibition generates neuronal responses tuned to interaural level differences in the auditory brainstem of the barn owl. The Journal of Neuroscience 13(9):3647-3668. https://doi.org/10.1523/jneurosci.13-09-03647.1993
Fujita I, Konishi M (1991). The role of GABAergic inhibition in processing of interaural time difference in the owl's auditory system. The Journal of Neuroscience 11(3):722-739. https://doi.org/10.1523/jneurosci.11-03-00722.1991
Peña JL, Konishi M (2001). Auditory Spatial Receptive Fields Created by Multiplication. Science 292(5515):249-252. https://doi.org/10.1126/science.1059201
Feldman DE, Knudsen EI (1994). NMDA and non-NMDA glutamate receptors in auditory transmission in the barn owl inferior colliculus. The Journal of Neuroscience 14(10):5939-5958. https://doi.org/10.1523/jneurosci.14-10-05939.1994
Kettler L, Griebel H, Ferger R, Wagner H (2017). Combination of Interaural Level and Time Difference in Azimuthal Sound Localization in Owls. eNeuro 4(6):ENEURO.0238-17.2017. https://doi.org/10.1523/eneuro.0238-17.2017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GABA-A blockade broadens timing tuning.</a:t>
            </a:r>
          </a:p>
          <a:p>
            <a:r>
              <a:rPr lang="en-US" sz="1200"/>
              <a:t>• Explanation 1.</a:t>
            </a:r>
          </a:p>
          <a:p>
            <a:r>
              <a:rPr lang="en-US" sz="1200"/>
              <a:t>– The half-peak width measures the range of delays over which a response remains above half of its peak. A broader curve indicates weaker selectivity even if the maximum response rises. The width is a separate measure from the height of the peak. Peak height and width thus measure different aspects of tuning. The authors reported both measures for each curve.</a:t>
            </a:r>
          </a:p>
          <a:p>
            <a:r>
              <a:rPr lang="en-US" sz="1200"/>
              <a:t>• Explanation 2.</a:t>
            </a:r>
          </a:p>
          <a:p>
            <a:r>
              <a:rPr lang="en-US" sz="1200"/>
              <a:t>– Applying GABA produced effects opposite to those of BMI in the same tissue. This reversal is the pattern expected if GABA-A receptors mediate the inhibition. The opposite effects point to GABA-A receptors rather than to a general effect of drug delivery. The reverse pattern is the key evidence in this analysis. BMI and GABA act on the same receptor family.</a:t>
            </a:r>
          </a:p>
          <a:p>
            <a:r>
              <a:rPr lang="en-US" sz="1200"/>
              <a:t>• Explanation 3.</a:t>
            </a:r>
          </a:p>
          <a:p>
            <a:r>
              <a:rPr lang="en-US" sz="1200"/>
              <a:t>– Simultaneous BMI could antagonize those GABA effects, which supports a GABA-receptor-mediated interpretation of the result. Recovery after the drug confirmed that the effect was reversible in each cell. The cells were recorded before, during, and after drug application. The timing curves were compared across those three intervals. Each interval produced its own measured tuning width.</a:t>
            </a:r>
          </a:p>
          <a:p>
            <a:r>
              <a:rPr lang="en-US" sz="1200"/>
              <a:t>• Source.</a:t>
            </a:r>
          </a:p>
          <a:p>
            <a:r>
              <a:rPr lang="en-US" sz="1200"/>
              <a:t>– The figure and the measurements come from Fujita &amp; Konishi (1991).</a:t>
            </a:r>
          </a:p>
          <a:p>
            <a:r>
              <a:rPr lang="en-US" sz="1200"/>
              <a:t/>
            </a:r>
          </a:p>
          <a:p>
            <a:r>
              <a:rPr lang="en-US" sz="1200"/>
              <a:t>References:</a:t>
            </a:r>
          </a:p>
          <a:p>
            <a:r>
              <a:rPr lang="en-US" sz="1200"/>
              <a:t>Fujita I, Konishi M (1991). The role of GABAergic inhibition in processing of interaural time difference in the owl's auditory system. The Journal of Neuroscience 11(3):722-739. https://doi.org/10.1523/jneurosci.11-03-00722.1991</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Membrane products multiply timing and level.</a:t>
            </a:r>
          </a:p>
          <a:p>
            <a:r>
              <a:rPr lang="en-US" sz="1200"/>
              <a:t>• Explanation 1.</a:t>
            </a:r>
          </a:p>
          <a:p>
            <a:r>
              <a:rPr lang="en-US" sz="1200"/>
              <a:t>– An analog conjunction can permit firing when both timing and level are favorable. The fitted multiplicative term describes membrane responses in which neither cue alone produces a strong response. Such a conjunction is a multiplication of the two cue effects. In this account, the response is strongest where both cue effects are large. In that case the response depends on both cues at once.</a:t>
            </a:r>
          </a:p>
          <a:p>
            <a:r>
              <a:rPr lang="en-US" sz="1200"/>
              <a:t>• Explanation 2.</a:t>
            </a:r>
          </a:p>
          <a:p>
            <a:r>
              <a:rPr lang="en-US" sz="1200"/>
              <a:t>– The analysis leaves open whether a particular receptor or dendritic compartment performs the multiplication itself. The fit describes the membrane response, not the molecular mechanism that produces it. The fitted term is a mathematical description of a physiological response. The matrix of membrane responses forms the basis of the fit. This mathematical form is the authors' central analytical step.</a:t>
            </a:r>
          </a:p>
          <a:p>
            <a:r>
              <a:rPr lang="en-US" sz="1200"/>
              <a:t>• Explanation 3.</a:t>
            </a:r>
          </a:p>
          <a:p>
            <a:r>
              <a:rPr lang="en-US" sz="1200"/>
              <a:t>– Smaller contributions from other interactions remain possible alongside the multiplicative component. The published analysis reports the dominant structure of the matrix rather than an exhaustive decomposition. The studied neurons were ICx cells recorded intracellularly. The fit accounts for most of the structure in those matrices. Those matrices were built from subthreshold recordings in each neuron.</a:t>
            </a:r>
          </a:p>
          <a:p>
            <a:r>
              <a:rPr lang="en-US" sz="1200"/>
              <a:t>• Source.</a:t>
            </a:r>
          </a:p>
          <a:p>
            <a:r>
              <a:rPr lang="en-US" sz="1200"/>
              <a:t>– The figure and the measurements come from Peña &amp; Konishi (2001).</a:t>
            </a:r>
          </a:p>
          <a:p>
            <a:r>
              <a:rPr lang="en-US" sz="1200"/>
              <a:t/>
            </a:r>
          </a:p>
          <a:p>
            <a:r>
              <a:rPr lang="en-US" sz="1200"/>
              <a:t>References:</a:t>
            </a:r>
          </a:p>
          <a:p>
            <a:r>
              <a:rPr lang="en-US" sz="1200"/>
              <a:t>Peña JL, Konishi M (2001). Auditory Spatial Receptive Fields Created by Multiplication. Science 292(5515):249-252. https://doi.org/10.1126/science.1059201</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Virtual sources keep surrounding inhibition.</a:t>
            </a:r>
          </a:p>
          <a:p>
            <a:r>
              <a:rPr lang="en-US" sz="1200"/>
              <a:t>• Explanation 1.</a:t>
            </a:r>
          </a:p>
          <a:p>
            <a:r>
              <a:rPr lang="en-US" sz="1200"/>
              <a:t>– The published response maps are recordings from neurons under those playback conditions, not model predictions. The virtual sources reproduced each direction's measured filtering through earphones. Euston and Takahashi measured the head filtering that the virtual sources used. The playback preserved the spectral profile of each direction. The maps show neurons responding to natural-like spectral cues.</a:t>
            </a:r>
          </a:p>
          <a:p>
            <a:r>
              <a:rPr lang="en-US" sz="1200"/>
              <a:t>• Explanation 2.</a:t>
            </a:r>
          </a:p>
          <a:p>
            <a:r>
              <a:rPr lang="en-US" sz="1200"/>
              <a:t>– The surrounding inhibitory regions were retained in the authors' maps, so suppression outside the excitatory field is part of each map. Those inhibitory zones shape where the edges of the field fall. The authors' maps thus include that suppressive surround. The maps record both excitation and suppression. The retained regions shape how far suppression extends across the field.</a:t>
            </a:r>
          </a:p>
          <a:p>
            <a:r>
              <a:rPr lang="en-US" sz="1200"/>
              <a:t>• Explanation 3.</a:t>
            </a:r>
          </a:p>
          <a:p>
            <a:r>
              <a:rPr lang="en-US" sz="1200"/>
              <a:t>– Holding timing favorable isolates the level contribution without moving a real sound source. The cell's timing preference stays fixed, so the ILD-alone field reflects level alone. Their maxima can differ, so neither condition replaces the other. The combined field reflects both timing and level constraints. The largest response in one condition often misses the normal direction.</a:t>
            </a:r>
          </a:p>
          <a:p>
            <a:r>
              <a:rPr lang="en-US" sz="1200"/>
              <a:t>• Source.</a:t>
            </a:r>
          </a:p>
          <a:p>
            <a:r>
              <a:rPr lang="en-US" sz="1200"/>
              <a:t>– The figure and the measurements come from Euston &amp; Takahashi (2002).</a:t>
            </a:r>
          </a:p>
          <a:p>
            <a:r>
              <a:rPr lang="en-US" sz="1200"/>
              <a:t/>
            </a:r>
          </a:p>
          <a:p>
            <a:r>
              <a:rPr lang="en-US" sz="1200"/>
              <a:t>References:</a:t>
            </a:r>
          </a:p>
          <a:p>
            <a:r>
              <a:rPr lang="en-US" sz="1200"/>
              <a:t>Euston DR, Takahashi TT (2002). From Spectrum to Space: The Contribution of Level Difference Cues to Spatial Receptive Fields in the Barn Owl Inferior Colliculus. The Journal of Neuroscience 22(1):284-293. https://doi.org/10.1523/jneurosci.22-01-00284.2002</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Remote inhibition reverses within an hour.</a:t>
            </a:r>
          </a:p>
          <a:p>
            <a:r>
              <a:rPr lang="en-US" sz="1200"/>
              <a:t>• Explanation 1.</a:t>
            </a:r>
          </a:p>
          <a:p>
            <a:r>
              <a:rPr lang="en-US" sz="1200"/>
              <a:t>– Disinhibition means that activity increases after an inhibitory influence is removed. A drug that blocks GABA-A receptors can raise the output of a population instead of exciting it directly. GABA-A receptors carry that inhibition in this case. Blocking them lifts that inhibition from the target population. The projection then carries more activity to its targets.</a:t>
            </a:r>
          </a:p>
          <a:p>
            <a:r>
              <a:rPr lang="en-US" sz="1200"/>
              <a:t>• Explanation 2.</a:t>
            </a:r>
          </a:p>
          <a:p>
            <a:r>
              <a:rPr lang="en-US" sz="1200"/>
              <a:t>– The sign of a drug's effect at the injection site can differ from the sign of its effect at a distant recording site. Injection spread and network effects make it hard to assign the whole effect to one synapse. The distant recording site was in the lateral shell. Its response was tracked over time. Responses were tracked over several minutes after injection.</a:t>
            </a:r>
          </a:p>
          <a:p>
            <a:r>
              <a:rPr lang="en-US" sz="1200"/>
              <a:t>• Explanation 3.</a:t>
            </a:r>
          </a:p>
          <a:p>
            <a:r>
              <a:rPr lang="en-US" sz="1200"/>
              <a:t>– Reversible changes and the time course of recovery help distinguish acute circuit modulation from irreversible tissue damage. The lateral-shell recovery in this study points to modulation rather than injury. The time course of recovery in the study ran for about an hour. That timescale fits a change in circuit activity more than a lesion. Recovery began within the study's observation period.</a:t>
            </a:r>
          </a:p>
          <a:p>
            <a:r>
              <a:rPr lang="en-US" sz="1200"/>
              <a:t>• Source.</a:t>
            </a:r>
          </a:p>
          <a:p>
            <a:r>
              <a:rPr lang="en-US" sz="1200"/>
              <a:t>– The figure and the measurements come from Adolphs (1993).</a:t>
            </a:r>
          </a:p>
          <a:p>
            <a:r>
              <a:rPr lang="en-US" sz="1200"/>
              <a:t/>
            </a:r>
          </a:p>
          <a:p>
            <a:r>
              <a:rPr lang="en-US" sz="1200"/>
              <a:t>References:</a:t>
            </a:r>
          </a:p>
          <a:p>
            <a:r>
              <a:rPr lang="en-US" sz="1200"/>
              <a:t>Adolphs R (1993). Bilateral inhibition generates neuronal responses tuned to interaural level differences in the auditory brainstem of the barn owl. The Journal of Neuroscience 13(9):3647-3668. https://doi.org/10.1523/jneurosci.13-09-03647.1993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Half-maximum points track the ILD axis.</a:t>
            </a:r>
          </a:p>
          <a:p>
            <a:r>
              <a:rPr lang="en-US" sz="1200"/>
              <a:t>• Explanation 1.</a:t>
            </a:r>
          </a:p>
          <a:p>
            <a:r>
              <a:rPr lang="en-US" sz="1200"/>
              <a:t>– Average binaural level is the mean of the two ear levels, expressed in decibels in this experiment. Opposite changes at the two ears vary the ILD while preserving that average. The ILD at each binaural level value is then recorded for every site. The ILD values describe balance rather than loudness at each site. The ILD values were then ordered by site position.</a:t>
            </a:r>
          </a:p>
          <a:p>
            <a:r>
              <a:rPr lang="en-US" sz="1200"/>
              <a:t>• Explanation 2.</a:t>
            </a:r>
          </a:p>
          <a:p>
            <a:r>
              <a:rPr lang="en-US" sz="1200"/>
              <a:t>– The authors grouped cells by their relative position within each penetration. The ordering reflects a physiological-anatomical relation, not a measurement of external elevation in degrees. Each penetration thus provides its own ordered sequence of sites. Cells were ordered within each penetration. Those sequences were examined for a dorsal-to-ventral trend, which was consistent across all the penetrations sampled.</a:t>
            </a:r>
          </a:p>
          <a:p>
            <a:r>
              <a:rPr lang="en-US" sz="1200"/>
              <a:t>• Explanation 3.</a:t>
            </a:r>
          </a:p>
          <a:p>
            <a:r>
              <a:rPr lang="en-US" sz="1200"/>
              <a:t>– This organization is internal to VLVp and describes the level-threshold axis of that nucleus, not space itself. Later stages of the pathway can read these graded values directly. The graded values sit on an axis that ranges from contralateral to ipsilateral bias. That axis, not a spatial coordinate, organizes the nucleus. This ordering gives a graded map of thresholds in the level pathway.</a:t>
            </a:r>
          </a:p>
          <a:p>
            <a:r>
              <a:rPr lang="en-US" sz="1200"/>
              <a:t>• Source.</a:t>
            </a:r>
          </a:p>
          <a:p>
            <a:r>
              <a:rPr lang="en-US" sz="1200"/>
              <a:t>– The figure and the measurements come from Manley et al. (1988).</a:t>
            </a:r>
          </a:p>
          <a:p>
            <a:r>
              <a:rPr lang="en-US" sz="1200"/>
              <a:t/>
            </a:r>
          </a:p>
          <a:p>
            <a:r>
              <a:rPr lang="en-US" sz="1200"/>
              <a:t>References:</a:t>
            </a:r>
          </a:p>
          <a:p>
            <a:r>
              <a:rPr lang="en-US" sz="1200"/>
              <a:t>Manley GA, Köppl C, Konishi M (1988). A neural map of interaural intensity differences in the brain stem of the barn owl. The Journal of Neuroscience 8(8):2665-2676. https://doi.org/10.1523/jneurosci.08-08-02665.1988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Convergence needs a level control.</a:t>
            </a:r>
          </a:p>
          <a:p>
            <a:r>
              <a:rPr lang="en-US" sz="1200"/>
              <a:t>• Explanation 1.</a:t>
            </a:r>
          </a:p>
          <a:p>
            <a:r>
              <a:rPr lang="en-US" sz="1200"/>
              <a:t>– Two tones share a true imposed interaural delay, while their repeated phase matches occur at different delays. Their joint presentation favors the one delay that both channels agree on. The pair thus isolates the agreement between two frequency channels. Each tone alone produces its own set of repeated peaks. The shared delay is the one that survives the combination.</a:t>
            </a:r>
          </a:p>
          <a:p>
            <a:r>
              <a:rPr lang="en-US" sz="1200"/>
              <a:t>• Explanation 2.</a:t>
            </a:r>
          </a:p>
          <a:p>
            <a:r>
              <a:rPr lang="en-US" sz="1200"/>
              <a:t>– Component-only conditions isolate integration from a plain rise in sound energy. The joint response can then be attributed to agreement between channels rather than to added energy. The condition isolates the effect of combining channels, which is the quantity of interest. Its result is then set against the single-tone responses in the same cell.</a:t>
            </a:r>
          </a:p>
          <a:p>
            <a:r>
              <a:rPr lang="en-US" sz="1200"/>
              <a:t>• Explanation 3.</a:t>
            </a:r>
          </a:p>
          <a:p>
            <a:r>
              <a:rPr lang="en-US" sz="1200"/>
              <a:t>– Each tone's repeated maxima sit at different delays, so the pair can reveal the one delay the two channels share. The convergence mechanism is tested by this shared delay. The convergence mechanism predicts that agreement favors this delay. Other nonlinear steps can add to the selectivity in the same cell. The published analysis compares the response to that expectation directly.</a:t>
            </a:r>
          </a:p>
          <a:p>
            <a:r>
              <a:rPr lang="en-US" sz="1200"/>
              <a:t>• Source.</a:t>
            </a:r>
          </a:p>
          <a:p>
            <a:r>
              <a:rPr lang="en-US" sz="1200"/>
              <a:t>– The figure and the measurements come from Takahashi &amp; Konishi (1986).</a:t>
            </a:r>
          </a:p>
          <a:p>
            <a:r>
              <a:rPr lang="en-US" sz="1200"/>
              <a:t/>
            </a:r>
          </a:p>
          <a:p>
            <a:r>
              <a:rPr lang="en-US" sz="1200"/>
              <a:t>References:</a:t>
            </a:r>
          </a:p>
          <a:p>
            <a:r>
              <a:rPr lang="en-US" sz="1200"/>
              <a:t>Takahashi T, Konishi M (1986). Selectivity for interaural time difference in the owl's midbrain. The Journal of Neuroscience 6(12):3413-3422. https://doi.org/10.1523/jneurosci.06-12-03413.1986</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Injections label a restricted target region.</a:t>
            </a:r>
          </a:p>
          <a:p>
            <a:r>
              <a:rPr lang="en-US" sz="1200"/>
              <a:t>• Explanation 1.</a:t>
            </a:r>
          </a:p>
          <a:p>
            <a:r>
              <a:rPr lang="en-US" sz="1200"/>
              <a:t>– An injection region can encompass more than one cell, so the result concerns a restricted target region rather than a complete single-cell wiring diagram. The synaptic weight of each labeled cell lies outside what this method measures. The labeled population is thus a region-level description of the projection. Retrograde labeling identifies a source region, not a single cell.</a:t>
            </a:r>
          </a:p>
          <a:p>
            <a:r>
              <a:rPr lang="en-US" sz="1200"/>
              <a:t>• Explanation 2.</a:t>
            </a:r>
          </a:p>
          <a:p>
            <a:r>
              <a:rPr lang="en-US" sz="1200"/>
              <a:t>– The experiment combines two independent kinds of evidence: physiological cue tuning and anatomical projection labeling. Each kind of evidence points to the same array-to-region link from a different direction. The matched timing preferences give the physiological side of the same projection. The link between ICC and ICx is thus shown from two directions in this preparation.</a:t>
            </a:r>
          </a:p>
          <a:p>
            <a:r>
              <a:rPr lang="en-US" sz="1200"/>
              <a:t>• Explanation 3.</a:t>
            </a:r>
          </a:p>
          <a:p>
            <a:r>
              <a:rPr lang="en-US" sz="1200"/>
              <a:t>– The published sections keep the labeled somata and the response curves together, so the anatomy and the physiology can be read side by side. The scale bars give the size of the labeled region in the tissue. Retrograde tracing shows where a projection starts, while the physiology shows what the labeled cells respond to in this study.</a:t>
            </a:r>
          </a:p>
          <a:p>
            <a:r>
              <a:rPr lang="en-US" sz="1200"/>
              <a:t>• Source.</a:t>
            </a:r>
          </a:p>
          <a:p>
            <a:r>
              <a:rPr lang="en-US" sz="1200"/>
              <a:t>– The figure and the measurements come from Wagner et al. (1987).</a:t>
            </a:r>
          </a:p>
          <a:p>
            <a:r>
              <a:rPr lang="en-US" sz="1200"/>
              <a:t/>
            </a:r>
          </a:p>
          <a:p>
            <a:r>
              <a:rPr lang="en-US" sz="1200"/>
              <a:t>References:</a:t>
            </a:r>
          </a:p>
          <a:p>
            <a:r>
              <a:rPr lang="en-US" sz="1200"/>
              <a:t>Wagner H, Takahashi T, Konishi M (1987). Representation of interaural time difference in the central nucleus of the barn owl's inferior colliculus. The Journal of Neuroscience 7(10):3105-3116. https://doi.org/10.1523/jneurosci.07-10-03105.1987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Recorded peaks match across recording types.</a:t>
            </a:r>
          </a:p>
          <a:p>
            <a:r>
              <a:rPr lang="en-US" sz="1200"/>
              <a:t>• Explanation 1.</a:t>
            </a:r>
          </a:p>
          <a:p>
            <a:r>
              <a:rPr lang="en-US" sz="1200"/>
              <a:t>– The curves are normalized to each recording's maximum, so alignment refers to relative response levels rather than identical absolute firing. Relative response levels are thus comparable across recordings. Absolute spike counts can differ between the recordings without changing the alignment. This normalization puts the peaks of different recordings on a common scale. Relative response levels are comparable across the recordings.</a:t>
            </a:r>
          </a:p>
          <a:p>
            <a:r>
              <a:rPr lang="en-US" sz="1200"/>
              <a:t>• Explanation 2.</a:t>
            </a:r>
          </a:p>
          <a:p>
            <a:r>
              <a:rPr lang="en-US" sz="1200"/>
              <a:t>– The study compared single-unit and multi-unit recordings and found closely matching peak positions. Those matching positions show that the array-specific delay appears in both kinds of recording. Single-unit recordings isolate one neuron, while multi-unit recordings sample a population of neurons. Both record the same delay, so the array's timing value is consistent across the two sampling methods.</a:t>
            </a:r>
          </a:p>
          <a:p>
            <a:r>
              <a:rPr lang="en-US" sz="1200"/>
              <a:t>• Explanation 3.</a:t>
            </a:r>
          </a:p>
          <a:p>
            <a:r>
              <a:rPr lang="en-US" sz="1200"/>
              <a:t>– A preferred phase for one frequency is insufficient to identify the array-specific ITD without the cross-frequency relation. The timing value emerges when the frequencies are considered together. Frequencies examined one at a time leave the array delay undetermined. Pooling across frequencies resolves that ambiguity in the array. A shared relation across frequencies gives a single timing value.</a:t>
            </a:r>
          </a:p>
          <a:p>
            <a:r>
              <a:rPr lang="en-US" sz="1200"/>
              <a:t>• Source.</a:t>
            </a:r>
          </a:p>
          <a:p>
            <a:r>
              <a:rPr lang="en-US" sz="1200"/>
              <a:t>– The figure and the measurements come from Wagner et al. (1987).</a:t>
            </a:r>
          </a:p>
          <a:p>
            <a:r>
              <a:rPr lang="en-US" sz="1200"/>
              <a:t/>
            </a:r>
          </a:p>
          <a:p>
            <a:r>
              <a:rPr lang="en-US" sz="1200"/>
              <a:t>References:</a:t>
            </a:r>
          </a:p>
          <a:p>
            <a:r>
              <a:rPr lang="en-US" sz="1200"/>
              <a:t>Wagner H, Takahashi T, Konishi M (1987). Representation of interaural time difference in the central nucleus of the barn owl's inferior colliculus. The Journal of Neuroscience 7(10):3105-3116. https://doi.org/10.1523/jneurosci.07-10-03105.1987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Myelin spacing is one anatomical contributor.</a:t>
            </a:r>
          </a:p>
          <a:p>
            <a:r>
              <a:rPr lang="en-US" sz="1200"/>
              <a:t>• Explanation 1.</a:t>
            </a:r>
          </a:p>
          <a:p>
            <a:r>
              <a:rPr lang="en-US" sz="1200"/>
              <a:t>– Nodes are interruptions of the myelin sheath, and nodal spacing is one anatomical contributor to impulse propagation. The internodal measurements describe a structural feature that could affect conduction speed in these axons. Impulse propagation is renewed at each node, which keeps the signal moving along the fiber. The spacing of those nodes sets how often this renewal occurs along the axon.</a:t>
            </a:r>
          </a:p>
          <a:p>
            <a:r>
              <a:rPr lang="en-US" sz="1200"/>
              <a:t>• Explanation 2.</a:t>
            </a:r>
          </a:p>
          <a:p>
            <a:r>
              <a:rPr lang="en-US" sz="1200"/>
              <a:t>– The interpretation combines measured axonal anatomy with measured conduction delays. The mechanistic inference is kept separate from those measurements, so each claim stays tied to its own evidence. Conduction velocity estimates come from the physiology of the same preparation. Those estimates place delay generation within the range seen in these axons. Those values are local estimates rather than whole-axon measurements.</a:t>
            </a:r>
          </a:p>
          <a:p>
            <a:r>
              <a:rPr lang="en-US" sz="1200"/>
              <a:t>• Explanation 3.</a:t>
            </a:r>
          </a:p>
          <a:p>
            <a:r>
              <a:rPr lang="en-US" sz="1200"/>
              <a:t>– Both kinds of measurement were made in the same HRP-labeled axons, which links the spacing to the delay gradients. The anatomy and the physiology share one reference, the labeled fiber itself. The authors used those same labeled fibers for every measurement reported. Their combined reading supports the proposal in this single preparation. Those results support the proposal directly.</a:t>
            </a:r>
          </a:p>
          <a:p>
            <a:r>
              <a:rPr lang="en-US" sz="1200"/>
              <a:t>• Source.</a:t>
            </a:r>
          </a:p>
          <a:p>
            <a:r>
              <a:rPr lang="en-US" sz="1200"/>
              <a:t>– The figure and the measurements come from Carr &amp; Konishi (1990).</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Reconstructed arbors show layout, not length.</a:t>
            </a:r>
          </a:p>
          <a:p>
            <a:r>
              <a:rPr lang="en-US" sz="1200"/>
              <a:t>• Explanation 1.</a:t>
            </a:r>
          </a:p>
          <a:p>
            <a:r>
              <a:rPr lang="en-US" sz="1200"/>
              <a:t>– The original authors reconstructed three-dimensional axon arbors across serial sections and then adjusted their projection onto the published two-dimensional view. The figure is cropped unchanged from the article, and its scale bar represents 1 mm. The figure thus shows a layout rather than a measurement. The scale bar sets the size of that layout in physical units.</a:t>
            </a:r>
          </a:p>
          <a:p>
            <a:r>
              <a:rPr lang="en-US" sz="1200"/>
              <a:t>• Explanation 2.</a:t>
            </a:r>
          </a:p>
          <a:p>
            <a:r>
              <a:rPr lang="en-US" sz="1200"/>
              <a:t>– The drawing's geometry shows the arrangement of the branches, not an exact flattened measurement of each branch length. Physical separation in the drawing is a guide to layout rather than a measured distance. Each branch in the drawing traces a path from NM to one border. Relative positions along each border can be read directly from the drawing.</a:t>
            </a:r>
          </a:p>
          <a:p>
            <a:r>
              <a:rPr lang="en-US" sz="1200"/>
              <a:t>• Explanation 3.</a:t>
            </a:r>
          </a:p>
          <a:p>
            <a:r>
              <a:rPr lang="en-US" sz="1200"/>
              <a:t>– The reconstruction is a published anatomical result, so its geometry comes from the authors' own tracing rather than from a schematic drawing. Readers can treat its layout as the authors' record of the labeled axons in those sections. Tracing shows where axons go, so it identifies the entry geometry that a delay line needs to work.</a:t>
            </a:r>
          </a:p>
          <a:p>
            <a:r>
              <a:rPr lang="en-US" sz="1200"/>
              <a:t>• Source.</a:t>
            </a:r>
          </a:p>
          <a:p>
            <a:r>
              <a:rPr lang="en-US" sz="1200"/>
              <a:t>– The figure and the measurements come from Carr &amp; Konishi (1990).</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Calibrated tones define the phase measure.</a:t>
            </a:r>
          </a:p>
          <a:p>
            <a:r>
              <a:rPr lang="en-US" sz="1200"/>
              <a:t>• Explanation 1.</a:t>
            </a:r>
          </a:p>
          <a:p>
            <a:r>
              <a:rPr lang="en-US" sz="1200"/>
              <a:t>– The study used ear-canal calibration for individual animals, so the stimulus level was measured at the auditory input rather than inferred from a speaker setting. Each level value is tied to the sound that actually reached that animal's ear. The calibrated value is the level at the auditory input, not at the speaker. Calibration is what makes the levels comparable across animals.</a:t>
            </a:r>
          </a:p>
          <a:p>
            <a:r>
              <a:rPr lang="en-US" sz="1200"/>
              <a:t>• Explanation 2.</a:t>
            </a:r>
          </a:p>
          <a:p>
            <a:r>
              <a:rPr lang="en-US" sz="1200"/>
              <a:t>– Vector strength pools phase values across many cycles of the tone. A high-frequency neuron can still carry information about its preferred stimulus phase while firing on a subset of cycles. Each cycle contributes its phase to the vector, so more cycles give a more stable estimate. The stimulus was a tone of fixed frequency and level.</a:t>
            </a:r>
          </a:p>
          <a:p>
            <a:r>
              <a:rPr lang="en-US" sz="1200"/>
              <a:t>• Explanation 3.</a:t>
            </a:r>
          </a:p>
          <a:p>
            <a:r>
              <a:rPr lang="en-US" sz="1200"/>
              <a:t>– Detectable locking is not equivalent to equally precise locking at every frequency. Phase locking should be read frequency by frequency, since the precision of the timing signal changes across the range. Phase organization can be measured at a sound level below the rate threshold. Its precision depends on frequency and level together. Its precision depends on frequency and level together.</a:t>
            </a:r>
          </a:p>
          <a:p>
            <a:r>
              <a:rPr lang="en-US" sz="1200"/>
              <a:t>• Source.</a:t>
            </a:r>
          </a:p>
          <a:p>
            <a:r>
              <a:rPr lang="en-US" sz="1200"/>
              <a:t>– The figure and the measurements come from Köppl (1997).</a:t>
            </a:r>
          </a:p>
          <a:p>
            <a:r>
              <a:rPr lang="en-US" sz="1200"/>
              <a:t/>
            </a:r>
          </a:p>
          <a:p>
            <a:r>
              <a:rPr lang="en-US" sz="1200"/>
              <a:t>References:</a:t>
            </a:r>
          </a:p>
          <a:p>
            <a:r>
              <a:rPr lang="en-US" sz="1200"/>
              <a:t>Köppl C (1997). Phase Locking to High Frequencies in the Auditory Nerve and Cochlear Nucleus Magnocellularis of the Barn Owl,Tyto alba. The Journal of Neuroscience 17(9):3312-3321. https://doi.org/10.1523/jneurosci.17-09-03312.1997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Parallel nuclei transform a shared input.</a:t>
            </a:r>
          </a:p>
          <a:p>
            <a:r>
              <a:rPr lang="en-US" sz="1200"/>
              <a:t>• Explanation 1.</a:t>
            </a:r>
          </a:p>
          <a:p>
            <a:r>
              <a:rPr lang="en-US" sz="1200"/>
              <a:t>– Auditory-nerve fibers carry both temporal and level information. Parallel nuclei can emphasize different variables while receiving the same peripheral input, because each nucleus reads that shared signal in its own way. Neurons in each nucleus thus carry different features of the same sound. The nucleus determines which variable is kept in its output. Each nucleus thus has a distinct output.</a:t>
            </a:r>
          </a:p>
          <a:p>
            <a:r>
              <a:rPr lang="en-US" sz="1200"/>
              <a:t>• Explanation 2.</a:t>
            </a:r>
          </a:p>
          <a:p>
            <a:r>
              <a:rPr lang="en-US" sz="1200"/>
              <a:t>– The relevant difference lies in how each nucleus transforms its shared peripheral input, not in which signals reach it. The original micrograph supplies the positions of the nuclei and a scale bar for the sections. The labeled structures are experimental tissue from the study itself, not a schematic circuit. The labeled nuclei are shown at the scale of the sections.</a:t>
            </a:r>
          </a:p>
          <a:p>
            <a:r>
              <a:rPr lang="en-US" sz="1200"/>
              <a:t>• Explanation 3.</a:t>
            </a:r>
          </a:p>
          <a:p>
            <a:r>
              <a:rPr lang="en-US" sz="1200"/>
              <a:t>– Histological landmarks supplied the reference points for intracellular recording and tracer experiments. Each recording depth could then be assigned to a named nucleus before its responses were interpreted. Histology was thus the anatomical basis for the later measurements. The landmarks were visible in each transverse section. Each named nucleus then carried its own recordings in that section.</a:t>
            </a:r>
          </a:p>
          <a:p>
            <a:r>
              <a:rPr lang="en-US" sz="1200"/>
              <a:t>• Source.</a:t>
            </a:r>
          </a:p>
          <a:p>
            <a:r>
              <a:rPr lang="en-US" sz="1200"/>
              <a:t>– The figure and the measurements come from Carr &amp; Konishi (1990).</a:t>
            </a:r>
          </a:p>
          <a:p>
            <a:r>
              <a:rPr lang="en-US" sz="1200"/>
              <a:t/>
            </a:r>
          </a:p>
          <a:p>
            <a:r>
              <a:rPr lang="en-US" sz="1200"/>
              <a:t>References:</a:t>
            </a:r>
          </a:p>
          <a:p>
            <a:r>
              <a:rPr lang="en-US" sz="1200"/>
              <a:t>Carr CE, Konishi M (1990). A circuit for detection of interaural time differences in the brain stem of the barn owl. The Journal of Neuroscience 10(10):3227-3246. https://doi.org/10.1523/jneurosci.10-10-03227.1990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Earphones isolate one binaural cue.</a:t>
            </a:r>
          </a:p>
          <a:p>
            <a:r>
              <a:rPr lang="en-US" sz="1200"/>
              <a:t>• Explanation 1.</a:t>
            </a:r>
          </a:p>
          <a:p>
            <a:r>
              <a:rPr lang="en-US" sz="1200"/>
              <a:t>– Earphones allowed one binaural cue to change without the acoustically coupled changes that a moving real speaker produces. Holding the other cue fixed showed whether a preference shifted when the other input changed. Each series changed one cue while the other stayed fixed. The two cues were varied in separate series on the same neuron.</a:t>
            </a:r>
          </a:p>
          <a:p>
            <a:r>
              <a:rPr lang="en-US" sz="1200"/>
              <a:t>• Explanation 2.</a:t>
            </a:r>
          </a:p>
          <a:p>
            <a:r>
              <a:rPr lang="en-US" sz="1200"/>
              <a:t>– The key observation concerned the position of each tuning peak rather than whether every spike count stayed identical across conditions. Peak position, not identical spike counts, defined each preference. A shifted peak indicates a change in preference, while a change in spike count alone reflects a change in response magnitude. The same logic applied to each series.</a:t>
            </a:r>
          </a:p>
          <a:p>
            <a:r>
              <a:rPr lang="en-US" sz="1200"/>
              <a:t>• Explanation 3.</a:t>
            </a:r>
          </a:p>
          <a:p>
            <a:r>
              <a:rPr lang="en-US" sz="1200"/>
              <a:t>– Calibrated earphones delivered every condition, so the sound level reaching each ear was known. The peak positions can be read against a controlled acoustic setting. Each series varied a single cue in the same neuron. The same neuron was tested in every series, so the values are directly matched. Acoustic conditions stayed matched across series.</a:t>
            </a:r>
          </a:p>
          <a:p>
            <a:r>
              <a:rPr lang="en-US" sz="1200"/>
              <a:t>• Source.</a:t>
            </a:r>
          </a:p>
          <a:p>
            <a:r>
              <a:rPr lang="en-US" sz="1200"/>
              <a:t>– The figure and the measurements come from Takahashi et al. (1984).</a:t>
            </a:r>
          </a:p>
          <a:p>
            <a:r>
              <a:rPr lang="en-US" sz="1200"/>
              <a:t/>
            </a:r>
          </a:p>
          <a:p>
            <a:r>
              <a:rPr lang="en-US" sz="1200"/>
              <a:t>References:</a:t>
            </a:r>
          </a:p>
          <a:p>
            <a:r>
              <a:rPr lang="en-US" sz="1200"/>
              <a:t>Takahashi T, Moiseff A, Konishi M (1984). Time and intensity cues are processed independently in the auditory system of the owl. The Journal of Neuroscience 4(7):1781-1786. https://doi.org/10.1523/jneurosci.04-07-01781.1984</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Head filtering adds a horizontal level cue.</a:t>
            </a:r>
          </a:p>
          <a:p>
            <a:r>
              <a:rPr lang="en-US" sz="1200"/>
              <a:t>• Explanation 1.</a:t>
            </a:r>
          </a:p>
          <a:p>
            <a:r>
              <a:rPr lang="en-US" sz="1200"/>
              <a:t>– The head-related transfer function describes how the head and external ears change the level and phase of each frequency arriving from a particular direction. Measuring it close to the eardrum captures the filtering that the animal actually receives. The facial ruff and the asymmetric ears contribute to this filtering, which shapes both cues before any neuron responds to them.</a:t>
            </a:r>
          </a:p>
          <a:p>
            <a:r>
              <a:rPr lang="en-US" sz="1200"/>
              <a:t>• Explanation 2.</a:t>
            </a:r>
          </a:p>
          <a:p>
            <a:r>
              <a:rPr lang="en-US" sz="1200"/>
              <a:t>– Acoustic measurements and playback tests used directions corresponding to interaural delays of 50, 100, and 150 µs. Natural level cues reduced the timing ambiguities present at these delays. A timing value alone can match more than one direction, so the level cue helps choose among the candidates. The playback tests kept the level cues natural for each direction.</a:t>
            </a:r>
          </a:p>
          <a:p>
            <a:r>
              <a:rPr lang="en-US" sz="1200"/>
              <a:t>• Explanation 3.</a:t>
            </a:r>
          </a:p>
          <a:p>
            <a:r>
              <a:rPr lang="en-US" sz="1200"/>
              <a:t>– The ILD also carries an azimuthal component, which the frontal measurements show beside its strong dependence on elevation. A small horizontal component of the level cue can matter when timing admits two competing locations, and it can decide between them. Each direction fixes a pair of timing and level values that the owl can use together.</a:t>
            </a:r>
          </a:p>
          <a:p>
            <a:r>
              <a:rPr lang="en-US" sz="1200"/>
              <a:t>• Source.</a:t>
            </a:r>
          </a:p>
          <a:p>
            <a:r>
              <a:rPr lang="en-US" sz="1200"/>
              <a:t>– The figure and the measurements come from Kettler et al. (2017).</a:t>
            </a:r>
          </a:p>
          <a:p>
            <a:r>
              <a:rPr lang="en-US" sz="1200"/>
              <a:t/>
            </a:r>
          </a:p>
          <a:p>
            <a:r>
              <a:rPr lang="en-US" sz="1200"/>
              <a:t>References:</a:t>
            </a:r>
          </a:p>
          <a:p>
            <a:r>
              <a:rPr lang="en-US" sz="1200"/>
              <a:t>Kettler L, Griebel H, Ferger R, Wagner H (2017). Combination of Interaural Level and Time Difference in Azimuthal Sound Localization in Owls. eNeuro 4(6):ENEURO.0238-17.2017. https://doi.org/10.1523/eneuro.0238-17.2017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0" name="Shape 160"/>
          <p:cNvSpPr/>
          <p:nvPr/>
        </p:nvSpPr>
        <p:spPr>
          <a:xfrm>
            <a:off x="0" y="0"/>
            <a:ext cx="6096000" cy="6858000"/>
          </a:xfrm>
          <a:prstGeom prst="rect">
            <a:avLst/>
          </a:prstGeom>
          <a:solidFill>
            <a:srgbClr val="DCEAF5"/>
          </a:solidFill>
        </p:spPr>
        <p:txBody>
          <a:bodyPr/>
          <a:lstStyle/>
          <a:p/>
        </p:txBody>
      </p:sp>
      <p:sp>
        <p:nvSpPr>
          <p:cNvPr id="161" name="Shape 161"/>
          <p:cNvSpPr/>
          <p:nvPr/>
        </p:nvSpPr>
        <p:spPr>
          <a:xfrm>
            <a:off x="685800" y="822871"/>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NEUR 411 · NEUROETHOLOGY · FALL 2026</a:t>
            </a:r>
            <a:endParaRPr lang="en-US"/>
          </a:p>
        </p:txBody>
      </p:sp>
      <p:sp>
        <p:nvSpPr>
          <p:cNvPr id="162" name="Shape 162"/>
          <p:cNvSpPr/>
          <p:nvPr/>
        </p:nvSpPr>
        <p:spPr>
          <a:xfrm>
            <a:off x="685800" y="1782961"/>
            <a:ext cx="4743450" cy="246757"/>
          </a:xfrm>
          <a:prstGeom prst="rect">
            <a:avLst/>
          </a:prstGeom>
          <a:noFill/>
        </p:spPr>
        <p:txBody>
          <a:bodyPr anchor="t" wrap="square" tIns="0" bIns="0" lIns="0" rIns="0">
            <a:normAutofit/>
          </a:bodyPr>
          <a:lstStyle/>
          <a:p>
            <a:pPr algn="l">
              <a:lnSpc>
                <a:spcPts val="1944"/>
              </a:lnSpc>
              <a:buNone/>
            </a:pPr>
            <a:r>
              <a:rPr sz="1800" b="0" i="0">
                <a:solidFill>
                  <a:srgbClr val="3F6E92"/>
                </a:solidFill>
                <a:latin typeface="Arial"/>
                <a:ea typeface="Arial"/>
              </a:rPr>
              <a:t>Lecture 18</a:t>
            </a:r>
            <a:endParaRPr lang="en-US"/>
          </a:p>
        </p:txBody>
      </p:sp>
      <p:sp>
        <p:nvSpPr>
          <p:cNvPr id="163" name="Shape 163"/>
          <p:cNvSpPr/>
          <p:nvPr/>
        </p:nvSpPr>
        <p:spPr>
          <a:xfrm>
            <a:off x="685800" y="2331690"/>
            <a:ext cx="4743450" cy="987177"/>
          </a:xfrm>
          <a:prstGeom prst="rect">
            <a:avLst/>
          </a:prstGeom>
          <a:noFill/>
        </p:spPr>
        <p:txBody>
          <a:bodyPr anchor="t" wrap="square" tIns="0" bIns="0" lIns="0" rIns="0">
            <a:normAutofit/>
          </a:bodyPr>
          <a:lstStyle/>
          <a:p>
            <a:pPr algn="l">
              <a:lnSpc>
                <a:spcPts val="2592"/>
              </a:lnSpc>
              <a:buNone/>
            </a:pPr>
            <a:r>
              <a:rPr sz="2400" b="1" i="0">
                <a:solidFill>
                  <a:srgbClr val="1E3448"/>
                </a:solidFill>
                <a:latin typeface="Arial"/>
                <a:ea typeface="Arial"/>
              </a:rPr>
              <a:t xml:space="preserve">Owl sound localization I: ITD/ILD maps in the inferior colliculus (Konishi </a:t>
            </a:r>
            <a:r>
              <a:rPr sz="2400" b="1" i="0">
                <a:solidFill>
                  <a:srgbClr val="1E3448"/>
                </a:solidFill>
                <a:latin typeface="Arial"/>
                <a:ea typeface="Arial"/>
              </a:rPr>
              <a:t>&amp;</a:t>
            </a:r>
            <a:r>
              <a:rPr sz="2400" b="1" i="0">
                <a:solidFill>
                  <a:srgbClr val="1E3448"/>
                </a:solidFill>
                <a:latin typeface="Arial"/>
                <a:ea typeface="Arial"/>
              </a:rPr>
              <a:t xml:space="preserve"> Knudsen)</a:t>
            </a:r>
            <a:endParaRPr lang="en-US"/>
          </a:p>
        </p:txBody>
      </p:sp>
      <p:sp>
        <p:nvSpPr>
          <p:cNvPr id="164" name="Shape 164"/>
          <p:cNvSpPr/>
          <p:nvPr/>
        </p:nvSpPr>
        <p:spPr>
          <a:xfrm>
            <a:off x="685800" y="4749552"/>
            <a:ext cx="4743450" cy="219373"/>
          </a:xfrm>
          <a:prstGeom prst="rect">
            <a:avLst/>
          </a:prstGeom>
          <a:noFill/>
        </p:spPr>
        <p:txBody>
          <a:bodyPr anchor="t" wrap="square" tIns="0" bIns="0" lIns="0" rIns="0">
            <a:normAutofit/>
          </a:bodyPr>
          <a:lstStyle/>
          <a:p>
            <a:pPr algn="l">
              <a:lnSpc>
                <a:spcPts val="1728"/>
              </a:lnSpc>
              <a:buNone/>
            </a:pPr>
            <a:r>
              <a:rPr sz="1600" b="0" i="0">
                <a:solidFill>
                  <a:srgbClr val="3F6E92"/>
                </a:solidFill>
                <a:latin typeface="Arial"/>
                <a:ea typeface="Arial"/>
              </a:rPr>
              <a:t>Monday, October 5, 2026</a:t>
            </a:r>
            <a:endParaRPr lang="en-US"/>
          </a:p>
        </p:txBody>
      </p:sp>
      <p:sp>
        <p:nvSpPr>
          <p:cNvPr id="165" name="Shape 165"/>
          <p:cNvSpPr/>
          <p:nvPr/>
        </p:nvSpPr>
        <p:spPr>
          <a:xfrm>
            <a:off x="685800" y="5435352"/>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Jordan Lopez, Ph.D.</a:t>
            </a:r>
            <a:endParaRPr lang="en-US"/>
          </a:p>
        </p:txBody>
      </p:sp>
      <p:sp>
        <p:nvSpPr>
          <p:cNvPr id="166" name="Shape 166"/>
          <p:cNvSpPr/>
          <p:nvPr/>
        </p:nvSpPr>
        <p:spPr>
          <a:xfrm>
            <a:off x="685800" y="5625108"/>
            <a:ext cx="4743450" cy="164455"/>
          </a:xfrm>
          <a:prstGeom prst="rect">
            <a:avLst/>
          </a:prstGeom>
          <a:noFill/>
        </p:spPr>
        <p:txBody>
          <a:bodyPr anchor="t" wrap="square" tIns="0" bIns="0" lIns="0" rIns="0">
            <a:normAutofit/>
          </a:bodyPr>
          <a:lstStyle/>
          <a:p>
            <a:pPr algn="l">
              <a:lnSpc>
                <a:spcPts val="1296"/>
              </a:lnSpc>
              <a:buNone/>
            </a:pPr>
            <a:r>
              <a:rPr sz="1200" b="0" i="0">
                <a:solidFill>
                  <a:srgbClr val="3F6E92"/>
                </a:solidFill>
                <a:latin typeface="Arial"/>
                <a:ea typeface="Arial"/>
              </a:rPr>
              <a:t xml:space="preserve">Professor of Neurobiology </a:t>
            </a:r>
            <a:r>
              <a:rPr sz="1200" b="0" i="0">
                <a:solidFill>
                  <a:srgbClr val="3F6E92"/>
                </a:solidFill>
                <a:latin typeface="Arial"/>
                <a:ea typeface="Arial"/>
              </a:rPr>
              <a:t>&amp;</a:t>
            </a:r>
            <a:r>
              <a:rPr sz="1200" b="0" i="0">
                <a:solidFill>
                  <a:srgbClr val="3F6E92"/>
                </a:solidFill>
                <a:latin typeface="Arial"/>
                <a:ea typeface="Arial"/>
              </a:rPr>
              <a:t xml:space="preserve"> Biomedical Engineering</a:t>
            </a:r>
            <a:endParaRPr lang="en-US"/>
          </a:p>
        </p:txBody>
      </p:sp>
      <p:pic>
        <p:nvPicPr>
          <p:cNvPr id="117" name="Presenton Native Image 1" descr=""/>
          <p:cNvPicPr/>
          <p:nvPr/>
        </p:nvPicPr>
        <p:blipFill>
          <a:blip r:embed="rId2" cstate="none"/>
          <a:stretch>
            <a:fillRect/>
          </a:stretch>
        </p:blipFill>
        <p:spPr>
          <a:xfrm>
            <a:off x="6580488" y="822871"/>
            <a:ext cx="5126726" cy="4937671"/>
          </a:xfrm>
          <a:prstGeom prst="rect">
            <a:avLst/>
          </a:prstGeom>
        </p:spPr>
      </p:pic>
      <p:sp>
        <p:nvSpPr>
          <p:cNvPr id="167" name="Shape 167"/>
          <p:cNvSpPr/>
          <p:nvPr/>
        </p:nvSpPr>
        <p:spPr>
          <a:xfrm>
            <a:off x="6553200" y="5943600"/>
            <a:ext cx="520065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1. Ordered receptive fields and their measured midbrain locations.</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8" name="Shape 16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Owls orient toward sounds without visual guidance</a:t>
            </a:r>
            <a:endParaRPr lang="en-US"/>
          </a:p>
        </p:txBody>
      </p:sp>
      <p:sp>
        <p:nvSpPr>
          <p:cNvPr id="169" name="Shape 16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a:t>
            </a:r>
            <a:r>
              <a:rPr sz="1400" b="1" i="0">
                <a:solidFill>
                  <a:srgbClr val="2B5577"/>
                </a:solidFill>
                <a:latin typeface="Arial"/>
                <a:ea typeface="Arial"/>
              </a:rPr>
              <a:t>barn owl</a:t>
            </a:r>
            <a:r>
              <a:rPr sz="1400" b="0" i="0">
                <a:solidFill>
                  <a:srgbClr val="1F262D"/>
                </a:solidFill>
                <a:latin typeface="Arial"/>
                <a:ea typeface="Arial"/>
              </a:rPr>
              <a:t xml:space="preserve">, Tyto alba, is a nocturnal predator whose auditory system converts the sounds made by prey into directed head movements. Azimuth describes horizontal direction and elevation describes vertical direction. Because head turns can be recorded directly, they give a behavioral measure of the location the owl perceives, even without visual guidance from the prey.</a:t>
            </a:r>
            <a:endParaRPr lang="en-US"/>
          </a:p>
          <a:p>
            <a:pPr algn="l">
              <a:lnSpc>
                <a:spcPct val="108000"/>
              </a:lnSpc>
              <a:spcAft>
                <a:spcPts val="1200"/>
              </a:spcAft>
              <a:buNone/>
            </a:pPr>
            <a:r>
              <a:rPr sz="1400" b="0" i="0">
                <a:solidFill>
                  <a:srgbClr val="1F262D"/>
                </a:solidFill>
                <a:latin typeface="Arial"/>
                <a:ea typeface="Arial"/>
              </a:rPr>
              <a:t xml:space="preserve">Kettler and colleagues recorded head orientation while sounds were presented through earphones, which gave direct control over the acoustic difference between the two ears. With an interaural delay of 100 µs, broadband noise produced turns toward the corresponding target. A 5-kHz tone could instead elicit turns toward an alternative location in the opposite hemifield.</a:t>
            </a:r>
            <a:endParaRPr lang="en-US"/>
          </a:p>
          <a:p>
            <a:pPr algn="l">
              <a:lnSpc>
                <a:spcPct val="108000"/>
              </a:lnSpc>
              <a:spcAft>
                <a:spcPts val="1200"/>
              </a:spcAft>
              <a:buNone/>
            </a:pPr>
            <a:r>
              <a:rPr sz="1400" b="0" i="0">
                <a:solidFill>
                  <a:srgbClr val="1F262D"/>
                </a:solidFill>
                <a:latin typeface="Arial"/>
                <a:ea typeface="Arial"/>
              </a:rPr>
              <a:t xml:space="preserve">This </a:t>
            </a:r>
            <a:r>
              <a:rPr sz="1400" b="1" i="0">
                <a:solidFill>
                  <a:srgbClr val="2B5577"/>
                </a:solidFill>
                <a:latin typeface="Arial"/>
                <a:ea typeface="Arial"/>
              </a:rPr>
              <a:t>phantom source</a:t>
            </a:r>
            <a:r>
              <a:rPr sz="1400" b="0" i="0">
                <a:solidFill>
                  <a:srgbClr val="1F262D"/>
                </a:solidFill>
                <a:latin typeface="Arial"/>
                <a:ea typeface="Arial"/>
              </a:rPr>
              <a:t xml:space="preserve"> is a localization illusion rather than a second physical loudspeaker. Broadband and 1.5-kHz-wide narrowband stimuli separated spectral effects from changes in the imposed delay. The behavior therefore links auditory timing ambiguity to an observable orienting decision that the experimenters could measure in the same birds. Both stimulus types were presented to the same birds.</a:t>
            </a:r>
            <a:endParaRPr lang="en-US"/>
          </a:p>
        </p:txBody>
      </p:sp>
      <p:pic>
        <p:nvPicPr>
          <p:cNvPr id="118" name="Presenton Native Image 2" descr=""/>
          <p:cNvPicPr/>
          <p:nvPr/>
        </p:nvPicPr>
        <p:blipFill>
          <a:blip r:embed="rId2" cstate="none"/>
          <a:stretch>
            <a:fillRect/>
          </a:stretch>
        </p:blipFill>
        <p:spPr>
          <a:xfrm>
            <a:off x="6870218" y="1280071"/>
            <a:ext cx="4754583" cy="2245519"/>
          </a:xfrm>
          <a:prstGeom prst="rect">
            <a:avLst/>
          </a:prstGeom>
        </p:spPr>
      </p:pic>
      <p:sp>
        <p:nvSpPr>
          <p:cNvPr id="172" name="Shape 172"/>
          <p:cNvSpPr/>
          <p:nvPr/>
        </p:nvSpPr>
        <p:spPr>
          <a:xfrm>
            <a:off x="6870055" y="3617119"/>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Kettler et al. (2017), Fig. 2(A–D). Head-turn trajectories for broadband, tonal, and narrowband sounds.</a:t>
            </a:r>
            <a:endParaRPr lang="en-US"/>
          </a:p>
        </p:txBody>
      </p:sp>
      <p:sp>
        <p:nvSpPr>
          <p:cNvPr id="173" name="Shape 173"/>
          <p:cNvSpPr/>
          <p:nvPr/>
        </p:nvSpPr>
        <p:spPr>
          <a:xfrm>
            <a:off x="566886" y="6382494"/>
            <a:ext cx="11058079" cy="9079"/>
          </a:xfrm>
          <a:prstGeom prst="rect">
            <a:avLst/>
          </a:prstGeom>
          <a:solidFill>
            <a:srgbClr val="C7D6E3"/>
          </a:solidFill>
        </p:spPr>
        <p:txBody>
          <a:bodyPr/>
          <a:lstStyle/>
          <a:p/>
        </p:txBody>
      </p:sp>
      <p:sp>
        <p:nvSpPr>
          <p:cNvPr id="174" name="Shape 17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Kettler et al. (2017)</a:t>
            </a:r>
            <a:endParaRPr lang="en-US"/>
          </a:p>
        </p:txBody>
      </p:sp>
      <p:sp>
        <p:nvSpPr>
          <p:cNvPr id="175" name="Shape 17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76" name="Shape 17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The two ears supply time and level differences</a:t>
            </a:r>
            <a:endParaRPr lang="en-US"/>
          </a:p>
        </p:txBody>
      </p:sp>
      <p:sp>
        <p:nvSpPr>
          <p:cNvPr id="177" name="Shape 17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Interaural time difference</a:t>
            </a:r>
            <a:r>
              <a:rPr sz="1400" b="0" i="0">
                <a:solidFill>
                  <a:srgbClr val="1F262D"/>
                </a:solidFill>
                <a:latin typeface="Arial"/>
                <a:ea typeface="Arial"/>
              </a:rPr>
              <a:t xml:space="preserve">, or ITD, is the difference in sound arrival time between the ears, measured in microseconds. </a:t>
            </a:r>
            <a:r>
              <a:rPr sz="1400" b="1" i="0">
                <a:solidFill>
                  <a:srgbClr val="2B5577"/>
                </a:solidFill>
                <a:latin typeface="Arial"/>
                <a:ea typeface="Arial"/>
              </a:rPr>
              <a:t>Interaural level difference</a:t>
            </a:r>
            <a:r>
              <a:rPr sz="1400" b="0" i="0">
                <a:solidFill>
                  <a:srgbClr val="1F262D"/>
                </a:solidFill>
                <a:latin typeface="Arial"/>
                <a:ea typeface="Arial"/>
              </a:rPr>
              <a:t xml:space="preserve">, or ILD, is the difference in sound pressure level, measured in decibels. Neither cue is a location label when it first reaches the auditory nerve, so the brain must derive direction from the two cues together.</a:t>
            </a:r>
            <a:endParaRPr lang="en-US"/>
          </a:p>
          <a:p>
            <a:pPr algn="l">
              <a:lnSpc>
                <a:spcPct val="108000"/>
              </a:lnSpc>
              <a:spcAft>
                <a:spcPts val="1200"/>
              </a:spcAft>
              <a:buNone/>
            </a:pPr>
            <a:r>
              <a:rPr sz="1400" b="0" i="0">
                <a:solidFill>
                  <a:srgbClr val="1F262D"/>
                </a:solidFill>
                <a:latin typeface="Arial"/>
                <a:ea typeface="Arial"/>
              </a:rPr>
              <a:t xml:space="preserve">Kettler and colleagues used ear-canal probe microphones to measure how the head filters sound before it reaches the eardrum. The frontal ITD map varied chiefly with azimuth, while ILD varied strongly with elevation. Each cue therefore carries information about a different axis of the sound's location in space. These measurements cover every frontal direction.</a:t>
            </a:r>
            <a:endParaRPr lang="en-US"/>
          </a:p>
          <a:p>
            <a:pPr algn="l">
              <a:lnSpc>
                <a:spcPct val="108000"/>
              </a:lnSpc>
              <a:spcAft>
                <a:spcPts val="1200"/>
              </a:spcAft>
              <a:buNone/>
            </a:pPr>
            <a:r>
              <a:rPr sz="1400" b="0" i="0">
                <a:solidFill>
                  <a:srgbClr val="1F262D"/>
                </a:solidFill>
                <a:latin typeface="Arial"/>
                <a:ea typeface="Arial"/>
              </a:rPr>
              <a:t xml:space="preserve">The familiar pairing of ITD with horizontal direction and ILD with vertical direction is a useful specialization. It describes the dominant relation in these measurements. The two cues therefore carry complementary information, and the owl's auditory system uses both to build a single estimate of where the sound originates. This two-cue arrangement is central to how the owl localizes sound.</a:t>
            </a:r>
            <a:endParaRPr lang="en-US"/>
          </a:p>
        </p:txBody>
      </p:sp>
      <p:pic>
        <p:nvPicPr>
          <p:cNvPr id="119" name="Presenton Native Image 3" descr=""/>
          <p:cNvPicPr/>
          <p:nvPr/>
        </p:nvPicPr>
        <p:blipFill>
          <a:blip r:embed="rId2" cstate="none"/>
          <a:stretch>
            <a:fillRect/>
          </a:stretch>
        </p:blipFill>
        <p:spPr>
          <a:xfrm>
            <a:off x="6870181" y="1280071"/>
            <a:ext cx="4754657" cy="2390775"/>
          </a:xfrm>
          <a:prstGeom prst="rect">
            <a:avLst/>
          </a:prstGeom>
        </p:spPr>
      </p:pic>
      <p:sp>
        <p:nvSpPr>
          <p:cNvPr id="180" name="Shape 180"/>
          <p:cNvSpPr/>
          <p:nvPr/>
        </p:nvSpPr>
        <p:spPr>
          <a:xfrm>
            <a:off x="6870055" y="376237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Kettler et al. (2017), Fig. 1(A–D). Measured timing and level differences across acoustic space.</a:t>
            </a:r>
            <a:endParaRPr lang="en-US"/>
          </a:p>
        </p:txBody>
      </p:sp>
      <p:sp>
        <p:nvSpPr>
          <p:cNvPr id="181" name="Shape 181"/>
          <p:cNvSpPr/>
          <p:nvPr/>
        </p:nvSpPr>
        <p:spPr>
          <a:xfrm>
            <a:off x="566886" y="6382494"/>
            <a:ext cx="11058079" cy="9079"/>
          </a:xfrm>
          <a:prstGeom prst="rect">
            <a:avLst/>
          </a:prstGeom>
          <a:solidFill>
            <a:srgbClr val="C7D6E3"/>
          </a:solidFill>
        </p:spPr>
        <p:txBody>
          <a:bodyPr/>
          <a:lstStyle/>
          <a:p/>
        </p:txBody>
      </p:sp>
      <p:sp>
        <p:nvSpPr>
          <p:cNvPr id="182" name="Shape 18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Kettler et al. (2017)</a:t>
            </a:r>
            <a:endParaRPr lang="en-US"/>
          </a:p>
        </p:txBody>
      </p:sp>
      <p:sp>
        <p:nvSpPr>
          <p:cNvPr id="183" name="Shape 18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84" name="Shape 18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Midbrain neurons respond to restricted auditory space</a:t>
            </a:r>
            <a:endParaRPr lang="en-US"/>
          </a:p>
        </p:txBody>
      </p:sp>
      <p:sp>
        <p:nvSpPr>
          <p:cNvPr id="185" name="Shape 18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500" b="0" i="0">
                <a:solidFill>
                  <a:srgbClr val="1F262D"/>
                </a:solidFill>
                <a:latin typeface="Arial"/>
                <a:ea typeface="Arial"/>
              </a:rPr>
              <a:t xml:space="preserve">A </a:t>
            </a:r>
            <a:r>
              <a:rPr sz="1500" b="1" i="0">
                <a:solidFill>
                  <a:srgbClr val="2B5577"/>
                </a:solidFill>
                <a:latin typeface="Arial"/>
                <a:ea typeface="Arial"/>
              </a:rPr>
              <a:t>receptive field</a:t>
            </a:r>
            <a:r>
              <a:rPr sz="1500" b="0" i="0">
                <a:solidFill>
                  <a:srgbClr val="1F262D"/>
                </a:solidFill>
                <a:latin typeface="Arial"/>
                <a:ea typeface="Arial"/>
              </a:rPr>
              <a:t xml:space="preserve"> is the set of stimulus conditions that changes a neuron's activity. Knudsen and Konishi mapped auditory receptive fields by moving a loudspeaker around the head of a lightly anesthetized owl in an anechoic chamber, which minimized reflected sound. Extracellular electrodes recorded the spikes of each unit at every speaker position.</a:t>
            </a:r>
            <a:endParaRPr lang="en-US"/>
          </a:p>
          <a:p>
            <a:pPr algn="l">
              <a:lnSpc>
                <a:spcPct val="108000"/>
              </a:lnSpc>
              <a:spcAft>
                <a:spcPts val="1200"/>
              </a:spcAft>
              <a:buNone/>
            </a:pPr>
            <a:r>
              <a:rPr sz="1500" b="0" i="0">
                <a:solidFill>
                  <a:srgbClr val="1F262D"/>
                </a:solidFill>
                <a:latin typeface="Arial"/>
                <a:ea typeface="Arial"/>
              </a:rPr>
              <a:t xml:space="preserve">Noise bursts lasted 100 ms and were delivered 10 dB above each unit's threshold while speaker positions were sampled in azimuth and elevation. The </a:t>
            </a:r>
            <a:r>
              <a:rPr sz="1500" b="1" i="0">
                <a:solidFill>
                  <a:srgbClr val="2B5577"/>
                </a:solidFill>
                <a:latin typeface="Arial"/>
                <a:ea typeface="Arial"/>
              </a:rPr>
              <a:t>best area</a:t>
            </a:r>
            <a:r>
              <a:rPr sz="1500" b="0" i="0">
                <a:solidFill>
                  <a:srgbClr val="1F262D"/>
                </a:solidFill>
                <a:latin typeface="Arial"/>
                <a:ea typeface="Arial"/>
              </a:rPr>
              <a:t xml:space="preserve"> is defined by the positions that produce maximal responses rather than merely detectable ones. Its center lies at the most effective stimulus position for that neuron.</a:t>
            </a:r>
            <a:endParaRPr lang="en-US"/>
          </a:p>
          <a:p>
            <a:pPr algn="l">
              <a:lnSpc>
                <a:spcPct val="108000"/>
              </a:lnSpc>
              <a:spcAft>
                <a:spcPts val="1200"/>
              </a:spcAft>
              <a:buNone/>
            </a:pPr>
            <a:r>
              <a:rPr sz="1500" b="0" i="0">
                <a:solidFill>
                  <a:srgbClr val="1F262D"/>
                </a:solidFill>
                <a:latin typeface="Arial"/>
                <a:ea typeface="Arial"/>
              </a:rPr>
              <a:t xml:space="preserve">Most mapped fields were vertically elongated. Their widths ranged from 7° to 40° in azimuth, with a mean of 25°. A broad response boundary and a smaller best area describe different aspects of selectivity, so neither one alone gives the owl's threshold for localizing a sound. Each field is therefore a region of space rather than a single point.</a:t>
            </a:r>
            <a:endParaRPr lang="en-US"/>
          </a:p>
        </p:txBody>
      </p:sp>
      <p:pic>
        <p:nvPicPr>
          <p:cNvPr id="120" name="Presenton Native Image 4" descr=""/>
          <p:cNvPicPr/>
          <p:nvPr/>
        </p:nvPicPr>
        <p:blipFill>
          <a:blip r:embed="rId2" cstate="none"/>
          <a:stretch>
            <a:fillRect/>
          </a:stretch>
        </p:blipFill>
        <p:spPr>
          <a:xfrm>
            <a:off x="7794142" y="1280071"/>
            <a:ext cx="2906587" cy="4297561"/>
          </a:xfrm>
          <a:prstGeom prst="rect">
            <a:avLst/>
          </a:prstGeom>
        </p:spPr>
      </p:pic>
      <p:sp>
        <p:nvSpPr>
          <p:cNvPr id="188" name="Shape 18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2. Measured receptive-field boundaries and best area.</a:t>
            </a:r>
            <a:endParaRPr lang="en-US"/>
          </a:p>
        </p:txBody>
      </p:sp>
      <p:sp>
        <p:nvSpPr>
          <p:cNvPr id="189" name="Shape 189"/>
          <p:cNvSpPr/>
          <p:nvPr/>
        </p:nvSpPr>
        <p:spPr>
          <a:xfrm>
            <a:off x="566886" y="6382494"/>
            <a:ext cx="11058079" cy="9079"/>
          </a:xfrm>
          <a:prstGeom prst="rect">
            <a:avLst/>
          </a:prstGeom>
          <a:solidFill>
            <a:srgbClr val="C7D6E3"/>
          </a:solidFill>
        </p:spPr>
        <p:txBody>
          <a:bodyPr/>
          <a:lstStyle/>
          <a:p/>
        </p:txBody>
      </p:sp>
      <p:sp>
        <p:nvSpPr>
          <p:cNvPr id="190" name="Shape 19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a:t>
            </a:r>
            <a:endParaRPr lang="en-US"/>
          </a:p>
        </p:txBody>
      </p:sp>
      <p:sp>
        <p:nvSpPr>
          <p:cNvPr id="191" name="Shape 19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92" name="Shape 19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Midbrain neighbors represent neighboring sound locations</a:t>
            </a:r>
            <a:endParaRPr lang="en-US"/>
          </a:p>
        </p:txBody>
      </p:sp>
      <p:sp>
        <p:nvSpPr>
          <p:cNvPr id="193" name="Shape 19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Knudsen and Konishi reconstructed electrode tracks histologically and compared each recording position with the center of the neuron's best area. The auditory region is </a:t>
            </a:r>
            <a:r>
              <a:rPr sz="1400" b="1" i="0">
                <a:solidFill>
                  <a:srgbClr val="2B5577"/>
                </a:solidFill>
                <a:latin typeface="Arial"/>
                <a:ea typeface="Arial"/>
              </a:rPr>
              <a:t>MLD</a:t>
            </a:r>
            <a:r>
              <a:rPr sz="1400" b="0" i="0">
                <a:solidFill>
                  <a:srgbClr val="1F262D"/>
                </a:solidFill>
                <a:latin typeface="Arial"/>
                <a:ea typeface="Arial"/>
              </a:rPr>
              <a:t xml:space="preserve">, nucleus mesencephalicus lateralis dorsalis, the avian homolog of the inferior colliculus. The reconstructed tracks tied each recording to a specific location in the tissue. Histology supplied the anatomical reference for the map.</a:t>
            </a:r>
            <a:endParaRPr lang="en-US"/>
          </a:p>
          <a:p>
            <a:pPr algn="l">
              <a:lnSpc>
                <a:spcPct val="108000"/>
              </a:lnSpc>
              <a:spcAft>
                <a:spcPts val="1200"/>
              </a:spcAft>
              <a:buNone/>
            </a:pPr>
            <a:r>
              <a:rPr sz="1400" b="0" i="0">
                <a:solidFill>
                  <a:srgbClr val="1F262D"/>
                </a:solidFill>
                <a:latin typeface="Arial"/>
                <a:ea typeface="Arial"/>
              </a:rPr>
              <a:t xml:space="preserve">Best-area azimuth shifted from about 60° contralateral in the posterolateral region to 15° ipsilateral in the anteromedial region. Best-area elevation ranged from about +20° to −90°, and neighboring neurons generally had overlapping receptive fields. Adjacent neurons therefore represent adjacent sound locations. Each recording site contributes one point to the spatial order of the map.</a:t>
            </a:r>
            <a:endParaRPr lang="en-US"/>
          </a:p>
          <a:p>
            <a:pPr algn="l">
              <a:lnSpc>
                <a:spcPct val="108000"/>
              </a:lnSpc>
              <a:spcAft>
                <a:spcPts val="1200"/>
              </a:spcAft>
              <a:buNone/>
            </a:pPr>
            <a:r>
              <a:rPr sz="1400" b="0" i="0">
                <a:solidFill>
                  <a:srgbClr val="1F262D"/>
                </a:solidFill>
                <a:latin typeface="Arial"/>
                <a:ea typeface="Arial"/>
              </a:rPr>
              <a:t xml:space="preserve">Tone bursts, clicks, and noise usually preserved the best-area location, and changing the level from 10 to 30 dB above threshold also left it in place. This stability supports a </a:t>
            </a:r>
            <a:r>
              <a:rPr sz="1400" b="1" i="0">
                <a:solidFill>
                  <a:srgbClr val="2B5577"/>
                </a:solidFill>
                <a:latin typeface="Arial"/>
                <a:ea typeface="Arial"/>
              </a:rPr>
              <a:t>computed map of auditory space</a:t>
            </a:r>
            <a:r>
              <a:rPr sz="1400" b="0" i="0">
                <a:solidFill>
                  <a:srgbClr val="1F262D"/>
                </a:solidFill>
                <a:latin typeface="Arial"/>
                <a:ea typeface="Arial"/>
              </a:rPr>
              <a:t xml:space="preserve"> rather than a simple map of frequency or loudness. The result holds across all three sound types tested.</a:t>
            </a:r>
            <a:endParaRPr lang="en-US"/>
          </a:p>
        </p:txBody>
      </p:sp>
      <p:pic>
        <p:nvPicPr>
          <p:cNvPr id="121" name="Presenton Native Image 5" descr=""/>
          <p:cNvPicPr/>
          <p:nvPr/>
        </p:nvPicPr>
        <p:blipFill>
          <a:blip r:embed="rId2" cstate="none"/>
          <a:stretch>
            <a:fillRect/>
          </a:stretch>
        </p:blipFill>
        <p:spPr>
          <a:xfrm>
            <a:off x="7016456" y="1280071"/>
            <a:ext cx="4462107" cy="4297561"/>
          </a:xfrm>
          <a:prstGeom prst="rect">
            <a:avLst/>
          </a:prstGeom>
        </p:spPr>
      </p:pic>
      <p:sp>
        <p:nvSpPr>
          <p:cNvPr id="196" name="Shape 19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Knudsen </a:t>
            </a:r>
            <a:r>
              <a:rPr sz="1000" b="0" i="0">
                <a:solidFill>
                  <a:srgbClr val="58636E"/>
                </a:solidFill>
                <a:latin typeface="Arial"/>
                <a:ea typeface="Arial"/>
              </a:rPr>
              <a:t>&amp;</a:t>
            </a:r>
            <a:r>
              <a:rPr sz="1000" b="0" i="0">
                <a:solidFill>
                  <a:srgbClr val="58636E"/>
                </a:solidFill>
                <a:latin typeface="Arial"/>
                <a:ea typeface="Arial"/>
              </a:rPr>
              <a:t xml:space="preserve"> Konishi (1978), Fig. 1. Ordered receptive fields and their measured midbrain locations.</a:t>
            </a:r>
            <a:endParaRPr lang="en-US"/>
          </a:p>
        </p:txBody>
      </p:sp>
      <p:sp>
        <p:nvSpPr>
          <p:cNvPr id="197" name="Shape 197"/>
          <p:cNvSpPr/>
          <p:nvPr/>
        </p:nvSpPr>
        <p:spPr>
          <a:xfrm>
            <a:off x="566886" y="6382494"/>
            <a:ext cx="11058079" cy="9079"/>
          </a:xfrm>
          <a:prstGeom prst="rect">
            <a:avLst/>
          </a:prstGeom>
          <a:solidFill>
            <a:srgbClr val="C7D6E3"/>
          </a:solidFill>
        </p:spPr>
        <p:txBody>
          <a:bodyPr/>
          <a:lstStyle/>
          <a:p/>
        </p:txBody>
      </p:sp>
      <p:sp>
        <p:nvSpPr>
          <p:cNvPr id="198" name="Shape 1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a:t>
            </a:r>
            <a:endParaRPr lang="en-US"/>
          </a:p>
        </p:txBody>
      </p:sp>
      <p:sp>
        <p:nvSpPr>
          <p:cNvPr id="199" name="Shape 19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0" name="Shape 20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Timing and level preferences can vary independently</a:t>
            </a:r>
            <a:endParaRPr lang="en-US"/>
          </a:p>
        </p:txBody>
      </p:sp>
      <p:sp>
        <p:nvSpPr>
          <p:cNvPr id="201" name="Shape 20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2B5577"/>
                </a:solidFill>
                <a:latin typeface="Arial"/>
                <a:ea typeface="Arial"/>
              </a:rPr>
              <a:t>tuning curve</a:t>
            </a:r>
            <a:r>
              <a:rPr sz="1400" b="0" i="0">
                <a:solidFill>
                  <a:srgbClr val="1F262D"/>
                </a:solidFill>
                <a:latin typeface="Arial"/>
                <a:ea typeface="Arial"/>
              </a:rPr>
              <a:t xml:space="preserve"> relates a neuron's response to a controlled stimulus parameter. Takahashi, Moiseff, and Konishi varied ITD while holding ILD fixed, then varied ILD while holding ITD fixed, recording from space-specific midbrain neurons. Each curve therefore isolates one binaural cue at a time. The two cues were tested one at a time.</a:t>
            </a:r>
            <a:endParaRPr lang="en-US"/>
          </a:p>
          <a:p>
            <a:pPr algn="l">
              <a:lnSpc>
                <a:spcPct val="108000"/>
              </a:lnSpc>
              <a:spcAft>
                <a:spcPts val="1200"/>
              </a:spcAft>
              <a:buNone/>
            </a:pPr>
            <a:r>
              <a:rPr sz="1400" b="0" i="0">
                <a:solidFill>
                  <a:srgbClr val="1F262D"/>
                </a:solidFill>
                <a:latin typeface="Arial"/>
                <a:ea typeface="Arial"/>
              </a:rPr>
              <a:t xml:space="preserve">Changing the level difference over a 20-dB range left the timing preference in the same place. Changes in timing altered the response magnitude without displacing the preferred level difference, so the two response peaks occupied separable positions in the neuron's tuning. The two peaks therefore did not move with each other. Both changes were measured in one neuron.</a:t>
            </a:r>
            <a:endParaRPr lang="en-US"/>
          </a:p>
          <a:p>
            <a:pPr algn="l">
              <a:lnSpc>
                <a:spcPct val="108000"/>
              </a:lnSpc>
              <a:spcAft>
                <a:spcPts val="1200"/>
              </a:spcAft>
              <a:buNone/>
            </a:pPr>
            <a:r>
              <a:rPr sz="1400" b="0" i="0">
                <a:solidFill>
                  <a:srgbClr val="1F262D"/>
                </a:solidFill>
                <a:latin typeface="Arial"/>
                <a:ea typeface="Arial"/>
              </a:rPr>
              <a:t xml:space="preserve">Independent preferred values still leave both cues important for firing. A </a:t>
            </a:r>
            <a:r>
              <a:rPr sz="1400" b="1" i="0">
                <a:solidFill>
                  <a:srgbClr val="2B5577"/>
                </a:solidFill>
                <a:latin typeface="Arial"/>
                <a:ea typeface="Arial"/>
              </a:rPr>
              <a:t>space-specific neuron</a:t>
            </a:r>
            <a:r>
              <a:rPr sz="1400" b="0" i="0">
                <a:solidFill>
                  <a:srgbClr val="1F262D"/>
                </a:solidFill>
                <a:latin typeface="Arial"/>
                <a:ea typeface="Arial"/>
              </a:rPr>
              <a:t xml:space="preserve"> responds most strongly when its timing and level preferences are both satisfied, so its output depends on the two representations together. A single cue leaves the position of that peak undetermined, which makes the joint values essential. Those two preferences jointly set the output.</a:t>
            </a:r>
            <a:endParaRPr lang="en-US"/>
          </a:p>
        </p:txBody>
      </p:sp>
      <p:pic>
        <p:nvPicPr>
          <p:cNvPr id="122" name="Presenton Native Image 6" descr=""/>
          <p:cNvPicPr/>
          <p:nvPr/>
        </p:nvPicPr>
        <p:blipFill>
          <a:blip r:embed="rId2" cstate="none"/>
          <a:stretch>
            <a:fillRect/>
          </a:stretch>
        </p:blipFill>
        <p:spPr>
          <a:xfrm>
            <a:off x="6870129" y="1280071"/>
            <a:ext cx="4754761" cy="2377380"/>
          </a:xfrm>
          <a:prstGeom prst="rect">
            <a:avLst/>
          </a:prstGeom>
        </p:spPr>
      </p:pic>
      <p:sp>
        <p:nvSpPr>
          <p:cNvPr id="204" name="Shape 204"/>
          <p:cNvSpPr/>
          <p:nvPr/>
        </p:nvSpPr>
        <p:spPr>
          <a:xfrm>
            <a:off x="6870055" y="374898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4. Independent tuning to timing and level differences.</a:t>
            </a:r>
            <a:endParaRPr lang="en-US"/>
          </a:p>
        </p:txBody>
      </p:sp>
      <p:sp>
        <p:nvSpPr>
          <p:cNvPr id="205" name="Shape 205"/>
          <p:cNvSpPr/>
          <p:nvPr/>
        </p:nvSpPr>
        <p:spPr>
          <a:xfrm>
            <a:off x="566886" y="6382494"/>
            <a:ext cx="11058079" cy="9079"/>
          </a:xfrm>
          <a:prstGeom prst="rect">
            <a:avLst/>
          </a:prstGeom>
          <a:solidFill>
            <a:srgbClr val="C7D6E3"/>
          </a:solidFill>
        </p:spPr>
        <p:txBody>
          <a:bodyPr/>
          <a:lstStyle/>
          <a:p/>
        </p:txBody>
      </p:sp>
      <p:sp>
        <p:nvSpPr>
          <p:cNvPr id="206" name="Shape 2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07" name="Shape 2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8" name="Shape 20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Angularis activity is necessary for normal level tuning</a:t>
            </a:r>
            <a:endParaRPr lang="en-US"/>
          </a:p>
        </p:txBody>
      </p:sp>
      <p:sp>
        <p:nvSpPr>
          <p:cNvPr id="209" name="Shape 20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Nucleus angularis</a:t>
            </a:r>
            <a:r>
              <a:rPr sz="1400" b="0" i="0">
                <a:solidFill>
                  <a:srgbClr val="1F262D"/>
                </a:solidFill>
                <a:latin typeface="Arial"/>
                <a:ea typeface="Arial"/>
              </a:rPr>
              <a:t>, or NA, is a cochlear nucleus that receives auditory-nerve input. Takahashi and colleagues locally injected lidocaine into NA while recording a space-specific neuron in the inferior colliculus. Lidocaine is a local anesthetic that blocks the conduction of nerve impulses, so the injection silenced NA's output near the injection site. NA is one of two parallel cochlear inputs.</a:t>
            </a:r>
            <a:endParaRPr lang="en-US"/>
          </a:p>
          <a:p>
            <a:pPr algn="l">
              <a:lnSpc>
                <a:spcPct val="108000"/>
              </a:lnSpc>
              <a:spcAft>
                <a:spcPts val="1200"/>
              </a:spcAft>
              <a:buNone/>
            </a:pPr>
            <a:r>
              <a:rPr sz="1400" b="0" i="0">
                <a:solidFill>
                  <a:srgbClr val="1F262D"/>
                </a:solidFill>
                <a:latin typeface="Arial"/>
                <a:ea typeface="Arial"/>
              </a:rPr>
              <a:t>After unilateral NA inactivation, the neuron's ILD response shifted toward the side affected by the injection. In the same preparation, the ITD response peak stayed essentially stable, and it remained at its original position. Recovery measurements and an injection-site marker tied the change to a localized, reversible manipulation. The ILD shift was measured against the neuron's unchanged timing.</a:t>
            </a:r>
            <a:endParaRPr lang="en-US"/>
          </a:p>
          <a:p>
            <a:pPr algn="l">
              <a:lnSpc>
                <a:spcPct val="108000"/>
              </a:lnSpc>
              <a:spcAft>
                <a:spcPts val="1200"/>
              </a:spcAft>
              <a:buNone/>
            </a:pPr>
            <a:r>
              <a:rPr sz="1400" b="0" i="0">
                <a:solidFill>
                  <a:srgbClr val="1F262D"/>
                </a:solidFill>
                <a:latin typeface="Arial"/>
                <a:ea typeface="Arial"/>
              </a:rPr>
              <a:t>The selective change supports a </a:t>
            </a:r>
            <a:r>
              <a:rPr sz="1400" b="1" i="0">
                <a:solidFill>
                  <a:srgbClr val="2B5577"/>
                </a:solidFill>
                <a:latin typeface="Arial"/>
                <a:ea typeface="Arial"/>
              </a:rPr>
              <a:t>level-processing pathway</a:t>
            </a:r>
            <a:r>
              <a:rPr sz="1400" b="0" i="0">
                <a:solidFill>
                  <a:srgbClr val="1F262D"/>
                </a:solidFill>
                <a:latin typeface="Arial"/>
                <a:ea typeface="Arial"/>
              </a:rPr>
              <a:t> that starts in NA. Its monaural output must still be combined with input from the other ear before a binaural level difference is computed, so NA supplies one ingredient of the level cue rather than the complete calculation. Level information therefore reaches the midbrain neuron through several inputs.</a:t>
            </a:r>
            <a:endParaRPr lang="en-US"/>
          </a:p>
        </p:txBody>
      </p:sp>
      <p:pic>
        <p:nvPicPr>
          <p:cNvPr id="123" name="Presenton Native Image 7" descr=""/>
          <p:cNvPicPr/>
          <p:nvPr/>
        </p:nvPicPr>
        <p:blipFill>
          <a:blip r:embed="rId2" cstate="none"/>
          <a:stretch>
            <a:fillRect/>
          </a:stretch>
        </p:blipFill>
        <p:spPr>
          <a:xfrm>
            <a:off x="6870106" y="1280071"/>
            <a:ext cx="4754807" cy="2486174"/>
          </a:xfrm>
          <a:prstGeom prst="rect">
            <a:avLst/>
          </a:prstGeom>
        </p:spPr>
      </p:pic>
      <p:sp>
        <p:nvSpPr>
          <p:cNvPr id="212" name="Shape 212"/>
          <p:cNvSpPr/>
          <p:nvPr/>
        </p:nvSpPr>
        <p:spPr>
          <a:xfrm>
            <a:off x="6870055" y="385777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1. Angularis inactivation changes level tuning while sparing time tuning.</a:t>
            </a:r>
            <a:endParaRPr lang="en-US"/>
          </a:p>
        </p:txBody>
      </p:sp>
      <p:sp>
        <p:nvSpPr>
          <p:cNvPr id="213" name="Shape 213"/>
          <p:cNvSpPr/>
          <p:nvPr/>
        </p:nvSpPr>
        <p:spPr>
          <a:xfrm>
            <a:off x="566886" y="6382494"/>
            <a:ext cx="11058079" cy="9079"/>
          </a:xfrm>
          <a:prstGeom prst="rect">
            <a:avLst/>
          </a:prstGeom>
          <a:solidFill>
            <a:srgbClr val="C7D6E3"/>
          </a:solidFill>
        </p:spPr>
        <p:txBody>
          <a:bodyPr/>
          <a:lstStyle/>
          <a:p/>
        </p:txBody>
      </p:sp>
      <p:sp>
        <p:nvSpPr>
          <p:cNvPr id="214" name="Shape 21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15" name="Shape 21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16" name="Shape 21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Magnocellularis activity is necessary for normal time tuning</a:t>
            </a:r>
            <a:endParaRPr lang="en-US"/>
          </a:p>
        </p:txBody>
      </p:sp>
      <p:sp>
        <p:nvSpPr>
          <p:cNvPr id="217" name="Shape 21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Nucleus magnocellularis</a:t>
            </a:r>
            <a:r>
              <a:rPr sz="1400" b="0" i="0">
                <a:solidFill>
                  <a:srgbClr val="1F262D"/>
                </a:solidFill>
                <a:latin typeface="Arial"/>
                <a:ea typeface="Arial"/>
              </a:rPr>
              <a:t>, or NM, is a second cochlear nucleus that receives auditory-nerve input. Takahashi and colleagues injected lidocaine into NM and measured the same two binaural tuning dimensions used in the angularis experiments, so the two nuclei could be compared on identical tests of timing and level. Both nuclei were tested on the same measures.</a:t>
            </a:r>
            <a:endParaRPr lang="en-US"/>
          </a:p>
          <a:p>
            <a:pPr algn="l">
              <a:lnSpc>
                <a:spcPct val="108000"/>
              </a:lnSpc>
              <a:spcAft>
                <a:spcPts val="1200"/>
              </a:spcAft>
              <a:buNone/>
            </a:pPr>
            <a:r>
              <a:rPr sz="1400" b="0" i="0">
                <a:solidFill>
                  <a:srgbClr val="1F262D"/>
                </a:solidFill>
                <a:latin typeface="Arial"/>
                <a:ea typeface="Arial"/>
              </a:rPr>
              <a:t>NM inactivation changed the ITD tuning of a space-specific neuron, while its preferred ILD stayed approximately unchanged. Recordings before the injection, during the effect, and after recovery provided a temporal control, so the timing change could be followed across the full sequence. The recovery measurements returned the timing tuning to its earlier shape.</a:t>
            </a:r>
            <a:endParaRPr lang="en-US"/>
          </a:p>
          <a:p>
            <a:pPr algn="l">
              <a:lnSpc>
                <a:spcPct val="108000"/>
              </a:lnSpc>
              <a:spcAft>
                <a:spcPts val="1200"/>
              </a:spcAft>
              <a:buNone/>
            </a:pPr>
            <a:r>
              <a:rPr sz="1400" b="0" i="0">
                <a:solidFill>
                  <a:srgbClr val="1F262D"/>
                </a:solidFill>
                <a:latin typeface="Arial"/>
                <a:ea typeface="Arial"/>
              </a:rPr>
              <a:t>Disrupting NM selectively changes timing, and disrupting NA selectively changes level, which forms a </a:t>
            </a:r>
            <a:r>
              <a:rPr sz="1400" b="1" i="0">
                <a:solidFill>
                  <a:srgbClr val="2B5577"/>
                </a:solidFill>
                <a:latin typeface="Arial"/>
                <a:ea typeface="Arial"/>
              </a:rPr>
              <a:t>double dissociation</a:t>
            </a:r>
            <a:r>
              <a:rPr sz="1400" b="0" i="0">
                <a:solidFill>
                  <a:srgbClr val="1F262D"/>
                </a:solidFill>
                <a:latin typeface="Arial"/>
                <a:ea typeface="Arial"/>
              </a:rPr>
              <a:t> between the two pathways. The final spatial response, however, arises from more than one pathway. The reciprocal effects are the strongest evidence for this separation, and each nucleus therefore carries a distinct share of the binaural information.</a:t>
            </a:r>
            <a:endParaRPr lang="en-US"/>
          </a:p>
        </p:txBody>
      </p:sp>
      <p:pic>
        <p:nvPicPr>
          <p:cNvPr id="124" name="Presenton Native Image 8" descr=""/>
          <p:cNvPicPr/>
          <p:nvPr/>
        </p:nvPicPr>
        <p:blipFill>
          <a:blip r:embed="rId2" cstate="none"/>
          <a:stretch>
            <a:fillRect/>
          </a:stretch>
        </p:blipFill>
        <p:spPr>
          <a:xfrm>
            <a:off x="6870120" y="1280071"/>
            <a:ext cx="4754779" cy="2209056"/>
          </a:xfrm>
          <a:prstGeom prst="rect">
            <a:avLst/>
          </a:prstGeom>
        </p:spPr>
      </p:pic>
      <p:sp>
        <p:nvSpPr>
          <p:cNvPr id="220" name="Shape 220"/>
          <p:cNvSpPr/>
          <p:nvPr/>
        </p:nvSpPr>
        <p:spPr>
          <a:xfrm>
            <a:off x="6870055" y="3580656"/>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3. Magnocellularis inactivation changes time tuning while sparing level tuning.</a:t>
            </a:r>
            <a:endParaRPr lang="en-US"/>
          </a:p>
        </p:txBody>
      </p:sp>
      <p:sp>
        <p:nvSpPr>
          <p:cNvPr id="221" name="Shape 221"/>
          <p:cNvSpPr/>
          <p:nvPr/>
        </p:nvSpPr>
        <p:spPr>
          <a:xfrm>
            <a:off x="566886" y="6382494"/>
            <a:ext cx="11058079" cy="9079"/>
          </a:xfrm>
          <a:prstGeom prst="rect">
            <a:avLst/>
          </a:prstGeom>
          <a:solidFill>
            <a:srgbClr val="C7D6E3"/>
          </a:solidFill>
        </p:spPr>
        <p:txBody>
          <a:bodyPr/>
          <a:lstStyle/>
          <a:p/>
        </p:txBody>
      </p:sp>
      <p:sp>
        <p:nvSpPr>
          <p:cNvPr id="222" name="Shape 2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23" name="Shape 22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24" name="Shape 2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Distinct brainstem nuclei preserve different sound variables</a:t>
            </a:r>
            <a:endParaRPr lang="en-US"/>
          </a:p>
        </p:txBody>
      </p:sp>
      <p:sp>
        <p:nvSpPr>
          <p:cNvPr id="225" name="Shape 22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a:t>
            </a:r>
            <a:r>
              <a:rPr sz="1400" b="1" i="0">
                <a:solidFill>
                  <a:srgbClr val="2B5577"/>
                </a:solidFill>
                <a:latin typeface="Arial"/>
                <a:ea typeface="Arial"/>
              </a:rPr>
              <a:t>eighth cranial nerve</a:t>
            </a:r>
            <a:r>
              <a:rPr sz="1400" b="0" i="0">
                <a:solidFill>
                  <a:srgbClr val="1F262D"/>
                </a:solidFill>
                <a:latin typeface="Arial"/>
                <a:ea typeface="Arial"/>
              </a:rPr>
              <a:t xml:space="preserve"> carries auditory information from the cochlea into the brainstem. Carr and Konishi identified NA, NM, and </a:t>
            </a:r>
            <a:r>
              <a:rPr sz="1400" b="1" i="0">
                <a:solidFill>
                  <a:srgbClr val="2B5577"/>
                </a:solidFill>
                <a:latin typeface="Arial"/>
                <a:ea typeface="Arial"/>
              </a:rPr>
              <a:t>nucleus laminaris</a:t>
            </a:r>
            <a:r>
              <a:rPr sz="1400" b="0" i="0">
                <a:solidFill>
                  <a:srgbClr val="1F262D"/>
                </a:solidFill>
                <a:latin typeface="Arial"/>
                <a:ea typeface="Arial"/>
              </a:rPr>
              <a:t xml:space="preserve">, or NL, in transverse tissue sections. NL lies in the timing pathway and receives bilateral input from NM, so its position in the circuit is defined by that input. NL is the first timing stage.</a:t>
            </a:r>
            <a:endParaRPr lang="en-US"/>
          </a:p>
          <a:p>
            <a:pPr algn="l">
              <a:lnSpc>
                <a:spcPct val="108000"/>
              </a:lnSpc>
              <a:spcAft>
                <a:spcPts val="1200"/>
              </a:spcAft>
              <a:buNone/>
            </a:pPr>
            <a:r>
              <a:rPr sz="1400" b="0" i="0">
                <a:solidFill>
                  <a:srgbClr val="1F262D"/>
                </a:solidFill>
                <a:latin typeface="Arial"/>
                <a:ea typeface="Arial"/>
              </a:rPr>
              <a:t xml:space="preserve">A neurofilament stain distinguished the fiber-rich laminaris from neighboring nuclei and the cerebellar peduncle. This stain identified NL in each section before any recording or tracing began, so the anatomy could be matched to later physiological results. These landmarks guided the later tracer experiments. Each section was matched to a named nucleus.</a:t>
            </a:r>
            <a:endParaRPr lang="en-US"/>
          </a:p>
          <a:p>
            <a:pPr algn="l">
              <a:lnSpc>
                <a:spcPct val="108000"/>
              </a:lnSpc>
              <a:spcAft>
                <a:spcPts val="1200"/>
              </a:spcAft>
              <a:buNone/>
            </a:pPr>
            <a:r>
              <a:rPr sz="1400" b="0" i="0">
                <a:solidFill>
                  <a:srgbClr val="1F262D"/>
                </a:solidFill>
                <a:latin typeface="Arial"/>
                <a:ea typeface="Arial"/>
              </a:rPr>
              <a:t xml:space="preserve">The anatomical separation fits parallel timing and level computations. Staining reveals anatomy rather than encoding, so functional assignments depend on phase-locking, rate-level, binaural, and inactivation experiments that connect each nucleus to a particular acoustic variable in the barn owl. Both anatomy and physiology are needed for a complete account. Each nucleus is tested with these experiments.</a:t>
            </a:r>
            <a:endParaRPr lang="en-US"/>
          </a:p>
        </p:txBody>
      </p:sp>
      <p:pic>
        <p:nvPicPr>
          <p:cNvPr id="125" name="Presenton Native Image 9" descr=""/>
          <p:cNvPicPr/>
          <p:nvPr/>
        </p:nvPicPr>
        <p:blipFill>
          <a:blip r:embed="rId2" cstate="none"/>
          <a:stretch>
            <a:fillRect/>
          </a:stretch>
        </p:blipFill>
        <p:spPr>
          <a:xfrm>
            <a:off x="6870110" y="1280071"/>
            <a:ext cx="4754799" cy="3358753"/>
          </a:xfrm>
          <a:prstGeom prst="rect">
            <a:avLst/>
          </a:prstGeom>
        </p:spPr>
      </p:pic>
      <p:sp>
        <p:nvSpPr>
          <p:cNvPr id="228" name="Shape 228"/>
          <p:cNvSpPr/>
          <p:nvPr/>
        </p:nvSpPr>
        <p:spPr>
          <a:xfrm>
            <a:off x="6870055" y="4730353"/>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 Histological positions of the owl auditory brainstem nuclei.</a:t>
            </a:r>
            <a:endParaRPr lang="en-US"/>
          </a:p>
        </p:txBody>
      </p:sp>
      <p:sp>
        <p:nvSpPr>
          <p:cNvPr id="229" name="Shape 229"/>
          <p:cNvSpPr/>
          <p:nvPr/>
        </p:nvSpPr>
        <p:spPr>
          <a:xfrm>
            <a:off x="566886" y="6382494"/>
            <a:ext cx="11058079" cy="9079"/>
          </a:xfrm>
          <a:prstGeom prst="rect">
            <a:avLst/>
          </a:prstGeom>
          <a:solidFill>
            <a:srgbClr val="C7D6E3"/>
          </a:solidFill>
        </p:spPr>
        <p:txBody>
          <a:bodyPr/>
          <a:lstStyle/>
          <a:p/>
        </p:txBody>
      </p:sp>
      <p:sp>
        <p:nvSpPr>
          <p:cNvPr id="230" name="Shape 2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31" name="Shape 2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2" name="Shape 23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Magnocellular spikes retain the phase of acoustic cycles</a:t>
            </a:r>
            <a:endParaRPr lang="en-US"/>
          </a:p>
        </p:txBody>
      </p:sp>
      <p:sp>
        <p:nvSpPr>
          <p:cNvPr id="233" name="Shape 23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Phase locking</a:t>
            </a:r>
            <a:r>
              <a:rPr sz="1400" b="0" i="0">
                <a:solidFill>
                  <a:srgbClr val="1F262D"/>
                </a:solidFill>
                <a:latin typeface="Arial"/>
                <a:ea typeface="Arial"/>
              </a:rPr>
              <a:t xml:space="preserve"> means that spikes occur preferentially at a particular phase of a repeating sound waveform. Sullivan and Konishi recorded NM neurons during tonal stimulation and grouped spike times into period histograms, which align successive stimulus cycles so that a preferred phase becomes visible across many cycles. The preferred phase appears as the peak position of the histogram.</a:t>
            </a:r>
            <a:endParaRPr lang="en-US"/>
          </a:p>
          <a:p>
            <a:pPr algn="l">
              <a:lnSpc>
                <a:spcPct val="108000"/>
              </a:lnSpc>
              <a:spcAft>
                <a:spcPts val="1200"/>
              </a:spcAft>
              <a:buNone/>
            </a:pPr>
            <a:r>
              <a:rPr sz="1400" b="0" i="0">
                <a:solidFill>
                  <a:srgbClr val="1F262D"/>
                </a:solidFill>
                <a:latin typeface="Arial"/>
                <a:ea typeface="Arial"/>
              </a:rPr>
              <a:t xml:space="preserve">NM neurons retained phase locking at frequencies up to 9 kHz. Spikes could fall on different cycles while staying concentrated near a preferred position within the cycle, so timing information survived without one spike per cycle. Each neuron's histogram therefore shows its preferred phase across the whole stimulus. The phase distributions were measured at several frequencies.</a:t>
            </a:r>
            <a:endParaRPr lang="en-US"/>
          </a:p>
          <a:p>
            <a:pPr algn="l">
              <a:lnSpc>
                <a:spcPct val="108000"/>
              </a:lnSpc>
              <a:spcAft>
                <a:spcPts val="1200"/>
              </a:spcAft>
              <a:buNone/>
            </a:pPr>
            <a:r>
              <a:rPr sz="1400" b="0" i="0">
                <a:solidFill>
                  <a:srgbClr val="1F262D"/>
                </a:solidFill>
                <a:latin typeface="Arial"/>
                <a:ea typeface="Arial"/>
              </a:rPr>
              <a:t xml:space="preserve">NM rate-level functions were comparatively narrow and often changed little above spontaneous discharge. This </a:t>
            </a:r>
            <a:r>
              <a:rPr sz="1400" b="1" i="0">
                <a:solidFill>
                  <a:srgbClr val="2B5577"/>
                </a:solidFill>
                <a:latin typeface="Arial"/>
                <a:ea typeface="Arial"/>
              </a:rPr>
              <a:t>specialization</a:t>
            </a:r>
            <a:r>
              <a:rPr sz="1400" b="0" i="0">
                <a:solidFill>
                  <a:srgbClr val="1F262D"/>
                </a:solidFill>
                <a:latin typeface="Arial"/>
                <a:ea typeface="Arial"/>
              </a:rPr>
              <a:t xml:space="preserve"> supports the transmission of timing to NL. A phase histogram measures temporal alignment rather than sensitivity to the difference between the ears, so timing and binaural sensitivity are separate properties. Timing information reaches NL with its phase structure intact.</a:t>
            </a:r>
            <a:endParaRPr lang="en-US"/>
          </a:p>
        </p:txBody>
      </p:sp>
      <p:pic>
        <p:nvPicPr>
          <p:cNvPr id="126" name="Presenton Native Image 10" descr=""/>
          <p:cNvPicPr/>
          <p:nvPr/>
        </p:nvPicPr>
        <p:blipFill>
          <a:blip r:embed="rId2" cstate="none"/>
          <a:stretch>
            <a:fillRect/>
          </a:stretch>
        </p:blipFill>
        <p:spPr>
          <a:xfrm>
            <a:off x="6870089" y="1280071"/>
            <a:ext cx="4754842" cy="2365474"/>
          </a:xfrm>
          <a:prstGeom prst="rect">
            <a:avLst/>
          </a:prstGeom>
        </p:spPr>
      </p:pic>
      <p:sp>
        <p:nvSpPr>
          <p:cNvPr id="236" name="Shape 236"/>
          <p:cNvSpPr/>
          <p:nvPr/>
        </p:nvSpPr>
        <p:spPr>
          <a:xfrm>
            <a:off x="6870055" y="373707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Sullivan </a:t>
            </a:r>
            <a:r>
              <a:rPr sz="1000" b="0" i="0">
                <a:solidFill>
                  <a:srgbClr val="58636E"/>
                </a:solidFill>
                <a:latin typeface="Arial"/>
                <a:ea typeface="Arial"/>
              </a:rPr>
              <a:t>&amp;</a:t>
            </a:r>
            <a:r>
              <a:rPr sz="1000" b="0" i="0">
                <a:solidFill>
                  <a:srgbClr val="58636E"/>
                </a:solidFill>
                <a:latin typeface="Arial"/>
                <a:ea typeface="Arial"/>
              </a:rPr>
              <a:t xml:space="preserve"> Konishi (1984), Fig. 1(A–D). Phase-locked magnocellular spike distributions.</a:t>
            </a:r>
            <a:endParaRPr lang="en-US"/>
          </a:p>
        </p:txBody>
      </p:sp>
      <p:sp>
        <p:nvSpPr>
          <p:cNvPr id="237" name="Shape 237"/>
          <p:cNvSpPr/>
          <p:nvPr/>
        </p:nvSpPr>
        <p:spPr>
          <a:xfrm>
            <a:off x="566886" y="6382494"/>
            <a:ext cx="11058079" cy="9079"/>
          </a:xfrm>
          <a:prstGeom prst="rect">
            <a:avLst/>
          </a:prstGeom>
          <a:solidFill>
            <a:srgbClr val="C7D6E3"/>
          </a:solidFill>
        </p:spPr>
        <p:txBody>
          <a:bodyPr/>
          <a:lstStyle/>
          <a:p/>
        </p:txBody>
      </p:sp>
      <p:sp>
        <p:nvSpPr>
          <p:cNvPr id="238" name="Shape 2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Sullivan </a:t>
            </a:r>
            <a:r>
              <a:rPr sz="900" b="0" i="0">
                <a:solidFill>
                  <a:srgbClr val="58636E"/>
                </a:solidFill>
                <a:latin typeface="Arial"/>
                <a:ea typeface="Arial"/>
              </a:rPr>
              <a:t>&amp;</a:t>
            </a:r>
            <a:r>
              <a:rPr sz="900" b="0" i="0">
                <a:solidFill>
                  <a:srgbClr val="58636E"/>
                </a:solidFill>
                <a:latin typeface="Arial"/>
                <a:ea typeface="Arial"/>
              </a:rPr>
              <a:t xml:space="preserve"> Konishi (1984)</a:t>
            </a:r>
            <a:endParaRPr lang="en-US"/>
          </a:p>
        </p:txBody>
      </p:sp>
      <p:sp>
        <p:nvSpPr>
          <p:cNvPr id="239" name="Shape 2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0" name="Shape 24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Angularis firing rates represent changes in sound level</a:t>
            </a:r>
            <a:endParaRPr lang="en-US"/>
          </a:p>
        </p:txBody>
      </p:sp>
      <p:sp>
        <p:nvSpPr>
          <p:cNvPr id="241" name="Shape 24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Rate-level functions</a:t>
            </a:r>
            <a:r>
              <a:rPr sz="1400" b="0" i="0">
                <a:solidFill>
                  <a:srgbClr val="1F262D"/>
                </a:solidFill>
                <a:latin typeface="Arial"/>
                <a:ea typeface="Arial"/>
              </a:rPr>
              <a:t xml:space="preserve"> relate stimulus level to spike count. Sullivan and Konishi measured them in NA neurons, which typically had lower spontaneous discharge than NM neurons and larger increases in firing as tone level rose. The slope of each function shows how quickly firing grows with sound level. Each function therefore summarizes the response over the full level range.</a:t>
            </a:r>
            <a:endParaRPr lang="en-US"/>
          </a:p>
          <a:p>
            <a:pPr algn="l">
              <a:lnSpc>
                <a:spcPct val="108000"/>
              </a:lnSpc>
              <a:spcAft>
                <a:spcPts val="1200"/>
              </a:spcAft>
              <a:buNone/>
            </a:pPr>
            <a:r>
              <a:rPr sz="1400" b="0" i="0">
                <a:solidFill>
                  <a:srgbClr val="1F262D"/>
                </a:solidFill>
                <a:latin typeface="Arial"/>
                <a:ea typeface="Arial"/>
              </a:rPr>
              <a:t xml:space="preserve">NA responses commonly changed over more than 20 dB, often 30 dB or more. Different cells showed different slopes and saturation levels, which preserves a </a:t>
            </a:r>
            <a:r>
              <a:rPr sz="1400" b="1" i="0">
                <a:solidFill>
                  <a:srgbClr val="2B5577"/>
                </a:solidFill>
                <a:latin typeface="Arial"/>
                <a:ea typeface="Arial"/>
              </a:rPr>
              <a:t>population representation</a:t>
            </a:r>
            <a:r>
              <a:rPr sz="1400" b="0" i="0">
                <a:solidFill>
                  <a:srgbClr val="1F262D"/>
                </a:solidFill>
                <a:latin typeface="Arial"/>
                <a:ea typeface="Arial"/>
              </a:rPr>
              <a:t xml:space="preserve"> of sound level across the nucleus. Each neuron's dynamic range describes the levels over which its response changes substantially. Level coding therefore depends on the population rather than on one cell.</a:t>
            </a:r>
            <a:endParaRPr lang="en-US"/>
          </a:p>
          <a:p>
            <a:pPr algn="l">
              <a:lnSpc>
                <a:spcPct val="108000"/>
              </a:lnSpc>
              <a:spcAft>
                <a:spcPts val="1200"/>
              </a:spcAft>
              <a:buNone/>
            </a:pPr>
            <a:r>
              <a:rPr sz="1400" b="0" i="0">
                <a:solidFill>
                  <a:srgbClr val="1F262D"/>
                </a:solidFill>
                <a:latin typeface="Arial"/>
                <a:ea typeface="Arial"/>
              </a:rPr>
              <a:t xml:space="preserve">NA showed little or no phase locking at higher frequencies, although weak locking occurred below about 3.5 kHz. This contrast reflects relative specialization rather than exclusive coding, and monaural level-sensitive discharge provides input for later comparison between the ears. The NM and NA contrast is therefore one of degree. Phase locking therefore varies with frequency across the two nuclei.</a:t>
            </a:r>
            <a:endParaRPr lang="en-US"/>
          </a:p>
        </p:txBody>
      </p:sp>
      <p:pic>
        <p:nvPicPr>
          <p:cNvPr id="127" name="Presenton Native Image 11" descr=""/>
          <p:cNvPicPr/>
          <p:nvPr/>
        </p:nvPicPr>
        <p:blipFill>
          <a:blip r:embed="rId2" cstate="none"/>
          <a:stretch>
            <a:fillRect/>
          </a:stretch>
        </p:blipFill>
        <p:spPr>
          <a:xfrm>
            <a:off x="6870068" y="1280071"/>
            <a:ext cx="4754884" cy="3581102"/>
          </a:xfrm>
          <a:prstGeom prst="rect">
            <a:avLst/>
          </a:prstGeom>
        </p:spPr>
      </p:pic>
      <p:sp>
        <p:nvSpPr>
          <p:cNvPr id="244" name="Shape 244"/>
          <p:cNvSpPr/>
          <p:nvPr/>
        </p:nvSpPr>
        <p:spPr>
          <a:xfrm>
            <a:off x="6870055" y="495270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Sullivan </a:t>
            </a:r>
            <a:r>
              <a:rPr sz="1000" b="0" i="0">
                <a:solidFill>
                  <a:srgbClr val="58636E"/>
                </a:solidFill>
                <a:latin typeface="Arial"/>
                <a:ea typeface="Arial"/>
              </a:rPr>
              <a:t>&amp;</a:t>
            </a:r>
            <a:r>
              <a:rPr sz="1000" b="0" i="0">
                <a:solidFill>
                  <a:srgbClr val="58636E"/>
                </a:solidFill>
                <a:latin typeface="Arial"/>
                <a:ea typeface="Arial"/>
              </a:rPr>
              <a:t xml:space="preserve"> Konishi (1984), Fig. 10(A–D). Angularis spike counts increase over a broad sound-level range.</a:t>
            </a:r>
            <a:endParaRPr lang="en-US"/>
          </a:p>
        </p:txBody>
      </p:sp>
      <p:sp>
        <p:nvSpPr>
          <p:cNvPr id="245" name="Shape 245"/>
          <p:cNvSpPr/>
          <p:nvPr/>
        </p:nvSpPr>
        <p:spPr>
          <a:xfrm>
            <a:off x="566886" y="6382494"/>
            <a:ext cx="11058079" cy="9079"/>
          </a:xfrm>
          <a:prstGeom prst="rect">
            <a:avLst/>
          </a:prstGeom>
          <a:solidFill>
            <a:srgbClr val="C7D6E3"/>
          </a:solidFill>
        </p:spPr>
        <p:txBody>
          <a:bodyPr/>
          <a:lstStyle/>
          <a:p/>
        </p:txBody>
      </p:sp>
      <p:sp>
        <p:nvSpPr>
          <p:cNvPr id="246" name="Shape 2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Sullivan </a:t>
            </a:r>
            <a:r>
              <a:rPr sz="900" b="0" i="0">
                <a:solidFill>
                  <a:srgbClr val="58636E"/>
                </a:solidFill>
                <a:latin typeface="Arial"/>
                <a:ea typeface="Arial"/>
              </a:rPr>
              <a:t>&amp;</a:t>
            </a:r>
            <a:r>
              <a:rPr sz="900" b="0" i="0">
                <a:solidFill>
                  <a:srgbClr val="58636E"/>
                </a:solidFill>
                <a:latin typeface="Arial"/>
                <a:ea typeface="Arial"/>
              </a:rPr>
              <a:t xml:space="preserve"> Konishi (1984)</a:t>
            </a:r>
            <a:endParaRPr lang="en-US"/>
          </a:p>
        </p:txBody>
      </p:sp>
      <p:sp>
        <p:nvSpPr>
          <p:cNvPr id="247" name="Shape 2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8" name="Shape 24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Auditory-nerve phase locking reaches approximately 10 kHz</a:t>
            </a:r>
            <a:endParaRPr lang="en-US"/>
          </a:p>
        </p:txBody>
      </p:sp>
      <p:sp>
        <p:nvSpPr>
          <p:cNvPr id="249" name="Shape 24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Köppl recorded single auditory-nerve fibers with calibrated tones and examined their spike timing across frequency and sound level. </a:t>
            </a:r>
            <a:r>
              <a:rPr sz="1400" b="1" i="0">
                <a:solidFill>
                  <a:srgbClr val="2B5577"/>
                </a:solidFill>
                <a:latin typeface="Arial"/>
                <a:ea typeface="Arial"/>
              </a:rPr>
              <a:t>Vector strength</a:t>
            </a:r>
            <a:r>
              <a:rPr sz="1400" b="0" i="0">
                <a:solidFill>
                  <a:srgbClr val="1F262D"/>
                </a:solidFill>
                <a:latin typeface="Arial"/>
                <a:ea typeface="Arial"/>
              </a:rPr>
              <a:t xml:space="preserve"> quantifies how tightly spike phases concentrate, so values near one indicate tight phase alignment and values near zero indicate dispersed phases. Each tone was calibrated before the spike recordings began. The calibration reflects the sound level at the auditory input.</a:t>
            </a:r>
            <a:endParaRPr lang="en-US"/>
          </a:p>
          <a:p>
            <a:pPr algn="l">
              <a:lnSpc>
                <a:spcPct val="108000"/>
              </a:lnSpc>
              <a:spcAft>
                <a:spcPts val="1200"/>
              </a:spcAft>
              <a:buNone/>
            </a:pPr>
            <a:r>
              <a:rPr sz="1400" b="0" i="0">
                <a:solidFill>
                  <a:srgbClr val="1F262D"/>
                </a:solidFill>
                <a:latin typeface="Arial"/>
                <a:ea typeface="Arial"/>
              </a:rPr>
              <a:t xml:space="preserve">Auditory-nerve phase locking extended to about 10 kHz. Its quality declined with frequency, but the decline included a plateau between 1.5 and 3 kHz, where phase alignment held up better than at neighboring frequencies. The nerve therefore keeps timing information over a wide frequency band. The plateau shows that phase alignment is not a simple function of frequency.</a:t>
            </a:r>
            <a:endParaRPr lang="en-US"/>
          </a:p>
          <a:p>
            <a:pPr algn="l">
              <a:lnSpc>
                <a:spcPct val="108000"/>
              </a:lnSpc>
              <a:spcAft>
                <a:spcPts val="1200"/>
              </a:spcAft>
              <a:buNone/>
            </a:pPr>
            <a:r>
              <a:rPr sz="1400" b="0" i="0">
                <a:solidFill>
                  <a:srgbClr val="1F262D"/>
                </a:solidFill>
                <a:latin typeface="Arial"/>
                <a:ea typeface="Arial"/>
              </a:rPr>
              <a:t xml:space="preserve">The peripheral temporal code supplies the brainstem with the timing information needed for </a:t>
            </a:r>
            <a:r>
              <a:rPr sz="1400" b="1" i="0">
                <a:solidFill>
                  <a:srgbClr val="2B5577"/>
                </a:solidFill>
                <a:latin typeface="Arial"/>
                <a:ea typeface="Arial"/>
              </a:rPr>
              <a:t>ITD processing</a:t>
            </a:r>
            <a:r>
              <a:rPr sz="1400" b="0" i="0">
                <a:solidFill>
                  <a:srgbClr val="1F262D"/>
                </a:solidFill>
                <a:latin typeface="Arial"/>
                <a:ea typeface="Arial"/>
              </a:rPr>
              <a:t xml:space="preserve">. Phase organization can be detected at sound levels below those that produce a clear rise in average spike rate, so timing is available before the rate changes. The rate and timing measures are distinct readouts of the same fiber.</a:t>
            </a:r>
            <a:endParaRPr lang="en-US"/>
          </a:p>
        </p:txBody>
      </p:sp>
      <p:pic>
        <p:nvPicPr>
          <p:cNvPr id="128" name="Presenton Native Image 12" descr=""/>
          <p:cNvPicPr/>
          <p:nvPr/>
        </p:nvPicPr>
        <p:blipFill>
          <a:blip r:embed="rId2" cstate="none"/>
          <a:stretch>
            <a:fillRect/>
          </a:stretch>
        </p:blipFill>
        <p:spPr>
          <a:xfrm>
            <a:off x="8260407" y="1280100"/>
            <a:ext cx="1974056" cy="4297503"/>
          </a:xfrm>
          <a:prstGeom prst="rect">
            <a:avLst/>
          </a:prstGeom>
        </p:spPr>
      </p:pic>
      <p:sp>
        <p:nvSpPr>
          <p:cNvPr id="252" name="Shape 2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1(A–N). Auditory-nerve phase locking at high stimulus frequencies.</a:t>
            </a:r>
            <a:endParaRPr lang="en-US"/>
          </a:p>
        </p:txBody>
      </p:sp>
      <p:sp>
        <p:nvSpPr>
          <p:cNvPr id="253" name="Shape 253"/>
          <p:cNvSpPr/>
          <p:nvPr/>
        </p:nvSpPr>
        <p:spPr>
          <a:xfrm>
            <a:off x="566886" y="6382494"/>
            <a:ext cx="11058079" cy="9079"/>
          </a:xfrm>
          <a:prstGeom prst="rect">
            <a:avLst/>
          </a:prstGeom>
          <a:solidFill>
            <a:srgbClr val="C7D6E3"/>
          </a:solidFill>
        </p:spPr>
        <p:txBody>
          <a:bodyPr/>
          <a:lstStyle/>
          <a:p/>
        </p:txBody>
      </p:sp>
      <p:sp>
        <p:nvSpPr>
          <p:cNvPr id="254" name="Shape 2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55" name="Shape 2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56" name="Shape 2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The NM synapse limits some temporal precision</a:t>
            </a:r>
            <a:endParaRPr lang="en-US"/>
          </a:p>
        </p:txBody>
      </p:sp>
      <p:sp>
        <p:nvSpPr>
          <p:cNvPr id="257" name="Shape 25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Köppl recorded auditory-nerve fibers and NM neurons in the same animals, which allowed temporal information to be examined before and after the first central relay. Tone frequency and level were controlled while the quality of phase locking was assessed in each population of cells. The stimulus was held constant across both recording sites.</a:t>
            </a:r>
            <a:endParaRPr lang="en-US"/>
          </a:p>
          <a:p>
            <a:pPr algn="l">
              <a:lnSpc>
                <a:spcPct val="108000"/>
              </a:lnSpc>
              <a:spcAft>
                <a:spcPts val="1200"/>
              </a:spcAft>
              <a:buNone/>
            </a:pPr>
            <a:r>
              <a:rPr sz="1400" b="0" i="0">
                <a:solidFill>
                  <a:srgbClr val="1F262D"/>
                </a:solidFill>
                <a:latin typeface="Arial"/>
                <a:ea typeface="Arial"/>
              </a:rPr>
              <a:t>Above about 1 kHz, NM vector strength was consistently lower than the auditory-nerve value. Both populations kept phase locking well into the frequency range used for owl localization, so the relay did not remove timing information from the signal. The change is a matter of degree rather than loss. Both populations are therefore comparable at each frequency.</a:t>
            </a:r>
            <a:endParaRPr lang="en-US"/>
          </a:p>
          <a:p>
            <a:pPr algn="l">
              <a:lnSpc>
                <a:spcPct val="108000"/>
              </a:lnSpc>
              <a:spcAft>
                <a:spcPts val="1200"/>
              </a:spcAft>
              <a:buNone/>
            </a:pPr>
            <a:r>
              <a:rPr sz="1400" b="0" i="0">
                <a:solidFill>
                  <a:srgbClr val="1F262D"/>
                </a:solidFill>
                <a:latin typeface="Arial"/>
                <a:ea typeface="Arial"/>
              </a:rPr>
              <a:t>A synaptic transformation can add temporal dispersion even in a highly specialized pathway. The first central relay therefore lowers phase precision in some frequency ranges, while locking stays strong across the localization range used by the owl. The downstream stage therefore receives a slightly less precise timing signal than the nerve provides.</a:t>
            </a:r>
            <a:endParaRPr lang="en-US"/>
          </a:p>
        </p:txBody>
      </p:sp>
      <p:pic>
        <p:nvPicPr>
          <p:cNvPr id="129" name="Presenton Native Image 13" descr=""/>
          <p:cNvPicPr/>
          <p:nvPr/>
        </p:nvPicPr>
        <p:blipFill>
          <a:blip r:embed="rId2" cstate="none"/>
          <a:stretch>
            <a:fillRect/>
          </a:stretch>
        </p:blipFill>
        <p:spPr>
          <a:xfrm>
            <a:off x="7070131" y="1280071"/>
            <a:ext cx="4354608" cy="4297561"/>
          </a:xfrm>
          <a:prstGeom prst="rect">
            <a:avLst/>
          </a:prstGeom>
        </p:spPr>
      </p:pic>
      <p:sp>
        <p:nvSpPr>
          <p:cNvPr id="260" name="Shape 2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12. Direct comparison of auditory-nerve and magnocellular phase locking.</a:t>
            </a:r>
            <a:endParaRPr lang="en-US"/>
          </a:p>
        </p:txBody>
      </p:sp>
      <p:sp>
        <p:nvSpPr>
          <p:cNvPr id="261" name="Shape 261"/>
          <p:cNvSpPr/>
          <p:nvPr/>
        </p:nvSpPr>
        <p:spPr>
          <a:xfrm>
            <a:off x="566886" y="6382494"/>
            <a:ext cx="11058079" cy="9079"/>
          </a:xfrm>
          <a:prstGeom prst="rect">
            <a:avLst/>
          </a:prstGeom>
          <a:solidFill>
            <a:srgbClr val="C7D6E3"/>
          </a:solidFill>
        </p:spPr>
        <p:txBody>
          <a:bodyPr/>
          <a:lstStyle/>
          <a:p/>
        </p:txBody>
      </p:sp>
      <p:sp>
        <p:nvSpPr>
          <p:cNvPr id="262" name="Shape 2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63" name="Shape 2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64" name="Shape 2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Laminaris receives frequency-matched input from both ears</a:t>
            </a:r>
            <a:endParaRPr lang="en-US"/>
          </a:p>
        </p:txBody>
      </p:sp>
      <p:sp>
        <p:nvSpPr>
          <p:cNvPr id="265" name="Shape 26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Tonotopy</a:t>
            </a:r>
            <a:r>
              <a:rPr sz="1400" b="0" i="0">
                <a:solidFill>
                  <a:srgbClr val="1F262D"/>
                </a:solidFill>
                <a:latin typeface="Arial"/>
                <a:ea typeface="Arial"/>
              </a:rPr>
              <a:t xml:space="preserve"> is the orderly anatomical representation of acoustic frequency. Carr and Konishi traced NM projections and recorded afferent fibers within NL, where inputs from the two ears entered corresponding frequency regions instead of mixing across all frequencies. This arrangement organizes the nucleus by frequency. Each region of NL is tied to one frequency.</a:t>
            </a:r>
            <a:endParaRPr lang="en-US"/>
          </a:p>
          <a:p>
            <a:pPr algn="l">
              <a:lnSpc>
                <a:spcPct val="108000"/>
              </a:lnSpc>
              <a:spcAft>
                <a:spcPts val="1200"/>
              </a:spcAft>
              <a:buNone/>
            </a:pPr>
            <a:r>
              <a:rPr sz="1400" b="0" i="0">
                <a:solidFill>
                  <a:srgbClr val="1F262D"/>
                </a:solidFill>
                <a:latin typeface="Arial"/>
                <a:ea typeface="Arial"/>
              </a:rPr>
              <a:t xml:space="preserve">Injections into NM regions tuned near 5.5 and 7 kHz labeled different projection territories. In a single NL penetration, ipsilateral and contralateral frequency tuning were closely matched, including fibers met at depths of 1320 and 1400 µm. The matching was found within the same penetration. Each labeled territory therefore corresponded to a particular NM frequency region.</a:t>
            </a:r>
            <a:endParaRPr lang="en-US"/>
          </a:p>
          <a:p>
            <a:pPr algn="l">
              <a:lnSpc>
                <a:spcPct val="108000"/>
              </a:lnSpc>
              <a:spcAft>
                <a:spcPts val="1200"/>
              </a:spcAft>
              <a:buNone/>
            </a:pPr>
            <a:r>
              <a:rPr sz="1400" b="0" i="0">
                <a:solidFill>
                  <a:srgbClr val="1F262D"/>
                </a:solidFill>
                <a:latin typeface="Arial"/>
                <a:ea typeface="Arial"/>
              </a:rPr>
              <a:t xml:space="preserve">Matching frequencies allows the timing of corresponding waveform components to be compared across the two ears. Unrelated frequencies would lose a stable phase relation, so the </a:t>
            </a:r>
            <a:r>
              <a:rPr sz="1400" b="1" i="0">
                <a:solidFill>
                  <a:srgbClr val="2B5577"/>
                </a:solidFill>
                <a:latin typeface="Arial"/>
                <a:ea typeface="Arial"/>
              </a:rPr>
              <a:t>frequency-matched inputs</a:t>
            </a:r>
            <a:r>
              <a:rPr sz="1400" b="0" i="0">
                <a:solidFill>
                  <a:srgbClr val="1F262D"/>
                </a:solidFill>
                <a:latin typeface="Arial"/>
                <a:ea typeface="Arial"/>
              </a:rPr>
              <a:t xml:space="preserve"> form the basis of the timing comparison that NL performs. Neighboring regions of the nucleus therefore carry neighboring frequencies. Physiology confirms that matched inputs reach the same NL region.</a:t>
            </a:r>
            <a:endParaRPr lang="en-US"/>
          </a:p>
        </p:txBody>
      </p:sp>
      <p:pic>
        <p:nvPicPr>
          <p:cNvPr id="130" name="Presenton Native Image 14" descr=""/>
          <p:cNvPicPr/>
          <p:nvPr/>
        </p:nvPicPr>
        <p:blipFill>
          <a:blip r:embed="rId2" cstate="none"/>
          <a:stretch>
            <a:fillRect/>
          </a:stretch>
        </p:blipFill>
        <p:spPr>
          <a:xfrm>
            <a:off x="6870126" y="1280071"/>
            <a:ext cx="4754769" cy="3569940"/>
          </a:xfrm>
          <a:prstGeom prst="rect">
            <a:avLst/>
          </a:prstGeom>
        </p:spPr>
      </p:pic>
      <p:sp>
        <p:nvSpPr>
          <p:cNvPr id="268" name="Shape 268"/>
          <p:cNvSpPr/>
          <p:nvPr/>
        </p:nvSpPr>
        <p:spPr>
          <a:xfrm>
            <a:off x="6870055" y="494154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3(A–D). Frequency-matched bilateral inputs to nucleus laminaris.</a:t>
            </a:r>
            <a:endParaRPr lang="en-US"/>
          </a:p>
        </p:txBody>
      </p:sp>
      <p:sp>
        <p:nvSpPr>
          <p:cNvPr id="269" name="Shape 269"/>
          <p:cNvSpPr/>
          <p:nvPr/>
        </p:nvSpPr>
        <p:spPr>
          <a:xfrm>
            <a:off x="566886" y="6382494"/>
            <a:ext cx="11058079" cy="9079"/>
          </a:xfrm>
          <a:prstGeom prst="rect">
            <a:avLst/>
          </a:prstGeom>
          <a:solidFill>
            <a:srgbClr val="C7D6E3"/>
          </a:solidFill>
        </p:spPr>
        <p:txBody>
          <a:bodyPr/>
          <a:lstStyle/>
          <a:p/>
        </p:txBody>
      </p:sp>
      <p:sp>
        <p:nvSpPr>
          <p:cNvPr id="270" name="Shape 2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71" name="Shape 2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72" name="Shape 2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NM axons enter laminaris from opposite borders</a:t>
            </a:r>
            <a:endParaRPr lang="en-US"/>
          </a:p>
        </p:txBody>
      </p:sp>
      <p:sp>
        <p:nvSpPr>
          <p:cNvPr id="273" name="Shape 27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Carr and Konishi injected </a:t>
            </a:r>
            <a:r>
              <a:rPr sz="1400" b="1" i="0">
                <a:solidFill>
                  <a:srgbClr val="2B5577"/>
                </a:solidFill>
                <a:latin typeface="Arial"/>
                <a:ea typeface="Arial"/>
              </a:rPr>
              <a:t>horseradish peroxidase</a:t>
            </a:r>
            <a:r>
              <a:rPr sz="1400" b="0" i="0">
                <a:solidFill>
                  <a:srgbClr val="1F262D"/>
                </a:solidFill>
                <a:latin typeface="Arial"/>
                <a:ea typeface="Arial"/>
              </a:rPr>
              <a:t xml:space="preserve">, or HRP, into NM and followed labeled axons through serial brain sections. HRP is a tracer that makes projection pathways visible after a histochemical reaction, which made the axons traceable from their origin in NM to their targets in NL. Serial sections let the investigators follow each labeled branch.</a:t>
            </a:r>
            <a:endParaRPr lang="en-US"/>
          </a:p>
          <a:p>
            <a:pPr algn="l">
              <a:lnSpc>
                <a:spcPct val="108000"/>
              </a:lnSpc>
              <a:spcAft>
                <a:spcPts val="1200"/>
              </a:spcAft>
              <a:buNone/>
            </a:pPr>
            <a:r>
              <a:rPr sz="1400" b="0" i="0">
                <a:solidFill>
                  <a:srgbClr val="1F262D"/>
                </a:solidFill>
                <a:latin typeface="Arial"/>
                <a:ea typeface="Arial"/>
              </a:rPr>
              <a:t xml:space="preserve">An NM neuron sends branches to NL on both sides. Ipsilateral afferents approach the dorsal border of NL, whereas contralateral afferents approach the ventral border, so each side of the nucleus receives its input from a different direction. Each NM neuron therefore reaches the nucleus by two routes. Its branches are therefore distributed over both borders of NL.</a:t>
            </a:r>
            <a:endParaRPr lang="en-US"/>
          </a:p>
          <a:p>
            <a:pPr algn="l">
              <a:lnSpc>
                <a:spcPct val="108000"/>
              </a:lnSpc>
              <a:spcAft>
                <a:spcPts val="1200"/>
              </a:spcAft>
              <a:buNone/>
            </a:pPr>
            <a:r>
              <a:rPr sz="1400" b="0" i="0">
                <a:solidFill>
                  <a:srgbClr val="1F262D"/>
                </a:solidFill>
                <a:latin typeface="Arial"/>
                <a:ea typeface="Arial"/>
              </a:rPr>
              <a:t xml:space="preserve">The opposing entry directions give an anatomical basis for position-dependent differences in arrival time. Tracing reveals axonal paths but not conduction speed, so a </a:t>
            </a:r>
            <a:r>
              <a:rPr sz="1400" b="1" i="0">
                <a:solidFill>
                  <a:srgbClr val="2B5577"/>
                </a:solidFill>
                <a:latin typeface="Arial"/>
                <a:ea typeface="Arial"/>
              </a:rPr>
              <a:t>delay line</a:t>
            </a:r>
            <a:r>
              <a:rPr sz="1400" b="0" i="0">
                <a:solidFill>
                  <a:srgbClr val="1F262D"/>
                </a:solidFill>
                <a:latin typeface="Arial"/>
                <a:ea typeface="Arial"/>
              </a:rPr>
              <a:t xml:space="preserve"> also requires physiological evidence of orderly timing differences along the nucleus. Timing gradients were measured in NL by recording. The gradients must be measured physiologically rather than inferred.</a:t>
            </a:r>
            <a:endParaRPr lang="en-US"/>
          </a:p>
        </p:txBody>
      </p:sp>
      <p:pic>
        <p:nvPicPr>
          <p:cNvPr id="131" name="Presenton Native Image 15" descr=""/>
          <p:cNvPicPr/>
          <p:nvPr/>
        </p:nvPicPr>
        <p:blipFill>
          <a:blip r:embed="rId2" cstate="none"/>
          <a:stretch>
            <a:fillRect/>
          </a:stretch>
        </p:blipFill>
        <p:spPr>
          <a:xfrm>
            <a:off x="6870274" y="1280071"/>
            <a:ext cx="4754472" cy="2039838"/>
          </a:xfrm>
          <a:prstGeom prst="rect">
            <a:avLst/>
          </a:prstGeom>
        </p:spPr>
      </p:pic>
      <p:sp>
        <p:nvSpPr>
          <p:cNvPr id="276" name="Shape 276"/>
          <p:cNvSpPr/>
          <p:nvPr/>
        </p:nvSpPr>
        <p:spPr>
          <a:xfrm>
            <a:off x="6870055" y="3411438"/>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2. Published traced magnocellular axons entering laminaris from opposite borders.</a:t>
            </a:r>
            <a:endParaRPr lang="en-US"/>
          </a:p>
        </p:txBody>
      </p:sp>
      <p:sp>
        <p:nvSpPr>
          <p:cNvPr id="277" name="Shape 277"/>
          <p:cNvSpPr/>
          <p:nvPr/>
        </p:nvSpPr>
        <p:spPr>
          <a:xfrm>
            <a:off x="566886" y="6382494"/>
            <a:ext cx="11058079" cy="9079"/>
          </a:xfrm>
          <a:prstGeom prst="rect">
            <a:avLst/>
          </a:prstGeom>
          <a:solidFill>
            <a:srgbClr val="C7D6E3"/>
          </a:solidFill>
        </p:spPr>
        <p:txBody>
          <a:bodyPr/>
          <a:lstStyle/>
          <a:p/>
        </p:txBody>
      </p:sp>
      <p:sp>
        <p:nvSpPr>
          <p:cNvPr id="278" name="Shape 2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79" name="Shape 2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0" name="Shape 28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Input spike timing changes systematically through laminaris</a:t>
            </a:r>
            <a:endParaRPr lang="en-US"/>
          </a:p>
        </p:txBody>
      </p:sp>
      <p:sp>
        <p:nvSpPr>
          <p:cNvPr id="281" name="Shape 28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Carr and Konishi recorded phase-locked NM afferents at different depths within NL. They stimulated one ear with a tone and measured the mean phase of the intracellularly recorded spikes. This measurement tests whether conduction time changes along the projection as it passes through the nucleus. Each depth yielded one mean phase value for the afferents.</a:t>
            </a:r>
            <a:endParaRPr lang="en-US"/>
          </a:p>
          <a:p>
            <a:pPr algn="l">
              <a:lnSpc>
                <a:spcPct val="108000"/>
              </a:lnSpc>
              <a:spcAft>
                <a:spcPts val="1200"/>
              </a:spcAft>
              <a:buNone/>
            </a:pPr>
            <a:r>
              <a:rPr sz="1400" b="0" i="0">
                <a:solidFill>
                  <a:srgbClr val="1F262D"/>
                </a:solidFill>
                <a:latin typeface="Arial"/>
                <a:ea typeface="Arial"/>
              </a:rPr>
              <a:t>At 4 kHz the tonal period is 250 µs, and at 5.5 kHz it is about 182 µs. The mean phase changed regularly with recording depth. In a 7-kHz region, abrupt apparent jumps marked the crossing into the next stimulus cycle at a given depth. The 250-µs and 182-µs periods set the scale for reading the phase values.</a:t>
            </a:r>
            <a:endParaRPr lang="en-US"/>
          </a:p>
          <a:p>
            <a:pPr algn="l">
              <a:lnSpc>
                <a:spcPct val="108000"/>
              </a:lnSpc>
              <a:spcAft>
                <a:spcPts val="1200"/>
              </a:spcAft>
              <a:buNone/>
            </a:pPr>
            <a:r>
              <a:rPr sz="1400" b="1" i="0">
                <a:solidFill>
                  <a:srgbClr val="2B5577"/>
                </a:solidFill>
                <a:latin typeface="Arial"/>
                <a:ea typeface="Arial"/>
              </a:rPr>
              <a:t>Phase wrapping</a:t>
            </a:r>
            <a:r>
              <a:rPr sz="1400" b="0" i="0">
                <a:solidFill>
                  <a:srgbClr val="1F262D"/>
                </a:solidFill>
                <a:latin typeface="Arial"/>
                <a:ea typeface="Arial"/>
              </a:rPr>
              <a:t> occurs because phase repeats after each complete cycle, even when the physical delay keeps increasing. The data therefore support orderly neural delays rather than random timing at each site. Each recording depth contributes one measured delay to the gradient across the nucleus. Phase values at each depth were read against the tonal period of the stimulus.</a:t>
            </a:r>
            <a:endParaRPr lang="en-US"/>
          </a:p>
        </p:txBody>
      </p:sp>
      <p:pic>
        <p:nvPicPr>
          <p:cNvPr id="132" name="Presenton Native Image 16" descr=""/>
          <p:cNvPicPr/>
          <p:nvPr/>
        </p:nvPicPr>
        <p:blipFill>
          <a:blip r:embed="rId2" cstate="none"/>
          <a:stretch>
            <a:fillRect/>
          </a:stretch>
        </p:blipFill>
        <p:spPr>
          <a:xfrm>
            <a:off x="8030387" y="1280071"/>
            <a:ext cx="2434246" cy="4297561"/>
          </a:xfrm>
          <a:prstGeom prst="rect">
            <a:avLst/>
          </a:prstGeom>
        </p:spPr>
      </p:pic>
      <p:sp>
        <p:nvSpPr>
          <p:cNvPr id="284" name="Shape 28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7(A–C). Input spike phase changes systematically with recording depth.</a:t>
            </a:r>
            <a:endParaRPr lang="en-US"/>
          </a:p>
        </p:txBody>
      </p:sp>
      <p:sp>
        <p:nvSpPr>
          <p:cNvPr id="285" name="Shape 285"/>
          <p:cNvSpPr/>
          <p:nvPr/>
        </p:nvSpPr>
        <p:spPr>
          <a:xfrm>
            <a:off x="566886" y="6382494"/>
            <a:ext cx="11058079" cy="9079"/>
          </a:xfrm>
          <a:prstGeom prst="rect">
            <a:avLst/>
          </a:prstGeom>
          <a:solidFill>
            <a:srgbClr val="C7D6E3"/>
          </a:solidFill>
        </p:spPr>
        <p:txBody>
          <a:bodyPr/>
          <a:lstStyle/>
          <a:p/>
        </p:txBody>
      </p:sp>
      <p:sp>
        <p:nvSpPr>
          <p:cNvPr id="286" name="Shape 28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87" name="Shape 28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8" name="Shape 28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Opposed delay gradients support binaural coincidence</a:t>
            </a:r>
            <a:endParaRPr lang="en-US"/>
          </a:p>
        </p:txBody>
      </p:sp>
      <p:sp>
        <p:nvSpPr>
          <p:cNvPr id="289" name="Shape 28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Within a common frequency region, ipsilateral afferent delay increased with recording depth in NL, while contralateral delay decreased. Intracellular recordings distinguished the two input populations during separate stimulation of each ear. The two gradients therefore run in opposite directions across the same region. The two gradients have opposite slopes across the same frequency region.</a:t>
            </a:r>
            <a:endParaRPr lang="en-US"/>
          </a:p>
          <a:p>
            <a:pPr algn="l">
              <a:lnSpc>
                <a:spcPct val="108000"/>
              </a:lnSpc>
              <a:spcAft>
                <a:spcPts val="1200"/>
              </a:spcAft>
              <a:buNone/>
            </a:pPr>
            <a:r>
              <a:rPr sz="1400" b="0" i="0">
                <a:solidFill>
                  <a:srgbClr val="1F262D"/>
                </a:solidFill>
                <a:latin typeface="Arial"/>
                <a:ea typeface="Arial"/>
              </a:rPr>
              <a:t>Across NL's depth of about 700 µm, conduction time changed by about 160 µs for frequencies between 4 and 7.5 kHz. Similar delay ranges across frequency channels support a </a:t>
            </a:r>
            <a:r>
              <a:rPr sz="1400" b="1" i="0">
                <a:solidFill>
                  <a:srgbClr val="2B5577"/>
                </a:solidFill>
                <a:latin typeface="Arial"/>
                <a:ea typeface="Arial"/>
              </a:rPr>
              <a:t>common external timing difference</a:t>
            </a:r>
            <a:r>
              <a:rPr sz="1400" b="0" i="0">
                <a:solidFill>
                  <a:srgbClr val="1F262D"/>
                </a:solidFill>
                <a:latin typeface="Arial"/>
                <a:ea typeface="Arial"/>
              </a:rPr>
              <a:t> as the shared variable that the nucleus compares. The paired gradients form a common delay axis. These frequencies span the range used for localization.</a:t>
            </a:r>
            <a:endParaRPr lang="en-US"/>
          </a:p>
          <a:p>
            <a:pPr algn="l">
              <a:lnSpc>
                <a:spcPct val="108000"/>
              </a:lnSpc>
              <a:spcAft>
                <a:spcPts val="1200"/>
              </a:spcAft>
              <a:buNone/>
            </a:pPr>
            <a:r>
              <a:rPr sz="1400" b="0" i="0">
                <a:solidFill>
                  <a:srgbClr val="1F262D"/>
                </a:solidFill>
                <a:latin typeface="Arial"/>
                <a:ea typeface="Arial"/>
              </a:rPr>
              <a:t>At one position, an external ITD can compensate for the difference in internal path delays, so the two spike trains arrive together. This </a:t>
            </a:r>
            <a:r>
              <a:rPr sz="1400" b="1" i="0">
                <a:solidFill>
                  <a:srgbClr val="2B5577"/>
                </a:solidFill>
                <a:latin typeface="Arial"/>
                <a:ea typeface="Arial"/>
              </a:rPr>
              <a:t>spatially ordered compensation</a:t>
            </a:r>
            <a:r>
              <a:rPr sz="1400" b="0" i="0">
                <a:solidFill>
                  <a:srgbClr val="1F262D"/>
                </a:solidFill>
                <a:latin typeface="Arial"/>
                <a:ea typeface="Arial"/>
              </a:rPr>
              <a:t> explains how a physical time difference maps onto the location of strongly activated NL neurons along the nucleus. A coincidence detector responds to arrival times that include both external and internal delays.</a:t>
            </a:r>
            <a:endParaRPr lang="en-US"/>
          </a:p>
        </p:txBody>
      </p:sp>
      <p:pic>
        <p:nvPicPr>
          <p:cNvPr id="133" name="Presenton Native Image 17" descr=""/>
          <p:cNvPicPr/>
          <p:nvPr/>
        </p:nvPicPr>
        <p:blipFill>
          <a:blip r:embed="rId2" cstate="none"/>
          <a:stretch>
            <a:fillRect/>
          </a:stretch>
        </p:blipFill>
        <p:spPr>
          <a:xfrm>
            <a:off x="7133952" y="1280071"/>
            <a:ext cx="4226819" cy="4297561"/>
          </a:xfrm>
          <a:prstGeom prst="rect">
            <a:avLst/>
          </a:prstGeom>
        </p:spPr>
      </p:pic>
      <p:sp>
        <p:nvSpPr>
          <p:cNvPr id="292" name="Shape 29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8(A). Opposed timing gradients in ipsilateral and contralateral afferents.</a:t>
            </a:r>
            <a:endParaRPr lang="en-US"/>
          </a:p>
        </p:txBody>
      </p:sp>
      <p:sp>
        <p:nvSpPr>
          <p:cNvPr id="293" name="Shape 293"/>
          <p:cNvSpPr/>
          <p:nvPr/>
        </p:nvSpPr>
        <p:spPr>
          <a:xfrm>
            <a:off x="566886" y="6382494"/>
            <a:ext cx="11058079" cy="9079"/>
          </a:xfrm>
          <a:prstGeom prst="rect">
            <a:avLst/>
          </a:prstGeom>
          <a:solidFill>
            <a:srgbClr val="C7D6E3"/>
          </a:solidFill>
        </p:spPr>
        <p:txBody>
          <a:bodyPr/>
          <a:lstStyle/>
          <a:p/>
        </p:txBody>
      </p:sp>
      <p:sp>
        <p:nvSpPr>
          <p:cNvPr id="294" name="Shape 29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295" name="Shape 29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96" name="Shape 29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Short myelin internodes can contribute to slow conduction</a:t>
            </a:r>
            <a:endParaRPr lang="en-US"/>
          </a:p>
        </p:txBody>
      </p:sp>
      <p:sp>
        <p:nvSpPr>
          <p:cNvPr id="297" name="Shape 29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 </a:t>
            </a:r>
            <a:r>
              <a:rPr sz="1400" b="1" i="0">
                <a:solidFill>
                  <a:srgbClr val="2B5577"/>
                </a:solidFill>
                <a:latin typeface="Arial"/>
                <a:ea typeface="Arial"/>
              </a:rPr>
              <a:t>myelin internode</a:t>
            </a:r>
            <a:r>
              <a:rPr sz="1400" b="0" i="0">
                <a:solidFill>
                  <a:srgbClr val="1F262D"/>
                </a:solidFill>
                <a:latin typeface="Arial"/>
                <a:ea typeface="Arial"/>
              </a:rPr>
              <a:t xml:space="preserve"> is the insulated axonal segment between successive nodes, where impulse propagation is renewed. Carr and Konishi measured internodal spacing in HRP-labeled NM axons inside and outside NL. They set the anatomy beside physiological delay gradients recorded in the same tissue. Those measurements were made in the labeled axons themselves.</a:t>
            </a:r>
            <a:endParaRPr lang="en-US"/>
          </a:p>
          <a:p>
            <a:pPr algn="l">
              <a:lnSpc>
                <a:spcPct val="108000"/>
              </a:lnSpc>
              <a:spcAft>
                <a:spcPts val="1200"/>
              </a:spcAft>
              <a:buNone/>
            </a:pPr>
            <a:r>
              <a:rPr sz="1400" b="0" i="0">
                <a:solidFill>
                  <a:srgbClr val="1F262D"/>
                </a:solidFill>
                <a:latin typeface="Arial"/>
                <a:ea typeface="Arial"/>
              </a:rPr>
              <a:t xml:space="preserve">Internodes within NL were about 60 µm long and more regularly spaced than many segments outside the nucleus. Physiological estimates placed local conduction velocity around 3–5 m/s. Published micrographs identify nodes at branch points along the axons inside the nucleus. Their spacing is one contributor to the speed of impulse propagation along the fiber.</a:t>
            </a:r>
            <a:endParaRPr lang="en-US"/>
          </a:p>
          <a:p>
            <a:pPr algn="l">
              <a:lnSpc>
                <a:spcPct val="108000"/>
              </a:lnSpc>
              <a:spcAft>
                <a:spcPts val="1200"/>
              </a:spcAft>
              <a:buNone/>
            </a:pPr>
            <a:r>
              <a:rPr sz="1400" b="0" i="0">
                <a:solidFill>
                  <a:srgbClr val="1F262D"/>
                </a:solidFill>
                <a:latin typeface="Arial"/>
                <a:ea typeface="Arial"/>
              </a:rPr>
              <a:t xml:space="preserve">The authors proposed that short internodes help regulate the </a:t>
            </a:r>
            <a:r>
              <a:rPr sz="1400" b="1" i="0">
                <a:solidFill>
                  <a:srgbClr val="2B5577"/>
                </a:solidFill>
                <a:latin typeface="Arial"/>
                <a:ea typeface="Arial"/>
              </a:rPr>
              <a:t>slow propagation</a:t>
            </a:r>
            <a:r>
              <a:rPr sz="1400" b="0" i="0">
                <a:solidFill>
                  <a:srgbClr val="1F262D"/>
                </a:solidFill>
                <a:latin typeface="Arial"/>
                <a:ea typeface="Arial"/>
              </a:rPr>
              <a:t xml:space="preserve"> that delay lines need. This connects the spacing measurements directly to the timing gradients recorded in the same axons. Short internodes are therefore a candidate anatomical contribution to the slow delay gradient in NL. The anatomy and physiology support one proposal.</a:t>
            </a:r>
            <a:endParaRPr lang="en-US"/>
          </a:p>
        </p:txBody>
      </p:sp>
      <p:pic>
        <p:nvPicPr>
          <p:cNvPr id="134" name="Presenton Native Image 18" descr=""/>
          <p:cNvPicPr/>
          <p:nvPr/>
        </p:nvPicPr>
        <p:blipFill>
          <a:blip r:embed="rId2" cstate="none"/>
          <a:stretch>
            <a:fillRect/>
          </a:stretch>
        </p:blipFill>
        <p:spPr>
          <a:xfrm>
            <a:off x="7894608" y="1280071"/>
            <a:ext cx="2705656" cy="4297561"/>
          </a:xfrm>
          <a:prstGeom prst="rect">
            <a:avLst/>
          </a:prstGeom>
        </p:spPr>
      </p:pic>
      <p:sp>
        <p:nvSpPr>
          <p:cNvPr id="300" name="Shape 30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10(A–C). Short myelin internodes within laminaris and labeled axons.</a:t>
            </a:r>
            <a:endParaRPr lang="en-US"/>
          </a:p>
        </p:txBody>
      </p:sp>
      <p:sp>
        <p:nvSpPr>
          <p:cNvPr id="301" name="Shape 301"/>
          <p:cNvSpPr/>
          <p:nvPr/>
        </p:nvSpPr>
        <p:spPr>
          <a:xfrm>
            <a:off x="566886" y="6382494"/>
            <a:ext cx="11058079" cy="9079"/>
          </a:xfrm>
          <a:prstGeom prst="rect">
            <a:avLst/>
          </a:prstGeom>
          <a:solidFill>
            <a:srgbClr val="C7D6E3"/>
          </a:solidFill>
        </p:spPr>
        <p:txBody>
          <a:bodyPr/>
          <a:lstStyle/>
          <a:p/>
        </p:txBody>
      </p:sp>
      <p:sp>
        <p:nvSpPr>
          <p:cNvPr id="302" name="Shape 30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03" name="Shape 30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4" name="Shape 30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Laminaris detects bilateral spike coincidence</a:t>
            </a:r>
            <a:endParaRPr lang="en-US"/>
          </a:p>
        </p:txBody>
      </p:sp>
      <p:sp>
        <p:nvSpPr>
          <p:cNvPr id="305" name="Shape 30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Coincidence detection</a:t>
            </a:r>
            <a:r>
              <a:rPr sz="1400" b="0" i="0">
                <a:solidFill>
                  <a:srgbClr val="1F262D"/>
                </a:solidFill>
                <a:latin typeface="Arial"/>
                <a:ea typeface="Arial"/>
              </a:rPr>
              <a:t xml:space="preserve"> is enhanced firing when two inputs arrive within a short interval. Carr and Konishi recorded NL neurons intracellularly. They first stimulated each ear separately and then varied the ITD during binaural stimulation. The separate-ear stimulation came first, so each monaural response served as a reference for each binaural result. Each neuron was studied under both conditions.</a:t>
            </a:r>
            <a:endParaRPr lang="en-US"/>
          </a:p>
          <a:p>
            <a:pPr algn="l">
              <a:lnSpc>
                <a:spcPct val="108000"/>
              </a:lnSpc>
              <a:spcAft>
                <a:spcPts val="1200"/>
              </a:spcAft>
              <a:buNone/>
            </a:pPr>
            <a:r>
              <a:rPr sz="1400" b="0" i="0">
                <a:solidFill>
                  <a:srgbClr val="1F262D"/>
                </a:solidFill>
                <a:latin typeface="Arial"/>
                <a:ea typeface="Arial"/>
              </a:rPr>
              <a:t xml:space="preserve">For one neuron tested at 4409 Hz, the monaural response phases were about 338° and 294°. A favorable delay of 30 µs, with the contralateral ear leading, raised the response to 1107 spikes. That total was well above the 393 and 360 recorded for the separate-ear conditions. Its totals represent counts over the stimulus repetitions rather than firing rates.</a:t>
            </a:r>
            <a:endParaRPr lang="en-US"/>
          </a:p>
          <a:p>
            <a:pPr algn="l">
              <a:lnSpc>
                <a:spcPct val="108000"/>
              </a:lnSpc>
              <a:spcAft>
                <a:spcPts val="1200"/>
              </a:spcAft>
              <a:buNone/>
            </a:pPr>
            <a:r>
              <a:rPr sz="1400" b="0" i="0">
                <a:solidFill>
                  <a:srgbClr val="1F262D"/>
                </a:solidFill>
                <a:latin typeface="Arial"/>
                <a:ea typeface="Arial"/>
              </a:rPr>
              <a:t xml:space="preserve">The same neuron responded much less at unfavorable delays, so the enhancement depended on </a:t>
            </a:r>
            <a:r>
              <a:rPr sz="1400" b="1" i="0">
                <a:solidFill>
                  <a:srgbClr val="2B5577"/>
                </a:solidFill>
                <a:latin typeface="Arial"/>
                <a:ea typeface="Arial"/>
              </a:rPr>
              <a:t>relative timing</a:t>
            </a:r>
            <a:r>
              <a:rPr sz="1400" b="0" i="0">
                <a:solidFill>
                  <a:srgbClr val="1F262D"/>
                </a:solidFill>
                <a:latin typeface="Arial"/>
                <a:ea typeface="Arial"/>
              </a:rPr>
              <a:t xml:space="preserve"> rather than on the presence of two sounds. Across the study, favorable binaural responses were roughly twice the monaural responses, which fits coincidence-sensitive integration in NL. The separate-ear histograms predicted which delay would align the two inputs.</a:t>
            </a:r>
            <a:endParaRPr lang="en-US"/>
          </a:p>
        </p:txBody>
      </p:sp>
      <p:pic>
        <p:nvPicPr>
          <p:cNvPr id="135" name="Presenton Native Image 19" descr=""/>
          <p:cNvPicPr/>
          <p:nvPr/>
        </p:nvPicPr>
        <p:blipFill>
          <a:blip r:embed="rId2" cstate="none"/>
          <a:stretch>
            <a:fillRect/>
          </a:stretch>
        </p:blipFill>
        <p:spPr>
          <a:xfrm>
            <a:off x="7288439" y="1280071"/>
            <a:ext cx="3917845" cy="4297561"/>
          </a:xfrm>
          <a:prstGeom prst="rect">
            <a:avLst/>
          </a:prstGeom>
        </p:spPr>
      </p:pic>
      <p:sp>
        <p:nvSpPr>
          <p:cNvPr id="308" name="Shape 30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13(A–D). Monaural and binaural spikes in a coincidence-detecting neuron.</a:t>
            </a:r>
            <a:endParaRPr lang="en-US"/>
          </a:p>
        </p:txBody>
      </p:sp>
      <p:sp>
        <p:nvSpPr>
          <p:cNvPr id="309" name="Shape 309"/>
          <p:cNvSpPr/>
          <p:nvPr/>
        </p:nvSpPr>
        <p:spPr>
          <a:xfrm>
            <a:off x="566886" y="6382494"/>
            <a:ext cx="11058079" cy="9079"/>
          </a:xfrm>
          <a:prstGeom prst="rect">
            <a:avLst/>
          </a:prstGeom>
          <a:solidFill>
            <a:srgbClr val="C7D6E3"/>
          </a:solidFill>
        </p:spPr>
        <p:txBody>
          <a:bodyPr/>
          <a:lstStyle/>
          <a:p/>
        </p:txBody>
      </p:sp>
      <p:sp>
        <p:nvSpPr>
          <p:cNvPr id="310" name="Shape 31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11" name="Shape 31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2" name="Shape 31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 narrow frequency channel represents time ambiguously</a:t>
            </a:r>
            <a:endParaRPr lang="en-US"/>
          </a:p>
        </p:txBody>
      </p:sp>
      <p:sp>
        <p:nvSpPr>
          <p:cNvPr id="313" name="Shape 31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NL neurons receive frequency-selective, phase-locked inputs. With a tone, the same phase alignment recurs each time the interaural delay changes by a whole stimulus period. Firing peaks therefore repeat across imposed delays in a regular pattern tied to the tone's frequency. Each narrowband channel carries the same alignment at each period of the tone.</a:t>
            </a:r>
            <a:endParaRPr lang="en-US"/>
          </a:p>
          <a:p>
            <a:pPr algn="l">
              <a:lnSpc>
                <a:spcPct val="108000"/>
              </a:lnSpc>
              <a:spcAft>
                <a:spcPts val="1200"/>
              </a:spcAft>
              <a:buNone/>
            </a:pPr>
            <a:r>
              <a:rPr sz="1400" b="0" i="0">
                <a:solidFill>
                  <a:srgbClr val="1F262D"/>
                </a:solidFill>
                <a:latin typeface="Arial"/>
                <a:ea typeface="Arial"/>
              </a:rPr>
              <a:t>The delay curves differed in preferred timing and modulation depth, but their repeated maxima matched the stimulus frequency. At 4 kHz, the 250-µs period gives several opportunities for alignment. Some of these opportunities fall at delays beyond the strongest peak near the physiological range of the owl. The curves were measured across a range of imposed delays.</a:t>
            </a:r>
            <a:endParaRPr lang="en-US"/>
          </a:p>
          <a:p>
            <a:pPr algn="l">
              <a:lnSpc>
                <a:spcPct val="108000"/>
              </a:lnSpc>
              <a:spcAft>
                <a:spcPts val="1200"/>
              </a:spcAft>
              <a:buNone/>
            </a:pPr>
            <a:r>
              <a:rPr sz="1400" b="1" i="0">
                <a:solidFill>
                  <a:srgbClr val="2B5577"/>
                </a:solidFill>
                <a:latin typeface="Arial"/>
                <a:ea typeface="Arial"/>
              </a:rPr>
              <a:t>Phase ambiguity</a:t>
            </a:r>
            <a:r>
              <a:rPr sz="1400" b="0" i="0">
                <a:solidFill>
                  <a:srgbClr val="1F262D"/>
                </a:solidFill>
                <a:latin typeface="Arial"/>
                <a:ea typeface="Arial"/>
              </a:rPr>
              <a:t> is the inability of a single narrowband channel to identify one unique ITD from its firing rate. Precise coincidence detection and an unambiguous estimate of sound direction are different computations. A single frequency channel therefore needs input from other channels to resolve the ambiguity. Each narrowband curve therefore repeats, so its peaks alone leave the delay uncertain.</a:t>
            </a:r>
            <a:endParaRPr lang="en-US"/>
          </a:p>
        </p:txBody>
      </p:sp>
      <p:pic>
        <p:nvPicPr>
          <p:cNvPr id="136" name="Presenton Native Image 20" descr=""/>
          <p:cNvPicPr/>
          <p:nvPr/>
        </p:nvPicPr>
        <p:blipFill>
          <a:blip r:embed="rId2" cstate="none"/>
          <a:stretch>
            <a:fillRect/>
          </a:stretch>
        </p:blipFill>
        <p:spPr>
          <a:xfrm>
            <a:off x="8219537" y="1280071"/>
            <a:ext cx="2055946" cy="4297561"/>
          </a:xfrm>
          <a:prstGeom prst="rect">
            <a:avLst/>
          </a:prstGeom>
        </p:spPr>
      </p:pic>
      <p:sp>
        <p:nvSpPr>
          <p:cNvPr id="316" name="Shape 31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12. Periodic interaural-delay response curves of laminaris neurons.</a:t>
            </a:r>
            <a:endParaRPr lang="en-US"/>
          </a:p>
        </p:txBody>
      </p:sp>
      <p:sp>
        <p:nvSpPr>
          <p:cNvPr id="317" name="Shape 317"/>
          <p:cNvSpPr/>
          <p:nvPr/>
        </p:nvSpPr>
        <p:spPr>
          <a:xfrm>
            <a:off x="566886" y="6382494"/>
            <a:ext cx="11058079" cy="9079"/>
          </a:xfrm>
          <a:prstGeom prst="rect">
            <a:avLst/>
          </a:prstGeom>
          <a:solidFill>
            <a:srgbClr val="C7D6E3"/>
          </a:solidFill>
        </p:spPr>
        <p:txBody>
          <a:bodyPr/>
          <a:lstStyle/>
          <a:p/>
        </p:txBody>
      </p:sp>
      <p:sp>
        <p:nvSpPr>
          <p:cNvPr id="318" name="Shape 31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t>
            </a:r>
            <a:r>
              <a:rPr sz="900" b="0" i="0">
                <a:solidFill>
                  <a:srgbClr val="58636E"/>
                </a:solidFill>
                <a:latin typeface="Arial"/>
                <a:ea typeface="Arial"/>
              </a:rPr>
              <a:t>&amp;</a:t>
            </a:r>
            <a:r>
              <a:rPr sz="900" b="0" i="0">
                <a:solidFill>
                  <a:srgbClr val="58636E"/>
                </a:solidFill>
                <a:latin typeface="Arial"/>
                <a:ea typeface="Arial"/>
              </a:rPr>
              <a:t xml:space="preserve"> Konishi (1990)</a:t>
            </a:r>
            <a:endParaRPr lang="en-US"/>
          </a:p>
        </p:txBody>
      </p:sp>
      <p:sp>
        <p:nvSpPr>
          <p:cNvPr id="319" name="Shape 31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0" name="Shape 32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Collicular arrays conserve timing across frequency channels</a:t>
            </a:r>
            <a:endParaRPr lang="en-US"/>
          </a:p>
        </p:txBody>
      </p:sp>
      <p:sp>
        <p:nvSpPr>
          <p:cNvPr id="321" name="Shape 32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Wagner, Takahashi, and Konishi advanced an electrode through the central nucleus of the inferior colliculus, or ICC, and recorded neurons along the track. Individual cells were narrowly tuned to frequency and had periodic ITD response curves. These curves repeated across imposed delays. Each recording was made from a neuron with its own narrow frequency tuning.</a:t>
            </a:r>
            <a:endParaRPr lang="en-US"/>
          </a:p>
          <a:p>
            <a:pPr algn="l">
              <a:lnSpc>
                <a:spcPct val="108000"/>
              </a:lnSpc>
              <a:spcAft>
                <a:spcPts val="1200"/>
              </a:spcAft>
              <a:buNone/>
            </a:pPr>
            <a:r>
              <a:rPr sz="1400" b="0" i="0">
                <a:solidFill>
                  <a:srgbClr val="1F262D"/>
                </a:solidFill>
                <a:latin typeface="Arial"/>
                <a:ea typeface="Arial"/>
              </a:rPr>
              <a:t xml:space="preserve">One penetration sampled best frequencies from about 2100 to 6700 Hz. Despite different peak spacings, its neurons shared an </a:t>
            </a:r>
            <a:r>
              <a:rPr sz="1400" b="1" i="0">
                <a:solidFill>
                  <a:srgbClr val="2B5577"/>
                </a:solidFill>
                <a:latin typeface="Arial"/>
                <a:ea typeface="Arial"/>
              </a:rPr>
              <a:t>array-specific ITD</a:t>
            </a:r>
            <a:r>
              <a:rPr sz="1400" b="0" i="0">
                <a:solidFill>
                  <a:srgbClr val="1F262D"/>
                </a:solidFill>
                <a:latin typeface="Arial"/>
                <a:ea typeface="Arial"/>
              </a:rPr>
              <a:t xml:space="preserve"> at which their relative responses aligned. Mean interaural phase changed systematically across the array as frequency rose. Each neuron's periodic curve repeated, but the shared alignment appeared across the whole array.</a:t>
            </a:r>
            <a:endParaRPr lang="en-US"/>
          </a:p>
          <a:p>
            <a:pPr algn="l">
              <a:lnSpc>
                <a:spcPct val="108000"/>
              </a:lnSpc>
              <a:spcAft>
                <a:spcPts val="1200"/>
              </a:spcAft>
              <a:buNone/>
            </a:pPr>
            <a:r>
              <a:rPr sz="1400" b="0" i="0">
                <a:solidFill>
                  <a:srgbClr val="1F262D"/>
                </a:solidFill>
                <a:latin typeface="Arial"/>
                <a:ea typeface="Arial"/>
              </a:rPr>
              <a:t xml:space="preserve">An array is a group of neurons arranged across frequency laminae that share one timing relation. Convergence from such an array can give a downstream neuron agreement across frequencies at a single delay, even though each channel remains ambiguous on its own. The shared relation is what a downstream neuron can read as one timing value.</a:t>
            </a:r>
            <a:endParaRPr lang="en-US"/>
          </a:p>
        </p:txBody>
      </p:sp>
      <p:pic>
        <p:nvPicPr>
          <p:cNvPr id="137" name="Presenton Native Image 21" descr=""/>
          <p:cNvPicPr/>
          <p:nvPr/>
        </p:nvPicPr>
        <p:blipFill>
          <a:blip r:embed="rId2" cstate="none"/>
          <a:stretch>
            <a:fillRect/>
          </a:stretch>
        </p:blipFill>
        <p:spPr>
          <a:xfrm>
            <a:off x="6870073" y="1280071"/>
            <a:ext cx="4754873" cy="2055465"/>
          </a:xfrm>
          <a:prstGeom prst="rect">
            <a:avLst/>
          </a:prstGeom>
        </p:spPr>
      </p:pic>
      <p:sp>
        <p:nvSpPr>
          <p:cNvPr id="324" name="Shape 324"/>
          <p:cNvSpPr/>
          <p:nvPr/>
        </p:nvSpPr>
        <p:spPr>
          <a:xfrm>
            <a:off x="6870055" y="342706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1(A–B). Frequency channels in one neuronal array share a timing preference.</a:t>
            </a:r>
            <a:endParaRPr lang="en-US"/>
          </a:p>
        </p:txBody>
      </p:sp>
      <p:sp>
        <p:nvSpPr>
          <p:cNvPr id="325" name="Shape 325"/>
          <p:cNvSpPr/>
          <p:nvPr/>
        </p:nvSpPr>
        <p:spPr>
          <a:xfrm>
            <a:off x="566886" y="6382494"/>
            <a:ext cx="11058079" cy="9079"/>
          </a:xfrm>
          <a:prstGeom prst="rect">
            <a:avLst/>
          </a:prstGeom>
          <a:solidFill>
            <a:srgbClr val="C7D6E3"/>
          </a:solidFill>
        </p:spPr>
        <p:txBody>
          <a:bodyPr/>
          <a:lstStyle/>
          <a:p/>
        </p:txBody>
      </p:sp>
      <p:sp>
        <p:nvSpPr>
          <p:cNvPr id="326" name="Shape 32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27" name="Shape 32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8" name="Shape 32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Frequency changes systematically along a collicular array</a:t>
            </a:r>
            <a:endParaRPr lang="en-US"/>
          </a:p>
        </p:txBody>
      </p:sp>
      <p:sp>
        <p:nvSpPr>
          <p:cNvPr id="329" name="Shape 32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t>
            </a:r>
            <a:r>
              <a:rPr sz="1400" b="1" i="0">
                <a:solidFill>
                  <a:srgbClr val="2B5577"/>
                </a:solidFill>
                <a:latin typeface="Arial"/>
                <a:ea typeface="Arial"/>
              </a:rPr>
              <a:t>isofrequency lamina</a:t>
            </a:r>
            <a:r>
              <a:rPr sz="1400" b="0" i="0">
                <a:solidFill>
                  <a:srgbClr val="1F262D"/>
                </a:solidFill>
                <a:latin typeface="Arial"/>
                <a:ea typeface="Arial"/>
              </a:rPr>
              <a:t xml:space="preserve"> is a sheet of neurons with similar frequency tuning. Wagner and colleagues used dorsoventral electrode penetrations through ICC to sample several laminae. These penetrations established the anatomical orientation of the arrays. Each lamina contains neurons that respond to a narrow band of frequencies, and penetrations run from dorsal to ventral positions.</a:t>
            </a:r>
            <a:endParaRPr lang="en-US"/>
          </a:p>
          <a:p>
            <a:pPr algn="l">
              <a:lnSpc>
                <a:spcPct val="108000"/>
              </a:lnSpc>
              <a:spcAft>
                <a:spcPts val="1200"/>
              </a:spcAft>
              <a:buNone/>
            </a:pPr>
            <a:r>
              <a:rPr sz="1400" b="0" i="0">
                <a:solidFill>
                  <a:srgbClr val="1F262D"/>
                </a:solidFill>
                <a:latin typeface="Arial"/>
                <a:ea typeface="Arial"/>
              </a:rPr>
              <a:t xml:space="preserve">In a representative penetration, best frequency rose steadily with depth, from about 500 Hz to 10 kHz. That range supplied the frequency diversity needed to test whether channels share a common delay or merely a common preferred phase. Laminae are stacked across the nucleus, so one penetration crosses several of them. The sampled frequencies were tested at each depth.</a:t>
            </a:r>
            <a:endParaRPr lang="en-US"/>
          </a:p>
          <a:p>
            <a:pPr algn="l">
              <a:lnSpc>
                <a:spcPct val="108000"/>
              </a:lnSpc>
              <a:spcAft>
                <a:spcPts val="1200"/>
              </a:spcAft>
              <a:buNone/>
            </a:pPr>
            <a:r>
              <a:rPr sz="1400" b="0" i="0">
                <a:solidFill>
                  <a:srgbClr val="1F262D"/>
                </a:solidFill>
                <a:latin typeface="Arial"/>
                <a:ea typeface="Arial"/>
              </a:rPr>
              <a:t xml:space="preserve">Each recording site has two coordinates. Electrode depth is the anatomical position, and the measured best frequency at that site is the </a:t>
            </a:r>
            <a:r>
              <a:rPr sz="1400" b="1" i="0">
                <a:solidFill>
                  <a:srgbClr val="2B5577"/>
                </a:solidFill>
                <a:latin typeface="Arial"/>
                <a:ea typeface="Arial"/>
              </a:rPr>
              <a:t>functional coordinate</a:t>
            </a:r>
            <a:r>
              <a:rPr sz="1400" b="0" i="0">
                <a:solidFill>
                  <a:srgbClr val="1F262D"/>
                </a:solidFill>
                <a:latin typeface="Arial"/>
                <a:ea typeface="Arial"/>
              </a:rPr>
              <a:t xml:space="preserve"> of the lamina. Each depth in the track therefore has a recorded best frequency that places the lamina in order. The depth and frequency values together locate each site in the array.</a:t>
            </a:r>
            <a:endParaRPr lang="en-US"/>
          </a:p>
        </p:txBody>
      </p:sp>
      <p:pic>
        <p:nvPicPr>
          <p:cNvPr id="138" name="Presenton Native Image 22" descr=""/>
          <p:cNvPicPr/>
          <p:nvPr/>
        </p:nvPicPr>
        <p:blipFill>
          <a:blip r:embed="rId2" cstate="none"/>
          <a:stretch>
            <a:fillRect/>
          </a:stretch>
        </p:blipFill>
        <p:spPr>
          <a:xfrm>
            <a:off x="6870100" y="1280071"/>
            <a:ext cx="4754820" cy="3529459"/>
          </a:xfrm>
          <a:prstGeom prst="rect">
            <a:avLst/>
          </a:prstGeom>
        </p:spPr>
      </p:pic>
      <p:sp>
        <p:nvSpPr>
          <p:cNvPr id="332" name="Shape 332"/>
          <p:cNvSpPr/>
          <p:nvPr/>
        </p:nvSpPr>
        <p:spPr>
          <a:xfrm>
            <a:off x="6870055" y="4901059"/>
            <a:ext cx="4773960" cy="13707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4. Best frequency varies with depth through an array.</a:t>
            </a:r>
            <a:endParaRPr lang="en-US"/>
          </a:p>
        </p:txBody>
      </p:sp>
      <p:sp>
        <p:nvSpPr>
          <p:cNvPr id="333" name="Shape 333"/>
          <p:cNvSpPr/>
          <p:nvPr/>
        </p:nvSpPr>
        <p:spPr>
          <a:xfrm>
            <a:off x="566886" y="6382494"/>
            <a:ext cx="11058079" cy="9079"/>
          </a:xfrm>
          <a:prstGeom prst="rect">
            <a:avLst/>
          </a:prstGeom>
          <a:solidFill>
            <a:srgbClr val="C7D6E3"/>
          </a:solidFill>
        </p:spPr>
        <p:txBody>
          <a:bodyPr/>
          <a:lstStyle/>
          <a:p/>
        </p:txBody>
      </p:sp>
      <p:sp>
        <p:nvSpPr>
          <p:cNvPr id="334" name="Shape 33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35" name="Shape 33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36" name="Shape 33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Array-specific delays form an ordered central-nucleus map</a:t>
            </a:r>
            <a:endParaRPr lang="en-US"/>
          </a:p>
        </p:txBody>
      </p:sp>
      <p:sp>
        <p:nvSpPr>
          <p:cNvPr id="337" name="Shape 33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Wagner and colleagues compared ITD-frequency relations across seven penetrations whose positions were reconstructed histologically. Each penetration contained an array, and the slope of its phase-frequency relation differed from the slopes of its neighbors. The penetrations sampled different parts of the timing map. Each penetration was matched to its histological position within ICC.</a:t>
            </a:r>
            <a:endParaRPr lang="en-US"/>
          </a:p>
          <a:p>
            <a:pPr algn="l">
              <a:lnSpc>
                <a:spcPct val="108000"/>
              </a:lnSpc>
              <a:spcAft>
                <a:spcPts val="1200"/>
              </a:spcAft>
              <a:buNone/>
            </a:pPr>
            <a:r>
              <a:rPr sz="1400" b="0" i="0">
                <a:solidFill>
                  <a:srgbClr val="1F262D"/>
                </a:solidFill>
                <a:latin typeface="Arial"/>
                <a:ea typeface="Arial"/>
              </a:rPr>
              <a:t>Mean interaural phase was plotted against frequencies up to about 8 kHz. Different slopes identify different array-specific delays. Their orderly change across ICC establishes a </a:t>
            </a:r>
            <a:r>
              <a:rPr sz="1400" b="1" i="0">
                <a:solidFill>
                  <a:srgbClr val="2B5577"/>
                </a:solidFill>
                <a:latin typeface="Arial"/>
                <a:ea typeface="Arial"/>
              </a:rPr>
              <a:t>timing map</a:t>
            </a:r>
            <a:r>
              <a:rPr sz="1400" b="0" i="0">
                <a:solidFill>
                  <a:srgbClr val="1F262D"/>
                </a:solidFill>
                <a:latin typeface="Arial"/>
                <a:ea typeface="Arial"/>
              </a:rPr>
              <a:t> laid over the frequency organization of the nucleus. Each array's slope identifies its characteristic delay. The slopes change systematically from one array to the next.</a:t>
            </a:r>
            <a:endParaRPr lang="en-US"/>
          </a:p>
          <a:p>
            <a:pPr algn="l">
              <a:lnSpc>
                <a:spcPct val="108000"/>
              </a:lnSpc>
              <a:spcAft>
                <a:spcPts val="1200"/>
              </a:spcAft>
              <a:buNone/>
            </a:pPr>
            <a:r>
              <a:rPr sz="1400" b="0" i="0">
                <a:solidFill>
                  <a:srgbClr val="1F262D"/>
                </a:solidFill>
                <a:latin typeface="Arial"/>
                <a:ea typeface="Arial"/>
              </a:rPr>
              <a:t>This representation is a map of a computed binaural timing variable spread across frequency channels. It becomes a spatial receptive field only after ILD selectivity and broader integration are added to the timing signal in the external nucleus. The representation contains timing information but no spatial receptive field of its own. It is a timing representation first.</a:t>
            </a:r>
            <a:endParaRPr lang="en-US"/>
          </a:p>
        </p:txBody>
      </p:sp>
      <p:pic>
        <p:nvPicPr>
          <p:cNvPr id="139" name="Presenton Native Image 23" descr=""/>
          <p:cNvPicPr/>
          <p:nvPr/>
        </p:nvPicPr>
        <p:blipFill>
          <a:blip r:embed="rId2" cstate="none"/>
          <a:stretch>
            <a:fillRect/>
          </a:stretch>
        </p:blipFill>
        <p:spPr>
          <a:xfrm>
            <a:off x="6870138" y="1280071"/>
            <a:ext cx="4754744" cy="3398490"/>
          </a:xfrm>
          <a:prstGeom prst="rect">
            <a:avLst/>
          </a:prstGeom>
        </p:spPr>
      </p:pic>
      <p:sp>
        <p:nvSpPr>
          <p:cNvPr id="340" name="Shape 340"/>
          <p:cNvSpPr/>
          <p:nvPr/>
        </p:nvSpPr>
        <p:spPr>
          <a:xfrm>
            <a:off x="6870055" y="477009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9. Systematic differences in array-specific timing across penetrations.</a:t>
            </a:r>
            <a:endParaRPr lang="en-US"/>
          </a:p>
        </p:txBody>
      </p:sp>
      <p:sp>
        <p:nvSpPr>
          <p:cNvPr id="341" name="Shape 341"/>
          <p:cNvSpPr/>
          <p:nvPr/>
        </p:nvSpPr>
        <p:spPr>
          <a:xfrm>
            <a:off x="566886" y="6382494"/>
            <a:ext cx="11058079" cy="9079"/>
          </a:xfrm>
          <a:prstGeom prst="rect">
            <a:avLst/>
          </a:prstGeom>
          <a:solidFill>
            <a:srgbClr val="C7D6E3"/>
          </a:solidFill>
        </p:spPr>
        <p:txBody>
          <a:bodyPr/>
          <a:lstStyle/>
          <a:p/>
        </p:txBody>
      </p:sp>
      <p:sp>
        <p:nvSpPr>
          <p:cNvPr id="342" name="Shape 34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43" name="Shape 34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4" name="Shape 34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ICx receives inputs with matching timing preferences</a:t>
            </a:r>
            <a:endParaRPr lang="en-US"/>
          </a:p>
        </p:txBody>
      </p:sp>
      <p:sp>
        <p:nvSpPr>
          <p:cNvPr id="345" name="Shape 34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a:t>
            </a:r>
            <a:r>
              <a:rPr sz="1400" b="1" i="0">
                <a:solidFill>
                  <a:srgbClr val="2B5577"/>
                </a:solidFill>
                <a:latin typeface="Arial"/>
                <a:ea typeface="Arial"/>
              </a:rPr>
              <a:t>external nucleus of the inferior colliculus</a:t>
            </a:r>
            <a:r>
              <a:rPr sz="1400" b="0" i="0">
                <a:solidFill>
                  <a:srgbClr val="1F262D"/>
                </a:solidFill>
                <a:latin typeface="Arial"/>
                <a:ea typeface="Arial"/>
              </a:rPr>
              <a:t xml:space="preserve">, or ICx, contains space-specific neurons. Wagner and colleagues recorded the timing preference at an ICx site, injected HRP there, and located retrogradely labeled neurons in ICC. The labeled cells therefore show where the ICx input comes from. Retrograde labels from ICx injection sites located the ICC neurons that project there.</a:t>
            </a:r>
            <a:endParaRPr lang="en-US"/>
          </a:p>
          <a:p>
            <a:pPr algn="l">
              <a:lnSpc>
                <a:spcPct val="108000"/>
              </a:lnSpc>
              <a:spcAft>
                <a:spcPts val="1200"/>
              </a:spcAft>
              <a:buNone/>
            </a:pPr>
            <a:r>
              <a:rPr sz="1400" b="0" i="0">
                <a:solidFill>
                  <a:srgbClr val="1F262D"/>
                </a:solidFill>
                <a:latin typeface="Arial"/>
                <a:ea typeface="Arial"/>
              </a:rPr>
              <a:t xml:space="preserve">The labeled cell bodies formed an array that crossed frequency laminae. Nearby physiological recordings in ICC shared the timing preference measured at the injection site, which in the published example was an array-specific relation of −120 µs. The same timing preference appeared in both the anatomy and the physiology. The example matched the two sites.</a:t>
            </a:r>
            <a:endParaRPr lang="en-US"/>
          </a:p>
          <a:p>
            <a:pPr algn="l">
              <a:lnSpc>
                <a:spcPct val="108000"/>
              </a:lnSpc>
              <a:spcAft>
                <a:spcPts val="1200"/>
              </a:spcAft>
              <a:buNone/>
            </a:pPr>
            <a:r>
              <a:rPr sz="1400" b="1" i="0">
                <a:solidFill>
                  <a:srgbClr val="2B5577"/>
                </a:solidFill>
                <a:latin typeface="Arial"/>
                <a:ea typeface="Arial"/>
              </a:rPr>
              <a:t>Retrograde tracing</a:t>
            </a:r>
            <a:r>
              <a:rPr sz="1400" b="0" i="0">
                <a:solidFill>
                  <a:srgbClr val="1F262D"/>
                </a:solidFill>
                <a:latin typeface="Arial"/>
                <a:ea typeface="Arial"/>
              </a:rPr>
              <a:t xml:space="preserve"> identifies the neurons that project toward an injection region. Matching the tracer distribution with measured tuning supports convergence from an appropriate ICC array onto a localized ICx region. The labeled arrays are the projecting population for that ICx region. Anatomical and physiological evidence therefore agree in this projection from ICC.</a:t>
            </a:r>
            <a:endParaRPr lang="en-US"/>
          </a:p>
        </p:txBody>
      </p:sp>
      <p:pic>
        <p:nvPicPr>
          <p:cNvPr id="140" name="Presenton Native Image 24" descr=""/>
          <p:cNvPicPr/>
          <p:nvPr/>
        </p:nvPicPr>
        <p:blipFill>
          <a:blip r:embed="rId2" cstate="none"/>
          <a:stretch>
            <a:fillRect/>
          </a:stretch>
        </p:blipFill>
        <p:spPr>
          <a:xfrm>
            <a:off x="6870068" y="1280071"/>
            <a:ext cx="4754885" cy="2189411"/>
          </a:xfrm>
          <a:prstGeom prst="rect">
            <a:avLst/>
          </a:prstGeom>
        </p:spPr>
      </p:pic>
      <p:sp>
        <p:nvSpPr>
          <p:cNvPr id="348" name="Shape 348"/>
          <p:cNvSpPr/>
          <p:nvPr/>
        </p:nvSpPr>
        <p:spPr>
          <a:xfrm>
            <a:off x="6870055" y="356101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6(A–B). Physiological timing preferences matched to retrogradely labeled arrays.</a:t>
            </a:r>
            <a:endParaRPr lang="en-US"/>
          </a:p>
        </p:txBody>
      </p:sp>
      <p:sp>
        <p:nvSpPr>
          <p:cNvPr id="349" name="Shape 349"/>
          <p:cNvSpPr/>
          <p:nvPr/>
        </p:nvSpPr>
        <p:spPr>
          <a:xfrm>
            <a:off x="566886" y="6382494"/>
            <a:ext cx="11058079" cy="9079"/>
          </a:xfrm>
          <a:prstGeom prst="rect">
            <a:avLst/>
          </a:prstGeom>
          <a:solidFill>
            <a:srgbClr val="C7D6E3"/>
          </a:solidFill>
        </p:spPr>
        <p:txBody>
          <a:bodyPr/>
          <a:lstStyle/>
          <a:p/>
        </p:txBody>
      </p:sp>
      <p:sp>
        <p:nvSpPr>
          <p:cNvPr id="350" name="Shape 35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51" name="Shape 35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52" name="Shape 35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Projection position shifts with the target’s timing preference</a:t>
            </a:r>
            <a:endParaRPr lang="en-US"/>
          </a:p>
        </p:txBody>
      </p:sp>
      <p:sp>
        <p:nvSpPr>
          <p:cNvPr id="353" name="Shape 35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Wagner and colleagues repeated retrograde labeling at ICx sites with different timing preferences. They counted labeled ICC somata as a function of distance from the posterior end of the colliculus, to see whether projection origins moved systematically along the nucleus. Each labeled distribution was plotted against this distance from the posterior end.</a:t>
            </a:r>
            <a:endParaRPr lang="en-US"/>
          </a:p>
          <a:p>
            <a:pPr algn="l">
              <a:lnSpc>
                <a:spcPct val="108000"/>
              </a:lnSpc>
              <a:spcAft>
                <a:spcPts val="1200"/>
              </a:spcAft>
              <a:buNone/>
            </a:pPr>
            <a:r>
              <a:rPr sz="1400" b="0" i="0">
                <a:solidFill>
                  <a:srgbClr val="1F262D"/>
                </a:solidFill>
                <a:latin typeface="Arial"/>
                <a:ea typeface="Arial"/>
              </a:rPr>
              <a:t>The injection sites preferred delays of 120, 90, and 60 µs with the contralateral ear leading, or 15 µs with the ipsilateral ear leading. The labeled cell distributions shifted with these preferences rather than staying at one fixed ICC position. The injection sites differed in their preferred delays. Each injection site's preference determined where its labeled cells lay.</a:t>
            </a:r>
            <a:endParaRPr lang="en-US"/>
          </a:p>
          <a:p>
            <a:pPr algn="l">
              <a:lnSpc>
                <a:spcPct val="108000"/>
              </a:lnSpc>
              <a:spcAft>
                <a:spcPts val="1200"/>
              </a:spcAft>
              <a:buNone/>
            </a:pPr>
            <a:r>
              <a:rPr sz="1400" b="0" i="0">
                <a:solidFill>
                  <a:srgbClr val="1F262D"/>
                </a:solidFill>
                <a:latin typeface="Arial"/>
                <a:ea typeface="Arial"/>
              </a:rPr>
              <a:t>The covariation points to an </a:t>
            </a:r>
            <a:r>
              <a:rPr sz="1400" b="1" i="0">
                <a:solidFill>
                  <a:srgbClr val="2B5577"/>
                </a:solidFill>
                <a:latin typeface="Arial"/>
                <a:ea typeface="Arial"/>
              </a:rPr>
              <a:t>ordered transformation</a:t>
            </a:r>
            <a:r>
              <a:rPr sz="1400" b="0" i="0">
                <a:solidFill>
                  <a:srgbClr val="1F262D"/>
                </a:solidFill>
                <a:latin typeface="Arial"/>
                <a:ea typeface="Arial"/>
              </a:rPr>
              <a:t> from an ICC timing map into the horizontal coordinate of the ICx space map. Cell-count distributions locate projecting populations, and their height reflects how many cells lie at each position. The horizontal coordinate of the ICx map therefore carries the timing value of each site.</a:t>
            </a:r>
            <a:endParaRPr lang="en-US"/>
          </a:p>
        </p:txBody>
      </p:sp>
      <p:pic>
        <p:nvPicPr>
          <p:cNvPr id="141" name="Presenton Native Image 25" descr=""/>
          <p:cNvPicPr/>
          <p:nvPr/>
        </p:nvPicPr>
        <p:blipFill>
          <a:blip r:embed="rId2" cstate="none"/>
          <a:stretch>
            <a:fillRect/>
          </a:stretch>
        </p:blipFill>
        <p:spPr>
          <a:xfrm>
            <a:off x="6870117" y="1280071"/>
            <a:ext cx="4754787" cy="3084463"/>
          </a:xfrm>
          <a:prstGeom prst="rect">
            <a:avLst/>
          </a:prstGeom>
        </p:spPr>
      </p:pic>
      <p:sp>
        <p:nvSpPr>
          <p:cNvPr id="356" name="Shape 356"/>
          <p:cNvSpPr/>
          <p:nvPr/>
        </p:nvSpPr>
        <p:spPr>
          <a:xfrm>
            <a:off x="6870055" y="4456063"/>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7. Projection position shifts with timing preference at the injection site.</a:t>
            </a:r>
            <a:endParaRPr lang="en-US"/>
          </a:p>
        </p:txBody>
      </p:sp>
      <p:sp>
        <p:nvSpPr>
          <p:cNvPr id="357" name="Shape 357"/>
          <p:cNvSpPr/>
          <p:nvPr/>
        </p:nvSpPr>
        <p:spPr>
          <a:xfrm>
            <a:off x="566886" y="6382494"/>
            <a:ext cx="11058079" cy="9079"/>
          </a:xfrm>
          <a:prstGeom prst="rect">
            <a:avLst/>
          </a:prstGeom>
          <a:solidFill>
            <a:srgbClr val="C7D6E3"/>
          </a:solidFill>
        </p:spPr>
        <p:txBody>
          <a:bodyPr/>
          <a:lstStyle/>
          <a:p/>
        </p:txBody>
      </p:sp>
      <p:sp>
        <p:nvSpPr>
          <p:cNvPr id="358" name="Shape 35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59" name="Shape 35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60" name="Shape 36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Broadband input suppresses repeated peaks in ICx</a:t>
            </a:r>
            <a:endParaRPr lang="en-US"/>
          </a:p>
        </p:txBody>
      </p:sp>
      <p:sp>
        <p:nvSpPr>
          <p:cNvPr id="361" name="Shape 36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Takahashi and Konishi compared ICx delay curves evoked by a tone at each neuron's best frequency with curves evoked by broadband noise. A tone contains a repeated cycle, whereas broadband noise supplies several frequency components with different periods. Both stimuli were used with the same delay sweep. Both curves were obtained from the same neuron.</a:t>
            </a:r>
            <a:endParaRPr lang="en-US"/>
          </a:p>
          <a:p>
            <a:pPr algn="l">
              <a:lnSpc>
                <a:spcPct val="108000"/>
              </a:lnSpc>
              <a:spcAft>
                <a:spcPts val="1200"/>
              </a:spcAft>
              <a:buNone/>
            </a:pPr>
            <a:r>
              <a:rPr sz="1400" b="0" i="0">
                <a:solidFill>
                  <a:srgbClr val="1F262D"/>
                </a:solidFill>
                <a:latin typeface="Arial"/>
                <a:ea typeface="Arial"/>
              </a:rPr>
              <a:t>Tonal stimulation commonly produced a principal peak and repeated secondary peaks. Broadband noise greatly reduced the secondary responses while preserving the timing near the principal peak. Testing tone and noise responses in one neuron controls for recording differences. The control holds the recording site constant, so differences in response reflect the change in stimulus.</a:t>
            </a:r>
            <a:endParaRPr lang="en-US"/>
          </a:p>
          <a:p>
            <a:pPr algn="l">
              <a:lnSpc>
                <a:spcPct val="108000"/>
              </a:lnSpc>
              <a:spcAft>
                <a:spcPts val="1200"/>
              </a:spcAft>
              <a:buNone/>
            </a:pPr>
            <a:r>
              <a:rPr sz="1400" b="0" i="0">
                <a:solidFill>
                  <a:srgbClr val="1F262D"/>
                </a:solidFill>
                <a:latin typeface="Arial"/>
                <a:ea typeface="Arial"/>
              </a:rPr>
              <a:t>Cross-frequency agreement is strongest at the delay shared by the broadband components. This makes </a:t>
            </a:r>
            <a:r>
              <a:rPr sz="1400" b="1" i="0">
                <a:solidFill>
                  <a:srgbClr val="2B5577"/>
                </a:solidFill>
                <a:latin typeface="Arial"/>
                <a:ea typeface="Arial"/>
              </a:rPr>
              <a:t>spectral convergence</a:t>
            </a:r>
            <a:r>
              <a:rPr sz="1400" b="0" i="0">
                <a:solidFill>
                  <a:srgbClr val="1F262D"/>
                </a:solidFill>
                <a:latin typeface="Arial"/>
                <a:ea typeface="Arial"/>
              </a:rPr>
              <a:t> one part of ambiguity resolution, alongside the way a neuron's response is shaped by its inputs. Spectral convergence therefore accounts for part of the suppression, not all of it. Other processes add to this suppression. Its strength is measured within a single cell.</a:t>
            </a:r>
            <a:endParaRPr lang="en-US"/>
          </a:p>
        </p:txBody>
      </p:sp>
      <p:pic>
        <p:nvPicPr>
          <p:cNvPr id="142" name="Presenton Native Image 26" descr=""/>
          <p:cNvPicPr/>
          <p:nvPr/>
        </p:nvPicPr>
        <p:blipFill>
          <a:blip r:embed="rId2" cstate="none"/>
          <a:stretch>
            <a:fillRect/>
          </a:stretch>
        </p:blipFill>
        <p:spPr>
          <a:xfrm>
            <a:off x="8108454" y="1280090"/>
            <a:ext cx="2277963" cy="4297523"/>
          </a:xfrm>
          <a:prstGeom prst="rect">
            <a:avLst/>
          </a:prstGeom>
        </p:spPr>
      </p:pic>
      <p:sp>
        <p:nvSpPr>
          <p:cNvPr id="364" name="Shape 36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7(A–C). Broadband stimulation suppresses the secondary peaks present for tones.</a:t>
            </a:r>
            <a:endParaRPr lang="en-US"/>
          </a:p>
        </p:txBody>
      </p:sp>
      <p:sp>
        <p:nvSpPr>
          <p:cNvPr id="365" name="Shape 365"/>
          <p:cNvSpPr/>
          <p:nvPr/>
        </p:nvSpPr>
        <p:spPr>
          <a:xfrm>
            <a:off x="566886" y="6382494"/>
            <a:ext cx="11058079" cy="9079"/>
          </a:xfrm>
          <a:prstGeom prst="rect">
            <a:avLst/>
          </a:prstGeom>
          <a:solidFill>
            <a:srgbClr val="C7D6E3"/>
          </a:solidFill>
        </p:spPr>
        <p:txBody>
          <a:bodyPr/>
          <a:lstStyle/>
          <a:p/>
        </p:txBody>
      </p:sp>
      <p:sp>
        <p:nvSpPr>
          <p:cNvPr id="366" name="Shape 36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67" name="Shape 36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68" name="Shape 36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Two-tone stimulation tests cross-frequency convergence</a:t>
            </a:r>
            <a:endParaRPr lang="en-US"/>
          </a:p>
        </p:txBody>
      </p:sp>
      <p:sp>
        <p:nvSpPr>
          <p:cNvPr id="369" name="Shape 36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Takahashi and Konishi presented two tones individually and together while varying the interaural time difference. Both tones were chosen within the neuron's frequency-response range, which permits a controlled test of integration. The stimulus pair was tested with the same ITD sweep applied to each condition. This design tests integration rather than spectral energy alone.</a:t>
            </a:r>
            <a:endParaRPr lang="en-US"/>
          </a:p>
          <a:p>
            <a:pPr algn="l">
              <a:lnSpc>
                <a:spcPct val="108000"/>
              </a:lnSpc>
              <a:spcAft>
                <a:spcPts val="1200"/>
              </a:spcAft>
              <a:buNone/>
            </a:pPr>
            <a:r>
              <a:rPr sz="1400" b="0" i="0">
                <a:solidFill>
                  <a:srgbClr val="1F262D"/>
                </a:solidFill>
                <a:latin typeface="Arial"/>
                <a:ea typeface="Arial"/>
              </a:rPr>
              <a:t>In the published examples, tones near 7 and 8 kHz produced delay peaks with different spacing. Their joint presentation favored the common principal delay and changed the secondary responses. The peaks with different spacing arise from the different periods of the two tones. The analysis tests the joint response against the expected combination of the separate responses.</a:t>
            </a:r>
            <a:endParaRPr lang="en-US"/>
          </a:p>
          <a:p>
            <a:pPr algn="l">
              <a:lnSpc>
                <a:spcPct val="108000"/>
              </a:lnSpc>
              <a:spcAft>
                <a:spcPts val="1200"/>
              </a:spcAft>
              <a:buNone/>
            </a:pPr>
            <a:r>
              <a:rPr sz="1400" b="0" i="0">
                <a:solidFill>
                  <a:srgbClr val="1F262D"/>
                </a:solidFill>
                <a:latin typeface="Arial"/>
                <a:ea typeface="Arial"/>
              </a:rPr>
              <a:t>The experiment tests whether timing evidence from different frequency channels </a:t>
            </a:r>
            <a:r>
              <a:rPr sz="1400" b="1" i="0">
                <a:solidFill>
                  <a:srgbClr val="2B5577"/>
                </a:solidFill>
                <a:latin typeface="Arial"/>
                <a:ea typeface="Arial"/>
              </a:rPr>
              <a:t>interacts</a:t>
            </a:r>
            <a:r>
              <a:rPr sz="1400" b="0" i="0">
                <a:solidFill>
                  <a:srgbClr val="1F262D"/>
                </a:solidFill>
                <a:latin typeface="Arial"/>
                <a:ea typeface="Arial"/>
              </a:rPr>
              <a:t> at a space-specific neuron. The results support a convergence mechanism, in which excitatory agreement across channels helps shape the final selectivity of the cell. Component-only conditions control for a simple increase in sound level. Other processes can add to this agreement.</a:t>
            </a:r>
            <a:endParaRPr lang="en-US"/>
          </a:p>
        </p:txBody>
      </p:sp>
      <p:pic>
        <p:nvPicPr>
          <p:cNvPr id="143" name="Presenton Native Image 27" descr=""/>
          <p:cNvPicPr/>
          <p:nvPr/>
        </p:nvPicPr>
        <p:blipFill>
          <a:blip r:embed="rId2" cstate="none"/>
          <a:stretch>
            <a:fillRect/>
          </a:stretch>
        </p:blipFill>
        <p:spPr>
          <a:xfrm>
            <a:off x="6870061" y="1280071"/>
            <a:ext cx="4754897" cy="3781127"/>
          </a:xfrm>
          <a:prstGeom prst="rect">
            <a:avLst/>
          </a:prstGeom>
        </p:spPr>
      </p:pic>
      <p:sp>
        <p:nvSpPr>
          <p:cNvPr id="372" name="Shape 372"/>
          <p:cNvSpPr/>
          <p:nvPr/>
        </p:nvSpPr>
        <p:spPr>
          <a:xfrm>
            <a:off x="6870055" y="5152727"/>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9(A–C). Two-tone responses test convergence across frequency channels.</a:t>
            </a:r>
            <a:endParaRPr lang="en-US"/>
          </a:p>
        </p:txBody>
      </p:sp>
      <p:sp>
        <p:nvSpPr>
          <p:cNvPr id="373" name="Shape 373"/>
          <p:cNvSpPr/>
          <p:nvPr/>
        </p:nvSpPr>
        <p:spPr>
          <a:xfrm>
            <a:off x="566886" y="6382494"/>
            <a:ext cx="11058079" cy="9079"/>
          </a:xfrm>
          <a:prstGeom prst="rect">
            <a:avLst/>
          </a:prstGeom>
          <a:solidFill>
            <a:srgbClr val="C7D6E3"/>
          </a:solidFill>
        </p:spPr>
        <p:txBody>
          <a:bodyPr/>
          <a:lstStyle/>
          <a:p/>
        </p:txBody>
      </p:sp>
      <p:sp>
        <p:nvSpPr>
          <p:cNvPr id="374" name="Shape 37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75" name="Shape 37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76" name="Shape 37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Secondary peaks are reduced rather than universally absent</a:t>
            </a:r>
            <a:endParaRPr lang="en-US"/>
          </a:p>
        </p:txBody>
      </p:sp>
      <p:sp>
        <p:nvSpPr>
          <p:cNvPr id="377" name="Shape 37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Takahashi and Konishi quantified the strongest secondary response relative to the principal response during broadband stimulation. This </a:t>
            </a:r>
            <a:r>
              <a:rPr sz="1400" b="1" i="0">
                <a:solidFill>
                  <a:srgbClr val="2B5577"/>
                </a:solidFill>
                <a:latin typeface="Arial"/>
                <a:ea typeface="Arial"/>
              </a:rPr>
              <a:t>secondary-to-primary ratio</a:t>
            </a:r>
            <a:r>
              <a:rPr sz="1400" b="0" i="0">
                <a:solidFill>
                  <a:srgbClr val="1F262D"/>
                </a:solidFill>
                <a:latin typeface="Arial"/>
                <a:ea typeface="Arial"/>
              </a:rPr>
              <a:t xml:space="preserve"> describes residual ambiguity. A ratio near one indicates similarly strong competing peaks in the same delay curve. The ratio is measured within one neuron, so it is a relative measure rather than a firing rate.</a:t>
            </a:r>
            <a:endParaRPr lang="en-US"/>
          </a:p>
          <a:p>
            <a:pPr algn="l">
              <a:lnSpc>
                <a:spcPct val="108000"/>
              </a:lnSpc>
              <a:spcAft>
                <a:spcPts val="1200"/>
              </a:spcAft>
              <a:buNone/>
            </a:pPr>
            <a:r>
              <a:rPr sz="1400" b="0" i="0">
                <a:solidFill>
                  <a:srgbClr val="1F262D"/>
                </a:solidFill>
                <a:latin typeface="Arial"/>
                <a:ea typeface="Arial"/>
              </a:rPr>
              <a:t xml:space="preserve">The published distribution spans about zero to one, with many neurons keeping a substantial but smaller secondary response. Broadband selectivity therefore varied from cell to cell rather than forming a uniform all-or-none solution. The distribution is broad across the sampled ICx neurons. Some neurons retained a large secondary response, while others suppressed it strongly.</a:t>
            </a:r>
            <a:endParaRPr lang="en-US"/>
          </a:p>
          <a:p>
            <a:pPr algn="l">
              <a:lnSpc>
                <a:spcPct val="108000"/>
              </a:lnSpc>
              <a:spcAft>
                <a:spcPts val="1200"/>
              </a:spcAft>
              <a:buNone/>
            </a:pPr>
            <a:r>
              <a:rPr sz="1400" b="0" i="0">
                <a:solidFill>
                  <a:srgbClr val="1F262D"/>
                </a:solidFill>
                <a:latin typeface="Arial"/>
                <a:ea typeface="Arial"/>
              </a:rPr>
              <a:t xml:space="preserve">Population firing, inhibitory sharpening, and output thresholds can reduce the impact of residual peaks. A low ratio indicates improved single-cell selectivity, so the ratio reports how much ambiguity each ICx cell retains. The strongest peak sets the reference for each cell. The principal peak is identified by its relation to the characteristic delay of the neuron.</a:t>
            </a:r>
            <a:endParaRPr lang="en-US"/>
          </a:p>
        </p:txBody>
      </p:sp>
      <p:pic>
        <p:nvPicPr>
          <p:cNvPr id="144" name="Presenton Native Image 28" descr=""/>
          <p:cNvPicPr/>
          <p:nvPr/>
        </p:nvPicPr>
        <p:blipFill>
          <a:blip r:embed="rId2" cstate="none"/>
          <a:stretch>
            <a:fillRect/>
          </a:stretch>
        </p:blipFill>
        <p:spPr>
          <a:xfrm>
            <a:off x="6870173" y="1280071"/>
            <a:ext cx="4754673" cy="3185220"/>
          </a:xfrm>
          <a:prstGeom prst="rect">
            <a:avLst/>
          </a:prstGeom>
        </p:spPr>
      </p:pic>
      <p:sp>
        <p:nvSpPr>
          <p:cNvPr id="380" name="Shape 380"/>
          <p:cNvSpPr/>
          <p:nvPr/>
        </p:nvSpPr>
        <p:spPr>
          <a:xfrm>
            <a:off x="6870055" y="455682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6. Distribution of secondary-to-primary peak response ratios.</a:t>
            </a:r>
            <a:endParaRPr lang="en-US"/>
          </a:p>
        </p:txBody>
      </p:sp>
      <p:sp>
        <p:nvSpPr>
          <p:cNvPr id="381" name="Shape 381"/>
          <p:cNvSpPr/>
          <p:nvPr/>
        </p:nvSpPr>
        <p:spPr>
          <a:xfrm>
            <a:off x="566886" y="6382494"/>
            <a:ext cx="11058079" cy="9079"/>
          </a:xfrm>
          <a:prstGeom prst="rect">
            <a:avLst/>
          </a:prstGeom>
          <a:solidFill>
            <a:srgbClr val="C7D6E3"/>
          </a:solidFill>
        </p:spPr>
        <p:txBody>
          <a:bodyPr/>
          <a:lstStyle/>
          <a:p/>
        </p:txBody>
      </p:sp>
      <p:sp>
        <p:nvSpPr>
          <p:cNvPr id="382" name="Shape 38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t>
            </a:r>
            <a:r>
              <a:rPr sz="900" b="0" i="0">
                <a:solidFill>
                  <a:srgbClr val="58636E"/>
                </a:solidFill>
                <a:latin typeface="Arial"/>
                <a:ea typeface="Arial"/>
              </a:rPr>
              <a:t>&amp;</a:t>
            </a:r>
            <a:r>
              <a:rPr sz="900" b="0" i="0">
                <a:solidFill>
                  <a:srgbClr val="58636E"/>
                </a:solidFill>
                <a:latin typeface="Arial"/>
                <a:ea typeface="Arial"/>
              </a:rPr>
              <a:t xml:space="preserve"> Konishi (1986)</a:t>
            </a:r>
            <a:endParaRPr lang="en-US"/>
          </a:p>
        </p:txBody>
      </p:sp>
      <p:sp>
        <p:nvSpPr>
          <p:cNvPr id="383" name="Shape 38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84" name="Shape 38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VLVp combines excitation from one ear with inhibition</a:t>
            </a:r>
            <a:endParaRPr lang="en-US"/>
          </a:p>
        </p:txBody>
      </p:sp>
      <p:sp>
        <p:nvSpPr>
          <p:cNvPr id="385" name="Shape 38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VLVp</a:t>
            </a:r>
            <a:r>
              <a:rPr sz="1400" b="0" i="0">
                <a:solidFill>
                  <a:srgbClr val="1F262D"/>
                </a:solidFill>
                <a:latin typeface="Arial"/>
                <a:ea typeface="Arial"/>
              </a:rPr>
              <a:t>, the posterior part of the ventral nucleus of the lateral lemniscus, is an early binaural station in the level pathway. Manley, Köppl, and Konishi recorded its responses while changing the sound levels at the two ears independently across the tested range. The level at each ear was varied in independent steps.</a:t>
            </a:r>
            <a:endParaRPr lang="en-US"/>
          </a:p>
          <a:p>
            <a:pPr algn="l">
              <a:lnSpc>
                <a:spcPct val="108000"/>
              </a:lnSpc>
              <a:spcAft>
                <a:spcPts val="1200"/>
              </a:spcAft>
              <a:buNone/>
            </a:pPr>
            <a:r>
              <a:rPr sz="1400" b="0" i="0">
                <a:solidFill>
                  <a:srgbClr val="1F262D"/>
                </a:solidFill>
                <a:latin typeface="Arial"/>
                <a:ea typeface="Arial"/>
              </a:rPr>
              <a:t>Contralateral stimulation excited VLVp cells, and ipsilateral stimulation inhibited them. Dorsal, intermediate, and ventral sites differed in inhibitory strength, and a dorsal cell at 7.9 kHz was strongly inhibited by the ipsilateral input in the same penetration. Inhibition was strong at some sites and weak at others along the penetration. Cells were grouped by their site.</a:t>
            </a:r>
            <a:endParaRPr lang="en-US"/>
          </a:p>
          <a:p>
            <a:pPr algn="l">
              <a:lnSpc>
                <a:spcPct val="108000"/>
              </a:lnSpc>
              <a:spcAft>
                <a:spcPts val="1200"/>
              </a:spcAft>
              <a:buNone/>
            </a:pPr>
            <a:r>
              <a:rPr sz="1400" b="0" i="0">
                <a:solidFill>
                  <a:srgbClr val="1F262D"/>
                </a:solidFill>
                <a:latin typeface="Arial"/>
                <a:ea typeface="Arial"/>
              </a:rPr>
              <a:t>Holding the average binaural level constant distinguishes interaural balance from overall loudness. The </a:t>
            </a:r>
            <a:r>
              <a:rPr sz="1400" b="1" i="0">
                <a:solidFill>
                  <a:srgbClr val="2B5577"/>
                </a:solidFill>
                <a:latin typeface="Arial"/>
                <a:ea typeface="Arial"/>
              </a:rPr>
              <a:t>largely monotonic</a:t>
            </a:r>
            <a:r>
              <a:rPr sz="1400" b="0" i="0">
                <a:solidFill>
                  <a:srgbClr val="1F262D"/>
                </a:solidFill>
                <a:latin typeface="Arial"/>
                <a:ea typeface="Arial"/>
              </a:rPr>
              <a:t> response functions supply a graded code for level disparity. The graded code supplies level information to the next stage. The monotonic functions change in one direction across the tested cue range. Each cell responds across that range in a single direction.</a:t>
            </a:r>
            <a:endParaRPr lang="en-US"/>
          </a:p>
        </p:txBody>
      </p:sp>
      <p:pic>
        <p:nvPicPr>
          <p:cNvPr id="145" name="Presenton Native Image 29" descr=""/>
          <p:cNvPicPr/>
          <p:nvPr/>
        </p:nvPicPr>
        <p:blipFill>
          <a:blip r:embed="rId2" cstate="none"/>
          <a:stretch>
            <a:fillRect/>
          </a:stretch>
        </p:blipFill>
        <p:spPr>
          <a:xfrm>
            <a:off x="6870143" y="1280071"/>
            <a:ext cx="4754733" cy="1429494"/>
          </a:xfrm>
          <a:prstGeom prst="rect">
            <a:avLst/>
          </a:prstGeom>
        </p:spPr>
      </p:pic>
      <p:sp>
        <p:nvSpPr>
          <p:cNvPr id="388" name="Shape 388"/>
          <p:cNvSpPr/>
          <p:nvPr/>
        </p:nvSpPr>
        <p:spPr>
          <a:xfrm>
            <a:off x="6870055" y="280109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3(A–C). Level-difference functions at dorsal, intermediate, and ventral sites.</a:t>
            </a:r>
            <a:endParaRPr lang="en-US"/>
          </a:p>
        </p:txBody>
      </p:sp>
      <p:sp>
        <p:nvSpPr>
          <p:cNvPr id="389" name="Shape 389"/>
          <p:cNvSpPr/>
          <p:nvPr/>
        </p:nvSpPr>
        <p:spPr>
          <a:xfrm>
            <a:off x="566886" y="6382494"/>
            <a:ext cx="11058079" cy="9079"/>
          </a:xfrm>
          <a:prstGeom prst="rect">
            <a:avLst/>
          </a:prstGeom>
          <a:solidFill>
            <a:srgbClr val="C7D6E3"/>
          </a:solidFill>
        </p:spPr>
        <p:txBody>
          <a:bodyPr/>
          <a:lstStyle/>
          <a:p/>
        </p:txBody>
      </p:sp>
      <p:sp>
        <p:nvSpPr>
          <p:cNvPr id="390" name="Shape 39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1" name="Shape 39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92" name="Shape 39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VLVp level thresholds are ordered dorsoventrally</a:t>
            </a:r>
            <a:endParaRPr lang="en-US"/>
          </a:p>
        </p:txBody>
      </p:sp>
      <p:sp>
        <p:nvSpPr>
          <p:cNvPr id="393" name="Shape 39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Manley and colleagues described each VLVp response by its </a:t>
            </a:r>
            <a:r>
              <a:rPr sz="1400" b="1" i="0">
                <a:solidFill>
                  <a:srgbClr val="2B5577"/>
                </a:solidFill>
                <a:latin typeface="Arial"/>
                <a:ea typeface="Arial"/>
              </a:rPr>
              <a:t>half-maximum point</a:t>
            </a:r>
            <a:r>
              <a:rPr sz="1400" b="0" i="0">
                <a:solidFill>
                  <a:srgbClr val="1F262D"/>
                </a:solidFill>
                <a:latin typeface="Arial"/>
                <a:ea typeface="Arial"/>
              </a:rPr>
              <a:t xml:space="preserve">, the ILD at which firing reaches half of the response maximum. Sequential recording sites within a penetration were examined to test for an anatomical order of this criterion across the nucleus. Each VLVp cell was assigned its own half-maximum value in the penetration.</a:t>
            </a:r>
            <a:endParaRPr lang="en-US"/>
          </a:p>
          <a:p>
            <a:pPr algn="l">
              <a:lnSpc>
                <a:spcPct val="108000"/>
              </a:lnSpc>
              <a:spcAft>
                <a:spcPts val="1200"/>
              </a:spcAft>
              <a:buNone/>
            </a:pPr>
            <a:r>
              <a:rPr sz="1400" b="0" i="0">
                <a:solidFill>
                  <a:srgbClr val="1F262D"/>
                </a:solidFill>
                <a:latin typeface="Arial"/>
                <a:ea typeface="Arial"/>
              </a:rPr>
              <a:t xml:space="preserve">Dorsal sites had more contralaterally biased half-maximum points, and progressively ventral sites shifted toward ipsilateral values. Some cells changed their half-maximum point by 2 dB or less when the average binaural level rose by 10 dB. Half-maximum values differed between the dorsal and ventral ends. Those shifts were systematic across the penetrations.</a:t>
            </a:r>
            <a:endParaRPr lang="en-US"/>
          </a:p>
          <a:p>
            <a:pPr algn="l">
              <a:lnSpc>
                <a:spcPct val="108000"/>
              </a:lnSpc>
              <a:spcAft>
                <a:spcPts val="1200"/>
              </a:spcAft>
              <a:buNone/>
            </a:pPr>
            <a:r>
              <a:rPr sz="1400" b="0" i="0">
                <a:solidFill>
                  <a:srgbClr val="1F262D"/>
                </a:solidFill>
                <a:latin typeface="Arial"/>
                <a:ea typeface="Arial"/>
              </a:rPr>
              <a:t xml:space="preserve">The result is an ordered map of response thresholds along a binaural level axis in the VLVp population. A half-maximum point can be well defined for a monotonic curve even when the neuron has no sharply bounded preferred ILD of its own. This criterion gives a graded ordering rather than a receptive-field center.</a:t>
            </a:r>
            <a:endParaRPr lang="en-US"/>
          </a:p>
        </p:txBody>
      </p:sp>
      <p:pic>
        <p:nvPicPr>
          <p:cNvPr id="146" name="Presenton Native Image 30" descr=""/>
          <p:cNvPicPr/>
          <p:nvPr/>
        </p:nvPicPr>
        <p:blipFill>
          <a:blip r:embed="rId2" cstate="none"/>
          <a:stretch>
            <a:fillRect/>
          </a:stretch>
        </p:blipFill>
        <p:spPr>
          <a:xfrm>
            <a:off x="6870125" y="1280071"/>
            <a:ext cx="4754769" cy="2299692"/>
          </a:xfrm>
          <a:prstGeom prst="rect">
            <a:avLst/>
          </a:prstGeom>
        </p:spPr>
      </p:pic>
      <p:sp>
        <p:nvSpPr>
          <p:cNvPr id="396" name="Shape 396"/>
          <p:cNvSpPr/>
          <p:nvPr/>
        </p:nvSpPr>
        <p:spPr>
          <a:xfrm>
            <a:off x="6870055" y="367129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4(A–B). Dorsoventral ordering and level-stable half-maximum points.</a:t>
            </a:r>
            <a:endParaRPr lang="en-US"/>
          </a:p>
        </p:txBody>
      </p:sp>
      <p:sp>
        <p:nvSpPr>
          <p:cNvPr id="397" name="Shape 397"/>
          <p:cNvSpPr/>
          <p:nvPr/>
        </p:nvSpPr>
        <p:spPr>
          <a:xfrm>
            <a:off x="566886" y="6382494"/>
            <a:ext cx="11058079" cy="9079"/>
          </a:xfrm>
          <a:prstGeom prst="rect">
            <a:avLst/>
          </a:prstGeom>
          <a:solidFill>
            <a:srgbClr val="C7D6E3"/>
          </a:solidFill>
        </p:spPr>
        <p:txBody>
          <a:bodyPr/>
          <a:lstStyle/>
          <a:p/>
        </p:txBody>
      </p:sp>
      <p:sp>
        <p:nvSpPr>
          <p:cNvPr id="398" name="Shape 3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9" name="Shape 39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00" name="Shape 40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Excitatory and inhibitory thresholds shape level sensitivity</a:t>
            </a:r>
            <a:endParaRPr lang="en-US"/>
          </a:p>
        </p:txBody>
      </p:sp>
      <p:sp>
        <p:nvSpPr>
          <p:cNvPr id="401" name="Shape 40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Manley and colleagues measured monaural excitatory and inhibitory thresholds in VLVp. Inhibition was assessed against the steady discharge produced by contralateral stimulation, so reductions in spikes could be measured directly from a baseline of activity. Each threshold was defined relative to the monaural response of the same neuron. The two thresholds therefore share one reference point.</a:t>
            </a:r>
            <a:endParaRPr lang="en-US"/>
          </a:p>
          <a:p>
            <a:pPr algn="l">
              <a:lnSpc>
                <a:spcPct val="108000"/>
              </a:lnSpc>
              <a:spcAft>
                <a:spcPts val="1200"/>
              </a:spcAft>
              <a:buNone/>
            </a:pPr>
            <a:r>
              <a:rPr sz="1400" b="0" i="0">
                <a:solidFill>
                  <a:srgbClr val="1F262D"/>
                </a:solidFill>
                <a:latin typeface="Arial"/>
                <a:ea typeface="Arial"/>
              </a:rPr>
              <a:t>The difference between excitatory and inhibitory thresholds covaried with the strength of inhibition. Those threshold relations and the ILD half-maximum points changed together along the dorsoventral recording sequence. Sites with strong inhibition also showed the largest threshold differences. This pattern held across the sampled cells in the penetrations. The changes were consistent across the penetrations.</a:t>
            </a:r>
            <a:endParaRPr lang="en-US"/>
          </a:p>
          <a:p>
            <a:pPr algn="l">
              <a:lnSpc>
                <a:spcPct val="108000"/>
              </a:lnSpc>
              <a:spcAft>
                <a:spcPts val="1200"/>
              </a:spcAft>
              <a:buNone/>
            </a:pPr>
            <a:r>
              <a:rPr sz="1400" b="0" i="0">
                <a:solidFill>
                  <a:srgbClr val="1F262D"/>
                </a:solidFill>
                <a:latin typeface="Arial"/>
                <a:ea typeface="Arial"/>
              </a:rPr>
              <a:t>The interaction between the two ears, rather than one ear's absolute sensitivity alone, shapes the binaural response. This physiology supports excitation and inhibition working together as the </a:t>
            </a:r>
            <a:r>
              <a:rPr sz="1400" b="1" i="0">
                <a:solidFill>
                  <a:srgbClr val="2B5577"/>
                </a:solidFill>
                <a:latin typeface="Arial"/>
                <a:ea typeface="Arial"/>
              </a:rPr>
              <a:t>basis of level sensitivity</a:t>
            </a:r>
            <a:r>
              <a:rPr sz="1400" b="0" i="0">
                <a:solidFill>
                  <a:srgbClr val="1F262D"/>
                </a:solidFill>
                <a:latin typeface="Arial"/>
                <a:ea typeface="Arial"/>
              </a:rPr>
              <a:t> in VLVp. The difference between the thresholds sets where inhibition begins relative to excitatory growth. Each neuron therefore carries its own inhibitory timing.</a:t>
            </a:r>
            <a:endParaRPr lang="en-US"/>
          </a:p>
        </p:txBody>
      </p:sp>
      <p:pic>
        <p:nvPicPr>
          <p:cNvPr id="147" name="Presenton Native Image 31" descr=""/>
          <p:cNvPicPr/>
          <p:nvPr/>
        </p:nvPicPr>
        <p:blipFill>
          <a:blip r:embed="rId2" cstate="none"/>
          <a:stretch>
            <a:fillRect/>
          </a:stretch>
        </p:blipFill>
        <p:spPr>
          <a:xfrm>
            <a:off x="6870157" y="1280071"/>
            <a:ext cx="4754707" cy="2451646"/>
          </a:xfrm>
          <a:prstGeom prst="rect">
            <a:avLst/>
          </a:prstGeom>
        </p:spPr>
      </p:pic>
      <p:sp>
        <p:nvSpPr>
          <p:cNvPr id="404" name="Shape 404"/>
          <p:cNvSpPr/>
          <p:nvPr/>
        </p:nvSpPr>
        <p:spPr>
          <a:xfrm>
            <a:off x="6870055" y="3823246"/>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6(A–B). Excitatory and inhibitory thresholds vary with position and inhibition.</a:t>
            </a:r>
            <a:endParaRPr lang="en-US"/>
          </a:p>
        </p:txBody>
      </p:sp>
      <p:sp>
        <p:nvSpPr>
          <p:cNvPr id="405" name="Shape 405"/>
          <p:cNvSpPr/>
          <p:nvPr/>
        </p:nvSpPr>
        <p:spPr>
          <a:xfrm>
            <a:off x="566886" y="6382494"/>
            <a:ext cx="11058079" cy="9079"/>
          </a:xfrm>
          <a:prstGeom prst="rect">
            <a:avLst/>
          </a:prstGeom>
          <a:solidFill>
            <a:srgbClr val="C7D6E3"/>
          </a:solidFill>
        </p:spPr>
        <p:txBody>
          <a:bodyPr/>
          <a:lstStyle/>
          <a:p/>
        </p:txBody>
      </p:sp>
      <p:sp>
        <p:nvSpPr>
          <p:cNvPr id="406" name="Shape 4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407" name="Shape 4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08" name="Shape 40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Both VLVp populations project to collicular level circuits</a:t>
            </a:r>
            <a:endParaRPr lang="en-US"/>
          </a:p>
        </p:txBody>
      </p:sp>
      <p:sp>
        <p:nvSpPr>
          <p:cNvPr id="409" name="Shape 40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Adolphs injected PHA-L, an </a:t>
            </a:r>
            <a:r>
              <a:rPr sz="1400" b="1" i="0">
                <a:solidFill>
                  <a:srgbClr val="2B5577"/>
                </a:solidFill>
                <a:latin typeface="Arial"/>
                <a:ea typeface="Arial"/>
              </a:rPr>
              <a:t>anterograde tract tracer</a:t>
            </a:r>
            <a:r>
              <a:rPr sz="1400" b="0" i="0">
                <a:solidFill>
                  <a:srgbClr val="1F262D"/>
                </a:solidFill>
                <a:latin typeface="Arial"/>
                <a:ea typeface="Arial"/>
              </a:rPr>
              <a:t xml:space="preserve">, into VLVp and examined labeled terminals in the inferior colliculus. Anterograde tracing follows projections away from the injected population toward its targets, so the terminals mark where the VLVp output goes. The injection was placed in VLVp, a level-pathway nucleus. The labeled region marks the VLVp output.</a:t>
            </a:r>
            <a:endParaRPr lang="en-US"/>
          </a:p>
          <a:p>
            <a:pPr algn="l">
              <a:lnSpc>
                <a:spcPct val="108000"/>
              </a:lnSpc>
              <a:spcAft>
                <a:spcPts val="1200"/>
              </a:spcAft>
              <a:buNone/>
            </a:pPr>
            <a:r>
              <a:rPr sz="1400" b="0" i="0">
                <a:solidFill>
                  <a:srgbClr val="1F262D"/>
                </a:solidFill>
                <a:latin typeface="Arial"/>
                <a:ea typeface="Arial"/>
              </a:rPr>
              <a:t xml:space="preserve">Label appeared in the lateral shell of ICC on both sides of the brain. The published sections include the VLVp injection site and 500-µm scale bars, and the injection stayed separate from the adjacent anterior subdivision, VLVa, in the illustrated preparation shown. The labeled terminals therefore reach both sides of the midbrain.</a:t>
            </a:r>
            <a:endParaRPr lang="en-US"/>
          </a:p>
          <a:p>
            <a:pPr algn="l">
              <a:lnSpc>
                <a:spcPct val="108000"/>
              </a:lnSpc>
              <a:spcAft>
                <a:spcPts val="1200"/>
              </a:spcAft>
              <a:buNone/>
            </a:pPr>
            <a:r>
              <a:rPr sz="1400" b="0" i="0">
                <a:solidFill>
                  <a:srgbClr val="1F262D"/>
                </a:solidFill>
                <a:latin typeface="Arial"/>
                <a:ea typeface="Arial"/>
              </a:rPr>
              <a:t xml:space="preserve">Bilateral connectivity gives the colliculus access to two differently biased level signals. A projection pattern alone leaves the synaptic sign open, so the excitatory or inhibitory role must be tested with functional manipulations of the target neurons. Tracer labeling therefore defines the projection, while the manipulations define its effect in these cells</a:t>
            </a:r>
            <a:endParaRPr lang="en-US"/>
          </a:p>
        </p:txBody>
      </p:sp>
      <p:pic>
        <p:nvPicPr>
          <p:cNvPr id="148" name="Presenton Native Image 32" descr=""/>
          <p:cNvPicPr/>
          <p:nvPr/>
        </p:nvPicPr>
        <p:blipFill>
          <a:blip r:embed="rId2" cstate="none"/>
          <a:stretch>
            <a:fillRect/>
          </a:stretch>
        </p:blipFill>
        <p:spPr>
          <a:xfrm>
            <a:off x="8308925" y="1280135"/>
            <a:ext cx="1876871" cy="4297432"/>
          </a:xfrm>
          <a:prstGeom prst="rect">
            <a:avLst/>
          </a:prstGeom>
        </p:spPr>
      </p:pic>
      <p:sp>
        <p:nvSpPr>
          <p:cNvPr id="412" name="Shape 41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2(A–C). Tracer labeling of bilateral collicular projections and the VLVp injection site.</a:t>
            </a:r>
            <a:endParaRPr lang="en-US"/>
          </a:p>
        </p:txBody>
      </p:sp>
      <p:sp>
        <p:nvSpPr>
          <p:cNvPr id="413" name="Shape 413"/>
          <p:cNvSpPr/>
          <p:nvPr/>
        </p:nvSpPr>
        <p:spPr>
          <a:xfrm>
            <a:off x="566886" y="6382494"/>
            <a:ext cx="11058079" cy="9079"/>
          </a:xfrm>
          <a:prstGeom prst="rect">
            <a:avLst/>
          </a:prstGeom>
          <a:solidFill>
            <a:srgbClr val="C7D6E3"/>
          </a:solidFill>
        </p:spPr>
        <p:txBody>
          <a:bodyPr/>
          <a:lstStyle/>
          <a:p/>
        </p:txBody>
      </p:sp>
      <p:sp>
        <p:nvSpPr>
          <p:cNvPr id="414" name="Shape 41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15" name="Shape 41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16" name="Shape 41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Increasing VLVp activity can suppress collicular responses</a:t>
            </a:r>
            <a:endParaRPr lang="en-US"/>
          </a:p>
        </p:txBody>
      </p:sp>
      <p:sp>
        <p:nvSpPr>
          <p:cNvPr id="417" name="Shape 41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Adolphs manipulated VLVp while recording from a neuron in the ICC lateral shell. </a:t>
            </a:r>
            <a:r>
              <a:rPr sz="1400" b="1" i="0">
                <a:solidFill>
                  <a:srgbClr val="2B5577"/>
                </a:solidFill>
                <a:latin typeface="Arial"/>
                <a:ea typeface="Arial"/>
              </a:rPr>
              <a:t>GABA</a:t>
            </a:r>
            <a:r>
              <a:rPr sz="1400" b="0" i="0">
                <a:solidFill>
                  <a:srgbClr val="1F262D"/>
                </a:solidFill>
                <a:latin typeface="Arial"/>
                <a:ea typeface="Arial"/>
              </a:rPr>
              <a:t xml:space="preserve">, or gamma-aminobutyric acid, is an inhibitory transmitter, and bicuculline methiodide, or BMI, blocks GABA-A receptors. Blocking inhibition inside VLVp can therefore increase the activity sent to its targets. The lateral-shell neuron served as the recorded readout in that preparation</a:t>
            </a:r>
            <a:endParaRPr lang="en-US"/>
          </a:p>
          <a:p>
            <a:pPr algn="l">
              <a:lnSpc>
                <a:spcPct val="108000"/>
              </a:lnSpc>
              <a:spcAft>
                <a:spcPts val="1200"/>
              </a:spcAft>
              <a:buNone/>
            </a:pPr>
            <a:r>
              <a:rPr sz="1400" b="0" i="0">
                <a:solidFill>
                  <a:srgbClr val="1F262D"/>
                </a:solidFill>
                <a:latin typeface="Arial"/>
                <a:ea typeface="Arial"/>
              </a:rPr>
              <a:t xml:space="preserve">In the published experiment, a 0.5-µL BMI injection into contralateral VLVp nearly eliminated the lateral-shell response. Responses were measured before the injection, at 2 and 7 minutes afterward, and during recovery. The response dropped sharply within minutes and then recovered over time. The lateral-shell neuron was recorded throughout the sequence in that neuron</a:t>
            </a:r>
            <a:endParaRPr lang="en-US"/>
          </a:p>
          <a:p>
            <a:pPr algn="l">
              <a:lnSpc>
                <a:spcPct val="108000"/>
              </a:lnSpc>
              <a:spcAft>
                <a:spcPts val="1200"/>
              </a:spcAft>
              <a:buNone/>
            </a:pPr>
            <a:r>
              <a:rPr sz="1400" b="0" i="0">
                <a:solidFill>
                  <a:srgbClr val="1F262D"/>
                </a:solidFill>
                <a:latin typeface="Arial"/>
                <a:ea typeface="Arial"/>
              </a:rPr>
              <a:t xml:space="preserve">The response returned toward its original ILD dependence by about 60 minutes. This </a:t>
            </a:r>
            <a:r>
              <a:rPr sz="1400" b="1" i="0">
                <a:solidFill>
                  <a:srgbClr val="2B5577"/>
                </a:solidFill>
                <a:latin typeface="Arial"/>
                <a:ea typeface="Arial"/>
              </a:rPr>
              <a:t>remote reduction</a:t>
            </a:r>
            <a:r>
              <a:rPr sz="1400" b="0" i="0">
                <a:solidFill>
                  <a:srgbClr val="1F262D"/>
                </a:solidFill>
                <a:latin typeface="Arial"/>
                <a:ea typeface="Arial"/>
              </a:rPr>
              <a:t xml:space="preserve"> supports an inhibitory influence from that VLVp population onto the collicular circuit, which is the expected sign of disinhibition. The recovery shows that the effect was reversible. The time course of recovery is what distinguishes this effect from damage.</a:t>
            </a:r>
            <a:endParaRPr lang="en-US"/>
          </a:p>
        </p:txBody>
      </p:sp>
      <p:pic>
        <p:nvPicPr>
          <p:cNvPr id="149" name="Presenton Native Image 33" descr=""/>
          <p:cNvPicPr/>
          <p:nvPr/>
        </p:nvPicPr>
        <p:blipFill>
          <a:blip r:embed="rId2" cstate="none"/>
          <a:stretch>
            <a:fillRect/>
          </a:stretch>
        </p:blipFill>
        <p:spPr>
          <a:xfrm>
            <a:off x="6870099" y="1280071"/>
            <a:ext cx="4754821" cy="4228505"/>
          </a:xfrm>
          <a:prstGeom prst="rect">
            <a:avLst/>
          </a:prstGeom>
        </p:spPr>
      </p:pic>
      <p:sp>
        <p:nvSpPr>
          <p:cNvPr id="420" name="Shape 420"/>
          <p:cNvSpPr/>
          <p:nvPr/>
        </p:nvSpPr>
        <p:spPr>
          <a:xfrm>
            <a:off x="6870055" y="560010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11(A–D). Increasing contralateral VLVp activity suppresses lateral-shell responses.</a:t>
            </a:r>
            <a:endParaRPr lang="en-US"/>
          </a:p>
        </p:txBody>
      </p:sp>
      <p:sp>
        <p:nvSpPr>
          <p:cNvPr id="421" name="Shape 421"/>
          <p:cNvSpPr/>
          <p:nvPr/>
        </p:nvSpPr>
        <p:spPr>
          <a:xfrm>
            <a:off x="566886" y="6382494"/>
            <a:ext cx="11058079" cy="9079"/>
          </a:xfrm>
          <a:prstGeom prst="rect">
            <a:avLst/>
          </a:prstGeom>
          <a:solidFill>
            <a:srgbClr val="C7D6E3"/>
          </a:solidFill>
        </p:spPr>
        <p:txBody>
          <a:bodyPr/>
          <a:lstStyle/>
          <a:p/>
        </p:txBody>
      </p:sp>
      <p:sp>
        <p:nvSpPr>
          <p:cNvPr id="422" name="Shape 4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23" name="Shape 42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24" name="Shape 4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Reversible VLVp inactivation selectively changes ILD tuning</a:t>
            </a:r>
            <a:endParaRPr lang="en-US"/>
          </a:p>
        </p:txBody>
      </p:sp>
      <p:sp>
        <p:nvSpPr>
          <p:cNvPr id="425" name="Shape 42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Adolphs injected lidocaine into one VLVp and recorded a neuron in the contralateral ICx. ILD and ITD response curves were tested separately, so the level and timing effects were measured in the same downstream cell under the same earphone stimulus. The injection reduced activity in that VLVp population. The drug was delivered locally to that population.</a:t>
            </a:r>
            <a:endParaRPr lang="en-US"/>
          </a:p>
          <a:p>
            <a:pPr algn="l">
              <a:lnSpc>
                <a:spcPct val="108000"/>
              </a:lnSpc>
              <a:spcAft>
                <a:spcPts val="1200"/>
              </a:spcAft>
              <a:buNone/>
            </a:pPr>
            <a:r>
              <a:rPr sz="1400" b="0" i="0">
                <a:solidFill>
                  <a:srgbClr val="1F262D"/>
                </a:solidFill>
                <a:latin typeface="Arial"/>
                <a:ea typeface="Arial"/>
              </a:rPr>
              <a:t>About 7 minutes after injection, responses at large ipsilateral ILDs increased and the ILD peak shifted. The original response returned by about 25 minutes, while the ITD curve stayed nearly unchanged during the same manipulation. The ITD change was small next to the ILD change. Recovery returned the ILD response toward its earlier shape.</a:t>
            </a:r>
            <a:endParaRPr lang="en-US"/>
          </a:p>
          <a:p>
            <a:pPr algn="l">
              <a:lnSpc>
                <a:spcPct val="108000"/>
              </a:lnSpc>
              <a:spcAft>
                <a:spcPts val="1200"/>
              </a:spcAft>
              <a:buNone/>
            </a:pPr>
            <a:r>
              <a:rPr sz="1400" b="0" i="0">
                <a:solidFill>
                  <a:srgbClr val="1F262D"/>
                </a:solidFill>
                <a:latin typeface="Arial"/>
                <a:ea typeface="Arial"/>
              </a:rPr>
              <a:t>The result supports an </a:t>
            </a:r>
            <a:r>
              <a:rPr sz="1400" b="1" i="0">
                <a:solidFill>
                  <a:srgbClr val="2B5577"/>
                </a:solidFill>
                <a:latin typeface="Arial"/>
                <a:ea typeface="Arial"/>
              </a:rPr>
              <a:t>inhibitory level signal</a:t>
            </a:r>
            <a:r>
              <a:rPr sz="1400" b="0" i="0">
                <a:solidFill>
                  <a:srgbClr val="1F262D"/>
                </a:solidFill>
                <a:latin typeface="Arial"/>
                <a:ea typeface="Arial"/>
              </a:rPr>
              <a:t> that normally limits responses on one side of the ILD range. Removing that signal broadens or shifts level tuning while the timing preference stays in place. The effect is therefore specific to the level dimension of the tuning curve. This specificity helps isolate the level contribution.</a:t>
            </a:r>
            <a:endParaRPr lang="en-US"/>
          </a:p>
        </p:txBody>
      </p:sp>
      <p:pic>
        <p:nvPicPr>
          <p:cNvPr id="150" name="Presenton Native Image 34" descr=""/>
          <p:cNvPicPr/>
          <p:nvPr/>
        </p:nvPicPr>
        <p:blipFill>
          <a:blip r:embed="rId2" cstate="none"/>
          <a:stretch>
            <a:fillRect/>
          </a:stretch>
        </p:blipFill>
        <p:spPr>
          <a:xfrm>
            <a:off x="6956476" y="1280071"/>
            <a:ext cx="4582068" cy="4297561"/>
          </a:xfrm>
          <a:prstGeom prst="rect">
            <a:avLst/>
          </a:prstGeom>
        </p:spPr>
      </p:pic>
      <p:sp>
        <p:nvSpPr>
          <p:cNvPr id="428" name="Shape 42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12. Reversible VLVp inactivation alters ILD tuning while sparing ITD tuning.</a:t>
            </a:r>
            <a:endParaRPr lang="en-US"/>
          </a:p>
        </p:txBody>
      </p:sp>
      <p:sp>
        <p:nvSpPr>
          <p:cNvPr id="429" name="Shape 429"/>
          <p:cNvSpPr/>
          <p:nvPr/>
        </p:nvSpPr>
        <p:spPr>
          <a:xfrm>
            <a:off x="566886" y="6382494"/>
            <a:ext cx="11058079" cy="9079"/>
          </a:xfrm>
          <a:prstGeom prst="rect">
            <a:avLst/>
          </a:prstGeom>
          <a:solidFill>
            <a:srgbClr val="C7D6E3"/>
          </a:solidFill>
        </p:spPr>
        <p:txBody>
          <a:bodyPr/>
          <a:lstStyle/>
          <a:p/>
        </p:txBody>
      </p:sp>
      <p:sp>
        <p:nvSpPr>
          <p:cNvPr id="430" name="Shape 4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31" name="Shape 4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32" name="Shape 43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Opposing inhibitory influences can create a level peak</a:t>
            </a:r>
            <a:endParaRPr lang="en-US"/>
          </a:p>
        </p:txBody>
      </p:sp>
      <p:sp>
        <p:nvSpPr>
          <p:cNvPr id="433" name="Shape 43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A sharply peaked ILD curve requires reduced firing on both sides of its preferred range. Adolphs tested whether the two VLVp populations supply opposing inhibitory influences by increasing activity in one population with a local BMI injection. The test asked whether the two sides of the ILD range are controlled separately under those conditions</a:t>
            </a:r>
            <a:endParaRPr lang="en-US"/>
          </a:p>
          <a:p>
            <a:pPr algn="l">
              <a:lnSpc>
                <a:spcPct val="108000"/>
              </a:lnSpc>
              <a:spcAft>
                <a:spcPts val="1200"/>
              </a:spcAft>
              <a:buNone/>
            </a:pPr>
            <a:r>
              <a:rPr sz="1400" b="0" i="0">
                <a:solidFill>
                  <a:srgbClr val="1F262D"/>
                </a:solidFill>
                <a:latin typeface="Arial"/>
                <a:ea typeface="Arial"/>
              </a:rPr>
              <a:t>At about 3 minutes, ICx responses decreased at large ipsilateral ILDs, the opposite of the effect produced by inactivating that VLVp. The ILD response recovered toward baseline over about 50 minutes, while the ITD response stayed stable across the same period. The opposite sign supports opposing inputs. The effect was measured in the same ICx neuron.</a:t>
            </a:r>
            <a:endParaRPr lang="en-US"/>
          </a:p>
          <a:p>
            <a:pPr algn="l">
              <a:lnSpc>
                <a:spcPct val="108000"/>
              </a:lnSpc>
              <a:spcAft>
                <a:spcPts val="1200"/>
              </a:spcAft>
              <a:buNone/>
            </a:pPr>
            <a:r>
              <a:rPr sz="1400" b="0" i="0">
                <a:solidFill>
                  <a:srgbClr val="1F262D"/>
                </a:solidFill>
                <a:latin typeface="Arial"/>
                <a:ea typeface="Arial"/>
              </a:rPr>
              <a:t>The combined anatomical and manipulation evidence supports </a:t>
            </a:r>
            <a:r>
              <a:rPr sz="1400" b="1" i="0">
                <a:solidFill>
                  <a:srgbClr val="2B5577"/>
                </a:solidFill>
                <a:latin typeface="Arial"/>
                <a:ea typeface="Arial"/>
              </a:rPr>
              <a:t>bilateral inhibition</a:t>
            </a:r>
            <a:r>
              <a:rPr sz="1400" b="0" i="0">
                <a:solidFill>
                  <a:srgbClr val="1F262D"/>
                </a:solidFill>
                <a:latin typeface="Arial"/>
                <a:ea typeface="Arial"/>
              </a:rPr>
              <a:t> as a mechanism for peaked collicular level tuning. The circuit turns two graded, differently biased inputs into a restricted response range of the ICx neuron. Each side of the range is held down by a different VLVp population. Opposing populations shape the response on each side of the range.</a:t>
            </a:r>
            <a:endParaRPr lang="en-US"/>
          </a:p>
        </p:txBody>
      </p:sp>
      <p:pic>
        <p:nvPicPr>
          <p:cNvPr id="151" name="Presenton Native Image 35" descr=""/>
          <p:cNvPicPr/>
          <p:nvPr/>
        </p:nvPicPr>
        <p:blipFill>
          <a:blip r:embed="rId2" cstate="none"/>
          <a:stretch>
            <a:fillRect/>
          </a:stretch>
        </p:blipFill>
        <p:spPr>
          <a:xfrm>
            <a:off x="6959134" y="1280071"/>
            <a:ext cx="4576753" cy="4297561"/>
          </a:xfrm>
          <a:prstGeom prst="rect">
            <a:avLst/>
          </a:prstGeom>
        </p:spPr>
      </p:pic>
      <p:sp>
        <p:nvSpPr>
          <p:cNvPr id="436" name="Shape 4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14. VLVp disinhibition changes ILD selectivity and preserves ITD responses.</a:t>
            </a:r>
            <a:endParaRPr lang="en-US"/>
          </a:p>
        </p:txBody>
      </p:sp>
      <p:sp>
        <p:nvSpPr>
          <p:cNvPr id="437" name="Shape 437"/>
          <p:cNvSpPr/>
          <p:nvPr/>
        </p:nvSpPr>
        <p:spPr>
          <a:xfrm>
            <a:off x="566886" y="6382494"/>
            <a:ext cx="11058079" cy="9079"/>
          </a:xfrm>
          <a:prstGeom prst="rect">
            <a:avLst/>
          </a:prstGeom>
          <a:solidFill>
            <a:srgbClr val="C7D6E3"/>
          </a:solidFill>
        </p:spPr>
        <p:txBody>
          <a:bodyPr/>
          <a:lstStyle/>
          <a:p/>
        </p:txBody>
      </p:sp>
      <p:sp>
        <p:nvSpPr>
          <p:cNvPr id="438" name="Shape 4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39" name="Shape 4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40" name="Shape 44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An ILD spectrum contributes to the vertical receptive field</a:t>
            </a:r>
            <a:endParaRPr lang="en-US"/>
          </a:p>
        </p:txBody>
      </p:sp>
      <p:sp>
        <p:nvSpPr>
          <p:cNvPr id="441" name="Shape 44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t>
            </a:r>
            <a:r>
              <a:rPr sz="1400" b="1" i="0">
                <a:solidFill>
                  <a:srgbClr val="2B5577"/>
                </a:solidFill>
                <a:latin typeface="Arial"/>
                <a:ea typeface="Arial"/>
              </a:rPr>
              <a:t>ILD spectrum</a:t>
            </a:r>
            <a:r>
              <a:rPr sz="1400" b="0" i="0">
                <a:solidFill>
                  <a:srgbClr val="1F262D"/>
                </a:solidFill>
                <a:latin typeface="Arial"/>
                <a:ea typeface="Arial"/>
              </a:rPr>
              <a:t xml:space="preserve"> is the set of level differences across acoustic frequencies at one sound direction. Euston and Takahashi used measured head filtering to deliver virtual sound sources through earphones, which preserved the frequency-dependent cues of each direction. Each virtual direction therefore carried its own spectral profile. The head filtering matched each direction's cues.</a:t>
            </a:r>
            <a:endParaRPr lang="en-US"/>
          </a:p>
          <a:p>
            <a:pPr algn="l">
              <a:lnSpc>
                <a:spcPct val="108000"/>
              </a:lnSpc>
              <a:spcAft>
                <a:spcPts val="1200"/>
              </a:spcAft>
              <a:buNone/>
            </a:pPr>
            <a:r>
              <a:rPr sz="1400" b="0" i="0">
                <a:solidFill>
                  <a:srgbClr val="1F262D"/>
                </a:solidFill>
                <a:latin typeface="Arial"/>
                <a:ea typeface="Arial"/>
              </a:rPr>
              <a:t xml:space="preserve">For 100-ms stimuli, the researchers compared normal receptive fields with ILD-alone fields, in which ITD was fixed at the neuron's preferred value while natural ILD spectra varied with location. ILD-alone responses typically formed a horizontal band containing the normal field. The band marks the level-controlled part of the response for each direction</a:t>
            </a:r>
            <a:endParaRPr lang="en-US"/>
          </a:p>
          <a:p>
            <a:pPr algn="l">
              <a:lnSpc>
                <a:spcPct val="108000"/>
              </a:lnSpc>
              <a:spcAft>
                <a:spcPts val="1200"/>
              </a:spcAft>
              <a:buNone/>
            </a:pPr>
            <a:r>
              <a:rPr sz="1400" b="0" i="0">
                <a:solidFill>
                  <a:srgbClr val="1F262D"/>
                </a:solidFill>
                <a:latin typeface="Arial"/>
                <a:ea typeface="Arial"/>
              </a:rPr>
              <a:t xml:space="preserve">An ILD spectrum supplies substantial vertical selectivity, while timing information restricts the horizontal region. The </a:t>
            </a:r>
            <a:r>
              <a:rPr sz="1400" b="1" i="0">
                <a:solidFill>
                  <a:srgbClr val="2B5577"/>
                </a:solidFill>
                <a:latin typeface="Arial"/>
                <a:ea typeface="Arial"/>
              </a:rPr>
              <a:t>two conditions</a:t>
            </a:r>
            <a:r>
              <a:rPr sz="1400" b="0" i="0">
                <a:solidFill>
                  <a:srgbClr val="1F262D"/>
                </a:solidFill>
                <a:latin typeface="Arial"/>
                <a:ea typeface="Arial"/>
              </a:rPr>
              <a:t xml:space="preserve"> often had different response maxima, so the preferred direction is taken from the normal field rather than from the largest ILD-alone response. Each condition isolates a different part of the field. The preferred direction must therefore come from the full field.</a:t>
            </a:r>
            <a:endParaRPr lang="en-US"/>
          </a:p>
        </p:txBody>
      </p:sp>
      <p:pic>
        <p:nvPicPr>
          <p:cNvPr id="152" name="Presenton Native Image 36" descr=""/>
          <p:cNvPicPr/>
          <p:nvPr/>
        </p:nvPicPr>
        <p:blipFill>
          <a:blip r:embed="rId2" cstate="none"/>
          <a:stretch>
            <a:fillRect/>
          </a:stretch>
        </p:blipFill>
        <p:spPr>
          <a:xfrm>
            <a:off x="6870185" y="1280071"/>
            <a:ext cx="4754650" cy="2448371"/>
          </a:xfrm>
          <a:prstGeom prst="rect">
            <a:avLst/>
          </a:prstGeom>
        </p:spPr>
      </p:pic>
      <p:sp>
        <p:nvSpPr>
          <p:cNvPr id="444" name="Shape 444"/>
          <p:cNvSpPr/>
          <p:nvPr/>
        </p:nvSpPr>
        <p:spPr>
          <a:xfrm>
            <a:off x="6870055" y="381997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Euston </a:t>
            </a:r>
            <a:r>
              <a:rPr sz="1000" b="0" i="0">
                <a:solidFill>
                  <a:srgbClr val="58636E"/>
                </a:solidFill>
                <a:latin typeface="Arial"/>
                <a:ea typeface="Arial"/>
              </a:rPr>
              <a:t>&amp;</a:t>
            </a:r>
            <a:r>
              <a:rPr sz="1000" b="0" i="0">
                <a:solidFill>
                  <a:srgbClr val="58636E"/>
                </a:solidFill>
                <a:latin typeface="Arial"/>
                <a:ea typeface="Arial"/>
              </a:rPr>
              <a:t xml:space="preserve"> Takahashi (2002), Fig. 3(A, columns 1–2). Normal and ILD-alone receptive fields of the same neuron.</a:t>
            </a:r>
            <a:endParaRPr lang="en-US"/>
          </a:p>
        </p:txBody>
      </p:sp>
      <p:sp>
        <p:nvSpPr>
          <p:cNvPr id="445" name="Shape 445"/>
          <p:cNvSpPr/>
          <p:nvPr/>
        </p:nvSpPr>
        <p:spPr>
          <a:xfrm>
            <a:off x="566886" y="6382494"/>
            <a:ext cx="11058079" cy="9079"/>
          </a:xfrm>
          <a:prstGeom prst="rect">
            <a:avLst/>
          </a:prstGeom>
          <a:solidFill>
            <a:srgbClr val="C7D6E3"/>
          </a:solidFill>
        </p:spPr>
        <p:txBody>
          <a:bodyPr/>
          <a:lstStyle/>
          <a:p/>
        </p:txBody>
      </p:sp>
      <p:sp>
        <p:nvSpPr>
          <p:cNvPr id="446" name="Shape 4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Euston </a:t>
            </a:r>
            <a:r>
              <a:rPr sz="900" b="0" i="0">
                <a:solidFill>
                  <a:srgbClr val="58636E"/>
                </a:solidFill>
                <a:latin typeface="Arial"/>
                <a:ea typeface="Arial"/>
              </a:rPr>
              <a:t>&amp;</a:t>
            </a:r>
            <a:r>
              <a:rPr sz="900" b="0" i="0">
                <a:solidFill>
                  <a:srgbClr val="58636E"/>
                </a:solidFill>
                <a:latin typeface="Arial"/>
                <a:ea typeface="Arial"/>
              </a:rPr>
              <a:t xml:space="preserve"> Takahashi (2002)</a:t>
            </a:r>
            <a:endParaRPr lang="en-US"/>
          </a:p>
        </p:txBody>
      </p:sp>
      <p:sp>
        <p:nvSpPr>
          <p:cNvPr id="447" name="Shape 4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48" name="Shape 4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Normal spatial tuning need not maximize each ILD</a:t>
            </a:r>
            <a:endParaRPr lang="en-US"/>
          </a:p>
        </p:txBody>
      </p:sp>
      <p:sp>
        <p:nvSpPr>
          <p:cNvPr id="449" name="Shape 44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Euston and Takahashi measured pure-tone ILD tuning in the 3–5, 5–7, and 7–9 kHz bands. They then matched each frequency's preferred ILD against the values found at the peaks of normal and ILD-alone receptive fields. Each band was tested with its own set of tones and ILD values. The bands cover the range of frequencies tested.</a:t>
            </a:r>
            <a:endParaRPr lang="en-US"/>
          </a:p>
          <a:p>
            <a:pPr algn="l">
              <a:lnSpc>
                <a:spcPct val="108000"/>
              </a:lnSpc>
              <a:spcAft>
                <a:spcPts val="1200"/>
              </a:spcAft>
              <a:buNone/>
            </a:pPr>
            <a:r>
              <a:rPr sz="1400" b="0" i="0">
                <a:solidFill>
                  <a:srgbClr val="1F262D"/>
                </a:solidFill>
                <a:latin typeface="Arial"/>
                <a:ea typeface="Arial"/>
              </a:rPr>
              <a:t>Frequency-specific preferences matched the ILD at the ILD-alone peak more closely than the ILD at the normal receptive-field peak. A sum of frequency-specific inputs accounted for about 56% of the variance in measured ILD-alone fields, leaving a large remainder to other factors in the field. That remainder is the portion explained by other inputs.</a:t>
            </a:r>
            <a:endParaRPr lang="en-US"/>
          </a:p>
          <a:p>
            <a:pPr algn="l">
              <a:lnSpc>
                <a:spcPct val="108000"/>
              </a:lnSpc>
              <a:spcAft>
                <a:spcPts val="1200"/>
              </a:spcAft>
              <a:buNone/>
            </a:pPr>
            <a:r>
              <a:rPr sz="1400" b="0" i="0">
                <a:solidFill>
                  <a:srgbClr val="1F262D"/>
                </a:solidFill>
                <a:latin typeface="Arial"/>
                <a:ea typeface="Arial"/>
              </a:rPr>
              <a:t>The normal receptive field reflects a </a:t>
            </a:r>
            <a:r>
              <a:rPr sz="1400" b="1" i="0">
                <a:solidFill>
                  <a:srgbClr val="2B5577"/>
                </a:solidFill>
                <a:latin typeface="Arial"/>
                <a:ea typeface="Arial"/>
              </a:rPr>
              <a:t>balance of inputs</a:t>
            </a:r>
            <a:r>
              <a:rPr sz="1400" b="0" i="0">
                <a:solidFill>
                  <a:srgbClr val="1F262D"/>
                </a:solidFill>
                <a:latin typeface="Arial"/>
                <a:ea typeface="Arial"/>
              </a:rPr>
              <a:t> rather than independent maximization of each frequency channel. This prediction supports a contribution from spectral integration to the normal field. Spectral integration is therefore one part of the field's structure. The normal field is shaped by that integration rather than by a single frequency channel.</a:t>
            </a:r>
            <a:endParaRPr lang="en-US"/>
          </a:p>
        </p:txBody>
      </p:sp>
      <p:pic>
        <p:nvPicPr>
          <p:cNvPr id="153" name="Presenton Native Image 37" descr=""/>
          <p:cNvPicPr/>
          <p:nvPr/>
        </p:nvPicPr>
        <p:blipFill>
          <a:blip r:embed="rId2" cstate="none"/>
          <a:stretch>
            <a:fillRect/>
          </a:stretch>
        </p:blipFill>
        <p:spPr>
          <a:xfrm>
            <a:off x="7894933" y="1280071"/>
            <a:ext cx="2705004" cy="4297561"/>
          </a:xfrm>
          <a:prstGeom prst="rect">
            <a:avLst/>
          </a:prstGeom>
        </p:spPr>
      </p:pic>
      <p:sp>
        <p:nvSpPr>
          <p:cNvPr id="452" name="Shape 4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Euston </a:t>
            </a:r>
            <a:r>
              <a:rPr sz="1000" b="0" i="0">
                <a:solidFill>
                  <a:srgbClr val="58636E"/>
                </a:solidFill>
                <a:latin typeface="Arial"/>
                <a:ea typeface="Arial"/>
              </a:rPr>
              <a:t>&amp;</a:t>
            </a:r>
            <a:r>
              <a:rPr sz="1000" b="0" i="0">
                <a:solidFill>
                  <a:srgbClr val="58636E"/>
                </a:solidFill>
                <a:latin typeface="Arial"/>
                <a:ea typeface="Arial"/>
              </a:rPr>
              <a:t xml:space="preserve"> Takahashi (2002), Fig. 7(A–B). Preferred frequency-specific ILDs compared with ILDs at receptive-field peaks.</a:t>
            </a:r>
            <a:endParaRPr lang="en-US"/>
          </a:p>
        </p:txBody>
      </p:sp>
      <p:sp>
        <p:nvSpPr>
          <p:cNvPr id="453" name="Shape 453"/>
          <p:cNvSpPr/>
          <p:nvPr/>
        </p:nvSpPr>
        <p:spPr>
          <a:xfrm>
            <a:off x="566886" y="6382494"/>
            <a:ext cx="11058079" cy="9079"/>
          </a:xfrm>
          <a:prstGeom prst="rect">
            <a:avLst/>
          </a:prstGeom>
          <a:solidFill>
            <a:srgbClr val="C7D6E3"/>
          </a:solidFill>
        </p:spPr>
        <p:txBody>
          <a:bodyPr/>
          <a:lstStyle/>
          <a:p/>
        </p:txBody>
      </p:sp>
      <p:sp>
        <p:nvSpPr>
          <p:cNvPr id="454" name="Shape 4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Euston </a:t>
            </a:r>
            <a:r>
              <a:rPr sz="900" b="0" i="0">
                <a:solidFill>
                  <a:srgbClr val="58636E"/>
                </a:solidFill>
                <a:latin typeface="Arial"/>
                <a:ea typeface="Arial"/>
              </a:rPr>
              <a:t>&amp;</a:t>
            </a:r>
            <a:r>
              <a:rPr sz="900" b="0" i="0">
                <a:solidFill>
                  <a:srgbClr val="58636E"/>
                </a:solidFill>
                <a:latin typeface="Arial"/>
                <a:ea typeface="Arial"/>
              </a:rPr>
              <a:t xml:space="preserve"> Takahashi (2002)</a:t>
            </a:r>
            <a:endParaRPr lang="en-US"/>
          </a:p>
        </p:txBody>
      </p:sp>
      <p:sp>
        <p:nvSpPr>
          <p:cNvPr id="455" name="Shape 4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56" name="Shape 4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ICx membranes integrate timing and level before spikes</a:t>
            </a:r>
            <a:endParaRPr lang="en-US"/>
          </a:p>
        </p:txBody>
      </p:sp>
      <p:sp>
        <p:nvSpPr>
          <p:cNvPr id="457" name="Shape 45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Peña and Konishi recorded identified ICx neurons intracellularly and labeled them with neurobiotin. A </a:t>
            </a:r>
            <a:r>
              <a:rPr sz="1400" b="1" i="0">
                <a:solidFill>
                  <a:srgbClr val="2B5577"/>
                </a:solidFill>
                <a:latin typeface="Arial"/>
                <a:ea typeface="Arial"/>
              </a:rPr>
              <a:t>postsynaptic potential</a:t>
            </a:r>
            <a:r>
              <a:rPr sz="1400" b="0" i="0">
                <a:solidFill>
                  <a:srgbClr val="1F262D"/>
                </a:solidFill>
                <a:latin typeface="Arial"/>
                <a:ea typeface="Arial"/>
              </a:rPr>
              <a:t xml:space="preserve"> is a membrane-voltage change caused by synaptic input, and it can depolarize the cell toward threshold or hyperpolarize it away from threshold. Neurobiotin marked each recorded cell. Those labeled cells were then characterized electrically in every case.</a:t>
            </a:r>
            <a:endParaRPr lang="en-US"/>
          </a:p>
          <a:p>
            <a:pPr algn="l">
              <a:lnSpc>
                <a:spcPct val="108000"/>
              </a:lnSpc>
              <a:spcAft>
                <a:spcPts val="1200"/>
              </a:spcAft>
              <a:buNone/>
            </a:pPr>
            <a:r>
              <a:rPr sz="1400" b="0" i="0">
                <a:solidFill>
                  <a:srgbClr val="1F262D"/>
                </a:solidFill>
                <a:latin typeface="Arial"/>
                <a:ea typeface="Arial"/>
              </a:rPr>
              <a:t xml:space="preserve">Broadband noise bursts lasted 100 ms and were presented 30 dB above threshold. Testing ITD and ILD pairs produced depolarizing responses near a preferred combination and hyperpolarizing responses outside it, while spike output formed a more restricted excitatory center. A preferred pair produced the largest depolarization in each cell in each cell</a:t>
            </a:r>
            <a:endParaRPr lang="en-US"/>
          </a:p>
          <a:p>
            <a:pPr algn="l">
              <a:lnSpc>
                <a:spcPct val="108000"/>
              </a:lnSpc>
              <a:spcAft>
                <a:spcPts val="1200"/>
              </a:spcAft>
              <a:buNone/>
            </a:pPr>
            <a:r>
              <a:rPr sz="1400" b="0" i="0">
                <a:solidFill>
                  <a:srgbClr val="1F262D"/>
                </a:solidFill>
                <a:latin typeface="Arial"/>
                <a:ea typeface="Arial"/>
              </a:rPr>
              <a:t xml:space="preserve">Intracellular measurement captures input integration before any spike threshold is applied, so the membrane view and the spike view can be examined side by side in the same cell. The membrane response depends on both depolarizing and hyperpolarizing inputs. The membrane view is set beside the spikes in this analysis for every neuron</a:t>
            </a:r>
            <a:endParaRPr lang="en-US"/>
          </a:p>
        </p:txBody>
      </p:sp>
      <p:pic>
        <p:nvPicPr>
          <p:cNvPr id="154" name="Presenton Native Image 38" descr=""/>
          <p:cNvPicPr/>
          <p:nvPr/>
        </p:nvPicPr>
        <p:blipFill>
          <a:blip r:embed="rId2" cstate="none"/>
          <a:stretch>
            <a:fillRect/>
          </a:stretch>
        </p:blipFill>
        <p:spPr>
          <a:xfrm>
            <a:off x="7045025" y="1280071"/>
            <a:ext cx="4404821" cy="4297561"/>
          </a:xfrm>
          <a:prstGeom prst="rect">
            <a:avLst/>
          </a:prstGeom>
        </p:spPr>
      </p:pic>
      <p:sp>
        <p:nvSpPr>
          <p:cNvPr id="460" name="Shape 4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1(A–D). Identified ICx neuron, intracellular potentials, and spatially selective spikes.</a:t>
            </a:r>
            <a:endParaRPr lang="en-US"/>
          </a:p>
        </p:txBody>
      </p:sp>
      <p:sp>
        <p:nvSpPr>
          <p:cNvPr id="461" name="Shape 461"/>
          <p:cNvSpPr/>
          <p:nvPr/>
        </p:nvSpPr>
        <p:spPr>
          <a:xfrm>
            <a:off x="566886" y="6382494"/>
            <a:ext cx="11058079" cy="9079"/>
          </a:xfrm>
          <a:prstGeom prst="rect">
            <a:avLst/>
          </a:prstGeom>
          <a:solidFill>
            <a:srgbClr val="C7D6E3"/>
          </a:solidFill>
        </p:spPr>
        <p:txBody>
          <a:bodyPr/>
          <a:lstStyle/>
          <a:p/>
        </p:txBody>
      </p:sp>
      <p:sp>
        <p:nvSpPr>
          <p:cNvPr id="462" name="Shape 4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63" name="Shape 4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64" name="Shape 4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Timing and level interact approximately multiplicatively</a:t>
            </a:r>
            <a:endParaRPr lang="en-US"/>
          </a:p>
        </p:txBody>
      </p:sp>
      <p:sp>
        <p:nvSpPr>
          <p:cNvPr id="465" name="Shape 46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Peña and Konishi arranged subthreshold membrane responses into a matrix of ITD and ILD combinations. In a </a:t>
            </a:r>
            <a:r>
              <a:rPr sz="1400" b="1" i="0">
                <a:solidFill>
                  <a:srgbClr val="2B5577"/>
                </a:solidFill>
                <a:latin typeface="Arial"/>
                <a:ea typeface="Arial"/>
              </a:rPr>
              <a:t>multiplicative interaction</a:t>
            </a:r>
            <a:r>
              <a:rPr sz="1400" b="0" i="0">
                <a:solidFill>
                  <a:srgbClr val="1F262D"/>
                </a:solidFill>
                <a:latin typeface="Arial"/>
                <a:ea typeface="Arial"/>
              </a:rPr>
              <a:t xml:space="preserve">, the effect of one cue depends on the strength of the other cue, rather than the two cues adding their effects. Each entry in the matrix is a membrane response to one ITD-ILD pair.</a:t>
            </a:r>
            <a:endParaRPr lang="en-US"/>
          </a:p>
          <a:p>
            <a:pPr algn="l">
              <a:lnSpc>
                <a:spcPct val="108000"/>
              </a:lnSpc>
              <a:spcAft>
                <a:spcPts val="1200"/>
              </a:spcAft>
              <a:buNone/>
            </a:pPr>
            <a:r>
              <a:rPr sz="1400" b="0" i="0">
                <a:solidFill>
                  <a:srgbClr val="1F262D"/>
                </a:solidFill>
                <a:latin typeface="Arial"/>
                <a:ea typeface="Arial"/>
              </a:rPr>
              <a:t xml:space="preserve">After a constant membrane-voltage offset was removed, a separable multiplicative component described about 96.6% of the response structure in the studied neurons. Singular value decomposition ranked the components of the measured matrix from largest to smallest. The separable component was therefore the dominant structure. The fit is quantified as a percentage of the response structure.</a:t>
            </a:r>
            <a:endParaRPr lang="en-US"/>
          </a:p>
          <a:p>
            <a:pPr algn="l">
              <a:lnSpc>
                <a:spcPct val="108000"/>
              </a:lnSpc>
              <a:spcAft>
                <a:spcPts val="1200"/>
              </a:spcAft>
              <a:buNone/>
            </a:pPr>
            <a:r>
              <a:rPr sz="1400" b="0" i="0">
                <a:solidFill>
                  <a:srgbClr val="1F262D"/>
                </a:solidFill>
                <a:latin typeface="Arial"/>
                <a:ea typeface="Arial"/>
              </a:rPr>
              <a:t xml:space="preserve">Multiplication fit the data better than a simple additive alternative. This describes an experimentally supported computation at the level of membrane responses, which is where the timing and level cues combine in these neurons. The result supports multiplicative integration at the membrane level. The fit describes the membrane responses in these neurons.</a:t>
            </a:r>
            <a:endParaRPr lang="en-US"/>
          </a:p>
        </p:txBody>
      </p:sp>
      <p:pic>
        <p:nvPicPr>
          <p:cNvPr id="155" name="Presenton Native Image 39" descr=""/>
          <p:cNvPicPr/>
          <p:nvPr/>
        </p:nvPicPr>
        <p:blipFill>
          <a:blip r:embed="rId2" cstate="none"/>
          <a:stretch>
            <a:fillRect/>
          </a:stretch>
        </p:blipFill>
        <p:spPr>
          <a:xfrm>
            <a:off x="6870125" y="1280071"/>
            <a:ext cx="4754771" cy="3806130"/>
          </a:xfrm>
          <a:prstGeom prst="rect">
            <a:avLst/>
          </a:prstGeom>
        </p:spPr>
      </p:pic>
      <p:sp>
        <p:nvSpPr>
          <p:cNvPr id="468" name="Shape 468"/>
          <p:cNvSpPr/>
          <p:nvPr/>
        </p:nvSpPr>
        <p:spPr>
          <a:xfrm>
            <a:off x="6870055" y="517773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2(A–F). Recorded response matrix and the authors’ multiplicative decomposition.</a:t>
            </a:r>
            <a:endParaRPr lang="en-US"/>
          </a:p>
        </p:txBody>
      </p:sp>
      <p:sp>
        <p:nvSpPr>
          <p:cNvPr id="469" name="Shape 469"/>
          <p:cNvSpPr/>
          <p:nvPr/>
        </p:nvSpPr>
        <p:spPr>
          <a:xfrm>
            <a:off x="566886" y="6382494"/>
            <a:ext cx="11058079" cy="9079"/>
          </a:xfrm>
          <a:prstGeom prst="rect">
            <a:avLst/>
          </a:prstGeom>
          <a:solidFill>
            <a:srgbClr val="C7D6E3"/>
          </a:solidFill>
        </p:spPr>
        <p:txBody>
          <a:bodyPr/>
          <a:lstStyle/>
          <a:p/>
        </p:txBody>
      </p:sp>
      <p:sp>
        <p:nvSpPr>
          <p:cNvPr id="470" name="Shape 4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71" name="Shape 4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72" name="Shape 4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Spike generation sharpens spatial selectivity</a:t>
            </a:r>
            <a:endParaRPr lang="en-US"/>
          </a:p>
        </p:txBody>
      </p:sp>
      <p:sp>
        <p:nvSpPr>
          <p:cNvPr id="473" name="Shape 47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Peña and Konishi examined membrane-potential tuning and spike tuning in the same ICx neurons. The </a:t>
            </a:r>
            <a:r>
              <a:rPr sz="1400" b="1" i="0">
                <a:solidFill>
                  <a:srgbClr val="2B5577"/>
                </a:solidFill>
                <a:latin typeface="Arial"/>
                <a:ea typeface="Arial"/>
              </a:rPr>
              <a:t>spike threshold</a:t>
            </a:r>
            <a:r>
              <a:rPr sz="1400" b="0" i="0">
                <a:solidFill>
                  <a:srgbClr val="1F262D"/>
                </a:solidFill>
                <a:latin typeface="Arial"/>
                <a:ea typeface="Arial"/>
              </a:rPr>
              <a:t xml:space="preserve"> is the voltage boundary above which the neuron can generate an action potential, and small depolarizations often fall short of it. Spike tuning was then measured in the same cell. Each neuron served as its own control.</a:t>
            </a:r>
            <a:endParaRPr lang="en-US"/>
          </a:p>
          <a:p>
            <a:pPr algn="l">
              <a:lnSpc>
                <a:spcPct val="108000"/>
              </a:lnSpc>
              <a:spcAft>
                <a:spcPts val="1200"/>
              </a:spcAft>
              <a:buNone/>
            </a:pPr>
            <a:r>
              <a:rPr sz="1400" b="0" i="0">
                <a:solidFill>
                  <a:srgbClr val="1F262D"/>
                </a:solidFill>
                <a:latin typeface="Arial"/>
                <a:ea typeface="Arial"/>
              </a:rPr>
              <a:t xml:space="preserve">One example kept several subthreshold timing peaks, but its spikes occurred mainly near the dominant timing peak. ILD tuning was also narrower in spike output than in membrane voltage, so the output was more selective than the membrane response across the population. The ILD narrowing reflects the spike threshold acting on the membrane response.</a:t>
            </a:r>
            <a:endParaRPr lang="en-US"/>
          </a:p>
          <a:p>
            <a:pPr algn="l">
              <a:lnSpc>
                <a:spcPct val="108000"/>
              </a:lnSpc>
              <a:spcAft>
                <a:spcPts val="1200"/>
              </a:spcAft>
              <a:buNone/>
            </a:pPr>
            <a:r>
              <a:rPr sz="1400" b="0" i="0">
                <a:solidFill>
                  <a:srgbClr val="1F262D"/>
                </a:solidFill>
                <a:latin typeface="Arial"/>
                <a:ea typeface="Arial"/>
              </a:rPr>
              <a:t xml:space="preserve">The multiplicative description fit spike output less well than subthreshold responses, which indicates additional nonlinear processing between synaptic integration and discharge. Thresholding is consistent with this </a:t>
            </a:r>
            <a:r>
              <a:rPr sz="1400" b="1" i="0">
                <a:solidFill>
                  <a:srgbClr val="2B5577"/>
                </a:solidFill>
                <a:latin typeface="Arial"/>
                <a:ea typeface="Arial"/>
              </a:rPr>
              <a:t>sharpening</a:t>
            </a:r>
            <a:r>
              <a:rPr sz="1400" b="0" i="0">
                <a:solidFill>
                  <a:srgbClr val="1F262D"/>
                </a:solidFill>
                <a:latin typeface="Arial"/>
                <a:ea typeface="Arial"/>
              </a:rPr>
              <a:t xml:space="preserve"> of spatial selectivity. Spike output is therefore the final step in this sequence. Its outcome is a sharper spatial output than the membrane response alone provides.</a:t>
            </a:r>
            <a:endParaRPr lang="en-US"/>
          </a:p>
        </p:txBody>
      </p:sp>
      <p:pic>
        <p:nvPicPr>
          <p:cNvPr id="156" name="Presenton Native Image 40" descr=""/>
          <p:cNvPicPr/>
          <p:nvPr/>
        </p:nvPicPr>
        <p:blipFill>
          <a:blip r:embed="rId2" cstate="none"/>
          <a:stretch>
            <a:fillRect/>
          </a:stretch>
        </p:blipFill>
        <p:spPr>
          <a:xfrm>
            <a:off x="7133127" y="1280071"/>
            <a:ext cx="4228616" cy="4297561"/>
          </a:xfrm>
          <a:prstGeom prst="rect">
            <a:avLst/>
          </a:prstGeom>
        </p:spPr>
      </p:pic>
      <p:sp>
        <p:nvSpPr>
          <p:cNvPr id="476" name="Shape 47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5(A–D). Additional sharpening between postsynaptic potentials and spike output.</a:t>
            </a:r>
            <a:endParaRPr lang="en-US"/>
          </a:p>
        </p:txBody>
      </p:sp>
      <p:sp>
        <p:nvSpPr>
          <p:cNvPr id="477" name="Shape 477"/>
          <p:cNvSpPr/>
          <p:nvPr/>
        </p:nvSpPr>
        <p:spPr>
          <a:xfrm>
            <a:off x="566886" y="6382494"/>
            <a:ext cx="11058079" cy="9079"/>
          </a:xfrm>
          <a:prstGeom prst="rect">
            <a:avLst/>
          </a:prstGeom>
          <a:solidFill>
            <a:srgbClr val="C7D6E3"/>
          </a:solidFill>
        </p:spPr>
        <p:txBody>
          <a:bodyPr/>
          <a:lstStyle/>
          <a:p/>
        </p:txBody>
      </p:sp>
      <p:sp>
        <p:nvSpPr>
          <p:cNvPr id="478" name="Shape 4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(2001)</a:t>
            </a:r>
            <a:endParaRPr lang="en-US"/>
          </a:p>
        </p:txBody>
      </p:sp>
      <p:sp>
        <p:nvSpPr>
          <p:cNvPr id="479" name="Shape 4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80" name="Shape 4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Binaural correlation controls the strength of timing input</a:t>
            </a:r>
            <a:endParaRPr lang="en-US"/>
          </a:p>
        </p:txBody>
      </p:sp>
      <p:sp>
        <p:nvSpPr>
          <p:cNvPr id="481" name="Shape 48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Binaural correlation</a:t>
            </a:r>
            <a:r>
              <a:rPr sz="1400" b="0" i="0">
                <a:solidFill>
                  <a:srgbClr val="1F262D"/>
                </a:solidFill>
                <a:latin typeface="Arial"/>
                <a:ea typeface="Arial"/>
              </a:rPr>
              <a:t xml:space="preserve"> measures how similar the fine temporal waveforms are at the two ears. Peña and Konishi varied correlation during intracellular recordings, which changed timing reliability without replacing the level difference. Correlation values were chosen as fixed points along that range. The level cue stayed the same across every correlation value tested.</a:t>
            </a:r>
            <a:endParaRPr lang="en-US"/>
          </a:p>
          <a:p>
            <a:pPr algn="l">
              <a:lnSpc>
                <a:spcPct val="108000"/>
              </a:lnSpc>
              <a:spcAft>
                <a:spcPts val="1200"/>
              </a:spcAft>
              <a:buNone/>
            </a:pPr>
            <a:r>
              <a:rPr sz="1400" b="0" i="0">
                <a:solidFill>
                  <a:srgbClr val="1F262D"/>
                </a:solidFill>
                <a:latin typeface="Arial"/>
                <a:ea typeface="Arial"/>
              </a:rPr>
              <a:t xml:space="preserve">Correlation values of 0, 0.25, 0.5, 0.75, and 1 changed the amplitude of ITD-dependent membrane responses, while ILD tuning stayed comparatively stable. At zero correlation, the timing component became nearly flat even though level-dependent responses remained. The ILD results show that the change was specific to timing. These values tested the timing component across the range.</a:t>
            </a:r>
            <a:endParaRPr lang="en-US"/>
          </a:p>
          <a:p>
            <a:pPr algn="l">
              <a:lnSpc>
                <a:spcPct val="108000"/>
              </a:lnSpc>
              <a:spcAft>
                <a:spcPts val="1200"/>
              </a:spcAft>
              <a:buNone/>
            </a:pPr>
            <a:r>
              <a:rPr sz="1400" b="0" i="0">
                <a:solidFill>
                  <a:srgbClr val="1F262D"/>
                </a:solidFill>
                <a:latin typeface="Arial"/>
                <a:ea typeface="Arial"/>
              </a:rPr>
              <a:t xml:space="preserve">Multiplicative descriptions remained effective across much of the manipulated range. The correlation manipulation therefore changes timing evidence through signal reliability. Correlation manipulations test </a:t>
            </a:r>
            <a:r>
              <a:rPr sz="1400" b="1" i="0">
                <a:solidFill>
                  <a:srgbClr val="2B5577"/>
                </a:solidFill>
                <a:latin typeface="Arial"/>
                <a:ea typeface="Arial"/>
              </a:rPr>
              <a:t>robustness</a:t>
            </a:r>
            <a:r>
              <a:rPr sz="1400" b="0" i="0">
                <a:solidFill>
                  <a:srgbClr val="1F262D"/>
                </a:solidFill>
                <a:latin typeface="Arial"/>
                <a:ea typeface="Arial"/>
              </a:rPr>
              <a:t xml:space="preserve">, and they also show when additive and multiplicative accounts become difficult to tell apart. When one input is nearly constant, the two accounts are hard to distinguish in the membranes</a:t>
            </a:r>
            <a:endParaRPr lang="en-US"/>
          </a:p>
        </p:txBody>
      </p:sp>
      <p:pic>
        <p:nvPicPr>
          <p:cNvPr id="157" name="Presenton Native Image 41" descr=""/>
          <p:cNvPicPr/>
          <p:nvPr/>
        </p:nvPicPr>
        <p:blipFill>
          <a:blip r:embed="rId2" cstate="none"/>
          <a:stretch>
            <a:fillRect/>
          </a:stretch>
        </p:blipFill>
        <p:spPr>
          <a:xfrm>
            <a:off x="7107803" y="1280071"/>
            <a:ext cx="4279116" cy="4297561"/>
          </a:xfrm>
          <a:prstGeom prst="rect">
            <a:avLst/>
          </a:prstGeom>
        </p:spPr>
      </p:pic>
      <p:sp>
        <p:nvSpPr>
          <p:cNvPr id="484" name="Shape 48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(2004), Fig. 1(a–d). Binaural correlation changes timing tuning and synaptic response amplitude.</a:t>
            </a:r>
            <a:endParaRPr lang="en-US"/>
          </a:p>
        </p:txBody>
      </p:sp>
      <p:sp>
        <p:nvSpPr>
          <p:cNvPr id="485" name="Shape 485"/>
          <p:cNvSpPr/>
          <p:nvPr/>
        </p:nvSpPr>
        <p:spPr>
          <a:xfrm>
            <a:off x="566886" y="6382494"/>
            <a:ext cx="11058079" cy="9079"/>
          </a:xfrm>
          <a:prstGeom prst="rect">
            <a:avLst/>
          </a:prstGeom>
          <a:solidFill>
            <a:srgbClr val="C7D6E3"/>
          </a:solidFill>
        </p:spPr>
        <p:txBody>
          <a:bodyPr/>
          <a:lstStyle/>
          <a:p/>
        </p:txBody>
      </p:sp>
      <p:sp>
        <p:nvSpPr>
          <p:cNvPr id="486" name="Shape 48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t>
            </a:r>
            <a:r>
              <a:rPr sz="900" b="0" i="0">
                <a:solidFill>
                  <a:srgbClr val="58636E"/>
                </a:solidFill>
                <a:latin typeface="Arial"/>
                <a:ea typeface="Arial"/>
              </a:rPr>
              <a:t>&amp;</a:t>
            </a:r>
            <a:r>
              <a:rPr sz="900" b="0" i="0">
                <a:solidFill>
                  <a:srgbClr val="58636E"/>
                </a:solidFill>
                <a:latin typeface="Arial"/>
                <a:ea typeface="Arial"/>
              </a:rPr>
              <a:t xml:space="preserve"> Konishi (2004)</a:t>
            </a:r>
            <a:endParaRPr lang="en-US"/>
          </a:p>
        </p:txBody>
      </p:sp>
      <p:sp>
        <p:nvSpPr>
          <p:cNvPr id="487" name="Shape 48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88" name="Shape 48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GABA-A inhibition sharpens collicular timing selectivity</a:t>
            </a:r>
            <a:endParaRPr lang="en-US"/>
          </a:p>
        </p:txBody>
      </p:sp>
      <p:sp>
        <p:nvSpPr>
          <p:cNvPr id="489" name="Shape 48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Fujita and Konishi applied BMI locally while recording timing-sensitive neurons across auditory nuclei. </a:t>
            </a:r>
            <a:r>
              <a:rPr sz="1400" b="1" i="0">
                <a:solidFill>
                  <a:srgbClr val="2B5577"/>
                </a:solidFill>
                <a:latin typeface="Arial"/>
                <a:ea typeface="Arial"/>
              </a:rPr>
              <a:t>GABA-A receptors</a:t>
            </a:r>
            <a:r>
              <a:rPr sz="1400" b="0" i="0">
                <a:solidFill>
                  <a:srgbClr val="1F262D"/>
                </a:solidFill>
                <a:latin typeface="Arial"/>
                <a:ea typeface="Arial"/>
              </a:rPr>
              <a:t xml:space="preserve"> are ligand-gated chloride channels, and GABA binding changes chloride conductance, which can reduce the effectiveness of excitatory input. This analysis focuses on that chloride-channel receptor family. Local application confined the drug's action to the recorded region in ICC and ICx</a:t>
            </a:r>
            <a:endParaRPr lang="en-US"/>
          </a:p>
          <a:p>
            <a:pPr algn="l">
              <a:lnSpc>
                <a:spcPct val="108000"/>
              </a:lnSpc>
              <a:spcAft>
                <a:spcPts val="1200"/>
              </a:spcAft>
              <a:buNone/>
            </a:pPr>
            <a:r>
              <a:rPr sz="1400" b="0" i="0">
                <a:solidFill>
                  <a:srgbClr val="1F262D"/>
                </a:solidFill>
                <a:latin typeface="Arial"/>
                <a:ea typeface="Arial"/>
              </a:rPr>
              <a:t xml:space="preserve">In ICC and ICx, BMI broadened tonal ITD tuning and increased responses at unfavorable delays. The lateral-shell example was tracked before, during, and after application, and VLVa timing selectivity was comparatively unaffected. The timing-sensitive tuning in each nucleus responded differently to that same drug, which shows that the effect is specific to each nucleus.</a:t>
            </a:r>
            <a:endParaRPr lang="en-US"/>
          </a:p>
          <a:p>
            <a:pPr algn="l">
              <a:lnSpc>
                <a:spcPct val="108000"/>
              </a:lnSpc>
              <a:spcAft>
                <a:spcPts val="1200"/>
              </a:spcAft>
              <a:buNone/>
            </a:pPr>
            <a:r>
              <a:rPr sz="1400" b="0" i="0">
                <a:solidFill>
                  <a:srgbClr val="1F262D"/>
                </a:solidFill>
                <a:latin typeface="Arial"/>
                <a:ea typeface="Arial"/>
              </a:rPr>
              <a:t xml:space="preserve">GABAergic inhibition therefore sharpens the timing representation at selected collicular stages rather than creating timing sensitivity everywhere. The antagonist result identifies a receptor-sensitive contribution to this sharpening. The sharpened curve is the measurable outcome of that receptor action. Inhibition sets the width of each curve. Recovery after drug application confirmed the reversibility.</a:t>
            </a:r>
            <a:endParaRPr lang="en-US"/>
          </a:p>
        </p:txBody>
      </p:sp>
      <p:pic>
        <p:nvPicPr>
          <p:cNvPr id="158" name="Presenton Native Image 42" descr=""/>
          <p:cNvPicPr/>
          <p:nvPr/>
        </p:nvPicPr>
        <p:blipFill>
          <a:blip r:embed="rId2" cstate="none"/>
          <a:stretch>
            <a:fillRect/>
          </a:stretch>
        </p:blipFill>
        <p:spPr>
          <a:xfrm>
            <a:off x="8001149" y="1280081"/>
            <a:ext cx="2492573" cy="4297540"/>
          </a:xfrm>
          <a:prstGeom prst="rect">
            <a:avLst/>
          </a:prstGeom>
        </p:spPr>
      </p:pic>
      <p:sp>
        <p:nvSpPr>
          <p:cNvPr id="492" name="Shape 49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Fujita </a:t>
            </a:r>
            <a:r>
              <a:rPr sz="1000" b="0" i="0">
                <a:solidFill>
                  <a:srgbClr val="58636E"/>
                </a:solidFill>
                <a:latin typeface="Arial"/>
                <a:ea typeface="Arial"/>
              </a:rPr>
              <a:t>&amp;</a:t>
            </a:r>
            <a:r>
              <a:rPr sz="1000" b="0" i="0">
                <a:solidFill>
                  <a:srgbClr val="58636E"/>
                </a:solidFill>
                <a:latin typeface="Arial"/>
                <a:ea typeface="Arial"/>
              </a:rPr>
              <a:t xml:space="preserve"> Konishi (1991), Fig. 8(A–C). GABA-receptor blockade broadens timing tuning in the lateral shell.</a:t>
            </a:r>
            <a:endParaRPr lang="en-US"/>
          </a:p>
        </p:txBody>
      </p:sp>
      <p:sp>
        <p:nvSpPr>
          <p:cNvPr id="493" name="Shape 493"/>
          <p:cNvSpPr/>
          <p:nvPr/>
        </p:nvSpPr>
        <p:spPr>
          <a:xfrm>
            <a:off x="566886" y="6382494"/>
            <a:ext cx="11058079" cy="9079"/>
          </a:xfrm>
          <a:prstGeom prst="rect">
            <a:avLst/>
          </a:prstGeom>
          <a:solidFill>
            <a:srgbClr val="C7D6E3"/>
          </a:solidFill>
        </p:spPr>
        <p:txBody>
          <a:bodyPr/>
          <a:lstStyle/>
          <a:p/>
        </p:txBody>
      </p:sp>
      <p:sp>
        <p:nvSpPr>
          <p:cNvPr id="494" name="Shape 49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Fujita </a:t>
            </a:r>
            <a:r>
              <a:rPr sz="900" b="0" i="0">
                <a:solidFill>
                  <a:srgbClr val="58636E"/>
                </a:solidFill>
                <a:latin typeface="Arial"/>
                <a:ea typeface="Arial"/>
              </a:rPr>
              <a:t>&amp;</a:t>
            </a:r>
            <a:r>
              <a:rPr sz="900" b="0" i="0">
                <a:solidFill>
                  <a:srgbClr val="58636E"/>
                </a:solidFill>
                <a:latin typeface="Arial"/>
                <a:ea typeface="Arial"/>
              </a:rPr>
              <a:t xml:space="preserve"> Konishi (1991)</a:t>
            </a:r>
            <a:endParaRPr lang="en-US"/>
          </a:p>
        </p:txBody>
      </p:sp>
      <p:sp>
        <p:nvSpPr>
          <p:cNvPr id="495" name="Shape 49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96" name="Shape 49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GABAergic inhibition helps suppress false timing peaks</a:t>
            </a:r>
            <a:endParaRPr lang="en-US"/>
          </a:p>
        </p:txBody>
      </p:sp>
      <p:sp>
        <p:nvSpPr>
          <p:cNvPr id="497" name="Shape 49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Fujita and Konishi compared broadband ICx timing responses before and during local GABA-A receptor blockade. Broadband input normally emphasizes a principal timing peak while suppressing the repeated matches inherited from narrowband channels. The same ICx neurons were tested under both conditions. The contrast was tested within the same neuron under each condition.</a:t>
            </a:r>
            <a:endParaRPr lang="en-US"/>
          </a:p>
          <a:p>
            <a:pPr algn="l">
              <a:lnSpc>
                <a:spcPct val="108000"/>
              </a:lnSpc>
              <a:spcAft>
                <a:spcPts val="1200"/>
              </a:spcAft>
              <a:buNone/>
            </a:pPr>
            <a:r>
              <a:rPr sz="1400" b="0" i="0">
                <a:solidFill>
                  <a:srgbClr val="1F262D"/>
                </a:solidFill>
                <a:latin typeface="Arial"/>
                <a:ea typeface="Arial"/>
              </a:rPr>
              <a:t>BMI increased the secondary-peak responses and restored phase ambiguity for noise. Records show time-dependent increases at delays such as −270 and +120 µs, while the principal timing preference remained distinguishable from the new peaks. Recovery measurements tested reversibility after drug application. Secondary-to-primary relations were analyzed alongside the time courses in each recording.</a:t>
            </a:r>
            <a:endParaRPr lang="en-US"/>
          </a:p>
          <a:p>
            <a:pPr algn="l">
              <a:lnSpc>
                <a:spcPct val="108000"/>
              </a:lnSpc>
              <a:spcAft>
                <a:spcPts val="1200"/>
              </a:spcAft>
              <a:buNone/>
            </a:pPr>
            <a:r>
              <a:rPr sz="1400" b="0" i="0">
                <a:solidFill>
                  <a:srgbClr val="1F262D"/>
                </a:solidFill>
                <a:latin typeface="Arial"/>
                <a:ea typeface="Arial"/>
              </a:rPr>
              <a:t>Cross-frequency convergence and inhibitory suppression support </a:t>
            </a:r>
            <a:r>
              <a:rPr sz="1400" b="1" i="0">
                <a:solidFill>
                  <a:srgbClr val="2B5577"/>
                </a:solidFill>
                <a:latin typeface="Arial"/>
                <a:ea typeface="Arial"/>
              </a:rPr>
              <a:t>unique broadband timing selectivity</a:t>
            </a:r>
            <a:r>
              <a:rPr sz="1400" b="0" i="0">
                <a:solidFill>
                  <a:srgbClr val="1F262D"/>
                </a:solidFill>
                <a:latin typeface="Arial"/>
                <a:ea typeface="Arial"/>
              </a:rPr>
              <a:t>. Inhibition is one of two mechanisms that keep the principal delay dominant in the ICx output. Convergence supplies agreement across frequencies, and inhibition removes the competing matches that remain in each neuron. The main peak thus stays on top of the others.</a:t>
            </a:r>
            <a:endParaRPr lang="en-US"/>
          </a:p>
        </p:txBody>
      </p:sp>
      <p:pic>
        <p:nvPicPr>
          <p:cNvPr id="159" name="Presenton Native Image 43" descr=""/>
          <p:cNvPicPr/>
          <p:nvPr/>
        </p:nvPicPr>
        <p:blipFill>
          <a:blip r:embed="rId2" cstate="none"/>
          <a:stretch>
            <a:fillRect/>
          </a:stretch>
        </p:blipFill>
        <p:spPr>
          <a:xfrm>
            <a:off x="6870136" y="1280071"/>
            <a:ext cx="4754748" cy="2982664"/>
          </a:xfrm>
          <a:prstGeom prst="rect">
            <a:avLst/>
          </a:prstGeom>
        </p:spPr>
      </p:pic>
      <p:sp>
        <p:nvSpPr>
          <p:cNvPr id="500" name="Shape 500"/>
          <p:cNvSpPr/>
          <p:nvPr/>
        </p:nvSpPr>
        <p:spPr>
          <a:xfrm>
            <a:off x="6870055" y="435426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Fujita </a:t>
            </a:r>
            <a:r>
              <a:rPr sz="1000" b="0" i="0">
                <a:solidFill>
                  <a:srgbClr val="58636E"/>
                </a:solidFill>
                <a:latin typeface="Arial"/>
                <a:ea typeface="Arial"/>
              </a:rPr>
              <a:t>&amp;</a:t>
            </a:r>
            <a:r>
              <a:rPr sz="1000" b="0" i="0">
                <a:solidFill>
                  <a:srgbClr val="58636E"/>
                </a:solidFill>
                <a:latin typeface="Arial"/>
                <a:ea typeface="Arial"/>
              </a:rPr>
              <a:t xml:space="preserve"> Konishi (1991), Fig. 12(A–D). GABA-receptor blockade releases secondary timing-response peaks.</a:t>
            </a:r>
            <a:endParaRPr lang="en-US"/>
          </a:p>
        </p:txBody>
      </p:sp>
      <p:sp>
        <p:nvSpPr>
          <p:cNvPr id="501" name="Shape 501"/>
          <p:cNvSpPr/>
          <p:nvPr/>
        </p:nvSpPr>
        <p:spPr>
          <a:xfrm>
            <a:off x="566886" y="6382494"/>
            <a:ext cx="11058079" cy="9079"/>
          </a:xfrm>
          <a:prstGeom prst="rect">
            <a:avLst/>
          </a:prstGeom>
          <a:solidFill>
            <a:srgbClr val="C7D6E3"/>
          </a:solidFill>
        </p:spPr>
        <p:txBody>
          <a:bodyPr/>
          <a:lstStyle/>
          <a:p/>
        </p:txBody>
      </p:sp>
      <p:sp>
        <p:nvSpPr>
          <p:cNvPr id="502" name="Shape 50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Fujita </a:t>
            </a:r>
            <a:r>
              <a:rPr sz="900" b="0" i="0">
                <a:solidFill>
                  <a:srgbClr val="58636E"/>
                </a:solidFill>
                <a:latin typeface="Arial"/>
                <a:ea typeface="Arial"/>
              </a:rPr>
              <a:t>&amp;</a:t>
            </a:r>
            <a:r>
              <a:rPr sz="900" b="0" i="0">
                <a:solidFill>
                  <a:srgbClr val="58636E"/>
                </a:solidFill>
                <a:latin typeface="Arial"/>
                <a:ea typeface="Arial"/>
              </a:rPr>
              <a:t xml:space="preserve"> Konishi (1991)</a:t>
            </a:r>
            <a:endParaRPr lang="en-US"/>
          </a:p>
        </p:txBody>
      </p:sp>
      <p:sp>
        <p:nvSpPr>
          <p:cNvPr id="503" name="Shape 50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04" name="Shape 50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Glutamate contributions differ across collicular stages</a:t>
            </a:r>
            <a:endParaRPr lang="en-US"/>
          </a:p>
        </p:txBody>
      </p:sp>
      <p:sp>
        <p:nvSpPr>
          <p:cNvPr id="505" name="Shape 50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1" i="0">
                <a:solidFill>
                  <a:srgbClr val="2B5577"/>
                </a:solidFill>
                <a:latin typeface="Arial"/>
                <a:ea typeface="Arial"/>
              </a:rPr>
              <a:t>Glutamate</a:t>
            </a:r>
            <a:r>
              <a:rPr sz="1400" b="0" i="0">
                <a:solidFill>
                  <a:srgbClr val="1F262D"/>
                </a:solidFill>
                <a:latin typeface="Arial"/>
                <a:ea typeface="Arial"/>
              </a:rPr>
              <a:t xml:space="preserve"> is an excitatory transmitter. Feldman and Knudsen applied AP5, an antagonist of NMDA receptors, and CNQX, a non-NMDA glutamate-receptor antagonist, by iontophoresis while recording from ICx and the ICC lateral shell. Iontophoresis uses an electrical current to deliver each drug locally. Each antagonist was tested alone and in combination in each preparation.</a:t>
            </a:r>
            <a:endParaRPr lang="en-US"/>
          </a:p>
          <a:p>
            <a:pPr algn="l">
              <a:lnSpc>
                <a:spcPct val="108000"/>
              </a:lnSpc>
              <a:spcAft>
                <a:spcPts val="1200"/>
              </a:spcAft>
              <a:buNone/>
            </a:pPr>
            <a:r>
              <a:rPr sz="1400" b="0" i="0">
                <a:solidFill>
                  <a:srgbClr val="1F262D"/>
                </a:solidFill>
                <a:latin typeface="Arial"/>
                <a:ea typeface="Arial"/>
              </a:rPr>
              <a:t xml:space="preserve">AP5 removed about 55% of auditory-evoked spikes at ICx multiunit sites and 64% at single units. In the lateral shell, the corresponding reductions were about 19% and 25%, and combined AP5 and CNQX strongly suppressed responses in both subdivisions. The combined antagonist condition tested whether a weak AP5 effect reflected little NMDA contribution.</a:t>
            </a:r>
            <a:endParaRPr lang="en-US"/>
          </a:p>
          <a:p>
            <a:pPr algn="l">
              <a:lnSpc>
                <a:spcPct val="108000"/>
              </a:lnSpc>
              <a:spcAft>
                <a:spcPts val="1200"/>
              </a:spcAft>
              <a:buNone/>
            </a:pPr>
            <a:r>
              <a:rPr sz="1400" b="1" i="0">
                <a:solidFill>
                  <a:srgbClr val="2B5577"/>
                </a:solidFill>
                <a:latin typeface="Arial"/>
                <a:ea typeface="Arial"/>
              </a:rPr>
              <a:t>NMDA-dependent transmission</a:t>
            </a:r>
            <a:r>
              <a:rPr sz="1400" b="0" i="0">
                <a:solidFill>
                  <a:srgbClr val="1F262D"/>
                </a:solidFill>
                <a:latin typeface="Arial"/>
                <a:ea typeface="Arial"/>
              </a:rPr>
              <a:t xml:space="preserve"> contributes more to ICx responses, while non-NMDA transmission is substantial in both regions. Spike reduction measures functional contribution rather than receptor abundance at the synapse. The contrast between NMDA and non-NMDA components therefore differs by region. The ICx responses depend more heavily on NMDA transmission than the lateral shell does.</a:t>
            </a:r>
            <a:endParaRPr lang="en-US"/>
          </a:p>
        </p:txBody>
      </p:sp>
      <p:pic>
        <p:nvPicPr>
          <p:cNvPr id="160" name="Presenton Native Image 44" descr=""/>
          <p:cNvPicPr/>
          <p:nvPr/>
        </p:nvPicPr>
        <p:blipFill>
          <a:blip r:embed="rId2" cstate="none"/>
          <a:stretch>
            <a:fillRect/>
          </a:stretch>
        </p:blipFill>
        <p:spPr>
          <a:xfrm>
            <a:off x="7722027" y="1280071"/>
            <a:ext cx="3050966" cy="4297561"/>
          </a:xfrm>
          <a:prstGeom prst="rect">
            <a:avLst/>
          </a:prstGeom>
        </p:spPr>
      </p:pic>
      <p:sp>
        <p:nvSpPr>
          <p:cNvPr id="508" name="Shape 50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Feldman </a:t>
            </a:r>
            <a:r>
              <a:rPr sz="1000" b="0" i="0">
                <a:solidFill>
                  <a:srgbClr val="58636E"/>
                </a:solidFill>
                <a:latin typeface="Arial"/>
                <a:ea typeface="Arial"/>
              </a:rPr>
              <a:t>&amp;</a:t>
            </a:r>
            <a:r>
              <a:rPr sz="1000" b="0" i="0">
                <a:solidFill>
                  <a:srgbClr val="58636E"/>
                </a:solidFill>
                <a:latin typeface="Arial"/>
                <a:ea typeface="Arial"/>
              </a:rPr>
              <a:t xml:space="preserve"> Knudsen (1994), Fig. 8(A–B). NMDA blockade differs between ICx and lateral shell.</a:t>
            </a:r>
            <a:endParaRPr lang="en-US"/>
          </a:p>
        </p:txBody>
      </p:sp>
      <p:sp>
        <p:nvSpPr>
          <p:cNvPr id="509" name="Shape 509"/>
          <p:cNvSpPr/>
          <p:nvPr/>
        </p:nvSpPr>
        <p:spPr>
          <a:xfrm>
            <a:off x="566886" y="6382494"/>
            <a:ext cx="11058079" cy="9079"/>
          </a:xfrm>
          <a:prstGeom prst="rect">
            <a:avLst/>
          </a:prstGeom>
          <a:solidFill>
            <a:srgbClr val="C7D6E3"/>
          </a:solidFill>
        </p:spPr>
        <p:txBody>
          <a:bodyPr/>
          <a:lstStyle/>
          <a:p/>
        </p:txBody>
      </p:sp>
      <p:sp>
        <p:nvSpPr>
          <p:cNvPr id="510" name="Shape 51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Feldman </a:t>
            </a:r>
            <a:r>
              <a:rPr sz="900" b="0" i="0">
                <a:solidFill>
                  <a:srgbClr val="58636E"/>
                </a:solidFill>
                <a:latin typeface="Arial"/>
                <a:ea typeface="Arial"/>
              </a:rPr>
              <a:t>&amp;</a:t>
            </a:r>
            <a:r>
              <a:rPr sz="900" b="0" i="0">
                <a:solidFill>
                  <a:srgbClr val="58636E"/>
                </a:solidFill>
                <a:latin typeface="Arial"/>
                <a:ea typeface="Arial"/>
              </a:rPr>
              <a:t xml:space="preserve"> Knudsen (1994)</a:t>
            </a:r>
            <a:endParaRPr lang="en-US"/>
          </a:p>
        </p:txBody>
      </p:sp>
      <p:sp>
        <p:nvSpPr>
          <p:cNvPr id="511" name="Shape 51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12" name="Shape 51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NMDA-dependent transmission sustains late ICx responses</a:t>
            </a:r>
            <a:endParaRPr lang="en-US"/>
          </a:p>
        </p:txBody>
      </p:sp>
      <p:sp>
        <p:nvSpPr>
          <p:cNvPr id="513" name="Shape 51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Feldman and Knudsen analyzed </a:t>
            </a:r>
            <a:r>
              <a:rPr sz="1400" b="1" i="0">
                <a:solidFill>
                  <a:srgbClr val="2B5577"/>
                </a:solidFill>
                <a:latin typeface="Arial"/>
                <a:ea typeface="Arial"/>
              </a:rPr>
              <a:t>peristimulus time histograms</a:t>
            </a:r>
            <a:r>
              <a:rPr sz="1400" b="0" i="0">
                <a:solidFill>
                  <a:srgbClr val="1F262D"/>
                </a:solidFill>
                <a:latin typeface="Arial"/>
                <a:ea typeface="Arial"/>
              </a:rPr>
              <a:t xml:space="preserve">, which align repeated spike trains to sound onset. They tested ICx units with transient, sustained, or mixed responses to 50-ms broadband stimuli at each unit's preferred ITD and ILD. Each unit was classified by its response type before the drug was applied in each unit</a:t>
            </a:r>
            <a:endParaRPr lang="en-US"/>
          </a:p>
          <a:p>
            <a:pPr algn="l">
              <a:lnSpc>
                <a:spcPct val="108000"/>
              </a:lnSpc>
              <a:spcAft>
                <a:spcPts val="1200"/>
              </a:spcAft>
              <a:buNone/>
            </a:pPr>
            <a:r>
              <a:rPr sz="1400" b="0" i="0">
                <a:solidFill>
                  <a:srgbClr val="1F262D"/>
                </a:solidFill>
                <a:latin typeface="Arial"/>
                <a:ea typeface="Arial"/>
              </a:rPr>
              <a:t xml:space="preserve">AP5 at 25 nA reduced spikes, with a larger effect on late activity in mixed transient-sustained responses. CNQX, by contrast, reduced activity more uniformly across the response time course. The reduction was measured before, during, and after application in each unit. Responses were measured in each unit before, during, and after the drug.</a:t>
            </a:r>
            <a:endParaRPr lang="en-US"/>
          </a:p>
          <a:p>
            <a:pPr algn="l">
              <a:lnSpc>
                <a:spcPct val="108000"/>
              </a:lnSpc>
              <a:spcAft>
                <a:spcPts val="1200"/>
              </a:spcAft>
              <a:buNone/>
            </a:pPr>
            <a:r>
              <a:rPr sz="1400" b="0" i="0">
                <a:solidFill>
                  <a:srgbClr val="1F262D"/>
                </a:solidFill>
                <a:latin typeface="Arial"/>
                <a:ea typeface="Arial"/>
              </a:rPr>
              <a:t xml:space="preserve">The temporal difference fits slower NMDA-dependent excitation supplementing faster non-NMDA transmission. Together with coincidence detection, bilateral inhibition, and cross-frequency convergence, this synaptic integration supports the sustained spatial signals available for owl orienting. The late component of the ICx response builds up over the stimulus duration. This slow excitation adds to the response across long stimuli.</a:t>
            </a:r>
            <a:endParaRPr lang="en-US"/>
          </a:p>
        </p:txBody>
      </p:sp>
      <p:pic>
        <p:nvPicPr>
          <p:cNvPr id="161" name="Presenton Native Image 45" descr=""/>
          <p:cNvPicPr/>
          <p:nvPr/>
        </p:nvPicPr>
        <p:blipFill>
          <a:blip r:embed="rId2" cstate="none"/>
          <a:stretch>
            <a:fillRect/>
          </a:stretch>
        </p:blipFill>
        <p:spPr>
          <a:xfrm>
            <a:off x="6870177" y="1280071"/>
            <a:ext cx="4754667" cy="2954834"/>
          </a:xfrm>
          <a:prstGeom prst="rect">
            <a:avLst/>
          </a:prstGeom>
        </p:spPr>
      </p:pic>
      <p:sp>
        <p:nvSpPr>
          <p:cNvPr id="516" name="Shape 516"/>
          <p:cNvSpPr/>
          <p:nvPr/>
        </p:nvSpPr>
        <p:spPr>
          <a:xfrm>
            <a:off x="6870055" y="4326434"/>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Feldman </a:t>
            </a:r>
            <a:r>
              <a:rPr sz="1000" b="0" i="0">
                <a:solidFill>
                  <a:srgbClr val="58636E"/>
                </a:solidFill>
                <a:latin typeface="Arial"/>
                <a:ea typeface="Arial"/>
              </a:rPr>
              <a:t>&amp;</a:t>
            </a:r>
            <a:r>
              <a:rPr sz="1000" b="0" i="0">
                <a:solidFill>
                  <a:srgbClr val="58636E"/>
                </a:solidFill>
                <a:latin typeface="Arial"/>
                <a:ea typeface="Arial"/>
              </a:rPr>
              <a:t xml:space="preserve"> Knudsen (1994), Fig. 9(A–C). NMDA blockade alters the time course of auditory spike responses.</a:t>
            </a:r>
            <a:endParaRPr lang="en-US"/>
          </a:p>
        </p:txBody>
      </p:sp>
      <p:sp>
        <p:nvSpPr>
          <p:cNvPr id="517" name="Shape 517"/>
          <p:cNvSpPr/>
          <p:nvPr/>
        </p:nvSpPr>
        <p:spPr>
          <a:xfrm>
            <a:off x="566886" y="6382494"/>
            <a:ext cx="11058079" cy="9079"/>
          </a:xfrm>
          <a:prstGeom prst="rect">
            <a:avLst/>
          </a:prstGeom>
          <a:solidFill>
            <a:srgbClr val="C7D6E3"/>
          </a:solidFill>
        </p:spPr>
        <p:txBody>
          <a:bodyPr/>
          <a:lstStyle/>
          <a:p/>
        </p:txBody>
      </p:sp>
      <p:sp>
        <p:nvSpPr>
          <p:cNvPr id="518" name="Shape 51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Feldman </a:t>
            </a:r>
            <a:r>
              <a:rPr sz="900" b="0" i="0">
                <a:solidFill>
                  <a:srgbClr val="58636E"/>
                </a:solidFill>
                <a:latin typeface="Arial"/>
                <a:ea typeface="Arial"/>
              </a:rPr>
              <a:t>&amp;</a:t>
            </a:r>
            <a:r>
              <a:rPr sz="900" b="0" i="0">
                <a:solidFill>
                  <a:srgbClr val="58636E"/>
                </a:solidFill>
                <a:latin typeface="Arial"/>
                <a:ea typeface="Arial"/>
              </a:rPr>
              <a:t xml:space="preserve"> Knudsen (1994)</a:t>
            </a:r>
            <a:endParaRPr lang="en-US"/>
          </a:p>
        </p:txBody>
      </p:sp>
      <p:sp>
        <p:nvSpPr>
          <p:cNvPr id="519" name="Shape 51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20" name="Shape 52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Key takeaways</a:t>
            </a:r>
            <a:endParaRPr lang="en-US"/>
          </a:p>
        </p:txBody>
      </p:sp>
      <p:sp>
        <p:nvSpPr>
          <p:cNvPr id="521" name="Shape 521"/>
          <p:cNvSpPr/>
          <p:nvPr/>
        </p:nvSpPr>
        <p:spPr>
          <a:xfrm>
            <a:off x="566886" y="1234380"/>
            <a:ext cx="5391894" cy="1478161"/>
          </a:xfrm>
          <a:prstGeom prst="rect">
            <a:avLst/>
          </a:prstGeom>
          <a:solidFill>
            <a:srgbClr val="EEF5FA"/>
          </a:solidFill>
        </p:spPr>
        <p:txBody>
          <a:bodyPr/>
          <a:lstStyle/>
          <a:p/>
        </p:txBody>
      </p:sp>
      <p:sp>
        <p:nvSpPr>
          <p:cNvPr id="522" name="Shape 522"/>
          <p:cNvSpPr/>
          <p:nvPr/>
        </p:nvSpPr>
        <p:spPr>
          <a:xfrm>
            <a:off x="749796"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Computed spatial maps</a:t>
            </a:r>
            <a:r>
              <a:rPr sz="1600" b="0" i="0">
                <a:solidFill>
                  <a:srgbClr val="1F262D"/>
                </a:solidFill>
                <a:latin typeface="Arial"/>
                <a:ea typeface="Arial"/>
              </a:rPr>
              <a:t xml:space="preserve"> ICx receptive-field centers are ordered by sound direction; the map is computed from binaural signals rather than copied from a spatial receptor surface.</a:t>
            </a:r>
            <a:endParaRPr lang="en-US"/>
          </a:p>
        </p:txBody>
      </p:sp>
      <p:sp>
        <p:nvSpPr>
          <p:cNvPr id="523" name="Shape 523"/>
          <p:cNvSpPr/>
          <p:nvPr/>
        </p:nvSpPr>
        <p:spPr>
          <a:xfrm>
            <a:off x="6233071" y="1234380"/>
            <a:ext cx="5391894" cy="1478161"/>
          </a:xfrm>
          <a:prstGeom prst="rect">
            <a:avLst/>
          </a:prstGeom>
          <a:solidFill>
            <a:srgbClr val="EEF5FA"/>
          </a:solidFill>
        </p:spPr>
        <p:txBody>
          <a:bodyPr/>
          <a:lstStyle/>
          <a:p/>
        </p:txBody>
      </p:sp>
      <p:sp>
        <p:nvSpPr>
          <p:cNvPr id="524" name="Shape 524"/>
          <p:cNvSpPr/>
          <p:nvPr/>
        </p:nvSpPr>
        <p:spPr>
          <a:xfrm>
            <a:off x="6415980"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Parallel cue pathways</a:t>
            </a:r>
            <a:r>
              <a:rPr sz="1600" b="0" i="0">
                <a:solidFill>
                  <a:srgbClr val="1F262D"/>
                </a:solidFill>
                <a:latin typeface="Arial"/>
                <a:ea typeface="Arial"/>
              </a:rPr>
              <a:t xml:space="preserve"> NM preserves timing and NA emphasizes sound level. Selective inactivation dissociates their contributions before the cues converge.</a:t>
            </a:r>
            <a:endParaRPr lang="en-US"/>
          </a:p>
        </p:txBody>
      </p:sp>
      <p:sp>
        <p:nvSpPr>
          <p:cNvPr id="525" name="Shape 525"/>
          <p:cNvSpPr/>
          <p:nvPr/>
        </p:nvSpPr>
        <p:spPr>
          <a:xfrm>
            <a:off x="566886" y="2986980"/>
            <a:ext cx="5391894" cy="1478161"/>
          </a:xfrm>
          <a:prstGeom prst="rect">
            <a:avLst/>
          </a:prstGeom>
          <a:solidFill>
            <a:srgbClr val="EEF5FA"/>
          </a:solidFill>
        </p:spPr>
        <p:txBody>
          <a:bodyPr/>
          <a:lstStyle/>
          <a:p/>
        </p:txBody>
      </p:sp>
      <p:sp>
        <p:nvSpPr>
          <p:cNvPr id="526" name="Shape 526"/>
          <p:cNvSpPr/>
          <p:nvPr/>
        </p:nvSpPr>
        <p:spPr>
          <a:xfrm>
            <a:off x="749796"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Delay lines and coincidence</a:t>
            </a:r>
            <a:r>
              <a:rPr sz="1600" b="0" i="0">
                <a:solidFill>
                  <a:srgbClr val="1F262D"/>
                </a:solidFill>
                <a:latin typeface="Arial"/>
                <a:ea typeface="Arial"/>
              </a:rPr>
              <a:t xml:space="preserve"> Opposed NM conduction gradients and coincidence-sensitive NL neurons transform interaural timing into place-dependent activity.</a:t>
            </a:r>
            <a:endParaRPr lang="en-US"/>
          </a:p>
        </p:txBody>
      </p:sp>
      <p:sp>
        <p:nvSpPr>
          <p:cNvPr id="527" name="Shape 527"/>
          <p:cNvSpPr/>
          <p:nvPr/>
        </p:nvSpPr>
        <p:spPr>
          <a:xfrm>
            <a:off x="6233071" y="2986980"/>
            <a:ext cx="5391894" cy="1478161"/>
          </a:xfrm>
          <a:prstGeom prst="rect">
            <a:avLst/>
          </a:prstGeom>
          <a:solidFill>
            <a:srgbClr val="EEF5FA"/>
          </a:solidFill>
        </p:spPr>
        <p:txBody>
          <a:bodyPr/>
          <a:lstStyle/>
          <a:p/>
        </p:txBody>
      </p:sp>
      <p:sp>
        <p:nvSpPr>
          <p:cNvPr id="528" name="Shape 528"/>
          <p:cNvSpPr/>
          <p:nvPr/>
        </p:nvSpPr>
        <p:spPr>
          <a:xfrm>
            <a:off x="6415980"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Convergence and inhibition</a:t>
            </a:r>
            <a:r>
              <a:rPr sz="1600" b="0" i="0">
                <a:solidFill>
                  <a:srgbClr val="1F262D"/>
                </a:solidFill>
                <a:latin typeface="Arial"/>
                <a:ea typeface="Arial"/>
              </a:rPr>
              <a:t xml:space="preserve"> Frequency-matched ICC arrays provide cross-frequency agreement, while GABAergic inhibition suppresses competing timing peaks in ICx.</a:t>
            </a:r>
            <a:endParaRPr lang="en-US"/>
          </a:p>
        </p:txBody>
      </p:sp>
      <p:sp>
        <p:nvSpPr>
          <p:cNvPr id="529" name="Shape 529"/>
          <p:cNvSpPr/>
          <p:nvPr/>
        </p:nvSpPr>
        <p:spPr>
          <a:xfrm>
            <a:off x="566886" y="4739580"/>
            <a:ext cx="5391894" cy="1478161"/>
          </a:xfrm>
          <a:prstGeom prst="rect">
            <a:avLst/>
          </a:prstGeom>
          <a:solidFill>
            <a:srgbClr val="EEF5FA"/>
          </a:solidFill>
        </p:spPr>
        <p:txBody>
          <a:bodyPr/>
          <a:lstStyle/>
          <a:p/>
        </p:txBody>
      </p:sp>
      <p:sp>
        <p:nvSpPr>
          <p:cNvPr id="530" name="Shape 530"/>
          <p:cNvSpPr/>
          <p:nvPr/>
        </p:nvSpPr>
        <p:spPr>
          <a:xfrm>
            <a:off x="749796" y="4876800"/>
            <a:ext cx="5045125" cy="877491"/>
          </a:xfrm>
          <a:prstGeom prst="rect">
            <a:avLst/>
          </a:prstGeom>
          <a:noFill/>
        </p:spPr>
        <p:txBody>
          <a:bodyPr anchor="t" wrap="square" tIns="0" bIns="0" lIns="0" rIns="0">
            <a:normAutofit/>
          </a:bodyPr>
          <a:lstStyle/>
          <a:p>
            <a:pPr algn="l">
              <a:lnSpc>
                <a:spcPts val="1728"/>
              </a:lnSpc>
              <a:buNone/>
            </a:pPr>
            <a:r>
              <a:rPr sz="1600" b="1" i="0">
                <a:solidFill>
                  <a:srgbClr val="2B5577"/>
                </a:solidFill>
                <a:latin typeface="Arial"/>
                <a:ea typeface="Arial"/>
              </a:rPr>
              <a:t>Level tuning and cue combination</a:t>
            </a:r>
            <a:r>
              <a:rPr sz="1600" b="0" i="0">
                <a:solidFill>
                  <a:srgbClr val="1F262D"/>
                </a:solidFill>
                <a:latin typeface="Arial"/>
                <a:ea typeface="Arial"/>
              </a:rPr>
              <a:t xml:space="preserve"> Bilateral inhibitory influences create peaked ILD tuning; approximately multiplicative membrane integration combines timing and level selectivity.</a:t>
            </a:r>
            <a:endParaRPr lang="en-US"/>
          </a:p>
        </p:txBody>
      </p:sp>
      <p:sp>
        <p:nvSpPr>
          <p:cNvPr id="531" name="Shape 531"/>
          <p:cNvSpPr/>
          <p:nvPr/>
        </p:nvSpPr>
        <p:spPr>
          <a:xfrm>
            <a:off x="6233071" y="4739580"/>
            <a:ext cx="5391894" cy="1478161"/>
          </a:xfrm>
          <a:prstGeom prst="rect">
            <a:avLst/>
          </a:prstGeom>
          <a:solidFill>
            <a:srgbClr val="EEF5FA"/>
          </a:solidFill>
        </p:spPr>
        <p:txBody>
          <a:bodyPr/>
          <a:lstStyle/>
          <a:p/>
        </p:txBody>
      </p:sp>
      <p:sp>
        <p:nvSpPr>
          <p:cNvPr id="532" name="Shape 532"/>
          <p:cNvSpPr/>
          <p:nvPr/>
        </p:nvSpPr>
        <p:spPr>
          <a:xfrm>
            <a:off x="6415980" y="4876800"/>
            <a:ext cx="5045125" cy="1028402"/>
          </a:xfrm>
          <a:prstGeom prst="rect">
            <a:avLst/>
          </a:prstGeom>
          <a:noFill/>
        </p:spPr>
        <p:txBody>
          <a:bodyPr anchor="t" wrap="square" tIns="0" bIns="0" lIns="0" rIns="0">
            <a:normAutofit/>
          </a:bodyPr>
          <a:lstStyle/>
          <a:p>
            <a:pPr algn="l">
              <a:lnSpc>
                <a:spcPts val="1620"/>
              </a:lnSpc>
              <a:buNone/>
            </a:pPr>
            <a:r>
              <a:rPr sz="1500" b="1" i="0">
                <a:solidFill>
                  <a:srgbClr val="2B5577"/>
                </a:solidFill>
                <a:latin typeface="Arial"/>
                <a:ea typeface="Arial"/>
              </a:rPr>
              <a:t>Mechanisms have experimental limits</a:t>
            </a:r>
            <a:r>
              <a:rPr sz="1500" b="0" i="0">
                <a:solidFill>
                  <a:srgbClr val="1F262D"/>
                </a:solidFill>
                <a:latin typeface="Arial"/>
                <a:ea typeface="Arial"/>
              </a:rPr>
              <a:t xml:space="preserve"> NMDA and non-NMDA antagonists identify transmission contributions. Natural ILDs can also aid horizontal disambiguation, so ITD and ILD are not exclusive behavioral axes.</a:t>
            </a:r>
            <a:endParaRPr lang="en-US"/>
          </a:p>
        </p:txBody>
      </p:sp>
      <p:sp>
        <p:nvSpPr>
          <p:cNvPr id="533" name="Shape 533"/>
          <p:cNvSpPr/>
          <p:nvPr/>
        </p:nvSpPr>
        <p:spPr>
          <a:xfrm>
            <a:off x="566886" y="6382494"/>
            <a:ext cx="11058079" cy="9079"/>
          </a:xfrm>
          <a:prstGeom prst="rect">
            <a:avLst/>
          </a:prstGeom>
          <a:solidFill>
            <a:srgbClr val="C7D6E3"/>
          </a:solidFill>
        </p:spPr>
        <p:txBody>
          <a:bodyPr/>
          <a:lstStyle/>
          <a:p/>
        </p:txBody>
      </p:sp>
      <p:sp>
        <p:nvSpPr>
          <p:cNvPr id="534" name="Shape 53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Knudsen </a:t>
            </a:r>
            <a:r>
              <a:rPr sz="900" b="0" i="0">
                <a:solidFill>
                  <a:srgbClr val="58636E"/>
                </a:solidFill>
                <a:latin typeface="Arial"/>
                <a:ea typeface="Arial"/>
              </a:rPr>
              <a:t>&amp;</a:t>
            </a:r>
            <a:r>
              <a:rPr sz="900" b="0" i="0">
                <a:solidFill>
                  <a:srgbClr val="58636E"/>
                </a:solidFill>
                <a:latin typeface="Arial"/>
                <a:ea typeface="Arial"/>
              </a:rPr>
              <a:t xml:space="preserve"> Konishi (1978); Carr </a:t>
            </a:r>
            <a:r>
              <a:rPr sz="900" b="0" i="0">
                <a:solidFill>
                  <a:srgbClr val="58636E"/>
                </a:solidFill>
                <a:latin typeface="Arial"/>
                <a:ea typeface="Arial"/>
              </a:rPr>
              <a:t>&amp;</a:t>
            </a:r>
            <a:r>
              <a:rPr sz="900" b="0" i="0">
                <a:solidFill>
                  <a:srgbClr val="58636E"/>
                </a:solidFill>
                <a:latin typeface="Arial"/>
                <a:ea typeface="Arial"/>
              </a:rPr>
              <a:t xml:space="preserve"> Konishi (1990); Adolphs (1993); Peña </a:t>
            </a:r>
            <a:r>
              <a:rPr sz="900" b="0" i="0">
                <a:solidFill>
                  <a:srgbClr val="58636E"/>
                </a:solidFill>
                <a:latin typeface="Arial"/>
                <a:ea typeface="Arial"/>
              </a:rPr>
              <a:t>&amp;</a:t>
            </a:r>
            <a:r>
              <a:rPr sz="900" b="0" i="0">
                <a:solidFill>
                  <a:srgbClr val="58636E"/>
                </a:solidFill>
                <a:latin typeface="Arial"/>
                <a:ea typeface="Arial"/>
              </a:rPr>
              <a:t xml:space="preserve"> Konishi (2001); Kettler et al. (2017)</a:t>
            </a:r>
            <a:endParaRPr lang="en-US"/>
          </a:p>
        </p:txBody>
      </p:sp>
      <p:sp>
        <p:nvSpPr>
          <p:cNvPr id="535" name="Shape 53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8" name="Shape 48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GABA-A blockade broadens timing tuning</a:t>
            </a:r>
            <a:endParaRPr lang="en-US"/>
          </a:p>
        </p:txBody>
      </p:sp>
      <p:sp>
        <p:nvSpPr>
          <p:cNvPr id="489" name="Shape 48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half-peak width measures the range of delays over which a response remains above half of its peak. A broader curve indicates weaker selectivity even if the maximum response rises. The width is a separate measure from the height of the peak. Peak height and width thus measure different aspects of tuning. The authors reported both measures for each curve.</a:t>
            </a:r>
            <a:endParaRPr lang="en-US"/>
          </a:p>
          <a:p>
            <a:pPr algn="l">
              <a:lnSpc>
                <a:spcPct val="108000"/>
              </a:lnSpc>
              <a:spcAft>
                <a:spcPts val="1200"/>
              </a:spcAft>
              <a:buNone/>
            </a:pPr>
            <a:r>
              <a:rPr sz="1400" b="0" i="0">
                <a:solidFill>
                  <a:srgbClr val="1F262D"/>
                </a:solidFill>
                <a:latin typeface="Arial"/>
                <a:ea typeface="Arial"/>
              </a:rPr>
              <a:t xml:space="preserve">Applying GABA produced effects opposite to those of BMI in the same tissue. This reversal is the pattern expected if GABA-A receptors mediate the inhibition. The opposite effects point to GABA-A receptors rather than to a general effect of drug delivery. The reverse pattern is the key evidence in this analysis. BMI and GABA act on the same receptor family.</a:t>
            </a:r>
            <a:endParaRPr lang="en-US"/>
          </a:p>
          <a:p>
            <a:pPr algn="l">
              <a:lnSpc>
                <a:spcPct val="108000"/>
              </a:lnSpc>
              <a:spcAft>
                <a:spcPts val="1200"/>
              </a:spcAft>
              <a:buNone/>
            </a:pPr>
            <a:r>
              <a:rPr sz="1400" b="0" i="0">
                <a:solidFill>
                  <a:srgbClr val="1F262D"/>
                </a:solidFill>
                <a:latin typeface="Arial"/>
                <a:ea typeface="Arial"/>
              </a:rPr>
              <a:t xml:space="preserve">Simultaneous BMI could antagonize those GABA effects, which supports a GABA-receptor-mediated interpretation of the result. Recovery after the drug confirmed that the effect was reversible in each cell. The cells were recorded before, during, and after drug application. The timing curves were compared across those three intervals. Each interval produced its own measured tuning width.</a:t>
            </a:r>
            <a:endParaRPr lang="en-US"/>
          </a:p>
        </p:txBody>
      </p:sp>
      <p:pic>
        <p:nvPicPr>
          <p:cNvPr id="158" name="Presenton Native Image 42" descr=""/>
          <p:cNvPicPr/>
          <p:nvPr/>
        </p:nvPicPr>
        <p:blipFill>
          <a:blip r:embed="rId2" cstate="none"/>
          <a:stretch>
            <a:fillRect/>
          </a:stretch>
        </p:blipFill>
        <p:spPr>
          <a:xfrm>
            <a:off x="8001149" y="1280081"/>
            <a:ext cx="2492573" cy="4297540"/>
          </a:xfrm>
          <a:prstGeom prst="rect">
            <a:avLst/>
          </a:prstGeom>
        </p:spPr>
      </p:pic>
      <p:sp>
        <p:nvSpPr>
          <p:cNvPr id="492" name="Shape 49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Fujita </a:t>
            </a:r>
            <a:r>
              <a:rPr sz="1000" b="0" i="0">
                <a:solidFill>
                  <a:srgbClr val="58636E"/>
                </a:solidFill>
                <a:latin typeface="Arial"/>
                <a:ea typeface="Arial"/>
              </a:rPr>
              <a:t>&amp;</a:t>
            </a:r>
            <a:r>
              <a:rPr sz="1000" b="0" i="0">
                <a:solidFill>
                  <a:srgbClr val="58636E"/>
                </a:solidFill>
                <a:latin typeface="Arial"/>
                <a:ea typeface="Arial"/>
              </a:rPr>
              <a:t xml:space="preserve"> Konishi (1991), Fig. 8(A–C). GABA-receptor blockade broadens timing tuning in the lateral shell.</a:t>
            </a:r>
            <a:endParaRPr lang="en-US"/>
          </a:p>
        </p:txBody>
      </p:sp>
      <p:sp>
        <p:nvSpPr>
          <p:cNvPr id="493" name="Shape 493"/>
          <p:cNvSpPr/>
          <p:nvPr/>
        </p:nvSpPr>
        <p:spPr>
          <a:xfrm>
            <a:off x="566886" y="6382494"/>
            <a:ext cx="11058079" cy="9079"/>
          </a:xfrm>
          <a:prstGeom prst="rect">
            <a:avLst/>
          </a:prstGeom>
          <a:solidFill>
            <a:srgbClr val="C7D6E3"/>
          </a:solidFill>
        </p:spPr>
        <p:txBody>
          <a:bodyPr/>
          <a:lstStyle/>
          <a:p/>
        </p:txBody>
      </p:sp>
      <p:sp>
        <p:nvSpPr>
          <p:cNvPr id="494" name="Shape 49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Fujita &amp; Konishi (1991)</a:t>
            </a:r>
            <a:endParaRPr lang="en-US"/>
          </a:p>
        </p:txBody>
      </p:sp>
      <p:sp>
        <p:nvSpPr>
          <p:cNvPr id="495" name="Shape 49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42a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4" name="Shape 4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Membrane products multiply timing and level</a:t>
            </a:r>
            <a:endParaRPr lang="en-US"/>
          </a:p>
        </p:txBody>
      </p:sp>
      <p:sp>
        <p:nvSpPr>
          <p:cNvPr id="465" name="Shape 46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analog conjunction can permit firing when both timing and level are favorable. The fitted multiplicative term describes membrane responses in which neither cue alone produces a strong response. Such a conjunction is a multiplication of the two cue effects. In this account, the response is strongest where both cue effects are large. In that case the response depends on both cues at once.</a:t>
            </a:r>
            <a:endParaRPr lang="en-US"/>
          </a:p>
          <a:p>
            <a:pPr algn="l">
              <a:lnSpc>
                <a:spcPct val="108000"/>
              </a:lnSpc>
              <a:spcAft>
                <a:spcPts val="1200"/>
              </a:spcAft>
              <a:buNone/>
            </a:pPr>
            <a:r>
              <a:rPr sz="1400" b="0" i="0">
                <a:solidFill>
                  <a:srgbClr val="1F262D"/>
                </a:solidFill>
                <a:latin typeface="Arial"/>
                <a:ea typeface="Arial"/>
              </a:rPr>
              <a:t xml:space="preserve">The analysis leaves open whether a particular receptor or dendritic compartment performs the multiplication itself. The fit describes the membrane response, not the molecular mechanism that produces it. The fitted term is a mathematical description of a physiological response. The matrix of membrane responses forms the basis of the fit. This mathematical form is the authors' central analytical step.</a:t>
            </a:r>
            <a:endParaRPr lang="en-US"/>
          </a:p>
          <a:p>
            <a:pPr algn="l">
              <a:lnSpc>
                <a:spcPct val="108000"/>
              </a:lnSpc>
              <a:spcAft>
                <a:spcPts val="1200"/>
              </a:spcAft>
              <a:buNone/>
            </a:pPr>
            <a:r>
              <a:rPr sz="1400" b="0" i="0">
                <a:solidFill>
                  <a:srgbClr val="1F262D"/>
                </a:solidFill>
                <a:latin typeface="Arial"/>
                <a:ea typeface="Arial"/>
              </a:rPr>
              <a:t xml:space="preserve">Smaller contributions from other interactions remain possible alongside the multiplicative component. The published analysis reports the dominant structure of the matrix rather than an exhaustive decomposition. The studied neurons were ICx cells recorded intracellularly. The fit accounts for most of the structure in those matrices. Those matrices were built from subthreshold recordings in each neuron.</a:t>
            </a:r>
            <a:endParaRPr lang="en-US"/>
          </a:p>
        </p:txBody>
      </p:sp>
      <p:pic>
        <p:nvPicPr>
          <p:cNvPr id="155" name="Presenton Native Image 39" descr=""/>
          <p:cNvPicPr/>
          <p:nvPr/>
        </p:nvPicPr>
        <p:blipFill>
          <a:blip r:embed="rId2" cstate="none"/>
          <a:stretch>
            <a:fillRect/>
          </a:stretch>
        </p:blipFill>
        <p:spPr>
          <a:xfrm>
            <a:off x="6870125" y="1280071"/>
            <a:ext cx="4754771" cy="3806130"/>
          </a:xfrm>
          <a:prstGeom prst="rect">
            <a:avLst/>
          </a:prstGeom>
        </p:spPr>
      </p:pic>
      <p:sp>
        <p:nvSpPr>
          <p:cNvPr id="468" name="Shape 468"/>
          <p:cNvSpPr/>
          <p:nvPr/>
        </p:nvSpPr>
        <p:spPr>
          <a:xfrm>
            <a:off x="6870055" y="517773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Peña </a:t>
            </a:r>
            <a:r>
              <a:rPr sz="1000" b="0" i="0">
                <a:solidFill>
                  <a:srgbClr val="58636E"/>
                </a:solidFill>
                <a:latin typeface="Arial"/>
                <a:ea typeface="Arial"/>
              </a:rPr>
              <a:t>&amp;</a:t>
            </a:r>
            <a:r>
              <a:rPr sz="1000" b="0" i="0">
                <a:solidFill>
                  <a:srgbClr val="58636E"/>
                </a:solidFill>
                <a:latin typeface="Arial"/>
                <a:ea typeface="Arial"/>
              </a:rPr>
              <a:t xml:space="preserve"> Konishi (2001), Fig. 2(A–F). Recorded response matrix and the authors’ multiplicative decomposition.</a:t>
            </a:r>
            <a:endParaRPr lang="en-US"/>
          </a:p>
        </p:txBody>
      </p:sp>
      <p:sp>
        <p:nvSpPr>
          <p:cNvPr id="469" name="Shape 469"/>
          <p:cNvSpPr/>
          <p:nvPr/>
        </p:nvSpPr>
        <p:spPr>
          <a:xfrm>
            <a:off x="566886" y="6382494"/>
            <a:ext cx="11058079" cy="9079"/>
          </a:xfrm>
          <a:prstGeom prst="rect">
            <a:avLst/>
          </a:prstGeom>
          <a:solidFill>
            <a:srgbClr val="C7D6E3"/>
          </a:solidFill>
        </p:spPr>
        <p:txBody>
          <a:bodyPr/>
          <a:lstStyle/>
          <a:p/>
        </p:txBody>
      </p:sp>
      <p:sp>
        <p:nvSpPr>
          <p:cNvPr id="470" name="Shape 4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Peña &amp; Konishi (2001)</a:t>
            </a:r>
            <a:endParaRPr lang="en-US"/>
          </a:p>
        </p:txBody>
      </p:sp>
      <p:sp>
        <p:nvSpPr>
          <p:cNvPr id="471" name="Shape 47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39a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0" name="Shape 44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Virtual sources keep surrounding inhibition</a:t>
            </a:r>
            <a:endParaRPr lang="en-US"/>
          </a:p>
        </p:txBody>
      </p:sp>
      <p:sp>
        <p:nvSpPr>
          <p:cNvPr id="441" name="Shape 44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published response maps are recordings from neurons under those playback conditions, not model predictions. The virtual sources reproduced each direction's measured filtering through earphones. Euston and Takahashi measured the head filtering that the virtual sources used. The playback preserved the spectral profile of each direction. The maps show neurons responding to natural-like spectral cues.</a:t>
            </a:r>
            <a:endParaRPr lang="en-US"/>
          </a:p>
          <a:p>
            <a:pPr algn="l">
              <a:lnSpc>
                <a:spcPct val="108000"/>
              </a:lnSpc>
              <a:spcAft>
                <a:spcPts val="1200"/>
              </a:spcAft>
              <a:buNone/>
            </a:pPr>
            <a:r>
              <a:rPr sz="1400" b="0" i="0">
                <a:solidFill>
                  <a:srgbClr val="1F262D"/>
                </a:solidFill>
                <a:latin typeface="Arial"/>
                <a:ea typeface="Arial"/>
              </a:rPr>
              <a:t xml:space="preserve">The surrounding inhibitory regions were retained in the authors' maps, so suppression outside the excitatory field is part of each map. Those inhibitory zones shape where the edges of the field fall. The authors' maps thus include that suppressive surround. The maps record both excitation and suppression. The retained regions shape how far suppression extends across the field.</a:t>
            </a:r>
            <a:endParaRPr lang="en-US"/>
          </a:p>
          <a:p>
            <a:pPr algn="l">
              <a:lnSpc>
                <a:spcPct val="108000"/>
              </a:lnSpc>
              <a:spcAft>
                <a:spcPts val="1200"/>
              </a:spcAft>
              <a:buNone/>
            </a:pPr>
            <a:r>
              <a:rPr sz="1400" b="0" i="0">
                <a:solidFill>
                  <a:srgbClr val="1F262D"/>
                </a:solidFill>
                <a:latin typeface="Arial"/>
                <a:ea typeface="Arial"/>
              </a:rPr>
              <a:t xml:space="preserve">Holding timing favorable isolates the level contribution without moving a real sound source. The cell's timing preference stays fixed, so the ILD-alone field reflects level alone. Their maxima can differ, so neither condition replaces the other. The combined field reflects both timing and level constraints. The largest response in one condition often misses the normal direction.</a:t>
            </a:r>
            <a:endParaRPr lang="en-US"/>
          </a:p>
        </p:txBody>
      </p:sp>
      <p:pic>
        <p:nvPicPr>
          <p:cNvPr id="152" name="Presenton Native Image 36" descr=""/>
          <p:cNvPicPr/>
          <p:nvPr/>
        </p:nvPicPr>
        <p:blipFill>
          <a:blip r:embed="rId2" cstate="none"/>
          <a:stretch>
            <a:fillRect/>
          </a:stretch>
        </p:blipFill>
        <p:spPr>
          <a:xfrm>
            <a:off x="6870185" y="1280071"/>
            <a:ext cx="4754650" cy="2448371"/>
          </a:xfrm>
          <a:prstGeom prst="rect">
            <a:avLst/>
          </a:prstGeom>
        </p:spPr>
      </p:pic>
      <p:sp>
        <p:nvSpPr>
          <p:cNvPr id="444" name="Shape 444"/>
          <p:cNvSpPr/>
          <p:nvPr/>
        </p:nvSpPr>
        <p:spPr>
          <a:xfrm>
            <a:off x="6870055" y="381997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Euston </a:t>
            </a:r>
            <a:r>
              <a:rPr sz="1000" b="0" i="0">
                <a:solidFill>
                  <a:srgbClr val="58636E"/>
                </a:solidFill>
                <a:latin typeface="Arial"/>
                <a:ea typeface="Arial"/>
              </a:rPr>
              <a:t>&amp;</a:t>
            </a:r>
            <a:r>
              <a:rPr sz="1000" b="0" i="0">
                <a:solidFill>
                  <a:srgbClr val="58636E"/>
                </a:solidFill>
                <a:latin typeface="Arial"/>
                <a:ea typeface="Arial"/>
              </a:rPr>
              <a:t xml:space="preserve"> Takahashi (2002), Fig. 3(A, columns 1–2). Normal and ILD-alone receptive fields of the same neuron.</a:t>
            </a:r>
            <a:endParaRPr lang="en-US"/>
          </a:p>
        </p:txBody>
      </p:sp>
      <p:sp>
        <p:nvSpPr>
          <p:cNvPr id="445" name="Shape 445"/>
          <p:cNvSpPr/>
          <p:nvPr/>
        </p:nvSpPr>
        <p:spPr>
          <a:xfrm>
            <a:off x="566886" y="6382494"/>
            <a:ext cx="11058079" cy="9079"/>
          </a:xfrm>
          <a:prstGeom prst="rect">
            <a:avLst/>
          </a:prstGeom>
          <a:solidFill>
            <a:srgbClr val="C7D6E3"/>
          </a:solidFill>
        </p:spPr>
        <p:txBody>
          <a:bodyPr/>
          <a:lstStyle/>
          <a:p/>
        </p:txBody>
      </p:sp>
      <p:sp>
        <p:nvSpPr>
          <p:cNvPr id="446" name="Shape 4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Euston &amp; Takahashi (2002)</a:t>
            </a:r>
            <a:endParaRPr lang="en-US"/>
          </a:p>
        </p:txBody>
      </p:sp>
      <p:sp>
        <p:nvSpPr>
          <p:cNvPr id="447" name="Shape 44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36a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6" name="Shape 41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Remote inhibition reverses within an hour</a:t>
            </a:r>
            <a:endParaRPr lang="en-US"/>
          </a:p>
        </p:txBody>
      </p:sp>
      <p:sp>
        <p:nvSpPr>
          <p:cNvPr id="417" name="Shape 41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Disinhibition means that activity increases after an inhibitory influence is removed. A drug that blocks GABA-A receptors can raise the output of a population instead of exciting it directly. GABA-A receptors carry that inhibition in this case. Blocking them lifts that inhibition from the target population. The projection then carries more activity to its targets.</a:t>
            </a:r>
            <a:endParaRPr lang="en-US"/>
          </a:p>
          <a:p>
            <a:pPr algn="l">
              <a:lnSpc>
                <a:spcPct val="108000"/>
              </a:lnSpc>
              <a:spcAft>
                <a:spcPts val="1200"/>
              </a:spcAft>
              <a:buNone/>
            </a:pPr>
            <a:r>
              <a:rPr sz="1400" b="0" i="0">
                <a:solidFill>
                  <a:srgbClr val="1F262D"/>
                </a:solidFill>
                <a:latin typeface="Arial"/>
                <a:ea typeface="Arial"/>
              </a:rPr>
              <a:t xml:space="preserve">The sign of a drug's effect at the injection site can differ from the sign of its effect at a distant recording site. Injection spread and network effects make it hard to assign the whole effect to one synapse. The distant recording site was in the lateral shell. Its response was tracked over time. Responses were tracked over several minutes after injection.</a:t>
            </a:r>
            <a:endParaRPr lang="en-US"/>
          </a:p>
          <a:p>
            <a:pPr algn="l">
              <a:lnSpc>
                <a:spcPct val="108000"/>
              </a:lnSpc>
              <a:spcAft>
                <a:spcPts val="1200"/>
              </a:spcAft>
              <a:buNone/>
            </a:pPr>
            <a:r>
              <a:rPr sz="1400" b="0" i="0">
                <a:solidFill>
                  <a:srgbClr val="1F262D"/>
                </a:solidFill>
                <a:latin typeface="Arial"/>
                <a:ea typeface="Arial"/>
              </a:rPr>
              <a:t xml:space="preserve">Reversible changes and the time course of recovery help distinguish acute circuit modulation from irreversible tissue damage. The lateral-shell recovery in this study points to modulation rather than injury. The time course of recovery in the study ran for about an hour. That timescale fits a change in circuit activity more than a lesion. Recovery began within the study's observation period.</a:t>
            </a:r>
            <a:endParaRPr lang="en-US"/>
          </a:p>
        </p:txBody>
      </p:sp>
      <p:pic>
        <p:nvPicPr>
          <p:cNvPr id="149" name="Presenton Native Image 33" descr=""/>
          <p:cNvPicPr/>
          <p:nvPr/>
        </p:nvPicPr>
        <p:blipFill>
          <a:blip r:embed="rId2" cstate="none"/>
          <a:stretch>
            <a:fillRect/>
          </a:stretch>
        </p:blipFill>
        <p:spPr>
          <a:xfrm>
            <a:off x="6870099" y="1280071"/>
            <a:ext cx="4754821" cy="4228505"/>
          </a:xfrm>
          <a:prstGeom prst="rect">
            <a:avLst/>
          </a:prstGeom>
        </p:spPr>
      </p:pic>
      <p:sp>
        <p:nvSpPr>
          <p:cNvPr id="420" name="Shape 420"/>
          <p:cNvSpPr/>
          <p:nvPr/>
        </p:nvSpPr>
        <p:spPr>
          <a:xfrm>
            <a:off x="6870055" y="560010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Adolphs (1993), Fig. 11(A–D). Increasing contralateral VLVp activity suppresses lateral-shell responses.</a:t>
            </a:r>
            <a:endParaRPr lang="en-US"/>
          </a:p>
        </p:txBody>
      </p:sp>
      <p:sp>
        <p:nvSpPr>
          <p:cNvPr id="421" name="Shape 421"/>
          <p:cNvSpPr/>
          <p:nvPr/>
        </p:nvSpPr>
        <p:spPr>
          <a:xfrm>
            <a:off x="566886" y="6382494"/>
            <a:ext cx="11058079" cy="9079"/>
          </a:xfrm>
          <a:prstGeom prst="rect">
            <a:avLst/>
          </a:prstGeom>
          <a:solidFill>
            <a:srgbClr val="C7D6E3"/>
          </a:solidFill>
        </p:spPr>
        <p:txBody>
          <a:bodyPr/>
          <a:lstStyle/>
          <a:p/>
        </p:txBody>
      </p:sp>
      <p:sp>
        <p:nvSpPr>
          <p:cNvPr id="422" name="Shape 42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Adolphs (1993)</a:t>
            </a:r>
            <a:endParaRPr lang="en-US"/>
          </a:p>
        </p:txBody>
      </p:sp>
      <p:sp>
        <p:nvSpPr>
          <p:cNvPr id="423" name="Shape 42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33a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2" name="Shape 39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Half-maximum points track the ILD axis</a:t>
            </a:r>
            <a:endParaRPr lang="en-US"/>
          </a:p>
        </p:txBody>
      </p:sp>
      <p:sp>
        <p:nvSpPr>
          <p:cNvPr id="393" name="Shape 39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Average binaural level is the mean of the two ear levels, expressed in decibels in this experiment. Opposite changes at the two ears vary the ILD while preserving that average. The ILD at each binaural level value is then recorded for every site. The ILD values describe balance rather than loudness at each site. The ILD values were then ordered by site position.</a:t>
            </a:r>
            <a:endParaRPr lang="en-US"/>
          </a:p>
          <a:p>
            <a:pPr algn="l">
              <a:lnSpc>
                <a:spcPct val="108000"/>
              </a:lnSpc>
              <a:spcAft>
                <a:spcPts val="1200"/>
              </a:spcAft>
              <a:buNone/>
            </a:pPr>
            <a:r>
              <a:rPr sz="1400" b="0" i="0">
                <a:solidFill>
                  <a:srgbClr val="1F262D"/>
                </a:solidFill>
                <a:latin typeface="Arial"/>
                <a:ea typeface="Arial"/>
              </a:rPr>
              <a:t xml:space="preserve">The authors grouped cells by their relative position within each penetration. The ordering reflects a physiological-anatomical relation, not a measurement of external elevation in degrees. Each penetration thus provides its own ordered sequence of sites. Cells were ordered within each penetration. Those sequences were examined for a dorsal-to-ventral trend, which was consistent across all the penetrations sampled.</a:t>
            </a:r>
            <a:endParaRPr lang="en-US"/>
          </a:p>
          <a:p>
            <a:pPr algn="l">
              <a:lnSpc>
                <a:spcPct val="108000"/>
              </a:lnSpc>
              <a:spcAft>
                <a:spcPts val="1200"/>
              </a:spcAft>
              <a:buNone/>
            </a:pPr>
            <a:r>
              <a:rPr sz="1400" b="0" i="0">
                <a:solidFill>
                  <a:srgbClr val="1F262D"/>
                </a:solidFill>
                <a:latin typeface="Arial"/>
                <a:ea typeface="Arial"/>
              </a:rPr>
              <a:t xml:space="preserve">This organization is internal to VLVp and describes the level-threshold axis of that nucleus, not space itself. Later stages of the pathway can read these graded values directly. The graded values sit on an axis that ranges from contralateral to ipsilateral bias. That axis, not a spatial coordinate, organizes the nucleus. This ordering gives a graded map of thresholds in the level pathway.</a:t>
            </a:r>
            <a:endParaRPr lang="en-US"/>
          </a:p>
        </p:txBody>
      </p:sp>
      <p:pic>
        <p:nvPicPr>
          <p:cNvPr id="146" name="Presenton Native Image 30" descr=""/>
          <p:cNvPicPr/>
          <p:nvPr/>
        </p:nvPicPr>
        <p:blipFill>
          <a:blip r:embed="rId2" cstate="none"/>
          <a:stretch>
            <a:fillRect/>
          </a:stretch>
        </p:blipFill>
        <p:spPr>
          <a:xfrm>
            <a:off x="6870125" y="1280071"/>
            <a:ext cx="4754769" cy="2299692"/>
          </a:xfrm>
          <a:prstGeom prst="rect">
            <a:avLst/>
          </a:prstGeom>
        </p:spPr>
      </p:pic>
      <p:sp>
        <p:nvSpPr>
          <p:cNvPr id="396" name="Shape 396"/>
          <p:cNvSpPr/>
          <p:nvPr/>
        </p:nvSpPr>
        <p:spPr>
          <a:xfrm>
            <a:off x="6870055" y="3671292"/>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Manley et al. (1988), Fig. 4(A–B). Dorsoventral ordering and level-stable half-maximum points.</a:t>
            </a:r>
            <a:endParaRPr lang="en-US"/>
          </a:p>
        </p:txBody>
      </p:sp>
      <p:sp>
        <p:nvSpPr>
          <p:cNvPr id="397" name="Shape 397"/>
          <p:cNvSpPr/>
          <p:nvPr/>
        </p:nvSpPr>
        <p:spPr>
          <a:xfrm>
            <a:off x="566886" y="6382494"/>
            <a:ext cx="11058079" cy="9079"/>
          </a:xfrm>
          <a:prstGeom prst="rect">
            <a:avLst/>
          </a:prstGeom>
          <a:solidFill>
            <a:srgbClr val="C7D6E3"/>
          </a:solidFill>
        </p:spPr>
        <p:txBody>
          <a:bodyPr/>
          <a:lstStyle/>
          <a:p/>
        </p:txBody>
      </p:sp>
      <p:sp>
        <p:nvSpPr>
          <p:cNvPr id="398" name="Shape 39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Manley et al. (1988)</a:t>
            </a:r>
            <a:endParaRPr lang="en-US"/>
          </a:p>
        </p:txBody>
      </p:sp>
      <p:sp>
        <p:nvSpPr>
          <p:cNvPr id="399" name="Shape 39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30a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8" name="Shape 36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Convergence needs a level control</a:t>
            </a:r>
            <a:endParaRPr lang="en-US"/>
          </a:p>
        </p:txBody>
      </p:sp>
      <p:sp>
        <p:nvSpPr>
          <p:cNvPr id="369" name="Shape 36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Two tones share a true imposed interaural delay, while their repeated phase matches occur at different delays. Their joint presentation favors the one delay that both channels agree on. The pair thus isolates the agreement between two frequency channels. Each tone alone produces its own set of repeated peaks. The shared delay is the one that survives the combination.</a:t>
            </a:r>
            <a:endParaRPr lang="en-US"/>
          </a:p>
          <a:p>
            <a:pPr algn="l">
              <a:lnSpc>
                <a:spcPct val="108000"/>
              </a:lnSpc>
              <a:spcAft>
                <a:spcPts val="1200"/>
              </a:spcAft>
              <a:buNone/>
            </a:pPr>
            <a:r>
              <a:rPr sz="1400" b="0" i="0">
                <a:solidFill>
                  <a:srgbClr val="1F262D"/>
                </a:solidFill>
                <a:latin typeface="Arial"/>
                <a:ea typeface="Arial"/>
              </a:rPr>
              <a:t>Component-only conditions isolate integration from a plain rise in sound energy. The joint response can then be attributed to agreement between channels rather than to added energy. The condition isolates the effect of combining channels, which is the quantity of interest. Its result is then set against the single-tone responses in the same cell.</a:t>
            </a:r>
            <a:endParaRPr lang="en-US"/>
          </a:p>
          <a:p>
            <a:pPr algn="l">
              <a:lnSpc>
                <a:spcPct val="108000"/>
              </a:lnSpc>
              <a:spcAft>
                <a:spcPts val="1200"/>
              </a:spcAft>
              <a:buNone/>
            </a:pPr>
            <a:r>
              <a:rPr sz="1400" b="0" i="0">
                <a:solidFill>
                  <a:srgbClr val="1F262D"/>
                </a:solidFill>
                <a:latin typeface="Arial"/>
                <a:ea typeface="Arial"/>
              </a:rPr>
              <a:t>Each tone's repeated maxima sit at different delays, so the pair can reveal the one delay the two channels share. The convergence mechanism is tested by this shared delay. The convergence mechanism predicts that agreement favors this delay. Other nonlinear steps can add to the selectivity in the same cell. The published analysis compares the response to that expectation directly.</a:t>
            </a:r>
            <a:endParaRPr lang="en-US"/>
          </a:p>
        </p:txBody>
      </p:sp>
      <p:pic>
        <p:nvPicPr>
          <p:cNvPr id="143" name="Presenton Native Image 27" descr=""/>
          <p:cNvPicPr/>
          <p:nvPr/>
        </p:nvPicPr>
        <p:blipFill>
          <a:blip r:embed="rId2" cstate="none"/>
          <a:stretch>
            <a:fillRect/>
          </a:stretch>
        </p:blipFill>
        <p:spPr>
          <a:xfrm>
            <a:off x="6870061" y="1280071"/>
            <a:ext cx="4754897" cy="3781127"/>
          </a:xfrm>
          <a:prstGeom prst="rect">
            <a:avLst/>
          </a:prstGeom>
        </p:spPr>
      </p:pic>
      <p:sp>
        <p:nvSpPr>
          <p:cNvPr id="372" name="Shape 372"/>
          <p:cNvSpPr/>
          <p:nvPr/>
        </p:nvSpPr>
        <p:spPr>
          <a:xfrm>
            <a:off x="6870055" y="5152727"/>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Takahashi </a:t>
            </a:r>
            <a:r>
              <a:rPr sz="1000" b="0" i="0">
                <a:solidFill>
                  <a:srgbClr val="58636E"/>
                </a:solidFill>
                <a:latin typeface="Arial"/>
                <a:ea typeface="Arial"/>
              </a:rPr>
              <a:t>&amp;</a:t>
            </a:r>
            <a:r>
              <a:rPr sz="1000" b="0" i="0">
                <a:solidFill>
                  <a:srgbClr val="58636E"/>
                </a:solidFill>
                <a:latin typeface="Arial"/>
                <a:ea typeface="Arial"/>
              </a:rPr>
              <a:t xml:space="preserve"> Konishi (1986), Fig. 9(A–C). Two-tone responses test convergence across frequency channels.</a:t>
            </a:r>
            <a:endParaRPr lang="en-US"/>
          </a:p>
        </p:txBody>
      </p:sp>
      <p:sp>
        <p:nvSpPr>
          <p:cNvPr id="373" name="Shape 373"/>
          <p:cNvSpPr/>
          <p:nvPr/>
        </p:nvSpPr>
        <p:spPr>
          <a:xfrm>
            <a:off x="566886" y="6382494"/>
            <a:ext cx="11058079" cy="9079"/>
          </a:xfrm>
          <a:prstGeom prst="rect">
            <a:avLst/>
          </a:prstGeom>
          <a:solidFill>
            <a:srgbClr val="C7D6E3"/>
          </a:solidFill>
        </p:spPr>
        <p:txBody>
          <a:bodyPr/>
          <a:lstStyle/>
          <a:p/>
        </p:txBody>
      </p:sp>
      <p:sp>
        <p:nvSpPr>
          <p:cNvPr id="374" name="Shape 37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Takahashi &amp; Konishi (1986)</a:t>
            </a:r>
            <a:endParaRPr lang="en-US"/>
          </a:p>
        </p:txBody>
      </p:sp>
      <p:sp>
        <p:nvSpPr>
          <p:cNvPr id="375" name="Shape 37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27a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4" name="Shape 34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Injections label a restricted target region</a:t>
            </a:r>
            <a:endParaRPr lang="en-US"/>
          </a:p>
        </p:txBody>
      </p:sp>
      <p:sp>
        <p:nvSpPr>
          <p:cNvPr id="345" name="Shape 34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An injection region can encompass more than one cell, so the result concerns a restricted target region rather than a complete single-cell wiring diagram. The synaptic weight of each labeled cell lies outside what this method measures. The labeled population is thus a region-level description of the projection. Retrograde labeling identifies a source region, not a single cell.</a:t>
            </a:r>
            <a:endParaRPr lang="en-US"/>
          </a:p>
          <a:p>
            <a:pPr algn="l">
              <a:lnSpc>
                <a:spcPct val="108000"/>
              </a:lnSpc>
              <a:spcAft>
                <a:spcPts val="1200"/>
              </a:spcAft>
              <a:buNone/>
            </a:pPr>
            <a:r>
              <a:rPr sz="1400" b="0" i="0">
                <a:solidFill>
                  <a:srgbClr val="1F262D"/>
                </a:solidFill>
                <a:latin typeface="Arial"/>
                <a:ea typeface="Arial"/>
              </a:rPr>
              <a:t xml:space="preserve">The experiment combines two independent kinds of evidence: physiological cue tuning and anatomical projection labeling. Each kind of evidence points to the same array-to-region link from a different direction. The matched timing preferences give the physiological side of the same projection. The link between ICC and ICx is thus shown from two directions in this preparation.</a:t>
            </a:r>
            <a:endParaRPr lang="en-US"/>
          </a:p>
          <a:p>
            <a:pPr algn="l">
              <a:lnSpc>
                <a:spcPct val="108000"/>
              </a:lnSpc>
              <a:spcAft>
                <a:spcPts val="1200"/>
              </a:spcAft>
              <a:buNone/>
            </a:pPr>
            <a:r>
              <a:rPr sz="1400" b="0" i="0">
                <a:solidFill>
                  <a:srgbClr val="1F262D"/>
                </a:solidFill>
                <a:latin typeface="Arial"/>
                <a:ea typeface="Arial"/>
              </a:rPr>
              <a:t xml:space="preserve">The published sections keep the labeled somata and the response curves together, so the anatomy and the physiology can be read side by side. The scale bars give the size of the labeled region in the tissue. Retrograde tracing shows where a projection starts, while the physiology shows what the labeled cells respond to in this study.</a:t>
            </a:r>
            <a:endParaRPr lang="en-US"/>
          </a:p>
        </p:txBody>
      </p:sp>
      <p:pic>
        <p:nvPicPr>
          <p:cNvPr id="140" name="Presenton Native Image 24" descr=""/>
          <p:cNvPicPr/>
          <p:nvPr/>
        </p:nvPicPr>
        <p:blipFill>
          <a:blip r:embed="rId2" cstate="none"/>
          <a:stretch>
            <a:fillRect/>
          </a:stretch>
        </p:blipFill>
        <p:spPr>
          <a:xfrm>
            <a:off x="6870068" y="1280071"/>
            <a:ext cx="4754885" cy="2189411"/>
          </a:xfrm>
          <a:prstGeom prst="rect">
            <a:avLst/>
          </a:prstGeom>
        </p:spPr>
      </p:pic>
      <p:sp>
        <p:nvSpPr>
          <p:cNvPr id="348" name="Shape 348"/>
          <p:cNvSpPr/>
          <p:nvPr/>
        </p:nvSpPr>
        <p:spPr>
          <a:xfrm>
            <a:off x="6870055" y="356101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6(A–B). Physiological timing preferences matched to retrogradely labeled arrays.</a:t>
            </a:r>
            <a:endParaRPr lang="en-US"/>
          </a:p>
        </p:txBody>
      </p:sp>
      <p:sp>
        <p:nvSpPr>
          <p:cNvPr id="349" name="Shape 349"/>
          <p:cNvSpPr/>
          <p:nvPr/>
        </p:nvSpPr>
        <p:spPr>
          <a:xfrm>
            <a:off x="566886" y="6382494"/>
            <a:ext cx="11058079" cy="9079"/>
          </a:xfrm>
          <a:prstGeom prst="rect">
            <a:avLst/>
          </a:prstGeom>
          <a:solidFill>
            <a:srgbClr val="C7D6E3"/>
          </a:solidFill>
        </p:spPr>
        <p:txBody>
          <a:bodyPr/>
          <a:lstStyle/>
          <a:p/>
        </p:txBody>
      </p:sp>
      <p:sp>
        <p:nvSpPr>
          <p:cNvPr id="350" name="Shape 35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51" name="Shape 35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24a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0" name="Shape 32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Recorded peaks match across recording types</a:t>
            </a:r>
            <a:endParaRPr lang="en-US"/>
          </a:p>
        </p:txBody>
      </p:sp>
      <p:sp>
        <p:nvSpPr>
          <p:cNvPr id="321" name="Shape 32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curves are normalized to each recording's maximum, so alignment refers to relative response levels rather than identical absolute firing. Relative response levels are thus comparable across recordings. Absolute spike counts can differ between the recordings without changing the alignment. This normalization puts the peaks of different recordings on a common scale. Relative response levels are comparable across the recordings.</a:t>
            </a:r>
            <a:endParaRPr lang="en-US"/>
          </a:p>
          <a:p>
            <a:pPr algn="l">
              <a:lnSpc>
                <a:spcPct val="108000"/>
              </a:lnSpc>
              <a:spcAft>
                <a:spcPts val="1200"/>
              </a:spcAft>
              <a:buNone/>
            </a:pPr>
            <a:r>
              <a:rPr sz="1400" b="0" i="0">
                <a:solidFill>
                  <a:srgbClr val="1F262D"/>
                </a:solidFill>
                <a:latin typeface="Arial"/>
                <a:ea typeface="Arial"/>
              </a:rPr>
              <a:t xml:space="preserve">The study compared single-unit and multi-unit recordings and found closely matching peak positions. Those matching positions show that the array-specific delay appears in both kinds of recording. Single-unit recordings isolate one neuron, while multi-unit recordings sample a population of neurons. Both record the same delay, so the array's timing value is consistent across the two sampling methods.</a:t>
            </a:r>
            <a:endParaRPr lang="en-US"/>
          </a:p>
          <a:p>
            <a:pPr algn="l">
              <a:lnSpc>
                <a:spcPct val="108000"/>
              </a:lnSpc>
              <a:spcAft>
                <a:spcPts val="1200"/>
              </a:spcAft>
              <a:buNone/>
            </a:pPr>
            <a:r>
              <a:rPr sz="1400" b="0" i="0">
                <a:solidFill>
                  <a:srgbClr val="1F262D"/>
                </a:solidFill>
                <a:latin typeface="Arial"/>
                <a:ea typeface="Arial"/>
              </a:rPr>
              <a:t xml:space="preserve">A preferred phase for one frequency is insufficient to identify the array-specific ITD without the cross-frequency relation. The timing value emerges when the frequencies are considered together. Frequencies examined one at a time leave the array delay undetermined. Pooling across frequencies resolves that ambiguity in the array. A shared relation across frequencies gives a single timing value.</a:t>
            </a:r>
            <a:endParaRPr lang="en-US"/>
          </a:p>
        </p:txBody>
      </p:sp>
      <p:pic>
        <p:nvPicPr>
          <p:cNvPr id="137" name="Presenton Native Image 21" descr=""/>
          <p:cNvPicPr/>
          <p:nvPr/>
        </p:nvPicPr>
        <p:blipFill>
          <a:blip r:embed="rId2" cstate="none"/>
          <a:stretch>
            <a:fillRect/>
          </a:stretch>
        </p:blipFill>
        <p:spPr>
          <a:xfrm>
            <a:off x="6870073" y="1280071"/>
            <a:ext cx="4754873" cy="2055465"/>
          </a:xfrm>
          <a:prstGeom prst="rect">
            <a:avLst/>
          </a:prstGeom>
        </p:spPr>
      </p:pic>
      <p:sp>
        <p:nvSpPr>
          <p:cNvPr id="324" name="Shape 324"/>
          <p:cNvSpPr/>
          <p:nvPr/>
        </p:nvSpPr>
        <p:spPr>
          <a:xfrm>
            <a:off x="6870055" y="342706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Wagner et al. (1987), Fig. 1(A–B). Frequency channels in one neuronal array share a timing preference.</a:t>
            </a:r>
            <a:endParaRPr lang="en-US"/>
          </a:p>
        </p:txBody>
      </p:sp>
      <p:sp>
        <p:nvSpPr>
          <p:cNvPr id="325" name="Shape 325"/>
          <p:cNvSpPr/>
          <p:nvPr/>
        </p:nvSpPr>
        <p:spPr>
          <a:xfrm>
            <a:off x="566886" y="6382494"/>
            <a:ext cx="11058079" cy="9079"/>
          </a:xfrm>
          <a:prstGeom prst="rect">
            <a:avLst/>
          </a:prstGeom>
          <a:solidFill>
            <a:srgbClr val="C7D6E3"/>
          </a:solidFill>
        </p:spPr>
        <p:txBody>
          <a:bodyPr/>
          <a:lstStyle/>
          <a:p/>
        </p:txBody>
      </p:sp>
      <p:sp>
        <p:nvSpPr>
          <p:cNvPr id="326" name="Shape 32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Wagner et al. (1987)</a:t>
            </a:r>
            <a:endParaRPr lang="en-US"/>
          </a:p>
        </p:txBody>
      </p:sp>
      <p:sp>
        <p:nvSpPr>
          <p:cNvPr id="327" name="Shape 32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21a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6" name="Shape 29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Myelin spacing is one anatomical contributor</a:t>
            </a:r>
            <a:endParaRPr lang="en-US"/>
          </a:p>
        </p:txBody>
      </p:sp>
      <p:sp>
        <p:nvSpPr>
          <p:cNvPr id="297" name="Shape 29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Nodes are interruptions of the myelin sheath, and nodal spacing is one anatomical contributor to impulse propagation. The internodal measurements describe a structural feature that could affect conduction speed in these axons. Impulse propagation is renewed at each node, which keeps the signal moving along the fiber. The spacing of those nodes sets how often this renewal occurs along the axon.</a:t>
            </a:r>
            <a:endParaRPr lang="en-US"/>
          </a:p>
          <a:p>
            <a:pPr algn="l">
              <a:lnSpc>
                <a:spcPct val="108000"/>
              </a:lnSpc>
              <a:spcAft>
                <a:spcPts val="1200"/>
              </a:spcAft>
              <a:buNone/>
            </a:pPr>
            <a:r>
              <a:rPr sz="1400" b="0" i="0">
                <a:solidFill>
                  <a:srgbClr val="1F262D"/>
                </a:solidFill>
                <a:latin typeface="Arial"/>
                <a:ea typeface="Arial"/>
              </a:rPr>
              <a:t xml:space="preserve">The interpretation combines measured axonal anatomy with measured conduction delays. The mechanistic inference is kept separate from those measurements, so each claim stays tied to its own evidence. Conduction velocity estimates come from the physiology of the same preparation. Those estimates place delay generation within the range seen in these axons. Those values are local estimates rather than whole-axon measurements.</a:t>
            </a:r>
            <a:endParaRPr lang="en-US"/>
          </a:p>
          <a:p>
            <a:pPr algn="l">
              <a:lnSpc>
                <a:spcPct val="108000"/>
              </a:lnSpc>
              <a:spcAft>
                <a:spcPts val="1200"/>
              </a:spcAft>
              <a:buNone/>
            </a:pPr>
            <a:r>
              <a:rPr sz="1400" b="0" i="0">
                <a:solidFill>
                  <a:srgbClr val="1F262D"/>
                </a:solidFill>
                <a:latin typeface="Arial"/>
                <a:ea typeface="Arial"/>
              </a:rPr>
              <a:t xml:space="preserve">Both kinds of measurement were made in the same HRP-labeled axons, which links the spacing to the delay gradients. The anatomy and the physiology share one reference, the labeled fiber itself. The authors used those same labeled fibers for every measurement reported. Their combined reading supports the proposal in this single preparation. Those results support the proposal directly.</a:t>
            </a:r>
            <a:endParaRPr lang="en-US"/>
          </a:p>
        </p:txBody>
      </p:sp>
      <p:pic>
        <p:nvPicPr>
          <p:cNvPr id="134" name="Presenton Native Image 18" descr=""/>
          <p:cNvPicPr/>
          <p:nvPr/>
        </p:nvPicPr>
        <p:blipFill>
          <a:blip r:embed="rId2" cstate="none"/>
          <a:stretch>
            <a:fillRect/>
          </a:stretch>
        </p:blipFill>
        <p:spPr>
          <a:xfrm>
            <a:off x="7894608" y="1280071"/>
            <a:ext cx="2705656" cy="4297561"/>
          </a:xfrm>
          <a:prstGeom prst="rect">
            <a:avLst/>
          </a:prstGeom>
        </p:spPr>
      </p:pic>
      <p:sp>
        <p:nvSpPr>
          <p:cNvPr id="300" name="Shape 30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10(A–C). Short myelin internodes within laminaris and labeled axons.</a:t>
            </a:r>
            <a:endParaRPr lang="en-US"/>
          </a:p>
        </p:txBody>
      </p:sp>
      <p:sp>
        <p:nvSpPr>
          <p:cNvPr id="301" name="Shape 301"/>
          <p:cNvSpPr/>
          <p:nvPr/>
        </p:nvSpPr>
        <p:spPr>
          <a:xfrm>
            <a:off x="566886" y="6382494"/>
            <a:ext cx="11058079" cy="9079"/>
          </a:xfrm>
          <a:prstGeom prst="rect">
            <a:avLst/>
          </a:prstGeom>
          <a:solidFill>
            <a:srgbClr val="C7D6E3"/>
          </a:solidFill>
        </p:spPr>
        <p:txBody>
          <a:bodyPr/>
          <a:lstStyle/>
          <a:p/>
        </p:txBody>
      </p:sp>
      <p:sp>
        <p:nvSpPr>
          <p:cNvPr id="302" name="Shape 30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303" name="Shape 30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18a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2" name="Shape 2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Reconstructed arbors show layout, not length</a:t>
            </a:r>
            <a:endParaRPr lang="en-US"/>
          </a:p>
        </p:txBody>
      </p:sp>
      <p:sp>
        <p:nvSpPr>
          <p:cNvPr id="273" name="Shape 273"/>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original authors reconstructed three-dimensional axon arbors across serial sections and then adjusted their projection onto the published two-dimensional view. The figure is cropped unchanged from the article, and its scale bar represents 1 mm. The figure thus shows a layout rather than a measurement. The scale bar sets the size of that layout in physical units.</a:t>
            </a:r>
            <a:endParaRPr lang="en-US"/>
          </a:p>
          <a:p>
            <a:pPr algn="l">
              <a:lnSpc>
                <a:spcPct val="108000"/>
              </a:lnSpc>
              <a:spcAft>
                <a:spcPts val="1200"/>
              </a:spcAft>
              <a:buNone/>
            </a:pPr>
            <a:r>
              <a:rPr sz="1400" b="0" i="0">
                <a:solidFill>
                  <a:srgbClr val="1F262D"/>
                </a:solidFill>
                <a:latin typeface="Arial"/>
                <a:ea typeface="Arial"/>
              </a:rPr>
              <a:t xml:space="preserve">The drawing's geometry shows the arrangement of the branches, not an exact flattened measurement of each branch length. Physical separation in the drawing is a guide to layout rather than a measured distance. Each branch in the drawing traces a path from NM to one border. Relative positions along each border can be read directly from the drawing.</a:t>
            </a:r>
            <a:endParaRPr lang="en-US"/>
          </a:p>
          <a:p>
            <a:pPr algn="l">
              <a:lnSpc>
                <a:spcPct val="108000"/>
              </a:lnSpc>
              <a:spcAft>
                <a:spcPts val="1200"/>
              </a:spcAft>
              <a:buNone/>
            </a:pPr>
            <a:r>
              <a:rPr sz="1400" b="0" i="0">
                <a:solidFill>
                  <a:srgbClr val="1F262D"/>
                </a:solidFill>
                <a:latin typeface="Arial"/>
                <a:ea typeface="Arial"/>
              </a:rPr>
              <a:t xml:space="preserve">The reconstruction is a published anatomical result, so its geometry comes from the authors' own tracing rather than from a schematic drawing. Readers can treat its layout as the authors' record of the labeled axons in those sections. Tracing shows where axons go, so it identifies the entry geometry that a delay line needs to work.</a:t>
            </a:r>
            <a:endParaRPr lang="en-US"/>
          </a:p>
        </p:txBody>
      </p:sp>
      <p:pic>
        <p:nvPicPr>
          <p:cNvPr id="131" name="Presenton Native Image 15" descr=""/>
          <p:cNvPicPr/>
          <p:nvPr/>
        </p:nvPicPr>
        <p:blipFill>
          <a:blip r:embed="rId2" cstate="none"/>
          <a:stretch>
            <a:fillRect/>
          </a:stretch>
        </p:blipFill>
        <p:spPr>
          <a:xfrm>
            <a:off x="6870274" y="1280071"/>
            <a:ext cx="4754472" cy="2039838"/>
          </a:xfrm>
          <a:prstGeom prst="rect">
            <a:avLst/>
          </a:prstGeom>
        </p:spPr>
      </p:pic>
      <p:sp>
        <p:nvSpPr>
          <p:cNvPr id="276" name="Shape 276"/>
          <p:cNvSpPr/>
          <p:nvPr/>
        </p:nvSpPr>
        <p:spPr>
          <a:xfrm>
            <a:off x="6870055" y="3411438"/>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2. Published traced magnocellular axons entering laminaris from opposite borders.</a:t>
            </a:r>
            <a:endParaRPr lang="en-US"/>
          </a:p>
        </p:txBody>
      </p:sp>
      <p:sp>
        <p:nvSpPr>
          <p:cNvPr id="277" name="Shape 277"/>
          <p:cNvSpPr/>
          <p:nvPr/>
        </p:nvSpPr>
        <p:spPr>
          <a:xfrm>
            <a:off x="566886" y="6382494"/>
            <a:ext cx="11058079" cy="9079"/>
          </a:xfrm>
          <a:prstGeom prst="rect">
            <a:avLst/>
          </a:prstGeom>
          <a:solidFill>
            <a:srgbClr val="C7D6E3"/>
          </a:solidFill>
        </p:spPr>
        <p:txBody>
          <a:bodyPr/>
          <a:lstStyle/>
          <a:p/>
        </p:txBody>
      </p:sp>
      <p:sp>
        <p:nvSpPr>
          <p:cNvPr id="278" name="Shape 2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279" name="Shape 27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15a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8" name="Shape 24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Calibrated tones define the phase measure</a:t>
            </a:r>
            <a:endParaRPr lang="en-US"/>
          </a:p>
        </p:txBody>
      </p:sp>
      <p:sp>
        <p:nvSpPr>
          <p:cNvPr id="249" name="Shape 249"/>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study used ear-canal calibration for individual animals, so the stimulus level was measured at the auditory input rather than inferred from a speaker setting. Each level value is tied to the sound that actually reached that animal's ear. The calibrated value is the level at the auditory input, not at the speaker. Calibration is what makes the levels comparable across animals.</a:t>
            </a:r>
            <a:endParaRPr lang="en-US"/>
          </a:p>
          <a:p>
            <a:pPr algn="l">
              <a:lnSpc>
                <a:spcPct val="108000"/>
              </a:lnSpc>
              <a:spcAft>
                <a:spcPts val="1200"/>
              </a:spcAft>
              <a:buNone/>
            </a:pPr>
            <a:r>
              <a:rPr sz="1400" b="0" i="0">
                <a:solidFill>
                  <a:srgbClr val="1F262D"/>
                </a:solidFill>
                <a:latin typeface="Arial"/>
                <a:ea typeface="Arial"/>
              </a:rPr>
              <a:t xml:space="preserve">Vector strength pools phase values across many cycles of the tone. A high-frequency neuron can still carry information about its preferred stimulus phase while firing on a subset of cycles. Each cycle contributes its phase to the vector, so more cycles give a more stable estimate. The stimulus was a tone of fixed frequency and level.</a:t>
            </a:r>
            <a:endParaRPr lang="en-US"/>
          </a:p>
          <a:p>
            <a:pPr algn="l">
              <a:lnSpc>
                <a:spcPct val="108000"/>
              </a:lnSpc>
              <a:spcAft>
                <a:spcPts val="1200"/>
              </a:spcAft>
              <a:buNone/>
            </a:pPr>
            <a:r>
              <a:rPr sz="1400" b="0" i="0">
                <a:solidFill>
                  <a:srgbClr val="1F262D"/>
                </a:solidFill>
                <a:latin typeface="Arial"/>
                <a:ea typeface="Arial"/>
              </a:rPr>
              <a:t xml:space="preserve">Detectable locking is not equivalent to equally precise locking at every frequency. Phase locking should be read frequency by frequency, since the precision of the timing signal changes across the range. Phase organization can be measured at a sound level below the rate threshold. Its precision depends on frequency and level together. Its precision depends on frequency and level together.</a:t>
            </a:r>
            <a:endParaRPr lang="en-US"/>
          </a:p>
        </p:txBody>
      </p:sp>
      <p:pic>
        <p:nvPicPr>
          <p:cNvPr id="128" name="Presenton Native Image 12" descr=""/>
          <p:cNvPicPr/>
          <p:nvPr/>
        </p:nvPicPr>
        <p:blipFill>
          <a:blip r:embed="rId2" cstate="none"/>
          <a:stretch>
            <a:fillRect/>
          </a:stretch>
        </p:blipFill>
        <p:spPr>
          <a:xfrm>
            <a:off x="8260407" y="1280100"/>
            <a:ext cx="1974056" cy="4297503"/>
          </a:xfrm>
          <a:prstGeom prst="rect">
            <a:avLst/>
          </a:prstGeom>
        </p:spPr>
      </p:pic>
      <p:sp>
        <p:nvSpPr>
          <p:cNvPr id="252" name="Shape 2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Köppl (1997), Fig. 1(A–N). Auditory-nerve phase locking at high stimulus frequencies.</a:t>
            </a:r>
            <a:endParaRPr lang="en-US"/>
          </a:p>
        </p:txBody>
      </p:sp>
      <p:sp>
        <p:nvSpPr>
          <p:cNvPr id="253" name="Shape 253"/>
          <p:cNvSpPr/>
          <p:nvPr/>
        </p:nvSpPr>
        <p:spPr>
          <a:xfrm>
            <a:off x="566886" y="6382494"/>
            <a:ext cx="11058079" cy="9079"/>
          </a:xfrm>
          <a:prstGeom prst="rect">
            <a:avLst/>
          </a:prstGeom>
          <a:solidFill>
            <a:srgbClr val="C7D6E3"/>
          </a:solidFill>
        </p:spPr>
        <p:txBody>
          <a:bodyPr/>
          <a:lstStyle/>
          <a:p/>
        </p:txBody>
      </p:sp>
      <p:sp>
        <p:nvSpPr>
          <p:cNvPr id="254" name="Shape 2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Köppl (1997)</a:t>
            </a:r>
            <a:endParaRPr lang="en-US"/>
          </a:p>
        </p:txBody>
      </p:sp>
      <p:sp>
        <p:nvSpPr>
          <p:cNvPr id="255" name="Shape 2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12a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24" name="Shape 2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Parallel nuclei transform a shared input</a:t>
            </a:r>
            <a:endParaRPr lang="en-US"/>
          </a:p>
        </p:txBody>
      </p:sp>
      <p:sp>
        <p:nvSpPr>
          <p:cNvPr id="225" name="Shape 225"/>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Auditory-nerve fibers carry both temporal and level information. Parallel nuclei can emphasize different variables while receiving the same peripheral input, because each nucleus reads that shared signal in its own way. Neurons in each nucleus thus carry different features of the same sound. The nucleus determines which variable is kept in its output. Each nucleus thus has a distinct output.</a:t>
            </a:r>
            <a:endParaRPr lang="en-US"/>
          </a:p>
          <a:p>
            <a:pPr algn="l">
              <a:lnSpc>
                <a:spcPct val="108000"/>
              </a:lnSpc>
              <a:spcAft>
                <a:spcPts val="1200"/>
              </a:spcAft>
              <a:buNone/>
            </a:pPr>
            <a:r>
              <a:rPr sz="1400" b="0" i="0">
                <a:solidFill>
                  <a:srgbClr val="1F262D"/>
                </a:solidFill>
                <a:latin typeface="Arial"/>
                <a:ea typeface="Arial"/>
              </a:rPr>
              <a:t xml:space="preserve">The relevant difference lies in how each nucleus transforms its shared peripheral input, not in which signals reach it. The original micrograph supplies the positions of the nuclei and a scale bar for the sections. The labeled structures are experimental tissue from the study itself, not a schematic circuit. The labeled nuclei are shown at the scale of the sections.</a:t>
            </a:r>
            <a:endParaRPr lang="en-US"/>
          </a:p>
          <a:p>
            <a:pPr algn="l">
              <a:lnSpc>
                <a:spcPct val="108000"/>
              </a:lnSpc>
              <a:spcAft>
                <a:spcPts val="1200"/>
              </a:spcAft>
              <a:buNone/>
            </a:pPr>
            <a:r>
              <a:rPr sz="1400" b="0" i="0">
                <a:solidFill>
                  <a:srgbClr val="1F262D"/>
                </a:solidFill>
                <a:latin typeface="Arial"/>
                <a:ea typeface="Arial"/>
              </a:rPr>
              <a:t xml:space="preserve">Histological landmarks supplied the reference points for intracellular recording and tracer experiments. Each recording depth could then be assigned to a named nucleus before its responses were interpreted. Histology was thus the anatomical basis for the later measurements. The landmarks were visible in each transverse section. Each named nucleus then carried its own recordings in that section.</a:t>
            </a:r>
            <a:endParaRPr lang="en-US"/>
          </a:p>
        </p:txBody>
      </p:sp>
      <p:pic>
        <p:nvPicPr>
          <p:cNvPr id="125" name="Presenton Native Image 9" descr=""/>
          <p:cNvPicPr/>
          <p:nvPr/>
        </p:nvPicPr>
        <p:blipFill>
          <a:blip r:embed="rId2" cstate="none"/>
          <a:stretch>
            <a:fillRect/>
          </a:stretch>
        </p:blipFill>
        <p:spPr>
          <a:xfrm>
            <a:off x="6870110" y="1280071"/>
            <a:ext cx="4754799" cy="3358753"/>
          </a:xfrm>
          <a:prstGeom prst="rect">
            <a:avLst/>
          </a:prstGeom>
        </p:spPr>
      </p:pic>
      <p:sp>
        <p:nvSpPr>
          <p:cNvPr id="228" name="Shape 228"/>
          <p:cNvSpPr/>
          <p:nvPr/>
        </p:nvSpPr>
        <p:spPr>
          <a:xfrm>
            <a:off x="6870055" y="4730353"/>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 xml:space="preserve">Carr </a:t>
            </a:r>
            <a:r>
              <a:rPr sz="1000" b="0" i="0">
                <a:solidFill>
                  <a:srgbClr val="58636E"/>
                </a:solidFill>
                <a:latin typeface="Arial"/>
                <a:ea typeface="Arial"/>
              </a:rPr>
              <a:t>&amp;</a:t>
            </a:r>
            <a:r>
              <a:rPr sz="1000" b="0" i="0">
                <a:solidFill>
                  <a:srgbClr val="58636E"/>
                </a:solidFill>
                <a:latin typeface="Arial"/>
                <a:ea typeface="Arial"/>
              </a:rPr>
              <a:t xml:space="preserve"> Konishi (1990), Fig. 1. Histological positions of the owl auditory brainstem nuclei.</a:t>
            </a:r>
            <a:endParaRPr lang="en-US"/>
          </a:p>
        </p:txBody>
      </p:sp>
      <p:sp>
        <p:nvSpPr>
          <p:cNvPr id="229" name="Shape 229"/>
          <p:cNvSpPr/>
          <p:nvPr/>
        </p:nvSpPr>
        <p:spPr>
          <a:xfrm>
            <a:off x="566886" y="6382494"/>
            <a:ext cx="11058079" cy="9079"/>
          </a:xfrm>
          <a:prstGeom prst="rect">
            <a:avLst/>
          </a:prstGeom>
          <a:solidFill>
            <a:srgbClr val="C7D6E3"/>
          </a:solidFill>
        </p:spPr>
        <p:txBody>
          <a:bodyPr/>
          <a:lstStyle/>
          <a:p/>
        </p:txBody>
      </p:sp>
      <p:sp>
        <p:nvSpPr>
          <p:cNvPr id="230" name="Shape 2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 xml:space="preserve">Carr &amp; Konishi (1990)</a:t>
            </a:r>
            <a:endParaRPr lang="en-US"/>
          </a:p>
        </p:txBody>
      </p:sp>
      <p:sp>
        <p:nvSpPr>
          <p:cNvPr id="231" name="Shape 23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09a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0" name="Shape 20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Earphones isolate one binaural cue</a:t>
            </a:r>
            <a:endParaRPr lang="en-US"/>
          </a:p>
        </p:txBody>
      </p:sp>
      <p:sp>
        <p:nvSpPr>
          <p:cNvPr id="201" name="Shape 201"/>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Earphones allowed one binaural cue to change without the acoustically coupled changes that a moving real speaker produces. Holding the other cue fixed showed whether a preference shifted when the other input changed. Each series changed one cue while the other stayed fixed. The two cues were varied in separate series on the same neuron.</a:t>
            </a:r>
            <a:endParaRPr lang="en-US"/>
          </a:p>
          <a:p>
            <a:pPr algn="l">
              <a:lnSpc>
                <a:spcPct val="108000"/>
              </a:lnSpc>
              <a:spcAft>
                <a:spcPts val="1200"/>
              </a:spcAft>
              <a:buNone/>
            </a:pPr>
            <a:r>
              <a:rPr sz="1400" b="0" i="0">
                <a:solidFill>
                  <a:srgbClr val="1F262D"/>
                </a:solidFill>
                <a:latin typeface="Arial"/>
                <a:ea typeface="Arial"/>
              </a:rPr>
              <a:t xml:space="preserve">The key observation concerned the position of each tuning peak rather than whether every spike count stayed identical across conditions. Peak position, not identical spike counts, defined each preference. A shifted peak indicates a change in preference, while a change in spike count alone reflects a change in response magnitude. The same logic applied to each series.</a:t>
            </a:r>
            <a:endParaRPr lang="en-US"/>
          </a:p>
          <a:p>
            <a:pPr algn="l">
              <a:lnSpc>
                <a:spcPct val="108000"/>
              </a:lnSpc>
              <a:spcAft>
                <a:spcPts val="1200"/>
              </a:spcAft>
              <a:buNone/>
            </a:pPr>
            <a:r>
              <a:rPr sz="1400" b="0" i="0">
                <a:solidFill>
                  <a:srgbClr val="1F262D"/>
                </a:solidFill>
                <a:latin typeface="Arial"/>
                <a:ea typeface="Arial"/>
              </a:rPr>
              <a:t xml:space="preserve">Calibrated earphones delivered every condition, so the sound level reaching each ear was known. The peak positions can be read against a controlled acoustic setting. Each series varied a single cue in the same neuron. The same neuron was tested in every series, so the values are directly matched. Acoustic conditions stayed matched across series.</a:t>
            </a:r>
            <a:endParaRPr lang="en-US"/>
          </a:p>
        </p:txBody>
      </p:sp>
      <p:pic>
        <p:nvPicPr>
          <p:cNvPr id="122" name="Presenton Native Image 6" descr=""/>
          <p:cNvPicPr/>
          <p:nvPr/>
        </p:nvPicPr>
        <p:blipFill>
          <a:blip r:embed="rId2" cstate="none"/>
          <a:stretch>
            <a:fillRect/>
          </a:stretch>
        </p:blipFill>
        <p:spPr>
          <a:xfrm>
            <a:off x="6870129" y="1280071"/>
            <a:ext cx="4754761" cy="2377380"/>
          </a:xfrm>
          <a:prstGeom prst="rect">
            <a:avLst/>
          </a:prstGeom>
        </p:spPr>
      </p:pic>
      <p:sp>
        <p:nvSpPr>
          <p:cNvPr id="204" name="Shape 204"/>
          <p:cNvSpPr/>
          <p:nvPr/>
        </p:nvSpPr>
        <p:spPr>
          <a:xfrm>
            <a:off x="6870055" y="3748980"/>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Takahashi et al. (1984), Fig. 4. Independent tuning to timing and level differences.</a:t>
            </a:r>
            <a:endParaRPr lang="en-US"/>
          </a:p>
        </p:txBody>
      </p:sp>
      <p:sp>
        <p:nvSpPr>
          <p:cNvPr id="205" name="Shape 205"/>
          <p:cNvSpPr/>
          <p:nvPr/>
        </p:nvSpPr>
        <p:spPr>
          <a:xfrm>
            <a:off x="566886" y="6382494"/>
            <a:ext cx="11058079" cy="9079"/>
          </a:xfrm>
          <a:prstGeom prst="rect">
            <a:avLst/>
          </a:prstGeom>
          <a:solidFill>
            <a:srgbClr val="C7D6E3"/>
          </a:solidFill>
        </p:spPr>
        <p:txBody>
          <a:bodyPr/>
          <a:lstStyle/>
          <a:p/>
        </p:txBody>
      </p:sp>
      <p:sp>
        <p:nvSpPr>
          <p:cNvPr id="206" name="Shape 2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Takahashi et al. (1984)</a:t>
            </a:r>
            <a:endParaRPr lang="en-US"/>
          </a:p>
        </p:txBody>
      </p:sp>
      <p:sp>
        <p:nvSpPr>
          <p:cNvPr id="207" name="Shape 20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06a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6" name="Shape 17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2B5577"/>
                </a:solidFill>
                <a:latin typeface="Arial"/>
                <a:ea typeface="Arial"/>
              </a:rPr>
              <a:t>Head filtering adds a horizontal level cue</a:t>
            </a:r>
            <a:endParaRPr lang="en-US"/>
          </a:p>
        </p:txBody>
      </p:sp>
      <p:sp>
        <p:nvSpPr>
          <p:cNvPr id="177" name="Shape 177"/>
          <p:cNvSpPr/>
          <p:nvPr/>
        </p:nvSpPr>
        <p:spPr>
          <a:xfrm>
            <a:off x="566000" y="1234440"/>
            <a:ext cx="5480000" cy="4915560"/>
          </a:xfrm>
          <a:prstGeom prst="rect">
            <a:avLst/>
          </a:prstGeom>
          <a:noFill/>
        </p:spPr>
        <p:txBody>
          <a:bodyPr anchor="t" wrap="square" tIns="0" bIns="0" lIns="0" rIns="0">
            <a:normAutofit/>
          </a:bodyPr>
          <a:lstStyle/>
          <a:p>
            <a:pPr algn="l">
              <a:lnSpc>
                <a:spcPct val="108000"/>
              </a:lnSpc>
              <a:spcAft>
                <a:spcPts val="1200"/>
              </a:spcAft>
              <a:buNone/>
            </a:pPr>
            <a:r>
              <a:rPr sz="1400" b="0" i="0">
                <a:solidFill>
                  <a:srgbClr val="1F262D"/>
                </a:solidFill>
                <a:latin typeface="Arial"/>
                <a:ea typeface="Arial"/>
              </a:rPr>
              <a:t xml:space="preserve">The head-related transfer function describes how the head and external ears change the level and phase of each frequency arriving from a particular direction. Measuring it close to the eardrum captures the filtering that the animal actually receives. The facial ruff and the asymmetric ears contribute to this filtering, which shapes both cues before any neuron responds to them.</a:t>
            </a:r>
            <a:endParaRPr lang="en-US"/>
          </a:p>
          <a:p>
            <a:pPr algn="l">
              <a:lnSpc>
                <a:spcPct val="108000"/>
              </a:lnSpc>
              <a:spcAft>
                <a:spcPts val="1200"/>
              </a:spcAft>
              <a:buNone/>
            </a:pPr>
            <a:r>
              <a:rPr sz="1400" b="0" i="0">
                <a:solidFill>
                  <a:srgbClr val="1F262D"/>
                </a:solidFill>
                <a:latin typeface="Arial"/>
                <a:ea typeface="Arial"/>
              </a:rPr>
              <a:t xml:space="preserve">Acoustic measurements and playback tests used directions corresponding to interaural delays of 50, 100, and 150 µs. Natural level cues reduced the timing ambiguities present at these delays. A timing value alone can match more than one direction, so the level cue helps choose among the candidates. The playback tests kept the level cues natural for each direction.</a:t>
            </a:r>
            <a:endParaRPr lang="en-US"/>
          </a:p>
          <a:p>
            <a:pPr algn="l">
              <a:lnSpc>
                <a:spcPct val="108000"/>
              </a:lnSpc>
              <a:spcAft>
                <a:spcPts val="1200"/>
              </a:spcAft>
              <a:buNone/>
            </a:pPr>
            <a:r>
              <a:rPr sz="1400" b="0" i="0">
                <a:solidFill>
                  <a:srgbClr val="1F262D"/>
                </a:solidFill>
                <a:latin typeface="Arial"/>
                <a:ea typeface="Arial"/>
              </a:rPr>
              <a:t xml:space="preserve">The ILD also carries an azimuthal component, which the frontal measurements show beside its strong dependence on elevation. A small horizontal component of the level cue can matter when timing admits two competing locations, and it can decide between them. Each direction fixes a pair of timing and level values that the owl can use together.</a:t>
            </a:r>
            <a:endParaRPr lang="en-US"/>
          </a:p>
        </p:txBody>
      </p:sp>
      <p:pic>
        <p:nvPicPr>
          <p:cNvPr id="119" name="Presenton Native Image 3" descr=""/>
          <p:cNvPicPr/>
          <p:nvPr/>
        </p:nvPicPr>
        <p:blipFill>
          <a:blip r:embed="rId2" cstate="none"/>
          <a:stretch>
            <a:fillRect/>
          </a:stretch>
        </p:blipFill>
        <p:spPr>
          <a:xfrm>
            <a:off x="6870181" y="1280071"/>
            <a:ext cx="4754657" cy="2390775"/>
          </a:xfrm>
          <a:prstGeom prst="rect">
            <a:avLst/>
          </a:prstGeom>
        </p:spPr>
      </p:pic>
      <p:sp>
        <p:nvSpPr>
          <p:cNvPr id="180" name="Shape 180"/>
          <p:cNvSpPr/>
          <p:nvPr/>
        </p:nvSpPr>
        <p:spPr>
          <a:xfrm>
            <a:off x="6870055" y="3762375"/>
            <a:ext cx="4773960" cy="274141"/>
          </a:xfrm>
          <a:prstGeom prst="rect">
            <a:avLst/>
          </a:prstGeom>
          <a:noFill/>
        </p:spPr>
        <p:txBody>
          <a:bodyPr anchor="t" wrap="square" tIns="0" bIns="0" lIns="0" rIns="0">
            <a:normAutofit/>
          </a:bodyPr>
          <a:lstStyle/>
          <a:p>
            <a:pPr algn="l">
              <a:lnSpc>
                <a:spcPts val="1080"/>
              </a:lnSpc>
              <a:buNone/>
            </a:pPr>
            <a:r>
              <a:rPr sz="1000" b="0" i="0">
                <a:solidFill>
                  <a:srgbClr val="58636E"/>
                </a:solidFill>
                <a:latin typeface="Arial"/>
                <a:ea typeface="Arial"/>
              </a:rPr>
              <a:t>Kettler et al. (2017), Fig. 1(A–D). Measured timing and level differences across acoustic space.</a:t>
            </a:r>
            <a:endParaRPr lang="en-US"/>
          </a:p>
        </p:txBody>
      </p:sp>
      <p:sp>
        <p:nvSpPr>
          <p:cNvPr id="181" name="Shape 181"/>
          <p:cNvSpPr/>
          <p:nvPr/>
        </p:nvSpPr>
        <p:spPr>
          <a:xfrm>
            <a:off x="566886" y="6382494"/>
            <a:ext cx="11058079" cy="9079"/>
          </a:xfrm>
          <a:prstGeom prst="rect">
            <a:avLst/>
          </a:prstGeom>
          <a:solidFill>
            <a:srgbClr val="C7D6E3"/>
          </a:solidFill>
        </p:spPr>
        <p:txBody>
          <a:bodyPr/>
          <a:lstStyle/>
          <a:p/>
        </p:txBody>
      </p:sp>
      <p:sp>
        <p:nvSpPr>
          <p:cNvPr id="182" name="Shape 18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8636E"/>
                </a:solidFill>
                <a:latin typeface="Arial"/>
                <a:ea typeface="Arial"/>
              </a:rPr>
              <a:t>Kettler et al. (2017)</a:t>
            </a:r>
            <a:endParaRPr lang="en-US"/>
          </a:p>
        </p:txBody>
      </p:sp>
      <p:sp>
        <p:nvSpPr>
          <p:cNvPr id="183" name="Shape 18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8636E"/>
                </a:solidFill>
                <a:latin typeface="Arial"/>
                <a:ea typeface="Arial"/>
              </a:rPr>
              <a:t>03a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Owl sound localization I: ITD/ILD maps in the inferior colliculus (Konishi &amp; Knudsen)</dc:title>
  <dc:subject>Generated by Presenton export-core</dc:subject>
  <dc:creator>Presenton</dc:creator>
  <cp:lastModifiedBy>Presenton</cp:lastModifiedBy>
  <dcterms:created xsi:type="dcterms:W3CDTF">2026-10-08T05:31:25.868Z</dcterms:created>
  <dcterms:modified xsi:type="dcterms:W3CDTF">2026-10-08T05:31:25.868Z</dcterms:modified>
</cp:coreProperties>
</file>