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315" r:id="rId66"/>
    <p:sldId id="260" r:id="rId6"/>
    <p:sldId id="314" r:id="rId65"/>
    <p:sldId id="261" r:id="rId7"/>
    <p:sldId id="262" r:id="rId8"/>
    <p:sldId id="263" r:id="rId9"/>
    <p:sldId id="313" r:id="rId64"/>
    <p:sldId id="264" r:id="rId10"/>
    <p:sldId id="265" r:id="rId11"/>
    <p:sldId id="312" r:id="rId63"/>
    <p:sldId id="266" r:id="rId12"/>
    <p:sldId id="267" r:id="rId13"/>
    <p:sldId id="311" r:id="rId62"/>
    <p:sldId id="268" r:id="rId14"/>
    <p:sldId id="269" r:id="rId15"/>
    <p:sldId id="270" r:id="rId16"/>
    <p:sldId id="310" r:id="rId61"/>
    <p:sldId id="271" r:id="rId17"/>
    <p:sldId id="309" r:id="rId60"/>
    <p:sldId id="272" r:id="rId18"/>
    <p:sldId id="273" r:id="rId19"/>
    <p:sldId id="274" r:id="rId20"/>
    <p:sldId id="308" r:id="rId59"/>
    <p:sldId id="275" r:id="rId21"/>
    <p:sldId id="307" r:id="rId58"/>
    <p:sldId id="276" r:id="rId22"/>
    <p:sldId id="277" r:id="rId23"/>
    <p:sldId id="306" r:id="rId57"/>
    <p:sldId id="278" r:id="rId24"/>
    <p:sldId id="279" r:id="rId25"/>
    <p:sldId id="280" r:id="rId26"/>
    <p:sldId id="281" r:id="rId27"/>
    <p:sldId id="305" r:id="rId56"/>
    <p:sldId id="282" r:id="rId28"/>
    <p:sldId id="283" r:id="rId29"/>
    <p:sldId id="284" r:id="rId30"/>
    <p:sldId id="285" r:id="rId31"/>
    <p:sldId id="304" r:id="rId55"/>
    <p:sldId id="286" r:id="rId32"/>
    <p:sldId id="287" r:id="rId33"/>
    <p:sldId id="288" r:id="rId34"/>
    <p:sldId id="289" r:id="rId35"/>
    <p:sldId id="290" r:id="rId36"/>
    <p:sldId id="291" r:id="rId37"/>
    <p:sldId id="292" r:id="rId38"/>
    <p:sldId id="293" r:id="rId39"/>
    <p:sldId id="303" r:id="rId54"/>
    <p:sldId id="294" r:id="rId40"/>
    <p:sldId id="302" r:id="rId53"/>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Owl sound localization I: ITD/ILD maps in the inferior colliculus (Konishi &amp; Knudsen)
Lecture 18. NEUR 411 · NEUROETHOLOGY · FALL 2026. Monday, October 5, 2026.
Figure: Knudsen &amp; Konishi (1978), Fig. 1. Ordered receptive fields and their measured midbrain locations.
Figure source: https://doi.org/10.1126/science.644324
References:
Knudsen EI, Konishi M (1978). A Neural Map of Auditory Space in the Owl. Science 200(4343):795-797. https://doi.org/10.1126/science.644324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barn owl, Tyto alba, is a nocturnal predator whose auditory system converts prey-generated sound into directed head movements. Azimuth is horizontal direction; elevation is vertical direction. Head turns provide a behavioral measure of the location the owl perceives.
  – A head-turn trajectory measures the animal’s response to an auditory percept, rather than neuronal tuning itself. The earphone conditions control the acoustic difference between ears while the bird remains able to orient. The published comparisons include broadband sounds, pure tones, and narrowband noise under the same timing manipulation.
• Kettler and colleagues recorded head orientation while presenting sounds through earphones. At an interaural delay of 100 µs, broadband noise produced turns toward the corresponding target. A 5-kHz tone could instead elicit turns toward an alternative location in the opposite hemifield.
• This phantom source is a localization illusion, not a second physical loudspeaker. Broadband and 1.5-kHz-wide narrowband stimuli distinguished spectral effects from a change in the imposed delay. The behavior connects auditory timing ambiguity to an observable orienting decision.
References:
Kettler L, Griebel H, Ferger R, Wagner H (2017). Combination of Interaural Level and Time Difference in Azimuthal Sound Localization in Owls. eNeuro 4(6):ENEURO.0238-17.2017. https://doi.org/10.1523/eneuro.0238-17.2017
Figure: Kettler et al. (2017), Fig. 2(A–D). Head-turn trajectories for broadband, tonal, and narrowband sounds.
Figure source: https://doi.org/10.1523/eneuro.0238-17.2017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Interaural time difference, or ITD, is the difference in sound arrival time between ears, measured in microseconds. Interaural level difference, or ILD, is the difference in sound pressure level, measured in decibels. Neither cue is a location label at the auditory nerve.
  – The head-related transfer function describes how the head and external ears change the level and phase of each frequency arriving from a particular direction. Measuring it close to the eardrum includes the filtering actually available to the animal. A small horizontal level component can matter when timing information admits two competing locations.
• Kettler and colleagues used ear-canal probe microphones to measure the head’s acoustic filtering. The frontal ITD map varied chiefly with azimuth; ILD varied strongly with elevation and also contained an azimuthal component. The facial ruff and asymmetric ears contribute to this filtering.
• Acoustic measurements and playback tests used directions corresponding to delays of 50, 100, and 150 µs. Natural level cues reduced timing ambiguities. The familiar association of ITD with horizontal direction and ILD with vertical direction is a useful specialization, and ILD also carries an azimuthal component.
References:
Kettler L, Griebel H, Ferger R, Wagner H (2017). Combination of Interaural Level and Time Difference in Azimuthal Sound Localization in Owls. eNeuro 4(6):ENEURO.0238-17.2017. https://doi.org/10.1523/eneuro.0238-17.2017
Figure: Kettler et al. (2017), Fig. 1(A–D). Measured timing and level differences across acoustic space.
Figure source: https://doi.org/10.1523/eneuro.0238-17.2017</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receptive field is the set of stimulus conditions that changes a neuron’s activity. Knudsen and Konishi mapped auditory receptive fields by moving a loudspeaker around the head of a lightly anesthetized owl in an anechoic chamber, which minimized reflected sound.
  – An extracellular electrode detects the action potentials of a unit while the experimenter controls speaker position. The published field includes responses collected at different positions, not a spatial image received by the cochlea. The neurons were recorded in darkness, and tests with visual stimuli did not evoke the reported auditory responses.
• Noise bursts lasted 100 ms and were delivered 10 dB above each unit’s threshold. Speaker positions were sampled in azimuth and elevation while extracellular spikes were recorded. A smaller best area was defined by the positions producing maximal rather than merely detectable responses.
• Most mapped fields were vertically elongated. Their widths ranged from 7° to 40° in azimuth, with a mean of 25°. The response boundary and the smaller best area describe different aspects of selectivity, with the best area marking the positions that evoke maximal responses.
References:
Knudsen EI, Konishi M (1978). A Neural Map of Auditory Space in the Owl. Science 200(4343):795-797. https://doi.org/10.1126/science.644324
Figure: Knudsen &amp; Konishi (1978), Fig. 2. Measured receptive-field boundaries and best area.
Figure source: https://doi.org/10.1126/science.644324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Knudsen and Konishi reconstructed electrode tracks histologically and compared recording position with the center of each neuron’s best area. The auditory region was called MLD, nucleus mesencephalicus lateralis dorsalis, the avian homolog of the inferior colliculus.
  – Contralateral means on the side opposite the recording hemisphere; ipsilateral means on the same side. Histological lesions identified track endpoints so that receptive-field order could be matched to tissue position. The original report established an orderly physiological map, while later experiments identified the separate computations that supply its coordinates.
• Best-area azimuth shifted from approximately 60° contralateral in the posterolateral region to 15° ipsilateral anteromedially. Best-area elevation ranged from about +20° to −90°, with higher directions represented dorsally and lower directions ventrally. Neighboring neurons generally had overlapping receptive fields.
• Tone bursts, clicks, and noise usually preserved best-area location; changing level from 10 to 30 dB above threshold also preserved its position. The orderly representation supports a computed map of auditory space rather than a simple map of acoustic frequency or overall loudness.
References:
Knudsen EI, Konishi M (1978). A Neural Map of Auditory Space in the Owl. Science 200(4343):795-797. https://doi.org/10.1126/science.644324
Figure: Knudsen &amp; Konishi (1978), Fig. 1. Ordered receptive fields and their measured midbrain locations.
Figure source: https://doi.org/10.1126/science.644324</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tuning curve relates neuronal response to a controlled stimulus parameter. Takahashi, Moiseff, and Konishi varied ITD while holding ILD fixed, then varied ILD while holding ITD fixed, recording from space-specific midbrain neurons through calibrated earphone stimulation.
  – Earphones allow one binaural cue to change without the acoustically coupled changes produced by moving a real speaker. The critical observation concerns the location of the tuning peak, rather than complete invariance of all spike counts. Holding the other cue fixed tests whether one preference shifts when the other input changes.
• Changing the level difference over a 20-dB range did not systematically displace the timing preference. Conversely, changes in timing altered response magnitude without systematically displacing the preferred level difference. The positions of the two response peaks were separable.
• A space-specific neuron therefore represents preferred ITD and preferred ILD separately, and it fires most strongly when both cues are favorable. The experiments separate how each cue is represented from how the two representations jointly determine the output.
References:
Takahashi T, Moiseff A, Konishi M (1984). Time and intensity cues are processed independently in the auditory system of the owl. The Journal of Neuroscience 4(7):1781-1786. https://doi.org/10.1523/jneurosci.04-07-01781.1984
Figure: Takahashi et al. (1984), Fig. 4. Independent tuning to timing and level differences.
Figure source: https://doi.org/10.1523/jneurosci.04-07-01781.1984</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Nucleus angularis, or NA, is a cochlear nucleus receiving auditory-nerve input. Takahashi and colleagues locally injected lidocaine into NA while recording a space-specific neuron in the inferior colliculus. Lidocaine is a local anesthetic that blocks neuronal impulse conduction.
  – When one cochlear nucleus contributes less activity, the downstream circuit receives an unbalanced representation even though the earphone stimulus itself has not changed. The timing curve serves as a within-neuron control against a general collapse of midbrain responsiveness. Histological localization distinguishes an angularis injection from neighboring magnocellularis tissue.
• After unilateral NA inactivation, the neuron’s ILD response shifted toward the injected side’s altered effective input. In the same preparation, the ITD response peak remained essentially stable. Recovery measurements and an injection-site marker linked the change to a localized, reversible manipulation.
• The selective alteration supports a level-processing pathway originating in NA. Its monaural output is subsequently compared with information from the other ear, and the stable ITD peak shows that the timing pathway continued to function.
References:
Takahashi T, Moiseff A, Konishi M (1984). Time and intensity cues are processed independently in the auditory system of the owl. The Journal of Neuroscience 4(7):1781-1786. https://doi.org/10.1523/jneurosci.04-07-01781.1984
Figure: Takahashi et al. (1984), Fig. 1. Angularis inactivation changes level tuning while sparing time tuning.
Figure source: https://doi.org/10.1523/jneurosci.04-07-01781.1984</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Nucleus magnocellularis, or NM, is a second cochlear nucleus receiving auditory-nerve input. Takahashi and colleagues injected lidocaine into NM and measured the same two binaural tuning dimensions used in the angularis experiments, separating neural impairment from an acoustic change.
  – A double dissociation is stronger than observing two kinds of tuning in separate neurons. Each intervention is evaluated against both response dimensions. The result constrains the origin of the information reaching the midbrain, while leaving open the precise transformations carried out between the cochlear nuclei and the recorded space-specific cell.
• NM inactivation altered the ITD tuning of a space-specific neuron, while its preferred ILD remained approximately unchanged. Recordings before injection, during the effect, and after recovery supplied a temporal control. Injection-site histology checked the anatomical locus of the manipulation.
• The reciprocal effects of NM and NA inactivation form a double dissociation: disrupting one pathway selectively changes timing, whereas disrupting the other selectively changes level. The final spatial response combines the two pathways, with the NM pathway carrying timing and the NA pathway carrying level.
References:
Takahashi T, Moiseff A, Konishi M (1984). Time and intensity cues are processed independently in the auditory system of the owl. The Journal of Neuroscience 4(7):1781-1786. https://doi.org/10.1523/jneurosci.04-07-01781.1984
Figure: Takahashi et al. (1984), Fig. 3. Magnocellularis inactivation changes time tuning while sparing level tuning.
Figure source: https://doi.org/10.1523/jneurosci.04-07-01781.1984</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eighth cranial nerve carries auditory information from the cochlea into the brainstem. Carr and Konishi identified NA, NM, and nucleus laminaris, or NL, in transverse tissue sections. NL lies in the timing pathway downstream of bilateral NM input.
  – Auditory-nerve fibers carry both temporal and level information. Parallel nuclei need not receive completely different acoustic signals to emphasize different variables. The relevant distinction is how neurons transform their shared peripheral input. The original micrograph supplies anatomical positions and a scale bar; its labeled nuclei are experimental tissue, not an invented circuit.
• A neurofilament stain distinguished fiber-rich laminaris from neighboring nuclei and the cerebellar peduncle. Histology supplied landmarks for intracellular recording and tracer experiments, preventing recording depth alone from being treated as proof of a particular nucleus.
• The anatomical separation is compatible with parallel timing and level computations. The phase-locking, rate-level, binaural and inactivation experiments connect these structures to particular acoustic variables, with NM and NL in the timing pathway and NA in the level pathway.
References:
Carr CE, Konishi M (1990). A circuit for detection of interaural time differences in the brain stem of the barn owl. The Journal of Neuroscience 10(10):3227-3246. https://doi.org/10.1523/jneurosci.10-10-03227.1990
Figure: Carr &amp; Konishi (1990), Fig. 1. Histological positions of the owl auditory brainstem nuclei.
Figure source: https://doi.org/10.1523/jneurosci.10-10-03227.1990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Phase locking means that spikes occur preferentially at a particular phase of a repeating sound waveform. Sullivan and Konishi recorded NM neurons during tonal stimulation and grouped spike times into period histograms, which align successive stimulus cycles.
  – A high spontaneous rate does not prevent a sound from reorganizing spike timing. A neuron can convey more temporal information without greatly increasing its average spike count. The comparison with angularis is functional: magnocellularis emphasizes phase, whereas angularis supplies a more informative rate representation of sound level.
• NM neurons retained phase locking at frequencies up to 9 kHz in that study. The distributions were not identical at every frequency: spikes could occur on different cycles while remaining concentrated near a preferred position within the cycle. Timing information therefore survived without one spike per cycle.
• NM rate-level functions were comparatively narrow and often changed little above spontaneous discharge. This specialization supports timing transmission to NL. A phase histogram measures temporal alignment, so it describes timing in NM, and sensitivity to differences between the two ears arises later when inputs from both sides are compared.
References:
Sullivan WE, Konishi M (1984). Segregation of stimulus phase and intensity coding in the cochlear nucleus of the barn owl. The Journal of Neuroscience 4(7):1787-1799. https://doi.org/10.1523/jneurosci.04-07-01787.1984
Figure: Sullivan &amp; Konishi (1984), Fig. 1(A–D). Phase-locked magnocellular spike distributions.
Figure source: https://doi.org/10.1523/jneurosci.04-07-01787.1984</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Sullivan and Konishi measured rate-level functions, the relation between stimulus level and spike count, in NA neurons. Compared with NM, NA typically had lower spontaneous discharge and larger increases in firing as the level of a tone rose.
  – The two cochlear nuclei can have similar frequency selectivity while differing substantially in temporal and intensity responses. Frequency tuning therefore cannot substitute for testing rate-level and phase-locking properties. The plotted decibel scale is the original experimental level scale; it should not be relabeled as an absolute environmental sound level.
• Angularis responses commonly changed over more than 20 dB, often 30 dB or more. The dynamic range is the range of levels over which the response changes substantially. Different cells showed different slopes and saturation levels, preserving a population representation of level.
• NA showed little or no phase locking at higher frequencies, although weak locking occurred below about 3.5 kHz. NM emphasizes timing and NA emphasizes level, and the monaural level-sensitive discharge of NA provides input for later comparison between the ears.
References:
Sullivan WE, Konishi M (1984). Segregation of stimulus phase and intensity coding in the cochlear nucleus of the barn owl. The Journal of Neuroscience 4(7):1787-1799. https://doi.org/10.1523/jneurosci.04-07-01787.1984
Figure: Sullivan &amp; Konishi (1984), Fig. 10(A–D). Angularis spike counts increase over a broad sound-level range.
Figure source: https://doi.org/10.1523/jneurosci.04-07-01787.1984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Köppl recorded single auditory-nerve fibers with calibrated tones and compared their spike timing across frequency and sound level. Vector strength quantifies concentration of spike phases: values near one indicate tight phase alignment, whereas values near zero indicate dispersed phases.
  – The study used ear-canal calibration for individual animals, so stimulus level was measured at the auditory input rather than inferred from a speaker setting. Vector strength compares phases across many cycles. A high-frequency neuron need not fire on every cycle to retain information about a preferred stimulus phase.
• Auditory-nerve phase locking extended to approximately 10 kHz. Its quality declined with frequency, but the decline included a plateau around 1.5–3 kHz. Phase organization could be detected below the level at which a clear increase in average spike rate appeared.
• The peripheral temporal code supplies the brainstem with information needed for ITD processing. Phase locking declines in quality with frequency, and rate threshold and timing sensitivity are different response measurements, since phase organization could be detected below the level at which a clear increase in average rate appeared.
References:
Köppl C (1997). Phase Locking to High Frequencies in the Auditory Nerve and Cochlear Nucleus Magnocellularis of the Barn Owl,Tyto alba. The Journal of Neuroscience 17(9):3312-3321. https://doi.org/10.1523/jneurosci.17-09-03312.1997
Figure: Köppl (1997), Fig. 1(A–N). Auditory-nerve phase locking at high stimulus frequencies.
Figure source: https://doi.org/10.1523/jneurosci.17-09-03312.1997</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Köppl obtained auditory-nerve and NM recordings in the same animals, permitting a direct comparison of temporal information before and after the first central relay. Tone frequency and level were controlled while saturated phase-locking quality was assessed.
  – Saturated phase locking refers to the response after increasing sound level no longer improves timing alignment substantially. Comparisons at appropriate levels avoid attributing a level-dependent improvement to the relay itself. Earlier NM studies remain plotted in the original article, but the same-animal nerve-versus-NM comparison supplies the direct experimental test.
• Above approximately 1 kHz, NM vector strength was consistently lower than auditory-nerve vector strength. The comparison does not support a universal sharpening of phase locking at this relay. Both populations retained locking well into the frequency range used for owl localization.
• The additional synaptic transformation can introduce temporal dispersion even in a highly specialized pathway. The NM recordings identify this loss as a functional property of transmission at the first central relay.
References:
Köppl C (1997). Phase Locking to High Frequencies in the Auditory Nerve and Cochlear Nucleus Magnocellularis of the Barn Owl,Tyto alba. The Journal of Neuroscience 17(9):3312-3321. https://doi.org/10.1523/jneurosci.17-09-03312.1997
Figure: Köppl (1997), Fig. 12. Direct comparison of auditory-nerve and magnocellular phase locking.
Figure source: https://doi.org/10.1523/jneurosci.17-09-03312.1997</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Tonotopy is the orderly anatomical representation of acoustic frequency. Carr and Konishi traced NM projections and recorded afferent fibers within NL. Inputs from opposite ears entered corresponding frequency regions rather than mixing all frequencies indiscriminately.
  – The best frequency is the frequency producing the strongest response under the measurement conditions. The original normalized curves permit comparison of tuning shape even when absolute spike counts differ. The study also found mismatched fibers near borders, which limits any claim that every axon encountered around NL belongs to the same frequency channel.
• Injections into NM regions tuned near 5.5 and 7 kHz labeled different projection territories. Physiological recordings from a single NL penetration found closely matched ipsilateral and contralateral frequency tuning, including fibers encountered at depths of 1320 and 1400 µm.
• Frequency matching permits comparison of the timing of corresponding waveform components. Comparing unrelated frequencies would not preserve a stable phase relation. Anatomical tracing establishes the order of the projections, and the paired frequency-response measurements establish the functional matching needed by a timing comparator.
References:
Carr CE, Konishi M (1990). A circuit for detection of interaural time differences in the brain stem of the barn owl. The Journal of Neuroscience 10(10):3227-3246. https://doi.org/10.1523/jneurosci.10-10-03227.1990
Figure: Carr &amp; Konishi (1990), Fig. 3(A–D). Frequency-matched bilateral inputs to nucleus laminaris.
Figure source: https://doi.org/10.1523/jneurosci.10-10-03227.1990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Carr and Konishi injected horseradish peroxidase, or HRP, into NM and followed labeled axons through serial brain sections. HRP is a tracer that permits projection pathways to be visualized after a histochemical reaction.
  – The original authors reconstructed three-dimensional arbors across serial sections and adjusted their projection onto the published two-dimensional view. The drawing is their published anatomical result, cropped unchanged from the article. Its geometry should not be interpreted as an exact flattened measurement of every branch length or physical separation.
• An NM neuron sends branches to NL on both sides. Ipsilateral afferents approach the dorsal border, whereas contralateral afferents approach the ventral border. The published reconstruction preserves this opposing arrangement and includes a 1-mm scale bar.
• Opposing entry directions supply an anatomical basis for position-dependent differences in arrival time. A delay line is a pathway whose travel time changes with position, and the dorsal and ventral entry of the two inputs places the axons from the two ears on opposite sides of the nucleus.
References:
Carr CE, Konishi M (1990). A circuit for detection of interaural time differences in the brain stem of the barn owl. The Journal of Neuroscience 10(10):3227-3246. https://doi.org/10.1523/jneurosci.10-10-03227.1990
Figure: Carr &amp; Konishi (1990), Fig. 2. Published traced magnocellular axons entering laminaris from opposite borders.
Figure source: https://doi.org/10.1523/jneurosci.10-10-03227.1990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Carr and Konishi recorded phase-locked NM afferents at different depths within NL. They stimulated one ear with a tone and measured the mean phase of the resulting intracellularly recorded spikes, testing whether conduction time changed along the projection.
  – The physiological measurement concerns the arrival time of afferent spikes, not the external arrival time of sound at the ears. A longer axonal travel path shifts spike phase systematically. At a high enough stimulus frequency, a real delay can span more than one cycle, requiring the authors to track the neighboring cycle.
• At 4 kHz, the tonal period was 250 µs; at 5.5 kHz it was approximately 182 µs. Mean phase changed regularly with depth. In a 7-kHz region, abrupt apparent phase jumps corresponded to crossing into the next stimulus cycle.
• Phase wrapping occurs because phase repeats after a complete cycle even when physical delay continues increasing. The data support orderly neural delays rather than independent random timing at each site. Reading phase alone without recognizing cycle repetition would misidentify these continuous gradients.
References:
Carr CE, Konishi M (1990). A circuit for detection of interaural time differences in the brain stem of the barn owl. The Journal of Neuroscience 10(10):3227-3246. https://doi.org/10.1523/jneurosci.10-10-03227.1990
Figure: Carr &amp; Konishi (1990), Fig. 7(A–C). Input spike phase changes systematically with recording depth.
Figure source: https://doi.org/10.1523/jneurosci.10-10-03227.1990</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Within a common frequency region, Carr and Konishi found that ipsilateral afferent delay increased with recording depth while contralateral delay decreased. Intracellular recordings distinguished the two input populations during separate stimulation of the ears.
  – The original Figure 8A contains paired gradients from multiple penetrations. The plotted time axes preserve the authors’ conversion of phase to delay. A coincidence detector responds to arrival times after both external acoustic travel and internal neural conduction have contributed; changing either contribution can change the favored ITD.
• Across NL’s approximately 700-µm depth, conduction time changed by about 160 µs for frequencies between 4 and 7.5 kHz. Similar delay ranges across frequency channels support comparison of common external timing differences rather than unrelated phase preferences.
• At a particular position, an external ITD can compensate for the difference in internal path delays. The two spike trains then arrive together. This spatially ordered compensation explains how a physical time difference can be represented by the location of strongly activated NL neurons.
References:
Carr CE, Konishi M (1990). A circuit for detection of interaural time differences in the brain stem of the barn owl. The Journal of Neuroscience 10(10):3227-3246. https://doi.org/10.1523/jneurosci.10-10-03227.1990
Figure: Carr &amp; Konishi (1990), Fig. 8(A). Opposed timing gradients in ipsilateral and contralateral afferents.
Figure source: https://doi.org/10.1523/jneurosci.10-10-03227.1990</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myelin internode is the insulated axonal segment between successive nodes where impulse propagation is renewed. Carr and Konishi measured internodal spacing in HRP-labeled NM axons inside and outside NL, comparing anatomy with physiological delay gradients.
  – Nodes are interruptions of the myelin sheath, and nodal spacing is one anatomical contributor to impulse propagation. The experiment does not establish a particular sodium- or potassium-channel density at each node. Its interpretation combines measured axonal anatomy with measured conduction delays while keeping that mechanistic inference separate from direct intervention.
• Internodes within NL were about 60 µm long and more regularly spaced than many segments outside the nucleus. The physiological estimates placed local conduction velocity around 3–5 m/s. Published micrographs identify nodes at branch points and along axon segments.
• The authors proposed that short internodes help regulate the slow propagation needed for delay lines. Internodal spacing of about 60 µm inside the nucleus and conduction velocities near 3 to 5 m/s are observations from anatomy and physiology that fit this proposal.
References:
Carr CE, Konishi M (1990). A circuit for detection of interaural time differences in the brain stem of the barn owl. The Journal of Neuroscience 10(10):3227-3246. https://doi.org/10.1523/jneurosci.10-10-03227.1990
Figure: Carr &amp; Konishi (1990), Fig. 10(A–C). Short myelin internodes within laminaris and labeled axons.
Figure source: https://doi.org/10.1523/jneurosci.10-10-03227.1990</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Coincidence detection is enhanced firing when two inputs arrive within a short interval. Carr and Konishi recorded NL neurons intracellularly, first stimulating each ear separately and then varying ITD during binaural stimulation.
  – The displayed totals come from the published stimulus-repetition protocol and are not firing rates in spikes per second. Separate-ear histograms supply a prediction of which delay aligns the inputs; the binaural delay curve tests that prediction. Intracellular recording avoids confusing the strong population field potential in NL with a single neuron’s spikes.
• For a neuron tested at 4409 Hz, monaural response phases were approximately 338° and 294°. A favorable delay of 30 µs, with the contralateral ear leading, increased the recorded response to 1107 spikes, compared with 393 and 360 for the separate-ear conditions.
• The same neuron responded much less at unfavorable delays. The binaural enhancement therefore depended on relative timing rather than simply the presence of two sounds. Across the study, favorable binaural responses were roughly twice monaural responses, consistent with coincidence-sensitive integration.
References:
Carr CE, Konishi M (1990). A circuit for detection of interaural time differences in the brain stem of the barn owl. The Journal of Neuroscience 10(10):3227-3246. https://doi.org/10.1523/jneurosci.10-10-03227.1990
Figure: Carr &amp; Konishi (1990), Fig. 13(A–D). Monaural and binaural spikes in a coincidence-detecting neuron.
Figure source: https://doi.org/10.1523/jneurosci.10-10-03227.1990</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NL neurons receive frequency-selective, phase-locked inputs. With a tone, the same phase alignment recurs whenever the interaural delay changes by a whole stimulus period. Carr and Konishi measured periodic firing peaks across a range of imposed delays.
  – The original curves also preserve monaural response markers and spontaneous levels. Responses at unfavorable binaural timing could fall below the monaural level, so the entire curve cannot be explained by simple summation of two independent firing rates. Repeated response peaks reflect waveform periodicity rather than multiple real sound sources.
• The delay curves differed in preferred timing and modulation depth, but their repeated maxima were consistent with the frequency of the stimulus. At 4 kHz, the 250-µs period gives repeated opportunities for alignment, including delays beyond the strongest peak near the physiological range.
• Phase ambiguity is this inability of a single narrowband channel to identify one unique ITD from its firing rate. Precise coincidence detection and an unambiguous estimate of sound direction are different computations. Later integration must distinguish the true timing relation from repeated phase matches.
References:
Carr CE, Konishi M (1990). A circuit for detection of interaural time differences in the brain stem of the barn owl. The Journal of Neuroscience 10(10):3227-3246. https://doi.org/10.1523/jneurosci.10-10-03227.1990
Figure: Carr &amp; Konishi (1990), Fig. 12. Periodic interaural-delay response curves of laminaris neurons.
Figure source: https://doi.org/10.1523/jneurosci.10-10-03227.1990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Wagner, Takahashi, and Konishi recorded neurons while advancing an electrode through the central nucleus of the inferior colliculus, or ICC. Individual cells were narrowly frequency tuned and had periodic ITD response curves.
  – The curves are normalized to each recording’s maximum, so alignment refers to relative response levels rather than identical absolute firing. The study compared single-unit and multi-unit recordings and found closely matching peak positions. A preferred phase for one frequency is insufficient to identify the array-specific ITD without the cross-frequency relation.
• One penetration sampled best frequencies from approximately 2100 to 6700 Hz. Despite different peak spacings, its neurons shared an array-specific ITD at which their relative responses aligned. Mean interaural phase changed systematically with frequency across the array.
• An array is a group of neurons arranged across frequency laminae with a common timing relation. Convergence from such an array can supply a downstream neuron with agreement across frequencies at one delay, even when each contributing channel remains individually ambiguous.
References:
Wagner H, Takahashi T, Konishi M (1987). Representation of interaural time difference in the central nucleus of the barn owl's inferior colliculus. The Journal of Neuroscience 7(10):3105-3116. https://doi.org/10.1523/jneurosci.07-10-03105.1987
Figure: Wagner et al. (1987), Fig. 1(A–B). Frequency channels in one neuronal array share a timing preference.
Figure source: https://doi.org/10.1523/jneurosci.07-10-03105.1987</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isofrequency lamina is a sheet of neurons with similar frequency tuning. Wagner and colleagues used dorsoventral electrode penetrations through ICC to sample multiple laminae and establish the anatomical orientation of the physiological arrays.
  – A shared delay produces different preferred phase values at different frequencies, because each waveform has a different period. Sampling a broad frequency range makes that relation testable. Electrode depth supplies an anatomical coordinate, while the measured frequency at each site provides the functional coordinate of the lamina.
• In a representative penetration, best frequency rose monotonically with depth from approximately 500 Hz to 10 kHz. This organization provided the frequency diversity needed to test whether different channels share a common delay rather than merely a common preferred phase.
• The recording trajectory crossed frequency laminae and sampled the tonotopic organization of the population. Connectivity to the external nucleus was established separately with tracer measurements.
References:
Wagner H, Takahashi T, Konishi M (1987). Representation of interaural time difference in the central nucleus of the barn owl's inferior colliculus. The Journal of Neuroscience 7(10):3105-3116. https://doi.org/10.1523/jneurosci.07-10-03105.1987
Figure: Wagner et al. (1987), Fig. 4. Best frequency varies with depth through an array.
Figure source: https://doi.org/10.1523/jneurosci.07-10-03105.1987</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Wagner and colleagues compared ITD-frequency relations across seven penetrations whose positions were reconstructed histologically. Each penetration contained an array, but the slope of its phase-frequency relation differed from slopes in neighboring arrays.
  – The characteristic delay is the delay associated with a frequency-dependent phase relation. The original authors distinguished a neuron exhibiting such a relation across tests from its ability to signal an unambiguous delay in a single narrowband response. Population organization can preserve the relation even when each cell’s rate curve repeats.
• Mean interaural phase was plotted against frequencies up to approximately 8 kHz. The different slopes identified different array-specific delays. Their orderly change across ICC established a map of timing preference superimposed on the frequency organization.
• The representation is a map of a computed binaural timing variable distributed across frequency channels. ILD selectivity and broader integration produce the restricted spatial receptive fields of the external nucleus.
References:
Wagner H, Takahashi T, Konishi M (1987). Representation of interaural time difference in the central nucleus of the barn owl's inferior colliculus. The Journal of Neuroscience 7(10):3105-3116. https://doi.org/10.1523/jneurosci.07-10-03105.1987
Figure: Wagner et al. (1987), Fig. 9. Systematic differences in array-specific timing across penetrations.
Figure source: https://doi.org/10.1523/jneurosci.07-10-03105.1987</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external nucleus of the inferior colliculus, or ICx, contains space-specific neurons. Wagner and colleagues recorded timing preference at an ICx site, injected HRP there, and located retrogradely labeled neurons in ICC.
  – The experiment combines two independent kinds of evidence: physiological cue tuning and anatomical projection labeling. An injection region can encompass more than one cell, so the result concerns a restricted target region rather than a complete single-cell wiring diagram. The preserved original sections and response curves retain that distinction.
• Labeled somata occupied an array crossing frequency laminae. Nearby physiological measurements in ICC shared the timing preference measured at the injection site. The published example includes a −120-µs array-specific relation and a 1-mm anatomical scale bar.
• Retrograde tracing identifies neurons projecting toward the injection region. Matching tracer distribution with measured tuning supports convergence from an appropriate ICC array to a localized ICx region. The labeled cells lay in an array that crossed frequency laminae, as expected for convergence of different frequency channels onto one space-specific neuron.
References:
Wagner H, Takahashi T, Konishi M (1987). Representation of interaural time difference in the central nucleus of the barn owl's inferior colliculus. The Journal of Neuroscience 7(10):3105-3116. https://doi.org/10.1523/jneurosci.07-10-03105.1987
Figure: Wagner et al. (1987), Fig. 6(A–B). Physiological timing preferences matched to retrogradely labeled arrays.
Figure source: https://doi.org/10.1523/jneurosci.07-10-03105.1987</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Wagner and colleagues repeated retrograde labeling at ICx sites with different timing preferences. They counted labeled ICC somata as a function of distance from the posterior end of the colliculus, testing whether projection origins moved systematically.
  – A target with a different preferred timing cue receives input from a differently positioned array. Frequency convergence can therefore preserve one timing relation while passing through the broad set of frequencies represented in that array. This anatomical selectivity is compatible with the physiological absence of strong phase ambiguity for broadband ICx stimulation.
• The ICx injection sites preferred delays of 120, 90, and 60 µs with the contralateral ear leading, or 15 µs with the ipsilateral ear leading. The distributions of labeled cells shifted with these target preferences rather than remaining at one fixed ICC position.
• The covariation supports an ordered transformation from an ICC timing map into the horizontal coordinate of the ICx space map. Cell-count distributions locate the populations that project to each target, and the distributions shifted with the timing preference of the target.
References:
Wagner H, Takahashi T, Konishi M (1987). Representation of interaural time difference in the central nucleus of the barn owl's inferior colliculus. The Journal of Neuroscience 7(10):3105-3116. https://doi.org/10.1523/jneurosci.07-10-03105.1987
Figure: Wagner et al. (1987), Fig. 7. Projection position shifts with timing preference at the injection site.
Figure source: https://doi.org/10.1523/jneurosci.07-10-03105.1987</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Takahashi and Konishi compared ICx delay curves evoked by a tone at the neuron’s best frequency with curves evoked by broadband noise. A tone contains a repeated cycle, whereas broadband noise supplies multiple frequency components with different periods.
  – The best frequency describes the channel most effective for that neuron; broadband input recruits additional channels. The authors compared response levels for tones and noise because a weaker tone could otherwise create an apparent difference in selectivity merely by lowering firing. The neural output becomes less ambiguous when independent spectral components agree.
• Tonal stimulation commonly produced a principal peak and repeated secondary peaks. Noise greatly reduced the secondary responses while preserving the timing near the principal peak. The comparison was performed within the same neuron, holding recording site constant.
• Cross-frequency agreement is strongest at the actual delay shared by the broadband components. Convergence across frequency channels therefore suppresses the repeated peaks that each narrowband channel produces, and the principal peak survives because all components agree on it.
References:
Takahashi T, Konishi M (1986). Selectivity for interaural time difference in the owl's midbrain. The Journal of Neuroscience 6(12):3413-3422. https://doi.org/10.1523/jneurosci.06-12-03413.1986
Figure: Takahashi &amp; Konishi (1986), Fig. 7(A–C). Broadband stimulation suppresses the secondary peaks present for tones.
Figure source: https://doi.org/10.1523/jneurosci.06-12-03413.1986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Takahashi and Konishi presented two tones individually and together while varying ITD. The tones were selected within a neuron’s frequency-response range, permitting a controlled test of integration rather than comparing one tone with an unrestricted noise spectrum.
  – Two tones share a true imposed interaural delay while their repeated phase matches occur at different delays. Component-only conditions supply the control needed to distinguish spectral integration from simply increasing the sound level. The source article analyzes how the joint response compares with the expected combination of the separate component responses.
• In the published examples, tones near 7 and 8 kHz generated differently spaced delay peaks. Their joint presentation favored the common principal delay and altered secondary responses. The combined response was compared with the responses to each component alone.
• This preparation tests whether timing evidence from different frequency channels interacts at a space-specific neuron. The joint presentation favored the common principal delay, which supports a convergence mechanism, and the final selectivity can include inhibitory and spike-generation nonlinearities as well as excitatory agreement.
References:
Takahashi T, Konishi M (1986). Selectivity for interaural time difference in the owl's midbrain. The Journal of Neuroscience 6(12):3413-3422. https://doi.org/10.1523/jneurosci.06-12-03413.1986
Figure: Takahashi &amp; Konishi (1986), Fig. 9(A–C). Two-tone responses test convergence across frequency channels.
Figure source: https://doi.org/10.1523/jneurosci.06-12-03413.1986</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Takahashi and Konishi quantified the strongest secondary response relative to the principal response during broadband stimulation. The secondary-to-primary peak ratio describes residual ambiguity, with a ratio near one indicating similarly strong competing peaks.
  – The principal peak is identified by its relation to the neuron’s characteristic delay, while the secondary peak is a different local maximum. The ratio measures relative response within one neuron and should not be interpreted as a response rate. Neural suppression and behavioral disambiguation are related, but they require different experimental readouts.
• The published distribution spans approximately zero to one, with many neurons retaining a substantial but smaller secondary response. Broadband selectivity therefore varied across ICx cells rather than forming a perfectly uniform all-or-none solution.
• Population firing, inhibitory sharpening, and output thresholds can reduce the impact of residual peaks. A low peak ratio indicates improved single-cell selectivity, and the ratios across the population measure how much ambiguity each ICx cell retains.
References:
Takahashi T, Konishi M (1986). Selectivity for interaural time difference in the owl's midbrain. The Journal of Neuroscience 6(12):3413-3422. https://doi.org/10.1523/jneurosci.06-12-03413.1986
Figure: Takahashi &amp; Konishi (1986), Fig. 6. Distribution of secondary-to-primary peak response ratios.
Figure source: https://doi.org/10.1523/jneurosci.06-12-03413.1986</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VLVp, the posterior part of the ventral nucleus of the lateral lemniscus, is an early binaural station in the level pathway. Manley, Köppl, and Konishi recorded its responses while independently changing sound levels at the two ears.
  – Monotonic means that response changes mainly in one direction as the cue increases across the tested range. The same binaural difference can be produced at several absolute levels, so testing multiple average levels assesses how robust the response is to source intensity. VLVp contributes an intermediate representation rather than a complete spatial receptive field.
• Contralateral stimulation excited VLVp cells; ipsilateral stimulation inhibited them. Dorsal, intermediate, and ventral sites differed in inhibitory strength. The published examples include a strongly inhibited dorsal cell at 7.9 kHz and an intermediate cell with approximately 60% inhibition at 8.6 kHz.
• Varying ILD while holding average binaural level constant separated interaural balance from overall loudness. These largely monotonic response functions supply a graded code for level disparity. Sharply peaked ILD tuning emerges at later collicular stages from these graded inputs.
References:
Manley GA, Köppl C, Konishi M (1988). A neural map of interaural intensity differences in the brain stem of the barn owl. The Journal of Neuroscience 8(8):2665-2676. https://doi.org/10.1523/jneurosci.08-08-02665.1988
Figure: Manley et al. (1988), Fig. 3(A–C). Level-difference functions at dorsal, intermediate, and ventral sites.
Figure source: https://doi.org/10.1523/jneurosci.08-08-02665.1988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Manley and colleagues described a VLVp response by its half-maximum point, the ILD at which firing reaches half of the response maximum. Sequential recording sites within a penetration were compared to test for an anatomical order of this response criterion.
  – Average binaural level is the mean of the two ear levels expressed in decibels in this experiment. Opposite changes at the ears vary ILD while preserving that average. The authors grouped cells by their relative position within each penetration, so the ordering is a physiological-anatomical relation rather than a measurement of external elevation in degrees.
• Dorsal sites had more contralaterally biased half-maximum points; progressively ventral sites shifted toward ipsilateral values. Some cells changed their half-maximum point by 2 dB or less when average binaural level rose by 10 dB, providing a measure of level stability.
• This is an ordered map of response thresholds along a binaural level axis. It differs from a spatial map of receptive-field centers. A half-maximum point can be well defined for a monotonic curve even when the neuron has no sharply bounded preferred ILD.
References:
Manley GA, Köppl C, Konishi M (1988). A neural map of interaural intensity differences in the brain stem of the barn owl. The Journal of Neuroscience 8(8):2665-2676. https://doi.org/10.1523/jneurosci.08-08-02665.1988
Figure: Manley et al. (1988), Fig. 4(A–B). Dorsoventral ordering and level-stable half-maximum points.
Figure source: https://doi.org/10.1523/jneurosci.08-08-02665.1988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Manley and colleagues measured monaural excitatory and inhibitory thresholds in VLVp. Inhibition was assessed against an established discharge produced by contralateral stimulation, allowing reductions in spikes to be measured rather than requiring a cell to fire below zero.
  – An inhibitory threshold is meaningful only when activity is available to suppress. Background excitation supplies that activity, so an apparent absence of spikes is not mistaken for proof that an inhibitory input is absent. The difference between the thresholds determines when inhibition begins relative to the growth of excitatory firing.
• The difference between excitatory and inhibitory thresholds covaried with the strength of inhibition. Threshold relationships and ILD half-maximum points changed along the dorsoventral recording sequence. The interaction, rather than one ear’s absolute sensitivity alone, shaped the binaural response.
• This physiology supports an excitation-inhibition comparison as the basis of level sensitivity. Later pharmacological experiments tested the contribution of GABAergic inhibition and the effects of manipulating the two VLVp populations independently.
References:
Manley GA, Köppl C, Konishi M (1988). A neural map of interaural intensity differences in the brain stem of the barn owl. The Journal of Neuroscience 8(8):2665-2676. https://doi.org/10.1523/jneurosci.08-08-02665.1988
Figure: Manley et al. (1988), Fig. 6(A–B). Excitatory and inhibitory thresholds vary with position and inhibition.
Figure source: https://doi.org/10.1523/jneurosci.08-08-02665.1988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Adolphs injected PHA-L, an anterograde tract tracer, into VLVp and examined labeled terminals in the inferior colliculus. Anterograde tracing follows projections away from the injected neuronal population toward its targets.
  – The lateral shell is a subdivision of the central inferior colliculus that supplies input to the spatial map. Anatomical localization prevents a timing-pathway injection from being misclassified as a level-pathway experiment. The source photographs preserve the labeled terminals, injection region, and scale bars needed to evaluate that localization.
• Label appeared in the lateral shell of ICC on both sides of the brain. The published tissue sections include the VLVp injection site and 500-µm scale bars. The injection was anatomically separated from the adjacent anterior subdivision, VLVa, in the illustrated preparation.
• Bilateral connectivity gives the colliculus access to two differently biased level signals. Functional manipulations and receptor-sensitive interventions establish the signs and consequences of the connections that the tracer labeling reveals.
References:
Adolphs R (1993). Bilateral inhibition generates neuronal responses tuned to interaural level differences in the auditory brainstem of the barn owl. The Journal of Neuroscience 13(9):3647-3668. https://doi.org/10.1523/jneurosci.13-09-03647.1993
Figure: Adolphs (1993), Fig. 2(A–C). Tracer labeling of bilateral collicular projections and the VLVp injection site.
Figure source: https://doi.org/10.1523/jneurosci.13-09-03647.1993</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Adolphs manipulated VLVp while recording an ICC lateral-shell neuron. GABA, gamma-aminobutyric acid, is an inhibitory transmitter; bicuculline methiodide, or BMI, blocks GABA-A receptors. Blocking inhibition within VLVp can increase the activity sent to its targets.
  – Disinhibition means increased activity after an inhibitory influence is removed. The sign of a drug’s effect at its injection site need not match the sign of the effect at a distant recording site. Reversible changes and the time course of recovery help distinguish acute circuit modulation from irreversible tissue damage.
• In the published experiment, a 0.5-µL BMI injection into contralateral VLVp nearly eliminated the lateral-shell response. Responses were measured before injection, 2 and 7 minutes afterward, and during recovery. The response returned toward its original ILD dependence by about 60 minutes.
• The remote reduction supports an inhibitory influence from that VLVp population onto the collicular circuit. Blocking an inhibitory receptor upstream can decrease downstream firing by disinhibiting an inhibitory projection. Recovery of the original ILD dependence indicates a reversible, local manipulation of the VLVp population.
References:
Adolphs R (1993). Bilateral inhibition generates neuronal responses tuned to interaural level differences in the auditory brainstem of the barn owl. The Journal of Neuroscience 13(9):3647-3668. https://doi.org/10.1523/jneurosci.13-09-03647.1993
Figure: Adolphs (1993), Fig. 11(A–D). Increasing contralateral VLVp activity suppresses lateral-shell responses.
Figure source: https://doi.org/10.1523/jneurosci.13-09-03647.1993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Adolphs injected lidocaine into one VLVp and recorded a neuron in contralateral ICx. The earphone stimulus remained controlled while ILD and ITD response curves were tested separately, providing a comparison of level and timing effects in the same downstream cell.
  – The intact ITD response is a within-cell control against a general loss of auditory responsiveness. Recovery supplies an additional control against permanent damage. The experiment links a brainstem population to a particular dimension of an ICx receptive field, without equating drug-induced tuning shifts with the owl’s immediate orienting behavior.
• At approximately 7 minutes after injection, responses at large ipsilateral ILDs increased and the ILD peak shifted. The original response recovered by about 25 minutes. The neuron’s ITD curve remained nearly unchanged during the same manipulation.
• The result supports an inhibitory level signal that normally limits responses on one side of the ILD range. Removing that signal broadens or shifts level tuning while sparing the timing preference. The unchanged ITD tuning during the same manipulation indicates that the effect is specific to level processing.
References:
Adolphs R (1993). Bilateral inhibition generates neuronal responses tuned to interaural level differences in the auditory brainstem of the barn owl. The Journal of Neuroscience 13(9):3647-3668. https://doi.org/10.1523/jneurosci.13-09-03647.1993
Figure: Adolphs (1993), Fig. 12. Reversible VLVp inactivation alters ILD tuning while sparing ITD tuning.
Figure source: https://doi.org/10.1523/jneurosci.13-09-03647.1993</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sharply peaked ILD curve requires reduced firing on both sides of its preferred range. Adolphs tested whether the two VLVp populations supply opposing inhibitory influences by increasing activity in one population with local BMI injection.
  – The original study used complementary increases and decreases of VLVp activity, rather than relying on a single drug condition. Opposite physiological effects strengthen the interpretation that level tuning depends on the upstream population. Preserved timing sensitivity limits the effect to the level-processing contribution under the tested stimulus conditions.
• At about 3 minutes, ICx responses decreased at large ipsilateral ILDs, opposite to the effect of inactivating that VLVp. The ILD response recovered toward its baseline over approximately 50 minutes. The ITD response measured during the experiment remained stable.
• Combined anatomical and manipulation evidence supports bilateral inhibition as a mechanism for peaked collicular level tuning. The circuit transforms two graded, differently biased inputs into a restricted response range. Inactivating one VLVp and increasing the activity of the same population produced opposite changes at large ipsilateral ILDs, which fits opposing inhibitory influences from the two populations.
References:
Adolphs R (1993). Bilateral inhibition generates neuronal responses tuned to interaural level differences in the auditory brainstem of the barn owl. The Journal of Neuroscience 13(9):3647-3668. https://doi.org/10.1523/jneurosci.13-09-03647.1993
Figure: Adolphs (1993), Fig. 14. VLVp disinhibition changes ILD selectivity and preserves ITD responses.
Figure source: https://doi.org/10.1523/jneurosci.13-09-03647.1993</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ILD spectrum is the set of level differences across acoustic frequencies at one sound direction. Euston and Takahashi measured head-related transfer functions and used them to deliver virtual sources through earphones, preserving frequency-dependent acoustic filtering.
  – Virtual acoustic space is an experimental playback method using measured head filtering; the published response maps are recordings from neurons under those conditions. The surrounding inhibitory regions were retained in the authors’ maps. The comparison holds timing favorable to isolate level contributions without moving a real sound source.
• For 100-ms stimuli, they compared normal receptive fields with ILD-alone fields, in which ITD was fixed at the neuron’s preferred value while natural ILD spectra varied with location. ILD-alone responses typically formed a horizontal band containing the normal receptive field.
• An ILD spectrum therefore supplies substantial vertical selectivity, while timing information restricts the horizontal region. The two conditions often had different response maxima. The normal preferred direction therefore reflects the combination of timing and level information and is not found by selecting the largest ILD-alone response.
References:
Euston DR, Takahashi TT (2002). From Spectrum to Space: The Contribution of Level Difference Cues to Spatial Receptive Fields in the Barn Owl Inferior Colliculus. The Journal of Neuroscience 22(1):284-293. https://doi.org/10.1523/jneurosci.22-01-00284.2002
Figure: Euston &amp; Takahashi (2002), Fig. 3(A, columns 1–2). Normal and ILD-alone receptive fields of the same neuron.
Figure source: https://doi.org/10.1523/jneurosci.22-01-00284.2002</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Euston and Takahashi measured pure-tone ILD tuning across frequency and compared preferred ILDs with the values occurring at the peaks of normal and ILD-alone receptive fields. They examined bands spanning 3–5, 5–7, and 7–9 kHz.
  – The regression comparisons separate a neuron’s favorite level difference for a tone from the actual spectral values at a spatial response peak. A direction can be preferred under broadband stimulation without providing the best ILD at every frequency. The remaining prediction error limits a simple account based only on summing measured tonal responses.
• Frequency-specific preferences matched the ILDs at the ILD-alone peak more closely than those at the normal receptive-field peak. A sum of frequency-specific inputs accounted for approximately 56% of the variance in measured ILD-alone fields, leaving substantial unexplained structure.
• The normal receptive field reflects a balance of inputs rather than independent maximization of every frequency-specific channel. A sum of frequency-specific ILD preferences predicted much of the ILD-alone field, which supports a contribution from spectral integration.
References:
Euston DR, Takahashi TT (2002). From Spectrum to Space: The Contribution of Level Difference Cues to Spatial Receptive Fields in the Barn Owl Inferior Colliculus. The Journal of Neuroscience 22(1):284-293. https://doi.org/10.1523/jneurosci.22-01-00284.2002
Figure: Euston &amp; Takahashi (2002), Fig. 7(A–B). Preferred frequency-specific ILDs compared with ILDs at receptive-field peaks.
Figure source: https://doi.org/10.1523/jneurosci.22-01-00284.2002</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Peña and Konishi recorded identified ICx neurons intracellularly and labeled them with neurobiotin. A postsynaptic potential is a membrane-voltage change caused by synaptic input; it can depolarize toward spike threshold or hyperpolarize away from it.
  – The paper verified inhibitory voltage behavior by changing membrane potential, rather than identifying inhibition solely from absent spikes. Neurobiotin labeling connects the physiological recording to an ICx cell with a tectal projection. The figure retains the original 25-µm cellular scale bar and the 1-mm projection scale.
• Broadband noise bursts lasted 100 ms and were presented 30 dB above threshold. Testing ITD-ILD pairs produced depolarizing responses near a preferred combination and hyperpolarizing responses outside it. Spike output formed a more restricted excitatory center surrounded by reduced firing.
• The intracellular measurement distinguishes input integration from the thresholded spike response. Depolarization at an unfavorable cue pair need not produce spikes. Hyperpolarizing responses outside the preferred combination reflect inhibition, so the membrane voltage carries both excitatory and inhibitory influences before thresholding.
References:
Peña JL, Konishi M (2001). Auditory Spatial Receptive Fields Created by Multiplication. Science 292(5515):249-252. https://doi.org/10.1126/science.1059201
Figure: Peña &amp; Konishi (2001), Fig. 1(A–D). Identified ICx neuron, intracellular potentials, and spatially selective spikes.
Figure source: https://doi.org/10.1126/science.1059201</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Peña and Konishi arranged subthreshold membrane responses into a matrix of ITD-ILD combinations. A multiplicative interaction means that the effectiveness of one cue depends on the strength of the other, rather than two cue-dependent responses simply being added.
  – An analog conjunction can permit firing only when both timing and level are favorable. The measured response matrix and the authors’ fitted matrix are reproduced directly from the paper, including their original units and axes. The fit is the authors’ published analysis; no response surfaces have been reconstructed for this deck.
• After accounting for a constant membrane-voltage offset, a separable multiplicative component described about 96.6% of the response structure in the studied neurons. Singular value decomposition separated the measured matrix into ranked components, allowing multiplicative and additive accounts to be compared.
• Multiplication captured the data better than a simple additive alternative. This describes an experimentally supported computation at the membrane-response level. In the multiplicative description the effectiveness of one cue scales with the strength of the other, which yields a restricted combined preference for timing and level.
References:
Peña JL, Konishi M (2001). Auditory Spatial Receptive Fields Created by Multiplication. Science 292(5515):249-252. https://doi.org/10.1126/science.1059201
Figure: Peña &amp; Konishi (2001), Fig. 2(A–F). Recorded response matrix and the authors’ multiplicative decomposition.
Figure source: https://doi.org/10.1126/science.1059201</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Peña and Konishi compared membrane-potential and spike tuning in the same ICx neurons. The spike threshold is the voltage-dependent boundary above which the neuron can generate an action potential; small depolarizations need not cross it.
  – A small secondary depolarization can be visible in an intracellular record yet fail to produce any spike output. The disappearance of a firing peak does not prove that the corresponding input has vanished. The experiment separates membrane integration from the output transformation and limits conclusions based only on extracellular spike tuning.
• The example retained several subthreshold timing peaks but produced spikes mainly near the dominant timing peak. ILD tuning was also narrower in spike output than in membrane voltage. The original records use milliseconds for the stimulus traces and microseconds for imposed interaural timing.
• The quality of a multiplicative description was lower for spike output than for subthreshold responses. Additional nonlinear processes therefore intervene between synaptic integration and discharge. Thresholding is consistent with this sharpening, while inhibition can also change the underlying voltage response before spikes occur.
References:
Peña JL, Konishi M (2001). Auditory Spatial Receptive Fields Created by Multiplication. Science 292(5515):249-252. https://doi.org/10.1126/science.1059201
Figure: Peña &amp; Konishi (2001), Fig. 5(A–D). Additional sharpening between postsynaptic potentials and spike output.
Figure source: https://doi.org/10.1126/science.1059201</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Binaural correlation measures similarity of the fine temporal waveform at the two ears. Peña and Konishi varied correlation while recording intracellular responses, changing timing reliability without simply replacing the level difference with a different spatial cue.
  – The same nominal delay becomes unreliable when the two ear signals no longer share matching fine structure. The study changed the temporal relationship independently of the level tuning measurement. A flat timing response under uncorrelated noise does not imply deafness; it indicates loss of evidence for one specific interaural delay.
• Correlation values of zero, 0.25, 0.5, 0.75, and one altered the amplitude of ITD-dependent membrane responses. ILD tuning was comparatively stable. At zero correlation, the timing component became nearly flat even though level-dependent responses could remain.
• Multiplicative descriptions remained effective across much of the manipulated range. When one input is almost constant, additive and multiplicative alternatives become harder to distinguish. Correlation manipulations therefore test the robustness of multiplication, because reducing the timing signal until it is nearly flat leaves little for the multiplicative term to act on.
References:
Peña JL, Konishi M (2004). Robustness of Multiplicative Processes in Auditory Spatial Tuning. The Journal of Neuroscience 24(40):8907-8910. https://doi.org/10.1523/jneurosci.2924-04.2004
Figure: Peña &amp; Konishi (2004), Fig. 1(a–d). Binaural correlation changes timing tuning and synaptic response amplitude.
Figure source: https://doi.org/10.1523/jneurosci.2924-04.2004</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Fujita and Konishi applied BMI locally while recording timing-sensitive neurons across auditory nuclei. GABA-A receptors are ligand-gated chloride channels. GABA binding changes chloride conductance and can reduce the effectiveness of excitatory input. Antagonist application tests whether this inhibitory transmission contributes to the response curve.
  – The half-peak width measures the range of delays over which a response remains above half of its peak. A broader curve indicates weaker selectivity even if the maximum response rises. GABA application produced opposite effects, and simultaneous BMI could antagonize those effects, supporting a GABA-receptor-mediated interpretation.
• In ICC and ICx, BMI broadened tonal ITD tuning and increased responses at unfavorable delays. The lateral-shell example compares tuning before, during, and after application; a 3-kHz tonal condition was followed through recovery. VLVa timing selectivity was comparatively unaffected.
• GABAergic inhibition therefore sharpens the timing representation at selected collicular stages rather than uniformly creating timing sensitivity everywhere. Local drug application establishes a receptor-sensitive contribution of GABA-A inhibition, and VLVa timing selectivity was comparatively unaffected.
References:
Fujita I, Konishi M (1991). The role of GABAergic inhibition in processing of interaural time difference in the owl's auditory system. The Journal of Neuroscience 11(3):722-739. https://doi.org/10.1523/jneurosci.11-03-00722.1991
Figure: Fujita &amp; Konishi (1991), Fig. 8(A–C). GABA-receptor blockade broadens timing tuning in the lateral shell.
Figure source: https://doi.org/10.1523/jneurosci.11-03-00722.1991</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Fujita and Konishi compared broadband ICx timing responses before and during local GABA-A receptor blockade. Broadband input normally emphasizes a principal timing peak while suppressing repeated matches inherited from narrowband channels.
  – An increase in all responses can differ from a selective release of secondary peaks. The source compares the secondary-to-primary relation as well as response time courses, helping distinguish these possibilities. Phase ambiguity can therefore reappear when inhibition is weakened even though the excitatory inputs still carry the same physical sound timing.
• BMI increased secondary-peak responses and could restore phase ambiguity for noise. The published records include time-dependent increases at delays such as −270 and +120 µs while the principal timing preference remained distinguishable. Recovery measurements tested reversibility after drug application.
• Cross-frequency convergence and inhibitory suppression jointly support unique broadband timing selectivity. Blocking GABA-A receptors restored secondary peaks for noise, so inhibition contributes to suppressing the repeated matches while frequency-matched excitation supplies the principal timing preference.
References:
Fujita I, Konishi M (1991). The role of GABAergic inhibition in processing of interaural time difference in the owl's auditory system. The Journal of Neuroscience 11(3):722-739. https://doi.org/10.1523/jneurosci.11-03-00722.1991
Figure: Fujita &amp; Konishi (1991), Fig. 12(A–D). GABA-receptor blockade releases secondary timing-response peaks.
Figure source: https://doi.org/10.1523/jneurosci.11-03-00722.1991</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Glutamate is an excitatory transmitter. Feldman and Knudsen applied AP5, an antagonist of NMDA (N-methyl-D-aspartate) receptors, and CNQX, a non-NMDA glutamate-receptor antagonist, by iontophoresis while recording from ICx and the ICC lateral shell.
  – Iontophoresis uses an electrical current to deliver a drug locally. The two-antagonist comparison constrains whether a weak AP5 effect reflects little NMDA contribution or generally ineffective local delivery. NMDA and non-NMDA receptors are distinct glutamate-sensitive ion-channel families. NMDA channels have voltage-dependent magnesium block that can be relieved by depolarization. The ICx responses retained an NMDA contribution across their tested dynamic range, rather than recruiting it only above a separate high-level threshold. Antagonist-sensitive spikes do not constitute a complete molecular census.
• AP5 removed about 55% of auditory-evoked spikes at ICx multiunit sites and 64% at single units, compared with approximately 19% and 25% in the lateral shell. Combined AP5 and CNQX strongly suppressed responses in both subdivisions, often eliminating them.
• NMDA-dependent transmission contributes more prominently to ICx responses, while non-NMDA transmission is substantial in both regions. Normalizing AP5 blockade against combined blockade addressed variation in drug efficacy across sites. Spike reduction measures the functional contribution of each receptor class to auditory-evoked responses.
References:
Feldman DE, Knudsen EI (1994). NMDA and non-NMDA glutamate receptors in auditory transmission in the barn owl inferior colliculus. The Journal of Neuroscience 14(10):5939-5958. https://doi.org/10.1523/jneurosci.14-10-05939.1994
Figure: Feldman &amp; Knudsen (1994), Fig. 8(A–B). NMDA blockade differs between ICx and lateral shell.
Figure source: https://doi.org/10.1523/jneurosci.14-10-05939.1994</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Feldman and Knudsen analyzed peristimulus time histograms, which align repeated spike trains to sound onset. They tested ICx units with transient, sustained, or mixed responses to 50-ms broadband stimuli at their preferred ITD and ILD.
  – An iontophoretic current is a drug-delivery setting, not the synaptic current flowing through a neuron. The 50-ms sound duration and the sequence of control, blockade, and recovery remain in the original figure. A slow excitatory postsynaptic current can persist between successive inputs and summate during a sustained spike train. The authors proposed this mechanism for the growing late NMDA contribution. These experiments concern transmission in established spatial circuits; a role in developmental plasticity requires separate evidence.
• AP5 at 25 nA reduced spikes, with a larger effect on late activity in mixed transient-sustained responses. Responses were measured before application, during blockade, and after recovery. CNQX, in contrast, reduced activity more uniformly across the response time course.
• The temporal difference is consistent with slower NMDA-dependent excitation supplementing faster non-NMDA transmission. Together with coincidence detection, bilateral inhibition and cross-frequency convergence, synaptic integration supports the sustained spatial signals available for owl orienting.
References:
Feldman DE, Knudsen EI (1994). NMDA and non-NMDA glutamate receptors in auditory transmission in the barn owl inferior colliculus. The Journal of Neuroscience 14(10):5939-5958. https://doi.org/10.1523/jneurosci.14-10-05939.1994
Figure: Feldman &amp; Knudsen (1994), Fig. 9(A–C). NMDA blockade alters the time course of auditory spike responses.
Figure source: https://doi.org/10.1523/jneurosci.14-10-05939.1994</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Computed spatial maps. ICx receptive-field centers are ordered by sound direction; the map is computed from binaural signals rather than copied from a spatial receptor surface.
• Parallel cue pathways. NM preserves timing and NA emphasizes sound level. Selective inactivation dissociates their contributions before the cues converge.
• Delay lines and coincidence. Opposed NM conduction gradients and coincidence-sensitive NL neurons transform interaural timing into place-dependent activity.
• Convergence and inhibition. Frequency-matched ICC arrays provide cross-frequency agreement, while GABAergic inhibition suppresses competing timing peaks in ICx.
• Level tuning and cue combination. Bilateral inhibitory influences create peaked ILD tuning; approximately multiplicative membrane integration combines timing and level selectivity.
• Mechanisms have experimental limits. NMDA and non-NMDA antagonists identify transmission contributions. Natural ILDs can also aid horizontal disambiguation, so ITD and ILD are not exclusive behavioral axes.
References:
Knudsen EI, Konishi M (1978). A Neural Map of Auditory Space in the Owl. Science 200(4343):795-797. https://doi.org/10.1126/science.644324
Sullivan WE, Konishi M (1984). Segregation of stimulus phase and intensity coding in the cochlear nucleus of the barn owl. The Journal of Neuroscience 4(7):1787-1799. https://doi.org/10.1523/jneurosci.04-07-01787.1984
Takahashi T, Moiseff A, Konishi M (1984). Time and intensity cues are processed independently in the auditory system of the owl. The Journal of Neuroscience 4(7):1781-1786. https://doi.org/10.1523/jneurosci.04-07-01781.1984
Carr CE, Konishi M (1990). A circuit for detection of interaural time differences in the brain stem of the barn owl. The Journal of Neuroscience 10(10):3227-3246. https://doi.org/10.1523/jneurosci.10-10-03227.1990
Wagner H, Takahashi T, Konishi M (1987). Representation of interaural time difference in the central nucleus of the barn owl's inferior colliculus. The Journal of Neuroscience 7(10):3105-3116. https://doi.org/10.1523/jneurosci.07-10-03105.1987
Manley GA, Köppl C, Konishi M (1988). A neural map of interaural intensity differences in the brain stem of the barn owl. The Journal of Neuroscience 8(8):2665-2676. https://doi.org/10.1523/jneurosci.08-08-02665.1988
Adolphs R (1993). Bilateral inhibition generates neuronal responses tuned to interaural level differences in the auditory brainstem of the barn owl. The Journal of Neuroscience 13(9):3647-3668. https://doi.org/10.1523/jneurosci.13-09-03647.1993
Fujita I, Konishi M (1991). The role of GABAergic inhibition in processing of interaural time difference in the owl's auditory system. The Journal of Neuroscience 11(3):722-739. https://doi.org/10.1523/jneurosci.11-03-00722.1991
Peña JL, Konishi M (2001). Auditory Spatial Receptive Fields Created by Multiplication. Science 292(5515):249-252. https://doi.org/10.1126/science.1059201
Feldman DE, Knudsen EI (1994). NMDA and non-NMDA glutamate receptors in auditory transmission in the barn owl inferior colliculus. The Journal of Neuroscience 14(10):5939-5958. https://doi.org/10.1523/jneurosci.14-10-05939.1994
Kettler L, Griebel H, Ferger R, Wagner H (2017). Combination of Interaural Level and Time Difference in Azimuthal Sound Localization in Owls. eNeuro 4(6):ENEURO.0238-17.2017. https://doi.org/10.1523/eneuro.0238-17.2017</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Whether timing and level add or multiply determines how a neuron's spatial tuning is shaped.</a:t>
            </a:r>
          </a:p>
          <a:p>
            <a:r>
              <a:rPr lang="en-US" sz="1200"/>
              <a:t>• Addition and multiplication.</a:t>
            </a:r>
          </a:p>
          <a:p>
            <a:r>
              <a:rPr lang="en-US" sz="1200"/>
              <a:t>– With addition the two cue effects sum.</a:t>
            </a:r>
          </a:p>
          <a:p>
            <a:r>
              <a:rPr lang="en-US" sz="1200"/>
              <a:t>– With multiplication the effectiveness of one cue depends on the strength of the other.</a:t>
            </a:r>
          </a:p>
          <a:p>
            <a:r>
              <a:rPr lang="en-US" sz="1200"/>
              <a:t>• The matrix.</a:t>
            </a:r>
          </a:p>
          <a:p>
            <a:r>
              <a:rPr lang="en-US" sz="1200"/>
              <a:t>– Subthreshold responses were arranged by ITD and ILD, so each cell of the matrix is one cue pair.</a:t>
            </a:r>
          </a:p>
          <a:p>
            <a:r>
              <a:rPr lang="en-US" sz="1200"/>
              <a:t>• Analysis.</a:t>
            </a:r>
          </a:p>
          <a:p>
            <a:r>
              <a:rPr lang="en-US" sz="1200"/>
              <a:t>– A matrix analysis separated the responses into ranked components.</a:t>
            </a:r>
          </a:p>
          <a:p>
            <a:r>
              <a:rPr lang="en-US" sz="1200"/>
              <a:t>– A multiplicative component described most of the structure after a constant offset was accounted for.</a:t>
            </a:r>
          </a:p>
          <a:p>
            <a:r>
              <a:rPr lang="en-US" sz="1200"/>
              <a:t>• Result.</a:t>
            </a:r>
          </a:p>
          <a:p>
            <a:r>
              <a:rPr lang="en-US" sz="1200"/>
              <a:t>– Multiplication captured the data better than a simple additive alternative.</a:t>
            </a:r>
          </a:p>
          <a:p>
            <a:r>
              <a:rPr lang="en-US" sz="1200"/>
              <a:t>• Consequence.</a:t>
            </a:r>
          </a:p>
          <a:p>
            <a:r>
              <a:rPr lang="en-US" sz="1200"/>
              <a:t>– If either cue is absent the product is small.</a:t>
            </a:r>
          </a:p>
          <a:p>
            <a:r>
              <a:rPr lang="en-US" sz="1200"/>
              <a:t>– The neuron therefore responds strongly only at the location that favors both timing and level.</a:t>
            </a:r>
          </a:p>
          <a:p>
            <a:r>
              <a:rPr lang="en-US" sz="1200"/>
              <a:t>• Constant offset.</a:t>
            </a:r>
          </a:p>
          <a:p>
            <a:r>
              <a:rPr lang="en-US" sz="1200"/>
              <a:t>– A constant membrane-voltage offset was accounted for before testing the interaction.</a:t>
            </a:r>
          </a:p>
          <a:p>
            <a:r>
              <a:rPr lang="en-US" sz="1200"/>
              <a:t>– The remaining structure was compared with additive and multiplicative accounts.</a:t>
            </a:r>
          </a:p>
          <a:p>
            <a:r>
              <a:rPr lang="en-US" sz="1200"/>
              <a:t>• Level of description.</a:t>
            </a:r>
          </a:p>
          <a:p>
            <a:r>
              <a:rPr lang="en-US" sz="1200"/>
              <a:t>– The result describes a computation at the level of membrane responses.</a:t>
            </a:r>
          </a:p>
          <a:p>
            <a:r>
              <a:rPr lang="en-US" sz="1200"/>
              <a:t>– It does not assign multiplication to one receptor or one dendritic compartment.</a:t>
            </a:r>
          </a:p>
          <a:p>
            <a:r>
              <a:rPr lang="en-US" sz="1200"/>
              <a:t/>
            </a:r>
          </a:p>
          <a:p>
            <a:r>
              <a:rPr lang="en-US" sz="1200"/>
              <a:t>References:</a:t>
            </a:r>
          </a:p>
          <a:p>
            <a:r>
              <a:rPr lang="en-US" sz="1200"/>
              <a:t>Peña JL, Konishi M (2001). Auditory Spatial Receptive Fields Created by Multiplication. Science 292(5515):249-252. https://doi.org/10.1126/science.1059201</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Membrane voltage shows the result of synaptic integration before spikes are produced.</a:t>
            </a:r>
          </a:p>
          <a:p>
            <a:r>
              <a:rPr lang="en-US" sz="1200"/>
              <a:t>• Membrane potential.</a:t>
            </a:r>
          </a:p>
          <a:p>
            <a:r>
              <a:rPr lang="en-US" sz="1200"/>
              <a:t>– Depolarization moves the voltage toward spike threshold.</a:t>
            </a:r>
          </a:p>
          <a:p>
            <a:r>
              <a:rPr lang="en-US" sz="1200"/>
              <a:t>– Hyperpolarization moves it away from threshold.</a:t>
            </a:r>
          </a:p>
          <a:p>
            <a:r>
              <a:rPr lang="en-US" sz="1200"/>
              <a:t>• Recording.</a:t>
            </a:r>
          </a:p>
          <a:p>
            <a:r>
              <a:rPr lang="en-US" sz="1200"/>
              <a:t>– Identified ICx neurons were recorded intracellularly and labeled with neurobiotin.</a:t>
            </a:r>
          </a:p>
          <a:p>
            <a:r>
              <a:rPr lang="en-US" sz="1200"/>
              <a:t>– Broadband noise bursts 100 milliseconds long were presented 30 decibels above threshold.</a:t>
            </a:r>
          </a:p>
          <a:p>
            <a:r>
              <a:rPr lang="en-US" sz="1200"/>
              <a:t>• Tuning.</a:t>
            </a:r>
          </a:p>
          <a:p>
            <a:r>
              <a:rPr lang="en-US" sz="1200"/>
              <a:t>– Combinations of ITD and ILD near the preferred pair gave depolarization.</a:t>
            </a:r>
          </a:p>
          <a:p>
            <a:r>
              <a:rPr lang="en-US" sz="1200"/>
              <a:t>– Combinations outside it gave hyperpolarization.</a:t>
            </a:r>
          </a:p>
          <a:p>
            <a:r>
              <a:rPr lang="en-US" sz="1200"/>
              <a:t>• Spikes.</a:t>
            </a:r>
          </a:p>
          <a:p>
            <a:r>
              <a:rPr lang="en-US" sz="1200"/>
              <a:t>– The spike output formed a smaller excitatory center surrounded by reduced firing.</a:t>
            </a:r>
          </a:p>
          <a:p>
            <a:r>
              <a:rPr lang="en-US" sz="1200"/>
              <a:t>• Mixture of inputs.</a:t>
            </a:r>
          </a:p>
          <a:p>
            <a:r>
              <a:rPr lang="en-US" sz="1200"/>
              <a:t>– The recorded voltage can contain both excitatory and inhibitory influences, so it is not the response of one conductance.</a:t>
            </a:r>
          </a:p>
          <a:p>
            <a:r>
              <a:rPr lang="en-US" sz="1200"/>
              <a:t>• Why record intracellularly.</a:t>
            </a:r>
          </a:p>
          <a:p>
            <a:r>
              <a:rPr lang="en-US" sz="1200"/>
              <a:t>– Extracellular spikes show only the output of a neuron.</a:t>
            </a:r>
          </a:p>
          <a:p>
            <a:r>
              <a:rPr lang="en-US" sz="1200"/>
              <a:t>– The membrane potential shows the sum of excitatory and inhibitory inputs before the spike threshold is applied.</a:t>
            </a:r>
          </a:p>
          <a:p>
            <a:r>
              <a:rPr lang="en-US" sz="1200"/>
              <a:t>• Stimulus pairs.</a:t>
            </a:r>
          </a:p>
          <a:p>
            <a:r>
              <a:rPr lang="en-US" sz="1200"/>
              <a:t>– Pairs of ITD and ILD were tested systematically.</a:t>
            </a:r>
          </a:p>
          <a:p>
            <a:r>
              <a:rPr lang="en-US" sz="1200"/>
              <a:t>– Each pair gave a depolarizing or a hyperpolarizing response, and the pattern across pairs forms the tuning.</a:t>
            </a:r>
          </a:p>
          <a:p>
            <a:r>
              <a:rPr lang="en-US" sz="1200"/>
              <a:t/>
            </a:r>
          </a:p>
          <a:p>
            <a:r>
              <a:rPr lang="en-US" sz="1200"/>
              <a:t>References:</a:t>
            </a:r>
          </a:p>
          <a:p>
            <a:r>
              <a:rPr lang="en-US" sz="1200"/>
              <a:t>Peña JL, Konishi M (2001). Auditory Spatial Receptive Fields Created by Multiplication. Science 292(5515):249-252. https://doi.org/10.1126/science.1059201</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curve without a peak can still be summarized by a single criterion point.</a:t>
            </a:r>
          </a:p>
          <a:p>
            <a:r>
              <a:rPr lang="en-US" sz="1200"/>
              <a:t>• Monotonic curves.</a:t>
            </a:r>
          </a:p>
          <a:p>
            <a:r>
              <a:rPr lang="en-US" sz="1200"/>
              <a:t>– A monotonic response keeps rising or falling with the stimulus parameter.</a:t>
            </a:r>
          </a:p>
          <a:p>
            <a:r>
              <a:rPr lang="en-US" sz="1200"/>
              <a:t>– VLVp responses to interaural level difference were largely of this type.</a:t>
            </a:r>
          </a:p>
          <a:p>
            <a:r>
              <a:rPr lang="en-US" sz="1200"/>
              <a:t>• Half-maximum point.</a:t>
            </a:r>
          </a:p>
          <a:p>
            <a:r>
              <a:rPr lang="en-US" sz="1200"/>
              <a:t>– The half-maximum point is the ILD at which firing reaches half of its maximum.</a:t>
            </a:r>
          </a:p>
          <a:p>
            <a:r>
              <a:rPr lang="en-US" sz="1200"/>
              <a:t>– It marks where along the level axis the response changes.</a:t>
            </a:r>
          </a:p>
          <a:p>
            <a:r>
              <a:rPr lang="en-US" sz="1200"/>
              <a:t>• Anatomical order.</a:t>
            </a:r>
          </a:p>
          <a:p>
            <a:r>
              <a:rPr lang="en-US" sz="1200"/>
              <a:t>– Dorsal sites had more contralaterally biased half-maximum points.</a:t>
            </a:r>
          </a:p>
          <a:p>
            <a:r>
              <a:rPr lang="en-US" sz="1200"/>
              <a:t>– Ventral sites shifted toward ipsilateral values.</a:t>
            </a:r>
          </a:p>
          <a:p>
            <a:r>
              <a:rPr lang="en-US" sz="1200"/>
              <a:t>• Level stability.</a:t>
            </a:r>
          </a:p>
          <a:p>
            <a:r>
              <a:rPr lang="en-US" sz="1200"/>
              <a:t>– Some cells changed their half-maximum point by 2 decibels or less when average binaural level rose by 10 decibels.</a:t>
            </a:r>
          </a:p>
          <a:p>
            <a:r>
              <a:rPr lang="en-US" sz="1200"/>
              <a:t>• Comparison with spatial maps.</a:t>
            </a:r>
          </a:p>
          <a:p>
            <a:r>
              <a:rPr lang="en-US" sz="1200"/>
              <a:t>– The ordering concerns response thresholds on a level axis and differs from a map of receptive-field centers.</a:t>
            </a:r>
          </a:p>
          <a:p>
            <a:r>
              <a:rPr lang="en-US" sz="1200"/>
              <a:t>• Sequential sites.</a:t>
            </a:r>
          </a:p>
          <a:p>
            <a:r>
              <a:rPr lang="en-US" sz="1200"/>
              <a:t>– Sequential recording sites within a penetration were compared to test for an anatomical order.</a:t>
            </a:r>
          </a:p>
          <a:p>
            <a:r>
              <a:rPr lang="en-US" sz="1200"/>
              <a:t>– The ordered criterion is the result.</a:t>
            </a:r>
          </a:p>
          <a:p>
            <a:r>
              <a:rPr lang="en-US" sz="1200"/>
              <a:t>• Comparison with direction.</a:t>
            </a:r>
          </a:p>
          <a:p>
            <a:r>
              <a:rPr lang="en-US" sz="1200"/>
              <a:t>– The map is an ordering of thresholds along a level axis and is not a map of locations in space.</a:t>
            </a:r>
          </a:p>
          <a:p>
            <a:r>
              <a:rPr lang="en-US" sz="1200"/>
              <a:t/>
            </a:r>
          </a:p>
          <a:p>
            <a:r>
              <a:rPr lang="en-US" sz="1200"/>
              <a:t>References:</a:t>
            </a:r>
          </a:p>
          <a:p>
            <a:r>
              <a:rPr lang="en-US" sz="1200"/>
              <a:t>Manley GA, Köppl C, Konishi M (1988). A neural map of interaural intensity differences in the brain stem of the barn owl. The Journal of Neuroscience 8(8):2665-2676. https://doi.org/10.1523/jneurosci.08-08-02665.1988</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Natural sounds are broadband, which helps remove the ambiguity of single channels.</a:t>
            </a:r>
          </a:p>
          <a:p>
            <a:r>
              <a:rPr lang="en-US" sz="1200"/>
              <a:t>• Tone and noise.</a:t>
            </a:r>
          </a:p>
          <a:p>
            <a:r>
              <a:rPr lang="en-US" sz="1200"/>
              <a:t>– A tone has one period, and broadband noise has many components with different periods.</a:t>
            </a:r>
          </a:p>
          <a:p>
            <a:r>
              <a:rPr lang="en-US" sz="1200"/>
              <a:t>• Same neuron.</a:t>
            </a:r>
          </a:p>
          <a:p>
            <a:r>
              <a:rPr lang="en-US" sz="1200"/>
              <a:t>– Recording the same ICx neuron with both stimuli holds the recording site constant.</a:t>
            </a:r>
          </a:p>
          <a:p>
            <a:r>
              <a:rPr lang="en-US" sz="1200"/>
              <a:t>• Result.</a:t>
            </a:r>
          </a:p>
          <a:p>
            <a:r>
              <a:rPr lang="en-US" sz="1200"/>
              <a:t>– Tones produced a principal peak with repeated secondary peaks.</a:t>
            </a:r>
          </a:p>
          <a:p>
            <a:r>
              <a:rPr lang="en-US" sz="1200"/>
              <a:t>– Noise greatly reduced the secondary peaks while keeping the timing near the principal peak.</a:t>
            </a:r>
          </a:p>
          <a:p>
            <a:r>
              <a:rPr lang="en-US" sz="1200"/>
              <a:t>• Reason.</a:t>
            </a:r>
          </a:p>
          <a:p>
            <a:r>
              <a:rPr lang="en-US" sz="1200"/>
              <a:t>– Secondary peaks of different components occur at different delays.</a:t>
            </a:r>
          </a:p>
          <a:p>
            <a:r>
              <a:rPr lang="en-US" sz="1200"/>
              <a:t>– The true delay is the one that every component shares.</a:t>
            </a:r>
          </a:p>
          <a:p>
            <a:r>
              <a:rPr lang="en-US" sz="1200"/>
              <a:t>• Convergence.</a:t>
            </a:r>
          </a:p>
          <a:p>
            <a:r>
              <a:rPr lang="en-US" sz="1200"/>
              <a:t>– Input from many frequency channels onto one neuron reinforces the shared delay.</a:t>
            </a:r>
          </a:p>
          <a:p>
            <a:r>
              <a:rPr lang="en-US" sz="1200"/>
              <a:t>• Same neuron comparison.</a:t>
            </a:r>
          </a:p>
          <a:p>
            <a:r>
              <a:rPr lang="en-US" sz="1200"/>
              <a:t>– Each neuron served as its own control, so differences between tone and noise belong to the stimulus and not to the sample of cells.</a:t>
            </a:r>
          </a:p>
          <a:p>
            <a:r>
              <a:rPr lang="en-US" sz="1200"/>
              <a:t>– The best-frequency tone was matched to the neuron.</a:t>
            </a:r>
          </a:p>
          <a:p>
            <a:r>
              <a:rPr lang="en-US" sz="1200"/>
              <a:t>• Ambiguity resolution.</a:t>
            </a:r>
          </a:p>
          <a:p>
            <a:r>
              <a:rPr lang="en-US" sz="1200"/>
              <a:t>– A tone gives a principal peak and secondary peaks.</a:t>
            </a:r>
          </a:p>
          <a:p>
            <a:r>
              <a:rPr lang="en-US" sz="1200"/>
              <a:t>– Broadband input keeps the principal peak and greatly weakens the secondary peaks.</a:t>
            </a:r>
          </a:p>
          <a:p>
            <a:r>
              <a:rPr lang="en-US" sz="1200"/>
              <a:t/>
            </a:r>
          </a:p>
          <a:p>
            <a:r>
              <a:rPr lang="en-US" sz="1200"/>
              <a:t>References:</a:t>
            </a:r>
          </a:p>
          <a:p>
            <a:r>
              <a:rPr lang="en-US" sz="1200"/>
              <a:t>Takahashi T, Konishi M (1986). Selectivity for interaural time difference in the owl's midbrain. The Journal of Neuroscience 6(12):3413-3422. https://doi.org/10.1523/jneurosci.06-12-03413.1986</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The central nucleus of the inferior colliculus is organized in frequency layers.</a:t>
            </a:r>
          </a:p>
          <a:p>
            <a:r>
              <a:rPr lang="en-US" sz="1200"/>
              <a:t>• Laminae.</a:t>
            </a:r>
          </a:p>
          <a:p>
            <a:r>
              <a:rPr lang="en-US" sz="1200"/>
              <a:t>– An isofrequency lamina is a sheet of neurons with similar frequency tuning.</a:t>
            </a:r>
          </a:p>
          <a:p>
            <a:r>
              <a:rPr lang="en-US" sz="1200"/>
              <a:t>– Different laminae have different best frequencies.</a:t>
            </a:r>
          </a:p>
          <a:p>
            <a:r>
              <a:rPr lang="en-US" sz="1200"/>
              <a:t>• Penetrations.</a:t>
            </a:r>
          </a:p>
          <a:p>
            <a:r>
              <a:rPr lang="en-US" sz="1200"/>
              <a:t>– Electrodes were advanced dorsoventrally through the central nucleus.</a:t>
            </a:r>
          </a:p>
          <a:p>
            <a:r>
              <a:rPr lang="en-US" sz="1200"/>
              <a:t>– Reconstructed positions established the orientation of the arrays.</a:t>
            </a:r>
          </a:p>
          <a:p>
            <a:r>
              <a:rPr lang="en-US" sz="1200"/>
              <a:t>• Tonotopy.</a:t>
            </a:r>
          </a:p>
          <a:p>
            <a:r>
              <a:rPr lang="en-US" sz="1200"/>
              <a:t>– In a representative penetration best frequency rose monotonically from approximately 500 hertz to 10 kilohertz.</a:t>
            </a:r>
          </a:p>
          <a:p>
            <a:r>
              <a:rPr lang="en-US" sz="1200"/>
              <a:t>• Why frequency diversity matters.</a:t>
            </a:r>
          </a:p>
          <a:p>
            <a:r>
              <a:rPr lang="en-US" sz="1200"/>
              <a:t>– Each lamina has a different period, so testing across laminae asks whether channels share one delay.</a:t>
            </a:r>
          </a:p>
          <a:p>
            <a:r>
              <a:rPr lang="en-US" sz="1200"/>
              <a:t>– A shared preferred phase would not be enough.</a:t>
            </a:r>
          </a:p>
          <a:p>
            <a:r>
              <a:rPr lang="en-US" sz="1200"/>
              <a:t>• Sampling.</a:t>
            </a:r>
          </a:p>
          <a:p>
            <a:r>
              <a:rPr lang="en-US" sz="1200"/>
              <a:t>– The trajectory samples the population and does not follow a single neuron through every channel.</a:t>
            </a:r>
          </a:p>
          <a:p>
            <a:r>
              <a:rPr lang="en-US" sz="1200"/>
              <a:t>• Relation to arrays.</a:t>
            </a:r>
          </a:p>
          <a:p>
            <a:r>
              <a:rPr lang="en-US" sz="1200"/>
              <a:t>– The earlier slides described neurons that share a timing relation across frequency.</a:t>
            </a:r>
          </a:p>
          <a:p>
            <a:r>
              <a:rPr lang="en-US" sz="1200"/>
              <a:t>– An array is a group of neurons arranged across laminae with a common timing relation.</a:t>
            </a:r>
          </a:p>
          <a:p>
            <a:r>
              <a:rPr lang="en-US" sz="1200"/>
              <a:t>• Anatomical orientation.</a:t>
            </a:r>
          </a:p>
          <a:p>
            <a:r>
              <a:rPr lang="en-US" sz="1200"/>
              <a:t>– Seven penetrations were reconstructed histologically, which established the orientation of the arrays in the colliculus.</a:t>
            </a:r>
          </a:p>
          <a:p>
            <a:r>
              <a:rPr lang="en-US" sz="1200"/>
              <a:t/>
            </a:r>
          </a:p>
          <a:p>
            <a:r>
              <a:rPr lang="en-US" sz="1200"/>
              <a:t>References:</a:t>
            </a:r>
          </a:p>
          <a:p>
            <a:r>
              <a:rPr lang="en-US" sz="1200"/>
              <a:t>Wagner H, Takahashi T, Konishi M (1987). Representation of interaural time difference in the central nucleus of the barn owl's inferior colliculus. The Journal of Neuroscience 7(10):3105-3116. https://doi.org/10.1523/jneurosci.07-10-03105.1987</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single frequency channel cannot tell apart delays that differ by a whole number of periods.</a:t>
            </a:r>
          </a:p>
          <a:p>
            <a:r>
              <a:rPr lang="en-US" sz="1200"/>
              <a:t>• Periodic input.</a:t>
            </a:r>
          </a:p>
          <a:p>
            <a:r>
              <a:rPr lang="en-US" sz="1200"/>
              <a:t>– A tone repeats every period, so the same alignment between the ears occurs again after each period.</a:t>
            </a:r>
          </a:p>
          <a:p>
            <a:r>
              <a:rPr lang="en-US" sz="1200"/>
              <a:t>• Example.</a:t>
            </a:r>
          </a:p>
          <a:p>
            <a:r>
              <a:rPr lang="en-US" sz="1200"/>
              <a:t>– At 4 kilohertz the period is 250 microseconds.</a:t>
            </a:r>
          </a:p>
          <a:p>
            <a:r>
              <a:rPr lang="en-US" sz="1200"/>
              <a:t>– Alignment recurs at delays separated by 250 microseconds.</a:t>
            </a:r>
          </a:p>
          <a:p>
            <a:r>
              <a:rPr lang="en-US" sz="1200"/>
              <a:t>• Measurement.</a:t>
            </a:r>
          </a:p>
          <a:p>
            <a:r>
              <a:rPr lang="en-US" sz="1200"/>
              <a:t>– Firing was measured across a range of imposed delays.</a:t>
            </a:r>
          </a:p>
          <a:p>
            <a:r>
              <a:rPr lang="en-US" sz="1200"/>
              <a:t>– The repeated maxima had spacing consistent with the stimulus frequency.</a:t>
            </a:r>
          </a:p>
          <a:p>
            <a:r>
              <a:rPr lang="en-US" sz="1200"/>
              <a:t>• Ambiguity.</a:t>
            </a:r>
          </a:p>
          <a:p>
            <a:r>
              <a:rPr lang="en-US" sz="1200"/>
              <a:t>– A single narrowband channel cannot assign one unique ITD from its firing rate.</a:t>
            </a:r>
          </a:p>
          <a:p>
            <a:r>
              <a:rPr lang="en-US" sz="1200"/>
              <a:t>• Resolution.</a:t>
            </a:r>
          </a:p>
          <a:p>
            <a:r>
              <a:rPr lang="en-US" sz="1200"/>
              <a:t>– Channels at other frequencies have different periods, so only the true delay is shared by all of them.</a:t>
            </a:r>
          </a:p>
          <a:p>
            <a:r>
              <a:rPr lang="en-US" sz="1200"/>
              <a:t>• Delay curves.</a:t>
            </a:r>
          </a:p>
          <a:p>
            <a:r>
              <a:rPr lang="en-US" sz="1200"/>
              <a:t>– A delay curve plots firing against imposed interaural delay.</a:t>
            </a:r>
          </a:p>
          <a:p>
            <a:r>
              <a:rPr lang="en-US" sz="1200"/>
              <a:t>– Different neurons differed in preferred timing and in the depth of modulation.</a:t>
            </a:r>
          </a:p>
          <a:p>
            <a:r>
              <a:rPr lang="en-US" sz="1200"/>
              <a:t>• Beyond the physiological range.</a:t>
            </a:r>
          </a:p>
          <a:p>
            <a:r>
              <a:rPr lang="en-US" sz="1200"/>
              <a:t>– Repeated opportunities for alignment occur at delays beyond the strongest peak near the physiological range.</a:t>
            </a:r>
          </a:p>
          <a:p>
            <a:r>
              <a:rPr lang="en-US" sz="1200"/>
              <a:t>– The ambiguity belongs to the narrow frequency channel and not to the whole system.</a:t>
            </a:r>
          </a:p>
          <a:p>
            <a:r>
              <a:rPr lang="en-US" sz="1200"/>
              <a:t/>
            </a:r>
          </a:p>
          <a:p>
            <a:r>
              <a:rPr lang="en-US" sz="1200"/>
              <a:t>References:</a:t>
            </a:r>
          </a:p>
          <a:p>
            <a:r>
              <a:rPr lang="en-US" sz="1200"/>
              <a:t>Carr CE, Konishi M (1990). A circuit for detection of interaural time differences in the brain stem of the barn owl. The Journal of Neuroscience 10(10):3227-3246. https://doi.org/10.1523/jneurosci.10-10-03227.1990</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coincidence detector reports that two signals arrived at the same moment.</a:t>
            </a:r>
          </a:p>
          <a:p>
            <a:r>
              <a:rPr lang="en-US" sz="1200"/>
              <a:t>• Definition.</a:t>
            </a:r>
          </a:p>
          <a:p>
            <a:r>
              <a:rPr lang="en-US" sz="1200"/>
              <a:t>– Firing is enhanced when two inputs arrive within a short interval.</a:t>
            </a:r>
          </a:p>
          <a:p>
            <a:r>
              <a:rPr lang="en-US" sz="1200"/>
              <a:t>– Inputs that arrive apart give a smaller response.</a:t>
            </a:r>
          </a:p>
          <a:p>
            <a:r>
              <a:rPr lang="en-US" sz="1200"/>
              <a:t>• Procedure.</a:t>
            </a:r>
          </a:p>
          <a:p>
            <a:r>
              <a:rPr lang="en-US" sz="1200"/>
              <a:t>– Each ear was stimulated separately, and then ITD was varied during binaural stimulation.</a:t>
            </a:r>
          </a:p>
          <a:p>
            <a:r>
              <a:rPr lang="en-US" sz="1200"/>
              <a:t>– Recordings were intracellular.</a:t>
            </a:r>
          </a:p>
          <a:p>
            <a:r>
              <a:rPr lang="en-US" sz="1200"/>
              <a:t>• Example neuron.</a:t>
            </a:r>
          </a:p>
          <a:p>
            <a:r>
              <a:rPr lang="en-US" sz="1200"/>
              <a:t>– At a favorable delay of 30 microseconds the neuron fired 1107 spikes.</a:t>
            </a:r>
          </a:p>
          <a:p>
            <a:r>
              <a:rPr lang="en-US" sz="1200"/>
              <a:t>– Separate stimulation of each ear gave 393 and 360 spikes.</a:t>
            </a:r>
          </a:p>
          <a:p>
            <a:r>
              <a:rPr lang="en-US" sz="1200"/>
              <a:t>• Dependence on timing.</a:t>
            </a:r>
          </a:p>
          <a:p>
            <a:r>
              <a:rPr lang="en-US" sz="1200"/>
              <a:t>– The same neuron responded much less at unfavorable delays.</a:t>
            </a:r>
          </a:p>
          <a:p>
            <a:r>
              <a:rPr lang="en-US" sz="1200"/>
              <a:t>• Link to the delay line.</a:t>
            </a:r>
          </a:p>
          <a:p>
            <a:r>
              <a:rPr lang="en-US" sz="1200"/>
              <a:t>– Opposing delay gradients mean that an external ITD compensates the internal delay at one position, where the two inputs coincide.</a:t>
            </a:r>
          </a:p>
          <a:p>
            <a:r>
              <a:rPr lang="en-US" sz="1200"/>
              <a:t>• Intracellular recording.</a:t>
            </a:r>
          </a:p>
          <a:p>
            <a:r>
              <a:rPr lang="en-US" sz="1200"/>
              <a:t>– Recording inside the cell shows the response of an identified neuron to each ear separately and to both ears together.</a:t>
            </a:r>
          </a:p>
          <a:p>
            <a:r>
              <a:rPr lang="en-US" sz="1200"/>
              <a:t>• Across the study.</a:t>
            </a:r>
          </a:p>
          <a:p>
            <a:r>
              <a:rPr lang="en-US" sz="1200"/>
              <a:t>– Favorable binaural responses were roughly twice monaural responses.</a:t>
            </a:r>
          </a:p>
          <a:p>
            <a:r>
              <a:rPr lang="en-US" sz="1200"/>
              <a:t>– The enhancement fits coincidence-sensitive integration of input from the two ears.</a:t>
            </a:r>
          </a:p>
          <a:p>
            <a:r>
              <a:rPr lang="en-US" sz="1200"/>
              <a:t/>
            </a:r>
          </a:p>
          <a:p>
            <a:r>
              <a:rPr lang="en-US" sz="1200"/>
              <a:t>References:</a:t>
            </a:r>
          </a:p>
          <a:p>
            <a:r>
              <a:rPr lang="en-US" sz="1200"/>
              <a:t>Carr CE, Konishi M (1990). A circuit for detection of interaural time differences in the brain stem of the barn owl. The Journal of Neuroscience 10(10):3227-3246. https://doi.org/10.1523/jneurosci.10-10-03227.1990</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Phase wraps because it is defined within one cycle, and delay keeps increasing across cycles.</a:t>
            </a:r>
          </a:p>
          <a:p>
            <a:r>
              <a:rPr lang="en-US" sz="1200"/>
              <a:t>• Period.</a:t>
            </a:r>
          </a:p>
          <a:p>
            <a:r>
              <a:rPr lang="en-US" sz="1200"/>
              <a:t>– A 4-kilohertz tone has a period of 250 microseconds.</a:t>
            </a:r>
          </a:p>
          <a:p>
            <a:r>
              <a:rPr lang="en-US" sz="1200"/>
              <a:t>– A 5.5-kilohertz tone has a period of approximately 182 microseconds.</a:t>
            </a:r>
          </a:p>
          <a:p>
            <a:r>
              <a:rPr lang="en-US" sz="1200"/>
              <a:t>• Wrapping.</a:t>
            </a:r>
          </a:p>
          <a:p>
            <a:r>
              <a:rPr lang="en-US" sz="1200"/>
              <a:t>– After a delay of one full period the phase returns to the same value.</a:t>
            </a:r>
          </a:p>
          <a:p>
            <a:r>
              <a:rPr lang="en-US" sz="1200"/>
              <a:t>– A measurement of phase alone therefore cannot say how many complete periods have elapsed.</a:t>
            </a:r>
          </a:p>
          <a:p>
            <a:r>
              <a:rPr lang="en-US" sz="1200"/>
              <a:t>• Phase jumps.</a:t>
            </a:r>
          </a:p>
          <a:p>
            <a:r>
              <a:rPr lang="en-US" sz="1200"/>
              <a:t>– In a 7-kilohertz region, abrupt apparent jumps in phase corresponded to crossing into the next stimulus cycle.</a:t>
            </a:r>
          </a:p>
          <a:p>
            <a:r>
              <a:rPr lang="en-US" sz="1200"/>
              <a:t>• Continuous gradient.</a:t>
            </a:r>
          </a:p>
          <a:p>
            <a:r>
              <a:rPr lang="en-US" sz="1200"/>
              <a:t>– After allowing for the repeating cycles, mean phase changed regularly with depth.</a:t>
            </a:r>
          </a:p>
          <a:p>
            <a:r>
              <a:rPr lang="en-US" sz="1200"/>
              <a:t>– The gradient indicates orderly neural delays across the nucleus.</a:t>
            </a:r>
          </a:p>
          <a:p>
            <a:r>
              <a:rPr lang="en-US" sz="1200"/>
              <a:t>• Why it matters.</a:t>
            </a:r>
          </a:p>
          <a:p>
            <a:r>
              <a:rPr lang="en-US" sz="1200"/>
              <a:t>– A gradient of delay with depth is the physiological requirement for a delay line.</a:t>
            </a:r>
          </a:p>
          <a:p>
            <a:r>
              <a:rPr lang="en-US" sz="1200"/>
              <a:t>• Experimental design.</a:t>
            </a:r>
          </a:p>
          <a:p>
            <a:r>
              <a:rPr lang="en-US" sz="1200"/>
              <a:t>– A tone was presented to one ear, and the mean phase of intracellularly recorded spikes was measured at different depths.</a:t>
            </a:r>
          </a:p>
          <a:p>
            <a:r>
              <a:rPr lang="en-US" sz="1200"/>
              <a:t>– A regular change in phase with depth indicates a change in conduction time.</a:t>
            </a:r>
          </a:p>
          <a:p>
            <a:r>
              <a:rPr lang="en-US" sz="1200"/>
              <a:t>• Interpreting jumps.</a:t>
            </a:r>
          </a:p>
          <a:p>
            <a:r>
              <a:rPr lang="en-US" sz="1200"/>
              <a:t>– An abrupt jump of a full cycle does not indicate an abrupt change in delay.</a:t>
            </a:r>
          </a:p>
          <a:p>
            <a:r>
              <a:rPr lang="en-US" sz="1200"/>
              <a:t>– It reflects the repetition of phase.</a:t>
            </a:r>
          </a:p>
          <a:p>
            <a:r>
              <a:rPr lang="en-US" sz="1200"/>
              <a:t/>
            </a:r>
          </a:p>
          <a:p>
            <a:r>
              <a:rPr lang="en-US" sz="1200"/>
              <a:t>References:</a:t>
            </a:r>
          </a:p>
          <a:p>
            <a:r>
              <a:rPr lang="en-US" sz="1200"/>
              <a:t>Carr CE, Konishi M (1990). A circuit for detection of interaural time differences in the brain stem of the barn owl. The Journal of Neuroscience 10(10):3227-3246. https://doi.org/10.1523/jneurosci.10-10-03227.1990</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delay line converts position into time, which is the anatomical basis for mapping ITD.</a:t>
            </a:r>
          </a:p>
          <a:p>
            <a:r>
              <a:rPr lang="en-US" sz="1200"/>
              <a:t>• Definition.</a:t>
            </a:r>
          </a:p>
          <a:p>
            <a:r>
              <a:rPr lang="en-US" sz="1200"/>
              <a:t>– A delay line is a pathway in which travel time changes with position.</a:t>
            </a:r>
          </a:p>
          <a:p>
            <a:r>
              <a:rPr lang="en-US" sz="1200"/>
              <a:t>– Inputs arriving from opposite borders create opposing gradients.</a:t>
            </a:r>
          </a:p>
          <a:p>
            <a:r>
              <a:rPr lang="en-US" sz="1200"/>
              <a:t>• Tracing.</a:t>
            </a:r>
          </a:p>
          <a:p>
            <a:r>
              <a:rPr lang="en-US" sz="1200"/>
              <a:t>– HRP injected into NM labels axons that can be followed through serial sections after a histochemical reaction.</a:t>
            </a:r>
          </a:p>
          <a:p>
            <a:r>
              <a:rPr lang="en-US" sz="1200"/>
              <a:t>• Opposite borders.</a:t>
            </a:r>
          </a:p>
          <a:p>
            <a:r>
              <a:rPr lang="en-US" sz="1200"/>
              <a:t>– Each NM neuron sends branches to laminaris on both sides.</a:t>
            </a:r>
          </a:p>
          <a:p>
            <a:r>
              <a:rPr lang="en-US" sz="1200"/>
              <a:t>– Ipsilateral afferents approach the dorsal border, and contralateral afferents approach the ventral border.</a:t>
            </a:r>
          </a:p>
          <a:p>
            <a:r>
              <a:rPr lang="en-US" sz="1200"/>
              <a:t>• Consequence for arrival times.</a:t>
            </a:r>
          </a:p>
          <a:p>
            <a:r>
              <a:rPr lang="en-US" sz="1200"/>
              <a:t>– Deeper neurons receive the ipsilateral input later than the contralateral input.</a:t>
            </a:r>
          </a:p>
          <a:p>
            <a:r>
              <a:rPr lang="en-US" sz="1200"/>
              <a:t>– Neurons near the dorsal edge receive the contralateral input later.</a:t>
            </a:r>
          </a:p>
          <a:p>
            <a:r>
              <a:rPr lang="en-US" sz="1200"/>
              <a:t>• Physiology.</a:t>
            </a:r>
          </a:p>
          <a:p>
            <a:r>
              <a:rPr lang="en-US" sz="1200"/>
              <a:t>– Recordings of spike timing at different depths test whether conduction time actually changes along the projection.</a:t>
            </a:r>
          </a:p>
          <a:p>
            <a:r>
              <a:rPr lang="en-US" sz="1200"/>
              <a:t>• Visualizing a projection.</a:t>
            </a:r>
          </a:p>
          <a:p>
            <a:r>
              <a:rPr lang="en-US" sz="1200"/>
              <a:t>– HRP is a tracer that makes a projection visible after a histochemical reaction.</a:t>
            </a:r>
          </a:p>
          <a:p>
            <a:r>
              <a:rPr lang="en-US" sz="1200"/>
              <a:t>– Serial brain sections allow an axon to be followed through the tissue.</a:t>
            </a:r>
          </a:p>
          <a:p>
            <a:r>
              <a:rPr lang="en-US" sz="1200"/>
              <a:t>• Opposing arrangement.</a:t>
            </a:r>
          </a:p>
          <a:p>
            <a:r>
              <a:rPr lang="en-US" sz="1200"/>
              <a:t>– The published reconstruction preserves the opposing arrangement of the ipsilateral and contralateral inputs.</a:t>
            </a:r>
          </a:p>
          <a:p>
            <a:r>
              <a:rPr lang="en-US" sz="1200"/>
              <a:t>– The anatomy supplies the layout, and the physiology that follows tests whether delays change along the axons.</a:t>
            </a:r>
          </a:p>
          <a:p>
            <a:r>
              <a:rPr lang="en-US" sz="1200"/>
              <a:t/>
            </a:r>
          </a:p>
          <a:p>
            <a:r>
              <a:rPr lang="en-US" sz="1200"/>
              <a:t>References:</a:t>
            </a:r>
          </a:p>
          <a:p>
            <a:r>
              <a:rPr lang="en-US" sz="1200"/>
              <a:t>Carr CE, Konishi M (1990). A circuit for detection of interaural time differences in the brain stem of the barn owl. The Journal of Neuroscience 10(10):3227-3246. https://doi.org/10.1523/jneurosci.10-10-03227.1990</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Vector strength gives one number for the quality of phase locking.</a:t>
            </a:r>
          </a:p>
          <a:p>
            <a:r>
              <a:rPr lang="en-US" sz="1200"/>
              <a:t>• Scale.</a:t>
            </a:r>
          </a:p>
          <a:p>
            <a:r>
              <a:rPr lang="en-US" sz="1200"/>
              <a:t>– A value near one means spikes fall at nearly the same phase of the sound.</a:t>
            </a:r>
          </a:p>
          <a:p>
            <a:r>
              <a:rPr lang="en-US" sz="1200"/>
              <a:t>– A value near zero means the spike phases are spread across the cycle.</a:t>
            </a:r>
          </a:p>
          <a:p>
            <a:r>
              <a:rPr lang="en-US" sz="1200"/>
              <a:t>• Recordings.</a:t>
            </a:r>
          </a:p>
          <a:p>
            <a:r>
              <a:rPr lang="en-US" sz="1200"/>
              <a:t>– Single auditory-nerve fibers were recorded with calibrated tones, and frequency and level were varied.</a:t>
            </a:r>
          </a:p>
          <a:p>
            <a:r>
              <a:rPr lang="en-US" sz="1200"/>
              <a:t>• Frequency dependence.</a:t>
            </a:r>
          </a:p>
          <a:p>
            <a:r>
              <a:rPr lang="en-US" sz="1200"/>
              <a:t>– Phase locking extended to approximately 10 kilohertz.</a:t>
            </a:r>
          </a:p>
          <a:p>
            <a:r>
              <a:rPr lang="en-US" sz="1200"/>
              <a:t>– Its quality declined with frequency, with a plateau around 1.5 to 3 kilohertz.</a:t>
            </a:r>
          </a:p>
          <a:p>
            <a:r>
              <a:rPr lang="en-US" sz="1200"/>
              <a:t>• Rate and timing.</a:t>
            </a:r>
          </a:p>
          <a:p>
            <a:r>
              <a:rPr lang="en-US" sz="1200"/>
              <a:t>– Phase organization could be detected below the sound level at which average spike rate began to increase clearly.</a:t>
            </a:r>
          </a:p>
          <a:p>
            <a:r>
              <a:rPr lang="en-US" sz="1200"/>
              <a:t>– Rate threshold and timing sensitivity are different measurements.</a:t>
            </a:r>
          </a:p>
          <a:p>
            <a:r>
              <a:rPr lang="en-US" sz="1200"/>
              <a:t>• Role.</a:t>
            </a:r>
          </a:p>
          <a:p>
            <a:r>
              <a:rPr lang="en-US" sz="1200"/>
              <a:t>– The temporal code in the auditory nerve provides the brainstem with the information needed for ITD processing.</a:t>
            </a:r>
          </a:p>
          <a:p>
            <a:r>
              <a:rPr lang="en-US" sz="1200"/>
              <a:t>• Why high frequencies matter.</a:t>
            </a:r>
          </a:p>
          <a:p>
            <a:r>
              <a:rPr lang="en-US" sz="1200"/>
              <a:t>– The owl localizes sounds that include frequencies up to several kilohertz.</a:t>
            </a:r>
          </a:p>
          <a:p>
            <a:r>
              <a:rPr lang="en-US" sz="1200"/>
              <a:t>– Phase locking in the nerve must extend into that range to support ITD.</a:t>
            </a:r>
          </a:p>
          <a:p>
            <a:r>
              <a:rPr lang="en-US" sz="1200"/>
              <a:t>• Comparing measures.</a:t>
            </a:r>
          </a:p>
          <a:p>
            <a:r>
              <a:rPr lang="en-US" sz="1200"/>
              <a:t>– Vector strength describes timing, whereas average spike rate describes how many spikes occur.</a:t>
            </a:r>
          </a:p>
          <a:p>
            <a:r>
              <a:rPr lang="en-US" sz="1200"/>
              <a:t>– The two measures were compared as frequency and sound level changed.</a:t>
            </a:r>
          </a:p>
          <a:p>
            <a:r>
              <a:rPr lang="en-US" sz="1200"/>
              <a:t/>
            </a:r>
          </a:p>
          <a:p>
            <a:r>
              <a:rPr lang="en-US" sz="1200"/>
              <a:t>References:</a:t>
            </a:r>
          </a:p>
          <a:p>
            <a:r>
              <a:rPr lang="en-US" sz="1200"/>
              <a:t>Köppl C (1997). Phase Locking to High Frequencies in the Auditory Nerve and Cochlear Nucleus Magnocellularis of the Barn Owl,Tyto alba. The Journal of Neuroscience 17(9):3312-3321. https://doi.org/10.1523/jneurosci.17-09-03312.1997</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Phase locking is the way a neuron preserves the fine timing of a sound wave in its spikes.</a:t>
            </a:r>
          </a:p>
          <a:p>
            <a:r>
              <a:rPr lang="en-US" sz="1200"/>
              <a:t>• Phase.</a:t>
            </a:r>
          </a:p>
          <a:p>
            <a:r>
              <a:rPr lang="en-US" sz="1200"/>
              <a:t>– A sound wave repeats in cycles, and phase is the position within a cycle.</a:t>
            </a:r>
          </a:p>
          <a:p>
            <a:r>
              <a:rPr lang="en-US" sz="1200"/>
              <a:t>• Phase-locked firing.</a:t>
            </a:r>
          </a:p>
          <a:p>
            <a:r>
              <a:rPr lang="en-US" sz="1200"/>
              <a:t>– A phase-locked neuron fires at a preferred phase of the wave.</a:t>
            </a:r>
          </a:p>
          <a:p>
            <a:r>
              <a:rPr lang="en-US" sz="1200"/>
              <a:t>– Its spike times therefore carry the timing of the waveform.</a:t>
            </a:r>
          </a:p>
          <a:p>
            <a:r>
              <a:rPr lang="en-US" sz="1200"/>
              <a:t>• Period histograms.</a:t>
            </a:r>
          </a:p>
          <a:p>
            <a:r>
              <a:rPr lang="en-US" sz="1200"/>
              <a:t>– Spike times were grouped into histograms that align successive cycles of the tone.</a:t>
            </a:r>
          </a:p>
          <a:p>
            <a:r>
              <a:rPr lang="en-US" sz="1200"/>
              <a:t>– A peak in the histogram shows concentration at one phase.</a:t>
            </a:r>
          </a:p>
          <a:p>
            <a:r>
              <a:rPr lang="en-US" sz="1200"/>
              <a:t>• Frequency range.</a:t>
            </a:r>
          </a:p>
          <a:p>
            <a:r>
              <a:rPr lang="en-US" sz="1200"/>
              <a:t>– NM neurons retained phase locking at frequencies up to 9 kilohertz.</a:t>
            </a:r>
          </a:p>
          <a:p>
            <a:r>
              <a:rPr lang="en-US" sz="1200"/>
              <a:t>• Missing cycles.</a:t>
            </a:r>
          </a:p>
          <a:p>
            <a:r>
              <a:rPr lang="en-US" sz="1200"/>
              <a:t>– A neuron need not fire on every cycle.</a:t>
            </a:r>
          </a:p>
          <a:p>
            <a:r>
              <a:rPr lang="en-US" sz="1200"/>
              <a:t>– Timing information survives when spikes on different cycles occupy the same position within the cycle.</a:t>
            </a:r>
          </a:p>
          <a:p>
            <a:r>
              <a:rPr lang="en-US" sz="1200"/>
              <a:t>• Cycles and spikes.</a:t>
            </a:r>
          </a:p>
          <a:p>
            <a:r>
              <a:rPr lang="en-US" sz="1200"/>
              <a:t>– A tone of high frequency has many cycles per second, and a neuron firing a few spikes per second cannot respond to each one.</a:t>
            </a:r>
          </a:p>
          <a:p>
            <a:r>
              <a:rPr lang="en-US" sz="1200"/>
              <a:t>– Phase locking means the spikes that do occur fall at a consistent phase.</a:t>
            </a:r>
          </a:p>
          <a:p>
            <a:r>
              <a:rPr lang="en-US" sz="1200"/>
              <a:t>• Nucleus magnocellularis.</a:t>
            </a:r>
          </a:p>
          <a:p>
            <a:r>
              <a:rPr lang="en-US" sz="1200"/>
              <a:t>– NM is a cochlear nucleus that receives auditory-nerve input.</a:t>
            </a:r>
          </a:p>
          <a:p>
            <a:r>
              <a:rPr lang="en-US" sz="1200"/>
              <a:t>– Its neurons transmit timing to nucleus laminaris, where the two ears are compared.</a:t>
            </a:r>
          </a:p>
          <a:p>
            <a:r>
              <a:rPr lang="en-US" sz="1200"/>
              <a:t/>
            </a:r>
          </a:p>
          <a:p>
            <a:r>
              <a:rPr lang="en-US" sz="1200"/>
              <a:t>References:</a:t>
            </a:r>
          </a:p>
          <a:p>
            <a:r>
              <a:rPr lang="en-US" sz="1200"/>
              <a:t>Sullivan WE, Konishi M (1984). Segregation of stimulus phase and intensity coding in the cochlear nucleus of the barn owl. The Journal of Neuroscience 4(7):1787-1799. https://doi.org/10.1523/jneurosci.04-07-01787.1984</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Two manipulations with opposite selective effects show that two functions rely on separate pathways.</a:t>
            </a:r>
          </a:p>
          <a:p>
            <a:r>
              <a:rPr lang="en-US" sz="1200"/>
              <a:t>• Logic.</a:t>
            </a:r>
          </a:p>
          <a:p>
            <a:r>
              <a:rPr lang="en-US" sz="1200"/>
              <a:t>– Disrupting pathway one changes function A and spares function B.</a:t>
            </a:r>
          </a:p>
          <a:p>
            <a:r>
              <a:rPr lang="en-US" sz="1200"/>
              <a:t>– Disrupting pathway two changes function B and spares function A.</a:t>
            </a:r>
          </a:p>
          <a:p>
            <a:r>
              <a:rPr lang="en-US" sz="1200"/>
              <a:t>• Angularis.</a:t>
            </a:r>
          </a:p>
          <a:p>
            <a:r>
              <a:rPr lang="en-US" sz="1200"/>
              <a:t>– Lidocaine in nucleus angularis shifted the ILD response of a midbrain neuron.</a:t>
            </a:r>
          </a:p>
          <a:p>
            <a:r>
              <a:rPr lang="en-US" sz="1200"/>
              <a:t>– The ITD response peak remained essentially stable.</a:t>
            </a:r>
          </a:p>
          <a:p>
            <a:r>
              <a:rPr lang="en-US" sz="1200"/>
              <a:t>• Magnocellularis.</a:t>
            </a:r>
          </a:p>
          <a:p>
            <a:r>
              <a:rPr lang="en-US" sz="1200"/>
              <a:t>– Lidocaine in nucleus magnocellularis altered ITD tuning.</a:t>
            </a:r>
          </a:p>
          <a:p>
            <a:r>
              <a:rPr lang="en-US" sz="1200"/>
              <a:t>– The preferred ILD remained approximately unchanged.</a:t>
            </a:r>
          </a:p>
          <a:p>
            <a:r>
              <a:rPr lang="en-US" sz="1200"/>
              <a:t>• Controls.</a:t>
            </a:r>
          </a:p>
          <a:p>
            <a:r>
              <a:rPr lang="en-US" sz="1200"/>
              <a:t>– Recordings before injection, during the effect and after recovery supplied a temporal control.</a:t>
            </a:r>
          </a:p>
          <a:p>
            <a:r>
              <a:rPr lang="en-US" sz="1200"/>
              <a:t>– Injection-site histology checked the location of each manipulation.</a:t>
            </a:r>
          </a:p>
          <a:p>
            <a:r>
              <a:rPr lang="en-US" sz="1200"/>
              <a:t>• Interpretation.</a:t>
            </a:r>
          </a:p>
          <a:p>
            <a:r>
              <a:rPr lang="en-US" sz="1200"/>
              <a:t>– The timing and level cues are processed in separate streams from the cochlear nuclei onward.</a:t>
            </a:r>
          </a:p>
          <a:p>
            <a:r>
              <a:rPr lang="en-US" sz="1200"/>
              <a:t>• Why a double dissociation is strong evidence.</a:t>
            </a:r>
          </a:p>
          <a:p>
            <a:r>
              <a:rPr lang="en-US" sz="1200"/>
              <a:t>– A single inactivation could reflect a nonspecific impairment of the animal.</a:t>
            </a:r>
          </a:p>
          <a:p>
            <a:r>
              <a:rPr lang="en-US" sz="1200"/>
              <a:t>– Opposite selective effects from two sites make the pathways functionally distinct.</a:t>
            </a:r>
          </a:p>
          <a:p>
            <a:r>
              <a:rPr lang="en-US" sz="1200"/>
              <a:t>• Limits of the manipulation.</a:t>
            </a:r>
          </a:p>
          <a:p>
            <a:r>
              <a:rPr lang="en-US" sz="1200"/>
              <a:t>– The result separates the two pathways at the cochlear nuclei.</a:t>
            </a:r>
          </a:p>
          <a:p>
            <a:r>
              <a:rPr lang="en-US" sz="1200"/>
              <a:t>– The final spatial response still requires both pathways, and the nuclei converge later in the midbrain.</a:t>
            </a:r>
          </a:p>
          <a:p>
            <a:r>
              <a:rPr lang="en-US" sz="1200"/>
              <a:t/>
            </a:r>
          </a:p>
          <a:p>
            <a:r>
              <a:rPr lang="en-US" sz="1200"/>
              <a:t>References:</a:t>
            </a:r>
          </a:p>
          <a:p>
            <a:r>
              <a:rPr lang="en-US" sz="1200"/>
              <a:t>Takahashi T, Moiseff A, Konishi M (1984). Time and intensity cues are processed independently in the auditory system of the owl. The Journal of Neuroscience 4(7):1781-1786. https://doi.org/10.1523/jneurosci.04-07-01781.1984</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The midbrain contains an orderly map of auditory space, and the map has to be computed.</a:t>
            </a:r>
          </a:p>
          <a:p>
            <a:r>
              <a:rPr lang="en-US" sz="1200"/>
              <a:t>• Topography.</a:t>
            </a:r>
          </a:p>
          <a:p>
            <a:r>
              <a:rPr lang="en-US" sz="1200"/>
              <a:t>– In a topographic map, neighboring neurons have neighboring preferences.</a:t>
            </a:r>
          </a:p>
          <a:p>
            <a:r>
              <a:rPr lang="en-US" sz="1200"/>
              <a:t>– Here the preference is a location in space.</a:t>
            </a:r>
          </a:p>
          <a:p>
            <a:r>
              <a:rPr lang="en-US" sz="1200"/>
              <a:t>• Orderly progression.</a:t>
            </a:r>
          </a:p>
          <a:p>
            <a:r>
              <a:rPr lang="en-US" sz="1200"/>
              <a:t>– Azimuth shifted from about 60 degrees contralateral in the posterolateral region to 15 degrees ipsilateral anteromedially.</a:t>
            </a:r>
          </a:p>
          <a:p>
            <a:r>
              <a:rPr lang="en-US" sz="1200"/>
              <a:t>– Elevation ranged from about plus 20 to minus 90 degrees, with higher directions dorsal.</a:t>
            </a:r>
          </a:p>
          <a:p>
            <a:r>
              <a:rPr lang="en-US" sz="1200"/>
              <a:t>• Overlap.</a:t>
            </a:r>
          </a:p>
          <a:p>
            <a:r>
              <a:rPr lang="en-US" sz="1200"/>
              <a:t>– Neighboring neurons generally had overlapping receptive fields.</a:t>
            </a:r>
          </a:p>
          <a:p>
            <a:r>
              <a:rPr lang="en-US" sz="1200"/>
              <a:t>• Why the map is computed.</a:t>
            </a:r>
          </a:p>
          <a:p>
            <a:r>
              <a:rPr lang="en-US" sz="1200"/>
              <a:t>– The cochlea is organized by sound frequency and not by location.</a:t>
            </a:r>
          </a:p>
          <a:p>
            <a:r>
              <a:rPr lang="en-US" sz="1200"/>
              <a:t>– Location must be derived from differences between the two ears.</a:t>
            </a:r>
          </a:p>
          <a:p>
            <a:r>
              <a:rPr lang="en-US" sz="1200"/>
              <a:t>• Stable location.</a:t>
            </a:r>
          </a:p>
          <a:p>
            <a:r>
              <a:rPr lang="en-US" sz="1200"/>
              <a:t>– Tone bursts, clicks and noise usually preserved the best-area location, and so did a change in level from 10 to 30 decibels above threshold.</a:t>
            </a:r>
          </a:p>
          <a:p>
            <a:r>
              <a:rPr lang="en-US" sz="1200"/>
              <a:t>• Midbrain structure.</a:t>
            </a:r>
          </a:p>
          <a:p>
            <a:r>
              <a:rPr lang="en-US" sz="1200"/>
              <a:t>– The auditory region is called MLD, nucleus mesencephalicus lateralis dorsalis, which is the avian homolog of the inferior colliculus.</a:t>
            </a:r>
          </a:p>
          <a:p>
            <a:r>
              <a:rPr lang="en-US" sz="1200"/>
              <a:t>– Electrode tracks were reconstructed histologically.</a:t>
            </a:r>
          </a:p>
          <a:p>
            <a:r>
              <a:rPr lang="en-US" sz="1200"/>
              <a:t>• Recording position and best area.</a:t>
            </a:r>
          </a:p>
          <a:p>
            <a:r>
              <a:rPr lang="en-US" sz="1200"/>
              <a:t>– The position of each recording was compared with the center of the best area of the neuron.</a:t>
            </a:r>
          </a:p>
          <a:p>
            <a:r>
              <a:rPr lang="en-US" sz="1200"/>
              <a:t>– The orderly relation between the two is the evidence for a map.</a:t>
            </a:r>
          </a:p>
          <a:p>
            <a:r>
              <a:rPr lang="en-US" sz="1200"/>
              <a:t/>
            </a:r>
          </a:p>
          <a:p>
            <a:r>
              <a:rPr lang="en-US" sz="1200"/>
              <a:t>References:</a:t>
            </a:r>
          </a:p>
          <a:p>
            <a:r>
              <a:rPr lang="en-US" sz="1200"/>
              <a:t>Knudsen EI, Konishi M (1978). A Neural Map of Auditory Space in the Owl. Science 200(4343):795-797. https://doi.org/10.1126/science.644324</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sz="1200"/>
              <a:t>• A receptive field is a map of where in space a sound makes a neuron fire.</a:t>
            </a:r>
          </a:p>
          <a:p>
            <a:r>
              <a:rPr lang="en-US" sz="1200"/>
              <a:t>• Definition.</a:t>
            </a:r>
          </a:p>
          <a:p>
            <a:r>
              <a:rPr lang="en-US" sz="1200"/>
              <a:t>– A receptive field is the set of stimulus conditions that changes the activity of a neuron.</a:t>
            </a:r>
          </a:p>
          <a:p>
            <a:r>
              <a:rPr lang="en-US" sz="1200"/>
              <a:t>– For these neurons the conditions are directions in azimuth and elevation.</a:t>
            </a:r>
          </a:p>
          <a:p>
            <a:r>
              <a:rPr lang="en-US" sz="1200"/>
              <a:t>• Method.</a:t>
            </a:r>
          </a:p>
          <a:p>
            <a:r>
              <a:rPr lang="en-US" sz="1200"/>
              <a:t>– A loudspeaker was moved around the head of a lightly anesthetized owl.</a:t>
            </a:r>
          </a:p>
          <a:p>
            <a:r>
              <a:rPr lang="en-US" sz="1200"/>
              <a:t>– The anechoic chamber minimized reflected sound, so the speaker position defined the direction of the sound.</a:t>
            </a:r>
          </a:p>
          <a:p>
            <a:r>
              <a:rPr lang="en-US" sz="1200"/>
              <a:t>• Stimuli.</a:t>
            </a:r>
          </a:p>
          <a:p>
            <a:r>
              <a:rPr lang="en-US" sz="1200"/>
              <a:t>– Noise bursts lasted 100 milliseconds and were delivered 10 decibels above the threshold of each unit.</a:t>
            </a:r>
          </a:p>
          <a:p>
            <a:r>
              <a:rPr lang="en-US" sz="1200"/>
              <a:t>• Best area.</a:t>
            </a:r>
          </a:p>
          <a:p>
            <a:r>
              <a:rPr lang="en-US" sz="1200"/>
              <a:t>– The best area contains the positions that produced maximal responses, and the response boundary is wider.</a:t>
            </a:r>
          </a:p>
          <a:p>
            <a:r>
              <a:rPr lang="en-US" sz="1200"/>
              <a:t>– The two describe different aspects of selectivity.</a:t>
            </a:r>
          </a:p>
          <a:p>
            <a:r>
              <a:rPr lang="en-US" sz="1200"/>
              <a:t>• Shape of the fields.</a:t>
            </a:r>
          </a:p>
          <a:p>
            <a:r>
              <a:rPr lang="en-US" sz="1200"/>
              <a:t>– Most fields were vertically elongated, with widths from 7 to 40 degrees in azimuth and a mean near 25 degrees.</a:t>
            </a:r>
          </a:p>
          <a:p>
            <a:r>
              <a:rPr lang="en-US" sz="1200"/>
              <a:t>• Reading the numbers.</a:t>
            </a:r>
          </a:p>
          <a:p>
            <a:r>
              <a:rPr lang="en-US" sz="1200"/>
              <a:t>– A width of 7 degrees describes a very sharply tuned neuron, and 40 degrees describes a broadly tuned one.</a:t>
            </a:r>
          </a:p>
          <a:p>
            <a:r>
              <a:rPr lang="en-US" sz="1200"/>
              <a:t>– The mean width in azimuth was about 25 degrees.</a:t>
            </a:r>
          </a:p>
          <a:p>
            <a:r>
              <a:rPr lang="en-US" sz="1200"/>
              <a:t>• Selectivity and behavior.</a:t>
            </a:r>
          </a:p>
          <a:p>
            <a:r>
              <a:rPr lang="en-US" sz="1200"/>
              <a:t>– Neither the response boundary nor the best area is itself a behavioral threshold for localizing a sound.</a:t>
            </a:r>
          </a:p>
          <a:p>
            <a:r>
              <a:rPr lang="en-US" sz="1200"/>
              <a:t/>
            </a:r>
          </a:p>
          <a:p>
            <a:r>
              <a:rPr lang="en-US" sz="1200"/>
              <a:t>References:</a:t>
            </a:r>
          </a:p>
          <a:p>
            <a:r>
              <a:rPr lang="en-US" sz="1200"/>
              <a:t>Knudsen EI, Konishi M (1978). A Neural Map of Auditory Space in the Owl. Science 200(4343):795-797. https://doi.org/10.1126/science.644324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0.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6.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6.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0.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0" name="Shape 160"/>
          <p:cNvSpPr/>
          <p:nvPr/>
        </p:nvSpPr>
        <p:spPr>
          <a:xfrm>
            <a:off x="0" y="0"/>
            <a:ext cx="6096000" cy="6858000"/>
          </a:xfrm>
          <a:prstGeom prst="rect">
            <a:avLst/>
          </a:prstGeom>
          <a:solidFill>
            <a:srgbClr val="DCEAF5"/>
          </a:solidFill>
        </p:spPr>
        <p:txBody>
          <a:bodyPr/>
          <a:lstStyle/>
          <a:p/>
        </p:txBody>
      </p:sp>
      <p:sp>
        <p:nvSpPr>
          <p:cNvPr id="161" name="Shape 161"/>
          <p:cNvSpPr/>
          <p:nvPr/>
        </p:nvSpPr>
        <p:spPr>
          <a:xfrm>
            <a:off x="685800" y="822871"/>
            <a:ext cx="4743450" cy="164455"/>
          </a:xfrm>
          <a:prstGeom prst="rect">
            <a:avLst/>
          </a:prstGeom>
          <a:noFill/>
        </p:spPr>
        <p:txBody>
          <a:bodyPr anchor="t" wrap="square" tIns="0" bIns="0" lIns="0" rIns="0">
            <a:normAutofit/>
          </a:bodyPr>
          <a:lstStyle/>
          <a:p>
            <a:pPr algn="l">
              <a:lnSpc>
                <a:spcPts val="1296"/>
              </a:lnSpc>
              <a:buNone/>
            </a:pPr>
            <a:r>
              <a:rPr sz="1200" b="0" i="0">
                <a:solidFill>
                  <a:srgbClr val="3F6E92"/>
                </a:solidFill>
                <a:latin typeface="Arial"/>
                <a:ea typeface="Arial"/>
              </a:rPr>
              <a:t>NEUR 411 · NEUROETHOLOGY · FALL 2026</a:t>
            </a:r>
            <a:endParaRPr lang="en-US"/>
          </a:p>
        </p:txBody>
      </p:sp>
      <p:sp>
        <p:nvSpPr>
          <p:cNvPr id="162" name="Shape 162"/>
          <p:cNvSpPr/>
          <p:nvPr/>
        </p:nvSpPr>
        <p:spPr>
          <a:xfrm>
            <a:off x="685800" y="1782961"/>
            <a:ext cx="4743450" cy="246757"/>
          </a:xfrm>
          <a:prstGeom prst="rect">
            <a:avLst/>
          </a:prstGeom>
          <a:noFill/>
        </p:spPr>
        <p:txBody>
          <a:bodyPr anchor="t" wrap="square" tIns="0" bIns="0" lIns="0" rIns="0">
            <a:normAutofit/>
          </a:bodyPr>
          <a:lstStyle/>
          <a:p>
            <a:pPr algn="l">
              <a:lnSpc>
                <a:spcPts val="1944"/>
              </a:lnSpc>
              <a:buNone/>
            </a:pPr>
            <a:r>
              <a:rPr sz="1800" b="0" i="0">
                <a:solidFill>
                  <a:srgbClr val="3F6E92"/>
                </a:solidFill>
                <a:latin typeface="Arial"/>
                <a:ea typeface="Arial"/>
              </a:rPr>
              <a:t>Lecture 18</a:t>
            </a:r>
            <a:endParaRPr lang="en-US"/>
          </a:p>
        </p:txBody>
      </p:sp>
      <p:sp>
        <p:nvSpPr>
          <p:cNvPr id="163" name="Shape 163"/>
          <p:cNvSpPr/>
          <p:nvPr/>
        </p:nvSpPr>
        <p:spPr>
          <a:xfrm>
            <a:off x="685800" y="2331690"/>
            <a:ext cx="4743450" cy="987177"/>
          </a:xfrm>
          <a:prstGeom prst="rect">
            <a:avLst/>
          </a:prstGeom>
          <a:noFill/>
        </p:spPr>
        <p:txBody>
          <a:bodyPr anchor="t" wrap="square" tIns="0" bIns="0" lIns="0" rIns="0">
            <a:normAutofit/>
          </a:bodyPr>
          <a:lstStyle/>
          <a:p>
            <a:pPr algn="l">
              <a:lnSpc>
                <a:spcPts val="2592"/>
              </a:lnSpc>
              <a:buNone/>
            </a:pPr>
            <a:r>
              <a:rPr sz="2400" b="1" i="0">
                <a:solidFill>
                  <a:srgbClr val="1E3448"/>
                </a:solidFill>
                <a:latin typeface="Arial"/>
                <a:ea typeface="Arial"/>
              </a:rPr>
              <a:t xml:space="preserve">Owl sound localization I: ITD/ILD maps in the inferior colliculus (Konishi </a:t>
            </a:r>
            <a:r>
              <a:rPr sz="2400" b="1" i="0">
                <a:solidFill>
                  <a:srgbClr val="1E3448"/>
                </a:solidFill>
                <a:latin typeface="Arial"/>
                <a:ea typeface="Arial"/>
              </a:rPr>
              <a:t>&amp;</a:t>
            </a:r>
            <a:r>
              <a:rPr sz="2400" b="1" i="0">
                <a:solidFill>
                  <a:srgbClr val="1E3448"/>
                </a:solidFill>
                <a:latin typeface="Arial"/>
                <a:ea typeface="Arial"/>
              </a:rPr>
              <a:t xml:space="preserve"> Knudsen)</a:t>
            </a:r>
            <a:endParaRPr lang="en-US"/>
          </a:p>
        </p:txBody>
      </p:sp>
      <p:sp>
        <p:nvSpPr>
          <p:cNvPr id="164" name="Shape 164"/>
          <p:cNvSpPr/>
          <p:nvPr/>
        </p:nvSpPr>
        <p:spPr>
          <a:xfrm>
            <a:off x="685800" y="4749552"/>
            <a:ext cx="4743450" cy="219373"/>
          </a:xfrm>
          <a:prstGeom prst="rect">
            <a:avLst/>
          </a:prstGeom>
          <a:noFill/>
        </p:spPr>
        <p:txBody>
          <a:bodyPr anchor="t" wrap="square" tIns="0" bIns="0" lIns="0" rIns="0">
            <a:normAutofit/>
          </a:bodyPr>
          <a:lstStyle/>
          <a:p>
            <a:pPr algn="l">
              <a:lnSpc>
                <a:spcPts val="1728"/>
              </a:lnSpc>
              <a:buNone/>
            </a:pPr>
            <a:r>
              <a:rPr sz="1600" b="0" i="0">
                <a:solidFill>
                  <a:srgbClr val="3F6E92"/>
                </a:solidFill>
                <a:latin typeface="Arial"/>
                <a:ea typeface="Arial"/>
              </a:rPr>
              <a:t>Monday, October 5, 2026</a:t>
            </a:r>
            <a:endParaRPr lang="en-US"/>
          </a:p>
        </p:txBody>
      </p:sp>
      <p:sp>
        <p:nvSpPr>
          <p:cNvPr id="165" name="Shape 165"/>
          <p:cNvSpPr/>
          <p:nvPr/>
        </p:nvSpPr>
        <p:spPr>
          <a:xfrm>
            <a:off x="685800" y="5435352"/>
            <a:ext cx="4743450" cy="164455"/>
          </a:xfrm>
          <a:prstGeom prst="rect">
            <a:avLst/>
          </a:prstGeom>
          <a:noFill/>
        </p:spPr>
        <p:txBody>
          <a:bodyPr anchor="t" wrap="square" tIns="0" bIns="0" lIns="0" rIns="0">
            <a:normAutofit/>
          </a:bodyPr>
          <a:lstStyle/>
          <a:p>
            <a:pPr algn="l">
              <a:lnSpc>
                <a:spcPts val="1296"/>
              </a:lnSpc>
              <a:buNone/>
            </a:pPr>
            <a:r>
              <a:rPr sz="1200" b="0" i="0">
                <a:solidFill>
                  <a:srgbClr val="3F6E92"/>
                </a:solidFill>
                <a:latin typeface="Arial"/>
                <a:ea typeface="Arial"/>
              </a:rPr>
              <a:t>Jordan Lopez, Ph.D.</a:t>
            </a:r>
            <a:endParaRPr lang="en-US"/>
          </a:p>
        </p:txBody>
      </p:sp>
      <p:sp>
        <p:nvSpPr>
          <p:cNvPr id="166" name="Shape 166"/>
          <p:cNvSpPr/>
          <p:nvPr/>
        </p:nvSpPr>
        <p:spPr>
          <a:xfrm>
            <a:off x="685800" y="5625108"/>
            <a:ext cx="4743450" cy="164455"/>
          </a:xfrm>
          <a:prstGeom prst="rect">
            <a:avLst/>
          </a:prstGeom>
          <a:noFill/>
        </p:spPr>
        <p:txBody>
          <a:bodyPr anchor="t" wrap="square" tIns="0" bIns="0" lIns="0" rIns="0">
            <a:normAutofit/>
          </a:bodyPr>
          <a:lstStyle/>
          <a:p>
            <a:pPr algn="l">
              <a:lnSpc>
                <a:spcPts val="1296"/>
              </a:lnSpc>
              <a:buNone/>
            </a:pPr>
            <a:r>
              <a:rPr sz="1200" b="0" i="0">
                <a:solidFill>
                  <a:srgbClr val="3F6E92"/>
                </a:solidFill>
                <a:latin typeface="Arial"/>
                <a:ea typeface="Arial"/>
              </a:rPr>
              <a:t xml:space="preserve">Professor of Neurobiology </a:t>
            </a:r>
            <a:r>
              <a:rPr sz="1200" b="0" i="0">
                <a:solidFill>
                  <a:srgbClr val="3F6E92"/>
                </a:solidFill>
                <a:latin typeface="Arial"/>
                <a:ea typeface="Arial"/>
              </a:rPr>
              <a:t>&amp;</a:t>
            </a:r>
            <a:r>
              <a:rPr sz="1200" b="0" i="0">
                <a:solidFill>
                  <a:srgbClr val="3F6E92"/>
                </a:solidFill>
                <a:latin typeface="Arial"/>
                <a:ea typeface="Arial"/>
              </a:rPr>
              <a:t xml:space="preserve"> Biomedical Engineering</a:t>
            </a:r>
            <a:endParaRPr lang="en-US"/>
          </a:p>
        </p:txBody>
      </p:sp>
      <p:pic>
        <p:nvPicPr>
          <p:cNvPr id="117" name="Presenton Native Image 1" descr=""/>
          <p:cNvPicPr/>
          <p:nvPr/>
        </p:nvPicPr>
        <p:blipFill>
          <a:blip r:embed="rId2" cstate="none"/>
          <a:stretch>
            <a:fillRect/>
          </a:stretch>
        </p:blipFill>
        <p:spPr>
          <a:xfrm>
            <a:off x="6580488" y="822871"/>
            <a:ext cx="5126726" cy="4937671"/>
          </a:xfrm>
          <a:prstGeom prst="rect">
            <a:avLst/>
          </a:prstGeom>
        </p:spPr>
      </p:pic>
      <p:sp>
        <p:nvSpPr>
          <p:cNvPr id="167" name="Shape 167"/>
          <p:cNvSpPr/>
          <p:nvPr/>
        </p:nvSpPr>
        <p:spPr>
          <a:xfrm>
            <a:off x="6553200" y="5943600"/>
            <a:ext cx="520065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Knudsen </a:t>
            </a:r>
            <a:r>
              <a:rPr sz="1000" b="0" i="0">
                <a:solidFill>
                  <a:srgbClr val="58636E"/>
                </a:solidFill>
                <a:latin typeface="Arial"/>
                <a:ea typeface="Arial"/>
              </a:rPr>
              <a:t>&amp;</a:t>
            </a:r>
            <a:r>
              <a:rPr sz="1000" b="0" i="0">
                <a:solidFill>
                  <a:srgbClr val="58636E"/>
                </a:solidFill>
                <a:latin typeface="Arial"/>
                <a:ea typeface="Arial"/>
              </a:rPr>
              <a:t xml:space="preserve"> Konishi (1978), Fig. 1. Ordered receptive fields and their measured midbrain locations.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8" name="Shape 16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Owls orient toward sounds without visual guidance</a:t>
            </a:r>
            <a:endParaRPr lang="en-US"/>
          </a:p>
        </p:txBody>
      </p:sp>
      <p:sp>
        <p:nvSpPr>
          <p:cNvPr id="169" name="Shape 16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barn owl, </a:t>
            </a:r>
            <a:r>
              <a:rPr sz="1600" b="1" i="0">
                <a:solidFill>
                  <a:srgbClr val="2B5577"/>
                </a:solidFill>
                <a:latin typeface="Arial"/>
                <a:ea typeface="Arial"/>
              </a:rPr>
              <a:t>Tyto alba</a:t>
            </a:r>
            <a:r>
              <a:rPr sz="1600" b="0" i="0">
                <a:solidFill>
                  <a:srgbClr val="1F262D"/>
                </a:solidFill>
                <a:latin typeface="Arial"/>
                <a:ea typeface="Arial"/>
              </a:rPr>
              <a:t xml:space="preserve">, is a nocturnal predator whose auditory system converts prey-generated sound into directed head movements. </a:t>
            </a:r>
            <a:r>
              <a:rPr sz="1600" b="1" i="0">
                <a:solidFill>
                  <a:srgbClr val="2B5577"/>
                </a:solidFill>
                <a:latin typeface="Arial"/>
                <a:ea typeface="Arial"/>
              </a:rPr>
              <a:t>Azimuth</a:t>
            </a:r>
            <a:r>
              <a:rPr sz="1600" b="0" i="0">
                <a:solidFill>
                  <a:srgbClr val="1F262D"/>
                </a:solidFill>
                <a:latin typeface="Arial"/>
                <a:ea typeface="Arial"/>
              </a:rPr>
              <a:t xml:space="preserve"> is horizontal direction; </a:t>
            </a:r>
            <a:r>
              <a:rPr sz="1600" b="1" i="0">
                <a:solidFill>
                  <a:srgbClr val="2B5577"/>
                </a:solidFill>
                <a:latin typeface="Arial"/>
                <a:ea typeface="Arial"/>
              </a:rPr>
              <a:t>elevation</a:t>
            </a:r>
            <a:r>
              <a:rPr sz="1600" b="0" i="0">
                <a:solidFill>
                  <a:srgbClr val="1F262D"/>
                </a:solidFill>
                <a:latin typeface="Arial"/>
                <a:ea typeface="Arial"/>
              </a:rPr>
              <a:t xml:space="preserve"> is vertical direction. Head turns provide a behavioral measure of the location the owl perceives.</a:t>
            </a:r>
            <a:endParaRPr lang="en-US"/>
          </a:p>
        </p:txBody>
      </p:sp>
      <p:sp>
        <p:nvSpPr>
          <p:cNvPr id="170" name="Shape 170"/>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Kettler and colleagues recorded head orientation while presenting sounds through earphones. At an interaural delay of 100 µs, broadband noise produced turns toward the corresponding target. A 5-kHz tone could instead elicit turns toward an alternative location in the opposite hemifield.</a:t>
            </a:r>
            <a:endParaRPr lang="en-US"/>
          </a:p>
        </p:txBody>
      </p:sp>
      <p:sp>
        <p:nvSpPr>
          <p:cNvPr id="171" name="Shape 171"/>
          <p:cNvSpPr/>
          <p:nvPr/>
        </p:nvSpPr>
        <p:spPr>
          <a:xfrm>
            <a:off x="566886" y="3671888"/>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This </a:t>
            </a:r>
            <a:r>
              <a:rPr sz="1600" b="1" i="0">
                <a:solidFill>
                  <a:srgbClr val="2B5577"/>
                </a:solidFill>
                <a:latin typeface="Arial"/>
                <a:ea typeface="Arial"/>
              </a:rPr>
              <a:t>phantom source</a:t>
            </a:r>
            <a:r>
              <a:rPr sz="1600" b="0" i="0">
                <a:solidFill>
                  <a:srgbClr val="1F262D"/>
                </a:solidFill>
                <a:latin typeface="Arial"/>
                <a:ea typeface="Arial"/>
              </a:rPr>
              <a:t xml:space="preserve"> is a localization illusion, not a second physical loudspeaker. Broadband and 1.5-kHz-wide narrowband stimuli distinguished spectral effects from a change in the imposed delay. The behavior connects auditory timing ambiguity to an observable orienting decision.</a:t>
            </a:r>
            <a:endParaRPr lang="en-US"/>
          </a:p>
        </p:txBody>
      </p:sp>
      <p:pic>
        <p:nvPicPr>
          <p:cNvPr id="118" name="Presenton Native Image 2" descr=""/>
          <p:cNvPicPr/>
          <p:nvPr/>
        </p:nvPicPr>
        <p:blipFill>
          <a:blip r:embed="rId2" cstate="none"/>
          <a:stretch>
            <a:fillRect/>
          </a:stretch>
        </p:blipFill>
        <p:spPr>
          <a:xfrm>
            <a:off x="6870218" y="1280071"/>
            <a:ext cx="4754583" cy="2245519"/>
          </a:xfrm>
          <a:prstGeom prst="rect">
            <a:avLst/>
          </a:prstGeom>
        </p:spPr>
      </p:pic>
      <p:sp>
        <p:nvSpPr>
          <p:cNvPr id="172" name="Shape 172"/>
          <p:cNvSpPr/>
          <p:nvPr/>
        </p:nvSpPr>
        <p:spPr>
          <a:xfrm>
            <a:off x="6870055" y="3617119"/>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Kettler et al. (2017), Fig. 2(A–D). Head-turn trajectories for broadband, tonal, and narrowband sounds.</a:t>
            </a:r>
            <a:endParaRPr lang="en-US"/>
          </a:p>
        </p:txBody>
      </p:sp>
      <p:sp>
        <p:nvSpPr>
          <p:cNvPr id="173" name="Shape 173"/>
          <p:cNvSpPr/>
          <p:nvPr/>
        </p:nvSpPr>
        <p:spPr>
          <a:xfrm>
            <a:off x="566886" y="6382494"/>
            <a:ext cx="11058079" cy="9079"/>
          </a:xfrm>
          <a:prstGeom prst="rect">
            <a:avLst/>
          </a:prstGeom>
          <a:solidFill>
            <a:srgbClr val="C7D6E3"/>
          </a:solidFill>
        </p:spPr>
        <p:txBody>
          <a:bodyPr/>
          <a:lstStyle/>
          <a:p/>
        </p:txBody>
      </p:sp>
      <p:sp>
        <p:nvSpPr>
          <p:cNvPr id="174" name="Shape 17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Kettler et al. (2017)</a:t>
            </a:r>
            <a:endParaRPr lang="en-US"/>
          </a:p>
        </p:txBody>
      </p:sp>
      <p:sp>
        <p:nvSpPr>
          <p:cNvPr id="175" name="Shape 17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76" name="Shape 17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The two ears supply time and level differences</a:t>
            </a:r>
            <a:endParaRPr lang="en-US"/>
          </a:p>
        </p:txBody>
      </p:sp>
      <p:sp>
        <p:nvSpPr>
          <p:cNvPr id="177" name="Shape 177"/>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Interaural time difference</a:t>
            </a:r>
            <a:r>
              <a:rPr sz="1600" b="0" i="0">
                <a:solidFill>
                  <a:srgbClr val="1F262D"/>
                </a:solidFill>
                <a:latin typeface="Arial"/>
                <a:ea typeface="Arial"/>
              </a:rPr>
              <a:t xml:space="preserve">, or ITD, is the difference in sound arrival time between ears, measured in microseconds. </a:t>
            </a:r>
            <a:r>
              <a:rPr sz="1600" b="1" i="0">
                <a:solidFill>
                  <a:srgbClr val="2B5577"/>
                </a:solidFill>
                <a:latin typeface="Arial"/>
                <a:ea typeface="Arial"/>
              </a:rPr>
              <a:t>Interaural level difference</a:t>
            </a:r>
            <a:r>
              <a:rPr sz="1600" b="0" i="0">
                <a:solidFill>
                  <a:srgbClr val="1F262D"/>
                </a:solidFill>
                <a:latin typeface="Arial"/>
                <a:ea typeface="Arial"/>
              </a:rPr>
              <a:t>, or ILD, is the difference in sound pressure level, measured in decibels. Neither cue is a location label at the auditory nerve.</a:t>
            </a:r>
            <a:endParaRPr lang="en-US"/>
          </a:p>
        </p:txBody>
      </p:sp>
      <p:sp>
        <p:nvSpPr>
          <p:cNvPr id="178" name="Shape 178"/>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Kettler and colleagues used ear-canal probe microphones to measure the head’s acoustic filtering. The frontal ITD map varied chiefly with azimuth; ILD varied strongly with elevation and also contained an azimuthal component. The facial ruff and asymmetric ears contribute to this filtering.</a:t>
            </a:r>
            <a:endParaRPr lang="en-US"/>
          </a:p>
        </p:txBody>
      </p:sp>
      <p:sp>
        <p:nvSpPr>
          <p:cNvPr id="179" name="Shape 179"/>
          <p:cNvSpPr/>
          <p:nvPr/>
        </p:nvSpPr>
        <p:spPr>
          <a:xfrm>
            <a:off x="566886" y="4062924"/>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Acoustic measurements and playback tests used directions corresponding to delays of 50, 100, and 150 µs. Natural level cues reduced timing ambiguities. The familiar association of ITD with horizontal direction and ILD with vertical direction is a useful specialization, and ILD also carries an azimuthal component.</a:t>
            </a:r>
            <a:endParaRPr lang="en-US"/>
          </a:p>
        </p:txBody>
      </p:sp>
      <p:pic>
        <p:nvPicPr>
          <p:cNvPr id="119" name="Presenton Native Image 3" descr=""/>
          <p:cNvPicPr/>
          <p:nvPr/>
        </p:nvPicPr>
        <p:blipFill>
          <a:blip r:embed="rId2" cstate="none"/>
          <a:stretch>
            <a:fillRect/>
          </a:stretch>
        </p:blipFill>
        <p:spPr>
          <a:xfrm>
            <a:off x="6870181" y="1280071"/>
            <a:ext cx="4754657" cy="2390775"/>
          </a:xfrm>
          <a:prstGeom prst="rect">
            <a:avLst/>
          </a:prstGeom>
        </p:spPr>
      </p:pic>
      <p:sp>
        <p:nvSpPr>
          <p:cNvPr id="180" name="Shape 180"/>
          <p:cNvSpPr/>
          <p:nvPr/>
        </p:nvSpPr>
        <p:spPr>
          <a:xfrm>
            <a:off x="6870055" y="3762375"/>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Kettler et al. (2017), Fig. 1(A–D). Measured timing and level differences across acoustic space.</a:t>
            </a:r>
            <a:endParaRPr lang="en-US"/>
          </a:p>
        </p:txBody>
      </p:sp>
      <p:sp>
        <p:nvSpPr>
          <p:cNvPr id="181" name="Shape 181"/>
          <p:cNvSpPr/>
          <p:nvPr/>
        </p:nvSpPr>
        <p:spPr>
          <a:xfrm>
            <a:off x="566886" y="6382494"/>
            <a:ext cx="11058079" cy="9079"/>
          </a:xfrm>
          <a:prstGeom prst="rect">
            <a:avLst/>
          </a:prstGeom>
          <a:solidFill>
            <a:srgbClr val="C7D6E3"/>
          </a:solidFill>
        </p:spPr>
        <p:txBody>
          <a:bodyPr/>
          <a:lstStyle/>
          <a:p/>
        </p:txBody>
      </p:sp>
      <p:sp>
        <p:nvSpPr>
          <p:cNvPr id="182" name="Shape 18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Kettler et al. (2017)</a:t>
            </a:r>
            <a:endParaRPr lang="en-US"/>
          </a:p>
        </p:txBody>
      </p:sp>
      <p:sp>
        <p:nvSpPr>
          <p:cNvPr id="183" name="Shape 18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84" name="Shape 18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Midbrain neurons respond to restricted auditory space</a:t>
            </a:r>
            <a:endParaRPr lang="en-US"/>
          </a:p>
        </p:txBody>
      </p:sp>
      <p:sp>
        <p:nvSpPr>
          <p:cNvPr id="185" name="Shape 185"/>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a:t>
            </a:r>
            <a:r>
              <a:rPr sz="1700" b="1" i="0">
                <a:solidFill>
                  <a:srgbClr val="2B5577"/>
                </a:solidFill>
                <a:latin typeface="Arial"/>
                <a:ea typeface="Arial"/>
              </a:rPr>
              <a:t>receptive field</a:t>
            </a:r>
            <a:r>
              <a:rPr sz="1700" b="0" i="0">
                <a:solidFill>
                  <a:srgbClr val="1F262D"/>
                </a:solidFill>
                <a:latin typeface="Arial"/>
                <a:ea typeface="Arial"/>
              </a:rPr>
              <a:t xml:space="preserve"> is the set of stimulus conditions that changes a neuron’s activity. Knudsen and Konishi mapped auditory receptive fields by moving a loudspeaker around the head of a lightly anesthetized owl in an anechoic chamber, which minimized reflected sound.</a:t>
            </a:r>
            <a:endParaRPr lang="en-US"/>
          </a:p>
        </p:txBody>
      </p:sp>
      <p:sp>
        <p:nvSpPr>
          <p:cNvPr id="186" name="Shape 186"/>
          <p:cNvSpPr/>
          <p:nvPr/>
        </p:nvSpPr>
        <p:spPr>
          <a:xfrm>
            <a:off x="566886" y="2727519"/>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Noise bursts lasted 100 ms and were delivered 10 dB above each unit’s threshold. Speaker positions were sampled in azimuth and elevation while extracellular spikes were recorded. A smaller </a:t>
            </a:r>
            <a:r>
              <a:rPr sz="1700" b="1" i="0">
                <a:solidFill>
                  <a:srgbClr val="2B5577"/>
                </a:solidFill>
                <a:latin typeface="Arial"/>
                <a:ea typeface="Arial"/>
              </a:rPr>
              <a:t>best area</a:t>
            </a:r>
            <a:r>
              <a:rPr sz="1700" b="0" i="0">
                <a:solidFill>
                  <a:srgbClr val="1F262D"/>
                </a:solidFill>
                <a:latin typeface="Arial"/>
                <a:ea typeface="Arial"/>
              </a:rPr>
              <a:t xml:space="preserve"> was defined by the positions producing maximal rather than merely detectable responses.</a:t>
            </a:r>
            <a:endParaRPr lang="en-US"/>
          </a:p>
        </p:txBody>
      </p:sp>
      <p:sp>
        <p:nvSpPr>
          <p:cNvPr id="187" name="Shape 187"/>
          <p:cNvSpPr/>
          <p:nvPr/>
        </p:nvSpPr>
        <p:spPr>
          <a:xfrm>
            <a:off x="566886" y="4488806"/>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Most mapped fields were vertically elongated. Their widths ranged from 7° to 40° in azimuth, with a mean of 25°. The response boundary and the smaller best area describe different aspects of selectivity, with the best area marking the positions that evoke maximal responses.</a:t>
            </a:r>
            <a:endParaRPr lang="en-US"/>
          </a:p>
        </p:txBody>
      </p:sp>
      <p:pic>
        <p:nvPicPr>
          <p:cNvPr id="120" name="Presenton Native Image 4" descr=""/>
          <p:cNvPicPr/>
          <p:nvPr/>
        </p:nvPicPr>
        <p:blipFill>
          <a:blip r:embed="rId2" cstate="none"/>
          <a:stretch>
            <a:fillRect/>
          </a:stretch>
        </p:blipFill>
        <p:spPr>
          <a:xfrm>
            <a:off x="7794142" y="1280071"/>
            <a:ext cx="2906587" cy="4297561"/>
          </a:xfrm>
          <a:prstGeom prst="rect">
            <a:avLst/>
          </a:prstGeom>
        </p:spPr>
      </p:pic>
      <p:sp>
        <p:nvSpPr>
          <p:cNvPr id="188" name="Shape 18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Knudsen </a:t>
            </a:r>
            <a:r>
              <a:rPr sz="1000" b="0" i="0">
                <a:solidFill>
                  <a:srgbClr val="58636E"/>
                </a:solidFill>
                <a:latin typeface="Arial"/>
                <a:ea typeface="Arial"/>
              </a:rPr>
              <a:t>&amp;</a:t>
            </a:r>
            <a:r>
              <a:rPr sz="1000" b="0" i="0">
                <a:solidFill>
                  <a:srgbClr val="58636E"/>
                </a:solidFill>
                <a:latin typeface="Arial"/>
                <a:ea typeface="Arial"/>
              </a:rPr>
              <a:t xml:space="preserve"> Konishi (1978), Fig. 2. Measured receptive-field boundaries and best area.</a:t>
            </a:r>
            <a:endParaRPr lang="en-US"/>
          </a:p>
        </p:txBody>
      </p:sp>
      <p:sp>
        <p:nvSpPr>
          <p:cNvPr id="189" name="Shape 189"/>
          <p:cNvSpPr/>
          <p:nvPr/>
        </p:nvSpPr>
        <p:spPr>
          <a:xfrm>
            <a:off x="566886" y="6382494"/>
            <a:ext cx="11058079" cy="9079"/>
          </a:xfrm>
          <a:prstGeom prst="rect">
            <a:avLst/>
          </a:prstGeom>
          <a:solidFill>
            <a:srgbClr val="C7D6E3"/>
          </a:solidFill>
        </p:spPr>
        <p:txBody>
          <a:bodyPr/>
          <a:lstStyle/>
          <a:p/>
        </p:txBody>
      </p:sp>
      <p:sp>
        <p:nvSpPr>
          <p:cNvPr id="190" name="Shape 19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Knudsen </a:t>
            </a:r>
            <a:r>
              <a:rPr sz="900" b="0" i="0">
                <a:solidFill>
                  <a:srgbClr val="58636E"/>
                </a:solidFill>
                <a:latin typeface="Arial"/>
                <a:ea typeface="Arial"/>
              </a:rPr>
              <a:t>&amp;</a:t>
            </a:r>
            <a:r>
              <a:rPr sz="900" b="0" i="0">
                <a:solidFill>
                  <a:srgbClr val="58636E"/>
                </a:solidFill>
                <a:latin typeface="Arial"/>
                <a:ea typeface="Arial"/>
              </a:rPr>
              <a:t xml:space="preserve"> Konishi (1978)</a:t>
            </a:r>
            <a:endParaRPr lang="en-US"/>
          </a:p>
        </p:txBody>
      </p:sp>
      <p:sp>
        <p:nvSpPr>
          <p:cNvPr id="191" name="Shape 19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92" name="Shape 19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Midbrain neighbors represent neighboring sound locations</a:t>
            </a:r>
            <a:endParaRPr lang="en-US"/>
          </a:p>
        </p:txBody>
      </p:sp>
      <p:sp>
        <p:nvSpPr>
          <p:cNvPr id="193" name="Shape 193"/>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Knudsen and Konishi reconstructed electrode tracks histologically and compared recording position with the center of each neuron’s best area. The auditory region was called </a:t>
            </a:r>
            <a:r>
              <a:rPr sz="1600" b="1" i="0">
                <a:solidFill>
                  <a:srgbClr val="2B5577"/>
                </a:solidFill>
                <a:latin typeface="Arial"/>
                <a:ea typeface="Arial"/>
              </a:rPr>
              <a:t>MLD</a:t>
            </a:r>
            <a:r>
              <a:rPr sz="1600" b="0" i="0">
                <a:solidFill>
                  <a:srgbClr val="1F262D"/>
                </a:solidFill>
                <a:latin typeface="Arial"/>
                <a:ea typeface="Arial"/>
              </a:rPr>
              <a:t>, nucleus mesencephalicus lateralis dorsalis, the avian homolog of the inferior colliculus.</a:t>
            </a:r>
            <a:endParaRPr lang="en-US"/>
          </a:p>
        </p:txBody>
      </p:sp>
      <p:sp>
        <p:nvSpPr>
          <p:cNvPr id="194" name="Shape 194"/>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Best-area azimuth shifted from approximately 60° contralateral in the posterolateral region to 15° ipsilateral anteromedially. Best-area elevation ranged from about +20° to −90°, with higher directions represented dorsally and lower directions ventrally. Neighboring neurons generally had overlapping receptive fields.</a:t>
            </a:r>
            <a:endParaRPr lang="en-US"/>
          </a:p>
        </p:txBody>
      </p:sp>
      <p:sp>
        <p:nvSpPr>
          <p:cNvPr id="195" name="Shape 195"/>
          <p:cNvSpPr/>
          <p:nvPr/>
        </p:nvSpPr>
        <p:spPr>
          <a:xfrm>
            <a:off x="566886" y="389126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Tone bursts, clicks, and noise usually preserved best-area location; changing level from 10 to 30 dB above threshold also preserved its position. The orderly representation supports a computed map of auditory space rather than a simple map of acoustic frequency or overall loudness.</a:t>
            </a:r>
            <a:endParaRPr lang="en-US"/>
          </a:p>
        </p:txBody>
      </p:sp>
      <p:pic>
        <p:nvPicPr>
          <p:cNvPr id="121" name="Presenton Native Image 5" descr=""/>
          <p:cNvPicPr/>
          <p:nvPr/>
        </p:nvPicPr>
        <p:blipFill>
          <a:blip r:embed="rId2" cstate="none"/>
          <a:stretch>
            <a:fillRect/>
          </a:stretch>
        </p:blipFill>
        <p:spPr>
          <a:xfrm>
            <a:off x="7016456" y="1280071"/>
            <a:ext cx="4462107" cy="4297561"/>
          </a:xfrm>
          <a:prstGeom prst="rect">
            <a:avLst/>
          </a:prstGeom>
        </p:spPr>
      </p:pic>
      <p:sp>
        <p:nvSpPr>
          <p:cNvPr id="196" name="Shape 19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Knudsen </a:t>
            </a:r>
            <a:r>
              <a:rPr sz="1000" b="0" i="0">
                <a:solidFill>
                  <a:srgbClr val="58636E"/>
                </a:solidFill>
                <a:latin typeface="Arial"/>
                <a:ea typeface="Arial"/>
              </a:rPr>
              <a:t>&amp;</a:t>
            </a:r>
            <a:r>
              <a:rPr sz="1000" b="0" i="0">
                <a:solidFill>
                  <a:srgbClr val="58636E"/>
                </a:solidFill>
                <a:latin typeface="Arial"/>
                <a:ea typeface="Arial"/>
              </a:rPr>
              <a:t xml:space="preserve"> Konishi (1978), Fig. 1. Ordered receptive fields and their measured midbrain locations.</a:t>
            </a:r>
            <a:endParaRPr lang="en-US"/>
          </a:p>
        </p:txBody>
      </p:sp>
      <p:sp>
        <p:nvSpPr>
          <p:cNvPr id="197" name="Shape 197"/>
          <p:cNvSpPr/>
          <p:nvPr/>
        </p:nvSpPr>
        <p:spPr>
          <a:xfrm>
            <a:off x="566886" y="6382494"/>
            <a:ext cx="11058079" cy="9079"/>
          </a:xfrm>
          <a:prstGeom prst="rect">
            <a:avLst/>
          </a:prstGeom>
          <a:solidFill>
            <a:srgbClr val="C7D6E3"/>
          </a:solidFill>
        </p:spPr>
        <p:txBody>
          <a:bodyPr/>
          <a:lstStyle/>
          <a:p/>
        </p:txBody>
      </p:sp>
      <p:sp>
        <p:nvSpPr>
          <p:cNvPr id="198" name="Shape 19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Knudsen </a:t>
            </a:r>
            <a:r>
              <a:rPr sz="900" b="0" i="0">
                <a:solidFill>
                  <a:srgbClr val="58636E"/>
                </a:solidFill>
                <a:latin typeface="Arial"/>
                <a:ea typeface="Arial"/>
              </a:rPr>
              <a:t>&amp;</a:t>
            </a:r>
            <a:r>
              <a:rPr sz="900" b="0" i="0">
                <a:solidFill>
                  <a:srgbClr val="58636E"/>
                </a:solidFill>
                <a:latin typeface="Arial"/>
                <a:ea typeface="Arial"/>
              </a:rPr>
              <a:t xml:space="preserve"> Konishi (1978)</a:t>
            </a:r>
            <a:endParaRPr lang="en-US"/>
          </a:p>
        </p:txBody>
      </p:sp>
      <p:sp>
        <p:nvSpPr>
          <p:cNvPr id="199" name="Shape 19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0" name="Shape 20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Timing and level preferences can vary independently</a:t>
            </a:r>
            <a:endParaRPr lang="en-US"/>
          </a:p>
        </p:txBody>
      </p:sp>
      <p:sp>
        <p:nvSpPr>
          <p:cNvPr id="201" name="Shape 201"/>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 </a:t>
            </a:r>
            <a:r>
              <a:rPr sz="1600" b="1" i="0">
                <a:solidFill>
                  <a:srgbClr val="2B5577"/>
                </a:solidFill>
                <a:latin typeface="Arial"/>
                <a:ea typeface="Arial"/>
              </a:rPr>
              <a:t>tuning curve</a:t>
            </a:r>
            <a:r>
              <a:rPr sz="1600" b="0" i="0">
                <a:solidFill>
                  <a:srgbClr val="1F262D"/>
                </a:solidFill>
                <a:latin typeface="Arial"/>
                <a:ea typeface="Arial"/>
              </a:rPr>
              <a:t xml:space="preserve"> relates neuronal response to a controlled stimulus parameter. Takahashi, Moiseff, and Konishi varied ITD while holding ILD fixed, then varied ILD while holding ITD fixed, recording from space-specific midbrain neurons through calibrated earphone stimulation.</a:t>
            </a:r>
            <a:endParaRPr lang="en-US"/>
          </a:p>
        </p:txBody>
      </p:sp>
      <p:sp>
        <p:nvSpPr>
          <p:cNvPr id="202" name="Shape 202"/>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Changing the level difference over a 20-dB range did not systematically displace the timing preference. Conversely, changes in timing altered response magnitude without systematically displacing the preferred level difference. The positions of the two response peaks were separable.</a:t>
            </a:r>
            <a:endParaRPr lang="en-US"/>
          </a:p>
        </p:txBody>
      </p:sp>
      <p:sp>
        <p:nvSpPr>
          <p:cNvPr id="203" name="Shape 203"/>
          <p:cNvSpPr/>
          <p:nvPr/>
        </p:nvSpPr>
        <p:spPr>
          <a:xfrm>
            <a:off x="566886" y="4062924"/>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 space-specific neuron therefore represents preferred ITD and preferred ILD separately, and it fires most strongly when both cues are favorable. The experiments separate how each cue is represented from how the two representations jointly determine the output.</a:t>
            </a:r>
            <a:endParaRPr lang="en-US"/>
          </a:p>
        </p:txBody>
      </p:sp>
      <p:pic>
        <p:nvPicPr>
          <p:cNvPr id="122" name="Presenton Native Image 6" descr=""/>
          <p:cNvPicPr/>
          <p:nvPr/>
        </p:nvPicPr>
        <p:blipFill>
          <a:blip r:embed="rId2" cstate="none"/>
          <a:stretch>
            <a:fillRect/>
          </a:stretch>
        </p:blipFill>
        <p:spPr>
          <a:xfrm>
            <a:off x="6870129" y="1280071"/>
            <a:ext cx="4754761" cy="2377380"/>
          </a:xfrm>
          <a:prstGeom prst="rect">
            <a:avLst/>
          </a:prstGeom>
        </p:spPr>
      </p:pic>
      <p:sp>
        <p:nvSpPr>
          <p:cNvPr id="204" name="Shape 204"/>
          <p:cNvSpPr/>
          <p:nvPr/>
        </p:nvSpPr>
        <p:spPr>
          <a:xfrm>
            <a:off x="6870055" y="374898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Takahashi et al. (1984), Fig. 4. Independent tuning to timing and level differences.</a:t>
            </a:r>
            <a:endParaRPr lang="en-US"/>
          </a:p>
        </p:txBody>
      </p:sp>
      <p:sp>
        <p:nvSpPr>
          <p:cNvPr id="205" name="Shape 205"/>
          <p:cNvSpPr/>
          <p:nvPr/>
        </p:nvSpPr>
        <p:spPr>
          <a:xfrm>
            <a:off x="566886" y="6382494"/>
            <a:ext cx="11058079" cy="9079"/>
          </a:xfrm>
          <a:prstGeom prst="rect">
            <a:avLst/>
          </a:prstGeom>
          <a:solidFill>
            <a:srgbClr val="C7D6E3"/>
          </a:solidFill>
        </p:spPr>
        <p:txBody>
          <a:bodyPr/>
          <a:lstStyle/>
          <a:p/>
        </p:txBody>
      </p:sp>
      <p:sp>
        <p:nvSpPr>
          <p:cNvPr id="206" name="Shape 20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Takahashi et al. (1984)</a:t>
            </a:r>
            <a:endParaRPr lang="en-US"/>
          </a:p>
        </p:txBody>
      </p:sp>
      <p:sp>
        <p:nvSpPr>
          <p:cNvPr id="207" name="Shape 20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8" name="Shape 20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Angularis activity is necessary for normal level tuning</a:t>
            </a:r>
            <a:endParaRPr lang="en-US"/>
          </a:p>
        </p:txBody>
      </p:sp>
      <p:sp>
        <p:nvSpPr>
          <p:cNvPr id="209" name="Shape 209"/>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Nucleus angularis</a:t>
            </a:r>
            <a:r>
              <a:rPr sz="1600" b="0" i="0">
                <a:solidFill>
                  <a:srgbClr val="1F262D"/>
                </a:solidFill>
                <a:latin typeface="Arial"/>
                <a:ea typeface="Arial"/>
              </a:rPr>
              <a:t>, or NA, is a cochlear nucleus receiving auditory-nerve input. Takahashi and colleagues locally injected lidocaine into NA while recording a space-specific neuron in the inferior colliculus. Lidocaine is a local anesthetic that blocks neuronal impulse conduction.</a:t>
            </a:r>
            <a:endParaRPr lang="en-US"/>
          </a:p>
        </p:txBody>
      </p:sp>
      <p:sp>
        <p:nvSpPr>
          <p:cNvPr id="210" name="Shape 210"/>
          <p:cNvSpPr/>
          <p:nvPr/>
        </p:nvSpPr>
        <p:spPr>
          <a:xfrm>
            <a:off x="566886" y="2648652"/>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After unilateral NA inactivation, the neuron’s ILD response shifted toward the injected side’s altered effective input. In the same preparation, the ITD response peak remained essentially stable. Recovery measurements and an injection-site marker linked the change to a localized, reversible manipulation.</a:t>
            </a:r>
            <a:endParaRPr lang="en-US"/>
          </a:p>
        </p:txBody>
      </p:sp>
      <p:sp>
        <p:nvSpPr>
          <p:cNvPr id="211" name="Shape 211"/>
          <p:cNvSpPr/>
          <p:nvPr/>
        </p:nvSpPr>
        <p:spPr>
          <a:xfrm>
            <a:off x="566886" y="4315298"/>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selective alteration supports a level-processing pathway originating in NA. Its monaural output is subsequently compared with information from the other ear, and the stable ITD peak shows that the timing pathway continued to function.</a:t>
            </a:r>
            <a:endParaRPr lang="en-US"/>
          </a:p>
        </p:txBody>
      </p:sp>
      <p:pic>
        <p:nvPicPr>
          <p:cNvPr id="123" name="Presenton Native Image 7" descr=""/>
          <p:cNvPicPr/>
          <p:nvPr/>
        </p:nvPicPr>
        <p:blipFill>
          <a:blip r:embed="rId2" cstate="none"/>
          <a:stretch>
            <a:fillRect/>
          </a:stretch>
        </p:blipFill>
        <p:spPr>
          <a:xfrm>
            <a:off x="6870106" y="1280071"/>
            <a:ext cx="4754807" cy="2486174"/>
          </a:xfrm>
          <a:prstGeom prst="rect">
            <a:avLst/>
          </a:prstGeom>
        </p:spPr>
      </p:pic>
      <p:sp>
        <p:nvSpPr>
          <p:cNvPr id="212" name="Shape 212"/>
          <p:cNvSpPr/>
          <p:nvPr/>
        </p:nvSpPr>
        <p:spPr>
          <a:xfrm>
            <a:off x="6870055" y="385777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Takahashi et al. (1984), Fig. 1. Angularis inactivation changes level tuning while sparing time tuning.</a:t>
            </a:r>
            <a:endParaRPr lang="en-US"/>
          </a:p>
        </p:txBody>
      </p:sp>
      <p:sp>
        <p:nvSpPr>
          <p:cNvPr id="213" name="Shape 213"/>
          <p:cNvSpPr/>
          <p:nvPr/>
        </p:nvSpPr>
        <p:spPr>
          <a:xfrm>
            <a:off x="566886" y="6382494"/>
            <a:ext cx="11058079" cy="9079"/>
          </a:xfrm>
          <a:prstGeom prst="rect">
            <a:avLst/>
          </a:prstGeom>
          <a:solidFill>
            <a:srgbClr val="C7D6E3"/>
          </a:solidFill>
        </p:spPr>
        <p:txBody>
          <a:bodyPr/>
          <a:lstStyle/>
          <a:p/>
        </p:txBody>
      </p:sp>
      <p:sp>
        <p:nvSpPr>
          <p:cNvPr id="214" name="Shape 21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Takahashi et al. (1984)</a:t>
            </a:r>
            <a:endParaRPr lang="en-US"/>
          </a:p>
        </p:txBody>
      </p:sp>
      <p:sp>
        <p:nvSpPr>
          <p:cNvPr id="215" name="Shape 21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16" name="Shape 21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Magnocellularis activity is necessary for normal time tuning</a:t>
            </a:r>
            <a:endParaRPr lang="en-US"/>
          </a:p>
        </p:txBody>
      </p:sp>
      <p:sp>
        <p:nvSpPr>
          <p:cNvPr id="217" name="Shape 217"/>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Nucleus magnocellularis</a:t>
            </a:r>
            <a:r>
              <a:rPr sz="1600" b="0" i="0">
                <a:solidFill>
                  <a:srgbClr val="1F262D"/>
                </a:solidFill>
                <a:latin typeface="Arial"/>
                <a:ea typeface="Arial"/>
              </a:rPr>
              <a:t>, or NM, is a second cochlear nucleus receiving auditory-nerve input. Takahashi and colleagues injected lidocaine into NM and measured the same two binaural tuning dimensions used in the angularis experiments, separating neural impairment from an acoustic change.</a:t>
            </a:r>
            <a:endParaRPr lang="en-US"/>
          </a:p>
        </p:txBody>
      </p:sp>
      <p:sp>
        <p:nvSpPr>
          <p:cNvPr id="218" name="Shape 218"/>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NM inactivation altered the ITD tuning of a space-specific neuron, while its preferred ILD remained approximately unchanged. Recordings before injection, during the effect, and after recovery supplied a temporal control. Injection-site histology checked the anatomical locus of the manipulation.</a:t>
            </a:r>
            <a:endParaRPr lang="en-US"/>
          </a:p>
        </p:txBody>
      </p:sp>
      <p:sp>
        <p:nvSpPr>
          <p:cNvPr id="219" name="Shape 219"/>
          <p:cNvSpPr/>
          <p:nvPr/>
        </p:nvSpPr>
        <p:spPr>
          <a:xfrm>
            <a:off x="566886" y="4062924"/>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reciprocal effects of NM and NA inactivation form a double dissociation: disrupting one pathway selectively changes timing, whereas disrupting the other selectively changes level. The final spatial response combines the two pathways, with the NM pathway carrying timing and the NA pathway carrying level.</a:t>
            </a:r>
            <a:endParaRPr lang="en-US"/>
          </a:p>
        </p:txBody>
      </p:sp>
      <p:pic>
        <p:nvPicPr>
          <p:cNvPr id="124" name="Presenton Native Image 8" descr=""/>
          <p:cNvPicPr/>
          <p:nvPr/>
        </p:nvPicPr>
        <p:blipFill>
          <a:blip r:embed="rId2" cstate="none"/>
          <a:stretch>
            <a:fillRect/>
          </a:stretch>
        </p:blipFill>
        <p:spPr>
          <a:xfrm>
            <a:off x="6870120" y="1280071"/>
            <a:ext cx="4754779" cy="2209056"/>
          </a:xfrm>
          <a:prstGeom prst="rect">
            <a:avLst/>
          </a:prstGeom>
        </p:spPr>
      </p:pic>
      <p:sp>
        <p:nvSpPr>
          <p:cNvPr id="220" name="Shape 220"/>
          <p:cNvSpPr/>
          <p:nvPr/>
        </p:nvSpPr>
        <p:spPr>
          <a:xfrm>
            <a:off x="6870055" y="3580656"/>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Takahashi et al. (1984), Fig. 3. Magnocellularis inactivation changes time tuning while sparing level tuning.</a:t>
            </a:r>
            <a:endParaRPr lang="en-US"/>
          </a:p>
        </p:txBody>
      </p:sp>
      <p:sp>
        <p:nvSpPr>
          <p:cNvPr id="221" name="Shape 221"/>
          <p:cNvSpPr/>
          <p:nvPr/>
        </p:nvSpPr>
        <p:spPr>
          <a:xfrm>
            <a:off x="566886" y="6382494"/>
            <a:ext cx="11058079" cy="9079"/>
          </a:xfrm>
          <a:prstGeom prst="rect">
            <a:avLst/>
          </a:prstGeom>
          <a:solidFill>
            <a:srgbClr val="C7D6E3"/>
          </a:solidFill>
        </p:spPr>
        <p:txBody>
          <a:bodyPr/>
          <a:lstStyle/>
          <a:p/>
        </p:txBody>
      </p:sp>
      <p:sp>
        <p:nvSpPr>
          <p:cNvPr id="222" name="Shape 22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Takahashi et al. (1984)</a:t>
            </a:r>
            <a:endParaRPr lang="en-US"/>
          </a:p>
        </p:txBody>
      </p:sp>
      <p:sp>
        <p:nvSpPr>
          <p:cNvPr id="223" name="Shape 22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24" name="Shape 22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Distinct brainstem nuclei preserve different sound variables</a:t>
            </a:r>
            <a:endParaRPr lang="en-US"/>
          </a:p>
        </p:txBody>
      </p:sp>
      <p:sp>
        <p:nvSpPr>
          <p:cNvPr id="225" name="Shape 225"/>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The eighth cranial nerve carries auditory information from the cochlea into the brainstem. Carr and Konishi identified NA, NM, and </a:t>
            </a:r>
            <a:r>
              <a:rPr sz="1700" b="1" i="0">
                <a:solidFill>
                  <a:srgbClr val="2B5577"/>
                </a:solidFill>
                <a:latin typeface="Arial"/>
                <a:ea typeface="Arial"/>
              </a:rPr>
              <a:t>nucleus laminaris</a:t>
            </a:r>
            <a:r>
              <a:rPr sz="1700" b="0" i="0">
                <a:solidFill>
                  <a:srgbClr val="1F262D"/>
                </a:solidFill>
                <a:latin typeface="Arial"/>
                <a:ea typeface="Arial"/>
              </a:rPr>
              <a:t>, or NL, in transverse tissue sections. NL lies in the timing pathway downstream of bilateral NM input.</a:t>
            </a:r>
            <a:endParaRPr lang="en-US"/>
          </a:p>
        </p:txBody>
      </p:sp>
      <p:sp>
        <p:nvSpPr>
          <p:cNvPr id="226" name="Shape 226"/>
          <p:cNvSpPr/>
          <p:nvPr/>
        </p:nvSpPr>
        <p:spPr>
          <a:xfrm>
            <a:off x="566886" y="2727519"/>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 neurofilament stain distinguished fiber-rich laminaris from neighboring nuclei and the cerebellar peduncle. Histology supplied landmarks for intracellular recording and tracer experiments, preventing recording depth alone from being treated as proof of a particular nucleus.</a:t>
            </a:r>
            <a:endParaRPr lang="en-US"/>
          </a:p>
        </p:txBody>
      </p:sp>
      <p:sp>
        <p:nvSpPr>
          <p:cNvPr id="227" name="Shape 227"/>
          <p:cNvSpPr/>
          <p:nvPr/>
        </p:nvSpPr>
        <p:spPr>
          <a:xfrm>
            <a:off x="566886" y="4220658"/>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The anatomical separation is compatible with parallel timing and level computations. The phase-locking, rate-level, binaural and inactivation experiments connect these structures to particular acoustic variables, with NM and NL in the timing pathway and NA in the level pathway.</a:t>
            </a:r>
            <a:endParaRPr lang="en-US"/>
          </a:p>
        </p:txBody>
      </p:sp>
      <p:pic>
        <p:nvPicPr>
          <p:cNvPr id="125" name="Presenton Native Image 9" descr=""/>
          <p:cNvPicPr/>
          <p:nvPr/>
        </p:nvPicPr>
        <p:blipFill>
          <a:blip r:embed="rId2" cstate="none"/>
          <a:stretch>
            <a:fillRect/>
          </a:stretch>
        </p:blipFill>
        <p:spPr>
          <a:xfrm>
            <a:off x="6870110" y="1280071"/>
            <a:ext cx="4754799" cy="3358753"/>
          </a:xfrm>
          <a:prstGeom prst="rect">
            <a:avLst/>
          </a:prstGeom>
        </p:spPr>
      </p:pic>
      <p:sp>
        <p:nvSpPr>
          <p:cNvPr id="228" name="Shape 228"/>
          <p:cNvSpPr/>
          <p:nvPr/>
        </p:nvSpPr>
        <p:spPr>
          <a:xfrm>
            <a:off x="6870055" y="4730353"/>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 Histological positions of the owl auditory brainstem nuclei.</a:t>
            </a:r>
            <a:endParaRPr lang="en-US"/>
          </a:p>
        </p:txBody>
      </p:sp>
      <p:sp>
        <p:nvSpPr>
          <p:cNvPr id="229" name="Shape 229"/>
          <p:cNvSpPr/>
          <p:nvPr/>
        </p:nvSpPr>
        <p:spPr>
          <a:xfrm>
            <a:off x="566886" y="6382494"/>
            <a:ext cx="11058079" cy="9079"/>
          </a:xfrm>
          <a:prstGeom prst="rect">
            <a:avLst/>
          </a:prstGeom>
          <a:solidFill>
            <a:srgbClr val="C7D6E3"/>
          </a:solidFill>
        </p:spPr>
        <p:txBody>
          <a:bodyPr/>
          <a:lstStyle/>
          <a:p/>
        </p:txBody>
      </p:sp>
      <p:sp>
        <p:nvSpPr>
          <p:cNvPr id="230" name="Shape 23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31" name="Shape 23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32" name="Shape 23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Magnocellular spikes retain the phase of acoustic cycles</a:t>
            </a:r>
            <a:endParaRPr lang="en-US"/>
          </a:p>
        </p:txBody>
      </p:sp>
      <p:sp>
        <p:nvSpPr>
          <p:cNvPr id="233" name="Shape 233"/>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Phase locking</a:t>
            </a:r>
            <a:r>
              <a:rPr sz="1600" b="0" i="0">
                <a:solidFill>
                  <a:srgbClr val="1F262D"/>
                </a:solidFill>
                <a:latin typeface="Arial"/>
                <a:ea typeface="Arial"/>
              </a:rPr>
              <a:t xml:space="preserve"> means that spikes occur preferentially at a particular phase of a repeating sound waveform. Sullivan and Konishi recorded NM neurons during tonal stimulation and grouped spike times into </a:t>
            </a:r>
            <a:r>
              <a:rPr sz="1600" b="1" i="0">
                <a:solidFill>
                  <a:srgbClr val="2B5577"/>
                </a:solidFill>
                <a:latin typeface="Arial"/>
                <a:ea typeface="Arial"/>
              </a:rPr>
              <a:t>period histograms</a:t>
            </a:r>
            <a:r>
              <a:rPr sz="1600" b="0" i="0">
                <a:solidFill>
                  <a:srgbClr val="1F262D"/>
                </a:solidFill>
                <a:latin typeface="Arial"/>
                <a:ea typeface="Arial"/>
              </a:rPr>
              <a:t>, which align successive stimulus cycles.</a:t>
            </a:r>
            <a:endParaRPr lang="en-US"/>
          </a:p>
        </p:txBody>
      </p:sp>
      <p:sp>
        <p:nvSpPr>
          <p:cNvPr id="234" name="Shape 234"/>
          <p:cNvSpPr/>
          <p:nvPr/>
        </p:nvSpPr>
        <p:spPr>
          <a:xfrm>
            <a:off x="566886" y="2648652"/>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NM neurons retained phase locking at frequencies up to 9 kHz in that study. The distributions were not identical at every frequency: spikes could occur on different cycles while remaining concentrated near a preferred position within the cycle. Timing information therefore survived without one spike per cycle.</a:t>
            </a:r>
            <a:endParaRPr lang="en-US"/>
          </a:p>
        </p:txBody>
      </p:sp>
      <p:sp>
        <p:nvSpPr>
          <p:cNvPr id="235" name="Shape 235"/>
          <p:cNvSpPr/>
          <p:nvPr/>
        </p:nvSpPr>
        <p:spPr>
          <a:xfrm>
            <a:off x="566886" y="4315298"/>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NM rate-level functions were comparatively narrow and often changed little above spontaneous discharge. This specialization supports timing transmission to NL. A phase histogram measures temporal alignment, so it describes timing in NM, and sensitivity to differences between the two ears arises later when inputs from both sides are compared.</a:t>
            </a:r>
            <a:endParaRPr lang="en-US"/>
          </a:p>
        </p:txBody>
      </p:sp>
      <p:pic>
        <p:nvPicPr>
          <p:cNvPr id="126" name="Presenton Native Image 10" descr=""/>
          <p:cNvPicPr/>
          <p:nvPr/>
        </p:nvPicPr>
        <p:blipFill>
          <a:blip r:embed="rId2" cstate="none"/>
          <a:stretch>
            <a:fillRect/>
          </a:stretch>
        </p:blipFill>
        <p:spPr>
          <a:xfrm>
            <a:off x="6870089" y="1280071"/>
            <a:ext cx="4754842" cy="2365474"/>
          </a:xfrm>
          <a:prstGeom prst="rect">
            <a:avLst/>
          </a:prstGeom>
        </p:spPr>
      </p:pic>
      <p:sp>
        <p:nvSpPr>
          <p:cNvPr id="236" name="Shape 236"/>
          <p:cNvSpPr/>
          <p:nvPr/>
        </p:nvSpPr>
        <p:spPr>
          <a:xfrm>
            <a:off x="6870055" y="373707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Sullivan </a:t>
            </a:r>
            <a:r>
              <a:rPr sz="1000" b="0" i="0">
                <a:solidFill>
                  <a:srgbClr val="58636E"/>
                </a:solidFill>
                <a:latin typeface="Arial"/>
                <a:ea typeface="Arial"/>
              </a:rPr>
              <a:t>&amp;</a:t>
            </a:r>
            <a:r>
              <a:rPr sz="1000" b="0" i="0">
                <a:solidFill>
                  <a:srgbClr val="58636E"/>
                </a:solidFill>
                <a:latin typeface="Arial"/>
                <a:ea typeface="Arial"/>
              </a:rPr>
              <a:t xml:space="preserve"> Konishi (1984), Fig. 1(A–D). Phase-locked magnocellular spike distributions.</a:t>
            </a:r>
            <a:endParaRPr lang="en-US"/>
          </a:p>
        </p:txBody>
      </p:sp>
      <p:sp>
        <p:nvSpPr>
          <p:cNvPr id="237" name="Shape 237"/>
          <p:cNvSpPr/>
          <p:nvPr/>
        </p:nvSpPr>
        <p:spPr>
          <a:xfrm>
            <a:off x="566886" y="6382494"/>
            <a:ext cx="11058079" cy="9079"/>
          </a:xfrm>
          <a:prstGeom prst="rect">
            <a:avLst/>
          </a:prstGeom>
          <a:solidFill>
            <a:srgbClr val="C7D6E3"/>
          </a:solidFill>
        </p:spPr>
        <p:txBody>
          <a:bodyPr/>
          <a:lstStyle/>
          <a:p/>
        </p:txBody>
      </p:sp>
      <p:sp>
        <p:nvSpPr>
          <p:cNvPr id="238" name="Shape 23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Sullivan </a:t>
            </a:r>
            <a:r>
              <a:rPr sz="900" b="0" i="0">
                <a:solidFill>
                  <a:srgbClr val="58636E"/>
                </a:solidFill>
                <a:latin typeface="Arial"/>
                <a:ea typeface="Arial"/>
              </a:rPr>
              <a:t>&amp;</a:t>
            </a:r>
            <a:r>
              <a:rPr sz="900" b="0" i="0">
                <a:solidFill>
                  <a:srgbClr val="58636E"/>
                </a:solidFill>
                <a:latin typeface="Arial"/>
                <a:ea typeface="Arial"/>
              </a:rPr>
              <a:t xml:space="preserve"> Konishi (1984)</a:t>
            </a:r>
            <a:endParaRPr lang="en-US"/>
          </a:p>
        </p:txBody>
      </p:sp>
      <p:sp>
        <p:nvSpPr>
          <p:cNvPr id="239" name="Shape 23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0" name="Shape 24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Angularis firing rates represent changes in sound level</a:t>
            </a:r>
            <a:endParaRPr lang="en-US"/>
          </a:p>
        </p:txBody>
      </p:sp>
      <p:sp>
        <p:nvSpPr>
          <p:cNvPr id="241" name="Shape 241"/>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Sullivan and Konishi measured </a:t>
            </a:r>
            <a:r>
              <a:rPr sz="1700" b="1" i="0">
                <a:solidFill>
                  <a:srgbClr val="2B5577"/>
                </a:solidFill>
                <a:latin typeface="Arial"/>
                <a:ea typeface="Arial"/>
              </a:rPr>
              <a:t>rate-level functions</a:t>
            </a:r>
            <a:r>
              <a:rPr sz="1700" b="0" i="0">
                <a:solidFill>
                  <a:srgbClr val="1F262D"/>
                </a:solidFill>
                <a:latin typeface="Arial"/>
                <a:ea typeface="Arial"/>
              </a:rPr>
              <a:t>, the relation between stimulus level and spike count, in NA neurons. Compared with NM, NA typically had lower spontaneous discharge and larger increases in firing as the level of a tone rose.</a:t>
            </a:r>
            <a:endParaRPr lang="en-US"/>
          </a:p>
        </p:txBody>
      </p:sp>
      <p:sp>
        <p:nvSpPr>
          <p:cNvPr id="242" name="Shape 242"/>
          <p:cNvSpPr/>
          <p:nvPr/>
        </p:nvSpPr>
        <p:spPr>
          <a:xfrm>
            <a:off x="566886" y="2727519"/>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Angularis responses commonly changed over more than 20 dB, often 30 dB or more. The </a:t>
            </a:r>
            <a:r>
              <a:rPr sz="1700" b="1" i="0">
                <a:solidFill>
                  <a:srgbClr val="2B5577"/>
                </a:solidFill>
                <a:latin typeface="Arial"/>
                <a:ea typeface="Arial"/>
              </a:rPr>
              <a:t>dynamic range</a:t>
            </a:r>
            <a:r>
              <a:rPr sz="1700" b="0" i="0">
                <a:solidFill>
                  <a:srgbClr val="1F262D"/>
                </a:solidFill>
                <a:latin typeface="Arial"/>
                <a:ea typeface="Arial"/>
              </a:rPr>
              <a:t xml:space="preserve"> is the range of levels over which the response changes substantially. Different cells showed different slopes and saturation levels, preserving a population representation of level.</a:t>
            </a:r>
            <a:endParaRPr lang="en-US"/>
          </a:p>
        </p:txBody>
      </p:sp>
      <p:sp>
        <p:nvSpPr>
          <p:cNvPr id="243" name="Shape 243"/>
          <p:cNvSpPr/>
          <p:nvPr/>
        </p:nvSpPr>
        <p:spPr>
          <a:xfrm>
            <a:off x="566886" y="4488806"/>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NA showed little or no phase locking at higher frequencies, although weak locking occurred below about 3.5 kHz. NM emphasizes timing and NA emphasizes level, and the monaural level-sensitive discharge of NA provides input for later comparison between the ears.</a:t>
            </a:r>
            <a:endParaRPr lang="en-US"/>
          </a:p>
        </p:txBody>
      </p:sp>
      <p:pic>
        <p:nvPicPr>
          <p:cNvPr id="127" name="Presenton Native Image 11" descr=""/>
          <p:cNvPicPr/>
          <p:nvPr/>
        </p:nvPicPr>
        <p:blipFill>
          <a:blip r:embed="rId2" cstate="none"/>
          <a:stretch>
            <a:fillRect/>
          </a:stretch>
        </p:blipFill>
        <p:spPr>
          <a:xfrm>
            <a:off x="6870068" y="1280071"/>
            <a:ext cx="4754884" cy="3581102"/>
          </a:xfrm>
          <a:prstGeom prst="rect">
            <a:avLst/>
          </a:prstGeom>
        </p:spPr>
      </p:pic>
      <p:sp>
        <p:nvSpPr>
          <p:cNvPr id="244" name="Shape 244"/>
          <p:cNvSpPr/>
          <p:nvPr/>
        </p:nvSpPr>
        <p:spPr>
          <a:xfrm>
            <a:off x="6870055" y="4952702"/>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Sullivan </a:t>
            </a:r>
            <a:r>
              <a:rPr sz="1000" b="0" i="0">
                <a:solidFill>
                  <a:srgbClr val="58636E"/>
                </a:solidFill>
                <a:latin typeface="Arial"/>
                <a:ea typeface="Arial"/>
              </a:rPr>
              <a:t>&amp;</a:t>
            </a:r>
            <a:r>
              <a:rPr sz="1000" b="0" i="0">
                <a:solidFill>
                  <a:srgbClr val="58636E"/>
                </a:solidFill>
                <a:latin typeface="Arial"/>
                <a:ea typeface="Arial"/>
              </a:rPr>
              <a:t xml:space="preserve"> Konishi (1984), Fig. 10(A–D). Angularis spike counts increase over a broad sound-level range.</a:t>
            </a:r>
            <a:endParaRPr lang="en-US"/>
          </a:p>
        </p:txBody>
      </p:sp>
      <p:sp>
        <p:nvSpPr>
          <p:cNvPr id="245" name="Shape 245"/>
          <p:cNvSpPr/>
          <p:nvPr/>
        </p:nvSpPr>
        <p:spPr>
          <a:xfrm>
            <a:off x="566886" y="6382494"/>
            <a:ext cx="11058079" cy="9079"/>
          </a:xfrm>
          <a:prstGeom prst="rect">
            <a:avLst/>
          </a:prstGeom>
          <a:solidFill>
            <a:srgbClr val="C7D6E3"/>
          </a:solidFill>
        </p:spPr>
        <p:txBody>
          <a:bodyPr/>
          <a:lstStyle/>
          <a:p/>
        </p:txBody>
      </p:sp>
      <p:sp>
        <p:nvSpPr>
          <p:cNvPr id="246" name="Shape 24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Sullivan </a:t>
            </a:r>
            <a:r>
              <a:rPr sz="900" b="0" i="0">
                <a:solidFill>
                  <a:srgbClr val="58636E"/>
                </a:solidFill>
                <a:latin typeface="Arial"/>
                <a:ea typeface="Arial"/>
              </a:rPr>
              <a:t>&amp;</a:t>
            </a:r>
            <a:r>
              <a:rPr sz="900" b="0" i="0">
                <a:solidFill>
                  <a:srgbClr val="58636E"/>
                </a:solidFill>
                <a:latin typeface="Arial"/>
                <a:ea typeface="Arial"/>
              </a:rPr>
              <a:t xml:space="preserve"> Konishi (1984)</a:t>
            </a:r>
            <a:endParaRPr lang="en-US"/>
          </a:p>
        </p:txBody>
      </p:sp>
      <p:sp>
        <p:nvSpPr>
          <p:cNvPr id="247" name="Shape 24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8" name="Shape 248"/>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Auditory-nerve phase locking reaches approximately 10 kHz</a:t>
            </a:r>
            <a:endParaRPr lang="en-US"/>
          </a:p>
        </p:txBody>
      </p:sp>
      <p:sp>
        <p:nvSpPr>
          <p:cNvPr id="249" name="Shape 249"/>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Köppl recorded single auditory-nerve fibers with calibrated tones and compared their spike timing across frequency and sound level. </a:t>
            </a:r>
            <a:r>
              <a:rPr sz="1600" b="1" i="0">
                <a:solidFill>
                  <a:srgbClr val="2B5577"/>
                </a:solidFill>
                <a:latin typeface="Arial"/>
                <a:ea typeface="Arial"/>
              </a:rPr>
              <a:t>Vector strength</a:t>
            </a:r>
            <a:r>
              <a:rPr sz="1600" b="0" i="0">
                <a:solidFill>
                  <a:srgbClr val="1F262D"/>
                </a:solidFill>
                <a:latin typeface="Arial"/>
                <a:ea typeface="Arial"/>
              </a:rPr>
              <a:t xml:space="preserve"> quantifies concentration of spike phases: values near one indicate tight phase alignment, whereas values near zero indicate dispersed phases.</a:t>
            </a:r>
            <a:endParaRPr lang="en-US"/>
          </a:p>
        </p:txBody>
      </p:sp>
      <p:sp>
        <p:nvSpPr>
          <p:cNvPr id="250" name="Shape 250"/>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Auditory-nerve phase locking extended to approximately 10 kHz. Its quality declined with frequency, but the decline included a plateau around 1.5–3 kHz. Phase organization could be detected below the level at which a clear increase in average spike rate appeared.</a:t>
            </a:r>
            <a:endParaRPr lang="en-US"/>
          </a:p>
        </p:txBody>
      </p:sp>
      <p:sp>
        <p:nvSpPr>
          <p:cNvPr id="251" name="Shape 251"/>
          <p:cNvSpPr/>
          <p:nvPr/>
        </p:nvSpPr>
        <p:spPr>
          <a:xfrm>
            <a:off x="566886" y="4062924"/>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peripheral temporal code supplies the brainstem with information needed for ITD processing. Phase locking declines in quality with frequency, and rate threshold and timing sensitivity are different response measurements, since phase organization could be detected below the level at which a clear increase in average rate appeared.</a:t>
            </a:r>
            <a:endParaRPr lang="en-US"/>
          </a:p>
        </p:txBody>
      </p:sp>
      <p:pic>
        <p:nvPicPr>
          <p:cNvPr id="128" name="Presenton Native Image 12" descr=""/>
          <p:cNvPicPr/>
          <p:nvPr/>
        </p:nvPicPr>
        <p:blipFill>
          <a:blip r:embed="rId2" cstate="none"/>
          <a:stretch>
            <a:fillRect/>
          </a:stretch>
        </p:blipFill>
        <p:spPr>
          <a:xfrm>
            <a:off x="8260407" y="1280100"/>
            <a:ext cx="1974056" cy="4297503"/>
          </a:xfrm>
          <a:prstGeom prst="rect">
            <a:avLst/>
          </a:prstGeom>
        </p:spPr>
      </p:pic>
      <p:sp>
        <p:nvSpPr>
          <p:cNvPr id="252" name="Shape 25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Köppl (1997), Fig. 1(A–N). Auditory-nerve phase locking at high stimulus frequencies.</a:t>
            </a:r>
            <a:endParaRPr lang="en-US"/>
          </a:p>
        </p:txBody>
      </p:sp>
      <p:sp>
        <p:nvSpPr>
          <p:cNvPr id="253" name="Shape 253"/>
          <p:cNvSpPr/>
          <p:nvPr/>
        </p:nvSpPr>
        <p:spPr>
          <a:xfrm>
            <a:off x="566886" y="6382494"/>
            <a:ext cx="11058079" cy="9079"/>
          </a:xfrm>
          <a:prstGeom prst="rect">
            <a:avLst/>
          </a:prstGeom>
          <a:solidFill>
            <a:srgbClr val="C7D6E3"/>
          </a:solidFill>
        </p:spPr>
        <p:txBody>
          <a:bodyPr/>
          <a:lstStyle/>
          <a:p/>
        </p:txBody>
      </p:sp>
      <p:sp>
        <p:nvSpPr>
          <p:cNvPr id="254" name="Shape 2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Köppl (1997)</a:t>
            </a:r>
            <a:endParaRPr lang="en-US"/>
          </a:p>
        </p:txBody>
      </p:sp>
      <p:sp>
        <p:nvSpPr>
          <p:cNvPr id="255" name="Shape 25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56" name="Shape 25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The NM synapse limits some temporal precision</a:t>
            </a:r>
            <a:endParaRPr lang="en-US"/>
          </a:p>
        </p:txBody>
      </p:sp>
      <p:sp>
        <p:nvSpPr>
          <p:cNvPr id="257" name="Shape 257"/>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Köppl obtained auditory-nerve and NM recordings in the same animals, permitting a direct comparison of temporal information before and after the first central relay. Tone frequency and level were controlled while saturated phase-locking quality was assessed.</a:t>
            </a:r>
            <a:endParaRPr lang="en-US"/>
          </a:p>
        </p:txBody>
      </p:sp>
      <p:sp>
        <p:nvSpPr>
          <p:cNvPr id="258" name="Shape 258"/>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Above approximately 1 kHz, NM vector strength was consistently lower than auditory-nerve vector strength. The comparison does not support a universal sharpening of phase locking at this relay. Both populations retained locking well into the frequency range used for owl localization.</a:t>
            </a:r>
            <a:endParaRPr lang="en-US"/>
          </a:p>
        </p:txBody>
      </p:sp>
      <p:sp>
        <p:nvSpPr>
          <p:cNvPr id="259" name="Shape 259"/>
          <p:cNvSpPr/>
          <p:nvPr/>
        </p:nvSpPr>
        <p:spPr>
          <a:xfrm>
            <a:off x="566886" y="4062924"/>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additional synaptic transformation can introduce temporal dispersion even in a highly specialized pathway. The NM recordings identify this loss as a functional property of transmission at the first central relay.</a:t>
            </a:r>
            <a:endParaRPr lang="en-US"/>
          </a:p>
        </p:txBody>
      </p:sp>
      <p:pic>
        <p:nvPicPr>
          <p:cNvPr id="129" name="Presenton Native Image 13" descr=""/>
          <p:cNvPicPr/>
          <p:nvPr/>
        </p:nvPicPr>
        <p:blipFill>
          <a:blip r:embed="rId2" cstate="none"/>
          <a:stretch>
            <a:fillRect/>
          </a:stretch>
        </p:blipFill>
        <p:spPr>
          <a:xfrm>
            <a:off x="7070131" y="1280071"/>
            <a:ext cx="4354608" cy="4297561"/>
          </a:xfrm>
          <a:prstGeom prst="rect">
            <a:avLst/>
          </a:prstGeom>
        </p:spPr>
      </p:pic>
      <p:sp>
        <p:nvSpPr>
          <p:cNvPr id="260" name="Shape 26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Köppl (1997), Fig. 12. Direct comparison of auditory-nerve and magnocellular phase locking.</a:t>
            </a:r>
            <a:endParaRPr lang="en-US"/>
          </a:p>
        </p:txBody>
      </p:sp>
      <p:sp>
        <p:nvSpPr>
          <p:cNvPr id="261" name="Shape 261"/>
          <p:cNvSpPr/>
          <p:nvPr/>
        </p:nvSpPr>
        <p:spPr>
          <a:xfrm>
            <a:off x="566886" y="6382494"/>
            <a:ext cx="11058079" cy="9079"/>
          </a:xfrm>
          <a:prstGeom prst="rect">
            <a:avLst/>
          </a:prstGeom>
          <a:solidFill>
            <a:srgbClr val="C7D6E3"/>
          </a:solidFill>
        </p:spPr>
        <p:txBody>
          <a:bodyPr/>
          <a:lstStyle/>
          <a:p/>
        </p:txBody>
      </p:sp>
      <p:sp>
        <p:nvSpPr>
          <p:cNvPr id="262" name="Shape 2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Köppl (1997)</a:t>
            </a:r>
            <a:endParaRPr lang="en-US"/>
          </a:p>
        </p:txBody>
      </p:sp>
      <p:sp>
        <p:nvSpPr>
          <p:cNvPr id="263" name="Shape 26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64" name="Shape 26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Laminaris receives frequency-matched input from both ears</a:t>
            </a:r>
            <a:endParaRPr lang="en-US"/>
          </a:p>
        </p:txBody>
      </p:sp>
      <p:sp>
        <p:nvSpPr>
          <p:cNvPr id="265" name="Shape 265"/>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Tonotopy</a:t>
            </a:r>
            <a:r>
              <a:rPr sz="1600" b="0" i="0">
                <a:solidFill>
                  <a:srgbClr val="1F262D"/>
                </a:solidFill>
                <a:latin typeface="Arial"/>
                <a:ea typeface="Arial"/>
              </a:rPr>
              <a:t xml:space="preserve"> is the orderly anatomical representation of acoustic frequency. Carr and Konishi traced NM projections and recorded afferent fibers within NL. Inputs from opposite ears entered corresponding frequency regions rather than mixing all frequencies indiscriminately.</a:t>
            </a:r>
            <a:endParaRPr lang="en-US"/>
          </a:p>
        </p:txBody>
      </p:sp>
      <p:sp>
        <p:nvSpPr>
          <p:cNvPr id="266" name="Shape 266"/>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Injections into NM regions tuned near 5.5 and 7 kHz labeled different projection territories. Physiological recordings from a single NL penetration found closely matched ipsilateral and contralateral frequency tuning, including fibers encountered at depths of 1320 and 1400 µm.</a:t>
            </a:r>
            <a:endParaRPr lang="en-US"/>
          </a:p>
        </p:txBody>
      </p:sp>
      <p:sp>
        <p:nvSpPr>
          <p:cNvPr id="267" name="Shape 267"/>
          <p:cNvSpPr/>
          <p:nvPr/>
        </p:nvSpPr>
        <p:spPr>
          <a:xfrm>
            <a:off x="566886" y="4062924"/>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Frequency matching permits comparison of the timing of corresponding waveform components. Comparing unrelated frequencies would not preserve a stable phase relation. Anatomical tracing establishes the order of the projections, and the paired frequency-response measurements establish the functional matching needed by a timing comparator.</a:t>
            </a:r>
            <a:endParaRPr lang="en-US"/>
          </a:p>
        </p:txBody>
      </p:sp>
      <p:pic>
        <p:nvPicPr>
          <p:cNvPr id="130" name="Presenton Native Image 14" descr=""/>
          <p:cNvPicPr/>
          <p:nvPr/>
        </p:nvPicPr>
        <p:blipFill>
          <a:blip r:embed="rId2" cstate="none"/>
          <a:stretch>
            <a:fillRect/>
          </a:stretch>
        </p:blipFill>
        <p:spPr>
          <a:xfrm>
            <a:off x="6870126" y="1280071"/>
            <a:ext cx="4754769" cy="3569940"/>
          </a:xfrm>
          <a:prstGeom prst="rect">
            <a:avLst/>
          </a:prstGeom>
        </p:spPr>
      </p:pic>
      <p:sp>
        <p:nvSpPr>
          <p:cNvPr id="268" name="Shape 268"/>
          <p:cNvSpPr/>
          <p:nvPr/>
        </p:nvSpPr>
        <p:spPr>
          <a:xfrm>
            <a:off x="6870055" y="494154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3(A–D). Frequency-matched bilateral inputs to nucleus laminaris.</a:t>
            </a:r>
            <a:endParaRPr lang="en-US"/>
          </a:p>
        </p:txBody>
      </p:sp>
      <p:sp>
        <p:nvSpPr>
          <p:cNvPr id="269" name="Shape 269"/>
          <p:cNvSpPr/>
          <p:nvPr/>
        </p:nvSpPr>
        <p:spPr>
          <a:xfrm>
            <a:off x="566886" y="6382494"/>
            <a:ext cx="11058079" cy="9079"/>
          </a:xfrm>
          <a:prstGeom prst="rect">
            <a:avLst/>
          </a:prstGeom>
          <a:solidFill>
            <a:srgbClr val="C7D6E3"/>
          </a:solidFill>
        </p:spPr>
        <p:txBody>
          <a:bodyPr/>
          <a:lstStyle/>
          <a:p/>
        </p:txBody>
      </p:sp>
      <p:sp>
        <p:nvSpPr>
          <p:cNvPr id="270" name="Shape 2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71" name="Shape 27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72" name="Shape 2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NM axons enter laminaris from opposite borders</a:t>
            </a:r>
            <a:endParaRPr lang="en-US"/>
          </a:p>
        </p:txBody>
      </p:sp>
      <p:sp>
        <p:nvSpPr>
          <p:cNvPr id="273" name="Shape 273"/>
          <p:cNvSpPr/>
          <p:nvPr/>
        </p:nvSpPr>
        <p:spPr>
          <a:xfrm>
            <a:off x="566886" y="1234380"/>
            <a:ext cx="5956250" cy="1072591"/>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Carr and Konishi injected </a:t>
            </a:r>
            <a:r>
              <a:rPr sz="1700" b="1" i="0">
                <a:solidFill>
                  <a:srgbClr val="2B5577"/>
                </a:solidFill>
                <a:latin typeface="Arial"/>
                <a:ea typeface="Arial"/>
              </a:rPr>
              <a:t>horseradish peroxidase</a:t>
            </a:r>
            <a:r>
              <a:rPr sz="1700" b="0" i="0">
                <a:solidFill>
                  <a:srgbClr val="1F262D"/>
                </a:solidFill>
                <a:latin typeface="Arial"/>
                <a:ea typeface="Arial"/>
              </a:rPr>
              <a:t>, or HRP, into NM and followed labeled axons through serial brain sections. HRP is a tracer that permits projection pathways to be visualized after a histochemical reaction.</a:t>
            </a:r>
            <a:endParaRPr lang="en-US"/>
          </a:p>
        </p:txBody>
      </p:sp>
      <p:sp>
        <p:nvSpPr>
          <p:cNvPr id="274" name="Shape 274"/>
          <p:cNvSpPr/>
          <p:nvPr/>
        </p:nvSpPr>
        <p:spPr>
          <a:xfrm>
            <a:off x="566886" y="2459371"/>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An NM neuron sends branches to NL on both sides. Ipsilateral afferents approach the dorsal border, whereas contralateral afferents approach the ventral border. The published reconstruction preserves this opposing arrangement and includes a 1-mm scale bar.</a:t>
            </a:r>
            <a:endParaRPr lang="en-US"/>
          </a:p>
        </p:txBody>
      </p:sp>
      <p:sp>
        <p:nvSpPr>
          <p:cNvPr id="275" name="Shape 275"/>
          <p:cNvSpPr/>
          <p:nvPr/>
        </p:nvSpPr>
        <p:spPr>
          <a:xfrm>
            <a:off x="566886" y="395251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Opposing entry directions supply an anatomical basis for position-dependent differences in arrival time. A delay line is a pathway whose travel time changes with position, and the dorsal and ventral entry of the two inputs places the axons from the two ears on opposite sides of the nucleus.</a:t>
            </a:r>
            <a:endParaRPr lang="en-US"/>
          </a:p>
        </p:txBody>
      </p:sp>
      <p:pic>
        <p:nvPicPr>
          <p:cNvPr id="131" name="Presenton Native Image 15" descr=""/>
          <p:cNvPicPr/>
          <p:nvPr/>
        </p:nvPicPr>
        <p:blipFill>
          <a:blip r:embed="rId2" cstate="none"/>
          <a:stretch>
            <a:fillRect/>
          </a:stretch>
        </p:blipFill>
        <p:spPr>
          <a:xfrm>
            <a:off x="6870274" y="1280071"/>
            <a:ext cx="4754472" cy="2039838"/>
          </a:xfrm>
          <a:prstGeom prst="rect">
            <a:avLst/>
          </a:prstGeom>
        </p:spPr>
      </p:pic>
      <p:sp>
        <p:nvSpPr>
          <p:cNvPr id="276" name="Shape 276"/>
          <p:cNvSpPr/>
          <p:nvPr/>
        </p:nvSpPr>
        <p:spPr>
          <a:xfrm>
            <a:off x="6870055" y="3411438"/>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2. Published traced magnocellular axons entering laminaris from opposite borders.</a:t>
            </a:r>
            <a:endParaRPr lang="en-US"/>
          </a:p>
        </p:txBody>
      </p:sp>
      <p:sp>
        <p:nvSpPr>
          <p:cNvPr id="277" name="Shape 277"/>
          <p:cNvSpPr/>
          <p:nvPr/>
        </p:nvSpPr>
        <p:spPr>
          <a:xfrm>
            <a:off x="566886" y="6382494"/>
            <a:ext cx="11058079" cy="9079"/>
          </a:xfrm>
          <a:prstGeom prst="rect">
            <a:avLst/>
          </a:prstGeom>
          <a:solidFill>
            <a:srgbClr val="C7D6E3"/>
          </a:solidFill>
        </p:spPr>
        <p:txBody>
          <a:bodyPr/>
          <a:lstStyle/>
          <a:p/>
        </p:txBody>
      </p:sp>
      <p:sp>
        <p:nvSpPr>
          <p:cNvPr id="278" name="Shape 2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79" name="Shape 27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80" name="Shape 28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Input spike timing changes systematically through laminaris</a:t>
            </a:r>
            <a:endParaRPr lang="en-US"/>
          </a:p>
        </p:txBody>
      </p:sp>
      <p:sp>
        <p:nvSpPr>
          <p:cNvPr id="281" name="Shape 281"/>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Carr and Konishi recorded phase-locked NM afferents at different depths within NL. They stimulated one ear with a tone and measured the mean phase of the resulting intracellularly recorded spikes, testing whether conduction time changed along the projection.</a:t>
            </a:r>
            <a:endParaRPr lang="en-US"/>
          </a:p>
        </p:txBody>
      </p:sp>
      <p:sp>
        <p:nvSpPr>
          <p:cNvPr id="282" name="Shape 282"/>
          <p:cNvSpPr/>
          <p:nvPr/>
        </p:nvSpPr>
        <p:spPr>
          <a:xfrm>
            <a:off x="566886" y="2529780"/>
            <a:ext cx="5956250" cy="932855"/>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At 4 kHz, the tonal period was 250 µs; at 5.5 kHz it was approximately 182 µs. Mean phase changed regularly with depth. In a 7-kHz region, abrupt apparent phase jumps corresponded to crossing into the next stimulus cycle.</a:t>
            </a:r>
            <a:endParaRPr lang="en-US"/>
          </a:p>
        </p:txBody>
      </p:sp>
      <p:sp>
        <p:nvSpPr>
          <p:cNvPr id="283" name="Shape 283"/>
          <p:cNvSpPr/>
          <p:nvPr/>
        </p:nvSpPr>
        <p:spPr>
          <a:xfrm>
            <a:off x="566886" y="3591967"/>
            <a:ext cx="5956250" cy="1399282"/>
          </a:xfrm>
          <a:prstGeom prst="rect">
            <a:avLst/>
          </a:prstGeom>
          <a:noFill/>
        </p:spPr>
        <p:txBody>
          <a:bodyPr anchor="t" wrap="square" tIns="0" bIns="0" lIns="0" rIns="0">
            <a:normAutofit/>
          </a:bodyPr>
          <a:lstStyle/>
          <a:p>
            <a:pPr algn="l">
              <a:lnSpc>
                <a:spcPts val="1836"/>
              </a:lnSpc>
              <a:buNone/>
            </a:pPr>
            <a:r>
              <a:rPr sz="1700" b="1" i="0">
                <a:solidFill>
                  <a:srgbClr val="2B5577"/>
                </a:solidFill>
                <a:latin typeface="Arial"/>
                <a:ea typeface="Arial"/>
              </a:rPr>
              <a:t>Phase wrapping</a:t>
            </a:r>
            <a:r>
              <a:rPr sz="1700" b="0" i="0">
                <a:solidFill>
                  <a:srgbClr val="1F262D"/>
                </a:solidFill>
                <a:latin typeface="Arial"/>
                <a:ea typeface="Arial"/>
              </a:rPr>
              <a:t xml:space="preserve"> occurs because phase repeats after a complete cycle even when physical delay continues increasing. The data support orderly neural delays rather than independent random timing at each site. Reading phase alone without recognizing cycle repetition would misidentify these continuous gradients.</a:t>
            </a:r>
            <a:endParaRPr lang="en-US"/>
          </a:p>
        </p:txBody>
      </p:sp>
      <p:pic>
        <p:nvPicPr>
          <p:cNvPr id="132" name="Presenton Native Image 16" descr=""/>
          <p:cNvPicPr/>
          <p:nvPr/>
        </p:nvPicPr>
        <p:blipFill>
          <a:blip r:embed="rId2" cstate="none"/>
          <a:stretch>
            <a:fillRect/>
          </a:stretch>
        </p:blipFill>
        <p:spPr>
          <a:xfrm>
            <a:off x="8030387" y="1280071"/>
            <a:ext cx="2434246" cy="4297561"/>
          </a:xfrm>
          <a:prstGeom prst="rect">
            <a:avLst/>
          </a:prstGeom>
        </p:spPr>
      </p:pic>
      <p:sp>
        <p:nvSpPr>
          <p:cNvPr id="284" name="Shape 28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7(A–C). Input spike phase changes systematically with recording depth.</a:t>
            </a:r>
            <a:endParaRPr lang="en-US"/>
          </a:p>
        </p:txBody>
      </p:sp>
      <p:sp>
        <p:nvSpPr>
          <p:cNvPr id="285" name="Shape 285"/>
          <p:cNvSpPr/>
          <p:nvPr/>
        </p:nvSpPr>
        <p:spPr>
          <a:xfrm>
            <a:off x="566886" y="6382494"/>
            <a:ext cx="11058079" cy="9079"/>
          </a:xfrm>
          <a:prstGeom prst="rect">
            <a:avLst/>
          </a:prstGeom>
          <a:solidFill>
            <a:srgbClr val="C7D6E3"/>
          </a:solidFill>
        </p:spPr>
        <p:txBody>
          <a:bodyPr/>
          <a:lstStyle/>
          <a:p/>
        </p:txBody>
      </p:sp>
      <p:sp>
        <p:nvSpPr>
          <p:cNvPr id="286" name="Shape 28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87" name="Shape 28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88" name="Shape 28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Opposed delay gradients support binaural coincidence</a:t>
            </a:r>
            <a:endParaRPr lang="en-US"/>
          </a:p>
        </p:txBody>
      </p:sp>
      <p:sp>
        <p:nvSpPr>
          <p:cNvPr id="289" name="Shape 289"/>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Within a common frequency region, Carr and Konishi found that ipsilateral afferent delay increased with recording depth while contralateral delay decreased. Intracellular recordings distinguished the two input populations during separate stimulation of the ears.</a:t>
            </a:r>
            <a:endParaRPr lang="en-US"/>
          </a:p>
        </p:txBody>
      </p:sp>
      <p:sp>
        <p:nvSpPr>
          <p:cNvPr id="290" name="Shape 290"/>
          <p:cNvSpPr/>
          <p:nvPr/>
        </p:nvSpPr>
        <p:spPr>
          <a:xfrm>
            <a:off x="566886" y="25297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Across NL’s approximately 700-µm depth, conduction time changed by about 160 µs for frequencies between 4 and 7.5 kHz. Similar delay ranges across frequency channels support comparison of common external timing differences rather than unrelated phase preferences.</a:t>
            </a:r>
            <a:endParaRPr lang="en-US"/>
          </a:p>
        </p:txBody>
      </p:sp>
      <p:sp>
        <p:nvSpPr>
          <p:cNvPr id="291" name="Shape 291"/>
          <p:cNvSpPr/>
          <p:nvPr/>
        </p:nvSpPr>
        <p:spPr>
          <a:xfrm>
            <a:off x="566886" y="38251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At a particular position, an external ITD can compensate for the difference in internal path delays. The two spike trains then arrive together. This spatially ordered compensation explains how a physical time difference can be represented by the location of strongly activated NL neurons.</a:t>
            </a:r>
            <a:endParaRPr lang="en-US"/>
          </a:p>
        </p:txBody>
      </p:sp>
      <p:pic>
        <p:nvPicPr>
          <p:cNvPr id="133" name="Presenton Native Image 17" descr=""/>
          <p:cNvPicPr/>
          <p:nvPr/>
        </p:nvPicPr>
        <p:blipFill>
          <a:blip r:embed="rId2" cstate="none"/>
          <a:stretch>
            <a:fillRect/>
          </a:stretch>
        </p:blipFill>
        <p:spPr>
          <a:xfrm>
            <a:off x="7133952" y="1280071"/>
            <a:ext cx="4226819" cy="4297561"/>
          </a:xfrm>
          <a:prstGeom prst="rect">
            <a:avLst/>
          </a:prstGeom>
        </p:spPr>
      </p:pic>
      <p:sp>
        <p:nvSpPr>
          <p:cNvPr id="292" name="Shape 29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8(A). Opposed timing gradients in ipsilateral and contralateral afferents.</a:t>
            </a:r>
            <a:endParaRPr lang="en-US"/>
          </a:p>
        </p:txBody>
      </p:sp>
      <p:sp>
        <p:nvSpPr>
          <p:cNvPr id="293" name="Shape 293"/>
          <p:cNvSpPr/>
          <p:nvPr/>
        </p:nvSpPr>
        <p:spPr>
          <a:xfrm>
            <a:off x="566886" y="6382494"/>
            <a:ext cx="11058079" cy="9079"/>
          </a:xfrm>
          <a:prstGeom prst="rect">
            <a:avLst/>
          </a:prstGeom>
          <a:solidFill>
            <a:srgbClr val="C7D6E3"/>
          </a:solidFill>
        </p:spPr>
        <p:txBody>
          <a:bodyPr/>
          <a:lstStyle/>
          <a:p/>
        </p:txBody>
      </p:sp>
      <p:sp>
        <p:nvSpPr>
          <p:cNvPr id="294" name="Shape 29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295" name="Shape 29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96" name="Shape 29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Short myelin internodes can contribute to slow conduction</a:t>
            </a:r>
            <a:endParaRPr lang="en-US"/>
          </a:p>
        </p:txBody>
      </p:sp>
      <p:sp>
        <p:nvSpPr>
          <p:cNvPr id="297" name="Shape 297"/>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a:t>
            </a:r>
            <a:r>
              <a:rPr sz="1700" b="1" i="0">
                <a:solidFill>
                  <a:srgbClr val="2B5577"/>
                </a:solidFill>
                <a:latin typeface="Arial"/>
                <a:ea typeface="Arial"/>
              </a:rPr>
              <a:t>myelin internode</a:t>
            </a:r>
            <a:r>
              <a:rPr sz="1700" b="0" i="0">
                <a:solidFill>
                  <a:srgbClr val="1F262D"/>
                </a:solidFill>
                <a:latin typeface="Arial"/>
                <a:ea typeface="Arial"/>
              </a:rPr>
              <a:t xml:space="preserve"> is the insulated axonal segment between successive nodes where impulse propagation is renewed. Carr and Konishi measured internodal spacing in HRP-labeled NM axons inside and outside NL, comparing anatomy with physiological delay gradients.</a:t>
            </a:r>
            <a:endParaRPr lang="en-US"/>
          </a:p>
        </p:txBody>
      </p:sp>
      <p:sp>
        <p:nvSpPr>
          <p:cNvPr id="298" name="Shape 298"/>
          <p:cNvSpPr/>
          <p:nvPr/>
        </p:nvSpPr>
        <p:spPr>
          <a:xfrm>
            <a:off x="566886" y="2727519"/>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Internodes within NL were about 60 µm long and more regularly spaced than many segments outside the nucleus. The physiological estimates placed local conduction velocity around 3–5 m/s. Published micrographs identify nodes at branch points and along axon segments.</a:t>
            </a:r>
            <a:endParaRPr lang="en-US"/>
          </a:p>
        </p:txBody>
      </p:sp>
      <p:sp>
        <p:nvSpPr>
          <p:cNvPr id="299" name="Shape 299"/>
          <p:cNvSpPr/>
          <p:nvPr/>
        </p:nvSpPr>
        <p:spPr>
          <a:xfrm>
            <a:off x="566886" y="4488806"/>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The authors proposed that short internodes help regulate the slow propagation needed for delay lines. Internodal spacing of about 60 µm inside the nucleus and conduction velocities near 3 to 5 m/s are observations from anatomy and physiology that fit this proposal.</a:t>
            </a:r>
            <a:endParaRPr lang="en-US"/>
          </a:p>
        </p:txBody>
      </p:sp>
      <p:pic>
        <p:nvPicPr>
          <p:cNvPr id="134" name="Presenton Native Image 18" descr=""/>
          <p:cNvPicPr/>
          <p:nvPr/>
        </p:nvPicPr>
        <p:blipFill>
          <a:blip r:embed="rId2" cstate="none"/>
          <a:stretch>
            <a:fillRect/>
          </a:stretch>
        </p:blipFill>
        <p:spPr>
          <a:xfrm>
            <a:off x="7894608" y="1280071"/>
            <a:ext cx="2705656" cy="4297561"/>
          </a:xfrm>
          <a:prstGeom prst="rect">
            <a:avLst/>
          </a:prstGeom>
        </p:spPr>
      </p:pic>
      <p:sp>
        <p:nvSpPr>
          <p:cNvPr id="300" name="Shape 30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10(A–C). Short myelin internodes within laminaris and labeled axons.</a:t>
            </a:r>
            <a:endParaRPr lang="en-US"/>
          </a:p>
        </p:txBody>
      </p:sp>
      <p:sp>
        <p:nvSpPr>
          <p:cNvPr id="301" name="Shape 301"/>
          <p:cNvSpPr/>
          <p:nvPr/>
        </p:nvSpPr>
        <p:spPr>
          <a:xfrm>
            <a:off x="566886" y="6382494"/>
            <a:ext cx="11058079" cy="9079"/>
          </a:xfrm>
          <a:prstGeom prst="rect">
            <a:avLst/>
          </a:prstGeom>
          <a:solidFill>
            <a:srgbClr val="C7D6E3"/>
          </a:solidFill>
        </p:spPr>
        <p:txBody>
          <a:bodyPr/>
          <a:lstStyle/>
          <a:p/>
        </p:txBody>
      </p:sp>
      <p:sp>
        <p:nvSpPr>
          <p:cNvPr id="302" name="Shape 30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303" name="Shape 30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04" name="Shape 30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Laminaris detects bilateral spike coincidence</a:t>
            </a:r>
            <a:endParaRPr lang="en-US"/>
          </a:p>
        </p:txBody>
      </p:sp>
      <p:sp>
        <p:nvSpPr>
          <p:cNvPr id="305" name="Shape 305"/>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1" i="0">
                <a:solidFill>
                  <a:srgbClr val="2B5577"/>
                </a:solidFill>
                <a:latin typeface="Arial"/>
                <a:ea typeface="Arial"/>
              </a:rPr>
              <a:t>Coincidence detection</a:t>
            </a:r>
            <a:r>
              <a:rPr sz="1700" b="0" i="0">
                <a:solidFill>
                  <a:srgbClr val="1F262D"/>
                </a:solidFill>
                <a:latin typeface="Arial"/>
                <a:ea typeface="Arial"/>
              </a:rPr>
              <a:t xml:space="preserve"> is enhanced firing when two inputs arrive within a short interval. Carr and Konishi recorded NL neurons intracellularly, first stimulating each ear separately and then varying ITD during binaural stimulation.</a:t>
            </a:r>
            <a:endParaRPr lang="en-US"/>
          </a:p>
        </p:txBody>
      </p:sp>
      <p:sp>
        <p:nvSpPr>
          <p:cNvPr id="306" name="Shape 306"/>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For a neuron tested at 4409 Hz, monaural response phases were approximately 338° and 294°. A favorable delay of 30 µs, with the contralateral ear leading, increased the recorded response to 1107 spikes, compared with 393 and 360 for the separate-ear conditions.</a:t>
            </a:r>
            <a:endParaRPr lang="en-US"/>
          </a:p>
        </p:txBody>
      </p:sp>
      <p:sp>
        <p:nvSpPr>
          <p:cNvPr id="307" name="Shape 307"/>
          <p:cNvSpPr/>
          <p:nvPr/>
        </p:nvSpPr>
        <p:spPr>
          <a:xfrm>
            <a:off x="566886" y="4058394"/>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same neuron responded much less at unfavorable delays. The binaural enhancement therefore depended on relative timing rather than simply the presence of two sounds. Across the study, favorable binaural responses were roughly twice monaural responses, consistent with coincidence-sensitive integration.</a:t>
            </a:r>
            <a:endParaRPr lang="en-US"/>
          </a:p>
        </p:txBody>
      </p:sp>
      <p:pic>
        <p:nvPicPr>
          <p:cNvPr id="135" name="Presenton Native Image 19" descr=""/>
          <p:cNvPicPr/>
          <p:nvPr/>
        </p:nvPicPr>
        <p:blipFill>
          <a:blip r:embed="rId2" cstate="none"/>
          <a:stretch>
            <a:fillRect/>
          </a:stretch>
        </p:blipFill>
        <p:spPr>
          <a:xfrm>
            <a:off x="7288439" y="1280071"/>
            <a:ext cx="3917845" cy="4297561"/>
          </a:xfrm>
          <a:prstGeom prst="rect">
            <a:avLst/>
          </a:prstGeom>
        </p:spPr>
      </p:pic>
      <p:sp>
        <p:nvSpPr>
          <p:cNvPr id="308" name="Shape 30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13(A–D). Monaural and binaural spikes in a coincidence-detecting neuron.</a:t>
            </a:r>
            <a:endParaRPr lang="en-US"/>
          </a:p>
        </p:txBody>
      </p:sp>
      <p:sp>
        <p:nvSpPr>
          <p:cNvPr id="309" name="Shape 309"/>
          <p:cNvSpPr/>
          <p:nvPr/>
        </p:nvSpPr>
        <p:spPr>
          <a:xfrm>
            <a:off x="566886" y="6382494"/>
            <a:ext cx="11058079" cy="9079"/>
          </a:xfrm>
          <a:prstGeom prst="rect">
            <a:avLst/>
          </a:prstGeom>
          <a:solidFill>
            <a:srgbClr val="C7D6E3"/>
          </a:solidFill>
        </p:spPr>
        <p:txBody>
          <a:bodyPr/>
          <a:lstStyle/>
          <a:p/>
        </p:txBody>
      </p:sp>
      <p:sp>
        <p:nvSpPr>
          <p:cNvPr id="310" name="Shape 31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311" name="Shape 31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12" name="Shape 31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 narrow frequency channel represents time ambiguously</a:t>
            </a:r>
            <a:endParaRPr lang="en-US"/>
          </a:p>
        </p:txBody>
      </p:sp>
      <p:sp>
        <p:nvSpPr>
          <p:cNvPr id="313" name="Shape 313"/>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NL neurons receive frequency-selective, phase-locked inputs. With a tone, the same phase alignment recurs whenever the interaural delay changes by a whole stimulus period. Carr and Konishi measured periodic firing peaks across a range of imposed delays.</a:t>
            </a:r>
            <a:endParaRPr lang="en-US"/>
          </a:p>
        </p:txBody>
      </p:sp>
      <p:sp>
        <p:nvSpPr>
          <p:cNvPr id="314" name="Shape 314"/>
          <p:cNvSpPr/>
          <p:nvPr/>
        </p:nvSpPr>
        <p:spPr>
          <a:xfrm>
            <a:off x="566886" y="25297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delay curves differed in preferred timing and modulation depth, but their repeated maxima were consistent with the frequency of the stimulus. At 4 kHz, the 250-µs period gives repeated opportunities for alignment, including delays beyond the strongest peak near the physiological range.</a:t>
            </a:r>
            <a:endParaRPr lang="en-US"/>
          </a:p>
        </p:txBody>
      </p:sp>
      <p:sp>
        <p:nvSpPr>
          <p:cNvPr id="315" name="Shape 315"/>
          <p:cNvSpPr/>
          <p:nvPr/>
        </p:nvSpPr>
        <p:spPr>
          <a:xfrm>
            <a:off x="566886" y="4058394"/>
            <a:ext cx="5956250" cy="1399282"/>
          </a:xfrm>
          <a:prstGeom prst="rect">
            <a:avLst/>
          </a:prstGeom>
          <a:noFill/>
        </p:spPr>
        <p:txBody>
          <a:bodyPr anchor="t" wrap="square" tIns="0" bIns="0" lIns="0" rIns="0">
            <a:normAutofit/>
          </a:bodyPr>
          <a:lstStyle/>
          <a:p>
            <a:pPr algn="l">
              <a:lnSpc>
                <a:spcPts val="1836"/>
              </a:lnSpc>
              <a:buNone/>
            </a:pPr>
            <a:r>
              <a:rPr sz="1700" b="1" i="0">
                <a:solidFill>
                  <a:srgbClr val="2B5577"/>
                </a:solidFill>
                <a:latin typeface="Arial"/>
                <a:ea typeface="Arial"/>
              </a:rPr>
              <a:t>Phase ambiguity</a:t>
            </a:r>
            <a:r>
              <a:rPr sz="1700" b="0" i="0">
                <a:solidFill>
                  <a:srgbClr val="1F262D"/>
                </a:solidFill>
                <a:latin typeface="Arial"/>
                <a:ea typeface="Arial"/>
              </a:rPr>
              <a:t xml:space="preserve"> is this inability of a single narrowband channel to identify one unique ITD from its firing rate. Precise coincidence detection and an unambiguous estimate of sound direction are different computations. Later integration must distinguish the true timing relation from repeated phase matches.</a:t>
            </a:r>
            <a:endParaRPr lang="en-US"/>
          </a:p>
        </p:txBody>
      </p:sp>
      <p:pic>
        <p:nvPicPr>
          <p:cNvPr id="136" name="Presenton Native Image 20" descr=""/>
          <p:cNvPicPr/>
          <p:nvPr/>
        </p:nvPicPr>
        <p:blipFill>
          <a:blip r:embed="rId2" cstate="none"/>
          <a:stretch>
            <a:fillRect/>
          </a:stretch>
        </p:blipFill>
        <p:spPr>
          <a:xfrm>
            <a:off x="8219537" y="1280071"/>
            <a:ext cx="2055946" cy="4297561"/>
          </a:xfrm>
          <a:prstGeom prst="rect">
            <a:avLst/>
          </a:prstGeom>
        </p:spPr>
      </p:pic>
      <p:sp>
        <p:nvSpPr>
          <p:cNvPr id="316" name="Shape 31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12. Periodic interaural-delay response curves of laminaris neurons.</a:t>
            </a:r>
            <a:endParaRPr lang="en-US"/>
          </a:p>
        </p:txBody>
      </p:sp>
      <p:sp>
        <p:nvSpPr>
          <p:cNvPr id="317" name="Shape 317"/>
          <p:cNvSpPr/>
          <p:nvPr/>
        </p:nvSpPr>
        <p:spPr>
          <a:xfrm>
            <a:off x="566886" y="6382494"/>
            <a:ext cx="11058079" cy="9079"/>
          </a:xfrm>
          <a:prstGeom prst="rect">
            <a:avLst/>
          </a:prstGeom>
          <a:solidFill>
            <a:srgbClr val="C7D6E3"/>
          </a:solidFill>
        </p:spPr>
        <p:txBody>
          <a:bodyPr/>
          <a:lstStyle/>
          <a:p/>
        </p:txBody>
      </p:sp>
      <p:sp>
        <p:nvSpPr>
          <p:cNvPr id="318" name="Shape 31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t>
            </a:r>
            <a:r>
              <a:rPr sz="900" b="0" i="0">
                <a:solidFill>
                  <a:srgbClr val="58636E"/>
                </a:solidFill>
                <a:latin typeface="Arial"/>
                <a:ea typeface="Arial"/>
              </a:rPr>
              <a:t>&amp;</a:t>
            </a:r>
            <a:r>
              <a:rPr sz="900" b="0" i="0">
                <a:solidFill>
                  <a:srgbClr val="58636E"/>
                </a:solidFill>
                <a:latin typeface="Arial"/>
                <a:ea typeface="Arial"/>
              </a:rPr>
              <a:t xml:space="preserve"> Konishi (1990)</a:t>
            </a:r>
            <a:endParaRPr lang="en-US"/>
          </a:p>
        </p:txBody>
      </p:sp>
      <p:sp>
        <p:nvSpPr>
          <p:cNvPr id="319" name="Shape 31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0" name="Shape 32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Collicular arrays conserve timing across frequency channels</a:t>
            </a:r>
            <a:endParaRPr lang="en-US"/>
          </a:p>
        </p:txBody>
      </p:sp>
      <p:sp>
        <p:nvSpPr>
          <p:cNvPr id="321" name="Shape 321"/>
          <p:cNvSpPr/>
          <p:nvPr/>
        </p:nvSpPr>
        <p:spPr>
          <a:xfrm>
            <a:off x="566886" y="1234380"/>
            <a:ext cx="5956250" cy="932855"/>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Wagner, Takahashi, and Konishi recorded neurons while advancing an electrode through the central nucleus of the inferior colliculus, or </a:t>
            </a:r>
            <a:r>
              <a:rPr sz="1700" b="1" i="0">
                <a:solidFill>
                  <a:srgbClr val="2B5577"/>
                </a:solidFill>
                <a:latin typeface="Arial"/>
                <a:ea typeface="Arial"/>
              </a:rPr>
              <a:t>ICC</a:t>
            </a:r>
            <a:r>
              <a:rPr sz="1700" b="0" i="0">
                <a:solidFill>
                  <a:srgbClr val="1F262D"/>
                </a:solidFill>
                <a:latin typeface="Arial"/>
                <a:ea typeface="Arial"/>
              </a:rPr>
              <a:t>. Individual cells were narrowly frequency tuned and had periodic ITD response curves.</a:t>
            </a:r>
            <a:endParaRPr lang="en-US"/>
          </a:p>
        </p:txBody>
      </p:sp>
      <p:sp>
        <p:nvSpPr>
          <p:cNvPr id="322" name="Shape 322"/>
          <p:cNvSpPr/>
          <p:nvPr/>
        </p:nvSpPr>
        <p:spPr>
          <a:xfrm>
            <a:off x="566886" y="2296567"/>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One penetration sampled best frequencies from approximately 2100 to 6700 Hz. Despite different peak spacings, its neurons shared an </a:t>
            </a:r>
            <a:r>
              <a:rPr sz="1700" b="1" i="0">
                <a:solidFill>
                  <a:srgbClr val="2B5577"/>
                </a:solidFill>
                <a:latin typeface="Arial"/>
                <a:ea typeface="Arial"/>
              </a:rPr>
              <a:t>array-specific ITD</a:t>
            </a:r>
            <a:r>
              <a:rPr sz="1700" b="0" i="0">
                <a:solidFill>
                  <a:srgbClr val="1F262D"/>
                </a:solidFill>
                <a:latin typeface="Arial"/>
                <a:ea typeface="Arial"/>
              </a:rPr>
              <a:t xml:space="preserve"> at which their relative responses aligned. Mean interaural phase changed systematically with frequency across the array.</a:t>
            </a:r>
            <a:endParaRPr lang="en-US"/>
          </a:p>
        </p:txBody>
      </p:sp>
      <p:sp>
        <p:nvSpPr>
          <p:cNvPr id="323" name="Shape 323"/>
          <p:cNvSpPr/>
          <p:nvPr/>
        </p:nvSpPr>
        <p:spPr>
          <a:xfrm>
            <a:off x="566886" y="3825180"/>
            <a:ext cx="5956250" cy="1399282"/>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An </a:t>
            </a:r>
            <a:r>
              <a:rPr sz="1700" b="1" i="0">
                <a:solidFill>
                  <a:srgbClr val="2B5577"/>
                </a:solidFill>
                <a:latin typeface="Arial"/>
                <a:ea typeface="Arial"/>
              </a:rPr>
              <a:t>array</a:t>
            </a:r>
            <a:r>
              <a:rPr sz="1700" b="0" i="0">
                <a:solidFill>
                  <a:srgbClr val="1F262D"/>
                </a:solidFill>
                <a:latin typeface="Arial"/>
                <a:ea typeface="Arial"/>
              </a:rPr>
              <a:t xml:space="preserve"> is a group of neurons arranged across frequency laminae with a common timing relation. Convergence from such an array can supply a downstream neuron with agreement across frequencies at one delay, even when each contributing channel remains individually ambiguous.</a:t>
            </a:r>
            <a:endParaRPr lang="en-US"/>
          </a:p>
        </p:txBody>
      </p:sp>
      <p:pic>
        <p:nvPicPr>
          <p:cNvPr id="137" name="Presenton Native Image 21" descr=""/>
          <p:cNvPicPr/>
          <p:nvPr/>
        </p:nvPicPr>
        <p:blipFill>
          <a:blip r:embed="rId2" cstate="none"/>
          <a:stretch>
            <a:fillRect/>
          </a:stretch>
        </p:blipFill>
        <p:spPr>
          <a:xfrm>
            <a:off x="6870073" y="1280071"/>
            <a:ext cx="4754873" cy="2055465"/>
          </a:xfrm>
          <a:prstGeom prst="rect">
            <a:avLst/>
          </a:prstGeom>
        </p:spPr>
      </p:pic>
      <p:sp>
        <p:nvSpPr>
          <p:cNvPr id="324" name="Shape 324"/>
          <p:cNvSpPr/>
          <p:nvPr/>
        </p:nvSpPr>
        <p:spPr>
          <a:xfrm>
            <a:off x="6870055" y="3427065"/>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1(A–B). Frequency channels in one neuronal array share a timing preference.</a:t>
            </a:r>
            <a:endParaRPr lang="en-US"/>
          </a:p>
        </p:txBody>
      </p:sp>
      <p:sp>
        <p:nvSpPr>
          <p:cNvPr id="325" name="Shape 325"/>
          <p:cNvSpPr/>
          <p:nvPr/>
        </p:nvSpPr>
        <p:spPr>
          <a:xfrm>
            <a:off x="566886" y="6382494"/>
            <a:ext cx="11058079" cy="9079"/>
          </a:xfrm>
          <a:prstGeom prst="rect">
            <a:avLst/>
          </a:prstGeom>
          <a:solidFill>
            <a:srgbClr val="C7D6E3"/>
          </a:solidFill>
        </p:spPr>
        <p:txBody>
          <a:bodyPr/>
          <a:lstStyle/>
          <a:p/>
        </p:txBody>
      </p:sp>
      <p:sp>
        <p:nvSpPr>
          <p:cNvPr id="326" name="Shape 32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27" name="Shape 32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8" name="Shape 32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Frequency changes systematically along a collicular array</a:t>
            </a:r>
            <a:endParaRPr lang="en-US"/>
          </a:p>
        </p:txBody>
      </p:sp>
      <p:sp>
        <p:nvSpPr>
          <p:cNvPr id="329" name="Shape 329"/>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An </a:t>
            </a:r>
            <a:r>
              <a:rPr sz="1600" b="1" i="0">
                <a:solidFill>
                  <a:srgbClr val="2B5577"/>
                </a:solidFill>
                <a:latin typeface="Arial"/>
                <a:ea typeface="Arial"/>
              </a:rPr>
              <a:t>isofrequency lamina</a:t>
            </a:r>
            <a:r>
              <a:rPr sz="1600" b="0" i="0">
                <a:solidFill>
                  <a:srgbClr val="1F262D"/>
                </a:solidFill>
                <a:latin typeface="Arial"/>
                <a:ea typeface="Arial"/>
              </a:rPr>
              <a:t xml:space="preserve"> is a sheet of neurons with similar frequency tuning. Wagner and colleagues used dorsoventral electrode penetrations through ICC to sample multiple laminae and establish the anatomical orientation of the physiological arrays.</a:t>
            </a:r>
            <a:endParaRPr lang="en-US"/>
          </a:p>
        </p:txBody>
      </p:sp>
      <p:sp>
        <p:nvSpPr>
          <p:cNvPr id="330" name="Shape 330"/>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 a representative penetration, best frequency rose monotonically with depth from approximately 500 Hz to 10 kHz. This organization provided the frequency diversity needed to test whether different channels share a common delay rather than merely a common preferred phase.</a:t>
            </a:r>
            <a:endParaRPr lang="en-US"/>
          </a:p>
        </p:txBody>
      </p:sp>
      <p:sp>
        <p:nvSpPr>
          <p:cNvPr id="331" name="Shape 331"/>
          <p:cNvSpPr/>
          <p:nvPr/>
        </p:nvSpPr>
        <p:spPr>
          <a:xfrm>
            <a:off x="566886" y="4062924"/>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recording trajectory crossed frequency laminae and sampled the tonotopic organization of the population. Connectivity to the external nucleus was established separately with tracer measurements.</a:t>
            </a:r>
            <a:endParaRPr lang="en-US"/>
          </a:p>
        </p:txBody>
      </p:sp>
      <p:pic>
        <p:nvPicPr>
          <p:cNvPr id="138" name="Presenton Native Image 22" descr=""/>
          <p:cNvPicPr/>
          <p:nvPr/>
        </p:nvPicPr>
        <p:blipFill>
          <a:blip r:embed="rId2" cstate="none"/>
          <a:stretch>
            <a:fillRect/>
          </a:stretch>
        </p:blipFill>
        <p:spPr>
          <a:xfrm>
            <a:off x="6870100" y="1280071"/>
            <a:ext cx="4754820" cy="3529459"/>
          </a:xfrm>
          <a:prstGeom prst="rect">
            <a:avLst/>
          </a:prstGeom>
        </p:spPr>
      </p:pic>
      <p:sp>
        <p:nvSpPr>
          <p:cNvPr id="332" name="Shape 332"/>
          <p:cNvSpPr/>
          <p:nvPr/>
        </p:nvSpPr>
        <p:spPr>
          <a:xfrm>
            <a:off x="6870055" y="4901059"/>
            <a:ext cx="4773960" cy="13707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4. Best frequency varies with depth through an array.</a:t>
            </a:r>
            <a:endParaRPr lang="en-US"/>
          </a:p>
        </p:txBody>
      </p:sp>
      <p:sp>
        <p:nvSpPr>
          <p:cNvPr id="333" name="Shape 333"/>
          <p:cNvSpPr/>
          <p:nvPr/>
        </p:nvSpPr>
        <p:spPr>
          <a:xfrm>
            <a:off x="566886" y="6382494"/>
            <a:ext cx="11058079" cy="9079"/>
          </a:xfrm>
          <a:prstGeom prst="rect">
            <a:avLst/>
          </a:prstGeom>
          <a:solidFill>
            <a:srgbClr val="C7D6E3"/>
          </a:solidFill>
        </p:spPr>
        <p:txBody>
          <a:bodyPr/>
          <a:lstStyle/>
          <a:p/>
        </p:txBody>
      </p:sp>
      <p:sp>
        <p:nvSpPr>
          <p:cNvPr id="334" name="Shape 33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35" name="Shape 33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36" name="Shape 33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Array-specific delays form an ordered central-nucleus map</a:t>
            </a:r>
            <a:endParaRPr lang="en-US"/>
          </a:p>
        </p:txBody>
      </p:sp>
      <p:sp>
        <p:nvSpPr>
          <p:cNvPr id="337" name="Shape 337"/>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Wagner and colleagues compared ITD-frequency relations across seven penetrations whose positions were reconstructed histologically. Each penetration contained an array, but the slope of its phase-frequency relation differed from slopes in neighboring arrays.</a:t>
            </a:r>
            <a:endParaRPr lang="en-US"/>
          </a:p>
        </p:txBody>
      </p:sp>
      <p:sp>
        <p:nvSpPr>
          <p:cNvPr id="338" name="Shape 338"/>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Mean interaural phase was plotted against frequencies up to approximately 8 kHz. The different slopes identified different array-specific delays. Their orderly change across ICC established a map of timing preference superimposed on the frequency organization.</a:t>
            </a:r>
            <a:endParaRPr lang="en-US"/>
          </a:p>
        </p:txBody>
      </p:sp>
      <p:sp>
        <p:nvSpPr>
          <p:cNvPr id="339" name="Shape 339"/>
          <p:cNvSpPr/>
          <p:nvPr/>
        </p:nvSpPr>
        <p:spPr>
          <a:xfrm>
            <a:off x="566886" y="4062924"/>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representation is a map of a computed binaural timing variable distributed across frequency channels. ILD selectivity and broader integration produce the restricted spatial receptive fields of the external nucleus.</a:t>
            </a:r>
            <a:endParaRPr lang="en-US"/>
          </a:p>
        </p:txBody>
      </p:sp>
      <p:pic>
        <p:nvPicPr>
          <p:cNvPr id="139" name="Presenton Native Image 23" descr=""/>
          <p:cNvPicPr/>
          <p:nvPr/>
        </p:nvPicPr>
        <p:blipFill>
          <a:blip r:embed="rId2" cstate="none"/>
          <a:stretch>
            <a:fillRect/>
          </a:stretch>
        </p:blipFill>
        <p:spPr>
          <a:xfrm>
            <a:off x="6870138" y="1280071"/>
            <a:ext cx="4754744" cy="3398490"/>
          </a:xfrm>
          <a:prstGeom prst="rect">
            <a:avLst/>
          </a:prstGeom>
        </p:spPr>
      </p:pic>
      <p:sp>
        <p:nvSpPr>
          <p:cNvPr id="340" name="Shape 340"/>
          <p:cNvSpPr/>
          <p:nvPr/>
        </p:nvSpPr>
        <p:spPr>
          <a:xfrm>
            <a:off x="6870055" y="477009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9. Systematic differences in array-specific timing across penetrations.</a:t>
            </a:r>
            <a:endParaRPr lang="en-US"/>
          </a:p>
        </p:txBody>
      </p:sp>
      <p:sp>
        <p:nvSpPr>
          <p:cNvPr id="341" name="Shape 341"/>
          <p:cNvSpPr/>
          <p:nvPr/>
        </p:nvSpPr>
        <p:spPr>
          <a:xfrm>
            <a:off x="566886" y="6382494"/>
            <a:ext cx="11058079" cy="9079"/>
          </a:xfrm>
          <a:prstGeom prst="rect">
            <a:avLst/>
          </a:prstGeom>
          <a:solidFill>
            <a:srgbClr val="C7D6E3"/>
          </a:solidFill>
        </p:spPr>
        <p:txBody>
          <a:bodyPr/>
          <a:lstStyle/>
          <a:p/>
        </p:txBody>
      </p:sp>
      <p:sp>
        <p:nvSpPr>
          <p:cNvPr id="342" name="Shape 34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43" name="Shape 34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44" name="Shape 34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ICx receives inputs with matching timing preferences</a:t>
            </a:r>
            <a:endParaRPr lang="en-US"/>
          </a:p>
        </p:txBody>
      </p:sp>
      <p:sp>
        <p:nvSpPr>
          <p:cNvPr id="345" name="Shape 345"/>
          <p:cNvSpPr/>
          <p:nvPr/>
        </p:nvSpPr>
        <p:spPr>
          <a:xfrm>
            <a:off x="566886" y="1234380"/>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a:t>
            </a:r>
            <a:r>
              <a:rPr sz="1600" b="1" i="0">
                <a:solidFill>
                  <a:srgbClr val="2B5577"/>
                </a:solidFill>
                <a:latin typeface="Arial"/>
                <a:ea typeface="Arial"/>
              </a:rPr>
              <a:t>external nucleus of the inferior colliculus</a:t>
            </a:r>
            <a:r>
              <a:rPr sz="1600" b="0" i="0">
                <a:solidFill>
                  <a:srgbClr val="1F262D"/>
                </a:solidFill>
                <a:latin typeface="Arial"/>
                <a:ea typeface="Arial"/>
              </a:rPr>
              <a:t>, or ICx, contains space-specific neurons. Wagner and colleagues recorded timing preference at an ICx site, injected HRP there, and located retrogradely labeled neurons in ICC.</a:t>
            </a:r>
            <a:endParaRPr lang="en-US"/>
          </a:p>
        </p:txBody>
      </p:sp>
      <p:sp>
        <p:nvSpPr>
          <p:cNvPr id="346" name="Shape 346"/>
          <p:cNvSpPr/>
          <p:nvPr/>
        </p:nvSpPr>
        <p:spPr>
          <a:xfrm>
            <a:off x="566886" y="2396278"/>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Labeled somata occupied an array crossing frequency laminae. Nearby physiological measurements in ICC shared the timing preference measured at the injection site. The published example includes a −120-µs array-specific relation and a 1-mm anatomical scale bar.</a:t>
            </a:r>
            <a:endParaRPr lang="en-US"/>
          </a:p>
        </p:txBody>
      </p:sp>
      <p:sp>
        <p:nvSpPr>
          <p:cNvPr id="347" name="Shape 347"/>
          <p:cNvSpPr/>
          <p:nvPr/>
        </p:nvSpPr>
        <p:spPr>
          <a:xfrm>
            <a:off x="566886" y="3810550"/>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Retrograde tracing identifies neurons projecting toward the injection region. Matching tracer distribution with measured tuning supports convergence from an appropriate ICC array to a localized ICx region. The labeled cells lay in an array that crossed frequency laminae, as expected for convergence of different frequency channels onto one space-specific neuron.</a:t>
            </a:r>
            <a:endParaRPr lang="en-US"/>
          </a:p>
        </p:txBody>
      </p:sp>
      <p:pic>
        <p:nvPicPr>
          <p:cNvPr id="140" name="Presenton Native Image 24" descr=""/>
          <p:cNvPicPr/>
          <p:nvPr/>
        </p:nvPicPr>
        <p:blipFill>
          <a:blip r:embed="rId2" cstate="none"/>
          <a:stretch>
            <a:fillRect/>
          </a:stretch>
        </p:blipFill>
        <p:spPr>
          <a:xfrm>
            <a:off x="6870068" y="1280071"/>
            <a:ext cx="4754885" cy="2189411"/>
          </a:xfrm>
          <a:prstGeom prst="rect">
            <a:avLst/>
          </a:prstGeom>
        </p:spPr>
      </p:pic>
      <p:sp>
        <p:nvSpPr>
          <p:cNvPr id="348" name="Shape 348"/>
          <p:cNvSpPr/>
          <p:nvPr/>
        </p:nvSpPr>
        <p:spPr>
          <a:xfrm>
            <a:off x="6870055" y="356101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6(A–B). Physiological timing preferences matched to retrogradely labeled arrays.</a:t>
            </a:r>
            <a:endParaRPr lang="en-US"/>
          </a:p>
        </p:txBody>
      </p:sp>
      <p:sp>
        <p:nvSpPr>
          <p:cNvPr id="349" name="Shape 349"/>
          <p:cNvSpPr/>
          <p:nvPr/>
        </p:nvSpPr>
        <p:spPr>
          <a:xfrm>
            <a:off x="566886" y="6382494"/>
            <a:ext cx="11058079" cy="9079"/>
          </a:xfrm>
          <a:prstGeom prst="rect">
            <a:avLst/>
          </a:prstGeom>
          <a:solidFill>
            <a:srgbClr val="C7D6E3"/>
          </a:solidFill>
        </p:spPr>
        <p:txBody>
          <a:bodyPr/>
          <a:lstStyle/>
          <a:p/>
        </p:txBody>
      </p:sp>
      <p:sp>
        <p:nvSpPr>
          <p:cNvPr id="350" name="Shape 35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51" name="Shape 35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52" name="Shape 35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Projection position shifts with the target’s timing preference</a:t>
            </a:r>
            <a:endParaRPr lang="en-US"/>
          </a:p>
        </p:txBody>
      </p:sp>
      <p:sp>
        <p:nvSpPr>
          <p:cNvPr id="353" name="Shape 353"/>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Wagner and colleagues repeated retrograde labeling at ICx sites with different timing preferences. They counted labeled ICC somata as a function of distance from the posterior end of the colliculus, testing whether projection origins moved systematically.</a:t>
            </a:r>
            <a:endParaRPr lang="en-US"/>
          </a:p>
        </p:txBody>
      </p:sp>
      <p:sp>
        <p:nvSpPr>
          <p:cNvPr id="354" name="Shape 354"/>
          <p:cNvSpPr/>
          <p:nvPr/>
        </p:nvSpPr>
        <p:spPr>
          <a:xfrm>
            <a:off x="566886" y="2727519"/>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ICx injection sites preferred delays of 120, 90, and 60 µs with the contralateral ear leading, or 15 µs with the ipsilateral ear leading. The distributions of labeled cells shifted with these target preferences rather than remaining at one fixed ICC position.</a:t>
            </a:r>
            <a:endParaRPr lang="en-US"/>
          </a:p>
        </p:txBody>
      </p:sp>
      <p:sp>
        <p:nvSpPr>
          <p:cNvPr id="355" name="Shape 355"/>
          <p:cNvSpPr/>
          <p:nvPr/>
        </p:nvSpPr>
        <p:spPr>
          <a:xfrm>
            <a:off x="566886" y="4220658"/>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covariation supports an ordered transformation from an ICC timing map into the horizontal coordinate of the ICx space map. Cell-count distributions locate the populations that project to each target, and the distributions shifted with the timing preference of the target.</a:t>
            </a:r>
            <a:endParaRPr lang="en-US"/>
          </a:p>
        </p:txBody>
      </p:sp>
      <p:pic>
        <p:nvPicPr>
          <p:cNvPr id="141" name="Presenton Native Image 25" descr=""/>
          <p:cNvPicPr/>
          <p:nvPr/>
        </p:nvPicPr>
        <p:blipFill>
          <a:blip r:embed="rId2" cstate="none"/>
          <a:stretch>
            <a:fillRect/>
          </a:stretch>
        </p:blipFill>
        <p:spPr>
          <a:xfrm>
            <a:off x="6870117" y="1280071"/>
            <a:ext cx="4754787" cy="3084463"/>
          </a:xfrm>
          <a:prstGeom prst="rect">
            <a:avLst/>
          </a:prstGeom>
        </p:spPr>
      </p:pic>
      <p:sp>
        <p:nvSpPr>
          <p:cNvPr id="356" name="Shape 356"/>
          <p:cNvSpPr/>
          <p:nvPr/>
        </p:nvSpPr>
        <p:spPr>
          <a:xfrm>
            <a:off x="6870055" y="4456063"/>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7. Projection position shifts with timing preference at the injection site.</a:t>
            </a:r>
            <a:endParaRPr lang="en-US"/>
          </a:p>
        </p:txBody>
      </p:sp>
      <p:sp>
        <p:nvSpPr>
          <p:cNvPr id="357" name="Shape 357"/>
          <p:cNvSpPr/>
          <p:nvPr/>
        </p:nvSpPr>
        <p:spPr>
          <a:xfrm>
            <a:off x="566886" y="6382494"/>
            <a:ext cx="11058079" cy="9079"/>
          </a:xfrm>
          <a:prstGeom prst="rect">
            <a:avLst/>
          </a:prstGeom>
          <a:solidFill>
            <a:srgbClr val="C7D6E3"/>
          </a:solidFill>
        </p:spPr>
        <p:txBody>
          <a:bodyPr/>
          <a:lstStyle/>
          <a:p/>
        </p:txBody>
      </p:sp>
      <p:sp>
        <p:nvSpPr>
          <p:cNvPr id="358" name="Shape 35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59" name="Shape 35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60" name="Shape 36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Broadband input suppresses repeated peaks in ICx</a:t>
            </a:r>
            <a:endParaRPr lang="en-US"/>
          </a:p>
        </p:txBody>
      </p:sp>
      <p:sp>
        <p:nvSpPr>
          <p:cNvPr id="361" name="Shape 361"/>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Takahashi and Konishi compared ICx delay curves evoked by a tone at the neuron’s best frequency with curves evoked by broadband noise. A tone contains a repeated cycle, whereas broadband noise supplies multiple frequency components with different periods.</a:t>
            </a:r>
            <a:endParaRPr lang="en-US"/>
          </a:p>
        </p:txBody>
      </p:sp>
      <p:sp>
        <p:nvSpPr>
          <p:cNvPr id="362" name="Shape 362"/>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Tonal stimulation commonly produced a principal peak and repeated secondary peaks. Noise greatly reduced the secondary responses while preserving the timing near the principal peak. The comparison was performed within the same neuron, holding recording site constant.</a:t>
            </a:r>
            <a:endParaRPr lang="en-US"/>
          </a:p>
        </p:txBody>
      </p:sp>
      <p:sp>
        <p:nvSpPr>
          <p:cNvPr id="363" name="Shape 363"/>
          <p:cNvSpPr/>
          <p:nvPr/>
        </p:nvSpPr>
        <p:spPr>
          <a:xfrm>
            <a:off x="566886" y="4062924"/>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Cross-frequency agreement is strongest at the actual delay shared by the broadband components. Convergence across frequency channels therefore suppresses the repeated peaks that each narrowband channel produces, and the principal peak survives because all components agree on it.</a:t>
            </a:r>
            <a:endParaRPr lang="en-US"/>
          </a:p>
        </p:txBody>
      </p:sp>
      <p:pic>
        <p:nvPicPr>
          <p:cNvPr id="142" name="Presenton Native Image 26" descr=""/>
          <p:cNvPicPr/>
          <p:nvPr/>
        </p:nvPicPr>
        <p:blipFill>
          <a:blip r:embed="rId2" cstate="none"/>
          <a:stretch>
            <a:fillRect/>
          </a:stretch>
        </p:blipFill>
        <p:spPr>
          <a:xfrm>
            <a:off x="8108454" y="1280090"/>
            <a:ext cx="2277963" cy="4297523"/>
          </a:xfrm>
          <a:prstGeom prst="rect">
            <a:avLst/>
          </a:prstGeom>
        </p:spPr>
      </p:pic>
      <p:sp>
        <p:nvSpPr>
          <p:cNvPr id="364" name="Shape 36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Takahashi </a:t>
            </a:r>
            <a:r>
              <a:rPr sz="1000" b="0" i="0">
                <a:solidFill>
                  <a:srgbClr val="58636E"/>
                </a:solidFill>
                <a:latin typeface="Arial"/>
                <a:ea typeface="Arial"/>
              </a:rPr>
              <a:t>&amp;</a:t>
            </a:r>
            <a:r>
              <a:rPr sz="1000" b="0" i="0">
                <a:solidFill>
                  <a:srgbClr val="58636E"/>
                </a:solidFill>
                <a:latin typeface="Arial"/>
                <a:ea typeface="Arial"/>
              </a:rPr>
              <a:t xml:space="preserve"> Konishi (1986), Fig. 7(A–C). Broadband stimulation suppresses the secondary peaks present for tones.</a:t>
            </a:r>
            <a:endParaRPr lang="en-US"/>
          </a:p>
        </p:txBody>
      </p:sp>
      <p:sp>
        <p:nvSpPr>
          <p:cNvPr id="365" name="Shape 365"/>
          <p:cNvSpPr/>
          <p:nvPr/>
        </p:nvSpPr>
        <p:spPr>
          <a:xfrm>
            <a:off x="566886" y="6382494"/>
            <a:ext cx="11058079" cy="9079"/>
          </a:xfrm>
          <a:prstGeom prst="rect">
            <a:avLst/>
          </a:prstGeom>
          <a:solidFill>
            <a:srgbClr val="C7D6E3"/>
          </a:solidFill>
        </p:spPr>
        <p:txBody>
          <a:bodyPr/>
          <a:lstStyle/>
          <a:p/>
        </p:txBody>
      </p:sp>
      <p:sp>
        <p:nvSpPr>
          <p:cNvPr id="366" name="Shape 36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Takahashi </a:t>
            </a:r>
            <a:r>
              <a:rPr sz="900" b="0" i="0">
                <a:solidFill>
                  <a:srgbClr val="58636E"/>
                </a:solidFill>
                <a:latin typeface="Arial"/>
                <a:ea typeface="Arial"/>
              </a:rPr>
              <a:t>&amp;</a:t>
            </a:r>
            <a:r>
              <a:rPr sz="900" b="0" i="0">
                <a:solidFill>
                  <a:srgbClr val="58636E"/>
                </a:solidFill>
                <a:latin typeface="Arial"/>
                <a:ea typeface="Arial"/>
              </a:rPr>
              <a:t xml:space="preserve"> Konishi (1986)</a:t>
            </a:r>
            <a:endParaRPr lang="en-US"/>
          </a:p>
        </p:txBody>
      </p:sp>
      <p:sp>
        <p:nvSpPr>
          <p:cNvPr id="367" name="Shape 36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68" name="Shape 36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Two-tone stimulation tests cross-frequency convergence</a:t>
            </a:r>
            <a:endParaRPr lang="en-US"/>
          </a:p>
        </p:txBody>
      </p:sp>
      <p:sp>
        <p:nvSpPr>
          <p:cNvPr id="369" name="Shape 369"/>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Takahashi and Konishi presented two tones individually and together while varying ITD. The tones were selected within a neuron’s frequency-response range, permitting a controlled test of integration rather than comparing one tone with an unrestricted noise spectrum.</a:t>
            </a:r>
            <a:endParaRPr lang="en-US"/>
          </a:p>
        </p:txBody>
      </p:sp>
      <p:sp>
        <p:nvSpPr>
          <p:cNvPr id="370" name="Shape 370"/>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 the published examples, tones near 7 and 8 kHz generated differently spaced delay peaks. Their joint presentation favored the common principal delay and altered secondary responses. The combined response was compared with the responses to each component alone.</a:t>
            </a:r>
            <a:endParaRPr lang="en-US"/>
          </a:p>
        </p:txBody>
      </p:sp>
      <p:sp>
        <p:nvSpPr>
          <p:cNvPr id="371" name="Shape 371"/>
          <p:cNvSpPr/>
          <p:nvPr/>
        </p:nvSpPr>
        <p:spPr>
          <a:xfrm>
            <a:off x="566886" y="4062924"/>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This preparation tests whether timing evidence from different frequency channels interacts at a space-specific neuron. The joint presentation favored the common principal delay, which supports a convergence mechanism, and the final selectivity can include inhibitory and spike-generation nonlinearities as well as excitatory agreement.</a:t>
            </a:r>
            <a:endParaRPr lang="en-US"/>
          </a:p>
        </p:txBody>
      </p:sp>
      <p:pic>
        <p:nvPicPr>
          <p:cNvPr id="143" name="Presenton Native Image 27" descr=""/>
          <p:cNvPicPr/>
          <p:nvPr/>
        </p:nvPicPr>
        <p:blipFill>
          <a:blip r:embed="rId2" cstate="none"/>
          <a:stretch>
            <a:fillRect/>
          </a:stretch>
        </p:blipFill>
        <p:spPr>
          <a:xfrm>
            <a:off x="6870061" y="1280071"/>
            <a:ext cx="4754897" cy="3781127"/>
          </a:xfrm>
          <a:prstGeom prst="rect">
            <a:avLst/>
          </a:prstGeom>
        </p:spPr>
      </p:pic>
      <p:sp>
        <p:nvSpPr>
          <p:cNvPr id="372" name="Shape 372"/>
          <p:cNvSpPr/>
          <p:nvPr/>
        </p:nvSpPr>
        <p:spPr>
          <a:xfrm>
            <a:off x="6870055" y="5152727"/>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Takahashi </a:t>
            </a:r>
            <a:r>
              <a:rPr sz="1000" b="0" i="0">
                <a:solidFill>
                  <a:srgbClr val="58636E"/>
                </a:solidFill>
                <a:latin typeface="Arial"/>
                <a:ea typeface="Arial"/>
              </a:rPr>
              <a:t>&amp;</a:t>
            </a:r>
            <a:r>
              <a:rPr sz="1000" b="0" i="0">
                <a:solidFill>
                  <a:srgbClr val="58636E"/>
                </a:solidFill>
                <a:latin typeface="Arial"/>
                <a:ea typeface="Arial"/>
              </a:rPr>
              <a:t xml:space="preserve"> Konishi (1986), Fig. 9(A–C). Two-tone responses test convergence across frequency channels.</a:t>
            </a:r>
            <a:endParaRPr lang="en-US"/>
          </a:p>
        </p:txBody>
      </p:sp>
      <p:sp>
        <p:nvSpPr>
          <p:cNvPr id="373" name="Shape 373"/>
          <p:cNvSpPr/>
          <p:nvPr/>
        </p:nvSpPr>
        <p:spPr>
          <a:xfrm>
            <a:off x="566886" y="6382494"/>
            <a:ext cx="11058079" cy="9079"/>
          </a:xfrm>
          <a:prstGeom prst="rect">
            <a:avLst/>
          </a:prstGeom>
          <a:solidFill>
            <a:srgbClr val="C7D6E3"/>
          </a:solidFill>
        </p:spPr>
        <p:txBody>
          <a:bodyPr/>
          <a:lstStyle/>
          <a:p/>
        </p:txBody>
      </p:sp>
      <p:sp>
        <p:nvSpPr>
          <p:cNvPr id="374" name="Shape 37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Takahashi </a:t>
            </a:r>
            <a:r>
              <a:rPr sz="900" b="0" i="0">
                <a:solidFill>
                  <a:srgbClr val="58636E"/>
                </a:solidFill>
                <a:latin typeface="Arial"/>
                <a:ea typeface="Arial"/>
              </a:rPr>
              <a:t>&amp;</a:t>
            </a:r>
            <a:r>
              <a:rPr sz="900" b="0" i="0">
                <a:solidFill>
                  <a:srgbClr val="58636E"/>
                </a:solidFill>
                <a:latin typeface="Arial"/>
                <a:ea typeface="Arial"/>
              </a:rPr>
              <a:t xml:space="preserve"> Konishi (1986)</a:t>
            </a:r>
            <a:endParaRPr lang="en-US"/>
          </a:p>
        </p:txBody>
      </p:sp>
      <p:sp>
        <p:nvSpPr>
          <p:cNvPr id="375" name="Shape 37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76" name="Shape 37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Secondary peaks are reduced rather than universally absent</a:t>
            </a:r>
            <a:endParaRPr lang="en-US"/>
          </a:p>
        </p:txBody>
      </p:sp>
      <p:sp>
        <p:nvSpPr>
          <p:cNvPr id="377" name="Shape 377"/>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Takahashi and Konishi quantified the strongest secondary response relative to the principal response during broadband stimulation. The </a:t>
            </a:r>
            <a:r>
              <a:rPr sz="1700" b="1" i="0">
                <a:solidFill>
                  <a:srgbClr val="2B5577"/>
                </a:solidFill>
                <a:latin typeface="Arial"/>
                <a:ea typeface="Arial"/>
              </a:rPr>
              <a:t>secondary-to-primary peak ratio</a:t>
            </a:r>
            <a:r>
              <a:rPr sz="1700" b="0" i="0">
                <a:solidFill>
                  <a:srgbClr val="1F262D"/>
                </a:solidFill>
                <a:latin typeface="Arial"/>
                <a:ea typeface="Arial"/>
              </a:rPr>
              <a:t xml:space="preserve"> describes residual ambiguity, with a ratio near one indicating similarly strong competing peaks.</a:t>
            </a:r>
            <a:endParaRPr lang="en-US"/>
          </a:p>
        </p:txBody>
      </p:sp>
      <p:sp>
        <p:nvSpPr>
          <p:cNvPr id="378" name="Shape 378"/>
          <p:cNvSpPr/>
          <p:nvPr/>
        </p:nvSpPr>
        <p:spPr>
          <a:xfrm>
            <a:off x="566886" y="2727519"/>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published distribution spans approximately zero to one, with many neurons retaining a substantial but smaller secondary response. Broadband selectivity therefore varied across ICx cells rather than forming a perfectly uniform all-or-none solution.</a:t>
            </a:r>
            <a:endParaRPr lang="en-US"/>
          </a:p>
        </p:txBody>
      </p:sp>
      <p:sp>
        <p:nvSpPr>
          <p:cNvPr id="379" name="Shape 379"/>
          <p:cNvSpPr/>
          <p:nvPr/>
        </p:nvSpPr>
        <p:spPr>
          <a:xfrm>
            <a:off x="566886" y="4220658"/>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Population firing, inhibitory sharpening, and output thresholds can reduce the impact of residual peaks. A low peak ratio indicates improved single-cell selectivity, and the ratios across the population measure how much ambiguity each ICx cell retains.</a:t>
            </a:r>
            <a:endParaRPr lang="en-US"/>
          </a:p>
        </p:txBody>
      </p:sp>
      <p:pic>
        <p:nvPicPr>
          <p:cNvPr id="144" name="Presenton Native Image 28" descr=""/>
          <p:cNvPicPr/>
          <p:nvPr/>
        </p:nvPicPr>
        <p:blipFill>
          <a:blip r:embed="rId2" cstate="none"/>
          <a:stretch>
            <a:fillRect/>
          </a:stretch>
        </p:blipFill>
        <p:spPr>
          <a:xfrm>
            <a:off x="6870173" y="1280071"/>
            <a:ext cx="4754673" cy="3185220"/>
          </a:xfrm>
          <a:prstGeom prst="rect">
            <a:avLst/>
          </a:prstGeom>
        </p:spPr>
      </p:pic>
      <p:sp>
        <p:nvSpPr>
          <p:cNvPr id="380" name="Shape 380"/>
          <p:cNvSpPr/>
          <p:nvPr/>
        </p:nvSpPr>
        <p:spPr>
          <a:xfrm>
            <a:off x="6870055" y="455682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Takahashi </a:t>
            </a:r>
            <a:r>
              <a:rPr sz="1000" b="0" i="0">
                <a:solidFill>
                  <a:srgbClr val="58636E"/>
                </a:solidFill>
                <a:latin typeface="Arial"/>
                <a:ea typeface="Arial"/>
              </a:rPr>
              <a:t>&amp;</a:t>
            </a:r>
            <a:r>
              <a:rPr sz="1000" b="0" i="0">
                <a:solidFill>
                  <a:srgbClr val="58636E"/>
                </a:solidFill>
                <a:latin typeface="Arial"/>
                <a:ea typeface="Arial"/>
              </a:rPr>
              <a:t xml:space="preserve"> Konishi (1986), Fig. 6. Distribution of secondary-to-primary peak response ratios.</a:t>
            </a:r>
            <a:endParaRPr lang="en-US"/>
          </a:p>
        </p:txBody>
      </p:sp>
      <p:sp>
        <p:nvSpPr>
          <p:cNvPr id="381" name="Shape 381"/>
          <p:cNvSpPr/>
          <p:nvPr/>
        </p:nvSpPr>
        <p:spPr>
          <a:xfrm>
            <a:off x="566886" y="6382494"/>
            <a:ext cx="11058079" cy="9079"/>
          </a:xfrm>
          <a:prstGeom prst="rect">
            <a:avLst/>
          </a:prstGeom>
          <a:solidFill>
            <a:srgbClr val="C7D6E3"/>
          </a:solidFill>
        </p:spPr>
        <p:txBody>
          <a:bodyPr/>
          <a:lstStyle/>
          <a:p/>
        </p:txBody>
      </p:sp>
      <p:sp>
        <p:nvSpPr>
          <p:cNvPr id="382" name="Shape 38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Takahashi </a:t>
            </a:r>
            <a:r>
              <a:rPr sz="900" b="0" i="0">
                <a:solidFill>
                  <a:srgbClr val="58636E"/>
                </a:solidFill>
                <a:latin typeface="Arial"/>
                <a:ea typeface="Arial"/>
              </a:rPr>
              <a:t>&amp;</a:t>
            </a:r>
            <a:r>
              <a:rPr sz="900" b="0" i="0">
                <a:solidFill>
                  <a:srgbClr val="58636E"/>
                </a:solidFill>
                <a:latin typeface="Arial"/>
                <a:ea typeface="Arial"/>
              </a:rPr>
              <a:t xml:space="preserve"> Konishi (1986)</a:t>
            </a:r>
            <a:endParaRPr lang="en-US"/>
          </a:p>
        </p:txBody>
      </p:sp>
      <p:sp>
        <p:nvSpPr>
          <p:cNvPr id="383" name="Shape 38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84" name="Shape 38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VLVp combines excitation from one ear with inhibition</a:t>
            </a:r>
            <a:endParaRPr lang="en-US"/>
          </a:p>
        </p:txBody>
      </p:sp>
      <p:sp>
        <p:nvSpPr>
          <p:cNvPr id="385" name="Shape 385"/>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1" i="0">
                <a:solidFill>
                  <a:srgbClr val="2B5577"/>
                </a:solidFill>
                <a:latin typeface="Arial"/>
                <a:ea typeface="Arial"/>
              </a:rPr>
              <a:t>VLVp</a:t>
            </a:r>
            <a:r>
              <a:rPr sz="1700" b="0" i="0">
                <a:solidFill>
                  <a:srgbClr val="1F262D"/>
                </a:solidFill>
                <a:latin typeface="Arial"/>
                <a:ea typeface="Arial"/>
              </a:rPr>
              <a:t>, the posterior part of the ventral nucleus of the lateral lemniscus, is an early binaural station in the level pathway. Manley, Köppl, and Konishi recorded its responses while independently changing sound levels at the two ears.</a:t>
            </a:r>
            <a:endParaRPr lang="en-US"/>
          </a:p>
        </p:txBody>
      </p:sp>
      <p:sp>
        <p:nvSpPr>
          <p:cNvPr id="386" name="Shape 386"/>
          <p:cNvSpPr/>
          <p:nvPr/>
        </p:nvSpPr>
        <p:spPr>
          <a:xfrm>
            <a:off x="566886" y="2727519"/>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Contralateral stimulation excited VLVp cells; ipsilateral stimulation inhibited them. Dorsal, intermediate, and ventral sites differed in inhibitory strength. The published examples include a strongly inhibited dorsal cell at 7.9 kHz and an intermediate cell with approximately 60% inhibition at 8.6 kHz.</a:t>
            </a:r>
            <a:endParaRPr lang="en-US"/>
          </a:p>
        </p:txBody>
      </p:sp>
      <p:sp>
        <p:nvSpPr>
          <p:cNvPr id="387" name="Shape 387"/>
          <p:cNvSpPr/>
          <p:nvPr/>
        </p:nvSpPr>
        <p:spPr>
          <a:xfrm>
            <a:off x="566886" y="4488806"/>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Varying ILD while holding average binaural level constant separated interaural balance from overall loudness. These largely monotonic response functions supply a graded code for level disparity. Sharply peaked ILD tuning emerges at later collicular stages from these graded inputs.</a:t>
            </a:r>
            <a:endParaRPr lang="en-US"/>
          </a:p>
        </p:txBody>
      </p:sp>
      <p:pic>
        <p:nvPicPr>
          <p:cNvPr id="145" name="Presenton Native Image 29" descr=""/>
          <p:cNvPicPr/>
          <p:nvPr/>
        </p:nvPicPr>
        <p:blipFill>
          <a:blip r:embed="rId2" cstate="none"/>
          <a:stretch>
            <a:fillRect/>
          </a:stretch>
        </p:blipFill>
        <p:spPr>
          <a:xfrm>
            <a:off x="6870143" y="1280071"/>
            <a:ext cx="4754733" cy="1429494"/>
          </a:xfrm>
          <a:prstGeom prst="rect">
            <a:avLst/>
          </a:prstGeom>
        </p:spPr>
      </p:pic>
      <p:sp>
        <p:nvSpPr>
          <p:cNvPr id="388" name="Shape 388"/>
          <p:cNvSpPr/>
          <p:nvPr/>
        </p:nvSpPr>
        <p:spPr>
          <a:xfrm>
            <a:off x="6870055" y="280109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Manley et al. (1988), Fig. 3(A–C). Level-difference functions at dorsal, intermediate, and ventral sites.</a:t>
            </a:r>
            <a:endParaRPr lang="en-US"/>
          </a:p>
        </p:txBody>
      </p:sp>
      <p:sp>
        <p:nvSpPr>
          <p:cNvPr id="389" name="Shape 389"/>
          <p:cNvSpPr/>
          <p:nvPr/>
        </p:nvSpPr>
        <p:spPr>
          <a:xfrm>
            <a:off x="566886" y="6382494"/>
            <a:ext cx="11058079" cy="9079"/>
          </a:xfrm>
          <a:prstGeom prst="rect">
            <a:avLst/>
          </a:prstGeom>
          <a:solidFill>
            <a:srgbClr val="C7D6E3"/>
          </a:solidFill>
        </p:spPr>
        <p:txBody>
          <a:bodyPr/>
          <a:lstStyle/>
          <a:p/>
        </p:txBody>
      </p:sp>
      <p:sp>
        <p:nvSpPr>
          <p:cNvPr id="390" name="Shape 39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Manley et al. (1988)</a:t>
            </a:r>
            <a:endParaRPr lang="en-US"/>
          </a:p>
        </p:txBody>
      </p:sp>
      <p:sp>
        <p:nvSpPr>
          <p:cNvPr id="391" name="Shape 39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92" name="Shape 39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VLVp level thresholds are ordered dorsoventrally</a:t>
            </a:r>
            <a:endParaRPr lang="en-US"/>
          </a:p>
        </p:txBody>
      </p:sp>
      <p:sp>
        <p:nvSpPr>
          <p:cNvPr id="393" name="Shape 393"/>
          <p:cNvSpPr/>
          <p:nvPr/>
        </p:nvSpPr>
        <p:spPr>
          <a:xfrm>
            <a:off x="566886" y="12343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Manley and colleagues described a VLVp response by its </a:t>
            </a:r>
            <a:r>
              <a:rPr sz="1700" b="1" i="0">
                <a:solidFill>
                  <a:srgbClr val="2B5577"/>
                </a:solidFill>
                <a:latin typeface="Arial"/>
                <a:ea typeface="Arial"/>
              </a:rPr>
              <a:t>half-maximum point</a:t>
            </a:r>
            <a:r>
              <a:rPr sz="1700" b="0" i="0">
                <a:solidFill>
                  <a:srgbClr val="1F262D"/>
                </a:solidFill>
                <a:latin typeface="Arial"/>
                <a:ea typeface="Arial"/>
              </a:rPr>
              <a:t>, the ILD at which firing reaches half of the response maximum. Sequential recording sites within a penetration were compared to test for an anatomical order of this response criterion.</a:t>
            </a:r>
            <a:endParaRPr lang="en-US"/>
          </a:p>
        </p:txBody>
      </p:sp>
      <p:sp>
        <p:nvSpPr>
          <p:cNvPr id="394" name="Shape 394"/>
          <p:cNvSpPr/>
          <p:nvPr/>
        </p:nvSpPr>
        <p:spPr>
          <a:xfrm>
            <a:off x="566886" y="25297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Dorsal sites had more contralaterally biased half-maximum points; progressively ventral sites shifted toward ipsilateral values. Some cells changed their half-maximum point by 2 dB or less when average binaural level rose by 10 dB, providing a measure of level stability.</a:t>
            </a:r>
            <a:endParaRPr lang="en-US"/>
          </a:p>
        </p:txBody>
      </p:sp>
      <p:sp>
        <p:nvSpPr>
          <p:cNvPr id="395" name="Shape 395"/>
          <p:cNvSpPr/>
          <p:nvPr/>
        </p:nvSpPr>
        <p:spPr>
          <a:xfrm>
            <a:off x="566886" y="3825180"/>
            <a:ext cx="5956250" cy="1166068"/>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This is an ordered map of response thresholds along a binaural level axis. It differs from a spatial map of receptive-field centers. A half-maximum point can be well defined for a monotonic curve even when the neuron has no sharply bounded preferred ILD.</a:t>
            </a:r>
            <a:endParaRPr lang="en-US"/>
          </a:p>
        </p:txBody>
      </p:sp>
      <p:pic>
        <p:nvPicPr>
          <p:cNvPr id="146" name="Presenton Native Image 30" descr=""/>
          <p:cNvPicPr/>
          <p:nvPr/>
        </p:nvPicPr>
        <p:blipFill>
          <a:blip r:embed="rId2" cstate="none"/>
          <a:stretch>
            <a:fillRect/>
          </a:stretch>
        </p:blipFill>
        <p:spPr>
          <a:xfrm>
            <a:off x="6870125" y="1280071"/>
            <a:ext cx="4754769" cy="2299692"/>
          </a:xfrm>
          <a:prstGeom prst="rect">
            <a:avLst/>
          </a:prstGeom>
        </p:spPr>
      </p:pic>
      <p:sp>
        <p:nvSpPr>
          <p:cNvPr id="396" name="Shape 396"/>
          <p:cNvSpPr/>
          <p:nvPr/>
        </p:nvSpPr>
        <p:spPr>
          <a:xfrm>
            <a:off x="6870055" y="3671292"/>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Manley et al. (1988), Fig. 4(A–B). Dorsoventral ordering and level-stable half-maximum points.</a:t>
            </a:r>
            <a:endParaRPr lang="en-US"/>
          </a:p>
        </p:txBody>
      </p:sp>
      <p:sp>
        <p:nvSpPr>
          <p:cNvPr id="397" name="Shape 397"/>
          <p:cNvSpPr/>
          <p:nvPr/>
        </p:nvSpPr>
        <p:spPr>
          <a:xfrm>
            <a:off x="566886" y="6382494"/>
            <a:ext cx="11058079" cy="9079"/>
          </a:xfrm>
          <a:prstGeom prst="rect">
            <a:avLst/>
          </a:prstGeom>
          <a:solidFill>
            <a:srgbClr val="C7D6E3"/>
          </a:solidFill>
        </p:spPr>
        <p:txBody>
          <a:bodyPr/>
          <a:lstStyle/>
          <a:p/>
        </p:txBody>
      </p:sp>
      <p:sp>
        <p:nvSpPr>
          <p:cNvPr id="398" name="Shape 39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Manley et al. (1988)</a:t>
            </a:r>
            <a:endParaRPr lang="en-US"/>
          </a:p>
        </p:txBody>
      </p:sp>
      <p:sp>
        <p:nvSpPr>
          <p:cNvPr id="399" name="Shape 39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00" name="Shape 40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Excitatory and inhibitory thresholds shape level sensitivity</a:t>
            </a:r>
            <a:endParaRPr lang="en-US"/>
          </a:p>
        </p:txBody>
      </p:sp>
      <p:sp>
        <p:nvSpPr>
          <p:cNvPr id="401" name="Shape 401"/>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Manley and colleagues measured monaural excitatory and inhibitory thresholds in VLVp. Inhibition was assessed against an established discharge produced by contralateral stimulation, allowing reductions in spikes to be measured rather than requiring a cell to fire below zero.</a:t>
            </a:r>
            <a:endParaRPr lang="en-US"/>
          </a:p>
        </p:txBody>
      </p:sp>
      <p:sp>
        <p:nvSpPr>
          <p:cNvPr id="402" name="Shape 402"/>
          <p:cNvSpPr/>
          <p:nvPr/>
        </p:nvSpPr>
        <p:spPr>
          <a:xfrm>
            <a:off x="566886" y="2648652"/>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difference between excitatory and inhibitory thresholds covaried with the strength of inhibition. Threshold relationships and ILD half-maximum points changed along the dorsoventral recording sequence. The interaction, rather than one ear’s absolute sensitivity alone, shaped the binaural response.</a:t>
            </a:r>
            <a:endParaRPr lang="en-US"/>
          </a:p>
        </p:txBody>
      </p:sp>
      <p:sp>
        <p:nvSpPr>
          <p:cNvPr id="403" name="Shape 403"/>
          <p:cNvSpPr/>
          <p:nvPr/>
        </p:nvSpPr>
        <p:spPr>
          <a:xfrm>
            <a:off x="566886" y="4315298"/>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This physiology supports an excitation-inhibition comparison as the basis of level sensitivity. Later pharmacological experiments tested the contribution of GABAergic inhibition and the effects of manipulating the two VLVp populations independently.</a:t>
            </a:r>
            <a:endParaRPr lang="en-US"/>
          </a:p>
        </p:txBody>
      </p:sp>
      <p:pic>
        <p:nvPicPr>
          <p:cNvPr id="147" name="Presenton Native Image 31" descr=""/>
          <p:cNvPicPr/>
          <p:nvPr/>
        </p:nvPicPr>
        <p:blipFill>
          <a:blip r:embed="rId2" cstate="none"/>
          <a:stretch>
            <a:fillRect/>
          </a:stretch>
        </p:blipFill>
        <p:spPr>
          <a:xfrm>
            <a:off x="6870157" y="1280071"/>
            <a:ext cx="4754707" cy="2451646"/>
          </a:xfrm>
          <a:prstGeom prst="rect">
            <a:avLst/>
          </a:prstGeom>
        </p:spPr>
      </p:pic>
      <p:sp>
        <p:nvSpPr>
          <p:cNvPr id="404" name="Shape 404"/>
          <p:cNvSpPr/>
          <p:nvPr/>
        </p:nvSpPr>
        <p:spPr>
          <a:xfrm>
            <a:off x="6870055" y="3823246"/>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Manley et al. (1988), Fig. 6(A–B). Excitatory and inhibitory thresholds vary with position and inhibition.</a:t>
            </a:r>
            <a:endParaRPr lang="en-US"/>
          </a:p>
        </p:txBody>
      </p:sp>
      <p:sp>
        <p:nvSpPr>
          <p:cNvPr id="405" name="Shape 405"/>
          <p:cNvSpPr/>
          <p:nvPr/>
        </p:nvSpPr>
        <p:spPr>
          <a:xfrm>
            <a:off x="566886" y="6382494"/>
            <a:ext cx="11058079" cy="9079"/>
          </a:xfrm>
          <a:prstGeom prst="rect">
            <a:avLst/>
          </a:prstGeom>
          <a:solidFill>
            <a:srgbClr val="C7D6E3"/>
          </a:solidFill>
        </p:spPr>
        <p:txBody>
          <a:bodyPr/>
          <a:lstStyle/>
          <a:p/>
        </p:txBody>
      </p:sp>
      <p:sp>
        <p:nvSpPr>
          <p:cNvPr id="406" name="Shape 40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Manley et al. (1988)</a:t>
            </a:r>
            <a:endParaRPr lang="en-US"/>
          </a:p>
        </p:txBody>
      </p:sp>
      <p:sp>
        <p:nvSpPr>
          <p:cNvPr id="407" name="Shape 40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08" name="Shape 40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Both VLVp populations project to collicular level circuits</a:t>
            </a:r>
            <a:endParaRPr lang="en-US"/>
          </a:p>
        </p:txBody>
      </p:sp>
      <p:sp>
        <p:nvSpPr>
          <p:cNvPr id="409" name="Shape 409"/>
          <p:cNvSpPr/>
          <p:nvPr/>
        </p:nvSpPr>
        <p:spPr>
          <a:xfrm>
            <a:off x="566886" y="1234380"/>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Adolphs injected </a:t>
            </a:r>
            <a:r>
              <a:rPr sz="1600" b="1" i="0">
                <a:solidFill>
                  <a:srgbClr val="2B5577"/>
                </a:solidFill>
                <a:latin typeface="Arial"/>
                <a:ea typeface="Arial"/>
              </a:rPr>
              <a:t>PHA-L</a:t>
            </a:r>
            <a:r>
              <a:rPr sz="1600" b="0" i="0">
                <a:solidFill>
                  <a:srgbClr val="1F262D"/>
                </a:solidFill>
                <a:latin typeface="Arial"/>
                <a:ea typeface="Arial"/>
              </a:rPr>
              <a:t xml:space="preserve">, an anterograde tract tracer, into VLVp and examined labeled terminals in the inferior colliculus. </a:t>
            </a:r>
            <a:r>
              <a:rPr sz="1600" b="1" i="0">
                <a:solidFill>
                  <a:srgbClr val="2B5577"/>
                </a:solidFill>
                <a:latin typeface="Arial"/>
                <a:ea typeface="Arial"/>
              </a:rPr>
              <a:t>Anterograde tracing</a:t>
            </a:r>
            <a:r>
              <a:rPr sz="1600" b="0" i="0">
                <a:solidFill>
                  <a:srgbClr val="1F262D"/>
                </a:solidFill>
                <a:latin typeface="Arial"/>
                <a:ea typeface="Arial"/>
              </a:rPr>
              <a:t xml:space="preserve"> follows projections away from the injected neuronal population toward its targets.</a:t>
            </a:r>
            <a:endParaRPr lang="en-US"/>
          </a:p>
        </p:txBody>
      </p:sp>
      <p:sp>
        <p:nvSpPr>
          <p:cNvPr id="410" name="Shape 410"/>
          <p:cNvSpPr/>
          <p:nvPr/>
        </p:nvSpPr>
        <p:spPr>
          <a:xfrm>
            <a:off x="566886" y="2396278"/>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Label appeared in the lateral shell of ICC on both sides of the brain. The published tissue sections include the VLVp injection site and 500-µm scale bars. The injection was anatomically separated from the adjacent anterior subdivision, VLVa, in the illustrated preparation.</a:t>
            </a:r>
            <a:endParaRPr lang="en-US"/>
          </a:p>
        </p:txBody>
      </p:sp>
      <p:sp>
        <p:nvSpPr>
          <p:cNvPr id="411" name="Shape 411"/>
          <p:cNvSpPr/>
          <p:nvPr/>
        </p:nvSpPr>
        <p:spPr>
          <a:xfrm>
            <a:off x="566886" y="381055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Bilateral connectivity gives the colliculus access to two differently biased level signals. Functional manipulations and receptor-sensitive interventions establish the signs and consequences of the connections that the tracer labeling reveals.</a:t>
            </a:r>
            <a:endParaRPr lang="en-US"/>
          </a:p>
        </p:txBody>
      </p:sp>
      <p:pic>
        <p:nvPicPr>
          <p:cNvPr id="148" name="Presenton Native Image 32" descr=""/>
          <p:cNvPicPr/>
          <p:nvPr/>
        </p:nvPicPr>
        <p:blipFill>
          <a:blip r:embed="rId2" cstate="none"/>
          <a:stretch>
            <a:fillRect/>
          </a:stretch>
        </p:blipFill>
        <p:spPr>
          <a:xfrm>
            <a:off x="8308925" y="1280135"/>
            <a:ext cx="1876871" cy="4297432"/>
          </a:xfrm>
          <a:prstGeom prst="rect">
            <a:avLst/>
          </a:prstGeom>
        </p:spPr>
      </p:pic>
      <p:sp>
        <p:nvSpPr>
          <p:cNvPr id="412" name="Shape 41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Adolphs (1993), Fig. 2(A–C). Tracer labeling of bilateral collicular projections and the VLVp injection site.</a:t>
            </a:r>
            <a:endParaRPr lang="en-US"/>
          </a:p>
        </p:txBody>
      </p:sp>
      <p:sp>
        <p:nvSpPr>
          <p:cNvPr id="413" name="Shape 413"/>
          <p:cNvSpPr/>
          <p:nvPr/>
        </p:nvSpPr>
        <p:spPr>
          <a:xfrm>
            <a:off x="566886" y="6382494"/>
            <a:ext cx="11058079" cy="9079"/>
          </a:xfrm>
          <a:prstGeom prst="rect">
            <a:avLst/>
          </a:prstGeom>
          <a:solidFill>
            <a:srgbClr val="C7D6E3"/>
          </a:solidFill>
        </p:spPr>
        <p:txBody>
          <a:bodyPr/>
          <a:lstStyle/>
          <a:p/>
        </p:txBody>
      </p:sp>
      <p:sp>
        <p:nvSpPr>
          <p:cNvPr id="414" name="Shape 41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Adolphs (1993)</a:t>
            </a:r>
            <a:endParaRPr lang="en-US"/>
          </a:p>
        </p:txBody>
      </p:sp>
      <p:sp>
        <p:nvSpPr>
          <p:cNvPr id="415" name="Shape 41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16" name="Shape 41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Increasing VLVp activity can suppress collicular responses</a:t>
            </a:r>
            <a:endParaRPr lang="en-US"/>
          </a:p>
        </p:txBody>
      </p:sp>
      <p:sp>
        <p:nvSpPr>
          <p:cNvPr id="417" name="Shape 417"/>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Adolphs manipulated VLVp while recording an ICC lateral-shell neuron. </a:t>
            </a:r>
            <a:r>
              <a:rPr sz="1600" b="1" i="0">
                <a:solidFill>
                  <a:srgbClr val="2B5577"/>
                </a:solidFill>
                <a:latin typeface="Arial"/>
                <a:ea typeface="Arial"/>
              </a:rPr>
              <a:t>GABA</a:t>
            </a:r>
            <a:r>
              <a:rPr sz="1600" b="0" i="0">
                <a:solidFill>
                  <a:srgbClr val="1F262D"/>
                </a:solidFill>
                <a:latin typeface="Arial"/>
                <a:ea typeface="Arial"/>
              </a:rPr>
              <a:t xml:space="preserve">, gamma-aminobutyric acid, is an inhibitory transmitter; </a:t>
            </a:r>
            <a:r>
              <a:rPr sz="1600" b="1" i="0">
                <a:solidFill>
                  <a:srgbClr val="2B5577"/>
                </a:solidFill>
                <a:latin typeface="Arial"/>
                <a:ea typeface="Arial"/>
              </a:rPr>
              <a:t>bicuculline methiodide</a:t>
            </a:r>
            <a:r>
              <a:rPr sz="1600" b="0" i="0">
                <a:solidFill>
                  <a:srgbClr val="1F262D"/>
                </a:solidFill>
                <a:latin typeface="Arial"/>
                <a:ea typeface="Arial"/>
              </a:rPr>
              <a:t>, or BMI, blocks GABA-A receptors. Blocking inhibition within VLVp can increase the activity sent to its targets.</a:t>
            </a:r>
            <a:endParaRPr lang="en-US"/>
          </a:p>
        </p:txBody>
      </p:sp>
      <p:sp>
        <p:nvSpPr>
          <p:cNvPr id="418" name="Shape 418"/>
          <p:cNvSpPr/>
          <p:nvPr/>
        </p:nvSpPr>
        <p:spPr>
          <a:xfrm>
            <a:off x="566886" y="2648652"/>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In the published experiment, a 0.5-µL BMI injection into contralateral VLVp nearly eliminated the lateral-shell response. Responses were measured before injection, 2 and 7 minutes afterward, and during recovery. The response returned toward its original ILD dependence by about 60 minutes.</a:t>
            </a:r>
            <a:endParaRPr lang="en-US"/>
          </a:p>
        </p:txBody>
      </p:sp>
      <p:sp>
        <p:nvSpPr>
          <p:cNvPr id="419" name="Shape 419"/>
          <p:cNvSpPr/>
          <p:nvPr/>
        </p:nvSpPr>
        <p:spPr>
          <a:xfrm>
            <a:off x="566886" y="4315298"/>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remote reduction supports an inhibitory influence from that VLVp population onto the collicular circuit. Blocking an inhibitory receptor upstream can decrease downstream firing by disinhibiting an inhibitory projection. Recovery of the original ILD dependence indicates a reversible, local manipulation of the VLVp population.</a:t>
            </a:r>
            <a:endParaRPr lang="en-US"/>
          </a:p>
        </p:txBody>
      </p:sp>
      <p:pic>
        <p:nvPicPr>
          <p:cNvPr id="149" name="Presenton Native Image 33" descr=""/>
          <p:cNvPicPr/>
          <p:nvPr/>
        </p:nvPicPr>
        <p:blipFill>
          <a:blip r:embed="rId2" cstate="none"/>
          <a:stretch>
            <a:fillRect/>
          </a:stretch>
        </p:blipFill>
        <p:spPr>
          <a:xfrm>
            <a:off x="6870099" y="1280071"/>
            <a:ext cx="4754821" cy="4228505"/>
          </a:xfrm>
          <a:prstGeom prst="rect">
            <a:avLst/>
          </a:prstGeom>
        </p:spPr>
      </p:pic>
      <p:sp>
        <p:nvSpPr>
          <p:cNvPr id="420" name="Shape 420"/>
          <p:cNvSpPr/>
          <p:nvPr/>
        </p:nvSpPr>
        <p:spPr>
          <a:xfrm>
            <a:off x="6870055" y="5600105"/>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Adolphs (1993), Fig. 11(A–D). Increasing contralateral VLVp activity suppresses lateral-shell responses.</a:t>
            </a:r>
            <a:endParaRPr lang="en-US"/>
          </a:p>
        </p:txBody>
      </p:sp>
      <p:sp>
        <p:nvSpPr>
          <p:cNvPr id="421" name="Shape 421"/>
          <p:cNvSpPr/>
          <p:nvPr/>
        </p:nvSpPr>
        <p:spPr>
          <a:xfrm>
            <a:off x="566886" y="6382494"/>
            <a:ext cx="11058079" cy="9079"/>
          </a:xfrm>
          <a:prstGeom prst="rect">
            <a:avLst/>
          </a:prstGeom>
          <a:solidFill>
            <a:srgbClr val="C7D6E3"/>
          </a:solidFill>
        </p:spPr>
        <p:txBody>
          <a:bodyPr/>
          <a:lstStyle/>
          <a:p/>
        </p:txBody>
      </p:sp>
      <p:sp>
        <p:nvSpPr>
          <p:cNvPr id="422" name="Shape 42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Adolphs (1993)</a:t>
            </a:r>
            <a:endParaRPr lang="en-US"/>
          </a:p>
        </p:txBody>
      </p:sp>
      <p:sp>
        <p:nvSpPr>
          <p:cNvPr id="423" name="Shape 42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24" name="Shape 42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Reversible VLVp inactivation selectively changes ILD tuning</a:t>
            </a:r>
            <a:endParaRPr lang="en-US"/>
          </a:p>
        </p:txBody>
      </p:sp>
      <p:sp>
        <p:nvSpPr>
          <p:cNvPr id="425" name="Shape 425"/>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Adolphs injected lidocaine into one VLVp and recorded a neuron in contralateral ICx. The earphone stimulus remained controlled while ILD and ITD response curves were tested separately, providing a comparison of level and timing effects in the same downstream cell.</a:t>
            </a:r>
            <a:endParaRPr lang="en-US"/>
          </a:p>
        </p:txBody>
      </p:sp>
      <p:sp>
        <p:nvSpPr>
          <p:cNvPr id="426" name="Shape 426"/>
          <p:cNvSpPr/>
          <p:nvPr/>
        </p:nvSpPr>
        <p:spPr>
          <a:xfrm>
            <a:off x="566886" y="2727519"/>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At approximately 7 minutes after injection, responses at large ipsilateral ILDs increased and the ILD peak shifted. The original response recovered by about 25 minutes. The neuron’s ITD curve remained nearly unchanged during the same manipulation.</a:t>
            </a:r>
            <a:endParaRPr lang="en-US"/>
          </a:p>
        </p:txBody>
      </p:sp>
      <p:sp>
        <p:nvSpPr>
          <p:cNvPr id="427" name="Shape 427"/>
          <p:cNvSpPr/>
          <p:nvPr/>
        </p:nvSpPr>
        <p:spPr>
          <a:xfrm>
            <a:off x="566886" y="4220658"/>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result supports an inhibitory level signal that normally limits responses on one side of the ILD range. Removing that signal broadens or shifts level tuning while sparing the timing preference. The unchanged ITD tuning during the same manipulation indicates that the effect is specific to level processing.</a:t>
            </a:r>
            <a:endParaRPr lang="en-US"/>
          </a:p>
        </p:txBody>
      </p:sp>
      <p:pic>
        <p:nvPicPr>
          <p:cNvPr id="150" name="Presenton Native Image 34" descr=""/>
          <p:cNvPicPr/>
          <p:nvPr/>
        </p:nvPicPr>
        <p:blipFill>
          <a:blip r:embed="rId2" cstate="none"/>
          <a:stretch>
            <a:fillRect/>
          </a:stretch>
        </p:blipFill>
        <p:spPr>
          <a:xfrm>
            <a:off x="6956476" y="1280071"/>
            <a:ext cx="4582068" cy="4297561"/>
          </a:xfrm>
          <a:prstGeom prst="rect">
            <a:avLst/>
          </a:prstGeom>
        </p:spPr>
      </p:pic>
      <p:sp>
        <p:nvSpPr>
          <p:cNvPr id="428" name="Shape 42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Adolphs (1993), Fig. 12. Reversible VLVp inactivation alters ILD tuning while sparing ITD tuning.</a:t>
            </a:r>
            <a:endParaRPr lang="en-US"/>
          </a:p>
        </p:txBody>
      </p:sp>
      <p:sp>
        <p:nvSpPr>
          <p:cNvPr id="429" name="Shape 429"/>
          <p:cNvSpPr/>
          <p:nvPr/>
        </p:nvSpPr>
        <p:spPr>
          <a:xfrm>
            <a:off x="566886" y="6382494"/>
            <a:ext cx="11058079" cy="9079"/>
          </a:xfrm>
          <a:prstGeom prst="rect">
            <a:avLst/>
          </a:prstGeom>
          <a:solidFill>
            <a:srgbClr val="C7D6E3"/>
          </a:solidFill>
        </p:spPr>
        <p:txBody>
          <a:bodyPr/>
          <a:lstStyle/>
          <a:p/>
        </p:txBody>
      </p:sp>
      <p:sp>
        <p:nvSpPr>
          <p:cNvPr id="430" name="Shape 43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Adolphs (1993)</a:t>
            </a:r>
            <a:endParaRPr lang="en-US"/>
          </a:p>
        </p:txBody>
      </p:sp>
      <p:sp>
        <p:nvSpPr>
          <p:cNvPr id="431" name="Shape 43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32" name="Shape 43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Opposing inhibitory influences can create a level peak</a:t>
            </a:r>
            <a:endParaRPr lang="en-US"/>
          </a:p>
        </p:txBody>
      </p:sp>
      <p:sp>
        <p:nvSpPr>
          <p:cNvPr id="433" name="Shape 433"/>
          <p:cNvSpPr/>
          <p:nvPr/>
        </p:nvSpPr>
        <p:spPr>
          <a:xfrm>
            <a:off x="566886" y="1234380"/>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 sharply peaked ILD curve requires reduced firing on both sides of its preferred range. Adolphs tested whether the two VLVp populations supply opposing inhibitory influences by increasing activity in one population with local BMI injection.</a:t>
            </a:r>
            <a:endParaRPr lang="en-US"/>
          </a:p>
        </p:txBody>
      </p:sp>
      <p:sp>
        <p:nvSpPr>
          <p:cNvPr id="434" name="Shape 434"/>
          <p:cNvSpPr/>
          <p:nvPr/>
        </p:nvSpPr>
        <p:spPr>
          <a:xfrm>
            <a:off x="566886" y="2396278"/>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At about 3 minutes, ICx responses decreased at large ipsilateral ILDs, opposite to the effect of inactivating that VLVp. The ILD response recovered toward its baseline over approximately 50 minutes. The ITD response measured during the experiment remained stable.</a:t>
            </a:r>
            <a:endParaRPr lang="en-US"/>
          </a:p>
        </p:txBody>
      </p:sp>
      <p:sp>
        <p:nvSpPr>
          <p:cNvPr id="435" name="Shape 435"/>
          <p:cNvSpPr/>
          <p:nvPr/>
        </p:nvSpPr>
        <p:spPr>
          <a:xfrm>
            <a:off x="566886" y="3810550"/>
            <a:ext cx="5956250" cy="1766621"/>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Combined anatomical and manipulation evidence supports bilateral inhibition as a mechanism for peaked collicular level tuning. The circuit transforms two graded, differently biased inputs into a restricted response range. Inactivating one VLVp and increasing the activity of the same population produced opposite changes at large ipsilateral ILDs, which fits opposing inhibitory influences from the two populations.</a:t>
            </a:r>
            <a:endParaRPr lang="en-US"/>
          </a:p>
        </p:txBody>
      </p:sp>
      <p:pic>
        <p:nvPicPr>
          <p:cNvPr id="151" name="Presenton Native Image 35" descr=""/>
          <p:cNvPicPr/>
          <p:nvPr/>
        </p:nvPicPr>
        <p:blipFill>
          <a:blip r:embed="rId2" cstate="none"/>
          <a:stretch>
            <a:fillRect/>
          </a:stretch>
        </p:blipFill>
        <p:spPr>
          <a:xfrm>
            <a:off x="6959134" y="1280071"/>
            <a:ext cx="4576753" cy="4297561"/>
          </a:xfrm>
          <a:prstGeom prst="rect">
            <a:avLst/>
          </a:prstGeom>
        </p:spPr>
      </p:pic>
      <p:sp>
        <p:nvSpPr>
          <p:cNvPr id="436" name="Shape 43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Adolphs (1993), Fig. 14. VLVp disinhibition changes ILD selectivity and preserves ITD responses.</a:t>
            </a:r>
            <a:endParaRPr lang="en-US"/>
          </a:p>
        </p:txBody>
      </p:sp>
      <p:sp>
        <p:nvSpPr>
          <p:cNvPr id="437" name="Shape 437"/>
          <p:cNvSpPr/>
          <p:nvPr/>
        </p:nvSpPr>
        <p:spPr>
          <a:xfrm>
            <a:off x="566886" y="6382494"/>
            <a:ext cx="11058079" cy="9079"/>
          </a:xfrm>
          <a:prstGeom prst="rect">
            <a:avLst/>
          </a:prstGeom>
          <a:solidFill>
            <a:srgbClr val="C7D6E3"/>
          </a:solidFill>
        </p:spPr>
        <p:txBody>
          <a:bodyPr/>
          <a:lstStyle/>
          <a:p/>
        </p:txBody>
      </p:sp>
      <p:sp>
        <p:nvSpPr>
          <p:cNvPr id="438" name="Shape 43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Adolphs (1993)</a:t>
            </a:r>
            <a:endParaRPr lang="en-US"/>
          </a:p>
        </p:txBody>
      </p:sp>
      <p:sp>
        <p:nvSpPr>
          <p:cNvPr id="439" name="Shape 43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40" name="Shape 44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An ILD spectrum contributes to the vertical receptive field</a:t>
            </a:r>
            <a:endParaRPr lang="en-US"/>
          </a:p>
        </p:txBody>
      </p:sp>
      <p:sp>
        <p:nvSpPr>
          <p:cNvPr id="441" name="Shape 441"/>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An </a:t>
            </a:r>
            <a:r>
              <a:rPr sz="1600" b="1" i="0">
                <a:solidFill>
                  <a:srgbClr val="2B5577"/>
                </a:solidFill>
                <a:latin typeface="Arial"/>
                <a:ea typeface="Arial"/>
              </a:rPr>
              <a:t>ILD spectrum</a:t>
            </a:r>
            <a:r>
              <a:rPr sz="1600" b="0" i="0">
                <a:solidFill>
                  <a:srgbClr val="1F262D"/>
                </a:solidFill>
                <a:latin typeface="Arial"/>
                <a:ea typeface="Arial"/>
              </a:rPr>
              <a:t xml:space="preserve"> is the set of level differences across acoustic frequencies at one sound direction. Euston and Takahashi measured head-related transfer functions and used them to deliver virtual sources through earphones, preserving frequency-dependent acoustic filtering.</a:t>
            </a:r>
            <a:endParaRPr lang="en-US"/>
          </a:p>
        </p:txBody>
      </p:sp>
      <p:sp>
        <p:nvSpPr>
          <p:cNvPr id="442" name="Shape 442"/>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For 100-ms stimuli, they compared normal receptive fields with </a:t>
            </a:r>
            <a:r>
              <a:rPr sz="1600" b="1" i="0">
                <a:solidFill>
                  <a:srgbClr val="2B5577"/>
                </a:solidFill>
                <a:latin typeface="Arial"/>
                <a:ea typeface="Arial"/>
              </a:rPr>
              <a:t>ILD-alone fields</a:t>
            </a:r>
            <a:r>
              <a:rPr sz="1600" b="0" i="0">
                <a:solidFill>
                  <a:srgbClr val="1F262D"/>
                </a:solidFill>
                <a:latin typeface="Arial"/>
                <a:ea typeface="Arial"/>
              </a:rPr>
              <a:t>, in which ITD was fixed at the neuron’s preferred value while natural ILD spectra varied with location. ILD-alone responses typically formed a horizontal band containing the normal receptive field.</a:t>
            </a:r>
            <a:endParaRPr lang="en-US"/>
          </a:p>
        </p:txBody>
      </p:sp>
      <p:sp>
        <p:nvSpPr>
          <p:cNvPr id="443" name="Shape 443"/>
          <p:cNvSpPr/>
          <p:nvPr/>
        </p:nvSpPr>
        <p:spPr>
          <a:xfrm>
            <a:off x="566886" y="4062924"/>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An ILD spectrum therefore supplies substantial vertical selectivity, while timing information restricts the horizontal region. The two conditions often had different response maxima. The normal preferred direction therefore reflects the combination of timing and level information and is not found by selecting the largest ILD-alone response.</a:t>
            </a:r>
            <a:endParaRPr lang="en-US"/>
          </a:p>
        </p:txBody>
      </p:sp>
      <p:pic>
        <p:nvPicPr>
          <p:cNvPr id="152" name="Presenton Native Image 36" descr=""/>
          <p:cNvPicPr/>
          <p:nvPr/>
        </p:nvPicPr>
        <p:blipFill>
          <a:blip r:embed="rId2" cstate="none"/>
          <a:stretch>
            <a:fillRect/>
          </a:stretch>
        </p:blipFill>
        <p:spPr>
          <a:xfrm>
            <a:off x="6870185" y="1280071"/>
            <a:ext cx="4754650" cy="2448371"/>
          </a:xfrm>
          <a:prstGeom prst="rect">
            <a:avLst/>
          </a:prstGeom>
        </p:spPr>
      </p:pic>
      <p:sp>
        <p:nvSpPr>
          <p:cNvPr id="444" name="Shape 444"/>
          <p:cNvSpPr/>
          <p:nvPr/>
        </p:nvSpPr>
        <p:spPr>
          <a:xfrm>
            <a:off x="6870055" y="381997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Euston </a:t>
            </a:r>
            <a:r>
              <a:rPr sz="1000" b="0" i="0">
                <a:solidFill>
                  <a:srgbClr val="58636E"/>
                </a:solidFill>
                <a:latin typeface="Arial"/>
                <a:ea typeface="Arial"/>
              </a:rPr>
              <a:t>&amp;</a:t>
            </a:r>
            <a:r>
              <a:rPr sz="1000" b="0" i="0">
                <a:solidFill>
                  <a:srgbClr val="58636E"/>
                </a:solidFill>
                <a:latin typeface="Arial"/>
                <a:ea typeface="Arial"/>
              </a:rPr>
              <a:t xml:space="preserve"> Takahashi (2002), Fig. 3(A, columns 1–2). Normal and ILD-alone receptive fields of the same neuron.</a:t>
            </a:r>
            <a:endParaRPr lang="en-US"/>
          </a:p>
        </p:txBody>
      </p:sp>
      <p:sp>
        <p:nvSpPr>
          <p:cNvPr id="445" name="Shape 445"/>
          <p:cNvSpPr/>
          <p:nvPr/>
        </p:nvSpPr>
        <p:spPr>
          <a:xfrm>
            <a:off x="566886" y="6382494"/>
            <a:ext cx="11058079" cy="9079"/>
          </a:xfrm>
          <a:prstGeom prst="rect">
            <a:avLst/>
          </a:prstGeom>
          <a:solidFill>
            <a:srgbClr val="C7D6E3"/>
          </a:solidFill>
        </p:spPr>
        <p:txBody>
          <a:bodyPr/>
          <a:lstStyle/>
          <a:p/>
        </p:txBody>
      </p:sp>
      <p:sp>
        <p:nvSpPr>
          <p:cNvPr id="446" name="Shape 44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Euston </a:t>
            </a:r>
            <a:r>
              <a:rPr sz="900" b="0" i="0">
                <a:solidFill>
                  <a:srgbClr val="58636E"/>
                </a:solidFill>
                <a:latin typeface="Arial"/>
                <a:ea typeface="Arial"/>
              </a:rPr>
              <a:t>&amp;</a:t>
            </a:r>
            <a:r>
              <a:rPr sz="900" b="0" i="0">
                <a:solidFill>
                  <a:srgbClr val="58636E"/>
                </a:solidFill>
                <a:latin typeface="Arial"/>
                <a:ea typeface="Arial"/>
              </a:rPr>
              <a:t xml:space="preserve"> Takahashi (2002)</a:t>
            </a:r>
            <a:endParaRPr lang="en-US"/>
          </a:p>
        </p:txBody>
      </p:sp>
      <p:sp>
        <p:nvSpPr>
          <p:cNvPr id="447" name="Shape 44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48" name="Shape 44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Normal spatial tuning need not maximize each ILD</a:t>
            </a:r>
            <a:endParaRPr lang="en-US"/>
          </a:p>
        </p:txBody>
      </p:sp>
      <p:sp>
        <p:nvSpPr>
          <p:cNvPr id="449" name="Shape 449"/>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Euston and Takahashi measured pure-tone ILD tuning across frequency and compared preferred ILDs with the values occurring at the peaks of normal and ILD-alone receptive fields. They examined bands spanning 3–5, 5–7, and 7–9 kHz.</a:t>
            </a:r>
            <a:endParaRPr lang="en-US"/>
          </a:p>
        </p:txBody>
      </p:sp>
      <p:sp>
        <p:nvSpPr>
          <p:cNvPr id="450" name="Shape 450"/>
          <p:cNvSpPr/>
          <p:nvPr/>
        </p:nvSpPr>
        <p:spPr>
          <a:xfrm>
            <a:off x="566886" y="2727519"/>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Frequency-specific preferences matched the ILDs at the ILD-alone peak more closely than those at the normal receptive-field peak. A sum of frequency-specific inputs accounted for approximately 56% of the variance in measured ILD-alone fields, leaving substantial unexplained structure.</a:t>
            </a:r>
            <a:endParaRPr lang="en-US"/>
          </a:p>
        </p:txBody>
      </p:sp>
      <p:sp>
        <p:nvSpPr>
          <p:cNvPr id="451" name="Shape 451"/>
          <p:cNvSpPr/>
          <p:nvPr/>
        </p:nvSpPr>
        <p:spPr>
          <a:xfrm>
            <a:off x="566886" y="4488806"/>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The normal receptive field reflects a balance of inputs rather than independent maximization of every frequency-specific channel. A sum of frequency-specific ILD preferences predicted much of the ILD-alone field, which supports a contribution from spectral integration.</a:t>
            </a:r>
            <a:endParaRPr lang="en-US"/>
          </a:p>
        </p:txBody>
      </p:sp>
      <p:pic>
        <p:nvPicPr>
          <p:cNvPr id="153" name="Presenton Native Image 37" descr=""/>
          <p:cNvPicPr/>
          <p:nvPr/>
        </p:nvPicPr>
        <p:blipFill>
          <a:blip r:embed="rId2" cstate="none"/>
          <a:stretch>
            <a:fillRect/>
          </a:stretch>
        </p:blipFill>
        <p:spPr>
          <a:xfrm>
            <a:off x="7894933" y="1280071"/>
            <a:ext cx="2705004" cy="4297561"/>
          </a:xfrm>
          <a:prstGeom prst="rect">
            <a:avLst/>
          </a:prstGeom>
        </p:spPr>
      </p:pic>
      <p:sp>
        <p:nvSpPr>
          <p:cNvPr id="452" name="Shape 45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Euston </a:t>
            </a:r>
            <a:r>
              <a:rPr sz="1000" b="0" i="0">
                <a:solidFill>
                  <a:srgbClr val="58636E"/>
                </a:solidFill>
                <a:latin typeface="Arial"/>
                <a:ea typeface="Arial"/>
              </a:rPr>
              <a:t>&amp;</a:t>
            </a:r>
            <a:r>
              <a:rPr sz="1000" b="0" i="0">
                <a:solidFill>
                  <a:srgbClr val="58636E"/>
                </a:solidFill>
                <a:latin typeface="Arial"/>
                <a:ea typeface="Arial"/>
              </a:rPr>
              <a:t xml:space="preserve"> Takahashi (2002), Fig. 7(A–B). Preferred frequency-specific ILDs compared with ILDs at receptive-field peaks.</a:t>
            </a:r>
            <a:endParaRPr lang="en-US"/>
          </a:p>
        </p:txBody>
      </p:sp>
      <p:sp>
        <p:nvSpPr>
          <p:cNvPr id="453" name="Shape 453"/>
          <p:cNvSpPr/>
          <p:nvPr/>
        </p:nvSpPr>
        <p:spPr>
          <a:xfrm>
            <a:off x="566886" y="6382494"/>
            <a:ext cx="11058079" cy="9079"/>
          </a:xfrm>
          <a:prstGeom prst="rect">
            <a:avLst/>
          </a:prstGeom>
          <a:solidFill>
            <a:srgbClr val="C7D6E3"/>
          </a:solidFill>
        </p:spPr>
        <p:txBody>
          <a:bodyPr/>
          <a:lstStyle/>
          <a:p/>
        </p:txBody>
      </p:sp>
      <p:sp>
        <p:nvSpPr>
          <p:cNvPr id="454" name="Shape 4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Euston </a:t>
            </a:r>
            <a:r>
              <a:rPr sz="900" b="0" i="0">
                <a:solidFill>
                  <a:srgbClr val="58636E"/>
                </a:solidFill>
                <a:latin typeface="Arial"/>
                <a:ea typeface="Arial"/>
              </a:rPr>
              <a:t>&amp;</a:t>
            </a:r>
            <a:r>
              <a:rPr sz="900" b="0" i="0">
                <a:solidFill>
                  <a:srgbClr val="58636E"/>
                </a:solidFill>
                <a:latin typeface="Arial"/>
                <a:ea typeface="Arial"/>
              </a:rPr>
              <a:t xml:space="preserve"> Takahashi (2002)</a:t>
            </a:r>
            <a:endParaRPr lang="en-US"/>
          </a:p>
        </p:txBody>
      </p:sp>
      <p:sp>
        <p:nvSpPr>
          <p:cNvPr id="455" name="Shape 45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56" name="Shape 45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ICx membranes integrate timing and level before spikes</a:t>
            </a:r>
            <a:endParaRPr lang="en-US"/>
          </a:p>
        </p:txBody>
      </p:sp>
      <p:sp>
        <p:nvSpPr>
          <p:cNvPr id="457" name="Shape 457"/>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Peña and Konishi recorded identified ICx neurons intracellularly and labeled them with neurobiotin. A </a:t>
            </a:r>
            <a:r>
              <a:rPr sz="1600" b="1" i="0">
                <a:solidFill>
                  <a:srgbClr val="2B5577"/>
                </a:solidFill>
                <a:latin typeface="Arial"/>
                <a:ea typeface="Arial"/>
              </a:rPr>
              <a:t>postsynaptic potential</a:t>
            </a:r>
            <a:r>
              <a:rPr sz="1600" b="0" i="0">
                <a:solidFill>
                  <a:srgbClr val="1F262D"/>
                </a:solidFill>
                <a:latin typeface="Arial"/>
                <a:ea typeface="Arial"/>
              </a:rPr>
              <a:t xml:space="preserve"> is a membrane-voltage change caused by synaptic input; it can depolarize toward spike threshold or hyperpolarize away from it.</a:t>
            </a:r>
            <a:endParaRPr lang="en-US"/>
          </a:p>
        </p:txBody>
      </p:sp>
      <p:sp>
        <p:nvSpPr>
          <p:cNvPr id="458" name="Shape 458"/>
          <p:cNvSpPr/>
          <p:nvPr/>
        </p:nvSpPr>
        <p:spPr>
          <a:xfrm>
            <a:off x="566886" y="2648652"/>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Broadband noise bursts lasted 100 ms and were presented 30 dB above threshold. Testing ITD-ILD pairs produced depolarizing responses near a preferred combination and hyperpolarizing responses outside it. Spike output formed a more restricted excitatory center surrounded by reduced firing.</a:t>
            </a:r>
            <a:endParaRPr lang="en-US"/>
          </a:p>
        </p:txBody>
      </p:sp>
      <p:sp>
        <p:nvSpPr>
          <p:cNvPr id="459" name="Shape 459"/>
          <p:cNvSpPr/>
          <p:nvPr/>
        </p:nvSpPr>
        <p:spPr>
          <a:xfrm>
            <a:off x="566886" y="4315298"/>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intracellular measurement distinguishes input integration from the thresholded spike response. Depolarization at an unfavorable cue pair need not produce spikes. Hyperpolarizing responses outside the preferred combination reflect inhibition, so the membrane voltage carries both excitatory and inhibitory influences before thresholding.</a:t>
            </a:r>
            <a:endParaRPr lang="en-US"/>
          </a:p>
        </p:txBody>
      </p:sp>
      <p:pic>
        <p:nvPicPr>
          <p:cNvPr id="154" name="Presenton Native Image 38" descr=""/>
          <p:cNvPicPr/>
          <p:nvPr/>
        </p:nvPicPr>
        <p:blipFill>
          <a:blip r:embed="rId2" cstate="none"/>
          <a:stretch>
            <a:fillRect/>
          </a:stretch>
        </p:blipFill>
        <p:spPr>
          <a:xfrm>
            <a:off x="7045025" y="1280071"/>
            <a:ext cx="4404821" cy="4297561"/>
          </a:xfrm>
          <a:prstGeom prst="rect">
            <a:avLst/>
          </a:prstGeom>
        </p:spPr>
      </p:pic>
      <p:sp>
        <p:nvSpPr>
          <p:cNvPr id="460" name="Shape 46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(2001), Fig. 1(A–D). Identified ICx neuron, intracellular potentials, and spatially selective spikes.</a:t>
            </a:r>
            <a:endParaRPr lang="en-US"/>
          </a:p>
        </p:txBody>
      </p:sp>
      <p:sp>
        <p:nvSpPr>
          <p:cNvPr id="461" name="Shape 461"/>
          <p:cNvSpPr/>
          <p:nvPr/>
        </p:nvSpPr>
        <p:spPr>
          <a:xfrm>
            <a:off x="566886" y="6382494"/>
            <a:ext cx="11058079" cy="9079"/>
          </a:xfrm>
          <a:prstGeom prst="rect">
            <a:avLst/>
          </a:prstGeom>
          <a:solidFill>
            <a:srgbClr val="C7D6E3"/>
          </a:solidFill>
        </p:spPr>
        <p:txBody>
          <a:bodyPr/>
          <a:lstStyle/>
          <a:p/>
        </p:txBody>
      </p:sp>
      <p:sp>
        <p:nvSpPr>
          <p:cNvPr id="462" name="Shape 4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t>
            </a:r>
            <a:r>
              <a:rPr sz="900" b="0" i="0">
                <a:solidFill>
                  <a:srgbClr val="58636E"/>
                </a:solidFill>
                <a:latin typeface="Arial"/>
                <a:ea typeface="Arial"/>
              </a:rPr>
              <a:t>&amp;</a:t>
            </a:r>
            <a:r>
              <a:rPr sz="900" b="0" i="0">
                <a:solidFill>
                  <a:srgbClr val="58636E"/>
                </a:solidFill>
                <a:latin typeface="Arial"/>
                <a:ea typeface="Arial"/>
              </a:rPr>
              <a:t xml:space="preserve"> Konishi (2001)</a:t>
            </a:r>
            <a:endParaRPr lang="en-US"/>
          </a:p>
        </p:txBody>
      </p:sp>
      <p:sp>
        <p:nvSpPr>
          <p:cNvPr id="463" name="Shape 46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64" name="Shape 46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Timing and level interact approximately multiplicatively</a:t>
            </a:r>
            <a:endParaRPr lang="en-US"/>
          </a:p>
        </p:txBody>
      </p:sp>
      <p:sp>
        <p:nvSpPr>
          <p:cNvPr id="465" name="Shape 465"/>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Peña and Konishi arranged subthreshold membrane responses into a matrix of ITD-ILD combinations. A </a:t>
            </a:r>
            <a:r>
              <a:rPr sz="1600" b="1" i="0">
                <a:solidFill>
                  <a:srgbClr val="2B5577"/>
                </a:solidFill>
                <a:latin typeface="Arial"/>
                <a:ea typeface="Arial"/>
              </a:rPr>
              <a:t>multiplicative interaction</a:t>
            </a:r>
            <a:r>
              <a:rPr sz="1600" b="0" i="0">
                <a:solidFill>
                  <a:srgbClr val="1F262D"/>
                </a:solidFill>
                <a:latin typeface="Arial"/>
                <a:ea typeface="Arial"/>
              </a:rPr>
              <a:t xml:space="preserve"> means that the effectiveness of one cue depends on the strength of the other, rather than two cue-dependent responses simply being added.</a:t>
            </a:r>
            <a:endParaRPr lang="en-US"/>
          </a:p>
        </p:txBody>
      </p:sp>
      <p:sp>
        <p:nvSpPr>
          <p:cNvPr id="466" name="Shape 466"/>
          <p:cNvSpPr/>
          <p:nvPr/>
        </p:nvSpPr>
        <p:spPr>
          <a:xfrm>
            <a:off x="566886" y="2648652"/>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After accounting for a constant membrane-voltage offset, a separable multiplicative component described about 96.6% of the response structure in the studied neurons. </a:t>
            </a:r>
            <a:r>
              <a:rPr sz="1600" b="1" i="0">
                <a:solidFill>
                  <a:srgbClr val="2B5577"/>
                </a:solidFill>
                <a:latin typeface="Arial"/>
                <a:ea typeface="Arial"/>
              </a:rPr>
              <a:t>Singular value decomposition</a:t>
            </a:r>
            <a:r>
              <a:rPr sz="1600" b="0" i="0">
                <a:solidFill>
                  <a:srgbClr val="1F262D"/>
                </a:solidFill>
                <a:latin typeface="Arial"/>
                <a:ea typeface="Arial"/>
              </a:rPr>
              <a:t xml:space="preserve"> separated the measured matrix into ranked components, allowing multiplicative and additive accounts to be compared.</a:t>
            </a:r>
            <a:endParaRPr lang="en-US"/>
          </a:p>
        </p:txBody>
      </p:sp>
      <p:sp>
        <p:nvSpPr>
          <p:cNvPr id="467" name="Shape 467"/>
          <p:cNvSpPr/>
          <p:nvPr/>
        </p:nvSpPr>
        <p:spPr>
          <a:xfrm>
            <a:off x="566886" y="4315298"/>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Multiplication captured the data better than a simple additive alternative. This describes an experimentally supported computation at the membrane-response level. In the multiplicative description the effectiveness of one cue scales with the strength of the other, which yields a restricted combined preference for timing and level.</a:t>
            </a:r>
            <a:endParaRPr lang="en-US"/>
          </a:p>
        </p:txBody>
      </p:sp>
      <p:pic>
        <p:nvPicPr>
          <p:cNvPr id="155" name="Presenton Native Image 39" descr=""/>
          <p:cNvPicPr/>
          <p:nvPr/>
        </p:nvPicPr>
        <p:blipFill>
          <a:blip r:embed="rId2" cstate="none"/>
          <a:stretch>
            <a:fillRect/>
          </a:stretch>
        </p:blipFill>
        <p:spPr>
          <a:xfrm>
            <a:off x="6870125" y="1280071"/>
            <a:ext cx="4754771" cy="3806130"/>
          </a:xfrm>
          <a:prstGeom prst="rect">
            <a:avLst/>
          </a:prstGeom>
        </p:spPr>
      </p:pic>
      <p:sp>
        <p:nvSpPr>
          <p:cNvPr id="468" name="Shape 468"/>
          <p:cNvSpPr/>
          <p:nvPr/>
        </p:nvSpPr>
        <p:spPr>
          <a:xfrm>
            <a:off x="6870055" y="517773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(2001), Fig. 2(A–F). Recorded response matrix and the authors’ multiplicative decomposition.</a:t>
            </a:r>
            <a:endParaRPr lang="en-US"/>
          </a:p>
        </p:txBody>
      </p:sp>
      <p:sp>
        <p:nvSpPr>
          <p:cNvPr id="469" name="Shape 469"/>
          <p:cNvSpPr/>
          <p:nvPr/>
        </p:nvSpPr>
        <p:spPr>
          <a:xfrm>
            <a:off x="566886" y="6382494"/>
            <a:ext cx="11058079" cy="9079"/>
          </a:xfrm>
          <a:prstGeom prst="rect">
            <a:avLst/>
          </a:prstGeom>
          <a:solidFill>
            <a:srgbClr val="C7D6E3"/>
          </a:solidFill>
        </p:spPr>
        <p:txBody>
          <a:bodyPr/>
          <a:lstStyle/>
          <a:p/>
        </p:txBody>
      </p:sp>
      <p:sp>
        <p:nvSpPr>
          <p:cNvPr id="470" name="Shape 4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t>
            </a:r>
            <a:r>
              <a:rPr sz="900" b="0" i="0">
                <a:solidFill>
                  <a:srgbClr val="58636E"/>
                </a:solidFill>
                <a:latin typeface="Arial"/>
                <a:ea typeface="Arial"/>
              </a:rPr>
              <a:t>&amp;</a:t>
            </a:r>
            <a:r>
              <a:rPr sz="900" b="0" i="0">
                <a:solidFill>
                  <a:srgbClr val="58636E"/>
                </a:solidFill>
                <a:latin typeface="Arial"/>
                <a:ea typeface="Arial"/>
              </a:rPr>
              <a:t xml:space="preserve"> Konishi (2001)</a:t>
            </a:r>
            <a:endParaRPr lang="en-US"/>
          </a:p>
        </p:txBody>
      </p:sp>
      <p:sp>
        <p:nvSpPr>
          <p:cNvPr id="471" name="Shape 47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72" name="Shape 4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Spike generation sharpens spatial selectivity</a:t>
            </a:r>
            <a:endParaRPr lang="en-US"/>
          </a:p>
        </p:txBody>
      </p:sp>
      <p:sp>
        <p:nvSpPr>
          <p:cNvPr id="473" name="Shape 473"/>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Peña and Konishi compared membrane-potential and spike tuning in the same ICx neurons. The </a:t>
            </a:r>
            <a:r>
              <a:rPr sz="1600" b="1" i="0">
                <a:solidFill>
                  <a:srgbClr val="2B5577"/>
                </a:solidFill>
                <a:latin typeface="Arial"/>
                <a:ea typeface="Arial"/>
              </a:rPr>
              <a:t>spike threshold</a:t>
            </a:r>
            <a:r>
              <a:rPr sz="1600" b="0" i="0">
                <a:solidFill>
                  <a:srgbClr val="1F262D"/>
                </a:solidFill>
                <a:latin typeface="Arial"/>
                <a:ea typeface="Arial"/>
              </a:rPr>
              <a:t xml:space="preserve"> is the voltage-dependent boundary above which the neuron can generate an action potential; small depolarizations need not cross it.</a:t>
            </a:r>
            <a:endParaRPr lang="en-US"/>
          </a:p>
        </p:txBody>
      </p:sp>
      <p:sp>
        <p:nvSpPr>
          <p:cNvPr id="474" name="Shape 474"/>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example retained several subthreshold timing peaks but produced spikes mainly near the dominant timing peak. ILD tuning was also narrower in spike output than in membrane voltage. The original records use milliseconds for the stimulus traces and microseconds for imposed interaural timing.</a:t>
            </a:r>
            <a:endParaRPr lang="en-US"/>
          </a:p>
        </p:txBody>
      </p:sp>
      <p:sp>
        <p:nvSpPr>
          <p:cNvPr id="475" name="Shape 475"/>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The quality of a multiplicative description was lower for spike output than for subthreshold responses. Additional nonlinear processes therefore intervene between synaptic integration and discharge. Thresholding is consistent with this sharpening, while inhibition can also change the underlying voltage response before spikes occur.</a:t>
            </a:r>
            <a:endParaRPr lang="en-US"/>
          </a:p>
        </p:txBody>
      </p:sp>
      <p:pic>
        <p:nvPicPr>
          <p:cNvPr id="156" name="Presenton Native Image 40" descr=""/>
          <p:cNvPicPr/>
          <p:nvPr/>
        </p:nvPicPr>
        <p:blipFill>
          <a:blip r:embed="rId2" cstate="none"/>
          <a:stretch>
            <a:fillRect/>
          </a:stretch>
        </p:blipFill>
        <p:spPr>
          <a:xfrm>
            <a:off x="7133127" y="1280071"/>
            <a:ext cx="4228616" cy="4297561"/>
          </a:xfrm>
          <a:prstGeom prst="rect">
            <a:avLst/>
          </a:prstGeom>
        </p:spPr>
      </p:pic>
      <p:sp>
        <p:nvSpPr>
          <p:cNvPr id="476" name="Shape 47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(2001), Fig. 5(A–D). Additional sharpening between postsynaptic potentials and spike output.</a:t>
            </a:r>
            <a:endParaRPr lang="en-US"/>
          </a:p>
        </p:txBody>
      </p:sp>
      <p:sp>
        <p:nvSpPr>
          <p:cNvPr id="477" name="Shape 477"/>
          <p:cNvSpPr/>
          <p:nvPr/>
        </p:nvSpPr>
        <p:spPr>
          <a:xfrm>
            <a:off x="566886" y="6382494"/>
            <a:ext cx="11058079" cy="9079"/>
          </a:xfrm>
          <a:prstGeom prst="rect">
            <a:avLst/>
          </a:prstGeom>
          <a:solidFill>
            <a:srgbClr val="C7D6E3"/>
          </a:solidFill>
        </p:spPr>
        <p:txBody>
          <a:bodyPr/>
          <a:lstStyle/>
          <a:p/>
        </p:txBody>
      </p:sp>
      <p:sp>
        <p:nvSpPr>
          <p:cNvPr id="478" name="Shape 4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t>
            </a:r>
            <a:r>
              <a:rPr sz="900" b="0" i="0">
                <a:solidFill>
                  <a:srgbClr val="58636E"/>
                </a:solidFill>
                <a:latin typeface="Arial"/>
                <a:ea typeface="Arial"/>
              </a:rPr>
              <a:t>&amp;</a:t>
            </a:r>
            <a:r>
              <a:rPr sz="900" b="0" i="0">
                <a:solidFill>
                  <a:srgbClr val="58636E"/>
                </a:solidFill>
                <a:latin typeface="Arial"/>
                <a:ea typeface="Arial"/>
              </a:rPr>
              <a:t xml:space="preserve"> Konishi (2001)</a:t>
            </a:r>
            <a:endParaRPr lang="en-US"/>
          </a:p>
        </p:txBody>
      </p:sp>
      <p:sp>
        <p:nvSpPr>
          <p:cNvPr id="479" name="Shape 47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80" name="Shape 48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Binaural correlation controls the strength of timing input</a:t>
            </a:r>
            <a:endParaRPr lang="en-US"/>
          </a:p>
        </p:txBody>
      </p:sp>
      <p:sp>
        <p:nvSpPr>
          <p:cNvPr id="481" name="Shape 481"/>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Binaural correlation</a:t>
            </a:r>
            <a:r>
              <a:rPr sz="1600" b="0" i="0">
                <a:solidFill>
                  <a:srgbClr val="1F262D"/>
                </a:solidFill>
                <a:latin typeface="Arial"/>
                <a:ea typeface="Arial"/>
              </a:rPr>
              <a:t xml:space="preserve"> measures similarity of the fine temporal waveform at the two ears. Peña and Konishi varied correlation while recording intracellular responses, changing timing reliability without simply replacing the level difference with a different spatial cue.</a:t>
            </a:r>
            <a:endParaRPr lang="en-US"/>
          </a:p>
        </p:txBody>
      </p:sp>
      <p:sp>
        <p:nvSpPr>
          <p:cNvPr id="482" name="Shape 482"/>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Correlation values of zero, 0.25, 0.5, 0.75, and one altered the amplitude of ITD-dependent membrane responses. ILD tuning was comparatively stable. At zero correlation, the timing component became nearly flat even though level-dependent responses could remain.</a:t>
            </a:r>
            <a:endParaRPr lang="en-US"/>
          </a:p>
        </p:txBody>
      </p:sp>
      <p:sp>
        <p:nvSpPr>
          <p:cNvPr id="483" name="Shape 483"/>
          <p:cNvSpPr/>
          <p:nvPr/>
        </p:nvSpPr>
        <p:spPr>
          <a:xfrm>
            <a:off x="566886" y="4062924"/>
            <a:ext cx="5956250" cy="1766621"/>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Multiplicative descriptions remained effective across much of the manipulated range. When one input is almost constant, additive and multiplicative alternatives become harder to distinguish. Correlation manipulations therefore test the robustness of multiplication, because reducing the timing signal until it is nearly flat leaves little for the multiplicative term to act on.</a:t>
            </a:r>
            <a:endParaRPr lang="en-US"/>
          </a:p>
        </p:txBody>
      </p:sp>
      <p:pic>
        <p:nvPicPr>
          <p:cNvPr id="157" name="Presenton Native Image 41" descr=""/>
          <p:cNvPicPr/>
          <p:nvPr/>
        </p:nvPicPr>
        <p:blipFill>
          <a:blip r:embed="rId2" cstate="none"/>
          <a:stretch>
            <a:fillRect/>
          </a:stretch>
        </p:blipFill>
        <p:spPr>
          <a:xfrm>
            <a:off x="7107803" y="1280071"/>
            <a:ext cx="4279116" cy="4297561"/>
          </a:xfrm>
          <a:prstGeom prst="rect">
            <a:avLst/>
          </a:prstGeom>
        </p:spPr>
      </p:pic>
      <p:sp>
        <p:nvSpPr>
          <p:cNvPr id="484" name="Shape 48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(2004), Fig. 1(a–d). Binaural correlation changes timing tuning and synaptic response amplitude.</a:t>
            </a:r>
            <a:endParaRPr lang="en-US"/>
          </a:p>
        </p:txBody>
      </p:sp>
      <p:sp>
        <p:nvSpPr>
          <p:cNvPr id="485" name="Shape 485"/>
          <p:cNvSpPr/>
          <p:nvPr/>
        </p:nvSpPr>
        <p:spPr>
          <a:xfrm>
            <a:off x="566886" y="6382494"/>
            <a:ext cx="11058079" cy="9079"/>
          </a:xfrm>
          <a:prstGeom prst="rect">
            <a:avLst/>
          </a:prstGeom>
          <a:solidFill>
            <a:srgbClr val="C7D6E3"/>
          </a:solidFill>
        </p:spPr>
        <p:txBody>
          <a:bodyPr/>
          <a:lstStyle/>
          <a:p/>
        </p:txBody>
      </p:sp>
      <p:sp>
        <p:nvSpPr>
          <p:cNvPr id="486" name="Shape 48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t>
            </a:r>
            <a:r>
              <a:rPr sz="900" b="0" i="0">
                <a:solidFill>
                  <a:srgbClr val="58636E"/>
                </a:solidFill>
                <a:latin typeface="Arial"/>
                <a:ea typeface="Arial"/>
              </a:rPr>
              <a:t>&amp;</a:t>
            </a:r>
            <a:r>
              <a:rPr sz="900" b="0" i="0">
                <a:solidFill>
                  <a:srgbClr val="58636E"/>
                </a:solidFill>
                <a:latin typeface="Arial"/>
                <a:ea typeface="Arial"/>
              </a:rPr>
              <a:t xml:space="preserve"> Konishi (2004)</a:t>
            </a:r>
            <a:endParaRPr lang="en-US"/>
          </a:p>
        </p:txBody>
      </p:sp>
      <p:sp>
        <p:nvSpPr>
          <p:cNvPr id="487" name="Shape 48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88" name="Shape 48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GABA-A inhibition sharpens collicular timing selectivity</a:t>
            </a:r>
            <a:endParaRPr lang="en-US"/>
          </a:p>
        </p:txBody>
      </p:sp>
      <p:sp>
        <p:nvSpPr>
          <p:cNvPr id="489" name="Shape 489"/>
          <p:cNvSpPr/>
          <p:nvPr/>
        </p:nvSpPr>
        <p:spPr>
          <a:xfrm>
            <a:off x="566886" y="1234380"/>
            <a:ext cx="5956250" cy="1419606"/>
          </a:xfrm>
          <a:prstGeom prst="rect">
            <a:avLst/>
          </a:prstGeom>
          <a:noFill/>
        </p:spPr>
        <p:txBody>
          <a:bodyPr anchor="t" wrap="square" tIns="0" bIns="0" lIns="0" rIns="0">
            <a:normAutofit/>
          </a:bodyPr>
          <a:lstStyle/>
          <a:p>
            <a:pPr algn="l">
              <a:lnSpc>
                <a:spcPts val="1620"/>
              </a:lnSpc>
              <a:buNone/>
            </a:pPr>
            <a:r>
              <a:rPr sz="1500" b="0" i="0">
                <a:solidFill>
                  <a:srgbClr val="1F262D"/>
                </a:solidFill>
                <a:latin typeface="Arial"/>
                <a:ea typeface="Arial"/>
              </a:rPr>
              <a:t xml:space="preserve">Fujita and Konishi applied BMI locally while recording timing-sensitive neurons across auditory nuclei. </a:t>
            </a:r>
            <a:r>
              <a:rPr sz="1500" b="1" i="0">
                <a:solidFill>
                  <a:srgbClr val="2B5577"/>
                </a:solidFill>
                <a:latin typeface="Arial"/>
                <a:ea typeface="Arial"/>
              </a:rPr>
              <a:t>GABA-A receptors</a:t>
            </a:r>
            <a:r>
              <a:rPr sz="1500" b="0" i="0">
                <a:solidFill>
                  <a:srgbClr val="1F262D"/>
                </a:solidFill>
                <a:latin typeface="Arial"/>
                <a:ea typeface="Arial"/>
              </a:rPr>
              <a:t xml:space="preserve"> are ligand-gated chloride channels. GABA binding changes chloride conductance and can reduce the effectiveness of excitatory input. Antagonist application tests whether this inhibitory transmission contributes to the response curve.</a:t>
            </a:r>
            <a:endParaRPr lang="en-US"/>
          </a:p>
        </p:txBody>
      </p:sp>
      <p:sp>
        <p:nvSpPr>
          <p:cNvPr id="490" name="Shape 490"/>
          <p:cNvSpPr/>
          <p:nvPr/>
        </p:nvSpPr>
        <p:spPr>
          <a:xfrm>
            <a:off x="566886" y="2806386"/>
            <a:ext cx="5956250" cy="1183005"/>
          </a:xfrm>
          <a:prstGeom prst="rect">
            <a:avLst/>
          </a:prstGeom>
          <a:noFill/>
        </p:spPr>
        <p:txBody>
          <a:bodyPr anchor="t" wrap="square" tIns="0" bIns="0" lIns="0" rIns="0">
            <a:normAutofit/>
          </a:bodyPr>
          <a:lstStyle/>
          <a:p>
            <a:pPr algn="l">
              <a:lnSpc>
                <a:spcPts val="1620"/>
              </a:lnSpc>
              <a:buNone/>
            </a:pPr>
            <a:r>
              <a:rPr sz="1500" b="0" i="0">
                <a:solidFill>
                  <a:srgbClr val="1F262D"/>
                </a:solidFill>
                <a:latin typeface="Arial"/>
                <a:ea typeface="Arial"/>
              </a:rPr>
              <a:t>In ICC and ICx, BMI broadened tonal ITD tuning and increased responses at unfavorable delays. The lateral-shell example compares tuning before, during, and after application; a 3-kHz tonal condition was followed through recovery. VLVa timing selectivity was comparatively unaffected.</a:t>
            </a:r>
            <a:endParaRPr lang="en-US"/>
          </a:p>
        </p:txBody>
      </p:sp>
      <p:sp>
        <p:nvSpPr>
          <p:cNvPr id="491" name="Shape 491"/>
          <p:cNvSpPr/>
          <p:nvPr/>
        </p:nvSpPr>
        <p:spPr>
          <a:xfrm>
            <a:off x="566886" y="4141791"/>
            <a:ext cx="5956250" cy="1183005"/>
          </a:xfrm>
          <a:prstGeom prst="rect">
            <a:avLst/>
          </a:prstGeom>
          <a:noFill/>
        </p:spPr>
        <p:txBody>
          <a:bodyPr anchor="t" wrap="square" tIns="0" bIns="0" lIns="0" rIns="0">
            <a:normAutofit/>
          </a:bodyPr>
          <a:lstStyle/>
          <a:p>
            <a:pPr algn="l">
              <a:lnSpc>
                <a:spcPts val="1620"/>
              </a:lnSpc>
              <a:buNone/>
            </a:pPr>
            <a:r>
              <a:rPr sz="1500" b="0" i="0">
                <a:solidFill>
                  <a:srgbClr val="1F262D"/>
                </a:solidFill>
                <a:latin typeface="Arial"/>
                <a:ea typeface="Arial"/>
              </a:rPr>
              <a:t xml:space="preserve">GABAergic inhibition therefore sharpens the timing representation at selected collicular stages rather than uniformly creating timing sensitivity everywhere. Local drug application establishes a receptor-sensitive contribution of GABA-A inhibition, and VLVa timing selectivity was comparatively unaffected.</a:t>
            </a:r>
            <a:endParaRPr lang="en-US"/>
          </a:p>
        </p:txBody>
      </p:sp>
      <p:pic>
        <p:nvPicPr>
          <p:cNvPr id="158" name="Presenton Native Image 42" descr=""/>
          <p:cNvPicPr/>
          <p:nvPr/>
        </p:nvPicPr>
        <p:blipFill>
          <a:blip r:embed="rId2" cstate="none"/>
          <a:stretch>
            <a:fillRect/>
          </a:stretch>
        </p:blipFill>
        <p:spPr>
          <a:xfrm>
            <a:off x="8001149" y="1280081"/>
            <a:ext cx="2492573" cy="4297540"/>
          </a:xfrm>
          <a:prstGeom prst="rect">
            <a:avLst/>
          </a:prstGeom>
        </p:spPr>
      </p:pic>
      <p:sp>
        <p:nvSpPr>
          <p:cNvPr id="492" name="Shape 49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Fujita </a:t>
            </a:r>
            <a:r>
              <a:rPr sz="1000" b="0" i="0">
                <a:solidFill>
                  <a:srgbClr val="58636E"/>
                </a:solidFill>
                <a:latin typeface="Arial"/>
                <a:ea typeface="Arial"/>
              </a:rPr>
              <a:t>&amp;</a:t>
            </a:r>
            <a:r>
              <a:rPr sz="1000" b="0" i="0">
                <a:solidFill>
                  <a:srgbClr val="58636E"/>
                </a:solidFill>
                <a:latin typeface="Arial"/>
                <a:ea typeface="Arial"/>
              </a:rPr>
              <a:t xml:space="preserve"> Konishi (1991), Fig. 8(A–C). GABA-receptor blockade broadens timing tuning in the lateral shell.</a:t>
            </a:r>
            <a:endParaRPr lang="en-US"/>
          </a:p>
        </p:txBody>
      </p:sp>
      <p:sp>
        <p:nvSpPr>
          <p:cNvPr id="493" name="Shape 493"/>
          <p:cNvSpPr/>
          <p:nvPr/>
        </p:nvSpPr>
        <p:spPr>
          <a:xfrm>
            <a:off x="566886" y="6382494"/>
            <a:ext cx="11058079" cy="9079"/>
          </a:xfrm>
          <a:prstGeom prst="rect">
            <a:avLst/>
          </a:prstGeom>
          <a:solidFill>
            <a:srgbClr val="C7D6E3"/>
          </a:solidFill>
        </p:spPr>
        <p:txBody>
          <a:bodyPr/>
          <a:lstStyle/>
          <a:p/>
        </p:txBody>
      </p:sp>
      <p:sp>
        <p:nvSpPr>
          <p:cNvPr id="494" name="Shape 49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Fujita </a:t>
            </a:r>
            <a:r>
              <a:rPr sz="900" b="0" i="0">
                <a:solidFill>
                  <a:srgbClr val="58636E"/>
                </a:solidFill>
                <a:latin typeface="Arial"/>
                <a:ea typeface="Arial"/>
              </a:rPr>
              <a:t>&amp;</a:t>
            </a:r>
            <a:r>
              <a:rPr sz="900" b="0" i="0">
                <a:solidFill>
                  <a:srgbClr val="58636E"/>
                </a:solidFill>
                <a:latin typeface="Arial"/>
                <a:ea typeface="Arial"/>
              </a:rPr>
              <a:t xml:space="preserve"> Konishi (1991)</a:t>
            </a:r>
            <a:endParaRPr lang="en-US"/>
          </a:p>
        </p:txBody>
      </p:sp>
      <p:sp>
        <p:nvSpPr>
          <p:cNvPr id="495" name="Shape 49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96" name="Shape 49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GABAergic inhibition helps suppress false timing peaks</a:t>
            </a:r>
            <a:endParaRPr lang="en-US"/>
          </a:p>
        </p:txBody>
      </p:sp>
      <p:sp>
        <p:nvSpPr>
          <p:cNvPr id="497" name="Shape 497"/>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Fujita and Konishi compared broadband ICx timing responses before and during local GABA-A receptor blockade. Broadband input normally emphasizes a principal timing peak while suppressing repeated matches inherited from narrowband channels.</a:t>
            </a:r>
            <a:endParaRPr lang="en-US"/>
          </a:p>
        </p:txBody>
      </p:sp>
      <p:sp>
        <p:nvSpPr>
          <p:cNvPr id="498" name="Shape 498"/>
          <p:cNvSpPr/>
          <p:nvPr/>
        </p:nvSpPr>
        <p:spPr>
          <a:xfrm>
            <a:off x="566886" y="2648652"/>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BMI increased secondary-peak responses and could restore phase ambiguity for noise. The published records include time-dependent increases at delays such as −270 and +120 µs while the principal timing preference remained distinguishable. Recovery measurements tested reversibility after drug application.</a:t>
            </a:r>
            <a:endParaRPr lang="en-US"/>
          </a:p>
        </p:txBody>
      </p:sp>
      <p:sp>
        <p:nvSpPr>
          <p:cNvPr id="499" name="Shape 499"/>
          <p:cNvSpPr/>
          <p:nvPr/>
        </p:nvSpPr>
        <p:spPr>
          <a:xfrm>
            <a:off x="566886" y="4315298"/>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Cross-frequency convergence and inhibitory suppression jointly support unique broadband timing selectivity. Blocking GABA-A receptors restored secondary peaks for noise, so inhibition contributes to suppressing the repeated matches while frequency-matched excitation supplies the principal timing preference.</a:t>
            </a:r>
            <a:endParaRPr lang="en-US"/>
          </a:p>
        </p:txBody>
      </p:sp>
      <p:pic>
        <p:nvPicPr>
          <p:cNvPr id="159" name="Presenton Native Image 43" descr=""/>
          <p:cNvPicPr/>
          <p:nvPr/>
        </p:nvPicPr>
        <p:blipFill>
          <a:blip r:embed="rId2" cstate="none"/>
          <a:stretch>
            <a:fillRect/>
          </a:stretch>
        </p:blipFill>
        <p:spPr>
          <a:xfrm>
            <a:off x="6870136" y="1280071"/>
            <a:ext cx="4754748" cy="2982664"/>
          </a:xfrm>
          <a:prstGeom prst="rect">
            <a:avLst/>
          </a:prstGeom>
        </p:spPr>
      </p:pic>
      <p:sp>
        <p:nvSpPr>
          <p:cNvPr id="500" name="Shape 500"/>
          <p:cNvSpPr/>
          <p:nvPr/>
        </p:nvSpPr>
        <p:spPr>
          <a:xfrm>
            <a:off x="6870055" y="435426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Fujita </a:t>
            </a:r>
            <a:r>
              <a:rPr sz="1000" b="0" i="0">
                <a:solidFill>
                  <a:srgbClr val="58636E"/>
                </a:solidFill>
                <a:latin typeface="Arial"/>
                <a:ea typeface="Arial"/>
              </a:rPr>
              <a:t>&amp;</a:t>
            </a:r>
            <a:r>
              <a:rPr sz="1000" b="0" i="0">
                <a:solidFill>
                  <a:srgbClr val="58636E"/>
                </a:solidFill>
                <a:latin typeface="Arial"/>
                <a:ea typeface="Arial"/>
              </a:rPr>
              <a:t xml:space="preserve"> Konishi (1991), Fig. 12(A–D). GABA-receptor blockade releases secondary timing-response peaks.</a:t>
            </a:r>
            <a:endParaRPr lang="en-US"/>
          </a:p>
        </p:txBody>
      </p:sp>
      <p:sp>
        <p:nvSpPr>
          <p:cNvPr id="501" name="Shape 501"/>
          <p:cNvSpPr/>
          <p:nvPr/>
        </p:nvSpPr>
        <p:spPr>
          <a:xfrm>
            <a:off x="566886" y="6382494"/>
            <a:ext cx="11058079" cy="9079"/>
          </a:xfrm>
          <a:prstGeom prst="rect">
            <a:avLst/>
          </a:prstGeom>
          <a:solidFill>
            <a:srgbClr val="C7D6E3"/>
          </a:solidFill>
        </p:spPr>
        <p:txBody>
          <a:bodyPr/>
          <a:lstStyle/>
          <a:p/>
        </p:txBody>
      </p:sp>
      <p:sp>
        <p:nvSpPr>
          <p:cNvPr id="502" name="Shape 50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Fujita </a:t>
            </a:r>
            <a:r>
              <a:rPr sz="900" b="0" i="0">
                <a:solidFill>
                  <a:srgbClr val="58636E"/>
                </a:solidFill>
                <a:latin typeface="Arial"/>
                <a:ea typeface="Arial"/>
              </a:rPr>
              <a:t>&amp;</a:t>
            </a:r>
            <a:r>
              <a:rPr sz="900" b="0" i="0">
                <a:solidFill>
                  <a:srgbClr val="58636E"/>
                </a:solidFill>
                <a:latin typeface="Arial"/>
                <a:ea typeface="Arial"/>
              </a:rPr>
              <a:t xml:space="preserve"> Konishi (1991)</a:t>
            </a:r>
            <a:endParaRPr lang="en-US"/>
          </a:p>
        </p:txBody>
      </p:sp>
      <p:sp>
        <p:nvSpPr>
          <p:cNvPr id="503" name="Shape 50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04" name="Shape 50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Glutamate contributions differ across collicular stages</a:t>
            </a:r>
            <a:endParaRPr lang="en-US"/>
          </a:p>
        </p:txBody>
      </p:sp>
      <p:sp>
        <p:nvSpPr>
          <p:cNvPr id="505" name="Shape 505"/>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Glutamate</a:t>
            </a:r>
            <a:r>
              <a:rPr sz="1600" b="0" i="0">
                <a:solidFill>
                  <a:srgbClr val="1F262D"/>
                </a:solidFill>
                <a:latin typeface="Arial"/>
                <a:ea typeface="Arial"/>
              </a:rPr>
              <a:t xml:space="preserve"> is an excitatory transmitter. Feldman and Knudsen applied AP5, an antagonist of NMDA (N-methyl-D-aspartate) receptors, and CNQX, a non-NMDA glutamate-receptor antagonist, by iontophoresis while recording from ICx and the ICC lateral shell.</a:t>
            </a:r>
            <a:endParaRPr lang="en-US"/>
          </a:p>
        </p:txBody>
      </p:sp>
      <p:sp>
        <p:nvSpPr>
          <p:cNvPr id="506" name="Shape 506"/>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AP5 removed about 55% of auditory-evoked spikes at ICx multiunit sites and 64% at single units, compared with approximately 19% and 25% in the lateral shell. Combined AP5 and CNQX strongly suppressed responses in both subdivisions, often eliminating them.</a:t>
            </a:r>
            <a:endParaRPr lang="en-US"/>
          </a:p>
        </p:txBody>
      </p:sp>
      <p:sp>
        <p:nvSpPr>
          <p:cNvPr id="507" name="Shape 507"/>
          <p:cNvSpPr/>
          <p:nvPr/>
        </p:nvSpPr>
        <p:spPr>
          <a:xfrm>
            <a:off x="566886" y="4062924"/>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NMDA-dependent transmission contributes more prominently to ICx responses, while non-NMDA transmission is substantial in both regions. Normalizing AP5 blockade against combined blockade addressed variation in drug efficacy across sites. Spike reduction measures the functional contribution of each receptor class to auditory-evoked responses.</a:t>
            </a:r>
            <a:endParaRPr lang="en-US"/>
          </a:p>
        </p:txBody>
      </p:sp>
      <p:pic>
        <p:nvPicPr>
          <p:cNvPr id="160" name="Presenton Native Image 44" descr=""/>
          <p:cNvPicPr/>
          <p:nvPr/>
        </p:nvPicPr>
        <p:blipFill>
          <a:blip r:embed="rId2" cstate="none"/>
          <a:stretch>
            <a:fillRect/>
          </a:stretch>
        </p:blipFill>
        <p:spPr>
          <a:xfrm>
            <a:off x="7722027" y="1280071"/>
            <a:ext cx="3050966" cy="4297561"/>
          </a:xfrm>
          <a:prstGeom prst="rect">
            <a:avLst/>
          </a:prstGeom>
        </p:spPr>
      </p:pic>
      <p:sp>
        <p:nvSpPr>
          <p:cNvPr id="508" name="Shape 50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Feldman </a:t>
            </a:r>
            <a:r>
              <a:rPr sz="1000" b="0" i="0">
                <a:solidFill>
                  <a:srgbClr val="58636E"/>
                </a:solidFill>
                <a:latin typeface="Arial"/>
                <a:ea typeface="Arial"/>
              </a:rPr>
              <a:t>&amp;</a:t>
            </a:r>
            <a:r>
              <a:rPr sz="1000" b="0" i="0">
                <a:solidFill>
                  <a:srgbClr val="58636E"/>
                </a:solidFill>
                <a:latin typeface="Arial"/>
                <a:ea typeface="Arial"/>
              </a:rPr>
              <a:t xml:space="preserve"> Knudsen (1994), Fig. 8(A–B). NMDA blockade differs between ICx and lateral shell.</a:t>
            </a:r>
            <a:endParaRPr lang="en-US"/>
          </a:p>
        </p:txBody>
      </p:sp>
      <p:sp>
        <p:nvSpPr>
          <p:cNvPr id="509" name="Shape 509"/>
          <p:cNvSpPr/>
          <p:nvPr/>
        </p:nvSpPr>
        <p:spPr>
          <a:xfrm>
            <a:off x="566886" y="6382494"/>
            <a:ext cx="11058079" cy="9079"/>
          </a:xfrm>
          <a:prstGeom prst="rect">
            <a:avLst/>
          </a:prstGeom>
          <a:solidFill>
            <a:srgbClr val="C7D6E3"/>
          </a:solidFill>
        </p:spPr>
        <p:txBody>
          <a:bodyPr/>
          <a:lstStyle/>
          <a:p/>
        </p:txBody>
      </p:sp>
      <p:sp>
        <p:nvSpPr>
          <p:cNvPr id="510" name="Shape 51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Feldman </a:t>
            </a:r>
            <a:r>
              <a:rPr sz="900" b="0" i="0">
                <a:solidFill>
                  <a:srgbClr val="58636E"/>
                </a:solidFill>
                <a:latin typeface="Arial"/>
                <a:ea typeface="Arial"/>
              </a:rPr>
              <a:t>&amp;</a:t>
            </a:r>
            <a:r>
              <a:rPr sz="900" b="0" i="0">
                <a:solidFill>
                  <a:srgbClr val="58636E"/>
                </a:solidFill>
                <a:latin typeface="Arial"/>
                <a:ea typeface="Arial"/>
              </a:rPr>
              <a:t xml:space="preserve"> Knudsen (1994)</a:t>
            </a:r>
            <a:endParaRPr lang="en-US"/>
          </a:p>
        </p:txBody>
      </p:sp>
      <p:sp>
        <p:nvSpPr>
          <p:cNvPr id="511" name="Shape 51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12" name="Shape 51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NMDA-dependent transmission sustains late ICx responses</a:t>
            </a:r>
            <a:endParaRPr lang="en-US"/>
          </a:p>
        </p:txBody>
      </p:sp>
      <p:sp>
        <p:nvSpPr>
          <p:cNvPr id="513" name="Shape 513"/>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Feldman and Knudsen analyzed </a:t>
            </a:r>
            <a:r>
              <a:rPr sz="1600" b="1" i="0">
                <a:solidFill>
                  <a:srgbClr val="2B5577"/>
                </a:solidFill>
                <a:latin typeface="Arial"/>
                <a:ea typeface="Arial"/>
              </a:rPr>
              <a:t>peristimulus time histograms</a:t>
            </a:r>
            <a:r>
              <a:rPr sz="1600" b="0" i="0">
                <a:solidFill>
                  <a:srgbClr val="1F262D"/>
                </a:solidFill>
                <a:latin typeface="Arial"/>
                <a:ea typeface="Arial"/>
              </a:rPr>
              <a:t>, which align repeated spike trains to sound onset. They tested ICx units with transient, sustained, or mixed responses to 50-ms broadband stimuli at their preferred ITD and ILD.</a:t>
            </a:r>
            <a:endParaRPr lang="en-US"/>
          </a:p>
        </p:txBody>
      </p:sp>
      <p:sp>
        <p:nvSpPr>
          <p:cNvPr id="514" name="Shape 514"/>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AP5 at 25 nA reduced spikes, with a larger effect on late activity in mixed transient-sustained responses. Responses were measured before application, during blockade, and after recovery. CNQX, in contrast, reduced activity more uniformly across the response time course.</a:t>
            </a:r>
            <a:endParaRPr lang="en-US"/>
          </a:p>
        </p:txBody>
      </p:sp>
      <p:sp>
        <p:nvSpPr>
          <p:cNvPr id="515" name="Shape 515"/>
          <p:cNvSpPr/>
          <p:nvPr/>
        </p:nvSpPr>
        <p:spPr>
          <a:xfrm>
            <a:off x="566886" y="4062924"/>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temporal difference is consistent with slower NMDA-dependent excitation supplementing faster non-NMDA transmission. Together with coincidence detection, bilateral inhibition and cross-frequency convergence, synaptic integration supports the sustained spatial signals available for owl orienting.</a:t>
            </a:r>
            <a:endParaRPr lang="en-US"/>
          </a:p>
        </p:txBody>
      </p:sp>
      <p:pic>
        <p:nvPicPr>
          <p:cNvPr id="161" name="Presenton Native Image 45" descr=""/>
          <p:cNvPicPr/>
          <p:nvPr/>
        </p:nvPicPr>
        <p:blipFill>
          <a:blip r:embed="rId2" cstate="none"/>
          <a:stretch>
            <a:fillRect/>
          </a:stretch>
        </p:blipFill>
        <p:spPr>
          <a:xfrm>
            <a:off x="6870177" y="1280071"/>
            <a:ext cx="4754667" cy="2954834"/>
          </a:xfrm>
          <a:prstGeom prst="rect">
            <a:avLst/>
          </a:prstGeom>
        </p:spPr>
      </p:pic>
      <p:sp>
        <p:nvSpPr>
          <p:cNvPr id="516" name="Shape 516"/>
          <p:cNvSpPr/>
          <p:nvPr/>
        </p:nvSpPr>
        <p:spPr>
          <a:xfrm>
            <a:off x="6870055" y="432643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Feldman </a:t>
            </a:r>
            <a:r>
              <a:rPr sz="1000" b="0" i="0">
                <a:solidFill>
                  <a:srgbClr val="58636E"/>
                </a:solidFill>
                <a:latin typeface="Arial"/>
                <a:ea typeface="Arial"/>
              </a:rPr>
              <a:t>&amp;</a:t>
            </a:r>
            <a:r>
              <a:rPr sz="1000" b="0" i="0">
                <a:solidFill>
                  <a:srgbClr val="58636E"/>
                </a:solidFill>
                <a:latin typeface="Arial"/>
                <a:ea typeface="Arial"/>
              </a:rPr>
              <a:t xml:space="preserve"> Knudsen (1994), Fig. 9(A–C). NMDA blockade alters the time course of auditory spike responses.</a:t>
            </a:r>
            <a:endParaRPr lang="en-US"/>
          </a:p>
        </p:txBody>
      </p:sp>
      <p:sp>
        <p:nvSpPr>
          <p:cNvPr id="517" name="Shape 517"/>
          <p:cNvSpPr/>
          <p:nvPr/>
        </p:nvSpPr>
        <p:spPr>
          <a:xfrm>
            <a:off x="566886" y="6382494"/>
            <a:ext cx="11058079" cy="9079"/>
          </a:xfrm>
          <a:prstGeom prst="rect">
            <a:avLst/>
          </a:prstGeom>
          <a:solidFill>
            <a:srgbClr val="C7D6E3"/>
          </a:solidFill>
        </p:spPr>
        <p:txBody>
          <a:bodyPr/>
          <a:lstStyle/>
          <a:p/>
        </p:txBody>
      </p:sp>
      <p:sp>
        <p:nvSpPr>
          <p:cNvPr id="518" name="Shape 51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Feldman </a:t>
            </a:r>
            <a:r>
              <a:rPr sz="900" b="0" i="0">
                <a:solidFill>
                  <a:srgbClr val="58636E"/>
                </a:solidFill>
                <a:latin typeface="Arial"/>
                <a:ea typeface="Arial"/>
              </a:rPr>
              <a:t>&amp;</a:t>
            </a:r>
            <a:r>
              <a:rPr sz="900" b="0" i="0">
                <a:solidFill>
                  <a:srgbClr val="58636E"/>
                </a:solidFill>
                <a:latin typeface="Arial"/>
                <a:ea typeface="Arial"/>
              </a:rPr>
              <a:t xml:space="preserve"> Knudsen (1994)</a:t>
            </a:r>
            <a:endParaRPr lang="en-US"/>
          </a:p>
        </p:txBody>
      </p:sp>
      <p:sp>
        <p:nvSpPr>
          <p:cNvPr id="519" name="Shape 51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20" name="Shape 52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Key takeaways</a:t>
            </a:r>
            <a:endParaRPr lang="en-US"/>
          </a:p>
        </p:txBody>
      </p:sp>
      <p:sp>
        <p:nvSpPr>
          <p:cNvPr id="521" name="Shape 521"/>
          <p:cNvSpPr/>
          <p:nvPr/>
        </p:nvSpPr>
        <p:spPr>
          <a:xfrm>
            <a:off x="566886" y="1234380"/>
            <a:ext cx="5391894" cy="1478161"/>
          </a:xfrm>
          <a:prstGeom prst="rect">
            <a:avLst/>
          </a:prstGeom>
          <a:solidFill>
            <a:srgbClr val="EEF5FA"/>
          </a:solidFill>
        </p:spPr>
        <p:txBody>
          <a:bodyPr/>
          <a:lstStyle/>
          <a:p/>
        </p:txBody>
      </p:sp>
      <p:sp>
        <p:nvSpPr>
          <p:cNvPr id="522" name="Shape 522"/>
          <p:cNvSpPr/>
          <p:nvPr/>
        </p:nvSpPr>
        <p:spPr>
          <a:xfrm>
            <a:off x="749796" y="13716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Computed spatial maps</a:t>
            </a:r>
            <a:r>
              <a:rPr sz="1600" b="0" i="0">
                <a:solidFill>
                  <a:srgbClr val="1F262D"/>
                </a:solidFill>
                <a:latin typeface="Arial"/>
                <a:ea typeface="Arial"/>
              </a:rPr>
              <a:t xml:space="preserve"> ICx receptive-field centers are ordered by sound direction; the map is computed from binaural signals rather than copied from a spatial receptor surface.</a:t>
            </a:r>
            <a:endParaRPr lang="en-US"/>
          </a:p>
        </p:txBody>
      </p:sp>
      <p:sp>
        <p:nvSpPr>
          <p:cNvPr id="523" name="Shape 523"/>
          <p:cNvSpPr/>
          <p:nvPr/>
        </p:nvSpPr>
        <p:spPr>
          <a:xfrm>
            <a:off x="6233071" y="1234380"/>
            <a:ext cx="5391894" cy="1478161"/>
          </a:xfrm>
          <a:prstGeom prst="rect">
            <a:avLst/>
          </a:prstGeom>
          <a:solidFill>
            <a:srgbClr val="EEF5FA"/>
          </a:solidFill>
        </p:spPr>
        <p:txBody>
          <a:bodyPr/>
          <a:lstStyle/>
          <a:p/>
        </p:txBody>
      </p:sp>
      <p:sp>
        <p:nvSpPr>
          <p:cNvPr id="524" name="Shape 524"/>
          <p:cNvSpPr/>
          <p:nvPr/>
        </p:nvSpPr>
        <p:spPr>
          <a:xfrm>
            <a:off x="6415980" y="13716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Parallel cue pathways</a:t>
            </a:r>
            <a:r>
              <a:rPr sz="1600" b="0" i="0">
                <a:solidFill>
                  <a:srgbClr val="1F262D"/>
                </a:solidFill>
                <a:latin typeface="Arial"/>
                <a:ea typeface="Arial"/>
              </a:rPr>
              <a:t xml:space="preserve"> NM preserves timing and NA emphasizes sound level. Selective inactivation dissociates their contributions before the cues converge.</a:t>
            </a:r>
            <a:endParaRPr lang="en-US"/>
          </a:p>
        </p:txBody>
      </p:sp>
      <p:sp>
        <p:nvSpPr>
          <p:cNvPr id="525" name="Shape 525"/>
          <p:cNvSpPr/>
          <p:nvPr/>
        </p:nvSpPr>
        <p:spPr>
          <a:xfrm>
            <a:off x="566886" y="2986980"/>
            <a:ext cx="5391894" cy="1478161"/>
          </a:xfrm>
          <a:prstGeom prst="rect">
            <a:avLst/>
          </a:prstGeom>
          <a:solidFill>
            <a:srgbClr val="EEF5FA"/>
          </a:solidFill>
        </p:spPr>
        <p:txBody>
          <a:bodyPr/>
          <a:lstStyle/>
          <a:p/>
        </p:txBody>
      </p:sp>
      <p:sp>
        <p:nvSpPr>
          <p:cNvPr id="526" name="Shape 526"/>
          <p:cNvSpPr/>
          <p:nvPr/>
        </p:nvSpPr>
        <p:spPr>
          <a:xfrm>
            <a:off x="749796"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Delay lines and coincidence</a:t>
            </a:r>
            <a:r>
              <a:rPr sz="1600" b="0" i="0">
                <a:solidFill>
                  <a:srgbClr val="1F262D"/>
                </a:solidFill>
                <a:latin typeface="Arial"/>
                <a:ea typeface="Arial"/>
              </a:rPr>
              <a:t xml:space="preserve"> Opposed NM conduction gradients and coincidence-sensitive NL neurons transform interaural timing into place-dependent activity.</a:t>
            </a:r>
            <a:endParaRPr lang="en-US"/>
          </a:p>
        </p:txBody>
      </p:sp>
      <p:sp>
        <p:nvSpPr>
          <p:cNvPr id="527" name="Shape 527"/>
          <p:cNvSpPr/>
          <p:nvPr/>
        </p:nvSpPr>
        <p:spPr>
          <a:xfrm>
            <a:off x="6233071" y="2986980"/>
            <a:ext cx="5391894" cy="1478161"/>
          </a:xfrm>
          <a:prstGeom prst="rect">
            <a:avLst/>
          </a:prstGeom>
          <a:solidFill>
            <a:srgbClr val="EEF5FA"/>
          </a:solidFill>
        </p:spPr>
        <p:txBody>
          <a:bodyPr/>
          <a:lstStyle/>
          <a:p/>
        </p:txBody>
      </p:sp>
      <p:sp>
        <p:nvSpPr>
          <p:cNvPr id="528" name="Shape 528"/>
          <p:cNvSpPr/>
          <p:nvPr/>
        </p:nvSpPr>
        <p:spPr>
          <a:xfrm>
            <a:off x="6415980"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Convergence and inhibition</a:t>
            </a:r>
            <a:r>
              <a:rPr sz="1600" b="0" i="0">
                <a:solidFill>
                  <a:srgbClr val="1F262D"/>
                </a:solidFill>
                <a:latin typeface="Arial"/>
                <a:ea typeface="Arial"/>
              </a:rPr>
              <a:t xml:space="preserve"> Frequency-matched ICC arrays provide cross-frequency agreement, while GABAergic inhibition suppresses competing timing peaks in ICx.</a:t>
            </a:r>
            <a:endParaRPr lang="en-US"/>
          </a:p>
        </p:txBody>
      </p:sp>
      <p:sp>
        <p:nvSpPr>
          <p:cNvPr id="529" name="Shape 529"/>
          <p:cNvSpPr/>
          <p:nvPr/>
        </p:nvSpPr>
        <p:spPr>
          <a:xfrm>
            <a:off x="566886" y="4739580"/>
            <a:ext cx="5391894" cy="1478161"/>
          </a:xfrm>
          <a:prstGeom prst="rect">
            <a:avLst/>
          </a:prstGeom>
          <a:solidFill>
            <a:srgbClr val="EEF5FA"/>
          </a:solidFill>
        </p:spPr>
        <p:txBody>
          <a:bodyPr/>
          <a:lstStyle/>
          <a:p/>
        </p:txBody>
      </p:sp>
      <p:sp>
        <p:nvSpPr>
          <p:cNvPr id="530" name="Shape 530"/>
          <p:cNvSpPr/>
          <p:nvPr/>
        </p:nvSpPr>
        <p:spPr>
          <a:xfrm>
            <a:off x="749796" y="4876800"/>
            <a:ext cx="5045125" cy="877491"/>
          </a:xfrm>
          <a:prstGeom prst="rect">
            <a:avLst/>
          </a:prstGeom>
          <a:noFill/>
        </p:spPr>
        <p:txBody>
          <a:bodyPr anchor="t" wrap="square" tIns="0" bIns="0" lIns="0" rIns="0">
            <a:normAutofit/>
          </a:bodyPr>
          <a:lstStyle/>
          <a:p>
            <a:pPr algn="l">
              <a:lnSpc>
                <a:spcPts val="1728"/>
              </a:lnSpc>
              <a:buNone/>
            </a:pPr>
            <a:r>
              <a:rPr sz="1600" b="1" i="0">
                <a:solidFill>
                  <a:srgbClr val="2B5577"/>
                </a:solidFill>
                <a:latin typeface="Arial"/>
                <a:ea typeface="Arial"/>
              </a:rPr>
              <a:t>Level tuning and cue combination</a:t>
            </a:r>
            <a:r>
              <a:rPr sz="1600" b="0" i="0">
                <a:solidFill>
                  <a:srgbClr val="1F262D"/>
                </a:solidFill>
                <a:latin typeface="Arial"/>
                <a:ea typeface="Arial"/>
              </a:rPr>
              <a:t xml:space="preserve"> Bilateral inhibitory influences create peaked ILD tuning; approximately multiplicative membrane integration combines timing and level selectivity.</a:t>
            </a:r>
            <a:endParaRPr lang="en-US"/>
          </a:p>
        </p:txBody>
      </p:sp>
      <p:sp>
        <p:nvSpPr>
          <p:cNvPr id="531" name="Shape 531"/>
          <p:cNvSpPr/>
          <p:nvPr/>
        </p:nvSpPr>
        <p:spPr>
          <a:xfrm>
            <a:off x="6233071" y="4739580"/>
            <a:ext cx="5391894" cy="1478161"/>
          </a:xfrm>
          <a:prstGeom prst="rect">
            <a:avLst/>
          </a:prstGeom>
          <a:solidFill>
            <a:srgbClr val="EEF5FA"/>
          </a:solidFill>
        </p:spPr>
        <p:txBody>
          <a:bodyPr/>
          <a:lstStyle/>
          <a:p/>
        </p:txBody>
      </p:sp>
      <p:sp>
        <p:nvSpPr>
          <p:cNvPr id="532" name="Shape 532"/>
          <p:cNvSpPr/>
          <p:nvPr/>
        </p:nvSpPr>
        <p:spPr>
          <a:xfrm>
            <a:off x="6415980" y="4876800"/>
            <a:ext cx="5045125" cy="1028402"/>
          </a:xfrm>
          <a:prstGeom prst="rect">
            <a:avLst/>
          </a:prstGeom>
          <a:noFill/>
        </p:spPr>
        <p:txBody>
          <a:bodyPr anchor="t" wrap="square" tIns="0" bIns="0" lIns="0" rIns="0">
            <a:normAutofit/>
          </a:bodyPr>
          <a:lstStyle/>
          <a:p>
            <a:pPr algn="l">
              <a:lnSpc>
                <a:spcPts val="1620"/>
              </a:lnSpc>
              <a:buNone/>
            </a:pPr>
            <a:r>
              <a:rPr sz="1500" b="1" i="0">
                <a:solidFill>
                  <a:srgbClr val="2B5577"/>
                </a:solidFill>
                <a:latin typeface="Arial"/>
                <a:ea typeface="Arial"/>
              </a:rPr>
              <a:t>Mechanisms have experimental limits</a:t>
            </a:r>
            <a:r>
              <a:rPr sz="1500" b="0" i="0">
                <a:solidFill>
                  <a:srgbClr val="1F262D"/>
                </a:solidFill>
                <a:latin typeface="Arial"/>
                <a:ea typeface="Arial"/>
              </a:rPr>
              <a:t xml:space="preserve"> NMDA and non-NMDA antagonists identify transmission contributions. Natural ILDs can also aid horizontal disambiguation, so ITD and ILD are not exclusive behavioral axes.</a:t>
            </a:r>
            <a:endParaRPr lang="en-US"/>
          </a:p>
        </p:txBody>
      </p:sp>
      <p:sp>
        <p:nvSpPr>
          <p:cNvPr id="533" name="Shape 533"/>
          <p:cNvSpPr/>
          <p:nvPr/>
        </p:nvSpPr>
        <p:spPr>
          <a:xfrm>
            <a:off x="566886" y="6382494"/>
            <a:ext cx="11058079" cy="9079"/>
          </a:xfrm>
          <a:prstGeom prst="rect">
            <a:avLst/>
          </a:prstGeom>
          <a:solidFill>
            <a:srgbClr val="C7D6E3"/>
          </a:solidFill>
        </p:spPr>
        <p:txBody>
          <a:bodyPr/>
          <a:lstStyle/>
          <a:p/>
        </p:txBody>
      </p:sp>
      <p:sp>
        <p:nvSpPr>
          <p:cNvPr id="534" name="Shape 53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Knudsen </a:t>
            </a:r>
            <a:r>
              <a:rPr sz="900" b="0" i="0">
                <a:solidFill>
                  <a:srgbClr val="58636E"/>
                </a:solidFill>
                <a:latin typeface="Arial"/>
                <a:ea typeface="Arial"/>
              </a:rPr>
              <a:t>&amp;</a:t>
            </a:r>
            <a:r>
              <a:rPr sz="900" b="0" i="0">
                <a:solidFill>
                  <a:srgbClr val="58636E"/>
                </a:solidFill>
                <a:latin typeface="Arial"/>
                <a:ea typeface="Arial"/>
              </a:rPr>
              <a:t xml:space="preserve"> Konishi (1978); Carr </a:t>
            </a:r>
            <a:r>
              <a:rPr sz="900" b="0" i="0">
                <a:solidFill>
                  <a:srgbClr val="58636E"/>
                </a:solidFill>
                <a:latin typeface="Arial"/>
                <a:ea typeface="Arial"/>
              </a:rPr>
              <a:t>&amp;</a:t>
            </a:r>
            <a:r>
              <a:rPr sz="900" b="0" i="0">
                <a:solidFill>
                  <a:srgbClr val="58636E"/>
                </a:solidFill>
                <a:latin typeface="Arial"/>
                <a:ea typeface="Arial"/>
              </a:rPr>
              <a:t xml:space="preserve"> Konishi (1990); Adolphs (1993); Peña </a:t>
            </a:r>
            <a:r>
              <a:rPr sz="900" b="0" i="0">
                <a:solidFill>
                  <a:srgbClr val="58636E"/>
                </a:solidFill>
                <a:latin typeface="Arial"/>
                <a:ea typeface="Arial"/>
              </a:rPr>
              <a:t>&amp;</a:t>
            </a:r>
            <a:r>
              <a:rPr sz="900" b="0" i="0">
                <a:solidFill>
                  <a:srgbClr val="58636E"/>
                </a:solidFill>
                <a:latin typeface="Arial"/>
                <a:ea typeface="Arial"/>
              </a:rPr>
              <a:t xml:space="preserve"> Konishi (2001); Kettler et al. (2017)</a:t>
            </a:r>
            <a:endParaRPr lang="en-US"/>
          </a:p>
        </p:txBody>
      </p:sp>
      <p:sp>
        <p:nvSpPr>
          <p:cNvPr id="535" name="Shape 53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46</a:t>
            </a:r>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64" name="Shape 46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Multiplication makes one cue scale the other</a:t>
            </a:r>
            <a:endParaRPr lang="en-US"/>
          </a:p>
        </p:txBody>
      </p:sp>
      <p:sp>
        <p:nvSpPr>
          <p:cNvPr id="465" name="Shape 465"/>
          <p:cNvSpPr/>
          <p:nvPr/>
        </p:nvSpPr>
        <p:spPr>
          <a:xfrm>
            <a:off x="566886" y="1234380"/>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In an additive interaction the effects of two cues sum, whereas in a multiplicative interaction the effectiveness of one cue depends on the strength of the other. A multiplicative neuron responds strongly only when both cues are favorable. The distinction determines whether a neuron can act as an AND-like detector for the location of a source.</a:t>
            </a:r>
            <a:endParaRPr lang="en-US"/>
          </a:p>
        </p:txBody>
      </p:sp>
      <p:sp>
        <p:nvSpPr>
          <p:cNvPr id="466" name="Shape 466"/>
          <p:cNvSpPr/>
          <p:nvPr/>
        </p:nvSpPr>
        <p:spPr>
          <a:xfrm>
            <a:off x="566886" y="2901026"/>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Peña and Konishi arranged subthreshold responses in a matrix of ITD and ILD combinations. A matrix analysis separated the responses into ranked components, and a multiplicative component described most of the response structure.</a:t>
            </a:r>
            <a:endParaRPr lang="en-US"/>
          </a:p>
        </p:txBody>
      </p:sp>
      <p:sp>
        <p:nvSpPr>
          <p:cNvPr id="467" name="Shape 467"/>
          <p:cNvSpPr/>
          <p:nvPr/>
        </p:nvSpPr>
        <p:spPr>
          <a:xfrm>
            <a:off x="566886" y="4315298"/>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Multiplication captured the data better than addition. If either cue is absent the product is small, so the response of the neuron is restricted to the combination of timing and level that falls at its preferred location.</a:t>
            </a:r>
            <a:endParaRPr lang="en-US"/>
          </a:p>
        </p:txBody>
      </p:sp>
      <p:pic>
        <p:nvPicPr>
          <p:cNvPr id="155" name="Presenton Native Image 39" descr=""/>
          <p:cNvPicPr/>
          <p:nvPr/>
        </p:nvPicPr>
        <p:blipFill>
          <a:blip r:embed="rId2" cstate="none"/>
          <a:stretch>
            <a:fillRect/>
          </a:stretch>
        </p:blipFill>
        <p:spPr>
          <a:xfrm>
            <a:off x="6870125" y="1280071"/>
            <a:ext cx="4754771" cy="3806130"/>
          </a:xfrm>
          <a:prstGeom prst="rect">
            <a:avLst/>
          </a:prstGeom>
        </p:spPr>
      </p:pic>
      <p:sp>
        <p:nvSpPr>
          <p:cNvPr id="468" name="Shape 468"/>
          <p:cNvSpPr/>
          <p:nvPr/>
        </p:nvSpPr>
        <p:spPr>
          <a:xfrm>
            <a:off x="6870055" y="5177730"/>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(2001), Fig. 2(A–F). Recorded response matrix and the authors’ multiplicative decomposition.</a:t>
            </a:r>
            <a:endParaRPr lang="en-US"/>
          </a:p>
        </p:txBody>
      </p:sp>
      <p:sp>
        <p:nvSpPr>
          <p:cNvPr id="469" name="Shape 469"/>
          <p:cNvSpPr/>
          <p:nvPr/>
        </p:nvSpPr>
        <p:spPr>
          <a:xfrm>
            <a:off x="566886" y="6382494"/>
            <a:ext cx="11058079" cy="9079"/>
          </a:xfrm>
          <a:prstGeom prst="rect">
            <a:avLst/>
          </a:prstGeom>
          <a:solidFill>
            <a:srgbClr val="C7D6E3"/>
          </a:solidFill>
        </p:spPr>
        <p:txBody>
          <a:bodyPr/>
          <a:lstStyle/>
          <a:p/>
        </p:txBody>
      </p:sp>
      <p:sp>
        <p:nvSpPr>
          <p:cNvPr id="470" name="Shape 4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&amp; Konishi (2001)</a:t>
            </a:r>
            <a:endParaRPr lang="en-US"/>
          </a:p>
        </p:txBody>
      </p:sp>
      <p:sp>
        <p:nvSpPr>
          <p:cNvPr id="471" name="Shape 471"/>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39a</a:t>
            </a:r>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6" name="Shape 45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Subthreshold potentials precede spike generation</a:t>
            </a:r>
            <a:endParaRPr lang="en-US"/>
          </a:p>
        </p:txBody>
      </p:sp>
      <p:sp>
        <p:nvSpPr>
          <p:cNvPr id="457" name="Shape 457"/>
          <p:cNvSpPr/>
          <p:nvPr/>
        </p:nvSpPr>
        <p:spPr>
          <a:xfrm>
            <a:off x="566886" y="1234380"/>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 neuron integrates synaptic inputs as changes in membrane voltage before it produces any spikes. Depolarization moves the voltage toward threshold, and hyperpolarization moves it away. Subthreshold recording therefore gives access to the inputs that the neuron receives, which spikes alone do not show.</a:t>
            </a:r>
            <a:endParaRPr lang="en-US"/>
          </a:p>
        </p:txBody>
      </p:sp>
      <p:sp>
        <p:nvSpPr>
          <p:cNvPr id="458" name="Shape 458"/>
          <p:cNvSpPr/>
          <p:nvPr/>
        </p:nvSpPr>
        <p:spPr>
          <a:xfrm>
            <a:off x="566886" y="2901026"/>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Peña and Konishi recorded identified ICx neurons intracellularly and presented ITD and ILD pairs. Responses were depolarizing near a preferred combination and hyperpolarizing outside it, with spike output restricted to a smaller center. The spike output is a thresholded version of the membrane response.</a:t>
            </a:r>
            <a:endParaRPr lang="en-US"/>
          </a:p>
        </p:txBody>
      </p:sp>
      <p:sp>
        <p:nvSpPr>
          <p:cNvPr id="459" name="Shape 459"/>
          <p:cNvSpPr/>
          <p:nvPr/>
        </p:nvSpPr>
        <p:spPr>
          <a:xfrm>
            <a:off x="566886" y="456767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Intracellular recording therefore separates the integration of timing and level from the later thresholding that produces spikes. A depolarization at an unfavorable cue pair may stay below threshold and produce no spikes. The neurons were labeled with neurobiotin, which identified them as ICx cells.</a:t>
            </a:r>
            <a:endParaRPr lang="en-US"/>
          </a:p>
        </p:txBody>
      </p:sp>
      <p:pic>
        <p:nvPicPr>
          <p:cNvPr id="154" name="Presenton Native Image 38" descr=""/>
          <p:cNvPicPr/>
          <p:nvPr/>
        </p:nvPicPr>
        <p:blipFill>
          <a:blip r:embed="rId2" cstate="none"/>
          <a:stretch>
            <a:fillRect/>
          </a:stretch>
        </p:blipFill>
        <p:spPr>
          <a:xfrm>
            <a:off x="7045025" y="1280071"/>
            <a:ext cx="4404821" cy="4297561"/>
          </a:xfrm>
          <a:prstGeom prst="rect">
            <a:avLst/>
          </a:prstGeom>
        </p:spPr>
      </p:pic>
      <p:sp>
        <p:nvSpPr>
          <p:cNvPr id="460" name="Shape 46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Peña </a:t>
            </a:r>
            <a:r>
              <a:rPr sz="1000" b="0" i="0">
                <a:solidFill>
                  <a:srgbClr val="58636E"/>
                </a:solidFill>
                <a:latin typeface="Arial"/>
                <a:ea typeface="Arial"/>
              </a:rPr>
              <a:t>&amp;</a:t>
            </a:r>
            <a:r>
              <a:rPr sz="1000" b="0" i="0">
                <a:solidFill>
                  <a:srgbClr val="58636E"/>
                </a:solidFill>
                <a:latin typeface="Arial"/>
                <a:ea typeface="Arial"/>
              </a:rPr>
              <a:t xml:space="preserve"> Konishi (2001), Fig. 1(A–D). Identified ICx neuron, intracellular potentials, and spatially selective spikes.</a:t>
            </a:r>
            <a:endParaRPr lang="en-US"/>
          </a:p>
        </p:txBody>
      </p:sp>
      <p:sp>
        <p:nvSpPr>
          <p:cNvPr id="461" name="Shape 461"/>
          <p:cNvSpPr/>
          <p:nvPr/>
        </p:nvSpPr>
        <p:spPr>
          <a:xfrm>
            <a:off x="566886" y="6382494"/>
            <a:ext cx="11058079" cy="9079"/>
          </a:xfrm>
          <a:prstGeom prst="rect">
            <a:avLst/>
          </a:prstGeom>
          <a:solidFill>
            <a:srgbClr val="C7D6E3"/>
          </a:solidFill>
        </p:spPr>
        <p:txBody>
          <a:bodyPr/>
          <a:lstStyle/>
          <a:p/>
        </p:txBody>
      </p:sp>
      <p:sp>
        <p:nvSpPr>
          <p:cNvPr id="462" name="Shape 4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Peña &amp; Konishi (2001)</a:t>
            </a:r>
            <a:endParaRPr lang="en-US"/>
          </a:p>
        </p:txBody>
      </p:sp>
      <p:sp>
        <p:nvSpPr>
          <p:cNvPr id="463" name="Shape 463"/>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38a</a:t>
            </a:r>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92" name="Shape 39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Half-maximum ILD summarizes a monotonic level curve</a:t>
            </a:r>
            <a:endParaRPr lang="en-US"/>
          </a:p>
        </p:txBody>
      </p:sp>
      <p:sp>
        <p:nvSpPr>
          <p:cNvPr id="393" name="Shape 393"/>
          <p:cNvSpPr/>
          <p:nvPr/>
        </p:nvSpPr>
        <p:spPr>
          <a:xfrm>
            <a:off x="566886" y="1234380"/>
            <a:ext cx="5956250" cy="1072591"/>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monotonic response keeps rising or keeps falling as a stimulus parameter increases. When the parameter is the interaural level difference, the curve has no peak, so a summary other than a preferred value is needed.</a:t>
            </a:r>
            <a:endParaRPr lang="en-US"/>
          </a:p>
        </p:txBody>
      </p:sp>
      <p:sp>
        <p:nvSpPr>
          <p:cNvPr id="394" name="Shape 394"/>
          <p:cNvSpPr/>
          <p:nvPr/>
        </p:nvSpPr>
        <p:spPr>
          <a:xfrm>
            <a:off x="566886" y="2459371"/>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Manley and colleagues described each VLVp response by its half-maximum point, the ILD at which firing reaches half of its maximum. Dorsal sites had more contralaterally biased half-maximum points, and ventral sites shifted toward ipsilateral values.</a:t>
            </a:r>
            <a:endParaRPr lang="en-US"/>
          </a:p>
        </p:txBody>
      </p:sp>
      <p:sp>
        <p:nvSpPr>
          <p:cNvPr id="395" name="Shape 395"/>
          <p:cNvSpPr/>
          <p:nvPr/>
        </p:nvSpPr>
        <p:spPr>
          <a:xfrm>
            <a:off x="566886" y="395251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The half-maximum point is therefore a position along the binaural level axis, and it varies in an orderly way with recording position. Some cells changed their half-maximum point by 2 dB or less when average binaural level rose by 10 dB.</a:t>
            </a:r>
            <a:endParaRPr lang="en-US"/>
          </a:p>
        </p:txBody>
      </p:sp>
      <p:pic>
        <p:nvPicPr>
          <p:cNvPr id="146" name="Presenton Native Image 30" descr=""/>
          <p:cNvPicPr/>
          <p:nvPr/>
        </p:nvPicPr>
        <p:blipFill>
          <a:blip r:embed="rId2" cstate="none"/>
          <a:stretch>
            <a:fillRect/>
          </a:stretch>
        </p:blipFill>
        <p:spPr>
          <a:xfrm>
            <a:off x="6870125" y="1280071"/>
            <a:ext cx="4754769" cy="2299692"/>
          </a:xfrm>
          <a:prstGeom prst="rect">
            <a:avLst/>
          </a:prstGeom>
        </p:spPr>
      </p:pic>
      <p:sp>
        <p:nvSpPr>
          <p:cNvPr id="396" name="Shape 396"/>
          <p:cNvSpPr/>
          <p:nvPr/>
        </p:nvSpPr>
        <p:spPr>
          <a:xfrm>
            <a:off x="6870055" y="3671292"/>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Manley et al. (1988), Fig. 4(A–B). Dorsoventral ordering and level-stable half-maximum points.</a:t>
            </a:r>
            <a:endParaRPr lang="en-US"/>
          </a:p>
        </p:txBody>
      </p:sp>
      <p:sp>
        <p:nvSpPr>
          <p:cNvPr id="397" name="Shape 397"/>
          <p:cNvSpPr/>
          <p:nvPr/>
        </p:nvSpPr>
        <p:spPr>
          <a:xfrm>
            <a:off x="566886" y="6382494"/>
            <a:ext cx="11058079" cy="9079"/>
          </a:xfrm>
          <a:prstGeom prst="rect">
            <a:avLst/>
          </a:prstGeom>
          <a:solidFill>
            <a:srgbClr val="C7D6E3"/>
          </a:solidFill>
        </p:spPr>
        <p:txBody>
          <a:bodyPr/>
          <a:lstStyle/>
          <a:p/>
        </p:txBody>
      </p:sp>
      <p:sp>
        <p:nvSpPr>
          <p:cNvPr id="398" name="Shape 39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Manley et al. (1988)</a:t>
            </a:r>
            <a:endParaRPr lang="en-US"/>
          </a:p>
        </p:txBody>
      </p:sp>
      <p:sp>
        <p:nvSpPr>
          <p:cNvPr id="399" name="Shape 399"/>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30a</a:t>
            </a:r>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60" name="Shape 36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Broadband sounds contain many frequency periods</a:t>
            </a:r>
            <a:endParaRPr lang="en-US"/>
          </a:p>
        </p:txBody>
      </p:sp>
      <p:sp>
        <p:nvSpPr>
          <p:cNvPr id="361" name="Shape 361"/>
          <p:cNvSpPr/>
          <p:nvPr/>
        </p:nvSpPr>
        <p:spPr>
          <a:xfrm>
            <a:off x="566886" y="1234380"/>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 tone contains a single period, whereas broadband noise contains many frequency components with different periods. Each component produces its own repeated pattern of delay matches. The comparison tests how a neuron treats a single frequency period relative to the combined periods of a broad sound.</a:t>
            </a:r>
            <a:endParaRPr lang="en-US"/>
          </a:p>
        </p:txBody>
      </p:sp>
      <p:sp>
        <p:nvSpPr>
          <p:cNvPr id="362" name="Shape 362"/>
          <p:cNvSpPr/>
          <p:nvPr/>
        </p:nvSpPr>
        <p:spPr>
          <a:xfrm>
            <a:off x="566886" y="2901026"/>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Takahashi and Konishi compared ICx delay curves evoked by a best-frequency tone with curves evoked by broadband noise in the same neuron. Tones produced a principal peak and secondary peaks, and noise greatly reduced the secondary peaks.</a:t>
            </a:r>
            <a:endParaRPr lang="en-US"/>
          </a:p>
        </p:txBody>
      </p:sp>
      <p:sp>
        <p:nvSpPr>
          <p:cNvPr id="363" name="Shape 363"/>
          <p:cNvSpPr/>
          <p:nvPr/>
        </p:nvSpPr>
        <p:spPr>
          <a:xfrm>
            <a:off x="566886" y="4315298"/>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Repeated peaks of different components fall at different delays and do not coincide, but the true delay is common to all components. Summing across frequency channels therefore reinforces the shared delay and diminishes the repeated matches. The principal peak is the one that all frequency components share.</a:t>
            </a:r>
            <a:endParaRPr lang="en-US"/>
          </a:p>
        </p:txBody>
      </p:sp>
      <p:pic>
        <p:nvPicPr>
          <p:cNvPr id="142" name="Presenton Native Image 26" descr=""/>
          <p:cNvPicPr/>
          <p:nvPr/>
        </p:nvPicPr>
        <p:blipFill>
          <a:blip r:embed="rId2" cstate="none"/>
          <a:stretch>
            <a:fillRect/>
          </a:stretch>
        </p:blipFill>
        <p:spPr>
          <a:xfrm>
            <a:off x="8108454" y="1280090"/>
            <a:ext cx="2277963" cy="4297523"/>
          </a:xfrm>
          <a:prstGeom prst="rect">
            <a:avLst/>
          </a:prstGeom>
        </p:spPr>
      </p:pic>
      <p:sp>
        <p:nvSpPr>
          <p:cNvPr id="364" name="Shape 36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Takahashi </a:t>
            </a:r>
            <a:r>
              <a:rPr sz="1000" b="0" i="0">
                <a:solidFill>
                  <a:srgbClr val="58636E"/>
                </a:solidFill>
                <a:latin typeface="Arial"/>
                <a:ea typeface="Arial"/>
              </a:rPr>
              <a:t>&amp;</a:t>
            </a:r>
            <a:r>
              <a:rPr sz="1000" b="0" i="0">
                <a:solidFill>
                  <a:srgbClr val="58636E"/>
                </a:solidFill>
                <a:latin typeface="Arial"/>
                <a:ea typeface="Arial"/>
              </a:rPr>
              <a:t xml:space="preserve"> Konishi (1986), Fig. 7(A–C). Broadband stimulation suppresses the secondary peaks present for tones.</a:t>
            </a:r>
            <a:endParaRPr lang="en-US"/>
          </a:p>
        </p:txBody>
      </p:sp>
      <p:sp>
        <p:nvSpPr>
          <p:cNvPr id="365" name="Shape 365"/>
          <p:cNvSpPr/>
          <p:nvPr/>
        </p:nvSpPr>
        <p:spPr>
          <a:xfrm>
            <a:off x="566886" y="6382494"/>
            <a:ext cx="11058079" cy="9079"/>
          </a:xfrm>
          <a:prstGeom prst="rect">
            <a:avLst/>
          </a:prstGeom>
          <a:solidFill>
            <a:srgbClr val="C7D6E3"/>
          </a:solidFill>
        </p:spPr>
        <p:txBody>
          <a:bodyPr/>
          <a:lstStyle/>
          <a:p/>
        </p:txBody>
      </p:sp>
      <p:sp>
        <p:nvSpPr>
          <p:cNvPr id="366" name="Shape 36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Takahashi &amp; Konishi (1986)</a:t>
            </a:r>
            <a:endParaRPr lang="en-US"/>
          </a:p>
        </p:txBody>
      </p:sp>
      <p:sp>
        <p:nvSpPr>
          <p:cNvPr id="367" name="Shape 367"/>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26a</a:t>
            </a:r>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28" name="Shape 32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Isofrequency laminae stack frequency channels</a:t>
            </a:r>
            <a:endParaRPr lang="en-US"/>
          </a:p>
        </p:txBody>
      </p:sp>
      <p:sp>
        <p:nvSpPr>
          <p:cNvPr id="329" name="Shape 329"/>
          <p:cNvSpPr/>
          <p:nvPr/>
        </p:nvSpPr>
        <p:spPr>
          <a:xfrm>
            <a:off x="566886" y="1234380"/>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An isofrequency lamina is a sheet of neurons with similar frequency tuning. Moving an electrode across laminae samples neurons with different best frequencies. Frequency tuning is the property that organizes the array.</a:t>
            </a:r>
            <a:endParaRPr lang="en-US"/>
          </a:p>
        </p:txBody>
      </p:sp>
      <p:sp>
        <p:nvSpPr>
          <p:cNvPr id="330" name="Shape 330"/>
          <p:cNvSpPr/>
          <p:nvPr/>
        </p:nvSpPr>
        <p:spPr>
          <a:xfrm>
            <a:off x="566886" y="2396278"/>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Wagner and colleagues advanced electrodes dorsoventrally through the central nucleus of the inferior colliculus. In a representative penetration, best frequency rose from approximately 500 Hz to 10 kHz with depth. The recording sites were reconstructed histologically in the experiment.</a:t>
            </a:r>
            <a:endParaRPr lang="en-US"/>
          </a:p>
        </p:txBody>
      </p:sp>
      <p:sp>
        <p:nvSpPr>
          <p:cNvPr id="331" name="Shape 331"/>
          <p:cNvSpPr/>
          <p:nvPr/>
        </p:nvSpPr>
        <p:spPr>
          <a:xfrm>
            <a:off x="566886" y="3810550"/>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 neuron in each lamina has its own period, so the array provides a range of frequencies for testing whether different channels share a common delay. The penetration samples the tonotopic order of the population. The tonotopic order is the basis on which the timing relation across frequency can then be compared.</a:t>
            </a:r>
            <a:endParaRPr lang="en-US"/>
          </a:p>
        </p:txBody>
      </p:sp>
      <p:pic>
        <p:nvPicPr>
          <p:cNvPr id="138" name="Presenton Native Image 22" descr=""/>
          <p:cNvPicPr/>
          <p:nvPr/>
        </p:nvPicPr>
        <p:blipFill>
          <a:blip r:embed="rId2" cstate="none"/>
          <a:stretch>
            <a:fillRect/>
          </a:stretch>
        </p:blipFill>
        <p:spPr>
          <a:xfrm>
            <a:off x="6870100" y="1280071"/>
            <a:ext cx="4754820" cy="3529459"/>
          </a:xfrm>
          <a:prstGeom prst="rect">
            <a:avLst/>
          </a:prstGeom>
        </p:spPr>
      </p:pic>
      <p:sp>
        <p:nvSpPr>
          <p:cNvPr id="332" name="Shape 332"/>
          <p:cNvSpPr/>
          <p:nvPr/>
        </p:nvSpPr>
        <p:spPr>
          <a:xfrm>
            <a:off x="6870055" y="4901059"/>
            <a:ext cx="4773960" cy="13707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Wagner et al. (1987), Fig. 4. Best frequency varies with depth through an array.</a:t>
            </a:r>
            <a:endParaRPr lang="en-US"/>
          </a:p>
        </p:txBody>
      </p:sp>
      <p:sp>
        <p:nvSpPr>
          <p:cNvPr id="333" name="Shape 333"/>
          <p:cNvSpPr/>
          <p:nvPr/>
        </p:nvSpPr>
        <p:spPr>
          <a:xfrm>
            <a:off x="566886" y="6382494"/>
            <a:ext cx="11058079" cy="9079"/>
          </a:xfrm>
          <a:prstGeom prst="rect">
            <a:avLst/>
          </a:prstGeom>
          <a:solidFill>
            <a:srgbClr val="C7D6E3"/>
          </a:solidFill>
        </p:spPr>
        <p:txBody>
          <a:bodyPr/>
          <a:lstStyle/>
          <a:p/>
        </p:txBody>
      </p:sp>
      <p:sp>
        <p:nvSpPr>
          <p:cNvPr id="334" name="Shape 33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Wagner et al. (1987)</a:t>
            </a:r>
            <a:endParaRPr lang="en-US"/>
          </a:p>
        </p:txBody>
      </p:sp>
      <p:sp>
        <p:nvSpPr>
          <p:cNvPr id="335" name="Shape 335"/>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22a</a:t>
            </a:r>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12" name="Shape 31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Periodic channels confuse delays one period apart</a:t>
            </a:r>
            <a:endParaRPr lang="en-US"/>
          </a:p>
        </p:txBody>
      </p:sp>
      <p:sp>
        <p:nvSpPr>
          <p:cNvPr id="313" name="Shape 313"/>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 narrowband channel is driven by a tone, which repeats every period. The same phase relationship between the two ears recurs whenever the interaural delay changes by one period of the tone. The firing rate of the neuron therefore peaks repeatedly as the delay changes.</a:t>
            </a:r>
            <a:endParaRPr lang="en-US"/>
          </a:p>
        </p:txBody>
      </p:sp>
      <p:sp>
        <p:nvSpPr>
          <p:cNvPr id="314" name="Shape 314"/>
          <p:cNvSpPr/>
          <p:nvPr/>
        </p:nvSpPr>
        <p:spPr>
          <a:xfrm>
            <a:off x="566886" y="2727519"/>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At 4 kHz the period is 250 µs, so alignment recurs at delays separated by 250 µs. Carr and Konishi measured repeated firing maxima across a range of imposed delays, and the spacing of the maxima matched the stimulus frequency.</a:t>
            </a:r>
            <a:endParaRPr lang="en-US"/>
          </a:p>
        </p:txBody>
      </p:sp>
      <p:sp>
        <p:nvSpPr>
          <p:cNvPr id="315" name="Shape 315"/>
          <p:cNvSpPr/>
          <p:nvPr/>
        </p:nvSpPr>
        <p:spPr>
          <a:xfrm>
            <a:off x="566886" y="4220658"/>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Phase ambiguity is the inability of one narrowband channel to identify a unique ITD from its firing rate. Information from other frequency channels, which have different periods, can identify the one delay that all channels share.</a:t>
            </a:r>
            <a:endParaRPr lang="en-US"/>
          </a:p>
        </p:txBody>
      </p:sp>
      <p:pic>
        <p:nvPicPr>
          <p:cNvPr id="136" name="Presenton Native Image 20" descr=""/>
          <p:cNvPicPr/>
          <p:nvPr/>
        </p:nvPicPr>
        <p:blipFill>
          <a:blip r:embed="rId2" cstate="none"/>
          <a:stretch>
            <a:fillRect/>
          </a:stretch>
        </p:blipFill>
        <p:spPr>
          <a:xfrm>
            <a:off x="8219537" y="1280071"/>
            <a:ext cx="2055946" cy="4297561"/>
          </a:xfrm>
          <a:prstGeom prst="rect">
            <a:avLst/>
          </a:prstGeom>
        </p:spPr>
      </p:pic>
      <p:sp>
        <p:nvSpPr>
          <p:cNvPr id="316" name="Shape 31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12. Periodic interaural-delay response curves of laminaris neurons.</a:t>
            </a:r>
            <a:endParaRPr lang="en-US"/>
          </a:p>
        </p:txBody>
      </p:sp>
      <p:sp>
        <p:nvSpPr>
          <p:cNvPr id="317" name="Shape 317"/>
          <p:cNvSpPr/>
          <p:nvPr/>
        </p:nvSpPr>
        <p:spPr>
          <a:xfrm>
            <a:off x="566886" y="6382494"/>
            <a:ext cx="11058079" cy="9079"/>
          </a:xfrm>
          <a:prstGeom prst="rect">
            <a:avLst/>
          </a:prstGeom>
          <a:solidFill>
            <a:srgbClr val="C7D6E3"/>
          </a:solidFill>
        </p:spPr>
        <p:txBody>
          <a:bodyPr/>
          <a:lstStyle/>
          <a:p/>
        </p:txBody>
      </p:sp>
      <p:sp>
        <p:nvSpPr>
          <p:cNvPr id="318" name="Shape 31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&amp; Konishi (1990)</a:t>
            </a:r>
            <a:endParaRPr lang="en-US"/>
          </a:p>
        </p:txBody>
      </p:sp>
      <p:sp>
        <p:nvSpPr>
          <p:cNvPr id="319" name="Shape 319"/>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20a</a:t>
            </a:r>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04" name="Shape 30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Coincidence detectors fire when inputs arrive together</a:t>
            </a:r>
            <a:endParaRPr lang="en-US"/>
          </a:p>
        </p:txBody>
      </p:sp>
      <p:sp>
        <p:nvSpPr>
          <p:cNvPr id="305" name="Shape 305"/>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coincidence detector responds strongly when two inputs arrive within a short interval and weakly when they arrive apart. Such a neuron signals simultaneity of its inputs. In the owl the two inputs come from the two ears through the delay-line axons of nucleus magnocellularis.</a:t>
            </a:r>
            <a:endParaRPr lang="en-US"/>
          </a:p>
        </p:txBody>
      </p:sp>
      <p:sp>
        <p:nvSpPr>
          <p:cNvPr id="306" name="Shape 306"/>
          <p:cNvSpPr/>
          <p:nvPr/>
        </p:nvSpPr>
        <p:spPr>
          <a:xfrm>
            <a:off x="566886" y="2727519"/>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Carr and Konishi stimulated each ear separately and then varied ITD during binaural stimulation. At a favorable delay the response of one neuron rose to 1107 spikes, compared with 393 and 360 for the two separate-ear conditions. The recordings were made inside the nucleus laminaris with intracellular electrodes.</a:t>
            </a:r>
            <a:endParaRPr lang="en-US"/>
          </a:p>
        </p:txBody>
      </p:sp>
      <p:sp>
        <p:nvSpPr>
          <p:cNvPr id="307" name="Shape 307"/>
          <p:cNvSpPr/>
          <p:nvPr/>
        </p:nvSpPr>
        <p:spPr>
          <a:xfrm>
            <a:off x="566886" y="4488806"/>
            <a:ext cx="5956250" cy="1072591"/>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The binaural response was much larger than either monaural response, and unfavorable delays gave much smaller responses. The response therefore depended on the relative timing of the inputs from the two ears.</a:t>
            </a:r>
            <a:endParaRPr lang="en-US"/>
          </a:p>
        </p:txBody>
      </p:sp>
      <p:pic>
        <p:nvPicPr>
          <p:cNvPr id="135" name="Presenton Native Image 19" descr=""/>
          <p:cNvPicPr/>
          <p:nvPr/>
        </p:nvPicPr>
        <p:blipFill>
          <a:blip r:embed="rId2" cstate="none"/>
          <a:stretch>
            <a:fillRect/>
          </a:stretch>
        </p:blipFill>
        <p:spPr>
          <a:xfrm>
            <a:off x="7288439" y="1280071"/>
            <a:ext cx="3917845" cy="4297561"/>
          </a:xfrm>
          <a:prstGeom prst="rect">
            <a:avLst/>
          </a:prstGeom>
        </p:spPr>
      </p:pic>
      <p:sp>
        <p:nvSpPr>
          <p:cNvPr id="308" name="Shape 30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13(A–D). Monaural and binaural spikes in a coincidence-detecting neuron.</a:t>
            </a:r>
            <a:endParaRPr lang="en-US"/>
          </a:p>
        </p:txBody>
      </p:sp>
      <p:sp>
        <p:nvSpPr>
          <p:cNvPr id="309" name="Shape 309"/>
          <p:cNvSpPr/>
          <p:nvPr/>
        </p:nvSpPr>
        <p:spPr>
          <a:xfrm>
            <a:off x="566886" y="6382494"/>
            <a:ext cx="11058079" cy="9079"/>
          </a:xfrm>
          <a:prstGeom prst="rect">
            <a:avLst/>
          </a:prstGeom>
          <a:solidFill>
            <a:srgbClr val="C7D6E3"/>
          </a:solidFill>
        </p:spPr>
        <p:txBody>
          <a:bodyPr/>
          <a:lstStyle/>
          <a:p/>
        </p:txBody>
      </p:sp>
      <p:sp>
        <p:nvSpPr>
          <p:cNvPr id="310" name="Shape 31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&amp; Konishi (1990)</a:t>
            </a:r>
            <a:endParaRPr lang="en-US"/>
          </a:p>
        </p:txBody>
      </p:sp>
      <p:sp>
        <p:nvSpPr>
          <p:cNvPr id="311" name="Shape 311"/>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19a</a:t>
            </a:r>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80" name="Shape 28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Phase repeats each cycle, so phase appears to wrap</a:t>
            </a:r>
            <a:endParaRPr lang="en-US"/>
          </a:p>
        </p:txBody>
      </p:sp>
      <p:sp>
        <p:nvSpPr>
          <p:cNvPr id="281" name="Shape 281"/>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Phase is measured within one cycle of a tone, so it returns to its starting value after a complete period. A delay that keeps increasing therefore produces a phase that repeats. The same logic applies to every frequency, but the length of the period depends on the frequency of the tone.</a:t>
            </a:r>
            <a:endParaRPr lang="en-US"/>
          </a:p>
        </p:txBody>
      </p:sp>
      <p:sp>
        <p:nvSpPr>
          <p:cNvPr id="282" name="Shape 282"/>
          <p:cNvSpPr/>
          <p:nvPr/>
        </p:nvSpPr>
        <p:spPr>
          <a:xfrm>
            <a:off x="566886" y="2727519"/>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At 4 kHz the period is 250 µs, and at 5.5 kHz it is approximately 182 µs. In a 7-kHz region, abrupt phase jumps corresponded to crossing into the next stimulus cycle. The period is the reciprocal of the frequency, and a higher frequency has a shorter period.</a:t>
            </a:r>
            <a:endParaRPr lang="en-US"/>
          </a:p>
        </p:txBody>
      </p:sp>
      <p:sp>
        <p:nvSpPr>
          <p:cNvPr id="283" name="Shape 283"/>
          <p:cNvSpPr/>
          <p:nvPr/>
        </p:nvSpPr>
        <p:spPr>
          <a:xfrm>
            <a:off x="566886" y="4220658"/>
            <a:ext cx="5956250" cy="1072591"/>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Unwrapping the phase shows a continuous gradient of delay with depth. The mean phase changed regularly across the nucleus, which indicates orderly neural delays and not independent timing at each recording site.</a:t>
            </a:r>
            <a:endParaRPr lang="en-US"/>
          </a:p>
        </p:txBody>
      </p:sp>
      <p:pic>
        <p:nvPicPr>
          <p:cNvPr id="132" name="Presenton Native Image 16" descr=""/>
          <p:cNvPicPr/>
          <p:nvPr/>
        </p:nvPicPr>
        <p:blipFill>
          <a:blip r:embed="rId2" cstate="none"/>
          <a:stretch>
            <a:fillRect/>
          </a:stretch>
        </p:blipFill>
        <p:spPr>
          <a:xfrm>
            <a:off x="8030387" y="1280071"/>
            <a:ext cx="2434246" cy="4297561"/>
          </a:xfrm>
          <a:prstGeom prst="rect">
            <a:avLst/>
          </a:prstGeom>
        </p:spPr>
      </p:pic>
      <p:sp>
        <p:nvSpPr>
          <p:cNvPr id="284" name="Shape 28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7(A–C). Input spike phase changes systematically with recording depth.</a:t>
            </a:r>
            <a:endParaRPr lang="en-US"/>
          </a:p>
        </p:txBody>
      </p:sp>
      <p:sp>
        <p:nvSpPr>
          <p:cNvPr id="285" name="Shape 285"/>
          <p:cNvSpPr/>
          <p:nvPr/>
        </p:nvSpPr>
        <p:spPr>
          <a:xfrm>
            <a:off x="566886" y="6382494"/>
            <a:ext cx="11058079" cy="9079"/>
          </a:xfrm>
          <a:prstGeom prst="rect">
            <a:avLst/>
          </a:prstGeom>
          <a:solidFill>
            <a:srgbClr val="C7D6E3"/>
          </a:solidFill>
        </p:spPr>
        <p:txBody>
          <a:bodyPr/>
          <a:lstStyle/>
          <a:p/>
        </p:txBody>
      </p:sp>
      <p:sp>
        <p:nvSpPr>
          <p:cNvPr id="286" name="Shape 28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&amp; Konishi (1990)</a:t>
            </a:r>
            <a:endParaRPr lang="en-US"/>
          </a:p>
        </p:txBody>
      </p:sp>
      <p:sp>
        <p:nvSpPr>
          <p:cNvPr id="287" name="Shape 287"/>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16a</a:t>
            </a:r>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72" name="Shape 2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 delay line makes travel time depend on position</a:t>
            </a:r>
            <a:endParaRPr lang="en-US"/>
          </a:p>
        </p:txBody>
      </p:sp>
      <p:sp>
        <p:nvSpPr>
          <p:cNvPr id="273" name="Shape 273"/>
          <p:cNvSpPr/>
          <p:nvPr/>
        </p:nvSpPr>
        <p:spPr>
          <a:xfrm>
            <a:off x="566886" y="1234380"/>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delay line is a pathway in which travel time changes with position along its length. Axons that enter a nucleus from opposite borders create such an arrangement when each input reaches successive neurons at systematically different times.</a:t>
            </a:r>
            <a:endParaRPr lang="en-US"/>
          </a:p>
        </p:txBody>
      </p:sp>
      <p:sp>
        <p:nvSpPr>
          <p:cNvPr id="274" name="Shape 274"/>
          <p:cNvSpPr/>
          <p:nvPr/>
        </p:nvSpPr>
        <p:spPr>
          <a:xfrm>
            <a:off x="566886" y="2727519"/>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Carr and Konishi labeled NM axons with HRP and followed them through serial sections. Ipsilateral branches approached the dorsal border of laminaris, and contralateral branches approached the ventral border. The published reconstruction includes a scale bar of 1 mm.</a:t>
            </a:r>
            <a:endParaRPr lang="en-US"/>
          </a:p>
        </p:txBody>
      </p:sp>
      <p:sp>
        <p:nvSpPr>
          <p:cNvPr id="275" name="Shape 275"/>
          <p:cNvSpPr/>
          <p:nvPr/>
        </p:nvSpPr>
        <p:spPr>
          <a:xfrm>
            <a:off x="566886" y="4220658"/>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neuron deep in the nucleus receives the ipsilateral input after a longer path than the contralateral input, whereas a neuron near the dorsal edge shows the reverse. Position within laminaris therefore corresponds to a particular difference in arrival time.</a:t>
            </a:r>
            <a:endParaRPr lang="en-US"/>
          </a:p>
        </p:txBody>
      </p:sp>
      <p:pic>
        <p:nvPicPr>
          <p:cNvPr id="131" name="Presenton Native Image 15" descr=""/>
          <p:cNvPicPr/>
          <p:nvPr/>
        </p:nvPicPr>
        <p:blipFill>
          <a:blip r:embed="rId2" cstate="none"/>
          <a:stretch>
            <a:fillRect/>
          </a:stretch>
        </p:blipFill>
        <p:spPr>
          <a:xfrm>
            <a:off x="6870274" y="1280071"/>
            <a:ext cx="4754472" cy="2039838"/>
          </a:xfrm>
          <a:prstGeom prst="rect">
            <a:avLst/>
          </a:prstGeom>
        </p:spPr>
      </p:pic>
      <p:sp>
        <p:nvSpPr>
          <p:cNvPr id="276" name="Shape 276"/>
          <p:cNvSpPr/>
          <p:nvPr/>
        </p:nvSpPr>
        <p:spPr>
          <a:xfrm>
            <a:off x="6870055" y="3411438"/>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Carr </a:t>
            </a:r>
            <a:r>
              <a:rPr sz="1000" b="0" i="0">
                <a:solidFill>
                  <a:srgbClr val="58636E"/>
                </a:solidFill>
                <a:latin typeface="Arial"/>
                <a:ea typeface="Arial"/>
              </a:rPr>
              <a:t>&amp;</a:t>
            </a:r>
            <a:r>
              <a:rPr sz="1000" b="0" i="0">
                <a:solidFill>
                  <a:srgbClr val="58636E"/>
                </a:solidFill>
                <a:latin typeface="Arial"/>
                <a:ea typeface="Arial"/>
              </a:rPr>
              <a:t xml:space="preserve"> Konishi (1990), Fig. 2. Published traced magnocellular axons entering laminaris from opposite borders.</a:t>
            </a:r>
            <a:endParaRPr lang="en-US"/>
          </a:p>
        </p:txBody>
      </p:sp>
      <p:sp>
        <p:nvSpPr>
          <p:cNvPr id="277" name="Shape 277"/>
          <p:cNvSpPr/>
          <p:nvPr/>
        </p:nvSpPr>
        <p:spPr>
          <a:xfrm>
            <a:off x="566886" y="6382494"/>
            <a:ext cx="11058079" cy="9079"/>
          </a:xfrm>
          <a:prstGeom prst="rect">
            <a:avLst/>
          </a:prstGeom>
          <a:solidFill>
            <a:srgbClr val="C7D6E3"/>
          </a:solidFill>
        </p:spPr>
        <p:txBody>
          <a:bodyPr/>
          <a:lstStyle/>
          <a:p/>
        </p:txBody>
      </p:sp>
      <p:sp>
        <p:nvSpPr>
          <p:cNvPr id="278" name="Shape 2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Carr &amp; Konishi (1990)</a:t>
            </a:r>
            <a:endParaRPr lang="en-US"/>
          </a:p>
        </p:txBody>
      </p:sp>
      <p:sp>
        <p:nvSpPr>
          <p:cNvPr id="279" name="Shape 279"/>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15a</a:t>
            </a:r>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48" name="Shape 248"/>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Vector strength measures how tightly spikes align</a:t>
            </a:r>
            <a:endParaRPr lang="en-US"/>
          </a:p>
        </p:txBody>
      </p:sp>
      <p:sp>
        <p:nvSpPr>
          <p:cNvPr id="249" name="Shape 249"/>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Vector strength is a number between zero and one that describes how tightly spikes cluster at one phase of a repeating sound. Values near one mean that spikes occur at nearly the same phase, and values near zero mean that the phases are dispersed.</a:t>
            </a:r>
            <a:endParaRPr lang="en-US"/>
          </a:p>
        </p:txBody>
      </p:sp>
      <p:sp>
        <p:nvSpPr>
          <p:cNvPr id="250" name="Shape 250"/>
          <p:cNvSpPr/>
          <p:nvPr/>
        </p:nvSpPr>
        <p:spPr>
          <a:xfrm>
            <a:off x="566886" y="2648652"/>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Köppl measured vector strength in single auditory-nerve fibers across frequency and level. Phase locking extended to approximately 10 kHz, with its quality declining as frequency rose and showing a plateau around 1.5 to 3 kHz.</a:t>
            </a:r>
            <a:endParaRPr lang="en-US"/>
          </a:p>
        </p:txBody>
      </p:sp>
      <p:sp>
        <p:nvSpPr>
          <p:cNvPr id="251" name="Shape 251"/>
          <p:cNvSpPr/>
          <p:nvPr/>
        </p:nvSpPr>
        <p:spPr>
          <a:xfrm>
            <a:off x="566886" y="381055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Phase organization could be detected below the level at which average spike rate clearly increased, so timing and rate carry different information. The auditory nerve therefore supplies the brainstem with a temporal code for ITD processing.</a:t>
            </a:r>
            <a:endParaRPr lang="en-US"/>
          </a:p>
        </p:txBody>
      </p:sp>
      <p:pic>
        <p:nvPicPr>
          <p:cNvPr id="128" name="Presenton Native Image 12" descr=""/>
          <p:cNvPicPr/>
          <p:nvPr/>
        </p:nvPicPr>
        <p:blipFill>
          <a:blip r:embed="rId2" cstate="none"/>
          <a:stretch>
            <a:fillRect/>
          </a:stretch>
        </p:blipFill>
        <p:spPr>
          <a:xfrm>
            <a:off x="8260407" y="1280100"/>
            <a:ext cx="1974056" cy="4297503"/>
          </a:xfrm>
          <a:prstGeom prst="rect">
            <a:avLst/>
          </a:prstGeom>
        </p:spPr>
      </p:pic>
      <p:sp>
        <p:nvSpPr>
          <p:cNvPr id="252" name="Shape 25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Köppl (1997), Fig. 1(A–N). Auditory-nerve phase locking at high stimulus frequencies.</a:t>
            </a:r>
            <a:endParaRPr lang="en-US"/>
          </a:p>
        </p:txBody>
      </p:sp>
      <p:sp>
        <p:nvSpPr>
          <p:cNvPr id="253" name="Shape 253"/>
          <p:cNvSpPr/>
          <p:nvPr/>
        </p:nvSpPr>
        <p:spPr>
          <a:xfrm>
            <a:off x="566886" y="6382494"/>
            <a:ext cx="11058079" cy="9079"/>
          </a:xfrm>
          <a:prstGeom prst="rect">
            <a:avLst/>
          </a:prstGeom>
          <a:solidFill>
            <a:srgbClr val="C7D6E3"/>
          </a:solidFill>
        </p:spPr>
        <p:txBody>
          <a:bodyPr/>
          <a:lstStyle/>
          <a:p/>
        </p:txBody>
      </p:sp>
      <p:sp>
        <p:nvSpPr>
          <p:cNvPr id="254" name="Shape 2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Köppl (1997)</a:t>
            </a:r>
            <a:endParaRPr lang="en-US"/>
          </a:p>
        </p:txBody>
      </p:sp>
      <p:sp>
        <p:nvSpPr>
          <p:cNvPr id="255" name="Shape 255"/>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12a</a:t>
            </a:r>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32" name="Shape 23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Phase locking keeps spike timing within a sound cycle</a:t>
            </a:r>
            <a:endParaRPr lang="en-US"/>
          </a:p>
        </p:txBody>
      </p:sp>
      <p:sp>
        <p:nvSpPr>
          <p:cNvPr id="233" name="Shape 233"/>
          <p:cNvSpPr/>
          <p:nvPr/>
        </p:nvSpPr>
        <p:spPr>
          <a:xfrm>
            <a:off x="566886" y="1234380"/>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 sound wave repeats in cycles, and phase is the position within a cycle. A phase-locked neuron fires at a preferred phase, so its spike times carry the timing of the waveform. Phase locking is the property that allows timing information to be carried by spike times.</a:t>
            </a:r>
            <a:endParaRPr lang="en-US"/>
          </a:p>
        </p:txBody>
      </p:sp>
      <p:sp>
        <p:nvSpPr>
          <p:cNvPr id="234" name="Shape 234"/>
          <p:cNvSpPr/>
          <p:nvPr/>
        </p:nvSpPr>
        <p:spPr>
          <a:xfrm>
            <a:off x="566886" y="2648652"/>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Sullivan and Konishi grouped spike times from NM neurons into period histograms that align successive stimulus cycles. NM neurons retained phase locking at frequencies up to 9 kHz. A period histogram of a strongly phase-locked neuron has a sharp peak at one phase.</a:t>
            </a:r>
            <a:endParaRPr lang="en-US"/>
          </a:p>
        </p:txBody>
      </p:sp>
      <p:sp>
        <p:nvSpPr>
          <p:cNvPr id="235" name="Shape 235"/>
          <p:cNvSpPr/>
          <p:nvPr/>
        </p:nvSpPr>
        <p:spPr>
          <a:xfrm>
            <a:off x="566886" y="4062924"/>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Spikes could occur on different cycles and still cluster at one position within the cycle, so timing survives without one spike per cycle. The narrow rate-level functions of NM suggest that its output is specialized for transmitting timing.</a:t>
            </a:r>
            <a:endParaRPr lang="en-US"/>
          </a:p>
        </p:txBody>
      </p:sp>
      <p:pic>
        <p:nvPicPr>
          <p:cNvPr id="126" name="Presenton Native Image 10" descr=""/>
          <p:cNvPicPr/>
          <p:nvPr/>
        </p:nvPicPr>
        <p:blipFill>
          <a:blip r:embed="rId2" cstate="none"/>
          <a:stretch>
            <a:fillRect/>
          </a:stretch>
        </p:blipFill>
        <p:spPr>
          <a:xfrm>
            <a:off x="6870089" y="1280071"/>
            <a:ext cx="4754842" cy="2365474"/>
          </a:xfrm>
          <a:prstGeom prst="rect">
            <a:avLst/>
          </a:prstGeom>
        </p:spPr>
      </p:pic>
      <p:sp>
        <p:nvSpPr>
          <p:cNvPr id="236" name="Shape 236"/>
          <p:cNvSpPr/>
          <p:nvPr/>
        </p:nvSpPr>
        <p:spPr>
          <a:xfrm>
            <a:off x="6870055" y="3737074"/>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Sullivan </a:t>
            </a:r>
            <a:r>
              <a:rPr sz="1000" b="0" i="0">
                <a:solidFill>
                  <a:srgbClr val="58636E"/>
                </a:solidFill>
                <a:latin typeface="Arial"/>
                <a:ea typeface="Arial"/>
              </a:rPr>
              <a:t>&amp;</a:t>
            </a:r>
            <a:r>
              <a:rPr sz="1000" b="0" i="0">
                <a:solidFill>
                  <a:srgbClr val="58636E"/>
                </a:solidFill>
                <a:latin typeface="Arial"/>
                <a:ea typeface="Arial"/>
              </a:rPr>
              <a:t xml:space="preserve"> Konishi (1984), Fig. 1(A–D). Phase-locked magnocellular spike distributions.</a:t>
            </a:r>
            <a:endParaRPr lang="en-US"/>
          </a:p>
        </p:txBody>
      </p:sp>
      <p:sp>
        <p:nvSpPr>
          <p:cNvPr id="237" name="Shape 237"/>
          <p:cNvSpPr/>
          <p:nvPr/>
        </p:nvSpPr>
        <p:spPr>
          <a:xfrm>
            <a:off x="566886" y="6382494"/>
            <a:ext cx="11058079" cy="9079"/>
          </a:xfrm>
          <a:prstGeom prst="rect">
            <a:avLst/>
          </a:prstGeom>
          <a:solidFill>
            <a:srgbClr val="C7D6E3"/>
          </a:solidFill>
        </p:spPr>
        <p:txBody>
          <a:bodyPr/>
          <a:lstStyle/>
          <a:p/>
        </p:txBody>
      </p:sp>
      <p:sp>
        <p:nvSpPr>
          <p:cNvPr id="238" name="Shape 23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Sullivan &amp; Konishi (1984)</a:t>
            </a:r>
            <a:endParaRPr lang="en-US"/>
          </a:p>
        </p:txBody>
      </p:sp>
      <p:sp>
        <p:nvSpPr>
          <p:cNvPr id="239" name="Shape 239"/>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10a</a:t>
            </a:r>
            <a:endParaRPr lang="en-US"/>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6" name="Shape 21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 double dissociation separates two pathways</a:t>
            </a:r>
            <a:endParaRPr lang="en-US"/>
          </a:p>
        </p:txBody>
      </p:sp>
      <p:sp>
        <p:nvSpPr>
          <p:cNvPr id="217" name="Shape 217"/>
          <p:cNvSpPr/>
          <p:nvPr/>
        </p:nvSpPr>
        <p:spPr>
          <a:xfrm>
            <a:off x="566886" y="1234380"/>
            <a:ext cx="5956250" cy="1514246"/>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A double dissociation occurs when disrupting one pathway impairs one function and spares another, whereas disrupting a second pathway produces the reverse pattern. The pattern shows that the two functions depend on different pathways. The result is a selective effect on one binaural cue for each nucleus.</a:t>
            </a:r>
            <a:endParaRPr lang="en-US"/>
          </a:p>
        </p:txBody>
      </p:sp>
      <p:sp>
        <p:nvSpPr>
          <p:cNvPr id="218" name="Shape 218"/>
          <p:cNvSpPr/>
          <p:nvPr/>
        </p:nvSpPr>
        <p:spPr>
          <a:xfrm>
            <a:off x="566886" y="2901026"/>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Lidocaine injected into nucleus angularis altered the ILD tuning of a space-specific midbrain neuron and left the ITD peak stable. Injected into nucleus magnocellularis, it altered ITD tuning and left the preferred ILD approximately unchanged.</a:t>
            </a:r>
            <a:endParaRPr lang="en-US"/>
          </a:p>
        </p:txBody>
      </p:sp>
      <p:sp>
        <p:nvSpPr>
          <p:cNvPr id="219" name="Shape 219"/>
          <p:cNvSpPr/>
          <p:nvPr/>
        </p:nvSpPr>
        <p:spPr>
          <a:xfrm>
            <a:off x="566886" y="4315298"/>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Recovery after each injection and histology of the injection sites linked the changes to a reversible, localized manipulation. The two cochlear nuclei therefore feed separate processing streams for timing and level before the cues converge in the midbrain.</a:t>
            </a:r>
            <a:endParaRPr lang="en-US"/>
          </a:p>
        </p:txBody>
      </p:sp>
      <p:pic>
        <p:nvPicPr>
          <p:cNvPr id="124" name="Presenton Native Image 8" descr=""/>
          <p:cNvPicPr/>
          <p:nvPr/>
        </p:nvPicPr>
        <p:blipFill>
          <a:blip r:embed="rId2" cstate="none"/>
          <a:stretch>
            <a:fillRect/>
          </a:stretch>
        </p:blipFill>
        <p:spPr>
          <a:xfrm>
            <a:off x="6870120" y="1280071"/>
            <a:ext cx="4754779" cy="2209056"/>
          </a:xfrm>
          <a:prstGeom prst="rect">
            <a:avLst/>
          </a:prstGeom>
        </p:spPr>
      </p:pic>
      <p:sp>
        <p:nvSpPr>
          <p:cNvPr id="220" name="Shape 220"/>
          <p:cNvSpPr/>
          <p:nvPr/>
        </p:nvSpPr>
        <p:spPr>
          <a:xfrm>
            <a:off x="6870055" y="3580656"/>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Takahashi et al. (1984), Fig. 3. Magnocellularis inactivation changes time tuning while sparing level tuning.</a:t>
            </a:r>
            <a:endParaRPr lang="en-US"/>
          </a:p>
        </p:txBody>
      </p:sp>
      <p:sp>
        <p:nvSpPr>
          <p:cNvPr id="221" name="Shape 221"/>
          <p:cNvSpPr/>
          <p:nvPr/>
        </p:nvSpPr>
        <p:spPr>
          <a:xfrm>
            <a:off x="566886" y="6382494"/>
            <a:ext cx="11058079" cy="9079"/>
          </a:xfrm>
          <a:prstGeom prst="rect">
            <a:avLst/>
          </a:prstGeom>
          <a:solidFill>
            <a:srgbClr val="C7D6E3"/>
          </a:solidFill>
        </p:spPr>
        <p:txBody>
          <a:bodyPr/>
          <a:lstStyle/>
          <a:p/>
        </p:txBody>
      </p:sp>
      <p:sp>
        <p:nvSpPr>
          <p:cNvPr id="222" name="Shape 22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Takahashi et al. (1984)</a:t>
            </a:r>
            <a:endParaRPr lang="en-US"/>
          </a:p>
        </p:txBody>
      </p:sp>
      <p:sp>
        <p:nvSpPr>
          <p:cNvPr id="223" name="Shape 223"/>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08a</a:t>
            </a:r>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92" name="Shape 19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Neighboring neurons represent neighboring locations</a:t>
            </a:r>
            <a:endParaRPr lang="en-US"/>
          </a:p>
        </p:txBody>
      </p:sp>
      <p:sp>
        <p:nvSpPr>
          <p:cNvPr id="193" name="Shape 193"/>
          <p:cNvSpPr/>
          <p:nvPr/>
        </p:nvSpPr>
        <p:spPr>
          <a:xfrm>
            <a:off x="566886" y="1234380"/>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A topographic map places neurons with similar preferences next to one another in the tissue. In the auditory midbrain of the owl, the preferred location of a neuron changed in an orderly way along the electrode track.</a:t>
            </a:r>
            <a:endParaRPr lang="en-US"/>
          </a:p>
        </p:txBody>
      </p:sp>
      <p:sp>
        <p:nvSpPr>
          <p:cNvPr id="194" name="Shape 194"/>
          <p:cNvSpPr/>
          <p:nvPr/>
        </p:nvSpPr>
        <p:spPr>
          <a:xfrm>
            <a:off x="566886" y="2396278"/>
            <a:ext cx="5956250" cy="1009498"/>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Best-area azimuth shifted from approximately 60° contralateral in the posterolateral region to 15° ipsilateral anteromedially. Best-area elevation ranged from about +20° down to −90°, with higher directions represented dorsally.</a:t>
            </a:r>
            <a:endParaRPr lang="en-US"/>
          </a:p>
        </p:txBody>
      </p:sp>
      <p:sp>
        <p:nvSpPr>
          <p:cNvPr id="195" name="Shape 195"/>
          <p:cNvSpPr/>
          <p:nvPr/>
        </p:nvSpPr>
        <p:spPr>
          <a:xfrm>
            <a:off x="566886" y="3558176"/>
            <a:ext cx="5956250" cy="1261872"/>
          </a:xfrm>
          <a:prstGeom prst="rect">
            <a:avLst/>
          </a:prstGeom>
          <a:noFill/>
        </p:spPr>
        <p:txBody>
          <a:bodyPr anchor="t" wrap="square" tIns="0" bIns="0" lIns="0" rIns="0">
            <a:normAutofit/>
          </a:bodyPr>
          <a:lstStyle/>
          <a:p>
            <a:pPr algn="l">
              <a:lnSpc>
                <a:spcPts val="1728"/>
              </a:lnSpc>
              <a:buNone/>
            </a:pPr>
            <a:r>
              <a:rPr sz="1600" b="0" i="0">
                <a:solidFill>
                  <a:srgbClr val="1F262D"/>
                </a:solidFill>
                <a:latin typeface="Arial"/>
                <a:ea typeface="Arial"/>
              </a:rPr>
              <a:t xml:space="preserve">The cochlea represents sound frequency along its length and does not represent location, so the map of space is computed in the brain. The preserved best-area location across tones, clicks, noise and levels indicates that the neurons represent where a sound is and not what it sounds like.</a:t>
            </a:r>
            <a:endParaRPr lang="en-US"/>
          </a:p>
        </p:txBody>
      </p:sp>
      <p:pic>
        <p:nvPicPr>
          <p:cNvPr id="121" name="Presenton Native Image 5" descr=""/>
          <p:cNvPicPr/>
          <p:nvPr/>
        </p:nvPicPr>
        <p:blipFill>
          <a:blip r:embed="rId2" cstate="none"/>
          <a:stretch>
            <a:fillRect/>
          </a:stretch>
        </p:blipFill>
        <p:spPr>
          <a:xfrm>
            <a:off x="7016456" y="1280071"/>
            <a:ext cx="4462107" cy="4297561"/>
          </a:xfrm>
          <a:prstGeom prst="rect">
            <a:avLst/>
          </a:prstGeom>
        </p:spPr>
      </p:pic>
      <p:sp>
        <p:nvSpPr>
          <p:cNvPr id="196" name="Shape 19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Knudsen </a:t>
            </a:r>
            <a:r>
              <a:rPr sz="1000" b="0" i="0">
                <a:solidFill>
                  <a:srgbClr val="58636E"/>
                </a:solidFill>
                <a:latin typeface="Arial"/>
                <a:ea typeface="Arial"/>
              </a:rPr>
              <a:t>&amp;</a:t>
            </a:r>
            <a:r>
              <a:rPr sz="1000" b="0" i="0">
                <a:solidFill>
                  <a:srgbClr val="58636E"/>
                </a:solidFill>
                <a:latin typeface="Arial"/>
                <a:ea typeface="Arial"/>
              </a:rPr>
              <a:t xml:space="preserve"> Konishi (1978), Fig. 1. Ordered receptive fields and their measured midbrain locations.</a:t>
            </a:r>
            <a:endParaRPr lang="en-US"/>
          </a:p>
        </p:txBody>
      </p:sp>
      <p:sp>
        <p:nvSpPr>
          <p:cNvPr id="197" name="Shape 197"/>
          <p:cNvSpPr/>
          <p:nvPr/>
        </p:nvSpPr>
        <p:spPr>
          <a:xfrm>
            <a:off x="566886" y="6382494"/>
            <a:ext cx="11058079" cy="9079"/>
          </a:xfrm>
          <a:prstGeom prst="rect">
            <a:avLst/>
          </a:prstGeom>
          <a:solidFill>
            <a:srgbClr val="C7D6E3"/>
          </a:solidFill>
        </p:spPr>
        <p:txBody>
          <a:bodyPr/>
          <a:lstStyle/>
          <a:p/>
        </p:txBody>
      </p:sp>
      <p:sp>
        <p:nvSpPr>
          <p:cNvPr id="198" name="Shape 19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Knudsen &amp; Konishi (1978)</a:t>
            </a:r>
            <a:endParaRPr lang="en-US"/>
          </a:p>
        </p:txBody>
      </p:sp>
      <p:sp>
        <p:nvSpPr>
          <p:cNvPr id="199" name="Shape 199"/>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05a</a:t>
            </a:r>
            <a:endParaRPr lang="en-US"/>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4" name="Shape 18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B5577"/>
                </a:solidFill>
                <a:latin typeface="Arial"/>
                <a:ea typeface="Arial"/>
              </a:rPr>
              <a:t>A receptive field is the region that drives a neuron</a:t>
            </a:r>
            <a:endParaRPr lang="en-US"/>
          </a:p>
        </p:txBody>
      </p:sp>
      <p:sp>
        <p:nvSpPr>
          <p:cNvPr id="185" name="Shape 185"/>
          <p:cNvSpPr/>
          <p:nvPr/>
        </p:nvSpPr>
        <p:spPr>
          <a:xfrm>
            <a:off x="566886" y="1234380"/>
            <a:ext cx="5956250" cy="1608887"/>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A receptive field is the set of stimulus conditions that changes the activity of a neuron. For an auditory space-specific neuron, the conditions are sound locations described by azimuth, the horizontal angle, and elevation, the vertical angle. The receptive field therefore describes where in space a sound must lie to drive the cell.</a:t>
            </a:r>
            <a:endParaRPr lang="en-US"/>
          </a:p>
        </p:txBody>
      </p:sp>
      <p:sp>
        <p:nvSpPr>
          <p:cNvPr id="186" name="Shape 186"/>
          <p:cNvSpPr/>
          <p:nvPr/>
        </p:nvSpPr>
        <p:spPr>
          <a:xfrm>
            <a:off x="566886" y="2995667"/>
            <a:ext cx="5956250" cy="1072591"/>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Knudsen and Konishi moved a loudspeaker around the head of a lightly anesthetized owl in an anechoic chamber. Noise bursts 10 dB above threshold were presented at many positions while extracellular spikes were recorded.</a:t>
            </a:r>
            <a:endParaRPr lang="en-US"/>
          </a:p>
        </p:txBody>
      </p:sp>
      <p:sp>
        <p:nvSpPr>
          <p:cNvPr id="187" name="Shape 187"/>
          <p:cNvSpPr/>
          <p:nvPr/>
        </p:nvSpPr>
        <p:spPr>
          <a:xfrm>
            <a:off x="566886" y="4220658"/>
            <a:ext cx="5956250" cy="1340739"/>
          </a:xfrm>
          <a:prstGeom prst="rect">
            <a:avLst/>
          </a:prstGeom>
          <a:noFill/>
        </p:spPr>
        <p:txBody>
          <a:bodyPr anchor="t" wrap="square" tIns="0" bIns="0" lIns="0" rIns="0">
            <a:normAutofit/>
          </a:bodyPr>
          <a:lstStyle/>
          <a:p>
            <a:pPr algn="l">
              <a:lnSpc>
                <a:spcPts val="1836"/>
              </a:lnSpc>
              <a:buNone/>
            </a:pPr>
            <a:r>
              <a:rPr sz="1700" b="0" i="0">
                <a:solidFill>
                  <a:srgbClr val="1F262D"/>
                </a:solidFill>
                <a:latin typeface="Arial"/>
                <a:ea typeface="Arial"/>
              </a:rPr>
              <a:t xml:space="preserve">The best area is the subset of positions that evoke maximal responses, and the broader response boundary includes positions that evoke weaker responses. Most fields were vertically elongated, so a neuron specified horizontal direction more narrowly than elevation.</a:t>
            </a:r>
            <a:endParaRPr lang="en-US"/>
          </a:p>
        </p:txBody>
      </p:sp>
      <p:pic>
        <p:nvPicPr>
          <p:cNvPr id="120" name="Presenton Native Image 4" descr=""/>
          <p:cNvPicPr/>
          <p:nvPr/>
        </p:nvPicPr>
        <p:blipFill>
          <a:blip r:embed="rId2" cstate="none"/>
          <a:stretch>
            <a:fillRect/>
          </a:stretch>
        </p:blipFill>
        <p:spPr>
          <a:xfrm>
            <a:off x="7794142" y="1280071"/>
            <a:ext cx="2906587" cy="4297561"/>
          </a:xfrm>
          <a:prstGeom prst="rect">
            <a:avLst/>
          </a:prstGeom>
        </p:spPr>
      </p:pic>
      <p:sp>
        <p:nvSpPr>
          <p:cNvPr id="188" name="Shape 18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8636E"/>
                </a:solidFill>
                <a:latin typeface="Arial"/>
                <a:ea typeface="Arial"/>
              </a:rPr>
              <a:t xml:space="preserve">Knudsen </a:t>
            </a:r>
            <a:r>
              <a:rPr sz="1000" b="0" i="0">
                <a:solidFill>
                  <a:srgbClr val="58636E"/>
                </a:solidFill>
                <a:latin typeface="Arial"/>
                <a:ea typeface="Arial"/>
              </a:rPr>
              <a:t>&amp;</a:t>
            </a:r>
            <a:r>
              <a:rPr sz="1000" b="0" i="0">
                <a:solidFill>
                  <a:srgbClr val="58636E"/>
                </a:solidFill>
                <a:latin typeface="Arial"/>
                <a:ea typeface="Arial"/>
              </a:rPr>
              <a:t xml:space="preserve"> Konishi (1978), Fig. 2. Measured receptive-field boundaries and best area.</a:t>
            </a:r>
            <a:endParaRPr lang="en-US"/>
          </a:p>
        </p:txBody>
      </p:sp>
      <p:sp>
        <p:nvSpPr>
          <p:cNvPr id="189" name="Shape 189"/>
          <p:cNvSpPr/>
          <p:nvPr/>
        </p:nvSpPr>
        <p:spPr>
          <a:xfrm>
            <a:off x="566886" y="6382494"/>
            <a:ext cx="11058079" cy="9079"/>
          </a:xfrm>
          <a:prstGeom prst="rect">
            <a:avLst/>
          </a:prstGeom>
          <a:solidFill>
            <a:srgbClr val="C7D6E3"/>
          </a:solidFill>
        </p:spPr>
        <p:txBody>
          <a:bodyPr/>
          <a:lstStyle/>
          <a:p/>
        </p:txBody>
      </p:sp>
      <p:sp>
        <p:nvSpPr>
          <p:cNvPr id="190" name="Shape 19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8636E"/>
                </a:solidFill>
                <a:latin typeface="Arial"/>
                <a:ea typeface="Arial"/>
              </a:rPr>
              <a:t xml:space="preserve">Knudsen &amp; Konishi (1978)</a:t>
            </a:r>
            <a:endParaRPr lang="en-US"/>
          </a:p>
        </p:txBody>
      </p:sp>
      <p:sp>
        <p:nvSpPr>
          <p:cNvPr id="191" name="Shape 191"/>
          <p:cNvSpPr/>
          <p:nvPr/>
        </p:nvSpPr>
        <p:spPr>
          <a:xfrm>
            <a:off x="11105348" y="6455569"/>
            <a:ext cx="538667" cy="123379"/>
          </a:xfrm>
          <a:prstGeom prst="rect">
            <a:avLst/>
          </a:prstGeom>
          <a:noFill/>
        </p:spPr>
        <p:txBody>
          <a:bodyPr anchor="t" wrap="square" tIns="0" bIns="0" lIns="0" rIns="0">
            <a:normAutofit/>
          </a:bodyPr>
          <a:lstStyle/>
          <a:p>
            <a:pPr algn="r">
              <a:lnSpc>
                <a:spcPts val="972"/>
              </a:lnSpc>
              <a:buNone/>
            </a:pPr>
            <a:r>
              <a:rPr sz="900" b="0" i="0">
                <a:solidFill>
                  <a:srgbClr val="58636E"/>
                </a:solidFill>
                <a:latin typeface="Arial"/>
                <a:ea typeface="Arial"/>
              </a:rPr>
              <a:t>04a</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Owl sound localization I: ITD/ILD maps in the inferior colliculus (Konishi &amp; Knudsen)</dc:title>
  <dc:subject>Generated by Presenton export-core</dc:subject>
  <dc:creator>Presenton</dc:creator>
  <cp:lastModifiedBy>Presenton</cp:lastModifiedBy>
  <dcterms:created xsi:type="dcterms:W3CDTF">2026-10-08T05:31:25.868Z</dcterms:created>
  <dcterms:modified xsi:type="dcterms:W3CDTF">2026-10-08T05:31:25.868Z</dcterms:modified>
</cp:coreProperties>
</file>