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315" r:id="rId67"/>
    <p:sldId id="259" r:id="rId11"/>
    <p:sldId id="314" r:id="rId66"/>
    <p:sldId id="260" r:id="rId12"/>
    <p:sldId id="261" r:id="rId13"/>
    <p:sldId id="313" r:id="rId65"/>
    <p:sldId id="262" r:id="rId14"/>
    <p:sldId id="263" r:id="rId15"/>
    <p:sldId id="264" r:id="rId16"/>
    <p:sldId id="312" r:id="rId64"/>
    <p:sldId id="265" r:id="rId17"/>
    <p:sldId id="266" r:id="rId18"/>
    <p:sldId id="267" r:id="rId19"/>
    <p:sldId id="311" r:id="rId63"/>
    <p:sldId id="268" r:id="rId20"/>
    <p:sldId id="269" r:id="rId21"/>
    <p:sldId id="270" r:id="rId22"/>
    <p:sldId id="271" r:id="rId23"/>
    <p:sldId id="272" r:id="rId24"/>
    <p:sldId id="310" r:id="rId62"/>
    <p:sldId id="273" r:id="rId25"/>
    <p:sldId id="274" r:id="rId26"/>
    <p:sldId id="309" r:id="rId61"/>
    <p:sldId id="275" r:id="rId27"/>
    <p:sldId id="276" r:id="rId28"/>
    <p:sldId id="277" r:id="rId29"/>
    <p:sldId id="278" r:id="rId30"/>
    <p:sldId id="308" r:id="rId60"/>
    <p:sldId id="279" r:id="rId31"/>
    <p:sldId id="280" r:id="rId32"/>
    <p:sldId id="281" r:id="rId33"/>
    <p:sldId id="307" r:id="rId59"/>
    <p:sldId id="282" r:id="rId34"/>
    <p:sldId id="283" r:id="rId35"/>
    <p:sldId id="284" r:id="rId36"/>
    <p:sldId id="306" r:id="rId58"/>
    <p:sldId id="285" r:id="rId37"/>
    <p:sldId id="286" r:id="rId38"/>
    <p:sldId id="287" r:id="rId39"/>
    <p:sldId id="288" r:id="rId40"/>
    <p:sldId id="289" r:id="rId41"/>
    <p:sldId id="290" r:id="rId42"/>
    <p:sldId id="305" r:id="rId57"/>
    <p:sldId id="291" r:id="rId43"/>
    <p:sldId id="292" r:id="rId44"/>
    <p:sldId id="293" r:id="rId45"/>
    <p:sldId id="294" r:id="rId46"/>
    <p:sldId id="295" r:id="rId47"/>
    <p:sldId id="304" r:id="rId56"/>
    <p:sldId id="296" r:id="rId48"/>
    <p:sldId id="297" r:id="rId49"/>
    <p:sldId id="303" r:id="rId55"/>
    <p:sldId id="298" r:id="rId50"/>
    <p:sldId id="299" r:id="rId51"/>
    <p:sldId id="302" r:id="rId54"/>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Mantis shrimp vision: hyperspectral and polarization sensing</a:t>
            </a:r>
          </a:p>
          <a:p>
            <a:r>
              <a:rPr>
                <a:latin typeface="Arial"/>
              </a:rPr>
              <a:t>Lecture 13. NEUR 411 · NEUROETHOLOGY · FALL 2026. Wednesday, September 23, 2026.</a:t>
            </a:r>
          </a:p>
          <a:p/>
          <a:p>
            <a:r>
              <a:rPr>
                <a:latin typeface="Arial"/>
              </a:rPr>
              <a:t>Figure: Bok et al. (2018), Fig. 1(a). Haptosquilla trispinosa in its natural burrow; original photograph by Roy Caldwell.</a:t>
            </a:r>
          </a:p>
          <a:p>
            <a:r>
              <a:rPr>
                <a:latin typeface="Arial"/>
              </a:rPr>
              <a:t>Figure source: https://doi.org/10.1098/rspb.2018.1384</a:t>
            </a:r>
          </a:p>
          <a:p/>
          <a:p>
            <a:r>
              <a:rPr>
                <a:latin typeface="Arial"/>
              </a:rPr>
              <a:t>References:</a:t>
            </a:r>
          </a:p>
          <a:p>
            <a:r>
              <a:rPr>
                <a:latin typeface="Arial"/>
              </a:rPr>
              <a:t>Bok MJ, Roberts NW, Cronin TW (2018). Behavioural evidence for polychromatic ultraviolet sensitivity in mantis shrimp. Proceedings of the Royal Society B: Biological Sciences 285: 20181384. https://doi.org/10.1098/rspb.2018.1384</a:t>
            </a:r>
          </a:p>
          <a:p/>
          <a:p>
            <a:r>
              <a:rPr>
                <a:latin typeface="Arial"/>
              </a:rPr>
              <a:t>Original article photograph credit: Roy Caldwell, credited by Bok et al. (2018) for Fig. 1(a). The photograph retains its published pixels.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wavelength describes a physical property of the stimulus. Discrimination requires a behavioral difference between two stimuli, so counting receptor classes cannot establish the smallest difference an animal can detect.</a:t>
            </a:r>
          </a:p>
          <a:p>
            <a:r>
              <a:rPr>
                <a:latin typeface="Arial"/>
              </a:rPr>
              <a:t>• The optical fibers supplied the comparison lights while the animal chose a fiber end. Food association gave the wavelength a behavioral consequence; the test then varied the distance between wavelengths.</a:t>
            </a:r>
          </a:p>
          <a:p>
            <a:r>
              <a:rPr>
                <a:latin typeface="Arial"/>
              </a:rPr>
              <a:t>• Successful choices establish that spectral information can guide this learned response. They do not define a human-like color experience or establish the mechanism that converts receptor signals into the choice.</a:t>
            </a:r>
          </a:p>
          <a:p/>
          <a:p>
            <a:r>
              <a:rPr>
                <a:latin typeface="Arial"/>
              </a:rPr>
              <a:t>References:</a:t>
            </a:r>
          </a:p>
          <a:p>
            <a:r>
              <a:rPr>
                <a:latin typeface="Arial"/>
              </a:rPr>
              <a:t>Thoen HH, How MJ, Chiou TH, Marshall J (2014). A Different Form of Color Vision in Mantis Shrimp. Science 343: 411-413. https://doi.org/10.1126/science.1245824</a:t>
            </a:r>
          </a:p>
          <a:p/>
          <a:p>
            <a:r>
              <a:rPr>
                <a:latin typeface="Arial"/>
              </a:rPr>
              <a:t>Figure: Thoen et al. (2014), Fig. 2(A, B). Food-associated wavelength choices in Haptosquilla trispinosa.</a:t>
            </a:r>
          </a:p>
          <a:p>
            <a:r>
              <a:rPr>
                <a:latin typeface="Arial"/>
              </a:rPr>
              <a:t>Figure source: https://doi.org/10.1126/science.1245824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trained wavelength is the stimulus associated with reward, while the test wavelength is the competing stimulus. The two are roles in the assay rather than permanent biological categories.</a:t>
            </a:r>
          </a:p>
          <a:p>
            <a:r>
              <a:rPr>
                <a:latin typeface="Arial"/>
              </a:rPr>
              <a:t>• Training at 470 nm permitted comparisons toward longer wavelengths, and training at 570 nm permitted comparisons toward shorter wavelengths. Both directions produced poorer choices when the alternatives approached one another.</a:t>
            </a:r>
          </a:p>
          <a:p>
            <a:r>
              <a:rPr>
                <a:latin typeface="Arial"/>
              </a:rPr>
              <a:t>• Chance is one correct choice in two because there are two available fibers. The decline toward chance indicates loss of discrimination under these conditions, not a failure to detect light at all.</a:t>
            </a:r>
          </a:p>
          <a:p/>
          <a:p>
            <a:r>
              <a:rPr>
                <a:latin typeface="Arial"/>
              </a:rPr>
              <a:t>References:</a:t>
            </a:r>
          </a:p>
          <a:p>
            <a:r>
              <a:rPr>
                <a:latin typeface="Arial"/>
              </a:rPr>
              <a:t>Thoen HH, How MJ, Chiou TH, Marshall J (2014). A Different Form of Color Vision in Mantis Shrimp. Science 343: 411-413. https://doi.org/10.1126/science.1245824</a:t>
            </a:r>
          </a:p>
          <a:p/>
          <a:p>
            <a:r>
              <a:rPr>
                <a:latin typeface="Arial"/>
              </a:rPr>
              <a:t>Figure: Thoen et al. (2014), Fig. 2(C, D). Choices toward shorter test wavelengths after 570-nm training.</a:t>
            </a:r>
          </a:p>
          <a:p>
            <a:r>
              <a:rPr>
                <a:latin typeface="Arial"/>
              </a:rPr>
              <a:t>Figure source: https://doi.org/10.1126/science.1245824</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study chose a fixed correct-choice criterion and interpolated the tested wavelength pairs to estimate thresholds. Those thresholds describe the animal's performance in this assay.</a:t>
            </a:r>
          </a:p>
          <a:p>
            <a:r>
              <a:rPr>
                <a:latin typeface="Arial"/>
              </a:rPr>
              <a:t>• A prediction derived from recorded sensitivities also depends on assumptions about noise and channel comparison. Narrow receptor tuning makes fine discrimination possible under the model but does not guarantee that the animal performs the assumed computation.</a:t>
            </a:r>
          </a:p>
          <a:p>
            <a:r>
              <a:rPr>
                <a:latin typeface="Arial"/>
              </a:rPr>
              <a:t>• The discrepancy supports caution about deriving perception directly from receptor diversity. The later grey-target experiments test a different consequence of spectral comparison and prevent treating coarse thresholds as proof that all opponency is absent.</a:t>
            </a:r>
          </a:p>
          <a:p/>
          <a:p>
            <a:r>
              <a:rPr>
                <a:latin typeface="Arial"/>
              </a:rPr>
              <a:t>References:</a:t>
            </a:r>
          </a:p>
          <a:p>
            <a:r>
              <a:rPr>
                <a:latin typeface="Arial"/>
              </a:rPr>
              <a:t>Thoen HH, How MJ, Chiou TH, Marshall J (2014). A Different Form of Color Vision in Mantis Shrimp. Science 343: 411-413. https://doi.org/10.1126/science.1245824</a:t>
            </a:r>
          </a:p>
          <a:p/>
          <a:p>
            <a:r>
              <a:rPr>
                <a:latin typeface="Arial"/>
              </a:rPr>
              <a:t>Figure: Thoen et al. (2014), Fig. 3. Measured wavelength thresholds and the authors’ opponent-model prediction.</a:t>
            </a:r>
          </a:p>
          <a:p>
            <a:r>
              <a:rPr>
                <a:latin typeface="Arial"/>
              </a:rPr>
              <a:t>Figure source: https://doi.org/10.1126/science.1245824</a:t>
            </a:r>
          </a:p>
          <a:p/>
          <a:p>
            <a:r>
              <a:rPr>
                <a:latin typeface="Arial"/>
              </a:rPr>
              <a:t>Figure: Thoen et al. (2014), Fig. 1(A, B). Recorded receptor sensitivities normalized to their peaks.</a:t>
            </a:r>
          </a:p>
          <a:p>
            <a:r>
              <a:rPr>
                <a:latin typeface="Arial"/>
              </a:rPr>
              <a:t>Figure source: https://doi.org/10.1126/science.1245824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Neutral-density distractors provide several brightness alternatives rather than one fixed grey comparison. Changing their positions also prevents one location from consistently predicting food.</a:t>
            </a:r>
          </a:p>
          <a:p>
            <a:r>
              <a:rPr>
                <a:latin typeface="Arial"/>
              </a:rPr>
              <a:t>• The test targets contained no food during the decision. A reward arrived after the correct response, so the food association remained while a target-specific odor cue was reduced.</a:t>
            </a:r>
          </a:p>
          <a:p>
            <a:r>
              <a:rPr>
                <a:latin typeface="Arial"/>
              </a:rPr>
              <a:t>• The animals were free to change viewing distance and angle. The choice is therefore a behavioral test of available visual information, while active inspection and the intervening neural computations remain part of the intact response.</a:t>
            </a:r>
          </a:p>
          <a:p/>
          <a:p>
            <a:r>
              <a:rPr>
                <a:latin typeface="Arial"/>
              </a:rPr>
              <a:t>References:</a:t>
            </a:r>
          </a:p>
          <a:p>
            <a:r>
              <a:rPr>
                <a:latin typeface="Arial"/>
              </a:rPr>
              <a:t>Wang CWJ, Marshall NJ (2025). Behavioural evidence of spectral opponent processing in the visual system of stomatopod crustaceans. Journal of Experimental Biology 228: jeb247952. https://doi.org/10.1242/jeb.247952</a:t>
            </a:r>
          </a:p>
          <a:p/>
          <a:p>
            <a:r>
              <a:rPr>
                <a:latin typeface="Arial"/>
              </a:rPr>
              <a:t>Figure: Wang &amp; Marshall (2025), Fig. 3(A–C). Three-choice chamber, illumination and stimulus reflectance spectra.</a:t>
            </a:r>
          </a:p>
          <a:p>
            <a:r>
              <a:rPr>
                <a:latin typeface="Arial"/>
              </a:rPr>
              <a:t>Figure source: https://doi.org/10.1242/jeb.247952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Restricting the illumination changes the spectrum reaching both target and distractors. The experiment tests whether the remaining receptor signals still contain a usable distinction between color and grey.</a:t>
            </a:r>
          </a:p>
          <a:p>
            <a:r>
              <a:rPr>
                <a:latin typeface="Arial"/>
              </a:rPr>
              <a:t>• Green and red choices survived their corresponding restricted illuminations, whereas blue choices approached chance. The outcome depends on the target spectrum and the illumination together.</a:t>
            </a:r>
          </a:p>
          <a:p>
            <a:r>
              <a:rPr>
                <a:latin typeface="Arial"/>
              </a:rPr>
              <a:t>• The behavioral result qualifies the earlier claim that coarse wavelength discrimination rules out opponency. The proposed combination of channel recognition and opponent comparison remains an interpretation rather than a fully recorded circuit.</a:t>
            </a:r>
          </a:p>
          <a:p/>
          <a:p>
            <a:r>
              <a:rPr>
                <a:latin typeface="Arial"/>
              </a:rPr>
              <a:t>References:</a:t>
            </a:r>
          </a:p>
          <a:p>
            <a:r>
              <a:rPr>
                <a:latin typeface="Arial"/>
              </a:rPr>
              <a:t>Wang CWJ, Marshall NJ (2025). Behavioural evidence of spectral opponent processing in the visual system of stomatopod crustaceans. Journal of Experimental Biology 228: jeb247952. https://doi.org/10.1242/jeb.247952</a:t>
            </a:r>
          </a:p>
          <a:p/>
          <a:p>
            <a:r>
              <a:rPr>
                <a:latin typeface="Arial"/>
              </a:rPr>
              <a:t>Figure: Wang &amp; Marshall (2025), Fig. 7. Color-versus-grey choices under natural and colored illumination.</a:t>
            </a:r>
          </a:p>
          <a:p>
            <a:r>
              <a:rPr>
                <a:latin typeface="Arial"/>
              </a:rPr>
              <a:t>Figure source: https://doi.org/10.1242/jeb.247952</a:t>
            </a:r>
          </a:p>
          <a:p/>
          <a:p>
            <a:r>
              <a:rPr>
                <a:latin typeface="Arial"/>
              </a:rPr>
              <a:t>Figure: Wang &amp; Marshall (2025), Fig. 5(A). Measured transmission of the illumination filters.</a:t>
            </a:r>
          </a:p>
          <a:p>
            <a:r>
              <a:rPr>
                <a:latin typeface="Arial"/>
              </a:rPr>
              <a:t>Figure source: https://doi.org/10.1242/jeb.247952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dorsal hemisphere lies above the midband and the ventral hemisphere below it. The distinction names positions in the eye, rather than upper and lower regions of the entire visual environment.</a:t>
            </a:r>
          </a:p>
          <a:p>
            <a:r>
              <a:rPr>
                <a:latin typeface="Arial"/>
              </a:rPr>
              <a:t>• A pseudopupil is an optical effect from an aligned group of light-absorbing ommatidia. It is not a single anatomical pupil comparable to the aperture of a vertebrate eye.</a:t>
            </a:r>
          </a:p>
          <a:p>
            <a:r>
              <a:rPr>
                <a:latin typeface="Arial"/>
              </a:rPr>
              <a:t>• Shared viewing directions make comparison between regional signals possible. Recording or tracing the downstream pathway is still required to determine where those signals actually meet.</a:t>
            </a:r>
          </a:p>
          <a:p/>
          <a:p>
            <a:r>
              <a:rPr>
                <a:latin typeface="Arial"/>
              </a:rPr>
              <a:t>References:</a:t>
            </a:r>
          </a:p>
          <a:p>
            <a:r>
              <a:rPr>
                <a:latin typeface="Arial"/>
              </a:rPr>
              <a:t>Kleinlogel S, White AG (2008). The Secret World of Shrimps: Polarisation Vision at Its Best. PLoS ONE 3: e2190. https://doi.org/10.1371/journal.pone.0002190</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Kleinlogel &amp; White (2008), Fig. 3(A–C). The animal, eye pseudopupils and midband ultrastructure.</a:t>
            </a:r>
          </a:p>
          <a:p>
            <a:r>
              <a:rPr>
                <a:latin typeface="Arial"/>
              </a:rPr>
              <a:t>Figure source: https://doi.org/10.1371/journal.pone.0002190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Each of the four color rows contains receptor populations at different optical depths. This arrangement creates multiple spectral inputs within a narrow spatial strip.</a:t>
            </a:r>
          </a:p>
          <a:p>
            <a:r>
              <a:rPr>
                <a:latin typeface="Arial"/>
              </a:rPr>
              <a:t>• The published physiology did not directly record every presumed ultraviolet population. That distinction matters when comparing an anatomical count with the number of measured sensitivity functions.</a:t>
            </a:r>
          </a:p>
          <a:p>
            <a:r>
              <a:rPr>
                <a:latin typeface="Arial"/>
              </a:rPr>
              <a:t>• Rows five and six have different optical specializations. Their signals concern polarization, so adding every receptor population into one color-channel count would combine different kinds of information.</a:t>
            </a:r>
          </a:p>
          <a:p/>
          <a:p>
            <a:r>
              <a:rPr>
                <a:latin typeface="Arial"/>
              </a:rPr>
              <a:t>References:</a:t>
            </a:r>
          </a:p>
          <a:p>
            <a:r>
              <a:rPr>
                <a:latin typeface="Arial"/>
              </a:rPr>
              <a:t>Thoen HH, How MJ, Chiou TH, Marshall J (2014). A Different Form of Color Vision in Mantis Shrimp. Science 343: 411-413. https://doi.org/10.1126/science.1245824</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Thoen et al. (2014), Fig. 1(A, B). Haptosquilla eye with dorsal, ventral and color-row labels.</a:t>
            </a:r>
          </a:p>
          <a:p>
            <a:r>
              <a:rPr>
                <a:latin typeface="Arial"/>
              </a:rPr>
              <a:t>Figure source: https://doi.org/10.1126/science.1245824</a:t>
            </a:r>
          </a:p>
          <a:p/>
          <a:p>
            <a:r>
              <a:rPr>
                <a:latin typeface="Arial"/>
              </a:rPr>
              <a:t>Figure: Streets et al. (2025), Fig. 1(A–E). Published retinal layout and electron-microscopy cross-section.</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same incoming beam encounters successive receptor-bearing layers. Absorption in an earlier layer can remove wavelengths before the light reaches a later one.</a:t>
            </a:r>
          </a:p>
          <a:p>
            <a:r>
              <a:rPr>
                <a:latin typeface="Arial"/>
              </a:rPr>
              <a:t>• Distal and proximal describe that order. They do not by themselves specify a receptor's preferred wavelength; the pigment and overlying filters determine the effective sensitivity.</a:t>
            </a:r>
          </a:p>
          <a:p>
            <a:r>
              <a:rPr>
                <a:latin typeface="Arial"/>
              </a:rPr>
              <a:t>• The study used measured optical properties to calculate sensitivities for the layered system. A calculated curve needs to be distinguished from an intracellular recording even when both concern the same retinal tier.</a:t>
            </a:r>
          </a:p>
          <a:p/>
          <a:p>
            <a:r>
              <a:rPr>
                <a:latin typeface="Arial"/>
              </a:rPr>
              <a:t>References:</a:t>
            </a:r>
          </a:p>
          <a:p>
            <a:r>
              <a:rPr>
                <a:latin typeface="Arial"/>
              </a:rPr>
              <a:t>Cronin TW, Marshall NJ (1989). A retina with at least ten spectral types of photoreceptors in a mantis shrimp. Nature 339: 137-140. https://doi.org/10.1038/339137a0</a:t>
            </a:r>
          </a:p>
          <a:p>
            <a:r>
              <a:rPr>
                <a:latin typeface="Arial"/>
              </a:rPr>
              <a:t>Bok MJ, Porter ML, Place AR, Cronin TW (2014). Biological Sunscreens Tune Polychromatic Ultraviolet Vision in Mantis Shrimp. Current Biology 24: 1636-1642. https://doi.org/10.1016/j.cub.2014.05.071</a:t>
            </a:r>
          </a:p>
          <a:p/>
          <a:p>
            <a:r>
              <a:rPr>
                <a:latin typeface="Arial"/>
              </a:rPr>
              <a:t>Figure: Cronin &amp; Marshall (1989), Fig. 3. Predicted sensitivities of distal and proximal retinal tiers.</a:t>
            </a:r>
          </a:p>
          <a:p>
            <a:r>
              <a:rPr>
                <a:latin typeface="Arial"/>
              </a:rPr>
              <a:t>Figure source: https://doi.org/10.1038/339137a0</a:t>
            </a:r>
          </a:p>
          <a:p/>
          <a:p>
            <a:r>
              <a:rPr>
                <a:latin typeface="Arial"/>
              </a:rPr>
              <a:t>Figure: Bok et al. (2014), Fig. 1(A, B). Eye surface and original sagittal retinal diagram.</a:t>
            </a:r>
          </a:p>
          <a:p>
            <a:r>
              <a:rPr>
                <a:latin typeface="Arial"/>
              </a:rPr>
              <a:t>Figure source: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light-sensitive cell can affect photons it does not absorb efficiently. Its transparent structures may change polarization before visible photons reach another cell.</a:t>
            </a:r>
          </a:p>
          <a:p>
            <a:r>
              <a:rPr>
                <a:latin typeface="Arial"/>
              </a:rPr>
              <a:t>• Transcript localization concerns the molecular identity of the ultraviolet pigment, whereas microscopy and optical measurements concern the geometry and transmission properties of the R8 rhabdomere.</a:t>
            </a:r>
          </a:p>
          <a:p>
            <a:r>
              <a:rPr>
                <a:latin typeface="Arial"/>
              </a:rPr>
              <a:t>• These measurements come from different species and answer different questions. They support a dual optical and sensory role without making every R8 cell an identical quarter-wave retarder.</a:t>
            </a:r>
          </a:p>
          <a:p/>
          <a:p>
            <a:r>
              <a:rPr>
                <a:latin typeface="Arial"/>
              </a:rPr>
              <a:t>References:</a:t>
            </a:r>
          </a:p>
          <a:p>
            <a:r>
              <a:rPr>
                <a:latin typeface="Arial"/>
              </a:rPr>
              <a:t>Bok MJ, Porter ML, Place AR, Cronin TW (2014). Biological Sunscreens Tune Polychromatic Ultraviolet Vision in Mantis Shrimp. Current Biology 24: 1636-1642. https://doi.org/10.1016/j.cub.2014.05.071</a:t>
            </a:r>
          </a:p>
          <a:p>
            <a:r>
              <a:rPr>
                <a:latin typeface="Arial"/>
              </a:rPr>
              <a:t>Roberts NW, Chiou TH, Marshall NJ, Cronin TW (2009). A biological quarter-wave retarder with excellent achromaticity in the visible wavelength region. Nature Photonics 3: 641-644. https://doi.org/10.1038/nphoton.2009.189</a:t>
            </a:r>
          </a:p>
          <a:p/>
          <a:p>
            <a:r>
              <a:rPr>
                <a:latin typeface="Arial"/>
              </a:rPr>
              <a:t>Figure: Bok et al. (2014), Fig. 1(E, F). UV1 and UV2 transcript localization in retinal R8 cells.</a:t>
            </a:r>
          </a:p>
          <a:p>
            <a:r>
              <a:rPr>
                <a:latin typeface="Arial"/>
              </a:rPr>
              <a:t>Figure source: https://doi.org/10.1016/j.cub.2014.05.071</a:t>
            </a:r>
          </a:p>
          <a:p/>
          <a:p>
            <a:r>
              <a:rPr>
                <a:latin typeface="Arial"/>
              </a:rPr>
              <a:t>Figure: Roberts et al. (2009), Fig. 1(b, c). Rows 5–6 R8 position and microvillar ultrastructure.</a:t>
            </a:r>
          </a:p>
          <a:p>
            <a:r>
              <a:rPr>
                <a:latin typeface="Arial"/>
              </a:rPr>
              <a:t>Figure source: https://doi.org/10.1038/nphoton.2009.189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An axon carries a neuron's output toward its terminal region. The reconstructed trajectories allow cells to be followed from their retinal identities into particular lamina layers.</a:t>
            </a:r>
          </a:p>
          <a:p>
            <a:r>
              <a:rPr>
                <a:latin typeface="Arial"/>
              </a:rPr>
              <a:t>• The two external plexiform layers contain different R1–R7 groups. R8 follows a longer route toward the medulla rather than ending with the major short visual fibers.</a:t>
            </a:r>
          </a:p>
          <a:p>
            <a:r>
              <a:rPr>
                <a:latin typeface="Arial"/>
              </a:rPr>
              <a:t>• The anatomical revision matters because a recording interpreted with an older layer assignment could be attributed to the wrong receptor group. The morphology still leaves the actual signs and mechanisms of transmission unresolved.</a:t>
            </a:r>
          </a:p>
          <a:p/>
          <a:p>
            <a:r>
              <a:rPr>
                <a:latin typeface="Arial"/>
              </a:rPr>
              <a:t>References:</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Streets et al. (2025), Fig. 2(A, B). Original reconstruction-based layout of receptor terminals and monopolar cells.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small measuring spot permits a specific retinal region to be sampled rather than averaging the entire eye. Measuring along the receptor axis follows the path taken by incoming light.</a:t>
            </a:r>
          </a:p>
          <a:p>
            <a:r>
              <a:rPr>
                <a:latin typeface="Arial"/>
              </a:rPr>
              <a:t>• Subtracting the post-illumination spectrum from the dark-adapted spectrum separates a changing visual pigment from more stable absorbing material. Template fitting estimates where that pigment absorbs most strongly.</a:t>
            </a:r>
          </a:p>
          <a:p>
            <a:r>
              <a:rPr>
                <a:latin typeface="Arial"/>
              </a:rPr>
              <a:t>• The visible-range scan cannot characterize a pigment peaking farther into the ultraviolet. An optical measurement of one component also cannot replace a voltage measurement of the intact receptor after all overlying filters have acted.</a:t>
            </a:r>
          </a:p>
          <a:p/>
          <a:p>
            <a:r>
              <a:rPr>
                <a:latin typeface="Arial"/>
              </a:rPr>
              <a:t>References:</a:t>
            </a:r>
          </a:p>
          <a:p>
            <a:r>
              <a:rPr>
                <a:latin typeface="Arial"/>
              </a:rPr>
              <a:t>Cronin TW, Marshall NJ (1989). A retina with at least ten spectral types of photoreceptors in a mantis shrimp. Nature 339: 137-140. https://doi.org/10.1038/339137a0</a:t>
            </a:r>
          </a:p>
          <a:p>
            <a:r>
              <a:rPr>
                <a:latin typeface="Arial"/>
              </a:rPr>
              <a:t>Thoen HH, How MJ, Chiou TH, Marshall J (2014). A Different Form of Color Vision in Mantis Shrimp. Science 343: 411-413. https://doi.org/10.1126/science.1245824</a:t>
            </a:r>
          </a:p>
          <a:p/>
          <a:p>
            <a:r>
              <a:rPr>
                <a:latin typeface="Arial"/>
              </a:rPr>
              <a:t>Figure: Cronin &amp; Marshall (1989), Fig. 2(b). Measured visual-pigment difference spectra with fitted templates.</a:t>
            </a:r>
          </a:p>
          <a:p>
            <a:r>
              <a:rPr>
                <a:latin typeface="Arial"/>
              </a:rPr>
              <a:t>Figure source: https://doi.org/10.1038/339137a0</a:t>
            </a:r>
          </a:p>
          <a:p/>
          <a:p>
            <a:r>
              <a:rPr>
                <a:latin typeface="Arial"/>
              </a:rPr>
              <a:t>Figure: Thoen et al. (2014), Fig. 1(A, B). Later intracellular sensitivity curves in Haptosquilla.</a:t>
            </a:r>
          </a:p>
          <a:p>
            <a:r>
              <a:rPr>
                <a:latin typeface="Arial"/>
              </a:rPr>
              <a:t>Figure source: https://doi.org/10.1126/science.1245824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chromophore absorbs a photon within the receptor's visual pigment. A filter acts before that absorption by changing the spectrum transmitted farther along the optical path.</a:t>
            </a:r>
          </a:p>
          <a:p>
            <a:r>
              <a:rPr>
                <a:latin typeface="Arial"/>
              </a:rPr>
              <a:t>• The visible-light filters measured inside the rhabdom differ in location from the ultraviolet filters measured above it in the crystalline cones. Both alter the spectrum available to a receptor.</a:t>
            </a:r>
          </a:p>
          <a:p>
            <a:r>
              <a:rPr>
                <a:latin typeface="Arial"/>
              </a:rPr>
              <a:t>• A receptor's peak sensitivity is therefore a property of pigment plus optical environment. Inferring a separate opsin from every measured peak would overlook this experimentally established filtering mechanism.</a:t>
            </a:r>
          </a:p>
          <a:p/>
          <a:p>
            <a:r>
              <a:rPr>
                <a:latin typeface="Arial"/>
              </a:rPr>
              <a:t>References:</a:t>
            </a:r>
          </a:p>
          <a:p>
            <a:r>
              <a:rPr>
                <a:latin typeface="Arial"/>
              </a:rPr>
              <a:t>Cronin TW, Marshall NJ (1989). A retina with at least ten spectral types of photoreceptors in a mantis shrimp. Nature 339: 137-140. https://doi.org/10.1038/339137a0</a:t>
            </a:r>
          </a:p>
          <a:p>
            <a:r>
              <a:rPr>
                <a:latin typeface="Arial"/>
              </a:rPr>
              <a:t>Bok MJ, Porter ML, Place AR, Cronin TW (2014). Biological Sunscreens Tune Polychromatic Ultraviolet Vision in Mantis Shrimp. Current Biology 24: 1636-1642. https://doi.org/10.1016/j.cub.2014.05.071</a:t>
            </a:r>
          </a:p>
          <a:p/>
          <a:p>
            <a:r>
              <a:rPr>
                <a:latin typeface="Arial"/>
              </a:rPr>
              <a:t>Figure: Cronin &amp; Marshall (1989), Fig. 2(a). Absorption spectra of the distal and proximal intrarhabdomal filters.</a:t>
            </a:r>
          </a:p>
          <a:p>
            <a:r>
              <a:rPr>
                <a:latin typeface="Arial"/>
              </a:rPr>
              <a:t>Figure source: https://doi.org/10.1038/339137a0</a:t>
            </a:r>
          </a:p>
          <a:p/>
          <a:p>
            <a:r>
              <a:rPr>
                <a:latin typeface="Arial"/>
              </a:rPr>
              <a:t>Figure: Bok et al. (2014), Fig. 2(A–D). Native UV fluorescence localizes a separate cone-filter system.</a:t>
            </a:r>
          </a:p>
          <a:p>
            <a:r>
              <a:rPr>
                <a:latin typeface="Arial"/>
              </a:rPr>
              <a:t>Figure source: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deeper receptor does not receive the unmodified spectrum that entered the cornea. Some wavelengths have already been absorbed by filters and receptor pigments above it.</a:t>
            </a:r>
          </a:p>
          <a:p>
            <a:r>
              <a:rPr>
                <a:latin typeface="Arial"/>
              </a:rPr>
              <a:t>• The calculations follow this sequence rather than assigning each tier a sensitivity from its pigment alone. The two filters provide an additional difference between the spectra reaching successive tiers.</a:t>
            </a:r>
          </a:p>
          <a:p>
            <a:r>
              <a:rPr>
                <a:latin typeface="Arial"/>
              </a:rPr>
              <a:t>• Narrow optical sensitivity is evidence about the input channels. Behavioral experiments are required to determine how finely the animal discriminates those inputs, and neural experiments are required to identify the comparison mechanism.</a:t>
            </a:r>
          </a:p>
          <a:p/>
          <a:p>
            <a:r>
              <a:rPr>
                <a:latin typeface="Arial"/>
              </a:rPr>
              <a:t>References:</a:t>
            </a:r>
          </a:p>
          <a:p>
            <a:r>
              <a:rPr>
                <a:latin typeface="Arial"/>
              </a:rPr>
              <a:t>Cronin TW, Marshall NJ (1989). A retina with at least ten spectral types of photoreceptors in a mantis shrimp. Nature 339: 137-140. https://doi.org/10.1038/339137a0</a:t>
            </a:r>
          </a:p>
          <a:p/>
          <a:p>
            <a:r>
              <a:rPr>
                <a:latin typeface="Arial"/>
              </a:rPr>
              <a:t>Figure: Cronin &amp; Marshall (1989), Fig. 3. Published calculations of sensitivity after serial filtering.</a:t>
            </a:r>
          </a:p>
          <a:p>
            <a:r>
              <a:rPr>
                <a:latin typeface="Arial"/>
              </a:rPr>
              <a:t>Figure source: https://doi.org/10.1038/339137a0</a:t>
            </a:r>
          </a:p>
          <a:p/>
          <a:p>
            <a:r>
              <a:rPr>
                <a:latin typeface="Arial"/>
              </a:rPr>
              <a:t>Figure: Cronin &amp; Marshall (1989), Fig. 2(a). Distal and proximal filter spectra in rows 2 and 3.</a:t>
            </a:r>
          </a:p>
          <a:p>
            <a:r>
              <a:rPr>
                <a:latin typeface="Arial"/>
              </a:rPr>
              <a:t>Figure source: https://doi.org/10.1038/339137a0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receptor's response changes when stimulus wavelength changes, even if the experiment controls the amount of light. The recording links spectral stimulation to electrical activity.</a:t>
            </a:r>
          </a:p>
          <a:p>
            <a:r>
              <a:rPr>
                <a:latin typeface="Arial"/>
              </a:rPr>
              <a:t>• Normalization gives every class the same plotted maximum for comparison of tuning shape. It does not establish equal numbers of cells, equal gain or equal contributions to a downstream neuron.</a:t>
            </a:r>
          </a:p>
          <a:p>
            <a:r>
              <a:rPr>
                <a:latin typeface="Arial"/>
              </a:rPr>
              <a:t>• The incomplete ultraviolet sampling is an experimental limitation. The available curves can constrain models, but they cannot specify every central computation simply from their peaks.</a:t>
            </a:r>
          </a:p>
          <a:p/>
          <a:p>
            <a:r>
              <a:rPr>
                <a:latin typeface="Arial"/>
              </a:rPr>
              <a:t>References:</a:t>
            </a:r>
          </a:p>
          <a:p>
            <a:r>
              <a:rPr>
                <a:latin typeface="Arial"/>
              </a:rPr>
              <a:t>Thoen HH, How MJ, Chiou TH, Marshall J (2014). A Different Form of Color Vision in Mantis Shrimp. Science 343: 411-413. https://doi.org/10.1126/science.1245824</a:t>
            </a:r>
          </a:p>
          <a:p/>
          <a:p>
            <a:r>
              <a:rPr>
                <a:latin typeface="Arial"/>
              </a:rPr>
              <a:t>Figure: Thoen et al. (2014), Fig. 1(A, B). Receptor sensitivities measured by intracellular electrophysiology.</a:t>
            </a:r>
          </a:p>
          <a:p>
            <a:r>
              <a:rPr>
                <a:latin typeface="Arial"/>
              </a:rPr>
              <a:t>Figure source: https://doi.org/10.1126/science.1245824</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serial account assigns a role to receptor arrangement and scanning movements. Different spectral channels could become active in succession as the midband crosses a colored object.</a:t>
            </a:r>
          </a:p>
          <a:p>
            <a:r>
              <a:rPr>
                <a:latin typeface="Arial"/>
              </a:rPr>
              <a:t>• This is a proposed explanation of measured behavioral performance. The proposed spectral sequence was not measured in a neural decoder.</a:t>
            </a:r>
          </a:p>
          <a:p>
            <a:r>
              <a:rPr>
                <a:latin typeface="Arial"/>
              </a:rPr>
              <a:t>• The later behavioral evidence requires a more qualified account. A hybrid mechanism can accommodate more than one computation, but naming that possibility does not supply the missing recordings or connections.</a:t>
            </a:r>
          </a:p>
          <a:p/>
          <a:p>
            <a:r>
              <a:rPr>
                <a:latin typeface="Arial"/>
              </a:rPr>
              <a:t>References:</a:t>
            </a:r>
          </a:p>
          <a:p>
            <a:r>
              <a:rPr>
                <a:latin typeface="Arial"/>
              </a:rPr>
              <a:t>Thoen HH, How MJ, Chiou TH, Marshall J (2014). A Different Form of Color Vision in Mantis Shrimp. Science 343: 411-413. https://doi.org/10.1126/science.1245824</a:t>
            </a:r>
          </a:p>
          <a:p>
            <a:r>
              <a:rPr>
                <a:latin typeface="Arial"/>
              </a:rPr>
              <a:t>Wang CWJ, Marshall NJ (2025). Behavioural evidence of spectral opponent processing in the visual system of stomatopod crustaceans. Journal of Experimental Biology 228: jeb247952. https://doi.org/10.1242/jeb.247952</a:t>
            </a:r>
          </a:p>
          <a:p/>
          <a:p>
            <a:r>
              <a:rPr>
                <a:latin typeface="Arial"/>
              </a:rPr>
              <a:t>Figure: Thoen et al. (2014), Fig. 4(A–D). The authors’ published proposal for spectral-channel recognition.</a:t>
            </a:r>
          </a:p>
          <a:p>
            <a:r>
              <a:rPr>
                <a:latin typeface="Arial"/>
              </a:rPr>
              <a:t>Figure source: https://doi.org/10.1126/science.1245824</a:t>
            </a:r>
          </a:p>
          <a:p/>
          <a:p>
            <a:r>
              <a:rPr>
                <a:latin typeface="Arial"/>
              </a:rPr>
              <a:t>Figure: Wang &amp; Marshall (2025), Fig. 7. Later color-versus-grey behavior under restricted illumination.</a:t>
            </a:r>
          </a:p>
          <a:p>
            <a:r>
              <a:rPr>
                <a:latin typeface="Arial"/>
              </a:rPr>
              <a:t>Figure source: https://doi.org/10.1242/jeb.247952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An opsin transcript indicates that a cell contains RNA encoding a candidate pigment protein. In situ hybridization identifies where that sequence occurs in the retina.</a:t>
            </a:r>
          </a:p>
          <a:p>
            <a:r>
              <a:rPr>
                <a:latin typeface="Arial"/>
              </a:rPr>
              <a:t>• The two complementary expression patterns correspond to two measured pigment absorption peaks. The additional uv3 pattern included nuclear labeling, leading the authors to consider a possible nonfunctional gene product.</a:t>
            </a:r>
          </a:p>
          <a:p>
            <a:r>
              <a:rPr>
                <a:latin typeface="Arial"/>
              </a:rPr>
              <a:t>• Neither transcript number nor pigment number equals the number of effective receptor sensitivities. Optical measurements of the overlying structures explain how the same pigment can receive differently filtered ultraviolet spectra.</a:t>
            </a:r>
          </a:p>
          <a:p/>
          <a:p>
            <a:r>
              <a:rPr>
                <a:latin typeface="Arial"/>
              </a:rPr>
              <a:t>References:</a:t>
            </a:r>
          </a:p>
          <a:p>
            <a:r>
              <a:rPr>
                <a:latin typeface="Arial"/>
              </a:rPr>
              <a:t>Bok MJ, Porter ML, Place AR, Cronin TW (2014). Biological Sunscreens Tune Polychromatic Ultraviolet Vision in Mantis Shrimp. Current Biology 24: 1636-1642. https://doi.org/10.1016/j.cub.2014.05.071</a:t>
            </a:r>
          </a:p>
          <a:p/>
          <a:p>
            <a:r>
              <a:rPr>
                <a:latin typeface="Arial"/>
              </a:rPr>
              <a:t>Figure: Bok et al. (2014), Fig. 1(E, F). Separate UV1 and UV2 transcript distributions in R8.</a:t>
            </a:r>
          </a:p>
          <a:p>
            <a:r>
              <a:rPr>
                <a:latin typeface="Arial"/>
              </a:rPr>
              <a:t>Figure source: https://doi.org/10.1016/j.cub.2014.05.071</a:t>
            </a:r>
          </a:p>
          <a:p/>
          <a:p>
            <a:r>
              <a:rPr>
                <a:latin typeface="Arial"/>
              </a:rPr>
              <a:t>Figure: Bok et al. (2014), Fig. 1(G, H). Measured pigment peaks at 334 and 383 nm.</a:t>
            </a:r>
          </a:p>
          <a:p>
            <a:r>
              <a:rPr>
                <a:latin typeface="Arial"/>
              </a:rPr>
              <a:t>Figure source: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fluorescence arises from material in the original eye specimen. The authors measured its location and absorption spectrum.</a:t>
            </a:r>
          </a:p>
          <a:p>
            <a:r>
              <a:rPr>
                <a:latin typeface="Arial"/>
              </a:rPr>
              <a:t>• The cone position is essential because incoming light encounters the material before reaching R8. A fluorescent substance outside the optical path would not provide the same filtering mechanism.</a:t>
            </a:r>
          </a:p>
          <a:p>
            <a:r>
              <a:rPr>
                <a:latin typeface="Arial"/>
              </a:rPr>
              <a:t>• The physiological consequence depends on the wavelengths absorbed and transmitted, not merely the emitted color. The authors combined fluorescence localization with absorption measurements to establish that distinction.</a:t>
            </a:r>
          </a:p>
          <a:p/>
          <a:p>
            <a:r>
              <a:rPr>
                <a:latin typeface="Arial"/>
              </a:rPr>
              <a:t>References:</a:t>
            </a:r>
          </a:p>
          <a:p>
            <a:r>
              <a:rPr>
                <a:latin typeface="Arial"/>
              </a:rPr>
              <a:t>Bok MJ, Porter ML, Place AR, Cronin TW (2014). Biological Sunscreens Tune Polychromatic Ultraviolet Vision in Mantis Shrimp. Current Biology 24: 1636-1642. https://doi.org/10.1016/j.cub.2014.05.071</a:t>
            </a:r>
          </a:p>
          <a:p/>
          <a:p>
            <a:r>
              <a:rPr>
                <a:latin typeface="Arial"/>
              </a:rPr>
              <a:t>Figure: Bok et al. (2014), Fig. 2(A–D). White-light view, UV fluorescence and cone-layer cross-sections.</a:t>
            </a:r>
          </a:p>
          <a:p>
            <a:r>
              <a:rPr>
                <a:latin typeface="Arial"/>
              </a:rPr>
              <a:t>Figure source: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Filtering can shift effective sensitivity toward either shorter or longer wavelengths, depending on which photons are removed. The underlying pigment need not change.</a:t>
            </a:r>
          </a:p>
          <a:p>
            <a:r>
              <a:rPr>
                <a:latin typeface="Arial"/>
              </a:rPr>
              <a:t>• Combining two absorbing pigments can leave a narrow region of transmission. That mechanism differs from increasing the number of independently expressed opsins.</a:t>
            </a:r>
          </a:p>
          <a:p>
            <a:r>
              <a:rPr>
                <a:latin typeface="Arial"/>
              </a:rPr>
              <a:t>• The row-two disagreement limits the match between model and physiology. An explanation based on electrode localization is plausible, but the optical prediction does not retrospectively identify the cell used in an earlier recording.</a:t>
            </a:r>
          </a:p>
          <a:p/>
          <a:p>
            <a:r>
              <a:rPr>
                <a:latin typeface="Arial"/>
              </a:rPr>
              <a:t>References:</a:t>
            </a:r>
          </a:p>
          <a:p>
            <a:r>
              <a:rPr>
                <a:latin typeface="Arial"/>
              </a:rPr>
              <a:t>Bok MJ, Porter ML, Place AR, Cronin TW (2014). Biological Sunscreens Tune Polychromatic Ultraviolet Vision in Mantis Shrimp. Current Biology 24: 1636-1642. https://doi.org/10.1016/j.cub.2014.05.071</a:t>
            </a:r>
          </a:p>
          <a:p/>
          <a:p>
            <a:r>
              <a:rPr>
                <a:latin typeface="Arial"/>
              </a:rPr>
              <a:t>Figure: Bok et al. (2014), Fig. 3(C). Published predictions compared with measured receptor sensitivities.</a:t>
            </a:r>
          </a:p>
          <a:p>
            <a:r>
              <a:rPr>
                <a:latin typeface="Arial"/>
              </a:rPr>
              <a:t>Figure source: https://doi.org/10.1016/j.cub.2014.05.071</a:t>
            </a:r>
          </a:p>
          <a:p/>
          <a:p>
            <a:r>
              <a:rPr>
                <a:latin typeface="Arial"/>
              </a:rPr>
              <a:t>Figure: Bok et al. (2014), Fig. 2(E). Measured absorption and emission spectra of cone pigments.</a:t>
            </a:r>
          </a:p>
          <a:p>
            <a:r>
              <a:rPr>
                <a:latin typeface="Arial"/>
              </a:rPr>
              <a:t>Figure source: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Chromatography separates components of a mixture, while mass spectrometry constrains molecular identity from mass-related measurements. The agreement with cone absorption spectra connects the extracts to the optical filters.</a:t>
            </a:r>
          </a:p>
          <a:p>
            <a:r>
              <a:rPr>
                <a:latin typeface="Arial"/>
              </a:rPr>
              <a:t>• Two named compounds have a stronger identification than the additional proposed members of the chemical family. Their different absorption spectra can alter which ultraviolet wavelengths reach R8.</a:t>
            </a:r>
          </a:p>
          <a:p>
            <a:r>
              <a:rPr>
                <a:latin typeface="Arial"/>
              </a:rPr>
              <a:t>• A compound's known role in protection does not prevent it from acquiring a sensory role in another location. The acquisition, modification and placement mechanisms remain separate biological questions.</a:t>
            </a:r>
          </a:p>
          <a:p/>
          <a:p>
            <a:r>
              <a:rPr>
                <a:latin typeface="Arial"/>
              </a:rPr>
              <a:t>References:</a:t>
            </a:r>
          </a:p>
          <a:p>
            <a:r>
              <a:rPr>
                <a:latin typeface="Arial"/>
              </a:rPr>
              <a:t>Bok MJ, Porter ML, Place AR, Cronin TW (2014). Biological Sunscreens Tune Polychromatic Ultraviolet Vision in Mantis Shrimp. Current Biology 24: 1636-1642. https://doi.org/10.1016/j.cub.2014.05.071</a:t>
            </a:r>
          </a:p>
          <a:p/>
          <a:p>
            <a:r>
              <a:rPr>
                <a:latin typeface="Arial"/>
              </a:rPr>
              <a:t>Figure: Bok et al. (2014), Fig. 4(A, B). Chromatographic peaks and absorption spectra of extracted UV pigments.</a:t>
            </a:r>
          </a:p>
          <a:p>
            <a:r>
              <a:rPr>
                <a:latin typeface="Arial"/>
              </a:rPr>
              <a:t>Figure source: https://doi.org/10.1016/j.cub.2014.05.071</a:t>
            </a:r>
          </a:p>
          <a:p/>
          <a:p>
            <a:r>
              <a:rPr>
                <a:latin typeface="Arial"/>
              </a:rPr>
              <a:t>Figure: Bok et al. (2014), Fig. 2(A–D). The cone structures containing the measured pigments.</a:t>
            </a:r>
          </a:p>
          <a:p>
            <a:r>
              <a:rPr>
                <a:latin typeface="Arial"/>
              </a:rPr>
              <a:t>Figure source: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two ultraviolet comparisons test different separations: one spans the UVB-to-UVA range, while the other stays within UVA. The latter establishes discrimination between two nearby ultraviolet stimuli.</a:t>
            </a:r>
          </a:p>
          <a:p>
            <a:r>
              <a:rPr>
                <a:latin typeface="Arial"/>
              </a:rPr>
              <a:t>• Brightness variation weakens an explanation based only on the intensity of one target, and identical targets test a residual preference for one side of the apparatus.</a:t>
            </a:r>
          </a:p>
          <a:p>
            <a:r>
              <a:rPr>
                <a:latin typeface="Arial"/>
              </a:rPr>
              <a:t>• Learning performance depends on which stimulus is rewarded. Poor training to UVB therefore cannot be equated with an inability to detect it, especially when participation changes in its presence.</a:t>
            </a:r>
          </a:p>
          <a:p/>
          <a:p>
            <a:r>
              <a:rPr>
                <a:latin typeface="Arial"/>
              </a:rPr>
              <a:t>References:</a:t>
            </a:r>
          </a:p>
          <a:p>
            <a:r>
              <a:rPr>
                <a:latin typeface="Arial"/>
              </a:rPr>
              <a:t>Bok MJ, Roberts NW, Cronin TW (2018). Behavioural evidence for polychromatic ultraviolet sensitivity in mantis shrimp. Proceedings of the Royal Society B: Biological Sciences 285: 20181384. https://doi.org/10.1098/rspb.2018.1384</a:t>
            </a:r>
          </a:p>
          <a:p/>
          <a:p>
            <a:r>
              <a:rPr>
                <a:latin typeface="Arial"/>
              </a:rPr>
              <a:t>Figure: Bok et al. (2018), Fig. 1(e, f). Original trained-choice apparatus, LED spectra and responses.</a:t>
            </a:r>
          </a:p>
          <a:p>
            <a:r>
              <a:rPr>
                <a:latin typeface="Arial"/>
              </a:rPr>
              <a:t>Figure source: https://doi.org/10.1098/rspb.2018.1384</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Rewarded targets and shelter entrances impose different behavioral demands. The same detectable stimulus can support a trained choice while being avoided in an untrained shelter task.</a:t>
            </a:r>
          </a:p>
          <a:p>
            <a:r>
              <a:rPr>
                <a:latin typeface="Arial"/>
              </a:rPr>
              <a:t>• The dark comparison identifies avoidance of illumination, whereas the intensity-matched UVA-versus-UVB comparison asks whether the animals prefer one illuminated shelter over the other. Those are distinct questions.</a:t>
            </a:r>
          </a:p>
          <a:p>
            <a:r>
              <a:rPr>
                <a:latin typeface="Arial"/>
              </a:rPr>
              <a:t>• A nonparticipating animal supplies no discrimination choice. The reduced participation should therefore be interpreted as part of the behavioral response rather than counted as direct evidence that a receptor failed to detect the stimulus.</a:t>
            </a:r>
          </a:p>
          <a:p/>
          <a:p>
            <a:r>
              <a:rPr>
                <a:latin typeface="Arial"/>
              </a:rPr>
              <a:t>References:</a:t>
            </a:r>
          </a:p>
          <a:p>
            <a:r>
              <a:rPr>
                <a:latin typeface="Arial"/>
              </a:rPr>
              <a:t>Bok MJ, Roberts NW, Cronin TW (2018). Behavioural evidence for polychromatic ultraviolet sensitivity in mantis shrimp. Proceedings of the Royal Society B: Biological Sciences 285: 20181384. https://doi.org/10.1098/rspb.2018.1384</a:t>
            </a:r>
          </a:p>
          <a:p/>
          <a:p>
            <a:r>
              <a:rPr>
                <a:latin typeface="Arial"/>
              </a:rPr>
              <a:t>Figure: Bok et al. (2018), Fig. 1(g, h). Original innate burrow-choice apparatus and behavioral responses.</a:t>
            </a:r>
          </a:p>
          <a:p>
            <a:r>
              <a:rPr>
                <a:latin typeface="Arial"/>
              </a:rPr>
              <a:t>Figure source: https://doi.org/10.1098/rspb.2018.1384</a:t>
            </a:r>
          </a:p>
          <a:p/>
          <a:p>
            <a:r>
              <a:rPr>
                <a:latin typeface="Arial"/>
              </a:rPr>
              <a:t>Figure: Bok et al. (2018), Fig. 2(a, b). Correct choices and participation differ across stimulus conditions.</a:t>
            </a:r>
          </a:p>
          <a:p>
            <a:r>
              <a:rPr>
                <a:latin typeface="Arial"/>
              </a:rPr>
              <a:t>Figure source: https://doi.org/10.1098/rspb.2018.1384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Wavelength and polarization describe different physical properties of light. Equal spectral content does not require equal electric-vector orientation.</a:t>
            </a:r>
          </a:p>
          <a:p>
            <a:r>
              <a:rPr>
                <a:latin typeface="Arial"/>
              </a:rPr>
              <a:t>• Aligned microvillar membranes provide a directional organization for photon absorption. A receptor can respond differently when the polarizer rotates even if the stimulus remains at the same wavelengths.</a:t>
            </a:r>
          </a:p>
          <a:p>
            <a:r>
              <a:rPr>
                <a:latin typeface="Arial"/>
              </a:rPr>
              <a:t>• The published anatomical arrangement supplies the receptor axes used in the eye-movement analysis. It does not by itself determine how a central neuron separates polarization from changes in intensity.</a:t>
            </a:r>
          </a:p>
          <a:p/>
          <a:p>
            <a:r>
              <a:rPr>
                <a:latin typeface="Arial"/>
              </a:rPr>
              <a:t>References:</a:t>
            </a:r>
          </a:p>
          <a:p>
            <a:r>
              <a:rPr>
                <a:latin typeface="Arial"/>
              </a:rPr>
              <a:t>Chiou TH, Kleinlogel S, Cronin T, Caldwell R, Loeffler B, Siddiqi A, Goldizen A, Marshall J (2008). Circular Polarization Vision in a Stomatopod Crustacean. Current Biology 18: 429-434. https://doi.org/10.1016/j.cub.2008.02.066</a:t>
            </a:r>
          </a:p>
          <a:p>
            <a:r>
              <a:rPr>
                <a:latin typeface="Arial"/>
              </a:rPr>
              <a:t>Kleinlogel S, White AG (2008). The Secret World of Shrimps: Polarisation Vision at Its Best. PLoS ONE 3: e2190. https://doi.org/10.1371/journal.pone.0002190</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Daly et al. (2016), Fig. 2(a–f). The authors’ published receptor geometry for linear-polarization sampling.</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polarizer changes electric-vector orientation while receptor voltage is recorded. A tuning maximum identifies the stimulus axis producing the strongest response in those experimental coordinates.</a:t>
            </a:r>
          </a:p>
          <a:p>
            <a:r>
              <a:rPr>
                <a:latin typeface="Arial"/>
              </a:rPr>
              <a:t>• The dorsal and ventral examples differ by forty-five degrees, providing offset sampling axes across the eye. The complementary receptors within each unit add another ninety-degree separation.</a:t>
            </a:r>
          </a:p>
          <a:p>
            <a:r>
              <a:rPr>
                <a:latin typeface="Arial"/>
              </a:rPr>
              <a:t>• A cell still responds at its unfavorable orientation because selectivity is finite. Both orientation and intensity influence voltage, which is why a single response amplitude cannot uniquely identify the incoming polarization state.</a:t>
            </a:r>
          </a:p>
          <a:p/>
          <a:p>
            <a:r>
              <a:rPr>
                <a:latin typeface="Arial"/>
              </a:rPr>
              <a:t>References:</a:t>
            </a:r>
          </a:p>
          <a:p>
            <a:r>
              <a:rPr>
                <a:latin typeface="Arial"/>
              </a:rPr>
              <a:t>Kleinlogel S, White AG (2008). The Secret World of Shrimps: Polarisation Vision at Its Best. PLoS ONE 3: e2190. https://doi.org/10.1371/journal.pone.0002190</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Kleinlogel &amp; White (2008), Fig. 4(C, D). Dorsal and ventral receptor voltage as the polarizer angle changes.</a:t>
            </a:r>
          </a:p>
          <a:p>
            <a:r>
              <a:rPr>
                <a:latin typeface="Arial"/>
              </a:rPr>
              <a:t>Figure source: https://doi.org/10.1371/journal.pone.0002190</a:t>
            </a:r>
          </a:p>
          <a:p/>
          <a:p>
            <a:r>
              <a:rPr>
                <a:latin typeface="Arial"/>
              </a:rPr>
              <a:t>Figure: Daly et al. (2016), Fig. 2(a–f). Original geometry of alternating microvillar directions.</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short flash provides a defined stimulation interval, and the electrode records the resulting voltage over time. Comparing two polarization states in the same cell reduces ambiguity from differences between cells.</a:t>
            </a:r>
          </a:p>
          <a:p>
            <a:r>
              <a:rPr>
                <a:latin typeface="Arial"/>
              </a:rPr>
              <a:t>• Dye filling supplies an anatomical check on recording identity. That check is stronger than assigning a receptor solely from electrode depth or response shape.</a:t>
            </a:r>
          </a:p>
          <a:p>
            <a:r>
              <a:rPr>
                <a:latin typeface="Arial"/>
              </a:rPr>
              <a:t>• The receptor's membrane absorbs the light after the retinal optics have acted. A sensitivity to circular incident light can therefore arise from optical conversion followed by ordinary linear-polarization-sensitive absorption.</a:t>
            </a:r>
          </a:p>
          <a:p/>
          <a:p>
            <a:r>
              <a:rPr>
                <a:latin typeface="Arial"/>
              </a:rPr>
              <a:t>References:</a:t>
            </a:r>
          </a:p>
          <a:p>
            <a:r>
              <a:rPr>
                <a:latin typeface="Arial"/>
              </a:rPr>
              <a:t>Kleinlogel S, White AG (2008). The Secret World of Shrimps: Polarisation Vision at Its Best. PLoS ONE 3: e2190. https://doi.org/10.1371/journal.pone.0002190</a:t>
            </a:r>
          </a:p>
          <a:p>
            <a:r>
              <a:rPr>
                <a:latin typeface="Arial"/>
              </a:rPr>
              <a:t>Chiou TH, Kleinlogel S, Cronin T, Caldwell R, Loeffler B, Siddiqi A, Goldizen A, Marshall J (2008). Circular Polarization Vision in a Stomatopod Crustacean. Current Biology 18: 429-434. https://doi.org/10.1016/j.cub.2008.02.066</a:t>
            </a:r>
          </a:p>
          <a:p/>
          <a:p>
            <a:r>
              <a:rPr>
                <a:latin typeface="Arial"/>
              </a:rPr>
              <a:t>Figure: Kleinlogel &amp; White (2008), Fig. 4(B). Different voltage responses to opposite circular states after 50-ms flashes.</a:t>
            </a:r>
          </a:p>
          <a:p>
            <a:r>
              <a:rPr>
                <a:latin typeface="Arial"/>
              </a:rPr>
              <a:t>Figure source: https://doi.org/10.1371/journal.pone.0002190</a:t>
            </a:r>
          </a:p>
          <a:p/>
          <a:p>
            <a:r>
              <a:rPr>
                <a:latin typeface="Arial"/>
              </a:rPr>
              <a:t>Figure: Chiou et al. (2008), Fig. 2(A–C). Original anatomy of the overlying R8 and R1–R7 system.</a:t>
            </a:r>
          </a:p>
          <a:p>
            <a:r>
              <a:rPr>
                <a:latin typeface="Arial"/>
              </a:rPr>
              <a:t>Figure source: https://doi.org/10.1016/j.cub.2008.02.066</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Voltage amplitude depends on both photon delivery and polarization preference. Measuring a series of intensities permits those contributions to be separated more clearly than one flash alone.</a:t>
            </a:r>
          </a:p>
          <a:p>
            <a:r>
              <a:rPr>
                <a:latin typeface="Arial"/>
              </a:rPr>
              <a:t>• A sensitivity difference appears as a horizontal displacement between intensity-response functions. When two functions coincide, the tested states require similar intensities for the same response.</a:t>
            </a:r>
          </a:p>
          <a:p>
            <a:r>
              <a:rPr>
                <a:latin typeface="Arial"/>
              </a:rPr>
              <a:t>• The downstream comparison can use these inputs, but its existence and response sign need separate measurements. A receptor-level sensitivity ratio is therefore different from a behavioral discrimination threshold.</a:t>
            </a:r>
          </a:p>
          <a:p/>
          <a:p>
            <a:r>
              <a:rPr>
                <a:latin typeface="Arial"/>
              </a:rPr>
              <a:t>References:</a:t>
            </a:r>
          </a:p>
          <a:p>
            <a:r>
              <a:rPr>
                <a:latin typeface="Arial"/>
              </a:rPr>
              <a:t>Kleinlogel S, White AG (2008). The Secret World of Shrimps: Polarisation Vision at Its Best. PLoS ONE 3: e2190. https://doi.org/10.1371/journal.pone.0002190</a:t>
            </a:r>
          </a:p>
          <a:p/>
          <a:p>
            <a:r>
              <a:rPr>
                <a:latin typeface="Arial"/>
              </a:rPr>
              <a:t>Figure: Kleinlogel &amp; White (2008), Fig. 4(E, F). Intensity-response functions for preferred and orthogonal linear states.</a:t>
            </a:r>
          </a:p>
          <a:p>
            <a:r>
              <a:rPr>
                <a:latin typeface="Arial"/>
              </a:rPr>
              <a:t>Figure source: https://doi.org/10.1371/journal.pone.0002190</a:t>
            </a:r>
          </a:p>
          <a:p/>
          <a:p>
            <a:r>
              <a:rPr>
                <a:latin typeface="Arial"/>
              </a:rPr>
              <a:t>Figure: Kleinlogel &amp; White (2008), Fig. 4(G, H). Circular-state preference and weak residual linear preference in midband cells.</a:t>
            </a:r>
          </a:p>
          <a:p>
            <a:r>
              <a:rPr>
                <a:latin typeface="Arial"/>
              </a:rPr>
              <a:t>Figure source: https://doi.org/10.1371/journal.pone.0002190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Two opposite circular states differ in handedness even though neither has one fixed electric-vector axis. A circular analyzer preferentially transmits one of those states.</a:t>
            </a:r>
          </a:p>
          <a:p>
            <a:r>
              <a:rPr>
                <a:latin typeface="Arial"/>
              </a:rPr>
              <a:t>• The photographed telson is the same biological region under two analyzing conditions. Its changing appearance concerns the reflected light rather than a pigment changing color between exposures.</a:t>
            </a:r>
          </a:p>
          <a:p>
            <a:r>
              <a:rPr>
                <a:latin typeface="Arial"/>
              </a:rPr>
              <a:t>• A visible signal and a possible display context are not sufficient to establish a communication function. Behavioral manipulation of the natural signal would be required to assign its role in a particular social interaction.</a:t>
            </a:r>
          </a:p>
          <a:p/>
          <a:p>
            <a:r>
              <a:rPr>
                <a:latin typeface="Arial"/>
              </a:rPr>
              <a:t>References:</a:t>
            </a:r>
          </a:p>
          <a:p>
            <a:r>
              <a:rPr>
                <a:latin typeface="Arial"/>
              </a:rPr>
              <a:t>Chiou TH, Kleinlogel S, Cronin T, Caldwell R, Loeffler B, Siddiqi A, Goldizen A, Marshall J (2008). Circular Polarization Vision in a Stomatopod Crustacean. Current Biology 18: 429-434. https://doi.org/10.1016/j.cub.2008.02.066</a:t>
            </a:r>
          </a:p>
          <a:p/>
          <a:p>
            <a:r>
              <a:rPr>
                <a:latin typeface="Arial"/>
              </a:rPr>
              <a:t>Figure: Chiou et al. (2008), Fig. 1(B, C). The same male telson region viewed through opposite circular analyzers.</a:t>
            </a:r>
          </a:p>
          <a:p>
            <a:r>
              <a:rPr>
                <a:latin typeface="Arial"/>
              </a:rPr>
              <a:t>Figure source: https://doi.org/10.1016/j.cub.2008.02.066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apparatus assigns a food consequence to one of two circularly reflecting targets. Removing food during the test reduces direct food-associated cues at the time of choice.</a:t>
            </a:r>
          </a:p>
          <a:p>
            <a:r>
              <a:rPr>
                <a:latin typeface="Arial"/>
              </a:rPr>
              <a:t>• The published analyzer photographs document the optical difference between the target ends. Without a circular analyzer, the targets have similar visible appearance.</a:t>
            </a:r>
          </a:p>
          <a:p>
            <a:r>
              <a:rPr>
                <a:latin typeface="Arial"/>
              </a:rPr>
              <a:t>• Learned preference establishes that the available polarization information can guide action. It does not establish that the same target structure or learning contingency occurs in the natural environment.</a:t>
            </a:r>
          </a:p>
          <a:p/>
          <a:p>
            <a:r>
              <a:rPr>
                <a:latin typeface="Arial"/>
              </a:rPr>
              <a:t>References:</a:t>
            </a:r>
          </a:p>
          <a:p>
            <a:r>
              <a:rPr>
                <a:latin typeface="Arial"/>
              </a:rPr>
              <a:t>Chiou TH, Kleinlogel S, Cronin T, Caldwell R, Loeffler B, Siddiqi A, Goldizen A, Marshall J (2008). Circular Polarization Vision in a Stomatopod Crustacean. Current Biology 18: 429-434. https://doi.org/10.1016/j.cub.2008.02.066</a:t>
            </a:r>
          </a:p>
          <a:p/>
          <a:p>
            <a:r>
              <a:rPr>
                <a:latin typeface="Arial"/>
              </a:rPr>
              <a:t>Figure: Chiou et al. (2008), Fig. 5(A, B). Published feeding-tube construction and opposite-analyzer photographs.</a:t>
            </a:r>
          </a:p>
          <a:p>
            <a:r>
              <a:rPr>
                <a:latin typeface="Arial"/>
              </a:rPr>
              <a:t>Figure source: https://doi.org/10.1016/j.cub.2008.02.066</a:t>
            </a:r>
          </a:p>
          <a:p/>
          <a:p>
            <a:r>
              <a:rPr>
                <a:latin typeface="Arial"/>
              </a:rPr>
              <a:t>Figure: Chiou et al. (2008), Fig. 5(C). Individual tube choices after training to circular handedness.</a:t>
            </a:r>
          </a:p>
          <a:p>
            <a:r>
              <a:rPr>
                <a:latin typeface="Arial"/>
              </a:rPr>
              <a:t>Figure source: https://doi.org/10.1016/j.cub.2008.02.066</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Phase describes the timing relationship between two oscillating components of the light wave. Retarding one component changes the combined polarization state without requiring absorption of the entire beam.</a:t>
            </a:r>
          </a:p>
          <a:p>
            <a:r>
              <a:rPr>
                <a:latin typeface="Arial"/>
              </a:rPr>
              <a:t>• The forty-five-degree relationship places the two converted linear states along different underlying receptor axes. That geometry permits opposite circular incident states to produce different receptor responses.</a:t>
            </a:r>
          </a:p>
          <a:p>
            <a:r>
              <a:rPr>
                <a:latin typeface="Arial"/>
              </a:rPr>
              <a:t>• The arrangement must operate with an appropriate phase delay at the wavelengths transmitted. Anatomical resemblance alone cannot prove that another species has the same broadband optical performance.</a:t>
            </a:r>
          </a:p>
          <a:p/>
          <a:p>
            <a:r>
              <a:rPr>
                <a:latin typeface="Arial"/>
              </a:rPr>
              <a:t>References:</a:t>
            </a:r>
          </a:p>
          <a:p>
            <a:r>
              <a:rPr>
                <a:latin typeface="Arial"/>
              </a:rPr>
              <a:t>Chiou TH, Kleinlogel S, Cronin T, Caldwell R, Loeffler B, Siddiqi A, Goldizen A, Marshall J (2008). Circular Polarization Vision in a Stomatopod Crustacean. Current Biology 18: 429-434. https://doi.org/10.1016/j.cub.2008.02.066</a:t>
            </a:r>
          </a:p>
          <a:p>
            <a:r>
              <a:rPr>
                <a:latin typeface="Arial"/>
              </a:rPr>
              <a:t>Roberts NW, Chiou TH, Marshall NJ, Cronin TW (2009). A biological quarter-wave retarder with excellent achromaticity in the visible wavelength region. Nature Photonics 3: 641-644. https://doi.org/10.1038/nphoton.2009.189</a:t>
            </a:r>
          </a:p>
          <a:p/>
          <a:p>
            <a:r>
              <a:rPr>
                <a:latin typeface="Arial"/>
              </a:rPr>
              <a:t>Figure: Chiou et al. (2008), Fig. 2(A–C). Unchanged published anatomy and quarter-wave conversion mechanism.</a:t>
            </a:r>
          </a:p>
          <a:p>
            <a:r>
              <a:rPr>
                <a:latin typeface="Arial"/>
              </a:rPr>
              <a:t>Figure source: https://doi.org/10.1016/j.cub.2008.02.066</a:t>
            </a:r>
          </a:p>
          <a:p/>
          <a:p>
            <a:r>
              <a:rPr>
                <a:latin typeface="Arial"/>
              </a:rPr>
              <a:t>Figure: Chiou et al. (2008), Fig. 1(D, E). Location of polarization rows and their optical tiers.</a:t>
            </a:r>
          </a:p>
          <a:p>
            <a:r>
              <a:rPr>
                <a:latin typeface="Arial"/>
              </a:rPr>
              <a:t>Figure source: https://doi.org/10.1016/j.cub.2008.02.066</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Orthogonal light components encounter different optical properties in the ordered tissue. The resulting phase difference depends on those properties and the distance traveled.</a:t>
            </a:r>
          </a:p>
          <a:p>
            <a:r>
              <a:rPr>
                <a:latin typeface="Arial"/>
              </a:rPr>
              <a:t>• The microvillar dimensions place the membrane pattern below the visible-light wavelength scale. Their arrangement is therefore relevant to the effective optics of the entire R8 rhabdomere.</a:t>
            </a:r>
          </a:p>
          <a:p>
            <a:r>
              <a:rPr>
                <a:latin typeface="Arial"/>
              </a:rPr>
              <a:t>• Rotating the polarizer system changes transmitted brightness, which tests directional optical behavior. Measuring brightness alone does not specify the exact phase delay or establish a behavioral response.</a:t>
            </a:r>
          </a:p>
          <a:p/>
          <a:p>
            <a:r>
              <a:rPr>
                <a:latin typeface="Arial"/>
              </a:rPr>
              <a:t>References:</a:t>
            </a:r>
          </a:p>
          <a:p>
            <a:r>
              <a:rPr>
                <a:latin typeface="Arial"/>
              </a:rPr>
              <a:t>Roberts NW, Chiou TH, Marshall NJ, Cronin TW (2009). A biological quarter-wave retarder with excellent achromaticity in the visible wavelength region. Nature Photonics 3: 641-644. https://doi.org/10.1038/nphoton.2009.189</a:t>
            </a:r>
          </a:p>
          <a:p>
            <a:r>
              <a:rPr>
                <a:latin typeface="Arial"/>
              </a:rPr>
              <a:t>Chiou TH, Kleinlogel S, Cronin T, Caldwell R, Loeffler B, Siddiqi A, Goldizen A, Marshall J (2008). Circular Polarization Vision in a Stomatopod Crustacean. Current Biology 18: 429-434. https://doi.org/10.1016/j.cub.2008.02.066</a:t>
            </a:r>
          </a:p>
          <a:p/>
          <a:p>
            <a:r>
              <a:rPr>
                <a:latin typeface="Arial"/>
              </a:rPr>
              <a:t>Figure: Roberts et al. (2009), Fig. 1(b, c). R8 tissue position and electron micrograph of its microvilli.</a:t>
            </a:r>
          </a:p>
          <a:p>
            <a:r>
              <a:rPr>
                <a:latin typeface="Arial"/>
              </a:rPr>
              <a:t>Figure source: https://doi.org/10.1038/nphoton.2009.189</a:t>
            </a:r>
          </a:p>
          <a:p/>
          <a:p>
            <a:r>
              <a:rPr>
                <a:latin typeface="Arial"/>
              </a:rPr>
              <a:t>Figure: Chiou et al. (2008), Fig. 3(A–C). Tissue and crossed-polarizer views at different orientations.</a:t>
            </a:r>
          </a:p>
          <a:p>
            <a:r>
              <a:rPr>
                <a:latin typeface="Arial"/>
              </a:rPr>
              <a:t>Figure source: https://doi.org/10.1016/j.cub.2008.02.066</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Stokes parameters specify components of polarization. S3 represents the circular component, so its normalized magnitude can test conversion from a known linear input into circular output.</a:t>
            </a:r>
          </a:p>
          <a:p>
            <a:r>
              <a:rPr>
                <a:latin typeface="Arial"/>
              </a:rPr>
              <a:t>• Optical reciprocity permits the same retarding structure to convert circular input into linear output under the corresponding geometry. The measurement therefore constrains the mechanism used before R1–R7 absorption.</a:t>
            </a:r>
          </a:p>
          <a:p>
            <a:r>
              <a:rPr>
                <a:latin typeface="Arial"/>
              </a:rPr>
              <a:t>• The authors measured thin tissue sections and accounted for full path length. The result is a quantitative optical characterization, distinct from recording the animal's neural response across the entire tested wavelength range.</a:t>
            </a:r>
          </a:p>
          <a:p/>
          <a:p>
            <a:r>
              <a:rPr>
                <a:latin typeface="Arial"/>
              </a:rPr>
              <a:t>References:</a:t>
            </a:r>
          </a:p>
          <a:p>
            <a:r>
              <a:rPr>
                <a:latin typeface="Arial"/>
              </a:rPr>
              <a:t>Roberts NW, Chiou TH, Marshall NJ, Cronin TW (2009). A biological quarter-wave retarder with excellent achromaticity in the visible wavelength region. Nature Photonics 3: 641-644. https://doi.org/10.1038/nphoton.2009.189</a:t>
            </a:r>
          </a:p>
          <a:p/>
          <a:p>
            <a:r>
              <a:rPr>
                <a:latin typeface="Arial"/>
              </a:rPr>
              <a:t>Figure: Roberts et al. (2009), Fig. 2. Measured circular component after transmission and the fitted optical model.</a:t>
            </a:r>
          </a:p>
          <a:p>
            <a:r>
              <a:rPr>
                <a:latin typeface="Arial"/>
              </a:rPr>
              <a:t>Figure source: https://doi.org/10.1038/nphoton.2009.189</a:t>
            </a:r>
          </a:p>
          <a:p/>
          <a:p>
            <a:r>
              <a:rPr>
                <a:latin typeface="Arial"/>
              </a:rPr>
              <a:t>Figure: Roberts et al. (2009), Fig. 1(b, c). The R8 tissue whose transmission was measured.</a:t>
            </a:r>
          </a:p>
          <a:p>
            <a:r>
              <a:rPr>
                <a:latin typeface="Arial"/>
              </a:rPr>
              <a:t>Figure source: https://doi.org/10.1038/nphoton.2009.189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material can be optically directional even without a repeated structure. A repeated structure can add another directional effect when its constituent materials have different optical properties.</a:t>
            </a:r>
          </a:p>
          <a:p>
            <a:r>
              <a:rPr>
                <a:latin typeface="Arial"/>
              </a:rPr>
              <a:t>• In the R8 model, those contributions interact across wavelength. A nearly constant phase delay does not require every underlying refractive quantity to remain constant.</a:t>
            </a:r>
          </a:p>
          <a:p>
            <a:r>
              <a:rPr>
                <a:latin typeface="Arial"/>
              </a:rPr>
              <a:t>• The model is constrained by measured geometry and transmission, but some material parameters are fitted. The optical mechanism should therefore be distinguished from direct molecular identification of every membrane component or a recorded neural computation.</a:t>
            </a:r>
          </a:p>
          <a:p/>
          <a:p>
            <a:r>
              <a:rPr>
                <a:latin typeface="Arial"/>
              </a:rPr>
              <a:t>References:</a:t>
            </a:r>
          </a:p>
          <a:p>
            <a:r>
              <a:rPr>
                <a:latin typeface="Arial"/>
              </a:rPr>
              <a:t>Roberts NW, Chiou TH, Marshall NJ, Cronin TW (2009). A biological quarter-wave retarder with excellent achromaticity in the visible wavelength region. Nature Photonics 3: 641-644. https://doi.org/10.1038/nphoton.2009.189</a:t>
            </a:r>
          </a:p>
          <a:p/>
          <a:p>
            <a:r>
              <a:rPr>
                <a:latin typeface="Arial"/>
              </a:rPr>
              <a:t>Figure: Roberts et al. (2009), Fig. 3(a, b). Published intrinsic and effective refractive-index model functions.</a:t>
            </a:r>
          </a:p>
          <a:p>
            <a:r>
              <a:rPr>
                <a:latin typeface="Arial"/>
              </a:rPr>
              <a:t>Figure source: https://doi.org/10.1038/nphoton.2009.189</a:t>
            </a:r>
          </a:p>
          <a:p/>
          <a:p>
            <a:r>
              <a:rPr>
                <a:latin typeface="Arial"/>
              </a:rPr>
              <a:t>Figure: Roberts et al. (2009), Fig. 1(b, c). The measured microvillar geometry underlying the model.</a:t>
            </a:r>
          </a:p>
          <a:p>
            <a:r>
              <a:rPr>
                <a:latin typeface="Arial"/>
              </a:rPr>
              <a:t>Figure source: https://doi.org/10.1038/nphoton.2009.189</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Pitch and yaw change where the eye points, while torsion changes its orientation around that direction. The distinction separates viewing direction from polarization-axis orientation.</a:t>
            </a:r>
          </a:p>
          <a:p>
            <a:r>
              <a:rPr>
                <a:latin typeface="Arial"/>
              </a:rPr>
              <a:t>• The original successive photographs record substantial changes in torsional position. Those movements can alter how a fixed polarized stimulus aligns with the receptor array.</a:t>
            </a:r>
          </a:p>
          <a:p>
            <a:r>
              <a:rPr>
                <a:latin typeface="Arial"/>
              </a:rPr>
              <a:t>• Independent movement of the two eyes also means that one eye's position cannot automatically stand for the other. The functional test must track the particular eye responding to the presented stimulus.</a:t>
            </a:r>
          </a:p>
          <a:p/>
          <a:p>
            <a:r>
              <a:rPr>
                <a:latin typeface="Arial"/>
              </a:rPr>
              <a:t>References:</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Daly et al. (2016), Fig. 1(b–d). Published eye rotation axes and successive torsional positions.</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green LED fixes the spectral stimulus near a wavelength detected by the relevant visible receptors. The aperture controls the spatial extent of the light source against its background.</a:t>
            </a:r>
          </a:p>
          <a:p>
            <a:r>
              <a:rPr>
                <a:latin typeface="Arial"/>
              </a:rPr>
              <a:t>• Stereo-camera tracking supplies orientation rather than only a two-dimensional image displacement. The temporal record aligns the eye movement with stimulus presentation.</a:t>
            </a:r>
          </a:p>
          <a:p>
            <a:r>
              <a:rPr>
                <a:latin typeface="Arial"/>
              </a:rPr>
              <a:t>• The nearest hemispheric sampling axis moved toward a favorable orientation. Assigning that motor response to a particular receptor-to-muscle circuit would require neural recordings or perturbations beyond this experiment.</a:t>
            </a:r>
          </a:p>
          <a:p/>
          <a:p>
            <a:r>
              <a:rPr>
                <a:latin typeface="Arial"/>
              </a:rPr>
              <a:t>References:</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Daly et al. (2016), Fig. 5(a, b). Original LED presentation and stereo-camera recording arrangement.</a:t>
            </a:r>
          </a:p>
          <a:p>
            <a:r>
              <a:rPr>
                <a:latin typeface="Arial"/>
              </a:rPr>
              <a:t>Figure source: https://doi.org/10.1038/ncomms12140</a:t>
            </a:r>
          </a:p>
          <a:p/>
          <a:p>
            <a:r>
              <a:rPr>
                <a:latin typeface="Arial"/>
              </a:rPr>
              <a:t>Figure: Daly et al. (2016), Fig. 3(a, b). Measured eye rotation and receptor-axis alignment during the stimulus.</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model combines the object's polarization with the background and the receptor axes. Eye rotation changes those axes, so the predicted difference between object and background can change.</a:t>
            </a:r>
          </a:p>
          <a:p>
            <a:r>
              <a:rPr>
                <a:latin typeface="Arial"/>
              </a:rPr>
              <a:t>• A measured movement and a calculated contrast are different outputs. Calculated contrast depends on assumptions about receptor geometry and polarization sensitivity.</a:t>
            </a:r>
          </a:p>
          <a:p>
            <a:r>
              <a:rPr>
                <a:latin typeface="Arial"/>
              </a:rPr>
              <a:t>• The selective effect on hemispheric predictions limits a broad claim that torsion improves every visual channel. Color recognition and midband circular-polarization processing are not directly established by this LED contrast analysis.</a:t>
            </a:r>
          </a:p>
          <a:p/>
          <a:p>
            <a:r>
              <a:rPr>
                <a:latin typeface="Arial"/>
              </a:rPr>
              <a:t>References:</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Daly et al. (2016), Fig. 3(c, d). Published model-based contrast estimates before and during the LED.</a:t>
            </a:r>
          </a:p>
          <a:p>
            <a:r>
              <a:rPr>
                <a:latin typeface="Arial"/>
              </a:rPr>
              <a:t>Figure source: https://doi.org/10.1038/ncomms12140</a:t>
            </a:r>
          </a:p>
          <a:p/>
          <a:p>
            <a:r>
              <a:rPr>
                <a:latin typeface="Arial"/>
              </a:rPr>
              <a:t>Figure: Daly et al. (2016), Fig. 2(a–f). Anatomical axes used in the contrast calculation.</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display manipulation removes the ordinary brightness difference between disk and background. Expansion remains available through polarization contrast.</a:t>
            </a:r>
          </a:p>
          <a:p>
            <a:r>
              <a:rPr>
                <a:latin typeface="Arial"/>
              </a:rPr>
              <a:t>• Angular size describes the extent seen by the eye, while display tilt changes the optical presentation geometry. Testing more than one tilt addresses a possible screen-specific explanation.</a:t>
            </a:r>
          </a:p>
          <a:p>
            <a:r>
              <a:rPr>
                <a:latin typeface="Arial"/>
              </a:rPr>
              <a:t>• The recorded behavior is an eye rotation in a restrained preparation. Calling the stimulus threat-like does not turn the experiment into a measurement of free-moving escape or identify the circuit responsible for avoidance.</a:t>
            </a:r>
          </a:p>
          <a:p/>
          <a:p>
            <a:r>
              <a:rPr>
                <a:latin typeface="Arial"/>
              </a:rPr>
              <a:t>References:</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Daly et al. (2016), Fig. 4(a–d). Original eye-position records and contrast estimates during polarized looming.</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receptor can respond strongly to both the object and the background. A large object response alone does not guarantee a large difference between them.</a:t>
            </a:r>
          </a:p>
          <a:p>
            <a:r>
              <a:rPr>
                <a:latin typeface="Arial"/>
              </a:rPr>
              <a:t>• The two predictions separate alignment with a single signal from an orientation favoring their contrast. The controlled polarized background makes that distinction experimentally testable.</a:t>
            </a:r>
          </a:p>
          <a:p>
            <a:r>
              <a:rPr>
                <a:latin typeface="Arial"/>
              </a:rPr>
              <a:t>• The eye positions favor the contrast account under the reported conditions. The data do not establish that the same modeled quantity is represented by a named neuron or that one motor rule covers every natural background.</a:t>
            </a:r>
          </a:p>
          <a:p/>
          <a:p>
            <a:r>
              <a:rPr>
                <a:latin typeface="Arial"/>
              </a:rPr>
              <a:t>References:</a:t>
            </a:r>
          </a:p>
          <a:p>
            <a:r>
              <a:rPr>
                <a:latin typeface="Arial"/>
              </a:rPr>
              <a:t>Daly IM, How MJ, Partridge JC, Temple SE, Marshall NJ, Cronin TW, Roberts NW (2016). Dynamic polarization vision in mantis shrimps. Nature Communications 7: 12140. https://doi.org/10.1038/ncomms12140</a:t>
            </a:r>
          </a:p>
          <a:p/>
          <a:p>
            <a:r>
              <a:rPr>
                <a:latin typeface="Arial"/>
              </a:rPr>
              <a:t>Figure: Daly et al. (2016), Fig. 4(a–d). Measured positions favor contrast over the object-only alignment prediction.</a:t>
            </a:r>
          </a:p>
          <a:p>
            <a:r>
              <a:rPr>
                <a:latin typeface="Arial"/>
              </a:rPr>
              <a:t>Figure source: https://doi.org/10.1038/ncomms12140</a:t>
            </a:r>
          </a:p>
          <a:p/>
          <a:p>
            <a:r>
              <a:rPr>
                <a:latin typeface="Arial"/>
              </a:rPr>
              <a:t>Figure: Daly et al. (2016), Fig. 2(a–f). Published geometry of hemispheric sampling axes.</a:t>
            </a:r>
          </a:p>
          <a:p>
            <a:r>
              <a:rPr>
                <a:latin typeface="Arial"/>
              </a:rPr>
              <a:t>Figure source: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sharp electrode can measure graded voltage changes inside a small cell. The eyestalk opening provides access without requiring the entire optical apparatus to be removed.</a:t>
            </a:r>
          </a:p>
          <a:p>
            <a:r>
              <a:rPr>
                <a:latin typeface="Arial"/>
              </a:rPr>
              <a:t>• The rotating assembly supplies a known sequence of states, while timing calibration identifies periods when opaque tape temporarily reduces the light. Reverse rotation changes the state order for the same recorded cell.</a:t>
            </a:r>
          </a:p>
          <a:p>
            <a:r>
              <a:rPr>
                <a:latin typeface="Arial"/>
              </a:rPr>
              <a:t>• Lamina-like response categories rely on more than morphology because the cells were not all filled and reconstructed. That limitation must remain explicit when connecting the recordings to later anatomical candidates.</a:t>
            </a:r>
          </a:p>
          <a:p/>
          <a:p>
            <a:r>
              <a:rPr>
                <a:latin typeface="Arial"/>
              </a:rPr>
              <a:t>References:</a:t>
            </a:r>
          </a:p>
          <a:p>
            <a:r>
              <a:rPr>
                <a:latin typeface="Arial"/>
              </a:rPr>
              <a:t>Chiou TH, Wang CW (2020). Neural processing of linearly and circularly polarized light signal in a mantis shrimp Haptosquilla pulchella (Miers, 1880). Journal of Experimental Biology 223: jeb219832. https://doi.org/10.1242/jeb.219832</a:t>
            </a:r>
          </a:p>
          <a:p/>
          <a:p>
            <a:r>
              <a:rPr>
                <a:latin typeface="Arial"/>
              </a:rPr>
              <a:t>Figure: Chiou &amp; Wang (2020), Fig. 1(A–D). Original recording chamber, eyestalk access and lamina section.</a:t>
            </a:r>
          </a:p>
          <a:p>
            <a:r>
              <a:rPr>
                <a:latin typeface="Arial"/>
              </a:rPr>
              <a:t>Figure source: https://doi.org/10.1242/jeb.219832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receptor responsive to both components can favor a particular elliptical state. A difference between circular states does not require the response to all linear orientations to be identical.</a:t>
            </a:r>
          </a:p>
          <a:p>
            <a:r>
              <a:rPr>
                <a:latin typeface="Arial"/>
              </a:rPr>
              <a:t>• The same stimulus sequence tests these properties within one cell. Calibration traces identify temporary dimming at filter transitions, reducing confusion between polarization changes and interruptions of light.</a:t>
            </a:r>
          </a:p>
          <a:p>
            <a:r>
              <a:rPr>
                <a:latin typeface="Arial"/>
              </a:rPr>
              <a:t>• The three response classes describe physiology in this species. The proposed correspondence to hemispheres and particular midband rows remains an anatomical inference, rather than direct tracing of every recorded cell.</a:t>
            </a:r>
          </a:p>
          <a:p/>
          <a:p>
            <a:r>
              <a:rPr>
                <a:latin typeface="Arial"/>
              </a:rPr>
              <a:t>References:</a:t>
            </a:r>
          </a:p>
          <a:p>
            <a:r>
              <a:rPr>
                <a:latin typeface="Arial"/>
              </a:rPr>
              <a:t>Chiou TH, Wang CW (2020). Neural processing of linearly and circularly polarized light signal in a mantis shrimp Haptosquilla pulchella (Miers, 1880). Journal of Experimental Biology 223: jeb219832. https://doi.org/10.1242/jeb.219832</a:t>
            </a:r>
          </a:p>
          <a:p/>
          <a:p>
            <a:r>
              <a:rPr>
                <a:latin typeface="Arial"/>
              </a:rPr>
              <a:t>Figure: Chiou &amp; Wang (2020), Fig. 2(A–D). Original receptor traces for changing linear angle and circular handedness.</a:t>
            </a:r>
          </a:p>
          <a:p>
            <a:r>
              <a:rPr>
                <a:latin typeface="Arial"/>
              </a:rPr>
              <a:t>Figure source: https://doi.org/10.1242/jeb.219832</a:t>
            </a:r>
          </a:p>
          <a:p/>
          <a:p>
            <a:r>
              <a:rPr>
                <a:latin typeface="Arial"/>
              </a:rPr>
              <a:t>Figure: Chiou &amp; Wang (2020), Fig. 1(A–D). Retinal access and the sampled lamina region.</a:t>
            </a:r>
          </a:p>
          <a:p>
            <a:r>
              <a:rPr>
                <a:latin typeface="Arial"/>
              </a:rPr>
              <a:t>Figure source: https://doi.org/10.1242/jeb.219832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Hyperpolarization is the direction of the recorded voltage change, not a complete description of the underlying synaptic mechanism. A light-evoked negative shift can arise through several circuit operations.</a:t>
            </a:r>
          </a:p>
          <a:p>
            <a:r>
              <a:rPr>
                <a:latin typeface="Arial"/>
              </a:rPr>
              <a:t>• Two episodes during a half-turn differ from a simple single-axis receptor preference. Reversing the sequence also tests whether the response depends on dynamics as well as orientation.</a:t>
            </a:r>
          </a:p>
          <a:p>
            <a:r>
              <a:rPr>
                <a:latin typeface="Arial"/>
              </a:rPr>
              <a:t>• The recordings support transformed polarization information in the lamina. Naming a specific transmitter, postsynaptic receptor or ion channel would require molecular or pharmacological measurements that these experiments did not provide.</a:t>
            </a:r>
          </a:p>
          <a:p/>
          <a:p>
            <a:r>
              <a:rPr>
                <a:latin typeface="Arial"/>
              </a:rPr>
              <a:t>References:</a:t>
            </a:r>
          </a:p>
          <a:p>
            <a:r>
              <a:rPr>
                <a:latin typeface="Arial"/>
              </a:rPr>
              <a:t>Chiou TH, Wang CW (2020). Neural processing of linearly and circularly polarized light signal in a mantis shrimp Haptosquilla pulchella (Miers, 1880). Journal of Experimental Biology 223: jeb219832. https://doi.org/10.1242/jeb.219832</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Chiou &amp; Wang (2020), Fig. 3(D–F). Monopolar-cell-like voltage responses to flashes and reversed polarization sequences.</a:t>
            </a:r>
          </a:p>
          <a:p>
            <a:r>
              <a:rPr>
                <a:latin typeface="Arial"/>
              </a:rPr>
              <a:t>Figure source: https://doi.org/10.1242/jeb.219832</a:t>
            </a:r>
          </a:p>
          <a:p/>
          <a:p>
            <a:r>
              <a:rPr>
                <a:latin typeface="Arial"/>
              </a:rPr>
              <a:t>Figure: Streets et al. (2025), Fig. 5(A). Published monopolar-cell and neighboring interneuron reconstructions.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response is defined relative to the cell's ongoing light-evoked depolarization. A transient decrease therefore differs from simply failing to respond to the entire stimulus.</a:t>
            </a:r>
          </a:p>
          <a:p>
            <a:r>
              <a:rPr>
                <a:latin typeface="Arial"/>
              </a:rPr>
              <a:t>• Off-axis stimulation checks whether the preference disappears with imperfect alignment. Comparing the response with known filter-transition dimming also addresses a possible intensity artifact.</a:t>
            </a:r>
          </a:p>
          <a:p>
            <a:r>
              <a:rPr>
                <a:latin typeface="Arial"/>
              </a:rPr>
              <a:t>• The result identifies a transformation of information after photoreception. A response resemblance to another animal's interneuron is a candidate identity, not evidence that the same named cell type or synaptic mechanism has been established here.</a:t>
            </a:r>
          </a:p>
          <a:p/>
          <a:p>
            <a:r>
              <a:rPr>
                <a:latin typeface="Arial"/>
              </a:rPr>
              <a:t>References:</a:t>
            </a:r>
          </a:p>
          <a:p>
            <a:r>
              <a:rPr>
                <a:latin typeface="Arial"/>
              </a:rPr>
              <a:t>Chiou TH, Wang CW (2020). Neural processing of linearly and circularly polarized light signal in a mantis shrimp Haptosquilla pulchella (Miers, 1880). Journal of Experimental Biology 223: jeb219832. https://doi.org/10.1242/jeb.219832</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Chiou &amp; Wang (2020), Fig. 4(A–F). Original circular-sensitive responses under on-axis and off-axis stimulation.</a:t>
            </a:r>
          </a:p>
          <a:p>
            <a:r>
              <a:rPr>
                <a:latin typeface="Arial"/>
              </a:rPr>
              <a:t>Figure source: https://doi.org/10.1242/jeb.219832</a:t>
            </a:r>
          </a:p>
          <a:p/>
          <a:p>
            <a:r>
              <a:rPr>
                <a:latin typeface="Arial"/>
              </a:rPr>
              <a:t>Figure: Streets et al. (2025), Fig. 5(C). Published lamina micrographs with identified neuronal profiles.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The reconstruction follows the same process through successive sections rather than assigning connectivity from one two-dimensional image. Small section spacing improves continuity between neighboring profiles.</a:t>
            </a:r>
          </a:p>
          <a:p>
            <a:r>
              <a:rPr>
                <a:latin typeface="Arial"/>
              </a:rPr>
              <a:t>• The authors labeled the original segmented cells in color. The segmented profiles identify photoreceptor axons and terminal volumes across successive sections.</a:t>
            </a:r>
          </a:p>
          <a:p>
            <a:r>
              <a:rPr>
                <a:latin typeface="Arial"/>
              </a:rPr>
              <a:t>• A complete neuronal outline still need not include identifiable presynaptic and postsynaptic specializations. The available resolution supports anatomical reconstruction while leaving the detailed synaptic wiring incomplete.</a:t>
            </a:r>
          </a:p>
          <a:p/>
          <a:p>
            <a:r>
              <a:rPr>
                <a:latin typeface="Arial"/>
              </a:rPr>
              <a:t>References:</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Streets et al. (2025), Fig. 3(A, B). Original electron micrographs with author-labeled receptor profiles.</a:t>
            </a:r>
          </a:p>
          <a:p>
            <a:r>
              <a:rPr>
                <a:latin typeface="Arial"/>
              </a:rPr>
              <a:t>Figure source: https://doi.org/10.1002/cne.70063</a:t>
            </a:r>
          </a:p>
          <a:p/>
          <a:p>
            <a:r>
              <a:rPr>
                <a:latin typeface="Arial"/>
              </a:rPr>
              <a:t>Figure: Streets et al. (2025), Fig. 4(A–F). Author-reconstructed hemisphere photoreceptor terminals.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branch restricted to one layer is positioned near one receptor group, while a branch spanning both layers has access to a different mixture of signals. This distinction constrains possible computations.</a:t>
            </a:r>
          </a:p>
          <a:p>
            <a:r>
              <a:rPr>
                <a:latin typeface="Arial"/>
              </a:rPr>
              <a:t>• The comparative reconstruction tests whether the major branching patterns are unique to one sampled species. Similar arrangements occur despite differences in cartridge sizes and visual ecology.</a:t>
            </a:r>
          </a:p>
          <a:p>
            <a:r>
              <a:rPr>
                <a:latin typeface="Arial"/>
              </a:rPr>
              <a:t>• An opponent computation needs an interaction between channels, including the signs of their effects. Separate anatomical sampling cannot alone establish the sign or strength of that interaction.</a:t>
            </a:r>
          </a:p>
          <a:p/>
          <a:p>
            <a:r>
              <a:rPr>
                <a:latin typeface="Arial"/>
              </a:rPr>
              <a:t>References:</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Streets et al. (2025), Fig. 5(A–F). Comparative Alachosquilla interneuron reconstructions.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A cartridge receives an ommatidial input, but branches need not remain within that single column. Cross-cartridge anatomy permits a cell to encounter signals originating from neighboring receptor populations.</a:t>
            </a:r>
          </a:p>
          <a:p>
            <a:r>
              <a:rPr>
                <a:latin typeface="Arial"/>
              </a:rPr>
              <a:t>• Dilating the segmented surfaces increases the chance of detecting neighboring membranes in the reconstructed volume. The resulting overlap is a proxy for possible contact rather than a synaptic count.</a:t>
            </a:r>
          </a:p>
          <a:p>
            <a:r>
              <a:rPr>
                <a:latin typeface="Arial"/>
              </a:rPr>
              <a:t>• The matrices are the authors' original published calculations. Their colors encode geometric overlap, and interpreting them as excitatory or inhibitory connection strength would exceed the measurement.</a:t>
            </a:r>
          </a:p>
          <a:p/>
          <a:p>
            <a:r>
              <a:rPr>
                <a:latin typeface="Arial"/>
              </a:rPr>
              <a:t>References:</a:t>
            </a:r>
          </a:p>
          <a:p>
            <a:r>
              <a:rPr>
                <a:latin typeface="Arial"/>
              </a:rPr>
              <a:t>Streets A, England H, Marshall J (2025). Neural Repertoire Behind the World's Most Complex Retina: Neuroanatomy of the Stomatopod Lamina. Journal of Comparative Neurology 533: e70063. https://doi.org/10.1002/cne.70063</a:t>
            </a:r>
          </a:p>
          <a:p/>
          <a:p>
            <a:r>
              <a:rPr>
                <a:latin typeface="Arial"/>
              </a:rPr>
              <a:t>Figure: Streets et al. (2025), Fig. 6(C, D). The authors’ maps of branches extending into neighboring cartridges.</a:t>
            </a:r>
          </a:p>
          <a:p>
            <a:r>
              <a:rPr>
                <a:latin typeface="Arial"/>
              </a:rPr>
              <a:t>Figure source: https://doi.org/10.1002/cne.70063</a:t>
            </a:r>
          </a:p>
          <a:p/>
          <a:p>
            <a:r>
              <a:rPr>
                <a:latin typeface="Arial"/>
              </a:rPr>
              <a:t>Figure: Streets et al. (2025), Fig. 6(A, B). Original proximity-derived overlap matrices, not verified synaptic connections.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Dimming and narrowing a spectrum change different properties of the stimulus. Neutral illumination controls help separate a loss of spectral contrast from a general inability to choose under weaker light.</a:t>
            </a:r>
          </a:p>
          <a:p>
            <a:r>
              <a:rPr>
                <a:latin typeface="Arial"/>
              </a:rPr>
              <a:t>• The behavioral controls support channel comparison, the reconstructions constrain available pathways, and the polarization recordings establish that lamina responses can differ from receptor responses. None of those measurements supplies every missing step in the same species and task.</a:t>
            </a:r>
          </a:p>
          <a:p>
            <a:r>
              <a:rPr>
                <a:latin typeface="Arial"/>
              </a:rPr>
              <a:t>• A complete mechanism would connect identified inputs through known synapses to recorded activity and behavior. The evidence supports several parts of that chain while leaving molecular identity and the causal color-decision circuit unresolved.</a:t>
            </a:r>
          </a:p>
          <a:p/>
          <a:p>
            <a:r>
              <a:rPr>
                <a:latin typeface="Arial"/>
              </a:rPr>
              <a:t>References:</a:t>
            </a:r>
          </a:p>
          <a:p>
            <a:r>
              <a:rPr>
                <a:latin typeface="Arial"/>
              </a:rPr>
              <a:t>Wang CWJ, Marshall NJ (2025). Behavioural evidence of spectral opponent processing in the visual system of stomatopod crustaceans. Journal of Experimental Biology 228: jeb247952. https://doi.org/10.1242/jeb.247952</a:t>
            </a:r>
          </a:p>
          <a:p>
            <a:r>
              <a:rPr>
                <a:latin typeface="Arial"/>
              </a:rPr>
              <a:t>Streets A, England H, Marshall J (2025). Neural Repertoire Behind the World's Most Complex Retina: Neuroanatomy of the Stomatopod Lamina. Journal of Comparative Neurology 533: e70063. https://doi.org/10.1002/cne.70063</a:t>
            </a:r>
          </a:p>
          <a:p>
            <a:r>
              <a:rPr>
                <a:latin typeface="Arial"/>
              </a:rPr>
              <a:t>Chiou TH, Wang CW (2020). Neural processing of linearly and circularly polarized light signal in a mantis shrimp Haptosquilla pulchella (Miers, 1880). Journal of Experimental Biology 223: jeb219832. https://doi.org/10.1242/jeb.219832</a:t>
            </a:r>
          </a:p>
          <a:p/>
          <a:p>
            <a:r>
              <a:rPr>
                <a:latin typeface="Arial"/>
              </a:rPr>
              <a:t>Figure: Wang &amp; Marshall (2025), Fig. 8(A, B). Color-versus-grey choices under dim colored and neutral illumination.</a:t>
            </a:r>
          </a:p>
          <a:p>
            <a:r>
              <a:rPr>
                <a:latin typeface="Arial"/>
              </a:rPr>
              <a:t>Figure source: https://doi.org/10.1242/jeb.247952</a:t>
            </a:r>
          </a:p>
          <a:p/>
          <a:p>
            <a:r>
              <a:rPr>
                <a:latin typeface="Arial"/>
              </a:rPr>
              <a:t>Figure: Streets et al. (2025), Fig. 5(C). Original lamina tissue profiles that constrain candidate pathways.</a:t>
            </a:r>
          </a:p>
          <a:p>
            <a:r>
              <a:rPr>
                <a:latin typeface="Arial"/>
              </a:rPr>
              <a:t>Figure source: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Arial"/>
              </a:rPr>
              <a:t>• Behavioral thresholds and receptor tuning are different measurements. The wavelength-choice assay found coarse discrimination despite several narrow receptor channels, while later grey-target tests supported spectral comparison under restricted illumination.</a:t>
            </a:r>
          </a:p>
          <a:p>
            <a:r>
              <a:rPr>
                <a:latin typeface="Arial"/>
              </a:rPr>
              <a:t>• Light encounters receptor tiers and filters in sequence. Measuring pigment absorption alone cannot specify intact receptor sensitivity, and the ultraviolet cone-filter system can produce several effective channels from two functional pigments.</a:t>
            </a:r>
          </a:p>
          <a:p>
            <a:r>
              <a:rPr>
                <a:latin typeface="Arial"/>
              </a:rPr>
              <a:t>• Linear-polarization sensitivity follows microvillar orientation. Multiple offset axes provide different inputs, but a central comparison and its synaptic signs require evidence beyond the receptor geometry.</a:t>
            </a:r>
          </a:p>
          <a:p>
            <a:r>
              <a:rPr>
                <a:latin typeface="Arial"/>
              </a:rPr>
              <a:t>• R8 retardance can convert opposite circular handedness into different linear states before the main rhabdom absorbs the light. Species differ in optical performance, so ideal circular selectivity cannot be assigned to every mantis shrimp.</a:t>
            </a:r>
          </a:p>
          <a:p>
            <a:r>
              <a:rPr>
                <a:latin typeface="Arial"/>
              </a:rPr>
              <a:t>• Torsion changes sampling axes around the viewing direction. The eye-movement studies support enhanced modeled hemispheric contrast, including circumstances where the best orientation depends on the background as well as the object.</a:t>
            </a:r>
          </a:p>
          <a:p>
            <a:r>
              <a:rPr>
                <a:latin typeface="Arial"/>
              </a:rPr>
              <a:t>• Lamina recordings and reconstructions constrain early processing, while behavioral tasks establish usable visual distinctions. They leave the complete spectral decoder, molecular synaptic identities and direct causal route to color choices unresolved.</a:t>
            </a:r>
          </a:p>
          <a:p/>
          <a:p>
            <a:r>
              <a:rPr>
                <a:latin typeface="Arial"/>
              </a:rPr>
              <a:t>References:</a:t>
            </a:r>
          </a:p>
          <a:p>
            <a:r>
              <a:rPr>
                <a:latin typeface="Arial"/>
              </a:rPr>
              <a:t>Cronin TW, Marshall NJ (1989). A retina with at least ten spectral types of photoreceptors in a mantis shrimp. Nature 339: 137-140. https://doi.org/10.1038/339137a0</a:t>
            </a:r>
          </a:p>
          <a:p>
            <a:r>
              <a:rPr>
                <a:latin typeface="Arial"/>
              </a:rPr>
              <a:t>Thoen HH, How MJ, Chiou TH, Marshall J (2014). A Different Form of Color Vision in Mantis Shrimp. Science 343: 411-413. https://doi.org/10.1126/science.1245824</a:t>
            </a:r>
          </a:p>
          <a:p>
            <a:r>
              <a:rPr>
                <a:latin typeface="Arial"/>
              </a:rPr>
              <a:t>Bok MJ, Porter ML, Place AR, Cronin TW (2014). Biological Sunscreens Tune Polychromatic Ultraviolet Vision in Mantis Shrimp. Current Biology 24: 1636-1642. https://doi.org/10.1016/j.cub.2014.05.071</a:t>
            </a:r>
          </a:p>
          <a:p>
            <a:r>
              <a:rPr>
                <a:latin typeface="Arial"/>
              </a:rPr>
              <a:t>Chiou TH, Kleinlogel S, Cronin T, Caldwell R, Loeffler B, Siddiqi A, Goldizen A, Marshall J (2008). Circular Polarization Vision in a Stomatopod Crustacean. Current Biology 18: 429-434. https://doi.org/10.1016/j.cub.2008.02.066</a:t>
            </a:r>
          </a:p>
          <a:p>
            <a:r>
              <a:rPr>
                <a:latin typeface="Arial"/>
              </a:rPr>
              <a:t>Roberts NW, Chiou TH, Marshall NJ, Cronin TW (2009). A biological quarter-wave retarder with excellent achromaticity in the visible wavelength region. Nature Photonics 3: 641-644. https://doi.org/10.1038/nphoton.2009.189</a:t>
            </a:r>
          </a:p>
          <a:p>
            <a:r>
              <a:rPr>
                <a:latin typeface="Arial"/>
              </a:rPr>
              <a:t>Kleinlogel S, White AG (2008). The Secret World of Shrimps: Polarisation Vision at Its Best. PLoS ONE 3: e2190. https://doi.org/10.1371/journal.pone.0002190</a:t>
            </a:r>
          </a:p>
          <a:p>
            <a:r>
              <a:rPr>
                <a:latin typeface="Arial"/>
              </a:rPr>
              <a:t>Daly IM, How MJ, Partridge JC, Temple SE, Marshall NJ, Cronin TW, Roberts NW (2016). Dynamic polarization vision in mantis shrimps. Nature Communications 7: 12140. https://doi.org/10.1038/ncomms12140</a:t>
            </a:r>
          </a:p>
          <a:p>
            <a:r>
              <a:rPr>
                <a:latin typeface="Arial"/>
              </a:rPr>
              <a:t>Bok MJ, Roberts NW, Cronin TW (2018). Behavioural evidence for polychromatic ultraviolet sensitivity in mantis shrimp. Proceedings of the Royal Society B: Biological Sciences 285: 20181384. https://doi.org/10.1098/rspb.2018.1384</a:t>
            </a:r>
          </a:p>
          <a:p>
            <a:r>
              <a:rPr>
                <a:latin typeface="Arial"/>
              </a:rPr>
              <a:t>Chiou TH, Wang CW (2020). Neural processing of linearly and circularly polarized light signal in a mantis shrimp Haptosquilla pulchella (Miers, 1880). Journal of Experimental Biology 223: jeb219832. https://doi.org/10.1242/jeb.219832</a:t>
            </a:r>
          </a:p>
          <a:p>
            <a:r>
              <a:rPr>
                <a:latin typeface="Arial"/>
              </a:rPr>
              <a:t>Wang CWJ, Marshall NJ (2025). Behavioural evidence of spectral opponent processing in the visual system of stomatopod crustaceans. Journal of Experimental Biology 228: jeb247952. https://doi.org/10.1242/jeb.247952</a:t>
            </a:r>
          </a:p>
          <a:p>
            <a:r>
              <a:rPr>
                <a:latin typeface="Arial"/>
              </a:rPr>
              <a:t>Streets A, England H, Marshall J (2025). Neural Repertoire Behind the World's Most Complex Retina: Neuroanatomy of the Stomatopod Lamina. Journal of Comparative Neurology 533: e70063.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Overlap between reconstructed processes identifies where synapses could form, and the dilation step controls how generously that opportunity is counted.</a:t>
            </a:r>
          </a:p>
          <a:p>
            <a:r>
              <a:rPr lang="en-US" sz="1200"/>
              <a:t>• Why cross-cartridge branches matter.</a:t>
            </a:r>
          </a:p>
          <a:p>
            <a:r>
              <a:rPr lang="en-US" sz="1200"/>
              <a:t>– A cartridge receives an ommatidial input, but branches need not remain within that single column.</a:t>
            </a:r>
          </a:p>
          <a:p>
            <a:r>
              <a:rPr lang="en-US" sz="1200"/>
              <a:t>– Cross-cartridge anatomy permits a cell to encounter signals originating from neighboring receptor populations.</a:t>
            </a:r>
          </a:p>
          <a:p>
            <a:r>
              <a:rPr lang="en-US" sz="1200"/>
              <a:t>• The dilation step.</a:t>
            </a:r>
          </a:p>
          <a:p>
            <a:r>
              <a:rPr lang="en-US" sz="1200"/>
              <a:t>– Dilating the segmented surfaces by about 50 nm increases the chance of detecting neighboring membranes in the reconstructed volume.</a:t>
            </a:r>
          </a:p>
          <a:p>
            <a:r>
              <a:rPr lang="en-US" sz="1200"/>
              <a:t>– The resulting overlap is a proxy for possible contact and not a synaptic count.</a:t>
            </a:r>
          </a:p>
          <a:p>
            <a:r>
              <a:rPr lang="en-US" sz="1200"/>
              <a:t>• Reading the matrices.</a:t>
            </a:r>
          </a:p>
          <a:p>
            <a:r>
              <a:rPr lang="en-US" sz="1200"/>
              <a:t>– The matrices are the authors' published calculations, with colors encoding geometric overlap.</a:t>
            </a:r>
          </a:p>
          <a:p>
            <a:r>
              <a:rPr lang="en-US" sz="1200"/>
              <a:t>– Their values describe proximity between identified processes.</a:t>
            </a:r>
          </a:p>
          <a:p>
            <a:r>
              <a:rPr lang="en-US" sz="1200"/>
              <a:t>• Midband links.</a:t>
            </a:r>
          </a:p>
          <a:p>
            <a:r>
              <a:rPr lang="en-US" sz="1200"/>
              <a:t>– Midband branches often extended within the same visual column, potentially linking different spectral sampling rows.</a:t>
            </a:r>
          </a:p>
          <a:p>
            <a:r>
              <a:rPr lang="en-US" sz="1200"/>
              <a:t>• Role of the dilation.</a:t>
            </a:r>
          </a:p>
          <a:p>
            <a:r>
              <a:rPr lang="en-US" sz="1200"/>
              <a:t>– The reported matrices summarize proximity after the dilation of about 50 nm, so the colors compare identified processes under one consistent rule.</a:t>
            </a:r>
          </a:p>
          <a:p>
            <a:r>
              <a:rPr lang="en-US" sz="1200"/>
              <a:t/>
            </a:r>
          </a:p>
          <a:p>
            <a:r>
              <a:rPr lang="en-US" sz="1200"/>
              <a:t>References:</a:t>
            </a:r>
          </a:p>
          <a:p>
            <a:r>
              <a:rPr lang="en-US" sz="1200"/>
              <a:t>Streets A, England H, Marshall J (2025). Neural Repertoire Behind the World's Most Complex Retina: Neuroanatomy of the Stomatopod Lamina. Journal of Comparative Neurology 533: e70063.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volume reconstruction assigns connectivity by following a process through many sections instead of interpreting one image.</a:t>
            </a:r>
          </a:p>
          <a:p>
            <a:r>
              <a:rPr lang="en-US" sz="1200"/>
              <a:t>• How the volume is built.</a:t>
            </a:r>
          </a:p>
          <a:p>
            <a:r>
              <a:rPr lang="en-US" sz="1200"/>
              <a:t>– The tissue block is imaged repeatedly as thin layers are removed.</a:t>
            </a:r>
          </a:p>
          <a:p>
            <a:r>
              <a:rPr lang="en-US" sz="1200"/>
              <a:t>– Small section spacing improves continuity between neighboring profiles.</a:t>
            </a:r>
          </a:p>
          <a:p>
            <a:r>
              <a:rPr lang="en-US" sz="1200"/>
              <a:t>• What was traced.</a:t>
            </a:r>
          </a:p>
          <a:p>
            <a:r>
              <a:rPr lang="en-US" sz="1200"/>
              <a:t>– The authors labeled segmented cells in color so that photoreceptor axons and terminal volumes can be followed across successive sections.</a:t>
            </a:r>
          </a:p>
          <a:p>
            <a:r>
              <a:rPr lang="en-US" sz="1200"/>
              <a:t>– Distal retinal cell identities constrained which axons were assigned to which receptors.</a:t>
            </a:r>
          </a:p>
          <a:p>
            <a:r>
              <a:rPr lang="en-US" sz="1200"/>
              <a:t>• Resolution and synapses.</a:t>
            </a:r>
          </a:p>
          <a:p>
            <a:r>
              <a:rPr lang="en-US" sz="1200"/>
              <a:t>– The available resolution supports anatomical reconstruction of cartridge organization.</a:t>
            </a:r>
          </a:p>
          <a:p>
            <a:r>
              <a:rPr lang="en-US" sz="1200"/>
              <a:t>– A complete outline does not necessarily include identifiable presynaptic and postsynaptic specializations, so the detailed synaptic wiring is incomplete.</a:t>
            </a:r>
          </a:p>
          <a:p>
            <a:r>
              <a:rPr lang="en-US" sz="1200"/>
              <a:t>• The images.</a:t>
            </a:r>
          </a:p>
          <a:p>
            <a:r>
              <a:rPr lang="en-US" sz="1200"/>
              <a:t>– High-resolution stacks used 50-nm section steps, with image pixels approximately 10–15 nm across.</a:t>
            </a:r>
          </a:p>
          <a:p>
            <a:r>
              <a:rPr lang="en-US" sz="1200"/>
              <a:t>– Identified profiles were traced through successive images to reconstruct cartridge organization.</a:t>
            </a:r>
          </a:p>
          <a:p>
            <a:r>
              <a:rPr lang="en-US" sz="1200"/>
              <a:t>• Species compared.</a:t>
            </a:r>
          </a:p>
          <a:p>
            <a:r>
              <a:rPr lang="en-US" sz="1200"/>
              <a:t>– The reconstructions covered Haptosquilla trispinosa and Alachosquilla vicinia, which allows the organization to be compared across two stomatopod species.</a:t>
            </a:r>
          </a:p>
          <a:p>
            <a:r>
              <a:rPr lang="en-US" sz="1200"/>
              <a:t/>
            </a:r>
          </a:p>
          <a:p>
            <a:r>
              <a:rPr lang="en-US" sz="1200"/>
              <a:t>References:</a:t>
            </a:r>
          </a:p>
          <a:p>
            <a:r>
              <a:rPr lang="en-US" sz="1200"/>
              <a:t>Streets A, England H, Marshall J (2025). Neural Repertoire Behind the World's Most Complex Retina: Neuroanatomy of the Stomatopod Lamina. Journal of Comparative Neurology 533: e70063.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Responses in the lamina differ from single-receptor tuning, and the differences identify a transformation of polarization information after photoreception.</a:t>
            </a:r>
          </a:p>
          <a:p>
            <a:r>
              <a:rPr lang="en-US" sz="1200"/>
              <a:t>• Hyperpolarization.</a:t>
            </a:r>
          </a:p>
          <a:p>
            <a:r>
              <a:rPr lang="en-US" sz="1200"/>
              <a:t>– Hyperpolarization is the direction of the recorded voltage change.</a:t>
            </a:r>
          </a:p>
          <a:p>
            <a:r>
              <a:rPr lang="en-US" sz="1200"/>
              <a:t>– A light-evoked negative shift can arise through several circuit operations.</a:t>
            </a:r>
          </a:p>
          <a:p>
            <a:r>
              <a:rPr lang="en-US" sz="1200"/>
              <a:t>• Two episodes in a half-turn.</a:t>
            </a:r>
          </a:p>
          <a:p>
            <a:r>
              <a:rPr lang="en-US" sz="1200"/>
              <a:t>– A photoreceptor has one preferred axis, so two episodes as the electric vector sweeps 180° differ from a simple single-axis preference.</a:t>
            </a:r>
          </a:p>
          <a:p>
            <a:r>
              <a:rPr lang="en-US" sz="1200"/>
              <a:t>– The pattern is consistent with input from differently oriented receptors.</a:t>
            </a:r>
          </a:p>
          <a:p>
            <a:r>
              <a:rPr lang="en-US" sz="1200"/>
              <a:t>• Reversing the sequence.</a:t>
            </a:r>
          </a:p>
          <a:p>
            <a:r>
              <a:rPr lang="en-US" sz="1200"/>
              <a:t>– Reverse rotation altered the waveform while preserving its period.</a:t>
            </a:r>
          </a:p>
          <a:p>
            <a:r>
              <a:rPr lang="en-US" sz="1200"/>
              <a:t>– The comparison tests dynamics as well as orientation.</a:t>
            </a:r>
          </a:p>
          <a:p>
            <a:r>
              <a:rPr lang="en-US" sz="1200"/>
              <a:t>• Identity of the cells.</a:t>
            </a:r>
          </a:p>
          <a:p>
            <a:r>
              <a:rPr lang="en-US" sz="1200"/>
              <a:t>– Cell categories were assigned from recording depth and response profile.</a:t>
            </a:r>
          </a:p>
          <a:p>
            <a:r>
              <a:rPr lang="en-US" sz="1200"/>
              <a:t>– The lamina anatomy reconstructed in Haptosquilla trispinosa provides candidate cell types for these responses.</a:t>
            </a:r>
          </a:p>
          <a:p>
            <a:r>
              <a:rPr lang="en-US" sz="1200"/>
              <a:t>• Why a half-turn is informative.</a:t>
            </a:r>
          </a:p>
          <a:p>
            <a:r>
              <a:rPr lang="en-US" sz="1200"/>
              <a:t>– Sweeping the electric vector through 180° covers every linear orientation once.</a:t>
            </a:r>
          </a:p>
          <a:p>
            <a:r>
              <a:rPr lang="en-US" sz="1200"/>
              <a:t>– A cell with a single preferred axis would respond once during the sweep.</a:t>
            </a:r>
          </a:p>
          <a:p>
            <a:r>
              <a:rPr lang="en-US" sz="1200"/>
              <a:t/>
            </a:r>
          </a:p>
          <a:p>
            <a:r>
              <a:rPr lang="en-US" sz="1200"/>
              <a:t>References:</a:t>
            </a:r>
          </a:p>
          <a:p>
            <a:r>
              <a:rPr lang="en-US" sz="1200"/>
              <a:t>Chiou TH, Wang CW (2020). Neural processing of linearly and circularly polarized light signal in a mantis shrimp Haptosquilla pulchella (Miers, 1880). Journal of Experimental Biology 223: jeb219832. https://doi.org/10.1242/jeb.219832</a:t>
            </a:r>
          </a:p>
          <a:p>
            <a:r>
              <a:rPr lang="en-US" sz="1200"/>
              <a:t>Streets A, England H, Marshall J (2025). Neural Repertoire Behind the World's Most Complex Retina: Neuroanatomy of the Stomatopod Lamina. Journal of Comparative Neurology 533: e70063. https://doi.org/10.1002/cne.70063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calculated contrast links a measured eye movement to a consequence for the receptors, and it depends on stated assumptions about receptor geometry.</a:t>
            </a:r>
          </a:p>
          <a:p>
            <a:r>
              <a:rPr lang="en-US" sz="1200"/>
              <a:t>• What the model combines.</a:t>
            </a:r>
          </a:p>
          <a:p>
            <a:r>
              <a:rPr lang="en-US" sz="1200"/>
              <a:t>– The model combines the object's polarization with the background and the receptor axes.</a:t>
            </a:r>
          </a:p>
          <a:p>
            <a:r>
              <a:rPr lang="en-US" sz="1200"/>
              <a:t>– Eye rotation changes those axes, so the predicted difference between object and background can change.</a:t>
            </a:r>
          </a:p>
          <a:p>
            <a:r>
              <a:rPr lang="en-US" sz="1200"/>
              <a:t>• Measured and calculated quantities.</a:t>
            </a:r>
          </a:p>
          <a:p>
            <a:r>
              <a:rPr lang="en-US" sz="1200"/>
              <a:t>– A measured movement and a calculated contrast are different outputs.</a:t>
            </a:r>
          </a:p>
          <a:p>
            <a:r>
              <a:rPr lang="en-US" sz="1200"/>
              <a:t>– Calculated contrast depends on assumptions about receptor geometry and polarization sensitivity.</a:t>
            </a:r>
          </a:p>
          <a:p>
            <a:r>
              <a:rPr lang="en-US" sz="1200"/>
              <a:t>• Selective effect.</a:t>
            </a:r>
          </a:p>
          <a:p>
            <a:r>
              <a:rPr lang="en-US" sz="1200"/>
              <a:t>– The effect appeared in the hemispheric predictions and not in the midband polarization signal.</a:t>
            </a:r>
          </a:p>
          <a:p>
            <a:r>
              <a:rPr lang="en-US" sz="1200"/>
              <a:t>– Torsion is therefore not assumed to improve every visual channel.</a:t>
            </a:r>
          </a:p>
          <a:p>
            <a:r>
              <a:rPr lang="en-US" sz="1200"/>
              <a:t>• Hemispheric and midband signals.</a:t>
            </a:r>
          </a:p>
          <a:p>
            <a:r>
              <a:rPr lang="en-US" sz="1200"/>
              <a:t>– The dorsal and ventral populations differ in calculated contrast because their axes are offset by 45°.</a:t>
            </a:r>
          </a:p>
          <a:p>
            <a:r>
              <a:rPr lang="en-US" sz="1200"/>
              <a:t>– The modeled midband polarization signal was not maximized by the same movement.</a:t>
            </a:r>
          </a:p>
          <a:p>
            <a:r>
              <a:rPr lang="en-US" sz="1200"/>
              <a:t>• Assumptions.</a:t>
            </a:r>
          </a:p>
          <a:p>
            <a:r>
              <a:rPr lang="en-US" sz="1200"/>
              <a:t>– The calculation uses published receptor geometry and polarization sensitivity, so the contrast values depend on those inputs.</a:t>
            </a:r>
          </a:p>
          <a:p>
            <a:r>
              <a:rPr lang="en-US" sz="1200"/>
              <a:t/>
            </a:r>
          </a:p>
          <a:p>
            <a:r>
              <a:rPr lang="en-US" sz="1200"/>
              <a:t>References:</a:t>
            </a:r>
          </a:p>
          <a:p>
            <a:r>
              <a:rPr lang="en-US" sz="1200"/>
              <a:t>Daly IM, How MJ, Partridge JC, Temple SE, Marshall NJ, Cronin TW, Roberts NW (2016). Dynamic polarization vision in mantis shrimps. Nature Communications 7: 12140.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Circular polarization sensitivity can arise from optics placed in front of ordinary linear-polarization-sensitive receptors.</a:t>
            </a:r>
          </a:p>
          <a:p>
            <a:r>
              <a:rPr lang="en-US" sz="1200"/>
              <a:t>• Phase and retardation.</a:t>
            </a:r>
          </a:p>
          <a:p>
            <a:r>
              <a:rPr lang="en-US" sz="1200"/>
              <a:t>– Phase describes the timing relationship between two oscillating components of the light wave.</a:t>
            </a:r>
          </a:p>
          <a:p>
            <a:r>
              <a:rPr lang="en-US" sz="1200"/>
              <a:t>– Retarding one component by a quarter wavelength changes the combined polarization state.</a:t>
            </a:r>
          </a:p>
          <a:p>
            <a:r>
              <a:rPr lang="en-US" sz="1200"/>
              <a:t>• The geometry in rows 5 and 6.</a:t>
            </a:r>
          </a:p>
          <a:p>
            <a:r>
              <a:rPr lang="en-US" sz="1200"/>
              <a:t>– The forty-five-degree relationship places the two converted linear states along different underlying receptor axes.</a:t>
            </a:r>
          </a:p>
          <a:p>
            <a:r>
              <a:rPr lang="en-US" sz="1200"/>
              <a:t>– That geometry allows opposite circular incident states to produce different receptor responses.</a:t>
            </a:r>
          </a:p>
          <a:p>
            <a:r>
              <a:rPr lang="en-US" sz="1200"/>
              <a:t>• The consequence for the receptors.</a:t>
            </a:r>
          </a:p>
          <a:p>
            <a:r>
              <a:rPr lang="en-US" sz="1200"/>
              <a:t>– A sensitivity to circular incident light can arise from optical conversion followed by ordinary linear-polarization-sensitive absorption.</a:t>
            </a:r>
          </a:p>
          <a:p>
            <a:r>
              <a:rPr lang="en-US" sz="1200"/>
              <a:t>– No circular-selective pigment is needed.</a:t>
            </a:r>
          </a:p>
          <a:p>
            <a:r>
              <a:rPr lang="en-US" sz="1200"/>
              <a:t>• Wavelength requirement.</a:t>
            </a:r>
          </a:p>
          <a:p>
            <a:r>
              <a:rPr lang="en-US" sz="1200"/>
              <a:t>– The arrangement must provide an appropriate phase delay at the wavelengths transmitted, which anatomical resemblance in another species does not guarantee.</a:t>
            </a:r>
          </a:p>
          <a:p>
            <a:r>
              <a:rPr lang="en-US" sz="1200"/>
              <a:t>• Opposite handedness.</a:t>
            </a:r>
          </a:p>
          <a:p>
            <a:r>
              <a:rPr lang="en-US" sz="1200"/>
              <a:t>– The retarder converts left- and right-handed circular states into linear states at mutually orthogonal angles.</a:t>
            </a:r>
          </a:p>
          <a:p>
            <a:r>
              <a:rPr lang="en-US" sz="1200"/>
              <a:t>– Each handedness is therefore absorbed best by a different underlying receptor group.</a:t>
            </a:r>
          </a:p>
          <a:p>
            <a:r>
              <a:rPr lang="en-US" sz="1200"/>
              <a:t/>
            </a:r>
          </a:p>
          <a:p>
            <a:r>
              <a:rPr lang="en-US" sz="1200"/>
              <a:t>References:</a:t>
            </a:r>
          </a:p>
          <a:p>
            <a:r>
              <a:rPr lang="en-US" sz="1200"/>
              <a:t>Chiou TH, Kleinlogel S, Cronin T, Caldwell R, Loeffler B, Siddiqi A, Goldizen A, Marshall J (2008). Circular Polarization Vision in a Stomatopod Crustacean. Current Biology 18: 429-434. https://doi.org/10.1016/j.cub.2008.02.066</a:t>
            </a:r>
          </a:p>
          <a:p>
            <a:r>
              <a:rPr lang="en-US" sz="1200"/>
              <a:t>Roberts NW, Chiou TH, Marshall NJ, Cronin TW (2009). A biological quarter-wave retarder with excellent achromaticity in the visible wavelength region. Nature Photonics 3: 641-644. https://doi.org/10.1038/nphoton.2009.189</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An intensity-response function measures voltage across a range of intensities, so a shift between curves identifies a sensitivity difference.</a:t>
            </a:r>
          </a:p>
          <a:p>
            <a:r>
              <a:rPr lang="en-US" sz="1200"/>
              <a:t>• Two contributions to voltage.</a:t>
            </a:r>
          </a:p>
          <a:p>
            <a:r>
              <a:rPr lang="en-US" sz="1200"/>
              <a:t>– Voltage amplitude depends on both photon delivery and polarization preference.</a:t>
            </a:r>
          </a:p>
          <a:p>
            <a:r>
              <a:rPr lang="en-US" sz="1200"/>
              <a:t>– Measuring a series of intensities separates those contributions more clearly than one flash.</a:t>
            </a:r>
          </a:p>
          <a:p>
            <a:r>
              <a:rPr lang="en-US" sz="1200"/>
              <a:t>• Reading the curves.</a:t>
            </a:r>
          </a:p>
          <a:p>
            <a:r>
              <a:rPr lang="en-US" sz="1200"/>
              <a:t>– A sensitivity difference appears as a horizontal displacement between intensity-response functions.</a:t>
            </a:r>
          </a:p>
          <a:p>
            <a:r>
              <a:rPr lang="en-US" sz="1200"/>
              <a:t>– When two functions coincide, the tested states require similar intensities for the same response.</a:t>
            </a:r>
          </a:p>
          <a:p>
            <a:r>
              <a:rPr lang="en-US" sz="1200"/>
              <a:t>• Inputs for comparison.</a:t>
            </a:r>
          </a:p>
          <a:p>
            <a:r>
              <a:rPr lang="en-US" sz="1200"/>
              <a:t>– The measurements describe the inputs available for neural comparison.</a:t>
            </a:r>
          </a:p>
          <a:p>
            <a:r>
              <a:rPr lang="en-US" sz="1200"/>
              <a:t>– A receptor-level sensitivity ratio is different from a behavioral discrimination threshold.</a:t>
            </a:r>
          </a:p>
          <a:p>
            <a:r>
              <a:rPr lang="en-US" sz="1200"/>
              <a:t>• Order of magnitude.</a:t>
            </a:r>
          </a:p>
          <a:p>
            <a:r>
              <a:rPr lang="en-US" sz="1200"/>
              <a:t>– The hemispheric receptors needed roughly ten times more light for the unfavorable orientation than for the favorable one to reach the same response.</a:t>
            </a:r>
          </a:p>
          <a:p>
            <a:r>
              <a:rPr lang="en-US" sz="1200"/>
              <a:t>• Why a single flash is insufficient.</a:t>
            </a:r>
          </a:p>
          <a:p>
            <a:r>
              <a:rPr lang="en-US" sz="1200"/>
              <a:t>– A response at one intensity could result from a high intensity at an unfavorable polarization or from a low intensity at a favorable one.</a:t>
            </a:r>
          </a:p>
          <a:p>
            <a:r>
              <a:rPr lang="en-US" sz="1200"/>
              <a:t>– A family of intensities distinguishes the two.</a:t>
            </a:r>
          </a:p>
          <a:p>
            <a:r>
              <a:rPr lang="en-US" sz="1200"/>
              <a:t/>
            </a:r>
          </a:p>
          <a:p>
            <a:r>
              <a:rPr lang="en-US" sz="1200"/>
              <a:t>References:</a:t>
            </a:r>
          </a:p>
          <a:p>
            <a:r>
              <a:rPr lang="en-US" sz="1200"/>
              <a:t>Kleinlogel S, White AG (2008). The Secret World of Shrimps: Polarisation Vision at Its Best. PLoS ONE 3: e2190. https://doi.org/10.1371/journal.pone.0002190</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Wavelength and polarization describe different physical properties of light, and receptors can be built to measure either.</a:t>
            </a:r>
          </a:p>
          <a:p>
            <a:r>
              <a:rPr lang="en-US" sz="1200"/>
              <a:t>• Two physical properties.</a:t>
            </a:r>
          </a:p>
          <a:p>
            <a:r>
              <a:rPr lang="en-US" sz="1200"/>
              <a:t>– Equal spectral content does not require equal electric-vector orientation.</a:t>
            </a:r>
          </a:p>
          <a:p>
            <a:r>
              <a:rPr lang="en-US" sz="1200"/>
              <a:t>– A receptor that measures wavelength does not by itself measure polarization.</a:t>
            </a:r>
          </a:p>
          <a:p>
            <a:r>
              <a:rPr lang="en-US" sz="1200"/>
              <a:t>• How microvilli measure orientation.</a:t>
            </a:r>
          </a:p>
          <a:p>
            <a:r>
              <a:rPr lang="en-US" sz="1200"/>
              <a:t>– Aligned microvillar membranes provide a directional organization for photon absorption.</a:t>
            </a:r>
          </a:p>
          <a:p>
            <a:r>
              <a:rPr lang="en-US" sz="1200"/>
              <a:t>– A receptor responds differently when the polarizer rotates because absorption depends on the angle between the electric vector and the microvillar axes.</a:t>
            </a:r>
          </a:p>
          <a:p>
            <a:r>
              <a:rPr lang="en-US" sz="1200"/>
              <a:t>• From geometry to analysis.</a:t>
            </a:r>
          </a:p>
          <a:p>
            <a:r>
              <a:rPr lang="en-US" sz="1200"/>
              <a:t>– The published anatomical arrangement supplies the receptor axes used in the eye-movement analysis.</a:t>
            </a:r>
          </a:p>
          <a:p>
            <a:r>
              <a:rPr lang="en-US" sz="1200"/>
              <a:t>– A central neuron still has to separate polarization from changes in intensity, which the receptor geometry alone does not determine.</a:t>
            </a:r>
          </a:p>
          <a:p>
            <a:r>
              <a:rPr lang="en-US" sz="1200"/>
              <a:t>• Direction of the electric vector.</a:t>
            </a:r>
          </a:p>
          <a:p>
            <a:r>
              <a:rPr lang="en-US" sz="1200"/>
              <a:t>– In linearly polarized light the electric vector oscillates along one orientation.</a:t>
            </a:r>
          </a:p>
          <a:p>
            <a:r>
              <a:rPr lang="en-US" sz="1200"/>
              <a:t>– Rotating a polarizer changes the orientation of the stimulus while the wavelengths stay the same.</a:t>
            </a:r>
          </a:p>
          <a:p>
            <a:r>
              <a:rPr lang="en-US" sz="1200"/>
              <a:t>• Receptor axes in the eye.</a:t>
            </a:r>
          </a:p>
          <a:p>
            <a:r>
              <a:rPr lang="en-US" sz="1200"/>
              <a:t>– Dorsal and ventral hemispheric receptors have different microvillar orientations, so a rotating polarizer samples different receptors at different angles.</a:t>
            </a:r>
          </a:p>
          <a:p>
            <a:r>
              <a:rPr lang="en-US" sz="1200"/>
              <a:t/>
            </a:r>
          </a:p>
          <a:p>
            <a:r>
              <a:rPr lang="en-US" sz="1200"/>
              <a:t>References:</a:t>
            </a:r>
          </a:p>
          <a:p>
            <a:r>
              <a:rPr lang="en-US" sz="1200"/>
              <a:t>Chiou TH, Kleinlogel S, Cronin T, Caldwell R, Loeffler B, Siddiqi A, Goldizen A, Marshall J (2008). Circular Polarization Vision in a Stomatopod Crustacean. Current Biology 18: 429-434. https://doi.org/10.1016/j.cub.2008.02.066</a:t>
            </a:r>
          </a:p>
          <a:p>
            <a:r>
              <a:rPr lang="en-US" sz="1200"/>
              <a:t>Kleinlogel S, White AG (2008). The Secret World of Shrimps: Polarisation Vision at Its Best. PLoS ONE 3: e2190. https://doi.org/10.1371/journal.pone.0002190</a:t>
            </a:r>
          </a:p>
          <a:p>
            <a:r>
              <a:rPr lang="en-US" sz="1200"/>
              <a:t>Daly IM, How MJ, Partridge JC, Temple SE, Marshall NJ, Cronin TW, Roberts NW (2016). Dynamic polarization vision in mantis shrimps. Nature Communications 7: 12140. https://doi.org/10.1038/ncomms12140</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Optical filtering changes a receptor's effective sensitivity without changing its pigment, and the direction of the shift depends on which photons are removed.</a:t>
            </a:r>
          </a:p>
          <a:p>
            <a:r>
              <a:rPr lang="en-US" sz="1200"/>
              <a:t>• Long-pass and short-pass filters.</a:t>
            </a:r>
          </a:p>
          <a:p>
            <a:r>
              <a:rPr lang="en-US" sz="1200"/>
              <a:t>– A filter's action depends on which wavelengths it removes.</a:t>
            </a:r>
          </a:p>
          <a:p>
            <a:r>
              <a:rPr lang="en-US" sz="1200"/>
              <a:t>– The underlying pigment need not change.</a:t>
            </a:r>
          </a:p>
          <a:p>
            <a:r>
              <a:rPr lang="en-US" sz="1200"/>
              <a:t>• Row-by-row predictions.</a:t>
            </a:r>
          </a:p>
          <a:p>
            <a:r>
              <a:rPr lang="en-US" sz="1200"/>
              <a:t>– Row 1 filtering reduced sensitivity below about 350 nm.</a:t>
            </a:r>
          </a:p>
          <a:p>
            <a:r>
              <a:rPr lang="en-US" sz="1200"/>
              <a:t>– Filters near 372 and 375 nm in rows 3 and 4 narrowed sensitivity toward shorter ultraviolet wavelengths.</a:t>
            </a:r>
          </a:p>
          <a:p>
            <a:r>
              <a:rPr lang="en-US" sz="1200"/>
              <a:t>• Narrow bands from two pigments.</a:t>
            </a:r>
          </a:p>
          <a:p>
            <a:r>
              <a:rPr lang="en-US" sz="1200"/>
              <a:t>– Two pigments in rows 5 and 6 left a narrow transmitted band and a predicted receptor peak at 340 nm.</a:t>
            </a:r>
          </a:p>
          <a:p>
            <a:r>
              <a:rPr lang="en-US" sz="1200"/>
              <a:t>– This mechanism differs from adding more independently expressed opsins.</a:t>
            </a:r>
          </a:p>
          <a:p>
            <a:r>
              <a:rPr lang="en-US" sz="1200"/>
              <a:t>• Agreement with electrophysiology.</a:t>
            </a:r>
          </a:p>
          <a:p>
            <a:r>
              <a:rPr lang="en-US" sz="1200"/>
              <a:t>– Most predictions agreed with earlier recordings, whereas row 2 differed markedly, and the authors proposed an earlier row-identification error because that recorded cell lacked histological confirmation.</a:t>
            </a:r>
          </a:p>
          <a:p>
            <a:r>
              <a:rPr lang="en-US" sz="1200"/>
              <a:t>• The physiological consequence.</a:t>
            </a:r>
          </a:p>
          <a:p>
            <a:r>
              <a:rPr lang="en-US" sz="1200"/>
              <a:t>– The effective sensitivity of an R8 receptor reflects the cone filter and the pigment together.</a:t>
            </a:r>
          </a:p>
          <a:p>
            <a:r>
              <a:rPr lang="en-US" sz="1200"/>
              <a:t>– The same pigment can therefore produce receptors tuned to different ultraviolet wavelengths in different rows.</a:t>
            </a:r>
          </a:p>
          <a:p>
            <a:r>
              <a:rPr lang="en-US" sz="1200"/>
              <a:t/>
            </a:r>
          </a:p>
          <a:p>
            <a:r>
              <a:rPr lang="en-US" sz="1200"/>
              <a:t>References:</a:t>
            </a:r>
          </a:p>
          <a:p>
            <a:r>
              <a:rPr lang="en-US" sz="1200"/>
              <a:t>Bok MJ, Porter ML, Place AR, Cronin TW (2014). Biological Sunscreens Tune Polychromatic Ultraviolet Vision in Mantis Shrimp. Current Biology 24: 1636-1642.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Each level of measurement identifies a different step in building a sensory channel, and the counts at each level do not have to match.</a:t>
            </a:r>
          </a:p>
          <a:p>
            <a:r>
              <a:rPr lang="en-US" sz="1200"/>
              <a:t>• Transcripts.</a:t>
            </a:r>
          </a:p>
          <a:p>
            <a:r>
              <a:rPr lang="en-US" sz="1200"/>
              <a:t>– An opsin transcript indicates that a cell contains RNA encoding a candidate pigment protein.</a:t>
            </a:r>
          </a:p>
          <a:p>
            <a:r>
              <a:rPr lang="en-US" sz="1200"/>
              <a:t>– In situ hybridization identifies where that sequence occurs in the retina.</a:t>
            </a:r>
          </a:p>
          <a:p>
            <a:r>
              <a:rPr lang="en-US" sz="1200"/>
              <a:t>• Pigments.</a:t>
            </a:r>
          </a:p>
          <a:p>
            <a:r>
              <a:rPr lang="en-US" sz="1200"/>
              <a:t>– The two complementary expression patterns correspond to two measured pigment absorption peaks.</a:t>
            </a:r>
          </a:p>
          <a:p>
            <a:r>
              <a:rPr lang="en-US" sz="1200"/>
              <a:t>– The additional uv3 pattern included nuclear labeling, so the authors considered a possible nonfunctional gene product.</a:t>
            </a:r>
          </a:p>
          <a:p>
            <a:r>
              <a:rPr lang="en-US" sz="1200"/>
              <a:t>• Effective receptor sensitivities.</a:t>
            </a:r>
          </a:p>
          <a:p>
            <a:r>
              <a:rPr lang="en-US" sz="1200"/>
              <a:t>– Optical measurements of the overlying structures explain how the same pigment can receive differently filtered ultraviolet spectra.</a:t>
            </a:r>
          </a:p>
          <a:p>
            <a:r>
              <a:rPr lang="en-US" sz="1200"/>
              <a:t>– This is why two pigments can support several receptor classes.</a:t>
            </a:r>
          </a:p>
          <a:p>
            <a:r>
              <a:rPr lang="en-US" sz="1200"/>
              <a:t>• Electrical sensitivity as a separate measurement.</a:t>
            </a:r>
          </a:p>
          <a:p>
            <a:r>
              <a:rPr lang="en-US" sz="1200"/>
              <a:t>– Transcript detection, pigment absorption and electrical sensitivity are distinct measurements, and each contributes different evidence about a sensory channel.</a:t>
            </a:r>
          </a:p>
          <a:p>
            <a:r>
              <a:rPr lang="en-US" sz="1200"/>
              <a:t>• Why the counts differ.</a:t>
            </a:r>
          </a:p>
          <a:p>
            <a:r>
              <a:rPr lang="en-US" sz="1200"/>
              <a:t>– The transcript count, the pigment count and the number of effective sensitivities answer different questions about the same retina.</a:t>
            </a:r>
          </a:p>
          <a:p>
            <a:r>
              <a:rPr lang="en-US" sz="1200"/>
              <a:t>– Filters in the crystalline cones account for the difference between two pigments and several receptor classes.</a:t>
            </a:r>
          </a:p>
          <a:p>
            <a:r>
              <a:rPr lang="en-US" sz="1200"/>
              <a:t/>
            </a:r>
          </a:p>
          <a:p>
            <a:r>
              <a:rPr lang="en-US" sz="1200"/>
              <a:t>References:</a:t>
            </a:r>
          </a:p>
          <a:p>
            <a:r>
              <a:rPr lang="en-US" sz="1200"/>
              <a:t>Bok MJ, Porter ML, Place AR, Cronin TW (2014). Biological Sunscreens Tune Polychromatic Ultraviolet Vision in Mantis Shrimp. Current Biology 24: 1636-1642.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pigment's absorption spectrum is one component of a receptor's sensitivity, and the intact receptor adds filters and length.</a:t>
            </a:r>
          </a:p>
          <a:p>
            <a:r>
              <a:rPr lang="en-US" sz="1200"/>
              <a:t>• What the measurement does.</a:t>
            </a:r>
          </a:p>
          <a:p>
            <a:r>
              <a:rPr lang="en-US" sz="1200"/>
              <a:t>– A 1.5-µm measuring spot samples a specific retinal region instead of averaging the eye.</a:t>
            </a:r>
          </a:p>
          <a:p>
            <a:r>
              <a:rPr lang="en-US" sz="1200"/>
              <a:t>– Measuring along the receptor axis follows the path taken by incoming light.</a:t>
            </a:r>
          </a:p>
          <a:p>
            <a:r>
              <a:rPr lang="en-US" sz="1200"/>
              <a:t>• Isolating the pigment.</a:t>
            </a:r>
          </a:p>
          <a:p>
            <a:r>
              <a:rPr lang="en-US" sz="1200"/>
              <a:t>– Animals were dark-adapted before sampling, and the spectrum measured after strong illumination was subtracted from the dark-adapted spectrum.</a:t>
            </a:r>
          </a:p>
          <a:p>
            <a:r>
              <a:rPr lang="en-US" sz="1200"/>
              <a:t>– What changes with illumination is the visual pigment.</a:t>
            </a:r>
          </a:p>
          <a:p>
            <a:r>
              <a:rPr lang="en-US" sz="1200"/>
              <a:t>• From absorption to sensitivity.</a:t>
            </a:r>
          </a:p>
          <a:p>
            <a:r>
              <a:rPr lang="en-US" sz="1200"/>
              <a:t>– An optical measurement of one component cannot replace a voltage measurement of the intact receptor after the overlying filters have acted.</a:t>
            </a:r>
          </a:p>
          <a:p>
            <a:r>
              <a:rPr lang="en-US" sz="1200"/>
              <a:t>– Effective sensitivity combines pigment absorption with filtering and receptor length.</a:t>
            </a:r>
          </a:p>
          <a:p>
            <a:r>
              <a:rPr lang="en-US" sz="1200"/>
              <a:t>• Range of the scan.</a:t>
            </a:r>
          </a:p>
          <a:p>
            <a:r>
              <a:rPr lang="en-US" sz="1200"/>
              <a:t>– The 400 to 700 nm scan cannot characterize a pigment peaking farther into the ultraviolet.</a:t>
            </a:r>
          </a:p>
          <a:p>
            <a:r>
              <a:rPr lang="en-US" sz="1200"/>
              <a:t>• The dark-adaptation step.</a:t>
            </a:r>
          </a:p>
          <a:p>
            <a:r>
              <a:rPr lang="en-US" sz="1200"/>
              <a:t>– Dark adaptation puts the visual pigment in a defined starting state before the measurement.</a:t>
            </a:r>
          </a:p>
          <a:p>
            <a:r>
              <a:rPr lang="en-US" sz="1200"/>
              <a:t>– Strong illumination changes the visual pigment, so the difference in absorption before and after illumination reflects that pigment.</a:t>
            </a:r>
          </a:p>
          <a:p>
            <a:r>
              <a:rPr lang="en-US" sz="1200"/>
              <a:t/>
            </a:r>
          </a:p>
          <a:p>
            <a:r>
              <a:rPr lang="en-US" sz="1200"/>
              <a:t>References:</a:t>
            </a:r>
          </a:p>
          <a:p>
            <a:r>
              <a:rPr lang="en-US" sz="1200"/>
              <a:t>Cronin TW, Marshall NJ (1989). A retina with at least ten spectral types of photoreceptors in a mantis shrimp. Nature 339: 137-140. https://doi.org/10.1038/339137a0</a:t>
            </a:r>
          </a:p>
          <a:p>
            <a:r>
              <a:rPr lang="en-US" sz="1200"/>
              <a:t>Thoen HH, How MJ, Chiou TH, Marshall J (2014). A Different Form of Color Vision in Mantis Shrimp. Science 343: 411-413. https://doi.org/10.1126/science.1245824</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Tiered receptors see a filtered version of the light, so position in the stack changes the spectrum that each cell can absorb.</a:t>
            </a:r>
          </a:p>
          <a:p>
            <a:r>
              <a:rPr lang="en-US" sz="1200"/>
              <a:t>• The stack of receptor layers.</a:t>
            </a:r>
          </a:p>
          <a:p>
            <a:r>
              <a:rPr lang="en-US" sz="1200"/>
              <a:t>– The same incoming beam encounters successive layers, and absorption in an earlier layer can remove wavelengths before the light reaches a later one.</a:t>
            </a:r>
          </a:p>
          <a:p>
            <a:r>
              <a:rPr lang="en-US" sz="1200"/>
              <a:t>– Distal and proximal describe that order.</a:t>
            </a:r>
          </a:p>
          <a:p>
            <a:r>
              <a:rPr lang="en-US" sz="1200"/>
              <a:t>• What sets a tier's sensitivity.</a:t>
            </a:r>
          </a:p>
          <a:p>
            <a:r>
              <a:rPr lang="en-US" sz="1200"/>
              <a:t>– The pigment and the overlying filters determine the effective sensitivity.</a:t>
            </a:r>
          </a:p>
          <a:p>
            <a:r>
              <a:rPr lang="en-US" sz="1200"/>
              <a:t>– Distal or proximal position does not by itself specify a preferred wavelength.</a:t>
            </a:r>
          </a:p>
          <a:p>
            <a:r>
              <a:rPr lang="en-US" sz="1200"/>
              <a:t>• Measured and calculated curves.</a:t>
            </a:r>
          </a:p>
          <a:p>
            <a:r>
              <a:rPr lang="en-US" sz="1200"/>
              <a:t>– Cronin and Marshall used measured optical properties to calculate sensitivities for the layered system.</a:t>
            </a:r>
          </a:p>
          <a:p>
            <a:r>
              <a:rPr lang="en-US" sz="1200"/>
              <a:t>– A calculated curve is distinct from an intracellular recording even when both concern the same retinal tier.</a:t>
            </a:r>
          </a:p>
          <a:p>
            <a:r>
              <a:rPr lang="en-US" sz="1200"/>
              <a:t>• The R8 cell.</a:t>
            </a:r>
          </a:p>
          <a:p>
            <a:r>
              <a:rPr lang="en-US" sz="1200"/>
              <a:t>– The distal R8 receptor lies above the main R1–R7 rhabdom and is the first cell the light meets.</a:t>
            </a:r>
          </a:p>
          <a:p>
            <a:r>
              <a:rPr lang="en-US" sz="1200"/>
              <a:t>• The cells in the stack.</a:t>
            </a:r>
          </a:p>
          <a:p>
            <a:r>
              <a:rPr lang="en-US" sz="1200"/>
              <a:t>– R8 lies nearest the incoming light, and R1–R7 contribute to two deeper tiers in the color rows.</a:t>
            </a:r>
          </a:p>
          <a:p>
            <a:r>
              <a:rPr lang="en-US" sz="1200"/>
              <a:t>– Each of the eight main-rhabdom tiers in rows 1–4 contained a distinct pigment in Pseudosquilla ciliata.</a:t>
            </a:r>
          </a:p>
          <a:p>
            <a:r>
              <a:rPr lang="en-US" sz="1200"/>
              <a:t/>
            </a:r>
          </a:p>
          <a:p>
            <a:r>
              <a:rPr lang="en-US" sz="1200"/>
              <a:t>References:</a:t>
            </a:r>
          </a:p>
          <a:p>
            <a:r>
              <a:rPr lang="en-US" sz="1200"/>
              <a:t>Cronin TW, Marshall NJ (1989). A retina with at least ten spectral types of photoreceptors in a mantis shrimp. Nature 339: 137-140. https://doi.org/10.1038/339137a0</a:t>
            </a:r>
          </a:p>
          <a:p>
            <a:r>
              <a:rPr lang="en-US" sz="1200"/>
              <a:t>Bok MJ, Porter ML, Place AR, Cronin TW (2014). Biological Sunscreens Tune Polychromatic Ultraviolet Vision in Mantis Shrimp. Current Biology 24: 1636-1642. https://doi.org/10.1016/j.cub.2014.05.071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Restricting the spectrum of the illumination tests whether the remaining receptor signals still contain a usable difference between a colored target and grey.</a:t>
            </a:r>
          </a:p>
          <a:p>
            <a:r>
              <a:rPr lang="en-US" sz="1200"/>
              <a:t>• Two computations.</a:t>
            </a:r>
          </a:p>
          <a:p>
            <a:r>
              <a:rPr lang="en-US" sz="1200"/>
              <a:t>– Channel recognition identifies a color by which spectral channels are active, whereas opponency compares signals from different channels.</a:t>
            </a:r>
          </a:p>
          <a:p>
            <a:r>
              <a:rPr lang="en-US" sz="1200"/>
              <a:t>– The proposal for mantis shrimp is a combination of the two.</a:t>
            </a:r>
          </a:p>
          <a:p>
            <a:r>
              <a:rPr lang="en-US" sz="1200"/>
              <a:t>• Why restrict illumination.</a:t>
            </a:r>
          </a:p>
          <a:p>
            <a:r>
              <a:rPr lang="en-US" sz="1200"/>
              <a:t>– Filtering the light changes the spectrum reaching both the target and the distractors.</a:t>
            </a:r>
          </a:p>
          <a:p>
            <a:r>
              <a:rPr lang="en-US" sz="1200"/>
              <a:t>– If a color choice survives, the remaining receptors carry a usable distinction between color and grey.</a:t>
            </a:r>
          </a:p>
          <a:p>
            <a:r>
              <a:rPr lang="en-US" sz="1200"/>
              <a:t>• Chance with three alternatives.</a:t>
            </a:r>
          </a:p>
          <a:p>
            <a:r>
              <a:rPr lang="en-US" sz="1200"/>
              <a:t>– The task offered one colored target and two grey distractors, so chance is one-third.</a:t>
            </a:r>
          </a:p>
          <a:p>
            <a:r>
              <a:rPr lang="en-US" sz="1200"/>
              <a:t>– Green and red choices remained near three-quarters under their restricted illuminations, whereas blue choices approached chance.</a:t>
            </a:r>
          </a:p>
          <a:p>
            <a:r>
              <a:rPr lang="en-US" sz="1200"/>
              <a:t>• How the result changes the earlier claim.</a:t>
            </a:r>
          </a:p>
          <a:p>
            <a:r>
              <a:rPr lang="en-US" sz="1200"/>
              <a:t>– The behavioral result qualifies the claim that coarse wavelength discrimination excludes opponency, and the proposed combination remains an interpretation of behavior.</a:t>
            </a:r>
          </a:p>
          <a:p>
            <a:r>
              <a:rPr lang="en-US" sz="1200"/>
              <a:t>• Interpretation of the proposal.</a:t>
            </a:r>
          </a:p>
          <a:p>
            <a:r>
              <a:rPr lang="en-US" sz="1200"/>
              <a:t>– The proposed combination of channel recognition and opponent comparison is an interpretation of behavioral data.</a:t>
            </a:r>
          </a:p>
          <a:p>
            <a:r>
              <a:rPr lang="en-US" sz="1200"/>
              <a:t>– The experiments establish the behavior under restricted illumination, and the recorded circuit is a separate question.</a:t>
            </a:r>
          </a:p>
          <a:p>
            <a:r>
              <a:rPr lang="en-US" sz="1200"/>
              <a:t/>
            </a:r>
          </a:p>
          <a:p>
            <a:r>
              <a:rPr lang="en-US" sz="1200"/>
              <a:t>References:</a:t>
            </a:r>
          </a:p>
          <a:p>
            <a:r>
              <a:rPr lang="en-US" sz="1200"/>
              <a:t>Wang CWJ, Marshall NJ (2025). Behavioural evidence of spectral opponent processing in the visual system of stomatopod crustaceans. Journal of Experimental Biology 228: jeb247952. https://doi.org/10.1242/jeb.247952</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prediction from receptor sensitivities depends on assumptions about noise and channel comparison, so a mismatch with behavior tests the model and leaves the receptors intact.</a:t>
            </a:r>
          </a:p>
          <a:p>
            <a:r>
              <a:rPr lang="en-US" sz="1200"/>
              <a:t>• What the model assumes.</a:t>
            </a:r>
          </a:p>
          <a:p>
            <a:r>
              <a:rPr lang="en-US" sz="1200"/>
              <a:t>– The prediction depends on assumptions about noise and about comparisons between adjacent spectral channels.</a:t>
            </a:r>
          </a:p>
          <a:p>
            <a:r>
              <a:rPr lang="en-US" sz="1200"/>
              <a:t>– Narrow tuning makes fine discrimination possible under the model but does not guarantee that the animal performs the assumed computation.</a:t>
            </a:r>
          </a:p>
          <a:p>
            <a:r>
              <a:rPr lang="en-US" sz="1200"/>
              <a:t>• The numbers.</a:t>
            </a:r>
          </a:p>
          <a:p>
            <a:r>
              <a:rPr lang="en-US" sz="1200"/>
              <a:t>– Behavioral thresholds were approximately 12–25 nm.</a:t>
            </a:r>
          </a:p>
          <a:p>
            <a:r>
              <a:rPr lang="en-US" sz="1200"/>
              <a:t>– The model predicted approximately 1–5 nm using receptor sensitivities from intracellular recordings.</a:t>
            </a:r>
          </a:p>
          <a:p>
            <a:r>
              <a:rPr lang="en-US" sz="1200"/>
              <a:t>• What the mismatch challenges.</a:t>
            </a:r>
          </a:p>
          <a:p>
            <a:r>
              <a:rPr lang="en-US" sz="1200"/>
              <a:t>– The mismatch challenges that specific efficient opponent-model account.</a:t>
            </a:r>
          </a:p>
          <a:p>
            <a:r>
              <a:rPr lang="en-US" sz="1200"/>
              <a:t>– Later grey-target experiments test a different consequence of spectral comparison, which prevents treating coarse thresholds as proof that all opponency is absent.</a:t>
            </a:r>
          </a:p>
          <a:p>
            <a:r>
              <a:rPr lang="en-US" sz="1200"/>
              <a:t>• Levels of evidence.</a:t>
            </a:r>
          </a:p>
          <a:p>
            <a:r>
              <a:rPr lang="en-US" sz="1200"/>
              <a:t>– Receptor tuning, model assumptions and measured discrimination are separate levels of evidence, and each constrains a different part of the explanation.</a:t>
            </a:r>
          </a:p>
          <a:p>
            <a:r>
              <a:rPr lang="en-US" sz="1200"/>
              <a:t>• Why the comparison matters.</a:t>
            </a:r>
          </a:p>
          <a:p>
            <a:r>
              <a:rPr lang="en-US" sz="1200"/>
              <a:t>– Comparing predicted and measured thresholds separates what receptor tuning makes possible from what the animal's behavior uses.</a:t>
            </a:r>
          </a:p>
          <a:p>
            <a:r>
              <a:rPr lang="en-US" sz="1200"/>
              <a:t>– Behavioral thresholds describe performance in the assay, and the model describes a capacity.</a:t>
            </a:r>
          </a:p>
          <a:p>
            <a:r>
              <a:rPr lang="en-US" sz="1200"/>
              <a:t/>
            </a:r>
          </a:p>
          <a:p>
            <a:r>
              <a:rPr lang="en-US" sz="1200"/>
              <a:t>References:</a:t>
            </a:r>
          </a:p>
          <a:p>
            <a:r>
              <a:rPr lang="en-US" sz="1200"/>
              <a:t>Thoen HH, How MJ, Chiou TH, Marshall J (2014). A Different Form of Color Vision in Mantis Shrimp. Science 343: 411-413. https://doi.org/10.1126/science.1245824</a:t>
            </a:r>
          </a:p>
          <a:p>
            <a:r>
              <a:rPr lang="en-US" sz="1200"/>
              <a:t>Wang CWJ, Marshall NJ (2025). Behavioural evidence of spectral opponent processing in the visual system of stomatopod crustaceans. Journal of Experimental Biology 228: jeb247952. https://doi.org/10.1242/jeb.247952</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choice assay converts a behavioral difference into a measurement only when chance performance and the threshold criterion are defined.</a:t>
            </a:r>
          </a:p>
          <a:p>
            <a:r>
              <a:rPr lang="en-US" sz="1200"/>
              <a:t>• Chance in a two-fiber task.</a:t>
            </a:r>
          </a:p>
          <a:p>
            <a:r>
              <a:rPr lang="en-US" sz="1200"/>
              <a:t>– There are two available fibers, so a random chooser selects the rewarded one half of the time.</a:t>
            </a:r>
          </a:p>
          <a:p>
            <a:r>
              <a:rPr lang="en-US" sz="1200"/>
              <a:t>– The decline toward 50% as the wavelengths approached each other indicates loss of discrimination under these conditions, instead of a failure to detect light.</a:t>
            </a:r>
          </a:p>
          <a:p>
            <a:r>
              <a:rPr lang="en-US" sz="1200"/>
              <a:t>• Trained and test wavelengths.</a:t>
            </a:r>
          </a:p>
          <a:p>
            <a:r>
              <a:rPr lang="en-US" sz="1200"/>
              <a:t>– The trained wavelength is the stimulus associated with reward, and the test wavelength is the competing stimulus.</a:t>
            </a:r>
          </a:p>
          <a:p>
            <a:r>
              <a:rPr lang="en-US" sz="1200"/>
              <a:t>– These are roles in the assay instead of permanent biological categories, so animals trained to 470 nm were tested toward longer wavelengths and animals trained to 570 nm toward shorter ones.</a:t>
            </a:r>
          </a:p>
          <a:p>
            <a:r>
              <a:rPr lang="en-US" sz="1200"/>
              <a:t>• The threshold criterion.</a:t>
            </a:r>
          </a:p>
          <a:p>
            <a:r>
              <a:rPr lang="en-US" sz="1200"/>
              <a:t>– Thoen and colleagues fixed a 60% correct-choice criterion and interpolated between the tested wavelength pairs.</a:t>
            </a:r>
          </a:p>
          <a:p>
            <a:r>
              <a:rPr lang="en-US" sz="1200"/>
              <a:t>– The resulting thresholds describe the animal's performance in this assay.</a:t>
            </a:r>
          </a:p>
          <a:p>
            <a:r>
              <a:rPr lang="en-US" sz="1200"/>
              <a:t>• Why discrimination needs behavior.</a:t>
            </a:r>
          </a:p>
          <a:p>
            <a:r>
              <a:rPr lang="en-US" sz="1200"/>
              <a:t>– A wavelength is a physical property of the stimulus, and discrimination requires a behavioral difference between two stimuli.</a:t>
            </a:r>
          </a:p>
          <a:p>
            <a:r>
              <a:rPr lang="en-US" sz="1200"/>
              <a:t>– Counting receptor classes cannot establish the smallest difference an animal can detect.</a:t>
            </a:r>
          </a:p>
          <a:p>
            <a:r>
              <a:rPr lang="en-US" sz="1200"/>
              <a:t/>
            </a:r>
          </a:p>
          <a:p>
            <a:r>
              <a:rPr lang="en-US" sz="1200"/>
              <a:t>References:</a:t>
            </a:r>
          </a:p>
          <a:p>
            <a:r>
              <a:rPr lang="en-US" sz="1200"/>
              <a:t>Thoen HH, How MJ, Chiou TH, Marshall J (2014). A Different Form of Color Vision in Mantis Shrimp. Science 343: 411-413. https://doi.org/10.1126/science.1245824</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0.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5.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7.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7.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6.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37.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14.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14.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27.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27.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5.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50.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55.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27.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6.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20.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5.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E8E5E2"/>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70665E"/>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70665E"/>
                </a:solidFill>
                <a:latin typeface="Arial"/>
              </a:rPr>
              <a:t>Lecture 13</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3000" b="1" i="0">
                <a:solidFill>
                  <a:srgbClr val="443F3B"/>
                </a:solidFill>
                <a:latin typeface="Arial"/>
              </a:rPr>
              <a:t>Mantis shrimp vision:</a:t>
            </a:r>
          </a:p>
          <a:p>
            <a:pPr algn="l">
              <a:lnSpc>
                <a:spcPct val="108000"/>
              </a:lnSpc>
              <a:spcAft>
                <a:spcPts val="0"/>
              </a:spcAft>
            </a:pPr>
            <a:r>
              <a:rPr sz="3000" b="1" i="0">
                <a:solidFill>
                  <a:srgbClr val="443F3B"/>
                </a:solidFill>
                <a:latin typeface="Arial"/>
              </a:rPr>
              <a:t>hyperspectral and polarization sensing</a:t>
            </a:r>
          </a:p>
        </p:txBody>
      </p:sp>
      <p:sp>
        <p:nvSpPr>
          <p:cNvPr id="6" name="TextBox 5"/>
          <p:cNvSpPr txBox="1"/>
          <p:nvPr/>
        </p:nvSpPr>
        <p:spPr>
          <a:xfrm>
            <a:off x="685800" y="4465700"/>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70665E"/>
                </a:solidFill>
                <a:latin typeface="Arial"/>
              </a:rPr>
              <a:t>Wednesday, September 23, 2026</a:t>
            </a:r>
          </a:p>
        </p:txBody>
      </p:sp>
      <p:sp>
        <p:nvSpPr>
          <p:cNvPr id="7" name="TextBox 6"/>
          <p:cNvSpPr txBox="1"/>
          <p:nvPr/>
        </p:nvSpPr>
        <p:spPr>
          <a:xfrm>
            <a:off x="685800" y="539496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70665E"/>
                </a:solidFill>
                <a:latin typeface="Arial"/>
              </a:rPr>
              <a:t>Jordan Lopez, Ph.D.</a:t>
            </a:r>
          </a:p>
          <a:p>
            <a:pPr algn="l">
              <a:lnSpc>
                <a:spcPct val="108000"/>
              </a:lnSpc>
              <a:spcAft>
                <a:spcPts val="200"/>
              </a:spcAft>
            </a:pPr>
            <a:r>
              <a:rPr sz="1200" b="0" i="0">
                <a:solidFill>
                  <a:srgbClr val="70665E"/>
                </a:solidFill>
                <a:latin typeface="Arial"/>
              </a:rPr>
              <a:t>Professor of Neurobiology &amp; Biomedical Engineering</a:t>
            </a:r>
          </a:p>
        </p:txBody>
      </p:sp>
      <p:pic>
        <p:nvPicPr>
          <p:cNvPr id="8" name="Picture 7" descr="u18_f1a.png"/>
          <p:cNvPicPr>
            <a:picLocks noChangeAspect="1"/>
          </p:cNvPicPr>
          <p:nvPr/>
        </p:nvPicPr>
        <p:blipFill>
          <a:blip r:embed="rId2"/>
          <a:stretch>
            <a:fillRect/>
          </a:stretch>
        </p:blipFill>
        <p:spPr>
          <a:xfrm>
            <a:off x="6553047" y="822960"/>
            <a:ext cx="5181447" cy="4746364"/>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(2018), Fig. 1(a). Haptosquilla trispinosa in its natural burrow; original photograph by Roy Caldwell.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Learned choices measure wavelength discrimination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Mantis shrimps are stomatopods, marine crustacean predators with compound eyes. </a:t>
            </a:r>
            <a:r>
              <a:rPr sz="1500" b="1" i="0">
                <a:solidFill>
                  <a:srgbClr val="62564D"/>
                </a:solidFill>
                <a:latin typeface="Arial"/>
              </a:rPr>
              <a:t>Spectral discrimination</a:t>
            </a:r>
            <a:r>
              <a:rPr sz="1500" b="0" i="0">
                <a:solidFill>
                  <a:srgbClr val="292725"/>
                </a:solidFill>
                <a:latin typeface="Arial"/>
              </a:rPr>
              <a:t> is the ability to distinguish lights of different wavelengths, measured in nanometers (nm). A retina with many narrow spectral channels is sometimes described as hyperspectral; the channel count alone does not specify the animal's discrimination threshold.</a:t>
            </a:r>
          </a:p>
          <a:p>
            <a:pPr algn="l">
              <a:lnSpc>
                <a:spcPct val="108000"/>
              </a:lnSpc>
              <a:spcAft>
                <a:spcPts val="960"/>
              </a:spcAft>
            </a:pPr>
            <a:r>
              <a:rPr sz="1500" b="0" i="0">
                <a:solidFill>
                  <a:srgbClr val="292725"/>
                </a:solidFill>
                <a:latin typeface="Arial"/>
              </a:rPr>
              <a:t>Thoen and colleagues trained </a:t>
            </a:r>
            <a:r>
              <a:rPr sz="1500" b="0" i="1">
                <a:solidFill>
                  <a:srgbClr val="292725"/>
                </a:solidFill>
                <a:latin typeface="Arial"/>
              </a:rPr>
              <a:t>Haptosquilla trispinosa</a:t>
            </a:r>
            <a:r>
              <a:rPr sz="1500" b="0" i="0">
                <a:solidFill>
                  <a:srgbClr val="292725"/>
                </a:solidFill>
                <a:latin typeface="Arial"/>
              </a:rPr>
              <a:t> to associate a particular wavelength with food. Two optical fibers presented narrow-band lights, and grabbing or tapping a fiber registered a choice. Test wavelengths varied relative to the rewarded wavelength.</a:t>
            </a:r>
          </a:p>
          <a:p>
            <a:pPr algn="l">
              <a:lnSpc>
                <a:spcPct val="108000"/>
              </a:lnSpc>
              <a:spcAft>
                <a:spcPts val="960"/>
              </a:spcAft>
            </a:pPr>
            <a:r>
              <a:rPr sz="1500" b="0" i="0">
                <a:solidFill>
                  <a:srgbClr val="292725"/>
                </a:solidFill>
                <a:latin typeface="Arial"/>
              </a:rPr>
              <a:t>Widely separated wavelengths supported successful choices. Food association gave each wavelength a behavioral consequence, and varying the distance between the rewarded wavelength and the alternative measured the smallest difference that guided the choice. Successful choices indicate that spectral information can guide this learned response.</a:t>
            </a:r>
          </a:p>
        </p:txBody>
      </p:sp>
      <p:pic>
        <p:nvPicPr>
          <p:cNvPr id="4" name="Picture 3" descr="t14_f2ab.png"/>
          <p:cNvPicPr>
            <a:picLocks noChangeAspect="1"/>
          </p:cNvPicPr>
          <p:nvPr/>
        </p:nvPicPr>
        <p:blipFill>
          <a:blip r:embed="rId2"/>
          <a:stretch>
            <a:fillRect/>
          </a:stretch>
        </p:blipFill>
        <p:spPr>
          <a:xfrm>
            <a:off x="6412687" y="1280160"/>
            <a:ext cx="5212080" cy="2299752"/>
          </a:xfrm>
          <a:prstGeom prst="rect">
            <a:avLst/>
          </a:prstGeom>
        </p:spPr>
      </p:pic>
      <p:sp>
        <p:nvSpPr>
          <p:cNvPr id="5" name="Figure caption"/>
          <p:cNvSpPr txBox="1"/>
          <p:nvPr/>
        </p:nvSpPr>
        <p:spPr>
          <a:xfrm>
            <a:off x="6412687" y="367135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2(A, B). Food-associated wavelength choices in Haptosquilla trispinosa.</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Rewarded wavelengths can be tested from both sides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A </a:t>
            </a:r>
            <a:r>
              <a:rPr sz="1600" b="1" i="0">
                <a:solidFill>
                  <a:srgbClr val="62564D"/>
                </a:solidFill>
                <a:latin typeface="Arial"/>
              </a:rPr>
              <a:t>narrow-band stimulus</a:t>
            </a:r>
            <a:r>
              <a:rPr sz="1600" b="0" i="0">
                <a:solidFill>
                  <a:srgbClr val="292725"/>
                </a:solidFill>
                <a:latin typeface="Arial"/>
              </a:rPr>
              <a:t> concentrates its light within a limited wavelength range. Thoen and colleagues trained separate animals to lights between 400 and 650 nm, including 470 and 570 nm, then paired the trained light with an alternative delivered through another optical fiber.</a:t>
            </a:r>
          </a:p>
          <a:p>
            <a:pPr algn="l">
              <a:lnSpc>
                <a:spcPct val="108000"/>
              </a:lnSpc>
              <a:spcAft>
                <a:spcPts val="960"/>
              </a:spcAft>
            </a:pPr>
            <a:r>
              <a:rPr sz="1600" b="0" i="0">
                <a:solidFill>
                  <a:srgbClr val="292725"/>
                </a:solidFill>
                <a:latin typeface="Arial"/>
              </a:rPr>
              <a:t>Tests approached the trained wavelength from longer or shorter wavelengths. At separations of approximately 50–100 nm, correct choices were commonly 70–80%. As the alternatives approached the rewarded wavelength, performance declined toward the 50% chance level of a two-choice task.</a:t>
            </a:r>
          </a:p>
          <a:p>
            <a:pPr algn="l">
              <a:lnSpc>
                <a:spcPct val="108000"/>
              </a:lnSpc>
              <a:spcAft>
                <a:spcPts val="960"/>
              </a:spcAft>
            </a:pPr>
            <a:r>
              <a:rPr sz="1600" b="0" i="0">
                <a:solidFill>
                  <a:srgbClr val="292725"/>
                </a:solidFill>
                <a:latin typeface="Arial"/>
              </a:rPr>
              <a:t>Testing multiple trained wavelengths prevents one exceptionally easy color pair from defining the whole visual system. Chance in this two-fiber assay is one correct choice in two, and the decline toward chance as the alternatives approached the rewarded wavelength indicates loss of discrimination under these conditions instead of a failure to detect light.</a:t>
            </a:r>
          </a:p>
        </p:txBody>
      </p:sp>
      <p:pic>
        <p:nvPicPr>
          <p:cNvPr id="4" name="Picture 3" descr="t14_f2cd.png"/>
          <p:cNvPicPr>
            <a:picLocks noChangeAspect="1"/>
          </p:cNvPicPr>
          <p:nvPr/>
        </p:nvPicPr>
        <p:blipFill>
          <a:blip r:embed="rId2"/>
          <a:stretch>
            <a:fillRect/>
          </a:stretch>
        </p:blipFill>
        <p:spPr>
          <a:xfrm>
            <a:off x="6412687" y="1280160"/>
            <a:ext cx="5212080" cy="2201117"/>
          </a:xfrm>
          <a:prstGeom prst="rect">
            <a:avLst/>
          </a:prstGeom>
        </p:spPr>
      </p:pic>
      <p:sp>
        <p:nvSpPr>
          <p:cNvPr id="5" name="Figure caption"/>
          <p:cNvSpPr txBox="1"/>
          <p:nvPr/>
        </p:nvSpPr>
        <p:spPr>
          <a:xfrm>
            <a:off x="6412687" y="357271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2(C, D). Choices toward shorter test wavelengths after 570-nm training.</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Fine receptor tuning exceeds behavioral resolution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The </a:t>
            </a:r>
            <a:r>
              <a:rPr sz="1500" b="1" i="0">
                <a:solidFill>
                  <a:srgbClr val="62564D"/>
                </a:solidFill>
                <a:latin typeface="Arial"/>
              </a:rPr>
              <a:t>discrimination threshold</a:t>
            </a:r>
            <a:r>
              <a:rPr sz="1500" b="0" i="0">
                <a:solidFill>
                  <a:srgbClr val="292725"/>
                </a:solidFill>
                <a:latin typeface="Arial"/>
              </a:rPr>
              <a:t> is the stimulus separation associated with a specified performance criterion. Thoen and colleagues used 60% correct choices to estimate the minimum discriminable wavelength difference in </a:t>
            </a:r>
            <a:r>
              <a:rPr sz="1500" b="0" i="1">
                <a:solidFill>
                  <a:srgbClr val="292725"/>
                </a:solidFill>
                <a:latin typeface="Arial"/>
              </a:rPr>
              <a:t>Haptosquilla trispinosa</a:t>
            </a:r>
            <a:r>
              <a:rPr sz="1500" b="0" i="0">
                <a:solidFill>
                  <a:srgbClr val="292725"/>
                </a:solidFill>
                <a:latin typeface="Arial"/>
              </a:rPr>
              <a:t>.</a:t>
            </a:r>
          </a:p>
          <a:p>
            <a:pPr algn="l">
              <a:lnSpc>
                <a:spcPct val="108000"/>
              </a:lnSpc>
              <a:spcAft>
                <a:spcPts val="960"/>
              </a:spcAft>
            </a:pPr>
            <a:r>
              <a:rPr sz="1500" b="0" i="0">
                <a:solidFill>
                  <a:srgbClr val="292725"/>
                </a:solidFill>
                <a:latin typeface="Arial"/>
              </a:rPr>
              <a:t>Behavioral thresholds fell approximately between 12 and 25 nm across the tested visible spectrum. Their receptor-noise model, which assumed comparisons between adjacent spectral channels, predicted substantially finer differences of approximately 1–5 nm. Intracellular recordings supplied the receptor sensitivities used in that prediction.</a:t>
            </a:r>
          </a:p>
          <a:p>
            <a:pPr algn="l">
              <a:lnSpc>
                <a:spcPct val="108000"/>
              </a:lnSpc>
              <a:spcAft>
                <a:spcPts val="960"/>
              </a:spcAft>
            </a:pPr>
            <a:r>
              <a:rPr sz="1500" b="0" i="0">
                <a:solidFill>
                  <a:srgbClr val="292725"/>
                </a:solidFill>
                <a:latin typeface="Arial"/>
              </a:rPr>
              <a:t>The mismatch challenges that specific efficient opponent-model account. Later behavioral evidence with grey distractors supports some opponent processing, so coarse thresholds challenge one specific model without excluding spectral comparison. Receptor tuning, model assumptions and measured discrimination are separate levels of evidence.</a:t>
            </a:r>
          </a:p>
        </p:txBody>
      </p:sp>
      <p:pic>
        <p:nvPicPr>
          <p:cNvPr id="4" name="Picture 3" descr="t14_f3.png"/>
          <p:cNvPicPr>
            <a:picLocks noChangeAspect="1"/>
          </p:cNvPicPr>
          <p:nvPr/>
        </p:nvPicPr>
        <p:blipFill>
          <a:blip r:embed="rId2"/>
          <a:stretch>
            <a:fillRect/>
          </a:stretch>
        </p:blipFill>
        <p:spPr>
          <a:xfrm>
            <a:off x="7740135" y="1280160"/>
            <a:ext cx="2557184"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3. Measured wavelength thresholds and the authors’ opponent-model prediction.</a:t>
            </a:r>
          </a:p>
        </p:txBody>
      </p:sp>
      <p:pic>
        <p:nvPicPr>
          <p:cNvPr id="6" name="Picture 5" descr="t14_f1a.png"/>
          <p:cNvPicPr>
            <a:picLocks noChangeAspect="1"/>
          </p:cNvPicPr>
          <p:nvPr/>
        </p:nvPicPr>
        <p:blipFill>
          <a:blip r:embed="rId3"/>
          <a:stretch>
            <a:fillRect/>
          </a:stretch>
        </p:blipFill>
        <p:spPr>
          <a:xfrm>
            <a:off x="6965963" y="4251960"/>
            <a:ext cx="4105527"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1(A, B). Recorded receptor sensitivities normalized to their peaks.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Grey distractors control brightness and target position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Color vision</a:t>
            </a:r>
            <a:r>
              <a:rPr sz="1600" b="0" i="0">
                <a:solidFill>
                  <a:srgbClr val="292725"/>
                </a:solidFill>
                <a:latin typeface="Arial"/>
              </a:rPr>
              <a:t> distinguishes spectral composition despite variation in overall intensity. Wang and Marshall tested </a:t>
            </a:r>
            <a:r>
              <a:rPr sz="1600" b="0" i="1">
                <a:solidFill>
                  <a:srgbClr val="292725"/>
                </a:solidFill>
                <a:latin typeface="Arial"/>
              </a:rPr>
              <a:t>Haptosquilla trispinosa</a:t>
            </a:r>
            <a:r>
              <a:rPr sz="1600" b="0" i="0">
                <a:solidFill>
                  <a:srgbClr val="292725"/>
                </a:solidFill>
                <a:latin typeface="Arial"/>
              </a:rPr>
              <a:t> with one colored cable-tie target and two grey distractors, using four neutral-density filter levels to vary distractor brightness.</a:t>
            </a:r>
          </a:p>
          <a:p>
            <a:pPr algn="l">
              <a:lnSpc>
                <a:spcPct val="108000"/>
              </a:lnSpc>
              <a:spcAft>
                <a:spcPts val="960"/>
              </a:spcAft>
            </a:pPr>
            <a:r>
              <a:rPr sz="1600" b="0" i="0">
                <a:solidFill>
                  <a:srgbClr val="292725"/>
                </a:solidFill>
                <a:latin typeface="Arial"/>
              </a:rPr>
              <a:t>Targets were about 4 × 4 mm and initially 5–8 cm from the animal. Positions and grey combinations varied across trials. Testing used new, uncontaminated cable ties; food was delivered only after a correct choice, reducing odor cues associated with the rewarded target.</a:t>
            </a:r>
          </a:p>
          <a:p>
            <a:pPr algn="l">
              <a:lnSpc>
                <a:spcPct val="108000"/>
              </a:lnSpc>
              <a:spcAft>
                <a:spcPts val="960"/>
              </a:spcAft>
            </a:pPr>
            <a:r>
              <a:rPr sz="1600" b="0" i="0">
                <a:solidFill>
                  <a:srgbClr val="292725"/>
                </a:solidFill>
                <a:latin typeface="Arial"/>
              </a:rPr>
              <a:t>Animals could approach and inspect the stimuli before grasping or tapping one. This design separates a spectral choice from a fixed side or simple brightness preference. Neutral-density distractors supplied several brightness alternatives, changing positions prevented one location from predicting food, and food arrived only after a correct choice, which reduced a target-specific odor cue.</a:t>
            </a:r>
          </a:p>
        </p:txBody>
      </p:sp>
      <p:pic>
        <p:nvPicPr>
          <p:cNvPr id="4" name="Picture 3" descr="o25_f3abc.png"/>
          <p:cNvPicPr>
            <a:picLocks noChangeAspect="1"/>
          </p:cNvPicPr>
          <p:nvPr/>
        </p:nvPicPr>
        <p:blipFill>
          <a:blip r:embed="rId2"/>
          <a:stretch>
            <a:fillRect/>
          </a:stretch>
        </p:blipFill>
        <p:spPr>
          <a:xfrm>
            <a:off x="7305462" y="1280160"/>
            <a:ext cx="3426528"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3(A–C). Three-choice chamber, illumination and stimulus reflectance spectra.</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Wang &amp; Marshall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Restricted illumination preserves some color choices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1" i="0">
                <a:solidFill>
                  <a:srgbClr val="62564D"/>
                </a:solidFill>
                <a:latin typeface="Arial"/>
              </a:rPr>
              <a:t>Spectral opponency</a:t>
            </a:r>
            <a:r>
              <a:rPr sz="1450" b="0" i="0">
                <a:solidFill>
                  <a:srgbClr val="292725"/>
                </a:solidFill>
                <a:latin typeface="Arial"/>
              </a:rPr>
              <a:t> compares signals from receptors with different wavelength sensitivities. Wang and Marshall restricted illumination with blue, green or red filter tents while trained </a:t>
            </a:r>
            <a:r>
              <a:rPr sz="1450" b="0" i="1">
                <a:solidFill>
                  <a:srgbClr val="292725"/>
                </a:solidFill>
                <a:latin typeface="Arial"/>
              </a:rPr>
              <a:t>Haptosquilla trispinosa</a:t>
            </a:r>
            <a:r>
              <a:rPr sz="1450" b="0" i="0">
                <a:solidFill>
                  <a:srgbClr val="292725"/>
                </a:solidFill>
                <a:latin typeface="Arial"/>
              </a:rPr>
              <a:t> chose colored targets against grey alternatives. Each group encountered its corresponding illumination color.</a:t>
            </a:r>
          </a:p>
          <a:p>
            <a:pPr algn="l">
              <a:lnSpc>
                <a:spcPct val="108000"/>
              </a:lnSpc>
              <a:spcAft>
                <a:spcPts val="900"/>
              </a:spcAft>
            </a:pPr>
            <a:r>
              <a:rPr sz="1450" b="0" i="0">
                <a:solidFill>
                  <a:srgbClr val="292725"/>
                </a:solidFill>
                <a:latin typeface="Arial"/>
              </a:rPr>
              <a:t>Under green and red illumination, correct choices remained about three-quarters of responses, above the one-third chance level of three alternatives. Blue-target performance fell from 76% under natural light to 40% under blue illumination. The spectral windows therefore produced different behavioral outcomes.</a:t>
            </a:r>
          </a:p>
          <a:p>
            <a:pPr algn="l">
              <a:lnSpc>
                <a:spcPct val="108000"/>
              </a:lnSpc>
              <a:spcAft>
                <a:spcPts val="900"/>
              </a:spcAft>
            </a:pPr>
            <a:r>
              <a:rPr sz="1450" b="0" i="0">
                <a:solidFill>
                  <a:srgbClr val="292725"/>
                </a:solidFill>
                <a:latin typeface="Arial"/>
              </a:rPr>
              <a:t>The authors interpret preserved green and red discrimination as evidence for opponent processing when only a restricted receptor subset receives substantial light. The outcome depends on the target spectrum and the illumination together, since green and red choices survived their restricted illuminations whereas blue choices approached chance, and the result qualifies the earlier claim that coarse wavelength discrimination rules out opponency.</a:t>
            </a:r>
          </a:p>
        </p:txBody>
      </p:sp>
      <p:pic>
        <p:nvPicPr>
          <p:cNvPr id="4" name="Picture 3" descr="o25_f7.png"/>
          <p:cNvPicPr>
            <a:picLocks noChangeAspect="1"/>
          </p:cNvPicPr>
          <p:nvPr/>
        </p:nvPicPr>
        <p:blipFill>
          <a:blip r:embed="rId2"/>
          <a:stretch>
            <a:fillRect/>
          </a:stretch>
        </p:blipFill>
        <p:spPr>
          <a:xfrm>
            <a:off x="7678429" y="1280160"/>
            <a:ext cx="2680595"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7. Color-versus-grey choices under natural and colored illumination.</a:t>
            </a:r>
          </a:p>
        </p:txBody>
      </p:sp>
      <p:pic>
        <p:nvPicPr>
          <p:cNvPr id="6" name="Picture 5" descr="o25_f5a.png"/>
          <p:cNvPicPr>
            <a:picLocks noChangeAspect="1"/>
          </p:cNvPicPr>
          <p:nvPr/>
        </p:nvPicPr>
        <p:blipFill>
          <a:blip r:embed="rId3"/>
          <a:stretch>
            <a:fillRect/>
          </a:stretch>
        </p:blipFill>
        <p:spPr>
          <a:xfrm>
            <a:off x="6999986" y="4251960"/>
            <a:ext cx="4037480"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5(A). Measured transmission of the illumination filters.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Wang &amp; Marshall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Three eye regions sample overlapping visual space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92725"/>
                </a:solidFill>
                <a:latin typeface="Arial"/>
              </a:rPr>
              <a:t>A </a:t>
            </a:r>
            <a:r>
              <a:rPr sz="1550" b="1" i="0">
                <a:solidFill>
                  <a:srgbClr val="62564D"/>
                </a:solidFill>
                <a:latin typeface="Arial"/>
              </a:rPr>
              <a:t>compound eye</a:t>
            </a:r>
            <a:r>
              <a:rPr sz="1550" b="0" i="0">
                <a:solidFill>
                  <a:srgbClr val="292725"/>
                </a:solidFill>
                <a:latin typeface="Arial"/>
              </a:rPr>
              <a:t> contains repeated optical units called ommatidia. In six-rowed stomatopod eyes, a specialized midband separates the dorsal and ventral hemispheres. Each ommatidium contains photoreceptor cells whose light-sensitive membrane contributes to a central </a:t>
            </a:r>
            <a:r>
              <a:rPr sz="1550" b="1" i="0">
                <a:solidFill>
                  <a:srgbClr val="62564D"/>
                </a:solidFill>
                <a:latin typeface="Arial"/>
              </a:rPr>
              <a:t>rhabdom</a:t>
            </a:r>
            <a:r>
              <a:rPr sz="1550" b="0" i="0">
                <a:solidFill>
                  <a:srgbClr val="292725"/>
                </a:solidFill>
                <a:latin typeface="Arial"/>
              </a:rPr>
              <a:t>.</a:t>
            </a:r>
          </a:p>
          <a:p>
            <a:pPr algn="l">
              <a:lnSpc>
                <a:spcPct val="108000"/>
              </a:lnSpc>
              <a:spcAft>
                <a:spcPts val="960"/>
              </a:spcAft>
            </a:pPr>
            <a:r>
              <a:rPr sz="1550" b="0" i="0">
                <a:solidFill>
                  <a:srgbClr val="292725"/>
                </a:solidFill>
                <a:latin typeface="Arial"/>
              </a:rPr>
              <a:t>Kleinlogel and White examined </a:t>
            </a:r>
            <a:r>
              <a:rPr sz="1550" b="0" i="1">
                <a:solidFill>
                  <a:srgbClr val="292725"/>
                </a:solidFill>
                <a:latin typeface="Arial"/>
              </a:rPr>
              <a:t>Gonodactylus smithii</a:t>
            </a:r>
            <a:r>
              <a:rPr sz="1550" b="0" i="0">
                <a:solidFill>
                  <a:srgbClr val="292725"/>
                </a:solidFill>
                <a:latin typeface="Arial"/>
              </a:rPr>
              <a:t> eyes and recorded from identified photoreceptors. The three dark </a:t>
            </a:r>
            <a:r>
              <a:rPr sz="1550" b="1" i="0">
                <a:solidFill>
                  <a:srgbClr val="62564D"/>
                </a:solidFill>
                <a:latin typeface="Arial"/>
              </a:rPr>
              <a:t>pseudopupils</a:t>
            </a:r>
            <a:r>
              <a:rPr sz="1550" b="0" i="0">
                <a:solidFill>
                  <a:srgbClr val="292725"/>
                </a:solidFill>
                <a:latin typeface="Arial"/>
              </a:rPr>
              <a:t> arise where ommatidia facing the observer absorb light strongly. Their simultaneous appearance reflects overlap between the visual fields of the two hemispheres and the midband.</a:t>
            </a:r>
          </a:p>
          <a:p>
            <a:pPr algn="l">
              <a:lnSpc>
                <a:spcPct val="108000"/>
              </a:lnSpc>
              <a:spcAft>
                <a:spcPts val="960"/>
              </a:spcAft>
            </a:pPr>
            <a:r>
              <a:rPr sz="1550" b="0" i="0">
                <a:solidFill>
                  <a:srgbClr val="292725"/>
                </a:solidFill>
                <a:latin typeface="Arial"/>
              </a:rPr>
              <a:t>Overlap permits different receptor populations to sample related directions while supplying distinct spectral or polarization signals. Shared viewing directions make comparison between regional signals possible, and the dorsal and ventral hemispheres and the midband name positions in the eye instead of upper and lower regions of the visual environment.</a:t>
            </a:r>
          </a:p>
        </p:txBody>
      </p:sp>
      <p:pic>
        <p:nvPicPr>
          <p:cNvPr id="4" name="Picture 3" descr="kw08_f3abc.png"/>
          <p:cNvPicPr>
            <a:picLocks noChangeAspect="1"/>
          </p:cNvPicPr>
          <p:nvPr/>
        </p:nvPicPr>
        <p:blipFill>
          <a:blip r:embed="rId2"/>
          <a:stretch>
            <a:fillRect/>
          </a:stretch>
        </p:blipFill>
        <p:spPr>
          <a:xfrm>
            <a:off x="6934947" y="1280160"/>
            <a:ext cx="4167559"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3(A–C). The animal, eye pseudopupils and midband ultrastructure.</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Kleinlogel &amp; White (2008); Daly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Midband rows separate spectral and polarization inputs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292725"/>
                </a:solidFill>
                <a:latin typeface="Arial"/>
              </a:rPr>
              <a:t>The </a:t>
            </a:r>
            <a:r>
              <a:rPr sz="1500" b="1" i="0">
                <a:solidFill>
                  <a:srgbClr val="62564D"/>
                </a:solidFill>
                <a:latin typeface="Arial"/>
              </a:rPr>
              <a:t>midband</a:t>
            </a:r>
            <a:r>
              <a:rPr sz="1500" b="0" i="0">
                <a:solidFill>
                  <a:srgbClr val="292725"/>
                </a:solidFill>
                <a:latin typeface="Arial"/>
              </a:rPr>
              <a:t> is the specialized strip of enlarged ommatidia separating the eye's hemispheres. In </a:t>
            </a:r>
            <a:r>
              <a:rPr sz="1500" b="0" i="1">
                <a:solidFill>
                  <a:srgbClr val="292725"/>
                </a:solidFill>
                <a:latin typeface="Arial"/>
              </a:rPr>
              <a:t>Haptosquilla trispinosa</a:t>
            </a:r>
            <a:r>
              <a:rPr sz="1500" b="0" i="0">
                <a:solidFill>
                  <a:srgbClr val="292725"/>
                </a:solidFill>
                <a:latin typeface="Arial"/>
              </a:rPr>
              <a:t>, its first four rows carry differently tuned spectral receptors; the last two rows participate in circular or elliptical polarization sensing.</a:t>
            </a:r>
          </a:p>
          <a:p>
            <a:pPr algn="l">
              <a:lnSpc>
                <a:spcPct val="108000"/>
              </a:lnSpc>
              <a:spcAft>
                <a:spcPts val="900"/>
              </a:spcAft>
            </a:pPr>
            <a:r>
              <a:rPr sz="1500" b="0" i="0">
                <a:solidFill>
                  <a:srgbClr val="292725"/>
                </a:solidFill>
                <a:latin typeface="Arial"/>
              </a:rPr>
              <a:t>Thoen and colleagues recorded eight visible-sensitive receptor classes and three ultraviolet-sensitive classes; another ultraviolet class was difficult to locate. Streets and colleagues mapped the six-row retinal organization with serial electron microscopy and reconstructed the associated photoreceptor projections.</a:t>
            </a:r>
          </a:p>
          <a:p>
            <a:pPr algn="l">
              <a:lnSpc>
                <a:spcPct val="108000"/>
              </a:lnSpc>
              <a:spcAft>
                <a:spcPts val="900"/>
              </a:spcAft>
            </a:pPr>
            <a:r>
              <a:rPr sz="1500" b="0" i="0">
                <a:solidFill>
                  <a:srgbClr val="292725"/>
                </a:solidFill>
                <a:latin typeface="Arial"/>
              </a:rPr>
              <a:t>Anatomical row identity and recorded sensitivity are complementary measurements. Each of the four color rows contains receptor populations at different optical depths, which creates several spectral inputs within a narrow strip, whereas rows five and six have different optical specializations and carry polarization information, so the two kinds of information are counted separately.</a:t>
            </a:r>
          </a:p>
        </p:txBody>
      </p:sp>
      <p:pic>
        <p:nvPicPr>
          <p:cNvPr id="4" name="Picture 3" descr="t14_f1a.png"/>
          <p:cNvPicPr>
            <a:picLocks noChangeAspect="1"/>
          </p:cNvPicPr>
          <p:nvPr/>
        </p:nvPicPr>
        <p:blipFill>
          <a:blip r:embed="rId2"/>
          <a:stretch>
            <a:fillRect/>
          </a:stretch>
        </p:blipFill>
        <p:spPr>
          <a:xfrm>
            <a:off x="6412687" y="1280160"/>
            <a:ext cx="5212080" cy="1915412"/>
          </a:xfrm>
          <a:prstGeom prst="rect">
            <a:avLst/>
          </a:prstGeom>
        </p:spPr>
      </p:pic>
      <p:sp>
        <p:nvSpPr>
          <p:cNvPr id="5" name="Figure caption"/>
          <p:cNvSpPr txBox="1"/>
          <p:nvPr/>
        </p:nvSpPr>
        <p:spPr>
          <a:xfrm>
            <a:off x="6412687" y="328701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1(A, B). Haptosquilla eye with dorsal, ventral and color-row labels.</a:t>
            </a:r>
          </a:p>
        </p:txBody>
      </p:sp>
      <p:pic>
        <p:nvPicPr>
          <p:cNvPr id="6" name="Picture 5" descr="n25_f1cde.png"/>
          <p:cNvPicPr>
            <a:picLocks noChangeAspect="1"/>
          </p:cNvPicPr>
          <p:nvPr/>
        </p:nvPicPr>
        <p:blipFill>
          <a:blip r:embed="rId3"/>
          <a:stretch>
            <a:fillRect/>
          </a:stretch>
        </p:blipFill>
        <p:spPr>
          <a:xfrm>
            <a:off x="7670836" y="4251960"/>
            <a:ext cx="2695781"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1(A–E). Published retinal layout and electron-microscopy cross-section.</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 Streets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Three optical tiers place receptors at different depths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1019"/>
              </a:spcAft>
            </a:pPr>
            <a:r>
              <a:rPr sz="1700" b="0" i="0">
                <a:solidFill>
                  <a:srgbClr val="292725"/>
                </a:solidFill>
                <a:latin typeface="Arial"/>
              </a:rPr>
              <a:t>A </a:t>
            </a:r>
            <a:r>
              <a:rPr sz="1700" b="1" i="0">
                <a:solidFill>
                  <a:srgbClr val="62564D"/>
                </a:solidFill>
                <a:latin typeface="Arial"/>
              </a:rPr>
              <a:t>retinular cell</a:t>
            </a:r>
            <a:r>
              <a:rPr sz="1700" b="0" i="0">
                <a:solidFill>
                  <a:srgbClr val="292725"/>
                </a:solidFill>
                <a:latin typeface="Arial"/>
              </a:rPr>
              <a:t> is a photoreceptor forming part of an ommatidium. In color midband rows, the distal R8 receptor lies nearest the incoming light, while cells R1–R7 contribute to two deeper tiers. </a:t>
            </a:r>
            <a:r>
              <a:rPr sz="1700" b="1" i="0">
                <a:solidFill>
                  <a:srgbClr val="62564D"/>
                </a:solidFill>
                <a:latin typeface="Arial"/>
              </a:rPr>
              <a:t>Distal</a:t>
            </a:r>
            <a:r>
              <a:rPr sz="1700" b="0" i="0">
                <a:solidFill>
                  <a:srgbClr val="292725"/>
                </a:solidFill>
                <a:latin typeface="Arial"/>
              </a:rPr>
              <a:t> means nearer the optical entrance; </a:t>
            </a:r>
            <a:r>
              <a:rPr sz="1700" b="1" i="0">
                <a:solidFill>
                  <a:srgbClr val="62564D"/>
                </a:solidFill>
                <a:latin typeface="Arial"/>
              </a:rPr>
              <a:t>proximal</a:t>
            </a:r>
            <a:r>
              <a:rPr sz="1700" b="0" i="0">
                <a:solidFill>
                  <a:srgbClr val="292725"/>
                </a:solidFill>
                <a:latin typeface="Arial"/>
              </a:rPr>
              <a:t> means farther along the light path.</a:t>
            </a:r>
          </a:p>
          <a:p>
            <a:pPr algn="l">
              <a:lnSpc>
                <a:spcPct val="108000"/>
              </a:lnSpc>
              <a:spcAft>
                <a:spcPts val="1019"/>
              </a:spcAft>
            </a:pPr>
            <a:r>
              <a:rPr sz="1700" b="0" i="0">
                <a:solidFill>
                  <a:srgbClr val="292725"/>
                </a:solidFill>
                <a:latin typeface="Arial"/>
              </a:rPr>
              <a:t>Cronin and Marshall measured pigments and filters in frozen </a:t>
            </a:r>
            <a:r>
              <a:rPr sz="1700" b="0" i="1">
                <a:solidFill>
                  <a:srgbClr val="292725"/>
                </a:solidFill>
                <a:latin typeface="Arial"/>
              </a:rPr>
              <a:t>Pseudosquilla ciliata</a:t>
            </a:r>
            <a:r>
              <a:rPr sz="1700" b="0" i="0">
                <a:solidFill>
                  <a:srgbClr val="292725"/>
                </a:solidFill>
                <a:latin typeface="Arial"/>
              </a:rPr>
              <a:t> retinal sections. Each of the eight main-rhabdom tiers in rows 1–4 contained a distinct pigment. Light entering a deeper tier had already passed through the overlying material.</a:t>
            </a:r>
          </a:p>
          <a:p>
            <a:pPr algn="l">
              <a:lnSpc>
                <a:spcPct val="108000"/>
              </a:lnSpc>
              <a:spcAft>
                <a:spcPts val="1019"/>
              </a:spcAft>
            </a:pPr>
            <a:r>
              <a:rPr sz="1700" b="0" i="0">
                <a:solidFill>
                  <a:srgbClr val="292725"/>
                </a:solidFill>
                <a:latin typeface="Arial"/>
              </a:rPr>
              <a:t>Tiering therefore changes both receptor position and the available spectrum. Absorption in an earlier layer removes wavelengths before the light reaches a later one, and the published sensitivity curves combine measured absorption with optical properties to calculate the sensitivity of each tier.</a:t>
            </a:r>
          </a:p>
        </p:txBody>
      </p:sp>
      <p:pic>
        <p:nvPicPr>
          <p:cNvPr id="4" name="Picture 3" descr="cm89_f3.png"/>
          <p:cNvPicPr>
            <a:picLocks noChangeAspect="1"/>
          </p:cNvPicPr>
          <p:nvPr/>
        </p:nvPicPr>
        <p:blipFill>
          <a:blip r:embed="rId2"/>
          <a:stretch>
            <a:fillRect/>
          </a:stretch>
        </p:blipFill>
        <p:spPr>
          <a:xfrm>
            <a:off x="6454847" y="1280160"/>
            <a:ext cx="2933199" cy="4297679"/>
          </a:xfrm>
          <a:prstGeom prst="rect">
            <a:avLst/>
          </a:prstGeom>
        </p:spPr>
      </p:pic>
      <p:sp>
        <p:nvSpPr>
          <p:cNvPr id="5" name="Figure caption"/>
          <p:cNvSpPr txBox="1"/>
          <p:nvPr/>
        </p:nvSpPr>
        <p:spPr>
          <a:xfrm>
            <a:off x="6412687" y="5669279"/>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3. Predicted sensitivities of distal and proximal retinal tiers.</a:t>
            </a:r>
          </a:p>
        </p:txBody>
      </p:sp>
      <p:pic>
        <p:nvPicPr>
          <p:cNvPr id="6" name="Picture 5" descr="b14_f1ab.png"/>
          <p:cNvPicPr>
            <a:picLocks noChangeAspect="1"/>
          </p:cNvPicPr>
          <p:nvPr/>
        </p:nvPicPr>
        <p:blipFill>
          <a:blip r:embed="rId3"/>
          <a:stretch>
            <a:fillRect/>
          </a:stretch>
        </p:blipFill>
        <p:spPr>
          <a:xfrm>
            <a:off x="9613087" y="2148840"/>
            <a:ext cx="2011680" cy="889550"/>
          </a:xfrm>
          <a:prstGeom prst="rect">
            <a:avLst/>
          </a:prstGeom>
        </p:spPr>
      </p:pic>
      <p:sp>
        <p:nvSpPr>
          <p:cNvPr id="7" name="Figure caption"/>
          <p:cNvSpPr txBox="1"/>
          <p:nvPr/>
        </p:nvSpPr>
        <p:spPr>
          <a:xfrm>
            <a:off x="9613087" y="3111542"/>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1(A, B). Eye surface and original sagittal retinal diagram.</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Cronin &amp; Marshall (1989); Bok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R8 combines ultraviolet reception with optical filtering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The </a:t>
            </a:r>
            <a:r>
              <a:rPr sz="1500" b="1" i="0">
                <a:solidFill>
                  <a:srgbClr val="62564D"/>
                </a:solidFill>
                <a:latin typeface="Arial"/>
              </a:rPr>
              <a:t>R8 cell</a:t>
            </a:r>
            <a:r>
              <a:rPr sz="1500" b="0" i="0">
                <a:solidFill>
                  <a:srgbClr val="292725"/>
                </a:solidFill>
                <a:latin typeface="Arial"/>
              </a:rPr>
              <a:t> is the eighth retinular photoreceptor, located above the main R1–R7 rhabdom. Its optical position allows it to absorb ultraviolet photons while altering visible light transmitted toward deeper receptors. These operations depend on the row and species.</a:t>
            </a:r>
          </a:p>
          <a:p>
            <a:pPr algn="l">
              <a:lnSpc>
                <a:spcPct val="108000"/>
              </a:lnSpc>
              <a:spcAft>
                <a:spcPts val="960"/>
              </a:spcAft>
            </a:pPr>
            <a:r>
              <a:rPr sz="1500" b="0" i="0">
                <a:solidFill>
                  <a:srgbClr val="292725"/>
                </a:solidFill>
                <a:latin typeface="Arial"/>
              </a:rPr>
              <a:t>In </a:t>
            </a:r>
            <a:r>
              <a:rPr sz="1500" b="0" i="1">
                <a:solidFill>
                  <a:srgbClr val="292725"/>
                </a:solidFill>
                <a:latin typeface="Arial"/>
              </a:rPr>
              <a:t>Neogonodactylus oerstedii</a:t>
            </a:r>
            <a:r>
              <a:rPr sz="1500" b="0" i="0">
                <a:solidFill>
                  <a:srgbClr val="292725"/>
                </a:solidFill>
                <a:latin typeface="Arial"/>
              </a:rPr>
              <a:t>, Bok and colleagues localized ultraviolet opsin transcripts to R8 cells. In </a:t>
            </a:r>
            <a:r>
              <a:rPr sz="1500" b="0" i="1">
                <a:solidFill>
                  <a:srgbClr val="292725"/>
                </a:solidFill>
                <a:latin typeface="Arial"/>
              </a:rPr>
              <a:t>Odontodactylus scyllarus</a:t>
            </a:r>
            <a:r>
              <a:rPr sz="1500" b="0" i="0">
                <a:solidFill>
                  <a:srgbClr val="292725"/>
                </a:solidFill>
                <a:latin typeface="Arial"/>
              </a:rPr>
              <a:t>, Roberts and colleagues examined unusually long, ordered R8 microvilli in polarization rows 5 and 6, where the rhabdomere was approximately 150 µm long.</a:t>
            </a:r>
          </a:p>
          <a:p>
            <a:pPr algn="l">
              <a:lnSpc>
                <a:spcPct val="108000"/>
              </a:lnSpc>
              <a:spcAft>
                <a:spcPts val="960"/>
              </a:spcAft>
            </a:pPr>
            <a:r>
              <a:rPr sz="1500" b="0" i="0">
                <a:solidFill>
                  <a:srgbClr val="292725"/>
                </a:solidFill>
                <a:latin typeface="Arial"/>
              </a:rPr>
              <a:t>A rhabdomere is one cell's contribution to the light-sensitive rhabdom. R8 ultraviolet sensitivity and visible-light retardance are different properties of that structure. A light-sensitive cell can affect photons that it does not absorb efficiently, so the R8 structure can alter the polarization of visible light before it reaches deeper cells while absorbing ultraviolet photons itself, a dual optical and sensory role.</a:t>
            </a:r>
          </a:p>
        </p:txBody>
      </p:sp>
      <p:pic>
        <p:nvPicPr>
          <p:cNvPr id="4" name="Picture 3" descr="b14_f1ef.png"/>
          <p:cNvPicPr>
            <a:picLocks noChangeAspect="1"/>
          </p:cNvPicPr>
          <p:nvPr/>
        </p:nvPicPr>
        <p:blipFill>
          <a:blip r:embed="rId2"/>
          <a:stretch>
            <a:fillRect/>
          </a:stretch>
        </p:blipFill>
        <p:spPr>
          <a:xfrm>
            <a:off x="7493896" y="1280160"/>
            <a:ext cx="304966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1(E, F). UV1 and UV2 transcript localization in retinal R8 cells.</a:t>
            </a:r>
          </a:p>
        </p:txBody>
      </p:sp>
      <p:pic>
        <p:nvPicPr>
          <p:cNvPr id="6" name="Picture 5" descr="r09_f1bc.png"/>
          <p:cNvPicPr>
            <a:picLocks noChangeAspect="1"/>
          </p:cNvPicPr>
          <p:nvPr/>
        </p:nvPicPr>
        <p:blipFill>
          <a:blip r:embed="rId3"/>
          <a:stretch>
            <a:fillRect/>
          </a:stretch>
        </p:blipFill>
        <p:spPr>
          <a:xfrm>
            <a:off x="7964855" y="4251960"/>
            <a:ext cx="210774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Roberts et al. (2009), Fig. 1(b, c). Rows 5–6 R8 position and microvillar ultrastructure.</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 Roberts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Photoreceptor axons reach distinct lamina layers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92725"/>
                </a:solidFill>
                <a:latin typeface="Arial"/>
              </a:rPr>
              <a:t>The </a:t>
            </a:r>
            <a:r>
              <a:rPr sz="1550" b="1" i="0">
                <a:solidFill>
                  <a:srgbClr val="62564D"/>
                </a:solidFill>
                <a:latin typeface="Arial"/>
              </a:rPr>
              <a:t>lamina</a:t>
            </a:r>
            <a:r>
              <a:rPr sz="1550" b="0" i="0">
                <a:solidFill>
                  <a:srgbClr val="292725"/>
                </a:solidFill>
                <a:latin typeface="Arial"/>
              </a:rPr>
              <a:t> is the first optic neuropil, a region containing neuronal processes where retinal signals encounter interneurons. A </a:t>
            </a:r>
            <a:r>
              <a:rPr sz="1550" b="1" i="0">
                <a:solidFill>
                  <a:srgbClr val="62564D"/>
                </a:solidFill>
                <a:latin typeface="Arial"/>
              </a:rPr>
              <a:t>lamina cartridge</a:t>
            </a:r>
            <a:r>
              <a:rPr sz="1550" b="0" i="0">
                <a:solidFill>
                  <a:srgbClr val="292725"/>
                </a:solidFill>
                <a:latin typeface="Arial"/>
              </a:rPr>
              <a:t> is the processing column associated with an ommatidium. Streets and colleagues reconstructed these columns in </a:t>
            </a:r>
            <a:r>
              <a:rPr sz="1550" b="0" i="1">
                <a:solidFill>
                  <a:srgbClr val="292725"/>
                </a:solidFill>
                <a:latin typeface="Arial"/>
              </a:rPr>
              <a:t>Haptosquilla trispinosa</a:t>
            </a:r>
            <a:r>
              <a:rPr sz="1550" b="0" i="0">
                <a:solidFill>
                  <a:srgbClr val="292725"/>
                </a:solidFill>
                <a:latin typeface="Arial"/>
              </a:rPr>
              <a:t> and </a:t>
            </a:r>
            <a:r>
              <a:rPr sz="1550" b="0" i="1">
                <a:solidFill>
                  <a:srgbClr val="292725"/>
                </a:solidFill>
                <a:latin typeface="Arial"/>
              </a:rPr>
              <a:t>Alachosquilla vicinia</a:t>
            </a:r>
            <a:r>
              <a:rPr sz="1550" b="0" i="0">
                <a:solidFill>
                  <a:srgbClr val="292725"/>
                </a:solidFill>
                <a:latin typeface="Arial"/>
              </a:rPr>
              <a:t>.</a:t>
            </a:r>
          </a:p>
          <a:p>
            <a:pPr algn="l">
              <a:lnSpc>
                <a:spcPct val="108000"/>
              </a:lnSpc>
              <a:spcAft>
                <a:spcPts val="960"/>
              </a:spcAft>
            </a:pPr>
            <a:r>
              <a:rPr sz="1550" b="0" i="0">
                <a:solidFill>
                  <a:srgbClr val="292725"/>
                </a:solidFill>
                <a:latin typeface="Arial"/>
              </a:rPr>
              <a:t>R2, R3, R6 and R7 terminals occupied the outer external plexiform layer, whereas R1, R4 and R5 occupied the inner layer. R8 axons extended through the lamina toward the </a:t>
            </a:r>
            <a:r>
              <a:rPr sz="1550" b="1" i="0">
                <a:solidFill>
                  <a:srgbClr val="62564D"/>
                </a:solidFill>
                <a:latin typeface="Arial"/>
              </a:rPr>
              <a:t>medulla</a:t>
            </a:r>
            <a:r>
              <a:rPr sz="1550" b="0" i="0">
                <a:solidFill>
                  <a:srgbClr val="292725"/>
                </a:solidFill>
                <a:latin typeface="Arial"/>
              </a:rPr>
              <a:t>, the next optic neuropil. The reconstructions revised older assignments of the two receptor groups.</a:t>
            </a:r>
          </a:p>
          <a:p>
            <a:pPr algn="l">
              <a:lnSpc>
                <a:spcPct val="108000"/>
              </a:lnSpc>
              <a:spcAft>
                <a:spcPts val="960"/>
              </a:spcAft>
            </a:pPr>
            <a:r>
              <a:rPr sz="1550" b="0" i="0">
                <a:solidFill>
                  <a:srgbClr val="292725"/>
                </a:solidFill>
                <a:latin typeface="Arial"/>
              </a:rPr>
              <a:t>Layer separation preserves distinct input populations and supplies candidate sites for comparison. The two external plexiform layers contain different R1–R7 groups, and R8 follows a longer route toward the medulla, so the revised assignments matter because a recording interpreted with an older layer assignment could be attributed to the wrong receptor group.</a:t>
            </a:r>
          </a:p>
        </p:txBody>
      </p:sp>
      <p:pic>
        <p:nvPicPr>
          <p:cNvPr id="4" name="Picture 3" descr="n25_f2ab.png"/>
          <p:cNvPicPr>
            <a:picLocks noChangeAspect="1"/>
          </p:cNvPicPr>
          <p:nvPr/>
        </p:nvPicPr>
        <p:blipFill>
          <a:blip r:embed="rId2"/>
          <a:stretch>
            <a:fillRect/>
          </a:stretch>
        </p:blipFill>
        <p:spPr>
          <a:xfrm>
            <a:off x="6509501" y="1280160"/>
            <a:ext cx="5018450"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2(A, B). Original reconstruction-based layout of receptor terminals and monopolar cells.</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Streets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Microspectrophotometry separates pigment absorption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450" b="1" i="0">
                <a:solidFill>
                  <a:srgbClr val="62564D"/>
                </a:solidFill>
                <a:latin typeface="Arial"/>
              </a:rPr>
              <a:t>Microspectrophotometry</a:t>
            </a:r>
            <a:r>
              <a:rPr sz="1450" b="0" i="0">
                <a:solidFill>
                  <a:srgbClr val="292725"/>
                </a:solidFill>
                <a:latin typeface="Arial"/>
              </a:rPr>
              <a:t> measures how a microscopic specimen absorbs light across wavelengths. Cronin and Marshall directed a 1.5-µm measuring spot along the light-sensitive structures of frozen </a:t>
            </a:r>
            <a:r>
              <a:rPr sz="1450" b="0" i="1">
                <a:solidFill>
                  <a:srgbClr val="292725"/>
                </a:solidFill>
                <a:latin typeface="Arial"/>
              </a:rPr>
              <a:t>Pseudosquilla ciliata</a:t>
            </a:r>
            <a:r>
              <a:rPr sz="1450" b="0" i="0">
                <a:solidFill>
                  <a:srgbClr val="292725"/>
                </a:solidFill>
                <a:latin typeface="Arial"/>
              </a:rPr>
              <a:t> retinal sections, scanning from 400 to 700 nm.</a:t>
            </a:r>
          </a:p>
          <a:p>
            <a:pPr algn="l">
              <a:lnSpc>
                <a:spcPct val="108000"/>
              </a:lnSpc>
              <a:spcAft>
                <a:spcPts val="960"/>
              </a:spcAft>
            </a:pPr>
            <a:r>
              <a:rPr sz="1450" b="0" i="0">
                <a:solidFill>
                  <a:srgbClr val="292725"/>
                </a:solidFill>
                <a:latin typeface="Arial"/>
              </a:rPr>
              <a:t>Animals were dark-adapted before sampling. Absorption before and after strong illumination was compared in the same receptor region to isolate the light-sensitive pigment contribution. Fitted pigment peaks ranged from approximately 400 to 539 nm across the main retinal classes.</a:t>
            </a:r>
          </a:p>
          <a:p>
            <a:pPr algn="l">
              <a:lnSpc>
                <a:spcPct val="108000"/>
              </a:lnSpc>
              <a:spcAft>
                <a:spcPts val="960"/>
              </a:spcAft>
            </a:pPr>
            <a:r>
              <a:rPr sz="1450" b="0" i="0">
                <a:solidFill>
                  <a:srgbClr val="292725"/>
                </a:solidFill>
                <a:latin typeface="Arial"/>
              </a:rPr>
              <a:t>This procedure distinguishes pigment absorption from an intact cell's effective spectral sensitivity, which also depends on optical filtering and receptor length. Subtracting the post-illumination spectrum from the dark-adapted spectrum separates the changing visual pigment from more stable absorbing material, and the visible-range scan from 400 to 700 nm characterizes the main-rhabdom pigments, whereas the ultraviolet-sensitive R8 pigment peaks farther into the ultraviolet.</a:t>
            </a:r>
          </a:p>
        </p:txBody>
      </p:sp>
      <p:pic>
        <p:nvPicPr>
          <p:cNvPr id="4" name="Picture 3" descr="cm89_f2b.png"/>
          <p:cNvPicPr>
            <a:picLocks noChangeAspect="1"/>
          </p:cNvPicPr>
          <p:nvPr/>
        </p:nvPicPr>
        <p:blipFill>
          <a:blip r:embed="rId2"/>
          <a:stretch>
            <a:fillRect/>
          </a:stretch>
        </p:blipFill>
        <p:spPr>
          <a:xfrm>
            <a:off x="6412687" y="1280160"/>
            <a:ext cx="3017520" cy="4136996"/>
          </a:xfrm>
          <a:prstGeom prst="rect">
            <a:avLst/>
          </a:prstGeom>
        </p:spPr>
      </p:pic>
      <p:sp>
        <p:nvSpPr>
          <p:cNvPr id="5" name="Figure caption"/>
          <p:cNvSpPr txBox="1"/>
          <p:nvPr/>
        </p:nvSpPr>
        <p:spPr>
          <a:xfrm>
            <a:off x="6412687" y="5508596"/>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2(b). Measured visual-pigment difference spectra with fitted templates.</a:t>
            </a:r>
          </a:p>
        </p:txBody>
      </p:sp>
      <p:pic>
        <p:nvPicPr>
          <p:cNvPr id="6" name="Picture 5" descr="t14_f1a.png"/>
          <p:cNvPicPr>
            <a:picLocks noChangeAspect="1"/>
          </p:cNvPicPr>
          <p:nvPr/>
        </p:nvPicPr>
        <p:blipFill>
          <a:blip r:embed="rId3"/>
          <a:stretch>
            <a:fillRect/>
          </a:stretch>
        </p:blipFill>
        <p:spPr>
          <a:xfrm>
            <a:off x="9613087" y="2148840"/>
            <a:ext cx="2011680" cy="739281"/>
          </a:xfrm>
          <a:prstGeom prst="rect">
            <a:avLst/>
          </a:prstGeom>
        </p:spPr>
      </p:pic>
      <p:sp>
        <p:nvSpPr>
          <p:cNvPr id="7" name="Figure caption"/>
          <p:cNvSpPr txBox="1"/>
          <p:nvPr/>
        </p:nvSpPr>
        <p:spPr>
          <a:xfrm>
            <a:off x="9613087" y="2961273"/>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1(A, B). Later intracellular sensitivity curves in Haptosquilla.</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Cronin &amp; Marshall (1989); Thoen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Visual pigments and stable filters are distinct components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92725"/>
                </a:solidFill>
                <a:latin typeface="Arial"/>
              </a:rPr>
              <a:t>A </a:t>
            </a:r>
            <a:r>
              <a:rPr sz="1550" b="1" i="0">
                <a:solidFill>
                  <a:srgbClr val="62564D"/>
                </a:solidFill>
                <a:latin typeface="Arial"/>
              </a:rPr>
              <a:t>visual pigment</a:t>
            </a:r>
            <a:r>
              <a:rPr sz="1550" b="0" i="0">
                <a:solidFill>
                  <a:srgbClr val="292725"/>
                </a:solidFill>
                <a:latin typeface="Arial"/>
              </a:rPr>
              <a:t> is a light-absorbing chromophore bound to an opsin protein; photon absorption initiates receptor activation. An </a:t>
            </a:r>
            <a:r>
              <a:rPr sz="1550" b="1" i="0">
                <a:solidFill>
                  <a:srgbClr val="62564D"/>
                </a:solidFill>
                <a:latin typeface="Arial"/>
              </a:rPr>
              <a:t>optical filter</a:t>
            </a:r>
            <a:r>
              <a:rPr sz="1550" b="0" i="0">
                <a:solidFill>
                  <a:srgbClr val="292725"/>
                </a:solidFill>
                <a:latin typeface="Arial"/>
              </a:rPr>
              <a:t> selectively removes wavelengths from the light reaching that pigment. These components can therefore change sensitivity through different mechanisms.</a:t>
            </a:r>
          </a:p>
          <a:p>
            <a:pPr algn="l">
              <a:lnSpc>
                <a:spcPct val="108000"/>
              </a:lnSpc>
              <a:spcAft>
                <a:spcPts val="960"/>
              </a:spcAft>
            </a:pPr>
            <a:r>
              <a:rPr sz="1550" b="0" i="0">
                <a:solidFill>
                  <a:srgbClr val="292725"/>
                </a:solidFill>
                <a:latin typeface="Arial"/>
              </a:rPr>
              <a:t>Cronin and Marshall measured light-sensitive pigments and comparatively stable intrarhabdomal filters separately in </a:t>
            </a:r>
            <a:r>
              <a:rPr sz="1550" b="0" i="1">
                <a:solidFill>
                  <a:srgbClr val="292725"/>
                </a:solidFill>
                <a:latin typeface="Arial"/>
              </a:rPr>
              <a:t>Pseudosquilla ciliata</a:t>
            </a:r>
            <a:r>
              <a:rPr sz="1550" b="0" i="0">
                <a:solidFill>
                  <a:srgbClr val="292725"/>
                </a:solidFill>
                <a:latin typeface="Arial"/>
              </a:rPr>
              <a:t>. Midband rows 2 and 3 contained two filters in series. Bok and colleagues later identified a distinct ultraviolet-filter system in the crystalline cones of </a:t>
            </a:r>
            <a:r>
              <a:rPr sz="1550" b="0" i="1">
                <a:solidFill>
                  <a:srgbClr val="292725"/>
                </a:solidFill>
                <a:latin typeface="Arial"/>
              </a:rPr>
              <a:t>Neogonodactylus oerstedii</a:t>
            </a:r>
            <a:r>
              <a:rPr sz="1550" b="0" i="0">
                <a:solidFill>
                  <a:srgbClr val="292725"/>
                </a:solidFill>
                <a:latin typeface="Arial"/>
              </a:rPr>
              <a:t>.</a:t>
            </a:r>
          </a:p>
          <a:p>
            <a:pPr algn="l">
              <a:lnSpc>
                <a:spcPct val="108000"/>
              </a:lnSpc>
              <a:spcAft>
                <a:spcPts val="960"/>
              </a:spcAft>
            </a:pPr>
            <a:r>
              <a:rPr sz="1550" b="0" i="0">
                <a:solidFill>
                  <a:srgbClr val="292725"/>
                </a:solidFill>
                <a:latin typeface="Arial"/>
              </a:rPr>
              <a:t>Filtering can produce different effective sensitivities without adding a new functional opsin, while separate visual pigments can also contribute distinct spectral channels. A receptor's peak sensitivity is therefore a property of the pigment together with its optical environment, and pigment diversity and filter diversity are counted separately.</a:t>
            </a:r>
          </a:p>
        </p:txBody>
      </p:sp>
      <p:pic>
        <p:nvPicPr>
          <p:cNvPr id="4" name="Picture 3" descr="cm89_f2a.png"/>
          <p:cNvPicPr>
            <a:picLocks noChangeAspect="1"/>
          </p:cNvPicPr>
          <p:nvPr/>
        </p:nvPicPr>
        <p:blipFill>
          <a:blip r:embed="rId2"/>
          <a:stretch>
            <a:fillRect/>
          </a:stretch>
        </p:blipFill>
        <p:spPr>
          <a:xfrm>
            <a:off x="6412687" y="1280160"/>
            <a:ext cx="5212080" cy="1878587"/>
          </a:xfrm>
          <a:prstGeom prst="rect">
            <a:avLst/>
          </a:prstGeom>
        </p:spPr>
      </p:pic>
      <p:sp>
        <p:nvSpPr>
          <p:cNvPr id="5" name="Figure caption"/>
          <p:cNvSpPr txBox="1"/>
          <p:nvPr/>
        </p:nvSpPr>
        <p:spPr>
          <a:xfrm>
            <a:off x="6412687" y="325018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2(a). Absorption spectra of the distal and proximal intrarhabdomal filters.</a:t>
            </a:r>
          </a:p>
        </p:txBody>
      </p:sp>
      <p:pic>
        <p:nvPicPr>
          <p:cNvPr id="6" name="Picture 5" descr="b14_f2abcd.png"/>
          <p:cNvPicPr>
            <a:picLocks noChangeAspect="1"/>
          </p:cNvPicPr>
          <p:nvPr/>
        </p:nvPicPr>
        <p:blipFill>
          <a:blip r:embed="rId3"/>
          <a:stretch>
            <a:fillRect/>
          </a:stretch>
        </p:blipFill>
        <p:spPr>
          <a:xfrm>
            <a:off x="8250986" y="4251960"/>
            <a:ext cx="1535481"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2(A–D). Native UV fluorescence localizes a separate cone-filter system.</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Cronin &amp; Marshall (1989); Bok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Successive filters narrow the spectrum reaching deep tiers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Serial filtering</a:t>
            </a:r>
            <a:r>
              <a:rPr sz="1600" b="0" i="0">
                <a:solidFill>
                  <a:srgbClr val="292725"/>
                </a:solidFill>
                <a:latin typeface="Arial"/>
              </a:rPr>
              <a:t> occurs when light passes through successive absorbing structures before reaching a receptor. Cronin and Marshall measured a distal filter and a proximal filter in each of midband rows 2 and 3 in </a:t>
            </a:r>
            <a:r>
              <a:rPr sz="1600" b="0" i="1">
                <a:solidFill>
                  <a:srgbClr val="292725"/>
                </a:solidFill>
                <a:latin typeface="Arial"/>
              </a:rPr>
              <a:t>Pseudosquilla ciliata</a:t>
            </a:r>
            <a:r>
              <a:rPr sz="1600" b="0" i="0">
                <a:solidFill>
                  <a:srgbClr val="292725"/>
                </a:solidFill>
                <a:latin typeface="Arial"/>
              </a:rPr>
              <a:t>.</a:t>
            </a:r>
          </a:p>
          <a:p>
            <a:pPr algn="l">
              <a:lnSpc>
                <a:spcPct val="108000"/>
              </a:lnSpc>
              <a:spcAft>
                <a:spcPts val="960"/>
              </a:spcAft>
            </a:pPr>
            <a:r>
              <a:rPr sz="1600" b="0" i="0">
                <a:solidFill>
                  <a:srgbClr val="292725"/>
                </a:solidFill>
                <a:latin typeface="Arial"/>
              </a:rPr>
              <a:t>The distal filter transmitted a broader wavelength range than the deeper filter. The underlying receptor tiers therefore received different spectra even within one optical unit. The authors calculated effective sensitivities by combining each tier's pigment absorption with transmission through the material above it.</a:t>
            </a:r>
          </a:p>
          <a:p>
            <a:pPr algn="l">
              <a:lnSpc>
                <a:spcPct val="108000"/>
              </a:lnSpc>
              <a:spcAft>
                <a:spcPts val="960"/>
              </a:spcAft>
            </a:pPr>
            <a:r>
              <a:rPr sz="1600" b="0" i="0">
                <a:solidFill>
                  <a:srgbClr val="292725"/>
                </a:solidFill>
                <a:latin typeface="Arial"/>
              </a:rPr>
              <a:t>The resulting predicted sensitivity functions were narrower than the pigment absorption curves alone. A deeper receptor does not receive the unmodified spectrum that entered the cornea, because some wavelengths have already been absorbed by the filters and receptor pigments above it, so serial filtering supplies selective spectral inputs to the deep tiers.</a:t>
            </a:r>
          </a:p>
        </p:txBody>
      </p:sp>
      <p:pic>
        <p:nvPicPr>
          <p:cNvPr id="4" name="Picture 3" descr="cm89_f3.png"/>
          <p:cNvPicPr>
            <a:picLocks noChangeAspect="1"/>
          </p:cNvPicPr>
          <p:nvPr/>
        </p:nvPicPr>
        <p:blipFill>
          <a:blip r:embed="rId2"/>
          <a:stretch>
            <a:fillRect/>
          </a:stretch>
        </p:blipFill>
        <p:spPr>
          <a:xfrm>
            <a:off x="6454847" y="1280160"/>
            <a:ext cx="2933199" cy="4297679"/>
          </a:xfrm>
          <a:prstGeom prst="rect">
            <a:avLst/>
          </a:prstGeom>
        </p:spPr>
      </p:pic>
      <p:sp>
        <p:nvSpPr>
          <p:cNvPr id="5" name="Figure caption"/>
          <p:cNvSpPr txBox="1"/>
          <p:nvPr/>
        </p:nvSpPr>
        <p:spPr>
          <a:xfrm>
            <a:off x="6412687" y="5669279"/>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3. Published calculations of sensitivity after serial filtering.</a:t>
            </a:r>
          </a:p>
        </p:txBody>
      </p:sp>
      <p:pic>
        <p:nvPicPr>
          <p:cNvPr id="6" name="Picture 5" descr="cm89_f2a.png"/>
          <p:cNvPicPr>
            <a:picLocks noChangeAspect="1"/>
          </p:cNvPicPr>
          <p:nvPr/>
        </p:nvPicPr>
        <p:blipFill>
          <a:blip r:embed="rId3"/>
          <a:stretch>
            <a:fillRect/>
          </a:stretch>
        </p:blipFill>
        <p:spPr>
          <a:xfrm>
            <a:off x="9613087" y="2148840"/>
            <a:ext cx="2011680" cy="725068"/>
          </a:xfrm>
          <a:prstGeom prst="rect">
            <a:avLst/>
          </a:prstGeom>
        </p:spPr>
      </p:pic>
      <p:sp>
        <p:nvSpPr>
          <p:cNvPr id="7" name="Figure caption"/>
          <p:cNvSpPr txBox="1"/>
          <p:nvPr/>
        </p:nvSpPr>
        <p:spPr>
          <a:xfrm>
            <a:off x="9613087" y="2947060"/>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2(a). Distal and proximal filter spectra in rows 2 and 3.</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Cronin &amp; Marshall (1989)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Intracellular recordings measure effective spectral tuning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An </a:t>
            </a:r>
            <a:r>
              <a:rPr sz="1600" b="1" i="0">
                <a:solidFill>
                  <a:srgbClr val="62564D"/>
                </a:solidFill>
                <a:latin typeface="Arial"/>
              </a:rPr>
              <a:t>intracellular recording</a:t>
            </a:r>
            <a:r>
              <a:rPr sz="1600" b="0" i="0">
                <a:solidFill>
                  <a:srgbClr val="292725"/>
                </a:solidFill>
                <a:latin typeface="Arial"/>
              </a:rPr>
              <a:t> measures the electrical potential inside a cell relative to the extracellular space. Thoen and colleagues used receptor recordings in </a:t>
            </a:r>
            <a:r>
              <a:rPr sz="1600" b="0" i="1">
                <a:solidFill>
                  <a:srgbClr val="292725"/>
                </a:solidFill>
                <a:latin typeface="Arial"/>
              </a:rPr>
              <a:t>Haptosquilla trispinosa</a:t>
            </a:r>
            <a:r>
              <a:rPr sz="1600" b="0" i="0">
                <a:solidFill>
                  <a:srgbClr val="292725"/>
                </a:solidFill>
                <a:latin typeface="Arial"/>
              </a:rPr>
              <a:t> to characterize the sensitivity functions supporting their discrimination analysis.</a:t>
            </a:r>
          </a:p>
          <a:p>
            <a:pPr algn="l">
              <a:lnSpc>
                <a:spcPct val="108000"/>
              </a:lnSpc>
              <a:spcAft>
                <a:spcPts val="960"/>
              </a:spcAft>
            </a:pPr>
            <a:r>
              <a:rPr sz="1600" b="0" i="0">
                <a:solidFill>
                  <a:srgbClr val="292725"/>
                </a:solidFill>
                <a:latin typeface="Arial"/>
              </a:rPr>
              <a:t>Eight measured classes peaked in the visible spectrum, and three more were recorded in the ultraviolet. The published curves are normalized to each class's maximum response, so their heights do not represent equal absolute responses to the same photon flux. An additional ultraviolet class was difficult to record.</a:t>
            </a:r>
          </a:p>
          <a:p>
            <a:pPr algn="l">
              <a:lnSpc>
                <a:spcPct val="108000"/>
              </a:lnSpc>
              <a:spcAft>
                <a:spcPts val="960"/>
              </a:spcAft>
            </a:pPr>
            <a:r>
              <a:rPr sz="1600" b="0" i="0">
                <a:solidFill>
                  <a:srgbClr val="292725"/>
                </a:solidFill>
                <a:latin typeface="Arial"/>
              </a:rPr>
              <a:t>These measurements include the consequences of the intact receptor's optical environment. They establish multiple effective spectral inputs: eight classes peaked in the visible spectrum and three more were recorded in the ultraviolet, and normalization to each class's maximum allows the shapes of the tuning curves to be compared.</a:t>
            </a:r>
          </a:p>
        </p:txBody>
      </p:sp>
      <p:pic>
        <p:nvPicPr>
          <p:cNvPr id="4" name="Picture 3" descr="t14_f1a.png"/>
          <p:cNvPicPr>
            <a:picLocks noChangeAspect="1"/>
          </p:cNvPicPr>
          <p:nvPr/>
        </p:nvPicPr>
        <p:blipFill>
          <a:blip r:embed="rId2"/>
          <a:stretch>
            <a:fillRect/>
          </a:stretch>
        </p:blipFill>
        <p:spPr>
          <a:xfrm>
            <a:off x="6412687" y="1280160"/>
            <a:ext cx="5212080" cy="1915412"/>
          </a:xfrm>
          <a:prstGeom prst="rect">
            <a:avLst/>
          </a:prstGeom>
        </p:spPr>
      </p:pic>
      <p:sp>
        <p:nvSpPr>
          <p:cNvPr id="5" name="Figure caption"/>
          <p:cNvSpPr txBox="1"/>
          <p:nvPr/>
        </p:nvSpPr>
        <p:spPr>
          <a:xfrm>
            <a:off x="6412687" y="328701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1(A, B). Receptor sensitivities measured by intracellular electrophysiology.</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Serial color recognition remains a processing hypothesis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Color binning</a:t>
            </a:r>
            <a:r>
              <a:rPr sz="1600" b="0" i="0">
                <a:solidFill>
                  <a:srgbClr val="292725"/>
                </a:solidFill>
                <a:latin typeface="Arial"/>
              </a:rPr>
              <a:t> is the proposal that an activation pattern across discrete spectral channels identifies a color without fine analog comparisons between neighboring channels. Thoen and colleagues proposed that scanning the midband across an object could convert its spectrum into a temporal activation sequence.</a:t>
            </a:r>
          </a:p>
          <a:p>
            <a:pPr algn="l">
              <a:lnSpc>
                <a:spcPct val="108000"/>
              </a:lnSpc>
              <a:spcAft>
                <a:spcPts val="960"/>
              </a:spcAft>
            </a:pPr>
            <a:r>
              <a:rPr sz="1600" b="0" i="0">
                <a:solidFill>
                  <a:srgbClr val="292725"/>
                </a:solidFill>
                <a:latin typeface="Arial"/>
              </a:rPr>
              <a:t>Their approximately 12–25 nm behavioral thresholds were much coarser than predictions from a particular opponent model. The serial-recognition account was offered to explain that discrepancy; the study did not record a neuron decoding the proposed sequence.</a:t>
            </a:r>
          </a:p>
          <a:p>
            <a:pPr algn="l">
              <a:lnSpc>
                <a:spcPct val="108000"/>
              </a:lnSpc>
              <a:spcAft>
                <a:spcPts val="960"/>
              </a:spcAft>
            </a:pPr>
            <a:r>
              <a:rPr sz="1600" b="0" i="0">
                <a:solidFill>
                  <a:srgbClr val="292725"/>
                </a:solidFill>
                <a:latin typeface="Arial"/>
              </a:rPr>
              <a:t>Wang and Marshall's later color-versus-grey results support spectral comparison under restricted illumination. A hybrid of channel recognition and opponency can accommodate more than one computation, with the serial account assigning a role to receptor arrangement and scanning movements and the later results indicating that spectral comparison also operates.</a:t>
            </a:r>
          </a:p>
        </p:txBody>
      </p:sp>
      <p:pic>
        <p:nvPicPr>
          <p:cNvPr id="4" name="Picture 3" descr="t14_f4abcd.png"/>
          <p:cNvPicPr>
            <a:picLocks noChangeAspect="1"/>
          </p:cNvPicPr>
          <p:nvPr/>
        </p:nvPicPr>
        <p:blipFill>
          <a:blip r:embed="rId2"/>
          <a:stretch>
            <a:fillRect/>
          </a:stretch>
        </p:blipFill>
        <p:spPr>
          <a:xfrm>
            <a:off x="8127187" y="1280160"/>
            <a:ext cx="178308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4(A–D). The authors’ published proposal for spectral-channel recognition.</a:t>
            </a:r>
          </a:p>
        </p:txBody>
      </p:sp>
      <p:pic>
        <p:nvPicPr>
          <p:cNvPr id="6" name="Picture 5" descr="o25_f7.png"/>
          <p:cNvPicPr>
            <a:picLocks noChangeAspect="1"/>
          </p:cNvPicPr>
          <p:nvPr/>
        </p:nvPicPr>
        <p:blipFill>
          <a:blip r:embed="rId3"/>
          <a:stretch>
            <a:fillRect/>
          </a:stretch>
        </p:blipFill>
        <p:spPr>
          <a:xfrm>
            <a:off x="8184202" y="4251960"/>
            <a:ext cx="1669049"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7. Later color-versus-grey behavior under restricted illumination.</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 Wang &amp; Marshall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Two ultraviolet pigments support several receptor classes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Ultraviolet light</a:t>
            </a:r>
            <a:r>
              <a:rPr sz="1500" b="0" i="0">
                <a:solidFill>
                  <a:srgbClr val="292725"/>
                </a:solidFill>
                <a:latin typeface="Arial"/>
              </a:rPr>
              <a:t> has wavelengths below approximately 400 nm. Bok and colleagues investigated the several ultraviolet receptor classes of </a:t>
            </a:r>
            <a:r>
              <a:rPr sz="1500" b="0" i="1">
                <a:solidFill>
                  <a:srgbClr val="292725"/>
                </a:solidFill>
                <a:latin typeface="Arial"/>
              </a:rPr>
              <a:t>Neogonodactylus oerstedii</a:t>
            </a:r>
            <a:r>
              <a:rPr sz="1500" b="0" i="0">
                <a:solidFill>
                  <a:srgbClr val="292725"/>
                </a:solidFill>
                <a:latin typeface="Arial"/>
              </a:rPr>
              <a:t> using retinal transcript sequencing, pigment measurements and </a:t>
            </a:r>
            <a:r>
              <a:rPr sz="1500" b="1" i="0">
                <a:solidFill>
                  <a:srgbClr val="62564D"/>
                </a:solidFill>
                <a:latin typeface="Arial"/>
              </a:rPr>
              <a:t>in situ hybridization</a:t>
            </a:r>
            <a:r>
              <a:rPr sz="1500" b="0" i="0">
                <a:solidFill>
                  <a:srgbClr val="292725"/>
                </a:solidFill>
                <a:latin typeface="Arial"/>
              </a:rPr>
              <a:t>, which localizes particular RNA sequences in tissue.</a:t>
            </a:r>
          </a:p>
          <a:p>
            <a:pPr algn="l">
              <a:lnSpc>
                <a:spcPct val="108000"/>
              </a:lnSpc>
              <a:spcAft>
                <a:spcPts val="960"/>
              </a:spcAft>
            </a:pPr>
            <a:r>
              <a:rPr sz="1500" b="0" i="0">
                <a:solidFill>
                  <a:srgbClr val="292725"/>
                </a:solidFill>
                <a:latin typeface="Arial"/>
              </a:rPr>
              <a:t>The uv1 transcript occupied R8 cells in midband rows 2–6, while uv2 occupied row 1 and a complementary peripheral distribution. Microspectrophotometry measured corresponding pigment peaks near 334 and 383 nm. A third transcript did not establish a third functional pigment.</a:t>
            </a:r>
          </a:p>
          <a:p>
            <a:pPr algn="l">
              <a:lnSpc>
                <a:spcPct val="108000"/>
              </a:lnSpc>
              <a:spcAft>
                <a:spcPts val="960"/>
              </a:spcAft>
            </a:pPr>
            <a:r>
              <a:rPr sz="1500" b="0" i="0">
                <a:solidFill>
                  <a:srgbClr val="292725"/>
                </a:solidFill>
                <a:latin typeface="Arial"/>
              </a:rPr>
              <a:t>The two functional pigments were insufficient by themselves to explain the receptor-class diversity. Different filters acting on the same pigment supply additional tuning. Optical measurements of the overlying structures explain how the same pigment can receive differently filtered ultraviolet spectra, so neither the transcript number nor the pigment number equals the number of effective receptor sensitivities.</a:t>
            </a:r>
          </a:p>
        </p:txBody>
      </p:sp>
      <p:pic>
        <p:nvPicPr>
          <p:cNvPr id="4" name="Picture 3" descr="b14_f1ef.png"/>
          <p:cNvPicPr>
            <a:picLocks noChangeAspect="1"/>
          </p:cNvPicPr>
          <p:nvPr/>
        </p:nvPicPr>
        <p:blipFill>
          <a:blip r:embed="rId2"/>
          <a:stretch>
            <a:fillRect/>
          </a:stretch>
        </p:blipFill>
        <p:spPr>
          <a:xfrm>
            <a:off x="7493896" y="1280160"/>
            <a:ext cx="304966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1(E, F). Separate UV1 and UV2 transcript distributions in R8.</a:t>
            </a:r>
          </a:p>
        </p:txBody>
      </p:sp>
      <p:pic>
        <p:nvPicPr>
          <p:cNvPr id="6" name="Picture 5" descr="b14_f1gh.png"/>
          <p:cNvPicPr>
            <a:picLocks noChangeAspect="1"/>
          </p:cNvPicPr>
          <p:nvPr/>
        </p:nvPicPr>
        <p:blipFill>
          <a:blip r:embed="rId3"/>
          <a:stretch>
            <a:fillRect/>
          </a:stretch>
        </p:blipFill>
        <p:spPr>
          <a:xfrm>
            <a:off x="7107631" y="4251960"/>
            <a:ext cx="3822191"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1(G, H). Measured pigment peaks at 334 and 383 nm.</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Ultraviolet fluorescence locates crystalline-cone filters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292725"/>
                </a:solidFill>
                <a:latin typeface="Arial"/>
              </a:rPr>
              <a:t>The </a:t>
            </a:r>
            <a:r>
              <a:rPr sz="1500" b="1" i="0">
                <a:solidFill>
                  <a:srgbClr val="62564D"/>
                </a:solidFill>
                <a:latin typeface="Arial"/>
              </a:rPr>
              <a:t>crystalline cone</a:t>
            </a:r>
            <a:r>
              <a:rPr sz="1500" b="0" i="0">
                <a:solidFill>
                  <a:srgbClr val="292725"/>
                </a:solidFill>
                <a:latin typeface="Arial"/>
              </a:rPr>
              <a:t> is an optical structure between the cornea and the receptor rhabdom. Bok and colleagues illuminated </a:t>
            </a:r>
            <a:r>
              <a:rPr sz="1500" b="0" i="1">
                <a:solidFill>
                  <a:srgbClr val="292725"/>
                </a:solidFill>
                <a:latin typeface="Arial"/>
              </a:rPr>
              <a:t>Neogonodactylus oerstedii</a:t>
            </a:r>
            <a:r>
              <a:rPr sz="1500" b="0" i="0">
                <a:solidFill>
                  <a:srgbClr val="292725"/>
                </a:solidFill>
                <a:latin typeface="Arial"/>
              </a:rPr>
              <a:t> eyes with 375-nm light and observed native fluorescence concentrated in particular midband rows. </a:t>
            </a:r>
            <a:r>
              <a:rPr sz="1500" b="1" i="0">
                <a:solidFill>
                  <a:srgbClr val="62564D"/>
                </a:solidFill>
                <a:latin typeface="Arial"/>
              </a:rPr>
              <a:t>Fluorescence</a:t>
            </a:r>
            <a:r>
              <a:rPr sz="1500" b="0" i="0">
                <a:solidFill>
                  <a:srgbClr val="292725"/>
                </a:solidFill>
                <a:latin typeface="Arial"/>
              </a:rPr>
              <a:t> is emission following absorption of shorter-wavelength light.</a:t>
            </a:r>
          </a:p>
          <a:p>
            <a:pPr algn="l">
              <a:lnSpc>
                <a:spcPct val="108000"/>
              </a:lnSpc>
              <a:spcAft>
                <a:spcPts val="900"/>
              </a:spcAft>
            </a:pPr>
            <a:r>
              <a:rPr sz="1500" b="0" i="0">
                <a:solidFill>
                  <a:srgbClr val="292725"/>
                </a:solidFill>
                <a:latin typeface="Arial"/>
              </a:rPr>
              <a:t>Cross-sections localized the fluorescent material to the crystalline cones, directly in the path of light reaching R8. Microspectrophotometry then measured ultraviolet-absorbing pigments there. Peripheral cones and the cornea lacked comparable optically relevant ultraviolet absorption under the reported conditions.</a:t>
            </a:r>
          </a:p>
          <a:p>
            <a:pPr algn="l">
              <a:lnSpc>
                <a:spcPct val="108000"/>
              </a:lnSpc>
              <a:spcAft>
                <a:spcPts val="900"/>
              </a:spcAft>
            </a:pPr>
            <a:r>
              <a:rPr sz="1500" b="0" i="0">
                <a:solidFill>
                  <a:srgbClr val="292725"/>
                </a:solidFill>
                <a:latin typeface="Arial"/>
              </a:rPr>
              <a:t>Fluorescence provided a localization clue, and the absorption spectra and tissue position together support an optical-filter function: the cone sits in the path of light before it reaches R8, and the physiological consequence depends on the wavelengths absorbed and transmitted, not on the emitted color.</a:t>
            </a:r>
          </a:p>
        </p:txBody>
      </p:sp>
      <p:pic>
        <p:nvPicPr>
          <p:cNvPr id="4" name="Picture 3" descr="b14_f2abcd.png"/>
          <p:cNvPicPr>
            <a:picLocks noChangeAspect="1"/>
          </p:cNvPicPr>
          <p:nvPr/>
        </p:nvPicPr>
        <p:blipFill>
          <a:blip r:embed="rId2"/>
          <a:stretch>
            <a:fillRect/>
          </a:stretch>
        </p:blipFill>
        <p:spPr>
          <a:xfrm>
            <a:off x="6831828" y="1280160"/>
            <a:ext cx="4373796"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2(A–D). White-light view, UV fluorescence and cone-layer cross-sections.</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Cone filters shift ultraviolet sensitivity in both directions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450" b="0" i="0">
                <a:solidFill>
                  <a:srgbClr val="292725"/>
                </a:solidFill>
                <a:latin typeface="Arial"/>
              </a:rPr>
              <a:t>A </a:t>
            </a:r>
            <a:r>
              <a:rPr sz="1450" b="1" i="0">
                <a:solidFill>
                  <a:srgbClr val="62564D"/>
                </a:solidFill>
                <a:latin typeface="Arial"/>
              </a:rPr>
              <a:t>long-pass filter</a:t>
            </a:r>
            <a:r>
              <a:rPr sz="1450" b="0" i="0">
                <a:solidFill>
                  <a:srgbClr val="292725"/>
                </a:solidFill>
                <a:latin typeface="Arial"/>
              </a:rPr>
              <a:t> removes shorter wavelengths while transmitting longer ones; a </a:t>
            </a:r>
            <a:r>
              <a:rPr sz="1450" b="1" i="0">
                <a:solidFill>
                  <a:srgbClr val="62564D"/>
                </a:solidFill>
                <a:latin typeface="Arial"/>
              </a:rPr>
              <a:t>short-pass filter</a:t>
            </a:r>
            <a:r>
              <a:rPr sz="1450" b="0" i="0">
                <a:solidFill>
                  <a:srgbClr val="292725"/>
                </a:solidFill>
                <a:latin typeface="Arial"/>
              </a:rPr>
              <a:t> preferentially removes longer wavelengths. Bok and colleagues combined the measured cone-filter transmission with R8 pigment absorption in </a:t>
            </a:r>
            <a:r>
              <a:rPr sz="1450" b="0" i="1">
                <a:solidFill>
                  <a:srgbClr val="292725"/>
                </a:solidFill>
                <a:latin typeface="Arial"/>
              </a:rPr>
              <a:t>Neogonodactylus oerstedii</a:t>
            </a:r>
            <a:r>
              <a:rPr sz="1450" b="0" i="0">
                <a:solidFill>
                  <a:srgbClr val="292725"/>
                </a:solidFill>
                <a:latin typeface="Arial"/>
              </a:rPr>
              <a:t>.</a:t>
            </a:r>
          </a:p>
          <a:p>
            <a:pPr algn="l">
              <a:lnSpc>
                <a:spcPct val="108000"/>
              </a:lnSpc>
              <a:spcAft>
                <a:spcPts val="960"/>
              </a:spcAft>
            </a:pPr>
            <a:r>
              <a:rPr sz="1450" b="0" i="0">
                <a:solidFill>
                  <a:srgbClr val="292725"/>
                </a:solidFill>
                <a:latin typeface="Arial"/>
              </a:rPr>
              <a:t>Row 1 filtering reduced sensitivity below about 350 nm. Filters absorbing near 372 and 375 nm in rows 3 and 4 narrowed sensitivity toward shorter ultraviolet wavelengths. Two pigments in rows 5 and 6 produced a narrow transmitted band around a predicted receptor peak of 340 nm.</a:t>
            </a:r>
          </a:p>
          <a:p>
            <a:pPr algn="l">
              <a:lnSpc>
                <a:spcPct val="108000"/>
              </a:lnSpc>
              <a:spcAft>
                <a:spcPts val="960"/>
              </a:spcAft>
            </a:pPr>
            <a:r>
              <a:rPr sz="1450" b="0" i="0">
                <a:solidFill>
                  <a:srgbClr val="292725"/>
                </a:solidFill>
                <a:latin typeface="Arial"/>
              </a:rPr>
              <a:t>Most predictions agreed with earlier electrophysiology, but row 2 differed markedly. The authors proposed an earlier row-identification error because that recorded cell lacked histological confirmation. Combining two absorbing pigments can leave a narrow region of transmission, which differs from increasing the number of independently expressed opsins, and filtering can shift effective sensitivity toward either shorter or longer wavelengths depending on which photons are removed.</a:t>
            </a:r>
          </a:p>
        </p:txBody>
      </p:sp>
      <p:pic>
        <p:nvPicPr>
          <p:cNvPr id="4" name="Picture 3" descr="b14_f3c.png"/>
          <p:cNvPicPr>
            <a:picLocks noChangeAspect="1"/>
          </p:cNvPicPr>
          <p:nvPr/>
        </p:nvPicPr>
        <p:blipFill>
          <a:blip r:embed="rId2"/>
          <a:stretch>
            <a:fillRect/>
          </a:stretch>
        </p:blipFill>
        <p:spPr>
          <a:xfrm>
            <a:off x="6771408" y="1280160"/>
            <a:ext cx="2300078" cy="4297679"/>
          </a:xfrm>
          <a:prstGeom prst="rect">
            <a:avLst/>
          </a:prstGeom>
        </p:spPr>
      </p:pic>
      <p:sp>
        <p:nvSpPr>
          <p:cNvPr id="5" name="Figure caption"/>
          <p:cNvSpPr txBox="1"/>
          <p:nvPr/>
        </p:nvSpPr>
        <p:spPr>
          <a:xfrm>
            <a:off x="6412687" y="5669279"/>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3(C). Published predictions compared with measured receptor sensitivities.</a:t>
            </a:r>
          </a:p>
        </p:txBody>
      </p:sp>
      <p:pic>
        <p:nvPicPr>
          <p:cNvPr id="6" name="Picture 5" descr="b14_f2e.png"/>
          <p:cNvPicPr>
            <a:picLocks noChangeAspect="1"/>
          </p:cNvPicPr>
          <p:nvPr/>
        </p:nvPicPr>
        <p:blipFill>
          <a:blip r:embed="rId3"/>
          <a:stretch>
            <a:fillRect/>
          </a:stretch>
        </p:blipFill>
        <p:spPr>
          <a:xfrm>
            <a:off x="9613087" y="2148840"/>
            <a:ext cx="2011680" cy="932913"/>
          </a:xfrm>
          <a:prstGeom prst="rect">
            <a:avLst/>
          </a:prstGeom>
        </p:spPr>
      </p:pic>
      <p:sp>
        <p:nvSpPr>
          <p:cNvPr id="7" name="Figure caption"/>
          <p:cNvSpPr txBox="1"/>
          <p:nvPr/>
        </p:nvSpPr>
        <p:spPr>
          <a:xfrm>
            <a:off x="9613087" y="3154905"/>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2(E). Measured absorption and emission spectra of cone pigments.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Chemical analysis identifies sunscreen-derived filters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1" i="0">
                <a:solidFill>
                  <a:srgbClr val="62564D"/>
                </a:solidFill>
                <a:latin typeface="Arial"/>
              </a:rPr>
              <a:t>Mycosporine-like amino acids</a:t>
            </a:r>
            <a:r>
              <a:rPr sz="1450" b="0" i="0">
                <a:solidFill>
                  <a:srgbClr val="292725"/>
                </a:solidFill>
                <a:latin typeface="Arial"/>
              </a:rPr>
              <a:t> are small ultraviolet-absorbing compounds often associated with biological photoprotection. Bok and colleagues extracted cone pigments from </a:t>
            </a:r>
            <a:r>
              <a:rPr sz="1450" b="0" i="1">
                <a:solidFill>
                  <a:srgbClr val="292725"/>
                </a:solidFill>
                <a:latin typeface="Arial"/>
              </a:rPr>
              <a:t>Neogonodactylus oerstedii</a:t>
            </a:r>
            <a:r>
              <a:rPr sz="1450" b="0" i="0">
                <a:solidFill>
                  <a:srgbClr val="292725"/>
                </a:solidFill>
                <a:latin typeface="Arial"/>
              </a:rPr>
              <a:t> and used chromatography and mass spectrometry to separate them and examine their molecular properties.</a:t>
            </a:r>
          </a:p>
          <a:p>
            <a:pPr algn="l">
              <a:lnSpc>
                <a:spcPct val="108000"/>
              </a:lnSpc>
              <a:spcAft>
                <a:spcPts val="900"/>
              </a:spcAft>
            </a:pPr>
            <a:r>
              <a:rPr sz="1450" b="0" i="0">
                <a:solidFill>
                  <a:srgbClr val="292725"/>
                </a:solidFill>
                <a:latin typeface="Arial"/>
              </a:rPr>
              <a:t>The extracts contained several ultraviolet-absorbing peaks. Two matched the compounds porphyra-334 and mycosporine-gly, consistent with filter absorption near 334 and 308 nm. Other pigments resembled members of the same chemical family, but their complete structures were unresolved.</a:t>
            </a:r>
          </a:p>
          <a:p>
            <a:pPr algn="l">
              <a:lnSpc>
                <a:spcPct val="108000"/>
              </a:lnSpc>
              <a:spcAft>
                <a:spcPts val="900"/>
              </a:spcAft>
            </a:pPr>
            <a:r>
              <a:rPr sz="1450" b="0" i="0">
                <a:solidFill>
                  <a:srgbClr val="292725"/>
                </a:solidFill>
                <a:latin typeface="Arial"/>
              </a:rPr>
              <a:t>Molecules associated with sunscreen protection can thus contribute to spectral tuning when positioned before a receptor. Two named compounds, porphyra-334 and mycosporine-gly, have a stronger identification than the additional proposed members of the family, and their different absorption spectra can alter which ultraviolet wavelengths reach R8; a compound with a known protective role can acquire a sensory role in another location.</a:t>
            </a:r>
          </a:p>
        </p:txBody>
      </p:sp>
      <p:pic>
        <p:nvPicPr>
          <p:cNvPr id="4" name="Picture 3" descr="b14_f4ab.png"/>
          <p:cNvPicPr>
            <a:picLocks noChangeAspect="1"/>
          </p:cNvPicPr>
          <p:nvPr/>
        </p:nvPicPr>
        <p:blipFill>
          <a:blip r:embed="rId2"/>
          <a:stretch>
            <a:fillRect/>
          </a:stretch>
        </p:blipFill>
        <p:spPr>
          <a:xfrm>
            <a:off x="6880394" y="1280160"/>
            <a:ext cx="4276664"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4(A, B). Chromatographic peaks and absorption spectra of extracted UV pigments.</a:t>
            </a:r>
          </a:p>
        </p:txBody>
      </p:sp>
      <p:pic>
        <p:nvPicPr>
          <p:cNvPr id="6" name="Picture 5" descr="b14_f2abcd.png"/>
          <p:cNvPicPr>
            <a:picLocks noChangeAspect="1"/>
          </p:cNvPicPr>
          <p:nvPr/>
        </p:nvPicPr>
        <p:blipFill>
          <a:blip r:embed="rId3"/>
          <a:stretch>
            <a:fillRect/>
          </a:stretch>
        </p:blipFill>
        <p:spPr>
          <a:xfrm>
            <a:off x="8250986" y="4251960"/>
            <a:ext cx="1535481"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2(A–D). The cone structures containing the measured pigments.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UV choices depend on wavelength beyond brightness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Bok and colleagues trained </a:t>
            </a:r>
            <a:r>
              <a:rPr sz="1500" b="0" i="1">
                <a:solidFill>
                  <a:srgbClr val="292725"/>
                </a:solidFill>
                <a:latin typeface="Arial"/>
              </a:rPr>
              <a:t>Haptosquilla trispinosa</a:t>
            </a:r>
            <a:r>
              <a:rPr sz="1500" b="0" i="0">
                <a:solidFill>
                  <a:srgbClr val="292725"/>
                </a:solidFill>
                <a:latin typeface="Arial"/>
              </a:rPr>
              <a:t> to choose ultraviolet targets delivered through optical fibers. LEDs peaked at 378.3 nm, 351.1 nm or 314.3 nm, spanning long- and short-wavelength portions of the ultraviolet range. Target positions varied, and relative brightness was changed across tests.</a:t>
            </a:r>
          </a:p>
          <a:p>
            <a:pPr algn="l">
              <a:lnSpc>
                <a:spcPct val="108000"/>
              </a:lnSpc>
              <a:spcAft>
                <a:spcPts val="960"/>
              </a:spcAft>
            </a:pPr>
            <a:r>
              <a:rPr sz="1500" b="0" i="0">
                <a:solidFill>
                  <a:srgbClr val="292725"/>
                </a:solidFill>
                <a:latin typeface="Arial"/>
              </a:rPr>
              <a:t>Animals trained to the 378.3-nm target selected it over the 314.3-nm target in about 90% of choices. They also distinguished 378.3 from 351.1 nm, a separation of 27.2 nm. Identical-target tests did not produce a consistent side preference.</a:t>
            </a:r>
          </a:p>
          <a:p>
            <a:pPr algn="l">
              <a:lnSpc>
                <a:spcPct val="108000"/>
              </a:lnSpc>
              <a:spcAft>
                <a:spcPts val="960"/>
              </a:spcAft>
            </a:pPr>
            <a:r>
              <a:rPr sz="1500" b="0" i="0">
                <a:solidFill>
                  <a:srgbClr val="292725"/>
                </a:solidFill>
                <a:latin typeface="Arial"/>
              </a:rPr>
              <a:t>Wavelength-dependent choices persisted despite the brightness manipulations, supporting ultraviolet spectral discrimination. The two comparisons test different separations, since 378.3 versus 314.3 nm spans the UVA-to-UVB range whereas 378.3 versus 351.1 nm stays within UVA, and learning performance depended on which stimulus was rewarded, with training to the short-wavelength ultraviolet target much less successful.</a:t>
            </a:r>
          </a:p>
        </p:txBody>
      </p:sp>
      <p:pic>
        <p:nvPicPr>
          <p:cNvPr id="4" name="Picture 3" descr="u18_f1ef.png"/>
          <p:cNvPicPr>
            <a:picLocks noChangeAspect="1"/>
          </p:cNvPicPr>
          <p:nvPr/>
        </p:nvPicPr>
        <p:blipFill>
          <a:blip r:embed="rId2"/>
          <a:stretch>
            <a:fillRect/>
          </a:stretch>
        </p:blipFill>
        <p:spPr>
          <a:xfrm>
            <a:off x="6412687" y="1280160"/>
            <a:ext cx="5212080" cy="1597366"/>
          </a:xfrm>
          <a:prstGeom prst="rect">
            <a:avLst/>
          </a:prstGeom>
        </p:spPr>
      </p:pic>
      <p:sp>
        <p:nvSpPr>
          <p:cNvPr id="5" name="Figure caption"/>
          <p:cNvSpPr txBox="1"/>
          <p:nvPr/>
        </p:nvSpPr>
        <p:spPr>
          <a:xfrm>
            <a:off x="6412687" y="2968966"/>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(2018), Fig. 1(e, f). Original trained-choice apparatus, LED spectra and responses.</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Burrow choice separates detection from approach</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0" i="0">
                <a:solidFill>
                  <a:srgbClr val="292725"/>
                </a:solidFill>
                <a:latin typeface="Arial"/>
              </a:rPr>
              <a:t>An </a:t>
            </a:r>
            <a:r>
              <a:rPr sz="1450" b="1" i="0">
                <a:solidFill>
                  <a:srgbClr val="62564D"/>
                </a:solidFill>
                <a:latin typeface="Arial"/>
              </a:rPr>
              <a:t>innate preference assay</a:t>
            </a:r>
            <a:r>
              <a:rPr sz="1450" b="0" i="0">
                <a:solidFill>
                  <a:srgbClr val="292725"/>
                </a:solidFill>
                <a:latin typeface="Arial"/>
              </a:rPr>
              <a:t> measures an untrained choice rather than a response acquired through reward. Bok and colleagues offered </a:t>
            </a:r>
            <a:r>
              <a:rPr sz="1450" b="0" i="1">
                <a:solidFill>
                  <a:srgbClr val="292725"/>
                </a:solidFill>
                <a:latin typeface="Arial"/>
              </a:rPr>
              <a:t>Haptosquilla trispinosa</a:t>
            </a:r>
            <a:r>
              <a:rPr sz="1450" b="0" i="0">
                <a:solidFill>
                  <a:srgbClr val="292725"/>
                </a:solidFill>
                <a:latin typeface="Arial"/>
              </a:rPr>
              <a:t> two artificial burrows with dark or ultraviolet-illuminated entrances and measured which burrow the animal entered.</a:t>
            </a:r>
          </a:p>
          <a:p>
            <a:pPr algn="l">
              <a:lnSpc>
                <a:spcPct val="108000"/>
              </a:lnSpc>
              <a:spcAft>
                <a:spcPts val="900"/>
              </a:spcAft>
            </a:pPr>
            <a:r>
              <a:rPr sz="1450" b="0" i="0">
                <a:solidFill>
                  <a:srgbClr val="292725"/>
                </a:solidFill>
                <a:latin typeface="Arial"/>
              </a:rPr>
              <a:t>Dark burrows were selected over ultraviolet-illuminated burrows in roughly three-quarters or more of choices. When the alternatives were brightness-matched UVA and UVB burrows, the animals did not show a clear preference for one wavelength. Dark-versus-dark trials controlled for side preference.</a:t>
            </a:r>
          </a:p>
          <a:p>
            <a:pPr algn="l">
              <a:lnSpc>
                <a:spcPct val="108000"/>
              </a:lnSpc>
              <a:spcAft>
                <a:spcPts val="900"/>
              </a:spcAft>
            </a:pPr>
            <a:r>
              <a:rPr sz="1450" b="0" i="0">
                <a:solidFill>
                  <a:srgbClr val="292725"/>
                </a:solidFill>
                <a:latin typeface="Arial"/>
              </a:rPr>
              <a:t>Trained approach and untrained shelter selection therefore have different outcomes. Reduced participation, especially with UVB present, further separates willingness to respond from discrimination accuracy. The same detectable stimulus can support a trained choice while being avoided in an untrained shelter task, and the dark-versus-ultraviolet comparison identifies avoidance of illumination, whereas the brightness-matched UVA-versus-UVB comparison asks whether one illuminated shelter is preferred.</a:t>
            </a:r>
          </a:p>
        </p:txBody>
      </p:sp>
      <p:pic>
        <p:nvPicPr>
          <p:cNvPr id="4" name="Picture 3" descr="u18_f1gh.png"/>
          <p:cNvPicPr>
            <a:picLocks noChangeAspect="1"/>
          </p:cNvPicPr>
          <p:nvPr/>
        </p:nvPicPr>
        <p:blipFill>
          <a:blip r:embed="rId2"/>
          <a:stretch>
            <a:fillRect/>
          </a:stretch>
        </p:blipFill>
        <p:spPr>
          <a:xfrm>
            <a:off x="6412687" y="1280160"/>
            <a:ext cx="5212080" cy="1669157"/>
          </a:xfrm>
          <a:prstGeom prst="rect">
            <a:avLst/>
          </a:prstGeom>
        </p:spPr>
      </p:pic>
      <p:sp>
        <p:nvSpPr>
          <p:cNvPr id="5" name="Figure caption"/>
          <p:cNvSpPr txBox="1"/>
          <p:nvPr/>
        </p:nvSpPr>
        <p:spPr>
          <a:xfrm>
            <a:off x="6412687" y="304075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(2018), Fig. 1(g, h). Original innate burrow-choice apparatus and behavioral responses.</a:t>
            </a:r>
          </a:p>
        </p:txBody>
      </p:sp>
      <p:pic>
        <p:nvPicPr>
          <p:cNvPr id="6" name="Picture 5" descr="u18_f2ab.png"/>
          <p:cNvPicPr>
            <a:picLocks noChangeAspect="1"/>
          </p:cNvPicPr>
          <p:nvPr/>
        </p:nvPicPr>
        <p:blipFill>
          <a:blip r:embed="rId3"/>
          <a:stretch>
            <a:fillRect/>
          </a:stretch>
        </p:blipFill>
        <p:spPr>
          <a:xfrm>
            <a:off x="7659200" y="4251960"/>
            <a:ext cx="271905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(2018), Fig. 2(a, b). Correct choices and participation differ across stimulus conditions.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Linear polarization adds information beyond wavelength</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Polarization</a:t>
            </a:r>
            <a:r>
              <a:rPr sz="1600" b="0" i="0">
                <a:solidFill>
                  <a:srgbClr val="292725"/>
                </a:solidFill>
                <a:latin typeface="Arial"/>
              </a:rPr>
              <a:t> describes the organization of a light wave's electric-field oscillation. In </a:t>
            </a:r>
            <a:r>
              <a:rPr sz="1600" b="1" i="0">
                <a:solidFill>
                  <a:srgbClr val="62564D"/>
                </a:solidFill>
                <a:latin typeface="Arial"/>
              </a:rPr>
              <a:t>linearly polarized light</a:t>
            </a:r>
            <a:r>
              <a:rPr sz="1600" b="0" i="0">
                <a:solidFill>
                  <a:srgbClr val="292725"/>
                </a:solidFill>
                <a:latin typeface="Arial"/>
              </a:rPr>
              <a:t>, the electric vector oscillates along one orientation. Two lights can share a wavelength spectrum and intensity while differing in polarization orientation.</a:t>
            </a:r>
          </a:p>
          <a:p>
            <a:pPr algn="l">
              <a:lnSpc>
                <a:spcPct val="108000"/>
              </a:lnSpc>
              <a:spcAft>
                <a:spcPts val="960"/>
              </a:spcAft>
            </a:pPr>
            <a:r>
              <a:rPr sz="1600" b="0" i="0">
                <a:solidFill>
                  <a:srgbClr val="292725"/>
                </a:solidFill>
                <a:latin typeface="Arial"/>
              </a:rPr>
              <a:t>Stomatopod photoreceptors contain ordered </a:t>
            </a:r>
            <a:r>
              <a:rPr sz="1600" b="1" i="0">
                <a:solidFill>
                  <a:srgbClr val="62564D"/>
                </a:solidFill>
                <a:latin typeface="Arial"/>
              </a:rPr>
              <a:t>microvilli</a:t>
            </a:r>
            <a:r>
              <a:rPr sz="1600" b="0" i="0">
                <a:solidFill>
                  <a:srgbClr val="292725"/>
                </a:solidFill>
                <a:latin typeface="Arial"/>
              </a:rPr>
              <a:t>, tiny membrane projections that organize the light-sensitive pigment. Their response depends on the angle between the electric vector and the microvillar axes. Daly and colleagues related this geometry to measured eye movements in polarized stimulus fields.</a:t>
            </a:r>
          </a:p>
          <a:p>
            <a:pPr algn="l">
              <a:lnSpc>
                <a:spcPct val="108000"/>
              </a:lnSpc>
              <a:spcAft>
                <a:spcPts val="960"/>
              </a:spcAft>
            </a:pPr>
            <a:r>
              <a:rPr sz="1600" b="0" i="0">
                <a:solidFill>
                  <a:srgbClr val="292725"/>
                </a:solidFill>
                <a:latin typeface="Arial"/>
              </a:rPr>
              <a:t>Polarization sensing is therefore distinct from spectral discrimination. Aligned microvillar membranes provide a directional organization for photon absorption, so a receptor can respond differently when the polarizer rotates even though the stimulus keeps the same wavelengths.</a:t>
            </a:r>
          </a:p>
        </p:txBody>
      </p:sp>
      <p:pic>
        <p:nvPicPr>
          <p:cNvPr id="4" name="Picture 3" descr="d16_f2abcdef.png"/>
          <p:cNvPicPr>
            <a:picLocks noChangeAspect="1"/>
          </p:cNvPicPr>
          <p:nvPr/>
        </p:nvPicPr>
        <p:blipFill>
          <a:blip r:embed="rId2"/>
          <a:stretch>
            <a:fillRect/>
          </a:stretch>
        </p:blipFill>
        <p:spPr>
          <a:xfrm>
            <a:off x="6566492" y="1280160"/>
            <a:ext cx="4904470"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2(a–f). The authors’ published receptor geometry for linear-polarization sampling.</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et al. (2008); Kleinlogel &amp; White (2008); Daly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Microvillar orientation determines linear-polarization tuning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Polarization tuning</a:t>
            </a:r>
            <a:r>
              <a:rPr sz="1500" b="0" i="0">
                <a:solidFill>
                  <a:srgbClr val="292725"/>
                </a:solidFill>
                <a:latin typeface="Arial"/>
              </a:rPr>
              <a:t> is a response dependence on the electric-vector orientation of the stimulus. Kleinlogel and White recorded identified </a:t>
            </a:r>
            <a:r>
              <a:rPr sz="1500" b="0" i="1">
                <a:solidFill>
                  <a:srgbClr val="292725"/>
                </a:solidFill>
                <a:latin typeface="Arial"/>
              </a:rPr>
              <a:t>Gonodactylus smithii</a:t>
            </a:r>
            <a:r>
              <a:rPr sz="1500" b="0" i="0">
                <a:solidFill>
                  <a:srgbClr val="292725"/>
                </a:solidFill>
                <a:latin typeface="Arial"/>
              </a:rPr>
              <a:t> photoreceptors while rotating a linear polarizer in 10° steps. The recorded peaks followed the cells' microvillar orientation.</a:t>
            </a:r>
          </a:p>
          <a:p>
            <a:pPr algn="l">
              <a:lnSpc>
                <a:spcPct val="108000"/>
              </a:lnSpc>
              <a:spcAft>
                <a:spcPts val="960"/>
              </a:spcAft>
            </a:pPr>
            <a:r>
              <a:rPr sz="1500" b="0" i="0">
                <a:solidFill>
                  <a:srgbClr val="292725"/>
                </a:solidFill>
                <a:latin typeface="Arial"/>
              </a:rPr>
              <a:t>Representative dorsal and ventral R1 cells reached their largest responses at approximately 60° and 105° in the experiment's coordinates, a separation of 45°. Within an ommatidium, the complementary receptor group has an approximately orthogonal preferred axis.</a:t>
            </a:r>
          </a:p>
          <a:p>
            <a:pPr algn="l">
              <a:lnSpc>
                <a:spcPct val="108000"/>
              </a:lnSpc>
              <a:spcAft>
                <a:spcPts val="960"/>
              </a:spcAft>
            </a:pPr>
            <a:r>
              <a:rPr sz="1500" b="0" i="0">
                <a:solidFill>
                  <a:srgbClr val="292725"/>
                </a:solidFill>
                <a:latin typeface="Arial"/>
              </a:rPr>
              <a:t>The tuning curves establish directional receptor sensitivity under controlled stimulation. The dorsal and ventral examples differ by 45°, which provides offset sampling axes across the eye, and the complementary receptors within each unit add a 90° separation. A cell still responds at its unfavorable orientation because selectivity is finite, and the plotted angles are in the coordinates of the eye and apparatus.</a:t>
            </a:r>
          </a:p>
        </p:txBody>
      </p:sp>
      <p:pic>
        <p:nvPicPr>
          <p:cNvPr id="4" name="Picture 3" descr="kw08_f4cd.png"/>
          <p:cNvPicPr>
            <a:picLocks noChangeAspect="1"/>
          </p:cNvPicPr>
          <p:nvPr/>
        </p:nvPicPr>
        <p:blipFill>
          <a:blip r:embed="rId2"/>
          <a:stretch>
            <a:fillRect/>
          </a:stretch>
        </p:blipFill>
        <p:spPr>
          <a:xfrm>
            <a:off x="6412687" y="1280160"/>
            <a:ext cx="5212080" cy="1552610"/>
          </a:xfrm>
          <a:prstGeom prst="rect">
            <a:avLst/>
          </a:prstGeom>
        </p:spPr>
      </p:pic>
      <p:sp>
        <p:nvSpPr>
          <p:cNvPr id="5" name="Figure caption"/>
          <p:cNvSpPr txBox="1"/>
          <p:nvPr/>
        </p:nvSpPr>
        <p:spPr>
          <a:xfrm>
            <a:off x="6412687" y="292421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4(C, D). Dorsal and ventral receptor voltage as the polarizer angle changes.</a:t>
            </a:r>
          </a:p>
        </p:txBody>
      </p:sp>
      <p:pic>
        <p:nvPicPr>
          <p:cNvPr id="6" name="Picture 5" descr="d16_f2abcdef.png"/>
          <p:cNvPicPr>
            <a:picLocks noChangeAspect="1"/>
          </p:cNvPicPr>
          <p:nvPr/>
        </p:nvPicPr>
        <p:blipFill>
          <a:blip r:embed="rId3"/>
          <a:stretch>
            <a:fillRect/>
          </a:stretch>
        </p:blipFill>
        <p:spPr>
          <a:xfrm>
            <a:off x="8157836" y="4251960"/>
            <a:ext cx="172178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2(a–f). Original geometry of alternating microvillar directions.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Kleinlogel &amp; White (2008); Daly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Brief flashes link polarization state to receptor voltage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A </a:t>
            </a:r>
            <a:r>
              <a:rPr sz="1500" b="1" i="0">
                <a:solidFill>
                  <a:srgbClr val="62564D"/>
                </a:solidFill>
                <a:latin typeface="Arial"/>
              </a:rPr>
              <a:t>receptor potential</a:t>
            </a:r>
            <a:r>
              <a:rPr sz="1500" b="0" i="0">
                <a:solidFill>
                  <a:srgbClr val="292725"/>
                </a:solidFill>
                <a:latin typeface="Arial"/>
              </a:rPr>
              <a:t> is a stimulus-dependent change in photoreceptor membrane voltage. Kleinlogel and White delivered 50-ms polarized flashes while a sharp electrode recorded </a:t>
            </a:r>
            <a:r>
              <a:rPr sz="1500" b="0" i="1">
                <a:solidFill>
                  <a:srgbClr val="292725"/>
                </a:solidFill>
                <a:latin typeface="Arial"/>
              </a:rPr>
              <a:t>Gonodactylus smithii</a:t>
            </a:r>
            <a:r>
              <a:rPr sz="1500" b="0" i="0">
                <a:solidFill>
                  <a:srgbClr val="292725"/>
                </a:solidFill>
                <a:latin typeface="Arial"/>
              </a:rPr>
              <a:t> cells. Linear and circular polarizing elements controlled the incident polarization.</a:t>
            </a:r>
          </a:p>
          <a:p>
            <a:pPr algn="l">
              <a:lnSpc>
                <a:spcPct val="108000"/>
              </a:lnSpc>
              <a:spcAft>
                <a:spcPts val="960"/>
              </a:spcAft>
            </a:pPr>
            <a:r>
              <a:rPr sz="1500" b="0" i="0">
                <a:solidFill>
                  <a:srgbClr val="292725"/>
                </a:solidFill>
                <a:latin typeface="Arial"/>
              </a:rPr>
              <a:t>A midband row-5 receptor produced different voltage responses to left- and right-circularly polarized flashes. Peak responses were used for intensity-response measurements. Histological identification after dye injection linked physiological responses to particular retinal cells.</a:t>
            </a:r>
          </a:p>
          <a:p>
            <a:pPr algn="l">
              <a:lnSpc>
                <a:spcPct val="108000"/>
              </a:lnSpc>
              <a:spcAft>
                <a:spcPts val="960"/>
              </a:spcAft>
            </a:pPr>
            <a:r>
              <a:rPr sz="1500" b="0" i="0">
                <a:solidFill>
                  <a:srgbClr val="292725"/>
                </a:solidFill>
                <a:latin typeface="Arial"/>
              </a:rPr>
              <a:t>The voltage difference establishes receptor-level sensitivity to circular polarization. The incident light is transformed by the overlying R8 structure before reaching the main rhabdom, so a sensitivity to circular incident light can arise from optical conversion followed by ordinary linear-polarization-sensitive absorption, and the measured response belongs to the combined optical and receptor system.</a:t>
            </a:r>
          </a:p>
        </p:txBody>
      </p:sp>
      <p:pic>
        <p:nvPicPr>
          <p:cNvPr id="4" name="Picture 3" descr="kw08_f4b.png"/>
          <p:cNvPicPr>
            <a:picLocks noChangeAspect="1"/>
          </p:cNvPicPr>
          <p:nvPr/>
        </p:nvPicPr>
        <p:blipFill>
          <a:blip r:embed="rId2"/>
          <a:stretch>
            <a:fillRect/>
          </a:stretch>
        </p:blipFill>
        <p:spPr>
          <a:xfrm>
            <a:off x="6870389" y="1280160"/>
            <a:ext cx="4296676"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4(B). Different voltage responses to opposite circular states after 50-ms flashes.</a:t>
            </a:r>
          </a:p>
        </p:txBody>
      </p:sp>
      <p:pic>
        <p:nvPicPr>
          <p:cNvPr id="6" name="Picture 5" descr="c08_f2abc.png"/>
          <p:cNvPicPr>
            <a:picLocks noChangeAspect="1"/>
          </p:cNvPicPr>
          <p:nvPr/>
        </p:nvPicPr>
        <p:blipFill>
          <a:blip r:embed="rId3"/>
          <a:stretch>
            <a:fillRect/>
          </a:stretch>
        </p:blipFill>
        <p:spPr>
          <a:xfrm>
            <a:off x="8517589" y="4251960"/>
            <a:ext cx="1002276"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2(A–C). Original anatomy of the overlying R8 and R1–R7 system.</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Kleinlogel &amp; White (2008); Chiou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Intensity curves separate gain from polarization preference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1" i="0">
                <a:solidFill>
                  <a:srgbClr val="62564D"/>
                </a:solidFill>
                <a:latin typeface="Arial"/>
              </a:rPr>
              <a:t>Polarization sensitivity</a:t>
            </a:r>
            <a:r>
              <a:rPr sz="1450" b="0" i="0">
                <a:solidFill>
                  <a:srgbClr val="292725"/>
                </a:solidFill>
                <a:latin typeface="Arial"/>
              </a:rPr>
              <a:t> can be estimated by comparing the light intensities needed for equal voltage responses under preferred and unfavorable polarization states. Kleinlogel and White measured intensity-response functions in </a:t>
            </a:r>
            <a:r>
              <a:rPr sz="1450" b="0" i="1">
                <a:solidFill>
                  <a:srgbClr val="292725"/>
                </a:solidFill>
                <a:latin typeface="Arial"/>
              </a:rPr>
              <a:t>Gonodactylus smithii</a:t>
            </a:r>
            <a:r>
              <a:rPr sz="1450" b="0" i="0">
                <a:solidFill>
                  <a:srgbClr val="292725"/>
                </a:solidFill>
                <a:latin typeface="Arial"/>
              </a:rPr>
              <a:t>, rather than using one response at a single intensity.</a:t>
            </a:r>
          </a:p>
          <a:p>
            <a:pPr algn="l">
              <a:lnSpc>
                <a:spcPct val="108000"/>
              </a:lnSpc>
              <a:spcAft>
                <a:spcPts val="900"/>
              </a:spcAft>
            </a:pPr>
            <a:r>
              <a:rPr sz="1450" b="0" i="0">
                <a:solidFill>
                  <a:srgbClr val="292725"/>
                </a:solidFill>
                <a:latin typeface="Arial"/>
              </a:rPr>
              <a:t>Hemispheric receptors required about an order-of-magnitude intensity difference between favorable and orthogonal linear orientations to produce comparable responses. Midband rows 5 and 6 similarly distinguished opposite circular states. Their linear-polarization intensity-response curves were nearly coincident under the tested conditions.</a:t>
            </a:r>
          </a:p>
          <a:p>
            <a:pPr algn="l">
              <a:lnSpc>
                <a:spcPct val="108000"/>
              </a:lnSpc>
              <a:spcAft>
                <a:spcPts val="900"/>
              </a:spcAft>
            </a:pPr>
            <a:r>
              <a:rPr sz="1450" b="0" i="0">
                <a:solidFill>
                  <a:srgbClr val="292725"/>
                </a:solidFill>
                <a:latin typeface="Arial"/>
              </a:rPr>
              <a:t>A shifted curve reflects differential sensitivity, whereas increasing voltage within either curve reflects intensity dependence. These measurements constrain the inputs available for neural comparison. A sensitivity difference appears as a horizontal displacement between intensity-response functions, and when two functions coincide the tested states require similar intensities for the same response, as for the linear states in rows 5 and 6.</a:t>
            </a:r>
          </a:p>
        </p:txBody>
      </p:sp>
      <p:pic>
        <p:nvPicPr>
          <p:cNvPr id="4" name="Picture 3" descr="kw08_f4ef.png"/>
          <p:cNvPicPr>
            <a:picLocks noChangeAspect="1"/>
          </p:cNvPicPr>
          <p:nvPr/>
        </p:nvPicPr>
        <p:blipFill>
          <a:blip r:embed="rId2"/>
          <a:stretch>
            <a:fillRect/>
          </a:stretch>
        </p:blipFill>
        <p:spPr>
          <a:xfrm>
            <a:off x="6412687" y="1280160"/>
            <a:ext cx="5212080" cy="1613348"/>
          </a:xfrm>
          <a:prstGeom prst="rect">
            <a:avLst/>
          </a:prstGeom>
        </p:spPr>
      </p:pic>
      <p:sp>
        <p:nvSpPr>
          <p:cNvPr id="5" name="Figure caption"/>
          <p:cNvSpPr txBox="1"/>
          <p:nvPr/>
        </p:nvSpPr>
        <p:spPr>
          <a:xfrm>
            <a:off x="6412687" y="298494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4(E, F). Intensity-response functions for preferred and orthogonal linear states.</a:t>
            </a:r>
          </a:p>
        </p:txBody>
      </p:sp>
      <p:pic>
        <p:nvPicPr>
          <p:cNvPr id="6" name="Picture 5" descr="kw08_f4gh.png"/>
          <p:cNvPicPr>
            <a:picLocks noChangeAspect="1"/>
          </p:cNvPicPr>
          <p:nvPr/>
        </p:nvPicPr>
        <p:blipFill>
          <a:blip r:embed="rId3"/>
          <a:stretch>
            <a:fillRect/>
          </a:stretch>
        </p:blipFill>
        <p:spPr>
          <a:xfrm>
            <a:off x="6470288" y="4251960"/>
            <a:ext cx="5096878"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4(G, H). Circular-state preference and weak residual linear preference in midband cells.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Kleinlogel &amp; White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Circular handedness can alter cuticular visual signals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In </a:t>
            </a:r>
            <a:r>
              <a:rPr sz="1600" b="1" i="0">
                <a:solidFill>
                  <a:srgbClr val="62564D"/>
                </a:solidFill>
                <a:latin typeface="Arial"/>
              </a:rPr>
              <a:t>circularly polarized light</a:t>
            </a:r>
            <a:r>
              <a:rPr sz="1600" b="0" i="0">
                <a:solidFill>
                  <a:srgbClr val="292725"/>
                </a:solidFill>
                <a:latin typeface="Arial"/>
              </a:rPr>
              <a:t>, the electric-vector orientation rotates as the wave propagates. Opposite rotations define the two handedness states. Their distinction depends on a specified viewing convention; it is different from changing the angle of a linearly polarized stimulus.</a:t>
            </a:r>
          </a:p>
          <a:p>
            <a:pPr algn="l">
              <a:lnSpc>
                <a:spcPct val="108000"/>
              </a:lnSpc>
              <a:spcAft>
                <a:spcPts val="960"/>
              </a:spcAft>
            </a:pPr>
            <a:r>
              <a:rPr sz="1600" b="0" i="0">
                <a:solidFill>
                  <a:srgbClr val="292725"/>
                </a:solidFill>
                <a:latin typeface="Arial"/>
              </a:rPr>
              <a:t>Chiou and colleagues photographed male </a:t>
            </a:r>
            <a:r>
              <a:rPr sz="1600" b="0" i="1">
                <a:solidFill>
                  <a:srgbClr val="292725"/>
                </a:solidFill>
                <a:latin typeface="Arial"/>
              </a:rPr>
              <a:t>Odontodactylus</a:t>
            </a:r>
            <a:r>
              <a:rPr sz="1600" b="0" i="0">
                <a:solidFill>
                  <a:srgbClr val="292725"/>
                </a:solidFill>
                <a:latin typeface="Arial"/>
              </a:rPr>
              <a:t> cuticle through opposite circular-polarization analyzers. A telson region changed strongly in apparent contrast between the two analyzer states. The telson is the posterior body plate, often presented during stomatopod displays.</a:t>
            </a:r>
          </a:p>
          <a:p>
            <a:pPr algn="l">
              <a:lnSpc>
                <a:spcPct val="108000"/>
              </a:lnSpc>
              <a:spcAft>
                <a:spcPts val="960"/>
              </a:spcAft>
            </a:pPr>
            <a:r>
              <a:rPr sz="1600" b="0" i="0">
                <a:solidFill>
                  <a:srgbClr val="292725"/>
                </a:solidFill>
                <a:latin typeface="Arial"/>
              </a:rPr>
              <a:t>This optical measurement identifies a potential circular-polarization signal on the animal. The telson is the same biological region under the two analyzing conditions, so its changing appearance reflects the state-dependent contrast of the reflected light instead of a pigment changing color between exposures.</a:t>
            </a:r>
          </a:p>
        </p:txBody>
      </p:sp>
      <p:pic>
        <p:nvPicPr>
          <p:cNvPr id="4" name="Picture 3" descr="c08_f1bc.png"/>
          <p:cNvPicPr>
            <a:picLocks noChangeAspect="1"/>
          </p:cNvPicPr>
          <p:nvPr/>
        </p:nvPicPr>
        <p:blipFill>
          <a:blip r:embed="rId2"/>
          <a:stretch>
            <a:fillRect/>
          </a:stretch>
        </p:blipFill>
        <p:spPr>
          <a:xfrm>
            <a:off x="6412687" y="1280160"/>
            <a:ext cx="5212080" cy="1652737"/>
          </a:xfrm>
          <a:prstGeom prst="rect">
            <a:avLst/>
          </a:prstGeom>
        </p:spPr>
      </p:pic>
      <p:sp>
        <p:nvSpPr>
          <p:cNvPr id="5" name="Figure caption"/>
          <p:cNvSpPr txBox="1"/>
          <p:nvPr/>
        </p:nvSpPr>
        <p:spPr>
          <a:xfrm>
            <a:off x="6412687" y="302433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1(B, C). The same male telson region viewed through opposite circular analyzers.</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et al. (2008)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Rewarded choices establish circular-state discrimination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Operant conditioning</a:t>
            </a:r>
            <a:r>
              <a:rPr sz="1600" b="0" i="0">
                <a:solidFill>
                  <a:srgbClr val="292725"/>
                </a:solidFill>
                <a:latin typeface="Arial"/>
              </a:rPr>
              <a:t> associates an animal's action with a consequence. Chiou and colleagues trained </a:t>
            </a:r>
            <a:r>
              <a:rPr sz="1600" b="0" i="1">
                <a:solidFill>
                  <a:srgbClr val="292725"/>
                </a:solidFill>
                <a:latin typeface="Arial"/>
              </a:rPr>
              <a:t>Odontodactylus scyllarus</a:t>
            </a:r>
            <a:r>
              <a:rPr sz="1600" b="0" i="0">
                <a:solidFill>
                  <a:srgbClr val="292725"/>
                </a:solidFill>
                <a:latin typeface="Arial"/>
              </a:rPr>
              <a:t> to select feeding tubes reflecting either left- or right-circularly polarized light. Food was placed at the open end during training.</a:t>
            </a:r>
          </a:p>
          <a:p>
            <a:pPr algn="l">
              <a:lnSpc>
                <a:spcPct val="108000"/>
              </a:lnSpc>
              <a:spcAft>
                <a:spcPts val="960"/>
              </a:spcAft>
            </a:pPr>
            <a:r>
              <a:rPr sz="1600" b="0" i="0">
                <a:solidFill>
                  <a:srgbClr val="292725"/>
                </a:solidFill>
                <a:latin typeface="Arial"/>
              </a:rPr>
              <a:t>Test tubes were presented without food, with the reflecting end facing the animal. Their construction combined a linear polarizer, a quarter-wave retarder and a reflective backing. Trained animals preferentially selected the circular state associated with reward, rather than choosing only by the unfiltered appearance of the tubes.</a:t>
            </a:r>
          </a:p>
          <a:p>
            <a:pPr algn="l">
              <a:lnSpc>
                <a:spcPct val="108000"/>
              </a:lnSpc>
              <a:spcAft>
                <a:spcPts val="960"/>
              </a:spcAft>
            </a:pPr>
            <a:r>
              <a:rPr sz="1600" b="0" i="0">
                <a:solidFill>
                  <a:srgbClr val="292725"/>
                </a:solidFill>
                <a:latin typeface="Arial"/>
              </a:rPr>
              <a:t>The choices establish behavioral discrimination of circular handedness in this task. Learned preference indicates that the available polarization information can guide action, and removing food during the test reduces direct food-associated cues at the time of choice.</a:t>
            </a:r>
          </a:p>
        </p:txBody>
      </p:sp>
      <p:pic>
        <p:nvPicPr>
          <p:cNvPr id="4" name="Picture 3" descr="c08_f5ab.png"/>
          <p:cNvPicPr>
            <a:picLocks noChangeAspect="1"/>
          </p:cNvPicPr>
          <p:nvPr/>
        </p:nvPicPr>
        <p:blipFill>
          <a:blip r:embed="rId2"/>
          <a:stretch>
            <a:fillRect/>
          </a:stretch>
        </p:blipFill>
        <p:spPr>
          <a:xfrm>
            <a:off x="7274610" y="1280160"/>
            <a:ext cx="3488234"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5(A, B). Published feeding-tube construction and opposite-analyzer photographs.</a:t>
            </a:r>
          </a:p>
        </p:txBody>
      </p:sp>
      <p:pic>
        <p:nvPicPr>
          <p:cNvPr id="6" name="Picture 5" descr="c08_f5c.png"/>
          <p:cNvPicPr>
            <a:picLocks noChangeAspect="1"/>
          </p:cNvPicPr>
          <p:nvPr/>
        </p:nvPicPr>
        <p:blipFill>
          <a:blip r:embed="rId3"/>
          <a:stretch>
            <a:fillRect/>
          </a:stretch>
        </p:blipFill>
        <p:spPr>
          <a:xfrm>
            <a:off x="7730425" y="4251960"/>
            <a:ext cx="257660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5(C). Individual tube choices after training to circular handedness.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R8 transforms circular states into orthogonal linear inputs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292725"/>
                </a:solidFill>
                <a:latin typeface="Arial"/>
              </a:rPr>
              <a:t>A </a:t>
            </a:r>
            <a:r>
              <a:rPr sz="1500" b="1" i="0">
                <a:solidFill>
                  <a:srgbClr val="62564D"/>
                </a:solidFill>
                <a:latin typeface="Arial"/>
              </a:rPr>
              <a:t>quarter-wave retarder</a:t>
            </a:r>
            <a:r>
              <a:rPr sz="1500" b="0" i="0">
                <a:solidFill>
                  <a:srgbClr val="292725"/>
                </a:solidFill>
                <a:latin typeface="Arial"/>
              </a:rPr>
              <a:t> introduces a relative phase delay of one-quarter wavelength, or 90°, between orthogonal electric-field components. In </a:t>
            </a:r>
            <a:r>
              <a:rPr sz="1500" b="0" i="1">
                <a:solidFill>
                  <a:srgbClr val="292725"/>
                </a:solidFill>
                <a:latin typeface="Arial"/>
              </a:rPr>
              <a:t>Odontodactylus</a:t>
            </a:r>
            <a:r>
              <a:rPr sz="1500" b="0" i="0">
                <a:solidFill>
                  <a:srgbClr val="292725"/>
                </a:solidFill>
                <a:latin typeface="Arial"/>
              </a:rPr>
              <a:t> midband rows 5 and 6, an ordered R8 rhabdomere lies above two orthogonal R1–R7 receptor groups.</a:t>
            </a:r>
          </a:p>
          <a:p>
            <a:pPr algn="l">
              <a:lnSpc>
                <a:spcPct val="108000"/>
              </a:lnSpc>
              <a:spcAft>
                <a:spcPts val="900"/>
              </a:spcAft>
            </a:pPr>
            <a:r>
              <a:rPr sz="1500" b="0" i="0">
                <a:solidFill>
                  <a:srgbClr val="292725"/>
                </a:solidFill>
                <a:latin typeface="Arial"/>
              </a:rPr>
              <a:t>R8 microvilli are oriented about 45° relative to the underlying absorption axes. Circular states of opposite handedness are converted into linear states at mutually orthogonal angles. The underlying receptor groups can then respond differently through their ordinary directional absorption.</a:t>
            </a:r>
          </a:p>
          <a:p>
            <a:pPr algn="l">
              <a:lnSpc>
                <a:spcPct val="108000"/>
              </a:lnSpc>
              <a:spcAft>
                <a:spcPts val="900"/>
              </a:spcAft>
            </a:pPr>
            <a:r>
              <a:rPr sz="1500" b="0" i="0">
                <a:solidFill>
                  <a:srgbClr val="292725"/>
                </a:solidFill>
                <a:latin typeface="Arial"/>
              </a:rPr>
              <a:t>The mechanism links tissue geometry to receptor voltage without requiring a circular-selective pigment. Its optical effectiveness depends on retardance and wavelength. The forty-five-degree relationship places the two converted linear states along different underlying receptor axes, and the arrangement must operate with an appropriate phase delay at the wavelengths that are transmitted.</a:t>
            </a:r>
          </a:p>
        </p:txBody>
      </p:sp>
      <p:pic>
        <p:nvPicPr>
          <p:cNvPr id="4" name="Picture 3" descr="c08_f2abc.png"/>
          <p:cNvPicPr>
            <a:picLocks noChangeAspect="1"/>
          </p:cNvPicPr>
          <p:nvPr/>
        </p:nvPicPr>
        <p:blipFill>
          <a:blip r:embed="rId2"/>
          <a:stretch>
            <a:fillRect/>
          </a:stretch>
        </p:blipFill>
        <p:spPr>
          <a:xfrm>
            <a:off x="8213868" y="1280160"/>
            <a:ext cx="1609716"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2(A–C). Unchanged published anatomy and quarter-wave conversion mechanism.</a:t>
            </a:r>
          </a:p>
        </p:txBody>
      </p:sp>
      <p:pic>
        <p:nvPicPr>
          <p:cNvPr id="6" name="Picture 5" descr="c08_f1de.png"/>
          <p:cNvPicPr>
            <a:picLocks noChangeAspect="1"/>
          </p:cNvPicPr>
          <p:nvPr/>
        </p:nvPicPr>
        <p:blipFill>
          <a:blip r:embed="rId3"/>
          <a:stretch>
            <a:fillRect/>
          </a:stretch>
        </p:blipFill>
        <p:spPr>
          <a:xfrm>
            <a:off x="7620364" y="4251960"/>
            <a:ext cx="2796725"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1(D, E). Location of polarization rows and their optical tiers.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et al. (2008); Roberts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Ordered microvilli produce optical birefringence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Birefringence</a:t>
            </a:r>
            <a:r>
              <a:rPr sz="1500" b="0" i="0">
                <a:solidFill>
                  <a:srgbClr val="292725"/>
                </a:solidFill>
                <a:latin typeface="Arial"/>
              </a:rPr>
              <a:t> is a difference in refractive behavior for orthogonal polarization components. A </a:t>
            </a:r>
            <a:r>
              <a:rPr sz="1500" b="1" i="0">
                <a:solidFill>
                  <a:srgbClr val="62564D"/>
                </a:solidFill>
                <a:latin typeface="Arial"/>
              </a:rPr>
              <a:t>refractive index</a:t>
            </a:r>
            <a:r>
              <a:rPr sz="1500" b="0" i="0">
                <a:solidFill>
                  <a:srgbClr val="292725"/>
                </a:solidFill>
                <a:latin typeface="Arial"/>
              </a:rPr>
              <a:t> describes how light propagates through a material relative to vacuum. Roberts and colleagues examined the ordered R8 membrane structure of </a:t>
            </a:r>
            <a:r>
              <a:rPr sz="1500" b="0" i="1">
                <a:solidFill>
                  <a:srgbClr val="292725"/>
                </a:solidFill>
                <a:latin typeface="Arial"/>
              </a:rPr>
              <a:t>Odontodactylus scyllarus</a:t>
            </a:r>
            <a:r>
              <a:rPr sz="1500" b="0" i="0">
                <a:solidFill>
                  <a:srgbClr val="292725"/>
                </a:solidFill>
                <a:latin typeface="Arial"/>
              </a:rPr>
              <a:t>.</a:t>
            </a:r>
          </a:p>
          <a:p>
            <a:pPr algn="l">
              <a:lnSpc>
                <a:spcPct val="108000"/>
              </a:lnSpc>
              <a:spcAft>
                <a:spcPts val="960"/>
              </a:spcAft>
            </a:pPr>
            <a:r>
              <a:rPr sz="1500" b="0" i="0">
                <a:solidFill>
                  <a:srgbClr val="292725"/>
                </a:solidFill>
                <a:latin typeface="Arial"/>
              </a:rPr>
              <a:t>Electron microscopy gave microvillar inner and outer radii of approximately 26 and 40 nm. These dimensions are much smaller than visible wavelengths. Polarizing-microscope observations from Chiou and colleagues also changed when the analyzer axes rotated relative to the tissue.</a:t>
            </a:r>
          </a:p>
          <a:p>
            <a:pPr algn="l">
              <a:lnSpc>
                <a:spcPct val="108000"/>
              </a:lnSpc>
              <a:spcAft>
                <a:spcPts val="960"/>
              </a:spcAft>
            </a:pPr>
            <a:r>
              <a:rPr sz="1500" b="0" i="0">
                <a:solidFill>
                  <a:srgbClr val="292725"/>
                </a:solidFill>
                <a:latin typeface="Arial"/>
              </a:rPr>
              <a:t>An orientation-dependent bright region between crossed polarizers supports birefringence rather than simple depolarization. Orthogonal light components encounter different optical properties in the ordered tissue, and the microvillar dimensions place the membrane pattern below the visible-light wavelength scale, which makes the arrangement relevant to the effective optics of the entire R8 rhabdomere. Quantitative transmission measurements connect this architecture with circular-state conversion.</a:t>
            </a:r>
          </a:p>
        </p:txBody>
      </p:sp>
      <p:pic>
        <p:nvPicPr>
          <p:cNvPr id="4" name="Picture 3" descr="r09_f1bc.png"/>
          <p:cNvPicPr>
            <a:picLocks noChangeAspect="1"/>
          </p:cNvPicPr>
          <p:nvPr/>
        </p:nvPicPr>
        <p:blipFill>
          <a:blip r:embed="rId2"/>
          <a:stretch>
            <a:fillRect/>
          </a:stretch>
        </p:blipFill>
        <p:spPr>
          <a:xfrm>
            <a:off x="7326145" y="1280160"/>
            <a:ext cx="3385163"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Roberts et al. (2009), Fig. 1(b, c). R8 tissue position and electron micrograph of its microvilli.</a:t>
            </a:r>
          </a:p>
        </p:txBody>
      </p:sp>
      <p:pic>
        <p:nvPicPr>
          <p:cNvPr id="6" name="Picture 5" descr="c08_f3abc.png"/>
          <p:cNvPicPr>
            <a:picLocks noChangeAspect="1"/>
          </p:cNvPicPr>
          <p:nvPr/>
        </p:nvPicPr>
        <p:blipFill>
          <a:blip r:embed="rId3"/>
          <a:stretch>
            <a:fillRect/>
          </a:stretch>
        </p:blipFill>
        <p:spPr>
          <a:xfrm>
            <a:off x="7448545" y="4251960"/>
            <a:ext cx="314036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3(A–C). Tissue and crossed-polarizer views at different orientations.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Roberts et al. (2009); Chiou et al. (2008)</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R8 conversion spans the visible spectrum</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Achromaticity</a:t>
            </a:r>
            <a:r>
              <a:rPr sz="1500" b="0" i="0">
                <a:solidFill>
                  <a:srgbClr val="292725"/>
                </a:solidFill>
                <a:latin typeface="Arial"/>
              </a:rPr>
              <a:t> means that an optical operation changes relatively little with wavelength. Roberts and colleagues measured transmission through 10-µm cryosections of </a:t>
            </a:r>
            <a:r>
              <a:rPr sz="1500" b="0" i="1">
                <a:solidFill>
                  <a:srgbClr val="292725"/>
                </a:solidFill>
                <a:latin typeface="Arial"/>
              </a:rPr>
              <a:t>Odontodactylus scyllarus</a:t>
            </a:r>
            <a:r>
              <a:rPr sz="1500" b="0" i="0">
                <a:solidFill>
                  <a:srgbClr val="292725"/>
                </a:solidFill>
                <a:latin typeface="Arial"/>
              </a:rPr>
              <a:t> R8 rhabdomeres and scaled the optical measurements to the approximately 150-µm receptor length.</a:t>
            </a:r>
          </a:p>
          <a:p>
            <a:pPr algn="l">
              <a:lnSpc>
                <a:spcPct val="108000"/>
              </a:lnSpc>
              <a:spcAft>
                <a:spcPts val="960"/>
              </a:spcAft>
            </a:pPr>
            <a:r>
              <a:rPr sz="1500" b="0" i="0">
                <a:solidFill>
                  <a:srgbClr val="292725"/>
                </a:solidFill>
                <a:latin typeface="Arial"/>
              </a:rPr>
              <a:t>Light entered with linear polarization at 45° to the microvillar axis. The transmitted circular component, described by the </a:t>
            </a:r>
            <a:r>
              <a:rPr sz="1500" b="1" i="0">
                <a:solidFill>
                  <a:srgbClr val="62564D"/>
                </a:solidFill>
                <a:latin typeface="Arial"/>
              </a:rPr>
              <a:t>Stokes parameter S3</a:t>
            </a:r>
            <a:r>
              <a:rPr sz="1500" b="0" i="0">
                <a:solidFill>
                  <a:srgbClr val="292725"/>
                </a:solidFill>
                <a:latin typeface="Arial"/>
              </a:rPr>
              <a:t>, remained close to that of strongly circular light across much of the 400–700 nm range. A fitted optical model reproduced this wavelength dependence.</a:t>
            </a:r>
          </a:p>
          <a:p>
            <a:pPr algn="l">
              <a:lnSpc>
                <a:spcPct val="108000"/>
              </a:lnSpc>
              <a:spcAft>
                <a:spcPts val="960"/>
              </a:spcAft>
            </a:pPr>
            <a:r>
              <a:rPr sz="1500" b="0" i="0">
                <a:solidFill>
                  <a:srgbClr val="292725"/>
                </a:solidFill>
                <a:latin typeface="Arial"/>
              </a:rPr>
              <a:t>Broadband conversion helps preserve opposite circular-state signals across the broad absorption spectrum of the underlying receptors. Optical reciprocity allows the same retarding structure to convert circular input into linear output under the corresponding geometry, and the authors accounted for the full path length of the approximately 150 µm receptor when scaling measurements from thin sections.</a:t>
            </a:r>
          </a:p>
        </p:txBody>
      </p:sp>
      <p:pic>
        <p:nvPicPr>
          <p:cNvPr id="4" name="Picture 3" descr="r09_f2.png"/>
          <p:cNvPicPr>
            <a:picLocks noChangeAspect="1"/>
          </p:cNvPicPr>
          <p:nvPr/>
        </p:nvPicPr>
        <p:blipFill>
          <a:blip r:embed="rId2"/>
          <a:stretch>
            <a:fillRect/>
          </a:stretch>
        </p:blipFill>
        <p:spPr>
          <a:xfrm>
            <a:off x="7261156" y="1280160"/>
            <a:ext cx="3515141"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Roberts et al. (2009), Fig. 2. Measured circular component after transmission and the fitted optical model.</a:t>
            </a:r>
          </a:p>
        </p:txBody>
      </p:sp>
      <p:pic>
        <p:nvPicPr>
          <p:cNvPr id="6" name="Picture 5" descr="r09_f1bc.png"/>
          <p:cNvPicPr>
            <a:picLocks noChangeAspect="1"/>
          </p:cNvPicPr>
          <p:nvPr/>
        </p:nvPicPr>
        <p:blipFill>
          <a:blip r:embed="rId3"/>
          <a:stretch>
            <a:fillRect/>
          </a:stretch>
        </p:blipFill>
        <p:spPr>
          <a:xfrm>
            <a:off x="7964855" y="4251960"/>
            <a:ext cx="210774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Roberts et al. (2009), Fig. 1(b, c). The R8 tissue whose transmission was measured.</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Roberts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Membranes and geometry jointly shape retardance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Intrinsic birefringence</a:t>
            </a:r>
            <a:r>
              <a:rPr sz="1500" b="0" i="0">
                <a:solidFill>
                  <a:srgbClr val="292725"/>
                </a:solidFill>
                <a:latin typeface="Arial"/>
              </a:rPr>
              <a:t> arises from the material's directional optical properties. </a:t>
            </a:r>
            <a:r>
              <a:rPr sz="1500" b="1" i="0">
                <a:solidFill>
                  <a:srgbClr val="62564D"/>
                </a:solidFill>
                <a:latin typeface="Arial"/>
              </a:rPr>
              <a:t>Form birefringence</a:t>
            </a:r>
            <a:r>
              <a:rPr sz="1500" b="0" i="0">
                <a:solidFill>
                  <a:srgbClr val="292725"/>
                </a:solidFill>
                <a:latin typeface="Arial"/>
              </a:rPr>
              <a:t> arises from the arrangement of different materials at small spatial scales. Roberts and colleagues modeled both contributions in the membranes and cytoplasm of the R8 rhabdomere.</a:t>
            </a:r>
          </a:p>
          <a:p>
            <a:pPr algn="l">
              <a:lnSpc>
                <a:spcPct val="108000"/>
              </a:lnSpc>
              <a:spcAft>
                <a:spcPts val="960"/>
              </a:spcAft>
            </a:pPr>
            <a:r>
              <a:rPr sz="1500" b="0" i="0">
                <a:solidFill>
                  <a:srgbClr val="292725"/>
                </a:solidFill>
                <a:latin typeface="Arial"/>
              </a:rPr>
              <a:t>The model fixed the measured microvillar dimensions and receptor length while fitting membrane refractive properties. Their interaction produced the wavelength-dependent effective birefringence needed for nearly constant quarter-wave retardance. The fitted material properties agreed with plausible membrane refractive values.</a:t>
            </a:r>
          </a:p>
          <a:p>
            <a:pPr algn="l">
              <a:lnSpc>
                <a:spcPct val="108000"/>
              </a:lnSpc>
              <a:spcAft>
                <a:spcPts val="960"/>
              </a:spcAft>
            </a:pPr>
            <a:r>
              <a:rPr sz="1500" b="0" i="0">
                <a:solidFill>
                  <a:srgbClr val="292725"/>
                </a:solidFill>
                <a:latin typeface="Arial"/>
              </a:rPr>
              <a:t>Agreement between model and transmission supports this biophysical account of the optic. A nearly constant phase delay does not require every underlying refractive quantity to remain constant, because intrinsic and form birefringence interact across wavelength, and the modeled operation transforms light before the downstream electrical signal is generated.</a:t>
            </a:r>
          </a:p>
        </p:txBody>
      </p:sp>
      <p:pic>
        <p:nvPicPr>
          <p:cNvPr id="4" name="Picture 3" descr="r09_f3ab.png"/>
          <p:cNvPicPr>
            <a:picLocks noChangeAspect="1"/>
          </p:cNvPicPr>
          <p:nvPr/>
        </p:nvPicPr>
        <p:blipFill>
          <a:blip r:embed="rId2"/>
          <a:stretch>
            <a:fillRect/>
          </a:stretch>
        </p:blipFill>
        <p:spPr>
          <a:xfrm>
            <a:off x="6412687" y="1280160"/>
            <a:ext cx="5212079" cy="1786566"/>
          </a:xfrm>
          <a:prstGeom prst="rect">
            <a:avLst/>
          </a:prstGeom>
        </p:spPr>
      </p:pic>
      <p:sp>
        <p:nvSpPr>
          <p:cNvPr id="5" name="Figure caption"/>
          <p:cNvSpPr txBox="1"/>
          <p:nvPr/>
        </p:nvSpPr>
        <p:spPr>
          <a:xfrm>
            <a:off x="6412687" y="3158166"/>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Roberts et al. (2009), Fig. 3(a, b). Published intrinsic and effective refractive-index model functions.</a:t>
            </a:r>
          </a:p>
        </p:txBody>
      </p:sp>
      <p:pic>
        <p:nvPicPr>
          <p:cNvPr id="6" name="Picture 5" descr="r09_f1bc.png"/>
          <p:cNvPicPr>
            <a:picLocks noChangeAspect="1"/>
          </p:cNvPicPr>
          <p:nvPr/>
        </p:nvPicPr>
        <p:blipFill>
          <a:blip r:embed="rId3"/>
          <a:stretch>
            <a:fillRect/>
          </a:stretch>
        </p:blipFill>
        <p:spPr>
          <a:xfrm>
            <a:off x="7964855" y="4251960"/>
            <a:ext cx="210774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Roberts et al. (2009), Fig. 1(b, c). The measured microvillar geometry underlying the model.</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Roberts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Torsion rotates the eye’s polarization-sampling axes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Torsion</a:t>
            </a:r>
            <a:r>
              <a:rPr sz="1600" b="0" i="0">
                <a:solidFill>
                  <a:srgbClr val="292725"/>
                </a:solidFill>
                <a:latin typeface="Arial"/>
              </a:rPr>
              <a:t>, or roll, rotates the eye about its viewing axis. Stomatopods can also move their eyes in pitch and yaw, changing the direction of gaze. Daly and colleagues tracked three-dimensional eye orientation in </a:t>
            </a:r>
            <a:r>
              <a:rPr sz="1600" b="0" i="1">
                <a:solidFill>
                  <a:srgbClr val="292725"/>
                </a:solidFill>
                <a:latin typeface="Arial"/>
              </a:rPr>
              <a:t>Gonodactylus smithii</a:t>
            </a:r>
            <a:r>
              <a:rPr sz="1600" b="0" i="0">
                <a:solidFill>
                  <a:srgbClr val="292725"/>
                </a:solidFill>
                <a:latin typeface="Arial"/>
              </a:rPr>
              <a:t> and </a:t>
            </a:r>
            <a:r>
              <a:rPr sz="1600" b="0" i="1">
                <a:solidFill>
                  <a:srgbClr val="292725"/>
                </a:solidFill>
                <a:latin typeface="Arial"/>
              </a:rPr>
              <a:t>Odontodactylus scyllarus</a:t>
            </a:r>
            <a:r>
              <a:rPr sz="1600" b="0" i="0">
                <a:solidFill>
                  <a:srgbClr val="292725"/>
                </a:solidFill>
                <a:latin typeface="Arial"/>
              </a:rPr>
              <a:t>.</a:t>
            </a:r>
          </a:p>
          <a:p>
            <a:pPr algn="l">
              <a:lnSpc>
                <a:spcPct val="108000"/>
              </a:lnSpc>
              <a:spcAft>
                <a:spcPts val="960"/>
              </a:spcAft>
            </a:pPr>
            <a:r>
              <a:rPr sz="1600" b="0" i="0">
                <a:solidFill>
                  <a:srgbClr val="292725"/>
                </a:solidFill>
                <a:latin typeface="Arial"/>
              </a:rPr>
              <a:t>Large torsional movements can reach approximately 90° in these species. Rolling the eye changes the orientation of its microvillar sampling axes relative to a polarized scene, even when the animal continues viewing the same object. The two eyes can move partly independently.</a:t>
            </a:r>
          </a:p>
          <a:p>
            <a:pPr algn="l">
              <a:lnSpc>
                <a:spcPct val="108000"/>
              </a:lnSpc>
              <a:spcAft>
                <a:spcPts val="960"/>
              </a:spcAft>
            </a:pPr>
            <a:r>
              <a:rPr sz="1600" b="0" i="0">
                <a:solidFill>
                  <a:srgbClr val="292725"/>
                </a:solidFill>
                <a:latin typeface="Arial"/>
              </a:rPr>
              <a:t>The movement geometry makes active polarization sampling possible. Pitch and yaw change where the eye points, whereas torsion changes its orientation around that direction, which separates viewing direction from polarization-axis orientation, and the two eyes can move partly independently.</a:t>
            </a:r>
          </a:p>
        </p:txBody>
      </p:sp>
      <p:pic>
        <p:nvPicPr>
          <p:cNvPr id="4" name="Picture 3" descr="d16_f1bcd.png"/>
          <p:cNvPicPr>
            <a:picLocks noChangeAspect="1"/>
          </p:cNvPicPr>
          <p:nvPr/>
        </p:nvPicPr>
        <p:blipFill>
          <a:blip r:embed="rId2"/>
          <a:stretch>
            <a:fillRect/>
          </a:stretch>
        </p:blipFill>
        <p:spPr>
          <a:xfrm>
            <a:off x="7404313" y="1280160"/>
            <a:ext cx="3228826"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1(b–d). Published eye rotation axes and successive torsional positions.</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Daly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A polarized LED elicits torsional eye rotations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Daly and colleagues presented </a:t>
            </a:r>
            <a:r>
              <a:rPr sz="1600" b="0" i="1">
                <a:solidFill>
                  <a:srgbClr val="292725"/>
                </a:solidFill>
                <a:latin typeface="Arial"/>
              </a:rPr>
              <a:t>Gonodactylus smithii</a:t>
            </a:r>
            <a:r>
              <a:rPr sz="1600" b="0" i="0">
                <a:solidFill>
                  <a:srgbClr val="292725"/>
                </a:solidFill>
                <a:latin typeface="Arial"/>
              </a:rPr>
              <a:t> with a green LED peaking at 501 nm through a 4-mm aperture against a dark background. Its light was strongly linearly polarized, with either vertical or diagonal electric-vector orientation. Two cameras measured eye rotation.</a:t>
            </a:r>
          </a:p>
          <a:p>
            <a:pPr algn="l">
              <a:lnSpc>
                <a:spcPct val="108000"/>
              </a:lnSpc>
              <a:spcAft>
                <a:spcPts val="960"/>
              </a:spcAft>
            </a:pPr>
            <a:r>
              <a:rPr sz="1600" b="0" i="0">
                <a:solidFill>
                  <a:srgbClr val="292725"/>
                </a:solidFill>
                <a:latin typeface="Arial"/>
              </a:rPr>
              <a:t>The 3-s presentation commonly elicited a torsional response. Initial rotations averaged about 15°, and the responding eye moved its nearest hemispheric receptor axis toward the stimulus polarization angle. Stimulus timing and three-dimensional eye position were recorded together.</a:t>
            </a:r>
          </a:p>
          <a:p>
            <a:pPr algn="l">
              <a:lnSpc>
                <a:spcPct val="108000"/>
              </a:lnSpc>
              <a:spcAft>
                <a:spcPts val="960"/>
              </a:spcAft>
            </a:pPr>
            <a:r>
              <a:rPr sz="1600" b="0" i="0">
                <a:solidFill>
                  <a:srgbClr val="292725"/>
                </a:solidFill>
                <a:latin typeface="Arial"/>
              </a:rPr>
              <a:t>This experiment links a controlled polarized cue to measured motor output. The nearest hemispheric sampling axis moved toward a favorable orientation, and stereo-camera tracking recorded orientation in three dimensions with the timing of the movement aligned to stimulus presentation.</a:t>
            </a:r>
          </a:p>
        </p:txBody>
      </p:sp>
      <p:pic>
        <p:nvPicPr>
          <p:cNvPr id="4" name="Picture 3" descr="d16_f5ab.png"/>
          <p:cNvPicPr>
            <a:picLocks noChangeAspect="1"/>
          </p:cNvPicPr>
          <p:nvPr/>
        </p:nvPicPr>
        <p:blipFill>
          <a:blip r:embed="rId2"/>
          <a:stretch>
            <a:fillRect/>
          </a:stretch>
        </p:blipFill>
        <p:spPr>
          <a:xfrm>
            <a:off x="6481027" y="1280160"/>
            <a:ext cx="507540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5(a, b). Original LED presentation and stereo-camera recording arrangement.</a:t>
            </a:r>
          </a:p>
        </p:txBody>
      </p:sp>
      <p:pic>
        <p:nvPicPr>
          <p:cNvPr id="6" name="Picture 5" descr="d16_f3ab.png"/>
          <p:cNvPicPr>
            <a:picLocks noChangeAspect="1"/>
          </p:cNvPicPr>
          <p:nvPr/>
        </p:nvPicPr>
        <p:blipFill>
          <a:blip r:embed="rId3"/>
          <a:stretch>
            <a:fillRect/>
          </a:stretch>
        </p:blipFill>
        <p:spPr>
          <a:xfrm>
            <a:off x="6518496" y="4251960"/>
            <a:ext cx="5000461"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3(a, b). Measured eye rotation and receptor-axis alignment during the stimulus.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Daly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Eye positions predict increased polarization contrast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Polarization distance</a:t>
            </a:r>
            <a:r>
              <a:rPr sz="1500" b="0" i="0">
                <a:solidFill>
                  <a:srgbClr val="292725"/>
                </a:solidFill>
                <a:latin typeface="Arial"/>
              </a:rPr>
              <a:t> is a model-based measure of contrast between two polarization states available to a specified receptor system. Daly and colleagues calculated it from measured eye orientation, published receptor geometry and the polarization of the LED and its background.</a:t>
            </a:r>
          </a:p>
          <a:p>
            <a:pPr algn="l">
              <a:lnSpc>
                <a:spcPct val="108000"/>
              </a:lnSpc>
              <a:spcAft>
                <a:spcPts val="960"/>
              </a:spcAft>
            </a:pPr>
            <a:r>
              <a:rPr sz="1500" b="0" i="0">
                <a:solidFill>
                  <a:srgbClr val="292725"/>
                </a:solidFill>
                <a:latin typeface="Arial"/>
              </a:rPr>
              <a:t>During LED presentation, predicted hemispheric polarization contrast increased toward the model's favorable alignment. The dorsal and ventral receptor populations differed in their calculated contrast because their axes were offset by 45°. The movement did not similarly maximize the modeled midband polarization signal.</a:t>
            </a:r>
          </a:p>
          <a:p>
            <a:pPr algn="l">
              <a:lnSpc>
                <a:spcPct val="108000"/>
              </a:lnSpc>
              <a:spcAft>
                <a:spcPts val="960"/>
              </a:spcAft>
            </a:pPr>
            <a:r>
              <a:rPr sz="1500" b="0" i="0">
                <a:solidFill>
                  <a:srgbClr val="292725"/>
                </a:solidFill>
                <a:latin typeface="Arial"/>
              </a:rPr>
              <a:t>These results support active enhancement of a hemispheric signal. The model combines the object's polarization with the background and the receptor axes, so eye rotation changes the predicted difference between object and background, and the selective effect on the hemispheric predictions means that torsion is not assumed to improve every visual channel.</a:t>
            </a:r>
          </a:p>
        </p:txBody>
      </p:sp>
      <p:pic>
        <p:nvPicPr>
          <p:cNvPr id="4" name="Picture 3" descr="d16_f3cd.png"/>
          <p:cNvPicPr>
            <a:picLocks noChangeAspect="1"/>
          </p:cNvPicPr>
          <p:nvPr/>
        </p:nvPicPr>
        <p:blipFill>
          <a:blip r:embed="rId2"/>
          <a:stretch>
            <a:fillRect/>
          </a:stretch>
        </p:blipFill>
        <p:spPr>
          <a:xfrm>
            <a:off x="6412687" y="1280160"/>
            <a:ext cx="5212080" cy="2105083"/>
          </a:xfrm>
          <a:prstGeom prst="rect">
            <a:avLst/>
          </a:prstGeom>
        </p:spPr>
      </p:pic>
      <p:sp>
        <p:nvSpPr>
          <p:cNvPr id="5" name="Figure caption"/>
          <p:cNvSpPr txBox="1"/>
          <p:nvPr/>
        </p:nvSpPr>
        <p:spPr>
          <a:xfrm>
            <a:off x="6412687" y="3476683"/>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3(c, d). Published model-based contrast estimates before and during the LED.</a:t>
            </a:r>
          </a:p>
        </p:txBody>
      </p:sp>
      <p:pic>
        <p:nvPicPr>
          <p:cNvPr id="6" name="Picture 5" descr="d16_f2abcdef.png"/>
          <p:cNvPicPr>
            <a:picLocks noChangeAspect="1"/>
          </p:cNvPicPr>
          <p:nvPr/>
        </p:nvPicPr>
        <p:blipFill>
          <a:blip r:embed="rId3"/>
          <a:stretch>
            <a:fillRect/>
          </a:stretch>
        </p:blipFill>
        <p:spPr>
          <a:xfrm>
            <a:off x="8157836" y="4251960"/>
            <a:ext cx="172178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2(a–f). Anatomical axes used in the contrast calculation.</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Daly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Polarized looming recruits visual sampling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A </a:t>
            </a:r>
            <a:r>
              <a:rPr sz="1600" b="1" i="0">
                <a:solidFill>
                  <a:srgbClr val="62564D"/>
                </a:solidFill>
                <a:latin typeface="Arial"/>
              </a:rPr>
              <a:t>looming stimulus</a:t>
            </a:r>
            <a:r>
              <a:rPr sz="1600" b="0" i="0">
                <a:solidFill>
                  <a:srgbClr val="292725"/>
                </a:solidFill>
                <a:latin typeface="Arial"/>
              </a:rPr>
              <a:t> expands in angular size, mimicking an approaching object. Daly and colleagues modified an LCD display to present a growing disk whose polarization differed from its background while color and intensity remained uniform. Illumination peaked at 501 nm.</a:t>
            </a:r>
          </a:p>
          <a:p>
            <a:pPr algn="l">
              <a:lnSpc>
                <a:spcPct val="108000"/>
              </a:lnSpc>
              <a:spcAft>
                <a:spcPts val="960"/>
              </a:spcAft>
            </a:pPr>
            <a:r>
              <a:rPr sz="1600" b="0" i="1">
                <a:solidFill>
                  <a:srgbClr val="292725"/>
                </a:solidFill>
                <a:latin typeface="Arial"/>
              </a:rPr>
              <a:t>Odontodactylus scyllarus</a:t>
            </a:r>
            <a:r>
              <a:rPr sz="1600" b="0" i="0">
                <a:solidFill>
                  <a:srgbClr val="292725"/>
                </a:solidFill>
                <a:latin typeface="Arial"/>
              </a:rPr>
              <a:t> received disks expanding to a visual angle of 10°, with an object–background polarization-angle difference of 61.2°. Torsional responses changed the modeled hemispheric contrast. Tests at several display tilts checked whether the effect depended on one screen geometry.</a:t>
            </a:r>
          </a:p>
          <a:p>
            <a:pPr algn="l">
              <a:lnSpc>
                <a:spcPct val="108000"/>
              </a:lnSpc>
              <a:spcAft>
                <a:spcPts val="960"/>
              </a:spcAft>
            </a:pPr>
            <a:r>
              <a:rPr sz="1600" b="0" i="0">
                <a:solidFill>
                  <a:srgbClr val="292725"/>
                </a:solidFill>
                <a:latin typeface="Arial"/>
              </a:rPr>
              <a:t>The result supports a motor response to a polarization-defined object under controlled conditions. The display removed the ordinary brightness difference between disk and background so that expansion remained available through polarization contrast, and testing more than one display tilt addressed a screen-specific explanation.</a:t>
            </a:r>
          </a:p>
        </p:txBody>
      </p:sp>
      <p:pic>
        <p:nvPicPr>
          <p:cNvPr id="4" name="Picture 3" descr="d16_f4abcd.png"/>
          <p:cNvPicPr>
            <a:picLocks noChangeAspect="1"/>
          </p:cNvPicPr>
          <p:nvPr/>
        </p:nvPicPr>
        <p:blipFill>
          <a:blip r:embed="rId2"/>
          <a:stretch>
            <a:fillRect/>
          </a:stretch>
        </p:blipFill>
        <p:spPr>
          <a:xfrm>
            <a:off x="6412687" y="1280160"/>
            <a:ext cx="5212080" cy="3584368"/>
          </a:xfrm>
          <a:prstGeom prst="rect">
            <a:avLst/>
          </a:prstGeom>
        </p:spPr>
      </p:pic>
      <p:sp>
        <p:nvSpPr>
          <p:cNvPr id="5" name="Figure caption"/>
          <p:cNvSpPr txBox="1"/>
          <p:nvPr/>
        </p:nvSpPr>
        <p:spPr>
          <a:xfrm>
            <a:off x="6412687" y="495596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4(a–d). Original eye-position records and contrast estimates during polarized looming.</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Daly et al.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Maximum contrast need not align with the object alone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The best receptor orientation depends on both object and background polarization. For an object against an unpolarized background, aligning one axis with the object can maximize contrast. With a differently polarized background, that orientation need not produce the largest difference.</a:t>
            </a:r>
          </a:p>
          <a:p>
            <a:pPr algn="l">
              <a:lnSpc>
                <a:spcPct val="108000"/>
              </a:lnSpc>
              <a:spcAft>
                <a:spcPts val="960"/>
              </a:spcAft>
            </a:pPr>
            <a:r>
              <a:rPr sz="1500" b="0" i="0">
                <a:solidFill>
                  <a:srgbClr val="292725"/>
                </a:solidFill>
                <a:latin typeface="Arial"/>
              </a:rPr>
              <a:t>Daly and colleagues compared measured </a:t>
            </a:r>
            <a:r>
              <a:rPr sz="1500" b="0" i="1">
                <a:solidFill>
                  <a:srgbClr val="292725"/>
                </a:solidFill>
                <a:latin typeface="Arial"/>
              </a:rPr>
              <a:t>Odontodactylus scyllarus</a:t>
            </a:r>
            <a:r>
              <a:rPr sz="1500" b="0" i="0">
                <a:solidFill>
                  <a:srgbClr val="292725"/>
                </a:solidFill>
                <a:latin typeface="Arial"/>
              </a:rPr>
              <a:t> rotations during looming with two predictions: maximal object–background contrast and alignment with the object's polarization alone. Eye positions were more consistent with the contrast-maximizing account.</a:t>
            </a:r>
          </a:p>
          <a:p>
            <a:pPr algn="l">
              <a:lnSpc>
                <a:spcPct val="108000"/>
              </a:lnSpc>
              <a:spcAft>
                <a:spcPts val="960"/>
              </a:spcAft>
            </a:pPr>
            <a:r>
              <a:rPr sz="1500" b="0" i="0">
                <a:solidFill>
                  <a:srgbClr val="292725"/>
                </a:solidFill>
                <a:latin typeface="Arial"/>
              </a:rPr>
              <a:t>Torsion therefore supports context-dependent active sampling rather than a fixed rule to point one axis at every polarized object. A receptor can respond strongly to both the object and the background, so a large object response alone does not guarantee a large difference between them, and the controlled polarized background made the contrast-maximizing prediction distinguishable from alignment with the object's polarization.</a:t>
            </a:r>
          </a:p>
        </p:txBody>
      </p:sp>
      <p:pic>
        <p:nvPicPr>
          <p:cNvPr id="4" name="Picture 3" descr="d16_f4abcd.png"/>
          <p:cNvPicPr>
            <a:picLocks noChangeAspect="1"/>
          </p:cNvPicPr>
          <p:nvPr/>
        </p:nvPicPr>
        <p:blipFill>
          <a:blip r:embed="rId2"/>
          <a:stretch>
            <a:fillRect/>
          </a:stretch>
        </p:blipFill>
        <p:spPr>
          <a:xfrm>
            <a:off x="7256951" y="1280160"/>
            <a:ext cx="352355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4(a–d). Measured positions favor contrast over the object-only alignment prediction.</a:t>
            </a:r>
          </a:p>
        </p:txBody>
      </p:sp>
      <p:pic>
        <p:nvPicPr>
          <p:cNvPr id="6" name="Picture 5" descr="d16_f2abcdef.png"/>
          <p:cNvPicPr>
            <a:picLocks noChangeAspect="1"/>
          </p:cNvPicPr>
          <p:nvPr/>
        </p:nvPicPr>
        <p:blipFill>
          <a:blip r:embed="rId3"/>
          <a:stretch>
            <a:fillRect/>
          </a:stretch>
        </p:blipFill>
        <p:spPr>
          <a:xfrm>
            <a:off x="8157836" y="4251960"/>
            <a:ext cx="172178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2(a–f). Published geometry of hemispheric sampling axes.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Daly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Sharp electrodes record retinal and lamina activity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Chiou and Wang recorded intracellular membrane potentials from the retina and lamina of </a:t>
            </a:r>
            <a:r>
              <a:rPr sz="1600" b="0" i="1">
                <a:solidFill>
                  <a:srgbClr val="292725"/>
                </a:solidFill>
                <a:latin typeface="Arial"/>
              </a:rPr>
              <a:t>Haptosquilla pulchella</a:t>
            </a:r>
            <a:r>
              <a:rPr sz="1600" b="0" i="0">
                <a:solidFill>
                  <a:srgbClr val="292725"/>
                </a:solidFill>
                <a:latin typeface="Arial"/>
              </a:rPr>
              <a:t>. A chilled animal was secured in oxygenated seawater, and a small eyestalk opening allowed a sharp electrode to approach the tissue near the midband.</a:t>
            </a:r>
          </a:p>
          <a:p>
            <a:pPr algn="l">
              <a:lnSpc>
                <a:spcPct val="108000"/>
              </a:lnSpc>
              <a:spcAft>
                <a:spcPts val="960"/>
              </a:spcAft>
            </a:pPr>
            <a:r>
              <a:rPr sz="1600" b="0" i="0">
                <a:solidFill>
                  <a:srgbClr val="292725"/>
                </a:solidFill>
                <a:latin typeface="Arial"/>
              </a:rPr>
              <a:t>Electrode resistances were 80–120 MΩ, and voltage was sampled at 10 kHz. A rotating polarizing assembly presented linear orientations followed by opposite circular states in a sequence lasting about 1.75 s. Reversing rotation provided a check on stimulus-order effects.</a:t>
            </a:r>
          </a:p>
          <a:p>
            <a:pPr algn="l">
              <a:lnSpc>
                <a:spcPct val="108000"/>
              </a:lnSpc>
              <a:spcAft>
                <a:spcPts val="960"/>
              </a:spcAft>
            </a:pPr>
            <a:r>
              <a:rPr sz="1600" b="0" i="0">
                <a:solidFill>
                  <a:srgbClr val="292725"/>
                </a:solidFill>
                <a:latin typeface="Arial"/>
              </a:rPr>
              <a:t>The preparation links specified polarization states to activity beyond the receptor layer. A sharp electrode measures graded voltage changes inside a small cell, the rotating assembly supplied a known sequence of polarization states, and reversing the rotation changed the state order for the same recorded cell.</a:t>
            </a:r>
          </a:p>
        </p:txBody>
      </p:sp>
      <p:pic>
        <p:nvPicPr>
          <p:cNvPr id="4" name="Picture 3" descr="p20_f1abc.png"/>
          <p:cNvPicPr>
            <a:picLocks noChangeAspect="1"/>
          </p:cNvPicPr>
          <p:nvPr/>
        </p:nvPicPr>
        <p:blipFill>
          <a:blip r:embed="rId2"/>
          <a:stretch>
            <a:fillRect/>
          </a:stretch>
        </p:blipFill>
        <p:spPr>
          <a:xfrm>
            <a:off x="6820938" y="1280160"/>
            <a:ext cx="4395577"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&amp; Wang (2020), Fig. 1(A–D). Original recording chamber, eyestalk access and lamina section.</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&amp; Wang (2020)</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Receptors can combine linear and circular tuning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62564D"/>
                </a:solidFill>
                <a:latin typeface="Arial"/>
              </a:rPr>
              <a:t>Elliptically polarized light</a:t>
            </a:r>
            <a:r>
              <a:rPr sz="1500" b="0" i="0">
                <a:solidFill>
                  <a:srgbClr val="292725"/>
                </a:solidFill>
                <a:latin typeface="Arial"/>
              </a:rPr>
              <a:t> includes both linear and circular components; purely linear and circular states are limiting cases. Chiou and Wang recorded </a:t>
            </a:r>
            <a:r>
              <a:rPr sz="1500" b="0" i="1">
                <a:solidFill>
                  <a:srgbClr val="292725"/>
                </a:solidFill>
                <a:latin typeface="Arial"/>
              </a:rPr>
              <a:t>Haptosquilla pulchella</a:t>
            </a:r>
            <a:r>
              <a:rPr sz="1500" b="0" i="0">
                <a:solidFill>
                  <a:srgbClr val="292725"/>
                </a:solidFill>
                <a:latin typeface="Arial"/>
              </a:rPr>
              <a:t> receptors during the same sequence of changing linear orientation and opposite circular handedness.</a:t>
            </a:r>
          </a:p>
          <a:p>
            <a:pPr algn="l">
              <a:lnSpc>
                <a:spcPct val="108000"/>
              </a:lnSpc>
              <a:spcAft>
                <a:spcPts val="900"/>
              </a:spcAft>
            </a:pPr>
            <a:r>
              <a:rPr sz="1500" b="0" i="0">
                <a:solidFill>
                  <a:srgbClr val="292725"/>
                </a:solidFill>
                <a:latin typeface="Arial"/>
              </a:rPr>
              <a:t>Some cells primarily tracked linear angle, others changed little with polarization, and another group preferred one circular handedness while retaining angle-dependent fluctuations during linear stimulation. The published traces carry 10-mV vertical and 250-ms horizontal scale bars.</a:t>
            </a:r>
          </a:p>
          <a:p>
            <a:pPr algn="l">
              <a:lnSpc>
                <a:spcPct val="108000"/>
              </a:lnSpc>
              <a:spcAft>
                <a:spcPts val="900"/>
              </a:spcAft>
            </a:pPr>
            <a:r>
              <a:rPr sz="1500" b="0" i="0">
                <a:solidFill>
                  <a:srgbClr val="292725"/>
                </a:solidFill>
                <a:latin typeface="Arial"/>
              </a:rPr>
              <a:t>Combined sensitivity supports receptors tuned to elliptical rather than perfectly circular states. A receptor responsive to both components can favor a particular elliptical state, and a difference between circular states does not require the response to every linear orientation to be identical. Species differ in how closely their receptors approach ideal circular selectivity.</a:t>
            </a:r>
          </a:p>
        </p:txBody>
      </p:sp>
      <p:pic>
        <p:nvPicPr>
          <p:cNvPr id="4" name="Picture 3" descr="p20_f2abcd.png"/>
          <p:cNvPicPr>
            <a:picLocks noChangeAspect="1"/>
          </p:cNvPicPr>
          <p:nvPr/>
        </p:nvPicPr>
        <p:blipFill>
          <a:blip r:embed="rId2"/>
          <a:stretch>
            <a:fillRect/>
          </a:stretch>
        </p:blipFill>
        <p:spPr>
          <a:xfrm>
            <a:off x="7802569" y="1280160"/>
            <a:ext cx="2432315"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&amp; Wang (2020), Fig. 2(A–D). Original receptor traces for changing linear angle and circular handedness.</a:t>
            </a:r>
          </a:p>
        </p:txBody>
      </p:sp>
      <p:pic>
        <p:nvPicPr>
          <p:cNvPr id="6" name="Picture 5" descr="p20_f1abc.png"/>
          <p:cNvPicPr>
            <a:picLocks noChangeAspect="1"/>
          </p:cNvPicPr>
          <p:nvPr/>
        </p:nvPicPr>
        <p:blipFill>
          <a:blip r:embed="rId3"/>
          <a:stretch>
            <a:fillRect/>
          </a:stretch>
        </p:blipFill>
        <p:spPr>
          <a:xfrm>
            <a:off x="8247163" y="4251960"/>
            <a:ext cx="1543128"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&amp; Wang (2020), Fig. 1(A–D). Retinal access and the sampled lamina region.</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&amp; Wang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Lamina responses differ from single-receptor tuning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92725"/>
                </a:solidFill>
                <a:latin typeface="Arial"/>
              </a:rPr>
              <a:t>A </a:t>
            </a:r>
            <a:r>
              <a:rPr sz="1550" b="1" i="0">
                <a:solidFill>
                  <a:srgbClr val="62564D"/>
                </a:solidFill>
                <a:latin typeface="Arial"/>
              </a:rPr>
              <a:t>lamina monopolar cell</a:t>
            </a:r>
            <a:r>
              <a:rPr sz="1550" b="0" i="0">
                <a:solidFill>
                  <a:srgbClr val="292725"/>
                </a:solidFill>
                <a:latin typeface="Arial"/>
              </a:rPr>
              <a:t> is an interneuron with a main axon traversing the lamina and branches within its processing layers. Chiou and Wang identified monopolar-cell-like responses in </a:t>
            </a:r>
            <a:r>
              <a:rPr sz="1550" b="0" i="1">
                <a:solidFill>
                  <a:srgbClr val="292725"/>
                </a:solidFill>
                <a:latin typeface="Arial"/>
              </a:rPr>
              <a:t>Haptosquilla pulchella</a:t>
            </a:r>
            <a:r>
              <a:rPr sz="1550" b="0" i="0">
                <a:solidFill>
                  <a:srgbClr val="292725"/>
                </a:solidFill>
                <a:latin typeface="Arial"/>
              </a:rPr>
              <a:t> from recording depth and characteristic graded voltage changes.</a:t>
            </a:r>
          </a:p>
          <a:p>
            <a:pPr algn="l">
              <a:lnSpc>
                <a:spcPct val="108000"/>
              </a:lnSpc>
              <a:spcAft>
                <a:spcPts val="960"/>
              </a:spcAft>
            </a:pPr>
            <a:r>
              <a:rPr sz="1550" b="0" i="0">
                <a:solidFill>
                  <a:srgbClr val="292725"/>
                </a:solidFill>
                <a:latin typeface="Arial"/>
              </a:rPr>
              <a:t>A 0.5-s white-light pulse produced hyperpolarization, a voltage shift toward a more negative membrane potential. Polarization-sensitive examples had two response episodes as the linear electric vector swept through 180°, including approximately 45° and 135° in one recording. Reverse rotation altered waveform shape while preserving its period.</a:t>
            </a:r>
          </a:p>
          <a:p>
            <a:pPr algn="l">
              <a:lnSpc>
                <a:spcPct val="108000"/>
              </a:lnSpc>
              <a:spcAft>
                <a:spcPts val="960"/>
              </a:spcAft>
            </a:pPr>
            <a:r>
              <a:rPr sz="1550" b="0" i="0">
                <a:solidFill>
                  <a:srgbClr val="292725"/>
                </a:solidFill>
                <a:latin typeface="Arial"/>
              </a:rPr>
              <a:t>The responses support convergence from differently oriented inputs. Two response episodes during a half-turn of the electric vector differ from the single preferred-axis response of a photoreceptor, and reversing the sequence tests whether the response depends on dynamics as well as orientation.</a:t>
            </a:r>
          </a:p>
        </p:txBody>
      </p:sp>
      <p:pic>
        <p:nvPicPr>
          <p:cNvPr id="4" name="Picture 3" descr="p20_f3def.png"/>
          <p:cNvPicPr>
            <a:picLocks noChangeAspect="1"/>
          </p:cNvPicPr>
          <p:nvPr/>
        </p:nvPicPr>
        <p:blipFill>
          <a:blip r:embed="rId2"/>
          <a:stretch>
            <a:fillRect/>
          </a:stretch>
        </p:blipFill>
        <p:spPr>
          <a:xfrm>
            <a:off x="6412687" y="1280160"/>
            <a:ext cx="5212080" cy="1624186"/>
          </a:xfrm>
          <a:prstGeom prst="rect">
            <a:avLst/>
          </a:prstGeom>
        </p:spPr>
      </p:pic>
      <p:sp>
        <p:nvSpPr>
          <p:cNvPr id="5" name="Figure caption"/>
          <p:cNvSpPr txBox="1"/>
          <p:nvPr/>
        </p:nvSpPr>
        <p:spPr>
          <a:xfrm>
            <a:off x="6412687" y="2995786"/>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&amp; Wang (2020), Fig. 3(D–F). Monopolar-cell-like voltage responses to flashes and reversed polarization sequences.</a:t>
            </a:r>
          </a:p>
        </p:txBody>
      </p:sp>
      <p:pic>
        <p:nvPicPr>
          <p:cNvPr id="6" name="Picture 5" descr="n25_f5ab.png"/>
          <p:cNvPicPr>
            <a:picLocks noChangeAspect="1"/>
          </p:cNvPicPr>
          <p:nvPr/>
        </p:nvPicPr>
        <p:blipFill>
          <a:blip r:embed="rId3"/>
          <a:stretch>
            <a:fillRect/>
          </a:stretch>
        </p:blipFill>
        <p:spPr>
          <a:xfrm>
            <a:off x="6538325" y="4251960"/>
            <a:ext cx="496080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5(A). Published monopolar-cell and neighboring interneuron reconstructions.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&amp; Wang (2020); Streets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Lamina cells can favor circular handedness selectively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Chiou and Wang found lamina-region cells in </a:t>
            </a:r>
            <a:r>
              <a:rPr sz="1600" b="0" i="1">
                <a:solidFill>
                  <a:srgbClr val="292725"/>
                </a:solidFill>
                <a:latin typeface="Arial"/>
              </a:rPr>
              <a:t>Haptosquilla pulchella</a:t>
            </a:r>
            <a:r>
              <a:rPr sz="1600" b="0" i="0">
                <a:solidFill>
                  <a:srgbClr val="292725"/>
                </a:solidFill>
                <a:latin typeface="Arial"/>
              </a:rPr>
              <a:t> whose responses differed specifically during right-circularly polarized stimulation. A brief white-light pulse depolarized these cells, increasing their membrane potential relative to rest.</a:t>
            </a:r>
          </a:p>
          <a:p>
            <a:pPr algn="l">
              <a:lnSpc>
                <a:spcPct val="108000"/>
              </a:lnSpc>
              <a:spcAft>
                <a:spcPts val="960"/>
              </a:spcAft>
            </a:pPr>
            <a:r>
              <a:rPr sz="1600" b="0" i="0">
                <a:solidFill>
                  <a:srgbClr val="292725"/>
                </a:solidFill>
                <a:latin typeface="Arial"/>
              </a:rPr>
              <a:t>During the rotating stimulus sequence, right-circular light elicited a transient decrease from the depolarized level. Changing the stimulus to an off-axis position increased noise but preserved the qualitative response pattern. The brief intensity reductions at filter boundaries did not produce the same characteristic response.</a:t>
            </a:r>
          </a:p>
          <a:p>
            <a:pPr algn="l">
              <a:lnSpc>
                <a:spcPct val="108000"/>
              </a:lnSpc>
              <a:spcAft>
                <a:spcPts val="960"/>
              </a:spcAft>
            </a:pPr>
            <a:r>
              <a:rPr sz="1600" b="0" i="0">
                <a:solidFill>
                  <a:srgbClr val="292725"/>
                </a:solidFill>
                <a:latin typeface="Arial"/>
              </a:rPr>
              <a:t>Selectivity beyond the retina supports separation of linear and circular signal components in early visual processing. The response is defined relative to the cell's ongoing light-evoked depolarization, so a transient decrease differs from a failure to respond, and off-axis stimulation and the filter-transition dimming controls address alignment and intensity artifacts.</a:t>
            </a:r>
          </a:p>
        </p:txBody>
      </p:sp>
      <p:pic>
        <p:nvPicPr>
          <p:cNvPr id="4" name="Picture 3" descr="p20_f4abcdef.png"/>
          <p:cNvPicPr>
            <a:picLocks noChangeAspect="1"/>
          </p:cNvPicPr>
          <p:nvPr/>
        </p:nvPicPr>
        <p:blipFill>
          <a:blip r:embed="rId2"/>
          <a:stretch>
            <a:fillRect/>
          </a:stretch>
        </p:blipFill>
        <p:spPr>
          <a:xfrm>
            <a:off x="7335565" y="1280160"/>
            <a:ext cx="3366323"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&amp; Wang (2020), Fig. 4(A–F). Original circular-sensitive responses under on-axis and off-axis stimulation.</a:t>
            </a:r>
          </a:p>
        </p:txBody>
      </p:sp>
      <p:pic>
        <p:nvPicPr>
          <p:cNvPr id="6" name="Picture 5" descr="n25_f5cf.png"/>
          <p:cNvPicPr>
            <a:picLocks noChangeAspect="1"/>
          </p:cNvPicPr>
          <p:nvPr/>
        </p:nvPicPr>
        <p:blipFill>
          <a:blip r:embed="rId3"/>
          <a:stretch>
            <a:fillRect/>
          </a:stretch>
        </p:blipFill>
        <p:spPr>
          <a:xfrm>
            <a:off x="8141468" y="4251960"/>
            <a:ext cx="1754516"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5(C). Published lamina micrographs with identified neuronal profiles.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&amp; Wang (2020); Streets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Volume microscopy reconstructs lamina input columns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Serial block-face electron microscopy</a:t>
            </a:r>
            <a:r>
              <a:rPr sz="1600" b="0" i="0">
                <a:solidFill>
                  <a:srgbClr val="292725"/>
                </a:solidFill>
                <a:latin typeface="Arial"/>
              </a:rPr>
              <a:t> repeatedly images a tissue block as thin layers are removed, producing a three-dimensional volume. Streets and colleagues used it to follow photoreceptor axons and lamina interneurons in </a:t>
            </a:r>
            <a:r>
              <a:rPr sz="1600" b="0" i="1">
                <a:solidFill>
                  <a:srgbClr val="292725"/>
                </a:solidFill>
                <a:latin typeface="Arial"/>
              </a:rPr>
              <a:t>Haptosquilla trispinosa</a:t>
            </a:r>
            <a:r>
              <a:rPr sz="1600" b="0" i="0">
                <a:solidFill>
                  <a:srgbClr val="292725"/>
                </a:solidFill>
                <a:latin typeface="Arial"/>
              </a:rPr>
              <a:t> and </a:t>
            </a:r>
            <a:r>
              <a:rPr sz="1600" b="0" i="1">
                <a:solidFill>
                  <a:srgbClr val="292725"/>
                </a:solidFill>
                <a:latin typeface="Arial"/>
              </a:rPr>
              <a:t>Alachosquilla vicinia</a:t>
            </a:r>
            <a:r>
              <a:rPr sz="1600" b="0" i="0">
                <a:solidFill>
                  <a:srgbClr val="292725"/>
                </a:solidFill>
                <a:latin typeface="Arial"/>
              </a:rPr>
              <a:t>.</a:t>
            </a:r>
          </a:p>
          <a:p>
            <a:pPr algn="l">
              <a:lnSpc>
                <a:spcPct val="108000"/>
              </a:lnSpc>
              <a:spcAft>
                <a:spcPts val="960"/>
              </a:spcAft>
            </a:pPr>
            <a:r>
              <a:rPr sz="1600" b="0" i="0">
                <a:solidFill>
                  <a:srgbClr val="292725"/>
                </a:solidFill>
                <a:latin typeface="Arial"/>
              </a:rPr>
              <a:t>High-resolution stacks used 50-nm section steps, with image pixels approximately 10–15 nm across. Identified profiles were traced through successive images to reconstruct cartridge organization. Distal retinal cell identities constrained the assignment of the axons entering the lamina.</a:t>
            </a:r>
          </a:p>
          <a:p>
            <a:pPr algn="l">
              <a:lnSpc>
                <a:spcPct val="108000"/>
              </a:lnSpc>
              <a:spcAft>
                <a:spcPts val="960"/>
              </a:spcAft>
            </a:pPr>
            <a:r>
              <a:rPr sz="1600" b="0" i="0">
                <a:solidFill>
                  <a:srgbClr val="292725"/>
                </a:solidFill>
                <a:latin typeface="Arial"/>
              </a:rPr>
              <a:t>The volumes establish spatial relationships and branching patterns at finer resolution than conventional tissue staining. Reconstruction follows the same process through successive sections instead of assigning connectivity from one two-dimensional image, and small section spacing improves continuity between neighboring profiles.</a:t>
            </a:r>
          </a:p>
        </p:txBody>
      </p:sp>
      <p:pic>
        <p:nvPicPr>
          <p:cNvPr id="4" name="Picture 3" descr="n25_f3ab.png"/>
          <p:cNvPicPr>
            <a:picLocks noChangeAspect="1"/>
          </p:cNvPicPr>
          <p:nvPr/>
        </p:nvPicPr>
        <p:blipFill>
          <a:blip r:embed="rId2"/>
          <a:stretch>
            <a:fillRect/>
          </a:stretch>
        </p:blipFill>
        <p:spPr>
          <a:xfrm>
            <a:off x="6412687" y="1280160"/>
            <a:ext cx="5212080" cy="2370837"/>
          </a:xfrm>
          <a:prstGeom prst="rect">
            <a:avLst/>
          </a:prstGeom>
        </p:spPr>
      </p:pic>
      <p:sp>
        <p:nvSpPr>
          <p:cNvPr id="5" name="Figure caption"/>
          <p:cNvSpPr txBox="1"/>
          <p:nvPr/>
        </p:nvSpPr>
        <p:spPr>
          <a:xfrm>
            <a:off x="6412687" y="374243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3(A, B). Original electron micrographs with author-labeled receptor profiles.</a:t>
            </a:r>
          </a:p>
        </p:txBody>
      </p:sp>
      <p:pic>
        <p:nvPicPr>
          <p:cNvPr id="6" name="Picture 5" descr="n25_f4ab.png"/>
          <p:cNvPicPr>
            <a:picLocks noChangeAspect="1"/>
          </p:cNvPicPr>
          <p:nvPr/>
        </p:nvPicPr>
        <p:blipFill>
          <a:blip r:embed="rId3"/>
          <a:stretch>
            <a:fillRect/>
          </a:stretch>
        </p:blipFill>
        <p:spPr>
          <a:xfrm>
            <a:off x="7780230" y="4251960"/>
            <a:ext cx="247699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4(A–F). Author-reconstructed hemisphere photoreceptor terminals.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Streets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Monopolar branching preserves distinct candidate inputs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0" i="0">
                <a:solidFill>
                  <a:srgbClr val="292725"/>
                </a:solidFill>
                <a:latin typeface="Arial"/>
              </a:rPr>
              <a:t>Streets and colleagues reconstructed multiple monopolar-cell types in individual lamina cartridges. LMC3 outer and inner cells concentrated branches in different external plexiform layers, while LMC2 extended branches through both layers. LMC1 cells occupied complementary sides of a cartridge.</a:t>
            </a:r>
          </a:p>
          <a:p>
            <a:pPr algn="l">
              <a:lnSpc>
                <a:spcPct val="108000"/>
              </a:lnSpc>
              <a:spcAft>
                <a:spcPts val="900"/>
              </a:spcAft>
            </a:pPr>
            <a:r>
              <a:rPr sz="1450" b="0" i="0">
                <a:solidFill>
                  <a:srgbClr val="292725"/>
                </a:solidFill>
                <a:latin typeface="Arial"/>
              </a:rPr>
              <a:t>These patterns occurred in two stomatopod species with different visual ecologies. Layer-restricted cells are candidates for retaining distinct spectral or polarization inputs, while cells spanning layers could integrate a broader set of receptor signals. The published reconstructions include 10-µm scale bars.</a:t>
            </a:r>
          </a:p>
          <a:p>
            <a:pPr algn="l">
              <a:lnSpc>
                <a:spcPct val="108000"/>
              </a:lnSpc>
              <a:spcAft>
                <a:spcPts val="900"/>
              </a:spcAft>
            </a:pPr>
            <a:r>
              <a:rPr sz="1450" b="0" i="0">
                <a:solidFill>
                  <a:srgbClr val="292725"/>
                </a:solidFill>
                <a:latin typeface="Arial"/>
              </a:rPr>
              <a:t>Opponency requires more than separated inputs: one stimulus must affect the output differently from another through a defined interaction. A branch restricted to one layer is positioned near one receptor group, whereas a branch spanning both layers has access to a different mixture of signals, and similar arrangements in two species with different visual ecologies indicate that the major branching patterns are not unique to one sampled species.</a:t>
            </a:r>
          </a:p>
        </p:txBody>
      </p:sp>
      <p:pic>
        <p:nvPicPr>
          <p:cNvPr id="4" name="Picture 3" descr="n25_f5de.png"/>
          <p:cNvPicPr>
            <a:picLocks noChangeAspect="1"/>
          </p:cNvPicPr>
          <p:nvPr/>
        </p:nvPicPr>
        <p:blipFill>
          <a:blip r:embed="rId2"/>
          <a:stretch>
            <a:fillRect/>
          </a:stretch>
        </p:blipFill>
        <p:spPr>
          <a:xfrm>
            <a:off x="6412687" y="1280160"/>
            <a:ext cx="5212080" cy="3643498"/>
          </a:xfrm>
          <a:prstGeom prst="rect">
            <a:avLst/>
          </a:prstGeom>
        </p:spPr>
      </p:pic>
      <p:sp>
        <p:nvSpPr>
          <p:cNvPr id="5" name="Figure caption"/>
          <p:cNvSpPr txBox="1"/>
          <p:nvPr/>
        </p:nvSpPr>
        <p:spPr>
          <a:xfrm>
            <a:off x="6412687" y="501509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5(A–F). Comparative Alachosquilla interneuron reconstructions.</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Streets et al. (2025)</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Cross-cartridge branches can integrate channels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Tangential cells</a:t>
            </a:r>
            <a:r>
              <a:rPr sz="1500" b="0" i="0">
                <a:solidFill>
                  <a:srgbClr val="292725"/>
                </a:solidFill>
                <a:latin typeface="Arial"/>
              </a:rPr>
              <a:t> have branches extending across processing columns. Streets and colleagues traced such cells and other interneurons beyond their parent lamina cartridges, finding routes between nearby midband rows as well as within rows and hemispheric regions.</a:t>
            </a:r>
          </a:p>
          <a:p>
            <a:pPr algn="l">
              <a:lnSpc>
                <a:spcPct val="108000"/>
              </a:lnSpc>
              <a:spcAft>
                <a:spcPts val="960"/>
              </a:spcAft>
            </a:pPr>
            <a:r>
              <a:rPr sz="1500" b="0" i="0">
                <a:solidFill>
                  <a:srgbClr val="292725"/>
                </a:solidFill>
                <a:latin typeface="Arial"/>
              </a:rPr>
              <a:t>To estimate possible contacts, the authors measured reconstructed volume overlap after approximately 50-nm dilation of segmented surfaces. Their matrices summarize proximity between identified processes. Midband branches often extended within the same visual column, potentially linking different spectral sampling rows.</a:t>
            </a:r>
          </a:p>
          <a:p>
            <a:pPr algn="l">
              <a:lnSpc>
                <a:spcPct val="108000"/>
              </a:lnSpc>
              <a:spcAft>
                <a:spcPts val="960"/>
              </a:spcAft>
            </a:pPr>
            <a:r>
              <a:rPr sz="1500" b="0" i="0">
                <a:solidFill>
                  <a:srgbClr val="292725"/>
                </a:solidFill>
                <a:latin typeface="Arial"/>
              </a:rPr>
              <a:t>These are candidate integration routes. A cartridge receives an ommatidial input, but its branches need not stay within that column, so cross-cartridge anatomy allows a cell to encounter signals from neighboring receptor populations. Dilating the segmented surfaces by about 50 nm increases the chance of detecting neighboring membranes, and the resulting overlap is a proxy for possible contact.</a:t>
            </a:r>
          </a:p>
        </p:txBody>
      </p:sp>
      <p:pic>
        <p:nvPicPr>
          <p:cNvPr id="4" name="Picture 3" descr="n25_f6cd.png"/>
          <p:cNvPicPr>
            <a:picLocks noChangeAspect="1"/>
          </p:cNvPicPr>
          <p:nvPr/>
        </p:nvPicPr>
        <p:blipFill>
          <a:blip r:embed="rId2"/>
          <a:stretch>
            <a:fillRect/>
          </a:stretch>
        </p:blipFill>
        <p:spPr>
          <a:xfrm>
            <a:off x="6412687" y="1280160"/>
            <a:ext cx="5212080" cy="1796982"/>
          </a:xfrm>
          <a:prstGeom prst="rect">
            <a:avLst/>
          </a:prstGeom>
        </p:spPr>
      </p:pic>
      <p:sp>
        <p:nvSpPr>
          <p:cNvPr id="5" name="Figure caption"/>
          <p:cNvSpPr txBox="1"/>
          <p:nvPr/>
        </p:nvSpPr>
        <p:spPr>
          <a:xfrm>
            <a:off x="6412687" y="316858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6(C, D). The authors’ maps of branches extending into neighboring cartridges.</a:t>
            </a:r>
          </a:p>
        </p:txBody>
      </p:sp>
      <p:pic>
        <p:nvPicPr>
          <p:cNvPr id="6" name="Picture 5" descr="n25_f6ab.png"/>
          <p:cNvPicPr>
            <a:picLocks noChangeAspect="1"/>
          </p:cNvPicPr>
          <p:nvPr/>
        </p:nvPicPr>
        <p:blipFill>
          <a:blip r:embed="rId3"/>
          <a:stretch>
            <a:fillRect/>
          </a:stretch>
        </p:blipFill>
        <p:spPr>
          <a:xfrm>
            <a:off x="7273271" y="4251960"/>
            <a:ext cx="3490910"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6(A, B). Original proximity-derived overlap matrices, not verified synaptic connections.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Streets et al. (2025)</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The complete opponent circuit remains unresolved</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0" i="0">
                <a:solidFill>
                  <a:srgbClr val="292725"/>
                </a:solidFill>
                <a:latin typeface="Arial"/>
              </a:rPr>
              <a:t>Wang and Marshall varied illumination intensity as well as spectral composition in </a:t>
            </a:r>
            <a:r>
              <a:rPr sz="1450" b="0" i="1">
                <a:solidFill>
                  <a:srgbClr val="292725"/>
                </a:solidFill>
                <a:latin typeface="Arial"/>
              </a:rPr>
              <a:t>Haptosquilla trispinosa</a:t>
            </a:r>
            <a:r>
              <a:rPr sz="1450" b="0" i="0">
                <a:solidFill>
                  <a:srgbClr val="292725"/>
                </a:solidFill>
                <a:latin typeface="Arial"/>
              </a:rPr>
              <a:t>. Double-layered blue tents reduced blue-target discrimination, whereas neutral-density dimming preserved useful blue and green choices. Green choices exceeded 80% under the dimmest tested neutral illumination.</a:t>
            </a:r>
          </a:p>
          <a:p>
            <a:pPr algn="l">
              <a:lnSpc>
                <a:spcPct val="108000"/>
              </a:lnSpc>
              <a:spcAft>
                <a:spcPts val="900"/>
              </a:spcAft>
            </a:pPr>
            <a:r>
              <a:rPr sz="1450" b="0" i="0">
                <a:solidFill>
                  <a:srgbClr val="292725"/>
                </a:solidFill>
                <a:latin typeface="Arial"/>
              </a:rPr>
              <a:t>Together with restricted-spectrum discrimination, these controls support spectral comparison beyond a simple brightness rule. Streets and colleagues provide anatomical candidate pathways, while Chiou and Wang recorded transformed polarization responses in a different </a:t>
            </a:r>
            <a:r>
              <a:rPr sz="1450" b="0" i="1">
                <a:solidFill>
                  <a:srgbClr val="292725"/>
                </a:solidFill>
                <a:latin typeface="Arial"/>
              </a:rPr>
              <a:t>Haptosquilla</a:t>
            </a:r>
            <a:r>
              <a:rPr sz="1450" b="0" i="0">
                <a:solidFill>
                  <a:srgbClr val="292725"/>
                </a:solidFill>
                <a:latin typeface="Arial"/>
              </a:rPr>
              <a:t> species. The studies test complementary but distinct levels of processing.</a:t>
            </a:r>
          </a:p>
          <a:p>
            <a:pPr algn="l">
              <a:lnSpc>
                <a:spcPct val="108000"/>
              </a:lnSpc>
              <a:spcAft>
                <a:spcPts val="900"/>
              </a:spcAft>
            </a:pPr>
            <a:r>
              <a:rPr sz="1450" b="0" i="0">
                <a:solidFill>
                  <a:srgbClr val="292725"/>
                </a:solidFill>
                <a:latin typeface="Arial"/>
              </a:rPr>
              <a:t>A hybrid account of spectral recognition and opponency is supported as a proposal. The behavioral controls support channel comparison, the reconstructions constrain the available pathways, and the polarization recordings establish that lamina responses can differ from receptor responses; a complete mechanism would connect identified inputs through known synapses to recorded activity and behavior.</a:t>
            </a:r>
          </a:p>
        </p:txBody>
      </p:sp>
      <p:pic>
        <p:nvPicPr>
          <p:cNvPr id="4" name="Picture 3" descr="o25_f8ab.png"/>
          <p:cNvPicPr>
            <a:picLocks noChangeAspect="1"/>
          </p:cNvPicPr>
          <p:nvPr/>
        </p:nvPicPr>
        <p:blipFill>
          <a:blip r:embed="rId2"/>
          <a:stretch>
            <a:fillRect/>
          </a:stretch>
        </p:blipFill>
        <p:spPr>
          <a:xfrm>
            <a:off x="7486769" y="1280160"/>
            <a:ext cx="3063915"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8(A, B). Color-versus-grey choices under dim colored and neutral illumination.</a:t>
            </a:r>
          </a:p>
        </p:txBody>
      </p:sp>
      <p:pic>
        <p:nvPicPr>
          <p:cNvPr id="6" name="Picture 5" descr="n25_f5cf.png"/>
          <p:cNvPicPr>
            <a:picLocks noChangeAspect="1"/>
          </p:cNvPicPr>
          <p:nvPr/>
        </p:nvPicPr>
        <p:blipFill>
          <a:blip r:embed="rId3"/>
          <a:stretch>
            <a:fillRect/>
          </a:stretch>
        </p:blipFill>
        <p:spPr>
          <a:xfrm>
            <a:off x="8141468" y="4251960"/>
            <a:ext cx="1754516"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5(C). Original lamina tissue profiles that constrain candidate pathways.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Wang &amp; Marshall (2025); Streets et al. (2025); Chiou &amp; Wang (2020)</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Key takeaways</a:t>
            </a:r>
          </a:p>
        </p:txBody>
      </p:sp>
      <p:sp>
        <p:nvSpPr>
          <p:cNvPr id="3" name="Rectangle 2"/>
          <p:cNvSpPr/>
          <p:nvPr/>
        </p:nvSpPr>
        <p:spPr>
          <a:xfrm>
            <a:off x="566928" y="1234440"/>
            <a:ext cx="5391759" cy="1478279"/>
          </a:xfrm>
          <a:prstGeom prst="rect">
            <a:avLst/>
          </a:prstGeom>
          <a:solidFill>
            <a:srgbClr val="F5F3F1"/>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62564D"/>
                </a:solidFill>
                <a:latin typeface="Arial"/>
              </a:rPr>
              <a:t>Many inputs, coarse discrimination</a:t>
            </a:r>
            <a:r>
              <a:rPr sz="1500" b="0" i="0">
                <a:solidFill>
                  <a:srgbClr val="292725"/>
                </a:solidFill>
                <a:latin typeface="Arial"/>
              </a:rPr>
              <a:t> Narrow spectral receptors do not guarantee fine color resolution; Haptosquilla wavelength thresholds were approximately 12–25 nm in the tested choice assay.</a:t>
            </a:r>
          </a:p>
        </p:txBody>
      </p:sp>
      <p:sp>
        <p:nvSpPr>
          <p:cNvPr id="5" name="Rectangle 4"/>
          <p:cNvSpPr/>
          <p:nvPr/>
        </p:nvSpPr>
        <p:spPr>
          <a:xfrm>
            <a:off x="6233007" y="1234440"/>
            <a:ext cx="5391759" cy="1478279"/>
          </a:xfrm>
          <a:prstGeom prst="rect">
            <a:avLst/>
          </a:prstGeom>
          <a:solidFill>
            <a:srgbClr val="F5F3F1"/>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Pigments plus filters</a:t>
            </a:r>
            <a:r>
              <a:rPr sz="1600" b="0" i="0">
                <a:solidFill>
                  <a:srgbClr val="292725"/>
                </a:solidFill>
                <a:latin typeface="Arial"/>
              </a:rPr>
              <a:t> Tiered receptors and serial filters shape effective spectral sensitivity; two UV pigments can support several receptor classes through cone filtering.</a:t>
            </a:r>
          </a:p>
        </p:txBody>
      </p:sp>
      <p:sp>
        <p:nvSpPr>
          <p:cNvPr id="7" name="Rectangle 6"/>
          <p:cNvSpPr/>
          <p:nvPr/>
        </p:nvSpPr>
        <p:spPr>
          <a:xfrm>
            <a:off x="566928" y="2987040"/>
            <a:ext cx="5391759" cy="1478279"/>
          </a:xfrm>
          <a:prstGeom prst="rect">
            <a:avLst/>
          </a:prstGeom>
          <a:solidFill>
            <a:srgbClr val="F5F3F1"/>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Polarization-sensitive microvilli</a:t>
            </a:r>
            <a:r>
              <a:rPr sz="1600" b="0" i="0">
                <a:solidFill>
                  <a:srgbClr val="292725"/>
                </a:solidFill>
                <a:latin typeface="Arial"/>
              </a:rPr>
              <a:t> Aligned membranes produce directional absorption, and distinct hemispheric receptor axes provide complementary linear-polarization inputs.</a:t>
            </a:r>
          </a:p>
        </p:txBody>
      </p:sp>
      <p:sp>
        <p:nvSpPr>
          <p:cNvPr id="9" name="Rectangle 8"/>
          <p:cNvSpPr/>
          <p:nvPr/>
        </p:nvSpPr>
        <p:spPr>
          <a:xfrm>
            <a:off x="6233007" y="2987040"/>
            <a:ext cx="5391759" cy="1478279"/>
          </a:xfrm>
          <a:prstGeom prst="rect">
            <a:avLst/>
          </a:prstGeom>
          <a:solidFill>
            <a:srgbClr val="F5F3F1"/>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R8 optical conversion</a:t>
            </a:r>
            <a:r>
              <a:rPr sz="1600" b="0" i="0">
                <a:solidFill>
                  <a:srgbClr val="292725"/>
                </a:solidFill>
                <a:latin typeface="Arial"/>
              </a:rPr>
              <a:t> Quarter-wave retardance transforms opposite circular states into orthogonal linear inputs for the underlying receptors in species with the required geometry.</a:t>
            </a:r>
          </a:p>
        </p:txBody>
      </p:sp>
      <p:sp>
        <p:nvSpPr>
          <p:cNvPr id="11" name="Rectangle 10"/>
          <p:cNvSpPr/>
          <p:nvPr/>
        </p:nvSpPr>
        <p:spPr>
          <a:xfrm>
            <a:off x="566928" y="4739640"/>
            <a:ext cx="5391759" cy="1478279"/>
          </a:xfrm>
          <a:prstGeom prst="rect">
            <a:avLst/>
          </a:prstGeom>
          <a:solidFill>
            <a:srgbClr val="F5F3F1"/>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62564D"/>
                </a:solidFill>
                <a:latin typeface="Arial"/>
              </a:rPr>
              <a:t>Active polarization sampling</a:t>
            </a:r>
            <a:r>
              <a:rPr sz="1500" b="0" i="0">
                <a:solidFill>
                  <a:srgbClr val="292725"/>
                </a:solidFill>
                <a:latin typeface="Arial"/>
              </a:rPr>
              <a:t> Torsional eye movements change receptor alignment; object–background polarization contrast can favor an orientation different from object alignment alone.</a:t>
            </a:r>
          </a:p>
        </p:txBody>
      </p:sp>
      <p:sp>
        <p:nvSpPr>
          <p:cNvPr id="13" name="Rectangle 12"/>
          <p:cNvSpPr/>
          <p:nvPr/>
        </p:nvSpPr>
        <p:spPr>
          <a:xfrm>
            <a:off x="6233007" y="4739640"/>
            <a:ext cx="5391759" cy="1478279"/>
          </a:xfrm>
          <a:prstGeom prst="rect">
            <a:avLst/>
          </a:prstGeom>
          <a:solidFill>
            <a:srgbClr val="F5F3F1"/>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62564D"/>
                </a:solidFill>
                <a:latin typeface="Arial"/>
              </a:rPr>
              <a:t>Processing and its limits</a:t>
            </a:r>
            <a:r>
              <a:rPr sz="1500" b="0" i="0">
                <a:solidFill>
                  <a:srgbClr val="292725"/>
                </a:solidFill>
                <a:latin typeface="Arial"/>
              </a:rPr>
              <a:t> Behavior supports spectral comparison and lamina recordings support polarization transformations; hybrid color decoding and the complete synaptic mechanism remain unresolved.</a:t>
            </a:r>
          </a:p>
        </p:txBody>
      </p:sp>
      <p:sp>
        <p:nvSpPr>
          <p:cNvPr id="15" name="Rectangle 14"/>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 Bok et al. (2014, 2018); Chiou et al. (2008); Roberts et al. (2009); Daly et al. (2016); Wang &amp; Marshall (2025); Streets et al. (2025)</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Overlap marks candidate contacts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A </a:t>
            </a:r>
            <a:r>
              <a:rPr sz="1500" b="1" i="0">
                <a:solidFill>
                  <a:srgbClr val="62564D"/>
                </a:solidFill>
                <a:latin typeface="Arial"/>
              </a:rPr>
              <a:t>cartridge</a:t>
            </a:r>
            <a:r>
              <a:rPr sz="1500" b="0" i="0">
                <a:solidFill>
                  <a:srgbClr val="292725"/>
                </a:solidFill>
                <a:latin typeface="Arial"/>
              </a:rPr>
              <a:t> receives input from one ommatidium, but the branches of a cell need not stay within that column. Cross-cartridge branches allow a cell to encounter signals that originate from neighboring receptor populations, including different spectral sampling rows.</a:t>
            </a:r>
          </a:p>
          <a:p>
            <a:pPr algn="l">
              <a:lnSpc>
                <a:spcPct val="108000"/>
              </a:lnSpc>
              <a:spcAft>
                <a:spcPts val="960"/>
              </a:spcAft>
            </a:pPr>
            <a:r>
              <a:rPr sz="1500" b="0" i="0">
                <a:solidFill>
                  <a:srgbClr val="292725"/>
                </a:solidFill>
                <a:latin typeface="Arial"/>
              </a:rPr>
              <a:t>To estimate possible contacts, Streets and colleagues measured the volume overlap of reconstructed processes after dilating the segmented surfaces by approximately 50 nm. Dilation increases the chance of detecting neighboring membranes, so the overlap is a proxy for possible contact.</a:t>
            </a:r>
          </a:p>
          <a:p>
            <a:pPr algn="l">
              <a:lnSpc>
                <a:spcPct val="108000"/>
              </a:lnSpc>
              <a:spcAft>
                <a:spcPts val="960"/>
              </a:spcAft>
            </a:pPr>
            <a:r>
              <a:rPr sz="1500" b="0" i="0">
                <a:solidFill>
                  <a:srgbClr val="292725"/>
                </a:solidFill>
                <a:latin typeface="Arial"/>
              </a:rPr>
              <a:t>The matrices summarize proximity between identified processes, with colors encoding geometric overlap. Geometric overlap is a spatial opportunity for synapses, and the values report anatomical closeness between the reconstructed cells, which allows candidate integration routes to be compared across rows and hemispheric regions.</a:t>
            </a:r>
          </a:p>
        </p:txBody>
      </p:sp>
      <p:pic>
        <p:nvPicPr>
          <p:cNvPr id="4" name="Picture 3" descr="n25_f6cd.png"/>
          <p:cNvPicPr>
            <a:picLocks noChangeAspect="1"/>
          </p:cNvPicPr>
          <p:nvPr/>
        </p:nvPicPr>
        <p:blipFill>
          <a:blip r:embed="rId2"/>
          <a:stretch>
            <a:fillRect/>
          </a:stretch>
        </p:blipFill>
        <p:spPr>
          <a:xfrm>
            <a:off x="6412687" y="1280160"/>
            <a:ext cx="5212080" cy="1796982"/>
          </a:xfrm>
          <a:prstGeom prst="rect">
            <a:avLst/>
          </a:prstGeom>
        </p:spPr>
      </p:pic>
      <p:sp>
        <p:nvSpPr>
          <p:cNvPr id="5" name="Figure caption"/>
          <p:cNvSpPr txBox="1"/>
          <p:nvPr/>
        </p:nvSpPr>
        <p:spPr>
          <a:xfrm>
            <a:off x="6412687" y="316858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6(C, D). The authors’ maps of branches extending into neighboring cartridges.</a:t>
            </a:r>
          </a:p>
        </p:txBody>
      </p:sp>
      <p:pic>
        <p:nvPicPr>
          <p:cNvPr id="6" name="Picture 5" descr="n25_f6ab.png"/>
          <p:cNvPicPr>
            <a:picLocks noChangeAspect="1"/>
          </p:cNvPicPr>
          <p:nvPr/>
        </p:nvPicPr>
        <p:blipFill>
          <a:blip r:embed="rId3"/>
          <a:stretch>
            <a:fillRect/>
          </a:stretch>
        </p:blipFill>
        <p:spPr>
          <a:xfrm>
            <a:off x="7273271" y="4251960"/>
            <a:ext cx="3490910"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6(A, B). Original proximity-derived overlap matrices, not verified synaptic connections.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Streets et al.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44a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Volume microscopy follows a cell through sections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62564D"/>
                </a:solidFill>
                <a:latin typeface="Arial"/>
              </a:rPr>
              <a:t>Serial block-face electron microscopy</a:t>
            </a:r>
            <a:r>
              <a:rPr sz="1600" b="0" i="0">
                <a:solidFill>
                  <a:srgbClr val="292725"/>
                </a:solidFill>
                <a:latin typeface="Arial"/>
              </a:rPr>
              <a:t> repeatedly images a tissue block as thin layers are removed, producing a three-dimensional volume. A neuron that appears as a small profile in one image can be followed through successive images until its whole outline is reconstructed.</a:t>
            </a:r>
          </a:p>
          <a:p>
            <a:pPr algn="l">
              <a:lnSpc>
                <a:spcPct val="108000"/>
              </a:lnSpc>
              <a:spcAft>
                <a:spcPts val="960"/>
              </a:spcAft>
            </a:pPr>
            <a:r>
              <a:rPr sz="1600" b="0" i="0">
                <a:solidFill>
                  <a:srgbClr val="292725"/>
                </a:solidFill>
                <a:latin typeface="Arial"/>
              </a:rPr>
              <a:t>Streets and colleagues used 50-nm section steps with image pixels approximately 10–15 nm across to follow photoreceptor axons and lamina interneurons in Haptosquilla trispinosa and Alachosquilla vicinia. Distal retinal cell identities constrained the assignment of the axons entering the lamina.</a:t>
            </a:r>
          </a:p>
          <a:p>
            <a:pPr algn="l">
              <a:lnSpc>
                <a:spcPct val="108000"/>
              </a:lnSpc>
              <a:spcAft>
                <a:spcPts val="960"/>
              </a:spcAft>
            </a:pPr>
            <a:r>
              <a:rPr sz="1600" b="0" i="0">
                <a:solidFill>
                  <a:srgbClr val="292725"/>
                </a:solidFill>
                <a:latin typeface="Arial"/>
              </a:rPr>
              <a:t>Tracing the same process through successive sections gives continuity that a single two-dimensional image cannot, and small section spacing improves the match between neighboring profiles. The reconstructions give spatial relationships and branching patterns at finer resolution than conventional tissue staining.</a:t>
            </a:r>
          </a:p>
        </p:txBody>
      </p:sp>
      <p:pic>
        <p:nvPicPr>
          <p:cNvPr id="4" name="Picture 3" descr="n25_f3ab.png"/>
          <p:cNvPicPr>
            <a:picLocks noChangeAspect="1"/>
          </p:cNvPicPr>
          <p:nvPr/>
        </p:nvPicPr>
        <p:blipFill>
          <a:blip r:embed="rId2"/>
          <a:stretch>
            <a:fillRect/>
          </a:stretch>
        </p:blipFill>
        <p:spPr>
          <a:xfrm>
            <a:off x="6412687" y="1280160"/>
            <a:ext cx="5212080" cy="2370837"/>
          </a:xfrm>
          <a:prstGeom prst="rect">
            <a:avLst/>
          </a:prstGeom>
        </p:spPr>
      </p:pic>
      <p:sp>
        <p:nvSpPr>
          <p:cNvPr id="5" name="Figure caption"/>
          <p:cNvSpPr txBox="1"/>
          <p:nvPr/>
        </p:nvSpPr>
        <p:spPr>
          <a:xfrm>
            <a:off x="6412687" y="374243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3(A, B). Original electron micrographs with author-labeled receptor profiles.</a:t>
            </a:r>
          </a:p>
        </p:txBody>
      </p:sp>
      <p:pic>
        <p:nvPicPr>
          <p:cNvPr id="6" name="Picture 5" descr="n25_f4ab.png"/>
          <p:cNvPicPr>
            <a:picLocks noChangeAspect="1"/>
          </p:cNvPicPr>
          <p:nvPr/>
        </p:nvPicPr>
        <p:blipFill>
          <a:blip r:embed="rId3"/>
          <a:stretch>
            <a:fillRect/>
          </a:stretch>
        </p:blipFill>
        <p:spPr>
          <a:xfrm>
            <a:off x="7780230" y="4251960"/>
            <a:ext cx="2476993"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4(A–F). Author-reconstructed hemisphere photoreceptor terminals.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Streets et al.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42a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Lamina responses transform receptor signals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92725"/>
                </a:solidFill>
                <a:latin typeface="Arial"/>
              </a:rPr>
              <a:t>A </a:t>
            </a:r>
            <a:r>
              <a:rPr sz="1550" b="1" i="0">
                <a:solidFill>
                  <a:srgbClr val="62564D"/>
                </a:solidFill>
                <a:latin typeface="Arial"/>
              </a:rPr>
              <a:t>lamina monopolar cell</a:t>
            </a:r>
            <a:r>
              <a:rPr sz="1550" b="0" i="0">
                <a:solidFill>
                  <a:srgbClr val="292725"/>
                </a:solidFill>
                <a:latin typeface="Arial"/>
              </a:rPr>
              <a:t> is an interneuron whose main axon traverses the lamina and branches within its layers. Chiou and Wang identified monopolar-cell-like responses in Haptosquilla pulchella from recording depth and characteristic graded voltage changes.</a:t>
            </a:r>
          </a:p>
          <a:p>
            <a:pPr algn="l">
              <a:lnSpc>
                <a:spcPct val="108000"/>
              </a:lnSpc>
              <a:spcAft>
                <a:spcPts val="960"/>
              </a:spcAft>
            </a:pPr>
            <a:r>
              <a:rPr sz="1550" b="0" i="0">
                <a:solidFill>
                  <a:srgbClr val="292725"/>
                </a:solidFill>
                <a:latin typeface="Arial"/>
              </a:rPr>
              <a:t>A 0.5-s white-light pulse produced hyperpolarization, a shift toward a more negative membrane potential. As the linear electric vector swept through 180°, polarization-sensitive examples had two response episodes, including approximately 45° and 135° in one recording, whereas a photoreceptor has a single preferred axis.</a:t>
            </a:r>
          </a:p>
          <a:p>
            <a:pPr algn="l">
              <a:lnSpc>
                <a:spcPct val="108000"/>
              </a:lnSpc>
              <a:spcAft>
                <a:spcPts val="960"/>
              </a:spcAft>
            </a:pPr>
            <a:r>
              <a:rPr sz="1550" b="0" i="0">
                <a:solidFill>
                  <a:srgbClr val="292725"/>
                </a:solidFill>
                <a:latin typeface="Arial"/>
              </a:rPr>
              <a:t>Two episodes during a half-turn indicate convergence from differently oriented inputs. Reversing the rotation altered the waveform shape while preserving its period, which tests whether the response depends on dynamics as well as orientation.</a:t>
            </a:r>
          </a:p>
        </p:txBody>
      </p:sp>
      <p:pic>
        <p:nvPicPr>
          <p:cNvPr id="4" name="Picture 3" descr="p20_f3def.png"/>
          <p:cNvPicPr>
            <a:picLocks noChangeAspect="1"/>
          </p:cNvPicPr>
          <p:nvPr/>
        </p:nvPicPr>
        <p:blipFill>
          <a:blip r:embed="rId2"/>
          <a:stretch>
            <a:fillRect/>
          </a:stretch>
        </p:blipFill>
        <p:spPr>
          <a:xfrm>
            <a:off x="6412687" y="1280160"/>
            <a:ext cx="5212080" cy="1624186"/>
          </a:xfrm>
          <a:prstGeom prst="rect">
            <a:avLst/>
          </a:prstGeom>
        </p:spPr>
      </p:pic>
      <p:sp>
        <p:nvSpPr>
          <p:cNvPr id="5" name="Figure caption"/>
          <p:cNvSpPr txBox="1"/>
          <p:nvPr/>
        </p:nvSpPr>
        <p:spPr>
          <a:xfrm>
            <a:off x="6412687" y="2995786"/>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&amp; Wang (2020), Fig. 3(D–F). Monopolar-cell-like voltage responses to flashes and reversed polarization sequences.</a:t>
            </a:r>
          </a:p>
        </p:txBody>
      </p:sp>
      <p:pic>
        <p:nvPicPr>
          <p:cNvPr id="6" name="Picture 5" descr="n25_f5ab.png"/>
          <p:cNvPicPr>
            <a:picLocks noChangeAspect="1"/>
          </p:cNvPicPr>
          <p:nvPr/>
        </p:nvPicPr>
        <p:blipFill>
          <a:blip r:embed="rId3"/>
          <a:stretch>
            <a:fillRect/>
          </a:stretch>
        </p:blipFill>
        <p:spPr>
          <a:xfrm>
            <a:off x="6538325" y="4251960"/>
            <a:ext cx="496080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Streets et al. (2025), Fig. 5(A). Published monopolar-cell and neighboring interneuron reconstructions.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&amp; Wang (2020); Streets et al.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40a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Polarization distance is a model-based contrast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1" i="0">
                <a:solidFill>
                  <a:srgbClr val="62564D"/>
                </a:solidFill>
                <a:latin typeface="Arial"/>
              </a:rPr>
              <a:t>Polarization distance</a:t>
            </a:r>
            <a:r>
              <a:rPr sz="1500" b="0" i="0">
                <a:solidFill>
                  <a:srgbClr val="292725"/>
                </a:solidFill>
                <a:latin typeface="Arial"/>
              </a:rPr>
              <a:t> is a model-based measure of the contrast between two polarization states available to a specified receptor system. It combines the polarization of an object and its background with the orientation of the receptor axes.</a:t>
            </a:r>
          </a:p>
          <a:p>
            <a:pPr algn="l">
              <a:lnSpc>
                <a:spcPct val="108000"/>
              </a:lnSpc>
              <a:spcAft>
                <a:spcPts val="960"/>
              </a:spcAft>
            </a:pPr>
            <a:r>
              <a:rPr sz="1500" b="0" i="0">
                <a:solidFill>
                  <a:srgbClr val="292725"/>
                </a:solidFill>
                <a:latin typeface="Arial"/>
              </a:rPr>
              <a:t>Daly and colleagues calculated it from measured eye orientation, published receptor geometry and the polarization of the LED and its background. Because eye rotation changes the receptor axes, the predicted difference between object and background changes as the eye rolls.</a:t>
            </a:r>
          </a:p>
          <a:p>
            <a:pPr algn="l">
              <a:lnSpc>
                <a:spcPct val="108000"/>
              </a:lnSpc>
              <a:spcAft>
                <a:spcPts val="960"/>
              </a:spcAft>
            </a:pPr>
            <a:r>
              <a:rPr sz="1500" b="0" i="0">
                <a:solidFill>
                  <a:srgbClr val="292725"/>
                </a:solidFill>
                <a:latin typeface="Arial"/>
              </a:rPr>
              <a:t>The dorsal and ventral receptor populations differed in their calculated contrast because their axes were offset by 45°. Predicted hemispheric contrast increased toward the model's favorable alignment during LED presentation, whereas the movement did not similarly maximize the modeled midband polarization signal.</a:t>
            </a:r>
          </a:p>
        </p:txBody>
      </p:sp>
      <p:pic>
        <p:nvPicPr>
          <p:cNvPr id="4" name="Picture 3" descr="d16_f3cd.png"/>
          <p:cNvPicPr>
            <a:picLocks noChangeAspect="1"/>
          </p:cNvPicPr>
          <p:nvPr/>
        </p:nvPicPr>
        <p:blipFill>
          <a:blip r:embed="rId2"/>
          <a:stretch>
            <a:fillRect/>
          </a:stretch>
        </p:blipFill>
        <p:spPr>
          <a:xfrm>
            <a:off x="6412687" y="1280160"/>
            <a:ext cx="5212080" cy="2105083"/>
          </a:xfrm>
          <a:prstGeom prst="rect">
            <a:avLst/>
          </a:prstGeom>
        </p:spPr>
      </p:pic>
      <p:sp>
        <p:nvSpPr>
          <p:cNvPr id="5" name="Figure caption"/>
          <p:cNvSpPr txBox="1"/>
          <p:nvPr/>
        </p:nvSpPr>
        <p:spPr>
          <a:xfrm>
            <a:off x="6412687" y="3476683"/>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3(c, d). Published model-based contrast estimates before and during the LED.</a:t>
            </a:r>
          </a:p>
        </p:txBody>
      </p:sp>
      <p:pic>
        <p:nvPicPr>
          <p:cNvPr id="6" name="Picture 5" descr="d16_f2abcdef.png"/>
          <p:cNvPicPr>
            <a:picLocks noChangeAspect="1"/>
          </p:cNvPicPr>
          <p:nvPr/>
        </p:nvPicPr>
        <p:blipFill>
          <a:blip r:embed="rId3"/>
          <a:stretch>
            <a:fillRect/>
          </a:stretch>
        </p:blipFill>
        <p:spPr>
          <a:xfrm>
            <a:off x="8157836" y="4251960"/>
            <a:ext cx="1721782"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2(a–f). Anatomical axes used in the contrast calculation.</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Daly et al. (2016)</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35a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A quarter-wave retarder converts circular to linear</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292725"/>
                </a:solidFill>
                <a:latin typeface="Arial"/>
              </a:rPr>
              <a:t>A </a:t>
            </a:r>
            <a:r>
              <a:rPr sz="1500" b="1" i="0">
                <a:solidFill>
                  <a:srgbClr val="62564D"/>
                </a:solidFill>
                <a:latin typeface="Arial"/>
              </a:rPr>
              <a:t>quarter-wave retarder</a:t>
            </a:r>
            <a:r>
              <a:rPr sz="1500" b="0" i="0">
                <a:solidFill>
                  <a:srgbClr val="292725"/>
                </a:solidFill>
                <a:latin typeface="Arial"/>
              </a:rPr>
              <a:t> introduces a relative phase delay of one-quarter wavelength, or 90°, between orthogonal electric-field components. Retarding one component changes the combined polarization state without requiring the whole beam to be absorbed.</a:t>
            </a:r>
          </a:p>
          <a:p>
            <a:pPr algn="l">
              <a:lnSpc>
                <a:spcPct val="108000"/>
              </a:lnSpc>
              <a:spcAft>
                <a:spcPts val="900"/>
              </a:spcAft>
            </a:pPr>
            <a:r>
              <a:rPr sz="1500" b="0" i="0">
                <a:solidFill>
                  <a:srgbClr val="292725"/>
                </a:solidFill>
                <a:latin typeface="Arial"/>
              </a:rPr>
              <a:t>In Odontodactylus midband rows 5 and 6, an ordered R8 rhabdomere lies above two orthogonal groups of R1–R7 receptors. Its microvilli are oriented about 45° relative to the underlying absorption axes, so circular states of opposite handedness are converted into linear states at mutually orthogonal angles.</a:t>
            </a:r>
          </a:p>
          <a:p>
            <a:pPr algn="l">
              <a:lnSpc>
                <a:spcPct val="108000"/>
              </a:lnSpc>
              <a:spcAft>
                <a:spcPts val="900"/>
              </a:spcAft>
            </a:pPr>
            <a:r>
              <a:rPr sz="1500" b="0" i="0">
                <a:solidFill>
                  <a:srgbClr val="292725"/>
                </a:solidFill>
                <a:latin typeface="Arial"/>
              </a:rPr>
              <a:t>The underlying receptor groups then respond differently through their ordinary directional absorption, which links tissue geometry to receptor voltage without a circular-selective pigment. The conversion needs an appropriate phase delay at the wavelengths that are transmitted.</a:t>
            </a:r>
          </a:p>
        </p:txBody>
      </p:sp>
      <p:pic>
        <p:nvPicPr>
          <p:cNvPr id="4" name="Picture 3" descr="c08_f2abc.png"/>
          <p:cNvPicPr>
            <a:picLocks noChangeAspect="1"/>
          </p:cNvPicPr>
          <p:nvPr/>
        </p:nvPicPr>
        <p:blipFill>
          <a:blip r:embed="rId2"/>
          <a:stretch>
            <a:fillRect/>
          </a:stretch>
        </p:blipFill>
        <p:spPr>
          <a:xfrm>
            <a:off x="8213868" y="1280160"/>
            <a:ext cx="1609716"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2(A–C). Unchanged published anatomy and quarter-wave conversion mechanism.</a:t>
            </a:r>
          </a:p>
        </p:txBody>
      </p:sp>
      <p:pic>
        <p:nvPicPr>
          <p:cNvPr id="6" name="Picture 5" descr="c08_f1de.png"/>
          <p:cNvPicPr>
            <a:picLocks noChangeAspect="1"/>
          </p:cNvPicPr>
          <p:nvPr/>
        </p:nvPicPr>
        <p:blipFill>
          <a:blip r:embed="rId3"/>
          <a:stretch>
            <a:fillRect/>
          </a:stretch>
        </p:blipFill>
        <p:spPr>
          <a:xfrm>
            <a:off x="7620364" y="4251960"/>
            <a:ext cx="2796725"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Chiou et al. (2008), Fig. 1(D, E). Location of polarization rows and their optical tiers.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et al. (2008); Roberts et al. (2009)</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29a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Intensity curves separate sensitivity from intensity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1" i="0">
                <a:solidFill>
                  <a:srgbClr val="62564D"/>
                </a:solidFill>
                <a:latin typeface="Arial"/>
              </a:rPr>
              <a:t>Polarization sensitivity</a:t>
            </a:r>
            <a:r>
              <a:rPr sz="1450" b="0" i="0">
                <a:solidFill>
                  <a:srgbClr val="292725"/>
                </a:solidFill>
                <a:latin typeface="Arial"/>
              </a:rPr>
              <a:t> can be estimated by comparing the light intensities needed to produce equal voltage responses under preferred and unfavorable polarization states. A series of intensities separates the contribution of photon delivery from the contribution of polarization preference, which a single flash cannot do.</a:t>
            </a:r>
          </a:p>
          <a:p>
            <a:pPr algn="l">
              <a:lnSpc>
                <a:spcPct val="108000"/>
              </a:lnSpc>
              <a:spcAft>
                <a:spcPts val="900"/>
              </a:spcAft>
            </a:pPr>
            <a:r>
              <a:rPr sz="1450" b="0" i="0">
                <a:solidFill>
                  <a:srgbClr val="292725"/>
                </a:solidFill>
                <a:latin typeface="Arial"/>
              </a:rPr>
              <a:t>Kleinlogel and White measured intensity-response functions in Gonodactylus smithii. Hemispheric receptors required about an order-of-magnitude intensity difference between favorable and orthogonal linear orientations to produce comparable responses, and rows 5 and 6 similarly distinguished opposite circular states.</a:t>
            </a:r>
          </a:p>
          <a:p>
            <a:pPr algn="l">
              <a:lnSpc>
                <a:spcPct val="108000"/>
              </a:lnSpc>
              <a:spcAft>
                <a:spcPts val="900"/>
              </a:spcAft>
            </a:pPr>
            <a:r>
              <a:rPr sz="1450" b="0" i="0">
                <a:solidFill>
                  <a:srgbClr val="292725"/>
                </a:solidFill>
                <a:latin typeface="Arial"/>
              </a:rPr>
              <a:t>A sensitivity difference appears as a horizontal displacement between intensity-response functions. When two functions coincide, as the linear-polarization curves did in rows 5 and 6, the tested states need similar intensities for the same response.</a:t>
            </a:r>
          </a:p>
        </p:txBody>
      </p:sp>
      <p:pic>
        <p:nvPicPr>
          <p:cNvPr id="4" name="Picture 3" descr="kw08_f4ef.png"/>
          <p:cNvPicPr>
            <a:picLocks noChangeAspect="1"/>
          </p:cNvPicPr>
          <p:nvPr/>
        </p:nvPicPr>
        <p:blipFill>
          <a:blip r:embed="rId2"/>
          <a:stretch>
            <a:fillRect/>
          </a:stretch>
        </p:blipFill>
        <p:spPr>
          <a:xfrm>
            <a:off x="6412687" y="1280160"/>
            <a:ext cx="5212080" cy="1613348"/>
          </a:xfrm>
          <a:prstGeom prst="rect">
            <a:avLst/>
          </a:prstGeom>
        </p:spPr>
      </p:pic>
      <p:sp>
        <p:nvSpPr>
          <p:cNvPr id="5" name="Figure caption"/>
          <p:cNvSpPr txBox="1"/>
          <p:nvPr/>
        </p:nvSpPr>
        <p:spPr>
          <a:xfrm>
            <a:off x="6412687" y="298494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4(E, F). Intensity-response functions for preferred and orthogonal linear states.</a:t>
            </a:r>
          </a:p>
        </p:txBody>
      </p:sp>
      <p:pic>
        <p:nvPicPr>
          <p:cNvPr id="6" name="Picture 5" descr="kw08_f4gh.png"/>
          <p:cNvPicPr>
            <a:picLocks noChangeAspect="1"/>
          </p:cNvPicPr>
          <p:nvPr/>
        </p:nvPicPr>
        <p:blipFill>
          <a:blip r:embed="rId3"/>
          <a:stretch>
            <a:fillRect/>
          </a:stretch>
        </p:blipFill>
        <p:spPr>
          <a:xfrm>
            <a:off x="6470288" y="4251960"/>
            <a:ext cx="5096878"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Kleinlogel &amp; White (2008), Fig. 4(G, H). Circular-state preference and weak residual linear preference in midband cells.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Kleinlogel &amp; White (2008)</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26a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Polarization is a separate property of light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1" i="0">
                <a:solidFill>
                  <a:srgbClr val="62564D"/>
                </a:solidFill>
                <a:latin typeface="Arial"/>
              </a:rPr>
              <a:t>Polarization</a:t>
            </a:r>
            <a:r>
              <a:rPr sz="1550" b="0" i="0">
                <a:solidFill>
                  <a:srgbClr val="292725"/>
                </a:solidFill>
                <a:latin typeface="Arial"/>
              </a:rPr>
              <a:t> describes the organization of a light wave's electric-field oscillation. In linearly polarized light the electric vector oscillates along one orientation, so two lights can share a wavelength spectrum and intensity while differing in polarization orientation.</a:t>
            </a:r>
          </a:p>
          <a:p>
            <a:pPr algn="l">
              <a:lnSpc>
                <a:spcPct val="108000"/>
              </a:lnSpc>
              <a:spcAft>
                <a:spcPts val="960"/>
              </a:spcAft>
            </a:pPr>
            <a:r>
              <a:rPr sz="1550" b="0" i="0">
                <a:solidFill>
                  <a:srgbClr val="292725"/>
                </a:solidFill>
                <a:latin typeface="Arial"/>
              </a:rPr>
              <a:t>Stomatopod photoreceptors contain ordered microvilli, tiny membrane projections that organize the light-sensitive pigment, and aligned membranes provide a directional organization for photon absorption. A receptor can therefore respond differently when a polarizer rotates, even though the stimulus keeps the same wavelengths.</a:t>
            </a:r>
          </a:p>
          <a:p>
            <a:pPr algn="l">
              <a:lnSpc>
                <a:spcPct val="108000"/>
              </a:lnSpc>
              <a:spcAft>
                <a:spcPts val="960"/>
              </a:spcAft>
            </a:pPr>
            <a:r>
              <a:rPr sz="1550" b="0" i="0">
                <a:solidFill>
                  <a:srgbClr val="292725"/>
                </a:solidFill>
                <a:latin typeface="Arial"/>
              </a:rPr>
              <a:t>Polarization sensing and spectral discrimination depend on different receptor properties. A response to orientation requires the appropriate receptor geometry and later signal processing, and the receptor axes described in the anatomical work supply the geometry that Daly and colleagues used to analyze eye movements in polarized stimulus fields.</a:t>
            </a:r>
          </a:p>
        </p:txBody>
      </p:sp>
      <p:pic>
        <p:nvPicPr>
          <p:cNvPr id="4" name="Picture 3" descr="d16_f2abcdef.png"/>
          <p:cNvPicPr>
            <a:picLocks noChangeAspect="1"/>
          </p:cNvPicPr>
          <p:nvPr/>
        </p:nvPicPr>
        <p:blipFill>
          <a:blip r:embed="rId2"/>
          <a:stretch>
            <a:fillRect/>
          </a:stretch>
        </p:blipFill>
        <p:spPr>
          <a:xfrm>
            <a:off x="6566492" y="1280160"/>
            <a:ext cx="4904470"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Daly et al. (2016), Fig. 2(a–f). The authors’ published receptor geometry for linear-polarization sampling.</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Chiou et al. (2008); Kleinlogel &amp; White (2008); Daly et al. (2016)</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23a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Filters can shift sensitivity in either direction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450" b="0" i="0">
                <a:solidFill>
                  <a:srgbClr val="292725"/>
                </a:solidFill>
                <a:latin typeface="Arial"/>
              </a:rPr>
              <a:t>A </a:t>
            </a:r>
            <a:r>
              <a:rPr sz="1450" b="1" i="0">
                <a:solidFill>
                  <a:srgbClr val="62564D"/>
                </a:solidFill>
                <a:latin typeface="Arial"/>
              </a:rPr>
              <a:t>long-pass filter</a:t>
            </a:r>
            <a:r>
              <a:rPr sz="1450" b="0" i="0">
                <a:solidFill>
                  <a:srgbClr val="292725"/>
                </a:solidFill>
                <a:latin typeface="Arial"/>
              </a:rPr>
              <a:t> removes shorter wavelengths while transmitting longer ones, and a short-pass filter preferentially removes longer wavelengths. Because the filter acts before the pigment absorbs a photon, the same pigment can have a different effective sensitivity under each filter.</a:t>
            </a:r>
          </a:p>
          <a:p>
            <a:pPr algn="l">
              <a:lnSpc>
                <a:spcPct val="108000"/>
              </a:lnSpc>
              <a:spcAft>
                <a:spcPts val="960"/>
              </a:spcAft>
            </a:pPr>
            <a:r>
              <a:rPr sz="1450" b="0" i="0">
                <a:solidFill>
                  <a:srgbClr val="292725"/>
                </a:solidFill>
                <a:latin typeface="Arial"/>
              </a:rPr>
              <a:t>Bok and colleagues combined the measured cone-filter transmission with R8 pigment absorption in Neogonodactylus oerstedii. Row 1 filtering reduced sensitivity below about 350 nm, and filters absorbing near 372 and 375 nm in rows 3 and 4 narrowed sensitivity toward shorter ultraviolet wavelengths.</a:t>
            </a:r>
          </a:p>
          <a:p>
            <a:pPr algn="l">
              <a:lnSpc>
                <a:spcPct val="108000"/>
              </a:lnSpc>
              <a:spcAft>
                <a:spcPts val="960"/>
              </a:spcAft>
            </a:pPr>
            <a:r>
              <a:rPr sz="1450" b="0" i="0">
                <a:solidFill>
                  <a:srgbClr val="292725"/>
                </a:solidFill>
                <a:latin typeface="Arial"/>
              </a:rPr>
              <a:t>Two pigments in rows 5 and 6 together produced a narrow transmitted band around a predicted receptor peak of 340 nm. Combining two absorbing pigments to leave a narrow region of transmission differs from increasing the number of independently expressed opsins.</a:t>
            </a:r>
          </a:p>
        </p:txBody>
      </p:sp>
      <p:pic>
        <p:nvPicPr>
          <p:cNvPr id="4" name="Picture 3" descr="b14_f3c.png"/>
          <p:cNvPicPr>
            <a:picLocks noChangeAspect="1"/>
          </p:cNvPicPr>
          <p:nvPr/>
        </p:nvPicPr>
        <p:blipFill>
          <a:blip r:embed="rId2"/>
          <a:stretch>
            <a:fillRect/>
          </a:stretch>
        </p:blipFill>
        <p:spPr>
          <a:xfrm>
            <a:off x="6771408" y="1280160"/>
            <a:ext cx="2300078" cy="4297679"/>
          </a:xfrm>
          <a:prstGeom prst="rect">
            <a:avLst/>
          </a:prstGeom>
        </p:spPr>
      </p:pic>
      <p:sp>
        <p:nvSpPr>
          <p:cNvPr id="5" name="Figure caption"/>
          <p:cNvSpPr txBox="1"/>
          <p:nvPr/>
        </p:nvSpPr>
        <p:spPr>
          <a:xfrm>
            <a:off x="6412687" y="5669279"/>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3(C). Published predictions compared with measured receptor sensitivities.</a:t>
            </a:r>
          </a:p>
        </p:txBody>
      </p:sp>
      <p:pic>
        <p:nvPicPr>
          <p:cNvPr id="6" name="Picture 5" descr="b14_f2e.png"/>
          <p:cNvPicPr>
            <a:picLocks noChangeAspect="1"/>
          </p:cNvPicPr>
          <p:nvPr/>
        </p:nvPicPr>
        <p:blipFill>
          <a:blip r:embed="rId3"/>
          <a:stretch>
            <a:fillRect/>
          </a:stretch>
        </p:blipFill>
        <p:spPr>
          <a:xfrm>
            <a:off x="9613087" y="2148840"/>
            <a:ext cx="2011680" cy="932913"/>
          </a:xfrm>
          <a:prstGeom prst="rect">
            <a:avLst/>
          </a:prstGeom>
        </p:spPr>
      </p:pic>
      <p:sp>
        <p:nvSpPr>
          <p:cNvPr id="7" name="Figure caption"/>
          <p:cNvSpPr txBox="1"/>
          <p:nvPr/>
        </p:nvSpPr>
        <p:spPr>
          <a:xfrm>
            <a:off x="9613087" y="3154905"/>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2(E). Measured absorption and emission spectra of cone pigments.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19a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Transcripts, pigments and sensitivities differ</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An </a:t>
            </a:r>
            <a:r>
              <a:rPr sz="1500" b="1" i="0">
                <a:solidFill>
                  <a:srgbClr val="62564D"/>
                </a:solidFill>
                <a:latin typeface="Arial"/>
              </a:rPr>
              <a:t>opsin transcript</a:t>
            </a:r>
            <a:r>
              <a:rPr sz="1500" b="0" i="0">
                <a:solidFill>
                  <a:srgbClr val="292725"/>
                </a:solidFill>
                <a:latin typeface="Arial"/>
              </a:rPr>
              <a:t> is RNA encoding a candidate pigment protein, and in situ hybridization localizes that sequence in the retina. A pigment measurement describes the absorption of the protein, and an electrical recording describes the sensitivity of an intact receptor.</a:t>
            </a:r>
          </a:p>
          <a:p>
            <a:pPr algn="l">
              <a:lnSpc>
                <a:spcPct val="108000"/>
              </a:lnSpc>
              <a:spcAft>
                <a:spcPts val="960"/>
              </a:spcAft>
            </a:pPr>
            <a:r>
              <a:rPr sz="1500" b="0" i="0">
                <a:solidFill>
                  <a:srgbClr val="292725"/>
                </a:solidFill>
                <a:latin typeface="Arial"/>
              </a:rPr>
              <a:t>In Neogonodactylus oerstedii, uv1 occupied R8 cells in midband rows 2–6 and uv2 occupied row 1 with a complementary peripheral distribution, corresponding to measured pigment peaks near 334 and 383 nm. A third transcript, uv3, included nuclear labeling, which led the authors to consider a possible nonfunctional gene product.</a:t>
            </a:r>
          </a:p>
          <a:p>
            <a:pPr algn="l">
              <a:lnSpc>
                <a:spcPct val="108000"/>
              </a:lnSpc>
              <a:spcAft>
                <a:spcPts val="960"/>
              </a:spcAft>
            </a:pPr>
            <a:r>
              <a:rPr sz="1500" b="0" i="0">
                <a:solidFill>
                  <a:srgbClr val="292725"/>
                </a:solidFill>
                <a:latin typeface="Arial"/>
              </a:rPr>
              <a:t>Two functional pigments are fewer than the several receptor classes, so neither the transcript number nor the pigment number equals the number of effective sensitivities. Different filters acting on the same pigment supply additional tuning.</a:t>
            </a:r>
          </a:p>
        </p:txBody>
      </p:sp>
      <p:pic>
        <p:nvPicPr>
          <p:cNvPr id="4" name="Picture 3" descr="b14_f1ef.png"/>
          <p:cNvPicPr>
            <a:picLocks noChangeAspect="1"/>
          </p:cNvPicPr>
          <p:nvPr/>
        </p:nvPicPr>
        <p:blipFill>
          <a:blip r:embed="rId2"/>
          <a:stretch>
            <a:fillRect/>
          </a:stretch>
        </p:blipFill>
        <p:spPr>
          <a:xfrm>
            <a:off x="7493896" y="1280160"/>
            <a:ext cx="3049660"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1(E, F). Separate UV1 and UV2 transcript distributions in R8.</a:t>
            </a:r>
          </a:p>
        </p:txBody>
      </p:sp>
      <p:pic>
        <p:nvPicPr>
          <p:cNvPr id="6" name="Picture 5" descr="b14_f1gh.png"/>
          <p:cNvPicPr>
            <a:picLocks noChangeAspect="1"/>
          </p:cNvPicPr>
          <p:nvPr/>
        </p:nvPicPr>
        <p:blipFill>
          <a:blip r:embed="rId3"/>
          <a:stretch>
            <a:fillRect/>
          </a:stretch>
        </p:blipFill>
        <p:spPr>
          <a:xfrm>
            <a:off x="7107631" y="4251960"/>
            <a:ext cx="3822191"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1(G, H). Measured pigment peaks at 334 and 383 nm.</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Bok et al. (2014)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17a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Effective sensitivity combines pigment and filters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450" b="1" i="0">
                <a:solidFill>
                  <a:srgbClr val="62564D"/>
                </a:solidFill>
                <a:latin typeface="Arial"/>
              </a:rPr>
              <a:t>Microspectrophotometry</a:t>
            </a:r>
            <a:r>
              <a:rPr sz="1450" b="0" i="0">
                <a:solidFill>
                  <a:srgbClr val="292725"/>
                </a:solidFill>
                <a:latin typeface="Arial"/>
              </a:rPr>
              <a:t> measures how a microscopic specimen absorbs light across wavelengths. Cronin and Marshall compared absorption before and after strong illumination in the same receptor region, and the difference isolates the contribution of the light-sensitive pigment.</a:t>
            </a:r>
          </a:p>
          <a:p>
            <a:pPr algn="l">
              <a:lnSpc>
                <a:spcPct val="108000"/>
              </a:lnSpc>
              <a:spcAft>
                <a:spcPts val="960"/>
              </a:spcAft>
            </a:pPr>
            <a:r>
              <a:rPr sz="1450" b="0" i="0">
                <a:solidFill>
                  <a:srgbClr val="292725"/>
                </a:solidFill>
                <a:latin typeface="Arial"/>
              </a:rPr>
              <a:t>Subtracting the post-illumination spectrum from the dark-adapted spectrum separates the changing visual pigment from more stable absorbing material, and fitting a template estimates where that pigment absorbs most strongly. Fitted pigment peaks ranged from approximately 400 to 539 nm across the main retinal classes.</a:t>
            </a:r>
          </a:p>
          <a:p>
            <a:pPr algn="l">
              <a:lnSpc>
                <a:spcPct val="108000"/>
              </a:lnSpc>
              <a:spcAft>
                <a:spcPts val="960"/>
              </a:spcAft>
            </a:pPr>
            <a:r>
              <a:rPr sz="1450" b="0" i="0">
                <a:solidFill>
                  <a:srgbClr val="292725"/>
                </a:solidFill>
                <a:latin typeface="Arial"/>
              </a:rPr>
              <a:t>An intact cell's effective spectral sensitivity depends on the pigment together with optical filtering and receptor length. The visible-range scan from 400 to 700 nm characterizes pigments absorbing in that range, whereas the ultraviolet-sensitive R8 pigment peaks farther into the ultraviolet.</a:t>
            </a:r>
          </a:p>
        </p:txBody>
      </p:sp>
      <p:pic>
        <p:nvPicPr>
          <p:cNvPr id="4" name="Picture 3" descr="cm89_f2b.png"/>
          <p:cNvPicPr>
            <a:picLocks noChangeAspect="1"/>
          </p:cNvPicPr>
          <p:nvPr/>
        </p:nvPicPr>
        <p:blipFill>
          <a:blip r:embed="rId2"/>
          <a:stretch>
            <a:fillRect/>
          </a:stretch>
        </p:blipFill>
        <p:spPr>
          <a:xfrm>
            <a:off x="6412687" y="1280160"/>
            <a:ext cx="3017520" cy="4136996"/>
          </a:xfrm>
          <a:prstGeom prst="rect">
            <a:avLst/>
          </a:prstGeom>
        </p:spPr>
      </p:pic>
      <p:sp>
        <p:nvSpPr>
          <p:cNvPr id="5" name="Figure caption"/>
          <p:cNvSpPr txBox="1"/>
          <p:nvPr/>
        </p:nvSpPr>
        <p:spPr>
          <a:xfrm>
            <a:off x="6412687" y="5508596"/>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2(b). Measured visual-pigment difference spectra with fitted templates.</a:t>
            </a:r>
          </a:p>
        </p:txBody>
      </p:sp>
      <p:pic>
        <p:nvPicPr>
          <p:cNvPr id="6" name="Picture 5" descr="t14_f1a.png"/>
          <p:cNvPicPr>
            <a:picLocks noChangeAspect="1"/>
          </p:cNvPicPr>
          <p:nvPr/>
        </p:nvPicPr>
        <p:blipFill>
          <a:blip r:embed="rId3"/>
          <a:stretch>
            <a:fillRect/>
          </a:stretch>
        </p:blipFill>
        <p:spPr>
          <a:xfrm>
            <a:off x="9613087" y="2148840"/>
            <a:ext cx="2011680" cy="739281"/>
          </a:xfrm>
          <a:prstGeom prst="rect">
            <a:avLst/>
          </a:prstGeom>
        </p:spPr>
      </p:pic>
      <p:sp>
        <p:nvSpPr>
          <p:cNvPr id="7" name="Figure caption"/>
          <p:cNvSpPr txBox="1"/>
          <p:nvPr/>
        </p:nvSpPr>
        <p:spPr>
          <a:xfrm>
            <a:off x="9613087" y="2961273"/>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1(A, B). Later intracellular sensitivity curves in Haptosquilla.</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Cronin &amp; Marshall (1989); Thoen et al. (2014)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12a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Light passes through receptor tiers in sequence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1019"/>
              </a:spcAft>
            </a:pPr>
            <a:r>
              <a:rPr sz="1600" b="0" i="0">
                <a:solidFill>
                  <a:srgbClr val="292725"/>
                </a:solidFill>
                <a:latin typeface="Arial"/>
              </a:rPr>
              <a:t>In the color rows of the midband, the same beam of light meets successive receptor-bearing layers. </a:t>
            </a:r>
            <a:r>
              <a:rPr sz="1600" b="1" i="0">
                <a:solidFill>
                  <a:srgbClr val="62564D"/>
                </a:solidFill>
                <a:latin typeface="Arial"/>
              </a:rPr>
              <a:t>Distal</a:t>
            </a:r>
            <a:r>
              <a:rPr sz="1600" b="0" i="0">
                <a:solidFill>
                  <a:srgbClr val="292725"/>
                </a:solidFill>
                <a:latin typeface="Arial"/>
              </a:rPr>
              <a:t> means nearer the optical entrance and proximal means farther along the light path, so the distal R8 cell lies nearest the incoming light and R1–R7 contribute to two deeper tiers.</a:t>
            </a:r>
          </a:p>
          <a:p>
            <a:pPr algn="l">
              <a:lnSpc>
                <a:spcPct val="108000"/>
              </a:lnSpc>
              <a:spcAft>
                <a:spcPts val="1019"/>
              </a:spcAft>
            </a:pPr>
            <a:r>
              <a:rPr sz="1600" b="0" i="0">
                <a:solidFill>
                  <a:srgbClr val="292725"/>
                </a:solidFill>
                <a:latin typeface="Arial"/>
              </a:rPr>
              <a:t>Absorption in an earlier layer removes wavelengths before the light reaches a later one. Cronin and Marshall measured a distinct pigment in each of the eight main-rhabdom tiers of rows 1–4 in Pseudosquilla ciliata, and a deeper tier receives only the light that has already passed through the overlying material.</a:t>
            </a:r>
          </a:p>
          <a:p>
            <a:pPr algn="l">
              <a:lnSpc>
                <a:spcPct val="108000"/>
              </a:lnSpc>
              <a:spcAft>
                <a:spcPts val="1019"/>
              </a:spcAft>
            </a:pPr>
            <a:r>
              <a:rPr sz="1600" b="0" i="0">
                <a:solidFill>
                  <a:srgbClr val="292725"/>
                </a:solidFill>
                <a:latin typeface="Arial"/>
              </a:rPr>
              <a:t>Distal and proximal describe the order of the tiers, and a receptor's preferred wavelength is set by its pigment and the overlying filters together. The published sensitivity curves for the layered system are calculated from measured optical properties, a different kind of evidence from an intracellular recording of the same tier.</a:t>
            </a:r>
          </a:p>
        </p:txBody>
      </p:sp>
      <p:pic>
        <p:nvPicPr>
          <p:cNvPr id="4" name="Picture 3" descr="cm89_f3.png"/>
          <p:cNvPicPr>
            <a:picLocks noChangeAspect="1"/>
          </p:cNvPicPr>
          <p:nvPr/>
        </p:nvPicPr>
        <p:blipFill>
          <a:blip r:embed="rId2"/>
          <a:stretch>
            <a:fillRect/>
          </a:stretch>
        </p:blipFill>
        <p:spPr>
          <a:xfrm>
            <a:off x="6454847" y="1280160"/>
            <a:ext cx="2933199" cy="4297679"/>
          </a:xfrm>
          <a:prstGeom prst="rect">
            <a:avLst/>
          </a:prstGeom>
        </p:spPr>
      </p:pic>
      <p:sp>
        <p:nvSpPr>
          <p:cNvPr id="5" name="Figure caption"/>
          <p:cNvSpPr txBox="1"/>
          <p:nvPr/>
        </p:nvSpPr>
        <p:spPr>
          <a:xfrm>
            <a:off x="6412687" y="5669279"/>
            <a:ext cx="301752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Cronin &amp; Marshall (1989), Fig. 3. Predicted sensitivities of distal and proximal retinal tiers.</a:t>
            </a:r>
          </a:p>
        </p:txBody>
      </p:sp>
      <p:pic>
        <p:nvPicPr>
          <p:cNvPr id="6" name="Picture 5" descr="b14_f1ab.png"/>
          <p:cNvPicPr>
            <a:picLocks noChangeAspect="1"/>
          </p:cNvPicPr>
          <p:nvPr/>
        </p:nvPicPr>
        <p:blipFill>
          <a:blip r:embed="rId3"/>
          <a:stretch>
            <a:fillRect/>
          </a:stretch>
        </p:blipFill>
        <p:spPr>
          <a:xfrm>
            <a:off x="9613087" y="2148840"/>
            <a:ext cx="2011680" cy="889550"/>
          </a:xfrm>
          <a:prstGeom prst="rect">
            <a:avLst/>
          </a:prstGeom>
        </p:spPr>
      </p:pic>
      <p:sp>
        <p:nvSpPr>
          <p:cNvPr id="7" name="Figure caption"/>
          <p:cNvSpPr txBox="1"/>
          <p:nvPr/>
        </p:nvSpPr>
        <p:spPr>
          <a:xfrm>
            <a:off x="9613087" y="3111542"/>
            <a:ext cx="20116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Bok et al. (2014), Fig. 1(A, B). Eye surface and original sagittal retinal diagram.</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Cronin &amp; Marshall (1989); Bok et al. (2014)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09a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Spectral opponency compares signals across channels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1" i="0">
                <a:solidFill>
                  <a:srgbClr val="62564D"/>
                </a:solidFill>
                <a:latin typeface="Arial"/>
              </a:rPr>
              <a:t>Spectral opponency</a:t>
            </a:r>
            <a:r>
              <a:rPr sz="1450" b="0" i="0">
                <a:solidFill>
                  <a:srgbClr val="292725"/>
                </a:solidFill>
                <a:latin typeface="Arial"/>
              </a:rPr>
              <a:t> compares signals from receptors with different wavelength sensitivities, so the output depends on the difference between channels. A system that recognizes a color by which channels are active, without comparing them, is a different computation.</a:t>
            </a:r>
          </a:p>
          <a:p>
            <a:pPr algn="l">
              <a:lnSpc>
                <a:spcPct val="108000"/>
              </a:lnSpc>
              <a:spcAft>
                <a:spcPts val="900"/>
              </a:spcAft>
            </a:pPr>
            <a:r>
              <a:rPr sz="1450" b="0" i="0">
                <a:solidFill>
                  <a:srgbClr val="292725"/>
                </a:solidFill>
                <a:latin typeface="Arial"/>
              </a:rPr>
              <a:t>Wang and Marshall restricted the illumination with blue, green or red filter tents, so that only a subset of receptors received substantial light, and tested whether trained Haptosquilla trispinosa could still choose a colored target against grey alternatives. Under green and red illumination, correct choices remained about three-quarters of responses, above the one-third chance level of three alternatives.</a:t>
            </a:r>
          </a:p>
          <a:p>
            <a:pPr algn="l">
              <a:lnSpc>
                <a:spcPct val="108000"/>
              </a:lnSpc>
              <a:spcAft>
                <a:spcPts val="900"/>
              </a:spcAft>
            </a:pPr>
            <a:r>
              <a:rPr sz="1450" b="0" i="0">
                <a:solidFill>
                  <a:srgbClr val="292725"/>
                </a:solidFill>
                <a:latin typeface="Arial"/>
              </a:rPr>
              <a:t>Blue-target performance fell from 76% under natural light to 40% under blue illumination, so the outcome depended on the target spectrum and the illumination together. Preserved discrimination under restricted light is evidence for comparison between the channels that remain, and it qualifies the earlier view that coarse wavelength thresholds exclude opponent processing.</a:t>
            </a:r>
          </a:p>
        </p:txBody>
      </p:sp>
      <p:pic>
        <p:nvPicPr>
          <p:cNvPr id="4" name="Picture 3" descr="o25_f7.png"/>
          <p:cNvPicPr>
            <a:picLocks noChangeAspect="1"/>
          </p:cNvPicPr>
          <p:nvPr/>
        </p:nvPicPr>
        <p:blipFill>
          <a:blip r:embed="rId2"/>
          <a:stretch>
            <a:fillRect/>
          </a:stretch>
        </p:blipFill>
        <p:spPr>
          <a:xfrm>
            <a:off x="7678429" y="1280160"/>
            <a:ext cx="2680595"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7. Color-versus-grey choices under natural and colored illumination.</a:t>
            </a:r>
          </a:p>
        </p:txBody>
      </p:sp>
      <p:pic>
        <p:nvPicPr>
          <p:cNvPr id="6" name="Picture 5" descr="o25_f5a.png"/>
          <p:cNvPicPr>
            <a:picLocks noChangeAspect="1"/>
          </p:cNvPicPr>
          <p:nvPr/>
        </p:nvPicPr>
        <p:blipFill>
          <a:blip r:embed="rId3"/>
          <a:stretch>
            <a:fillRect/>
          </a:stretch>
        </p:blipFill>
        <p:spPr>
          <a:xfrm>
            <a:off x="6999986" y="4251960"/>
            <a:ext cx="4037480"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Wang &amp; Marshall (2025), Fig. 5(A). Measured transmission of the illumination filters.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Wang &amp; Marshall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06a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Receptor tuning and behavioral threshold are separate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92725"/>
                </a:solidFill>
                <a:latin typeface="Arial"/>
              </a:rPr>
              <a:t>A </a:t>
            </a:r>
            <a:r>
              <a:rPr sz="1500" b="1" i="0">
                <a:solidFill>
                  <a:srgbClr val="62564D"/>
                </a:solidFill>
                <a:latin typeface="Arial"/>
              </a:rPr>
              <a:t>receptor-noise model</a:t>
            </a:r>
            <a:r>
              <a:rPr sz="1500" b="0" i="0">
                <a:solidFill>
                  <a:srgbClr val="292725"/>
                </a:solidFill>
                <a:latin typeface="Arial"/>
              </a:rPr>
              <a:t> predicts the smallest discriminable wavelength difference from the sensitivities of the receptors and an assumption about how adjacent spectral channels are compared. Narrow receptor tuning makes fine discrimination possible under the model, but the animal's performance depends on whether it performs the assumed comparison.</a:t>
            </a:r>
          </a:p>
          <a:p>
            <a:pPr algn="l">
              <a:lnSpc>
                <a:spcPct val="108000"/>
              </a:lnSpc>
              <a:spcAft>
                <a:spcPts val="960"/>
              </a:spcAft>
            </a:pPr>
            <a:r>
              <a:rPr sz="1500" b="0" i="0">
                <a:solidFill>
                  <a:srgbClr val="292725"/>
                </a:solidFill>
                <a:latin typeface="Arial"/>
              </a:rPr>
              <a:t>Thoen and colleagues recorded receptor sensitivities intracellularly and used them in a model that compares adjacent channels. The model predicted wavelength differences of approximately 1–5 nm, whereas measured behavioral thresholds fell between 12 and 25 nm across the tested visible spectrum.</a:t>
            </a:r>
          </a:p>
          <a:p>
            <a:pPr algn="l">
              <a:lnSpc>
                <a:spcPct val="108000"/>
              </a:lnSpc>
              <a:spcAft>
                <a:spcPts val="960"/>
              </a:spcAft>
            </a:pPr>
            <a:r>
              <a:rPr sz="1500" b="0" i="0">
                <a:solidFill>
                  <a:srgbClr val="292725"/>
                </a:solidFill>
                <a:latin typeface="Arial"/>
              </a:rPr>
              <a:t>The mismatch separates three levels of evidence: receptor tuning, the assumptions of the model and the measured discrimination. It supports caution about deriving perception directly from receptor diversity, and it prompted alternative accounts such as color binning, in which the pattern of active channels identifies a color.</a:t>
            </a:r>
          </a:p>
        </p:txBody>
      </p:sp>
      <p:pic>
        <p:nvPicPr>
          <p:cNvPr id="4" name="Picture 3" descr="t14_f3.png"/>
          <p:cNvPicPr>
            <a:picLocks noChangeAspect="1"/>
          </p:cNvPicPr>
          <p:nvPr/>
        </p:nvPicPr>
        <p:blipFill>
          <a:blip r:embed="rId2"/>
          <a:stretch>
            <a:fillRect/>
          </a:stretch>
        </p:blipFill>
        <p:spPr>
          <a:xfrm>
            <a:off x="7740135" y="1280160"/>
            <a:ext cx="2557184" cy="2423160"/>
          </a:xfrm>
          <a:prstGeom prst="rect">
            <a:avLst/>
          </a:prstGeom>
        </p:spPr>
      </p:pic>
      <p:sp>
        <p:nvSpPr>
          <p:cNvPr id="5" name="Figure caption"/>
          <p:cNvSpPr txBox="1"/>
          <p:nvPr/>
        </p:nvSpPr>
        <p:spPr>
          <a:xfrm>
            <a:off x="6412687" y="379476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3. Measured wavelength thresholds and the authors’ opponent-model prediction.</a:t>
            </a:r>
          </a:p>
        </p:txBody>
      </p:sp>
      <p:pic>
        <p:nvPicPr>
          <p:cNvPr id="6" name="Picture 5" descr="t14_f1a.png"/>
          <p:cNvPicPr>
            <a:picLocks noChangeAspect="1"/>
          </p:cNvPicPr>
          <p:nvPr/>
        </p:nvPicPr>
        <p:blipFill>
          <a:blip r:embed="rId3"/>
          <a:stretch>
            <a:fillRect/>
          </a:stretch>
        </p:blipFill>
        <p:spPr>
          <a:xfrm>
            <a:off x="6965963" y="4251960"/>
            <a:ext cx="4105527" cy="150875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1(A, B). Recorded receptor sensitivities normalized to their peaks.</a:t>
            </a:r>
          </a:p>
        </p:txBody>
      </p:sp>
      <p:sp>
        <p:nvSpPr>
          <p:cNvPr id="8" name="Rectangle 7"/>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 Wang &amp; Marshall (2025)</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04a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62564D"/>
                </a:solidFill>
                <a:latin typeface="Arial"/>
              </a:rPr>
              <a:t>A choice assay needs a chance level and a criterion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92725"/>
                </a:solidFill>
                <a:latin typeface="Arial"/>
              </a:rPr>
              <a:t>In a </a:t>
            </a:r>
            <a:r>
              <a:rPr sz="1600" b="1" i="0">
                <a:solidFill>
                  <a:srgbClr val="62564D"/>
                </a:solidFill>
                <a:latin typeface="Arial"/>
              </a:rPr>
              <a:t>two-alternative choice task</a:t>
            </a:r>
            <a:r>
              <a:rPr sz="1600" b="0" i="0">
                <a:solidFill>
                  <a:srgbClr val="292725"/>
                </a:solidFill>
                <a:latin typeface="Arial"/>
              </a:rPr>
              <a:t>, an animal that cannot tell the two stimuli apart will choose each about half of the time, so chance is one correct choice in two. Performance above 50% indicates that the animal can use the difference between the stimuli.</a:t>
            </a:r>
          </a:p>
          <a:p>
            <a:pPr algn="l">
              <a:lnSpc>
                <a:spcPct val="108000"/>
              </a:lnSpc>
              <a:spcAft>
                <a:spcPts val="960"/>
              </a:spcAft>
            </a:pPr>
            <a:r>
              <a:rPr sz="1600" b="0" i="0">
                <a:solidFill>
                  <a:srgbClr val="292725"/>
                </a:solidFill>
                <a:latin typeface="Arial"/>
              </a:rPr>
              <a:t>Thoen and colleagues trained Haptosquilla trispinosa to a rewarded wavelength and paired it with an alternative delivered through a second optical fiber. At separations of approximately 50–100 nm, correct choices were commonly 70–80%, and performance declined toward the 50% chance level as the alternatives approached the rewarded wavelength.</a:t>
            </a:r>
          </a:p>
          <a:p>
            <a:pPr algn="l">
              <a:lnSpc>
                <a:spcPct val="108000"/>
              </a:lnSpc>
              <a:spcAft>
                <a:spcPts val="960"/>
              </a:spcAft>
            </a:pPr>
            <a:r>
              <a:rPr sz="1600" b="0" i="0">
                <a:solidFill>
                  <a:srgbClr val="292725"/>
                </a:solidFill>
                <a:latin typeface="Arial"/>
              </a:rPr>
              <a:t>A discrimination threshold needs a stated performance criterion. The authors used 60% correct choices to estimate the smallest wavelength difference the animal could use, a value that describes the animal's performance in this assay and not the number of receptor classes in its retina.</a:t>
            </a:r>
          </a:p>
        </p:txBody>
      </p:sp>
      <p:pic>
        <p:nvPicPr>
          <p:cNvPr id="4" name="Picture 3" descr="t14_f2cd.png"/>
          <p:cNvPicPr>
            <a:picLocks noChangeAspect="1"/>
          </p:cNvPicPr>
          <p:nvPr/>
        </p:nvPicPr>
        <p:blipFill>
          <a:blip r:embed="rId2"/>
          <a:stretch>
            <a:fillRect/>
          </a:stretch>
        </p:blipFill>
        <p:spPr>
          <a:xfrm>
            <a:off x="6412687" y="1280160"/>
            <a:ext cx="5212080" cy="2201117"/>
          </a:xfrm>
          <a:prstGeom prst="rect">
            <a:avLst/>
          </a:prstGeom>
        </p:spPr>
      </p:pic>
      <p:sp>
        <p:nvSpPr>
          <p:cNvPr id="5" name="Figure caption"/>
          <p:cNvSpPr txBox="1"/>
          <p:nvPr/>
        </p:nvSpPr>
        <p:spPr>
          <a:xfrm>
            <a:off x="6412687" y="357271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756E68"/>
                </a:solidFill>
                <a:latin typeface="Arial"/>
              </a:rPr>
              <a:t>Thoen et al. (2014), Fig. 2(C, D). Choices toward shorter test wavelengths after 570-nm training.</a:t>
            </a:r>
          </a:p>
        </p:txBody>
      </p:sp>
      <p:sp>
        <p:nvSpPr>
          <p:cNvPr id="6" name="Rectangle 5"/>
          <p:cNvSpPr/>
          <p:nvPr/>
        </p:nvSpPr>
        <p:spPr>
          <a:xfrm>
            <a:off x="566928" y="6382512"/>
            <a:ext cx="11057839" cy="9144"/>
          </a:xfrm>
          <a:prstGeom prst="rect">
            <a:avLst/>
          </a:prstGeom>
          <a:solidFill>
            <a:srgbClr val="D7D1CC"/>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756E68"/>
                </a:solidFill>
                <a:latin typeface="Arial"/>
              </a:rPr>
              <a:t>Thoen et al. (2014)</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756E68"/>
                </a:solidFill>
                <a:latin typeface="Arial"/>
              </a:rPr>
              <a:t>03a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Mantis shrimp vision: hyperspectral and polarization sensing</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