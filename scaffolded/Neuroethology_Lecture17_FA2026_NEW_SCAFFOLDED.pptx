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314" r:id="rId66"/>
    <p:sldId id="261" r:id="rId13"/>
    <p:sldId id="313" r:id="rId65"/>
    <p:sldId id="262" r:id="rId14"/>
    <p:sldId id="263" r:id="rId15"/>
    <p:sldId id="312" r:id="rId64"/>
    <p:sldId id="264" r:id="rId16"/>
    <p:sldId id="265" r:id="rId17"/>
    <p:sldId id="311" r:id="rId63"/>
    <p:sldId id="266" r:id="rId18"/>
    <p:sldId id="310" r:id="rId62"/>
    <p:sldId id="267" r:id="rId19"/>
    <p:sldId id="268" r:id="rId20"/>
    <p:sldId id="309" r:id="rId61"/>
    <p:sldId id="269" r:id="rId21"/>
    <p:sldId id="270" r:id="rId22"/>
    <p:sldId id="308" r:id="rId60"/>
    <p:sldId id="271" r:id="rId23"/>
    <p:sldId id="307" r:id="rId59"/>
    <p:sldId id="272" r:id="rId24"/>
    <p:sldId id="273" r:id="rId25"/>
    <p:sldId id="274" r:id="rId26"/>
    <p:sldId id="275" r:id="rId27"/>
    <p:sldId id="276" r:id="rId28"/>
    <p:sldId id="277" r:id="rId29"/>
    <p:sldId id="278" r:id="rId30"/>
    <p:sldId id="306" r:id="rId58"/>
    <p:sldId id="279" r:id="rId31"/>
    <p:sldId id="280" r:id="rId32"/>
    <p:sldId id="305" r:id="rId57"/>
    <p:sldId id="281" r:id="rId33"/>
    <p:sldId id="282" r:id="rId34"/>
    <p:sldId id="283" r:id="rId35"/>
    <p:sldId id="284" r:id="rId36"/>
    <p:sldId id="285" r:id="rId37"/>
    <p:sldId id="286" r:id="rId38"/>
    <p:sldId id="287" r:id="rId39"/>
    <p:sldId id="304" r:id="rId56"/>
    <p:sldId id="288" r:id="rId40"/>
    <p:sldId id="289" r:id="rId41"/>
    <p:sldId id="290" r:id="rId42"/>
    <p:sldId id="291" r:id="rId43"/>
    <p:sldId id="303" r:id="rId55"/>
    <p:sldId id="292" r:id="rId44"/>
    <p:sldId id="293" r:id="rId45"/>
    <p:sldId id="294" r:id="rId46"/>
    <p:sldId id="295" r:id="rId47"/>
    <p:sldId id="302" r:id="rId54"/>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Image: Photo: Big brown bat (Eptesicus fuscus). Credit: U.S. National Park Service, via Wikimedia Commons. License: Public domain (U.S. government work). Source: https://commons.wikimedia.org/wiki/File:Big_brown_bat.jpg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FM1 carries the frequencies on which the tested range judgments depend, and FM2 adds a second, higher sweep related to FM1 by a twofold frequency ratio.</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1(A). Two downward FM harmonics in a big brown bat broadcast.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p>
            <a:r>
              <a:t>Figure: Simmons (1973), Fig. 11. Recorded outgoing sound and target echo at a range of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Relative range is the quantity a bat needs to choose between two reflectors, so the comparison of a nearer and a farther echo defines the task, and the smallest distance difference that the bat can resolve describes how finely it ranges.</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p>
            <a:r>
              <a:t>Figure: Simmons (1973), Fig. 1. Original two-target range-discrimination apparatus.</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Doubling the distance from 30 to 60 cm left the smallest resolvable difference near 12 to 14 mm, so resolution is described in absolute distance units and not as a fixed fraction of the target distance, and echo audibility and propagation losses would be expected to matter at greater distances.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The prediction is made from the recorded call alone, so the structure of the transmitted signal itself sets how finely echo delays can be told apart.</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 shared ability to compare target ranges appeared in FM-only species and in species that combine constant-frequency and FM components, with thresholds near 1 to 2 cm in the first three species and near 3 cm in Rhinolophus ferrumequinum.</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p>
            <a:r>
              <a:t>Figure: Simmons (1973), Fig. 5. Range discrimination by Phyllostomus hastatus at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p>
            <a:r>
              <a:t>Figure: Simmons (1973), Fig. 11. Call and delayed echo recorded in the target-simulator experiment.</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Spectrum, level and direction were controlled, so arrival time alone carried the information that the bat used to choose the nearer echo.</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p>
            <a:r>
              <a:t>Figure: Simmons (1973), Fig. 13. Physical-range and electronic-delay discrimination at a 30-cm reference range.</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A representation distributed across frequency channels and time could produce the same delay information as a waveform comparison, and the behavioral resolution curves resemble predictions from the envelope of the call's autocorrelation function.</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p>
            <a:r>
              <a:t>Figure: Simmons (1973), Fig. 3. Behavioral range resolution compared with the published receiver prediction.</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Recording from the ventral cochlear nucleus and the inferior colliculus of the same animals allows the timing of the two relays to be compared directly, and the lesion-verified sites near the entry of the eighth nerve and near the trapezoid body specify which part of the cochlear nucleus was sampled.</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A sequence of echoes after one broadcast resembles a scene with several objects more closely than an isolated tone does, and each stimulus begins with the broadcast followed by four echoes whose first member arrives earlier as the simulated reflectors come nearer.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1. Published broadcast–echo waveforms with first-echo delays from 20.4 to 14.4 ms.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The recorded signal combines the activity of neurons within the electrode's recording field, so its negative and positive peaks mark the times at which the population responded to each broadcast and echo.</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left column. Repeated cochlear-nucleus responses at −30 dB attenuation.</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Stability at this scale makes the early population response a repeatable marker of when the broadcast occurred, and jitter rose as the stimulus weakened.</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Moving the echo earlier shifts the response earlier, and a weaker sound evokes a later response, so relative timing is registered accurately while absolute latency depends on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4(C). First-echo latency tracks experimentally shortened echo delay.</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The peak shifts with echo delay while its repeatability stays near 54 microseconds, so a precise onset response can register many successive delays and the delay itself is carried by the changing latency of the peak.</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with early broadcast and echo peaks aligned across repetitions.</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Precise timing is therefore present when the ascending signal reaches the cochlear nucleus and is preserved at the inferior colliculus, where responses arrive later but repeat with similar variability. The comparison concerns the early broadcast and echo peaks, which the cochlear nucleus produced earlier than the inferior colliculus.</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Precision depends on which event and which portion of a response are measured, because the earliest negative peaks repeat within tens of microseconds and the later positive peaks within roughly 110 to 125 microseconds.</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Cochlear-nucleus responses throughout the seven echo-flow sequences.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Population timing at the cochlear nucleus and the inferior colliculus reaches tens of microseconds, whereas specialized behavioral tasks approach 1 microsecond or less. Combining information across frequencies and many responses could allow a readout to exceed the precision of a single measure, and the 20-kHz digitization rate sets the temporal sampling of the recordings.</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Selectivity for the downward direction matches the downward FM sweep of the pallid bat's own call, and the neurons studied were those whose direction preference arises from inhibitory sidebands.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Direction selectivity is evaluated by comparing responses to different sweep directions and rates during and after blockade, because the preference is a difference between responses and not their overall size.</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Gabazine and strychnine each reduced the preference for downward sweeps, and combined application removed it in the largest fraction of neurons, so GABA and glycine inputs both contribute to direction preference in many inferior colliculus neurons.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Receptor dependence therefore varies from neuron to neuron: some neurons required GABA input, some required glycine input, and some were sensitive to either blocker. The spectral position and relative timing of an inhibitory input determine whether it can suppress a sweep, so receptor class is one of several factors in a neuron's selectivity.</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result supports the sideband mechanism, and local pharmacological tests then assess the contribution of the inferior colliculus itself.</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 tests link a change in the inferred inhibitory input to a change in FM selectivity within the same neuron, which is more specific than a general increase in firing after a drug.</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Excitation then precedes inhibition, so the temporal ordering of the two inputs determines direction selectivity, and a strong inhibitory input no longer necessarily prevents the initial response.</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Rate selectivity persisted after gabazine in the tested neurons and after strychnine in most of them, which is consistent with inheritance from lower auditory levels, whereas direction selectivity was more vulnerable to either blocker.</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Omitting the high-frequency portion allowed the neuron to respond to slow sweeps, so delayed high-frequency inhibition, and not a lack of excitation, rejected them.</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Removing a local receptor input and removing the stimulus frequencies that engage it produce the same result, a neuron that responds to slow sweeps, which supports the sideband account of fast-pass selectivity. Local glycinergic input supported this form of rate tuning in the affected neurons.</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 same response property can be inherited, transformed or reconstructed at successive auditory levels, and ascending inputs can already be selective for sound patterns before local integration.</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Direction tuning before and during GABA receptor blockade.</a:t>
            </a:r>
          </a:p>
          <a:p>
            <a:r>
              <a:t>Figure source: https://doi.org/10.1152/jn.00569.2011</a:t>
            </a:r>
          </a:p>
          <a:p/>
          <a:p>
            <a:r>
              <a:t>Figure: Williams &amp; Fuzessery (2011), Fig. 7(A). FM rate selectivity persists during inhibitory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The harmonic balance of an echo can therefore separate a forward target from lateral clutter, reflections from objects irrelevant to the current target. Because the 25-kHz beam is wider than the 80-kHz beam, off-axis echoes contain relatively less FM2, and the behavioral experiments tested whether bats use these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p>
            <a:r>
              <a:t>Figure: Bates et al. (2011), Fig. 1(C). Published frequency-dependent horizontal beam patterns.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electronic target kept harmonic content and delay under experimental control, so one echo property could be changed while the rest of the task stayed fixed. The bat's choice of the two-glint target measures how a second echo interferes with perception of the target's structure and timing.</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p>
            <a:r>
              <a:t>Figure: Bates et al. (2011), Fig. 2(A–F). Two-choice apparatus and controlled target and probe echoes.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blind spot is a delay region of impaired discrimination, and masking was measured through incorrect choices while the bat still received the acoustic input.</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p>
            <a:r>
              <a:t>Figure: Bates et al. (2011), Fig. 3(A–B). Discrimination errors peak near the two target-glint delays.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filtered probe retained its sound but lost its ability to interfere, so echo spectral structure contributes to clutter rejection when lateral echoes carry relatively less FM2.</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Advancing FM2 compensates the level-dependent timing shift and restores alignment of the responses to the two harmonics, whereas the misalignment produced by weaker FM2 defocuses the delay percept and reduces interference from clutter.</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p>
            <a:r>
              <a:t>Figure: Bates et al. (2011), Fig. 3(C). Harmonic timing differences relate delay defocusing to masking recovery.</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In the filtering experiment, the bottom of FM1 supported discrimination, and removing it disrupted performance even with most of FM1 and FM2 present.</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behavioral categories separate failure to attempt from an attempted approach that missed or was aborted, so the vegetation spacing of 10, 20 and 40 cm could be related to each outcome.</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p>
            <a:r>
              <a:t>Figure: Moss et al. (2006), Fig. 2. Interception outcomes at three plant–target separations and in an open room.</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Flying alongside the vegetation and turning late changes which objects lie in the emitted beam and the relative timing of their echoes, so the trajectory alters the acoustic scene. The geometry ensonifies the prey off axis from the vegetation during part of the approach, which the authors interpreted as a way of reducing interference.</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p>
            <a:r>
              <a:t>Figure: Moss et al. (2006), Fig. 4. Measured flight paths and pulse intervals for clutter and open-room trials.</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A group is defined by its intervals relative to neighboring calls, so stable timing within groups can coexist with changes in group spacing as the bat approaches the insect.</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p>
            <a:r>
              <a:t>Figure: Moss et al. (2006), Fig. 10(A,C). Strobing occurrence and within-group pulse intervals during approach.</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Successful interception involves coordinated changes in call groups, final approach geometry and buzz duration, and the bat continues vocalizing with a shorter buzz at the closest tested separation.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p>
            <a:r>
              <a:t>Figure: Moss et al. (2006), Fig. 8. Buzz-II duration varies with target–vegetation separation.</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Echo delay carries target range. Controlled electronic-delay experiments support relative-range judgments without changing the reflector’s physical distance.</a:t>
            </a:r>
          </a:p>
          <a:p/>
          <a:p>
            <a:r>
              <a:t>• Timing precision and latency differ. Population responses can arrive after milliseconds while repeating within tens of microseconds; weaker sounds can shift their latency.</a:t>
            </a:r>
          </a:p>
          <a:p/>
          <a:p>
            <a:r>
              <a:t>• Inhibition selects FM features. Early low-frequency inhibition shapes direction preference; delayed high-frequency inhibition can reject slow downward sweeps.</a:t>
            </a:r>
          </a:p>
          <a:p/>
          <a:p>
            <a:r>
              <a:t>• Harmonic structure affects clutter interference. Weakening FM2 can reduce masking, and compensating harmonic timing can restore part of that interference.</a:t>
            </a:r>
          </a:p>
          <a:p/>
          <a:p>
            <a:r>
              <a:t>• Call assignment is part of ranging. Overlapping echo epochs create pulse–echo ambiguity; lowest FM1 frequencies anchor the tested delay percept.</a:t>
            </a:r>
          </a:p>
          <a:p/>
          <a:p>
            <a:r>
              <a:t>• Active sensing changes the scene. Bats adjust flight paths, call groups, and terminal-buzz duration near vegetation; proposed neural benefits remain distinct from measured behavior.</a:t>
            </a:r>
          </a:p>
          <a:p/>
          <a:p>
            <a:r>
              <a:t>References:</a:t>
            </a:r>
          </a:p>
          <a:p>
            <a:r>
              <a:t>Simmons JA (1973). The resolution of target range by echolocating bats. Journal of the Acoustical Society of America 54(1):157–173. https://doi.org/10.1121/1.1913559</a:t>
            </a:r>
          </a:p>
          <a:p>
            <a:r>
              <a:t>Bates ME, Simmons JA, Zorikov TV (2011). Bats use echo harmonic structure to distinguish their targets from background clutter. Science 333(6042):627–630. https://doi.org/10.1126/science.1202065</a:t>
            </a:r>
          </a:p>
          <a:p>
            <a:r>
              <a:t>Williams AJ, Fuzessery ZM (2011). Differential roles of GABAergic and glycinergic input on FM selectivity in the inferior colliculus of the pallid bat. Journal of Neurophysiology 106(5):2523–2535. https://doi.org/10.1152/jn.00569.2011</a:t>
            </a:r>
          </a:p>
          <a:p>
            <a:r>
              <a:t>Simmons AM, Warnecke M, Simmons JA (2024). Microseconds-level coding of echo delay in the auditory brainstem of an FM-echolocating bat. Journal of Neurophysiology 132(6):2012–2022. https://doi.org/10.1152/jn.00305.2024</a:t>
            </a:r>
          </a:p>
          <a:p>
            <a:r>
              <a:t>Moss CF, Bohn K, Gilkenson H, Surlykke A (2006). Active listening for spatial orientation in a complex auditory scene. PLoS Biology 4(4):e79. https://doi.org/10.1371/journal.pbio.0040079</a:t>
            </a:r>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Ranging requires knowing which call produced each echo, and rapid calling can make that uncertain.</a:t>
            </a:r>
          </a:p>
          <a:p>
            <a:r>
              <a:rPr lang="en-US" sz="1200"/>
              <a:t>• Echo epoch.</a:t>
            </a:r>
          </a:p>
          <a:p>
            <a:r>
              <a:rPr lang="en-US" sz="1200"/>
              <a:t>– The echo epoch is the period during which reflections from one broadcast return from objects across a scene.</a:t>
            </a:r>
          </a:p>
          <a:p>
            <a:r>
              <a:rPr lang="en-US" sz="1200"/>
              <a:t>– A long-range reflector returns sound after a nearer one.</a:t>
            </a:r>
          </a:p>
          <a:p>
            <a:r>
              <a:rPr lang="en-US" sz="1200"/>
              <a:t>• Interpulse interval.</a:t>
            </a:r>
          </a:p>
          <a:p>
            <a:r>
              <a:rPr lang="en-US" sz="1200"/>
              <a:t>– The interpulse interval is the time between successive broadcasts.</a:t>
            </a:r>
          </a:p>
          <a:p>
            <a:r>
              <a:rPr lang="en-US" sz="1200"/>
              <a:t>• Published examples.</a:t>
            </a:r>
          </a:p>
          <a:p>
            <a:r>
              <a:rPr lang="en-US" sz="1200"/>
              <a:t>– A 32-millisecond interval was compared with shorter echo epochs.</a:t>
            </a:r>
          </a:p>
          <a:p>
            <a:r>
              <a:rPr lang="en-US" sz="1200"/>
              <a:t>– A 22-millisecond interval was compared with overlapping epochs.</a:t>
            </a:r>
          </a:p>
          <a:p>
            <a:r>
              <a:rPr lang="en-US" sz="1200"/>
              <a:t>• Overlap.</a:t>
            </a:r>
          </a:p>
          <a:p>
            <a:r>
              <a:rPr lang="en-US" sz="1200"/>
              <a:t>– When the interval is shorter than the epoch, echoes from one broadcast arrive after the next broadcast has been made.</a:t>
            </a:r>
          </a:p>
          <a:p>
            <a:r>
              <a:rPr lang="en-US" sz="1200"/>
              <a:t>• Consequence.</a:t>
            </a:r>
          </a:p>
          <a:p>
            <a:r>
              <a:rPr lang="en-US" sz="1200"/>
              <a:t>– Measuring delay from the wrong broadcast assigns an incorrect range.</a:t>
            </a:r>
          </a:p>
          <a:p>
            <a:r>
              <a:rPr lang="en-US" sz="1200"/>
              <a:t>– Updating quickly for nearby obstacles then conflicts with waiting for distant echoes to return.</a:t>
            </a:r>
          </a:p>
          <a:p>
            <a:r>
              <a:rPr lang="en-US" sz="1200"/>
              <a:t>• Why overlap matters.</a:t>
            </a:r>
          </a:p>
          <a:p>
            <a:r>
              <a:rPr lang="en-US" sz="1200"/>
              <a:t>– Rapid calling updates information about nearby obstacles quickly.</a:t>
            </a:r>
          </a:p>
          <a:p>
            <a:r>
              <a:rPr lang="en-US" sz="1200"/>
              <a:t>– Waiting for all distant echoes to return would slow those updates.</a:t>
            </a:r>
          </a:p>
          <a:p>
            <a:r>
              <a:rPr lang="en-US" sz="1200"/>
              <a:t>• Frequency hopping.</a:t>
            </a:r>
          </a:p>
          <a:p>
            <a:r>
              <a:rPr lang="en-US" sz="1200"/>
              <a:t>– Ming and colleagues proposed that shifts of several kilohertz between broadcasts help assign echoes to their calls.</a:t>
            </a:r>
          </a:p>
          <a:p>
            <a:r>
              <a:rPr lang="en-US" sz="1200"/>
              <a:t/>
            </a:r>
          </a:p>
          <a:p>
            <a:r>
              <a:rPr lang="en-US" sz="1200"/>
              <a:t>References:</a:t>
            </a:r>
          </a:p>
          <a:p>
            <a:r>
              <a:rPr lang="en-US" sz="1200"/>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glint is the echo from one part of a target, and a structured target returns several glints.</a:t>
            </a:r>
          </a:p>
          <a:p>
            <a:r>
              <a:rPr lang="en-US" sz="1200"/>
              <a:t>• Definition.</a:t>
            </a:r>
          </a:p>
          <a:p>
            <a:r>
              <a:rPr lang="en-US" sz="1200"/>
              <a:t>– An acoustic glint is a reflection from one part of a target.</a:t>
            </a:r>
          </a:p>
          <a:p>
            <a:r>
              <a:rPr lang="en-US" sz="1200"/>
              <a:t>– Several glints close together in time form a structured echo.</a:t>
            </a:r>
          </a:p>
          <a:p>
            <a:r>
              <a:rPr lang="en-US" sz="1200"/>
              <a:t>• The rewarded target.</a:t>
            </a:r>
          </a:p>
          <a:p>
            <a:r>
              <a:rPr lang="en-US" sz="1200"/>
              <a:t>– The virtual target had glints at delays of 3160 and 3460 microseconds.</a:t>
            </a:r>
          </a:p>
          <a:p>
            <a:r>
              <a:rPr lang="en-US" sz="1200"/>
              <a:t>– The 300-microsecond separation made the echo more than one isolated reflection.</a:t>
            </a:r>
          </a:p>
          <a:p>
            <a:r>
              <a:rPr lang="en-US" sz="1200"/>
              <a:t>• The task.</a:t>
            </a:r>
          </a:p>
          <a:p>
            <a:r>
              <a:rPr lang="en-US" sz="1200"/>
              <a:t>– A bat on a Y-shaped platform emitted calls that microphones captured and returned through electronic delay channels.</a:t>
            </a:r>
          </a:p>
          <a:p>
            <a:r>
              <a:rPr lang="en-US" sz="1200"/>
              <a:t>– The bat was rewarded for choosing the two-glint target.</a:t>
            </a:r>
          </a:p>
          <a:p>
            <a:r>
              <a:rPr lang="en-US" sz="1200"/>
              <a:t>• The probe.</a:t>
            </a:r>
          </a:p>
          <a:p>
            <a:r>
              <a:rPr lang="en-US" sz="1200"/>
              <a:t>– An unrewarded probe with one glint came from the opposite loudspeaker.</a:t>
            </a:r>
          </a:p>
          <a:p>
            <a:r>
              <a:rPr lang="en-US" sz="1200"/>
              <a:t>– Its delay was varied around the two rewarded glint delays.</a:t>
            </a:r>
          </a:p>
          <a:p>
            <a:r>
              <a:rPr lang="en-US" sz="1200"/>
              <a:t>• Control.</a:t>
            </a:r>
          </a:p>
          <a:p>
            <a:r>
              <a:rPr lang="en-US" sz="1200"/>
              <a:t>– Electronic channels allowed the harmonic content and delay to be changed independently.</a:t>
            </a:r>
          </a:p>
          <a:p>
            <a:r>
              <a:rPr lang="en-US" sz="1200"/>
              <a:t>• Probe delay.</a:t>
            </a:r>
          </a:p>
          <a:p>
            <a:r>
              <a:rPr lang="en-US" sz="1200"/>
              <a:t>– Moving the single-glint probe closer in delay to either target glint tests when a separate echo interferes with the choice.</a:t>
            </a:r>
          </a:p>
          <a:p>
            <a:r>
              <a:rPr lang="en-US" sz="1200"/>
              <a:t>• Same target.</a:t>
            </a:r>
          </a:p>
          <a:p>
            <a:r>
              <a:rPr lang="en-US" sz="1200"/>
              <a:t>– The masking and filtering experiments use this same virtual target.</a:t>
            </a:r>
          </a:p>
          <a:p>
            <a:r>
              <a:rPr lang="en-US" sz="1200"/>
              <a:t/>
            </a:r>
          </a:p>
          <a:p>
            <a:r>
              <a:rPr lang="en-US" sz="1200"/>
              <a:t>References:</a:t>
            </a:r>
          </a:p>
          <a:p>
            <a:r>
              <a:rPr lang="en-US" sz="1200"/>
              <a:t>Bates ME, Simmons JA, Zorikov TV (2011). Bats use echo harmonic structure to distinguish their targets from background clutter. Science 333(6042):627–630.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Rate selectivity is a separate property from direction selectivity, and it depends on the same timing logic.</a:t>
            </a:r>
          </a:p>
          <a:p>
            <a:r>
              <a:rPr lang="en-US" sz="1200"/>
              <a:t>• Sweep rate.</a:t>
            </a:r>
          </a:p>
          <a:p>
            <a:r>
              <a:rPr lang="en-US" sz="1200"/>
              <a:t>– Sweep rate is the change in frequency per unit time.</a:t>
            </a:r>
          </a:p>
          <a:p>
            <a:r>
              <a:rPr lang="en-US" sz="1200"/>
              <a:t>– A shorter duration over the same frequency range is a faster sweep.</a:t>
            </a:r>
          </a:p>
          <a:p>
            <a:r>
              <a:rPr lang="en-US" sz="1200"/>
              <a:t>• Fast-pass selectivity.</a:t>
            </a:r>
          </a:p>
          <a:p>
            <a:r>
              <a:rPr lang="en-US" sz="1200"/>
              <a:t>– A fast-pass neuron responds better to rapid sweeps than to sufficiently slow sweeps.</a:t>
            </a:r>
          </a:p>
          <a:p>
            <a:r>
              <a:rPr lang="en-US" sz="1200"/>
              <a:t>• Stimuli.</a:t>
            </a:r>
          </a:p>
          <a:p>
            <a:r>
              <a:rPr lang="en-US" sz="1200"/>
              <a:t>– Sweep durations ranged from 0.5 to 100 milliseconds, so rate and direction could both be varied.</a:t>
            </a:r>
          </a:p>
          <a:p>
            <a:r>
              <a:rPr lang="en-US" sz="1200"/>
              <a:t>• The mechanism.</a:t>
            </a:r>
          </a:p>
          <a:p>
            <a:r>
              <a:rPr lang="en-US" sz="1200"/>
              <a:t>– A downward sweep activates the high-frequency inhibitory sideband first.</a:t>
            </a:r>
          </a:p>
          <a:p>
            <a:r>
              <a:rPr lang="en-US" sz="1200"/>
              <a:t>– In a fast sweep the delayed inhibition arrives after excitation, so spikes occur.</a:t>
            </a:r>
          </a:p>
          <a:p>
            <a:r>
              <a:rPr lang="en-US" sz="1200"/>
              <a:t>• Slow sweeps.</a:t>
            </a:r>
          </a:p>
          <a:p>
            <a:r>
              <a:rPr lang="en-US" sz="1200"/>
              <a:t>– In a slow sweep the same inhibition arrives before excitation and prevents the response.</a:t>
            </a:r>
          </a:p>
          <a:p>
            <a:r>
              <a:rPr lang="en-US" sz="1200"/>
              <a:t>• Fast sweeps.</a:t>
            </a:r>
          </a:p>
          <a:p>
            <a:r>
              <a:rPr lang="en-US" sz="1200"/>
              <a:t>– In a fast downward sweep the neuron is excited before the delayed inhibition becomes effective.</a:t>
            </a:r>
          </a:p>
          <a:p>
            <a:r>
              <a:rPr lang="en-US" sz="1200"/>
              <a:t>– Spikes therefore occur.</a:t>
            </a:r>
          </a:p>
          <a:p>
            <a:r>
              <a:rPr lang="en-US" sz="1200"/>
              <a:t>• Comparison with direction.</a:t>
            </a:r>
          </a:p>
          <a:p>
            <a:r>
              <a:rPr lang="en-US" sz="1200"/>
              <a:t>– Direction selectivity depends on early low-frequency inhibition, and rate selectivity depends on delayed high-frequency inhibition.</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blocker removes one source of inhibition so that its contribution can be measured.</a:t>
            </a:r>
          </a:p>
          <a:p>
            <a:r>
              <a:rPr lang="en-US" sz="1200"/>
              <a:t>• The receptors.</a:t>
            </a:r>
          </a:p>
          <a:p>
            <a:r>
              <a:rPr lang="en-US" sz="1200"/>
              <a:t>– GABA and glycine are inhibitory neurotransmitters in the auditory pathways studied.</a:t>
            </a:r>
          </a:p>
          <a:p>
            <a:r>
              <a:rPr lang="en-US" sz="1200"/>
              <a:t>– Their receptors open ion channels that change the membrane conductance.</a:t>
            </a:r>
          </a:p>
          <a:p>
            <a:r>
              <a:rPr lang="en-US" sz="1200"/>
              <a:t>• The drugs.</a:t>
            </a:r>
          </a:p>
          <a:p>
            <a:r>
              <a:rPr lang="en-US" sz="1200"/>
              <a:t>– Gabazine blocks GABA-A receptors.</a:t>
            </a:r>
          </a:p>
          <a:p>
            <a:r>
              <a:rPr lang="en-US" sz="1200"/>
              <a:t>– Strychnine blocks glycine receptors.</a:t>
            </a:r>
          </a:p>
          <a:p>
            <a:r>
              <a:rPr lang="en-US" sz="1200"/>
              <a:t>• Delivery.</a:t>
            </a:r>
          </a:p>
          <a:p>
            <a:r>
              <a:rPr lang="en-US" sz="1200"/>
              <a:t>– Microiontophoresis moves a drug out of a small pipette using electrical current, which keeps the effect local to the recorded neuron.</a:t>
            </a:r>
          </a:p>
          <a:p>
            <a:r>
              <a:rPr lang="en-US" sz="1200"/>
              <a:t>• Controls.</a:t>
            </a:r>
          </a:p>
          <a:p>
            <a:r>
              <a:rPr lang="en-US" sz="1200"/>
              <a:t>– Baseline, drug application and recovery were compared.</a:t>
            </a:r>
          </a:p>
          <a:p>
            <a:r>
              <a:rPr lang="en-US" sz="1200"/>
              <a:t>– A balance-electrode current control tested whether current alone changed the response.</a:t>
            </a:r>
          </a:p>
          <a:p>
            <a:r>
              <a:rPr lang="en-US" sz="1200"/>
              <a:t>• Recovery.</a:t>
            </a:r>
          </a:p>
          <a:p>
            <a:r>
              <a:rPr lang="en-US" sz="1200"/>
              <a:t>– Responses returned toward baseline over 10 to 30 minutes after application stopped, which indicates a receptor-dependent local effect.</a:t>
            </a:r>
          </a:p>
          <a:p>
            <a:r>
              <a:rPr lang="en-US" sz="1200"/>
              <a:t>• Why two drugs.</a:t>
            </a:r>
          </a:p>
          <a:p>
            <a:r>
              <a:rPr lang="en-US" sz="1200"/>
              <a:t>– GABA and glycine inputs can support the same neuron differently.</a:t>
            </a:r>
          </a:p>
          <a:p>
            <a:r>
              <a:rPr lang="en-US" sz="1200"/>
              <a:t>– Testing each drug alone shows which input a given preference depends on.</a:t>
            </a:r>
          </a:p>
          <a:p>
            <a:r>
              <a:rPr lang="en-US" sz="1200"/>
              <a:t>• Interpreting increased firing.</a:t>
            </a:r>
          </a:p>
          <a:p>
            <a:r>
              <a:rPr lang="en-US" sz="1200"/>
              <a:t>– Blockade commonly increased responses, and the preference itself is judged by comparing sweep directions and rates.</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frequency sweep is also a sequence in time, and inhibitory sidebands act on that sequence.</a:t>
            </a:r>
          </a:p>
          <a:p>
            <a:r>
              <a:rPr lang="en-US" sz="1200"/>
              <a:t>• Order of stimulation.</a:t>
            </a:r>
          </a:p>
          <a:p>
            <a:r>
              <a:rPr lang="en-US" sz="1200"/>
              <a:t>– A sweep crosses frequency regions one after another.</a:t>
            </a:r>
          </a:p>
          <a:p>
            <a:r>
              <a:rPr lang="en-US" sz="1200"/>
              <a:t>– Each region activates a different input to the neuron.</a:t>
            </a:r>
          </a:p>
          <a:p>
            <a:r>
              <a:rPr lang="en-US" sz="1200"/>
              <a:t>• Early and late inhibition.</a:t>
            </a:r>
          </a:p>
          <a:p>
            <a:r>
              <a:rPr lang="en-US" sz="1200"/>
              <a:t>– Low-frequency inhibition generally arrived early relative to excitation.</a:t>
            </a:r>
          </a:p>
          <a:p>
            <a:r>
              <a:rPr lang="en-US" sz="1200"/>
              <a:t>– High-frequency inhibition generally arrived later.</a:t>
            </a:r>
          </a:p>
          <a:p>
            <a:r>
              <a:rPr lang="en-US" sz="1200"/>
              <a:t>• Direction.</a:t>
            </a:r>
          </a:p>
          <a:p>
            <a:r>
              <a:rPr lang="en-US" sz="1200"/>
              <a:t>– An upward sweep meets low frequencies before the excitatory band, so early inhibition can block it.</a:t>
            </a:r>
          </a:p>
          <a:p>
            <a:r>
              <a:rPr lang="en-US" sz="1200"/>
              <a:t>– A downward sweep reaches excitation before it crosses the low-frequency sideband.</a:t>
            </a:r>
          </a:p>
          <a:p>
            <a:r>
              <a:rPr lang="en-US" sz="1200"/>
              <a:t>• Rate.</a:t>
            </a:r>
          </a:p>
          <a:p>
            <a:r>
              <a:rPr lang="en-US" sz="1200"/>
              <a:t>– Changing sweep rate alters the time between the inhibitory and excitatory inputs.</a:t>
            </a:r>
          </a:p>
          <a:p>
            <a:r>
              <a:rPr lang="en-US" sz="1200"/>
              <a:t>• Selection.</a:t>
            </a:r>
          </a:p>
          <a:p>
            <a:r>
              <a:rPr lang="en-US" sz="1200"/>
              <a:t>– Frequency tuning and relative input timing together select which FM sounds drive a neuron.</a:t>
            </a:r>
          </a:p>
          <a:p>
            <a:r>
              <a:rPr lang="en-US" sz="1200"/>
              <a:t>• Neurons in the pallid bat midbrain.</a:t>
            </a:r>
          </a:p>
          <a:p>
            <a:r>
              <a:rPr lang="en-US" sz="1200"/>
              <a:t>– The sidebands were mapped in inferior colliculus neurons using pairs of tones.</a:t>
            </a:r>
          </a:p>
          <a:p>
            <a:r>
              <a:rPr lang="en-US" sz="1200"/>
              <a:t>– An inhibitory sideband suppresses a response even if its tone evokes none on its own.</a:t>
            </a:r>
          </a:p>
          <a:p>
            <a:r>
              <a:rPr lang="en-US" sz="1200"/>
              <a:t>• Two sidebands, two preferences.</a:t>
            </a:r>
          </a:p>
          <a:p>
            <a:r>
              <a:rPr lang="en-US" sz="1200"/>
              <a:t>– Early low-frequency inhibition accounts for direction preference, and delayed high-frequency inhibition accounts for fast-pass rate preference.</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Response timing depends on sound level as well as on when the sound arrives.</a:t>
            </a:r>
          </a:p>
          <a:p>
            <a:r>
              <a:rPr lang="en-US" sz="1200"/>
              <a:t>• Definition.</a:t>
            </a:r>
          </a:p>
          <a:p>
            <a:r>
              <a:rPr lang="en-US" sz="1200"/>
              <a:t>– Amplitude-latency trading is the change in response timing associated with a change in sound level.</a:t>
            </a:r>
          </a:p>
          <a:p>
            <a:r>
              <a:rPr lang="en-US" sz="1200"/>
              <a:t>– A weaker sound evokes a later response.</a:t>
            </a:r>
          </a:p>
          <a:p>
            <a:r>
              <a:rPr lang="en-US" sz="1200"/>
              <a:t>• Size of the effect.</a:t>
            </a:r>
          </a:p>
          <a:p>
            <a:r>
              <a:rPr lang="en-US" sz="1200"/>
              <a:t>– The first-echo response in the cochlear nucleus changed by about 18 microseconds per decibel.</a:t>
            </a:r>
          </a:p>
          <a:p>
            <a:r>
              <a:rPr lang="en-US" sz="1200"/>
              <a:t>– The broadcast response changed by about 20 microseconds per decibel.</a:t>
            </a:r>
          </a:p>
          <a:p>
            <a:r>
              <a:rPr lang="en-US" sz="1200"/>
              <a:t>• Two separate manipulations.</a:t>
            </a:r>
          </a:p>
          <a:p>
            <a:r>
              <a:rPr lang="en-US" sz="1200"/>
              <a:t>– Moving the first echo earlier in the stimulus shifted the response earlier relative to the broadcast.</a:t>
            </a:r>
          </a:p>
          <a:p>
            <a:r>
              <a:rPr lang="en-US" sz="1200"/>
              <a:t>– Changing the level of the sound shifted the latency in the opposite direction for weaker sounds.</a:t>
            </a:r>
          </a:p>
          <a:p>
            <a:r>
              <a:rPr lang="en-US" sz="1200"/>
              <a:t>• Consequence.</a:t>
            </a:r>
          </a:p>
          <a:p>
            <a:r>
              <a:rPr lang="en-US" sz="1200"/>
              <a:t>– Latency is not an uncorrected timestamp of acoustic arrival, because level changes it.</a:t>
            </a:r>
          </a:p>
          <a:p>
            <a:r>
              <a:rPr lang="en-US" sz="1200"/>
              <a:t>– Relative timing is registered accurately while absolute latency depends on level.</a:t>
            </a:r>
          </a:p>
          <a:p>
            <a:r>
              <a:rPr lang="en-US" sz="1200"/>
              <a:t>• What changes the latency.</a:t>
            </a:r>
          </a:p>
          <a:p>
            <a:r>
              <a:rPr lang="en-US" sz="1200"/>
              <a:t>– A stimulus can be moved earlier in time, or its level can be changed.</a:t>
            </a:r>
          </a:p>
          <a:p>
            <a:r>
              <a:rPr lang="en-US" sz="1200"/>
              <a:t>– Each manipulation changes the measured latency in its own way.</a:t>
            </a:r>
          </a:p>
          <a:p>
            <a:r>
              <a:rPr lang="en-US" sz="1200"/>
              <a:t>• Same sound arrival.</a:t>
            </a:r>
          </a:p>
          <a:p>
            <a:r>
              <a:rPr lang="en-US" sz="1200"/>
              <a:t>– A weaker sound can evoke a later neural response even when the sound reaches the ear at the same moment.</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numbers describe a timed neural response, its delay and its repeatability.</a:t>
            </a:r>
          </a:p>
          <a:p>
            <a:r>
              <a:rPr lang="en-US" sz="1200"/>
              <a:t>• Latency.</a:t>
            </a:r>
          </a:p>
          <a:p>
            <a:r>
              <a:rPr lang="en-US" sz="1200"/>
              <a:t>– Latency is the time from a stimulus event to a specified neural response.</a:t>
            </a:r>
          </a:p>
          <a:p>
            <a:r>
              <a:rPr lang="en-US" sz="1200"/>
              <a:t>– The event used for measurement was kept consistent across conditions.</a:t>
            </a:r>
          </a:p>
          <a:p>
            <a:r>
              <a:rPr lang="en-US" sz="1200"/>
              <a:t>• Jitter.</a:t>
            </a:r>
          </a:p>
          <a:p>
            <a:r>
              <a:rPr lang="en-US" sz="1200"/>
              <a:t>– Jitter is the spread of that time from one presentation to the next.</a:t>
            </a:r>
          </a:p>
          <a:p>
            <a:r>
              <a:rPr lang="en-US" sz="1200"/>
              <a:t>– Small jitter means repeated sounds evoke the event at nearly the same time.</a:t>
            </a:r>
          </a:p>
          <a:p>
            <a:r>
              <a:rPr lang="en-US" sz="1200"/>
              <a:t>• Values in the cochlear nucleus.</a:t>
            </a:r>
          </a:p>
          <a:p>
            <a:r>
              <a:rPr lang="en-US" sz="1200"/>
              <a:t>– Mean broadcast latencies were 3.7, 3.9 and 4.2 milliseconds at attenuation settings of minus 30, minus 40 and minus 50 decibels.</a:t>
            </a:r>
          </a:p>
          <a:p>
            <a:r>
              <a:rPr lang="en-US" sz="1200"/>
              <a:t>– Mean jitter values were 32, 44 and 67 microseconds at the same settings.</a:t>
            </a:r>
          </a:p>
          <a:p>
            <a:r>
              <a:rPr lang="en-US" sz="1200"/>
              <a:t>• Attenuation.</a:t>
            </a:r>
          </a:p>
          <a:p>
            <a:r>
              <a:rPr lang="en-US" sz="1200"/>
              <a:t>– Greater attenuation means a weaker presented sound, and the settings are stimulus conditions.</a:t>
            </a:r>
          </a:p>
          <a:p>
            <a:r>
              <a:rPr lang="en-US" sz="1200"/>
              <a:t>• Separate properties.</a:t>
            </a:r>
          </a:p>
          <a:p>
            <a:r>
              <a:rPr lang="en-US" sz="1200"/>
              <a:t>– A response can arrive several milliseconds after a sound and still repeat within tens of microseconds.</a:t>
            </a:r>
          </a:p>
          <a:p>
            <a:r>
              <a:rPr lang="en-US" sz="1200"/>
              <a:t>• Same peak, two numbers.</a:t>
            </a:r>
          </a:p>
          <a:p>
            <a:r>
              <a:rPr lang="en-US" sz="1200"/>
              <a:t>– Latency and jitter were both taken from the first negative peak after the broadcast.</a:t>
            </a:r>
          </a:p>
          <a:p>
            <a:r>
              <a:rPr lang="en-US" sz="1200"/>
              <a:t>– The peak is therefore described by when it occurs and by how repeatable that time is.</a:t>
            </a:r>
          </a:p>
          <a:p>
            <a:r>
              <a:rPr lang="en-US" sz="1200"/>
              <a:t>• Level dependence.</a:t>
            </a:r>
          </a:p>
          <a:p>
            <a:r>
              <a:rPr lang="en-US" sz="1200"/>
              <a:t>– Both numbers changed with the level of the stimulus, with weaker sounds giving later and less repeatable peaks.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field potential records the combined activity of many neurons, and its peaks provide timing markers.</a:t>
            </a:r>
          </a:p>
          <a:p>
            <a:r>
              <a:rPr lang="en-US" sz="1200"/>
              <a:t>• What is recorded.</a:t>
            </a:r>
          </a:p>
          <a:p>
            <a:r>
              <a:rPr lang="en-US" sz="1200"/>
              <a:t>– A local field potential is an extracellular voltage signal that reflects coordinated population activity.</a:t>
            </a:r>
          </a:p>
          <a:p>
            <a:r>
              <a:rPr lang="en-US" sz="1200"/>
              <a:t>– It combines the activity of neurons within the recording field of the electrode.</a:t>
            </a:r>
          </a:p>
          <a:p>
            <a:r>
              <a:rPr lang="en-US" sz="1200"/>
              <a:t>• Filtering.</a:t>
            </a:r>
          </a:p>
          <a:p>
            <a:r>
              <a:rPr lang="en-US" sz="1200"/>
              <a:t>– Low-frequency filtering emphasized population waveforms, and individual action potentials were not treated as the signal.</a:t>
            </a:r>
          </a:p>
          <a:p>
            <a:r>
              <a:rPr lang="en-US" sz="1200"/>
              <a:t>• Waveform.</a:t>
            </a:r>
          </a:p>
          <a:p>
            <a:r>
              <a:rPr lang="en-US" sz="1200"/>
              <a:t>– Each broadcast and the first echo evoked a negative peak followed by a positive peak in the cochlear nucleus.</a:t>
            </a:r>
          </a:p>
          <a:p>
            <a:r>
              <a:rPr lang="en-US" sz="1200"/>
              <a:t>• Repeatability.</a:t>
            </a:r>
          </a:p>
          <a:p>
            <a:r>
              <a:rPr lang="en-US" sz="1200"/>
              <a:t>– Repeated presentations of the same stimulus gave closely overlapping early responses, whereas later parts of the cascade were more variable.</a:t>
            </a:r>
          </a:p>
          <a:p>
            <a:r>
              <a:rPr lang="en-US" sz="1200"/>
              <a:t>• Population versus single cell.</a:t>
            </a:r>
          </a:p>
          <a:p>
            <a:r>
              <a:rPr lang="en-US" sz="1200"/>
              <a:t>– A peak in the field potential is not a spike from one identified cell.</a:t>
            </a:r>
          </a:p>
          <a:p>
            <a:r>
              <a:rPr lang="en-US" sz="1200"/>
              <a:t>– Population timing and single-cell timing are therefore kept distinct.</a:t>
            </a:r>
          </a:p>
          <a:p>
            <a:r>
              <a:rPr lang="en-US" sz="1200"/>
              <a:t>• Peaks as events.</a:t>
            </a:r>
          </a:p>
          <a:p>
            <a:r>
              <a:rPr lang="en-US" sz="1200"/>
              <a:t>– The negative peak marks the early population response to a broadcast or echo.</a:t>
            </a:r>
          </a:p>
          <a:p>
            <a:r>
              <a:rPr lang="en-US" sz="1200"/>
              <a:t>– Its time of occurrence is the quantity that later slides measure.</a:t>
            </a:r>
          </a:p>
          <a:p>
            <a:r>
              <a:rPr lang="en-US" sz="1200"/>
              <a:t>• Later parts of the cascade.</a:t>
            </a:r>
          </a:p>
          <a:p>
            <a:r>
              <a:rPr lang="en-US" sz="1200"/>
              <a:t>– Responses later in the sequence were more variable than the early peaks.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structures along the auditory pathway were compared, one early and one in the midbrain.</a:t>
            </a:r>
          </a:p>
          <a:p>
            <a:r>
              <a:rPr lang="en-US" sz="1200"/>
              <a:t>• Cochlear nucleus.</a:t>
            </a:r>
          </a:p>
          <a:p>
            <a:r>
              <a:rPr lang="en-US" sz="1200"/>
              <a:t>– The cochlear nucleus is the first central relay that receives input from the auditory nerve.</a:t>
            </a:r>
          </a:p>
          <a:p>
            <a:r>
              <a:rPr lang="en-US" sz="1200"/>
              <a:t>• Inferior colliculus.</a:t>
            </a:r>
          </a:p>
          <a:p>
            <a:r>
              <a:rPr lang="en-US" sz="1200"/>
              <a:t>– The inferior colliculus is an auditory midbrain center.</a:t>
            </a:r>
          </a:p>
          <a:p>
            <a:r>
              <a:rPr lang="en-US" sz="1200"/>
              <a:t>– It receives ascending inputs from several brainstem nuclei.</a:t>
            </a:r>
          </a:p>
          <a:p>
            <a:r>
              <a:rPr lang="en-US" sz="1200"/>
              <a:t>• Recording sites.</a:t>
            </a:r>
          </a:p>
          <a:p>
            <a:r>
              <a:rPr lang="en-US" sz="1200"/>
              <a:t>– Electrodes were placed in the ventral cochlear nucleus and in the inferior colliculus of big brown bats under anesthesia.</a:t>
            </a:r>
          </a:p>
          <a:p>
            <a:r>
              <a:rPr lang="en-US" sz="1200"/>
              <a:t>– Lesions marked the cochlear-nucleus sites near the entry of the eighth cranial nerve and near the trapezoid body.</a:t>
            </a:r>
          </a:p>
          <a:p>
            <a:r>
              <a:rPr lang="en-US" sz="1200"/>
              <a:t>• Why location matters.</a:t>
            </a:r>
          </a:p>
          <a:p>
            <a:r>
              <a:rPr lang="en-US" sz="1200"/>
              <a:t>– The cochlear nucleus has subdivisions with different cells and projection patterns, so it is not one homogeneous population.</a:t>
            </a:r>
          </a:p>
          <a:p>
            <a:r>
              <a:rPr lang="en-US" sz="1200"/>
              <a:t>• The comparison.</a:t>
            </a:r>
          </a:p>
          <a:p>
            <a:r>
              <a:rPr lang="en-US" sz="1200"/>
              <a:t>– If precise timing is already present in the early relay, it need not be built in the midbrain.</a:t>
            </a:r>
          </a:p>
          <a:p>
            <a:r>
              <a:rPr lang="en-US" sz="1200"/>
              <a:t>– Recording both structures in the same animals tests that possibility.</a:t>
            </a:r>
          </a:p>
          <a:p>
            <a:r>
              <a:rPr lang="en-US" sz="1200"/>
              <a:t>• Why two relays.</a:t>
            </a:r>
          </a:p>
          <a:p>
            <a:r>
              <a:rPr lang="en-US" sz="1200"/>
              <a:t>– A comparison of an early relay with a midbrain relay can show whether timing precision changes along the pathway.</a:t>
            </a:r>
          </a:p>
          <a:p>
            <a:r>
              <a:rPr lang="en-US" sz="1200"/>
              <a:t>– The same stimuli and measurements were applied at both sites.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Cross-correlation is a computation that finds how much, and at what delay, an echo resembles the call that produced it.</a:t>
            </a:r>
          </a:p>
          <a:p>
            <a:r>
              <a:rPr lang="en-US" sz="1200"/>
              <a:t>• Definition.</a:t>
            </a:r>
          </a:p>
          <a:p>
            <a:r>
              <a:rPr lang="en-US" sz="1200"/>
              <a:t>– Cross-correlation measures similarity between two signals as their relative timing is varied.</a:t>
            </a:r>
          </a:p>
          <a:p>
            <a:r>
              <a:rPr lang="en-US" sz="1200"/>
              <a:t>– The delay at which similarity peaks marks the arrival time of the echo.</a:t>
            </a:r>
          </a:p>
          <a:p>
            <a:r>
              <a:rPr lang="en-US" sz="1200"/>
              <a:t>• Matched receiver.</a:t>
            </a:r>
          </a:p>
          <a:p>
            <a:r>
              <a:rPr lang="en-US" sz="1200"/>
              <a:t>– A receiver matched to the transmitted signal processes the echo in relation to the structure of that signal.</a:t>
            </a:r>
          </a:p>
          <a:p>
            <a:r>
              <a:rPr lang="en-US" sz="1200"/>
              <a:t>• The proposal.</a:t>
            </a:r>
          </a:p>
          <a:p>
            <a:r>
              <a:rPr lang="en-US" sz="1200"/>
              <a:t>– Simmons proposed a neural equivalent of cross-correlation from the relationship between acoustic structure and behavioral resolution.</a:t>
            </a:r>
          </a:p>
          <a:p>
            <a:r>
              <a:rPr lang="en-US" sz="1200"/>
              <a:t>• Broadband signals.</a:t>
            </a:r>
          </a:p>
          <a:p>
            <a:r>
              <a:rPr lang="en-US" sz="1200"/>
              <a:t>– The computation extracts arrival time from a broadband sweep.</a:t>
            </a:r>
          </a:p>
          <a:p>
            <a:r>
              <a:rPr lang="en-US" sz="1200"/>
              <a:t>– It does not measure the value of one acoustic frequency.</a:t>
            </a:r>
          </a:p>
          <a:p>
            <a:r>
              <a:rPr lang="en-US" sz="1200"/>
              <a:t>• Distributed representation.</a:t>
            </a:r>
          </a:p>
          <a:p>
            <a:r>
              <a:rPr lang="en-US" sz="1200"/>
              <a:t>– The paper allowed neural representations spread across frequency and time instead of a literal waveform comparison.</a:t>
            </a:r>
          </a:p>
          <a:p>
            <a:r>
              <a:rPr lang="en-US" sz="1200"/>
              <a:t>– The computation is a functional description of the receiver.</a:t>
            </a:r>
          </a:p>
          <a:p>
            <a:r>
              <a:rPr lang="en-US" sz="1200"/>
              <a:t>• Template idea.</a:t>
            </a:r>
          </a:p>
          <a:p>
            <a:r>
              <a:rPr lang="en-US" sz="1200"/>
              <a:t>– In a matched receiver the transmitted call serves as the reference for the echo.</a:t>
            </a:r>
          </a:p>
          <a:p>
            <a:r>
              <a:rPr lang="en-US" sz="1200"/>
              <a:t>– The match is judged across relative timing, and the best match gives the delay.</a:t>
            </a:r>
          </a:p>
          <a:p>
            <a:r>
              <a:rPr lang="en-US" sz="1200"/>
              <a:t>• Level of description.</a:t>
            </a:r>
          </a:p>
          <a:p>
            <a:r>
              <a:rPr lang="en-US" sz="1200"/>
              <a:t>– The paper treats cross-correlation as a functional description of what the receiver accomplishes and not as a wiring diagram.</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controls what it hears by pointing its broadcast, so the apparatus has to respect that control.</a:t>
            </a:r>
          </a:p>
          <a:p>
            <a:r>
              <a:rPr lang="en-US" sz="1200"/>
              <a:t>• Aiming the call.</a:t>
            </a:r>
          </a:p>
          <a:p>
            <a:r>
              <a:rPr lang="en-US" sz="1200"/>
              <a:t>– A bat directs its call toward an object, which changes the information returned by that object.</a:t>
            </a:r>
          </a:p>
          <a:p>
            <a:r>
              <a:rPr lang="en-US" sz="1200"/>
              <a:t>• One microphone.</a:t>
            </a:r>
          </a:p>
          <a:p>
            <a:r>
              <a:rPr lang="en-US" sz="1200"/>
              <a:t>– When one microphone fed both loudspeakers, strong echoes came from both sides whichever way the bat pointed.</a:t>
            </a:r>
          </a:p>
          <a:p>
            <a:r>
              <a:rPr lang="en-US" sz="1200"/>
              <a:t>– The animal could not inspect the targets separately, and discrimination was disrupted.</a:t>
            </a:r>
          </a:p>
          <a:p>
            <a:r>
              <a:rPr lang="en-US" sz="1200"/>
              <a:t>• Two channels.</a:t>
            </a:r>
          </a:p>
          <a:p>
            <a:r>
              <a:rPr lang="en-US" sz="1200"/>
              <a:t>– Each target received an echo from its own microphone, delay and loudspeaker channel.</a:t>
            </a:r>
          </a:p>
          <a:p>
            <a:r>
              <a:rPr lang="en-US" sz="1200"/>
              <a:t>– Directing the broadcast toward one side changed the relative echo strength, and stable discrimination returned.</a:t>
            </a:r>
          </a:p>
          <a:p>
            <a:r>
              <a:rPr lang="en-US" sz="1200"/>
              <a:t>• Controls that stayed fixed.</a:t>
            </a:r>
          </a:p>
          <a:p>
            <a:r>
              <a:rPr lang="en-US" sz="1200"/>
              <a:t>– The loudspeakers remained at fixed positions, and overall level and spectrum were controlled.</a:t>
            </a:r>
          </a:p>
          <a:p>
            <a:r>
              <a:rPr lang="en-US" sz="1200"/>
              <a:t>• Active sensing.</a:t>
            </a:r>
          </a:p>
          <a:p>
            <a:r>
              <a:rPr lang="en-US" sz="1200"/>
              <a:t>– The bat shapes the stimulus that it receives, so a valid simulator preserves the loop between emitted sound and returning echo.</a:t>
            </a:r>
          </a:p>
          <a:p>
            <a:r>
              <a:rPr lang="en-US" sz="1200"/>
              <a:t>• Controlled variables.</a:t>
            </a:r>
          </a:p>
          <a:p>
            <a:r>
              <a:rPr lang="en-US" sz="1200"/>
              <a:t>– Level and spectrum were controlled, so the echoes differed in arrival time and the experiment could separate timing from other range-related cues.</a:t>
            </a:r>
          </a:p>
          <a:p>
            <a:r>
              <a:rPr lang="en-US" sz="1200"/>
              <a:t>• Two microphones.</a:t>
            </a:r>
          </a:p>
          <a:p>
            <a:r>
              <a:rPr lang="en-US" sz="1200"/>
              <a:t>– Giving each channel its own microphone preserved the bat's ability to inspect the two simulated targets one after the other.</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comparison between a measured curve and a signal-based prediction depends on what autocorrelation measures.</a:t>
            </a:r>
          </a:p>
          <a:p>
            <a:r>
              <a:rPr lang="en-US" sz="1200"/>
              <a:t>• Definition.</a:t>
            </a:r>
          </a:p>
          <a:p>
            <a:r>
              <a:rPr lang="en-US" sz="1200"/>
              <a:t>– Autocorrelation compares a waveform with delayed versions of itself.</a:t>
            </a:r>
          </a:p>
          <a:p>
            <a:r>
              <a:rPr lang="en-US" sz="1200"/>
              <a:t>– The result is a function of delay.</a:t>
            </a:r>
          </a:p>
          <a:p>
            <a:r>
              <a:rPr lang="en-US" sz="1200"/>
              <a:t>• Sharp and broad peaks.</a:t>
            </a:r>
          </a:p>
          <a:p>
            <a:r>
              <a:rPr lang="en-US" sz="1200"/>
              <a:t>– A signal that resembles itself at only one delay gives a narrow peak.</a:t>
            </a:r>
          </a:p>
          <a:p>
            <a:r>
              <a:rPr lang="en-US" sz="1200"/>
              <a:t>– A signal that resembles itself over many delays gives a broad peak.</a:t>
            </a:r>
          </a:p>
          <a:p>
            <a:r>
              <a:rPr lang="en-US" sz="1200"/>
              <a:t>• The envelope.</a:t>
            </a:r>
          </a:p>
          <a:p>
            <a:r>
              <a:rPr lang="en-US" sz="1200"/>
              <a:t>– Removing the rapid carrier fluctuations leaves the overall shape of the similarity function.</a:t>
            </a:r>
          </a:p>
          <a:p>
            <a:r>
              <a:rPr lang="en-US" sz="1200"/>
              <a:t>– Simmons used that envelope to predict the discrimination curve.</a:t>
            </a:r>
          </a:p>
          <a:p>
            <a:r>
              <a:rPr lang="en-US" sz="1200"/>
              <a:t>• Link to behavior.</a:t>
            </a:r>
          </a:p>
          <a:p>
            <a:r>
              <a:rPr lang="en-US" sz="1200"/>
              <a:t>– A narrow envelope should allow two nearby echo delays to be separated, and a broad envelope should blur them.</a:t>
            </a:r>
          </a:p>
          <a:p>
            <a:r>
              <a:rPr lang="en-US" sz="1200"/>
              <a:t>– The prediction comes from the recorded call and not from the behavioral data.</a:t>
            </a:r>
          </a:p>
          <a:p>
            <a:r>
              <a:rPr lang="en-US" sz="1200"/>
              <a:t>• Agreement.</a:t>
            </a:r>
          </a:p>
          <a:p>
            <a:r>
              <a:rPr lang="en-US" sz="1200"/>
              <a:t>– The measured and predicted curves agreed, which supported a receiver matched to features of the transmitted signal.</a:t>
            </a:r>
          </a:p>
          <a:p>
            <a:r>
              <a:rPr lang="en-US" sz="1200"/>
              <a:t>• Why remove the carrier.</a:t>
            </a:r>
          </a:p>
          <a:p>
            <a:r>
              <a:rPr lang="en-US" sz="1200"/>
              <a:t>– The rapid carrier fluctuations oscillate far faster than the delays that the bat discriminates.</a:t>
            </a:r>
          </a:p>
          <a:p>
            <a:r>
              <a:rPr lang="en-US" sz="1200"/>
              <a:t>– The envelope keeps the slower shape that bears on delay resolution.</a:t>
            </a:r>
          </a:p>
          <a:p>
            <a:r>
              <a:rPr lang="en-US" sz="1200"/>
              <a:t>• Prediction and data.</a:t>
            </a:r>
          </a:p>
          <a:p>
            <a:r>
              <a:rPr lang="en-US" sz="1200"/>
              <a:t>– The measured discrimination curve and the curve predicted from the call had similar form.</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threshold needs a definition, and Simmons defined it as the distance difference that supported 75 percent correct choices.</a:t>
            </a:r>
          </a:p>
          <a:p>
            <a:r>
              <a:rPr lang="en-US" sz="1200"/>
              <a:t>• Why a criterion.</a:t>
            </a:r>
          </a:p>
          <a:p>
            <a:r>
              <a:rPr lang="en-US" sz="1200"/>
              <a:t>– Performance changes gradually as the distance difference shrinks, so a fixed level of correct choices is chosen to read the curve.</a:t>
            </a:r>
          </a:p>
          <a:p>
            <a:r>
              <a:rPr lang="en-US" sz="1200"/>
              <a:t>– Seventy-five percent lies between chance and nearly error-free performance.</a:t>
            </a:r>
          </a:p>
          <a:p>
            <a:r>
              <a:rPr lang="en-US" sz="1200"/>
              <a:t>• Result at two ranges.</a:t>
            </a:r>
          </a:p>
          <a:p>
            <a:r>
              <a:rPr lang="en-US" sz="1200"/>
              <a:t>– At 30 and 60 centimeters the smallest resolvable difference was approximately 12 to 14 millimeters.</a:t>
            </a:r>
          </a:p>
          <a:p>
            <a:r>
              <a:rPr lang="en-US" sz="1200"/>
              <a:t>– Larger distance differences were much easier to distinguish.</a:t>
            </a:r>
          </a:p>
          <a:p>
            <a:r>
              <a:rPr lang="en-US" sz="1200"/>
              <a:t>• The chance point.</a:t>
            </a:r>
          </a:p>
          <a:p>
            <a:r>
              <a:rPr lang="en-US" sz="1200"/>
              <a:t>– When the two targets were equally distant there was no nearer target, so the bat could only guess.</a:t>
            </a:r>
          </a:p>
          <a:p>
            <a:r>
              <a:rPr lang="en-US" sz="1200"/>
              <a:t>– Choices fell to chance at a difference of zero even if the bat heard both echoes clearly.</a:t>
            </a:r>
          </a:p>
          <a:p>
            <a:r>
              <a:rPr lang="en-US" sz="1200"/>
              <a:t>• Comparing curves.</a:t>
            </a:r>
          </a:p>
          <a:p>
            <a:r>
              <a:rPr lang="en-US" sz="1200"/>
              <a:t>– Reading every curve at the same performance level makes thresholds comparable across absolute ranges and across species.</a:t>
            </a:r>
          </a:p>
          <a:p>
            <a:r>
              <a:rPr lang="en-US" sz="1200"/>
              <a:t>• Distance and difference.</a:t>
            </a:r>
          </a:p>
          <a:p>
            <a:r>
              <a:rPr lang="en-US" sz="1200"/>
              <a:t>– Absolute distance is how far a target lies from the bat, and distance difference is the separation between the two targets.</a:t>
            </a:r>
          </a:p>
          <a:p>
            <a:r>
              <a:rPr lang="en-US" sz="1200"/>
              <a:t>– Acuity is a statement about the difference.</a:t>
            </a:r>
          </a:p>
          <a:p>
            <a:r>
              <a:rPr lang="en-US" sz="1200"/>
              <a:t>• Operational definition.</a:t>
            </a:r>
          </a:p>
          <a:p>
            <a:r>
              <a:rPr lang="en-US" sz="1200"/>
              <a:t>– The criterion is chosen for comparing curves, so it is a convention that makes thresholds from different ranges comparable.</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Echo delay is a time interval, and a bat can use it to estimate how far away a reflector is.</a:t>
            </a:r>
          </a:p>
          <a:p>
            <a:r>
              <a:rPr lang="en-US" sz="1200"/>
              <a:t>• Round trip.</a:t>
            </a:r>
          </a:p>
          <a:p>
            <a:r>
              <a:rPr lang="en-US" sz="1200"/>
              <a:t>– Sound travels outward to the target and back, so a more distant target returns a later echo.</a:t>
            </a:r>
          </a:p>
          <a:p>
            <a:r>
              <a:rPr lang="en-US" sz="1200"/>
              <a:t>– Target range is the distance from the bat to the reflector.</a:t>
            </a:r>
          </a:p>
          <a:p>
            <a:r>
              <a:rPr lang="en-US" sz="1200"/>
              <a:t>• Measured example.</a:t>
            </a:r>
          </a:p>
          <a:p>
            <a:r>
              <a:rPr lang="en-US" sz="1200"/>
              <a:t>– A target at 30 centimeters returned an echo after about 1.7 milliseconds in the experimental conditions.</a:t>
            </a:r>
          </a:p>
          <a:p>
            <a:r>
              <a:rPr lang="en-US" sz="1200"/>
              <a:t>• Reading the recording.</a:t>
            </a:r>
          </a:p>
          <a:p>
            <a:r>
              <a:rPr lang="en-US" sz="1200"/>
              <a:t>– The echo followed the emitted call and did not coincide with it.</a:t>
            </a:r>
          </a:p>
          <a:p>
            <a:r>
              <a:rPr lang="en-US" sz="1200"/>
              <a:t>– Sound from apparatus supports also appeared in the recording, so target reflections had to be distinguished from other returning sound.</a:t>
            </a:r>
          </a:p>
          <a:p>
            <a:r>
              <a:rPr lang="en-US" sz="1200"/>
              <a:t>• Why delay can be tested directly.</a:t>
            </a:r>
          </a:p>
          <a:p>
            <a:r>
              <a:rPr lang="en-US" sz="1200"/>
              <a:t>– Electronic delay channels can change the interval between call and echo while the loudspeakers remain at fixed positions.</a:t>
            </a:r>
          </a:p>
          <a:p>
            <a:r>
              <a:rPr lang="en-US" sz="1200"/>
              <a:t>– The bat then receives a change in delay without a change in the actual distance of the loudspeaker.</a:t>
            </a:r>
          </a:p>
          <a:p>
            <a:r>
              <a:rPr lang="en-US" sz="1200"/>
              <a:t>• Relative judgments.</a:t>
            </a:r>
          </a:p>
          <a:p>
            <a:r>
              <a:rPr lang="en-US" sz="1200"/>
              <a:t>– The bats were asked to choose the nearer of two targets, so the task depends on comparing two delays.</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03B4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1C7D1"/>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1C7D1"/>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1C7D1"/>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1C7D1"/>
                </a:solidFill>
                <a:latin typeface="Arial"/>
              </a:rPr>
              <a:t>Jordan Lopez, Ph.D.</a:t>
            </a:r>
          </a:p>
          <a:p>
            <a:pPr algn="l">
              <a:lnSpc>
                <a:spcPct val="108000"/>
              </a:lnSpc>
              <a:spcAft>
                <a:spcPts val="200"/>
              </a:spcAft>
            </a:pPr>
            <a:r>
              <a:rPr sz="1200" b="0" i="0">
                <a:solidFill>
                  <a:srgbClr val="E1C7D1"/>
                </a:solidFill>
                <a:latin typeface="Arial"/>
              </a:rPr>
              <a:t>Professor of Neurobiology &amp; Biomedical Engineering</a:t>
            </a:r>
          </a:p>
        </p:txBody>
      </p:sp>
      <p:pic>
        <p:nvPicPr>
          <p:cNvPr id="8" name="Picture 7" descr="big_brown_bat.jpg"/>
          <p:cNvPicPr>
            <a:picLocks noChangeAspect="1"/>
          </p:cNvPicPr>
          <p:nvPr/>
        </p:nvPicPr>
        <p:blipFill>
          <a:blip r:embed="rId2"/>
          <a:stretch>
            <a:fillRect/>
          </a:stretch>
        </p:blipFill>
        <p:spPr>
          <a:xfrm>
            <a:off x="7017998" y="822960"/>
            <a:ext cx="4251545"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Photo: Big brown bat (Eptesicus fuscus).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FM calls distribute acoustic energy across frequencies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1" i="0">
                <a:solidFill>
                  <a:srgbClr val="424E64"/>
                </a:solidFill>
                <a:latin typeface="Arial"/>
              </a:rPr>
              <a:t>Echolocation</a:t>
            </a:r>
            <a:r>
              <a:rPr sz="1500" b="0" i="0">
                <a:solidFill>
                  <a:srgbClr val="27303C"/>
                </a:solidFill>
                <a:latin typeface="Arial"/>
              </a:rPr>
              <a:t> is active sensing with emitted sounds and returning echoes. A </a:t>
            </a:r>
            <a:r>
              <a:rPr sz="1500" b="1" i="0">
                <a:solidFill>
                  <a:srgbClr val="424E64"/>
                </a:solidFill>
                <a:latin typeface="Arial"/>
              </a:rPr>
              <a:t>frequency-modulated sweep</a:t>
            </a:r>
            <a:r>
              <a:rPr sz="1500" b="0" i="0">
                <a:solidFill>
                  <a:srgbClr val="27303C"/>
                </a:solidFill>
                <a:latin typeface="Arial"/>
              </a:rPr>
              <a:t>, or FM sweep, changes frequency during a call. Big brown bats, </a:t>
            </a:r>
            <a:r>
              <a:rPr sz="1500" b="0" i="1">
                <a:solidFill>
                  <a:srgbClr val="27303C"/>
                </a:solidFill>
                <a:latin typeface="Arial"/>
              </a:rPr>
              <a:t>Eptesicus fuscus</a:t>
            </a:r>
            <a:r>
              <a:rPr sz="1500" b="0" i="0">
                <a:solidFill>
                  <a:srgbClr val="27303C"/>
                </a:solidFill>
                <a:latin typeface="Arial"/>
              </a:rPr>
              <a:t>, emit downward sweeps with two prominent </a:t>
            </a:r>
            <a:r>
              <a:rPr sz="1500" b="1" i="0">
                <a:solidFill>
                  <a:srgbClr val="424E64"/>
                </a:solidFill>
                <a:latin typeface="Arial"/>
              </a:rPr>
              <a:t>harmonics</a:t>
            </a:r>
            <a:r>
              <a:rPr sz="1500" b="0" i="0">
                <a:solidFill>
                  <a:srgbClr val="27303C"/>
                </a:solidFill>
                <a:latin typeface="Arial"/>
              </a:rPr>
              <a:t>, components related by a twofold frequency ratio.</a:t>
            </a:r>
          </a:p>
          <a:p>
            <a:pPr algn="l">
              <a:lnSpc>
                <a:spcPct val="108000"/>
              </a:lnSpc>
              <a:spcAft>
                <a:spcPts val="960"/>
              </a:spcAft>
            </a:pPr>
            <a:r>
              <a:rPr sz="1500" b="0" i="0">
                <a:solidFill>
                  <a:srgbClr val="27303C"/>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500" b="0" i="0">
                <a:solidFill>
                  <a:srgbClr val="27303C"/>
                </a:solidFill>
                <a:latin typeface="Arial"/>
              </a:rPr>
              <a:t>Behavioral filtering experiments distinguish the contributions of these harmonics. FM1 can support echo-delay perception without FM2; FM2 cannot simply replace missing corresponding FM1 frequencies. FM1 carries the frequencies on which the tested range judgments depend, and FM2 adds a second, higher sweep related to FM1 by a twofold frequency ratio.</a:t>
            </a:r>
          </a:p>
        </p:txBody>
      </p:sp>
      <p:pic>
        <p:nvPicPr>
          <p:cNvPr id="4" name="Picture 3" descr="B11_1A.png"/>
          <p:cNvPicPr>
            <a:picLocks noChangeAspect="1"/>
          </p:cNvPicPr>
          <p:nvPr/>
        </p:nvPicPr>
        <p:blipFill>
          <a:blip r:embed="rId2"/>
          <a:stretch>
            <a:fillRect/>
          </a:stretch>
        </p:blipFill>
        <p:spPr>
          <a:xfrm>
            <a:off x="6970908" y="1280160"/>
            <a:ext cx="418707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1(A). Two downward FM harmonics in a big brown bat broadcast.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 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delay specifies the round trip to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424E64"/>
                </a:solidFill>
                <a:latin typeface="Arial"/>
              </a:rPr>
              <a:t>Echo delay</a:t>
            </a:r>
            <a:r>
              <a:rPr sz="1700" b="0" i="0">
                <a:solidFill>
                  <a:srgbClr val="27303C"/>
                </a:solidFill>
                <a:latin typeface="Arial"/>
              </a:rPr>
              <a:t> is the interval between an outgoing call and its returning reflection. A more distant target produces a later echo because sound travels outward to the target and back to the bat. </a:t>
            </a:r>
            <a:r>
              <a:rPr sz="1700" b="1" i="0">
                <a:solidFill>
                  <a:srgbClr val="424E64"/>
                </a:solidFill>
                <a:latin typeface="Arial"/>
              </a:rPr>
              <a:t>Target range</a:t>
            </a:r>
            <a:r>
              <a:rPr sz="1700" b="0" i="0">
                <a:solidFill>
                  <a:srgbClr val="27303C"/>
                </a:solidFill>
                <a:latin typeface="Arial"/>
              </a:rPr>
              <a:t> is the distance from the bat to that reflector.</a:t>
            </a:r>
          </a:p>
          <a:p>
            <a:pPr algn="l">
              <a:lnSpc>
                <a:spcPct val="108000"/>
              </a:lnSpc>
              <a:spcAft>
                <a:spcPts val="1019"/>
              </a:spcAft>
            </a:pPr>
            <a:r>
              <a:rPr sz="1700" b="0" i="0">
                <a:solidFill>
                  <a:srgbClr val="27303C"/>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27303C"/>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Bats can choose the nearer of two reflecting targets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Simmons trained bats to discriminate between two targets that differed in distance from a starting platform. The animal received food for moving to the landing platform associated with the nearer target. </a:t>
            </a:r>
            <a:r>
              <a:rPr sz="1550" b="1" i="0">
                <a:solidFill>
                  <a:srgbClr val="424E64"/>
                </a:solidFill>
                <a:latin typeface="Arial"/>
              </a:rPr>
              <a:t>Discrimination</a:t>
            </a:r>
            <a:r>
              <a:rPr sz="1550" b="0" i="0">
                <a:solidFill>
                  <a:srgbClr val="27303C"/>
                </a:solidFill>
                <a:latin typeface="Arial"/>
              </a:rPr>
              <a:t> here means choosing between simultaneously available alternatives.</a:t>
            </a:r>
          </a:p>
          <a:p>
            <a:pPr algn="l">
              <a:lnSpc>
                <a:spcPct val="108000"/>
              </a:lnSpc>
              <a:spcAft>
                <a:spcPts val="960"/>
              </a:spcAft>
            </a:pPr>
            <a:r>
              <a:rPr sz="1550" b="0" i="0">
                <a:solidFill>
                  <a:srgbClr val="27303C"/>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960"/>
              </a:spcAft>
            </a:pPr>
            <a:r>
              <a:rPr sz="1550" b="0" i="0">
                <a:solidFill>
                  <a:srgbClr val="27303C"/>
                </a:solidFill>
                <a:latin typeface="Arial"/>
              </a:rPr>
              <a:t>Performance deteriorated as the distance difference approached zero, reaching chance when both targets were equally distant. This procedure measured resolution of relative range differences. Relative range is the quantity a bat needs to choose between two reflectors, so the comparison of a nearer and a farther echo defines the task, and the smallest distance difference that the bat can resolve describes how finely it ranges.</a:t>
            </a:r>
          </a:p>
        </p:txBody>
      </p:sp>
      <p:pic>
        <p:nvPicPr>
          <p:cNvPr id="4" name="Picture 3" descr="S73_1.png"/>
          <p:cNvPicPr>
            <a:picLocks noChangeAspect="1"/>
          </p:cNvPicPr>
          <p:nvPr/>
        </p:nvPicPr>
        <p:blipFill>
          <a:blip r:embed="rId2"/>
          <a:stretch>
            <a:fillRect/>
          </a:stretch>
        </p:blipFill>
        <p:spPr>
          <a:xfrm>
            <a:off x="6504127" y="1280160"/>
            <a:ext cx="5120640" cy="2911594"/>
          </a:xfrm>
          <a:prstGeom prst="rect">
            <a:avLst/>
          </a:prstGeom>
        </p:spPr>
      </p:pic>
      <p:sp>
        <p:nvSpPr>
          <p:cNvPr id="5" name="Figure caption"/>
          <p:cNvSpPr txBox="1"/>
          <p:nvPr/>
        </p:nvSpPr>
        <p:spPr>
          <a:xfrm>
            <a:off x="6504127" y="42831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 Original two-target range-discrimination apparatus.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Near-range acuity remains similar at 30 and 60 cm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Range acuity</a:t>
            </a:r>
            <a:r>
              <a:rPr sz="1600" b="0" i="0">
                <a:solidFill>
                  <a:srgbClr val="27303C"/>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27303C"/>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27303C"/>
                </a:solidFill>
                <a:latin typeface="Arial"/>
              </a:rPr>
              <a:t>The result supports approximately constant absolute resolution over these tested ranges. Doubling the distance from 30 to 60 cm left the smallest resolvable difference near 12 to 14 mm, so resolution is described in absolute distance units and not as a fixed fraction of the target distance, and echo audibility and propagation losses would be expected to matter at greater distances.</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Behavioral resolution is narrower than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27303C"/>
                </a:solidFill>
                <a:latin typeface="Arial"/>
              </a:rPr>
              <a:t>Simmons compared this measured discrimination curve with a prediction derived from the recorded sonar signal. The prediction used the signal’s </a:t>
            </a:r>
            <a:r>
              <a:rPr sz="1600" b="1" i="0">
                <a:solidFill>
                  <a:srgbClr val="424E64"/>
                </a:solidFill>
                <a:latin typeface="Arial"/>
              </a:rPr>
              <a:t>autocorrelation envelope</a:t>
            </a:r>
            <a:r>
              <a:rPr sz="1600" b="0" i="0">
                <a:solidFill>
                  <a:srgbClr val="27303C"/>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27303C"/>
                </a:solidFill>
                <a:latin typeface="Arial"/>
              </a:rPr>
              <a:t>Agreement supported a receiver matched to features of the transmitted signal. The prediction is made from the recorded call alone, so the structure of the transmitted signal itself sets how finely echo delays can be told apart.</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Range discrimination occurs across sonar signal types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Simmons compared range discrimination in bats using different sonar signals. </a:t>
            </a:r>
            <a:r>
              <a:rPr sz="1550" b="0" i="1">
                <a:solidFill>
                  <a:srgbClr val="27303C"/>
                </a:solidFill>
                <a:latin typeface="Arial"/>
              </a:rPr>
              <a:t>Eptesicus fuscus</a:t>
            </a:r>
            <a:r>
              <a:rPr sz="1550" b="0" i="0">
                <a:solidFill>
                  <a:srgbClr val="27303C"/>
                </a:solidFill>
                <a:latin typeface="Arial"/>
              </a:rPr>
              <a:t> and </a:t>
            </a:r>
            <a:r>
              <a:rPr sz="1550" b="0" i="1">
                <a:solidFill>
                  <a:srgbClr val="27303C"/>
                </a:solidFill>
                <a:latin typeface="Arial"/>
              </a:rPr>
              <a:t>Phyllostomus hastatus</a:t>
            </a:r>
            <a:r>
              <a:rPr sz="1550" b="0" i="0">
                <a:solidFill>
                  <a:srgbClr val="27303C"/>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550" b="0" i="0">
                <a:solidFill>
                  <a:srgbClr val="27303C"/>
                </a:solidFill>
                <a:latin typeface="Arial"/>
              </a:rPr>
              <a:t>The first three species resolved differences near 1–2 cm; </a:t>
            </a:r>
            <a:r>
              <a:rPr sz="1550" b="0" i="1">
                <a:solidFill>
                  <a:srgbClr val="27303C"/>
                </a:solidFill>
                <a:latin typeface="Arial"/>
              </a:rPr>
              <a:t>Rhinolophus ferrumequinum</a:t>
            </a:r>
            <a:r>
              <a:rPr sz="1550" b="0" i="0">
                <a:solidFill>
                  <a:srgbClr val="27303C"/>
                </a:solidFill>
                <a:latin typeface="Arial"/>
              </a:rPr>
              <a:t> had a threshold nearer 3 cm. In </a:t>
            </a:r>
            <a:r>
              <a:rPr sz="1550" b="0" i="1">
                <a:solidFill>
                  <a:srgbClr val="27303C"/>
                </a:solidFill>
                <a:latin typeface="Arial"/>
              </a:rPr>
              <a:t>Phyllostomus</a:t>
            </a:r>
            <a:r>
              <a:rPr sz="1550" b="0" i="0">
                <a:solidFill>
                  <a:srgbClr val="27303C"/>
                </a:solidFill>
                <a:latin typeface="Arial"/>
              </a:rPr>
              <a:t>, discrimination at 60 and 120 cm had similar resolution. Signal form did not divide the animals into ranging and non-ranging groups.</a:t>
            </a:r>
          </a:p>
          <a:p>
            <a:pPr algn="l">
              <a:lnSpc>
                <a:spcPct val="108000"/>
              </a:lnSpc>
              <a:spcAft>
                <a:spcPts val="960"/>
              </a:spcAft>
            </a:pPr>
            <a:r>
              <a:rPr sz="1550" b="0" i="0">
                <a:solidFill>
                  <a:srgbClr val="27303C"/>
                </a:solidFill>
                <a:latin typeface="Arial"/>
              </a:rPr>
              <a:t>The paper inferred different contributions of signal components across species. The shared ability to compare target ranges appeared in FM-only species and in species that combine constant-frequency and FM components, with thresholds near 1 to 2 cm in the first three species and near 3 cm in Rhinolophus ferrumequinum.</a:t>
            </a:r>
          </a:p>
        </p:txBody>
      </p:sp>
      <p:pic>
        <p:nvPicPr>
          <p:cNvPr id="4" name="Picture 3" descr="S73_5.png"/>
          <p:cNvPicPr>
            <a:picLocks noChangeAspect="1"/>
          </p:cNvPicPr>
          <p:nvPr/>
        </p:nvPicPr>
        <p:blipFill>
          <a:blip r:embed="rId2"/>
          <a:stretch>
            <a:fillRect/>
          </a:stretch>
        </p:blipFill>
        <p:spPr>
          <a:xfrm>
            <a:off x="6504127" y="1280160"/>
            <a:ext cx="5120640" cy="3979677"/>
          </a:xfrm>
          <a:prstGeom prst="rect">
            <a:avLst/>
          </a:prstGeom>
        </p:spPr>
      </p:pic>
      <p:sp>
        <p:nvSpPr>
          <p:cNvPr id="5" name="Figure caption"/>
          <p:cNvSpPr txBox="1"/>
          <p:nvPr/>
        </p:nvSpPr>
        <p:spPr>
          <a:xfrm>
            <a:off x="6504127" y="53512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5. Range discrimination by Phyllostomus hastatus at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Electronic echoes isolate arrival time from other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electronic target simulator</a:t>
            </a:r>
            <a:r>
              <a:rPr sz="1600" b="0" i="0">
                <a:solidFill>
                  <a:srgbClr val="27303C"/>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27303C"/>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27303C"/>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arrival time can support the range judgment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27303C"/>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27303C"/>
                </a:solidFill>
                <a:latin typeface="Arial"/>
              </a:rPr>
              <a:t>Echo timing is therefore sufficient to mediate this relative-range judgment in big brown bats. Spectrum, level and direction were controlled, so arrival time alone carried the information that the bat used to choose the nearer echo.</a:t>
            </a:r>
          </a:p>
        </p:txBody>
      </p:sp>
      <p:pic>
        <p:nvPicPr>
          <p:cNvPr id="4" name="Picture 3" descr="S73_13.png"/>
          <p:cNvPicPr>
            <a:picLocks noChangeAspect="1"/>
          </p:cNvPicPr>
          <p:nvPr/>
        </p:nvPicPr>
        <p:blipFill>
          <a:blip r:embed="rId2"/>
          <a:stretch>
            <a:fillRect/>
          </a:stretch>
        </p:blipFill>
        <p:spPr>
          <a:xfrm>
            <a:off x="6823742" y="1280160"/>
            <a:ext cx="44814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13. Physical-range and electronic-delay discrimination at a 30-cm reference range.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matched receiver is a functional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 </a:t>
            </a:r>
            <a:r>
              <a:rPr sz="1500" b="1" i="0">
                <a:solidFill>
                  <a:srgbClr val="424E64"/>
                </a:solidFill>
                <a:latin typeface="Arial"/>
              </a:rPr>
              <a:t>matched receiver</a:t>
            </a:r>
            <a:r>
              <a:rPr sz="1500" b="0" i="0">
                <a:solidFill>
                  <a:srgbClr val="27303C"/>
                </a:solidFill>
                <a:latin typeface="Arial"/>
              </a:rPr>
              <a:t> processes an incoming echo in relation to the structure of the transmitted signal. </a:t>
            </a:r>
            <a:r>
              <a:rPr sz="1500" b="1" i="0">
                <a:solidFill>
                  <a:srgbClr val="424E64"/>
                </a:solidFill>
                <a:latin typeface="Arial"/>
              </a:rPr>
              <a:t>Cross-correlation</a:t>
            </a:r>
            <a:r>
              <a:rPr sz="1500" b="0" i="0">
                <a:solidFill>
                  <a:srgbClr val="27303C"/>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00"/>
              </a:spcAft>
            </a:pPr>
            <a:r>
              <a:rPr sz="1500" b="0" i="0">
                <a:solidFill>
                  <a:srgbClr val="27303C"/>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00"/>
              </a:spcAft>
            </a:pPr>
            <a:r>
              <a:rPr sz="1500" b="0" i="0">
                <a:solidFill>
                  <a:srgbClr val="27303C"/>
                </a:solidFill>
                <a:latin typeface="Arial"/>
              </a:rPr>
              <a:t>The paper explicitly allowed neural representations distributed across frequency and time instead of literal waveform comparison. A representation distributed across frequency channels and time could produce the same delay information as a waveform comparison, and the behavioral resolution curves resemble predictions from the envelope of the call's autocorrelation function.</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registered early in the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The </a:t>
            </a:r>
            <a:r>
              <a:rPr sz="1500" b="1" i="0">
                <a:solidFill>
                  <a:srgbClr val="424E64"/>
                </a:solidFill>
                <a:latin typeface="Arial"/>
              </a:rPr>
              <a:t>cochlear nucleus</a:t>
            </a:r>
            <a:r>
              <a:rPr sz="1500" b="0" i="0">
                <a:solidFill>
                  <a:srgbClr val="27303C"/>
                </a:solidFill>
                <a:latin typeface="Arial"/>
              </a:rPr>
              <a:t> is the first central relay receiving auditory-nerve input from the ear. The </a:t>
            </a:r>
            <a:r>
              <a:rPr sz="1500" b="1" i="0">
                <a:solidFill>
                  <a:srgbClr val="424E64"/>
                </a:solidFill>
                <a:latin typeface="Arial"/>
              </a:rPr>
              <a:t>inferior colliculus</a:t>
            </a:r>
            <a:r>
              <a:rPr sz="1500" b="0" i="0">
                <a:solidFill>
                  <a:srgbClr val="27303C"/>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500" b="0" i="0">
                <a:solidFill>
                  <a:srgbClr val="27303C"/>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500" b="0" i="0">
                <a:solidFill>
                  <a:srgbClr val="27303C"/>
                </a:solidFill>
                <a:latin typeface="Arial"/>
              </a:rPr>
              <a:t>The comparison tested whether precise timing emerged only at the midbrain or was already present in an early relay. Recording from the ventral cochlear nucleus and the inferior colliculus of the same animals allows the timing of the two relays to be compared directly, and the lesion-verified sites near the entry of the eighth nerve and near the trapezoid body specify which part of the cochlear nucleus was sampled.</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cascades approximate a scene with several objects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echo cascade</a:t>
            </a:r>
            <a:r>
              <a:rPr sz="1600" b="0" i="0">
                <a:solidFill>
                  <a:srgbClr val="27303C"/>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960"/>
              </a:spcAft>
            </a:pPr>
            <a:r>
              <a:rPr sz="1600" b="0" i="0">
                <a:solidFill>
                  <a:srgbClr val="27303C"/>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960"/>
              </a:spcAft>
            </a:pPr>
            <a:r>
              <a:rPr sz="1600" b="0" i="0">
                <a:solidFill>
                  <a:srgbClr val="27303C"/>
                </a:solidFill>
                <a:latin typeface="Arial"/>
              </a:rPr>
              <a:t>Changing the first-echo delay altered the simulated scene while preserving its general cascade structure. A sequence of echoes after one broadcast resembles a scene with several objects more closely than an isolated tone does, and each stimulus begins with the broadcast followed by four echoes whose first member arrives earlier as the simulated reflectors come nearer.</a:t>
            </a:r>
          </a:p>
        </p:txBody>
      </p:sp>
      <p:pic>
        <p:nvPicPr>
          <p:cNvPr id="4" name="Picture 3" descr="S24_1.png"/>
          <p:cNvPicPr>
            <a:picLocks noChangeAspect="1"/>
          </p:cNvPicPr>
          <p:nvPr/>
        </p:nvPicPr>
        <p:blipFill>
          <a:blip r:embed="rId2"/>
          <a:stretch>
            <a:fillRect/>
          </a:stretch>
        </p:blipFill>
        <p:spPr>
          <a:xfrm>
            <a:off x="8121291" y="1280160"/>
            <a:ext cx="188631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1. Published broadcast–echo waveforms with first-echo delays from 20.4 to 14.4 ms.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Population potentials register calls and echoes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a:t>
            </a:r>
            <a:r>
              <a:rPr sz="1600" b="1" i="0">
                <a:solidFill>
                  <a:srgbClr val="424E64"/>
                </a:solidFill>
                <a:latin typeface="Arial"/>
              </a:rPr>
              <a:t>local field potential</a:t>
            </a:r>
            <a:r>
              <a:rPr sz="1600" b="0" i="0">
                <a:solidFill>
                  <a:srgbClr val="27303C"/>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27303C"/>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27303C"/>
                </a:solidFill>
                <a:latin typeface="Arial"/>
              </a:rPr>
              <a:t>The consistency of a population response provides a candidate timing signal for registering acoustic events. The recorded signal combines the activity of neurons within the electrode's recording field, so its negative and positive peaks mark the times at which the population responded to each broadcast and echo.</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latency changes with acoustic level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Response latency</a:t>
            </a:r>
            <a:r>
              <a:rPr sz="1600" b="0" i="0">
                <a:solidFill>
                  <a:srgbClr val="27303C"/>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960"/>
              </a:spcAft>
            </a:pPr>
            <a:r>
              <a:rPr sz="1600" b="0" i="0">
                <a:solidFill>
                  <a:srgbClr val="27303C"/>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960"/>
              </a:spcAft>
            </a:pPr>
            <a:r>
              <a:rPr sz="1600" b="0" i="0">
                <a:solidFill>
                  <a:srgbClr val="27303C"/>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321247" y="1280160"/>
            <a:ext cx="3291840" cy="3017520"/>
          </a:xfrm>
          <a:prstGeom prst="rect">
            <a:avLst/>
          </a:prstGeom>
        </p:spPr>
      </p:pic>
      <p:sp>
        <p:nvSpPr>
          <p:cNvPr id="5" name="Figure caption"/>
          <p:cNvSpPr txBox="1"/>
          <p:nvPr/>
        </p:nvSpPr>
        <p:spPr>
          <a:xfrm>
            <a:off x="6321247" y="438912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4(A). Cochlear-nucleus broadcast latency at three attenuation settings.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timing varies by tens of microseconds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Latency jitter</a:t>
            </a:r>
            <a:r>
              <a:rPr sz="1600" b="0" i="0">
                <a:solidFill>
                  <a:srgbClr val="27303C"/>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960"/>
              </a:spcAft>
            </a:pPr>
            <a:r>
              <a:rPr sz="1600" b="0" i="0">
                <a:solidFill>
                  <a:srgbClr val="27303C"/>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960"/>
              </a:spcAft>
            </a:pPr>
            <a:r>
              <a:rPr sz="1600" b="0" i="0">
                <a:solidFill>
                  <a:srgbClr val="27303C"/>
                </a:solidFill>
                <a:latin typeface="Arial"/>
              </a:rPr>
              <a:t>Precision on this scale supports population timing as a potential component of echo processing. Stability at this scale makes the early population response a repeatable marker of when the broadcast occurred, and jitter rose as the stimulus weakened.</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responses follow the changing delay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27303C"/>
                </a:solidFill>
                <a:latin typeface="Arial"/>
              </a:rPr>
              <a:t>Simmons and colleagues also quantified </a:t>
            </a:r>
            <a:r>
              <a:rPr sz="1600" b="1" i="0">
                <a:solidFill>
                  <a:srgbClr val="424E64"/>
                </a:solidFill>
                <a:latin typeface="Arial"/>
              </a:rPr>
              <a:t>amplitude–latency trading</a:t>
            </a:r>
            <a:r>
              <a:rPr sz="1600" b="0" i="0">
                <a:solidFill>
                  <a:srgbClr val="27303C"/>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27303C"/>
                </a:solidFill>
                <a:latin typeface="Arial"/>
              </a:rPr>
              <a:t>Echo timing and echo strength thus influence the measured latency together. Moving the echo earlier shifts the response earlier, and a weaker sound evokes a later response, so relative timing is registered accurately while absolute latency depends on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jitter is stable across the tested delays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960"/>
              </a:spcAft>
            </a:pPr>
            <a:r>
              <a:rPr sz="1600" b="0" i="0">
                <a:solidFill>
                  <a:srgbClr val="27303C"/>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960"/>
              </a:spcAft>
            </a:pPr>
            <a:r>
              <a:rPr sz="1600" b="0" i="0">
                <a:solidFill>
                  <a:srgbClr val="27303C"/>
                </a:solidFill>
                <a:latin typeface="Arial"/>
              </a:rPr>
              <a:t>The result separates the representation of a moving event from the precision of that representation. The peak shifts with echo delay while its repeatability stays near 54 microseconds, so a precise onset response can register many successive delays and the delay itself is carried by the changing latency of the peak.</a:t>
            </a:r>
          </a:p>
        </p:txBody>
      </p:sp>
      <p:pic>
        <p:nvPicPr>
          <p:cNvPr id="4" name="Picture 3" descr="S24_4D.png"/>
          <p:cNvPicPr>
            <a:picLocks noChangeAspect="1"/>
          </p:cNvPicPr>
          <p:nvPr/>
        </p:nvPicPr>
        <p:blipFill>
          <a:blip r:embed="rId2"/>
          <a:stretch>
            <a:fillRect/>
          </a:stretch>
        </p:blipFill>
        <p:spPr>
          <a:xfrm>
            <a:off x="6321247" y="1280160"/>
            <a:ext cx="3291840" cy="2974412"/>
          </a:xfrm>
          <a:prstGeom prst="rect">
            <a:avLst/>
          </a:prstGeom>
        </p:spPr>
      </p:pic>
      <p:sp>
        <p:nvSpPr>
          <p:cNvPr id="5" name="Figure caption"/>
          <p:cNvSpPr txBox="1"/>
          <p:nvPr/>
        </p:nvSpPr>
        <p:spPr>
          <a:xfrm>
            <a:off x="6321247" y="434601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4(D). First-echo latency jitter at seven delays and three sound levels.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Midbrain responses retain precise onset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27303C"/>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27303C"/>
                </a:solidFill>
                <a:latin typeface="Arial"/>
              </a:rPr>
              <a:t>A later mean response need not have poorer temporal precision. The study measured propagation and repeatability separately. The recordings support retention of precise population timing at the midbrain, with early broadcast and echo peaks aligned across repetitions.</a:t>
            </a:r>
          </a:p>
        </p:txBody>
      </p:sp>
      <p:pic>
        <p:nvPicPr>
          <p:cNvPr id="4" name="Picture 3" descr="S24_5top.png"/>
          <p:cNvPicPr>
            <a:picLocks noChangeAspect="1"/>
          </p:cNvPicPr>
          <p:nvPr/>
        </p:nvPicPr>
        <p:blipFill>
          <a:blip r:embed="rId2"/>
          <a:stretch>
            <a:fillRect/>
          </a:stretch>
        </p:blipFill>
        <p:spPr>
          <a:xfrm>
            <a:off x="7792488" y="1280160"/>
            <a:ext cx="25439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similarly precise in two auditory relays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27303C"/>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27303C"/>
                </a:solidFill>
                <a:latin typeface="Arial"/>
              </a:rPr>
              <a:t>Precise timing is therefore present when the ascending signal reaches the cochlear nucleus and is preserved at the inferior colliculus, where responses arrive later but repeat with similar variability. The comparison concerns the early broadcast and echo peaks, which the cochlear nucleus produced earlier than the inferior colliculus.</a:t>
            </a:r>
          </a:p>
        </p:txBody>
      </p:sp>
      <p:pic>
        <p:nvPicPr>
          <p:cNvPr id="4" name="Picture 3" descr="S24_6.png"/>
          <p:cNvPicPr>
            <a:picLocks noChangeAspect="1"/>
          </p:cNvPicPr>
          <p:nvPr/>
        </p:nvPicPr>
        <p:blipFill>
          <a:blip r:embed="rId2"/>
          <a:stretch>
            <a:fillRect/>
          </a:stretch>
        </p:blipFill>
        <p:spPr>
          <a:xfrm>
            <a:off x="6504127" y="1280160"/>
            <a:ext cx="5120640" cy="2514762"/>
          </a:xfrm>
          <a:prstGeom prst="rect">
            <a:avLst/>
          </a:prstGeom>
        </p:spPr>
      </p:pic>
      <p:sp>
        <p:nvSpPr>
          <p:cNvPr id="5" name="Figure caption"/>
          <p:cNvSpPr txBox="1"/>
          <p:nvPr/>
        </p:nvSpPr>
        <p:spPr>
          <a:xfrm>
            <a:off x="6504127" y="3886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Later echoes have more variable population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27303C"/>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27303C"/>
                </a:solidFill>
                <a:latin typeface="Arial"/>
              </a:rPr>
              <a:t>The authors linked the increased variability to recruitment of additional neurons during the extended sequence. Precision depends on which event and which portion of a response are measured, because the earliest negative peaks repeat within tens of microseconds and the later positive peaks within roughly 110 to 125 microseconds.</a:t>
            </a:r>
          </a:p>
        </p:txBody>
      </p:sp>
      <p:pic>
        <p:nvPicPr>
          <p:cNvPr id="4" name="Picture 3" descr="S24_3.png"/>
          <p:cNvPicPr>
            <a:picLocks noChangeAspect="1"/>
          </p:cNvPicPr>
          <p:nvPr/>
        </p:nvPicPr>
        <p:blipFill>
          <a:blip r:embed="rId2"/>
          <a:stretch>
            <a:fillRect/>
          </a:stretch>
        </p:blipFill>
        <p:spPr>
          <a:xfrm>
            <a:off x="6504127" y="1280160"/>
            <a:ext cx="5120640" cy="2576463"/>
          </a:xfrm>
          <a:prstGeom prst="rect">
            <a:avLst/>
          </a:prstGeom>
        </p:spPr>
      </p:pic>
      <p:sp>
        <p:nvSpPr>
          <p:cNvPr id="5" name="Figure caption"/>
          <p:cNvSpPr txBox="1"/>
          <p:nvPr/>
        </p:nvSpPr>
        <p:spPr>
          <a:xfrm>
            <a:off x="6504127" y="39480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Cochlear-nucleus responses throughout the seven echo-flow sequences.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Measured brainstem precision leaves a perceptual gap</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960"/>
              </a:spcAft>
            </a:pPr>
            <a:r>
              <a:rPr sz="1550" b="0" i="0">
                <a:solidFill>
                  <a:srgbClr val="27303C"/>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960"/>
              </a:spcAft>
            </a:pPr>
            <a:r>
              <a:rPr sz="1550" b="0" i="0">
                <a:solidFill>
                  <a:srgbClr val="27303C"/>
                </a:solidFill>
                <a:latin typeface="Arial"/>
              </a:rPr>
              <a:t>Population timing at the cochlear nucleus and the inferior colliculus reaches tens of microseconds, whereas specialized behavioral tasks approach 1 microsecond or less. Combining information across frequencies and many responses could allow a readout to exceed the precision of a single measure, and the 20-kHz digitization rate sets the temporal sampling of the recordings.</a:t>
            </a:r>
          </a:p>
        </p:txBody>
      </p:sp>
      <p:pic>
        <p:nvPicPr>
          <p:cNvPr id="4" name="Picture 3" descr="S24_6.png"/>
          <p:cNvPicPr>
            <a:picLocks noChangeAspect="1"/>
          </p:cNvPicPr>
          <p:nvPr/>
        </p:nvPicPr>
        <p:blipFill>
          <a:blip r:embed="rId2"/>
          <a:stretch>
            <a:fillRect/>
          </a:stretch>
        </p:blipFill>
        <p:spPr>
          <a:xfrm>
            <a:off x="6321247" y="1280160"/>
            <a:ext cx="3291840" cy="1616633"/>
          </a:xfrm>
          <a:prstGeom prst="rect">
            <a:avLst/>
          </a:prstGeom>
        </p:spPr>
      </p:pic>
      <p:sp>
        <p:nvSpPr>
          <p:cNvPr id="5" name="Figure caption"/>
          <p:cNvSpPr txBox="1"/>
          <p:nvPr/>
        </p:nvSpPr>
        <p:spPr>
          <a:xfrm>
            <a:off x="6321247" y="29882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Pallid-bat midbrain neurons select downward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Sweep direction selectivity</a:t>
            </a:r>
            <a:r>
              <a:rPr sz="1600" b="0" i="0">
                <a:solidFill>
                  <a:srgbClr val="27303C"/>
                </a:solidFill>
                <a:latin typeface="Arial"/>
              </a:rPr>
              <a:t> is a difference in neuronal response to upward and downward frequency changes. Williams and Fuzessery studied this property in the inferior colliculus of the pallid bat, </a:t>
            </a:r>
            <a:r>
              <a:rPr sz="1600" b="0" i="1">
                <a:solidFill>
                  <a:srgbClr val="27303C"/>
                </a:solidFill>
                <a:latin typeface="Arial"/>
              </a:rPr>
              <a:t>Antrozous pallidus</a:t>
            </a:r>
            <a:r>
              <a:rPr sz="1600" b="0" i="0">
                <a:solidFill>
                  <a:srgbClr val="27303C"/>
                </a:solidFill>
                <a:latin typeface="Arial"/>
              </a:rPr>
              <a:t>, whose echolocation call sweeps downward approximately from 60 to 30 kHz.</a:t>
            </a:r>
          </a:p>
          <a:p>
            <a:pPr algn="l">
              <a:lnSpc>
                <a:spcPct val="108000"/>
              </a:lnSpc>
              <a:spcAft>
                <a:spcPts val="960"/>
              </a:spcAft>
            </a:pPr>
            <a:r>
              <a:rPr sz="1600" b="0" i="0">
                <a:solidFill>
                  <a:srgbClr val="27303C"/>
                </a:solidFill>
                <a:latin typeface="Arial"/>
              </a:rPr>
              <a:t>Extracellular electrodes recorded individual neurons in the high-frequency midbrain region. Broad sweeps were presented over durations from 0.5 to 100 ms, allowing direction and </a:t>
            </a:r>
            <a:r>
              <a:rPr sz="1600" b="1" i="0">
                <a:solidFill>
                  <a:srgbClr val="424E64"/>
                </a:solidFill>
                <a:latin typeface="Arial"/>
              </a:rPr>
              <a:t>sweep rate</a:t>
            </a:r>
            <a:r>
              <a:rPr sz="1600" b="0" i="0">
                <a:solidFill>
                  <a:srgbClr val="27303C"/>
                </a:solidFill>
                <a:latin typeface="Arial"/>
              </a:rPr>
              <a:t>, the frequency change per unit time, to vary. Responses were measured near the neuron’s auditory threshold.</a:t>
            </a:r>
          </a:p>
          <a:p>
            <a:pPr algn="l">
              <a:lnSpc>
                <a:spcPct val="108000"/>
              </a:lnSpc>
              <a:spcAft>
                <a:spcPts val="960"/>
              </a:spcAft>
            </a:pPr>
            <a:r>
              <a:rPr sz="1600" b="0" i="0">
                <a:solidFill>
                  <a:srgbClr val="27303C"/>
                </a:solidFill>
                <a:latin typeface="Arial"/>
              </a:rPr>
              <a:t>Many recorded neurons responded strongly to downward sweeps and weakly to upward sweeps. Selectivity for the downward direction matches the downward FM sweep of the pallid bat's own call, and the neurons studied were those whose direction preference arises from inhibitory sidebands.</a:t>
            </a:r>
          </a:p>
        </p:txBody>
      </p:sp>
      <p:pic>
        <p:nvPicPr>
          <p:cNvPr id="4" name="Picture 3" descr="W11_2A.png"/>
          <p:cNvPicPr>
            <a:picLocks noChangeAspect="1"/>
          </p:cNvPicPr>
          <p:nvPr/>
        </p:nvPicPr>
        <p:blipFill>
          <a:blip r:embed="rId2"/>
          <a:stretch>
            <a:fillRect/>
          </a:stretch>
        </p:blipFill>
        <p:spPr>
          <a:xfrm>
            <a:off x="6504127" y="1280160"/>
            <a:ext cx="5120640" cy="4112534"/>
          </a:xfrm>
          <a:prstGeom prst="rect">
            <a:avLst/>
          </a:prstGeom>
        </p:spPr>
      </p:pic>
      <p:sp>
        <p:nvSpPr>
          <p:cNvPr id="5" name="Figure caption"/>
          <p:cNvSpPr txBox="1"/>
          <p:nvPr/>
        </p:nvSpPr>
        <p:spPr>
          <a:xfrm>
            <a:off x="6504127" y="54841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Inhibitory sidebands flank the excitatory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excitatory frequency band</a:t>
            </a:r>
            <a:r>
              <a:rPr sz="1600" b="0" i="0">
                <a:solidFill>
                  <a:srgbClr val="27303C"/>
                </a:solidFill>
                <a:latin typeface="Arial"/>
              </a:rPr>
              <a:t> contains sounds that evoke a neuron’s spikes. An </a:t>
            </a:r>
            <a:r>
              <a:rPr sz="1600" b="1" i="0">
                <a:solidFill>
                  <a:srgbClr val="424E64"/>
                </a:solidFill>
                <a:latin typeface="Arial"/>
              </a:rPr>
              <a:t>inhibitory sideband</a:t>
            </a:r>
            <a:r>
              <a:rPr sz="1600" b="0" i="0">
                <a:solidFill>
                  <a:srgbClr val="27303C"/>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27303C"/>
                </a:solidFill>
                <a:latin typeface="Arial"/>
              </a:rPr>
              <a:t>Williams and Fuzessery mapped sidebands on either side of a neuron’s preferred frequencies using pairs of tones. </a:t>
            </a:r>
            <a:r>
              <a:rPr sz="1600" b="1" i="0">
                <a:solidFill>
                  <a:srgbClr val="424E64"/>
                </a:solidFill>
                <a:latin typeface="Arial"/>
              </a:rPr>
              <a:t>Low-frequency inhibition</a:t>
            </a:r>
            <a:r>
              <a:rPr sz="1600" b="0" i="0">
                <a:solidFill>
                  <a:srgbClr val="27303C"/>
                </a:solidFill>
                <a:latin typeface="Arial"/>
              </a:rPr>
              <a:t>, or LFI, generally arrived early relative to excitation. </a:t>
            </a:r>
            <a:r>
              <a:rPr sz="1600" b="1" i="0">
                <a:solidFill>
                  <a:srgbClr val="424E64"/>
                </a:solidFill>
                <a:latin typeface="Arial"/>
              </a:rPr>
              <a:t>High-frequency inhibition</a:t>
            </a:r>
            <a:r>
              <a:rPr sz="1600" b="0" i="0">
                <a:solidFill>
                  <a:srgbClr val="27303C"/>
                </a:solidFill>
                <a:latin typeface="Arial"/>
              </a:rPr>
              <a:t>, or HFI, generally arrived later and could suppress slow downward sweeps.</a:t>
            </a:r>
          </a:p>
          <a:p>
            <a:pPr algn="l">
              <a:lnSpc>
                <a:spcPct val="108000"/>
              </a:lnSpc>
              <a:spcAft>
                <a:spcPts val="960"/>
              </a:spcAft>
            </a:pPr>
            <a:r>
              <a:rPr sz="1600" b="0" i="0">
                <a:solidFill>
                  <a:srgbClr val="27303C"/>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Two-tone tests measure relative inhibitory arrival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27303C"/>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27303C"/>
                </a:solidFill>
                <a:latin typeface="Arial"/>
              </a:rPr>
              <a:t>This </a:t>
            </a:r>
            <a:r>
              <a:rPr sz="1600" b="1" i="0">
                <a:solidFill>
                  <a:srgbClr val="424E64"/>
                </a:solidFill>
                <a:latin typeface="Arial"/>
              </a:rPr>
              <a:t>two-tone inhibition</a:t>
            </a:r>
            <a:r>
              <a:rPr sz="1600" b="0" i="0">
                <a:solidFill>
                  <a:srgbClr val="27303C"/>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504127" y="1280160"/>
            <a:ext cx="5120640" cy="4185972"/>
          </a:xfrm>
          <a:prstGeom prst="rect">
            <a:avLst/>
          </a:prstGeom>
        </p:spPr>
      </p:pic>
      <p:sp>
        <p:nvSpPr>
          <p:cNvPr id="5" name="Figure caption"/>
          <p:cNvSpPr txBox="1"/>
          <p:nvPr/>
        </p:nvSpPr>
        <p:spPr>
          <a:xfrm>
            <a:off x="6504127" y="5557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Receptor blockers test local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1" i="0">
                <a:solidFill>
                  <a:srgbClr val="424E64"/>
                </a:solidFill>
                <a:latin typeface="Arial"/>
              </a:rPr>
              <a:t>GABA</a:t>
            </a:r>
            <a:r>
              <a:rPr sz="1500" b="0" i="0">
                <a:solidFill>
                  <a:srgbClr val="27303C"/>
                </a:solidFill>
                <a:latin typeface="Arial"/>
              </a:rPr>
              <a:t> and </a:t>
            </a:r>
            <a:r>
              <a:rPr sz="1500" b="1" i="0">
                <a:solidFill>
                  <a:srgbClr val="424E64"/>
                </a:solidFill>
                <a:latin typeface="Arial"/>
              </a:rPr>
              <a:t>glycine</a:t>
            </a:r>
            <a:r>
              <a:rPr sz="1500" b="0" i="0">
                <a:solidFill>
                  <a:srgbClr val="27303C"/>
                </a:solidFill>
                <a:latin typeface="Arial"/>
              </a:rPr>
              <a:t> are inhibitory neurotransmitters in the auditory pathways studied here. Their ionotropic GABA_A and glycine receptors mediate inhibitory membrane conductances. </a:t>
            </a:r>
            <a:r>
              <a:rPr sz="1500" b="1" i="0">
                <a:solidFill>
                  <a:srgbClr val="424E64"/>
                </a:solidFill>
                <a:latin typeface="Arial"/>
              </a:rPr>
              <a:t>Gabazine</a:t>
            </a:r>
            <a:r>
              <a:rPr sz="1500" b="0" i="0">
                <a:solidFill>
                  <a:srgbClr val="27303C"/>
                </a:solidFill>
                <a:latin typeface="Arial"/>
              </a:rPr>
              <a:t> blocks GABA_A receptors; </a:t>
            </a:r>
            <a:r>
              <a:rPr sz="1500" b="1" i="0">
                <a:solidFill>
                  <a:srgbClr val="424E64"/>
                </a:solidFill>
                <a:latin typeface="Arial"/>
              </a:rPr>
              <a:t>strychnine</a:t>
            </a:r>
            <a:r>
              <a:rPr sz="1500" b="0" i="0">
                <a:solidFill>
                  <a:srgbClr val="27303C"/>
                </a:solidFill>
                <a:latin typeface="Arial"/>
              </a:rPr>
              <a:t> blocks glycine receptors, permitting tests of each input’s contribution.</a:t>
            </a:r>
          </a:p>
          <a:p>
            <a:pPr algn="l">
              <a:lnSpc>
                <a:spcPct val="108000"/>
              </a:lnSpc>
              <a:spcAft>
                <a:spcPts val="960"/>
              </a:spcAft>
            </a:pPr>
            <a:r>
              <a:rPr sz="1500" b="0" i="0">
                <a:solidFill>
                  <a:srgbClr val="27303C"/>
                </a:solidFill>
                <a:latin typeface="Arial"/>
              </a:rPr>
              <a:t>Williams and Fuzessery delivered the blockers near recorded neurons by </a:t>
            </a:r>
            <a:r>
              <a:rPr sz="1500" b="1" i="0">
                <a:solidFill>
                  <a:srgbClr val="424E64"/>
                </a:solidFill>
                <a:latin typeface="Arial"/>
              </a:rPr>
              <a:t>microiontophoresis</a:t>
            </a:r>
            <a:r>
              <a:rPr sz="1500" b="0" i="0">
                <a:solidFill>
                  <a:srgbClr val="27303C"/>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500" b="0" i="0">
                <a:solidFill>
                  <a:srgbClr val="27303C"/>
                </a:solidFill>
                <a:latin typeface="Arial"/>
              </a:rPr>
              <a:t>Responses commonly increased during receptor blockade and returned toward baseline after application stopped, typically over 10–30 minutes. These controls support a receptor-dependent local effect. Direction selectivity is evaluated by comparing responses to different sweep directions and rates during and after blockade, because the preference is a difference between responses and not their overall size.</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Blocking inhibition can admit upward FM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500" b="0" i="0">
                <a:solidFill>
                  <a:srgbClr val="27303C"/>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500" b="0" i="0">
                <a:solidFill>
                  <a:srgbClr val="27303C"/>
                </a:solidFill>
                <a:latin typeface="Arial"/>
              </a:rPr>
              <a:t>The appearance of responses to previously ineffective upward sweeps supports a role for local inhibition in creating or refining direction selectivity. Gabazine and strychnine each reduced the preference for downward sweeps, and combined application removed it in the largest fraction of neurons, so GABA and glycine inputs both contribute to direction preference in many inferior colliculus neurons.</a:t>
            </a:r>
          </a:p>
        </p:txBody>
      </p:sp>
      <p:pic>
        <p:nvPicPr>
          <p:cNvPr id="4" name="Picture 3" descr="W11_3A.png"/>
          <p:cNvPicPr>
            <a:picLocks noChangeAspect="1"/>
          </p:cNvPicPr>
          <p:nvPr/>
        </p:nvPicPr>
        <p:blipFill>
          <a:blip r:embed="rId2"/>
          <a:stretch>
            <a:fillRect/>
          </a:stretch>
        </p:blipFill>
        <p:spPr>
          <a:xfrm>
            <a:off x="6504127" y="1280160"/>
            <a:ext cx="5120640" cy="4188758"/>
          </a:xfrm>
          <a:prstGeom prst="rect">
            <a:avLst/>
          </a:prstGeom>
        </p:spPr>
      </p:pic>
      <p:sp>
        <p:nvSpPr>
          <p:cNvPr id="5" name="Figure caption"/>
          <p:cNvSpPr txBox="1"/>
          <p:nvPr/>
        </p:nvSpPr>
        <p:spPr>
          <a:xfrm>
            <a:off x="6504127" y="55603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Neurons depend on different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27303C"/>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27303C"/>
                </a:solidFill>
                <a:latin typeface="Arial"/>
              </a:rPr>
              <a:t>Receptor dependence therefore varies from neuron to neuron: some neurons required GABA input, some required glycine input, and some were sensitive to either blocker. The spectral position and relative timing of an inhibitory input determine whether it can suppress a sweep, so receptor class is one of several factors in a neuron's selectivity.</a:t>
            </a:r>
          </a:p>
        </p:txBody>
      </p:sp>
      <p:pic>
        <p:nvPicPr>
          <p:cNvPr id="4" name="Picture 3" descr="W11_4ABC.png"/>
          <p:cNvPicPr>
            <a:picLocks noChangeAspect="1"/>
          </p:cNvPicPr>
          <p:nvPr/>
        </p:nvPicPr>
        <p:blipFill>
          <a:blip r:embed="rId2"/>
          <a:stretch>
            <a:fillRect/>
          </a:stretch>
        </p:blipFill>
        <p:spPr>
          <a:xfrm>
            <a:off x="8165392" y="1280160"/>
            <a:ext cx="17981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Removing low frequencies removes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00"/>
              </a:spcAft>
            </a:pPr>
            <a:r>
              <a:rPr sz="1500" b="0" i="0">
                <a:solidFill>
                  <a:srgbClr val="27303C"/>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00"/>
              </a:spcAft>
            </a:pPr>
            <a:r>
              <a:rPr sz="1500" b="0" i="0">
                <a:solidFill>
                  <a:srgbClr val="27303C"/>
                </a:solidFill>
                <a:latin typeface="Arial"/>
              </a:rPr>
              <a:t>Changing the stimulus spectrum thus removed a timing-dependent source of suppression without using a drug. The result supports the sideband mechanism, and local pharmacological tests then assess the contribution of the inferior colliculus itself.</a:t>
            </a:r>
          </a:p>
        </p:txBody>
      </p:sp>
      <p:pic>
        <p:nvPicPr>
          <p:cNvPr id="4" name="Picture 3" descr="W11_5.png"/>
          <p:cNvPicPr>
            <a:picLocks noChangeAspect="1"/>
          </p:cNvPicPr>
          <p:nvPr/>
        </p:nvPicPr>
        <p:blipFill>
          <a:blip r:embed="rId2"/>
          <a:stretch>
            <a:fillRect/>
          </a:stretch>
        </p:blipFill>
        <p:spPr>
          <a:xfrm>
            <a:off x="7690832" y="1280160"/>
            <a:ext cx="27472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Low-frequency inhibition shapes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27303C"/>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27303C"/>
                </a:solidFill>
                <a:latin typeface="Arial"/>
              </a:rPr>
              <a:t>The paired measurements support LFI as a causal contributor to direction selectivity in these neurons. The tests link a change in the inferred inhibitory input to a change in FM selectivity within the same neuron, which is more specific than a general increase in firing after a drug.</a:t>
            </a:r>
          </a:p>
        </p:txBody>
      </p:sp>
      <p:pic>
        <p:nvPicPr>
          <p:cNvPr id="4" name="Picture 3" descr="W11_6AB.png"/>
          <p:cNvPicPr>
            <a:picLocks noChangeAspect="1"/>
          </p:cNvPicPr>
          <p:nvPr/>
        </p:nvPicPr>
        <p:blipFill>
          <a:blip r:embed="rId2"/>
          <a:stretch>
            <a:fillRect/>
          </a:stretch>
        </p:blipFill>
        <p:spPr>
          <a:xfrm>
            <a:off x="6504127" y="1280160"/>
            <a:ext cx="5120640" cy="2052120"/>
          </a:xfrm>
          <a:prstGeom prst="rect">
            <a:avLst/>
          </a:prstGeom>
        </p:spPr>
      </p:pic>
      <p:sp>
        <p:nvSpPr>
          <p:cNvPr id="5" name="Figure caption"/>
          <p:cNvSpPr txBox="1"/>
          <p:nvPr/>
        </p:nvSpPr>
        <p:spPr>
          <a:xfrm>
            <a:off x="6504127" y="34237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Delayed inhibition can lose its directional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960"/>
              </a:spcAft>
            </a:pPr>
            <a:r>
              <a:rPr sz="1600" b="0" i="0">
                <a:solidFill>
                  <a:srgbClr val="27303C"/>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960"/>
              </a:spcAft>
            </a:pPr>
            <a:r>
              <a:rPr sz="1600" b="0" i="0">
                <a:solidFill>
                  <a:srgbClr val="27303C"/>
                </a:solidFill>
                <a:latin typeface="Arial"/>
              </a:rPr>
              <a:t>An upward sweep could now evoke excitation before that inhibition became effective. Excitation then precedes inhibition, so the temporal ordering of the two inputs determines direction selectivity, and a strong inhibitory input no longer necessarily prevents the initial response.</a:t>
            </a:r>
          </a:p>
        </p:txBody>
      </p:sp>
      <p:pic>
        <p:nvPicPr>
          <p:cNvPr id="4" name="Picture 3" descr="W11_6CD.png"/>
          <p:cNvPicPr>
            <a:picLocks noChangeAspect="1"/>
          </p:cNvPicPr>
          <p:nvPr/>
        </p:nvPicPr>
        <p:blipFill>
          <a:blip r:embed="rId2"/>
          <a:stretch>
            <a:fillRect/>
          </a:stretch>
        </p:blipFill>
        <p:spPr>
          <a:xfrm>
            <a:off x="6504127" y="1280160"/>
            <a:ext cx="5120640" cy="1975982"/>
          </a:xfrm>
          <a:prstGeom prst="rect">
            <a:avLst/>
          </a:prstGeom>
        </p:spPr>
      </p:pic>
      <p:sp>
        <p:nvSpPr>
          <p:cNvPr id="5" name="Figure caption"/>
          <p:cNvSpPr txBox="1"/>
          <p:nvPr/>
        </p:nvSpPr>
        <p:spPr>
          <a:xfrm>
            <a:off x="6504127" y="33475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Sweep-rate tuning is more resistant to local blockade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Fast-pass rate selectivity</a:t>
            </a:r>
            <a:r>
              <a:rPr sz="1600" b="0" i="0">
                <a:solidFill>
                  <a:srgbClr val="27303C"/>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27303C"/>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27303C"/>
                </a:solidFill>
                <a:latin typeface="Arial"/>
              </a:rPr>
              <a:t>The different outcomes indicate that FM direction and rate are not interchangeable forms of tuning. Rate selectivity persisted after gabazine in the tested neurons and after strychnine in most of them, which is consistent with inheritance from lower auditory levels, whereas direction selectivity was more vulnerable to either blocker.</a:t>
            </a:r>
          </a:p>
        </p:txBody>
      </p:sp>
      <p:pic>
        <p:nvPicPr>
          <p:cNvPr id="4" name="Picture 3" descr="W11_7A.png"/>
          <p:cNvPicPr>
            <a:picLocks noChangeAspect="1"/>
          </p:cNvPicPr>
          <p:nvPr/>
        </p:nvPicPr>
        <p:blipFill>
          <a:blip r:embed="rId2"/>
          <a:stretch>
            <a:fillRect/>
          </a:stretch>
        </p:blipFill>
        <p:spPr>
          <a:xfrm>
            <a:off x="6504127" y="1280160"/>
            <a:ext cx="5120640" cy="4098073"/>
          </a:xfrm>
          <a:prstGeom prst="rect">
            <a:avLst/>
          </a:prstGeom>
        </p:spPr>
      </p:pic>
      <p:sp>
        <p:nvSpPr>
          <p:cNvPr id="5" name="Figure caption"/>
          <p:cNvSpPr txBox="1"/>
          <p:nvPr/>
        </p:nvSpPr>
        <p:spPr>
          <a:xfrm>
            <a:off x="6504127" y="54696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High-frequency inhibition can reject slow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27303C"/>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27303C"/>
                </a:solidFill>
                <a:latin typeface="Arial"/>
              </a:rPr>
              <a:t>The response depends on both the sweep’s spectral path and its duration. Omitting the high-frequency portion allowed the neuron to respond to slow sweeps, so delayed high-frequency inhibition, and not a lack of excitation, rejected them.</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Glycine blockade can remove high-frequency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27303C"/>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27303C"/>
                </a:solidFill>
                <a:latin typeface="Arial"/>
              </a:rPr>
              <a:t>Removing a local receptor input and removing the stimulus frequencies that engage it produce the same result, a neuron that responds to slow sweeps, which supports the sideband account of fast-pass selectivity. Local glycinergic input supported this form of rate tuning in the affected neurons.</a:t>
            </a:r>
          </a:p>
        </p:txBody>
      </p:sp>
      <p:pic>
        <p:nvPicPr>
          <p:cNvPr id="4" name="Picture 3" descr="W11_9CD.png"/>
          <p:cNvPicPr>
            <a:picLocks noChangeAspect="1"/>
          </p:cNvPicPr>
          <p:nvPr/>
        </p:nvPicPr>
        <p:blipFill>
          <a:blip r:embed="rId2"/>
          <a:stretch>
            <a:fillRect/>
          </a:stretch>
        </p:blipFill>
        <p:spPr>
          <a:xfrm>
            <a:off x="6504127" y="1280160"/>
            <a:ext cx="5120640" cy="2025395"/>
          </a:xfrm>
          <a:prstGeom prst="rect">
            <a:avLst/>
          </a:prstGeom>
        </p:spPr>
      </p:pic>
      <p:sp>
        <p:nvSpPr>
          <p:cNvPr id="5" name="Figure caption"/>
          <p:cNvSpPr txBox="1"/>
          <p:nvPr/>
        </p:nvSpPr>
        <p:spPr>
          <a:xfrm>
            <a:off x="6504127" y="33969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Local and inherited selectivity can coexist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900"/>
              </a:spcAft>
            </a:pPr>
            <a:r>
              <a:rPr sz="1500" b="0" i="0">
                <a:solidFill>
                  <a:srgbClr val="27303C"/>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900"/>
              </a:spcAft>
            </a:pPr>
            <a:r>
              <a:rPr sz="1500" b="0" i="0">
                <a:solidFill>
                  <a:srgbClr val="27303C"/>
                </a:solidFill>
                <a:latin typeface="Arial"/>
              </a:rPr>
              <a:t>Williams and Fuzessery inferred substantial local construction of direction selectivity and greater inheritance of sideband-based rate selectivity. The same response property can be inherited, transformed or reconstructed at successive auditory levels, and ascending inputs can already be selective for sound patterns before local integration.</a:t>
            </a:r>
          </a:p>
        </p:txBody>
      </p:sp>
      <p:pic>
        <p:nvPicPr>
          <p:cNvPr id="4" name="Picture 3" descr="W11_3A.png"/>
          <p:cNvPicPr>
            <a:picLocks noChangeAspect="1"/>
          </p:cNvPicPr>
          <p:nvPr/>
        </p:nvPicPr>
        <p:blipFill>
          <a:blip r:embed="rId2"/>
          <a:stretch>
            <a:fillRect/>
          </a:stretch>
        </p:blipFill>
        <p:spPr>
          <a:xfrm>
            <a:off x="7890727" y="1280160"/>
            <a:ext cx="2347439" cy="1920240"/>
          </a:xfrm>
          <a:prstGeom prst="rect">
            <a:avLst/>
          </a:prstGeom>
        </p:spPr>
      </p:pic>
      <p:sp>
        <p:nvSpPr>
          <p:cNvPr id="5" name="Figure caption"/>
          <p:cNvSpPr txBox="1"/>
          <p:nvPr/>
        </p:nvSpPr>
        <p:spPr>
          <a:xfrm>
            <a:off x="6504127" y="329184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Direction tuning before and during GABA receptor blockade.</a:t>
            </a:r>
          </a:p>
        </p:txBody>
      </p:sp>
      <p:pic>
        <p:nvPicPr>
          <p:cNvPr id="6" name="Picture 5" descr="W11_7A.png"/>
          <p:cNvPicPr>
            <a:picLocks noChangeAspect="1"/>
          </p:cNvPicPr>
          <p:nvPr/>
        </p:nvPicPr>
        <p:blipFill>
          <a:blip r:embed="rId3"/>
          <a:stretch>
            <a:fillRect/>
          </a:stretch>
        </p:blipFill>
        <p:spPr>
          <a:xfrm>
            <a:off x="7807626" y="3749040"/>
            <a:ext cx="2513642" cy="201167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FM rate selectivity persists during inhibitory receptor blockade.</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two harmonics have different beam widths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sonar beam</a:t>
            </a:r>
            <a:r>
              <a:rPr sz="1600" b="0" i="0">
                <a:solidFill>
                  <a:srgbClr val="27303C"/>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27303C"/>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27303C"/>
                </a:solidFill>
                <a:latin typeface="Arial"/>
              </a:rPr>
              <a:t>The harmonic balance of an echo can therefore separate a forward target from lateral clutter, reflections from objects irrelevant to the current target. Because the 25-kHz beam is wider than the 80-kHz beam, off-axis echoes contain relatively less FM2, and the behavioral experiments tested whether bats use these harmonic differences to reduce interference.</a:t>
            </a:r>
          </a:p>
        </p:txBody>
      </p:sp>
      <p:pic>
        <p:nvPicPr>
          <p:cNvPr id="4" name="Picture 3" descr="B11_1C.png"/>
          <p:cNvPicPr>
            <a:picLocks noChangeAspect="1"/>
          </p:cNvPicPr>
          <p:nvPr/>
        </p:nvPicPr>
        <p:blipFill>
          <a:blip r:embed="rId2"/>
          <a:stretch>
            <a:fillRect/>
          </a:stretch>
        </p:blipFill>
        <p:spPr>
          <a:xfrm>
            <a:off x="6504127" y="1280160"/>
            <a:ext cx="5120640" cy="3076513"/>
          </a:xfrm>
          <a:prstGeom prst="rect">
            <a:avLst/>
          </a:prstGeom>
        </p:spPr>
      </p:pic>
      <p:sp>
        <p:nvSpPr>
          <p:cNvPr id="5" name="Figure caption"/>
          <p:cNvSpPr txBox="1"/>
          <p:nvPr/>
        </p:nvSpPr>
        <p:spPr>
          <a:xfrm>
            <a:off x="6504127" y="44481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1(C). Published frequency-dependent horizontal beam patterns.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two-glint echo provides a structured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acoustic glint</a:t>
            </a:r>
            <a:r>
              <a:rPr sz="1600" b="0" i="0">
                <a:solidFill>
                  <a:srgbClr val="27303C"/>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960"/>
              </a:spcAft>
            </a:pPr>
            <a:r>
              <a:rPr sz="1600" b="0" i="0">
                <a:solidFill>
                  <a:srgbClr val="27303C"/>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960"/>
              </a:spcAft>
            </a:pPr>
            <a:r>
              <a:rPr sz="1600" b="0" i="0">
                <a:solidFill>
                  <a:srgbClr val="27303C"/>
                </a:solidFill>
                <a:latin typeface="Arial"/>
              </a:rPr>
              <a:t>The electronic target kept harmonic content and delay under experimental control, so one echo property could be changed while the rest of the task stayed fixed. The bat's choice of the two-glint target measures how a second echo interferes with perception of the target's structure and timing.</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Similar echo delays can create masking blind spots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Masking</a:t>
            </a:r>
            <a:r>
              <a:rPr sz="1600" b="0" i="0">
                <a:solidFill>
                  <a:srgbClr val="27303C"/>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424E64"/>
                </a:solidFill>
                <a:latin typeface="Arial"/>
              </a:rPr>
              <a:t>Flat-spectrum</a:t>
            </a:r>
            <a:r>
              <a:rPr sz="1600" b="0" i="0">
                <a:solidFill>
                  <a:srgbClr val="27303C"/>
                </a:solidFill>
                <a:latin typeface="Arial"/>
              </a:rPr>
              <a:t> here means relatively balanced FM1 and FM2 content.</a:t>
            </a:r>
          </a:p>
          <a:p>
            <a:pPr algn="l">
              <a:lnSpc>
                <a:spcPct val="108000"/>
              </a:lnSpc>
              <a:spcAft>
                <a:spcPts val="960"/>
              </a:spcAft>
            </a:pPr>
            <a:r>
              <a:rPr sz="1600" b="0" i="0">
                <a:solidFill>
                  <a:srgbClr val="27303C"/>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27303C"/>
                </a:solidFill>
                <a:latin typeface="Arial"/>
              </a:rPr>
              <a:t>Temporal proximity can therefore disrupt a target judgment even when echoes come from different directions. The blind spot is a delay region of impaired discrimination, and masking was measured through incorrect choices while the bat still received the acoustic input.</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Discrimination errors peak near the two target-glint delays.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Weakening FM2 can prevent a probe from masking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Low-pass filtering</a:t>
            </a:r>
            <a:r>
              <a:rPr sz="1600" b="0" i="0">
                <a:solidFill>
                  <a:srgbClr val="27303C"/>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27303C"/>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27303C"/>
                </a:solidFill>
                <a:latin typeface="Arial"/>
              </a:rPr>
              <a:t>A small harmonic imbalance could therefore strongly alter interference in the task. The filtered probe retained its sound but lost its ability to interfere, so echo spectral structure contributes to clutter rejection when lateral echoes carry relatively less FM2.</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Harmonic timing links acuity and clutter rejection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424E64"/>
                </a:solidFill>
                <a:latin typeface="Arial"/>
              </a:rPr>
              <a:t>defocusing</a:t>
            </a:r>
            <a:r>
              <a:rPr sz="1600" b="0" i="0">
                <a:solidFill>
                  <a:srgbClr val="27303C"/>
                </a:solidFill>
                <a:latin typeface="Arial"/>
              </a:rPr>
              <a:t>, loss of a sharply specified echo-delay percept.</a:t>
            </a:r>
          </a:p>
          <a:p>
            <a:pPr algn="l">
              <a:lnSpc>
                <a:spcPct val="108000"/>
              </a:lnSpc>
              <a:spcAft>
                <a:spcPts val="960"/>
              </a:spcAft>
            </a:pPr>
            <a:r>
              <a:rPr sz="1600" b="0" i="0">
                <a:solidFill>
                  <a:srgbClr val="27303C"/>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27303C"/>
                </a:solidFill>
                <a:latin typeface="Arial"/>
              </a:rPr>
              <a:t>The manipulation links harmonic timing to the trade-off between precise delay perception and resistance to clutter. Advancing FM2 compensates the level-dependent timing shift and restores alignment of the responses to the two harmonics, whereas the misalignment produced by weaker FM2 defocuses the delay percept and reduces interference from clutter.</a:t>
            </a:r>
          </a:p>
        </p:txBody>
      </p:sp>
      <p:pic>
        <p:nvPicPr>
          <p:cNvPr id="4" name="Picture 3" descr="B11_3C.png"/>
          <p:cNvPicPr>
            <a:picLocks noChangeAspect="1"/>
          </p:cNvPicPr>
          <p:nvPr/>
        </p:nvPicPr>
        <p:blipFill>
          <a:blip r:embed="rId2"/>
          <a:stretch>
            <a:fillRect/>
          </a:stretch>
        </p:blipFill>
        <p:spPr>
          <a:xfrm>
            <a:off x="6722453" y="1280160"/>
            <a:ext cx="46839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3(C). Harmonic timing differences relate delay defocusing to masking recovery.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Rapid calling can mix echoes from different broadcasts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interpulse interval</a:t>
            </a:r>
            <a:r>
              <a:rPr sz="1600" b="0" i="0">
                <a:solidFill>
                  <a:srgbClr val="27303C"/>
                </a:solidFill>
                <a:latin typeface="Arial"/>
              </a:rPr>
              <a:t>, or IPI, is the time between successive broadcasts. The </a:t>
            </a:r>
            <a:r>
              <a:rPr sz="1600" b="1" i="0">
                <a:solidFill>
                  <a:srgbClr val="424E64"/>
                </a:solidFill>
                <a:latin typeface="Arial"/>
              </a:rPr>
              <a:t>echo epoch</a:t>
            </a:r>
            <a:r>
              <a:rPr sz="1600" b="0" i="0">
                <a:solidFill>
                  <a:srgbClr val="27303C"/>
                </a:solidFill>
                <a:latin typeface="Arial"/>
              </a:rPr>
              <a:t> is the period during which reflections from one broadcast return from objects distributed across a scene. A long-range reflector may return sound after a nearer one.</a:t>
            </a:r>
          </a:p>
          <a:p>
            <a:pPr algn="l">
              <a:lnSpc>
                <a:spcPct val="108000"/>
              </a:lnSpc>
              <a:spcAft>
                <a:spcPts val="960"/>
              </a:spcAft>
            </a:pPr>
            <a:r>
              <a:rPr sz="1600" b="0" i="0">
                <a:solidFill>
                  <a:srgbClr val="27303C"/>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960"/>
              </a:spcAft>
            </a:pPr>
            <a:r>
              <a:rPr sz="1600" b="0" i="0">
                <a:solidFill>
                  <a:srgbClr val="27303C"/>
                </a:solidFill>
                <a:latin typeface="Arial"/>
              </a:rPr>
              <a:t>This creates </a:t>
            </a:r>
            <a:r>
              <a:rPr sz="1600" b="1" i="0">
                <a:solidFill>
                  <a:srgbClr val="424E64"/>
                </a:solidFill>
                <a:latin typeface="Arial"/>
              </a:rPr>
              <a:t>pulse–echo ambiguity</a:t>
            </a:r>
            <a:r>
              <a:rPr sz="1600" b="0" i="0">
                <a:solidFill>
                  <a:srgbClr val="27303C"/>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Lowest FM1 frequencies anchor the tested delay percept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27303C"/>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27303C"/>
                </a:solidFill>
                <a:latin typeface="Arial"/>
              </a:rPr>
              <a:t>The authors proposed that frequency hopping, shifts of several kilohertz between broadcasts, could use this low-frequency anchor to segregate overlapping echo streams. In the filtering experiment, the bottom of FM1 supported discrimination, and removing it disrupted performance even with most of FM1 and FM2 present.</a:t>
            </a:r>
          </a:p>
        </p:txBody>
      </p:sp>
      <p:pic>
        <p:nvPicPr>
          <p:cNvPr id="4" name="Picture 3" descr="M20_3B.png"/>
          <p:cNvPicPr>
            <a:picLocks noChangeAspect="1"/>
          </p:cNvPicPr>
          <p:nvPr/>
        </p:nvPicPr>
        <p:blipFill>
          <a:blip r:embed="rId2"/>
          <a:stretch>
            <a:fillRect/>
          </a:stretch>
        </p:blipFill>
        <p:spPr>
          <a:xfrm>
            <a:off x="7319603" y="1280160"/>
            <a:ext cx="34896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Nearby vegetation reduces prey-capture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27303C"/>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27303C"/>
                </a:solidFill>
                <a:latin typeface="Arial"/>
              </a:rPr>
              <a:t>Clutter therefore affected both willingness to attempt interception and success after approach. The combined hit/capture measure is broader than successful consumption. The behavioral categories separate failure to attempt from an attempted approach that missed or was aborted, so the vegetation spacing of 10, 20 and 40 cm could be related to each outcome.</a:t>
            </a:r>
          </a:p>
        </p:txBody>
      </p:sp>
      <p:pic>
        <p:nvPicPr>
          <p:cNvPr id="4" name="Picture 3" descr="M06_2.png"/>
          <p:cNvPicPr>
            <a:picLocks noChangeAspect="1"/>
          </p:cNvPicPr>
          <p:nvPr/>
        </p:nvPicPr>
        <p:blipFill>
          <a:blip r:embed="rId2"/>
          <a:stretch>
            <a:fillRect/>
          </a:stretch>
        </p:blipFill>
        <p:spPr>
          <a:xfrm>
            <a:off x="6504127" y="1280160"/>
            <a:ext cx="5120640" cy="3425063"/>
          </a:xfrm>
          <a:prstGeom prst="rect">
            <a:avLst/>
          </a:prstGeom>
        </p:spPr>
      </p:pic>
      <p:sp>
        <p:nvSpPr>
          <p:cNvPr id="5" name="Figure caption"/>
          <p:cNvSpPr txBox="1"/>
          <p:nvPr/>
        </p:nvSpPr>
        <p:spPr>
          <a:xfrm>
            <a:off x="6504127" y="47966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2. Interception outcomes at three plant–target separations and in an open room.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Flight paths change target–clutter separation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27303C"/>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27303C"/>
                </a:solidFill>
                <a:latin typeface="Arial"/>
              </a:rPr>
              <a:t>Flying alongside the vegetation and turning late changes which objects lie in the emitted beam and the relative timing of their echoes, so the trajectory alters the acoustic scene. The geometry ensonifies the prey off axis from the vegetation during part of the approach, which the authors interpreted as a way of reducing interference.</a:t>
            </a:r>
          </a:p>
        </p:txBody>
      </p:sp>
      <p:pic>
        <p:nvPicPr>
          <p:cNvPr id="4" name="Picture 3" descr="M06_4.png"/>
          <p:cNvPicPr>
            <a:picLocks noChangeAspect="1"/>
          </p:cNvPicPr>
          <p:nvPr/>
        </p:nvPicPr>
        <p:blipFill>
          <a:blip r:embed="rId2"/>
          <a:stretch>
            <a:fillRect/>
          </a:stretch>
        </p:blipFill>
        <p:spPr>
          <a:xfrm>
            <a:off x="6929878" y="1280160"/>
            <a:ext cx="426913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4. Measured flight paths and pulse intervals for clutter and open-room trials.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Sonar strobe groups control repeated scene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Sonar strobe groups</a:t>
            </a:r>
            <a:r>
              <a:rPr sz="1600" b="0" i="0">
                <a:solidFill>
                  <a:srgbClr val="27303C"/>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960"/>
              </a:spcAft>
            </a:pPr>
            <a:r>
              <a:rPr sz="1600" b="0" i="0">
                <a:solidFill>
                  <a:srgbClr val="27303C"/>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960"/>
              </a:spcAft>
            </a:pPr>
            <a:r>
              <a:rPr sz="1600" b="0" i="0">
                <a:solidFill>
                  <a:srgbClr val="27303C"/>
                </a:solidFill>
                <a:latin typeface="Arial"/>
              </a:rPr>
              <a:t>The authors proposed that repeated sampling at stable intervals could sharpen the spatial representation of the scene. A group is defined by its intervals relative to neighboring calls, so stable timing within groups can coexist with changes in group spacing as the bat approaches the insect.</a:t>
            </a:r>
          </a:p>
        </p:txBody>
      </p:sp>
      <p:pic>
        <p:nvPicPr>
          <p:cNvPr id="4" name="Picture 3" descr="M06_10AC.png"/>
          <p:cNvPicPr>
            <a:picLocks noChangeAspect="1"/>
          </p:cNvPicPr>
          <p:nvPr/>
        </p:nvPicPr>
        <p:blipFill>
          <a:blip r:embed="rId2"/>
          <a:stretch>
            <a:fillRect/>
          </a:stretch>
        </p:blipFill>
        <p:spPr>
          <a:xfrm>
            <a:off x="7697210" y="1280160"/>
            <a:ext cx="273447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10(A,C). Strobing occurrence and within-group pulse intervals during approach.</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terminal buzz shortens near vegetation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terminal buzz</a:t>
            </a:r>
            <a:r>
              <a:rPr sz="1600" b="0" i="0">
                <a:solidFill>
                  <a:srgbClr val="27303C"/>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960"/>
              </a:spcAft>
            </a:pPr>
            <a:r>
              <a:rPr sz="1600" b="0" i="0">
                <a:solidFill>
                  <a:srgbClr val="27303C"/>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960"/>
              </a:spcAft>
            </a:pPr>
            <a:r>
              <a:rPr sz="1600" b="0" i="0">
                <a:solidFill>
                  <a:srgbClr val="27303C"/>
                </a:solidFill>
                <a:latin typeface="Arial"/>
              </a:rPr>
              <a:t>The authors proposed that extended clutter echoes reduce the usefulness of prolonged rapid calling. Successful interception involves coordinated changes in call groups, final approach geometry and buzz duration, and the bat continues vocalizing with a shorter buzz at the closest tested separation.</a:t>
            </a:r>
          </a:p>
        </p:txBody>
      </p:sp>
      <p:pic>
        <p:nvPicPr>
          <p:cNvPr id="4" name="Picture 3" descr="M06_8.png"/>
          <p:cNvPicPr>
            <a:picLocks noChangeAspect="1"/>
          </p:cNvPicPr>
          <p:nvPr/>
        </p:nvPicPr>
        <p:blipFill>
          <a:blip r:embed="rId2"/>
          <a:stretch>
            <a:fillRect/>
          </a:stretch>
        </p:blipFill>
        <p:spPr>
          <a:xfrm>
            <a:off x="6504127" y="1280160"/>
            <a:ext cx="5120640" cy="3931200"/>
          </a:xfrm>
          <a:prstGeom prst="rect">
            <a:avLst/>
          </a:prstGeom>
        </p:spPr>
      </p:pic>
      <p:sp>
        <p:nvSpPr>
          <p:cNvPr id="5" name="Figure caption"/>
          <p:cNvSpPr txBox="1"/>
          <p:nvPr/>
        </p:nvSpPr>
        <p:spPr>
          <a:xfrm>
            <a:off x="6504127" y="53028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8. Buzz-II duration varies with target–vegetation separation.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Key takeaways</a:t>
            </a:r>
          </a:p>
        </p:txBody>
      </p:sp>
      <p:sp>
        <p:nvSpPr>
          <p:cNvPr id="3" name="Rectangle 2"/>
          <p:cNvSpPr/>
          <p:nvPr/>
        </p:nvSpPr>
        <p:spPr>
          <a:xfrm>
            <a:off x="566928" y="1234440"/>
            <a:ext cx="5391759" cy="1478279"/>
          </a:xfrm>
          <a:prstGeom prst="rect">
            <a:avLst/>
          </a:prstGeom>
          <a:solidFill>
            <a:srgbClr val="F2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Echo delay carries target range.</a:t>
            </a:r>
            <a:r>
              <a:rPr sz="1600" b="0" i="0">
                <a:solidFill>
                  <a:srgbClr val="27303C"/>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F2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Timing precision and latency differ.</a:t>
            </a:r>
            <a:r>
              <a:rPr sz="1600" b="0" i="0">
                <a:solidFill>
                  <a:srgbClr val="27303C"/>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F2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Inhibition selects FM features.</a:t>
            </a:r>
            <a:r>
              <a:rPr sz="1600" b="0" i="0">
                <a:solidFill>
                  <a:srgbClr val="27303C"/>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F2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Harmonic structure affects clutter interference.</a:t>
            </a:r>
            <a:r>
              <a:rPr sz="1600" b="0" i="0">
                <a:solidFill>
                  <a:srgbClr val="27303C"/>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F2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Call assignment is part of ranging.</a:t>
            </a:r>
            <a:r>
              <a:rPr sz="1600" b="0" i="0">
                <a:solidFill>
                  <a:srgbClr val="27303C"/>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F2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Active sensing changes the scene.</a:t>
            </a:r>
            <a:r>
              <a:rPr sz="1600" b="0" i="0">
                <a:solidFill>
                  <a:srgbClr val="27303C"/>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epochs can outlast the interval between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Each broadcast is followed by an echo epoch, the period in which reflections from objects across a scene return. A distant reflector returns sound after a nearer one, so the epoch lengthens as the scene extends in depth. The ambiguity arises when later echoes from one call overlap the echo stream of the next call.</a:t>
            </a:r>
          </a:p>
          <a:p>
            <a:pPr algn="l">
              <a:lnSpc>
                <a:spcPct val="108000"/>
              </a:lnSpc>
              <a:spcAft>
                <a:spcPts val="960"/>
              </a:spcAft>
            </a:pPr>
            <a:r>
              <a:rPr sz="1600" b="0" i="0">
                <a:solidFill>
                  <a:srgbClr val="27303C"/>
                </a:solidFill>
                <a:latin typeface="Arial"/>
              </a:rPr>
              <a:t>The interpulse interval is the time between successive broadcasts. Ming and colleagues compared a 32-ms interval with shorter echo epochs and a 22-ms interval with overlapping epochs.</a:t>
            </a:r>
          </a:p>
          <a:p>
            <a:pPr algn="l">
              <a:lnSpc>
                <a:spcPct val="108000"/>
              </a:lnSpc>
              <a:spcAft>
                <a:spcPts val="960"/>
              </a:spcAft>
            </a:pPr>
            <a:r>
              <a:rPr sz="1600" b="0" i="0">
                <a:solidFill>
                  <a:srgbClr val="27303C"/>
                </a:solidFill>
                <a:latin typeface="Arial"/>
              </a:rPr>
              <a:t>When the interval is shorter than the epoch, echoes from one broadcast arrive after the next broadcast. Delay measured from the wrong call assigns an incorrect range, so call assignment is part of ranging.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40a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Glints are reflections from parts of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acoustic glint is a reflection from one part of a target, so an object with several parts returns an echo with several glints. Their separation in time reflects the structure of the object. Each glint adds a separate reflection to the returning sound.</a:t>
            </a:r>
          </a:p>
          <a:p>
            <a:pPr algn="l">
              <a:lnSpc>
                <a:spcPct val="108000"/>
              </a:lnSpc>
              <a:spcAft>
                <a:spcPts val="960"/>
              </a:spcAft>
            </a:pPr>
            <a:r>
              <a:rPr sz="1600" b="0" i="0">
                <a:solidFill>
                  <a:srgbClr val="27303C"/>
                </a:solidFill>
                <a:latin typeface="Arial"/>
              </a:rPr>
              <a:t>Bates and colleagues used a virtual target with glints at delays of 3160 and 3460 microseconds, a separation of 300 microseconds. A bat on a Y-shaped platform was rewarded for choosing this two-glint target.</a:t>
            </a:r>
          </a:p>
          <a:p>
            <a:pPr algn="l">
              <a:lnSpc>
                <a:spcPct val="108000"/>
              </a:lnSpc>
              <a:spcAft>
                <a:spcPts val="960"/>
              </a:spcAft>
            </a:pPr>
            <a:r>
              <a:rPr sz="1600" b="0" i="0">
                <a:solidFill>
                  <a:srgbClr val="27303C"/>
                </a:solidFill>
                <a:latin typeface="Arial"/>
              </a:rPr>
              <a:t>A probe with a single glint could be moved in delay around the two target glints. Electronic delay channels controlled the harmonic content and delay of the probe, so one echo property could be varied while the task stayed the same.</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36a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Sweep rate is the frequency change per unit time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Sweep rate is the change in frequency per unit time, so a sweep covering the same frequency range in a shorter duration is faster. Neurons can respond better to fast sweeps than to slow ones. The fast-pass filter is a rate preference and not a direction preference.</a:t>
            </a:r>
          </a:p>
          <a:p>
            <a:pPr algn="l">
              <a:lnSpc>
                <a:spcPct val="108000"/>
              </a:lnSpc>
              <a:spcAft>
                <a:spcPts val="960"/>
              </a:spcAft>
            </a:pPr>
            <a:r>
              <a:rPr sz="1600" b="0" i="0">
                <a:solidFill>
                  <a:srgbClr val="27303C"/>
                </a:solidFill>
                <a:latin typeface="Arial"/>
              </a:rPr>
              <a:t>Fast-pass selectivity describes a preference for rapid sweeps over sufficiently slow sweeps. In the pallid-bat midbrain, sweeps from 0.5 to 100 ms in duration varied the rate. Rate tuning and direction tuning were compared in the same inferior colliculus neurons.</a:t>
            </a:r>
          </a:p>
          <a:p>
            <a:pPr algn="l">
              <a:lnSpc>
                <a:spcPct val="108000"/>
              </a:lnSpc>
              <a:spcAft>
                <a:spcPts val="960"/>
              </a:spcAft>
            </a:pPr>
            <a:r>
              <a:rPr sz="1600" b="0" i="0">
                <a:solidFill>
                  <a:srgbClr val="27303C"/>
                </a:solidFill>
                <a:latin typeface="Arial"/>
              </a:rPr>
              <a:t>A downward sweep reaches the high-frequency inhibitory sideband before the excitatory band. Delayed inhibition arrives after excitation during a fast sweep and before excitation during a slow sweep, which produces the fast-pass filter.</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32a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Receptor blockers remove one inhibitory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Gabazine blocks GABA-A receptors, and strychnine blocks glycine receptors. Applying each drug near a recorded neuron removes the local contribution of one inhibitory input while the neuron is still recorded. Each receptor class can therefore be tested separately within one preparation.</a:t>
            </a:r>
          </a:p>
          <a:p>
            <a:pPr algn="l">
              <a:lnSpc>
                <a:spcPct val="108000"/>
              </a:lnSpc>
              <a:spcAft>
                <a:spcPts val="960"/>
              </a:spcAft>
            </a:pPr>
            <a:r>
              <a:rPr sz="1500" b="0" i="0">
                <a:solidFill>
                  <a:srgbClr val="27303C"/>
                </a:solidFill>
                <a:latin typeface="Arial"/>
              </a:rPr>
              <a:t>The drug moves from a small pipette by electrical current, a method called microiontophoresis. Comparing baseline, drug application and recovery shows whether a change reverses, and a balance-electrode current control tests whether current alone matters.</a:t>
            </a:r>
          </a:p>
          <a:p>
            <a:pPr algn="l">
              <a:lnSpc>
                <a:spcPct val="108000"/>
              </a:lnSpc>
              <a:spcAft>
                <a:spcPts val="960"/>
              </a:spcAft>
            </a:pPr>
            <a:r>
              <a:rPr sz="1500" b="0" i="0">
                <a:solidFill>
                  <a:srgbClr val="27303C"/>
                </a:solidFill>
                <a:latin typeface="Arial"/>
              </a:rPr>
              <a:t>Responses returned toward baseline over 10 to 30 minutes after application stopped. Separate gabazine and strychnine tests on the same neuron identify which inhibitory receptor class supports its selectivity. Comparing the two drugs shows whether one receptor class, both or neither explains a preference.</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Inhibitory sidebands filter FM sounds by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sweep passes through frequencies in order, so the inhibitory and excitatory inputs of a neuron are activated at different moments. Low-frequency inhibition arrives early and high-frequency inhibition arrives later relative to excitation. The relative timing of the two inputs is the quantity that the sweep controls.</a:t>
            </a:r>
          </a:p>
          <a:p>
            <a:pPr algn="l">
              <a:lnSpc>
                <a:spcPct val="108000"/>
              </a:lnSpc>
              <a:spcAft>
                <a:spcPts val="960"/>
              </a:spcAft>
            </a:pPr>
            <a:r>
              <a:rPr sz="1600" b="0" i="0">
                <a:solidFill>
                  <a:srgbClr val="27303C"/>
                </a:solidFill>
                <a:latin typeface="Arial"/>
              </a:rPr>
              <a:t>An upward sweep meets the low-frequency sideband before the excitatory band, whereas a downward sweep reaches the excitatory band first. Changing the sweep rate changes the interval between the two inputs.</a:t>
            </a:r>
          </a:p>
          <a:p>
            <a:pPr algn="l">
              <a:lnSpc>
                <a:spcPct val="108000"/>
              </a:lnSpc>
              <a:spcAft>
                <a:spcPts val="960"/>
              </a:spcAft>
            </a:pPr>
            <a:r>
              <a:rPr sz="1600" b="0" i="0">
                <a:solidFill>
                  <a:srgbClr val="27303C"/>
                </a:solidFill>
                <a:latin typeface="Arial"/>
              </a:rPr>
              <a:t>Which sweeps are suppressed depends on when inhibition becomes effective relative to excitation. Frequency tuning and relative input timing together select particular FM sounds. A neuron with early low-frequency inhibition prefers downward sweeps for this reason, and a neuron with delayed high-frequency inhibition prefers fast sweeps.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23a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Amplitude-latency trading links level to timing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Amplitude-latency trading is the shift in response timing that accompanies a change in sound level. A weaker sound evokes a later response, even when its physical arrival time is unchanged. The effect concerns the neural response and not the sound itself, which reaches the ear at the same physical time.</a:t>
            </a:r>
          </a:p>
          <a:p>
            <a:pPr algn="l">
              <a:lnSpc>
                <a:spcPct val="108000"/>
              </a:lnSpc>
              <a:spcAft>
                <a:spcPts val="960"/>
              </a:spcAft>
            </a:pPr>
            <a:r>
              <a:rPr sz="1600" b="0" i="0">
                <a:solidFill>
                  <a:srgbClr val="27303C"/>
                </a:solidFill>
                <a:latin typeface="Arial"/>
              </a:rPr>
              <a:t>In the cochlear nucleus the first echo response changed by about 18 microseconds per dB, and the corresponding broadcast measure changed by about 20 microseconds per dB. The broadcast and the echo therefore show similar trading, and the sizes of the two effects are close.</a:t>
            </a:r>
          </a:p>
          <a:p>
            <a:pPr algn="l">
              <a:lnSpc>
                <a:spcPct val="108000"/>
              </a:lnSpc>
              <a:spcAft>
                <a:spcPts val="960"/>
              </a:spcAft>
            </a:pPr>
            <a:r>
              <a:rPr sz="1600" b="0" i="0">
                <a:solidFill>
                  <a:srgbClr val="27303C"/>
                </a:solidFill>
                <a:latin typeface="Arial"/>
              </a:rPr>
              <a:t>Moving the echo earlier in the stimulus and weakening the echo both change the measured latency, but they are separate experimental manipulations. Neural timing therefore combines echo arrival time with echo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16a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Latency and jitter measure different timing properties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Latency is the time from a stimulus to a defined neural response, and jitter is the trial-to-trial spread of that time. A response can arrive late and still repeat very precisely.</a:t>
            </a:r>
          </a:p>
          <a:p>
            <a:pPr algn="l">
              <a:lnSpc>
                <a:spcPct val="108000"/>
              </a:lnSpc>
              <a:spcAft>
                <a:spcPts val="960"/>
              </a:spcAft>
            </a:pPr>
            <a:r>
              <a:rPr sz="1600" b="0" i="0">
                <a:solidFill>
                  <a:srgbClr val="27303C"/>
                </a:solidFill>
                <a:latin typeface="Arial"/>
              </a:rPr>
              <a:t>Broadcast latencies in the cochlear nucleus were 3.7, 3.9 and 4.2 ms at three attenuation settings, while the corresponding jitter values were 32, 44 and 67 microseconds. Weaker sounds produced longer latencies and larger jitter. Both quantities are measured from the same defined peak of the field potential.</a:t>
            </a:r>
          </a:p>
          <a:p>
            <a:pPr algn="l">
              <a:lnSpc>
                <a:spcPct val="108000"/>
              </a:lnSpc>
              <a:spcAft>
                <a:spcPts val="960"/>
              </a:spcAft>
            </a:pPr>
            <a:r>
              <a:rPr sz="1600" b="0" i="0">
                <a:solidFill>
                  <a:srgbClr val="27303C"/>
                </a:solidFill>
                <a:latin typeface="Arial"/>
              </a:rPr>
              <a:t>Latency describes how long the response takes to arrive, and jitter describes how repeatable it is. A response several milliseconds after a sound can repeat within tens of microseconds, so the two properties are reported separately.</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15a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Local field potentials sum population activity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local field potential is an extracellular voltage that reflects coordinated activity in a population of neurons. Its peaks mark the time at which many cells near the electrode responded together. Because many cells contribute, a field potential suits timing measurements that average over a population.</a:t>
            </a:r>
          </a:p>
          <a:p>
            <a:pPr algn="l">
              <a:lnSpc>
                <a:spcPct val="108000"/>
              </a:lnSpc>
              <a:spcAft>
                <a:spcPts val="960"/>
              </a:spcAft>
            </a:pPr>
            <a:r>
              <a:rPr sz="1600" b="0" i="0">
                <a:solidFill>
                  <a:srgbClr val="27303C"/>
                </a:solidFill>
                <a:latin typeface="Arial"/>
              </a:rPr>
              <a:t>Filtering the recordings emphasized low-frequency population waveforms. Each broadcast and the first echo produced a negative peak followed by a positive peak in the cochlear nucleus, and repeated presentations produced closely overlapping early responses.</a:t>
            </a:r>
          </a:p>
          <a:p>
            <a:pPr algn="l">
              <a:lnSpc>
                <a:spcPct val="108000"/>
              </a:lnSpc>
              <a:spcAft>
                <a:spcPts val="960"/>
              </a:spcAft>
            </a:pPr>
            <a:r>
              <a:rPr sz="1600" b="0" i="0">
                <a:solidFill>
                  <a:srgbClr val="27303C"/>
                </a:solidFill>
                <a:latin typeface="Arial"/>
              </a:rPr>
              <a:t>A field-potential peak is a population event and not a spike from one identified cell. Its timing can be measured repeatedly across trials, so it provides a signal for tracking when broadcasts and echoes were registered.</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13a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Two relays in the ascending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Sound-evoked activity reaches the brain through the auditory nerve, and the cochlear nucleus is the first central relay. The inferior colliculus is a midbrain center that receives ascending input from brainstem nuclei.</a:t>
            </a:r>
          </a:p>
          <a:p>
            <a:pPr algn="l">
              <a:lnSpc>
                <a:spcPct val="108000"/>
              </a:lnSpc>
              <a:spcAft>
                <a:spcPts val="960"/>
              </a:spcAft>
            </a:pPr>
            <a:r>
              <a:rPr sz="1500" b="0" i="0">
                <a:solidFill>
                  <a:srgbClr val="27303C"/>
                </a:solidFill>
                <a:latin typeface="Arial"/>
              </a:rPr>
              <a:t>Simmons and colleagues recorded in the ventral cochlear nucleus and the inferior colliculus of big brown bats under anesthesia. Lesions made at recording sites near the entry of the eighth cranial nerve and near the trapezoid body identified the cochlear-nucleus locations.</a:t>
            </a:r>
          </a:p>
          <a:p>
            <a:pPr algn="l">
              <a:lnSpc>
                <a:spcPct val="108000"/>
              </a:lnSpc>
              <a:spcAft>
                <a:spcPts val="960"/>
              </a:spcAft>
            </a:pPr>
            <a:r>
              <a:rPr sz="1500" b="0" i="0">
                <a:solidFill>
                  <a:srgbClr val="27303C"/>
                </a:solidFill>
                <a:latin typeface="Arial"/>
              </a:rPr>
              <a:t>Recording location matters because the cochlear nucleus contains subdivisions with different cells and projection patterns. Comparing an early relay with a midbrain relay asks whether precise timing is built at the midbrain or arrives already in the ascending pathway.</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11a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Cross-correlation compares an echo with the call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Cross-correlation measures the similarity between two signals as their relative timing is varied. For an echo and the transmitted call, the delay at which similarity peaks marks the echo arrival time.</a:t>
            </a:r>
          </a:p>
          <a:p>
            <a:pPr algn="l">
              <a:lnSpc>
                <a:spcPct val="108000"/>
              </a:lnSpc>
              <a:spcAft>
                <a:spcPts val="900"/>
              </a:spcAft>
            </a:pPr>
            <a:r>
              <a:rPr sz="1500" b="0" i="0">
                <a:solidFill>
                  <a:srgbClr val="27303C"/>
                </a:solidFill>
                <a:latin typeface="Arial"/>
              </a:rPr>
              <a:t>A matched receiver processes an incoming echo in relation to the structure of the transmitted signal. Simmons proposed a neural equivalent of this operation from the relationship between acoustic structure and behavioral resolution. The proposal concerns the extraction of echo arrival time and treats the transmitted call as the reference against which returning echoes are compared.</a:t>
            </a:r>
          </a:p>
          <a:p>
            <a:pPr algn="l">
              <a:lnSpc>
                <a:spcPct val="108000"/>
              </a:lnSpc>
              <a:spcAft>
                <a:spcPts val="900"/>
              </a:spcAft>
            </a:pPr>
            <a:r>
              <a:rPr sz="1500" b="0" i="0">
                <a:solidFill>
                  <a:srgbClr val="27303C"/>
                </a:solidFill>
                <a:latin typeface="Arial"/>
              </a:rPr>
              <a:t>The operation extracts arrival time from a broadband signal and not the value of a single acoustic frequency. The paper allowed neural representations distributed across frequency and time, so the computation describes what the receiver achieves.</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10a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Directional sampling shapes the echoes a bat receives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bat aims its broadcast toward an object, and the strength of the returning echo depends on where the beam points. Directional sampling is therefore part of the task of inspecting two targets separately.</a:t>
            </a:r>
          </a:p>
          <a:p>
            <a:pPr algn="l">
              <a:lnSpc>
                <a:spcPct val="108000"/>
              </a:lnSpc>
              <a:spcAft>
                <a:spcPts val="960"/>
              </a:spcAft>
            </a:pPr>
            <a:r>
              <a:rPr sz="1600" b="0" i="0">
                <a:solidFill>
                  <a:srgbClr val="27303C"/>
                </a:solidFill>
                <a:latin typeface="Arial"/>
              </a:rPr>
              <a:t>With one microphone feeding both loudspeakers, strong echoes returned from both sides regardless of the pointing direction of the bat, and stable discrimination was lost. Two channels, each with its own microphone, restored the ability to change relative echo strength by directing the broadcast to one side.</a:t>
            </a:r>
          </a:p>
          <a:p>
            <a:pPr algn="l">
              <a:lnSpc>
                <a:spcPct val="108000"/>
              </a:lnSpc>
              <a:spcAft>
                <a:spcPts val="960"/>
              </a:spcAft>
            </a:pPr>
            <a:r>
              <a:rPr sz="1600" b="0" i="0">
                <a:solidFill>
                  <a:srgbClr val="27303C"/>
                </a:solidFill>
                <a:latin typeface="Arial"/>
              </a:rPr>
              <a:t>Artificial feedback must preserve this active relationship between the animal and the target. A simulator that ties each channel to its own microphone approximates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08a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Autocorrelation compares a signal with delayed copies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Autocorrelation is a measure of similarity between a waveform and delayed versions of itself. A signal that matches itself well at only one delay yields a sharply peaked function, whereas a signal that matches itself over many delays yields a broad one.</a:t>
            </a:r>
          </a:p>
          <a:p>
            <a:pPr algn="l">
              <a:lnSpc>
                <a:spcPct val="108000"/>
              </a:lnSpc>
              <a:spcAft>
                <a:spcPts val="960"/>
              </a:spcAft>
            </a:pPr>
            <a:r>
              <a:rPr sz="1600" b="0" i="0">
                <a:solidFill>
                  <a:srgbClr val="27303C"/>
                </a:solidFill>
                <a:latin typeface="Arial"/>
              </a:rPr>
              <a:t>Simmons derived a prediction from the autocorrelation envelope of the recorded sonar signal, with rapid carrier fluctuations removed. The envelope describes the overall shape of the similarity function and ignores its fine oscillations.</a:t>
            </a:r>
          </a:p>
          <a:p>
            <a:pPr algn="l">
              <a:lnSpc>
                <a:spcPct val="108000"/>
              </a:lnSpc>
              <a:spcAft>
                <a:spcPts val="960"/>
              </a:spcAft>
            </a:pPr>
            <a:r>
              <a:rPr sz="1600" b="0" i="0">
                <a:solidFill>
                  <a:srgbClr val="27303C"/>
                </a:solidFill>
                <a:latin typeface="Arial"/>
              </a:rPr>
              <a:t>The shape of the envelope sets how finely two echo delays can be told apart. A prediction made from the call alone therefore links the structure of the transmitted signal to the resolution measured in the behavior of the bat.</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06a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Range acuity is defined by a performance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criterion fixes the level of correct choices that counts as a threshold, so range acuity is the smallest distance difference that reaches that level. Simmons used 75% correct, which lies between chance at 50% and nearly error-free performance.</a:t>
            </a:r>
          </a:p>
          <a:p>
            <a:pPr algn="l">
              <a:lnSpc>
                <a:spcPct val="108000"/>
              </a:lnSpc>
              <a:spcAft>
                <a:spcPts val="960"/>
              </a:spcAft>
            </a:pPr>
            <a:r>
              <a:rPr sz="1600" b="0" i="0">
                <a:solidFill>
                  <a:srgbClr val="27303C"/>
                </a:solidFill>
                <a:latin typeface="Arial"/>
              </a:rPr>
              <a:t>At absolute ranges of 30 and 60 cm the smallest distance difference meeting this criterion was approximately 12 to 14 mm. Choices fell to chance when both targets were equally distant, because no nearer target existed.</a:t>
            </a:r>
          </a:p>
          <a:p>
            <a:pPr algn="l">
              <a:lnSpc>
                <a:spcPct val="108000"/>
              </a:lnSpc>
              <a:spcAft>
                <a:spcPts val="960"/>
              </a:spcAft>
            </a:pPr>
            <a:r>
              <a:rPr sz="1600" b="0" i="0">
                <a:solidFill>
                  <a:srgbClr val="27303C"/>
                </a:solidFill>
                <a:latin typeface="Arial"/>
              </a:rPr>
              <a:t>The criterion makes thresholds comparable across ranges and species, since each discrimination curve is read at the same level of performance. A threshold is a property of the curve and not of a single trial.</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05a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delay increases with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03C"/>
                </a:solidFill>
                <a:latin typeface="Arial"/>
              </a:rPr>
              <a:t>Sound travels from the bat to the target and back, so the round trip lengthens as the target moves away. Echo delay therefore increases with target range, and delay is the cue that Simmons manipulated electronically.</a:t>
            </a:r>
          </a:p>
          <a:p>
            <a:pPr algn="l">
              <a:lnSpc>
                <a:spcPct val="108000"/>
              </a:lnSpc>
              <a:spcAft>
                <a:spcPts val="1019"/>
              </a:spcAft>
            </a:pPr>
            <a:r>
              <a:rPr sz="1700" b="0" i="0">
                <a:solidFill>
                  <a:srgbClr val="27303C"/>
                </a:solidFill>
                <a:latin typeface="Arial"/>
              </a:rPr>
              <a:t>A target at 30 cm returned an echo after about 1.7 ms in the experimental conditions. The recorded echo followed the emitted call and did not arrive at the same time as it, so the interval between call and echo could be measured.</a:t>
            </a:r>
          </a:p>
          <a:p>
            <a:pPr algn="l">
              <a:lnSpc>
                <a:spcPct val="108000"/>
              </a:lnSpc>
              <a:spcAft>
                <a:spcPts val="1019"/>
              </a:spcAft>
            </a:pPr>
            <a:r>
              <a:rPr sz="1700" b="0" i="0">
                <a:solidFill>
                  <a:srgbClr val="27303C"/>
                </a:solidFill>
                <a:latin typeface="Arial"/>
              </a:rPr>
              <a:t>Sound from apparatus supports also appeared in the recording, and the investigator distinguished target reflections from other returning sound. Range judgments can therefore be tested by changing delay while the loudspeaker positions stay fixed.</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