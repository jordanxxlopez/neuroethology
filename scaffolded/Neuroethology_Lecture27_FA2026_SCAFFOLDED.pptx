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ljtuRhO7pJoR/MFDRnjknjB3mL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b="0" i="0" lang="en-US" sz="1200" u="none" cap="none" strike="noStrike">
                <a:solidFill>
                  <a:schemeClr val="dk1"/>
                </a:solidFill>
                <a:latin typeface="Calibri"/>
                <a:ea typeface="Calibri"/>
                <a:cs typeface="Calibri"/>
                <a:sym typeface="Calibri"/>
              </a:rPr>
              <a:t>Archerfish: predictive aiming and ballistic prey capture</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27. NEUR 411 · NEUROETHOLOGY · FALL 2026. Wednesday, October 28,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Reichenthal et al. (2018), Fig. 1(A). Archerfish directing a water jet toward an aerial insect.</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https://doi.org/10.3389/fncir.2018.00018</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Archerfish dislodge aerial prey with controlled water jets and initiate predictive starts toward a future water-entry point. The title photograph is Reichenthal et al. (2018), Figure 1A.</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Archerfish are aquatic predators that dislodge aerial prey with a directed water jet. In Toxotes jaculatrix, a successful shot releases an insect into a falling trajectory. Securing the food then requires reaching the water-entry point before another fish does; the shooter and nearby bystanders can both respond.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photographed fish belongs to the visual-physiology preparation of Reichenthal and colleagues. The interception measurements and jet measurements come from separate primary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Rossel and colleagues recorded fish and dislodged flies from above. Responding fish initiated a rapid turn within approximately 100 ms, aligned toward the future landing point, and accelerated along that heading while the prey remained airborne. Shooting and interception therefore impose different motor demands.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Gerullis and Schuster separately recorded shots at controlled target heights of 20, 40 and 60 cm. These experiments measured jet control and prey interception directly; neither behavior alone identifies the neurons that compute a successful aim.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1(A). Archerfish directing a water jet toward an aerial insect.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ballistic trajectory is motion dominated by initial velocity and gravity after release. Rossel and colleagues attached wet flies, approximately 50 mg, beneath a disk positioned 20 or 40 cm above the water. Overhead video sampled prey and fish positions at 20-ms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errors are defined in the authors’ original preparation. The study did not record a neural representation of either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investigators compared errors relative to two destinations: the eventual water-entry point and the prey’s horizontal position when the fish finished turning. They corrected the camera’s perspective for the prey’s changing height rather than treating its image position as an unchanged water-surface coordinate.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separates prediction from pursuit of the currently visible target. Trials with obstructed turns were excluded, and initial misalignment exceeded 10° so turn onset and completion could be identified. Temporal resolution limits the precision assigned to individual response latencies.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1(A–B). Published preparation and definitions of landing-point and current-position errors.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For the released flies, horizontal landing distance increased with initial horizontal velocity. Rossel and colleagues compared the measured distances at 20- and 40-cm release heights with the published ballistic predictions. The data were consistent with negligible air resistance and negligible initial vertical velocity under these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graph contains both measured landings and the authors’ theoretical curves. No values have been replotted or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same horizontal speed produces a more distant landing point when the release height is greater, because the object remains airborne longer. A fish must therefore combine motion information with height information; horizontal speed alone cannot identify the destination across both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ballistic approximation was checked against actual prey paths rather than imposed without measurement. Its success applies to the wet flies and release conditions tested. It does not establish that every natural insect, especially one actively flying or falling with substantial drag, follows the same trajectory.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2. Landing distance versus horizontal take-off velocity at 20 and 40 cm.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bystander’s initial orientation can differ greatly from the direction in which a dislodged fly moves. Rossel and colleagues sampled this angular relation at both 20- and 40-cm prey heights, including orientations that required large turns before acceleration toward the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broad orientation distributions are separate from the later, higher-resolution measurements of C-start kinematics.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observed headings were therefore not restricted to a shooter already facing the prey’s path. Responders could transform prey-motion information into a body-centered turning requirement while occupying different positions and orientations in the tank. Turning generally ended before the prey entered the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behavioral flexibility rules out a fixed turn angle as an adequate explanation of interception. It does not reveal the particular coordinate transformation performed by the nervous system. The analysis considered unobstructed first responders, so it does not describe every maneuver made in a crowded group.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3(A–B). Initial orientations sampled during prey interception.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Rossel and colleagues measured where the fish’s final heading intersected the prey’s projected horizontal path. Errors relative to the future water-entry point were centered near zero at both tested heights, across the naturally occurring range of horizontal take-off speeds.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original error graphs use the same prey trajectories and turn responses, making the alternative aiming hypotheses directly comparable.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Errors relative to the prey’s position at turn completion instead showed a systematic offset. The fish had already aimed ahead of that position. This within-trial comparison used the same responses and therefore did not confound two different groups of animals or two different stimulus histories.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prediction of the landing destination before impact. It is stronger than merely observing that fish eventually catch prey, because later swimming corrections cannot account for the initial heading. It does not specify whether prediction uses an explicit internal trajectory or a learned relation between sensory variables and destination.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5(A–B). Errors relative to the future landing point.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6(A–B). Errors relative to the prey position at turn completion.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To test dependence on continuing visual feedback, Rossel and colleagues tethered prey with a thin filament. The fly initially moved freely for slightly more than 100 ms, then stopped and reversed its direction when the filament became taut.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figure is the published free-flight latency distribution, not an invented reversal graph. The filament result is reported separately in the article text.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Fish still turned and initially accelerated toward the landing point predicted from the early motion. Corrections appeared much later. An initial commitment therefore persisted even though the subsequently visible trajectory contradicted the motion information used to choose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manipulation supports an initially programmed turn and acceleration rather than continuous tracking during that phase. It does not imply that the entire hunt is permanently open loop. The paper reports the reversal experiment in text without a separate data panel; the accompanying original latency panel documents the timing of the normal turn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4(A–B). Turn onset and completion relative to prey landing.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Rossel and colleagues placed prey on a transparent horizontal glass screen at 20 or 40 cm height. Air from a blast pipe moved the object horizontally at speeds within the natural take-off range. The target therefore moved without descending toward the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Preventing descent changes the spatial trajectory while retaining the initial horizontal motion cue. That intervention separates trajectory continuation from a landing-point computation.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Fish nevertheless turned toward the virtual landing point, the destination at which prey with that initial height and horizontal velocity would have entered the water if allowed to fall. Errors relative to this virtual point were centered near zero at both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Straight extrapolation of the actual horizontal trajectory cannot supply a finite water-entry point in this preparation. The result instead supports a relation built from initial height, speed and direction. It establishes the behavioral input–output relation while leaving the neural implementation of that relation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7(A–B). Turns toward virtual landing points for targets moving horizontally.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C-start is a rapid maneuver in which the body first bends into a C-like shape and then straightens with an opposite tail movement. Wöhl and Schuster filmed predictive starts from above at 500 frames per second, resolving consecutive body positions every 2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silhouettes are the authors’ published high-speed sequence, including their stage colors and measured center-of-mass markers.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defined the first stage by bending toward the chosen destination and the second by straightening. In an original example, a fish rotated 43.6° within 22 ms and subsequently reached a take-off speed of 1.225 m/s. The center of mass and body axis were measured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Thus, displacement and rotation are coordinated within a recognizable two-stage motor pattern. The timing definitions matter: the end of bending does not necessarily mark completion of the turn, because large turns can continue during straightening. Body kinematics alone cannot prove which descending neurons initiate the maneuver.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3. Original 2-ms silhouettes of bending, straightening and take-off.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6" name="Google Shape;136;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Wöhl and Schuster reconstructed angular and linear motion from high-speed video. Predictive starts reached angular speeds above 4500°/s and linear speeds as high as 2.1 m/s. Their measured peak linear acceleration reached 120 m/s².</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Angular speed measures change in body orientation per unit time; linear speed measures translation of the center of mass. The published profiles should not be treated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Angular speed generally peaked during initial bending, whereas the strongest linear speed occurred after straightening began. These different time courses separate reorientation from the subsequent acceleration toward the predicted prey destination. The same maneuver can therefore set both heading and take-off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measured ranges across demanding interception responses, not a claim that every start achieves the maxima simultaneously. The estimates required smoothing position records before differentiating them. They establish unusually high motor performance, while leaving the neuronal commands and muscle recruitment pattern unmeasured.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5(A–B). Angular speed and acceleration during predictive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6(A–B). Linear speed and acceleration for different required take-off speeds.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Wöhl and Schuster elicited escape C-starts in the same fish and compared them with prey-directed predictive starts. Both behaviors contained rapid bending followed by straightening, and their ranges of stage durations and performance substantially overlapped.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study compares actual predictive and experimentally elicited escape movements in the same preparation; circuit identity remains an inference from their similar performance.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Predictive starts were not systematically slower despite requiring a heading appropriate for a future catch point. Escape starts also varied in turn angle and speed, so neither behavioral category could be described adequately as a single stereotyped body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shared kinematics support possible recruitment of overlapping fast-start circuitry. They do not directly demonstrate that the same identified neuron fires in both contexts. Establishing that causal link requires recordings during the behavior or a selective intervention, rather than resemblance between published body silhouettes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12(A–B). Original comparison of predictive and escape C-start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Predictive starts had to produce turns from 4° to 156° and take-off speeds from 0.4 to 2.1 m/s in Wöhl and Schuster’s recordings. Turn size was most closely associated with the maximum body bending reached at the end of the first stage.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relation compares required turn angle with the extent of bending. No graph has been generated from the reported angle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larger turns, further rotation could occur during straightening. Changes in stage durations, angular speed and displacement contributed additional variability. The motor pattern was therefore flexibly adjusted rather than selected from a small set of identical movements.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Maximum bending is a kinematic predictor, not itself a demonstrated neural command variable. Correlations among body measurements cannot determine the order in which the nervous system specifies them. The findings constrain circuit explanations: any adequate mechanism must allow rapid movement with continuously variable turning and speed.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9. Maximum bending predicts the required turn angle.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Gerullis and Schuster trained Toxotes jaculatrix to shoot from a restricted channel at targets 20, 40 or 60 cm above the water. Small black spheres provided reproducible targets, and successful shots were rewarded with flies delivered in front of the shooter.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Target spheres were 5 mm in diameter. The restricted channel reduced variation in position and camera angle across the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Side-view recordings reached 5000 frames per second, allowing the investigators to follow the water from emergence to impact. The fish tolerated the illumination needed for these recordings and maintained a nearly fixed mouth-tip position during water release.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separates the target’s range from the fish’s shooting position. It also extends beyond the very short distances used in earlier jet measurements. The controlled target and constrained firing geometry improve measurement, but they do not reproduce every angle, target attachment or wind condition of a natural hunt.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1(D). Preimpact tips at 20, 40 and 60 cm; original 1-cm scale bar.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In shots aimed at a target 60 cm high, the water had not finished assembling at the jet tip after 30 cm of travel. Near impact, the tip became concentrated. By contrast, a shot aimed at 20 cm was already focused at that closer target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photographs are different phases of a shot to the same 60-cm target, with the article’s original scale bar preserved.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Gerullis and Schuster compared original high-speed images at equivalent travel positions and at the preimpact phase. Preimpact tips were similarly concentrated across the three target heights, whereas the intermediate shapes differed according to the intended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rejects a fixed-distance focusing account in which water always assembles near the mouth and the finished tip simply travels onward. It supports active adjustment of the focusing distance. Image comparisons establish the jet’s spatial organization, but they do not by themselves identify the muscular or neural control signals.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1(A–B). A 60-cm shot midway through travel and just before impact.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water jet can develop diameter fluctuations and break into droplets. Gerullis and Schuster inspected the jet shaft after a common 30-cm path, comparing shots originally directed toward different target heights. Longer-range jets had fewer shaft modulations than shorter-range jets.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comparison preserves a common travel distance. Missed short-range targets supplied the required uninterrupted jets for that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close targets, rare missed shots allowed observation beyond the intended impact point without collision with the target. This control matters because a jet that struck a target could break up as a consequence of the collision rather than its original hydrodynamic design.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differences support coordinated control of stability and focusing range. They do not show that smoothness alone determines impact force. Tip speed, water concentration and the duration of water release are separate measured properties, and their contributions must be evaluated rather than inferred from a single shaft image.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1(E). Shaft stability after a common 30-cm path.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Gerullis and Schuster measured the tip speed during the first 20 ms of jet formation. The tip accelerated even while the jet rose against gravity, because it remained connected to subsequently emitted water moving faster than the early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curves are the original published fits and data. The slides describe their parameters without calculating or drawing a new jet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Published fits yielded hypothetical limiting speeds of 5.8–6.8 m/s, total speed increments of 2.7–3.8 m/s, and time constants of 6.6–20.0 ms. The speed increment increased with target height, linking the early-to-late velocity difference to the intended shooting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limiting speed is a fitted parameter describing continued flow, not necessarily a speed directly reached by every observed shot. The data support adjustable velocity gradients and reject an ordinary rigid-projectile description of the jet. These measurements do not yet explain how the mouth changes its effective outlet during emission.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2(A–C). Tip acceleration during the first 20 ms at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2(D). Speed increment increases with target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To test whether tip acceleration alone explains coherence, Gerullis and Schuster produced upward jets with a fixed disposable syringe. High-speed recordings captured both jets that remained coherent during release and jets that broke up before all the water had emerged.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Stable and broken syringe jets are original experimental controls in the paper. Their similar speed fits do not establish that the syringe duplicates every biological flow variable.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two classes nevertheless had similar fitted tip-speed time courses. The apparatus could therefore reproduce the increase in speed without consistently reproducing the stability of an archerfish shot. This control separates a sufficient description of tip motion from a sufficient mechanism for the whole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living fish must coordinate properties beyond the acceleration profile if it maintains stable, focused impacts over different ranges. The syringe comparison supports that requirement but does not isolate a particular anatomical feature. The manually operated syringe also differs from the biological mouth in outlet geometry and pressure generation.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2(E–F). Stable and unstable syringe jets with similar tip-speed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Gerullis and Schuster collected water fired by the fish and compared it with control water. Shot viscosity was 0.867 mPa·s and control viscosity 0.869 mPa·s; surface tension was 70.37 versus 70.49 mN/m. No detectable change in these properties supported chemical tuning of the fluid.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Viscosity measures resistance to shear and surface tension measures the energetic cost of the water–air interface. The measured shot water retained the tested properties of ordinary control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also tracked mouth-tip displacement and body orientation during emission. Average total displacement was below 0.26 mm and total rotation below 0.5°, with no systematic dependence on target height. Range tuning therefore could not be attributed to large body movements during the shot.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narrow the candidate mechanisms without proving that every possible chemical or mechanical variable is absent. Their direct measurements motivate examination of the time-varying mouth opening rather than assuming that water composition or whole-body motion supplies the range adjustment.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3(A). Water-shot viscosity and surface tension compared with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3(C). Mouth-tip drift and body rotation during water release.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The mouth opening changed continuously during a shot; it did not form a constant aperture that simply opened and shut. Gerullis and Schuster measured opening and closing at 20-, 40- and 60-cm target heights, aligning records to the onset of water emergence.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aperture is the opening through which water exits. The invariant maximum width separates timing adjustments from a simple increase in mouth-opening size.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onset-to-closure interval increased with range, approximately 3.4 ms per additional 10 cm in the authors’ analysis. Maximum opening width and the final closure interval after release were comparatively unchanged. Specific phases of the movement therefore changed independently rather than undergoing uniform slowing.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pattern supports active control of a time-dependent outlet to coordinate jet formation and range. The mouth measurements constrain a mechanical mechanism but do not directly record its motor neurons or pressure profile. Correlated changes in aperture and focusing are evidence for control, not a complete causal reconstruction of the fluid dynamics.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4(C). Mouth-opening time courses for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4(A–B). Range-dependent onset-to-closure time and final closure after the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Temple and colleagues mapped cones and retinal ganglion cells in Toxotes chatareus using retinal preparations and anatomical counts. A ventral high-density region aligned with the up-forward visual direction used during spitting, rather than providing equal sampling across the entire visual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Cone photoreceptors sample incident light, whereas ganglion cells form the retina’s output population. The anatomical estimate depends on cell spacing and optical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highest cone densities exceeded 50,000 cells/mm², and the local ganglion-cell density approached a one-to-one relation with cone density in that region. Anatomically estimated resolving power reached 6.9 cycles/degree there, compared with 2.2 cycles/degree along the downward visual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cycle is one bright–dark repetition in a spatial pattern; more cycles per degree indicate finer anatomical sampling. These estimates connect retinal organization to the preferred shooting direction. They do not measure behavioral acuity directly or establish that a particular prey discrimination uses every available anatomical sampling unit.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Temple and colleagues used microspectrophotometry to measure absorption in individual photoreceptors, then corrected absorptance for ocular transmission and photopigment properties. Their comparisons separated retinal regions viewing different parts of the aquatic and aerial environment.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Microspectrophotometry measures how absorption varies with wavelength in a selected receptor. The original curves remain unchanged, including their axes and relative sensitivity scales.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published spectra contain short-, middle- and long-wavelength cone contributions and show regional differences in their combined spectral coverage. The measurements directly concern light capture by the receptors; they are not inferred solely from a fish choosing among colored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photopigment is a light-absorbing receptor molecule that initiates a photoreceptor response. Regional sensitivity can shape which contrasts are available against an aerial background, but these spectra alone do not prove color perception or explain compensation for refraction. Spectral sensitivity and the spatial resolving power measured anatomically are distinct constraints on visual aiming.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2(A–C). Regional cone absorptance spectra.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Kretschmer and colleagues placed isolated archerfish retinas on a multielectrode array and projected alternating black and white bars. The grating remained present while movement began at randomly selected velocities, separating motion onset from the sudden appearance of a new object.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multielectrode array records extracellular spikes from several retinal output cells simultaneously. It samples activity without recording the whole animal’s aiming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400-µm bars moved upward or downward, stopping when their contrast edges reached the next electrode row. Recorded ganglion cells produced sharply timed responses after movement onset. The protocol also varied movement history so direction reversal did not occur in every step.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tests information available at retinal output before central processing. Velocities were expressed as those of an external object approximately 30 cm from the eye, not as literal movement speeds across the retinal surface. An isolated retina cannot establish which output features the intact brain actually reads during interception.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1(A–G). Recorded retinal ganglion-cell responses and grating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first-spike latency is the interval from a reference event to the first action potential in a response. Kretschmer and colleagues compared ganglion-cell latencies across the moving-grating velocities. The shortest median absolute latencies were about 22 ms at stimulus speeds around 5–6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action potential is a brief electrical spike used for neuronal signaling. The earliest available spike can transmit information before a long counting window is complete.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Latencies increased at both lower and higher velocities. Different individual cells supplied distinct tuning profiles, allowing the population pattern to distinguish velocity better than a single median value could. A published decoder reconstructed the presented velocities most successfully from absolute first-spike latencies.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Absolute latency requires knowledge of stimulus onset, which the experimenter possesses but the brain must infer from its own signals. The decoding result identifies available information rather than proving an implemented biological decoder. It also does not equate grating responses with responses to every natural falling insect.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2(A–L). First-spike latency varies with stimulus velocity.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Kretschmer and colleagues compared absolute latency with first interspike interval, spike rate over 100 ms, and latency relative to population response onset. An interspike interval is the elapsed time between consecutive action potentials; a firing rate counts spikes per unit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four decoding panels are the authors’ original analysis. Relative latencies reference the onset of the recorded population response, not the animal’s motor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first interval and the tested rate measure reconstructed velocity poorly. Relative first-spike latency performed better, even though its median remained near 10 ms across velocities, because the patterns across different cells retained velocity information. Relative timing supplied an internal reference rather than the experimenter’s stimulus clock.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population timing as a plausible fast signal. It does not rule out every rate code, stimulus condition or longer integration period. The tested 100-ms window is particularly relevant because predictive behavior can begin before an extended spike-count estimate becomes available.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2(A–L). Published decoding based on latency, interval, rate and relative latency.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Kretschmer and colleagues repeatedly decoded velocity while increasing the number of recorded ganglion cells included. Published reconstruction errors fell as the population grew, but the gain was steepest for the first few cells and became smaller with additional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error curves are published analyses of recorded spikes. Their flattening describes diminishing informational returns under this decoder, not an anatomical proof of redundant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Individual experiments differed in accuracy because response timing and tuning quality differed among their sampled cells. Even the most precisely timed unit did not reproduce the information present in a useful combination of units. Population coding therefore depends on which signals are included, not simply on an abstract cell count.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analysis supports distributed retinal information and a limited benefit from progressively larger samples. It does not identify the actual downstream convergence pattern or the synapses that read these spikes. Recorded cells were added computationally; no central neuron was shown to perform the same decoding operation.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7(A–B). Decoding error as more ganglion cells are added.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0" name="Google Shape;360;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The optic tectum is a midbrain structure receiving visual input and participating in sensorimotor processing. Reichenthal and colleagues recorded extracellular activity in archerfish while presenting random checkerboards. A spike-triggered average described the stimulus patterns preceding each neuron’s spikes.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spike-triggered average is the average stimulus history before spikes, compared with the overall stimulus ensemble. Its positive and negative lobes describe contrast preference.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Receptive fields ranged from nearly circular to elongated. About 68% of the sampled cells had a monophasic temporal profile, whereas the remaining group had two phases with opposite contrast signs. Mean estimated response latencies were 54.5 ms and 60 ms for these groups.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distinguish spatial sampling from the temporal contrast sequence associated with firing. A receptive field is the stimulus region and pattern that changes a neuron’s activity. The assay characterizes responses to controlled visual stimuli; it does not prove that an identified tectal cell computes the prey’s complete landing point.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2(A–H). Spatial and temporal receptive fields of tectal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5" name="Google Shape;37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Reichenthal and colleagues also presented full-field flashes with varying intensity to reduce the visual stimulus to a time series. They used spike-triggered covariance, which compares variation in the stimulus histories preceding spikes with variation in the full stimulus 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temporal filter weights portions of the preceding light history. The published eigenvectors belong to an analytical response model, not a reconstructed anatomical circuit.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Structured temporal filters identified combinations of earlier light levels associated with the response. Cells could be described by one to three relevant filters, with two most common. Some filters were termed excitatory or inhibitory according to their statistical relation to the stimulus ensemble.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Those terms describe a model’s stimulus selectivity and do not identify excitatory transmitters, inhibitory receptors or anatomical synapses. The analysis adds information missed by an average alone, but its success remains constrained by the stimuli presented and the amount of recorded activity. It does not locate the circuit generating the inferred filters.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4(A–B). Published covariance analysis and significant stimulus filters.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Reichenthal and colleagues fitted models that combined the recovered temporal filters through nonlinear response functions. A nonlinearity means the response cannot be described simply by proportional addition of all filter outputs; the joint values can change how strongly the neuron fires.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displayed response surfaces and traces are the original published models and recordings. No surface, trace or model curve has been recreated.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Original examples included one-, two- and three-filter descriptions with different response surfaces. Two-filter models could reproduce response structure that an average-based single filter missed. The authors compared model output with recorded firing rather than judging the inferred filters solely by their appearance.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phenomenological models: compact descriptions of measured input–output relationships. They do not establish the corresponding ion channels, synapses or behavioral function. The diverse combinations provide candidate transformations of visual timing before a motor decision, while leaving their causal contribution to predictive aiming untested.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7(A–D). Original two-filter nonlinear response models and neural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5" name="Google Shape;405;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Karoubi and colleagues examined Toxotes chatareus brains with Nissl staining and immunohistochemistry. Nissl staining labels cell-rich tissue and helps distinguish nuclei and layers; immunohistochemistry uses antibodies to locate selected molecular markers within the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Serial anatomy supplies a coordinate framework for physiological studies. The atlas does not trace a complete retinal-to-Mauthner interception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atlas documents the telencephalon, diencephalon, optic tectum, cerebellum and hindbrain in serial sections and whole-brain views. Its labeled sections supply anatomical landmarks for interpreting visual recordings and the location of descending neurons, rather than assuming that all activity comes from a single undifferentiated brain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atlas also maps catecholaminergic and cholinergic markers, but anatomical labeling does not show that those cells control shooting or predictive starts. A cholinergic neuron uses acetylcholine; marker localization alone does not specify the postsynaptic receptor or the behavioral effect of transmitter release.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2(A–D). Lateral view and reconstruction of the archerfish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The Mauthner cell is a large hindbrain neuron with a descending axon associated with fast-start behavior in fishes. Machnik and colleagues stimulated the spinal cord and searched the archerfish hindbrain for a characteristic short-latency, all-or-none extracellular field potential.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All-or-none refers to the recruitment of a spike once threshold is reached. The focused extracellular signal also depends on the axon-cap geometry around the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Increasing a stimulus above threshold changed whether the signal occurred but did not progressively scale its amplitude. Each side of the hindbrain contained a distinct focus, consistent with a paired neuronal source. Intracellular penetration and subsequent staining then linked that source to a cell with Mauthner-like morphology.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approach connects an electrical signature to anatomy instead of relying only on cell size. It establishes an experimentally accessible Mauthner neuron in archerfish. Antidromic stimulation, traveling backward from axon toward cell body, does not show that the cell normally fires during a predictive prey-directed turn.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2(A–D). All-or-none field potential used to locate the Mauthner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filled identified Mauthner neurons and compared archerfish with similarly sized goldfish processed by the same method. The soma is the neuronal cell body; dendrites receive and integrate inputs before signals reach the spike-initiation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red and blue cell reconstructions are original published anatomical reconstructions. Their colors and dimensions have not been 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Archerfish soma diameters ranged from 45 to 63 µm, compared with 47–66 µm in goldfish. Both had prominent lateral and ventral dendrites, an axon hillock, and smaller branches. The broad similarity persisted despite the archerfish’s specialized interception demands.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matched preparation controls for major differences caused by animal size and staining method. It argues against a dramatically enlarged or uniquely shaped Mauthner neuron as a necessary explanation of the archerfish skill. Similar morphology does not imply identical connectivity, synaptic strengths or recruitment during natural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6" name="Google Shape;446;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After staining identified cells, Machnik and colleagues followed the Mauthner axons across the hindbrain midline and into the opposite spinal cord. Unstained cross-sections independently contained two exceptionally large axons in the corresponding positions.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stained and unstained sections provide complementary identification controls. Crossing means that an axon descends on the side opposite its hindbrain cell body.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largest axons averaged 71.9 µm in diameter in the measured archerfish sections and were comparable with those of similarly sized goldfish. Finding exactly two matched giants argued against an additional, equally large descending pathway hidden elsewhere in the sampled cord.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large axon can support rapid conduction, making this anatomy compatible with a fast motor command. The comparison does not exclude smaller neurons contributing to turn selection or speed adjustment. Nor does it prove that a particular giant axon generates the predictive start; anatomical availability and behavioral recruitment are different questions.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9" name="Google Shape;459;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obtained intracellular recordings from identified archerfish Mauthner cells. Mean resting voltage was −79.5 mV, antidromic spike onset latency was 0.265 ms, and the somatically recorded spike had a half-maximal duration of 0.54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transmembrane potential is the voltage inside the cell relative to the immediately adjacent extracellular space. The distant reference can include the local spike-associated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apparently small somatic spike, approximately 36.7 mV, must be interpreted with the extracellular field surrounding the cell. Subtracting the nearby external potential reconstructs the actual membrane-voltage change; a distant reference electrode alone does not directly measure that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recordings remained stable for approximately 2–3 hours, permitting repeated sensory and inhibitory tests within one cell. An action potential is the regenerative electrical event that can propagate down the axon. The experiment measures excitability and conduction following imposed stimulation, rather than the timing of spontaneous commands during a free-swimming hunt.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1(B–C). Antidromic spike and correction for the extracellular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2(A–E). Intracellular recording stability and action-potential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4" name="Google Shape;474;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delivered brief acoustic bursts while recording the Mauthner cell. A postsynaptic potential, or PSP, is a membrane-voltage change associated with synaptic input. Under their stimulus conditions, detectable acoustic PSPs began after 7.4–15.1 ms in archerfish.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Depolarization is movement of membrane voltage toward less negative values. The original recordings compare acoustic responses in archerfish and goldfish under the same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mean acoustic PSP amplitude was 4.3 mV, and some preparations produced no detectable acoustic PSP despite strong visually evoked responses. The same standardized stimulus and recording conditions were used in the comparison with goldfish, permitting a controlled species contrast.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earlier onset does not imply a stronger influence on firing: latency and amplitude measure different properties of input. The findings concern the selected acoustic burst, not the full hearing sensitivity of either species. They establish access to mechanosensory input without identifying every upstream receptor or intervening synapse.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4(A–B). Sound- and light-evoked postsynaptic potentials in the same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presented 7-ms light flashes while recording the same identified Mauthner cells. Visual PSP amplitudes ranged from 5.3 to 28.2 mV, with a mean of 17.1 mV. Onset latencies ranged from 27.5 to 54.2 ms, averaging 39.4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flashes had an intensity of 100 cd/m² with maximum intensity at 569 nm. Species differences apply to this selected visual and acoustic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Under the tested conditions, visual responses were substantially larger than acoustic responses in archerfish. Goldfish instead had mean visual and acoustic amplitudes of 7.0 and 8.2 mV. The shared stimuli make this a comparison of relative efficacy rather than an uncontrolled comparison of separate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late portions of the visual PSPs varied more than their initial rise, consistent with additional network input. These flashes sometimes elicited spikes, but they did not reproduce the full prey-motion stimulus. Strong visual access supports a role in visuomotor processing while leaving recruitment during predictive starts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5(A–C). Visual and acoustic PSP amplitude and latency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4" name="Google Shape;504;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recorded at different positions along the Mauthner lateral dendrite and corrected the signals for the nearby extracellular field. Reconstructed spike amplitude decayed passively with length constants of 141–164 µm in the tested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Proximal and distal recordings were approximately 50 and 150 µm lateral to the axon hillock. Different gradients are interpreted using independently measured passive decay.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Acoustic PSPs were larger at a distal lateral-dendrite position than close to the soma, consistent with input arriving laterally. Visual PSPs showed the opposite gradient: their amplitude decreased toward the distal lateral dendrite, consistent with input entering nearer the soma or through another dendritic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length constant describes the distance over which passive voltage spread is attenuated. The gradients constrain where inputs enter but do not anatomically trace each presynaptic axon. They also do not prove that the visual and acoustic pathways use identical receptors or that these entry sites encode the prey’s predicted landing point.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6(A–D). Passive dendritic decay and locations of sensory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9" name="Google Shape;519;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Recurrent inhibition is inhibitory feedback activated after a neuron or its associated network fires. Machnik and colleagues elicited pairs of antidromic Mauthner spikes and varied their separation. The second spike was reduced most strongly at short intervals, and recovery contained fast and slow components.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chloride-loaded electrode contained 3 mol/L KCl. A change in apparent potential polarity after chloride loading must not be mistaken for a change from inhibitory to excitatory network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Archerfish recovery time constants were 0.9 and 16.5 ms, compared with 0.8 and 12.8 ms in goldfish. The paper associates the fast component provisionally with sodium-channel inactivation. Repeated stimulation and chloride-loaded recordings supplied additional tests of later inhibitory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Voltage-gated sodium-channel inactivation temporarily reduces the ability to generate another spike; chloride loading can change the polarity of a chloride-dependent synaptic potential. The comparable physiology supports functionally similar inhibitory networks. It does not directly identify every archerfish inhibitory transmitter or prove that the paired-spike experiment reproduces natural predictive-start selection.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7(A–D). Paired-spike tests and chloride-loaded recordings of recurrent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Feed-forward inhibition occurs when sensory input excites inhibitory pathways alongside the pathway to a target neuron. Machnik and colleagues elicited an antidromic spike at different times during a visual or acoustic PSP, using its reduction as a probe of sensory-driven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sensory PSP and inhibition can overlap in time. Reduction of the probe spike is an operational measurement of that inhibition, not a direct recording from the interneurons supplying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archerfish and goldfish, the inhibitory time course was matched to the duration of the evoked PSP. Comparable effects occurred for visual and acoustic stimulation. Sensory access to the Mauthner cell therefore includes opposing influences rather than a purely excitatory command.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method measures a functional inhibitory effect during synaptic input, but it does not trace the entire pathway or identify its transmitter receptors. Similar time courses can arise from different underlying circuits. The authors consequently treat a shared inhibitory network as a parsimonious explanation, while acknowledging that the observed equivalence is not an anatomical demonstration.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8(A–C). Sensory-driven inhibition measured during visual and acoustic PSPs.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9" name="Google Shape;54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Volotsky and colleagues trained Toxotes chatareus to shoot at an aerial target and introduced horizontal airflow above the water. The air deflected the jet while the fish remained in water, creating an aiming error without moving the visible target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setup includes a real video frame of the water jet. Airflow acted on the aerial water stream while the target location remained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compared baseline shots, a perturbation period, and shots after airflow removal. Errors initially increased when airflow began, then declined over successive shots. Trials in both airflow directions tested whether adjustment was limited to a single direction of physical deflection.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Motor adaptation is adjustment of a movement in response to systematic errors caused by changed conditions. The measured correction supports flexible calibration of the shooting action. It does not identify the learning circuit or establish that fish directly sensed airflow; the apparatus was designed to keep the blower outside their visual field.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2(A–B). Original airflow apparatus and photographed water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2" name="Google Shape;56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After the airflow perturbation ended, Volotsky and colleagues observed errors in the opposite direction. These aftereffects declined over several subsequent shots. A compensation learned during the perturbation therefore initially persisted when the physical deflection was removed.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Washout refers to trials after the perturbation is removed. The original error records preserve their units and condition colors, without replacing them with a simulated adaptation curve.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baseline–perturbation–washout sequence distinguishes adaptive recalibration from simply following the current disturbance. If each shot only corrected the visible outcome after it occurred, removal of the disturbance would not produce the same systematic initial bias in the opposite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altered motor commands anticipating a recurring perturbation. It does not establish a specific internal forward model or identify its neural location. The authors also could not make a definite claim about savings across sessions because the data were too noisy to resolve that additional learning effect.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3(C–F). Trial-by-trial error reduction and aftereffects in both airflow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An egocentric reference frame expresses a relation relative to the animal’s body; an allocentric frame expresses it relative to the external environment. Volotsky and colleagues rotated the shooting access so a trained fish changed its body orientation while airflow direction remained fixed in the tank.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distinction concerns the transfer of learned correction. A fixed environmental wind becomes an opposite body-relative disturbance when the fish reverses its shooting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the reversal, errors became large and adaptation required additional shots. The retained compensation followed the previous body-relative relation rather than immediately accounting for the unchanged external airflow direction. Visual landmarks within the tank remained 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manipulation supports body-centered adaptation under conditions lacking direct cues to airflow direction. It does not show that every component of archerfish aiming is egocentric, nor that fish cannot learn external spatial relations. The result specifically constrains how an acquired shooting compensation transfers when the body–disturbance relation changes.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5(A–E). Body-direction reversal tests of the adaptation reference frame.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6" name="Shape 586"/>
        <p:cNvGrpSpPr/>
        <p:nvPr/>
      </p:nvGrpSpPr>
      <p:grpSpPr>
        <a:xfrm>
          <a:off x="0" y="0"/>
          <a:ext cx="0" cy="0"/>
          <a:chOff x="0" y="0"/>
          <a:chExt cx="0" cy="0"/>
        </a:xfrm>
      </p:grpSpPr>
      <p:sp>
        <p:nvSpPr>
          <p:cNvPr id="587" name="Google Shape;587;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8" name="Google Shape;588;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presented virtual prey on a screen above the tank and rewarded the corresponding virtual impact points. After initially straight motion, training trajectories changed direction by 39.8°. Food was then delivered at the new deflected destination rather than the old ballistic 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virtual task retains an objective predicted landing point while allowing the investigators to change the motion-to-reward relation independently of physical falling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training, initial turns shifted toward the new destinations. Critical tests displayed only the early straight trajectory and moved feeders away from both candidate impact points. Fish still aimed at the learned deflected point, excluding simple pursuit of the later deflection or a visible feeder.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response remained a rapid predictive start rather than being replaced by a slow approach. This establishes plasticity in the relation between early motion and chosen destination. It does not show where the learned rule is stored, and it does not prove that the animal represents the rule in a human verbal or mathematical form.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4(A–K). Original deflection training, transfer tests and latency–accuracy results.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1" name="Google Shape;601;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tested whether learning only replaced familiar stimulus–response associations. Fish trained at one height were challenged at different heights where the old training-height response and the new rule predicted different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Generalization means that a learned relation supports responses to inputs not previously trained. The tests were selected so alternative stored associations predicted different initial headings.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Initial turns were already appropriate for the untrained heights rather than systematically approaching the training-height substitute. Additional tests changed object size and included an untrained speed of 1.425 m/s. The learned relation generalized beyond the exact combinations repeatedly encountered during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Immediate transfer supports a more general representation than a lookup list restricted to trained cases. It does not uniquely identify the algorithm or its neural substrate. The interpretation depends on comparing competing predicted destinations in these controlled transfer trials, rather than equating any successful catch with abstract reasoning.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5(A–G). Transfer to untrained speed, angle, size and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4" name="Google Shape;614;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trained fish with two visually different prey objects. A disk required the learned deflected relation, whereas a triangle required the original ballistic relation. Shape and initial motion were controlled so the same motion variables could require different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object cue chooses a rule, while current motion and geometry still determine the required heading. The rule is not equivalent to one fixed body turn per shape.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interspersed tests, only the initial trajectory was visible. Fish directed turns toward the deflected virtual point for disks and the ballistic virtual point for triangles. The decision could therefore use a context cue to choose between two concurrent motion-to-destination relations.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is stronger evidence than learning one fixed turn toward each shape, because required turns also depended on prey speed, direction, height and fish position. Nevertheless, shape-dependent performance does not identify the cells that recognize the object or the synapses that switch the motor computation. Those circuit mechanisms remain to be determined.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6(A–J). Shape cues select between learned and ballistic interception rules.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7" name="Google Shape;627;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tested whether a shape cue had to appear before prey motion to prepare the appropriate decision. A neutral cross remained stationary for 2 seconds, then changed into the relevant disk or triangle exactly when movement began.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Late cue means identity becomes available at motion onset, rather than before it. The paper compares that condition with an advance cue while holding the interception rules and initial motion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Only the initial straight movement was displayed, preventing the later deflection from identifying the correct destination. Errors were comparable with those obtained when object identity had been visible 2 seconds before motion. The fish selected the appropriate rule during the brief decision interval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finding adds conditional flexibility to a response made in less than 100 ms under the tested conditions. It does not establish that rapid choice is unlimited or independent of training. Together with the transfer tests, it constrains simplistic accounts of a fixed reflex while leaving the underlying visual recognition and command-selection circuitry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7(A–E). Rule selection when an object changes appearance after motion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0" name="Google Shape;64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Prediction targets future impact. Early height and horizontal motion guide the initial turn toward a landing point, including a virtual landing point when descent is prevented.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Fast starts remain flexible. Predictive C-starts bend and straighten rapidly while adjusting heading and take-off speed; similar escape kinematics do not alone prove a shared command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Jet control is active. Range-dependent velocity gradients, stability and mouth-opening timing focus water near impact; the tested shot chemistry and body drift do not explain the adjustment.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Timing carries retinal information. First-spike population timing decodes motion velocity better than the tested rate or interval measures; biological use of the decoder remains unproven.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Neural anatomy and causation differ. Archerfish have identifiable Mauthner cells with strong visual access and inhibitory controls, but these studies do not directly establish their recruitment in predictive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Learning changes rapid control. Shooting shows adaptive aftereffects; predictive starts can learn, generalize and select between context-dependent interception rules without abandoning rapid decisions.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Virtual prey separate the rule from the feeder.</a:t>
            </a:r>
          </a:p>
          <a:p>
            <a:r>
              <a:rPr lang="en-US" sz="1200"/>
              <a:t>• Explanation 1.</a:t>
            </a:r>
          </a:p>
          <a:p>
            <a:r>
              <a:rPr lang="en-US" sz="1200"/>
              <a:t>– The virtual task keeps an objective predicted landing point while letting the investigators change the motion-to-reward relation</a:t>
            </a:r>
          </a:p>
          <a:p>
            <a:r>
              <a:rPr lang="en-US" sz="1200"/>
              <a:t>– That arrangement allows the reward to follow a rule that a physical falling prey could not supply. The prediction stays fixed while the reward moves, which isolates the learning from the physical scene. This setup gives the experimenter direct control of reward timing and location.</a:t>
            </a:r>
          </a:p>
          <a:p>
            <a:r>
              <a:rPr lang="en-US" sz="1200"/>
              <a:t>• Explanation 2.</a:t>
            </a:r>
          </a:p>
          <a:p>
            <a:r>
              <a:rPr lang="en-US" sz="1200"/>
              <a:t>– Latency and accuracy were reported together across the training sequence, so the speed of the predictive start and its correctness both show how the learned rule developed</a:t>
            </a:r>
          </a:p>
          <a:p>
            <a:r>
              <a:rPr lang="en-US" sz="1200"/>
              <a:t>– The two measures tracked each other as training progressed. Together they show the rule emerging without a change in the response's speed. Both measures are summarized across the same trials.</a:t>
            </a:r>
          </a:p>
          <a:p>
            <a:r>
              <a:rPr lang="en-US" sz="1200"/>
              <a:t>• Explanation 3.</a:t>
            </a:r>
          </a:p>
          <a:p>
            <a:r>
              <a:rPr lang="en-US" sz="1200"/>
              <a:t>– Rapid decisions persisted while the learned rule changed, which places the plasticity inside the speed constraint of the start</a:t>
            </a:r>
          </a:p>
          <a:p>
            <a:r>
              <a:rPr lang="en-US" sz="1200"/>
              <a:t>– The change therefore affects which destination is chosen without slowing the response into a deliberate approach. The learned rule thus operates within the same fast motor program. The speed of the response was preserved throughout training.</a:t>
            </a:r>
          </a:p>
          <a:p>
            <a:r>
              <a:rPr lang="en-US" sz="1200"/>
              <a:t>• Source.</a:t>
            </a:r>
          </a:p>
          <a:p>
            <a:r>
              <a:rPr lang="en-US" sz="1200"/>
              <a:t>– The figure and the measurements come from Krause et al. (2024).</a:t>
            </a:r>
          </a:p>
          <a:p>
            <a:r>
              <a:rPr lang="en-US" sz="1200"/>
              <a:t>– Each statement is tied to the recordings or observations of that study.</a:t>
            </a:r>
          </a:p>
          <a:p>
            <a:r>
              <a:rPr lang="en-US" sz="1200"/>
              <a:t/>
            </a:r>
          </a:p>
          <a:p>
            <a:r>
              <a:rPr lang="en-US" sz="1200"/>
              <a:t>References:</a:t>
            </a:r>
          </a:p>
          <a:p>
            <a:r>
              <a:rPr lang="en-US" sz="1200"/>
              <a:t>Krause M, Schulze W, Schuster S (2024). Learning and cognition in highspeed decision making. eLife (reviewed preprint) 13: RP99634. https://doi.org/10.7554/elife.99634</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Airflow acts on the aerial stream, not the target.</a:t>
            </a:r>
          </a:p>
          <a:p>
            <a:r>
              <a:rPr lang="en-US" sz="1200"/>
              <a:t>• Explanation 1.</a:t>
            </a:r>
          </a:p>
          <a:p>
            <a:r>
              <a:rPr lang="en-US" sz="1200"/>
              <a:t>– Airflow acted on the aerial water stream, while the target location remained under experimental control</a:t>
            </a:r>
          </a:p>
          <a:p>
            <a:r>
              <a:rPr lang="en-US" sz="1200"/>
              <a:t>– The airflow therefore changed the jet's path without changing where the visible target sat. Errors came from the stream itself, which is why the setup isolates the deflection of the jet. The stream itself was the object of the deflection in every trial.</a:t>
            </a:r>
          </a:p>
          <a:p>
            <a:r>
              <a:rPr lang="en-US" sz="1200"/>
              <a:t>• Explanation 2.</a:t>
            </a:r>
          </a:p>
          <a:p>
            <a:r>
              <a:rPr lang="en-US" sz="1200"/>
              <a:t>– The published setup includes a photographed water jet, which documents the stream that the airflow deflects</a:t>
            </a:r>
          </a:p>
          <a:p>
            <a:r>
              <a:rPr lang="en-US" sz="1200"/>
              <a:t>– That image anchors the stream geometry that the blower acted on. The photographed jet is the physical object whose deflection the fish corrected across the session. The photograph therefore links the apparatus to the jet that the fish aimed, which helps interpret the errors.</a:t>
            </a:r>
          </a:p>
          <a:p>
            <a:r>
              <a:rPr lang="en-US" sz="1200"/>
              <a:t>• Explanation 3.</a:t>
            </a:r>
          </a:p>
          <a:p>
            <a:r>
              <a:rPr lang="en-US" sz="1200"/>
              <a:t>– Adjustment was tested in both directions, so the correction could be checked for whether it worked for either direction of deflection</a:t>
            </a:r>
          </a:p>
          <a:p>
            <a:r>
              <a:rPr lang="en-US" sz="1200"/>
              <a:t>– Each direction was run as its own condition in the same session. Those conditions show whether the fish's adjustment worked on one side or on both. Both airflow directions were therefore run in every session.</a:t>
            </a:r>
          </a:p>
          <a:p>
            <a:r>
              <a:rPr lang="en-US" sz="1200"/>
              <a:t>• Source.</a:t>
            </a:r>
          </a:p>
          <a:p>
            <a:r>
              <a:rPr lang="en-US" sz="1200"/>
              <a:t>– The figure and the measurements come from Volotsky et al. (2023).</a:t>
            </a:r>
          </a:p>
          <a:p>
            <a:r>
              <a:rPr lang="en-US" sz="1200"/>
              <a:t>– Each statement is tied to the recordings or observations of that study.</a:t>
            </a:r>
          </a:p>
          <a:p>
            <a:r>
              <a:rPr lang="en-US" sz="1200"/>
              <a:t/>
            </a:r>
          </a:p>
          <a:p>
            <a:r>
              <a:rPr lang="en-US" sz="1200"/>
              <a:t>References:</a:t>
            </a:r>
          </a:p>
          <a:p>
            <a:r>
              <a:rPr lang="en-US" sz="1200"/>
              <a:t>Volotsky S, Donchin O, Segev R (2023). The archerfish uses motor adaptation in shooting to correct for changing physical conditions. eLife (reviewed preprint) 12: RP92909. https://doi.org/10.7554/elife.92909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dendritic sites bracket the lateral dendrite.</a:t>
            </a:r>
          </a:p>
          <a:p>
            <a:r>
              <a:rPr lang="en-US" sz="1200"/>
              <a:t>• Explanation 1.</a:t>
            </a:r>
          </a:p>
          <a:p>
            <a:r>
              <a:rPr lang="en-US" sz="1200"/>
              <a:t>– Recordings were made about 50 and 150 µm lateral to the axon hillock, giving a proximal and a distal site on the same lateral dendrite</a:t>
            </a:r>
          </a:p>
          <a:p>
            <a:r>
              <a:rPr lang="en-US" sz="1200"/>
              <a:t>– The two positions bracket the region where the sensory inputs were compared. Passive spread is the common basis for interpreting both positions. Both sites sit on the same dendrite, so they share one geometry.</a:t>
            </a:r>
          </a:p>
          <a:p>
            <a:r>
              <a:rPr lang="en-US" sz="1200"/>
              <a:t>• Explanation 2.</a:t>
            </a:r>
          </a:p>
          <a:p>
            <a:r>
              <a:rPr lang="en-US" sz="1200"/>
              <a:t>– The gradient interpretation relies on passive decay measured independently, so the spread of each input is set by the cell's own passive properties</a:t>
            </a:r>
          </a:p>
          <a:p>
            <a:r>
              <a:rPr lang="en-US" sz="1200"/>
              <a:t>– That independent measurement anchors the reading of the two gradients. A reading of that kind depends on knowing the passive decay before the inputs are interpreted. Passive decay sets how far a voltage change spreads along the dendrite.</a:t>
            </a:r>
          </a:p>
          <a:p>
            <a:r>
              <a:rPr lang="en-US" sz="1200"/>
              <a:t>• Explanation 3.</a:t>
            </a:r>
          </a:p>
          <a:p>
            <a:r>
              <a:rPr lang="en-US" sz="1200"/>
              <a:t>– Anatomical tracing of each presynaptic axon is a separate task from measuring these gradients</a:t>
            </a:r>
          </a:p>
          <a:p>
            <a:r>
              <a:rPr lang="en-US" sz="1200"/>
              <a:t>– Gradient measurements locate the likely entry region of an input, while tracing identifies the axon that carries it. The two approaches answer different questions about the same synapse. Tracing would name the carrying axon directly, something gradient measures alone never supply.</a:t>
            </a:r>
          </a:p>
          <a:p>
            <a:r>
              <a:rPr lang="en-US" sz="1200"/>
              <a:t>• Source.</a:t>
            </a:r>
          </a:p>
          <a:p>
            <a:r>
              <a:rPr lang="en-US" sz="1200"/>
              <a:t>– The figure and the measurements come from Machnik et al. (2018b).</a:t>
            </a:r>
          </a:p>
          <a:p>
            <a:r>
              <a:rPr lang="en-US" sz="1200"/>
              <a:t>– Each statement is tied to the recordings or observations of that study.</a:t>
            </a:r>
          </a:p>
          <a:p>
            <a:r>
              <a:rPr lang="en-US" sz="1200"/>
              <a:t/>
            </a:r>
          </a:p>
          <a:p>
            <a:r>
              <a:rPr lang="en-US" sz="1200"/>
              <a:t>References:</a:t>
            </a:r>
          </a:p>
          <a:p>
            <a:r>
              <a:rPr lang="en-US" sz="1200"/>
              <a:t>Machnik P, Leupolz K, Feyl S, Schulze W, Schuster S (2018b). The Mauthner cell in a fish with top-performance and yet flexibly-tuned C-starts II. Physiology. Journal of Experimental Biology 221: jeb.175588. https://doi.org/10.1242/jeb.175588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distant reference carries the spike field.</a:t>
            </a:r>
          </a:p>
          <a:p>
            <a:r>
              <a:rPr lang="en-US" sz="1200"/>
              <a:t>• Explanation 1.</a:t>
            </a:r>
          </a:p>
          <a:p>
            <a:r>
              <a:rPr lang="en-US" sz="1200"/>
              <a:t>– The distant reference can itself carry the local spike-associated field, which is why the external potential has to be corrected before the membrane voltage is determined</a:t>
            </a:r>
          </a:p>
          <a:p>
            <a:r>
              <a:rPr lang="en-US" sz="1200"/>
              <a:t>– The correction turns a reference reading into an estimate of the cell's own voltage. Without it, the spike seen at a distant electrode would mix the cell's voltage with the surrounding field.</a:t>
            </a:r>
          </a:p>
          <a:p>
            <a:r>
              <a:rPr lang="en-US" sz="1200"/>
              <a:t>• Explanation 2.</a:t>
            </a:r>
          </a:p>
          <a:p>
            <a:r>
              <a:rPr lang="en-US" sz="1200"/>
              <a:t>– Each intracellular spike was checked against the field recorded around the cell, so the reported spike amplitude belongs to the cell rather than to its surroundings</a:t>
            </a:r>
          </a:p>
          <a:p>
            <a:r>
              <a:rPr lang="en-US" sz="1200"/>
              <a:t>– This isolates the cell's own voltage change from the surrounding potential. The distinction matters for every amplitude value reported for these neurons. Each spike amplitude was therefore corrected before analysis.</a:t>
            </a:r>
          </a:p>
          <a:p>
            <a:r>
              <a:rPr lang="en-US" sz="1200"/>
              <a:t>• Explanation 3.</a:t>
            </a:r>
          </a:p>
          <a:p>
            <a:r>
              <a:rPr lang="en-US" sz="1200"/>
              <a:t>– Stable recordings allowed the same cell to be tested with repeated stimulation over the course of an experiment</a:t>
            </a:r>
          </a:p>
          <a:p>
            <a:r>
              <a:rPr lang="en-US" sz="1200"/>
              <a:t>– Because the excitability measures come from one identified neuron, each response can be judged within that cell. Repeated tests in one cell make paired comparisons possible. Each recording therefore yields several measures from a single neuron. That reuse is a practical advantage of the preparation.</a:t>
            </a:r>
          </a:p>
          <a:p>
            <a:r>
              <a:rPr lang="en-US" sz="1200"/>
              <a:t>• Source.</a:t>
            </a:r>
          </a:p>
          <a:p>
            <a:r>
              <a:rPr lang="en-US" sz="1200"/>
              <a:t>– The figure and the measurements come from Machnik et al. (2018b).</a:t>
            </a:r>
          </a:p>
          <a:p>
            <a:r>
              <a:rPr lang="en-US" sz="1200"/>
              <a:t>– Each statement is tied to the recordings or observations of that study.</a:t>
            </a:r>
          </a:p>
          <a:p>
            <a:r>
              <a:rPr lang="en-US" sz="1200"/>
              <a:t/>
            </a:r>
          </a:p>
          <a:p>
            <a:r>
              <a:rPr lang="en-US" sz="1200"/>
              <a:t>References:</a:t>
            </a:r>
          </a:p>
          <a:p>
            <a:r>
              <a:rPr lang="en-US" sz="1200"/>
              <a:t>Machnik P, Leupolz K, Feyl S, Schulze W, Schuster S (2018b). The Mauthner cell in a fish with top-performance and yet flexibly-tuned C-starts II. Physiology. Journal of Experimental Biology 221: jeb.175588. https://doi.org/10.1242/jeb.175588</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axon cap shapes the field signal.</a:t>
            </a:r>
          </a:p>
          <a:p>
            <a:r>
              <a:rPr lang="en-US" sz="1200"/>
              <a:t>• Explanation 1.</a:t>
            </a:r>
          </a:p>
          <a:p>
            <a:r>
              <a:rPr lang="en-US" sz="1200"/>
              <a:t>– The focused extracellular signal depends on the geometry of the axon cap around the cell, which shapes where the field is strongest</a:t>
            </a:r>
          </a:p>
          <a:p>
            <a:r>
              <a:rPr lang="en-US" sz="1200"/>
              <a:t>– That geometry means the signal reports the cell's local field rather than an average over the hindbrain. Field recordings near the cell therefore identify a particular neuron's signal. The cell's geometry therefore shapes each recording.</a:t>
            </a:r>
          </a:p>
          <a:p>
            <a:r>
              <a:rPr lang="en-US" sz="1200"/>
              <a:t>• Explanation 2.</a:t>
            </a:r>
          </a:p>
          <a:p>
            <a:r>
              <a:rPr lang="en-US" sz="1200"/>
              <a:t>– Antidromic stimulation travels backward from axon toward cell body, so it activates the cell by way of its axon</a:t>
            </a:r>
          </a:p>
          <a:p>
            <a:r>
              <a:rPr lang="en-US" sz="1200"/>
              <a:t>– That route is distinct from the forward flow of sensory input through the dendrites. Stimulation of this kind is an experimental probe rather than a description of natural input. Its route bypasses the dendritic inputs that carry natural sensory signals.</a:t>
            </a:r>
          </a:p>
          <a:p>
            <a:r>
              <a:rPr lang="en-US" sz="1200"/>
              <a:t>• Explanation 3.</a:t>
            </a:r>
          </a:p>
          <a:p>
            <a:r>
              <a:rPr lang="en-US" sz="1200"/>
              <a:t>– Antidromic activation shows that the cell can be driven from its axon, a property separate from its firing during a natural prey-directed turn</a:t>
            </a:r>
          </a:p>
          <a:p>
            <a:r>
              <a:rPr lang="en-US" sz="1200"/>
              <a:t>– Experimental access to that axon is what makes the cell testable in the first place. The identified cell then serves as a platform for the sensory tests that follow. That identification makes the cell a usable target.</a:t>
            </a:r>
          </a:p>
          <a:p>
            <a:r>
              <a:rPr lang="en-US" sz="1200"/>
              <a:t>• Source.</a:t>
            </a:r>
          </a:p>
          <a:p>
            <a:r>
              <a:rPr lang="en-US" sz="1200"/>
              <a:t>– The figure and the measurements come from Machnik et al. (2018a).</a:t>
            </a:r>
          </a:p>
          <a:p>
            <a:r>
              <a:rPr lang="en-US" sz="1200"/>
              <a:t>– Each statement is tied to the recordings or observations of that study.</a:t>
            </a:r>
          </a:p>
          <a:p>
            <a:r>
              <a:rPr lang="en-US" sz="1200"/>
              <a:t/>
            </a:r>
          </a:p>
          <a:p>
            <a:r>
              <a:rPr lang="en-US" sz="1200"/>
              <a:t>References:</a:t>
            </a:r>
          </a:p>
          <a:p>
            <a:r>
              <a:rPr lang="en-US" sz="1200"/>
              <a:t>Machnik P, Leupolz K, Feyl S, Schulze W, Schuster S (2018a). The Mauthner cell in a fish with top-performance and yet flexibly-tuned C-starts I. Identification and comparative morphology. Journal of Experimental Biology 221: jeb.182535. https://doi.org/10.1242/jeb.182535</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Analytical filters describe the response model.</a:t>
            </a:r>
          </a:p>
          <a:p>
            <a:r>
              <a:rPr lang="en-US" sz="1200"/>
              <a:t>• Explanation 1.</a:t>
            </a:r>
          </a:p>
          <a:p>
            <a:r>
              <a:rPr lang="en-US" sz="1200"/>
              <a:t>– The published eigenvectors belong to an analytical response model, which describes how the neuron responds to light history</a:t>
            </a:r>
          </a:p>
          <a:p>
            <a:r>
              <a:rPr lang="en-US" sz="1200"/>
              <a:t>– They are not a reconstructed anatomical circuit, so each filter stands for a computation rather than a wiring diagram. Each eigenvector is a weighting over the preceding light levels, read off the fitted model. The fitted model defines each weighting directly.</a:t>
            </a:r>
          </a:p>
          <a:p>
            <a:r>
              <a:rPr lang="en-US" sz="1200"/>
              <a:t>• Explanation 2.</a:t>
            </a:r>
          </a:p>
          <a:p>
            <a:r>
              <a:rPr lang="en-US" sz="1200"/>
              <a:t>– Reichenthal and colleagues used full-field flashes, so every filter describes responses to a whole-field light history rather than to a spatial pattern</a:t>
            </a:r>
          </a:p>
          <a:p>
            <a:r>
              <a:rPr lang="en-US" sz="1200"/>
              <a:t>– The temporal analysis therefore complements the earlier receptive-field maps. Spatial and temporal structure were measured with separate stimulus sets, so each dimension could be analyzed separately. Each dimension therefore has its own measurement basis.</a:t>
            </a:r>
          </a:p>
          <a:p>
            <a:r>
              <a:rPr lang="en-US" sz="1200"/>
              <a:t>• Explanation 3.</a:t>
            </a:r>
          </a:p>
          <a:p>
            <a:r>
              <a:rPr lang="en-US" sz="1200"/>
              <a:t>– The filters are estimated from the stimuli presented and the amount of recorded activity, so their precision follows the data collected</a:t>
            </a:r>
          </a:p>
          <a:p>
            <a:r>
              <a:rPr lang="en-US" sz="1200"/>
              <a:t>– Larger recordings would give the same analysis more samples to estimate each filter. Filter estimates therefore improve as the recorded activity grows. Estimates from short recordings carry more variability than those from long ones.</a:t>
            </a:r>
          </a:p>
          <a:p>
            <a:r>
              <a:rPr lang="en-US" sz="1200"/>
              <a:t>• Source.</a:t>
            </a:r>
          </a:p>
          <a:p>
            <a:r>
              <a:rPr lang="en-US" sz="1200"/>
              <a:t>– The figure and the measurements come from Reichenthal et al. (2018).</a:t>
            </a:r>
          </a:p>
          <a:p>
            <a:r>
              <a:rPr lang="en-US" sz="1200"/>
              <a:t>– Each statement is tied to the recordings or observations of that study.</a:t>
            </a:r>
          </a:p>
          <a:p>
            <a:r>
              <a:rPr lang="en-US" sz="1200"/>
              <a:t/>
            </a:r>
          </a:p>
          <a:p>
            <a:r>
              <a:rPr lang="en-US" sz="1200"/>
              <a:t>References:</a:t>
            </a:r>
          </a:p>
          <a:p>
            <a:r>
              <a:rPr lang="en-US" sz="1200"/>
              <a:t>Reichenthal A, Ben-Tov M, Segev R (2018). Coding Schemes in the Archerfish Optic Tectum. Frontiers in Neural Circuits 12: 18. https://doi.org/10.3389/fncir.2018.00018</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Relative timing references the population, not the motor act.</a:t>
            </a:r>
          </a:p>
          <a:p>
            <a:r>
              <a:rPr lang="en-US" sz="1200"/>
              <a:t>• Explanation 1.</a:t>
            </a:r>
          </a:p>
          <a:p>
            <a:r>
              <a:rPr lang="en-US" sz="1200"/>
              <a:t>– Relative latencies are referenced to the onset of the recorded population response, not to the animal's motor response</a:t>
            </a:r>
          </a:p>
          <a:p>
            <a:r>
              <a:rPr lang="en-US" sz="1200"/>
              <a:t>– The reference therefore belongs to the retinal recording itself, which is distinct from when the fish decides to move. This reference makes the timing measure depend on the recorded responses alone. That choice keeps the analysis focused on the responses themselves.</a:t>
            </a:r>
          </a:p>
          <a:p>
            <a:r>
              <a:rPr lang="en-US" sz="1200"/>
              <a:t>• Explanation 2.</a:t>
            </a:r>
          </a:p>
          <a:p>
            <a:r>
              <a:rPr lang="en-US" sz="1200"/>
              <a:t>– The four decoding analyses were the authors' own original analysis of the same recorded responses</a:t>
            </a:r>
          </a:p>
          <a:p>
            <a:r>
              <a:rPr lang="en-US" sz="1200"/>
              <a:t>– Each ranking of decoders is therefore a comparison made on one dataset rather than on separate experiments. A shared dataset makes the difference between decoders a difference in method rather than in the animals sampled. The shared dataset keeps every ranking on equal footing.</a:t>
            </a:r>
          </a:p>
          <a:p>
            <a:r>
              <a:rPr lang="en-US" sz="1200"/>
              <a:t>• Explanation 3.</a:t>
            </a:r>
          </a:p>
          <a:p>
            <a:r>
              <a:rPr lang="en-US" sz="1200"/>
              <a:t>– A spike-count estimate integrates activity over a longer period, so a short first-spike window can carry information that a count over a longer window would average out</a:t>
            </a:r>
          </a:p>
          <a:p>
            <a:r>
              <a:rPr lang="en-US" sz="1200"/>
              <a:t>– The first-spike analysis uses that early timing directly. Its advantage lies in using the earliest spikes that the cell produces after onset. That choice favors the earliest information in each response.</a:t>
            </a:r>
          </a:p>
          <a:p>
            <a:r>
              <a:rPr lang="en-US" sz="1200"/>
              <a:t>• Source.</a:t>
            </a:r>
          </a:p>
          <a:p>
            <a:r>
              <a:rPr lang="en-US" sz="1200"/>
              <a:t>– The figure and the measurements come from Kretschmer et al. (2012).</a:t>
            </a:r>
          </a:p>
          <a:p>
            <a:r>
              <a:rPr lang="en-US" sz="1200"/>
              <a:t>– Each statement is tied to the recordings or observations of that study.</a:t>
            </a:r>
          </a:p>
          <a:p>
            <a:r>
              <a:rPr lang="en-US" sz="1200"/>
              <a:t/>
            </a:r>
          </a:p>
          <a:p>
            <a:r>
              <a:rPr lang="en-US" sz="1200"/>
              <a:t>References:</a:t>
            </a:r>
          </a:p>
          <a:p>
            <a:r>
              <a:rPr lang="en-US" sz="1200"/>
              <a:t>Kretschmer V, Kretschmer F, Ahlers MT, Ammermüller J (2012). High speed coding for velocity by archerfish retinal ganglion cells. BMC Neuroscience 13: 69. https://doi.org/10.1186/1471-2202-13-69</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Receptor curves keep their original scales.</a:t>
            </a:r>
          </a:p>
          <a:p>
            <a:r>
              <a:rPr lang="en-US" sz="1200"/>
              <a:t>• Explanation 1.</a:t>
            </a:r>
          </a:p>
          <a:p>
            <a:r>
              <a:rPr lang="en-US" sz="1200"/>
              <a:t>– The regional spectra are drawn from curves that keep their original axes and relative sensitivity scales</a:t>
            </a:r>
          </a:p>
          <a:p>
            <a:r>
              <a:rPr lang="en-US" sz="1200"/>
              <a:t>– Each curve shows how absorption changes with wavelength in one selected photoreceptor, so the shapes can be compared across retinal locations. The published figure keeps every curve in its original form. Each spectrum therefore has its own scale and baseline.</a:t>
            </a:r>
          </a:p>
          <a:p>
            <a:r>
              <a:rPr lang="en-US" sz="1200"/>
              <a:t>• Explanation 2.</a:t>
            </a:r>
          </a:p>
          <a:p>
            <a:r>
              <a:rPr lang="en-US" sz="1200"/>
              <a:t>– The retina's two regions view different parts of the environment, and the spectral curves show how each region samples light from them</a:t>
            </a:r>
          </a:p>
          <a:p>
            <a:r>
              <a:rPr lang="en-US" sz="1200"/>
              <a:t>– The aquatic and aerial views therefore carry different light conditions into the eye, and each region's spectrum reflects the light it receives. The curves therefore reflect the light each region receives. Each region's sensitivity is measured directly.</a:t>
            </a:r>
          </a:p>
          <a:p>
            <a:r>
              <a:rPr lang="en-US" sz="1200"/>
              <a:t>• Explanation 3.</a:t>
            </a:r>
          </a:p>
          <a:p>
            <a:r>
              <a:rPr lang="en-US" sz="1200"/>
              <a:t>– Spectral coverage is a property of the receptors themselves, so it sets which wavelengths are available for detecting a target against the sky</a:t>
            </a:r>
          </a:p>
          <a:p>
            <a:r>
              <a:rPr lang="en-US" sz="1200"/>
              <a:t>– Spectral and spatial measures are therefore reported separately for each retinal region, so each region's capabilities can be read on its own terms. A region with broad coverage can respond to more contrasts than a narrow one.</a:t>
            </a:r>
          </a:p>
          <a:p>
            <a:r>
              <a:rPr lang="en-US" sz="1200"/>
              <a:t>• Source.</a:t>
            </a:r>
          </a:p>
          <a:p>
            <a:r>
              <a:rPr lang="en-US" sz="1200"/>
              <a:t>– The figure and the measurements come from Temple et al. (2010).</a:t>
            </a:r>
          </a:p>
          <a:p>
            <a:r>
              <a:rPr lang="en-US" sz="1200"/>
              <a:t>– Each statement is tied to the recordings or observations of that study.</a:t>
            </a:r>
          </a:p>
          <a:p>
            <a:r>
              <a:rPr lang="en-US" sz="1200"/>
              <a:t/>
            </a:r>
          </a:p>
          <a:p>
            <a:r>
              <a:rPr lang="en-US" sz="1200"/>
              <a:t>References:</a:t>
            </a:r>
          </a:p>
          <a:p>
            <a:r>
              <a:rPr lang="en-US" sz="1200"/>
              <a:t>Temple S, Hart NS, Marshall NJ, Collin SP (2010). A spitting image: specializations in archerfish eyes for vision at the interface between air and water. Proceedings of the Royal Society B: Biological Sciences 277: 2607-2615. https://doi.org/10.1098/rspb.2010.0345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Measured fluid properties match control water.</a:t>
            </a:r>
          </a:p>
          <a:p>
            <a:r>
              <a:rPr lang="en-US" sz="1200"/>
              <a:t>• Explanation 1.</a:t>
            </a:r>
          </a:p>
          <a:p>
            <a:r>
              <a:rPr lang="en-US" sz="1200"/>
              <a:t>– Shot viscosity was 0.867 mPa·s, against 0.869 mPa·s for control water</a:t>
            </a:r>
          </a:p>
          <a:p>
            <a:r>
              <a:rPr lang="en-US" sz="1200"/>
              <a:t>– Surface tension was 70.37 mN/m for the shot water and 70.49 mN/m for the control, so the two fluids were nearly identical in both measures. The shot water was collected directly from the fish's own shots, so the values describe the fluid the fish actually emitted.</a:t>
            </a:r>
          </a:p>
          <a:p>
            <a:r>
              <a:rPr lang="en-US" sz="1200"/>
              <a:t>• Explanation 2.</a:t>
            </a:r>
          </a:p>
          <a:p>
            <a:r>
              <a:rPr lang="en-US" sz="1200"/>
              <a:t>– The fluid properties were measured for shots aimed at several target heights</a:t>
            </a:r>
          </a:p>
          <a:p>
            <a:r>
              <a:rPr lang="en-US" sz="1200"/>
              <a:t>– Neither viscosity nor surface tension changed systematically with the intended range, which fits a fixed fluid composition across the shots. Chemical tuning of the jet would have required one of these properties to vary with range. The fish's emission was sampled at each height.</a:t>
            </a:r>
          </a:p>
          <a:p>
            <a:r>
              <a:rPr lang="en-US" sz="1200"/>
              <a:t>• Explanation 3.</a:t>
            </a:r>
          </a:p>
          <a:p>
            <a:r>
              <a:rPr lang="en-US" sz="1200"/>
              <a:t>– Mouth-tip drift and body rotation were measured during the same emission period, and neither changed systematically with target height</a:t>
            </a:r>
          </a:p>
          <a:p>
            <a:r>
              <a:rPr lang="en-US" sz="1200"/>
              <a:t>– Those movements were small enough that the water release itself carried the range difference. The jet's range was therefore set inside the mouth rather than by the fish's body position. Mouth measures are therefore central to the range question.</a:t>
            </a:r>
          </a:p>
          <a:p>
            <a:r>
              <a:rPr lang="en-US" sz="1200"/>
              <a:t>• Source.</a:t>
            </a:r>
          </a:p>
          <a:p>
            <a:r>
              <a:rPr lang="en-US" sz="1200"/>
              <a:t>– The figure and the measurements come from Gerullis &amp; Schuster (2014).</a:t>
            </a:r>
          </a:p>
          <a:p>
            <a:r>
              <a:rPr lang="en-US" sz="1200"/>
              <a:t>– Each statement is tied to the recordings or observations of that study.</a:t>
            </a:r>
          </a:p>
          <a:p>
            <a:r>
              <a:rPr lang="en-US" sz="1200"/>
              <a:t/>
            </a:r>
          </a:p>
          <a:p>
            <a:r>
              <a:rPr lang="en-US" sz="1200"/>
              <a:t>References:</a:t>
            </a:r>
          </a:p>
          <a:p>
            <a:r>
              <a:rPr lang="en-US" sz="1200"/>
              <a:t>Gerullis P, Schuster S (2014). Archerfish Actively Control the Hydrodynamics of Their Jets. Current Biology 24: 2156-2160. https://doi.org/10.1016/j.cub.2014.07.059</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Rare misses expose the jet beyond its target.</a:t>
            </a:r>
          </a:p>
          <a:p>
            <a:r>
              <a:rPr lang="en-US" sz="1200"/>
              <a:t>• Explanation 1.</a:t>
            </a:r>
          </a:p>
          <a:p>
            <a:r>
              <a:rPr lang="en-US" sz="1200"/>
              <a:t>– Missed short-range targets supplied the uninterrupted jets needed for this comparison</a:t>
            </a:r>
          </a:p>
          <a:p>
            <a:r>
              <a:rPr lang="en-US" sz="1200"/>
              <a:t>– The shaft comparison therefore used jets that reached the common 30-cm path without being interrupted by a target. Each jet was examined at the same travel distance, which made the shaft shape directly comparable across intended ranges. This design kept travel distance constant across the jets.</a:t>
            </a:r>
          </a:p>
          <a:p>
            <a:r>
              <a:rPr lang="en-US" sz="1200"/>
              <a:t>• Explanation 2.</a:t>
            </a:r>
          </a:p>
          <a:p>
            <a:r>
              <a:rPr lang="en-US" sz="1200"/>
              <a:t>– Because every shaft was examined after the same travel distance, differences in shaft shape reflect the intended range rather than a difference in path length</a:t>
            </a:r>
          </a:p>
          <a:p>
            <a:r>
              <a:rPr lang="en-US" sz="1200"/>
              <a:t>– The design therefore reads the same measurement across all three target heights. Shaft modulation is a property of the emitted water itself, observed after release. Shaft shape therefore carries the range information.</a:t>
            </a:r>
          </a:p>
          <a:p>
            <a:r>
              <a:rPr lang="en-US" sz="1200"/>
              <a:t>• Explanation 3.</a:t>
            </a:r>
          </a:p>
          <a:p>
            <a:r>
              <a:rPr lang="en-US" sz="1200"/>
              <a:t>– Each shot contributes one shaft image tied to one intended range, which gives a direct record of the jet's coherence at that range</a:t>
            </a:r>
          </a:p>
          <a:p>
            <a:r>
              <a:rPr lang="en-US" sz="1200"/>
              <a:t>– Those records were gathered for the same set of shooting heights used in the focusing images. The shaft records therefore complement the focusing images collected for the same heights, giving two views of one shot.</a:t>
            </a:r>
          </a:p>
          <a:p>
            <a:r>
              <a:rPr lang="en-US" sz="1200"/>
              <a:t>• Source.</a:t>
            </a:r>
          </a:p>
          <a:p>
            <a:r>
              <a:rPr lang="en-US" sz="1200"/>
              <a:t>– The figure and the measurements come from Gerullis &amp; Schuster (2014).</a:t>
            </a:r>
          </a:p>
          <a:p>
            <a:r>
              <a:rPr lang="en-US" sz="1200"/>
              <a:t>– Each statement is tied to the recordings or observations of that study.</a:t>
            </a:r>
          </a:p>
          <a:p>
            <a:r>
              <a:rPr lang="en-US" sz="1200"/>
              <a:t/>
            </a:r>
          </a:p>
          <a:p>
            <a:r>
              <a:rPr lang="en-US" sz="1200"/>
              <a:t>References:</a:t>
            </a:r>
          </a:p>
          <a:p>
            <a:r>
              <a:rPr lang="en-US" sz="1200"/>
              <a:t>Gerullis P, Schuster S (2014). Archerfish Actively Control the Hydrodynamics of Their Jets. Current Biology 24: 2156-2160. https://doi.org/10.1016/j.cub.2014.07.059</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Bending predicts turns, not commands.</a:t>
            </a:r>
          </a:p>
          <a:p>
            <a:r>
              <a:rPr lang="en-US" sz="1200"/>
              <a:t>• Explanation 1.</a:t>
            </a:r>
          </a:p>
          <a:p>
            <a:r>
              <a:rPr lang="en-US" sz="1200"/>
              <a:t>– The original relation compares the required turn angle with the extent of body bending, so each start contributes a paired measurement of the two</a:t>
            </a:r>
          </a:p>
          <a:p>
            <a:r>
              <a:rPr lang="en-US" sz="1200"/>
              <a:t>– Those pairs spanned the whole range of turns in the recordings. Each pair links one observed start to the turn it needed to complete. The relation therefore tracks turn size against bending extent.</a:t>
            </a:r>
          </a:p>
          <a:p>
            <a:r>
              <a:rPr lang="en-US" sz="1200"/>
              <a:t>• Explanation 2.</a:t>
            </a:r>
          </a:p>
          <a:p>
            <a:r>
              <a:rPr lang="en-US" sz="1200"/>
              <a:t>– Correlations among body measurements show which features vary together, while the order in which the nervous system specifies those features is a separate question</a:t>
            </a:r>
          </a:p>
          <a:p>
            <a:r>
              <a:rPr lang="en-US" sz="1200"/>
              <a:t>– A correlation can rank features by how tightly they track each other without revealing which one is set first. Establishing that order requires experiments that manipulate the features directly. Such a ranking is descriptive.</a:t>
            </a:r>
          </a:p>
          <a:p>
            <a:r>
              <a:rPr lang="en-US" sz="1200"/>
              <a:t>• Explanation 3.</a:t>
            </a:r>
          </a:p>
          <a:p>
            <a:r>
              <a:rPr lang="en-US" sz="1200"/>
              <a:t>– A kinematic predictor is useful because it links a measurable body shape to the turn the fish is about to complete</a:t>
            </a:r>
          </a:p>
          <a:p>
            <a:r>
              <a:rPr lang="en-US" sz="1200"/>
              <a:t>– That link gives experimenters a quantity they can measure in every start before the turn is finished. Measuring the bending stage therefore offers an early readout of the turn's final angle. Its value is in timing.</a:t>
            </a:r>
          </a:p>
          <a:p>
            <a:r>
              <a:rPr lang="en-US" sz="1200"/>
              <a:t>• Source.</a:t>
            </a:r>
          </a:p>
          <a:p>
            <a:r>
              <a:rPr lang="en-US" sz="1200"/>
              <a:t>– The figure and the measurements come from Wöhl &amp; Schuster (2007).</a:t>
            </a:r>
          </a:p>
          <a:p>
            <a:r>
              <a:rPr lang="en-US" sz="1200"/>
              <a:t>– Each statement is tied to the recordings or observations of that study.</a:t>
            </a:r>
          </a:p>
          <a:p>
            <a:r>
              <a:rPr lang="en-US" sz="1200"/>
              <a:t/>
            </a:r>
          </a:p>
          <a:p>
            <a:r>
              <a:rPr lang="en-US" sz="1200"/>
              <a:t>References:</a:t>
            </a:r>
          </a:p>
          <a:p>
            <a:r>
              <a:rPr lang="en-US" sz="1200"/>
              <a:t>Wöhl S, Schuster S (2007). The predictive start of hunting archer fish: a flexible and precise motor pattern performed with the kinematics of an escape C-start. Journal of Experimental Biology 210: 311-324. https://doi.org/10.1242/jeb.02646</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Kinematics describe the movement, not its commands.</a:t>
            </a:r>
          </a:p>
          <a:p>
            <a:r>
              <a:rPr lang="en-US" sz="1200"/>
              <a:t>• Explanation 1.</a:t>
            </a:r>
          </a:p>
          <a:p>
            <a:r>
              <a:rPr lang="en-US" sz="1200"/>
              <a:t>– The silhouette sequence is the authors' published high-speed record, with stage colors and measured center-of-mass markers that follow the body through both stages</a:t>
            </a:r>
          </a:p>
          <a:p>
            <a:r>
              <a:rPr lang="en-US" sz="1200"/>
              <a:t>– Predictive starts were filmed from above, so the silhouettes show the turn in the horizontal plane. Each silhouette is an original frame from the recording rather than a drawing. Those markers track each stage in order.</a:t>
            </a:r>
          </a:p>
          <a:p>
            <a:r>
              <a:rPr lang="en-US" sz="1200"/>
              <a:t>• Explanation 2.</a:t>
            </a:r>
          </a:p>
          <a:p>
            <a:r>
              <a:rPr lang="en-US" sz="1200"/>
              <a:t>– A kinematic record specifies the form and timing of a start</a:t>
            </a:r>
          </a:p>
          <a:p>
            <a:r>
              <a:rPr lang="en-US" sz="1200"/>
              <a:t>– Identifying the descending neurons that initiate the maneuver calls for separate measurements, because the movement itself carries no label for its source. Experiments that record or stimulate the command pathway provide evidence that the body record alone lacks. Such experiments can separate the two possibilities directly.</a:t>
            </a:r>
          </a:p>
          <a:p>
            <a:r>
              <a:rPr lang="en-US" sz="1200"/>
              <a:t>• Explanation 3.</a:t>
            </a:r>
          </a:p>
          <a:p>
            <a:r>
              <a:rPr lang="en-US" sz="1200"/>
              <a:t>– The two-stage sequence repeats across starts, so the bending stage serves as a consistent marker of when the turn is being set</a:t>
            </a:r>
          </a:p>
          <a:p>
            <a:r>
              <a:rPr lang="en-US" sz="1200"/>
              <a:t>– Each start was resolved frame by frame at 2-ms intervals, which keeps the stage boundaries explicit in the analysis. Stage boundaries defined this way give every start a shared timing reference for analysis.</a:t>
            </a:r>
          </a:p>
          <a:p>
            <a:r>
              <a:rPr lang="en-US" sz="1200"/>
              <a:t>• Source.</a:t>
            </a:r>
          </a:p>
          <a:p>
            <a:r>
              <a:rPr lang="en-US" sz="1200"/>
              <a:t>– The figure and the measurements come from Wöhl &amp; Schuster (2007).</a:t>
            </a:r>
          </a:p>
          <a:p>
            <a:r>
              <a:rPr lang="en-US" sz="1200"/>
              <a:t>– Each statement is tied to the recordings or observations of that study.</a:t>
            </a:r>
          </a:p>
          <a:p>
            <a:r>
              <a:rPr lang="en-US" sz="1200"/>
              <a:t/>
            </a:r>
          </a:p>
          <a:p>
            <a:r>
              <a:rPr lang="en-US" sz="1200"/>
              <a:t>References:</a:t>
            </a:r>
          </a:p>
          <a:p>
            <a:r>
              <a:rPr lang="en-US" sz="1200"/>
              <a:t>Wöhl S, Schuster S (2007). The predictive start of hunting archer fish: a flexible and precise motor pattern performed with the kinematics of an escape C-start. Journal of Experimental Biology 210: 311-324. https://doi.org/10.1242/jeb.02646</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Within-trial errors isolate the early aim.</a:t>
            </a:r>
          </a:p>
          <a:p>
            <a:r>
              <a:rPr lang="en-US" sz="1200"/>
              <a:t>• Explanation 1.</a:t>
            </a:r>
          </a:p>
          <a:p>
            <a:r>
              <a:rPr lang="en-US" sz="1200"/>
              <a:t>– Both error measures came from the same responses within each trial</a:t>
            </a:r>
          </a:p>
          <a:p>
            <a:r>
              <a:rPr lang="en-US" sz="1200"/>
              <a:t>– Because one group of fish and one stimulus history supplied both measures, the contrast between the two errors is free of differences between animal groups or stimulus histories. The within-trial design keeps the aim measure tied to a single set of turns. Each trial supplied both values.</a:t>
            </a:r>
          </a:p>
          <a:p>
            <a:r>
              <a:rPr lang="en-US" sz="1200"/>
              <a:t>• Explanation 2.</a:t>
            </a:r>
          </a:p>
          <a:p>
            <a:r>
              <a:rPr lang="en-US" sz="1200"/>
              <a:t>– Prediction could operate through an explicit internal trajectory or through a learned relation between sensory variables and the destination</a:t>
            </a:r>
          </a:p>
          <a:p>
            <a:r>
              <a:rPr lang="en-US" sz="1200"/>
              <a:t>– Measured errors identify where the fish aimed, whereas the internal computation behind that aim is a separate question. The data therefore constrain the output of the computation without naming its form. Each interpretation predicts a different pattern across trials.</a:t>
            </a:r>
          </a:p>
          <a:p>
            <a:r>
              <a:rPr lang="en-US" sz="1200"/>
              <a:t>• Explanation 3.</a:t>
            </a:r>
          </a:p>
          <a:p>
            <a:r>
              <a:rPr lang="en-US" sz="1200"/>
              <a:t>– Eventual catches alone would be weaker evidence, because the initial heading exists before later corrections take effect</a:t>
            </a:r>
          </a:p>
          <a:p>
            <a:r>
              <a:rPr lang="en-US" sz="1200"/>
              <a:t>– Subsequent swimming corrections change the path after the fact, so the early heading is the record that reflects the fish's estimate before the outcome is known. A fish with a learned relation would show the same early aim across repeated trials of one stimulus.</a:t>
            </a:r>
          </a:p>
          <a:p>
            <a:r>
              <a:rPr lang="en-US" sz="1200"/>
              <a:t>• Source.</a:t>
            </a:r>
          </a:p>
          <a:p>
            <a:r>
              <a:rPr lang="en-US" sz="1200"/>
              <a:t>– The figure and the measurements come from Rossel et al. (2002).</a:t>
            </a:r>
          </a:p>
          <a:p>
            <a:r>
              <a:rPr lang="en-US" sz="1200"/>
              <a:t>– Each statement is tied to the recordings or observations of that study.</a:t>
            </a:r>
          </a:p>
          <a:p>
            <a:r>
              <a:rPr lang="en-US" sz="1200"/>
              <a:t/>
            </a:r>
          </a:p>
          <a:p>
            <a:r>
              <a:rPr lang="en-US" sz="1200"/>
              <a:t>References:</a:t>
            </a:r>
          </a:p>
          <a:p>
            <a:r>
              <a:rPr lang="en-US" sz="1200"/>
              <a:t>Rossel S, Corlija J, Schuster S (2002). Predicting three-dimensional target motion: how archer fish determine where to catch their dislodged prey. Journal of Experimental Biology 205: 3321-3326. https://doi.org/10.1242/jeb.205.21.3321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Perspective correction fixes the error reference.</a:t>
            </a:r>
          </a:p>
          <a:p>
            <a:r>
              <a:rPr lang="en-US" sz="1200"/>
              <a:t>• Explanation 1.</a:t>
            </a:r>
          </a:p>
          <a:p>
            <a:r>
              <a:rPr lang="en-US" sz="1200"/>
              <a:t>– Overhead video shows a falling prey at positions that shift with its height, because camera perspective changes as the object descends</a:t>
            </a:r>
          </a:p>
          <a:p>
            <a:r>
              <a:rPr lang="en-US" sz="1200"/>
              <a:t>– Rossel and colleagues corrected that perspective for the prey's changing height before any error was scored. The correction treated the water surface as the reference plane, so each landing estimate was read in one physical frame.</a:t>
            </a:r>
          </a:p>
          <a:p>
            <a:r>
              <a:rPr lang="en-US" sz="1200"/>
              <a:t>• Explanation 2.</a:t>
            </a:r>
          </a:p>
          <a:p>
            <a:r>
              <a:rPr lang="en-US" sz="1200"/>
              <a:t>– Without that correction, the image position of a falling prey would drift as the object fell, and errors would be scored against a moving reference</a:t>
            </a:r>
          </a:p>
          <a:p>
            <a:r>
              <a:rPr lang="en-US" sz="1200"/>
              <a:t>– Destinations for the 20 and 40 cm release heights were therefore placed on the same error scale, which makes the two heights directly comparable. Each landing estimate kept its meaning at either height.</a:t>
            </a:r>
          </a:p>
          <a:p>
            <a:r>
              <a:rPr lang="en-US" sz="1200"/>
              <a:t>• Explanation 3.</a:t>
            </a:r>
          </a:p>
          <a:p>
            <a:r>
              <a:rPr lang="en-US" sz="1200"/>
              <a:t>– Overhead video sampled prey and fish positions at 20-ms intervals</a:t>
            </a:r>
          </a:p>
          <a:p>
            <a:r>
              <a:rPr lang="en-US" sz="1200"/>
              <a:t>– Temporal resolution sets the precision assigned to each individual response latency, so every latency value is an estimate tied to that frame interval. Latencies are therefore reported as estimates at the resolution of that frame interval. The sampling rate therefore sets how precisely any turn onset can be dated.</a:t>
            </a:r>
          </a:p>
          <a:p>
            <a:r>
              <a:rPr lang="en-US" sz="1200"/>
              <a:t>• Source.</a:t>
            </a:r>
          </a:p>
          <a:p>
            <a:r>
              <a:rPr lang="en-US" sz="1200"/>
              <a:t>– The figure and the measurements come from Rossel et al. (2002).</a:t>
            </a:r>
          </a:p>
          <a:p>
            <a:r>
              <a:rPr lang="en-US" sz="1200"/>
              <a:t>– Each statement is tied to the recordings or observations of that study.</a:t>
            </a:r>
          </a:p>
          <a:p>
            <a:r>
              <a:rPr lang="en-US" sz="1200"/>
              <a:t/>
            </a:r>
          </a:p>
          <a:p>
            <a:r>
              <a:rPr lang="en-US" sz="1200"/>
              <a:t>References:</a:t>
            </a:r>
          </a:p>
          <a:p>
            <a:r>
              <a:rPr lang="en-US" sz="1200"/>
              <a:t>Rossel S, Corlija J, Schuster S (2002). Predicting three-dimensional target motion: how archer fish determine where to catch their dislodged prey. Journal of Experimental Biology 205: 3321-3326. https://doi.org/10.1242/jeb.205.21.3321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5.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6.png"/><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9.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9.png"/><Relationship Id="rId4"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7.png"/><Relationship Id="rId4"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6.png"/><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2.png"/><Relationship Id="rId4"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3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3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40.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3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B6D7A8"/>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274E13"/>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E4652"/>
              </a:buClr>
              <a:buSzPts val="1200"/>
              <a:buFont typeface="Arial"/>
              <a:buNone/>
            </a:pPr>
            <a:r>
              <a:rPr b="0" i="0" lang="en-US" sz="1200" u="none" cap="none" strike="noStrike">
                <a:solidFill>
                  <a:srgbClr val="274E13"/>
                </a:solidFill>
                <a:latin typeface="Arial"/>
                <a:ea typeface="Arial"/>
                <a:cs typeface="Arial"/>
                <a:sym typeface="Arial"/>
              </a:rPr>
              <a:t>NEUR 411 · NEUROETHOLOGY · FALL 2026</a:t>
            </a:r>
            <a:endParaRPr b="0" i="0" sz="1800" u="none" cap="none" strike="noStrike">
              <a:solidFill>
                <a:srgbClr val="274E13"/>
              </a:solidFill>
              <a:latin typeface="Calibri"/>
              <a:ea typeface="Calibri"/>
              <a:cs typeface="Calibri"/>
              <a:sym typeface="Calibri"/>
            </a:endParaRPr>
          </a:p>
        </p:txBody>
      </p:sp>
      <p:sp>
        <p:nvSpPr>
          <p:cNvPr id="21" name="Google Shape;21;p1"/>
          <p:cNvSpPr/>
          <p:nvPr/>
        </p:nvSpPr>
        <p:spPr>
          <a:xfrm>
            <a:off x="685800" y="1782961"/>
            <a:ext cx="4743450" cy="436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6E4652"/>
              </a:buClr>
              <a:buSzPts val="1800"/>
              <a:buFont typeface="Arial"/>
              <a:buNone/>
            </a:pPr>
            <a:r>
              <a:rPr b="0" i="0" lang="en-US" sz="1500" u="none" cap="none" strike="noStrike">
                <a:solidFill>
                  <a:srgbClr val="274E13"/>
                </a:solidFill>
                <a:latin typeface="Arial"/>
                <a:ea typeface="Arial"/>
                <a:cs typeface="Arial"/>
                <a:sym typeface="Arial"/>
              </a:rPr>
              <a:t>Lecture 27</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1200"/>
              </a:spcAft>
              <a:buClr>
                <a:srgbClr val="253E50"/>
              </a:buClr>
              <a:buSzPts val="2500"/>
              <a:buFont typeface="Arial"/>
              <a:buNone/>
            </a:pPr>
            <a:r>
              <a:rPr b="1" i="0" lang="en-US" sz="1500" u="none" cap="none" strike="noStrike">
                <a:solidFill>
                  <a:srgbClr val="274E13"/>
                </a:solidFill>
                <a:latin typeface="Arial"/>
                <a:ea typeface="Arial"/>
                <a:cs typeface="Arial"/>
                <a:sym typeface="Arial"/>
              </a:rPr>
              <a:t>Archerfish: predictive aiming and ballistic prey capture</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1200"/>
              </a:spcAft>
              <a:buClr>
                <a:srgbClr val="6E4652"/>
              </a:buClr>
              <a:buSzPts val="1600"/>
              <a:buFont typeface="Arial"/>
              <a:buNone/>
            </a:pPr>
            <a:r>
              <a:rPr b="0" i="0" lang="en-US" sz="1500" u="none" cap="none" strike="noStrike">
                <a:solidFill>
                  <a:srgbClr val="274E13"/>
                </a:solidFill>
                <a:latin typeface="Arial"/>
                <a:ea typeface="Arial"/>
                <a:cs typeface="Arial"/>
                <a:sym typeface="Arial"/>
              </a:rPr>
              <a:t>Wednesday, October 28, 2026</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1200"/>
              </a:spcAft>
              <a:buClr>
                <a:srgbClr val="6E4652"/>
              </a:buClr>
              <a:buSzPts val="1200"/>
              <a:buFont typeface="Arial"/>
              <a:buNone/>
            </a:pPr>
            <a:r>
              <a:rPr b="0" i="0" lang="en-US" sz="1500" u="none" cap="none" strike="noStrike">
                <a:solidFill>
                  <a:srgbClr val="274E13"/>
                </a:solidFill>
                <a:latin typeface="Arial"/>
                <a:ea typeface="Arial"/>
                <a:cs typeface="Arial"/>
                <a:sym typeface="Arial"/>
              </a:rPr>
              <a:t>Jordan Lopez, Ph.D.</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1200"/>
              </a:spcAft>
              <a:buClr>
                <a:srgbClr val="6E4652"/>
              </a:buClr>
              <a:buSzPts val="1200"/>
              <a:buFont typeface="Arial"/>
              <a:buNone/>
            </a:pPr>
            <a:r>
              <a:rPr b="0" i="0" lang="en-US" sz="1500" u="none" cap="none" strike="noStrike">
                <a:solidFill>
                  <a:srgbClr val="274E13"/>
                </a:solidFill>
                <a:latin typeface="Arial"/>
                <a:ea typeface="Arial"/>
                <a:cs typeface="Arial"/>
                <a:sym typeface="Arial"/>
              </a:rPr>
              <a:t>Professor of Neurobiology &amp; Biomedical Engineering</a:t>
            </a:r>
            <a:endParaRPr b="0" i="0" sz="1800" u="none" cap="none" strike="noStrike">
              <a:solidFill>
                <a:srgbClr val="274E13"/>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7523937" y="822871"/>
            <a:ext cx="3240126" cy="4937671"/>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667279"/>
                </a:solidFill>
                <a:latin typeface="Arial"/>
                <a:ea typeface="Arial"/>
                <a:cs typeface="Arial"/>
                <a:sym typeface="Arial"/>
              </a:rPr>
              <a:t>Reichenthal et al. (2018), Fig. 1(A). Archerfish directing a water jet toward an aerial insect.</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water shot and a predictive start secure aerial prey</a:t>
            </a:r>
            <a:endParaRPr b="0" i="0" sz="1800" u="none" cap="none" strike="noStrike">
              <a:solidFill>
                <a:srgbClr val="274E13"/>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Archerfish are aquatic predators that dislodge aerial prey with a </a:t>
            </a:r>
            <a:r>
              <a:rPr b="1" i="0" lang="en-US" sz="1400" u="none" cap="none" strike="noStrike">
                <a:solidFill>
                  <a:srgbClr val="274E13"/>
                </a:solidFill>
                <a:latin typeface="Arial"/>
                <a:ea typeface="Arial"/>
                <a:cs typeface="Arial"/>
                <a:sym typeface="Arial"/>
              </a:rPr>
              <a:t>directed water jet</a:t>
            </a:r>
            <a:r>
              <a:rPr b="0" i="0" lang="en-US" sz="1400" u="none" cap="none" strike="noStrike">
                <a:solidFill>
                  <a:srgbClr val="000000"/>
                </a:solidFill>
                <a:latin typeface="Arial"/>
                <a:ea typeface="Arial"/>
                <a:cs typeface="Arial"/>
                <a:sym typeface="Arial"/>
              </a:rPr>
              <a:t>. In Toxotes jaculatrix, a successful shot releases an insect into a falling trajectory, and the fish then has to reach the water-entry point before a rival does. The landing site sets the race, since the first fish to reach it secures the food.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Rossel and colleagues recorded fish and dislodged flies from above. Responding fish began a rapid turn within about 100 ms, aligned toward the future landing point, and accelerated along that heading while the prey remained airborne. Shooting and interception therefore impose different motor demands. Each fish therefore solved a moving interception problem in midair.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Gerullis and Schuster recorded shots at controlled target heights of 20, 40 and 60 cm. Those experiments measured jet control and prey interception directly, so each behavior can be analyzed on its own terms before the neurons behind it are identified. The jet and the interception data describe complementary halves of one foraging sequence.</a:t>
            </a:r>
            <a:endParaRPr b="0" i="0" sz="1800" u="none" cap="none" strike="noStrike">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7585949" y="1280071"/>
            <a:ext cx="2820083" cy="4297561"/>
          </a:xfrm>
          <a:prstGeom prst="rect">
            <a:avLst/>
          </a:prstGeom>
          <a:noFill/>
          <a:ln>
            <a:noFill/>
          </a:ln>
        </p:spPr>
      </p:pic>
      <p:sp>
        <p:nvSpPr>
          <p:cNvPr id="37" name="Google Shape;37;p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1(A). Archerfish directing a water jet toward an aerial insect.</a:t>
            </a:r>
            <a:endParaRPr b="0" i="0" sz="1800" u="none" cap="none" strike="noStrike">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 Gerullis &amp; Schuster (2014)</a:t>
            </a:r>
            <a:endParaRPr b="0" i="0" sz="1800" u="none" cap="none" strike="noStrike">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Controlled prey release separates two possible aims</a:t>
            </a:r>
            <a:endParaRPr b="0" i="0" sz="1800" u="none" cap="none" strike="noStrike">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252D35"/>
                </a:solidFill>
                <a:latin typeface="Arial"/>
                <a:ea typeface="Arial"/>
                <a:cs typeface="Arial"/>
                <a:sym typeface="Arial"/>
              </a:rPr>
              <a:t>ballistic trajectory</a:t>
            </a:r>
            <a:r>
              <a:rPr b="0" i="0" lang="en-US" sz="1400" u="none" cap="none" strike="noStrike">
                <a:solidFill>
                  <a:srgbClr val="000000"/>
                </a:solidFill>
                <a:latin typeface="Arial"/>
                <a:ea typeface="Arial"/>
                <a:cs typeface="Arial"/>
                <a:sym typeface="Arial"/>
              </a:rPr>
              <a:t> is motion dominated by initial velocity and gravity after release. Rossel and colleagues dropped wet flies of about 50 mg from a disk positioned 20 or 40 cm above the water, and overhead video tracked prey and fish positions throughout each trial. Each release therefore set a predictable path for the prey to follow.</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investigators measured each error against two possible destinations. One was the eventual water-entry point, and the other was the prey's horizontal position when the fish finished turning. Scoring errors against both targets identifies which destination the turn was aimed at. Aiming at the landing point means predicting, while aiming at the visible position means pursuing.</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Trials with obstructed turns were excluded from the analysis. Initial misalignment had to exceed 10 degrees so that the start and end of each turn could be identified, and those criteria kept responses whose timing could be measured. Those criteria kept the analysis focused on clean, measurable turns that the video could resolve.</a:t>
            </a:r>
            <a:endParaRPr b="0" i="0" sz="1800" u="none" cap="none" strike="noStrike">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180153" y="1280071"/>
            <a:ext cx="3631675" cy="4297561"/>
          </a:xfrm>
          <a:prstGeom prst="rect">
            <a:avLst/>
          </a:prstGeom>
          <a:noFill/>
          <a:ln>
            <a:noFill/>
          </a:ln>
        </p:spPr>
      </p:pic>
      <p:sp>
        <p:nvSpPr>
          <p:cNvPr id="50" name="Google Shape;50;p3"/>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1(A–B). Published preparation and definitions of landing-point and current-position errors.</a:t>
            </a:r>
            <a:endParaRPr b="0" i="0" sz="1800" u="none" cap="none" strike="noStrike">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Initial height and velocity constrain the landing point</a:t>
            </a:r>
            <a:endParaRPr b="0" i="0" sz="1800" u="none" cap="none" strike="noStrike">
              <a:solidFill>
                <a:schemeClr val="dk1"/>
              </a:solidFill>
              <a:latin typeface="Calibri"/>
              <a:ea typeface="Calibri"/>
              <a:cs typeface="Calibri"/>
              <a:sym typeface="Calibri"/>
            </a:endParaRPr>
          </a:p>
        </p:txBody>
      </p:sp>
      <p:sp>
        <p:nvSpPr>
          <p:cNvPr id="59" name="Google Shape;59;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Released flies landed farther away as their initial horizontal velocity increased. Rossel and colleagues compared the measured landing distances at release heights of 20 and 40 cm with published ballistic predictions, and the two sets agreed closely. Landing distance therefore changed systematically with the conditions at release, in each tested case. Both release heights were measured directly.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agreement held under the assumptions of negligible air resistance and negligible initial vertical velocity. Under those conditions, the landing point depends on horizontal speed and release height, which together set how long the fly stays airborne. The tested approximation describes how these physical quantities combine to set the landing point. The landing relation was measured, not presumed.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same horizontal speed produces a more distant landing point at greater height, because a higher object remains airborne for longer. A fish must therefore combine motion information with height information to find the destination. Ballistic motion makes this dependence predictable, since the trajectory follows directly from release velocity and height. Height adds airtime.</a:t>
            </a:r>
            <a:endParaRPr b="0" i="0" sz="1800" u="none" cap="none" strike="noStrike">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367097" y="1280071"/>
            <a:ext cx="5257638" cy="2661493"/>
          </a:xfrm>
          <a:prstGeom prst="rect">
            <a:avLst/>
          </a:prstGeom>
          <a:noFill/>
          <a:ln>
            <a:noFill/>
          </a:ln>
        </p:spPr>
      </p:pic>
      <p:sp>
        <p:nvSpPr>
          <p:cNvPr id="63" name="Google Shape;63;p4"/>
          <p:cNvSpPr/>
          <p:nvPr/>
        </p:nvSpPr>
        <p:spPr>
          <a:xfrm>
            <a:off x="6367016" y="403309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2. Landing distance versus horizontal take-off velocity at 20 and 40 cm.</a:t>
            </a:r>
            <a:endParaRPr b="0" i="0" sz="1800" u="none" cap="none" strike="noStrike">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Interception works across widely different initial headings</a:t>
            </a:r>
            <a:endParaRPr b="0" i="0" sz="1800" u="none" cap="none" strike="noStrike">
              <a:solidFill>
                <a:schemeClr val="dk1"/>
              </a:solidFill>
              <a:latin typeface="Calibri"/>
              <a:ea typeface="Calibri"/>
              <a:cs typeface="Calibri"/>
              <a:sym typeface="Calibri"/>
            </a:endParaRPr>
          </a:p>
        </p:txBody>
      </p:sp>
      <p:sp>
        <p:nvSpPr>
          <p:cNvPr id="72" name="Google Shape;72;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 bystander's starting orientation can differ widely from the direction in which a dislodged fly moves. Rossel and colleagues sampled this relation at both 20 and 40 cm prey heights, including starts that required large turns before acceleration toward the destination. Such orientations appeared across the sampled responses at both heights, including the extreme cases.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Responders therefore translated prey motion into a body-centered turning requirement from many positions and orientations in the tank. Turning generally finished before the prey entered the water, so the turn was complete while the prey was still airborne. Turning requirements were computed from the prey's motion rather than from the fish's own starting direction.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range of turn sizes makes a fixed turn angle an inadequate explanation of interception. The analysis included unobstructed first responders, so the measured turns describe the earliest fish to reach each falling prey. Each measured turn therefore reflects the heading chosen by one first responder for one falling prey, in one trial.</a:t>
            </a:r>
            <a:endParaRPr b="0" i="0" sz="1800" u="none" cap="none" strike="noStrike">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168238" y="1280071"/>
            <a:ext cx="3655504" cy="4297561"/>
          </a:xfrm>
          <a:prstGeom prst="rect">
            <a:avLst/>
          </a:prstGeom>
          <a:noFill/>
          <a:ln>
            <a:noFill/>
          </a:ln>
        </p:spPr>
      </p:pic>
      <p:sp>
        <p:nvSpPr>
          <p:cNvPr id="76" name="Google Shape;76;p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3(A–B). Initial orientations sampled during prey interception.</a:t>
            </a:r>
            <a:endParaRPr b="0" i="0" sz="1800" u="none" cap="none" strike="noStrike">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Turns target future impact rather than current prey position</a:t>
            </a:r>
            <a:endParaRPr b="0" i="0" sz="1800" u="none" cap="none" strike="noStrike">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Rossel and colleagues measured where each fish's final heading intersected the prey's projected horizontal path. At both tested heights, errors relative to the </a:t>
            </a:r>
            <a:r>
              <a:rPr b="1" i="0" lang="en-US" sz="1400" u="none" cap="none" strike="noStrike">
                <a:solidFill>
                  <a:srgbClr val="274E13"/>
                </a:solidFill>
                <a:latin typeface="Arial"/>
                <a:ea typeface="Arial"/>
                <a:cs typeface="Arial"/>
                <a:sym typeface="Arial"/>
              </a:rPr>
              <a:t>future water-entry point</a:t>
            </a:r>
            <a:r>
              <a:rPr b="0" i="0" lang="en-US" sz="1400" u="none" cap="none" strike="noStrike">
                <a:solidFill>
                  <a:srgbClr val="000000"/>
                </a:solidFill>
                <a:latin typeface="Arial"/>
                <a:ea typeface="Arial"/>
                <a:cs typeface="Arial"/>
                <a:sym typeface="Arial"/>
              </a:rPr>
              <a:t> centered near zero across the natural range of horizontal take-off speeds. Eventual water-entry points therefore served as the reference for measuring the fish's aim in each trial.</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Errors measured relative to the prey's position at turn completion showed a systematic offset. The fish had already aimed ahead of that position, so the same responses pointed toward where the prey would land rather than where it was when the turn ended. That offset appeared as an aim toward the future landing point.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Subsequent swimming corrections came after the heading was already set, so the initial aim is the evidence for prediction before impact. The result identifies the destination the turn targets before the prey reaches the water. A correct initial heading indicates that the fish estimated the landing point during the turn itself. The result is therefore a prediction, not a reflex.</a:t>
            </a:r>
            <a:endParaRPr b="0" i="0" sz="1800" u="none" cap="none" strike="noStrike">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7900446" y="1280071"/>
            <a:ext cx="2191088" cy="2468761"/>
          </a:xfrm>
          <a:prstGeom prst="rect">
            <a:avLst/>
          </a:prstGeom>
          <a:noFill/>
          <a:ln>
            <a:noFill/>
          </a:ln>
        </p:spPr>
      </p:pic>
      <p:sp>
        <p:nvSpPr>
          <p:cNvPr id="89" name="Google Shape;89;p6"/>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5(A–B). Errors relative to the future landing point.</a:t>
            </a:r>
            <a:endParaRPr b="0" i="0" sz="1800" u="none" cap="none" strike="noStrike">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4">
            <a:alphaModFix/>
          </a:blip>
          <a:srcRect b="0" l="0" r="0" t="0"/>
          <a:stretch/>
        </p:blipFill>
        <p:spPr>
          <a:xfrm>
            <a:off x="8347472" y="4297588"/>
            <a:ext cx="1296888" cy="1462926"/>
          </a:xfrm>
          <a:prstGeom prst="rect">
            <a:avLst/>
          </a:prstGeom>
          <a:noFill/>
          <a:ln>
            <a:noFill/>
          </a:ln>
        </p:spPr>
      </p:pic>
      <p:sp>
        <p:nvSpPr>
          <p:cNvPr id="91" name="Google Shape;91;p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6(A–B). Errors relative to the prey position at turn completion.</a:t>
            </a:r>
            <a:endParaRPr b="0" i="0" sz="1800" u="none" cap="none" strike="noStrike">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94" name="Google Shape;94;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Reversing prey motion exposes an initial motor commitment</a:t>
            </a:r>
            <a:endParaRPr b="0" i="0" sz="1800" u="none" cap="none" strike="noStrike">
              <a:solidFill>
                <a:schemeClr val="dk1"/>
              </a:solidFill>
              <a:latin typeface="Calibri"/>
              <a:ea typeface="Calibri"/>
              <a:cs typeface="Calibri"/>
              <a:sym typeface="Calibri"/>
            </a:endParaRPr>
          </a:p>
        </p:txBody>
      </p:sp>
      <p:sp>
        <p:nvSpPr>
          <p:cNvPr id="100" name="Google Shape;100;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Rossel and colleagues tested dependence on continuing visual feedback by tethering the prey with a thin filament. The fly moved freely for slightly more than 100 ms, then stopped and reversed direction when the filament became taut. The filament therefore fixed both the moment and the direction of the reversal, in this manipulation.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Fish still turned and initially accelerated toward the landing point predicted from the early motion. Corrections appeared much later, so the </a:t>
            </a:r>
            <a:r>
              <a:rPr b="1" i="0" lang="en-US" sz="1400" u="none" cap="none" strike="noStrike">
                <a:solidFill>
                  <a:srgbClr val="274E13"/>
                </a:solidFill>
                <a:latin typeface="Arial"/>
                <a:ea typeface="Arial"/>
                <a:cs typeface="Arial"/>
                <a:sym typeface="Arial"/>
              </a:rPr>
              <a:t>initial commitment</a:t>
            </a:r>
            <a:r>
              <a:rPr b="0" i="0" lang="en-US" sz="1400" u="none" cap="none" strike="noStrike">
                <a:solidFill>
                  <a:srgbClr val="000000"/>
                </a:solidFill>
                <a:latin typeface="Arial"/>
                <a:ea typeface="Arial"/>
                <a:cs typeface="Arial"/>
                <a:sym typeface="Arial"/>
              </a:rPr>
              <a:t> held even though the visible trajectory contradicted the information used to choose it. The early motion, which later contradicted the visible prey path, set the destination of the turn.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An initially programmed turn and acceleration can therefore operate during the first phase of the strike, rather than through continuous tracking. Corrections that arrive later in the sequence add control beyond that initial phase. The later corrections therefore form a second layer of control that operates after the initial phase. That distinction shapes how the strike is understood.</a:t>
            </a:r>
            <a:endParaRPr b="0" i="0" sz="1800" u="none" cap="none" strike="noStrike">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3">
            <a:alphaModFix/>
          </a:blip>
          <a:srcRect b="0" l="0" r="0" t="0"/>
          <a:stretch/>
        </p:blipFill>
        <p:spPr>
          <a:xfrm>
            <a:off x="7066719" y="1280071"/>
            <a:ext cx="3858394" cy="4297561"/>
          </a:xfrm>
          <a:prstGeom prst="rect">
            <a:avLst/>
          </a:prstGeom>
          <a:noFill/>
          <a:ln>
            <a:noFill/>
          </a:ln>
        </p:spPr>
      </p:pic>
      <p:sp>
        <p:nvSpPr>
          <p:cNvPr id="104" name="Google Shape;104;p7"/>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4(A–B). Turn onset and completion relative to prey landing.</a:t>
            </a:r>
            <a:endParaRPr b="0" i="0" sz="1800" u="none" cap="none" strike="noStrike">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107" name="Google Shape;107;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Horizontal motion evokes a virtual landing prediction</a:t>
            </a:r>
            <a:endParaRPr b="0" i="0" sz="1800" u="none" cap="none" strike="noStrike">
              <a:solidFill>
                <a:schemeClr val="dk1"/>
              </a:solidFill>
              <a:latin typeface="Calibri"/>
              <a:ea typeface="Calibri"/>
              <a:cs typeface="Calibri"/>
              <a:sym typeface="Calibri"/>
            </a:endParaRPr>
          </a:p>
        </p:txBody>
      </p:sp>
      <p:sp>
        <p:nvSpPr>
          <p:cNvPr id="113" name="Google Shape;113;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500" u="none" cap="none" strike="noStrike">
                <a:solidFill>
                  <a:srgbClr val="000000"/>
                </a:solidFill>
                <a:latin typeface="Arial"/>
                <a:ea typeface="Arial"/>
                <a:cs typeface="Arial"/>
                <a:sym typeface="Arial"/>
              </a:rPr>
              <a:t>Rossel and colleagues placed prey on a transparent horizontal glass screen at 20 or 40 cm height. Air from a blast pipe moved the object sideways at speeds within the natural take-off range, so the target traveled without descending toward the water. Preventing descent kept the object at a fixed height above the glass while it moved.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500" u="none" cap="none" strike="noStrike">
                <a:solidFill>
                  <a:srgbClr val="000000"/>
                </a:solidFill>
                <a:latin typeface="Arial"/>
                <a:ea typeface="Arial"/>
                <a:cs typeface="Arial"/>
                <a:sym typeface="Arial"/>
              </a:rPr>
              <a:t>Fish still turned toward the </a:t>
            </a:r>
            <a:r>
              <a:rPr b="1" i="0" lang="en-US" sz="1500" u="none" cap="none" strike="noStrike">
                <a:solidFill>
                  <a:srgbClr val="252D35"/>
                </a:solidFill>
                <a:latin typeface="Arial"/>
                <a:ea typeface="Arial"/>
                <a:cs typeface="Arial"/>
                <a:sym typeface="Arial"/>
              </a:rPr>
              <a:t>virtual landing point</a:t>
            </a:r>
            <a:r>
              <a:rPr b="0" i="0" lang="en-US" sz="1500" u="none" cap="none" strike="noStrike">
                <a:solidFill>
                  <a:srgbClr val="000000"/>
                </a:solidFill>
                <a:latin typeface="Arial"/>
                <a:ea typeface="Arial"/>
                <a:cs typeface="Arial"/>
                <a:sym typeface="Arial"/>
              </a:rPr>
              <a:t>, the destination that prey with that height and horizontal velocity would have reached if allowed to fall. Errors relative to this virtual point centered near zero at both heights. Virtual landing points were therefore derived from the prey's height and horizontal velocity, not from observed falls.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500" u="none" cap="none" strike="noStrike">
                <a:solidFill>
                  <a:srgbClr val="000000"/>
                </a:solidFill>
                <a:latin typeface="Arial"/>
                <a:ea typeface="Arial"/>
                <a:cs typeface="Arial"/>
                <a:sym typeface="Arial"/>
              </a:rPr>
              <a:t>Straight extrapolation of the horizontal path yields no finite water-entry point in this preparation. The result instead points to a relation built from initial height, speed and direction, which defines the input-output link behind the aim. The relation pairs each initial height and speed with one destination, which makes the mapping explicit.</a:t>
            </a:r>
            <a:endParaRPr b="0" i="0" sz="1800" u="none" cap="none" strike="noStrike">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7098083" y="1280071"/>
            <a:ext cx="3795815" cy="4297561"/>
          </a:xfrm>
          <a:prstGeom prst="rect">
            <a:avLst/>
          </a:prstGeom>
          <a:noFill/>
          <a:ln>
            <a:noFill/>
          </a:ln>
        </p:spPr>
      </p:pic>
      <p:sp>
        <p:nvSpPr>
          <p:cNvPr id="117" name="Google Shape;117;p8"/>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7(A–B). Turns toward virtual landing points for targets moving horizontally.</a:t>
            </a:r>
            <a:endParaRPr b="0" i="0" sz="1800" u="none" cap="none" strike="noStrike">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120" name="Google Shape;120;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Predictive starts bend and then straighten the body</a:t>
            </a:r>
            <a:endParaRPr b="0" i="0" sz="1800" u="none" cap="none" strike="noStrike">
              <a:solidFill>
                <a:schemeClr val="dk1"/>
              </a:solidFill>
              <a:latin typeface="Calibri"/>
              <a:ea typeface="Calibri"/>
              <a:cs typeface="Calibri"/>
              <a:sym typeface="Calibri"/>
            </a:endParaRPr>
          </a:p>
        </p:txBody>
      </p:sp>
      <p:sp>
        <p:nvSpPr>
          <p:cNvPr id="126" name="Google Shape;126;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252D35"/>
                </a:solidFill>
                <a:latin typeface="Arial"/>
                <a:ea typeface="Arial"/>
                <a:cs typeface="Arial"/>
                <a:sym typeface="Arial"/>
              </a:rPr>
              <a:t>C-start</a:t>
            </a:r>
            <a:r>
              <a:rPr b="0" i="0" lang="en-US" sz="1400" u="none" cap="none" strike="noStrike">
                <a:solidFill>
                  <a:srgbClr val="000000"/>
                </a:solidFill>
                <a:latin typeface="Arial"/>
                <a:ea typeface="Arial"/>
                <a:cs typeface="Arial"/>
                <a:sym typeface="Arial"/>
              </a:rPr>
              <a:t> is a rapid maneuver in which the body first bends into a C-like shape and then straightens with an opposite tail movement. Wöhl and Schuster filmed predictive starts from above at 500 frames per second, resolving body positions every 2 ms. Each frame captures the body at one fixed moment in the maneuver.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first stage is defined by bending toward the chosen destination, and the second by straightening. In one example, a fish rotated 43.6 degrees within 22 ms and then reached a take-off speed of 1.225 m/s, with the center of mass and body axis measured independently. Those definitions set the stage boundaries used throughout the analysis.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Displacement and rotation are therefore coordinated within a recognizable two-stage motor pattern. Large turns can keep rotating during straightening, so the bending stage sets up the turn while the straightening stage completes it. Taken together, the two stages describe a single motor program that sets direction and take-off speed within tens of milliseconds.</a:t>
            </a:r>
            <a:endParaRPr b="0" i="0" sz="1800" u="none" cap="none" strike="noStrike">
              <a:solidFill>
                <a:schemeClr val="dk1"/>
              </a:solidFill>
              <a:latin typeface="Calibri"/>
              <a:ea typeface="Calibri"/>
              <a:cs typeface="Calibri"/>
              <a:sym typeface="Calibri"/>
            </a:endParaRPr>
          </a:p>
        </p:txBody>
      </p:sp>
      <p:pic>
        <p:nvPicPr>
          <p:cNvPr id="129" name="Google Shape;129;p9"/>
          <p:cNvPicPr preferRelativeResize="0"/>
          <p:nvPr/>
        </p:nvPicPr>
        <p:blipFill rotWithShape="1">
          <a:blip r:embed="rId3">
            <a:alphaModFix/>
          </a:blip>
          <a:srcRect b="0" l="0" r="0" t="0"/>
          <a:stretch/>
        </p:blipFill>
        <p:spPr>
          <a:xfrm>
            <a:off x="6367099" y="1280071"/>
            <a:ext cx="5257634" cy="3081635"/>
          </a:xfrm>
          <a:prstGeom prst="rect">
            <a:avLst/>
          </a:prstGeom>
          <a:noFill/>
          <a:ln>
            <a:noFill/>
          </a:ln>
        </p:spPr>
      </p:pic>
      <p:sp>
        <p:nvSpPr>
          <p:cNvPr id="130" name="Google Shape;130;p9"/>
          <p:cNvSpPr/>
          <p:nvPr/>
        </p:nvSpPr>
        <p:spPr>
          <a:xfrm>
            <a:off x="6367016" y="445323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3. Original 2-ms silhouettes of bending, straightening and take-off.</a:t>
            </a:r>
            <a:endParaRPr b="0" i="0" sz="1800" u="none" cap="none" strike="noStrike">
              <a:solidFill>
                <a:schemeClr val="dk1"/>
              </a:solidFill>
              <a:latin typeface="Calibri"/>
              <a:ea typeface="Calibri"/>
              <a:cs typeface="Calibri"/>
              <a:sym typeface="Calibri"/>
            </a:endParaRPr>
          </a:p>
        </p:txBody>
      </p:sp>
      <p:sp>
        <p:nvSpPr>
          <p:cNvPr id="131" name="Google Shape;131;p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 name="Google Shape;132;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33" name="Google Shape;133;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 name="Shape 137"/>
        <p:cNvGrpSpPr/>
        <p:nvPr/>
      </p:nvGrpSpPr>
      <p:grpSpPr>
        <a:xfrm>
          <a:off x="0" y="0"/>
          <a:ext cx="0" cy="0"/>
          <a:chOff x="0" y="0"/>
          <a:chExt cx="0" cy="0"/>
        </a:xfrm>
      </p:grpSpPr>
      <p:sp>
        <p:nvSpPr>
          <p:cNvPr id="138" name="Google Shape;138;p10"/>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Fast starts combine rapid rotation with strong acceleration</a:t>
            </a:r>
            <a:endParaRPr b="0" i="0" sz="1800" u="none" cap="none" strike="noStrike">
              <a:solidFill>
                <a:schemeClr val="dk1"/>
              </a:solidFill>
              <a:latin typeface="Calibri"/>
              <a:ea typeface="Calibri"/>
              <a:cs typeface="Calibri"/>
              <a:sym typeface="Calibri"/>
            </a:endParaRPr>
          </a:p>
        </p:txBody>
      </p:sp>
      <p:sp>
        <p:nvSpPr>
          <p:cNvPr id="139" name="Google Shape;139;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Wöhl and Schuster reconstructed angular and linear motion from high-speed video. Predictive starts reached angular speeds above 4500 degrees per second and linear speeds as high as 2.1 m/s, with a measured peak linear acceleration of 120 m/s². Peak linear acceleration sets how quickly the fish reaches take-off speed after straightening begins.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Angular speed generally peaked during the initial bending, whereas the strongest linear speed occurred after straightening began. These different time courses distinguish reorientation from acceleration toward the predicted destination, so the same maneuver sets both the heading and the take-off speed. Rotation and translation therefore peak at different phases of one continuous movement.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reported values are maxima across demanding interception responses. The estimates were obtained by smoothing position records before differentiating them, and the peaks belong to different moments within a single start. Differentiation amplifies small position errors, so smoothing came first. Smoothed speeds could then be compared across all recorded starts. The ranges combine many starts.</a:t>
            </a:r>
            <a:endParaRPr b="0" i="0" sz="1800" u="none" cap="none" strike="noStrike">
              <a:solidFill>
                <a:schemeClr val="dk1"/>
              </a:solidFill>
              <a:latin typeface="Calibri"/>
              <a:ea typeface="Calibri"/>
              <a:cs typeface="Calibri"/>
              <a:sym typeface="Calibri"/>
            </a:endParaRPr>
          </a:p>
        </p:txBody>
      </p:sp>
      <p:pic>
        <p:nvPicPr>
          <p:cNvPr id="142" name="Google Shape;142;p10"/>
          <p:cNvPicPr preferRelativeResize="0"/>
          <p:nvPr/>
        </p:nvPicPr>
        <p:blipFill rotWithShape="1">
          <a:blip r:embed="rId3">
            <a:alphaModFix/>
          </a:blip>
          <a:srcRect b="0" l="0" r="0" t="0"/>
          <a:stretch/>
        </p:blipFill>
        <p:spPr>
          <a:xfrm>
            <a:off x="8284518" y="1280072"/>
            <a:ext cx="1422797" cy="2468758"/>
          </a:xfrm>
          <a:prstGeom prst="rect">
            <a:avLst/>
          </a:prstGeom>
          <a:noFill/>
          <a:ln>
            <a:noFill/>
          </a:ln>
        </p:spPr>
      </p:pic>
      <p:pic>
        <p:nvPicPr>
          <p:cNvPr id="144" name="Google Shape;144;p10"/>
          <p:cNvPicPr preferRelativeResize="0"/>
          <p:nvPr/>
        </p:nvPicPr>
        <p:blipFill rotWithShape="1">
          <a:blip r:embed="rId4">
            <a:alphaModFix/>
          </a:blip>
          <a:srcRect b="0" l="0" r="0" t="0"/>
          <a:stretch/>
        </p:blipFill>
        <p:spPr>
          <a:xfrm>
            <a:off x="8575625" y="4297644"/>
            <a:ext cx="840730" cy="1462814"/>
          </a:xfrm>
          <a:prstGeom prst="rect">
            <a:avLst/>
          </a:prstGeom>
          <a:noFill/>
          <a:ln>
            <a:noFill/>
          </a:ln>
        </p:spPr>
      </p:pic>
      <p:sp>
        <p:nvSpPr>
          <p:cNvPr id="145" name="Google Shape;145;p1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6(A–B). Linear speed and acceleration for different required take-off speeds.</a:t>
            </a:r>
            <a:endParaRPr b="0" i="0" sz="1800" u="none" cap="none" strike="noStrike">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Predictive and escape starts share a fast motor pattern</a:t>
            </a:r>
            <a:endParaRPr b="0" i="0" sz="1800" u="none" cap="none" strike="noStrike">
              <a:solidFill>
                <a:schemeClr val="dk1"/>
              </a:solidFill>
              <a:latin typeface="Calibri"/>
              <a:ea typeface="Calibri"/>
              <a:cs typeface="Calibri"/>
              <a:sym typeface="Calibri"/>
            </a:endParaRPr>
          </a:p>
        </p:txBody>
      </p:sp>
      <p:sp>
        <p:nvSpPr>
          <p:cNvPr id="154" name="Google Shape;154;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Wöhl and Schuster elicited escape C-starts in the same fish and measured them alongside prey-directed predictive starts. Both behaviors contained rapid bending followed by straightening, and their ranges of stage durations and performance overlapped substantially. The escape starts gave a reference point for judging how predictive starts were executed. Both categories came from the same individuals.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Predictive starts showed no systematic slowing, even though they required a heading suited to a future catch point. Escape starts also varied in turn angle and speed, so neither behavioral category reduces to one stereotyped body movement. Speed and heading were thus handled by the same fast movement rather than by a slower, separate approach.</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shared kinematics support possible recruitment of overlapping fast-start circuitry. Establishing that link calls for recordings made during the behavior or a selective intervention, because silhouettes alone show resemblance. Overlapping kinematics are consistent with shared fast-start circuitry, though the neurons that fire in each context remain a separate question. Shared kinematics narrow the candidate circuits considerably.</a:t>
            </a:r>
            <a:endParaRPr b="0" i="0" sz="1800" u="none" cap="none" strike="noStrike">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6367131" y="1280071"/>
            <a:ext cx="5257569" cy="824657"/>
          </a:xfrm>
          <a:prstGeom prst="rect">
            <a:avLst/>
          </a:prstGeom>
          <a:noFill/>
          <a:ln>
            <a:noFill/>
          </a:ln>
        </p:spPr>
      </p:pic>
      <p:sp>
        <p:nvSpPr>
          <p:cNvPr id="158" name="Google Shape;158;p11"/>
          <p:cNvSpPr/>
          <p:nvPr/>
        </p:nvSpPr>
        <p:spPr>
          <a:xfrm>
            <a:off x="6367016" y="2196257"/>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12(A–B). Original comparison of predictive and escape C-start sequences.</a:t>
            </a:r>
            <a:endParaRPr b="0" i="0" sz="1800" u="none" cap="none" strike="noStrike">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amount of body bending helps set the turn angle</a:t>
            </a:r>
            <a:endParaRPr b="0" i="0" sz="1800" u="none" cap="none" strike="noStrike">
              <a:solidFill>
                <a:schemeClr val="dk1"/>
              </a:solidFill>
              <a:latin typeface="Calibri"/>
              <a:ea typeface="Calibri"/>
              <a:cs typeface="Calibri"/>
              <a:sym typeface="Calibri"/>
            </a:endParaRPr>
          </a:p>
        </p:txBody>
      </p:sp>
      <p:sp>
        <p:nvSpPr>
          <p:cNvPr id="167" name="Google Shape;167;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Predictive starts in Wöhl and Schuster's recordings produced turns from 4 to 156 degrees, with take-off speeds from 0.4 to 2.1 m/s. Turn size was most closely associated with the </a:t>
            </a:r>
            <a:r>
              <a:rPr b="1" i="0" lang="en-US" sz="1400" u="none" cap="none" strike="noStrike">
                <a:solidFill>
                  <a:srgbClr val="274E13"/>
                </a:solidFill>
                <a:latin typeface="Arial"/>
                <a:ea typeface="Arial"/>
                <a:cs typeface="Arial"/>
                <a:sym typeface="Arial"/>
              </a:rPr>
              <a:t>maximum body bending</a:t>
            </a:r>
            <a:r>
              <a:rPr b="0" i="0" lang="en-US" sz="1400" u="none" cap="none" strike="noStrike">
                <a:solidFill>
                  <a:srgbClr val="000000"/>
                </a:solidFill>
                <a:latin typeface="Arial"/>
                <a:ea typeface="Arial"/>
                <a:cs typeface="Arial"/>
                <a:sym typeface="Arial"/>
              </a:rPr>
              <a:t> reached at the end of the first stage. Turn size therefore tracked how far the body bent, rather than how long the start lasted.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For larger turns, further rotation occurred during straightening. Changes in stage durations, angular speed and displacement added variability, so the motor pattern was adjusted flexibly rather than selected from a small set of identical movements. Stage durations, angular speed and displacement all contributed, so the final turn reflected several measures together. Those measures varied together with turn size.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Maximum bending works as a kinematic predictor of turn angle rather than a demonstrated neural command. Any adequate circuit explanation must allow rapid movement with continuously variable turning and speed. The motor pattern for a given prey therefore has to adjust continuously, with bending and speed scaling together. The adjustment operates across the full range of turn sizes.</a:t>
            </a:r>
            <a:endParaRPr b="0" i="0" sz="1800" u="none" cap="none" strike="noStrike">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826415" y="1280071"/>
            <a:ext cx="4339150" cy="4297561"/>
          </a:xfrm>
          <a:prstGeom prst="rect">
            <a:avLst/>
          </a:prstGeom>
          <a:noFill/>
          <a:ln>
            <a:noFill/>
          </a:ln>
        </p:spPr>
      </p:pic>
      <p:sp>
        <p:nvSpPr>
          <p:cNvPr id="171" name="Google Shape;171;p12"/>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9. Maximum bending predicts the required turn angle.</a:t>
            </a:r>
            <a:endParaRPr b="0" i="0" sz="1800" u="none" cap="none" strike="noStrike">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Target height changes jet control</a:t>
            </a:r>
            <a:endParaRPr b="0" i="0" sz="1800" u="none" cap="none" strike="noStrike">
              <a:solidFill>
                <a:schemeClr val="dk1"/>
              </a:solidFill>
              <a:latin typeface="Calibri"/>
              <a:ea typeface="Calibri"/>
              <a:cs typeface="Calibri"/>
              <a:sym typeface="Calibri"/>
            </a:endParaRPr>
          </a:p>
        </p:txBody>
      </p:sp>
      <p:sp>
        <p:nvSpPr>
          <p:cNvPr id="180" name="Google Shape;180;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Gerullis and Schuster trained Toxotes jaculatrix to shoot from a restricted channel at targets 20, 40 or 60 cm above the water. Small black spheres served as reproducible targets, and successful shots earned flies delivered in front of the shooter. Targets were the same black spheres at each height, so the target itself stayed constant across conditions.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Side-view recordings at 5000 frames per second followed the water from emergence to impact. The fish kept a nearly fixed mouth-tip position during water release, so the shape of the jet could be compared across target heights. The high frame rate resolved fine changes in the jet's shape during release. The fish tolerated the illumination needed for these recordings.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This preparation fixes the target's range independently of the fish's shooting position. It also reaches distances well beyond those used in earlier jet measurements, which allowed focusing to be studied across a wider span of shots. The controlled target and constrained firing geometry improve measurement of each shot. Shots could therefore be compared directly.</a:t>
            </a:r>
            <a:endParaRPr b="0" i="0" sz="1800" u="none" cap="none" strike="noStrike">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6367087" y="1280071"/>
            <a:ext cx="5257658" cy="2994868"/>
          </a:xfrm>
          <a:prstGeom prst="rect">
            <a:avLst/>
          </a:prstGeom>
          <a:noFill/>
          <a:ln>
            <a:noFill/>
          </a:ln>
        </p:spPr>
      </p:pic>
      <p:sp>
        <p:nvSpPr>
          <p:cNvPr id="184" name="Google Shape;184;p13"/>
          <p:cNvSpPr/>
          <p:nvPr/>
        </p:nvSpPr>
        <p:spPr>
          <a:xfrm>
            <a:off x="6367016" y="436646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1(D). Preimpact tips at 20, 40 and 60 cm; original 1-cm scale bar.</a:t>
            </a:r>
            <a:endParaRPr b="0" i="0" sz="1800" u="none" cap="none" strike="noStrike">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jet focuses just before impact at the chosen range</a:t>
            </a:r>
            <a:endParaRPr b="0" i="0" sz="1800" u="none" cap="none" strike="noStrike">
              <a:solidFill>
                <a:schemeClr val="dk1"/>
              </a:solidFill>
              <a:latin typeface="Calibri"/>
              <a:ea typeface="Calibri"/>
              <a:cs typeface="Calibri"/>
              <a:sym typeface="Calibri"/>
            </a:endParaRPr>
          </a:p>
        </p:txBody>
      </p:sp>
      <p:sp>
        <p:nvSpPr>
          <p:cNvPr id="193" name="Google Shape;193;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In shots aimed at a target 60 cm high, the water was still assembling at the jet tip after 30 cm of travel. Near impact, the tip became concentrated. In contrast, a shot aimed at 20 cm was already focused at that closer target height. Focusing thus appears late in the flight, close to the moment of impact.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Gerullis and Schuster compared high-speed images at equivalent travel positions and during the preimpact phase. Preimpact tips were similarly concentrated across the three target heights, while the intermediate shapes differed according to the intended range. Images at equivalent travel positions allow a direct comparison of jet shape across shots. Those frames were chosen at equal travel positions.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results argue against a </a:t>
            </a:r>
            <a:r>
              <a:rPr b="1" i="0" lang="en-US" sz="1400" u="none" cap="none" strike="noStrike">
                <a:solidFill>
                  <a:srgbClr val="274E13"/>
                </a:solidFill>
                <a:latin typeface="Arial"/>
                <a:ea typeface="Arial"/>
                <a:cs typeface="Arial"/>
                <a:sym typeface="Arial"/>
              </a:rPr>
              <a:t>fixed-distance focusing</a:t>
            </a:r>
            <a:r>
              <a:rPr b="0" i="0" lang="en-US" sz="1400" u="none" cap="none" strike="noStrike">
                <a:solidFill>
                  <a:srgbClr val="000000"/>
                </a:solidFill>
                <a:latin typeface="Arial"/>
                <a:ea typeface="Arial"/>
                <a:cs typeface="Arial"/>
                <a:sym typeface="Arial"/>
              </a:rPr>
              <a:t> account, in which water always assembles near the mouth and the finished tip simply travels onward. Instead, the fish actively adjusts the focusing distance to match the intended target. A fixed-distance account predicts identical tips at every target height, and the images contradict that prediction.</a:t>
            </a:r>
            <a:endParaRPr b="0" i="0" sz="1800" u="none" cap="none" strike="noStrike">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7525512" y="1280071"/>
            <a:ext cx="2940958" cy="4297561"/>
          </a:xfrm>
          <a:prstGeom prst="rect">
            <a:avLst/>
          </a:prstGeom>
          <a:noFill/>
          <a:ln>
            <a:noFill/>
          </a:ln>
        </p:spPr>
      </p:pic>
      <p:sp>
        <p:nvSpPr>
          <p:cNvPr id="197" name="Google Shape;197;p14"/>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1(A–B). A 60-cm shot midway through travel and just before impact.</a:t>
            </a:r>
            <a:endParaRPr b="0" i="0" sz="1800" u="none" cap="none" strike="noStrike">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Jet stability also depends on intended target distance</a:t>
            </a:r>
            <a:endParaRPr b="0" i="0" sz="1800" u="none" cap="none" strike="noStrike">
              <a:solidFill>
                <a:schemeClr val="dk1"/>
              </a:solidFill>
              <a:latin typeface="Calibri"/>
              <a:ea typeface="Calibri"/>
              <a:cs typeface="Calibri"/>
              <a:sym typeface="Calibri"/>
            </a:endParaRPr>
          </a:p>
        </p:txBody>
      </p:sp>
      <p:sp>
        <p:nvSpPr>
          <p:cNvPr id="206" name="Google Shape;206;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 water jet can develop diameter fluctuations and break into droplets. Gerullis and Schuster inspected the jet shaft after a common 30-cm path, comparing shots originally directed at different target heights. Longer-range jets showed fewer shaft modulations than shorter-range jets. Shaft modulation is therefore a measurable index of how stable the jet remained along its path.</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Rare missed shots at close targets let the researchers watch the jet beyond its intended impact point without a collision. The control matters because a jet that struck a target could break up from the collision rather than from its original hydrodynamic design. The fish's missed shots therefore produced a clean view of the jet's later stages.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differences support coordinated control of stability and focusing range. Tip speed, water concentration and the duration of water release are separate measured properties, so each has to be evaluated on its own. The stability measure is a shaft-level observation, so it complements the focusing images. Together they cover two aspects of a single shot.</a:t>
            </a:r>
            <a:endParaRPr b="0" i="0" sz="1800" u="none" cap="none" strike="noStrike">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6425128" y="1280071"/>
            <a:ext cx="5141725" cy="4297561"/>
          </a:xfrm>
          <a:prstGeom prst="rect">
            <a:avLst/>
          </a:prstGeom>
          <a:noFill/>
          <a:ln>
            <a:noFill/>
          </a:ln>
        </p:spPr>
      </p:pic>
      <p:sp>
        <p:nvSpPr>
          <p:cNvPr id="210" name="Google Shape;210;p1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1(E). Shaft stability after a common 30-cm path.</a:t>
            </a:r>
            <a:endParaRPr b="0" i="0" sz="1800" u="none" cap="none" strike="noStrike">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Later-emerging water accelerates the jet tip</a:t>
            </a:r>
            <a:endParaRPr b="0" i="0" sz="1800" u="none" cap="none" strike="noStrike">
              <a:solidFill>
                <a:schemeClr val="dk1"/>
              </a:solidFill>
              <a:latin typeface="Calibri"/>
              <a:ea typeface="Calibri"/>
              <a:cs typeface="Calibri"/>
              <a:sym typeface="Calibri"/>
            </a:endParaRPr>
          </a:p>
        </p:txBody>
      </p:sp>
      <p:sp>
        <p:nvSpPr>
          <p:cNvPr id="219" name="Google Shape;219;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500" u="none" cap="none" strike="noStrike">
                <a:solidFill>
                  <a:srgbClr val="000000"/>
                </a:solidFill>
                <a:latin typeface="Arial"/>
                <a:ea typeface="Arial"/>
                <a:cs typeface="Arial"/>
                <a:sym typeface="Arial"/>
              </a:rPr>
              <a:t>Gerullis and Schuster measured tip speed during the first 20 ms of jet formation. The tip accelerated even while the jet rose against gravity, because it stayed connected to later-emitted water moving faster than the early water. Early and later water therefore contribute differently to the tip's motion, which the speed measurements resolve.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500" u="none" cap="none" strike="noStrike">
                <a:solidFill>
                  <a:srgbClr val="000000"/>
                </a:solidFill>
                <a:latin typeface="Arial"/>
                <a:ea typeface="Arial"/>
                <a:cs typeface="Arial"/>
                <a:sym typeface="Arial"/>
              </a:rPr>
              <a:t>Published fits gave hypothetical limiting speeds of 5.8 to 6.8 m/s and total speed increments of 2.7 to 3.8 m/s. The speed increment grew with target height, linking the early-to-late velocity difference to the intended shooting range. Fits of this type summarize the whole acceleration in a few parameters rather than in each raw speed trace.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500" u="none" cap="none" strike="noStrike">
                <a:solidFill>
                  <a:srgbClr val="000000"/>
                </a:solidFill>
                <a:latin typeface="Arial"/>
                <a:ea typeface="Arial"/>
                <a:cs typeface="Arial"/>
                <a:sym typeface="Arial"/>
              </a:rPr>
              <a:t>The limiting speed is a fitted parameter describing continued flow rather than a speed that every shot reached. The data support </a:t>
            </a:r>
            <a:r>
              <a:rPr b="1" i="0" lang="en-US" sz="1500" u="none" cap="none" strike="noStrike">
                <a:solidFill>
                  <a:srgbClr val="274E13"/>
                </a:solidFill>
                <a:latin typeface="Arial"/>
                <a:ea typeface="Arial"/>
                <a:cs typeface="Arial"/>
                <a:sym typeface="Arial"/>
              </a:rPr>
              <a:t>adjustable velocity gradients</a:t>
            </a:r>
            <a:r>
              <a:rPr b="0" i="0" lang="en-US" sz="1500" u="none" cap="none" strike="noStrike">
                <a:solidFill>
                  <a:srgbClr val="000000"/>
                </a:solidFill>
                <a:latin typeface="Arial"/>
                <a:ea typeface="Arial"/>
                <a:cs typeface="Arial"/>
                <a:sym typeface="Arial"/>
              </a:rPr>
              <a:t> and reject an ordinary rigid-projectile description of the jet. Limiting speed and time constant describe how the acceleration unfolds. Time constants ranged from 6.6 to 20.0 ms across fits.</a:t>
            </a:r>
            <a:endParaRPr b="0" i="0" sz="1800" u="none" cap="none" strike="noStrike">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367156" y="1280071"/>
            <a:ext cx="5257520" cy="1797100"/>
          </a:xfrm>
          <a:prstGeom prst="rect">
            <a:avLst/>
          </a:prstGeom>
          <a:noFill/>
          <a:ln>
            <a:noFill/>
          </a:ln>
        </p:spPr>
      </p:pic>
      <p:sp>
        <p:nvSpPr>
          <p:cNvPr id="223" name="Google Shape;223;p16"/>
          <p:cNvSpPr/>
          <p:nvPr/>
        </p:nvSpPr>
        <p:spPr>
          <a:xfrm>
            <a:off x="6367016" y="3168700"/>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2(A–C). Tip acceleration during the first 20 ms at three target heights.</a:t>
            </a:r>
            <a:endParaRPr b="0" i="0" sz="1800" u="none" cap="none" strike="noStrike">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4">
            <a:alphaModFix/>
          </a:blip>
          <a:srcRect b="0" l="0" r="0" t="0"/>
          <a:stretch/>
        </p:blipFill>
        <p:spPr>
          <a:xfrm>
            <a:off x="8277398" y="4297561"/>
            <a:ext cx="1437185" cy="1462980"/>
          </a:xfrm>
          <a:prstGeom prst="rect">
            <a:avLst/>
          </a:prstGeom>
          <a:noFill/>
          <a:ln>
            <a:noFill/>
          </a:ln>
        </p:spPr>
      </p:pic>
      <p:sp>
        <p:nvSpPr>
          <p:cNvPr id="225" name="Google Shape;225;p1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2(D). Speed increment increases with target height.</a:t>
            </a:r>
            <a:endParaRPr b="0" i="0" sz="1800" u="none" cap="none" strike="noStrike">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28" name="Google Shape;228;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matching speed profile does not guarantee a stable jet</a:t>
            </a:r>
            <a:endParaRPr b="0" i="0" sz="1800" u="none" cap="none" strike="noStrike">
              <a:solidFill>
                <a:schemeClr val="dk1"/>
              </a:solidFill>
              <a:latin typeface="Calibri"/>
              <a:ea typeface="Calibri"/>
              <a:cs typeface="Calibri"/>
              <a:sym typeface="Calibri"/>
            </a:endParaRPr>
          </a:p>
        </p:txBody>
      </p:sp>
      <p:sp>
        <p:nvSpPr>
          <p:cNvPr id="234" name="Google Shape;234;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To test whether tip acceleration alone explains coherence, Gerullis and Schuster produced upward jets with a fixed disposable syringe. High-speed recordings captured jets that stayed coherent during release and jets that broke up before all the water had emerged. Both kinds of jet came from the same fixed apparatus, so device differences were controlled.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Both classes had similar fitted tip-speed time courses. The syringe could therefore reproduce the increase in speed without consistently reproducing the stability of an archerfish shot, which distinguishes a description of tip motion from a complete mechanism for the whole jet. Tip acceleration was therefore reproduced in both classes of jet. The syringe isolated the speed profile itself.</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 living fish must coordinate properties beyond the acceleration profile to keep impacts stable and focused over different ranges. The manually operated syringe also differs from the biological mouth in outlet geometry and pressure generation. Stable impacts at several ranges therefore depend on how the mouth shapes the outlet during emission. Outlet geometry is central to that requirement.</a:t>
            </a:r>
            <a:endParaRPr b="0" i="0" sz="1800" u="none" cap="none" strike="noStrike">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3">
            <a:alphaModFix/>
          </a:blip>
          <a:srcRect b="0" l="0" r="0" t="0"/>
          <a:stretch/>
        </p:blipFill>
        <p:spPr>
          <a:xfrm>
            <a:off x="6367166" y="1280071"/>
            <a:ext cx="5257500" cy="2672507"/>
          </a:xfrm>
          <a:prstGeom prst="rect">
            <a:avLst/>
          </a:prstGeom>
          <a:noFill/>
          <a:ln>
            <a:noFill/>
          </a:ln>
        </p:spPr>
      </p:pic>
      <p:sp>
        <p:nvSpPr>
          <p:cNvPr id="238" name="Google Shape;238;p17"/>
          <p:cNvSpPr/>
          <p:nvPr/>
        </p:nvSpPr>
        <p:spPr>
          <a:xfrm>
            <a:off x="6367016" y="4044107"/>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2(E–F). Stable and unstable syringe jets with similar tip-speed profiles.</a:t>
            </a:r>
            <a:endParaRPr b="0" i="0" sz="1800" u="none" cap="none" strike="noStrike">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Shot chemistry and body drift do not explain range tuning</a:t>
            </a:r>
            <a:endParaRPr b="0" i="0" sz="1800" u="none" cap="none" strike="noStrike">
              <a:solidFill>
                <a:schemeClr val="dk1"/>
              </a:solidFill>
              <a:latin typeface="Calibri"/>
              <a:ea typeface="Calibri"/>
              <a:cs typeface="Calibri"/>
              <a:sym typeface="Calibri"/>
            </a:endParaRPr>
          </a:p>
        </p:txBody>
      </p:sp>
      <p:sp>
        <p:nvSpPr>
          <p:cNvPr id="247" name="Google Shape;247;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Gerullis and Schuster collected water fired by the fish and measured it against control water. Shot viscosity and surface tension matched those of the control closely, and no detectable change in these properties supported chemical tuning of the fluid. Both samples were measured under the same conditions, which isolates the water itself as the variable.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researchers also tracked mouth-tip displacement and body orientation during emission. Average total displacement stayed small, total rotation stayed below half a degree, and neither showed a systematic dependence on target height. Large body movements during the shot therefore fail to account for </a:t>
            </a:r>
            <a:r>
              <a:rPr b="1" i="0" lang="en-US" sz="1400" u="none" cap="none" strike="noStrike">
                <a:solidFill>
                  <a:srgbClr val="274E13"/>
                </a:solidFill>
                <a:latin typeface="Arial"/>
                <a:ea typeface="Arial"/>
                <a:cs typeface="Arial"/>
                <a:sym typeface="Arial"/>
              </a:rPr>
              <a:t>range tuning</a:t>
            </a:r>
            <a:r>
              <a:rPr b="0" i="0" lang="en-US" sz="1400" u="none" cap="none" strike="noStrike">
                <a:solidFill>
                  <a:srgbClr val="000000"/>
                </a:solidFill>
                <a:latin typeface="Arial"/>
                <a:ea typeface="Arial"/>
                <a:cs typeface="Arial"/>
                <a:sym typeface="Arial"/>
              </a:rPr>
              <a:t>. Mouth-tip drift and rotation were measured together with the water release.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These controls narrow the candidate mechanisms and motivate measurement of the time-varying mouth opening as the next variable to examine. Direct measurements of that opening supply the most informative test of range adjustment. Measurements of body drift and water chemistry therefore rule out two candidate sources of range tuning. The mouth therefore emerges as the main candidate.</a:t>
            </a:r>
            <a:endParaRPr b="0" i="0" sz="1800" u="none" cap="none" strike="noStrike">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7493010" y="1280071"/>
            <a:ext cx="3006109" cy="2468761"/>
          </a:xfrm>
          <a:prstGeom prst="rect">
            <a:avLst/>
          </a:prstGeom>
          <a:noFill/>
          <a:ln>
            <a:noFill/>
          </a:ln>
        </p:spPr>
      </p:pic>
      <p:sp>
        <p:nvSpPr>
          <p:cNvPr id="251" name="Google Shape;251;p1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3(A). Water-shot viscosity and surface tension compared with controls.</a:t>
            </a:r>
            <a:endParaRPr b="0" i="0" sz="1800" u="none" cap="none" strike="noStrike">
              <a:solidFill>
                <a:schemeClr val="dk1"/>
              </a:solidFill>
              <a:latin typeface="Calibri"/>
              <a:ea typeface="Calibri"/>
              <a:cs typeface="Calibri"/>
              <a:sym typeface="Calibri"/>
            </a:endParaRPr>
          </a:p>
        </p:txBody>
      </p:sp>
      <p:pic>
        <p:nvPicPr>
          <p:cNvPr id="252" name="Google Shape;252;p18"/>
          <p:cNvPicPr preferRelativeResize="0"/>
          <p:nvPr/>
        </p:nvPicPr>
        <p:blipFill rotWithShape="1">
          <a:blip r:embed="rId4">
            <a:alphaModFix/>
          </a:blip>
          <a:srcRect b="0" l="0" r="0" t="0"/>
          <a:stretch/>
        </p:blipFill>
        <p:spPr>
          <a:xfrm>
            <a:off x="8028407" y="4297561"/>
            <a:ext cx="1935018" cy="1462980"/>
          </a:xfrm>
          <a:prstGeom prst="rect">
            <a:avLst/>
          </a:prstGeom>
          <a:noFill/>
          <a:ln>
            <a:noFill/>
          </a:ln>
        </p:spPr>
      </p:pic>
      <p:sp>
        <p:nvSpPr>
          <p:cNvPr id="253" name="Google Shape;253;p1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3(C). Mouth-tip drift and body rotation during water release.</a:t>
            </a:r>
            <a:endParaRPr b="0" i="0" sz="1800" u="none" cap="none" strike="noStrike">
              <a:solidFill>
                <a:schemeClr val="dk1"/>
              </a:solidFill>
              <a:latin typeface="Calibri"/>
              <a:ea typeface="Calibri"/>
              <a:cs typeface="Calibri"/>
              <a:sym typeface="Calibri"/>
            </a:endParaRPr>
          </a:p>
        </p:txBody>
      </p:sp>
      <p:sp>
        <p:nvSpPr>
          <p:cNvPr id="254" name="Google Shape;254;p1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5" name="Google Shape;255;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56" name="Google Shape;256;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 name="Shape 260"/>
        <p:cNvGrpSpPr/>
        <p:nvPr/>
      </p:nvGrpSpPr>
      <p:grpSpPr>
        <a:xfrm>
          <a:off x="0" y="0"/>
          <a:ext cx="0" cy="0"/>
          <a:chOff x="0" y="0"/>
          <a:chExt cx="0" cy="0"/>
        </a:xfrm>
      </p:grpSpPr>
      <p:sp>
        <p:nvSpPr>
          <p:cNvPr id="261" name="Google Shape;261;p19"/>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Mouth-opening dynamics tune the duration of water release</a:t>
            </a:r>
            <a:endParaRPr b="0" i="0" sz="1800" u="none" cap="none" strike="noStrike">
              <a:solidFill>
                <a:schemeClr val="dk1"/>
              </a:solidFill>
              <a:latin typeface="Calibri"/>
              <a:ea typeface="Calibri"/>
              <a:cs typeface="Calibri"/>
              <a:sym typeface="Calibri"/>
            </a:endParaRPr>
          </a:p>
        </p:txBody>
      </p:sp>
      <p:sp>
        <p:nvSpPr>
          <p:cNvPr id="262" name="Google Shape;262;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mouth opening changed continuously during a shot rather than forming a constant aperture that simply opened and shut. Gerullis and Schuster measured opening and closing at 20-, 40- and 60-cm target heights, aligning records to the onset of water emergence. Opening and closing were both recorded during the same shots, so their timing could be compared directly.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onset-to-closure interval grew with range, by approximately 3.4 ms per additional 10 cm in the authors' analysis. Maximum opening width and the final closure interval after release changed little, so specific phases of the movement adjusted independently rather than slowing uniformly. The interval grew with range, while the other phases stayed essentially the same.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This pattern supports active control of a </a:t>
            </a:r>
            <a:r>
              <a:rPr b="1" i="0" lang="en-US" sz="1400" u="none" cap="none" strike="noStrike">
                <a:solidFill>
                  <a:srgbClr val="274E13"/>
                </a:solidFill>
                <a:latin typeface="Arial"/>
                <a:ea typeface="Arial"/>
                <a:cs typeface="Arial"/>
                <a:sym typeface="Arial"/>
              </a:rPr>
              <a:t>time-dependent outlet</a:t>
            </a:r>
            <a:r>
              <a:rPr b="0" i="0" lang="en-US" sz="1400" u="none" cap="none" strike="noStrike">
                <a:solidFill>
                  <a:srgbClr val="000000"/>
                </a:solidFill>
                <a:latin typeface="Arial"/>
                <a:ea typeface="Arial"/>
                <a:cs typeface="Arial"/>
                <a:sym typeface="Arial"/>
              </a:rPr>
              <a:t> that coordinates jet formation with range. Correlated changes in aperture and focusing together point to active control of the outlet. Changes in the mouth outlet therefore link the mechanics of water release to the chosen range. The mouth is treated as a controllable outlet.</a:t>
            </a:r>
            <a:endParaRPr b="0" i="0" sz="1800" u="none" cap="none" strike="noStrike">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3">
            <a:alphaModFix/>
          </a:blip>
          <a:srcRect b="0" l="0" r="0" t="0"/>
          <a:stretch/>
        </p:blipFill>
        <p:spPr>
          <a:xfrm>
            <a:off x="8070548" y="1280071"/>
            <a:ext cx="1851034" cy="2468761"/>
          </a:xfrm>
          <a:prstGeom prst="rect">
            <a:avLst/>
          </a:prstGeom>
          <a:noFill/>
          <a:ln>
            <a:noFill/>
          </a:ln>
        </p:spPr>
      </p:pic>
      <p:pic>
        <p:nvPicPr>
          <p:cNvPr id="267" name="Google Shape;267;p19"/>
          <p:cNvPicPr preferRelativeResize="0"/>
          <p:nvPr/>
        </p:nvPicPr>
        <p:blipFill rotWithShape="1">
          <a:blip r:embed="rId4">
            <a:alphaModFix/>
          </a:blip>
          <a:srcRect b="0" l="0" r="0" t="0"/>
          <a:stretch/>
        </p:blipFill>
        <p:spPr>
          <a:xfrm>
            <a:off x="7509157" y="4297561"/>
            <a:ext cx="2973815" cy="1462980"/>
          </a:xfrm>
          <a:prstGeom prst="rect">
            <a:avLst/>
          </a:prstGeom>
          <a:noFill/>
          <a:ln>
            <a:noFill/>
          </a:ln>
        </p:spPr>
      </p:pic>
      <p:sp>
        <p:nvSpPr>
          <p:cNvPr id="268" name="Google Shape;268;p19"/>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4(A–B). Range-dependent onset-to-closure time and final closure after the jet.</a:t>
            </a:r>
            <a:endParaRPr b="0" i="0" sz="1800" u="none" cap="none" strike="noStrike">
              <a:solidFill>
                <a:schemeClr val="dk1"/>
              </a:solidFill>
              <a:latin typeface="Calibri"/>
              <a:ea typeface="Calibri"/>
              <a:cs typeface="Calibri"/>
              <a:sym typeface="Calibri"/>
            </a:endParaRPr>
          </a:p>
        </p:txBody>
      </p:sp>
      <p:sp>
        <p:nvSpPr>
          <p:cNvPr id="269" name="Google Shape;269;p1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0" name="Google Shape;270;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71" name="Google Shape;271;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 name="Shape 275"/>
        <p:cNvGrpSpPr/>
        <p:nvPr/>
      </p:nvGrpSpPr>
      <p:grpSpPr>
        <a:xfrm>
          <a:off x="0" y="0"/>
          <a:ext cx="0" cy="0"/>
          <a:chOff x="0" y="0"/>
          <a:chExt cx="0" cy="0"/>
        </a:xfrm>
      </p:grpSpPr>
      <p:sp>
        <p:nvSpPr>
          <p:cNvPr id="276" name="Google Shape;276;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retinal high-density region aligns with aerial aiming</a:t>
            </a:r>
            <a:endParaRPr b="0" i="0" sz="1800" u="none" cap="none" strike="noStrike">
              <a:solidFill>
                <a:schemeClr val="dk1"/>
              </a:solidFill>
              <a:latin typeface="Calibri"/>
              <a:ea typeface="Calibri"/>
              <a:cs typeface="Calibri"/>
              <a:sym typeface="Calibri"/>
            </a:endParaRPr>
          </a:p>
        </p:txBody>
      </p:sp>
      <p:sp>
        <p:nvSpPr>
          <p:cNvPr id="277" name="Google Shape;277;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Temple and colleagues mapped cones and retinal ganglion cells in Toxotes chatareus using retinal preparations and anatomical counts. A ventral high-density region aligned with the upward-forward visual direction used during spitting, rather than sampling the whole visual field equally. Mapping both cone and ganglion-cell density gave a view of the retina's sampling layout.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highest cone densities exceeded 50,000 cells per mm², and local ganglion-cell density approached a one-to-one relation with cone density in that region. Anatomically estimated resolving power reached 6.9 cycles per degree there, against 2.2 cycles per degree along the downward visual axis. Cone density in the central region drives the finest resolving power estimated here.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 cycle is one bright-dark repetition in a spatial pattern, so more cycles per degree indicate finer </a:t>
            </a:r>
            <a:r>
              <a:rPr b="1" i="0" lang="en-US" sz="1400" u="none" cap="none" strike="noStrike">
                <a:solidFill>
                  <a:srgbClr val="252D35"/>
                </a:solidFill>
                <a:latin typeface="Arial"/>
                <a:ea typeface="Arial"/>
                <a:cs typeface="Arial"/>
                <a:sym typeface="Arial"/>
              </a:rPr>
              <a:t>anatomical sampling</a:t>
            </a:r>
            <a:r>
              <a:rPr b="0" i="0" lang="en-US" sz="1400" u="none" cap="none" strike="noStrike">
                <a:solidFill>
                  <a:srgbClr val="000000"/>
                </a:solidFill>
                <a:latin typeface="Arial"/>
                <a:ea typeface="Arial"/>
                <a:cs typeface="Arial"/>
                <a:sym typeface="Arial"/>
              </a:rPr>
              <a:t>. These estimates link retinal organization to the preferred shooting direction, placing the finest sampling where the fish aims. The density map therefore gives the anatomical basis of visual sampling along the preferred aiming direction.</a:t>
            </a:r>
            <a:endParaRPr b="0" i="0" sz="1800" u="none" cap="none" strike="noStrike">
              <a:solidFill>
                <a:schemeClr val="dk1"/>
              </a:solidFill>
              <a:latin typeface="Calibri"/>
              <a:ea typeface="Calibri"/>
              <a:cs typeface="Calibri"/>
              <a:sym typeface="Calibri"/>
            </a:endParaRPr>
          </a:p>
        </p:txBody>
      </p:sp>
      <p:pic>
        <p:nvPicPr>
          <p:cNvPr id="280" name="Google Shape;280;p20"/>
          <p:cNvPicPr preferRelativeResize="0"/>
          <p:nvPr/>
        </p:nvPicPr>
        <p:blipFill rotWithShape="1">
          <a:blip r:embed="rId3">
            <a:alphaModFix/>
          </a:blip>
          <a:srcRect b="0" l="0" r="0" t="0"/>
          <a:stretch/>
        </p:blipFill>
        <p:spPr>
          <a:xfrm>
            <a:off x="7414384" y="1280071"/>
            <a:ext cx="3163065" cy="4297561"/>
          </a:xfrm>
          <a:prstGeom prst="rect">
            <a:avLst/>
          </a:prstGeom>
          <a:noFill/>
          <a:ln>
            <a:noFill/>
          </a:ln>
        </p:spPr>
      </p:pic>
      <p:sp>
        <p:nvSpPr>
          <p:cNvPr id="281" name="Google Shape;281;p2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282" name="Google Shape;282;p2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3" name="Google Shape;283;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Temple et al. (2010)</a:t>
            </a:r>
            <a:endParaRPr b="0" i="0" sz="1800" u="none" cap="none" strike="noStrike">
              <a:solidFill>
                <a:schemeClr val="dk1"/>
              </a:solidFill>
              <a:latin typeface="Calibri"/>
              <a:ea typeface="Calibri"/>
              <a:cs typeface="Calibri"/>
              <a:sym typeface="Calibri"/>
            </a:endParaRPr>
          </a:p>
        </p:txBody>
      </p:sp>
      <p:sp>
        <p:nvSpPr>
          <p:cNvPr id="284" name="Google Shape;284;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8" name="Shape 288"/>
        <p:cNvGrpSpPr/>
        <p:nvPr/>
      </p:nvGrpSpPr>
      <p:grpSpPr>
        <a:xfrm>
          <a:off x="0" y="0"/>
          <a:ext cx="0" cy="0"/>
          <a:chOff x="0" y="0"/>
          <a:chExt cx="0" cy="0"/>
        </a:xfrm>
      </p:grpSpPr>
      <p:sp>
        <p:nvSpPr>
          <p:cNvPr id="289" name="Google Shape;289;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Cone spectral sensitivity differs across retinal regions</a:t>
            </a:r>
            <a:endParaRPr b="0" i="0" sz="1800" u="none" cap="none" strike="noStrike">
              <a:solidFill>
                <a:schemeClr val="dk1"/>
              </a:solidFill>
              <a:latin typeface="Calibri"/>
              <a:ea typeface="Calibri"/>
              <a:cs typeface="Calibri"/>
              <a:sym typeface="Calibri"/>
            </a:endParaRPr>
          </a:p>
        </p:txBody>
      </p:sp>
      <p:sp>
        <p:nvSpPr>
          <p:cNvPr id="290" name="Google Shape;290;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Temple and colleagues measured absorption in single retinal cells with microspectrophotometry. They then carefully corrected each reading for ocular transmission and photopigment properties. The analysis split the retina into regions that look at the water and at the air, and each cell gave its own absorption curve for the region it sampled.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published spectra hold short, middle and long wavelength cone data for each region. These measures concern light capture by the cells themselves, so they are direct readings, not guesses from fish picking colored targets. Regional gaps in the combined color coverage show up across the retina, and they differ by location.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photopigment is a light absorbing molecule that starts a cell's response to light. Regional sensitivity shapes which contrasts stand out against the sky. Spatial sharpness, measured from anatomy, is a separate limit on the aim, and it differs from the color sensitivity. Both sets of limits shape how the fish aims.</a:t>
            </a:r>
            <a:endParaRPr b="0" i="0" sz="1800" u="none" cap="none" strike="noStrike">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3">
            <a:alphaModFix/>
          </a:blip>
          <a:srcRect b="0" l="0" r="0" t="0"/>
          <a:stretch/>
        </p:blipFill>
        <p:spPr>
          <a:xfrm>
            <a:off x="7079511" y="1280071"/>
            <a:ext cx="3832960" cy="4297561"/>
          </a:xfrm>
          <a:prstGeom prst="rect">
            <a:avLst/>
          </a:prstGeom>
          <a:noFill/>
          <a:ln>
            <a:noFill/>
          </a:ln>
        </p:spPr>
      </p:pic>
      <p:sp>
        <p:nvSpPr>
          <p:cNvPr id="294" name="Google Shape;294;p21"/>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2(A–C). Regional cone absorptance spectra.</a:t>
            </a:r>
            <a:endParaRPr b="0" i="0" sz="1800" u="none" cap="none" strike="noStrike">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Temple et al. (2010)</a:t>
            </a:r>
            <a:endParaRPr b="0" i="0" sz="1800" u="none" cap="none" strike="noStrike">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Isolated retinal recordings test rapid motion information</a:t>
            </a:r>
            <a:endParaRPr b="0" i="0" sz="1800" u="none" cap="none" strike="noStrike">
              <a:solidFill>
                <a:schemeClr val="dk1"/>
              </a:solidFill>
              <a:latin typeface="Calibri"/>
              <a:ea typeface="Calibri"/>
              <a:cs typeface="Calibri"/>
              <a:sym typeface="Calibri"/>
            </a:endParaRPr>
          </a:p>
        </p:txBody>
      </p:sp>
      <p:sp>
        <p:nvSpPr>
          <p:cNvPr id="303" name="Google Shape;303;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Kretschmer and colleagues placed isolated archerfish retinas on a multielectrode array and projected alternating black and white bars. The grating stayed in view while movement began at randomly selected velocities, so motion onset was distinct from the sudden appearance of a new object. The grating itself stayed visible throughout each trial, so motion was the change being tested.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400-micrometer bars moved upward or downward and stopped when their contrast edges reached the next electrode row. Recorded </a:t>
            </a:r>
            <a:r>
              <a:rPr b="1" i="0" lang="en-US" sz="1400" u="none" cap="none" strike="noStrike">
                <a:solidFill>
                  <a:srgbClr val="274E13"/>
                </a:solidFill>
                <a:latin typeface="Arial"/>
                <a:ea typeface="Arial"/>
                <a:cs typeface="Arial"/>
                <a:sym typeface="Arial"/>
              </a:rPr>
              <a:t>ganglion cells</a:t>
            </a:r>
            <a:r>
              <a:rPr b="0" i="0" lang="en-US" sz="1400" u="none" cap="none" strike="noStrike">
                <a:solidFill>
                  <a:srgbClr val="000000"/>
                </a:solidFill>
                <a:latin typeface="Arial"/>
                <a:ea typeface="Arial"/>
                <a:cs typeface="Arial"/>
                <a:sym typeface="Arial"/>
              </a:rPr>
              <a:t> produced sharply timed responses after movement onset, and direction reversal occurred in some steps and was absent from others. Stopping at electrode rows fixed the end of each movement for the recording.</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This preparation measures the information present at retinal output before central processing. Velocities were expressed as those of an external object about 30 cm from the eye, rather than as literal speeds across the retinal surface. Recorded responses therefore reflect information the retina passes forward, before the brain has processed it. Its output is what the central system receives.</a:t>
            </a:r>
            <a:endParaRPr b="0" i="0" sz="1800" u="none" cap="none" strike="noStrike">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6367185" y="1280071"/>
            <a:ext cx="5257463" cy="2436763"/>
          </a:xfrm>
          <a:prstGeom prst="rect">
            <a:avLst/>
          </a:prstGeom>
          <a:noFill/>
          <a:ln>
            <a:noFill/>
          </a:ln>
        </p:spPr>
      </p:pic>
      <p:sp>
        <p:nvSpPr>
          <p:cNvPr id="307" name="Google Shape;307;p22"/>
          <p:cNvSpPr/>
          <p:nvPr/>
        </p:nvSpPr>
        <p:spPr>
          <a:xfrm>
            <a:off x="6367016" y="380836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1(A–G). Recorded retinal ganglion-cell responses and grating stimulus.</a:t>
            </a:r>
            <a:endParaRPr b="0" i="0" sz="1800" u="none" cap="none" strike="noStrike">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09" name="Google Shape;309;p22"/>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First-spike timing carries information about velocity</a:t>
            </a:r>
            <a:endParaRPr b="0" i="0" sz="1800" u="none" cap="none" strike="noStrike">
              <a:solidFill>
                <a:schemeClr val="dk1"/>
              </a:solidFill>
              <a:latin typeface="Calibri"/>
              <a:ea typeface="Calibri"/>
              <a:cs typeface="Calibri"/>
              <a:sym typeface="Calibri"/>
            </a:endParaRPr>
          </a:p>
        </p:txBody>
      </p:sp>
      <p:sp>
        <p:nvSpPr>
          <p:cNvPr id="318" name="Google Shape;318;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252D35"/>
                </a:solidFill>
                <a:latin typeface="Arial"/>
                <a:ea typeface="Arial"/>
                <a:cs typeface="Arial"/>
                <a:sym typeface="Arial"/>
              </a:rPr>
              <a:t>first-spike latency</a:t>
            </a:r>
            <a:r>
              <a:rPr b="0" i="0" lang="en-US" sz="1400" u="none" cap="none" strike="noStrike">
                <a:solidFill>
                  <a:srgbClr val="000000"/>
                </a:solidFill>
                <a:latin typeface="Arial"/>
                <a:ea typeface="Arial"/>
                <a:cs typeface="Arial"/>
                <a:sym typeface="Arial"/>
              </a:rPr>
              <a:t> is the interval from a reference event to the first action potential in a response. Kretschmer and colleagues compared ganglion-cell latencies across grating velocities and found that the shortest median absolute latencies were about 22 ms near 5 to 6 m/s. Shorter latencies indicate that the cell responded more quickly to the stimulus onset.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Latencies increased at both lower and higher velocities. Individual cells supplied distinct tuning profiles, so the population pattern distinguishes velocity better than any single median value could. A published decoder reconstructed presented velocities most successfully from absolute first-spike latencies. A population of such cells therefore encodes velocity through the pattern of timing across cells.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Absolute latency requires knowledge of stimulus onset, which the experimenter knows but the brain must infer from its own signals. Decoding success therefore identifies information available in the spike pattern, a different claim from an implemented biological decoder. Decoding therefore tests what the recorded responses contain, using data rather than assumption. Decoding success depends on the recorded signals.</a:t>
            </a:r>
            <a:endParaRPr b="0" i="0" sz="1800" u="none" cap="none" strike="noStrike">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6517338" y="1280071"/>
            <a:ext cx="4957454" cy="2468761"/>
          </a:xfrm>
          <a:prstGeom prst="rect">
            <a:avLst/>
          </a:prstGeom>
          <a:noFill/>
          <a:ln>
            <a:noFill/>
          </a:ln>
        </p:spPr>
      </p:pic>
      <p:sp>
        <p:nvSpPr>
          <p:cNvPr id="322" name="Google Shape;322;p23"/>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2(A–L). First-spike latency varies with stimulus velocity.</a:t>
            </a:r>
            <a:endParaRPr b="0" i="0" sz="1800" u="none" cap="none" strike="noStrike">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24" name="Google Shape;324;p23"/>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Relative timing outperforms the tested rate code</a:t>
            </a:r>
            <a:endParaRPr b="0" i="0" sz="1800" u="none" cap="none" strike="noStrike">
              <a:solidFill>
                <a:schemeClr val="dk1"/>
              </a:solidFill>
              <a:latin typeface="Calibri"/>
              <a:ea typeface="Calibri"/>
              <a:cs typeface="Calibri"/>
              <a:sym typeface="Calibri"/>
            </a:endParaRPr>
          </a:p>
        </p:txBody>
      </p:sp>
      <p:sp>
        <p:nvSpPr>
          <p:cNvPr id="333" name="Google Shape;333;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Kretschmer and colleagues compared absolute latency with the first interspike interval, spike rate over 100 ms, and latency relative to population response onset. An </a:t>
            </a:r>
            <a:r>
              <a:rPr b="1" i="0" lang="en-US" sz="1400" u="none" cap="none" strike="noStrike">
                <a:solidFill>
                  <a:srgbClr val="252D35"/>
                </a:solidFill>
                <a:latin typeface="Arial"/>
                <a:ea typeface="Arial"/>
                <a:cs typeface="Arial"/>
                <a:sym typeface="Arial"/>
              </a:rPr>
              <a:t>interspike interval</a:t>
            </a:r>
            <a:r>
              <a:rPr b="0" i="0" lang="en-US" sz="1400" u="none" cap="none" strike="noStrike">
                <a:solidFill>
                  <a:srgbClr val="000000"/>
                </a:solidFill>
                <a:latin typeface="Arial"/>
                <a:ea typeface="Arial"/>
                <a:cs typeface="Arial"/>
                <a:sym typeface="Arial"/>
              </a:rPr>
              <a:t> is the elapsed time between consecutive action potentials, while a firing rate counts spikes per unit time. Those four measures can be compared on the same set of responses, which makes their performance directly comparable.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first interval and the tested rate measured velocity poorly in reconstruction. Relative first-spike latency performed better, even though its median stayed near 10 ms across velocities, because the patterns across cells kept velocity information. Rate estimates require spike counts accumulated over a window, so they lag the first spikes. Timing is therefore central to the result.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Relative timing supplies an internal reference rather than the experimenter's stimulus clock. Population timing is a plausible fast signal, and the 100-ms window matters because predictive behavior can begin before a long spike-count estimate is available. Relative timing pairs each cell's first spike with the population's onset, which keeps the velocity information intact.</a:t>
            </a:r>
            <a:endParaRPr b="0" i="0" sz="1800" u="none" cap="none" strike="noStrike">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6517338" y="1280071"/>
            <a:ext cx="4957454" cy="2468761"/>
          </a:xfrm>
          <a:prstGeom prst="rect">
            <a:avLst/>
          </a:prstGeom>
          <a:noFill/>
          <a:ln>
            <a:noFill/>
          </a:ln>
        </p:spPr>
      </p:pic>
      <p:sp>
        <p:nvSpPr>
          <p:cNvPr id="337" name="Google Shape;337;p24"/>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2(A–L). Published decoding based on latency, interval, rate and relative latency.</a:t>
            </a:r>
            <a:endParaRPr b="0" i="0" sz="1800" u="none" cap="none" strike="noStrike">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39" name="Google Shape;339;p2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Combining ganglion cells improves velocity estimates</a:t>
            </a:r>
            <a:endParaRPr b="0" i="0" sz="1800" u="none" cap="none" strike="noStrike">
              <a:solidFill>
                <a:schemeClr val="dk1"/>
              </a:solidFill>
              <a:latin typeface="Calibri"/>
              <a:ea typeface="Calibri"/>
              <a:cs typeface="Calibri"/>
              <a:sym typeface="Calibri"/>
            </a:endParaRPr>
          </a:p>
        </p:txBody>
      </p:sp>
      <p:sp>
        <p:nvSpPr>
          <p:cNvPr id="348" name="Google Shape;348;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Kretschmer and colleagues decoded velocity repeatedly while increasing the number of recorded ganglion cells. Reconstruction error fell as the population grew, and the gain was steepest for the first few cells and smaller with each added cell. The decoding was repeated across combinations of recorded cells rather than a single set. Each combination added information about velocity.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Individual experiments differed in accuracy because response timing and tuning quality varied among the sampled cells. Even the most precisely timed unit carried less information than a useful combination of units, so </a:t>
            </a:r>
            <a:r>
              <a:rPr b="1" i="0" lang="en-US" sz="1400" u="none" cap="none" strike="noStrike">
                <a:solidFill>
                  <a:srgbClr val="274E13"/>
                </a:solidFill>
                <a:latin typeface="Arial"/>
                <a:ea typeface="Arial"/>
                <a:cs typeface="Arial"/>
                <a:sym typeface="Arial"/>
              </a:rPr>
              <a:t>population coding</a:t>
            </a:r>
            <a:r>
              <a:rPr b="0" i="0" lang="en-US" sz="1400" u="none" cap="none" strike="noStrike">
                <a:solidFill>
                  <a:srgbClr val="000000"/>
                </a:solidFill>
                <a:latin typeface="Arial"/>
                <a:ea typeface="Arial"/>
                <a:cs typeface="Arial"/>
                <a:sym typeface="Arial"/>
              </a:rPr>
              <a:t> depends on which signals are combined. Accuracy depended on the timing of each cell and how well its tuning matched the stimuli.</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This analysis supports velocity information distributed across retinal cells. Recorded cells were combined computationally, so the decoding was carried out on recorded spike trains rather than in a central neuron. The benchmark is useful because each added cell adds a new timing signal to the combined estimate. Population estimates therefore improve as cells are added, up to a point.</a:t>
            </a:r>
            <a:endParaRPr b="0" i="0" sz="1800" u="none" cap="none" strike="noStrike">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7427351" y="1280071"/>
            <a:ext cx="3137279" cy="2468761"/>
          </a:xfrm>
          <a:prstGeom prst="rect">
            <a:avLst/>
          </a:prstGeom>
          <a:noFill/>
          <a:ln>
            <a:noFill/>
          </a:ln>
        </p:spPr>
      </p:pic>
      <p:sp>
        <p:nvSpPr>
          <p:cNvPr id="352" name="Google Shape;352;p25"/>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7(A–B). Decoding error as more ganglion cells are added.</a:t>
            </a:r>
            <a:endParaRPr b="0" i="0" sz="1800" u="none" cap="none" strike="noStrike">
              <a:solidFill>
                <a:schemeClr val="dk1"/>
              </a:solidFill>
              <a:latin typeface="Calibri"/>
              <a:ea typeface="Calibri"/>
              <a:cs typeface="Calibri"/>
              <a:sym typeface="Calibri"/>
            </a:endParaRPr>
          </a:p>
        </p:txBody>
      </p:sp>
      <p:pic>
        <p:nvPicPr>
          <p:cNvPr id="353" name="Google Shape;353;p25"/>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54" name="Google Shape;354;p25"/>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55" name="Google Shape;355;p2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6" name="Google Shape;356;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57" name="Google Shape;357;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Tectal neurons integrate spatial and temporal contrast</a:t>
            </a:r>
            <a:endParaRPr b="0" i="0" sz="1800" u="none" cap="none" strike="noStrike">
              <a:solidFill>
                <a:schemeClr val="dk1"/>
              </a:solidFill>
              <a:latin typeface="Calibri"/>
              <a:ea typeface="Calibri"/>
              <a:cs typeface="Calibri"/>
              <a:sym typeface="Calibri"/>
            </a:endParaRPr>
          </a:p>
        </p:txBody>
      </p:sp>
      <p:sp>
        <p:nvSpPr>
          <p:cNvPr id="363" name="Google Shape;363;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a:t>
            </a:r>
            <a:r>
              <a:rPr b="1" i="0" lang="en-US" sz="1400" u="none" cap="none" strike="noStrike">
                <a:solidFill>
                  <a:srgbClr val="252D35"/>
                </a:solidFill>
                <a:latin typeface="Arial"/>
                <a:ea typeface="Arial"/>
                <a:cs typeface="Arial"/>
                <a:sym typeface="Arial"/>
              </a:rPr>
              <a:t>optic tectum</a:t>
            </a:r>
            <a:r>
              <a:rPr b="0" i="0" lang="en-US" sz="1400" u="none" cap="none" strike="noStrike">
                <a:solidFill>
                  <a:srgbClr val="000000"/>
                </a:solidFill>
                <a:latin typeface="Arial"/>
                <a:ea typeface="Arial"/>
                <a:cs typeface="Arial"/>
                <a:sym typeface="Arial"/>
              </a:rPr>
              <a:t> is a midbrain structure that receives visual input and takes part in sensorimotor processing. Reichenthal and colleagues recorded extracellular activity in archerfish while presenting random checkerboards, then averaged the stimulus patterns preceding each spike with a spike-triggered average. Random checkerboards gave a broad sample of spatial patterns for each recorded cell.</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Receptive fields ranged from nearly circular to elongated. About 68 percent of sampled cells had a monophasic temporal profile, while the rest had two phases with opposite contrast signs. Mean estimated response latencies were 54.5 ms and 60 ms for these two groups. Those latencies were estimated from the responses, so they describe typical timing rather than an exact value.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These measurements distinguish spatial sampling from the temporal contrast sequence that precedes firing. A </a:t>
            </a:r>
            <a:r>
              <a:rPr b="1" i="0" lang="en-US" sz="1400" u="none" cap="none" strike="noStrike">
                <a:solidFill>
                  <a:srgbClr val="252D35"/>
                </a:solidFill>
                <a:latin typeface="Arial"/>
                <a:ea typeface="Arial"/>
                <a:cs typeface="Arial"/>
                <a:sym typeface="Arial"/>
              </a:rPr>
              <a:t>receptive field</a:t>
            </a:r>
            <a:r>
              <a:rPr b="0" i="0" lang="en-US" sz="1400" u="none" cap="none" strike="noStrike">
                <a:solidFill>
                  <a:srgbClr val="000000"/>
                </a:solidFill>
                <a:latin typeface="Arial"/>
                <a:ea typeface="Arial"/>
                <a:cs typeface="Arial"/>
                <a:sym typeface="Arial"/>
              </a:rPr>
              <a:t> is the stimulus region and pattern that changes a neuron's activity, so the assay maps which visual inputs drive each cell. Receptive field size and shape characterize which parts of the visual scene each tectal cell monitors.</a:t>
            </a:r>
            <a:endParaRPr b="0" i="0" sz="1800" u="none" cap="none" strike="noStrike">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3">
            <a:alphaModFix/>
          </a:blip>
          <a:srcRect b="0" l="0" r="0" t="0"/>
          <a:stretch/>
        </p:blipFill>
        <p:spPr>
          <a:xfrm>
            <a:off x="8089106" y="1280077"/>
            <a:ext cx="1813917" cy="2468748"/>
          </a:xfrm>
          <a:prstGeom prst="rect">
            <a:avLst/>
          </a:prstGeom>
          <a:noFill/>
          <a:ln>
            <a:noFill/>
          </a:ln>
        </p:spPr>
      </p:pic>
      <p:pic>
        <p:nvPicPr>
          <p:cNvPr id="368" name="Google Shape;368;p26"/>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69" name="Google Shape;369;p2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370" name="Google Shape;370;p2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1" name="Google Shape;37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372" name="Google Shape;37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6" name="Shape 376"/>
        <p:cNvGrpSpPr/>
        <p:nvPr/>
      </p:nvGrpSpPr>
      <p:grpSpPr>
        <a:xfrm>
          <a:off x="0" y="0"/>
          <a:ext cx="0" cy="0"/>
          <a:chOff x="0" y="0"/>
          <a:chExt cx="0" cy="0"/>
        </a:xfrm>
      </p:grpSpPr>
      <p:sp>
        <p:nvSpPr>
          <p:cNvPr id="377" name="Google Shape;37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Additional temporal filters capture tectal selectivity</a:t>
            </a:r>
            <a:endParaRPr b="0" i="0" sz="1800" u="none" cap="none" strike="noStrike">
              <a:solidFill>
                <a:schemeClr val="dk1"/>
              </a:solidFill>
              <a:latin typeface="Calibri"/>
              <a:ea typeface="Calibri"/>
              <a:cs typeface="Calibri"/>
              <a:sym typeface="Calibri"/>
            </a:endParaRPr>
          </a:p>
        </p:txBody>
      </p:sp>
      <p:sp>
        <p:nvSpPr>
          <p:cNvPr id="378" name="Google Shape;378;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Reichenthal and colleagues presented full-field flashes of varying intensity, reducing the visual stimulus to a time series. They used spike-triggered covariance, which compares variation in the stimulus histories preceding spikes with variation across the full stimulus set. The flashes gave a simple, time-varying visual input, which makes it possible to model the response from its history.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1" i="0" lang="en-US" sz="1400" u="none" cap="none" strike="noStrike">
                <a:solidFill>
                  <a:srgbClr val="274E13"/>
                </a:solidFill>
                <a:latin typeface="Arial"/>
                <a:ea typeface="Arial"/>
                <a:cs typeface="Arial"/>
                <a:sym typeface="Arial"/>
              </a:rPr>
              <a:t>Structured temporal filters</a:t>
            </a:r>
            <a:r>
              <a:rPr b="0" i="0" lang="en-US" sz="1400" u="none" cap="none" strike="noStrike">
                <a:solidFill>
                  <a:srgbClr val="000000"/>
                </a:solidFill>
                <a:latin typeface="Arial"/>
                <a:ea typeface="Arial"/>
                <a:cs typeface="Arial"/>
                <a:sym typeface="Arial"/>
              </a:rPr>
              <a:t> identified combinations of earlier light levels associated with the response. Cells were described by one to three relevant filters, with two most common, and some filters were labeled excitatory or inhibitory by their statistical relation to the stimulus ensemble. Each filter weights a particular moment in the earlier light history, forming a temporal template.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Those labels describe a model's stimulus selectivity rather than identifying transmitters, receptors or synapses. The analysis adds information that a spike-triggered average alone misses. Covariance-derived filters extend the spike-triggered average, which describes one dimension of the stimulus history. Its extra filters capture structure that one average flattens. This adds a second layer to the spike-triggered average.</a:t>
            </a:r>
            <a:endParaRPr b="0" i="0" sz="1800" u="none" cap="none" strike="noStrike">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3">
            <a:alphaModFix/>
          </a:blip>
          <a:srcRect b="0" l="0" r="0" t="0"/>
          <a:stretch/>
        </p:blipFill>
        <p:spPr>
          <a:xfrm>
            <a:off x="6367149" y="1280071"/>
            <a:ext cx="5257534" cy="1991618"/>
          </a:xfrm>
          <a:prstGeom prst="rect">
            <a:avLst/>
          </a:prstGeom>
          <a:noFill/>
          <a:ln>
            <a:noFill/>
          </a:ln>
        </p:spPr>
      </p:pic>
      <p:sp>
        <p:nvSpPr>
          <p:cNvPr id="382" name="Google Shape;382;p27"/>
          <p:cNvSpPr/>
          <p:nvPr/>
        </p:nvSpPr>
        <p:spPr>
          <a:xfrm>
            <a:off x="6367016" y="336321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4(A–B). Published covariance analysis and significant stimulus filters.</a:t>
            </a:r>
            <a:endParaRPr b="0" i="0" sz="1800" u="none" cap="none" strike="noStrike">
              <a:solidFill>
                <a:schemeClr val="dk1"/>
              </a:solidFill>
              <a:latin typeface="Calibri"/>
              <a:ea typeface="Calibri"/>
              <a:cs typeface="Calibri"/>
              <a:sym typeface="Calibri"/>
            </a:endParaRPr>
          </a:p>
        </p:txBody>
      </p:sp>
      <p:pic>
        <p:nvPicPr>
          <p:cNvPr id="383" name="Google Shape;383;p27"/>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84" name="Google Shape;384;p27"/>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385" name="Google Shape;385;p2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6" name="Google Shape;386;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387" name="Google Shape;387;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Nonlinear combinations predict different tectal responses</a:t>
            </a:r>
            <a:endParaRPr b="0" i="0" sz="1800" u="none" cap="none" strike="noStrike">
              <a:solidFill>
                <a:schemeClr val="dk1"/>
              </a:solidFill>
              <a:latin typeface="Calibri"/>
              <a:ea typeface="Calibri"/>
              <a:cs typeface="Calibri"/>
              <a:sym typeface="Calibri"/>
            </a:endParaRPr>
          </a:p>
        </p:txBody>
      </p:sp>
      <p:sp>
        <p:nvSpPr>
          <p:cNvPr id="393" name="Google Shape;393;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Reichenthal and colleagues fitted models that combined the recovered temporal filters through </a:t>
            </a:r>
            <a:r>
              <a:rPr b="1" i="0" lang="en-US" sz="1400" u="none" cap="none" strike="noStrike">
                <a:solidFill>
                  <a:srgbClr val="252D35"/>
                </a:solidFill>
                <a:latin typeface="Arial"/>
                <a:ea typeface="Arial"/>
                <a:cs typeface="Arial"/>
                <a:sym typeface="Arial"/>
              </a:rPr>
              <a:t>nonlinear response functions</a:t>
            </a:r>
            <a:r>
              <a:rPr b="0" i="0" lang="en-US" sz="1400" u="none" cap="none" strike="noStrike">
                <a:solidFill>
                  <a:srgbClr val="000000"/>
                </a:solidFill>
                <a:latin typeface="Arial"/>
                <a:ea typeface="Arial"/>
                <a:cs typeface="Arial"/>
                <a:sym typeface="Arial"/>
              </a:rPr>
              <a:t>. A nonlinearity means the response follows the joint values of the filter outputs, and those joint values can change how strongly the neuron fires. Nonlinear functions therefore set how strongly the neuron responds to each combination of filter outputs.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Models ranged from one-, two- and three-filter descriptions with different response surfaces. Two-filter models reproduced response structure that a single average-based filter missed, and the authors matched model output to recorded firing rates rather than judging inferred filters by appearance. Model comparisons relied on the fit to recorded firing, so the choice of model rested on measured responses.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These phenomenological models are compact descriptions of measured input-output relationships. The diverse combinations offer candidate transformations of visual timing before a motor decision, and their causal role in predictive aiming awaits direct testing. Their combination pattern helps narrow the range of plausible tectal computations before any behavioral test is designed. Such models are useful as hypotheses.</a:t>
            </a:r>
            <a:endParaRPr b="0" i="0" sz="1800" u="none" cap="none" strike="noStrike">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8150470" y="1280071"/>
            <a:ext cx="1691189" cy="2468761"/>
          </a:xfrm>
          <a:prstGeom prst="rect">
            <a:avLst/>
          </a:prstGeom>
          <a:noFill/>
          <a:ln>
            <a:noFill/>
          </a:ln>
        </p:spPr>
      </p:pic>
      <p:pic>
        <p:nvPicPr>
          <p:cNvPr id="398" name="Google Shape;398;p28"/>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99" name="Google Shape;399;p2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400" name="Google Shape;400;p2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1" name="Google Shape;401;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402" name="Google Shape;402;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6" name="Shape 406"/>
        <p:cNvGrpSpPr/>
        <p:nvPr/>
      </p:nvGrpSpPr>
      <p:grpSpPr>
        <a:xfrm>
          <a:off x="0" y="0"/>
          <a:ext cx="0" cy="0"/>
          <a:chOff x="0" y="0"/>
          <a:chExt cx="0" cy="0"/>
        </a:xfrm>
      </p:grpSpPr>
      <p:sp>
        <p:nvSpPr>
          <p:cNvPr id="407" name="Google Shape;407;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brain atlas separates visual and descending structures</a:t>
            </a:r>
            <a:endParaRPr b="0" i="0" sz="1800" u="none" cap="none" strike="noStrike">
              <a:solidFill>
                <a:schemeClr val="dk1"/>
              </a:solidFill>
              <a:latin typeface="Calibri"/>
              <a:ea typeface="Calibri"/>
              <a:cs typeface="Calibri"/>
              <a:sym typeface="Calibri"/>
            </a:endParaRPr>
          </a:p>
        </p:txBody>
      </p:sp>
      <p:sp>
        <p:nvSpPr>
          <p:cNvPr id="408" name="Google Shape;408;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Karoubi and colleagues examined the brains of Toxotes chatareus with Nissl staining and immunohistochemistry. Nissl staining labels cell-rich tissue and helps distinguish the nuclei and layers. Immunohistochemistry uses antibodies to locate selected molecular markers within the same tissue, giving a molecular view of the same brain. Each method marks different tissue features.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atlas documents the telencephalon, diencephalon, optic tectum, cerebellum and hindbrain. Its labeled serial sections supply </a:t>
            </a:r>
            <a:r>
              <a:rPr b="1" i="0" lang="en-US" sz="1400" u="none" cap="none" strike="noStrike">
                <a:solidFill>
                  <a:srgbClr val="252D35"/>
                </a:solidFill>
                <a:latin typeface="Arial"/>
                <a:ea typeface="Arial"/>
                <a:cs typeface="Arial"/>
                <a:sym typeface="Arial"/>
              </a:rPr>
              <a:t>anatomical landmarks</a:t>
            </a:r>
            <a:r>
              <a:rPr b="0" i="0" lang="en-US" sz="1400" u="none" cap="none" strike="noStrike">
                <a:solidFill>
                  <a:srgbClr val="000000"/>
                </a:solidFill>
                <a:latin typeface="Arial"/>
                <a:ea typeface="Arial"/>
                <a:cs typeface="Arial"/>
                <a:sym typeface="Arial"/>
              </a:rPr>
              <a:t> for interpreting visual recordings and locating descending neurons. Whole-brain views place these regions in their three-dimensional arrangement. Serial sections and whole-brain views together clearly show how each region sits relative to all the others.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atlas also maps the catecholaminergic and cholinergic markers. A cholinergic neuron uses acetylcholine, so mapping these markers shows where cells that release that transmitter sit within the brain. The neurochemical layout complements the regional landmarks in the atlas. Such maps are a starting point for experiments that test specific cells in the brain.</a:t>
            </a:r>
            <a:endParaRPr b="0" i="0" sz="1800" u="none" cap="none" strike="noStrike">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3">
            <a:alphaModFix/>
          </a:blip>
          <a:srcRect b="0" l="0" r="0" t="0"/>
          <a:stretch/>
        </p:blipFill>
        <p:spPr>
          <a:xfrm>
            <a:off x="6367029" y="1280071"/>
            <a:ext cx="5257774" cy="2803922"/>
          </a:xfrm>
          <a:prstGeom prst="rect">
            <a:avLst/>
          </a:prstGeom>
          <a:noFill/>
          <a:ln>
            <a:noFill/>
          </a:ln>
        </p:spPr>
      </p:pic>
      <p:sp>
        <p:nvSpPr>
          <p:cNvPr id="412" name="Google Shape;412;p29"/>
          <p:cNvSpPr/>
          <p:nvPr/>
        </p:nvSpPr>
        <p:spPr>
          <a:xfrm>
            <a:off x="6367016" y="4175522"/>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2(A–D). Lateral view and reconstruction of the archerfish brain.</a:t>
            </a:r>
            <a:endParaRPr b="0" i="0" sz="1800" u="none" cap="none" strike="noStrike">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Karoubi et al. (2016)</a:t>
            </a:r>
            <a:endParaRPr b="0" i="0" sz="1800" u="none" cap="none" strike="noStrike">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An electrical field signature locates the Mauthner cell</a:t>
            </a:r>
            <a:endParaRPr b="0" i="0" sz="1800" u="none" cap="none" strike="noStrike">
              <a:solidFill>
                <a:schemeClr val="dk1"/>
              </a:solidFill>
              <a:latin typeface="Calibri"/>
              <a:ea typeface="Calibri"/>
              <a:cs typeface="Calibri"/>
              <a:sym typeface="Calibri"/>
            </a:endParaRPr>
          </a:p>
        </p:txBody>
      </p:sp>
      <p:sp>
        <p:nvSpPr>
          <p:cNvPr id="421" name="Google Shape;421;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a:t>
            </a:r>
            <a:r>
              <a:rPr b="1" i="0" lang="en-US" sz="1400" u="none" cap="none" strike="noStrike">
                <a:solidFill>
                  <a:srgbClr val="252D35"/>
                </a:solidFill>
                <a:latin typeface="Arial"/>
                <a:ea typeface="Arial"/>
                <a:cs typeface="Arial"/>
                <a:sym typeface="Arial"/>
              </a:rPr>
              <a:t>Mauthner cell</a:t>
            </a:r>
            <a:r>
              <a:rPr b="0" i="0" lang="en-US" sz="1400" u="none" cap="none" strike="noStrike">
                <a:solidFill>
                  <a:srgbClr val="000000"/>
                </a:solidFill>
                <a:latin typeface="Arial"/>
                <a:ea typeface="Arial"/>
                <a:cs typeface="Arial"/>
                <a:sym typeface="Arial"/>
              </a:rPr>
              <a:t> is a large hindbrain neuron with a descending axon associated with fast-start behavior in fishes. Machnik and colleagues stimulated the spinal cord and searched the archerfish hindbrain for a short-latency, all-or-none extracellular field potential. Its axon descends from the hindbrain toward the spinal cord, which places the cell along the route of fast-start commands.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Increasing stimulus strength above threshold switched the signal on or off rather than scaling its amplitude. Each side of the hindbrain contained a distinct focus, consistent with a paired neuronal source. Intracellular penetration then linked that source to a cell with Mauthner-like morphology. The threshold response gave a sharp, all-or-none criterion for finding the cell.</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This approach connects an electrical signature to anatomy rather than relying on cell size alone. It establishes an experimentally accessible Mauthner neuron in archerfish. This anatomical approach matched the electrical signature to a specific cell type rather than a general region. It identifies the cell as a target for later physiology. That combination is the anatomical identification.</a:t>
            </a:r>
            <a:endParaRPr b="0" i="0" sz="1800" u="none" cap="none" strike="noStrike">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8063061" y="1280082"/>
            <a:ext cx="1865709" cy="2468738"/>
          </a:xfrm>
          <a:prstGeom prst="rect">
            <a:avLst/>
          </a:prstGeom>
          <a:noFill/>
          <a:ln>
            <a:noFill/>
          </a:ln>
        </p:spPr>
      </p:pic>
      <p:pic>
        <p:nvPicPr>
          <p:cNvPr id="426" name="Google Shape;426;p30"/>
          <p:cNvPicPr preferRelativeResize="0"/>
          <p:nvPr/>
        </p:nvPicPr>
        <p:blipFill rotWithShape="1">
          <a:blip r:embed="rId4">
            <a:alphaModFix/>
          </a:blip>
          <a:srcRect b="0" l="0" r="0" t="0"/>
          <a:stretch/>
        </p:blipFill>
        <p:spPr>
          <a:xfrm>
            <a:off x="8325354" y="4297561"/>
            <a:ext cx="1341274" cy="1462980"/>
          </a:xfrm>
          <a:prstGeom prst="rect">
            <a:avLst/>
          </a:prstGeom>
          <a:noFill/>
          <a:ln>
            <a:noFill/>
          </a:ln>
        </p:spPr>
      </p:pic>
      <p:sp>
        <p:nvSpPr>
          <p:cNvPr id="427" name="Google Shape;427;p3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Mauthner morphology resembles that of goldfish</a:t>
            </a:r>
            <a:endParaRPr b="0" i="0" sz="1800" u="none" cap="none" strike="noStrike">
              <a:solidFill>
                <a:schemeClr val="dk1"/>
              </a:solidFill>
              <a:latin typeface="Calibri"/>
              <a:ea typeface="Calibri"/>
              <a:cs typeface="Calibri"/>
              <a:sym typeface="Calibri"/>
            </a:endParaRPr>
          </a:p>
        </p:txBody>
      </p:sp>
      <p:sp>
        <p:nvSpPr>
          <p:cNvPr id="436" name="Google Shape;436;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Machnik and colleagues filled identified Mauthner neurons and measured archerfish cells beside similarly sized goldfish processed by the same method. The </a:t>
            </a:r>
            <a:r>
              <a:rPr b="1" i="0" lang="en-US" sz="1400" u="none" cap="none" strike="noStrike">
                <a:solidFill>
                  <a:srgbClr val="252D35"/>
                </a:solidFill>
                <a:latin typeface="Arial"/>
                <a:ea typeface="Arial"/>
                <a:cs typeface="Arial"/>
                <a:sym typeface="Arial"/>
              </a:rPr>
              <a:t>soma</a:t>
            </a:r>
            <a:r>
              <a:rPr b="0" i="0" lang="en-US" sz="1400" u="none" cap="none" strike="noStrike">
                <a:solidFill>
                  <a:srgbClr val="000000"/>
                </a:solidFill>
                <a:latin typeface="Arial"/>
                <a:ea typeface="Arial"/>
                <a:cs typeface="Arial"/>
                <a:sym typeface="Arial"/>
              </a:rPr>
              <a:t> is the neuronal cell body, and its dendrites receive and integrate inputs before signals reach the spike-initiation region. The two ranges overlap widely across the two species. Dendritic branching followed a similar plan in both.</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Archerfish soma diameters ranged from 45 to 63 µm, against 47 to 66 µm in goldfish. Both had prominent lateral and ventral dendrites, an axon hillock and smaller branches, and the broad similarity held despite the archerfish's specialized interception demands. Both sets of cells therefore share a common layout, and the measurements rest on identical preparations.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matched preparation controls for differences caused by animal size and staining method. It argues against a dramatically enlarged or uniquely shaped Mauthner neuron as a necessary explanation of archerfish skill. A dramatically enlarged neuron would have shown a clear size difference from goldfish, and none appeared. Those matched conditions make morphological similarity a clear result.</a:t>
            </a:r>
            <a:endParaRPr b="0" i="0" sz="1800" u="none" cap="none" strike="noStrike">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705968" y="1280071"/>
            <a:ext cx="4580045" cy="4297561"/>
          </a:xfrm>
          <a:prstGeom prst="rect">
            <a:avLst/>
          </a:prstGeom>
          <a:noFill/>
          <a:ln>
            <a:noFill/>
          </a:ln>
        </p:spPr>
      </p:pic>
      <p:sp>
        <p:nvSpPr>
          <p:cNvPr id="440" name="Google Shape;440;p31"/>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441" name="Google Shape;441;p3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2" name="Google Shape;442;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43" name="Google Shape;443;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Two crossed giant axons dominate the spinal cord</a:t>
            </a:r>
            <a:endParaRPr b="0" i="0" sz="1800" u="none" cap="none" strike="noStrike">
              <a:solidFill>
                <a:schemeClr val="dk1"/>
              </a:solidFill>
              <a:latin typeface="Calibri"/>
              <a:ea typeface="Calibri"/>
              <a:cs typeface="Calibri"/>
              <a:sym typeface="Calibri"/>
            </a:endParaRPr>
          </a:p>
        </p:txBody>
      </p:sp>
      <p:sp>
        <p:nvSpPr>
          <p:cNvPr id="449" name="Google Shape;449;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After staining identified the cells, Machnik and colleagues followed the Mauthner axons across the hindbrain midline and into the opposite spinal cord. Unstained cross-sections independently contained two exceptionally large axons in matching positions. Counting the large axons in unstained sections therefore provided evidence separate from the staining. That independence strengthens the anatomical claim.</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largest axons averaged 71.9 µm in diameter in the measured archerfish sections, comparable with those of similarly sized goldfish. Finding exactly two matched giants makes an additional, equally large descending pathway in the sampled cord improbable. The axon measurements were made in the same sections, which allows direct comparison with goldfish.</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274E13"/>
                </a:solidFill>
                <a:latin typeface="Arial"/>
                <a:ea typeface="Arial"/>
                <a:cs typeface="Arial"/>
                <a:sym typeface="Arial"/>
              </a:rPr>
              <a:t>large axon</a:t>
            </a:r>
            <a:r>
              <a:rPr b="0" i="0" lang="en-US" sz="1400" u="none" cap="none" strike="noStrike">
                <a:solidFill>
                  <a:srgbClr val="000000"/>
                </a:solidFill>
                <a:latin typeface="Arial"/>
                <a:ea typeface="Arial"/>
                <a:cs typeface="Arial"/>
                <a:sym typeface="Arial"/>
              </a:rPr>
              <a:t> can support rapid conduction, which makes this anatomy compatible with a fast motor command. Smaller neurons may also contribute to turn selection or speed adjustment, and anatomical availability is distinct from behavioral recruitment during a start. Conduction speed in large axons depends on diameter, so the measured size supports rapid transmission.</a:t>
            </a:r>
            <a:endParaRPr b="0" i="0" sz="1800" u="none" cap="none" strike="noStrike">
              <a:solidFill>
                <a:schemeClr val="dk1"/>
              </a:solidFill>
              <a:latin typeface="Calibri"/>
              <a:ea typeface="Calibri"/>
              <a:cs typeface="Calibri"/>
              <a:sym typeface="Calibri"/>
            </a:endParaRPr>
          </a:p>
        </p:txBody>
      </p:sp>
      <p:pic>
        <p:nvPicPr>
          <p:cNvPr id="452" name="Google Shape;452;p32"/>
          <p:cNvPicPr preferRelativeResize="0"/>
          <p:nvPr/>
        </p:nvPicPr>
        <p:blipFill rotWithShape="1">
          <a:blip r:embed="rId3">
            <a:alphaModFix/>
          </a:blip>
          <a:srcRect b="0" l="0" r="0" t="0"/>
          <a:stretch/>
        </p:blipFill>
        <p:spPr>
          <a:xfrm>
            <a:off x="7025894" y="1280071"/>
            <a:ext cx="3940043" cy="4297561"/>
          </a:xfrm>
          <a:prstGeom prst="rect">
            <a:avLst/>
          </a:prstGeom>
          <a:noFill/>
          <a:ln>
            <a:noFill/>
          </a:ln>
        </p:spPr>
      </p:pic>
      <p:sp>
        <p:nvSpPr>
          <p:cNvPr id="453" name="Google Shape;453;p3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454" name="Google Shape;454;p3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5" name="Google Shape;455;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56" name="Google Shape;456;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3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Intracellular spikes reveal a rapid excitable output neuron</a:t>
            </a:r>
            <a:endParaRPr b="0" i="0" sz="1800" u="none" cap="none" strike="noStrike">
              <a:solidFill>
                <a:schemeClr val="dk1"/>
              </a:solidFill>
              <a:latin typeface="Calibri"/>
              <a:ea typeface="Calibri"/>
              <a:cs typeface="Calibri"/>
              <a:sym typeface="Calibri"/>
            </a:endParaRPr>
          </a:p>
        </p:txBody>
      </p:sp>
      <p:sp>
        <p:nvSpPr>
          <p:cNvPr id="462" name="Google Shape;462;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Machnik and colleagues obtained intracellular recordings from identified archerfish Mauthner cells. Mean resting voltage was -79.5 mV, antidromic spike onset latency was 0.265 ms, and the somatically recorded spike had a half-maximal duration of 0.54 ms. These measures came from identified cells, so each value belongs to a known neuron. Each recording stayed linked to the cell's identity throughout.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somatic spike of about 36.7 mV is interpreted together with the extracellular field around the cell. Subtracting the nearby external potential reconstructs the actual membrane-voltage change, while a distant reference electrode gives a less direct measure of that difference. The transmembrane potential is the voltage inside the cell relative to adjacent extracellular fluid.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recordings stayed stable for about 2 to 3 hours, which allowed repeated sensory and inhibitory tests within one cell. An </a:t>
            </a:r>
            <a:r>
              <a:rPr b="1" i="0" lang="en-US" sz="1400" u="none" cap="none" strike="noStrike">
                <a:solidFill>
                  <a:srgbClr val="252D35"/>
                </a:solidFill>
                <a:latin typeface="Arial"/>
                <a:ea typeface="Arial"/>
                <a:cs typeface="Arial"/>
                <a:sym typeface="Arial"/>
              </a:rPr>
              <a:t>action potential</a:t>
            </a:r>
            <a:r>
              <a:rPr b="0" i="0" lang="en-US" sz="1400" u="none" cap="none" strike="noStrike">
                <a:solidFill>
                  <a:srgbClr val="000000"/>
                </a:solidFill>
                <a:latin typeface="Arial"/>
                <a:ea typeface="Arial"/>
                <a:cs typeface="Arial"/>
                <a:sym typeface="Arial"/>
              </a:rPr>
              <a:t> is the regenerative electrical event that propagates down the axon. The experiment measures excitability and conduction after imposed stimulation, rather than the timing of spontaneous commands during free swimming.</a:t>
            </a:r>
            <a:endParaRPr b="0" i="0" sz="1800" u="none" cap="none" strike="noStrike">
              <a:solidFill>
                <a:schemeClr val="dk1"/>
              </a:solidFill>
              <a:latin typeface="Calibri"/>
              <a:ea typeface="Calibri"/>
              <a:cs typeface="Calibri"/>
              <a:sym typeface="Calibri"/>
            </a:endParaRPr>
          </a:p>
        </p:txBody>
      </p:sp>
      <p:pic>
        <p:nvPicPr>
          <p:cNvPr id="465" name="Google Shape;465;p33"/>
          <p:cNvPicPr preferRelativeResize="0"/>
          <p:nvPr/>
        </p:nvPicPr>
        <p:blipFill rotWithShape="1">
          <a:blip r:embed="rId3">
            <a:alphaModFix/>
          </a:blip>
          <a:srcRect b="0" l="0" r="0" t="0"/>
          <a:stretch/>
        </p:blipFill>
        <p:spPr>
          <a:xfrm>
            <a:off x="7619462" y="1280071"/>
            <a:ext cx="2752908" cy="2468761"/>
          </a:xfrm>
          <a:prstGeom prst="rect">
            <a:avLst/>
          </a:prstGeom>
          <a:noFill/>
          <a:ln>
            <a:noFill/>
          </a:ln>
        </p:spPr>
      </p:pic>
      <p:sp>
        <p:nvSpPr>
          <p:cNvPr id="466" name="Google Shape;466;p33"/>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1(B–C). Antidromic spike and correction for the extracellular field.</a:t>
            </a:r>
            <a:endParaRPr b="0" i="0" sz="1800" u="none" cap="none" strike="noStrike">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4">
            <a:alphaModFix/>
          </a:blip>
          <a:srcRect b="0" l="0" r="0" t="0"/>
          <a:stretch/>
        </p:blipFill>
        <p:spPr>
          <a:xfrm>
            <a:off x="8772253" y="4297561"/>
            <a:ext cx="447623" cy="1462980"/>
          </a:xfrm>
          <a:prstGeom prst="rect">
            <a:avLst/>
          </a:prstGeom>
          <a:noFill/>
          <a:ln>
            <a:noFill/>
          </a:ln>
        </p:spPr>
      </p:pic>
      <p:sp>
        <p:nvSpPr>
          <p:cNvPr id="468" name="Google Shape;468;p33"/>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2(A–E). Intracellular recording stability and action-potential measurements.</a:t>
            </a:r>
            <a:endParaRPr b="0" i="0" sz="1800" u="none" cap="none" strike="noStrike">
              <a:solidFill>
                <a:schemeClr val="dk1"/>
              </a:solidFill>
              <a:latin typeface="Calibri"/>
              <a:ea typeface="Calibri"/>
              <a:cs typeface="Calibri"/>
              <a:sym typeface="Calibri"/>
            </a:endParaRPr>
          </a:p>
        </p:txBody>
      </p:sp>
      <p:sp>
        <p:nvSpPr>
          <p:cNvPr id="469" name="Google Shape;469;p3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0" name="Google Shape;470;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471" name="Google Shape;471;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5" name="Shape 475"/>
        <p:cNvGrpSpPr/>
        <p:nvPr/>
      </p:nvGrpSpPr>
      <p:grpSpPr>
        <a:xfrm>
          <a:off x="0" y="0"/>
          <a:ext cx="0" cy="0"/>
          <a:chOff x="0" y="0"/>
          <a:chExt cx="0" cy="0"/>
        </a:xfrm>
      </p:grpSpPr>
      <p:sp>
        <p:nvSpPr>
          <p:cNvPr id="476" name="Google Shape;476;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Acoustic stimuli evoke early Mauthner depolarization</a:t>
            </a:r>
            <a:endParaRPr b="0" i="0" sz="1800" u="none" cap="none" strike="noStrike">
              <a:solidFill>
                <a:schemeClr val="dk1"/>
              </a:solidFill>
              <a:latin typeface="Calibri"/>
              <a:ea typeface="Calibri"/>
              <a:cs typeface="Calibri"/>
              <a:sym typeface="Calibri"/>
            </a:endParaRPr>
          </a:p>
        </p:txBody>
      </p:sp>
      <p:sp>
        <p:nvSpPr>
          <p:cNvPr id="477" name="Google Shape;477;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Machnik and colleagues delivered brief acoustic bursts while recording the Mauthner cell. A </a:t>
            </a:r>
            <a:r>
              <a:rPr b="1" i="0" lang="en-US" sz="1400" u="none" cap="none" strike="noStrike">
                <a:solidFill>
                  <a:srgbClr val="252D35"/>
                </a:solidFill>
                <a:latin typeface="Arial"/>
                <a:ea typeface="Arial"/>
                <a:cs typeface="Arial"/>
                <a:sym typeface="Arial"/>
              </a:rPr>
              <a:t>postsynaptic potential</a:t>
            </a:r>
            <a:r>
              <a:rPr b="0" i="0" lang="en-US" sz="1400" u="none" cap="none" strike="noStrike">
                <a:solidFill>
                  <a:srgbClr val="000000"/>
                </a:solidFill>
                <a:latin typeface="Arial"/>
                <a:ea typeface="Arial"/>
                <a:cs typeface="Arial"/>
                <a:sym typeface="Arial"/>
              </a:rPr>
              <a:t>, or PSP, is a membrane-voltage change associated with synaptic input. Under these stimulus conditions, detectable acoustic PSPs began after 7.4 to 15.1 ms in archerfish. The stimulus set was brief and standardized, so each PSP reflected the same input.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mean acoustic PSP amplitude was 4.3 mV, and some preparations gave no detectable acoustic PSP despite strong visually evoked responses. The same standardized stimulus and recording conditions were used for goldfish, which makes the species contrast controlled. Light and sound PSPs were recorded in the same preparations, so their comparison is direct.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Earlier onset and larger amplitude describe different properties of an input, so the two measures carry separate meanings. These findings concern one selected acoustic burst and establish that mechanosensory input reaches the cell. Latency and amplitude both matter for timing, but they answer different questions about an input. Earlier onset therefore marks timing, while larger amplitude marks strength.</a:t>
            </a:r>
            <a:endParaRPr b="0" i="0" sz="1800" u="none" cap="none" strike="noStrike">
              <a:solidFill>
                <a:schemeClr val="dk1"/>
              </a:solidFill>
              <a:latin typeface="Calibri"/>
              <a:ea typeface="Calibri"/>
              <a:cs typeface="Calibri"/>
              <a:sym typeface="Calibri"/>
            </a:endParaRPr>
          </a:p>
        </p:txBody>
      </p:sp>
      <p:pic>
        <p:nvPicPr>
          <p:cNvPr id="480" name="Google Shape;480;p34"/>
          <p:cNvPicPr preferRelativeResize="0"/>
          <p:nvPr/>
        </p:nvPicPr>
        <p:blipFill rotWithShape="1">
          <a:blip r:embed="rId3">
            <a:alphaModFix/>
          </a:blip>
          <a:srcRect b="0" l="0" r="0" t="0"/>
          <a:stretch/>
        </p:blipFill>
        <p:spPr>
          <a:xfrm>
            <a:off x="6367100" y="1280071"/>
            <a:ext cx="5257633" cy="2316063"/>
          </a:xfrm>
          <a:prstGeom prst="rect">
            <a:avLst/>
          </a:prstGeom>
          <a:noFill/>
          <a:ln>
            <a:noFill/>
          </a:ln>
        </p:spPr>
      </p:pic>
      <p:sp>
        <p:nvSpPr>
          <p:cNvPr id="481" name="Google Shape;481;p34"/>
          <p:cNvSpPr/>
          <p:nvPr/>
        </p:nvSpPr>
        <p:spPr>
          <a:xfrm>
            <a:off x="6367016" y="368766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4(A–B). Sound- and light-evoked postsynaptic potentials in the same preparations.</a:t>
            </a:r>
            <a:endParaRPr b="0" i="0" sz="1800" u="none" cap="none" strike="noStrike">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483" name="Google Shape;483;p3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484" name="Google Shape;484;p3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85" name="Google Shape;485;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486" name="Google Shape;486;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Light flashes evoke stronger but later visual inputs</a:t>
            </a:r>
            <a:endParaRPr b="0" i="0" sz="1800" u="none" cap="none" strike="noStrike">
              <a:solidFill>
                <a:schemeClr val="dk1"/>
              </a:solidFill>
              <a:latin typeface="Calibri"/>
              <a:ea typeface="Calibri"/>
              <a:cs typeface="Calibri"/>
              <a:sym typeface="Calibri"/>
            </a:endParaRPr>
          </a:p>
        </p:txBody>
      </p:sp>
      <p:sp>
        <p:nvSpPr>
          <p:cNvPr id="492" name="Google Shape;492;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Machnik and colleagues presented 7-ms light flashes while recording the same identified Mauthner cells. Visual PSP amplitudes ranged from 5.3 to 28.2 mV, with a mean of 17.1 mV, and onset latencies ranged from 27.5 to 54.2 ms, averaging 39.4 ms. Light was a brief stimulus, and each cell received the same flashes.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Under these conditions, visual responses were substantially larger than acoustic responses in archerfish. Goldfish had mean visual and acoustic amplitudes of 7.0 and 8.2 mV, and the shared stimuli allow a comparison of </a:t>
            </a:r>
            <a:r>
              <a:rPr b="1" i="0" lang="en-US" sz="1400" u="none" cap="none" strike="noStrike">
                <a:solidFill>
                  <a:srgbClr val="274E13"/>
                </a:solidFill>
                <a:latin typeface="Arial"/>
                <a:ea typeface="Arial"/>
                <a:cs typeface="Arial"/>
                <a:sym typeface="Arial"/>
              </a:rPr>
              <a:t>relative efficacy</a:t>
            </a:r>
            <a:r>
              <a:rPr b="0" i="0" lang="en-US" sz="1400" u="none" cap="none" strike="noStrike">
                <a:solidFill>
                  <a:srgbClr val="000000"/>
                </a:solidFill>
                <a:latin typeface="Arial"/>
                <a:ea typeface="Arial"/>
                <a:cs typeface="Arial"/>
                <a:sym typeface="Arial"/>
              </a:rPr>
              <a:t>. Goldfish responses to the two stimuli were similar in size, unlike the archerfish pattern. The shared stimuli make the difference between species informative.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late portions of visual PSPs varied more than their initial rise, consistent with additional network input. These flashes sometimes elicited spikes, and strong visual access supports a role in visuomotor processing. Visual PSP latency was measured from flash onset, so the timing values refer to the stimulus. Light and sound were compared on the same cells under matched timing.</a:t>
            </a:r>
            <a:endParaRPr b="0" i="0" sz="1800" u="none" cap="none" strike="noStrike">
              <a:solidFill>
                <a:schemeClr val="dk1"/>
              </a:solidFill>
              <a:latin typeface="Calibri"/>
              <a:ea typeface="Calibri"/>
              <a:cs typeface="Calibri"/>
              <a:sym typeface="Calibri"/>
            </a:endParaRPr>
          </a:p>
        </p:txBody>
      </p:sp>
      <p:pic>
        <p:nvPicPr>
          <p:cNvPr id="495" name="Google Shape;495;p35"/>
          <p:cNvPicPr preferRelativeResize="0"/>
          <p:nvPr/>
        </p:nvPicPr>
        <p:blipFill rotWithShape="1">
          <a:blip r:embed="rId3">
            <a:alphaModFix/>
          </a:blip>
          <a:srcRect b="0" l="0" r="0" t="0"/>
          <a:stretch/>
        </p:blipFill>
        <p:spPr>
          <a:xfrm>
            <a:off x="6595039" y="1280071"/>
            <a:ext cx="4801754" cy="2468761"/>
          </a:xfrm>
          <a:prstGeom prst="rect">
            <a:avLst/>
          </a:prstGeom>
          <a:noFill/>
          <a:ln>
            <a:noFill/>
          </a:ln>
        </p:spPr>
      </p:pic>
      <p:sp>
        <p:nvSpPr>
          <p:cNvPr id="496" name="Google Shape;496;p35"/>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5(A–C). Visual and acoustic PSP amplitude and latency comparisons.</a:t>
            </a:r>
            <a:endParaRPr b="0" i="0" sz="1800" u="none" cap="none" strike="noStrike">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498" name="Google Shape;498;p35"/>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499" name="Google Shape;499;p3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0" name="Google Shape;500;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01" name="Google Shape;501;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Dendritic decay separates visual from acoustic entry sites</a:t>
            </a:r>
            <a:endParaRPr b="0" i="0" sz="1800" u="none" cap="none" strike="noStrike">
              <a:solidFill>
                <a:schemeClr val="dk1"/>
              </a:solidFill>
              <a:latin typeface="Calibri"/>
              <a:ea typeface="Calibri"/>
              <a:cs typeface="Calibri"/>
              <a:sym typeface="Calibri"/>
            </a:endParaRPr>
          </a:p>
        </p:txBody>
      </p:sp>
      <p:sp>
        <p:nvSpPr>
          <p:cNvPr id="507" name="Google Shape;507;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Machnik and colleagues recorded at different positions along the Mauthner lateral dendrite and corrected the signals for the nearby extracellular field. Reconstructed spike amplitude decayed passively, with length constants of 141 to 164 µm in the tested cells. The position along the dendrite determined how much each input's voltage decayed before reaching the soma.</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Acoustic PSPs were larger at a distal lateral-dendrite position than close to the soma, consistent with input arriving laterally. Visual PSPs showed the opposite gradient, with amplitude decreasing toward the distal lateral dendrite, consistent with input entering nearer the soma. Each gradient was measured at the same recording positions, so the two sets are directly comparable.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252D35"/>
                </a:solidFill>
                <a:latin typeface="Arial"/>
                <a:ea typeface="Arial"/>
                <a:cs typeface="Arial"/>
                <a:sym typeface="Arial"/>
              </a:rPr>
              <a:t>length constant</a:t>
            </a:r>
            <a:r>
              <a:rPr b="0" i="0" lang="en-US" sz="1400" u="none" cap="none" strike="noStrike">
                <a:solidFill>
                  <a:srgbClr val="000000"/>
                </a:solidFill>
                <a:latin typeface="Arial"/>
                <a:ea typeface="Arial"/>
                <a:cs typeface="Arial"/>
                <a:sym typeface="Arial"/>
              </a:rPr>
              <a:t> describes the distance over which passive voltage spread is attenuated. The gradients locate the likely entry sites of the two sensory inputs along the dendrite. Passive spread along a dendrite is the physical reason that input location shapes what reaches the spike zone. Input location therefore shapes what the cell receives, not just whether it fires.</a:t>
            </a:r>
            <a:endParaRPr b="0" i="0" sz="1800" u="none" cap="none" strike="noStrike">
              <a:solidFill>
                <a:schemeClr val="dk1"/>
              </a:solidFill>
              <a:latin typeface="Calibri"/>
              <a:ea typeface="Calibri"/>
              <a:cs typeface="Calibri"/>
              <a:sym typeface="Calibri"/>
            </a:endParaRPr>
          </a:p>
        </p:txBody>
      </p:sp>
      <p:pic>
        <p:nvPicPr>
          <p:cNvPr id="510" name="Google Shape;510;p36"/>
          <p:cNvPicPr preferRelativeResize="0"/>
          <p:nvPr/>
        </p:nvPicPr>
        <p:blipFill rotWithShape="1">
          <a:blip r:embed="rId3">
            <a:alphaModFix/>
          </a:blip>
          <a:srcRect b="0" l="0" r="0" t="0"/>
          <a:stretch/>
        </p:blipFill>
        <p:spPr>
          <a:xfrm>
            <a:off x="8531572" y="1280107"/>
            <a:ext cx="928836" cy="2468687"/>
          </a:xfrm>
          <a:prstGeom prst="rect">
            <a:avLst/>
          </a:prstGeom>
          <a:noFill/>
          <a:ln>
            <a:noFill/>
          </a:ln>
        </p:spPr>
      </p:pic>
      <p:pic>
        <p:nvPicPr>
          <p:cNvPr id="512" name="Google Shape;512;p36"/>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513" name="Google Shape;513;p3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514" name="Google Shape;514;p3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5" name="Google Shape;51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16" name="Google Shape;516;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0" name="Shape 520"/>
        <p:cNvGrpSpPr/>
        <p:nvPr/>
      </p:nvGrpSpPr>
      <p:grpSpPr>
        <a:xfrm>
          <a:off x="0" y="0"/>
          <a:ext cx="0" cy="0"/>
          <a:chOff x="0" y="0"/>
          <a:chExt cx="0" cy="0"/>
        </a:xfrm>
      </p:grpSpPr>
      <p:sp>
        <p:nvSpPr>
          <p:cNvPr id="521" name="Google Shape;521;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Recurrent inhibition limits repeated Mauthner firing</a:t>
            </a:r>
            <a:endParaRPr b="0" i="0" sz="1800" u="none" cap="none" strike="noStrike">
              <a:solidFill>
                <a:schemeClr val="dk1"/>
              </a:solidFill>
              <a:latin typeface="Calibri"/>
              <a:ea typeface="Calibri"/>
              <a:cs typeface="Calibri"/>
              <a:sym typeface="Calibri"/>
            </a:endParaRPr>
          </a:p>
        </p:txBody>
      </p:sp>
      <p:sp>
        <p:nvSpPr>
          <p:cNvPr id="522" name="Google Shape;522;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475C"/>
              </a:buClr>
              <a:buSzPts val="1500"/>
              <a:buFont typeface="Arial"/>
              <a:buNone/>
            </a:pPr>
            <a:r>
              <a:rPr b="1" i="0" lang="en-US" sz="1400" u="none" cap="none" strike="noStrike">
                <a:solidFill>
                  <a:srgbClr val="252D35"/>
                </a:solidFill>
                <a:latin typeface="Arial"/>
                <a:ea typeface="Arial"/>
                <a:cs typeface="Arial"/>
                <a:sym typeface="Arial"/>
              </a:rPr>
              <a:t>Recurrent inhibition</a:t>
            </a:r>
            <a:r>
              <a:rPr b="0" i="0" lang="en-US" sz="1400" u="none" cap="none" strike="noStrike">
                <a:solidFill>
                  <a:srgbClr val="000000"/>
                </a:solidFill>
                <a:latin typeface="Arial"/>
                <a:ea typeface="Arial"/>
                <a:cs typeface="Arial"/>
                <a:sym typeface="Arial"/>
              </a:rPr>
              <a:t> is inhibitory feedback activated after a neuron or its associated network fires. Machnik and colleagues in this study elicited pairs of antidromic Mauthner spikes in one cell and varied the separation between them. The second spike was reduced most strongly at short intervals, and recovery contained fast and slow components.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475C"/>
              </a:buClr>
              <a:buSzPts val="1500"/>
              <a:buFont typeface="Arial"/>
              <a:buNone/>
            </a:pPr>
            <a:r>
              <a:rPr b="0" i="0" lang="en-US" sz="1400" u="none" cap="none" strike="noStrike">
                <a:solidFill>
                  <a:srgbClr val="000000"/>
                </a:solidFill>
                <a:latin typeface="Arial"/>
                <a:ea typeface="Arial"/>
                <a:cs typeface="Arial"/>
                <a:sym typeface="Arial"/>
              </a:rPr>
              <a:t>Archerfish recovery time constants were 0.9 and 16.5 ms, against 0.8 and 12.8 ms in goldfish. The paper provisionally associates the fast component with sodium-channel inactivation. Repeated stimulation and chloride-loaded recordings extended the paired-spike measurements into later inhibitory phases. Those recordings compared both species under identical conditions, which supports a controlled contrast.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475C"/>
              </a:buClr>
              <a:buSzPts val="1500"/>
              <a:buFont typeface="Arial"/>
              <a:buNone/>
            </a:pPr>
            <a:r>
              <a:rPr b="0" i="0" lang="en-US" sz="1400" u="none" cap="none" strike="noStrike">
                <a:solidFill>
                  <a:srgbClr val="000000"/>
                </a:solidFill>
                <a:latin typeface="Arial"/>
                <a:ea typeface="Arial"/>
                <a:cs typeface="Arial"/>
                <a:sym typeface="Arial"/>
              </a:rPr>
              <a:t>Voltage-gated sodium-channel inactivation temporarily reduces the ability to generate another spike. Chloride loading can change the polarity of a chloride-dependent synaptic potential. Sodium-channel inactivation is a temporary process, which fits a fast recovery component. Comparable physiology supports functionally similar inhibitory networks in both archerfish and goldfish. Both species show this same pattern.</a:t>
            </a:r>
            <a:endParaRPr b="0" i="0" sz="1800" u="none" cap="none" strike="noStrike">
              <a:solidFill>
                <a:schemeClr val="dk1"/>
              </a:solidFill>
              <a:latin typeface="Calibri"/>
              <a:ea typeface="Calibri"/>
              <a:cs typeface="Calibri"/>
              <a:sym typeface="Calibri"/>
            </a:endParaRPr>
          </a:p>
        </p:txBody>
      </p:sp>
      <p:pic>
        <p:nvPicPr>
          <p:cNvPr id="525" name="Google Shape;525;p37"/>
          <p:cNvPicPr preferRelativeResize="0"/>
          <p:nvPr/>
        </p:nvPicPr>
        <p:blipFill rotWithShape="1">
          <a:blip r:embed="rId3">
            <a:alphaModFix/>
          </a:blip>
          <a:srcRect b="0" l="0" r="0" t="0"/>
          <a:stretch/>
        </p:blipFill>
        <p:spPr>
          <a:xfrm>
            <a:off x="8486775" y="1280071"/>
            <a:ext cx="1018580" cy="2468761"/>
          </a:xfrm>
          <a:prstGeom prst="rect">
            <a:avLst/>
          </a:prstGeom>
          <a:noFill/>
          <a:ln>
            <a:noFill/>
          </a:ln>
        </p:spPr>
      </p:pic>
      <p:pic>
        <p:nvPicPr>
          <p:cNvPr id="527" name="Google Shape;527;p37"/>
          <p:cNvPicPr preferRelativeResize="0"/>
          <p:nvPr/>
        </p:nvPicPr>
        <p:blipFill rotWithShape="1">
          <a:blip r:embed="rId4">
            <a:alphaModFix/>
          </a:blip>
          <a:srcRect b="0" l="0" r="0" t="0"/>
          <a:stretch/>
        </p:blipFill>
        <p:spPr>
          <a:xfrm>
            <a:off x="8325354" y="4297561"/>
            <a:ext cx="1341274" cy="1462980"/>
          </a:xfrm>
          <a:prstGeom prst="rect">
            <a:avLst/>
          </a:prstGeom>
          <a:noFill/>
          <a:ln>
            <a:noFill/>
          </a:ln>
        </p:spPr>
      </p:pic>
      <p:sp>
        <p:nvSpPr>
          <p:cNvPr id="528" name="Google Shape;528;p37"/>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529" name="Google Shape;529;p3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0" name="Google Shape;53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31" name="Google Shape;53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sp>
        <p:nvSpPr>
          <p:cNvPr id="536" name="Google Shape;53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Sensory input recruits inhibition as well as excitation</a:t>
            </a:r>
            <a:endParaRPr b="0" i="0" sz="1800" u="none" cap="none" strike="noStrike">
              <a:solidFill>
                <a:schemeClr val="dk1"/>
              </a:solidFill>
              <a:latin typeface="Calibri"/>
              <a:ea typeface="Calibri"/>
              <a:cs typeface="Calibri"/>
              <a:sym typeface="Calibri"/>
            </a:endParaRPr>
          </a:p>
        </p:txBody>
      </p:sp>
      <p:sp>
        <p:nvSpPr>
          <p:cNvPr id="537" name="Google Shape;537;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475C"/>
              </a:buClr>
              <a:buSzPts val="1500"/>
              <a:buFont typeface="Arial"/>
              <a:buNone/>
            </a:pPr>
            <a:r>
              <a:rPr b="1" i="0" lang="en-US" sz="1400" u="none" cap="none" strike="noStrike">
                <a:solidFill>
                  <a:srgbClr val="252D35"/>
                </a:solidFill>
                <a:latin typeface="Arial"/>
                <a:ea typeface="Arial"/>
                <a:cs typeface="Arial"/>
                <a:sym typeface="Arial"/>
              </a:rPr>
              <a:t>Feed-forward inhibition</a:t>
            </a:r>
            <a:r>
              <a:rPr b="0" i="0" lang="en-US" sz="1400" u="none" cap="none" strike="noStrike">
                <a:solidFill>
                  <a:srgbClr val="000000"/>
                </a:solidFill>
                <a:latin typeface="Arial"/>
                <a:ea typeface="Arial"/>
                <a:cs typeface="Arial"/>
                <a:sym typeface="Arial"/>
              </a:rPr>
              <a:t> occurs when sensory input excites inhibitory pathways alongside the pathway to a target neuron. Machnik and colleagues elicited an antidromic spike at different times during a visual or acoustic PSP and used the reduction of that spike as a probe of sensory-driven inhibition. Sensory input therefore triggers inhibition in parallel with excitation.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475C"/>
              </a:buClr>
              <a:buSzPts val="1500"/>
              <a:buFont typeface="Arial"/>
              <a:buNone/>
            </a:pPr>
            <a:r>
              <a:rPr b="0" i="0" lang="en-US" sz="1400" u="none" cap="none" strike="noStrike">
                <a:solidFill>
                  <a:srgbClr val="000000"/>
                </a:solidFill>
                <a:latin typeface="Arial"/>
                <a:ea typeface="Arial"/>
                <a:cs typeface="Arial"/>
                <a:sym typeface="Arial"/>
              </a:rPr>
              <a:t>In archerfish and goldfish, the inhibitory time course matched the duration of the evoked PSP. Comparable effects occurred for visual and acoustic stimulation, so sensory access to the Mauthner cell includes opposing influences rather than a purely excitatory command. The inhibition followed the same timing in both species, which points to a shared mechanism.</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475C"/>
              </a:buClr>
              <a:buSzPts val="1500"/>
              <a:buFont typeface="Arial"/>
              <a:buNone/>
            </a:pPr>
            <a:r>
              <a:rPr b="0" i="0" lang="en-US" sz="1400" u="none" cap="none" strike="noStrike">
                <a:solidFill>
                  <a:srgbClr val="000000"/>
                </a:solidFill>
                <a:latin typeface="Arial"/>
                <a:ea typeface="Arial"/>
                <a:cs typeface="Arial"/>
                <a:sym typeface="Arial"/>
              </a:rPr>
              <a:t>The method measures a functional inhibitory effect during synaptic input, and similar time courses can arise from different underlying circuits. The authors therefore treat a shared inhibitory network as the parsimonious explanation for matched time courses across stimuli. Matched time courses across visual and acoustic stimuli favor one shared inhibitory network over separate pathways.</a:t>
            </a:r>
            <a:endParaRPr b="0" i="0" sz="1800" u="none" cap="none" strike="noStrike">
              <a:solidFill>
                <a:schemeClr val="dk1"/>
              </a:solidFill>
              <a:latin typeface="Calibri"/>
              <a:ea typeface="Calibri"/>
              <a:cs typeface="Calibri"/>
              <a:sym typeface="Calibri"/>
            </a:endParaRPr>
          </a:p>
        </p:txBody>
      </p:sp>
      <p:pic>
        <p:nvPicPr>
          <p:cNvPr id="540" name="Google Shape;540;p38"/>
          <p:cNvPicPr preferRelativeResize="0"/>
          <p:nvPr/>
        </p:nvPicPr>
        <p:blipFill rotWithShape="1">
          <a:blip r:embed="rId3">
            <a:alphaModFix/>
          </a:blip>
          <a:srcRect b="0" l="0" r="0" t="0"/>
          <a:stretch/>
        </p:blipFill>
        <p:spPr>
          <a:xfrm>
            <a:off x="8598694" y="1280118"/>
            <a:ext cx="794445" cy="2468667"/>
          </a:xfrm>
          <a:prstGeom prst="rect">
            <a:avLst/>
          </a:prstGeom>
          <a:noFill/>
          <a:ln>
            <a:noFill/>
          </a:ln>
        </p:spPr>
      </p:pic>
      <p:pic>
        <p:nvPicPr>
          <p:cNvPr id="542" name="Google Shape;542;p38"/>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543" name="Google Shape;543;p3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544" name="Google Shape;544;p3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5" name="Google Shape;54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46" name="Google Shape;54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0" name="Shape 550"/>
        <p:cNvGrpSpPr/>
        <p:nvPr/>
      </p:nvGrpSpPr>
      <p:grpSpPr>
        <a:xfrm>
          <a:off x="0" y="0"/>
          <a:ext cx="0" cy="0"/>
          <a:chOff x="0" y="0"/>
          <a:chExt cx="0" cy="0"/>
        </a:xfrm>
      </p:grpSpPr>
      <p:sp>
        <p:nvSpPr>
          <p:cNvPr id="551" name="Google Shape;55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Airflow perturbation tests adaptation of shooting aim</a:t>
            </a:r>
            <a:endParaRPr b="0" i="0" sz="1800" u="none" cap="none" strike="noStrike">
              <a:solidFill>
                <a:schemeClr val="dk1"/>
              </a:solidFill>
              <a:latin typeface="Calibri"/>
              <a:ea typeface="Calibri"/>
              <a:cs typeface="Calibri"/>
              <a:sym typeface="Calibri"/>
            </a:endParaRPr>
          </a:p>
        </p:txBody>
      </p:sp>
      <p:sp>
        <p:nvSpPr>
          <p:cNvPr id="552" name="Google Shape;55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Volotsky and colleagues trained Toxotes chatareus to shoot at an aerial target while horizontal airflow blew above the water. The air deflected the jet while the fish stayed in the water, creating an </a:t>
            </a:r>
            <a:r>
              <a:rPr b="1" i="0" lang="en-US" sz="1400" u="none" cap="none" strike="noStrike">
                <a:solidFill>
                  <a:srgbClr val="252D35"/>
                </a:solidFill>
                <a:latin typeface="Arial"/>
                <a:ea typeface="Arial"/>
                <a:cs typeface="Arial"/>
                <a:sym typeface="Arial"/>
              </a:rPr>
              <a:t>aiming error</a:t>
            </a:r>
            <a:r>
              <a:rPr b="0" i="0" lang="en-US" sz="1400" u="none" cap="none" strike="noStrike">
                <a:solidFill>
                  <a:srgbClr val="000000"/>
                </a:solidFill>
                <a:latin typeface="Arial"/>
                <a:ea typeface="Arial"/>
                <a:cs typeface="Arial"/>
                <a:sym typeface="Arial"/>
              </a:rPr>
              <a:t> without moving the visible target. Each airflow trial shifted the jet in one direction while the target held its position.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experiment compared baseline shots, a perturbation period, and shots after airflow was removed. Errors rose when airflow began and then declined over successive shots, and trials in both airflow directions tested whether adjustment was confined to one direction of deflection. Shots after removal showed whether the fish had kept an adjustment.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1" i="0" lang="en-US" sz="1400" u="none" cap="none" strike="noStrike">
                <a:solidFill>
                  <a:srgbClr val="252D35"/>
                </a:solidFill>
                <a:latin typeface="Arial"/>
                <a:ea typeface="Arial"/>
                <a:cs typeface="Arial"/>
                <a:sym typeface="Arial"/>
              </a:rPr>
              <a:t>Motor adaptation</a:t>
            </a:r>
            <a:r>
              <a:rPr b="0" i="0" lang="en-US" sz="1400" u="none" cap="none" strike="noStrike">
                <a:solidFill>
                  <a:srgbClr val="000000"/>
                </a:solidFill>
                <a:latin typeface="Arial"/>
                <a:ea typeface="Arial"/>
                <a:cs typeface="Arial"/>
                <a:sym typeface="Arial"/>
              </a:rPr>
              <a:t> is the adjustment of a movement in response to systematic errors caused by changed conditions. The measured correction reflects flexible calibration of the shooting action, and the apparatus kept the blower outside the fish's visual field. The blower placement is part of the experimental control, which keeps visual cues constant.</a:t>
            </a:r>
            <a:endParaRPr b="0" i="0" sz="1800" u="none" cap="none" strike="noStrike">
              <a:solidFill>
                <a:schemeClr val="dk1"/>
              </a:solidFill>
              <a:latin typeface="Calibri"/>
              <a:ea typeface="Calibri"/>
              <a:cs typeface="Calibri"/>
              <a:sym typeface="Calibri"/>
            </a:endParaRPr>
          </a:p>
        </p:txBody>
      </p:sp>
      <p:pic>
        <p:nvPicPr>
          <p:cNvPr id="555" name="Google Shape;555;p39"/>
          <p:cNvPicPr preferRelativeResize="0"/>
          <p:nvPr/>
        </p:nvPicPr>
        <p:blipFill rotWithShape="1">
          <a:blip r:embed="rId3">
            <a:alphaModFix/>
          </a:blip>
          <a:srcRect b="0" l="0" r="0" t="0"/>
          <a:stretch/>
        </p:blipFill>
        <p:spPr>
          <a:xfrm>
            <a:off x="6367039" y="1280071"/>
            <a:ext cx="5257753" cy="3308598"/>
          </a:xfrm>
          <a:prstGeom prst="rect">
            <a:avLst/>
          </a:prstGeom>
          <a:noFill/>
          <a:ln>
            <a:noFill/>
          </a:ln>
        </p:spPr>
      </p:pic>
      <p:sp>
        <p:nvSpPr>
          <p:cNvPr id="556" name="Google Shape;556;p39"/>
          <p:cNvSpPr/>
          <p:nvPr/>
        </p:nvSpPr>
        <p:spPr>
          <a:xfrm>
            <a:off x="6367016" y="468019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2(A–B). Original airflow apparatus and photographed water jet.</a:t>
            </a:r>
            <a:endParaRPr b="0" i="0" sz="1800" u="none" cap="none" strike="noStrike">
              <a:solidFill>
                <a:schemeClr val="dk1"/>
              </a:solidFill>
              <a:latin typeface="Calibri"/>
              <a:ea typeface="Calibri"/>
              <a:cs typeface="Calibri"/>
              <a:sym typeface="Calibri"/>
            </a:endParaRPr>
          </a:p>
        </p:txBody>
      </p:sp>
      <p:sp>
        <p:nvSpPr>
          <p:cNvPr id="557" name="Google Shape;557;p3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58" name="Google Shape;55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59" name="Google Shape;55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3" name="Shape 563"/>
        <p:cNvGrpSpPr/>
        <p:nvPr/>
      </p:nvGrpSpPr>
      <p:grpSpPr>
        <a:xfrm>
          <a:off x="0" y="0"/>
          <a:ext cx="0" cy="0"/>
          <a:chOff x="0" y="0"/>
          <a:chExt cx="0" cy="0"/>
        </a:xfrm>
      </p:grpSpPr>
      <p:sp>
        <p:nvSpPr>
          <p:cNvPr id="564" name="Google Shape;56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Opposite washout errors reveal retained compensation</a:t>
            </a:r>
            <a:endParaRPr b="0" i="0" sz="1800" u="none" cap="none" strike="noStrike">
              <a:solidFill>
                <a:schemeClr val="dk1"/>
              </a:solidFill>
              <a:latin typeface="Calibri"/>
              <a:ea typeface="Calibri"/>
              <a:cs typeface="Calibri"/>
              <a:sym typeface="Calibri"/>
            </a:endParaRPr>
          </a:p>
        </p:txBody>
      </p:sp>
      <p:sp>
        <p:nvSpPr>
          <p:cNvPr id="565" name="Google Shape;565;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After the airflow perturbation ended, Volotsky and colleagues observed errors in the opposite direction. These aftereffects declined steadily over several subsequent shots. Compensation learned during the perturbation therefore persisted when the physical deflection was removed, and the opposite-direction errors show that the correction stayed active. The effect appeared immediately after the removal.</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baseline, perturbation and washout sequence distinguishes adaptive recalibration from simple following of the current disturbance. If each shot corrected just the visible outcome, removing the disturbance would leave no systematic bias in the opposite direction. Each phase of the sequence contributes a separate measurement. The paired sequence gives a clear test.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aftereffects therefore reflect </a:t>
            </a:r>
            <a:r>
              <a:rPr b="1" i="0" lang="en-US" sz="1400" u="none" cap="none" strike="noStrike">
                <a:solidFill>
                  <a:srgbClr val="252D35"/>
                </a:solidFill>
                <a:latin typeface="Arial"/>
                <a:ea typeface="Arial"/>
                <a:cs typeface="Arial"/>
                <a:sym typeface="Arial"/>
              </a:rPr>
              <a:t>motor commands</a:t>
            </a:r>
            <a:r>
              <a:rPr b="0" i="0" lang="en-US" sz="1400" u="none" cap="none" strike="noStrike">
                <a:solidFill>
                  <a:srgbClr val="000000"/>
                </a:solidFill>
                <a:latin typeface="Arial"/>
                <a:ea typeface="Arial"/>
                <a:cs typeface="Arial"/>
                <a:sym typeface="Arial"/>
              </a:rPr>
              <a:t> that were altered during the perturbation and that anticipate a recurring disturbance. Adaptive changes of this kind allow the shooting action to stay accurate across repeated disturbances. Such persistence is the defining feature of adaptive motor calibration. The washout result identifies compensation that persists after removal.</a:t>
            </a:r>
            <a:endParaRPr b="0" i="0" sz="1800" u="none" cap="none" strike="noStrike">
              <a:solidFill>
                <a:schemeClr val="dk1"/>
              </a:solidFill>
              <a:latin typeface="Calibri"/>
              <a:ea typeface="Calibri"/>
              <a:cs typeface="Calibri"/>
              <a:sym typeface="Calibri"/>
            </a:endParaRPr>
          </a:p>
        </p:txBody>
      </p:sp>
      <p:pic>
        <p:nvPicPr>
          <p:cNvPr id="568" name="Google Shape;568;p40"/>
          <p:cNvPicPr preferRelativeResize="0"/>
          <p:nvPr/>
        </p:nvPicPr>
        <p:blipFill rotWithShape="1">
          <a:blip r:embed="rId3">
            <a:alphaModFix/>
          </a:blip>
          <a:srcRect b="0" l="0" r="0" t="0"/>
          <a:stretch/>
        </p:blipFill>
        <p:spPr>
          <a:xfrm>
            <a:off x="6534944" y="1280071"/>
            <a:ext cx="4922093" cy="4297561"/>
          </a:xfrm>
          <a:prstGeom prst="rect">
            <a:avLst/>
          </a:prstGeom>
          <a:noFill/>
          <a:ln>
            <a:noFill/>
          </a:ln>
        </p:spPr>
      </p:pic>
      <p:sp>
        <p:nvSpPr>
          <p:cNvPr id="569" name="Google Shape;569;p4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3(C–F). Trial-by-trial error reduction and aftereffects in both airflow directions.</a:t>
            </a:r>
            <a:endParaRPr b="0" i="0" sz="1800" u="none" cap="none" strike="noStrike">
              <a:solidFill>
                <a:schemeClr val="dk1"/>
              </a:solidFill>
              <a:latin typeface="Calibri"/>
              <a:ea typeface="Calibri"/>
              <a:cs typeface="Calibri"/>
              <a:sym typeface="Calibri"/>
            </a:endParaRPr>
          </a:p>
        </p:txBody>
      </p:sp>
      <p:sp>
        <p:nvSpPr>
          <p:cNvPr id="570" name="Google Shape;570;p4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72" name="Google Shape;57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Reversing body direction reveals an egocentric adjustment</a:t>
            </a:r>
            <a:endParaRPr b="0" i="0" sz="1800" u="none" cap="none" strike="noStrike">
              <a:solidFill>
                <a:schemeClr val="dk1"/>
              </a:solidFill>
              <a:latin typeface="Calibri"/>
              <a:ea typeface="Calibri"/>
              <a:cs typeface="Calibri"/>
              <a:sym typeface="Calibri"/>
            </a:endParaRPr>
          </a:p>
        </p:txBody>
      </p:sp>
      <p:sp>
        <p:nvSpPr>
          <p:cNvPr id="578" name="Google Shape;578;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An </a:t>
            </a:r>
            <a:r>
              <a:rPr b="1" i="0" lang="en-US" sz="1400" u="none" cap="none" strike="noStrike">
                <a:solidFill>
                  <a:srgbClr val="252D35"/>
                </a:solidFill>
                <a:latin typeface="Arial"/>
                <a:ea typeface="Arial"/>
                <a:cs typeface="Arial"/>
                <a:sym typeface="Arial"/>
              </a:rPr>
              <a:t>egocentric reference frame</a:t>
            </a:r>
            <a:r>
              <a:rPr b="0" i="0" lang="en-US" sz="1400" u="none" cap="none" strike="noStrike">
                <a:solidFill>
                  <a:srgbClr val="000000"/>
                </a:solidFill>
                <a:latin typeface="Arial"/>
                <a:ea typeface="Arial"/>
                <a:cs typeface="Arial"/>
                <a:sym typeface="Arial"/>
              </a:rPr>
              <a:t> expresses a relation relative to the animal's body, whereas an allocentric frame expresses it relative to the external environment. Volotsky and colleagues rotated the shooting access so a trained fish changed its body orientation while airflow direction stayed fixed in the tank. The reference frame question asks which coordinate system the learned change is stored in.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After the reversal, errors became large and adaptation required additional shots. The retained compensation followed the earlier body-relative relation rather than immediately accounting for the unchanged external airflow direction, while visual landmarks in the tank remained available. Visual landmarks were available throughout the session, so the fish had access to external cues.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This manipulation supports body-centered adaptation under conditions that lack direct cues to airflow direction. The result constrains how an acquired shooting compensation transfers when the relation between the body and the disturbance changes. The result therefore distinguishes body-relative from external-relative learning in this setting. Learned compensation therefore moved with the body in this setting.</a:t>
            </a:r>
            <a:endParaRPr b="0" i="0" sz="1800" u="none" cap="none" strike="noStrike">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3">
            <a:alphaModFix/>
          </a:blip>
          <a:srcRect b="0" l="0" r="0" t="0"/>
          <a:stretch/>
        </p:blipFill>
        <p:spPr>
          <a:xfrm>
            <a:off x="7610977" y="1280071"/>
            <a:ext cx="2769878" cy="4297561"/>
          </a:xfrm>
          <a:prstGeom prst="rect">
            <a:avLst/>
          </a:prstGeom>
          <a:noFill/>
          <a:ln>
            <a:noFill/>
          </a:ln>
        </p:spPr>
      </p:pic>
      <p:sp>
        <p:nvSpPr>
          <p:cNvPr id="582" name="Google Shape;582;p41"/>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5(A–E). Body-direction reversal tests of the adaptation reference frame.</a:t>
            </a:r>
            <a:endParaRPr b="0" i="0" sz="1800" u="none" cap="none" strike="noStrike">
              <a:solidFill>
                <a:schemeClr val="dk1"/>
              </a:solidFill>
              <a:latin typeface="Calibri"/>
              <a:ea typeface="Calibri"/>
              <a:cs typeface="Calibri"/>
              <a:sym typeface="Calibri"/>
            </a:endParaRPr>
          </a:p>
        </p:txBody>
      </p:sp>
      <p:sp>
        <p:nvSpPr>
          <p:cNvPr id="583" name="Google Shape;583;p4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4" name="Google Shape;584;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85" name="Google Shape;585;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9" name="Shape 589"/>
        <p:cNvGrpSpPr/>
        <p:nvPr/>
      </p:nvGrpSpPr>
      <p:grpSpPr>
        <a:xfrm>
          <a:off x="0" y="0"/>
          <a:ext cx="0" cy="0"/>
          <a:chOff x="0" y="0"/>
          <a:chExt cx="0" cy="0"/>
        </a:xfrm>
      </p:grpSpPr>
      <p:sp>
        <p:nvSpPr>
          <p:cNvPr id="590" name="Google Shape;590;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Predictive starts can learn a different interception rule</a:t>
            </a:r>
            <a:endParaRPr b="0" i="0" sz="1800" u="none" cap="none" strike="noStrike">
              <a:solidFill>
                <a:schemeClr val="dk1"/>
              </a:solidFill>
              <a:latin typeface="Calibri"/>
              <a:ea typeface="Calibri"/>
              <a:cs typeface="Calibri"/>
              <a:sym typeface="Calibri"/>
            </a:endParaRPr>
          </a:p>
        </p:txBody>
      </p:sp>
      <p:sp>
        <p:nvSpPr>
          <p:cNvPr id="591" name="Google Shape;591;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Krause and colleagues presented </a:t>
            </a:r>
            <a:r>
              <a:rPr b="1" i="0" lang="en-US" sz="1400" u="none" cap="none" strike="noStrike">
                <a:solidFill>
                  <a:srgbClr val="274E13"/>
                </a:solidFill>
                <a:latin typeface="Arial"/>
                <a:ea typeface="Arial"/>
                <a:cs typeface="Arial"/>
                <a:sym typeface="Arial"/>
              </a:rPr>
              <a:t>virtual prey</a:t>
            </a:r>
            <a:r>
              <a:rPr b="0" i="0" lang="en-US" sz="1400" u="none" cap="none" strike="noStrike">
                <a:solidFill>
                  <a:srgbClr val="000000"/>
                </a:solidFill>
                <a:latin typeface="Arial"/>
                <a:ea typeface="Arial"/>
                <a:cs typeface="Arial"/>
                <a:sym typeface="Arial"/>
              </a:rPr>
              <a:t> on a screen above the tank and rewarded the corresponding virtual impact points. After initially straight motion, training trajectories changed direction by 39.8 degrees, and food was delivered at the new deflected destination instead of the old ballistic one. Training therefore linked each early motion pattern to a reward at a deflected location.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With training, initial turns shifted toward the new destinations. In critical tests that displayed the early straight trajectory alone, feeders were moved away from both candidate impact points, and fish still aimed at the learned deflected point. Turns continued toward the learned point even though the feeders had moved away from both candidates.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response remained a rapid predictive start rather than a slow approach. This establishes plasticity in the link between early motion and chosen destination, while the storage site of that rule is a separate question. Immediate acquisition of the rapid response indicates that learning changed the decision itself, not only movement timing.</a:t>
            </a:r>
            <a:endParaRPr b="0" i="0" sz="1800" u="none" cap="none" strike="noStrike">
              <a:solidFill>
                <a:schemeClr val="dk1"/>
              </a:solidFill>
              <a:latin typeface="Calibri"/>
              <a:ea typeface="Calibri"/>
              <a:cs typeface="Calibri"/>
              <a:sym typeface="Calibri"/>
            </a:endParaRPr>
          </a:p>
        </p:txBody>
      </p:sp>
      <p:pic>
        <p:nvPicPr>
          <p:cNvPr id="594" name="Google Shape;594;p42"/>
          <p:cNvPicPr preferRelativeResize="0"/>
          <p:nvPr/>
        </p:nvPicPr>
        <p:blipFill rotWithShape="1">
          <a:blip r:embed="rId3">
            <a:alphaModFix/>
          </a:blip>
          <a:srcRect b="0" l="0" r="0" t="0"/>
          <a:stretch/>
        </p:blipFill>
        <p:spPr>
          <a:xfrm>
            <a:off x="6732435" y="1280071"/>
            <a:ext cx="4527111" cy="4297561"/>
          </a:xfrm>
          <a:prstGeom prst="rect">
            <a:avLst/>
          </a:prstGeom>
          <a:noFill/>
          <a:ln>
            <a:noFill/>
          </a:ln>
        </p:spPr>
      </p:pic>
      <p:sp>
        <p:nvSpPr>
          <p:cNvPr id="595" name="Google Shape;595;p4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4(A–K). Original deflection training, transfer tests and latency–accuracy results.</a:t>
            </a:r>
            <a:endParaRPr b="0" i="0" sz="1800" u="none" cap="none" strike="noStrike">
              <a:solidFill>
                <a:schemeClr val="dk1"/>
              </a:solidFill>
              <a:latin typeface="Calibri"/>
              <a:ea typeface="Calibri"/>
              <a:cs typeface="Calibri"/>
              <a:sym typeface="Calibri"/>
            </a:endParaRPr>
          </a:p>
        </p:txBody>
      </p:sp>
      <p:sp>
        <p:nvSpPr>
          <p:cNvPr id="596" name="Google Shape;596;p4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7" name="Google Shape;597;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598" name="Google Shape;598;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2" name="Shape 602"/>
        <p:cNvGrpSpPr/>
        <p:nvPr/>
      </p:nvGrpSpPr>
      <p:grpSpPr>
        <a:xfrm>
          <a:off x="0" y="0"/>
          <a:ext cx="0" cy="0"/>
          <a:chOff x="0" y="0"/>
          <a:chExt cx="0" cy="0"/>
        </a:xfrm>
      </p:grpSpPr>
      <p:sp>
        <p:nvSpPr>
          <p:cNvPr id="603" name="Google Shape;603;p4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learned rule transfers to untrained input combinations</a:t>
            </a:r>
            <a:endParaRPr b="0" i="0" sz="1800" u="none" cap="none" strike="noStrike">
              <a:solidFill>
                <a:schemeClr val="dk1"/>
              </a:solidFill>
              <a:latin typeface="Calibri"/>
              <a:ea typeface="Calibri"/>
              <a:cs typeface="Calibri"/>
              <a:sym typeface="Calibri"/>
            </a:endParaRPr>
          </a:p>
        </p:txBody>
      </p:sp>
      <p:sp>
        <p:nvSpPr>
          <p:cNvPr id="604" name="Google Shape;604;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Krause and colleagues tested whether learning simply replaced familiar stimulus-response associations. Fish trained at one height were challenged at other heights, where the old training-height response and the new rule predicted different destinations. The old response and the new rule thus pointed to different locations, so a choice between them was measurable.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Initial turns were already appropriate for the untrained heights rather than systematically approaching the training-height substitute. Additional tests changed object size and included an untrained speed of 1.425 m/s, and the learned relation </a:t>
            </a:r>
            <a:r>
              <a:rPr b="1" i="0" lang="en-US" sz="1400" u="none" cap="none" strike="noStrike">
                <a:solidFill>
                  <a:srgbClr val="274E13"/>
                </a:solidFill>
                <a:latin typeface="Arial"/>
                <a:ea typeface="Arial"/>
                <a:cs typeface="Arial"/>
                <a:sym typeface="Arial"/>
              </a:rPr>
              <a:t>generalized</a:t>
            </a:r>
            <a:r>
              <a:rPr b="0" i="0" lang="en-US" sz="1400" u="none" cap="none" strike="noStrike">
                <a:solidFill>
                  <a:srgbClr val="000000"/>
                </a:solidFill>
                <a:latin typeface="Arial"/>
                <a:ea typeface="Arial"/>
                <a:cs typeface="Arial"/>
                <a:sym typeface="Arial"/>
              </a:rPr>
              <a:t> beyond the exact combinations used during training. Object size and speed were varied, so the rule had to hold across changed conditions.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Immediate transfer supports a more general representation than a lookup list restricted to trained cases. The interpretation rests on the competing predicted destinations in these controlled transfer trials, rather than on equating a successful catch with abstract reasoning. A learned rule that applies to new combinations is more useful than a memorized list of trials.</a:t>
            </a:r>
            <a:endParaRPr b="0" i="0" sz="1800" u="none" cap="none" strike="noStrike">
              <a:solidFill>
                <a:schemeClr val="dk1"/>
              </a:solidFill>
              <a:latin typeface="Calibri"/>
              <a:ea typeface="Calibri"/>
              <a:cs typeface="Calibri"/>
              <a:sym typeface="Calibri"/>
            </a:endParaRPr>
          </a:p>
        </p:txBody>
      </p:sp>
      <p:pic>
        <p:nvPicPr>
          <p:cNvPr id="607" name="Google Shape;607;p43"/>
          <p:cNvPicPr preferRelativeResize="0"/>
          <p:nvPr/>
        </p:nvPicPr>
        <p:blipFill rotWithShape="1">
          <a:blip r:embed="rId3">
            <a:alphaModFix/>
          </a:blip>
          <a:srcRect b="0" l="0" r="0" t="0"/>
          <a:stretch/>
        </p:blipFill>
        <p:spPr>
          <a:xfrm>
            <a:off x="7613006" y="1280071"/>
            <a:ext cx="2765671" cy="4297561"/>
          </a:xfrm>
          <a:prstGeom prst="rect">
            <a:avLst/>
          </a:prstGeom>
          <a:noFill/>
          <a:ln>
            <a:noFill/>
          </a:ln>
        </p:spPr>
      </p:pic>
      <p:sp>
        <p:nvSpPr>
          <p:cNvPr id="608" name="Google Shape;608;p43"/>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5(A–G). Transfer to untrained speed, angle, size and height.</a:t>
            </a:r>
            <a:endParaRPr b="0" i="0" sz="1800" u="none" cap="none" strike="noStrike">
              <a:solidFill>
                <a:schemeClr val="dk1"/>
              </a:solidFill>
              <a:latin typeface="Calibri"/>
              <a:ea typeface="Calibri"/>
              <a:cs typeface="Calibri"/>
              <a:sym typeface="Calibri"/>
            </a:endParaRPr>
          </a:p>
        </p:txBody>
      </p:sp>
      <p:sp>
        <p:nvSpPr>
          <p:cNvPr id="609" name="Google Shape;609;p4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0" name="Google Shape;610;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611" name="Google Shape;611;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5" name="Shape 615"/>
        <p:cNvGrpSpPr/>
        <p:nvPr/>
      </p:nvGrpSpPr>
      <p:grpSpPr>
        <a:xfrm>
          <a:off x="0" y="0"/>
          <a:ext cx="0" cy="0"/>
          <a:chOff x="0" y="0"/>
          <a:chExt cx="0" cy="0"/>
        </a:xfrm>
      </p:grpSpPr>
      <p:sp>
        <p:nvSpPr>
          <p:cNvPr id="616" name="Google Shape;616;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Object shape selects between two interception rules</a:t>
            </a:r>
            <a:endParaRPr b="0" i="0" sz="1800" u="none" cap="none" strike="noStrike">
              <a:solidFill>
                <a:schemeClr val="dk1"/>
              </a:solidFill>
              <a:latin typeface="Calibri"/>
              <a:ea typeface="Calibri"/>
              <a:cs typeface="Calibri"/>
              <a:sym typeface="Calibri"/>
            </a:endParaRPr>
          </a:p>
        </p:txBody>
      </p:sp>
      <p:sp>
        <p:nvSpPr>
          <p:cNvPr id="617" name="Google Shape;617;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500" u="none" cap="none" strike="noStrike">
                <a:solidFill>
                  <a:srgbClr val="000000"/>
                </a:solidFill>
                <a:latin typeface="Arial"/>
                <a:ea typeface="Arial"/>
                <a:cs typeface="Arial"/>
                <a:sym typeface="Arial"/>
              </a:rPr>
              <a:t>Krause and colleagues trained fish with two visually different prey objects. A disk required the learned deflected relation, whereas a triangle required the original ballistic relation. Shape and initial motion were controlled, so the same motion variables could require different destinations. Prey shape therefore served as the cue that identified which rule applied.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500" u="none" cap="none" strike="noStrike">
                <a:solidFill>
                  <a:srgbClr val="000000"/>
                </a:solidFill>
                <a:latin typeface="Arial"/>
                <a:ea typeface="Arial"/>
                <a:cs typeface="Arial"/>
                <a:sym typeface="Arial"/>
              </a:rPr>
              <a:t>In interspersed tests, the initial trajectory alone was visible. Fish directed turns toward the deflected virtual point for disks and the ballistic virtual point for triangles, so the decision could use a </a:t>
            </a:r>
            <a:r>
              <a:rPr b="1" i="0" lang="en-US" sz="1500" u="none" cap="none" strike="noStrike">
                <a:solidFill>
                  <a:srgbClr val="274E13"/>
                </a:solidFill>
                <a:latin typeface="Arial"/>
                <a:ea typeface="Arial"/>
                <a:cs typeface="Arial"/>
                <a:sym typeface="Arial"/>
              </a:rPr>
              <a:t>context cue</a:t>
            </a:r>
            <a:r>
              <a:rPr b="0" i="0" lang="en-US" sz="1500" u="none" cap="none" strike="noStrike">
                <a:solidFill>
                  <a:srgbClr val="000000"/>
                </a:solidFill>
                <a:latin typeface="Arial"/>
                <a:ea typeface="Arial"/>
                <a:cs typeface="Arial"/>
                <a:sym typeface="Arial"/>
              </a:rPr>
              <a:t> to choose between two concurrent motion-to-destination relations. Shape cues therefore gave the fish a reliable basis for choosing the destination.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500" u="none" cap="none" strike="noStrike">
                <a:solidFill>
                  <a:srgbClr val="000000"/>
                </a:solidFill>
                <a:latin typeface="Arial"/>
                <a:ea typeface="Arial"/>
                <a:cs typeface="Arial"/>
                <a:sym typeface="Arial"/>
              </a:rPr>
              <a:t>This is stronger evidence than learning one fixed turn toward each shape, because required turns also depended on prey speed, direction, height and fish position. Identifying the cells that recognize the object and the synapses that switch the motor computation is a separate task. Speed, direction and height all shaped the required turns in these trials.</a:t>
            </a:r>
            <a:endParaRPr b="0" i="0" sz="1800" u="none" cap="none" strike="noStrike">
              <a:solidFill>
                <a:schemeClr val="dk1"/>
              </a:solidFill>
              <a:latin typeface="Calibri"/>
              <a:ea typeface="Calibri"/>
              <a:cs typeface="Calibri"/>
              <a:sym typeface="Calibri"/>
            </a:endParaRPr>
          </a:p>
        </p:txBody>
      </p:sp>
      <p:pic>
        <p:nvPicPr>
          <p:cNvPr id="620" name="Google Shape;620;p44"/>
          <p:cNvPicPr preferRelativeResize="0"/>
          <p:nvPr/>
        </p:nvPicPr>
        <p:blipFill rotWithShape="1">
          <a:blip r:embed="rId3">
            <a:alphaModFix/>
          </a:blip>
          <a:srcRect b="0" l="0" r="0" t="0"/>
          <a:stretch/>
        </p:blipFill>
        <p:spPr>
          <a:xfrm>
            <a:off x="7721088" y="1280071"/>
            <a:ext cx="2549954" cy="4297561"/>
          </a:xfrm>
          <a:prstGeom prst="rect">
            <a:avLst/>
          </a:prstGeom>
          <a:noFill/>
          <a:ln>
            <a:noFill/>
          </a:ln>
        </p:spPr>
      </p:pic>
      <p:sp>
        <p:nvSpPr>
          <p:cNvPr id="621" name="Google Shape;621;p44"/>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6(A–J). Shape cues select between learned and ballistic interception rules.</a:t>
            </a:r>
            <a:endParaRPr b="0" i="0" sz="1800" u="none" cap="none" strike="noStrike">
              <a:solidFill>
                <a:schemeClr val="dk1"/>
              </a:solidFill>
              <a:latin typeface="Calibri"/>
              <a:ea typeface="Calibri"/>
              <a:cs typeface="Calibri"/>
              <a:sym typeface="Calibri"/>
            </a:endParaRPr>
          </a:p>
        </p:txBody>
      </p:sp>
      <p:sp>
        <p:nvSpPr>
          <p:cNvPr id="622" name="Google Shape;622;p4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23" name="Google Shape;623;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624" name="Google Shape;624;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8" name="Shape 628"/>
        <p:cNvGrpSpPr/>
        <p:nvPr/>
      </p:nvGrpSpPr>
      <p:grpSpPr>
        <a:xfrm>
          <a:off x="0" y="0"/>
          <a:ext cx="0" cy="0"/>
          <a:chOff x="0" y="0"/>
          <a:chExt cx="0" cy="0"/>
        </a:xfrm>
      </p:grpSpPr>
      <p:sp>
        <p:nvSpPr>
          <p:cNvPr id="629" name="Google Shape;629;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late shape cue can still select the correct rule</a:t>
            </a:r>
            <a:endParaRPr b="0" i="0" sz="1800" u="none" cap="none" strike="noStrike">
              <a:solidFill>
                <a:schemeClr val="dk1"/>
              </a:solidFill>
              <a:latin typeface="Calibri"/>
              <a:ea typeface="Calibri"/>
              <a:cs typeface="Calibri"/>
              <a:sym typeface="Calibri"/>
            </a:endParaRPr>
          </a:p>
        </p:txBody>
      </p:sp>
      <p:sp>
        <p:nvSpPr>
          <p:cNvPr id="630" name="Google Shape;630;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Krause and colleagues tested whether a shape cue had to appear before prey motion to prepare the right decision. A neutral cross stayed stationary for 2 seconds, then changed into the relevant disk or triangle exactly when movement began. The late-cue condition therefore tested choice timing against an early-cue condition. The cue timing was controlled exactly.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Just the initial straight movement was displayed, so the later deflection gave no information about the correct destination. Errors were comparable to those obtained when object identity had been visible 2 seconds before motion, and the fish selected the </a:t>
            </a:r>
            <a:r>
              <a:rPr b="1" i="0" lang="en-US" sz="1400" u="none" cap="none" strike="noStrike">
                <a:solidFill>
                  <a:srgbClr val="274E13"/>
                </a:solidFill>
                <a:latin typeface="Arial"/>
                <a:ea typeface="Arial"/>
                <a:cs typeface="Arial"/>
                <a:sym typeface="Arial"/>
              </a:rPr>
              <a:t>appropriate rule</a:t>
            </a:r>
            <a:r>
              <a:rPr b="0" i="0" lang="en-US" sz="1400" u="none" cap="none" strike="noStrike">
                <a:solidFill>
                  <a:srgbClr val="000000"/>
                </a:solidFill>
                <a:latin typeface="Arial"/>
                <a:ea typeface="Arial"/>
                <a:cs typeface="Arial"/>
                <a:sym typeface="Arial"/>
              </a:rPr>
              <a:t> during the brief decision interval itself. Both conditions produced accurate rule selection.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This finding adds conditional flexibility to a response made in less than 100 ms under the tested conditions. Together with the transfer tests, it constrains simple accounts of a fixed reflex, while the circuitry for visual recognition and command selection is a topic for later investigation. The behavior occurred within the response window, so decisions were made in midflight.</a:t>
            </a:r>
            <a:endParaRPr b="0" i="0" sz="1800" u="none" cap="none" strike="noStrike">
              <a:solidFill>
                <a:schemeClr val="dk1"/>
              </a:solidFill>
              <a:latin typeface="Calibri"/>
              <a:ea typeface="Calibri"/>
              <a:cs typeface="Calibri"/>
              <a:sym typeface="Calibri"/>
            </a:endParaRPr>
          </a:p>
        </p:txBody>
      </p:sp>
      <p:pic>
        <p:nvPicPr>
          <p:cNvPr id="633" name="Google Shape;633;p45"/>
          <p:cNvPicPr preferRelativeResize="0"/>
          <p:nvPr/>
        </p:nvPicPr>
        <p:blipFill rotWithShape="1">
          <a:blip r:embed="rId3">
            <a:alphaModFix/>
          </a:blip>
          <a:srcRect b="0" l="0" r="0" t="0"/>
          <a:stretch/>
        </p:blipFill>
        <p:spPr>
          <a:xfrm>
            <a:off x="6367079" y="1280071"/>
            <a:ext cx="5257674" cy="3474393"/>
          </a:xfrm>
          <a:prstGeom prst="rect">
            <a:avLst/>
          </a:prstGeom>
          <a:noFill/>
          <a:ln>
            <a:noFill/>
          </a:ln>
        </p:spPr>
      </p:pic>
      <p:sp>
        <p:nvSpPr>
          <p:cNvPr id="634" name="Google Shape;634;p45"/>
          <p:cNvSpPr/>
          <p:nvPr/>
        </p:nvSpPr>
        <p:spPr>
          <a:xfrm>
            <a:off x="6367016" y="484599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7(A–E). Rule selection when an object changes appearance after motion onset.</a:t>
            </a:r>
            <a:endParaRPr b="0" i="0" sz="1800" u="none" cap="none" strike="noStrike">
              <a:solidFill>
                <a:schemeClr val="dk1"/>
              </a:solidFill>
              <a:latin typeface="Calibri"/>
              <a:ea typeface="Calibri"/>
              <a:cs typeface="Calibri"/>
              <a:sym typeface="Calibri"/>
            </a:endParaRPr>
          </a:p>
        </p:txBody>
      </p:sp>
      <p:sp>
        <p:nvSpPr>
          <p:cNvPr id="635" name="Google Shape;635;p4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6" name="Google Shape;63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637" name="Google Shape;63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1" name="Shape 641"/>
        <p:cNvGrpSpPr/>
        <p:nvPr/>
      </p:nvGrpSpPr>
      <p:grpSpPr>
        <a:xfrm>
          <a:off x="0" y="0"/>
          <a:ext cx="0" cy="0"/>
          <a:chOff x="0" y="0"/>
          <a:chExt cx="0" cy="0"/>
        </a:xfrm>
      </p:grpSpPr>
      <p:sp>
        <p:nvSpPr>
          <p:cNvPr id="642" name="Google Shape;64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Key takeaways</a:t>
            </a:r>
            <a:endParaRPr b="0" i="0" sz="1800" u="none" cap="none" strike="noStrike">
              <a:solidFill>
                <a:schemeClr val="dk1"/>
              </a:solidFill>
              <a:latin typeface="Calibri"/>
              <a:ea typeface="Calibri"/>
              <a:cs typeface="Calibri"/>
              <a:sym typeface="Calibri"/>
            </a:endParaRPr>
          </a:p>
        </p:txBody>
      </p:sp>
      <p:sp>
        <p:nvSpPr>
          <p:cNvPr id="643" name="Google Shape;643;p46"/>
          <p:cNvSpPr/>
          <p:nvPr/>
        </p:nvSpPr>
        <p:spPr>
          <a:xfrm>
            <a:off x="566886" y="12343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4" name="Google Shape;644;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600"/>
              <a:buFont typeface="Arial"/>
              <a:buNone/>
            </a:pPr>
            <a:r>
              <a:rPr b="1" i="0" lang="en-US" sz="1600" u="none" cap="none" strike="noStrike">
                <a:solidFill>
                  <a:srgbClr val="252D35"/>
                </a:solidFill>
                <a:latin typeface="Arial"/>
                <a:ea typeface="Arial"/>
                <a:cs typeface="Arial"/>
                <a:sym typeface="Arial"/>
              </a:rPr>
              <a:t>Prediction targets future impact</a:t>
            </a:r>
            <a:r>
              <a:rPr b="0" i="0" lang="en-US" sz="1600" u="none" cap="none" strike="noStrike">
                <a:solidFill>
                  <a:srgbClr val="000000"/>
                </a:solidFill>
                <a:latin typeface="Arial"/>
                <a:ea typeface="Arial"/>
                <a:cs typeface="Arial"/>
                <a:sym typeface="Arial"/>
              </a:rPr>
              <a:t> Early height and horizontal motion guide the initial turn toward a landing point, including a virtual landing point when descent is prevented.</a:t>
            </a:r>
            <a:endParaRPr b="0" i="0" sz="1800" u="none" cap="none" strike="noStrike">
              <a:solidFill>
                <a:schemeClr val="dk1"/>
              </a:solidFill>
              <a:latin typeface="Calibri"/>
              <a:ea typeface="Calibri"/>
              <a:cs typeface="Calibri"/>
              <a:sym typeface="Calibri"/>
            </a:endParaRPr>
          </a:p>
        </p:txBody>
      </p:sp>
      <p:sp>
        <p:nvSpPr>
          <p:cNvPr id="645" name="Google Shape;645;p46"/>
          <p:cNvSpPr/>
          <p:nvPr/>
        </p:nvSpPr>
        <p:spPr>
          <a:xfrm>
            <a:off x="6233071" y="12343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p:nvPr/>
        </p:nvSpPr>
        <p:spPr>
          <a:xfrm>
            <a:off x="6415980"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Fast starts remain flexible</a:t>
            </a:r>
            <a:r>
              <a:rPr b="0" i="0" lang="en-US" sz="1500" u="none" cap="none" strike="noStrike">
                <a:solidFill>
                  <a:srgbClr val="000000"/>
                </a:solidFill>
                <a:latin typeface="Arial"/>
                <a:ea typeface="Arial"/>
                <a:cs typeface="Arial"/>
                <a:sym typeface="Arial"/>
              </a:rPr>
              <a:t> Predictive C-starts bend and straighten rapidly while adjusting heading and take-off speed; similar escape kinematics do not alone prove a shared command neuron.</a:t>
            </a:r>
            <a:endParaRPr b="0" i="0" sz="1800" u="none" cap="none" strike="noStrike">
              <a:solidFill>
                <a:schemeClr val="dk1"/>
              </a:solidFill>
              <a:latin typeface="Calibri"/>
              <a:ea typeface="Calibri"/>
              <a:cs typeface="Calibri"/>
              <a:sym typeface="Calibri"/>
            </a:endParaRPr>
          </a:p>
        </p:txBody>
      </p:sp>
      <p:sp>
        <p:nvSpPr>
          <p:cNvPr id="647" name="Google Shape;647;p46"/>
          <p:cNvSpPr/>
          <p:nvPr/>
        </p:nvSpPr>
        <p:spPr>
          <a:xfrm>
            <a:off x="566886" y="29869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p:nvPr/>
        </p:nvSpPr>
        <p:spPr>
          <a:xfrm>
            <a:off x="749796"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Jet control is active</a:t>
            </a:r>
            <a:r>
              <a:rPr b="0" i="0" lang="en-US" sz="1500" u="none" cap="none" strike="noStrike">
                <a:solidFill>
                  <a:srgbClr val="000000"/>
                </a:solidFill>
                <a:latin typeface="Arial"/>
                <a:ea typeface="Arial"/>
                <a:cs typeface="Arial"/>
                <a:sym typeface="Arial"/>
              </a:rPr>
              <a:t> Range-dependent velocity gradients, stability and mouth-opening timing focus water near impact; the tested shot chemistry and body drift do not explain the adjustment.</a:t>
            </a:r>
            <a:endParaRPr b="0" i="0" sz="1800" u="none" cap="none" strike="noStrike">
              <a:solidFill>
                <a:schemeClr val="dk1"/>
              </a:solidFill>
              <a:latin typeface="Calibri"/>
              <a:ea typeface="Calibri"/>
              <a:cs typeface="Calibri"/>
              <a:sym typeface="Calibri"/>
            </a:endParaRPr>
          </a:p>
        </p:txBody>
      </p:sp>
      <p:sp>
        <p:nvSpPr>
          <p:cNvPr id="649" name="Google Shape;649;p46"/>
          <p:cNvSpPr/>
          <p:nvPr/>
        </p:nvSpPr>
        <p:spPr>
          <a:xfrm>
            <a:off x="6233071" y="29869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600"/>
              <a:buFont typeface="Arial"/>
              <a:buNone/>
            </a:pPr>
            <a:r>
              <a:rPr b="1" i="0" lang="en-US" sz="1600" u="none" cap="none" strike="noStrike">
                <a:solidFill>
                  <a:srgbClr val="252D35"/>
                </a:solidFill>
                <a:latin typeface="Arial"/>
                <a:ea typeface="Arial"/>
                <a:cs typeface="Arial"/>
                <a:sym typeface="Arial"/>
              </a:rPr>
              <a:t>Timing carries retinal information</a:t>
            </a:r>
            <a:r>
              <a:rPr b="0" i="0" lang="en-US" sz="1600" u="none" cap="none" strike="noStrike">
                <a:solidFill>
                  <a:srgbClr val="000000"/>
                </a:solidFill>
                <a:latin typeface="Arial"/>
                <a:ea typeface="Arial"/>
                <a:cs typeface="Arial"/>
                <a:sym typeface="Arial"/>
              </a:rPr>
              <a:t> First-spike population timing decodes motion velocity better than the tested rate or interval measures; biological use of the decoder remains unproven.</a:t>
            </a:r>
            <a:endParaRPr b="0" i="0" sz="1800" u="none" cap="none" strike="noStrike">
              <a:solidFill>
                <a:schemeClr val="dk1"/>
              </a:solidFill>
              <a:latin typeface="Calibri"/>
              <a:ea typeface="Calibri"/>
              <a:cs typeface="Calibri"/>
              <a:sym typeface="Calibri"/>
            </a:endParaRPr>
          </a:p>
        </p:txBody>
      </p:sp>
      <p:sp>
        <p:nvSpPr>
          <p:cNvPr id="651" name="Google Shape;651;p46"/>
          <p:cNvSpPr/>
          <p:nvPr/>
        </p:nvSpPr>
        <p:spPr>
          <a:xfrm>
            <a:off x="566886" y="47395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p:nvPr/>
        </p:nvSpPr>
        <p:spPr>
          <a:xfrm>
            <a:off x="749796"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Neural anatomy and causation differ</a:t>
            </a:r>
            <a:r>
              <a:rPr b="0" i="0" lang="en-US" sz="1500" u="none" cap="none" strike="noStrike">
                <a:solidFill>
                  <a:srgbClr val="000000"/>
                </a:solidFill>
                <a:latin typeface="Arial"/>
                <a:ea typeface="Arial"/>
                <a:cs typeface="Arial"/>
                <a:sym typeface="Arial"/>
              </a:rPr>
              <a:t> Archerfish have identifiable Mauthner cells with strong visual access and inhibitory controls, but these studies do not directly establish their recruitment in predictive starts.</a:t>
            </a:r>
            <a:endParaRPr b="0" i="0" sz="1800" u="none" cap="none" strike="noStrike">
              <a:solidFill>
                <a:schemeClr val="dk1"/>
              </a:solidFill>
              <a:latin typeface="Calibri"/>
              <a:ea typeface="Calibri"/>
              <a:cs typeface="Calibri"/>
              <a:sym typeface="Calibri"/>
            </a:endParaRPr>
          </a:p>
        </p:txBody>
      </p:sp>
      <p:sp>
        <p:nvSpPr>
          <p:cNvPr id="653" name="Google Shape;653;p46"/>
          <p:cNvSpPr/>
          <p:nvPr/>
        </p:nvSpPr>
        <p:spPr>
          <a:xfrm>
            <a:off x="6233071" y="47395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4" name="Google Shape;65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Learning changes rapid control</a:t>
            </a:r>
            <a:r>
              <a:rPr b="0" i="0" lang="en-US" sz="1500" u="none" cap="none" strike="noStrike">
                <a:solidFill>
                  <a:srgbClr val="000000"/>
                </a:solidFill>
                <a:latin typeface="Arial"/>
                <a:ea typeface="Arial"/>
                <a:cs typeface="Arial"/>
                <a:sym typeface="Arial"/>
              </a:rPr>
              <a:t> Shooting shows adaptive aftereffects; predictive starts can learn, generalize and select between context-dependent interception rules without abandoning rapid decisions.</a:t>
            </a:r>
            <a:endParaRPr b="0" i="0" sz="1800" u="none" cap="none" strike="noStrike">
              <a:solidFill>
                <a:schemeClr val="dk1"/>
              </a:solidFill>
              <a:latin typeface="Calibri"/>
              <a:ea typeface="Calibri"/>
              <a:cs typeface="Calibri"/>
              <a:sym typeface="Calibri"/>
            </a:endParaRPr>
          </a:p>
        </p:txBody>
      </p:sp>
      <p:sp>
        <p:nvSpPr>
          <p:cNvPr id="655" name="Google Shape;655;p4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6" name="Google Shape;65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 Wöhl &amp; Schuster (2007); Gerullis &amp; Schuster (2014); Kretschmer et al. (2012); Machnik et al. (2018a); Machnik et al. (2018b); Volotsky et al. (2023); Krause et al. (2024)</a:t>
            </a:r>
            <a:endParaRPr b="0" i="0" sz="1800" u="none" cap="none" strike="noStrike">
              <a:solidFill>
                <a:schemeClr val="dk1"/>
              </a:solidFill>
              <a:latin typeface="Calibri"/>
              <a:ea typeface="Calibri"/>
              <a:cs typeface="Calibri"/>
              <a:sym typeface="Calibri"/>
            </a:endParaRPr>
          </a:p>
        </p:txBody>
      </p:sp>
      <p:sp>
        <p:nvSpPr>
          <p:cNvPr id="657" name="Google Shape;65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90" name="Google Shape;590;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Virtual prey separate the rule from the feeder</a:t>
            </a:r>
            <a:endParaRPr b="0" i="0" sz="1800" u="none" cap="none" strike="noStrike">
              <a:solidFill>
                <a:schemeClr val="dk1"/>
              </a:solidFill>
              <a:latin typeface="Calibri"/>
              <a:ea typeface="Calibri"/>
              <a:cs typeface="Calibri"/>
              <a:sym typeface="Calibri"/>
            </a:endParaRPr>
          </a:p>
        </p:txBody>
      </p:sp>
      <p:sp>
        <p:nvSpPr>
          <p:cNvPr id="591" name="Google Shape;591;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virtual task keeps an objective predicted landing point while letting the investigators change the motion-to-reward relation. That arrangement allows the reward to follow a rule that a physical falling prey could not supply. The prediction stays fixed while the reward moves, which isolates the learning from the physical scene. This setup gives the experimenter direct control of reward timing and location.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Latency and accuracy were reported together across the training sequence, so the speed of the predictive start and its correctness both show how the learned rule developed. The two measures tracked each other as training progressed. Together they show the rule emerging without a change in the response's speed. Both measures are summarized across the same trials.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Rapid decisions persisted while the learned rule changed, which places the plasticity inside the speed constraint of the start. The change therefore affects which destination is chosen without slowing the response into a deliberate approach. The learned rule thus operates within the same fast motor program. The speed of the response was preserved throughout training.</a:t>
            </a:r>
            <a:endParaRPr b="0" i="0" sz="1800" u="none" cap="none" strike="noStrike">
              <a:solidFill>
                <a:schemeClr val="dk1"/>
              </a:solidFill>
              <a:latin typeface="Calibri"/>
              <a:ea typeface="Calibri"/>
              <a:cs typeface="Calibri"/>
              <a:sym typeface="Calibri"/>
            </a:endParaRPr>
          </a:p>
        </p:txBody>
      </p:sp>
      <p:pic>
        <p:nvPicPr>
          <p:cNvPr id="594" name="Google Shape;594;p42"/>
          <p:cNvPicPr preferRelativeResize="0"/>
          <p:nvPr/>
        </p:nvPicPr>
        <p:blipFill rotWithShape="1">
          <a:blip r:embed="rId2">
            <a:alphaModFix/>
          </a:blip>
          <a:srcRect b="0" l="0" r="0" t="0"/>
          <a:stretch/>
        </p:blipFill>
        <p:spPr>
          <a:xfrm>
            <a:off x="6732435" y="1280071"/>
            <a:ext cx="4527111" cy="4297561"/>
          </a:xfrm>
          <a:prstGeom prst="rect">
            <a:avLst/>
          </a:prstGeom>
          <a:noFill/>
          <a:ln>
            <a:noFill/>
          </a:ln>
        </p:spPr>
      </p:pic>
      <p:sp>
        <p:nvSpPr>
          <p:cNvPr id="595" name="Google Shape;595;p4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4(A–K). Original deflection training, transfer tests and latency–accuracy results.</a:t>
            </a:r>
            <a:endParaRPr b="0" i="0" sz="1800" u="none" cap="none" strike="noStrike">
              <a:solidFill>
                <a:schemeClr val="dk1"/>
              </a:solidFill>
              <a:latin typeface="Calibri"/>
              <a:ea typeface="Calibri"/>
              <a:cs typeface="Calibri"/>
              <a:sym typeface="Calibri"/>
            </a:endParaRPr>
          </a:p>
        </p:txBody>
      </p:sp>
      <p:sp>
        <p:nvSpPr>
          <p:cNvPr id="596" name="Google Shape;596;p4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7" name="Google Shape;597;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598" name="Google Shape;598;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42a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51" name="Google Shape;55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Airflow acts on the aerial stream, not the target</a:t>
            </a:r>
            <a:endParaRPr b="0" i="0" sz="1800" u="none" cap="none" strike="noStrike">
              <a:solidFill>
                <a:schemeClr val="dk1"/>
              </a:solidFill>
              <a:latin typeface="Calibri"/>
              <a:ea typeface="Calibri"/>
              <a:cs typeface="Calibri"/>
              <a:sym typeface="Calibri"/>
            </a:endParaRPr>
          </a:p>
        </p:txBody>
      </p:sp>
      <p:sp>
        <p:nvSpPr>
          <p:cNvPr id="552" name="Google Shape;55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Airflow acted on the aerial water stream, while the target location remained under experimental control. The airflow therefore changed the jet's path without changing where the visible target sat. Errors came from the stream itself, which is why the setup isolates the deflection of the jet. The stream itself was the object of the deflection in every trial.</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published setup includes a photographed water jet, which documents the stream that the airflow deflects. That image anchors the stream geometry that the blower acted on. The photographed jet is the physical object whose deflection the fish corrected across the session. The photograph therefore links the apparatus to the jet that the fish aimed, which helps interpret the errors.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Adjustment was tested in both directions, so the correction could be checked for whether it worked for either direction of deflection. Each direction was run as its own condition in the same session. Those conditions show whether the fish's adjustment worked on one side or on both. Both airflow directions were therefore run in every session.</a:t>
            </a:r>
            <a:endParaRPr b="0" i="0" sz="1800" u="none" cap="none" strike="noStrike">
              <a:solidFill>
                <a:schemeClr val="dk1"/>
              </a:solidFill>
              <a:latin typeface="Calibri"/>
              <a:ea typeface="Calibri"/>
              <a:cs typeface="Calibri"/>
              <a:sym typeface="Calibri"/>
            </a:endParaRPr>
          </a:p>
        </p:txBody>
      </p:sp>
      <p:pic>
        <p:nvPicPr>
          <p:cNvPr id="555" name="Google Shape;555;p39"/>
          <p:cNvPicPr preferRelativeResize="0"/>
          <p:nvPr/>
        </p:nvPicPr>
        <p:blipFill rotWithShape="1">
          <a:blip r:embed="rId2">
            <a:alphaModFix/>
          </a:blip>
          <a:srcRect b="0" l="0" r="0" t="0"/>
          <a:stretch/>
        </p:blipFill>
        <p:spPr>
          <a:xfrm>
            <a:off x="6367039" y="1280071"/>
            <a:ext cx="5257753" cy="3308598"/>
          </a:xfrm>
          <a:prstGeom prst="rect">
            <a:avLst/>
          </a:prstGeom>
          <a:noFill/>
          <a:ln>
            <a:noFill/>
          </a:ln>
        </p:spPr>
      </p:pic>
      <p:sp>
        <p:nvSpPr>
          <p:cNvPr id="556" name="Google Shape;556;p39"/>
          <p:cNvSpPr/>
          <p:nvPr/>
        </p:nvSpPr>
        <p:spPr>
          <a:xfrm>
            <a:off x="6367016" y="468019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2(A–B). Original airflow apparatus and photographed water jet.</a:t>
            </a:r>
            <a:endParaRPr b="0" i="0" sz="1800" u="none" cap="none" strike="noStrike">
              <a:solidFill>
                <a:schemeClr val="dk1"/>
              </a:solidFill>
              <a:latin typeface="Calibri"/>
              <a:ea typeface="Calibri"/>
              <a:cs typeface="Calibri"/>
              <a:sym typeface="Calibri"/>
            </a:endParaRPr>
          </a:p>
        </p:txBody>
      </p:sp>
      <p:sp>
        <p:nvSpPr>
          <p:cNvPr id="557" name="Google Shape;557;p3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58" name="Google Shape;55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59" name="Google Shape;559;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39a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6" name="Google Shape;50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Two dendritic sites bracket the lateral dendrite</a:t>
            </a:r>
            <a:endParaRPr b="0" i="0" sz="1800" u="none" cap="none" strike="noStrike">
              <a:solidFill>
                <a:schemeClr val="dk1"/>
              </a:solidFill>
              <a:latin typeface="Calibri"/>
              <a:ea typeface="Calibri"/>
              <a:cs typeface="Calibri"/>
              <a:sym typeface="Calibri"/>
            </a:endParaRPr>
          </a:p>
        </p:txBody>
      </p:sp>
      <p:sp>
        <p:nvSpPr>
          <p:cNvPr id="507" name="Google Shape;507;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Recordings were made about 50 and 150 µm lateral to the axon hillock, giving a proximal and a distal site on the same lateral dendrite. The two positions bracket the region where the sensory inputs were compared. Passive spread is the common basis for interpreting both positions. Both sites sit on the same dendrite, so they share one geometry.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gradient interpretation relies on passive decay measured independently, so the spread of each input is set by the cell's own passive properties. That independent measurement anchors the reading of the two gradients. A reading of that kind depends on knowing the passive decay before the inputs are interpreted. Passive decay sets how far a voltage change spreads along the dendrite.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Anatomical tracing of each presynaptic axon is a separate task from measuring these gradients. Gradient measurements locate the likely entry region of an input, while tracing identifies the axon that carries it. The two approaches answer different questions about the same synapse. Tracing would name the carrying axon directly, something gradient measures alone never supply.</a:t>
            </a:r>
            <a:endParaRPr b="0" i="0" sz="1800" u="none" cap="none" strike="noStrike">
              <a:solidFill>
                <a:schemeClr val="dk1"/>
              </a:solidFill>
              <a:latin typeface="Calibri"/>
              <a:ea typeface="Calibri"/>
              <a:cs typeface="Calibri"/>
              <a:sym typeface="Calibri"/>
            </a:endParaRPr>
          </a:p>
        </p:txBody>
      </p:sp>
      <p:pic>
        <p:nvPicPr>
          <p:cNvPr id="510" name="Google Shape;510;p36"/>
          <p:cNvPicPr preferRelativeResize="0"/>
          <p:nvPr/>
        </p:nvPicPr>
        <p:blipFill rotWithShape="1">
          <a:blip r:embed="rId2">
            <a:alphaModFix/>
          </a:blip>
          <a:srcRect b="0" l="0" r="0" t="0"/>
          <a:stretch/>
        </p:blipFill>
        <p:spPr>
          <a:xfrm>
            <a:off x="8531572" y="1280107"/>
            <a:ext cx="928836" cy="2468687"/>
          </a:xfrm>
          <a:prstGeom prst="rect">
            <a:avLst/>
          </a:prstGeom>
          <a:noFill/>
          <a:ln>
            <a:noFill/>
          </a:ln>
        </p:spPr>
      </p:pic>
      <p:pic>
        <p:nvPicPr>
          <p:cNvPr id="512" name="Google Shape;512;p36"/>
          <p:cNvPicPr preferRelativeResize="0"/>
          <p:nvPr/>
        </p:nvPicPr>
        <p:blipFill rotWithShape="1">
          <a:blip r:embed="rId3">
            <a:alphaModFix/>
          </a:blip>
          <a:srcRect b="0" l="0" r="0" t="0"/>
          <a:stretch/>
        </p:blipFill>
        <p:spPr>
          <a:xfrm>
            <a:off x="8216354" y="4297571"/>
            <a:ext cx="1559123" cy="1462961"/>
          </a:xfrm>
          <a:prstGeom prst="rect">
            <a:avLst/>
          </a:prstGeom>
          <a:noFill/>
          <a:ln>
            <a:noFill/>
          </a:ln>
        </p:spPr>
      </p:pic>
      <p:sp>
        <p:nvSpPr>
          <p:cNvPr id="513" name="Google Shape;513;p3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514" name="Google Shape;514;p3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5" name="Google Shape;51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16" name="Google Shape;516;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36a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1" name="Google Shape;461;p3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distant reference carries the spike field</a:t>
            </a:r>
            <a:endParaRPr b="0" i="0" sz="1800" u="none" cap="none" strike="noStrike">
              <a:solidFill>
                <a:schemeClr val="dk1"/>
              </a:solidFill>
              <a:latin typeface="Calibri"/>
              <a:ea typeface="Calibri"/>
              <a:cs typeface="Calibri"/>
              <a:sym typeface="Calibri"/>
            </a:endParaRPr>
          </a:p>
        </p:txBody>
      </p:sp>
      <p:sp>
        <p:nvSpPr>
          <p:cNvPr id="462" name="Google Shape;462;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distant reference can itself carry the local spike-associated field, which is why the external potential has to be corrected before the membrane voltage is determined. The correction turns a reference reading into an estimate of the cell's own voltage. Without it, the spike seen at a distant electrode would mix the cell's voltage with the surrounding field.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Each intracellular spike was checked against the field recorded around the cell, so the reported spike amplitude belongs to the cell rather than to its surroundings. This isolates the cell's own voltage change from the surrounding potential. The distinction matters for every amplitude value reported for these neurons. Each spike amplitude was therefore corrected before analysis.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Stable recordings allowed the same cell to be tested with repeated stimulation over the course of an experiment. Because the excitability measures come from one identified neuron, each response can be judged within that cell. Repeated tests in one cell make paired comparisons possible. Each recording therefore yields several measures from a single neuron. That reuse is a practical advantage of the preparation.</a:t>
            </a:r>
            <a:endParaRPr b="0" i="0" sz="1800" u="none" cap="none" strike="noStrike">
              <a:solidFill>
                <a:schemeClr val="dk1"/>
              </a:solidFill>
              <a:latin typeface="Calibri"/>
              <a:ea typeface="Calibri"/>
              <a:cs typeface="Calibri"/>
              <a:sym typeface="Calibri"/>
            </a:endParaRPr>
          </a:p>
        </p:txBody>
      </p:sp>
      <p:pic>
        <p:nvPicPr>
          <p:cNvPr id="465" name="Google Shape;465;p33"/>
          <p:cNvPicPr preferRelativeResize="0"/>
          <p:nvPr/>
        </p:nvPicPr>
        <p:blipFill rotWithShape="1">
          <a:blip r:embed="rId2">
            <a:alphaModFix/>
          </a:blip>
          <a:srcRect b="0" l="0" r="0" t="0"/>
          <a:stretch/>
        </p:blipFill>
        <p:spPr>
          <a:xfrm>
            <a:off x="7619462" y="1280071"/>
            <a:ext cx="2752908" cy="2468761"/>
          </a:xfrm>
          <a:prstGeom prst="rect">
            <a:avLst/>
          </a:prstGeom>
          <a:noFill/>
          <a:ln>
            <a:noFill/>
          </a:ln>
        </p:spPr>
      </p:pic>
      <p:sp>
        <p:nvSpPr>
          <p:cNvPr id="466" name="Google Shape;466;p33"/>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1(B–C). Antidromic spike and correction for the extracellular field.</a:t>
            </a:r>
            <a:endParaRPr b="0" i="0" sz="1800" u="none" cap="none" strike="noStrike">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3">
            <a:alphaModFix/>
          </a:blip>
          <a:srcRect b="0" l="0" r="0" t="0"/>
          <a:stretch/>
        </p:blipFill>
        <p:spPr>
          <a:xfrm>
            <a:off x="8772253" y="4297561"/>
            <a:ext cx="447623" cy="1462980"/>
          </a:xfrm>
          <a:prstGeom prst="rect">
            <a:avLst/>
          </a:prstGeom>
          <a:noFill/>
          <a:ln>
            <a:noFill/>
          </a:ln>
        </p:spPr>
      </p:pic>
      <p:sp>
        <p:nvSpPr>
          <p:cNvPr id="468" name="Google Shape;468;p33"/>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2(A–E). Intracellular recording stability and action-potential measurements.</a:t>
            </a:r>
            <a:endParaRPr b="0" i="0" sz="1800" u="none" cap="none" strike="noStrike">
              <a:solidFill>
                <a:schemeClr val="dk1"/>
              </a:solidFill>
              <a:latin typeface="Calibri"/>
              <a:ea typeface="Calibri"/>
              <a:cs typeface="Calibri"/>
              <a:sym typeface="Calibri"/>
            </a:endParaRPr>
          </a:p>
        </p:txBody>
      </p:sp>
      <p:sp>
        <p:nvSpPr>
          <p:cNvPr id="469" name="Google Shape;469;p3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0" name="Google Shape;470;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471" name="Google Shape;471;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33a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axon cap shapes the field signal</a:t>
            </a:r>
            <a:endParaRPr b="0" i="0" sz="1800" u="none" cap="none" strike="noStrike">
              <a:solidFill>
                <a:schemeClr val="dk1"/>
              </a:solidFill>
              <a:latin typeface="Calibri"/>
              <a:ea typeface="Calibri"/>
              <a:cs typeface="Calibri"/>
              <a:sym typeface="Calibri"/>
            </a:endParaRPr>
          </a:p>
        </p:txBody>
      </p:sp>
      <p:sp>
        <p:nvSpPr>
          <p:cNvPr id="421" name="Google Shape;421;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focused extracellular signal depends on the geometry of the axon cap around the cell, which shapes where the field is strongest. That geometry means the signal reports the cell's local field rather than an average over the hindbrain. Field recordings near the cell therefore identify a particular neuron's signal. The cell's geometry therefore shapes each recording.</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Antidromic stimulation travels backward from axon toward cell body, so it activates the cell by way of its axon. That route is distinct from the forward flow of sensory input through the dendrites. Stimulation of this kind is an experimental probe rather than a description of natural input. Its route bypasses the dendritic inputs that carry natural sensory signals.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Antidromic activation shows that the cell can be driven from its axon, a property separate from its firing during a natural prey-directed turn. Experimental access to that axon is what makes the cell testable in the first place. The identified cell then serves as a platform for the sensory tests that follow. That identification makes the cell a usable target.</a:t>
            </a:r>
            <a:endParaRPr b="0" i="0" sz="1800" u="none" cap="none" strike="noStrike">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2">
            <a:alphaModFix/>
          </a:blip>
          <a:srcRect b="0" l="0" r="0" t="0"/>
          <a:stretch/>
        </p:blipFill>
        <p:spPr>
          <a:xfrm>
            <a:off x="8063061" y="1280082"/>
            <a:ext cx="1865709" cy="2468738"/>
          </a:xfrm>
          <a:prstGeom prst="rect">
            <a:avLst/>
          </a:prstGeom>
          <a:noFill/>
          <a:ln>
            <a:noFill/>
          </a:ln>
        </p:spPr>
      </p:pic>
      <p:pic>
        <p:nvPicPr>
          <p:cNvPr id="426" name="Google Shape;426;p30"/>
          <p:cNvPicPr preferRelativeResize="0"/>
          <p:nvPr/>
        </p:nvPicPr>
        <p:blipFill rotWithShape="1">
          <a:blip r:embed="rId3">
            <a:alphaModFix/>
          </a:blip>
          <a:srcRect b="0" l="0" r="0" t="0"/>
          <a:stretch/>
        </p:blipFill>
        <p:spPr>
          <a:xfrm>
            <a:off x="8325354" y="4297561"/>
            <a:ext cx="1341274" cy="1462980"/>
          </a:xfrm>
          <a:prstGeom prst="rect">
            <a:avLst/>
          </a:prstGeom>
          <a:noFill/>
          <a:ln>
            <a:noFill/>
          </a:ln>
        </p:spPr>
      </p:pic>
      <p:sp>
        <p:nvSpPr>
          <p:cNvPr id="427" name="Google Shape;427;p3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30" name="Google Shape;430;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30a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77" name="Google Shape;37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Analytical filters describe the response model</a:t>
            </a:r>
            <a:endParaRPr b="0" i="0" sz="1800" u="none" cap="none" strike="noStrike">
              <a:solidFill>
                <a:schemeClr val="dk1"/>
              </a:solidFill>
              <a:latin typeface="Calibri"/>
              <a:ea typeface="Calibri"/>
              <a:cs typeface="Calibri"/>
              <a:sym typeface="Calibri"/>
            </a:endParaRPr>
          </a:p>
        </p:txBody>
      </p:sp>
      <p:sp>
        <p:nvSpPr>
          <p:cNvPr id="378" name="Google Shape;378;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published eigenvectors belong to an analytical response model, which describes how the neuron responds to light history. They are not a reconstructed anatomical circuit, so each filter stands for a computation rather than a wiring diagram. Each eigenvector is a weighting over the preceding light levels, read off the fitted model. The fitted model defines each weighting directly.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Reichenthal and colleagues used full-field flashes, so every filter describes responses to a whole-field light history rather than to a spatial pattern. The temporal analysis therefore complements the earlier receptive-field maps. Spatial and temporal structure were measured with separate stimulus sets, so each dimension could be analyzed separately. Each dimension therefore has its own measurement basis.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filters are estimated from the stimuli presented and the amount of recorded activity, so their precision follows the data collected. Larger recordings would give the same analysis more samples to estimate each filter. Filter estimates therefore improve as the recorded activity grows. Estimates from short recordings carry more variability than those from long ones.</a:t>
            </a:r>
            <a:endParaRPr b="0" i="0" sz="1800" u="none" cap="none" strike="noStrike">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2">
            <a:alphaModFix/>
          </a:blip>
          <a:srcRect b="0" l="0" r="0" t="0"/>
          <a:stretch/>
        </p:blipFill>
        <p:spPr>
          <a:xfrm>
            <a:off x="6367149" y="1280071"/>
            <a:ext cx="5257534" cy="1991618"/>
          </a:xfrm>
          <a:prstGeom prst="rect">
            <a:avLst/>
          </a:prstGeom>
          <a:noFill/>
          <a:ln>
            <a:noFill/>
          </a:ln>
        </p:spPr>
      </p:pic>
      <p:sp>
        <p:nvSpPr>
          <p:cNvPr id="382" name="Google Shape;382;p27"/>
          <p:cNvSpPr/>
          <p:nvPr/>
        </p:nvSpPr>
        <p:spPr>
          <a:xfrm>
            <a:off x="6367016" y="336321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4(A–B). Published covariance analysis and significant stimulus filters.</a:t>
            </a:r>
            <a:endParaRPr b="0" i="0" sz="1800" u="none" cap="none" strike="noStrike">
              <a:solidFill>
                <a:schemeClr val="dk1"/>
              </a:solidFill>
              <a:latin typeface="Calibri"/>
              <a:ea typeface="Calibri"/>
              <a:cs typeface="Calibri"/>
              <a:sym typeface="Calibri"/>
            </a:endParaRPr>
          </a:p>
        </p:txBody>
      </p:sp>
      <p:pic>
        <p:nvPicPr>
          <p:cNvPr id="383" name="Google Shape;383;p27"/>
          <p:cNvPicPr preferRelativeResize="0"/>
          <p:nvPr/>
        </p:nvPicPr>
        <p:blipFill rotWithShape="1">
          <a:blip r:embed="rId3">
            <a:alphaModFix/>
          </a:blip>
          <a:srcRect b="0" l="0" r="0" t="0"/>
          <a:stretch/>
        </p:blipFill>
        <p:spPr>
          <a:xfrm>
            <a:off x="7230306" y="4297561"/>
            <a:ext cx="3531517" cy="1462980"/>
          </a:xfrm>
          <a:prstGeom prst="rect">
            <a:avLst/>
          </a:prstGeom>
          <a:noFill/>
          <a:ln>
            <a:noFill/>
          </a:ln>
        </p:spPr>
      </p:pic>
      <p:sp>
        <p:nvSpPr>
          <p:cNvPr id="384" name="Google Shape;384;p27"/>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385" name="Google Shape;385;p2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6" name="Google Shape;386;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387" name="Google Shape;387;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27a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Relative timing references the population, not the motor act</a:t>
            </a:r>
            <a:endParaRPr b="0" i="0" sz="1800" u="none" cap="none" strike="noStrike">
              <a:solidFill>
                <a:schemeClr val="dk1"/>
              </a:solidFill>
              <a:latin typeface="Calibri"/>
              <a:ea typeface="Calibri"/>
              <a:cs typeface="Calibri"/>
              <a:sym typeface="Calibri"/>
            </a:endParaRPr>
          </a:p>
        </p:txBody>
      </p:sp>
      <p:sp>
        <p:nvSpPr>
          <p:cNvPr id="333" name="Google Shape;333;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Relative latencies are referenced to the onset of the recorded population response, not to the animal's motor response. The reference therefore belongs to the retinal recording itself, which is distinct from when the fish decides to move. This reference makes the timing measure depend on the recorded responses alone. That choice keeps the analysis focused on the responses themselves.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four decoding analyses were the authors' own original analysis of the same recorded responses. Each ranking of decoders is therefore a comparison made on one dataset rather than on separate experiments. A shared dataset makes the difference between decoders a difference in method rather than in the animals sampled. The shared dataset keeps every ranking on equal footing.</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A spike-count estimate integrates activity over a longer period, so a short first-spike window can carry information that a count over a longer window would average out. The first-spike analysis uses that early timing directly. Its advantage lies in using the earliest spikes that the cell produces after onset. That choice favors the earliest information in each response.</a:t>
            </a:r>
            <a:endParaRPr b="0" i="0" sz="1800" u="none" cap="none" strike="noStrike">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2">
            <a:alphaModFix/>
          </a:blip>
          <a:srcRect b="0" l="0" r="0" t="0"/>
          <a:stretch/>
        </p:blipFill>
        <p:spPr>
          <a:xfrm>
            <a:off x="6517338" y="1280071"/>
            <a:ext cx="4957454" cy="2468761"/>
          </a:xfrm>
          <a:prstGeom prst="rect">
            <a:avLst/>
          </a:prstGeom>
          <a:noFill/>
          <a:ln>
            <a:noFill/>
          </a:ln>
        </p:spPr>
      </p:pic>
      <p:sp>
        <p:nvSpPr>
          <p:cNvPr id="337" name="Google Shape;337;p24"/>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2(A–L). Published decoding based on latency, interval, rate and relative latency.</a:t>
            </a:r>
            <a:endParaRPr b="0" i="0" sz="1800" u="none" cap="none" strike="noStrike">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3">
            <a:alphaModFix/>
          </a:blip>
          <a:srcRect b="0" l="0" r="0" t="0"/>
          <a:stretch/>
        </p:blipFill>
        <p:spPr>
          <a:xfrm>
            <a:off x="8457605" y="4297563"/>
            <a:ext cx="1076771" cy="1462977"/>
          </a:xfrm>
          <a:prstGeom prst="rect">
            <a:avLst/>
          </a:prstGeom>
          <a:noFill/>
          <a:ln>
            <a:noFill/>
          </a:ln>
        </p:spPr>
      </p:pic>
      <p:sp>
        <p:nvSpPr>
          <p:cNvPr id="339" name="Google Shape;339;p2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42" name="Google Shape;342;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24a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9" name="Google Shape;289;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Receptor curves keep their original scales</a:t>
            </a:r>
            <a:endParaRPr b="0" i="0" sz="1800" u="none" cap="none" strike="noStrike">
              <a:solidFill>
                <a:schemeClr val="dk1"/>
              </a:solidFill>
              <a:latin typeface="Calibri"/>
              <a:ea typeface="Calibri"/>
              <a:cs typeface="Calibri"/>
              <a:sym typeface="Calibri"/>
            </a:endParaRPr>
          </a:p>
        </p:txBody>
      </p:sp>
      <p:sp>
        <p:nvSpPr>
          <p:cNvPr id="290" name="Google Shape;290;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regional spectra are drawn from curves that keep their original axes and relative sensitivity scales. Each curve shows how absorption changes with wavelength in one selected photoreceptor, so the shapes can be compared across retinal locations. The published figure keeps every curve in its original form. Each spectrum therefore has its own scale and baseline.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The retina's two regions view different parts of the environment, and the spectral curves show how each region samples light from them. The aquatic and aerial views therefore carry different light conditions into the eye, and each region's spectrum reflects the light it receives. The curves therefore reflect the light each region receives. Each region's sensitivity is measured directly.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Spectral coverage is a property of the receptors themselves, so it sets which wavelengths are available for detecting a target against the sky. Spectral and spatial measures are therefore reported separately for each retinal region, so each region's capabilities can be read on its own terms. A region with broad coverage can respond to more contrasts than a narrow one.</a:t>
            </a:r>
            <a:endParaRPr b="0" i="0" sz="1800" u="none" cap="none" strike="noStrike">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2">
            <a:alphaModFix/>
          </a:blip>
          <a:srcRect b="0" l="0" r="0" t="0"/>
          <a:stretch/>
        </p:blipFill>
        <p:spPr>
          <a:xfrm>
            <a:off x="7079511" y="1280071"/>
            <a:ext cx="3832960" cy="4297561"/>
          </a:xfrm>
          <a:prstGeom prst="rect">
            <a:avLst/>
          </a:prstGeom>
          <a:noFill/>
          <a:ln>
            <a:noFill/>
          </a:ln>
        </p:spPr>
      </p:pic>
      <p:sp>
        <p:nvSpPr>
          <p:cNvPr id="294" name="Google Shape;294;p21"/>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2(A–C). Regional cone absorptance spectra.</a:t>
            </a:r>
            <a:endParaRPr b="0" i="0" sz="1800" u="none" cap="none" strike="noStrike">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Temple et al. (2010)</a:t>
            </a:r>
            <a:endParaRPr b="0" i="0" sz="1800" u="none" cap="none" strike="noStrike">
              <a:solidFill>
                <a:schemeClr val="dk1"/>
              </a:solidFill>
              <a:latin typeface="Calibri"/>
              <a:ea typeface="Calibri"/>
              <a:cs typeface="Calibri"/>
              <a:sym typeface="Calibri"/>
            </a:endParaRPr>
          </a:p>
        </p:txBody>
      </p:sp>
      <p:sp>
        <p:nvSpPr>
          <p:cNvPr id="297" name="Google Shape;297;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21a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6" name="Google Shape;246;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Measured fluid properties match control water</a:t>
            </a:r>
            <a:endParaRPr b="0" i="0" sz="1800" u="none" cap="none" strike="noStrike">
              <a:solidFill>
                <a:schemeClr val="dk1"/>
              </a:solidFill>
              <a:latin typeface="Calibri"/>
              <a:ea typeface="Calibri"/>
              <a:cs typeface="Calibri"/>
              <a:sym typeface="Calibri"/>
            </a:endParaRPr>
          </a:p>
        </p:txBody>
      </p:sp>
      <p:sp>
        <p:nvSpPr>
          <p:cNvPr id="247" name="Google Shape;247;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Shot viscosity was 0.867 mPa·s, against 0.869 mPa·s for control water. Surface tension was 70.37 mN/m for the shot water and 70.49 mN/m for the control, so the two fluids were nearly identical in both measures. The shot water was collected directly from the fish's own shots, so the values describe the fluid the fish actually emitted.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fluid properties were measured for shots aimed at several target heights. Neither viscosity nor surface tension changed systematically with the intended range, which fits a fixed fluid composition across the shots. Chemical tuning of the jet would have required one of these properties to vary with range. The fish's emission was sampled at each height.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Mouth-tip drift and body rotation were measured during the same emission period, and neither changed systematically with target height. Those movements were small enough that the water release itself carried the range difference. The jet's range was therefore set inside the mouth rather than by the fish's body position. Mouth measures are therefore central to the range question.</a:t>
            </a:r>
            <a:endParaRPr b="0" i="0" sz="1800" u="none" cap="none" strike="noStrike">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2">
            <a:alphaModFix/>
          </a:blip>
          <a:srcRect b="0" l="0" r="0" t="0"/>
          <a:stretch/>
        </p:blipFill>
        <p:spPr>
          <a:xfrm>
            <a:off x="7493010" y="1280071"/>
            <a:ext cx="3006109" cy="2468761"/>
          </a:xfrm>
          <a:prstGeom prst="rect">
            <a:avLst/>
          </a:prstGeom>
          <a:noFill/>
          <a:ln>
            <a:noFill/>
          </a:ln>
        </p:spPr>
      </p:pic>
      <p:sp>
        <p:nvSpPr>
          <p:cNvPr id="251" name="Google Shape;251;p1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3(A). Water-shot viscosity and surface tension compared with controls.</a:t>
            </a:r>
            <a:endParaRPr b="0" i="0" sz="1800" u="none" cap="none" strike="noStrike">
              <a:solidFill>
                <a:schemeClr val="dk1"/>
              </a:solidFill>
              <a:latin typeface="Calibri"/>
              <a:ea typeface="Calibri"/>
              <a:cs typeface="Calibri"/>
              <a:sym typeface="Calibri"/>
            </a:endParaRPr>
          </a:p>
        </p:txBody>
      </p:sp>
      <p:pic>
        <p:nvPicPr>
          <p:cNvPr id="252" name="Google Shape;252;p18"/>
          <p:cNvPicPr preferRelativeResize="0"/>
          <p:nvPr/>
        </p:nvPicPr>
        <p:blipFill rotWithShape="1">
          <a:blip r:embed="rId3">
            <a:alphaModFix/>
          </a:blip>
          <a:srcRect b="0" l="0" r="0" t="0"/>
          <a:stretch/>
        </p:blipFill>
        <p:spPr>
          <a:xfrm>
            <a:off x="8028407" y="4297561"/>
            <a:ext cx="1935018" cy="1462980"/>
          </a:xfrm>
          <a:prstGeom prst="rect">
            <a:avLst/>
          </a:prstGeom>
          <a:noFill/>
          <a:ln>
            <a:noFill/>
          </a:ln>
        </p:spPr>
      </p:pic>
      <p:sp>
        <p:nvSpPr>
          <p:cNvPr id="253" name="Google Shape;253;p1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3(C). Mouth-tip drift and body rotation during water release.</a:t>
            </a:r>
            <a:endParaRPr b="0" i="0" sz="1800" u="none" cap="none" strike="noStrike">
              <a:solidFill>
                <a:schemeClr val="dk1"/>
              </a:solidFill>
              <a:latin typeface="Calibri"/>
              <a:ea typeface="Calibri"/>
              <a:cs typeface="Calibri"/>
              <a:sym typeface="Calibri"/>
            </a:endParaRPr>
          </a:p>
        </p:txBody>
      </p:sp>
      <p:sp>
        <p:nvSpPr>
          <p:cNvPr id="254" name="Google Shape;254;p1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5" name="Google Shape;255;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56" name="Google Shape;256;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18a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Rare misses expose the jet beyond its target</a:t>
            </a:r>
            <a:endParaRPr b="0" i="0" sz="1800" u="none" cap="none" strike="noStrike">
              <a:solidFill>
                <a:schemeClr val="dk1"/>
              </a:solidFill>
              <a:latin typeface="Calibri"/>
              <a:ea typeface="Calibri"/>
              <a:cs typeface="Calibri"/>
              <a:sym typeface="Calibri"/>
            </a:endParaRPr>
          </a:p>
        </p:txBody>
      </p:sp>
      <p:sp>
        <p:nvSpPr>
          <p:cNvPr id="206" name="Google Shape;206;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Missed short-range targets supplied the uninterrupted jets needed for this comparison. The shaft comparison therefore used jets that reached the common 30-cm path without being interrupted by a target. Each jet was examined at the same travel distance, which made the shaft shape directly comparable across intended ranges. This design kept travel distance constant across the jets.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Because every shaft was examined after the same travel distance, differences in shaft shape reflect the intended range rather than a difference in path length. The design therefore reads the same measurement across all three target heights. Shaft modulation is a property of the emitted water itself, observed after release. Shaft shape therefore carries the range information.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Each shot contributes one shaft image tied to one intended range, which gives a direct record of the jet's coherence at that range. Those records were gathered for the same set of shooting heights used in the focusing images. The shaft records therefore complement the focusing images collected for the same heights, giving two views of one shot.</a:t>
            </a:r>
            <a:endParaRPr b="0" i="0" sz="1800" u="none" cap="none" strike="noStrike">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2">
            <a:alphaModFix/>
          </a:blip>
          <a:srcRect b="0" l="0" r="0" t="0"/>
          <a:stretch/>
        </p:blipFill>
        <p:spPr>
          <a:xfrm>
            <a:off x="6425128" y="1280071"/>
            <a:ext cx="5141725" cy="4297561"/>
          </a:xfrm>
          <a:prstGeom prst="rect">
            <a:avLst/>
          </a:prstGeom>
          <a:noFill/>
          <a:ln>
            <a:noFill/>
          </a:ln>
        </p:spPr>
      </p:pic>
      <p:sp>
        <p:nvSpPr>
          <p:cNvPr id="210" name="Google Shape;210;p1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1(E). Shaft stability after a common 30-cm path.</a:t>
            </a:r>
            <a:endParaRPr b="0" i="0" sz="1800" u="none" cap="none" strike="noStrike">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13" name="Google Shape;213;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15a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Bending predicts turns, not commands</a:t>
            </a:r>
            <a:endParaRPr b="0" i="0" sz="1800" u="none" cap="none" strike="noStrike">
              <a:solidFill>
                <a:schemeClr val="dk1"/>
              </a:solidFill>
              <a:latin typeface="Calibri"/>
              <a:ea typeface="Calibri"/>
              <a:cs typeface="Calibri"/>
              <a:sym typeface="Calibri"/>
            </a:endParaRPr>
          </a:p>
        </p:txBody>
      </p:sp>
      <p:sp>
        <p:nvSpPr>
          <p:cNvPr id="167" name="Google Shape;167;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original relation compares the required turn angle with the extent of body bending, so each start contributes a paired measurement of the two. Those pairs spanned the whole range of turns in the recordings. Each pair links one observed start to the turn it needed to complete. The relation therefore tracks turn size against bending extent.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Correlations among body measurements show which features vary together, while the order in which the nervous system specifies those features is a separate question. A correlation can rank features by how tightly they track each other without revealing which one is set first. Establishing that order requires experiments that manipulate the features directly. Such a ranking is descriptive.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 kinematic predictor is useful because it links a measurable body shape to the turn the fish is about to complete. That link gives experimenters a quantity they can measure in every start before the turn is finished. Measuring the bending stage therefore offers an early readout of the turn's final angle. Its value is in timing.</a:t>
            </a:r>
            <a:endParaRPr b="0" i="0" sz="1800" u="none" cap="none" strike="noStrike">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2">
            <a:alphaModFix/>
          </a:blip>
          <a:srcRect b="0" l="0" r="0" t="0"/>
          <a:stretch/>
        </p:blipFill>
        <p:spPr>
          <a:xfrm>
            <a:off x="6826415" y="1280071"/>
            <a:ext cx="4339150" cy="4297561"/>
          </a:xfrm>
          <a:prstGeom prst="rect">
            <a:avLst/>
          </a:prstGeom>
          <a:noFill/>
          <a:ln>
            <a:noFill/>
          </a:ln>
        </p:spPr>
      </p:pic>
      <p:sp>
        <p:nvSpPr>
          <p:cNvPr id="171" name="Google Shape;171;p12"/>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9. Maximum bending predicts the required turn angle.</a:t>
            </a:r>
            <a:endParaRPr b="0" i="0" sz="1800" u="none" cap="none" strike="noStrike">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74" name="Google Shape;174;p1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12a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5" name="Google Shape;12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Kinematics describe the movement, not its commands</a:t>
            </a:r>
            <a:endParaRPr b="0" i="0" sz="1800" u="none" cap="none" strike="noStrike">
              <a:solidFill>
                <a:schemeClr val="dk1"/>
              </a:solidFill>
              <a:latin typeface="Calibri"/>
              <a:ea typeface="Calibri"/>
              <a:cs typeface="Calibri"/>
              <a:sym typeface="Calibri"/>
            </a:endParaRPr>
          </a:p>
        </p:txBody>
      </p:sp>
      <p:sp>
        <p:nvSpPr>
          <p:cNvPr id="126" name="Google Shape;126;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silhouette sequence is the authors' published high-speed record, with stage colors and measured center-of-mass markers that follow the body through both stages. Predictive starts were filmed from above, so the silhouettes show the turn in the horizontal plane. Each silhouette is an original frame from the recording rather than a drawing. Those markers track each stage in order.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A kinematic record specifies the form and timing of a start. Identifying the descending neurons that initiate the maneuver calls for separate measurements, because the movement itself carries no label for its source. Experiments that record or stimulate the command pathway provide evidence that the body record alone lacks. Such experiments can separate the two possibilities directly.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The two-stage sequence repeats across starts, so the bending stage serves as a consistent marker of when the turn is being set. Each start was resolved frame by frame at 2-ms intervals, which keeps the stage boundaries explicit in the analysis. Stage boundaries defined this way give every start a shared timing reference for analysis.</a:t>
            </a:r>
            <a:endParaRPr b="0" i="0" sz="1800" u="none" cap="none" strike="noStrike">
              <a:solidFill>
                <a:schemeClr val="dk1"/>
              </a:solidFill>
              <a:latin typeface="Calibri"/>
              <a:ea typeface="Calibri"/>
              <a:cs typeface="Calibri"/>
              <a:sym typeface="Calibri"/>
            </a:endParaRPr>
          </a:p>
        </p:txBody>
      </p:sp>
      <p:pic>
        <p:nvPicPr>
          <p:cNvPr id="129" name="Google Shape;129;p9"/>
          <p:cNvPicPr preferRelativeResize="0"/>
          <p:nvPr/>
        </p:nvPicPr>
        <p:blipFill rotWithShape="1">
          <a:blip r:embed="rId2">
            <a:alphaModFix/>
          </a:blip>
          <a:srcRect b="0" l="0" r="0" t="0"/>
          <a:stretch/>
        </p:blipFill>
        <p:spPr>
          <a:xfrm>
            <a:off x="6367099" y="1280071"/>
            <a:ext cx="5257634" cy="3081635"/>
          </a:xfrm>
          <a:prstGeom prst="rect">
            <a:avLst/>
          </a:prstGeom>
          <a:noFill/>
          <a:ln>
            <a:noFill/>
          </a:ln>
        </p:spPr>
      </p:pic>
      <p:sp>
        <p:nvSpPr>
          <p:cNvPr id="130" name="Google Shape;130;p9"/>
          <p:cNvSpPr/>
          <p:nvPr/>
        </p:nvSpPr>
        <p:spPr>
          <a:xfrm>
            <a:off x="6367016" y="445323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3. Original 2-ms silhouettes of bending, straightening and take-off.</a:t>
            </a:r>
            <a:endParaRPr b="0" i="0" sz="1800" u="none" cap="none" strike="noStrike">
              <a:solidFill>
                <a:schemeClr val="dk1"/>
              </a:solidFill>
              <a:latin typeface="Calibri"/>
              <a:ea typeface="Calibri"/>
              <a:cs typeface="Calibri"/>
              <a:sym typeface="Calibri"/>
            </a:endParaRPr>
          </a:p>
        </p:txBody>
      </p:sp>
      <p:sp>
        <p:nvSpPr>
          <p:cNvPr id="131" name="Google Shape;131;p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 name="Google Shape;132;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33" name="Google Shape;133;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09a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Within-trial errors isolate the early aim</a:t>
            </a:r>
            <a:endParaRPr b="0" i="0" sz="1800" u="none" cap="none" strike="noStrike">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Both error measures came from the same responses within each trial. Because one group of fish and one stimulus history supplied both measures, the contrast between the two errors is free of differences between animal groups or stimulus histories. The within-trial design keeps the aim measure tied to a single set of turns. Each trial supplied both values.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Prediction could operate through an explicit internal trajectory or through a learned relation between sensory variables and the destination. Measured errors identify where the fish aimed, whereas the internal computation behind that aim is a separate question. The data therefore constrain the output of the computation without naming its form. Each interpretation predicts a different pattern across trials.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500"/>
              <a:buFont typeface="Arial"/>
              <a:buNone/>
            </a:pPr>
            <a:r>
              <a:rPr b="0" i="0" lang="en-US" sz="1400" u="none" cap="none" strike="noStrike">
                <a:solidFill>
                  <a:srgbClr val="000000"/>
                </a:solidFill>
                <a:latin typeface="Arial"/>
                <a:ea typeface="Arial"/>
                <a:cs typeface="Arial"/>
                <a:sym typeface="Arial"/>
              </a:rPr>
              <a:t>Eventual catches alone would be weaker evidence, because the initial heading exists before later corrections take effect. Subsequent swimming corrections change the path after the fact, so the early heading is the record that reflects the fish's estimate before the outcome is known. A fish with a learned relation would show the same early aim across repeated trials of one stimulus.</a:t>
            </a:r>
            <a:endParaRPr b="0" i="0" sz="1800" u="none" cap="none" strike="noStrike">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2">
            <a:alphaModFix/>
          </a:blip>
          <a:srcRect b="0" l="0" r="0" t="0"/>
          <a:stretch/>
        </p:blipFill>
        <p:spPr>
          <a:xfrm>
            <a:off x="7900446" y="1280071"/>
            <a:ext cx="2191088" cy="2468761"/>
          </a:xfrm>
          <a:prstGeom prst="rect">
            <a:avLst/>
          </a:prstGeom>
          <a:noFill/>
          <a:ln>
            <a:noFill/>
          </a:ln>
        </p:spPr>
      </p:pic>
      <p:sp>
        <p:nvSpPr>
          <p:cNvPr id="89" name="Google Shape;89;p6"/>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5(A–B). Errors relative to the future landing point.</a:t>
            </a:r>
            <a:endParaRPr b="0" i="0" sz="1800" u="none" cap="none" strike="noStrike">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3">
            <a:alphaModFix/>
          </a:blip>
          <a:srcRect b="0" l="0" r="0" t="0"/>
          <a:stretch/>
        </p:blipFill>
        <p:spPr>
          <a:xfrm>
            <a:off x="8347472" y="4297588"/>
            <a:ext cx="1296888" cy="1462926"/>
          </a:xfrm>
          <a:prstGeom prst="rect">
            <a:avLst/>
          </a:prstGeom>
          <a:noFill/>
          <a:ln>
            <a:noFill/>
          </a:ln>
        </p:spPr>
      </p:pic>
      <p:sp>
        <p:nvSpPr>
          <p:cNvPr id="91" name="Google Shape;91;p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6(A–B). Errors relative to the prey position at turn completion.</a:t>
            </a:r>
            <a:endParaRPr b="0" i="0" sz="1800" u="none" cap="none" strike="noStrike">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94" name="Google Shape;94;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06a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Perspective correction fixes the error reference</a:t>
            </a:r>
            <a:endParaRPr b="0" i="0" sz="1800" u="none" cap="none" strike="noStrike">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Overhead video shows a falling prey at positions that shift with its height, because camera perspective changes as the object descends. Rossel and colleagues corrected that perspective for the prey's changing height before any error was scored. The correction treated the water surface as the reference plane, so each landing estimate was read in one physical frame.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Without that correction, the image position of a falling prey would drift as the object fell, and errors would be scored against a moving reference. Destinations for the 20 and 40 cm release heights were therefore placed on the same error scale, which makes the two heights directly comparable. Each landing estimate kept its meaning at either height.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343B"/>
              </a:buClr>
              <a:buSzPts val="1600"/>
              <a:buFont typeface="Arial"/>
              <a:buNone/>
            </a:pPr>
            <a:r>
              <a:rPr b="0" i="0" lang="en-US" sz="1400" u="none" cap="none" strike="noStrike">
                <a:solidFill>
                  <a:srgbClr val="000000"/>
                </a:solidFill>
                <a:latin typeface="Arial"/>
                <a:ea typeface="Arial"/>
                <a:cs typeface="Arial"/>
                <a:sym typeface="Arial"/>
              </a:rPr>
              <a:t>Overhead video sampled prey and fish positions at 20-ms intervals. Temporal resolution sets the precision assigned to each individual response latency, so every latency value is an estimate tied to that frame interval. Latencies are therefore reported as estimates at the resolution of that frame interval. The sampling rate therefore sets how precisely any turn onset can be dated.</a:t>
            </a:r>
            <a:endParaRPr b="0" i="0" sz="1800" u="none" cap="none" strike="noStrike">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7180153" y="1280071"/>
            <a:ext cx="3631675" cy="4297561"/>
          </a:xfrm>
          <a:prstGeom prst="rect">
            <a:avLst/>
          </a:prstGeom>
          <a:noFill/>
          <a:ln>
            <a:noFill/>
          </a:ln>
        </p:spPr>
      </p:pic>
      <p:sp>
        <p:nvSpPr>
          <p:cNvPr id="50" name="Google Shape;50;p3"/>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1(A–B). Published preparation and definitions of landing-point and current-position errors.</a:t>
            </a:r>
            <a:endParaRPr b="0" i="0" sz="1800" u="none" cap="none" strike="noStrike">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03a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2026-10-08T21:36:15.089Z</dcterms:created>
  <dc:creator>Presenton</dc:creator>
</cp:coreProperties>
</file>