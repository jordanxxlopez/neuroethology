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315" r:id="rId65"/>
    <p:sldId id="258" r:id="rId7"/>
    <p:sldId id="259" r:id="rId8"/>
    <p:sldId id="260" r:id="rId9"/>
    <p:sldId id="314" r:id="rId64"/>
    <p:sldId id="261" r:id="rId10"/>
    <p:sldId id="262" r:id="rId11"/>
    <p:sldId id="313" r:id="rId63"/>
    <p:sldId id="263" r:id="rId12"/>
    <p:sldId id="312" r:id="rId62"/>
    <p:sldId id="264" r:id="rId13"/>
    <p:sldId id="265" r:id="rId14"/>
    <p:sldId id="311" r:id="rId61"/>
    <p:sldId id="266" r:id="rId15"/>
    <p:sldId id="267" r:id="rId16"/>
    <p:sldId id="268" r:id="rId17"/>
    <p:sldId id="269" r:id="rId18"/>
    <p:sldId id="310" r:id="rId60"/>
    <p:sldId id="270" r:id="rId19"/>
    <p:sldId id="271" r:id="rId20"/>
    <p:sldId id="309" r:id="rId59"/>
    <p:sldId id="272" r:id="rId21"/>
    <p:sldId id="273" r:id="rId22"/>
    <p:sldId id="274" r:id="rId23"/>
    <p:sldId id="275" r:id="rId24"/>
    <p:sldId id="308" r:id="rId58"/>
    <p:sldId id="276" r:id="rId25"/>
    <p:sldId id="277" r:id="rId26"/>
    <p:sldId id="307" r:id="rId57"/>
    <p:sldId id="278" r:id="rId27"/>
    <p:sldId id="279" r:id="rId28"/>
    <p:sldId id="306" r:id="rId56"/>
    <p:sldId id="280" r:id="rId29"/>
    <p:sldId id="281" r:id="rId30"/>
    <p:sldId id="305" r:id="rId55"/>
    <p:sldId id="282" r:id="rId31"/>
    <p:sldId id="283" r:id="rId32"/>
    <p:sldId id="284" r:id="rId33"/>
    <p:sldId id="285" r:id="rId34"/>
    <p:sldId id="304" r:id="rId54"/>
    <p:sldId id="286" r:id="rId35"/>
    <p:sldId id="287" r:id="rId36"/>
    <p:sldId id="288" r:id="rId37"/>
    <p:sldId id="289" r:id="rId38"/>
    <p:sldId id="290" r:id="rId39"/>
    <p:sldId id="291" r:id="rId40"/>
    <p:sldId id="303" r:id="rId53"/>
    <p:sldId id="292" r:id="rId41"/>
    <p:sldId id="293" r:id="rId42"/>
    <p:sldId id="294" r:id="rId43"/>
    <p:sldId id="295" r:id="rId44"/>
    <p:sldId id="302" r:id="rId52"/>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ljtuRhO7pJoR/MFDRnjknjB3m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Archerfish: predictive aiming and ballistic prey capture</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27. NEUR 411 · NEUROETHOLOGY · FALL 2026. Wednesday, October 28,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Reichenthal et al. (2018), Fig. 1(A). Archerfish directing a water jet toward an aerial insect.</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https://doi.org/10.3389/fncir.2018.00018</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Archerfish dislodge aerial prey with controlled water jets and initiate predictive starts toward a future water-entry point. The title photograph is Reichenthal et al. (2018), Figure 1A.</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Archerfish are aquatic predators that dislodge aerial prey with a directed water jet. In Toxotes jaculatrix, a successful shot releases an insect into a falling trajectory. Securing the food then requires reaching the water-entry point before another fish does; the shooter and nearby bystanders can both respond.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photographed fish belongs to the visual-physiology preparation of Reichenthal and colleagues. The interception measurements and jet measurements come from separate primary experiments.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Rossel and colleagues recorded fish and dislodged flies from above. Responding fish initiated a rapid turn within approximately 100 ms, aligned toward the future landing point, and accelerated along that heading while the prey remained airborne. Shooting and interception therefore impose different motor demands.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Rossel and colleagues quantified the interception response of fish to dislodged flies, and Gerullis and Schuster quantified jet control at controlled target heights, so each behavior is measured in its own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1(A). Archerfish directing a water jet toward an aerial insect.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ballistic trajectory is motion dominated by initial velocity and gravity after release. Rossel and colleagues attached wet flies, approximately 50 mg, beneath a disk positioned 20 or 40 cm above the water. Overhead video sampled prey and fish positions at 20-ms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errors are defined in the authors’ original preparation. The study did not record a neural representation of either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investigators compared errors relative to two destinations: the eventual water-entry point and the prey’s horizontal position when the fish finished turning. They corrected the camera’s perspective for the prey’s changing height rather than treating its image position as an unchanged water-surface coordinate.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comparison separates prediction from pursuit of the currently visible target. Trials with obstructed turns were excluded, and initial misalignment exceeded 10° so turn onset and completion could be identified. Sampling every 20 ms resolves the position and heading of the fish across the whole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1(A–B). Published preparation and definitions of landing-point and current-position errors.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For the released flies, horizontal landing distance increased with initial horizontal velocity. Rossel and colleagues compared the measured distances at 20- and 40-cm release heights with the published ballistic predictions. The data were consistent with negligible air resistance and negligible initial vertical velocity under these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graph contains both measured landings and the authors’ theoretical curves. No values have been replotted or reconstructed.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same horizontal speed produces a more distant landing point when the release height is greater, because the object remains airborne longer. A fish must therefore combine motion information with height information; horizontal speed alone cannot identify the destination across both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ballistic approximation was checked against actual prey paths rather than imposed without measurement. Under these conditions the landing point is fixed by release height and initial horizontal velocity, the two variables a fish needs to combine.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2. Landing distance versus horizontal take-off velocity at 20 and 40 cm.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bystander’s initial orientation can differ greatly from the direction in which a dislodged fly moves. Rossel and colleagues sampled this angular relation at both 20- and 40-cm prey heights, including orientations that required large turns before acceleration toward the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broad orientation distributions are separate from the later, higher-resolution measurements of C-start kinematics.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observed headings were therefore not restricted to a shooter already facing the prey’s path. Responders could transform prey-motion information into a body-centered turning requirement while occupying different positions and orientations in the tank. Turning generally ended before the prey entered the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behavioral flexibility rules out a fixed turn angle as an adequate explanation of interception. The turn must therefore depend on the angle between the current orientation of the fish and the direction of the predicted landing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3(A–B). Initial orientations sampled during prey interception.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Rossel and colleagues measured where the fish’s final heading intersected the prey’s projected horizontal path. Errors relative to the future water-entry point were centered near zero at both tested heights, across the naturally occurring range of horizontal take-off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original error graphs use the same prey trajectories and turn responses, making the alternative aiming hypotheses directly comparable.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Errors relative to the prey’s position at turn completion instead showed a systematic offset. The fish had already aimed ahead of that position. This within-trial comparison used the same responses and therefore did not confound two different groups of animals or two different stimulus histories.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prediction of the landing destination before impact. It is stronger than merely observing that fish eventually catch prey, because later swimming corrections cannot account for the initial heading. Aiming at the future water-entry point and not at the current prey position is the defining feature of a predictive start.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5(A–B). Errors relative to the future landing point.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6(A–B). Errors relative to the prey position at turn completion.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To test dependence on continuing visual feedback, Rossel and colleagues tethered prey with a thin filament. The fly initially moved freely for slightly more than 100 ms, then stopped and reversed its direction when the filament became taut.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figure is the published free-flight latency distribution, not an invented reversal graph. The filament result is reported separately in the article text.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Fish still turned and initially accelerated toward the landing point predicted from the early motion. Corrections appeared much later. An initial commitment therefore persisted even though the subsequently visible trajectory contradicted the motion information used to choose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manipulation supports an initially programmed turn and acceleration rather than continuous tracking during that phase. The early motion therefore sets the turn and acceleration, and visual corrections enter only after the initial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4(A–B). Turn onset and completion relative to prey landing.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Rossel and colleagues placed prey on a transparent horizontal glass screen at 20 or 40 cm height. Air from a blast pipe moved the object horizontally at speeds within the natural take-off range. The target therefore moved without descending toward the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Preventing descent changes the spatial trajectory while retaining the initial horizontal motion cue. That intervention separates trajectory continuation from a landing-point computation.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Fish nevertheless turned toward the virtual landing point, the destination at which prey with that initial height and horizontal velocity would have entered the water if allowed to fall. Errors relative to this virtual point were centered near zero at both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Straight extrapolation of the actual horizontal trajectory cannot supply a finite water-entry point in this preparation. The result instead supports a relation built from initial height, speed and direction. The input to this relation is height, speed and direction, and the output is the landing point, so the horizontal screen supplies the inputs without the fall.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Rossel et al. (2002), Fig. 7(A–B). Turns toward virtual landing points for targets moving horizontally.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https://doi.org/10.1242/jeb.205.21.3321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C-start is a rapid maneuver in which the body first bends into a C-like shape and then straightens with an opposite tail movement. Wöhl and Schuster filmed predictive starts from above at 500 frames per second, resolving consecutive body positions every 2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silhouettes are the authors’ published high-speed sequence, including their stage colors and measured center-of-mass markers.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defined the first stage by bending toward the chosen destination and the second by straightening. In an original example, a fish rotated 43.6° within 22 ms and subsequently reached a take-off speed of 1.225 m/s. The center of mass and body axis were measured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Thus, displacement and rotation are coordinated within a recognizable two-stage motor pattern. Stage one rotates the body toward the chosen destination, and stage two completes the turn while the fish accelerates.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3. Original 2-ms silhouettes of bending, straightening and take-off.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Wöhl and Schuster reconstructed angular and linear motion from high-speed video. Predictive starts reached angular speeds above 4500°/s and linear speeds as high as 2.1 m/s. Their measured peak linear acceleration reached 120 m/s².</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Angular speed measures change in body orientation per unit time; linear speed measures translation of the center of mass. The published profiles should not be treated as interchangeable.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Angular speed generally peaked during initial bending, whereas the strongest linear speed occurred after straightening began. These different time courses separate reorientation from the subsequent acceleration toward the predicted prey destination. The same maneuver can therefore set both heading and take-off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measured ranges across demanding interception responses, not a claim that every start achieves the maxima simultaneously. Peak values of 4500°/s and 2.1 m/s define the performance range that any controlling circuit must produce.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5(A–B). Angular speed and acceleration during predictive starts.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6(A–B). Linear speed and acceleration for different required take-off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Wöhl and Schuster elicited escape C-starts in the same fish and compared them with prey-directed predictive starts. Both behaviors contained rapid bending followed by straightening, and their ranges of stage durations and performance substantially overlapped.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study compares actual predictive and experimentally elicited escape movements in the same preparation; circuit identity remains an inference from their similar performance.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Predictive starts were not systematically slower despite requiring a heading appropriate for a future catch point. Escape starts also varied in turn angle and speed, so neither behavioral category could be described adequately as a single stereotyped body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shared kinematics support possible recruitment of overlapping fast-start circuitry. The difference between the two behaviors lies in how the turn angle is chosen: away from a threat for an escape, toward a predicted catch point for a predictive start.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12(A–B). Original comparison of predictive and escape C-start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Predictive starts had to produce turns from 4° to 156° and take-off speeds from 0.4 to 2.1 m/s in Wöhl and Schuster’s recordings. Turn size was most closely associated with the maximum body bending reached at the end of the first stage.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relation compares required turn angle with the extent of bending. No graph has been generated from the reported angle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larger turns, further rotation could occur during straightening. Changes in stage durations, angular speed and displacement contributed additional variability. The motor pattern was therefore flexibly adjusted rather than selected from a small set of identical movements.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Turns from 4° to 156° are produced by scaling the first-stage bend, which gives the fish a continuous range of headings from one motor pattern. Any adequate mechanism must allow rapid movement with continuously variable turning and speed.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Wöhl &amp; Schuster (2007), Fig. 9. Maximum bending predicts the required turn angle.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https://doi.org/10.1242/jeb.02646</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Gerullis and Schuster trained Toxotes jaculatrix to shoot from a restricted channel at targets 20, 40 or 60 cm above the water. Small black spheres provided reproducible targets, and successful shots were rewarded with flies delivered in front of the shooter.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Target spheres were 5 mm in diameter. The restricted channel reduced variation in position and camera angle across the three target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Side-view recordings reached 5000 frames per second, allowing the investigators to follow the water from emergence to impact. The fish tolerated the illumination needed for these recordings and maintained a nearly fixed mouth-tip position during water release.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separates the target’s range from the fish’s shooting position. The nearly fixed mouth-tip position means that changes in the jet reflect the control of the shot by the fish.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1(D). Preimpact tips at 20, 40 and 60 cm; original 1-cm scale bar.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In shots aimed at a target 60 cm high, the water had not finished assembling at the jet tip after 30 cm of travel. Near impact, the tip became concentrated. By contrast, a shot aimed at 20 cm was already focused at that closer target height.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two photographs are different phases of a shot to the same 60-cm target, with the article’s original scale bar preserved.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Gerullis and Schuster compared original high-speed images at equivalent travel positions and at the preimpact phase. Preimpact tips were similarly concentrated across the three target heights, whereas the intermediate shapes differed according to the intended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rejects a fixed-distance focusing account in which water always assembles near the mouth and the finished tip simply travels onward. It supports active adjustment of the focusing distance. A fish aiming at 60 cm therefore completes focusing farther along the path than a fish aiming at 20 cm.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1(A–B). A 60-cm shot midway through travel and just before impact.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water jet can develop diameter fluctuations and break into droplets. Gerullis and Schuster inspected the jet shaft after a common 30-cm path, comparing shots originally directed toward different target heights. Longer-range jets had fewer shaft modulations than shorter-range jets.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comparison preserves a common travel distance. Missed short-range targets supplied the required uninterrupted jets for that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close targets, rare missed shots allowed observation beyond the intended impact point without collision with the target. This control matters because a jet that struck a target could break up as a consequence of the collision rather than its original hydrodynamic design.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resulting differences support coordinated control of stability and focusing range. Longer-range shots need a jet that stays intact over a greater distance, and the reduced shaft modulation fits that requirement.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1(E). Shaft stability after a common 30-cm path.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Gerullis and Schuster measured the tip speed during the first 20 ms of jet formation. The tip accelerated even while the jet rose against gravity, because it remained connected to subsequently emitted water moving faster than the early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curves are the original published fits and data. The slides describe their parameters without calculating or drawing a new jet model.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Published fits yielded hypothetical limiting speeds of 5.8–6.8 m/s, total speed increments of 2.7–3.8 m/s, and time constants of 6.6–20.0 ms. The speed increment increased with target height, linking the early-to-late velocity difference to the intended shooting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data support adjustable velocity gradients and reject an ordinary rigid-projectile description of the jet. Faster water emitted behind slower water catches the tip, which is how a velocity gradient gathers the water toward the impact point.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2(A–C). Tip acceleration during the first 20 ms at three target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2(D). Speed increment increases with target height.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To test whether tip acceleration alone explains coherence, Gerullis and Schuster produced upward jets with a fixed disposable syringe. High-speed recordings captured both jets that remained coherent during release and jets that broke up before all the water had emerged.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Stable and broken syringe jets are original experimental controls in the paper. Their similar speed fits do not establish that the syringe duplicates every biological flow variable.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two classes nevertheless had similar fitted tip-speed time courses. The apparatus could therefore reproduce the increase in speed without consistently reproducing the stability of an archerfish shot. This control separates a sufficient description of tip motion from a sufficient mechanism for the whole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living fish must coordinate properties beyond the acceleration profile if it maintains stable, focused impacts over different ranges. Stable jets therefore depend on additional controlled variables, such as the timing of water release at the mouth.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2(E–F). Stable and unstable syringe jets with similar tip-speed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Gerullis and Schuster collected water fired by the fish and compared it with control water. Shot viscosity was 0.867 mPa·s and control viscosity 0.869 mPa·s; surface tension was 70.37 versus 70.49 mN/m. No detectable change in these properties supported chemical tuning of the fluid.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Viscosity measures resistance to shear and surface tension measures the energetic cost of the water–air interface. The measured shot water retained the tested properties of ordinary control 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They also tracked mouth-tip displacement and body orientation during emission. Average total displacement was below 0.26 mm and total rotation below 0.5°, with no systematic dependence on target height. Range tuning therefore could not be attributed to large body movements during the shot.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Fluid properties identical to control water and displacement below 0.26 mm point to the time-varying mouth opening as the adjustable element. Water composition and whole-body motion do not supply the range adjustment.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3(A). Water-shot viscosity and surface tension compared with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3(C). Mouth-tip drift and body rotation during water release.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The mouth opening changed continuously during a shot; it did not form a constant aperture that simply opened and shut. Gerullis and Schuster measured opening and closing at 20-, 40- and 60-cm target heights, aligning records to the onset of water emergence.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aperture is the opening through which water exits. The invariant maximum width separates timing adjustments from a simple increase in mouth-opening size.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onset-to-closure interval increased with range, approximately 3.4 ms per additional 10 cm in the authors’ analysis. Maximum opening width and the final closure interval after release were comparatively unchanged. Specific phases of the movement therefore changed independently rather than undergoing uniform slowing.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pattern supports active control of a time-dependent outlet to coordinate jet formation and range. Releasing water for a longer interval supplies the faster subsequent water that long-range jets require.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4(C). Mouth-opening time courses for three target heights.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Gerullis &amp; Schuster (2014), Fig. 4(A–B). Range-dependent onset-to-closure time and final closure after the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https://doi.org/10.1016/j.cub.2014.07.059</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Temple and colleagues mapped cones and retinal ganglion cells in Toxotes chatareus using retinal preparations and anatomical counts. A ventral high-density region aligned with the up-forward visual direction used during spitting, rather than providing equal sampling across the entire visual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Cone photoreceptors sample incident light, whereas ganglion cells form the retina’s output population. The anatomical estimate depends on cell spacing and optical geometry.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highest cone densities exceeded 50,000 cells/mm², and the local ganglion-cell density approached a one-to-one relation with cone density in that region. Anatomically estimated resolving power reached 6.9 cycles/degree there, compared with 2.2 cycles/degree along the downward visual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cycle is one bright–dark repetition in a spatial pattern; more cycles per degree indicate finer anatomical sampling. These estimates connect retinal organization to the preferred shooting direction. The up-forward region therefore provides the finest anatomical sampling along the direction in which the fish aims.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Temple and colleagues used microspectrophotometry to measure absorption in individual photoreceptors, then corrected absorptance for ocular transmission and photopigment properties. Their comparisons separated retinal regions viewing different parts of the aquatic and aerial environment.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Microspectrophotometry measures how absorption varies with wavelength in a selected receptor. The original curves remain unchanged, including their axes and relative sensitivity scales.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published spectra contain short-, middle- and long-wavelength cone contributions and show regional differences in their combined spectral coverage. The measurements directly concern light capture by the receptors; they are not inferred solely from a fish choosing among colored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photopigment is a light-absorbing receptor molecule that initiates a photoreceptor response. Regional sensitivity can shape which contrasts are available against an aerial background. Spectral sensitivity and the spatial resolving power measured anatomically are distinct constraints on visual aiming.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2(A–C). Regional cone absorptance spectra.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Kretschmer and colleagues placed isolated archerfish retinas on a multielectrode array and projected alternating black and white bars. The grating remained present while movement began at randomly selected velocities, separating motion onset from the sudden appearance of a new object.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multielectrode array records extracellular spikes from several retinal output cells simultaneously. It samples activity without recording the whole animal’s aiming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400-µm bars moved upward or downward, stopping when their contrast edges reached the next electrode row. Recorded ganglion cells produced sharply timed responses after movement onset. The protocol also varied movement history so direction reversal did not occur in every step.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tests information available at retinal output before central processing. Expressing velocities as those of an object about 30 cm from the eye relates the electrode responses to the speeds of real moving targets.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1(A–G). Recorded retinal ganglion-cell responses and grating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 first-spike latency is the interval from a reference event to the first action potential in a response. Kretschmer and colleagues compared ganglion-cell latencies across the moving-grating velocities. The shortest median absolute latencies were about 22 ms at stimulus speeds around 5–6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action potential is a brief electrical spike used for neuronal signaling. The earliest available spike can transmit information before a long counting window is complete.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Latencies increased at both lower and higher velocities. Different individual cells supplied distinct tuning profiles, allowing the population pattern to distinguish velocity better than a single median value could. A published decoder reconstructed the presented velocities most successfully from absolute first-spike latencies.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Absolute latency requires knowledge of stimulus onset, which the experimenter possesses but the brain must infer from its own signals. A decoder that reconstructs velocity from absolute latencies indicates that the timing of spikes across the population carries velocity information within tens of milliseconds of movement onset.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2(A–L). First-spike latency varies with stimulus velocity.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Kretschmer and colleagues compared absolute latency with first interspike interval, spike rate over 100 ms, and latency relative to population response onset. An interspike interval is the elapsed time between consecutive action potentials; a firing rate counts spikes per unit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four decoding panels are the authors’ original analysis. Relative latencies reference the onset of the recorded population response, not the animal’s motor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first interval and the tested rate measure reconstructed velocity poorly. Relative first-spike latency performed better, even though its median remained near 10 ms across velocities, because the patterns across different cells retained velocity information. Relative timing supplied an internal reference rather than the experimenter’s stimulus clock.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supports population timing as a plausible fast signal. A spike count over 100 ms is slow relative to a predictive response, whereas relative first-spike latency stays near 10 ms across velocities.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2(A–L). Published decoding based on latency, interval, rate and relative latency.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Kretschmer and colleagues repeatedly decoded velocity while increasing the number of recorded ganglion cells included. Published reconstruction errors fell as the population grew, but the gain was steepest for the first few cells and became smaller with additional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error curves are published analyses of recorded spikes. Their flattening describes diminishing informational returns under this decoder, not an anatomical proof of redundant connections.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Individual experiments differed in accuracy because response timing and tuning quality differed among their sampled cells. Even the most precisely timed unit did not reproduce the information present in a useful combination of units. Population coding therefore depends on which signals are included, not simply on an abstract cell count.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analysis supports distributed retinal information and a limited benefit from progressively larger samples. Combining cells improves the estimate because their timing patterns carry complementary information about velocity.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Temple S, Hart NS, Marshall NJ, Collin SP (2010). A spitting image: specializations in archerfish eyes for vision at the interface between air and water. Proceedings of the Royal Society B: Biological Sciences 277: 2607-2615. https://doi.org/10.1098/rspb.2010.0345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Kretschmer et al. (2012), Fig. 7(A–B). Decoding error as more ganglion cells are added.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https://doi.org/10.1186/1471-2202-13-69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Temple et al. (2010), Fig. 3. Ganglion-cell topography aligned with the preferred shooting axis.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https://doi.org/10.1098/rspb.2010.0345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The optic tectum is a midbrain structure receiving visual input and participating in sensorimotor processing. Reichenthal and colleagues recorded extracellular activity in archerfish while presenting random checkerboards. A spike-triggered average described the stimulus patterns preceding each neuron’s spikes.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spike-triggered average is the average stimulus history before spikes, compared with the overall stimulus ensemble. Its positive and negative lobes describe contrast preference.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Receptive fields ranged from nearly circular to elongated. About 68% of the sampled cells had a monophasic temporal profile, whereas the remaining group had two phases with opposite contrast signs. Mean estimated response latencies were 54.5 ms and 60 ms for these groups.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distinguish spatial sampling from the temporal contrast sequence associated with firing. A receptive field is the stimulus region and pattern that changes a neuron’s activity. Each tectal neuron is thus described by where in space and when in time a stimulus changes its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2(A–H). Spatial and temporal receptive fields of tectal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3(Q–R). Published Nissl-stained sections and labeled brain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Reichenthal and colleagues also presented full-field flashes with varying intensity to reduce the visual stimulus to a time series. They used spike-triggered covariance, which compares variation in the stimulus histories preceding spikes with variation in the full stimulus 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temporal filter weights portions of the preceding light history. The published eigenvectors belong to an analytical response model, not a reconstructed anatomical circuit.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Structured temporal filters identified combinations of earlier light levels associated with the response. Cells could be described by one to three relevant filters, with two most common. Some filters were termed excitatory or inhibitory according to their statistical relation to the stimulus ensemble.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Excitatory and inhibitory filters describe how earlier light levels increase or decrease the response of a cell. The analysis adds information missed by an average alone, because it captures several filters per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4(A–B). Published covariance analysis and significant stimulus filters.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3(Q–R). Published Nissl-stained sections and labeled brain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Reichenthal and colleagues fitted models that combined the recovered temporal filters through nonlinear response functions. A nonlinearity means the response cannot be described simply by proportional addition of all filter outputs; the joint values can change how strongly the neuron fires.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displayed response surfaces and traces are the original published models and recordings. No surface, trace or model curve has been recreated.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Original examples included one-, two- and three-filter descriptions with different response surfaces. Two-filter models could reproduce response structure that an average-based single filter missed. The authors compared model output with recorded firing rather than judging the inferred filters solely by their appearance.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phenomenological models: compact descriptions of measured input–output relationships. The diverse combinations provide candidate transformations of visual timing before a motor decision.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Reichenthal A, Ben-Tov M, Segev R (2018). Coding Schemes in the Archerfish Optic Tectum. Frontiers in Neural Circuits 12: 18. https://doi.org/10.3389/fncir.2018.00018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Reichenthal et al. (2018), Fig. 7(A–D). Original two-filter nonlinear response models and neural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https://doi.org/10.3389/fncir.2018.00018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3(Q–R). Published Nissl-stained sections and labeled brain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Karoubi and colleagues examined Toxotes chatareus brains with Nissl staining and immunohistochemistry. Nissl staining labels cell-rich tissue and helps distinguish nuclei and layers; immunohistochemistry uses antibodies to locate selected molecular markers within the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Serial anatomy supplies a coordinate framework for physiological studies. The atlas does not trace a complete retinal-to-Mauthner interception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atlas documents the telencephalon, diencephalon, optic tectum, cerebellum and hindbrain in serial sections and whole-brain views. Its labeled sections supply anatomical landmarks for interpreting visual recordings and the location of descending neurons, rather than assuming that all activity comes from a single undifferentiated brain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atlas also maps catecholaminergic and cholinergic markers, which identify cell groups by the transmitter they use. A cholinergic neuron uses acetylcholine.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Karoubi N, Segev R, Wullimann MF (2016). The Brain of the Archerfish Toxotes chatareus: A Nissl-Based Neuroanatomical Atlas and Catecholaminergic/Cholinergic Systems. Frontiers in Neuroanatomy 10: 106. https://doi.org/10.3389/fnana.2016.00106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Karoubi et al. (2016), Fig. 2(A–D). Lateral view and reconstruction of the archerfish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https://doi.org/10.3389/fnana.2016.00106</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The Mauthner cell is a large hindbrain neuron with a descending axon associated with fast-start behavior in fishes. Machnik and colleagues stimulated the spinal cord and searched the archerfish hindbrain for a characteristic short-latency, all-or-none extracellular field potential.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All-or-none refers to the recruitment of a spike once threshold is reached. The focused extracellular signal also depends on the axon-cap geometry around the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Increasing a stimulus above threshold changed whether the signal occurred but did not progressively scale its amplitude. Each side of the hindbrain contained a distinct focus, consistent with a paired neuronal source. Intracellular penetration and subsequent staining then linked that source to a cell with Mauthner-like morphology.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approach connects an electrical signature to anatomy instead of relying only on cell size. It establishes an experimentally accessible Mauthner neuron in archerfish. Antidromic stimulation travels backward from axon toward cell body, so the recorded all-or-none signal reports the spike of the cell itself.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2(A–D). All-or-none field potential used to locate the Mauthner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6(A–E). Hindbrain Mauthner cell and giant crossed spinal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filled identified Mauthner neurons and compared archerfish with similarly sized goldfish processed by the same method. The soma is the neuronal cell body; dendrites receive and integrate inputs before signals reach the spike-initiation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red and blue cell reconstructions are original published anatomical reconstructions. Their colors and dimensions have not been 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Archerfish soma diameters ranged from 45 to 63 µm, compared with 47–66 µm in goldfish. Both had prominent lateral and ventral dendrites, an axon hillock, and smaller branches. The broad similarity persisted despite the archerfish’s specialized interception demands.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matched preparation controls for major differences caused by animal size and staining method. It argues against a dramatically enlarged or uniquely shaped Mauthner neuron as a necessary explanation of the archerfish skill. The archerfish cell therefore has the same overall plan as the goldfish cell, with dendrites receiving input and the axon hillock initiating the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After staining identified cells, Machnik and colleagues followed the Mauthner axons across the hindbrain midline and into the opposite spinal cord. Unstained cross-sections independently contained two exceptionally large axons in the corresponding positions.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stained and unstained sections provide complementary identification controls. Crossing means that an axon descends on the side opposite its hindbrain cell body.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largest axons averaged 71.9 µm in diameter in the measured archerfish sections and were comparable with those of similarly sized goldfish. Finding exactly two matched giants argued against an additional, equally large descending pathway hidden elsewhere in the sampled cord.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large axon can support rapid conduction, making this anatomy compatible with a fast motor command. Two crossed giants of about 71.9 µm in diameter mean that each Mauthner cell sends a fast signal to the opposite side of the spinal cord.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6(A–E). Hindbrain Mauthner cell and giant crossed spinal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obtained intracellular recordings from identified archerfish Mauthner cells. Mean resting voltage was −79.5 mV, antidromic spike onset latency was 0.265 ms, and the somatically recorded spike had a half-maximal duration of 0.54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transmembrane potential is the voltage inside the cell relative to the immediately adjacent extracellular space. The distant reference can include the local spike-associated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apparently small somatic spike, approximately 36.7 mV, must be interpreted with the extracellular field surrounding the cell. Subtracting the nearby external potential reconstructs the actual membrane-voltage change; a distant reference electrode alone does not directly measure that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recordings remained stable for approximately 2–3 hours, permitting repeated sensory and inhibitory tests within one cell. An action potential is the regenerative electrical event that can propagate down the axon. A spike onset latency of 0.265 ms and a half-maximal duration of 0.54 ms mark a rapidly conducting, fast-signaling output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1(B–C). Antidromic spike and correction for the extracellular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2(A–E). Intracellular recording stability and action-potential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delivered brief acoustic bursts while recording the Mauthner cell. A postsynaptic potential, or PSP, is a membrane-voltage change associated with synaptic input. Under their stimulus conditions, detectable acoustic PSPs began after 7.4–15.1 ms in archerfish.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Depolarization is movement of membrane voltage toward less negative values. The original recordings compare acoustic responses in archerfish and goldfish under the same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mean acoustic PSP amplitude was 4.3 mV, and some preparations produced no detectable acoustic PSP despite strong visually evoked responses. The same standardized stimulus and recording conditions were used in the comparison with goldfish, permitting a controlled species contrast.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Latency and amplitude measure different properties of an input, so an earlier onset is separate from the size of the influence on firing. Acoustic PSPs mean that the Mauthner cell receives mechanosensory input as well as visual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4(A–B). Sound- and light-evoked postsynaptic potentials in the same preparations.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presented 7-ms light flashes while recording the same identified Mauthner cells. Visual PSP amplitudes ranged from 5.3 to 28.2 mV, with a mean of 17.1 mV. Onset latencies ranged from 27.5 to 54.2 ms, averaging 39.4 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flashes had an intensity of 100 cd/m² with maximum intensity at 569 nm. Species differences apply to this selected visual and acoustic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Under the tested conditions, visual responses were substantially larger than acoustic responses in archerfish. Goldfish instead had mean visual and acoustic amplitudes of 7.0 and 8.2 mV. The shared stimuli make this a comparison of relative efficacy rather than an uncontrolled comparison of separate experiments.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late portions of the visual PSPs varied more than their initial rise, consistent with additional network input. Larger but delayed visual input fits a pathway with more processing stages before the Mauthner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5(A–C). Visual and acoustic PSP amplitude and latency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Machnik and colleagues recorded at different positions along the Mauthner lateral dendrite and corrected the signals for the nearby extracellular field. Reconstructed spike amplitude decayed passively with length constants of 141–164 µm in the tested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Proximal and distal recordings were approximately 50 and 150 µm lateral to the axon hillock. Different gradients are interpreted using independently measured passive decay.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Acoustic PSPs were larger at a distal lateral-dendrite position than close to the soma, consistent with input arriving laterally. Visual PSPs showed the opposite gradient: their amplitude decreased toward the distal lateral dendrite, consistent with input entering nearer the soma or through another dendritic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Passive decay with distance means that a signal arriving far from the soma shrinks before it reaches the spike-initiation region, so the amplitude gradient indicates where an input entered.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6(A–D). Passive dendritic decay and locations of sensory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Recurrent inhibition is inhibitory feedback activated after a neuron or its associated network fires. Machnik and colleagues elicited pairs of antidromic Mauthner spikes and varied their separation. The second spike was reduced most strongly at short intervals, and recovery contained fast and slow components.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chloride-loaded electrode contained 3 mol/L KCl. A change in apparent potential polarity after chloride loading must not be mistaken for a change from inhibitory to excitatory network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Archerfish recovery time constants were 0.9 and 16.5 ms, compared with 0.8 and 12.8 ms in goldfish. The paper associates the fast component provisionally with sodium-channel inactivation. Repeated stimulation and chloride-loaded recordings supplied additional tests of later inhibitory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Voltage-gated sodium-channel inactivation temporarily reduces the ability to generate another spike; chloride loading can change the polarity of a chloride-dependent synaptic potential. The comparable physiology supports functionally similar inhibitory networks. Recovery with a fast and a slow component limits how quickly the cell can fire a second spike.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7(A–D). Paired-spike tests and chloride-loaded recordings of recurrent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6(A–E). Hindbrain Mauthner cell and giant crossed spinal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Feed-forward inhibition occurs when sensory input excites inhibitory pathways alongside the pathway to a target neuron. Machnik and colleagues elicited an antidromic spike at different times during a visual or acoustic PSP, using its reduction as a probe of sensory-driven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sensory PSP and inhibition can overlap in time. Reduction of the probe spike is an operational measurement of that inhibition, not a direct recording from the interneurons supplying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archerfish and goldfish, the inhibitory time course was matched to the duration of the evoked PSP. Comparable effects occurred for visual and acoustic stimulation. Sensory access to the Mauthner cell therefore includes opposing influences rather than a purely excitatory command.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reduction of an antidromic spike during a PSP measures a functional inhibitory effect. Matching time courses in the two species make a shared inhibitory network the parsimonious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(2018b), Fig. 8(A–C). Sensory-driven inhibition measured during visual and acoustic PSPs.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https://doi.org/10.1242/jeb.175588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Machnik et al. (2018a), Fig. 5(A–E). Published cell reconstructions and soma/dendrite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https://doi.org/10.1242/jeb.182535</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Volotsky and colleagues trained Toxotes chatareus to shoot at an aerial target and introduced horizontal airflow above the water. The air deflected the jet while the fish remained in water, creating an aiming error without moving the visible target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setup includes a real video frame of the water jet. Airflow acted on the aerial water stream while the target location remained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compared baseline shots, a perturbation period, and shots after airflow removal. Errors initially increased when airflow began, then declined over successive shots. Trials in both airflow directions tested whether adjustment was limited to a single direction of physical deflection.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Motor adaptation is adjustment of a movement in response to systematic errors caused by changed conditions. The measured correction supports flexible calibration of the shooting action. Declining errors over successive shots show that the fish recalibrate the shot using the outcome of earlier shots.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Volotsky et al. (2023), Fig. 2(A–B). Original airflow apparatus and photographed water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https://doi.org/10.7554/elife.92909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After the airflow perturbation ended, Volotsky and colleagues observed errors in the opposite direction. These aftereffects declined over several subsequent shots. A compensation learned during the perturbation therefore initially persisted when the physical deflection was removed.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Washout refers to trials after the perturbation is removed. The original error records preserve their units and condition colors, without replacing them with a simulated adaptation curve.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baseline–perturbation–washout sequence distinguishes adaptive recalibration from simply following the current disturbance. If each shot only corrected the visible outcome after it occurred, removal of the disturbance would not produce the same systematic initial bias in the opposite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altered motor commands anticipating a recurring perturbation. Aftereffects that decline over several shots show the compensation being unlearned as the original conditions return.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Volotsky et al. (2023), Fig. 3(C–F). Trial-by-trial error reduction and aftereffects in both airflow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https://doi.org/10.7554/elife.92909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An egocentric reference frame expresses a relation relative to the animal’s body; an allocentric frame expresses it relative to the external environment. Volotsky and colleagues rotated the shooting access so a trained fish changed its body orientation while airflow direction remained fixed in the tank.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distinction concerns the transfer of learned correction. A fixed environmental wind becomes an opposite body-relative disturbance when the fish reverses its shooting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the reversal, errors became large and adaptation required additional shots. The retained compensation followed the previous body-relative relation rather than immediately accounting for the unchanged external airflow direction. Visual landmarks within the tank remained 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egocentric adjustment ties the correction to the direction the fish is facing. The compensation therefore follows the body-relative relation and not the fixed airflow direction in the tank.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Volotsky et al. (2023), Fig. 5(A–E). Body-direction reversal tests of the adaptation reference frame.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https://doi.org/10.7554/elife.92909</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presented virtual prey on a screen above the tank and rewarded the corresponding virtual impact points. After initially straight motion, training trajectories changed direction by 39.8°. Food was then delivered at the new deflected destination rather than the old ballistic 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virtual task retains an objective predicted landing point while allowing the investigators to change the motion-to-reward relation independently of physical falling prey.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training, initial turns shifted toward the new destinations. Critical tests displayed only the early straight trajectory and moved feeders away from both candidate impact points. Fish still aimed at the learned deflected point, excluding simple pursuit of the later deflection or a visible feeder.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response remained a rapid predictive start rather than being replaced by a slow approach. This establishes plasticity in the relation between early motion and chosen destination. The learned deflection of 39.8° became part of the mapping from early motion to destination.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4(A–K). Original deflection training, transfer tests and latency–accuracy results.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tested whether learning only replaced familiar stimulus–response associations. Fish trained at one height were challenged at different heights where the old training-height response and the new rule predicted different destinations.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Generalization means that a learned relation supports responses to inputs not previously trained. The tests were selected so alternative stored associations predicted different initial headings.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Initial turns were already appropriate for the untrained heights rather than systematically approaching the training-height substitute. Additional tests changed object size and included an untrained speed of 1.425 m/s. The learned relation generalized beyond the exact combinations repeatedly encountered during training.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Immediate transfer supports a more general representation than a lookup list restricted to trained cases. The tests used heights for which competing accounts predicted different destinations, so the initial turn identifies which relation the fish applied.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5(A–G). Transfer to untrained speed, angle, size and height.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trained fish with two visually different prey objects. A disk required the learned deflected relation, whereas a triangle required the original ballistic relation. Shape and initial motion were controlled so the same motion variables could require different destinations.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object cue chooses a rule, while current motion and geometry still determine the required heading. The rule is not equivalent to one fixed body turn per shape.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interspersed tests, only the initial trajectory was visible. Fish directed turns toward the deflected virtual point for disks and the ballistic virtual point for triangles. The decision could therefore use a context cue to choose between two concurrent motion-to-destination relations.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is stronger evidence than learning one fixed turn toward each shape, because required turns also depended on prey speed, direction, height and fish position. The same early motion thus leads to different destinations depending on the object that the fish sees.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6(A–J). Shape cues select between learned and ballistic interception rules.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Krause and colleagues tested whether a shape cue had to appear before prey motion to prepare the appropriate decision. A neutral cross remained stationary for 2 seconds, then changed into the relevant disk or triangle exactly when movement began.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Late cue means identity becomes available at motion onset, rather than before it. The paper compares that condition with an advance cue while holding the interception rules and initial motion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Only the initial straight movement was displayed, preventing the later deflection from identifying the correct destination. Errors were comparable with those obtained when object identity had been visible 2 seconds before motion. The fish selected the appropriate rule during the brief decision interval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finding adds conditional flexibility to a response made in less than 100 ms under the tested conditions. A rule can therefore be selected on the fly, without advance preparation, within a start that begins in under 100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Krause et al. (2024), Fig. 7(A–E). Rule selection when an object changes appearance after motion onset.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https://doi.org/10.7554/elife.99634</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 Prediction targets future impact. Early height and horizontal motion guide the initial turn toward a landing point, including a virtual landing point when descent is prevented.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Fast starts remain flexible. Predictive C-starts bend and straighten rapidly while adjusting heading and take-off speed; similar escape kinematics do not alone prove a shared command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Jet control is active. Range-dependent velocity gradients, stability and mouth-opening timing focus water near impact; the tested shot chemistry and body drift do not explain the adjustment.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Timing carries retinal information. First-spike population timing decodes motion velocity better than the tested rate or interval measures; biological use of the decoder remains unproven.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Neural anatomy and causation differ. Archerfish have identifiable Mauthner cells with strong visual access and inhibitory controls, but these studies do not directly establish their recruitment in predictive starts.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Learning changes rapid control. Shooting shows adaptive aftereffects; predictive starts can learn, generalize and select between context-dependent interception rules without abandoning rapid decisions.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Rossel S, Corlija J, Schuster S (2002). Predicting three-dimensional target motion: how archer fish determine where to catch their dislodged prey. Journal of Experimental Biology 205: 3321-3326. https://doi.org/10.1242/jeb.205.21.3321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Wöhl S, Schuster S (2007). The predictive start of hunting archer fish: a flexible and precise motor pattern performed with the kinematics of an escape C-start. Journal of Experimental Biology 210: 311-324. https://doi.org/10.1242/jeb.02646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Gerullis P, Schuster S (2014). Archerfish Actively Control the Hydrodynamics of Their Jets. Current Biology 24: 2156-2160. https://doi.org/10.1016/j.cub.2014.07.059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Kretschmer V, Kretschmer F, Ahlers MT, Ammermüller J (2012). High speed coding for velocity by archerfish retinal ganglion cells. BMC Neuroscience 13: 69. https://doi.org/10.1186/1471-2202-13-69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(2018a). The Mauthner cell in a fish with top-performance and yet flexibly-tuned C-starts I. Identification and comparative morphology. Journal of Experimental Biology 221: jeb.182535. https://doi.org/10.1242/jeb.182535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Machnik P, Leupolz K, Feyl S, Schulze W, Schuster S (2018b). The Mauthner cell in a fish with top-performance and yet flexibly-tuned C-starts II. Physiology. Journal of Experimental Biology 221: jeb.175588. https://doi.org/10.1242/jeb.175588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Volotsky S, Donchin O, Segev R (2023). The archerfish uses motor adaptation in shooting to correct for changing physical conditions. eLife (reviewed preprint) 12: RP92909. https://doi.org/10.7554/elife.92909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Krause M, Schulze W, Schuster S (2024). Learning and cognition in highspeed decision making. eLife (reviewed preprint) 13: RP99634. https://doi.org/10.7554/elife.99634</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washout phase tests whether a correction was learned.</a:t>
            </a:r>
          </a:p>
          <a:p>
            <a:r>
              <a:rPr lang="en-US" sz="1200"/>
              <a:t>• Definition.</a:t>
            </a:r>
          </a:p>
          <a:p>
            <a:r>
              <a:rPr lang="en-US" sz="1200"/>
              <a:t>– An aftereffect is an error opposite to the original disturbance.</a:t>
            </a:r>
          </a:p>
          <a:p>
            <a:r>
              <a:rPr lang="en-US" sz="1200"/>
              <a:t>– It appears when the disturbance is removed.</a:t>
            </a:r>
          </a:p>
          <a:p>
            <a:r>
              <a:rPr lang="en-US" sz="1200"/>
              <a:t>• Sequence.</a:t>
            </a:r>
          </a:p>
          <a:p>
            <a:r>
              <a:rPr lang="en-US" sz="1200"/>
              <a:t>– Volotsky and colleagues compared baseline shots, a perturbation period and shots after airflow removal.</a:t>
            </a:r>
          </a:p>
          <a:p>
            <a:r>
              <a:rPr lang="en-US" sz="1200"/>
              <a:t>• Perturbation.</a:t>
            </a:r>
          </a:p>
          <a:p>
            <a:r>
              <a:rPr lang="en-US" sz="1200"/>
              <a:t>– Horizontal airflow deflected the jet.</a:t>
            </a:r>
          </a:p>
          <a:p>
            <a:r>
              <a:rPr lang="en-US" sz="1200"/>
              <a:t>– Errors increased at first and then declined over successive shots.</a:t>
            </a:r>
          </a:p>
          <a:p>
            <a:r>
              <a:rPr lang="en-US" sz="1200"/>
              <a:t>• Washout.</a:t>
            </a:r>
          </a:p>
          <a:p>
            <a:r>
              <a:rPr lang="en-US" sz="1200"/>
              <a:t>– After the airflow ended, errors appeared in the opposite direction.</a:t>
            </a:r>
          </a:p>
          <a:p>
            <a:r>
              <a:rPr lang="en-US" sz="1200"/>
              <a:t>– They declined over several subsequent shots.</a:t>
            </a:r>
          </a:p>
          <a:p>
            <a:r>
              <a:rPr lang="en-US" sz="1200"/>
              <a:t>• Interpretation.</a:t>
            </a:r>
          </a:p>
          <a:p>
            <a:r>
              <a:rPr lang="en-US" sz="1200"/>
              <a:t>– The compensation learned during the perturbation persisted at first.</a:t>
            </a:r>
          </a:p>
          <a:p>
            <a:r>
              <a:rPr lang="en-US" sz="1200"/>
              <a:t>– The shot had been recalibrated.</a:t>
            </a:r>
          </a:p>
          <a:p>
            <a:r>
              <a:rPr lang="en-US" sz="1200"/>
              <a:t>• Control logic.</a:t>
            </a:r>
          </a:p>
          <a:p>
            <a:r>
              <a:rPr lang="en-US" sz="1200"/>
              <a:t>– A fish that only corrected the visible outcome would show no systematic opposite bias.</a:t>
            </a:r>
          </a:p>
          <a:p>
            <a:r>
              <a:rPr lang="en-US" sz="1200"/>
              <a:t>– Motor adaptation predicts it.</a:t>
            </a:r>
          </a:p>
          <a:p>
            <a:r>
              <a:rPr lang="en-US" sz="1200"/>
              <a:t>• Baseline to washout.</a:t>
            </a:r>
          </a:p>
          <a:p>
            <a:r>
              <a:rPr lang="en-US" sz="1200"/>
              <a:t>– Baseline shots define the normal accuracy of the fish.</a:t>
            </a:r>
          </a:p>
          <a:p>
            <a:r>
              <a:rPr lang="en-US" sz="1200"/>
              <a:t>– The sequence from baseline through perturbation to washout separates recalibration from simple correction.</a:t>
            </a:r>
          </a:p>
          <a:p>
            <a:r>
              <a:rPr lang="en-US" sz="1200"/>
              <a:t>• Airflow direction.</a:t>
            </a:r>
          </a:p>
          <a:p>
            <a:r>
              <a:rPr lang="en-US" sz="1200"/>
              <a:t>– Trials in both airflow directions tested whether adjustment was limited to one direction of deflection.</a:t>
            </a:r>
          </a:p>
          <a:p>
            <a:r>
              <a:rPr lang="en-US" sz="1200"/>
              <a:t>– The target itself did not move.</a:t>
            </a:r>
          </a:p>
          <a:p>
            <a:r>
              <a:rPr lang="en-US" sz="1200"/>
              <a:t/>
            </a:r>
          </a:p>
          <a:p>
            <a:r>
              <a:rPr lang="en-US" sz="1200"/>
              <a:t>References:</a:t>
            </a:r>
          </a:p>
          <a:p>
            <a:r>
              <a:rPr lang="en-US" sz="1200"/>
              <a:t>Volotsky S, Donchin O, Segev R (2023). The archerfish uses motor adaptation in shooting to correct for changing physical conditions. eLife (reviewed preprint) 12: RP92909. https://doi.org/10.7554/elife.92909</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Passive decay allows amplitude at a recording site to report where an input entered.</a:t>
            </a:r>
          </a:p>
          <a:p>
            <a:r>
              <a:rPr lang="en-US" sz="1200"/>
              <a:t>• Definition.</a:t>
            </a:r>
          </a:p>
          <a:p>
            <a:r>
              <a:rPr lang="en-US" sz="1200"/>
              <a:t>– A length constant is the distance over which passive voltage spread is attenuated.</a:t>
            </a:r>
          </a:p>
          <a:p>
            <a:r>
              <a:rPr lang="en-US" sz="1200"/>
              <a:t>– A short value means a signal fades quickly.</a:t>
            </a:r>
          </a:p>
          <a:p>
            <a:r>
              <a:rPr lang="en-US" sz="1200"/>
              <a:t>• Recordings.</a:t>
            </a:r>
          </a:p>
          <a:p>
            <a:r>
              <a:rPr lang="en-US" sz="1200"/>
              <a:t>– Machnik and colleagues recorded at several positions along the lateral dendrite.</a:t>
            </a:r>
          </a:p>
          <a:p>
            <a:r>
              <a:rPr lang="en-US" sz="1200"/>
              <a:t>– They corrected the signals for the nearby extracellular field.</a:t>
            </a:r>
          </a:p>
          <a:p>
            <a:r>
              <a:rPr lang="en-US" sz="1200"/>
              <a:t>• Values.</a:t>
            </a:r>
          </a:p>
          <a:p>
            <a:r>
              <a:rPr lang="en-US" sz="1200"/>
              <a:t>– Reconstructed spike amplitude decayed with length constants of 141–164 micrometers.</a:t>
            </a:r>
          </a:p>
          <a:p>
            <a:r>
              <a:rPr lang="en-US" sz="1200"/>
              <a:t>• Acoustic input.</a:t>
            </a:r>
          </a:p>
          <a:p>
            <a:r>
              <a:rPr lang="en-US" sz="1200"/>
              <a:t>– Acoustic PSPs were larger at a distal lateral-dendrite position than near the soma.</a:t>
            </a:r>
          </a:p>
          <a:p>
            <a:r>
              <a:rPr lang="en-US" sz="1200"/>
              <a:t>– This fits input arriving laterally.</a:t>
            </a:r>
          </a:p>
          <a:p>
            <a:r>
              <a:rPr lang="en-US" sz="1200"/>
              <a:t>• Visual input.</a:t>
            </a:r>
          </a:p>
          <a:p>
            <a:r>
              <a:rPr lang="en-US" sz="1200"/>
              <a:t>– Visual PSPs showed the opposite gradient.</a:t>
            </a:r>
          </a:p>
          <a:p>
            <a:r>
              <a:rPr lang="en-US" sz="1200"/>
              <a:t>– Their amplitude decreased toward the distal dendrite.</a:t>
            </a:r>
          </a:p>
          <a:p>
            <a:r>
              <a:rPr lang="en-US" sz="1200"/>
              <a:t>• Consequence.</a:t>
            </a:r>
          </a:p>
          <a:p>
            <a:r>
              <a:rPr lang="en-US" sz="1200"/>
              <a:t>– The two senses enter the cell at different dendritic locations.</a:t>
            </a:r>
          </a:p>
          <a:p>
            <a:r>
              <a:rPr lang="en-US" sz="1200"/>
              <a:t>• Link to the circuit.</a:t>
            </a:r>
          </a:p>
          <a:p>
            <a:r>
              <a:rPr lang="en-US" sz="1200"/>
              <a:t>– Both input types are recorded in the same identified cell.</a:t>
            </a:r>
          </a:p>
          <a:p>
            <a:r>
              <a:rPr lang="en-US" sz="1200"/>
              <a:t>– Their different entry sites show that the pathways reach separate dendritic regions.</a:t>
            </a:r>
          </a:p>
          <a:p>
            <a:r>
              <a:rPr lang="en-US" sz="1200"/>
              <a:t>• Correction for the field.</a:t>
            </a:r>
          </a:p>
          <a:p>
            <a:r>
              <a:rPr lang="en-US" sz="1200"/>
              <a:t>– Recorded signals were corrected for the extracellular field near the cell.</a:t>
            </a:r>
          </a:p>
          <a:p>
            <a:r>
              <a:rPr lang="en-US" sz="1200"/>
              <a:t>– Without the correction the spike amplitude would be misjudged.</a:t>
            </a:r>
          </a:p>
          <a:p>
            <a:r>
              <a:rPr lang="en-US" sz="1200"/>
              <a:t/>
            </a:r>
          </a:p>
          <a:p>
            <a:r>
              <a:rPr lang="en-US" sz="1200"/>
              <a:t>References:</a:t>
            </a:r>
          </a:p>
          <a:p>
            <a:r>
              <a:rPr lang="en-US" sz="1200"/>
              <a:t>Machnik P, Leupolz K, Feyl S, Schulze W, Schuster S (2018b). The Mauthner cell in a fish with top-performance and yet flexibly-tuned C-starts II. Physiology. Journal of Experimental Biology 221: jeb.175588. https://doi.org/10.1242/jeb.175588</a:t>
            </a:r>
          </a:p>
          <a:p>
            <a:r>
              <a:rPr lang="en-US" sz="1200"/>
              <a:t>Machnik P, Leupolz K, Feyl S, Schulze W, Schuster S (2018a). The Mauthner cell in a fish with top-performance and yet flexibly-tuned C-starts I. Identification and comparative morphology. Journal of Experimental Biology 221: jeb.182535. https://doi.org/10.1242/jeb.182535</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Antidromic stimulation makes it possible to find a specific neuron without knowing its inputs.</a:t>
            </a:r>
          </a:p>
          <a:p>
            <a:r>
              <a:rPr lang="en-US" sz="1200"/>
              <a:t>• Definition.</a:t>
            </a:r>
          </a:p>
          <a:p>
            <a:r>
              <a:rPr lang="en-US" sz="1200"/>
              <a:t>– A spike is sent backward along the axon toward the cell body.</a:t>
            </a:r>
          </a:p>
          <a:p>
            <a:r>
              <a:rPr lang="en-US" sz="1200"/>
              <a:t>– The neuron fires without synaptic input.</a:t>
            </a:r>
          </a:p>
          <a:p>
            <a:r>
              <a:rPr lang="en-US" sz="1200"/>
              <a:t>• Field potential.</a:t>
            </a:r>
          </a:p>
          <a:p>
            <a:r>
              <a:rPr lang="en-US" sz="1200"/>
              <a:t>– It is the extracellular voltage produced by the currents of a cell or group of cells.</a:t>
            </a:r>
          </a:p>
          <a:p>
            <a:r>
              <a:rPr lang="en-US" sz="1200"/>
              <a:t>• Search.</a:t>
            </a:r>
          </a:p>
          <a:p>
            <a:r>
              <a:rPr lang="en-US" sz="1200"/>
              <a:t>– Machnik and colleagues stimulated the spinal cord.</a:t>
            </a:r>
          </a:p>
          <a:p>
            <a:r>
              <a:rPr lang="en-US" sz="1200"/>
              <a:t>– They searched the hindbrain for a short-latency, all-or-none potential.</a:t>
            </a:r>
          </a:p>
          <a:p>
            <a:r>
              <a:rPr lang="en-US" sz="1200"/>
              <a:t>• All or none.</a:t>
            </a:r>
          </a:p>
          <a:p>
            <a:r>
              <a:rPr lang="en-US" sz="1200"/>
              <a:t>– A stimulus above threshold changed whether the signal occurred.</a:t>
            </a:r>
          </a:p>
          <a:p>
            <a:r>
              <a:rPr lang="en-US" sz="1200"/>
              <a:t>– The amplitude did not scale with stimulus strength.</a:t>
            </a:r>
          </a:p>
          <a:p>
            <a:r>
              <a:rPr lang="en-US" sz="1200"/>
              <a:t>• Paired source.</a:t>
            </a:r>
          </a:p>
          <a:p>
            <a:r>
              <a:rPr lang="en-US" sz="1200"/>
              <a:t>– Each side of the hindbrain contained a distinct focus.</a:t>
            </a:r>
          </a:p>
          <a:p>
            <a:r>
              <a:rPr lang="en-US" sz="1200"/>
              <a:t>• Identification.</a:t>
            </a:r>
          </a:p>
          <a:p>
            <a:r>
              <a:rPr lang="en-US" sz="1200"/>
              <a:t>– Intracellular penetration and staining linked the source to a cell.</a:t>
            </a:r>
          </a:p>
          <a:p>
            <a:r>
              <a:rPr lang="en-US" sz="1200"/>
              <a:t>– The cell had Mauthner-like morphology.</a:t>
            </a:r>
          </a:p>
          <a:p>
            <a:r>
              <a:rPr lang="en-US" sz="1200"/>
              <a:t>• Summary.</a:t>
            </a:r>
          </a:p>
          <a:p>
            <a:r>
              <a:rPr lang="en-US" sz="1200"/>
              <a:t>– The electrical signature allows the cell to be found by its response and not by its size.</a:t>
            </a:r>
          </a:p>
          <a:p>
            <a:r>
              <a:rPr lang="en-US" sz="1200"/>
              <a:t>– Staining then confirms its shape.</a:t>
            </a:r>
          </a:p>
          <a:p>
            <a:r>
              <a:rPr lang="en-US" sz="1200"/>
              <a:t>• Threshold behavior.</a:t>
            </a:r>
          </a:p>
          <a:p>
            <a:r>
              <a:rPr lang="en-US" sz="1200"/>
              <a:t>– Raising the stimulus above threshold switched the signal on and did not make it larger.</a:t>
            </a:r>
          </a:p>
          <a:p>
            <a:r>
              <a:rPr lang="en-US" sz="1200"/>
              <a:t>– This all-or-none property is what a spike of a single large cell would produce.</a:t>
            </a:r>
          </a:p>
          <a:p>
            <a:r>
              <a:rPr lang="en-US" sz="1200"/>
              <a:t/>
            </a:r>
          </a:p>
          <a:p>
            <a:r>
              <a:rPr lang="en-US" sz="1200"/>
              <a:t>References:</a:t>
            </a:r>
          </a:p>
          <a:p>
            <a:r>
              <a:rPr lang="en-US" sz="1200"/>
              <a:t>Machnik P, Leupolz K, Feyl S, Schulze W, Schuster S (2018a). The Mauthner cell in a fish with top-performance and yet flexibly-tuned C-starts I. Identification and comparative morphology. Journal of Experimental Biology 221: jeb.182535. https://doi.org/10.1242/jeb.182535</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spike-triggered average turns a spike record into a description of the preferred stimulus.</a:t>
            </a:r>
          </a:p>
          <a:p>
            <a:r>
              <a:rPr lang="en-US" sz="1200"/>
              <a:t>• Definition.</a:t>
            </a:r>
          </a:p>
          <a:p>
            <a:r>
              <a:rPr lang="en-US" sz="1200"/>
              <a:t>– It is the mean of the stimulus patterns that preceded each spike.</a:t>
            </a:r>
          </a:p>
          <a:p>
            <a:r>
              <a:rPr lang="en-US" sz="1200"/>
              <a:t>– It reveals which features make a neuron fire.</a:t>
            </a:r>
          </a:p>
          <a:p>
            <a:r>
              <a:rPr lang="en-US" sz="1200"/>
              <a:t>• Stimulus.</a:t>
            </a:r>
          </a:p>
          <a:p>
            <a:r>
              <a:rPr lang="en-US" sz="1200"/>
              <a:t>– Random checkerboards were presented to the archerfish.</a:t>
            </a:r>
          </a:p>
          <a:p>
            <a:r>
              <a:rPr lang="en-US" sz="1200"/>
              <a:t>– Extracellular activity was recorded in the optic tectum.</a:t>
            </a:r>
          </a:p>
          <a:p>
            <a:r>
              <a:rPr lang="en-US" sz="1200"/>
              <a:t>• Receptive fields.</a:t>
            </a:r>
          </a:p>
          <a:p>
            <a:r>
              <a:rPr lang="en-US" sz="1200"/>
              <a:t>– A receptive field is the stimulus region and pattern that changes a neuron's activity.</a:t>
            </a:r>
          </a:p>
          <a:p>
            <a:r>
              <a:rPr lang="en-US" sz="1200"/>
              <a:t>– Fields ranged from nearly circular to elongated.</a:t>
            </a:r>
          </a:p>
          <a:p>
            <a:r>
              <a:rPr lang="en-US" sz="1200"/>
              <a:t>• Temporal profiles.</a:t>
            </a:r>
          </a:p>
          <a:p>
            <a:r>
              <a:rPr lang="en-US" sz="1200"/>
              <a:t>– About 68% of sampled cells had a monophasic profile.</a:t>
            </a:r>
          </a:p>
          <a:p>
            <a:r>
              <a:rPr lang="en-US" sz="1200"/>
              <a:t>– The remaining cells had two phases with opposite contrast signs.</a:t>
            </a:r>
          </a:p>
          <a:p>
            <a:r>
              <a:rPr lang="en-US" sz="1200"/>
              <a:t>• Latencies.</a:t>
            </a:r>
          </a:p>
          <a:p>
            <a:r>
              <a:rPr lang="en-US" sz="1200"/>
              <a:t>– Mean estimated latencies were 54.5 ms and 60 ms for the two groups.</a:t>
            </a:r>
          </a:p>
          <a:p>
            <a:r>
              <a:rPr lang="en-US" sz="1200"/>
              <a:t>• Structure.</a:t>
            </a:r>
          </a:p>
          <a:p>
            <a:r>
              <a:rPr lang="en-US" sz="1200"/>
              <a:t>– The tectum is a midbrain structure that receives visual input.</a:t>
            </a:r>
          </a:p>
          <a:p>
            <a:r>
              <a:rPr lang="en-US" sz="1200"/>
              <a:t>– It takes part in sensorimotor processing.</a:t>
            </a:r>
          </a:p>
          <a:p>
            <a:r>
              <a:rPr lang="en-US" sz="1200"/>
              <a:t>• Consequence.</a:t>
            </a:r>
          </a:p>
          <a:p>
            <a:r>
              <a:rPr lang="en-US" sz="1200"/>
              <a:t>– Each cell is described by where and when a stimulus changes its firing.</a:t>
            </a:r>
          </a:p>
          <a:p>
            <a:r>
              <a:rPr lang="en-US" sz="1200"/>
              <a:t>• Nonlinear step.</a:t>
            </a:r>
          </a:p>
          <a:p>
            <a:r>
              <a:rPr lang="en-US" sz="1200"/>
              <a:t>– An average alone can miss part of the response structure of a cell.</a:t>
            </a:r>
          </a:p>
          <a:p>
            <a:r>
              <a:rPr lang="en-US" sz="1200"/>
              <a:t>– Additional analyses use several temporal filters per cell.</a:t>
            </a:r>
          </a:p>
          <a:p>
            <a:r>
              <a:rPr lang="en-US" sz="1200"/>
              <a:t/>
            </a:r>
          </a:p>
          <a:p>
            <a:r>
              <a:rPr lang="en-US" sz="1200"/>
              <a:t>References:</a:t>
            </a:r>
          </a:p>
          <a:p>
            <a:r>
              <a:rPr lang="en-US" sz="1200"/>
              <a:t>Reichenthal A, Ben-Tov M, Segev R (2018). Coding Schemes in the Archerfish Optic Tectum. Frontiers in Neural Circuits 12: 18. https://doi.org/10.3389/fncir.2018.00018</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Relative timing solves the problem of an unknown stimulus onset.</a:t>
            </a:r>
          </a:p>
          <a:p>
            <a:r>
              <a:rPr lang="en-US" sz="1200"/>
              <a:t>• Absolute latency.</a:t>
            </a:r>
          </a:p>
          <a:p>
            <a:r>
              <a:rPr lang="en-US" sz="1200"/>
              <a:t>– It is measured from the moment the stimulus is presented.</a:t>
            </a:r>
          </a:p>
          <a:p>
            <a:r>
              <a:rPr lang="en-US" sz="1200"/>
              <a:t>– The experimenter knows this moment, but the brain has to infer it.</a:t>
            </a:r>
          </a:p>
          <a:p>
            <a:r>
              <a:rPr lang="en-US" sz="1200"/>
              <a:t>• Relative latency.</a:t>
            </a:r>
          </a:p>
          <a:p>
            <a:r>
              <a:rPr lang="en-US" sz="1200"/>
              <a:t>– It is measured from the onset of the population response.</a:t>
            </a:r>
          </a:p>
          <a:p>
            <a:r>
              <a:rPr lang="en-US" sz="1200"/>
              <a:t>– The reference comes from the cells themselves.</a:t>
            </a:r>
          </a:p>
          <a:p>
            <a:r>
              <a:rPr lang="en-US" sz="1200"/>
              <a:t>• Comparison.</a:t>
            </a:r>
          </a:p>
          <a:p>
            <a:r>
              <a:rPr lang="en-US" sz="1200"/>
              <a:t>– Kretschmer and colleagues also tested the first interspike interval.</a:t>
            </a:r>
          </a:p>
          <a:p>
            <a:r>
              <a:rPr lang="en-US" sz="1200"/>
              <a:t>– They tested a spike rate over 100 ms as well.</a:t>
            </a:r>
          </a:p>
          <a:p>
            <a:r>
              <a:rPr lang="en-US" sz="1200"/>
              <a:t>• Rate measures.</a:t>
            </a:r>
          </a:p>
          <a:p>
            <a:r>
              <a:rPr lang="en-US" sz="1200"/>
              <a:t>– The first interval and the tested rate reconstructed velocity poorly.</a:t>
            </a:r>
          </a:p>
          <a:p>
            <a:r>
              <a:rPr lang="en-US" sz="1200"/>
              <a:t>• Result.</a:t>
            </a:r>
          </a:p>
          <a:p>
            <a:r>
              <a:rPr lang="en-US" sz="1200"/>
              <a:t>– Relative first-spike latency performed better.</a:t>
            </a:r>
          </a:p>
          <a:p>
            <a:r>
              <a:rPr lang="en-US" sz="1200"/>
              <a:t>– Its median stayed near 10 ms across velocities.</a:t>
            </a:r>
          </a:p>
          <a:p>
            <a:r>
              <a:rPr lang="en-US" sz="1200"/>
              <a:t>• Why it works.</a:t>
            </a:r>
          </a:p>
          <a:p>
            <a:r>
              <a:rPr lang="en-US" sz="1200"/>
              <a:t>– The pattern across different cells kept the velocity information.</a:t>
            </a:r>
          </a:p>
          <a:p>
            <a:r>
              <a:rPr lang="en-US" sz="1200"/>
              <a:t>– Single medians did not carry it.</a:t>
            </a:r>
          </a:p>
          <a:p>
            <a:r>
              <a:rPr lang="en-US" sz="1200"/>
              <a:t>• Timescale.</a:t>
            </a:r>
          </a:p>
          <a:p>
            <a:r>
              <a:rPr lang="en-US" sz="1200"/>
              <a:t>– A 100 ms spike count is slow compared with a predictive response.</a:t>
            </a:r>
          </a:p>
          <a:p>
            <a:r>
              <a:rPr lang="en-US" sz="1200"/>
              <a:t>• Population view.</a:t>
            </a:r>
          </a:p>
          <a:p>
            <a:r>
              <a:rPr lang="en-US" sz="1200"/>
              <a:t>– Each cell supplies a different tuning profile.</a:t>
            </a:r>
          </a:p>
          <a:p>
            <a:r>
              <a:rPr lang="en-US" sz="1200"/>
              <a:t>– The pattern of relative timing across cells carries the velocity.</a:t>
            </a:r>
          </a:p>
          <a:p>
            <a:r>
              <a:rPr lang="en-US" sz="1200"/>
              <a:t>• Reference.</a:t>
            </a:r>
          </a:p>
          <a:p>
            <a:r>
              <a:rPr lang="en-US" sz="1200"/>
              <a:t>– The population response onset serves as an internal clock that the retina itself provides.</a:t>
            </a:r>
          </a:p>
          <a:p>
            <a:r>
              <a:rPr lang="en-US" sz="1200"/>
              <a:t>– Absolute latency needs the stimulus clock of the experimenter.</a:t>
            </a:r>
          </a:p>
          <a:p>
            <a:r>
              <a:rPr lang="en-US" sz="1200"/>
              <a:t/>
            </a:r>
          </a:p>
          <a:p>
            <a:r>
              <a:rPr lang="en-US" sz="1200"/>
              <a:t>References:</a:t>
            </a:r>
          </a:p>
          <a:p>
            <a:r>
              <a:rPr lang="en-US" sz="1200"/>
              <a:t>Kretschmer V, Kretschmer F, Ahlers MT, Ammermüller J (2012). High speed coding for velocity by archerfish retinal ganglion cells. BMC Neuroscience 13: 69. https://doi.org/10.1186/1471-2202-13-69</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array records the retinal output directly.</a:t>
            </a:r>
          </a:p>
          <a:p>
            <a:r>
              <a:rPr lang="en-US" sz="1200"/>
              <a:t>• Definition.</a:t>
            </a:r>
          </a:p>
          <a:p>
            <a:r>
              <a:rPr lang="en-US" sz="1200"/>
              <a:t>– A multielectrode array is a grid of recording electrodes under an isolated tissue.</a:t>
            </a:r>
          </a:p>
          <a:p>
            <a:r>
              <a:rPr lang="en-US" sz="1200"/>
              <a:t>– It records the spikes of many neurons at the same time.</a:t>
            </a:r>
          </a:p>
          <a:p>
            <a:r>
              <a:rPr lang="en-US" sz="1200"/>
              <a:t>• Ganglion cells.</a:t>
            </a:r>
          </a:p>
          <a:p>
            <a:r>
              <a:rPr lang="en-US" sz="1200"/>
              <a:t>– They are the output neurons of the retina.</a:t>
            </a:r>
          </a:p>
          <a:p>
            <a:r>
              <a:rPr lang="en-US" sz="1200"/>
              <a:t>– Their spikes carry visual information toward the brain.</a:t>
            </a:r>
          </a:p>
          <a:p>
            <a:r>
              <a:rPr lang="en-US" sz="1200"/>
              <a:t>• Stimulus.</a:t>
            </a:r>
          </a:p>
          <a:p>
            <a:r>
              <a:rPr lang="en-US" sz="1200"/>
              <a:t>– Alternating black and white bars were projected onto the retina.</a:t>
            </a:r>
          </a:p>
          <a:p>
            <a:r>
              <a:rPr lang="en-US" sz="1200"/>
              <a:t>– The bars were 400 micrometers wide.</a:t>
            </a:r>
          </a:p>
          <a:p>
            <a:r>
              <a:rPr lang="en-US" sz="1200"/>
              <a:t>• Motion onset.</a:t>
            </a:r>
          </a:p>
          <a:p>
            <a:r>
              <a:rPr lang="en-US" sz="1200"/>
              <a:t>– The grating stayed present while movement began.</a:t>
            </a:r>
          </a:p>
          <a:p>
            <a:r>
              <a:rPr lang="en-US" sz="1200"/>
              <a:t>– Starting velocities were chosen at random.</a:t>
            </a:r>
          </a:p>
          <a:p>
            <a:r>
              <a:rPr lang="en-US" sz="1200"/>
              <a:t>• Direction.</a:t>
            </a:r>
          </a:p>
          <a:p>
            <a:r>
              <a:rPr lang="en-US" sz="1200"/>
              <a:t>– Bars moved upward or downward.</a:t>
            </a:r>
          </a:p>
          <a:p>
            <a:r>
              <a:rPr lang="en-US" sz="1200"/>
              <a:t>– Movement history varied so that direction reversal did not occur in every step.</a:t>
            </a:r>
          </a:p>
          <a:p>
            <a:r>
              <a:rPr lang="en-US" sz="1200"/>
              <a:t>• Response.</a:t>
            </a:r>
          </a:p>
          <a:p>
            <a:r>
              <a:rPr lang="en-US" sz="1200"/>
              <a:t>– Ganglion cells produced sharply timed responses after movement onset.</a:t>
            </a:r>
          </a:p>
          <a:p>
            <a:r>
              <a:rPr lang="en-US" sz="1200"/>
              <a:t>• Meaning.</a:t>
            </a:r>
          </a:p>
          <a:p>
            <a:r>
              <a:rPr lang="en-US" sz="1200"/>
              <a:t>– The responses reflect motion onset and not the sudden appearance of an object.</a:t>
            </a:r>
          </a:p>
          <a:p>
            <a:r>
              <a:rPr lang="en-US" sz="1200"/>
              <a:t>• Velocity scale.</a:t>
            </a:r>
          </a:p>
          <a:p>
            <a:r>
              <a:rPr lang="en-US" sz="1200"/>
              <a:t>– Velocities are expressed as those of an external object about 30 cm from the eye.</a:t>
            </a:r>
          </a:p>
          <a:p>
            <a:r>
              <a:rPr lang="en-US" sz="1200"/>
              <a:t>– They are not speeds across the retinal surface.</a:t>
            </a:r>
          </a:p>
          <a:p>
            <a:r>
              <a:rPr lang="en-US" sz="1200"/>
              <a:t>• Randomization.</a:t>
            </a:r>
          </a:p>
          <a:p>
            <a:r>
              <a:rPr lang="en-US" sz="1200"/>
              <a:t>– Starting velocities were chosen at random, so the responses cannot be explained by a fixed order of stimuli.</a:t>
            </a:r>
          </a:p>
          <a:p>
            <a:r>
              <a:rPr lang="en-US" sz="1200"/>
              <a:t/>
            </a:r>
          </a:p>
          <a:p>
            <a:r>
              <a:rPr lang="en-US" sz="1200"/>
              <a:t>References:</a:t>
            </a:r>
          </a:p>
          <a:p>
            <a:r>
              <a:rPr lang="en-US" sz="1200"/>
              <a:t>Kretschmer V, Kretschmer F, Ahlers MT, Ammermüller J (2012). High speed coding for velocity by archerfish retinal ganglion cells. BMC Neuroscience 13: 69. https://doi.org/10.1186/1471-2202-13-69</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Resolving power links retinal anatomy to the direction of aiming.</a:t>
            </a:r>
          </a:p>
          <a:p>
            <a:r>
              <a:rPr lang="en-US" sz="1200"/>
              <a:t>• Definition.</a:t>
            </a:r>
          </a:p>
          <a:p>
            <a:r>
              <a:rPr lang="en-US" sz="1200"/>
              <a:t>– Resolving power is the finest spatial detail an eye can distinguish.</a:t>
            </a:r>
          </a:p>
          <a:p>
            <a:r>
              <a:rPr lang="en-US" sz="1200"/>
              <a:t>– It is expressed in cycles per degree.</a:t>
            </a:r>
          </a:p>
          <a:p>
            <a:r>
              <a:rPr lang="en-US" sz="1200"/>
              <a:t>• Cycle.</a:t>
            </a:r>
          </a:p>
          <a:p>
            <a:r>
              <a:rPr lang="en-US" sz="1200"/>
              <a:t>– A cycle is one bright–dark repetition in a spatial pattern.</a:t>
            </a:r>
          </a:p>
          <a:p>
            <a:r>
              <a:rPr lang="en-US" sz="1200"/>
              <a:t>– More cycles per degree mean finer sampling.</a:t>
            </a:r>
          </a:p>
          <a:p>
            <a:r>
              <a:rPr lang="en-US" sz="1200"/>
              <a:t>• Cone density.</a:t>
            </a:r>
          </a:p>
          <a:p>
            <a:r>
              <a:rPr lang="en-US" sz="1200"/>
              <a:t>– The highest cone densities exceeded 50,000 cells per square millimeter.</a:t>
            </a:r>
          </a:p>
          <a:p>
            <a:r>
              <a:rPr lang="en-US" sz="1200"/>
              <a:t>– Ganglion-cell density approached a one-to-one relation with cone density there.</a:t>
            </a:r>
          </a:p>
          <a:p>
            <a:r>
              <a:rPr lang="en-US" sz="1200"/>
              <a:t>• Estimates.</a:t>
            </a:r>
          </a:p>
          <a:p>
            <a:r>
              <a:rPr lang="en-US" sz="1200"/>
              <a:t>– Resolving power reached 6.9 cycles per degree in the ventral region.</a:t>
            </a:r>
          </a:p>
          <a:p>
            <a:r>
              <a:rPr lang="en-US" sz="1200"/>
              <a:t>– It was 2.2 cycles per degree along the downward visual axis.</a:t>
            </a:r>
          </a:p>
          <a:p>
            <a:r>
              <a:rPr lang="en-US" sz="1200"/>
              <a:t>• Alignment.</a:t>
            </a:r>
          </a:p>
          <a:p>
            <a:r>
              <a:rPr lang="en-US" sz="1200"/>
              <a:t>– The high-density region faces the up-forward direction used during spitting.</a:t>
            </a:r>
          </a:p>
          <a:p>
            <a:r>
              <a:rPr lang="en-US" sz="1200"/>
              <a:t>• Methods.</a:t>
            </a:r>
          </a:p>
          <a:p>
            <a:r>
              <a:rPr lang="en-US" sz="1200"/>
              <a:t>– Temple and colleagues used retinal preparations and anatomical counts in Toxotes chatareus.</a:t>
            </a:r>
          </a:p>
          <a:p>
            <a:r>
              <a:rPr lang="en-US" sz="1200"/>
              <a:t>• Consequence.</a:t>
            </a:r>
          </a:p>
          <a:p>
            <a:r>
              <a:rPr lang="en-US" sz="1200"/>
              <a:t>– The retina samples most finely along the aiming direction instead of equally across the field.</a:t>
            </a:r>
          </a:p>
          <a:p>
            <a:r>
              <a:rPr lang="en-US" sz="1200"/>
              <a:t>• Directions in the visual field.</a:t>
            </a:r>
          </a:p>
          <a:p>
            <a:r>
              <a:rPr lang="en-US" sz="1200"/>
              <a:t>– The up-forward direction is the one used during spitting.</a:t>
            </a:r>
          </a:p>
          <a:p>
            <a:r>
              <a:rPr lang="en-US" sz="1200"/>
              <a:t>– The downward axis has lower resolving power.</a:t>
            </a:r>
          </a:p>
          <a:p>
            <a:r>
              <a:rPr lang="en-US" sz="1200"/>
              <a:t/>
            </a:r>
          </a:p>
          <a:p>
            <a:r>
              <a:rPr lang="en-US" sz="1200"/>
              <a:t>References:</a:t>
            </a:r>
          </a:p>
          <a:p>
            <a:r>
              <a:rPr lang="en-US" sz="1200"/>
              <a:t>Temple S, Hart NS, Marshall NJ, Collin SP (2010). A spitting image: specializations in archerfish eyes for vision at the interface between air and water. Proceedings of the Royal Society B: Biological Sciences 277: 2607-2615. https://doi.org/10.1098/rspb.2010.0345</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jet is a stream of water emitted over time, and its speed varies along its length.</a:t>
            </a:r>
          </a:p>
          <a:p>
            <a:r>
              <a:rPr lang="en-US" sz="1200"/>
              <a:t>• Definition.</a:t>
            </a:r>
          </a:p>
          <a:p>
            <a:r>
              <a:rPr lang="en-US" sz="1200"/>
              <a:t>– A velocity gradient is a difference in speed along the moving water.</a:t>
            </a:r>
          </a:p>
          <a:p>
            <a:r>
              <a:rPr lang="en-US" sz="1200"/>
              <a:t>– Here the rear water moves faster than the front water.</a:t>
            </a:r>
          </a:p>
          <a:p>
            <a:r>
              <a:rPr lang="en-US" sz="1200"/>
              <a:t>• Tip acceleration.</a:t>
            </a:r>
          </a:p>
          <a:p>
            <a:r>
              <a:rPr lang="en-US" sz="1200"/>
              <a:t>– The tip accelerated during the first 20 ms of formation.</a:t>
            </a:r>
          </a:p>
          <a:p>
            <a:r>
              <a:rPr lang="en-US" sz="1200"/>
              <a:t>– It did so even while the jet rose against gravity.</a:t>
            </a:r>
          </a:p>
          <a:p>
            <a:r>
              <a:rPr lang="en-US" sz="1200"/>
              <a:t>• Cause.</a:t>
            </a:r>
          </a:p>
          <a:p>
            <a:r>
              <a:rPr lang="en-US" sz="1200"/>
              <a:t>– The tip stayed connected to subsequently emitted water.</a:t>
            </a:r>
          </a:p>
          <a:p>
            <a:r>
              <a:rPr lang="en-US" sz="1200"/>
              <a:t>– That water moved faster than the early water.</a:t>
            </a:r>
          </a:p>
          <a:p>
            <a:r>
              <a:rPr lang="en-US" sz="1200"/>
              <a:t>• Fitted values.</a:t>
            </a:r>
          </a:p>
          <a:p>
            <a:r>
              <a:rPr lang="en-US" sz="1200"/>
              <a:t>– Limiting speeds were 5.8–6.8 meters per second.</a:t>
            </a:r>
          </a:p>
          <a:p>
            <a:r>
              <a:rPr lang="en-US" sz="1200"/>
              <a:t>– Total speed increments were 2.7–3.8 meters per second.</a:t>
            </a:r>
          </a:p>
          <a:p>
            <a:r>
              <a:rPr lang="en-US" sz="1200"/>
              <a:t>• Time constants.</a:t>
            </a:r>
          </a:p>
          <a:p>
            <a:r>
              <a:rPr lang="en-US" sz="1200"/>
              <a:t>– Fitted time constants ranged from 6.6 to 20.0 ms.</a:t>
            </a:r>
          </a:p>
          <a:p>
            <a:r>
              <a:rPr lang="en-US" sz="1200"/>
              <a:t>• Range dependence.</a:t>
            </a:r>
          </a:p>
          <a:p>
            <a:r>
              <a:rPr lang="en-US" sz="1200"/>
              <a:t>– The speed increment increased with target height.</a:t>
            </a:r>
          </a:p>
          <a:p>
            <a:r>
              <a:rPr lang="en-US" sz="1200"/>
              <a:t>– A longer range is linked to a larger early-to-late velocity difference.</a:t>
            </a:r>
          </a:p>
          <a:p>
            <a:r>
              <a:rPr lang="en-US" sz="1200"/>
              <a:t>• Contrast.</a:t>
            </a:r>
          </a:p>
          <a:p>
            <a:r>
              <a:rPr lang="en-US" sz="1200"/>
              <a:t>– An ordinary rigid projectile does not have such a gradient.</a:t>
            </a:r>
          </a:p>
          <a:p>
            <a:r>
              <a:rPr lang="en-US" sz="1200"/>
              <a:t>• Link to the mouth.</a:t>
            </a:r>
          </a:p>
          <a:p>
            <a:r>
              <a:rPr lang="en-US" sz="1200"/>
              <a:t>– The velocity difference between early and subsequent water depends on how the mouth releases the water.</a:t>
            </a:r>
          </a:p>
          <a:p>
            <a:r>
              <a:rPr lang="en-US" sz="1200"/>
              <a:t>– The gradient is therefore a product of the control of the shot by the fish.</a:t>
            </a:r>
          </a:p>
          <a:p>
            <a:r>
              <a:rPr lang="en-US" sz="1200"/>
              <a:t/>
            </a:r>
          </a:p>
          <a:p>
            <a:r>
              <a:rPr lang="en-US" sz="1200"/>
              <a:t>References:</a:t>
            </a:r>
          </a:p>
          <a:p>
            <a:r>
              <a:rPr lang="en-US" sz="1200"/>
              <a:t>Gerullis P, Schuster S (2014). Archerfish Actively Control the Hydrodynamics of Their Jets. Current Biology 24: 2156-2160. https://doi.org/10.1016/j.cub.2014.07.059</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Focusing describes how the water of a shot is arranged as it travels.</a:t>
            </a:r>
          </a:p>
          <a:p>
            <a:r>
              <a:rPr lang="en-US" sz="1200"/>
              <a:t>• Definition.</a:t>
            </a:r>
          </a:p>
          <a:p>
            <a:r>
              <a:rPr lang="en-US" sz="1200"/>
              <a:t>– A focused jet has gathered its water into a concentrated tip.</a:t>
            </a:r>
          </a:p>
          <a:p>
            <a:r>
              <a:rPr lang="en-US" sz="1200"/>
              <a:t>– The focusing distance is where this gathering finishes.</a:t>
            </a:r>
          </a:p>
          <a:p>
            <a:r>
              <a:rPr lang="en-US" sz="1200"/>
              <a:t>• Long-range shot.</a:t>
            </a:r>
          </a:p>
          <a:p>
            <a:r>
              <a:rPr lang="en-US" sz="1200"/>
              <a:t>– For a target 60 cm high, the water had not finished assembling after 30 cm.</a:t>
            </a:r>
          </a:p>
          <a:p>
            <a:r>
              <a:rPr lang="en-US" sz="1200"/>
              <a:t>– The tip became concentrated near impact.</a:t>
            </a:r>
          </a:p>
          <a:p>
            <a:r>
              <a:rPr lang="en-US" sz="1200"/>
              <a:t>• Short-range shot.</a:t>
            </a:r>
          </a:p>
          <a:p>
            <a:r>
              <a:rPr lang="en-US" sz="1200"/>
              <a:t>– A shot aimed at 20 cm was already focused at that closer height.</a:t>
            </a:r>
          </a:p>
          <a:p>
            <a:r>
              <a:rPr lang="en-US" sz="1200"/>
              <a:t>• Image comparison.</a:t>
            </a:r>
          </a:p>
          <a:p>
            <a:r>
              <a:rPr lang="en-US" sz="1200"/>
              <a:t>– Gerullis and Schuster compared original high-speed images at equivalent travel positions.</a:t>
            </a:r>
          </a:p>
          <a:p>
            <a:r>
              <a:rPr lang="en-US" sz="1200"/>
              <a:t>– They also compared the preimpact phase.</a:t>
            </a:r>
          </a:p>
          <a:p>
            <a:r>
              <a:rPr lang="en-US" sz="1200"/>
              <a:t>• Preimpact tips.</a:t>
            </a:r>
          </a:p>
          <a:p>
            <a:r>
              <a:rPr lang="en-US" sz="1200"/>
              <a:t>– They were similarly concentrated across the three target heights.</a:t>
            </a:r>
          </a:p>
          <a:p>
            <a:r>
              <a:rPr lang="en-US" sz="1200"/>
              <a:t>– Intermediate shapes differed with the intended range.</a:t>
            </a:r>
          </a:p>
          <a:p>
            <a:r>
              <a:rPr lang="en-US" sz="1200"/>
              <a:t>• Consequence.</a:t>
            </a:r>
          </a:p>
          <a:p>
            <a:r>
              <a:rPr lang="en-US" sz="1200"/>
              <a:t>– A fixed-distance account would have the water assemble near the mouth.</a:t>
            </a:r>
          </a:p>
          <a:p>
            <a:r>
              <a:rPr lang="en-US" sz="1200"/>
              <a:t>– The data instead show that focusing distance follows the target distance.</a:t>
            </a:r>
          </a:p>
          <a:p>
            <a:r>
              <a:rPr lang="en-US" sz="1200"/>
              <a:t>• Comparison of heights.</a:t>
            </a:r>
          </a:p>
          <a:p>
            <a:r>
              <a:rPr lang="en-US" sz="1200"/>
              <a:t>– The 20 cm shot and the 60 cm shot differ in where the tip finishes forming.</a:t>
            </a:r>
          </a:p>
          <a:p>
            <a:r>
              <a:rPr lang="en-US" sz="1200"/>
              <a:t>– The impact shape is similar in both.</a:t>
            </a:r>
          </a:p>
          <a:p>
            <a:r>
              <a:rPr lang="en-US" sz="1200"/>
              <a:t/>
            </a:r>
          </a:p>
          <a:p>
            <a:r>
              <a:rPr lang="en-US" sz="1200"/>
              <a:t>References:</a:t>
            </a:r>
          </a:p>
          <a:p>
            <a:r>
              <a:rPr lang="en-US" sz="1200"/>
              <a:t>Gerullis P, Schuster S (2014). Archerfish Actively Control the Hydrodynamics of Their Jets. Current Biology 24: 2156-2160. https://doi.org/10.1016/j.cub.2014.07.059</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Two kinds of speed describe the same fast start.</a:t>
            </a:r>
          </a:p>
          <a:p>
            <a:r>
              <a:rPr lang="en-US" sz="1200"/>
              <a:t>• Angular speed.</a:t>
            </a:r>
          </a:p>
          <a:p>
            <a:r>
              <a:rPr lang="en-US" sz="1200"/>
              <a:t>– It is the rate of rotation of the body axis in degrees per second.</a:t>
            </a:r>
          </a:p>
          <a:p>
            <a:r>
              <a:rPr lang="en-US" sz="1200"/>
              <a:t>– It measures how fast the fish turns.</a:t>
            </a:r>
          </a:p>
          <a:p>
            <a:r>
              <a:rPr lang="en-US" sz="1200"/>
              <a:t>• Linear speed.</a:t>
            </a:r>
          </a:p>
          <a:p>
            <a:r>
              <a:rPr lang="en-US" sz="1200"/>
              <a:t>– It is the rate at which the center of mass moves through the water.</a:t>
            </a:r>
          </a:p>
          <a:p>
            <a:r>
              <a:rPr lang="en-US" sz="1200"/>
              <a:t>– It measures how fast the fish travels toward the prey.</a:t>
            </a:r>
          </a:p>
          <a:p>
            <a:r>
              <a:rPr lang="en-US" sz="1200"/>
              <a:t>• Acceleration.</a:t>
            </a:r>
          </a:p>
          <a:p>
            <a:r>
              <a:rPr lang="en-US" sz="1200"/>
              <a:t>– Acceleration is the rate at which either speed changes.</a:t>
            </a:r>
          </a:p>
          <a:p>
            <a:r>
              <a:rPr lang="en-US" sz="1200"/>
              <a:t>– Peak linear acceleration reached 120 meters per second squared.</a:t>
            </a:r>
          </a:p>
          <a:p>
            <a:r>
              <a:rPr lang="en-US" sz="1200"/>
              <a:t>• Values.</a:t>
            </a:r>
          </a:p>
          <a:p>
            <a:r>
              <a:rPr lang="en-US" sz="1200"/>
              <a:t>– Angular speeds exceeded 4500 degrees per second.</a:t>
            </a:r>
          </a:p>
          <a:p>
            <a:r>
              <a:rPr lang="en-US" sz="1200"/>
              <a:t>– Linear speeds reached 2.1 meters per second.</a:t>
            </a:r>
          </a:p>
          <a:p>
            <a:r>
              <a:rPr lang="en-US" sz="1200"/>
              <a:t>• Timing.</a:t>
            </a:r>
          </a:p>
          <a:p>
            <a:r>
              <a:rPr lang="en-US" sz="1200"/>
              <a:t>– Angular speed generally peaked during initial bending.</a:t>
            </a:r>
          </a:p>
          <a:p>
            <a:r>
              <a:rPr lang="en-US" sz="1200"/>
              <a:t>– The strongest linear speed occurred after straightening began.</a:t>
            </a:r>
          </a:p>
          <a:p>
            <a:r>
              <a:rPr lang="en-US" sz="1200"/>
              <a:t>• Method.</a:t>
            </a:r>
          </a:p>
          <a:p>
            <a:r>
              <a:rPr lang="en-US" sz="1200"/>
              <a:t>– Wöhl and Schuster reconstructed the motion from high-speed video.</a:t>
            </a:r>
          </a:p>
          <a:p>
            <a:r>
              <a:rPr lang="en-US" sz="1200"/>
              <a:t>– Position records were smoothed before differentiation.</a:t>
            </a:r>
          </a:p>
          <a:p>
            <a:r>
              <a:rPr lang="en-US" sz="1200"/>
              <a:t>• Consequence.</a:t>
            </a:r>
          </a:p>
          <a:p>
            <a:r>
              <a:rPr lang="en-US" sz="1200"/>
              <a:t>– The same maneuver can set both heading and take-off speed.</a:t>
            </a:r>
          </a:p>
          <a:p>
            <a:r>
              <a:rPr lang="en-US" sz="1200"/>
              <a:t>• Peak acceleration.</a:t>
            </a:r>
          </a:p>
          <a:p>
            <a:r>
              <a:rPr lang="en-US" sz="1200"/>
              <a:t>– Peak linear acceleration reached 120 meters per second squared.</a:t>
            </a:r>
          </a:p>
          <a:p>
            <a:r>
              <a:rPr lang="en-US" sz="1200"/>
              <a:t>– The values come from demanding interception responses.</a:t>
            </a:r>
          </a:p>
          <a:p>
            <a:r>
              <a:rPr lang="en-US" sz="1200"/>
              <a:t/>
            </a:r>
          </a:p>
          <a:p>
            <a:r>
              <a:rPr lang="en-US" sz="1200"/>
              <a:t>References:</a:t>
            </a:r>
          </a:p>
          <a:p>
            <a:r>
              <a:rPr lang="en-US" sz="1200"/>
              <a:t>Wöhl S, Schuster S (2007). The predictive start of hunting archer fish: a flexible and precise motor pattern performed with the kinematics of an escape C-start. Journal of Experimental Biology 210: 311-324. https://doi.org/10.1242/jeb.02646</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virtual landing point allows the experimenter to test prediction without a fall.</a:t>
            </a:r>
          </a:p>
          <a:p>
            <a:r>
              <a:rPr lang="en-US" sz="1200"/>
              <a:t>• Definition.</a:t>
            </a:r>
          </a:p>
          <a:p>
            <a:r>
              <a:rPr lang="en-US" sz="1200"/>
              <a:t>– It is the destination where prey with a given height and horizontal velocity would have entered the water.</a:t>
            </a:r>
          </a:p>
          <a:p>
            <a:r>
              <a:rPr lang="en-US" sz="1200"/>
              <a:t>– The prey on the screen never reaches the water.</a:t>
            </a:r>
          </a:p>
          <a:p>
            <a:r>
              <a:rPr lang="en-US" sz="1200"/>
              <a:t>• The screen.</a:t>
            </a:r>
          </a:p>
          <a:p>
            <a:r>
              <a:rPr lang="en-US" sz="1200"/>
              <a:t>– Prey sat on a transparent horizontal glass screen at 20 or 40 cm height.</a:t>
            </a:r>
          </a:p>
          <a:p>
            <a:r>
              <a:rPr lang="en-US" sz="1200"/>
              <a:t>– Air from a blast pipe moved the object horizontally.</a:t>
            </a:r>
          </a:p>
          <a:p>
            <a:r>
              <a:rPr lang="en-US" sz="1200"/>
              <a:t>• Speeds.</a:t>
            </a:r>
          </a:p>
          <a:p>
            <a:r>
              <a:rPr lang="en-US" sz="1200"/>
              <a:t>– The speeds were within the natural take-off range.</a:t>
            </a:r>
          </a:p>
          <a:p>
            <a:r>
              <a:rPr lang="en-US" sz="1200"/>
              <a:t>– The target moved without descending toward the water.</a:t>
            </a:r>
          </a:p>
          <a:p>
            <a:r>
              <a:rPr lang="en-US" sz="1200"/>
              <a:t>• Fish response.</a:t>
            </a:r>
          </a:p>
          <a:p>
            <a:r>
              <a:rPr lang="en-US" sz="1200"/>
              <a:t>– Fish turned toward the virtual landing point.</a:t>
            </a:r>
          </a:p>
          <a:p>
            <a:r>
              <a:rPr lang="en-US" sz="1200"/>
              <a:t>– Errors relative to this point were centered near zero at both heights.</a:t>
            </a:r>
          </a:p>
          <a:p>
            <a:r>
              <a:rPr lang="en-US" sz="1200"/>
              <a:t>• Extrapolation.</a:t>
            </a:r>
          </a:p>
          <a:p>
            <a:r>
              <a:rPr lang="en-US" sz="1200"/>
              <a:t>– Straight extrapolation of the actual horizontal path gives no finite water-entry point.</a:t>
            </a:r>
          </a:p>
          <a:p>
            <a:r>
              <a:rPr lang="en-US" sz="1200"/>
              <a:t>– The fish must use another relation.</a:t>
            </a:r>
          </a:p>
          <a:p>
            <a:r>
              <a:rPr lang="en-US" sz="1200"/>
              <a:t>• Consequence.</a:t>
            </a:r>
          </a:p>
          <a:p>
            <a:r>
              <a:rPr lang="en-US" sz="1200"/>
              <a:t>– The relation is built from initial height, speed and direction.</a:t>
            </a:r>
          </a:p>
          <a:p>
            <a:r>
              <a:rPr lang="en-US" sz="1200"/>
              <a:t>– A visible water-entry event is not required.</a:t>
            </a:r>
          </a:p>
          <a:p>
            <a:r>
              <a:rPr lang="en-US" sz="1200"/>
              <a:t>• Controls the variables.</a:t>
            </a:r>
          </a:p>
          <a:p>
            <a:r>
              <a:rPr lang="en-US" sz="1200"/>
              <a:t>– Height was set at 20 or 40 cm.</a:t>
            </a:r>
          </a:p>
          <a:p>
            <a:r>
              <a:rPr lang="en-US" sz="1200"/>
              <a:t>– Horizontal speed was set by the air flow.</a:t>
            </a:r>
          </a:p>
          <a:p>
            <a:r>
              <a:rPr lang="en-US" sz="1200"/>
              <a:t/>
            </a:r>
          </a:p>
          <a:p>
            <a:r>
              <a:rPr lang="en-US" sz="1200"/>
              <a:t>References:</a:t>
            </a:r>
          </a:p>
          <a:p>
            <a:r>
              <a:rPr lang="en-US" sz="1200"/>
              <a:t>Rossel S, Corlija J, Schuster S (2002). Predicting three-dimensional target motion: how archer fish determine where to catch their dislodged prey. Journal of Experimental Biology 205: 3321-3326. https://doi.org/10.1242/jeb.205.21.3321</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tether experiment separates a preset command from continuous tracking.</a:t>
            </a:r>
          </a:p>
          <a:p>
            <a:r>
              <a:rPr lang="en-US" sz="1200"/>
              <a:t>• Open loop.</a:t>
            </a:r>
          </a:p>
          <a:p>
            <a:r>
              <a:rPr lang="en-US" sz="1200"/>
              <a:t>– A movement runs as set in advance.</a:t>
            </a:r>
          </a:p>
          <a:p>
            <a:r>
              <a:rPr lang="en-US" sz="1200"/>
              <a:t>– Feedback about its outcome does not adjust it.</a:t>
            </a:r>
          </a:p>
          <a:p>
            <a:r>
              <a:rPr lang="en-US" sz="1200"/>
              <a:t>• Closed loop.</a:t>
            </a:r>
          </a:p>
          <a:p>
            <a:r>
              <a:rPr lang="en-US" sz="1200"/>
              <a:t>– The outcome is compared with the goal during the movement.</a:t>
            </a:r>
          </a:p>
          <a:p>
            <a:r>
              <a:rPr lang="en-US" sz="1200"/>
              <a:t>– Errors are corrected as they appear.</a:t>
            </a:r>
          </a:p>
          <a:p>
            <a:r>
              <a:rPr lang="en-US" sz="1200"/>
              <a:t>• The manipulation.</a:t>
            </a:r>
          </a:p>
          <a:p>
            <a:r>
              <a:rPr lang="en-US" sz="1200"/>
              <a:t>– Rossel and colleagues tethered prey with a thin filament.</a:t>
            </a:r>
          </a:p>
          <a:p>
            <a:r>
              <a:rPr lang="en-US" sz="1200"/>
              <a:t>– The fly moved freely for slightly more than 100 ms before the filament became taut.</a:t>
            </a:r>
          </a:p>
          <a:p>
            <a:r>
              <a:rPr lang="en-US" sz="1200"/>
              <a:t>• Prey behavior.</a:t>
            </a:r>
          </a:p>
          <a:p>
            <a:r>
              <a:rPr lang="en-US" sz="1200"/>
              <a:t>– The fly stopped and reversed its direction.</a:t>
            </a:r>
          </a:p>
          <a:p>
            <a:r>
              <a:rPr lang="en-US" sz="1200"/>
              <a:t>– The visible trajectory then contradicted the early motion.</a:t>
            </a:r>
          </a:p>
          <a:p>
            <a:r>
              <a:rPr lang="en-US" sz="1200"/>
              <a:t>• Fish response.</a:t>
            </a:r>
          </a:p>
          <a:p>
            <a:r>
              <a:rPr lang="en-US" sz="1200"/>
              <a:t>– Fish still turned and accelerated toward the landing point predicted from the early motion.</a:t>
            </a:r>
          </a:p>
          <a:p>
            <a:r>
              <a:rPr lang="en-US" sz="1200"/>
              <a:t>– Corrections appeared much afterward.</a:t>
            </a:r>
          </a:p>
          <a:p>
            <a:r>
              <a:rPr lang="en-US" sz="1200"/>
              <a:t>• Meaning.</a:t>
            </a:r>
          </a:p>
          <a:p>
            <a:r>
              <a:rPr lang="en-US" sz="1200"/>
              <a:t>– The first phase of the response was set by early motion information.</a:t>
            </a:r>
          </a:p>
          <a:p>
            <a:r>
              <a:rPr lang="en-US" sz="1200"/>
              <a:t>– Visual feedback adjusts the response only after the initial commitment.</a:t>
            </a:r>
          </a:p>
          <a:p>
            <a:r>
              <a:rPr lang="en-US" sz="1200"/>
              <a:t>• Timing.</a:t>
            </a:r>
          </a:p>
          <a:p>
            <a:r>
              <a:rPr lang="en-US" sz="1200"/>
              <a:t>– The early free motion lasted slightly more than 100 ms.</a:t>
            </a:r>
          </a:p>
          <a:p>
            <a:r>
              <a:rPr lang="en-US" sz="1200"/>
              <a:t>– The reversal therefore began after the fish had the information needed to choose a turn.</a:t>
            </a:r>
          </a:p>
          <a:p>
            <a:r>
              <a:rPr lang="en-US" sz="1200"/>
              <a:t/>
            </a:r>
          </a:p>
          <a:p>
            <a:r>
              <a:rPr lang="en-US" sz="1200"/>
              <a:t>References:</a:t>
            </a:r>
          </a:p>
          <a:p>
            <a:r>
              <a:rPr lang="en-US" sz="1200"/>
              <a:t>Rossel S, Corlija J, Schuster S (2002). Predicting three-dimensional target motion: how archer fish determine where to catch their dislodged prey. Journal of Experimental Biology 205: 3321-3326. https://doi.org/10.1242/jeb.205.21.3321</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Heading is the reference for measuring every turn in these experiments.</a:t>
            </a:r>
          </a:p>
          <a:p>
            <a:r>
              <a:rPr lang="en-US" sz="1200"/>
              <a:t>• Definition.</a:t>
            </a:r>
          </a:p>
          <a:p>
            <a:r>
              <a:rPr lang="en-US" sz="1200"/>
              <a:t>– Heading is the direction in which the body axis points.</a:t>
            </a:r>
          </a:p>
          <a:p>
            <a:r>
              <a:rPr lang="en-US" sz="1200"/>
              <a:t>– It is measured at the moment the response begins.</a:t>
            </a:r>
          </a:p>
          <a:p>
            <a:r>
              <a:rPr lang="en-US" sz="1200"/>
              <a:t>• Variation.</a:t>
            </a:r>
          </a:p>
          <a:p>
            <a:r>
              <a:rPr lang="en-US" sz="1200"/>
              <a:t>– A bystander can face almost any direction relative to the fly.</a:t>
            </a:r>
          </a:p>
          <a:p>
            <a:r>
              <a:rPr lang="en-US" sz="1200"/>
              <a:t>– The angle of the required turn therefore changes from trial to trial.</a:t>
            </a:r>
          </a:p>
          <a:p>
            <a:r>
              <a:rPr lang="en-US" sz="1200"/>
              <a:t>• Sampling.</a:t>
            </a:r>
          </a:p>
          <a:p>
            <a:r>
              <a:rPr lang="en-US" sz="1200"/>
              <a:t>– Rossel and colleagues sampled the angular relation at 20- and 40-cm prey heights.</a:t>
            </a:r>
          </a:p>
          <a:p>
            <a:r>
              <a:rPr lang="en-US" sz="1200"/>
              <a:t>– Some orientations required large turns before acceleration.</a:t>
            </a:r>
          </a:p>
          <a:p>
            <a:r>
              <a:rPr lang="en-US" sz="1200"/>
              <a:t>• Positions in the tank.</a:t>
            </a:r>
          </a:p>
          <a:p>
            <a:r>
              <a:rPr lang="en-US" sz="1200"/>
              <a:t>– Responders occupied different positions as well as different orientations.</a:t>
            </a:r>
          </a:p>
          <a:p>
            <a:r>
              <a:rPr lang="en-US" sz="1200"/>
              <a:t>– Turning generally ended before the prey entered the water.</a:t>
            </a:r>
          </a:p>
          <a:p>
            <a:r>
              <a:rPr lang="en-US" sz="1200"/>
              <a:t>• Body-centered turn.</a:t>
            </a:r>
          </a:p>
          <a:p>
            <a:r>
              <a:rPr lang="en-US" sz="1200"/>
              <a:t>– The fish must express the destination as a turn from its own body axis.</a:t>
            </a:r>
          </a:p>
          <a:p>
            <a:r>
              <a:rPr lang="en-US" sz="1200"/>
              <a:t>• Consequence for models.</a:t>
            </a:r>
          </a:p>
          <a:p>
            <a:r>
              <a:rPr lang="en-US" sz="1200"/>
              <a:t>– A fixed turn angle cannot explain interception.</a:t>
            </a:r>
          </a:p>
          <a:p>
            <a:r>
              <a:rPr lang="en-US" sz="1200"/>
              <a:t>– The responder must transform prey-motion information into a turn requirement.</a:t>
            </a:r>
          </a:p>
          <a:p>
            <a:r>
              <a:rPr lang="en-US" sz="1200"/>
              <a:t>• Links to the data.</a:t>
            </a:r>
          </a:p>
          <a:p>
            <a:r>
              <a:rPr lang="en-US" sz="1200"/>
              <a:t>– The angular relation was sampled at both prey heights.</a:t>
            </a:r>
          </a:p>
          <a:p>
            <a:r>
              <a:rPr lang="en-US" sz="1200"/>
              <a:t>– Orientations that needed large turns were included, which covers the range of initial headings.</a:t>
            </a:r>
          </a:p>
          <a:p>
            <a:r>
              <a:rPr lang="en-US" sz="1200"/>
              <a:t/>
            </a:r>
          </a:p>
          <a:p>
            <a:r>
              <a:rPr lang="en-US" sz="1200"/>
              <a:t>References:</a:t>
            </a:r>
          </a:p>
          <a:p>
            <a:r>
              <a:rPr lang="en-US" sz="1200"/>
              <a:t>Rossel S, Corlija J, Schuster S (2002). Predicting three-dimensional target motion: how archer fish determine where to catch their dislodged prey. Journal of Experimental Biology 205: 3321-3326. https://doi.org/10.1242/jeb.205.21.3321</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predictive start is the central behavior of this lecture.</a:t>
            </a:r>
          </a:p>
          <a:p>
            <a:r>
              <a:rPr lang="en-US" sz="1200"/>
              <a:t>• Definition.</a:t>
            </a:r>
          </a:p>
          <a:p>
            <a:r>
              <a:rPr lang="en-US" sz="1200"/>
              <a:t>– It is a rapid turn and acceleration toward the point where prey will land.</a:t>
            </a:r>
          </a:p>
          <a:p>
            <a:r>
              <a:rPr lang="en-US" sz="1200"/>
              <a:t>– It begins while the prey is still falling.</a:t>
            </a:r>
          </a:p>
          <a:p>
            <a:r>
              <a:rPr lang="en-US" sz="1200"/>
              <a:t>• Contrast with pursuit.</a:t>
            </a:r>
          </a:p>
          <a:p>
            <a:r>
              <a:rPr lang="en-US" sz="1200"/>
              <a:t>– Pursuit follows the current position of a visible target.</a:t>
            </a:r>
          </a:p>
          <a:p>
            <a:r>
              <a:rPr lang="en-US" sz="1200"/>
              <a:t>– A predictive start aims at a destination that does not yet contain the prey.</a:t>
            </a:r>
          </a:p>
          <a:p>
            <a:r>
              <a:rPr lang="en-US" sz="1200"/>
              <a:t>• The recordings.</a:t>
            </a:r>
          </a:p>
          <a:p>
            <a:r>
              <a:rPr lang="en-US" sz="1200"/>
              <a:t>– Rossel and colleagues filmed fish and dislodged flies from above.</a:t>
            </a:r>
          </a:p>
          <a:p>
            <a:r>
              <a:rPr lang="en-US" sz="1200"/>
              <a:t>– Responding fish turned within approximately 100 ms.</a:t>
            </a:r>
          </a:p>
          <a:p>
            <a:r>
              <a:rPr lang="en-US" sz="1200"/>
              <a:t>• Heading and acceleration.</a:t>
            </a:r>
          </a:p>
          <a:p>
            <a:r>
              <a:rPr lang="en-US" sz="1200"/>
              <a:t>– The turn aligned the body toward the future landing point.</a:t>
            </a:r>
          </a:p>
          <a:p>
            <a:r>
              <a:rPr lang="en-US" sz="1200"/>
              <a:t>– The fish then accelerated along that heading while the prey remained airborne.</a:t>
            </a:r>
          </a:p>
          <a:p>
            <a:r>
              <a:rPr lang="en-US" sz="1200"/>
              <a:t>• Competition.</a:t>
            </a:r>
          </a:p>
          <a:p>
            <a:r>
              <a:rPr lang="en-US" sz="1200"/>
              <a:t>– The fish that shoots and nearby bystanders can both respond.</a:t>
            </a:r>
          </a:p>
          <a:p>
            <a:r>
              <a:rPr lang="en-US" sz="1200"/>
              <a:t>– Reaching the water-entry point first secures the food.</a:t>
            </a:r>
          </a:p>
          <a:p>
            <a:r>
              <a:rPr lang="en-US" sz="1200"/>
              <a:t>• Two motor demands.</a:t>
            </a:r>
          </a:p>
          <a:p>
            <a:r>
              <a:rPr lang="en-US" sz="1200"/>
              <a:t>– Shooting requires control of a water jet, and interception requires a fast turn and acceleration.</a:t>
            </a:r>
          </a:p>
          <a:p>
            <a:r>
              <a:rPr lang="en-US" sz="1200"/>
              <a:t>– Gerullis and Schuster recorded shots at target heights of 20, 40 and 60 cm.</a:t>
            </a:r>
          </a:p>
          <a:p>
            <a:r>
              <a:rPr lang="en-US" sz="1200"/>
              <a:t>• Consequence.</a:t>
            </a:r>
          </a:p>
          <a:p>
            <a:r>
              <a:rPr lang="en-US" sz="1200"/>
              <a:t>– The motor command must specify a destination from early information about the prey.</a:t>
            </a:r>
          </a:p>
          <a:p>
            <a:r>
              <a:rPr lang="en-US" sz="1200"/>
              <a:t/>
            </a:r>
          </a:p>
          <a:p>
            <a:r>
              <a:rPr lang="en-US" sz="1200"/>
              <a:t>References:</a:t>
            </a:r>
          </a:p>
          <a:p>
            <a:r>
              <a:rPr lang="en-US" sz="1200"/>
              <a:t>Rossel S, Corlija J, Schuster S (2002). Predicting three-dimensional target motion: how archer fish determine where to catch their dislodged prey. Journal of Experimental Biology 205: 3321-3326. https://doi.org/10.1242/jeb.205.21.3321</a:t>
            </a:r>
          </a:p>
          <a:p>
            <a:r>
              <a:rPr lang="en-US" sz="1200"/>
              <a:t>Gerullis P, Schuster S (2014). Archerfish Actively Control the Hydrodynamics of Their Jets. Current Biology 24: 2156-2160. https://doi.org/10.1016/j.cub.2014.07.059</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9.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3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40.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30.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8.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9.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B6D7A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74E13"/>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E4652"/>
              </a:buClr>
              <a:buSzPts val="1200"/>
              <a:buFont typeface="Arial"/>
              <a:buNone/>
            </a:pPr>
            <a:r>
              <a:rPr b="0" i="0" lang="en-US" sz="1200" u="none" cap="none" strike="noStrike">
                <a:solidFill>
                  <a:srgbClr val="274E13"/>
                </a:solidFill>
                <a:latin typeface="Arial"/>
                <a:ea typeface="Arial"/>
                <a:cs typeface="Arial"/>
                <a:sym typeface="Arial"/>
              </a:rPr>
              <a:t>NEUR 411 · NEUROETHOLOGY · FALL 2026</a:t>
            </a:r>
            <a:endParaRPr b="0" i="0" sz="1800" u="none" cap="none" strike="noStrike">
              <a:solidFill>
                <a:srgbClr val="274E13"/>
              </a:solidFill>
              <a:latin typeface="Calibri"/>
              <a:ea typeface="Calibri"/>
              <a:cs typeface="Calibri"/>
              <a:sym typeface="Calibri"/>
            </a:endParaRPr>
          </a:p>
        </p:txBody>
      </p:sp>
      <p:sp>
        <p:nvSpPr>
          <p:cNvPr id="21" name="Google Shape;21;p1"/>
          <p:cNvSpPr/>
          <p:nvPr/>
        </p:nvSpPr>
        <p:spPr>
          <a:xfrm>
            <a:off x="685800" y="1782961"/>
            <a:ext cx="4743450" cy="454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6E4652"/>
              </a:buClr>
              <a:buSzPts val="1800"/>
              <a:buFont typeface="Arial"/>
              <a:buNone/>
            </a:pPr>
            <a:r>
              <a:rPr b="0" i="0" lang="en-US" sz="1800" u="none" cap="none" strike="noStrike">
                <a:solidFill>
                  <a:srgbClr val="274E13"/>
                </a:solidFill>
                <a:latin typeface="Arial"/>
                <a:ea typeface="Arial"/>
                <a:cs typeface="Arial"/>
                <a:sym typeface="Arial"/>
              </a:rPr>
              <a:t>Lecture 27</a:t>
            </a:r>
            <a:endParaRPr b="0" i="0" sz="1800" u="none" cap="none" strike="noStrike">
              <a:solidFill>
                <a:srgbClr val="274E13"/>
              </a:solidFill>
              <a:latin typeface="Calibri"/>
              <a:ea typeface="Calibri"/>
              <a:cs typeface="Calibri"/>
              <a:sym typeface="Calibri"/>
            </a:endParaRPr>
          </a:p>
          <a:p>
            <a:pPr indent="0" lvl="0" marL="0" marR="0" rtl="0" algn="l">
              <a:lnSpc>
                <a:spcPct val="108000"/>
              </a:lnSpc>
              <a:spcAft>
                <a:spcPts val="1200"/>
              </a:spcAft>
              <a:buClr>
                <a:srgbClr val="253E50"/>
              </a:buClr>
              <a:buSzPts val="2500"/>
              <a:buFont typeface="Arial"/>
              <a:buNone/>
            </a:pPr>
            <a:r>
              <a:rPr b="1" i="0" lang="en-US" sz="2500" u="none" cap="none" strike="noStrike">
                <a:solidFill>
                  <a:srgbClr val="274E13"/>
                </a:solidFill>
                <a:latin typeface="Arial"/>
                <a:ea typeface="Arial"/>
                <a:cs typeface="Arial"/>
                <a:sym typeface="Arial"/>
              </a:rPr>
              <a:t>Archerfish: predictive aiming and ballistic prey capture</a:t>
            </a:r>
            <a:endParaRPr b="0" i="0" sz="1800" u="none" cap="none" strike="noStrike">
              <a:solidFill>
                <a:srgbClr val="274E13"/>
              </a:solidFill>
              <a:latin typeface="Calibri"/>
              <a:ea typeface="Calibri"/>
              <a:cs typeface="Calibri"/>
              <a:sym typeface="Calibri"/>
            </a:endParaRPr>
          </a:p>
          <a:p>
            <a:pPr indent="0" lvl="0" marL="0" marR="0" rtl="0" algn="l">
              <a:lnSpc>
                <a:spcPct val="108000"/>
              </a:lnSpc>
              <a:spcAft>
                <a:spcPts val="1200"/>
              </a:spcAft>
              <a:buClr>
                <a:srgbClr val="6E4652"/>
              </a:buClr>
              <a:buSzPts val="1600"/>
              <a:buFont typeface="Arial"/>
              <a:buNone/>
            </a:pPr>
            <a:r>
              <a:rPr b="0" i="0" lang="en-US" sz="1600" u="none" cap="none" strike="noStrike">
                <a:solidFill>
                  <a:srgbClr val="274E13"/>
                </a:solidFill>
                <a:latin typeface="Arial"/>
                <a:ea typeface="Arial"/>
                <a:cs typeface="Arial"/>
                <a:sym typeface="Arial"/>
              </a:rPr>
              <a:t>Wednesday, October 28, 2026</a:t>
            </a:r>
            <a:endParaRPr b="0" i="0" sz="1800" u="none" cap="none" strike="noStrike">
              <a:solidFill>
                <a:srgbClr val="274E13"/>
              </a:solidFill>
              <a:latin typeface="Calibri"/>
              <a:ea typeface="Calibri"/>
              <a:cs typeface="Calibri"/>
              <a:sym typeface="Calibri"/>
            </a:endParaRPr>
          </a:p>
          <a:p>
            <a:pPr indent="0" lvl="0" marL="0" marR="0" rtl="0" algn="l">
              <a:lnSpc>
                <a:spcPct val="108000"/>
              </a:lnSpc>
              <a:spcAft>
                <a:spcPts val="1200"/>
              </a:spcAft>
              <a:buClr>
                <a:srgbClr val="6E4652"/>
              </a:buClr>
              <a:buSzPts val="1200"/>
              <a:buFont typeface="Arial"/>
              <a:buNone/>
            </a:pPr>
            <a:r>
              <a:rPr b="0" i="0" lang="en-US" sz="1200" u="none" cap="none" strike="noStrike">
                <a:solidFill>
                  <a:srgbClr val="274E13"/>
                </a:solidFill>
                <a:latin typeface="Arial"/>
                <a:ea typeface="Arial"/>
                <a:cs typeface="Arial"/>
                <a:sym typeface="Arial"/>
              </a:rPr>
              <a:t>Jordan Lopez, Ph.D.</a:t>
            </a:r>
            <a:endParaRPr b="0" i="0" sz="1800" u="none" cap="none" strike="noStrike">
              <a:solidFill>
                <a:srgbClr val="274E13"/>
              </a:solidFill>
              <a:latin typeface="Calibri"/>
              <a:ea typeface="Calibri"/>
              <a:cs typeface="Calibri"/>
              <a:sym typeface="Calibri"/>
            </a:endParaRPr>
          </a:p>
          <a:p>
            <a:pPr indent="0" lvl="0" marL="0" marR="0" rtl="0" algn="l">
              <a:lnSpc>
                <a:spcPct val="108000"/>
              </a:lnSpc>
              <a:spcAft>
                <a:spcPts val="0"/>
              </a:spcAft>
              <a:buClr>
                <a:srgbClr val="6E4652"/>
              </a:buClr>
              <a:buSzPts val="1200"/>
              <a:buFont typeface="Arial"/>
              <a:buNone/>
            </a:pPr>
            <a:r>
              <a:rPr b="0" i="0" lang="en-US" sz="1200" u="none" cap="none" strike="noStrike">
                <a:solidFill>
                  <a:srgbClr val="274E13"/>
                </a:solidFill>
                <a:latin typeface="Arial"/>
                <a:ea typeface="Arial"/>
                <a:cs typeface="Arial"/>
                <a:sym typeface="Arial"/>
              </a:rPr>
              <a:t>Professor of Neurobiology &amp; Biomedical Engineering</a:t>
            </a:r>
            <a:endParaRPr b="0" i="0" sz="1800" u="none" cap="none" strike="noStrike">
              <a:solidFill>
                <a:srgbClr val="274E13"/>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7523937" y="822871"/>
            <a:ext cx="3240126" cy="4937671"/>
          </a:xfrm>
          <a:prstGeom prst="rect">
            <a:avLst/>
          </a:prstGeom>
          <a:noFill/>
          <a:ln>
            <a:noFill/>
          </a:ln>
        </p:spPr>
      </p:pic>
      <p:sp>
        <p:nvSpPr>
          <p:cNvPr id="27" name="Google Shape;27;p1"/>
          <p:cNvSpPr/>
          <p:nvPr/>
        </p:nvSpPr>
        <p:spPr>
          <a:xfrm>
            <a:off x="6553200" y="5943600"/>
            <a:ext cx="52006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667279"/>
                </a:solidFill>
                <a:latin typeface="Arial"/>
                <a:ea typeface="Arial"/>
                <a:cs typeface="Arial"/>
                <a:sym typeface="Arial"/>
              </a:rPr>
              <a:t>Reichenthal et al. (2018), Fig. 1(A). Archerfish directing a water jet toward an aerial insect.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water shot and a predictive start secure aerial prey</a:t>
            </a:r>
            <a:endParaRPr b="0" i="0" sz="1800" u="none" cap="none" strike="noStrike">
              <a:solidFill>
                <a:srgbClr val="274E13"/>
              </a:solidFill>
              <a:latin typeface="Calibri"/>
              <a:ea typeface="Calibri"/>
              <a:cs typeface="Calibri"/>
              <a:sym typeface="Calibri"/>
            </a:endParaRPr>
          </a:p>
        </p:txBody>
      </p:sp>
      <p:sp>
        <p:nvSpPr>
          <p:cNvPr id="33" name="Google Shape;33;p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Archerfish are aquatic predators that dislodge aerial prey with a directed water jet. In </a:t>
            </a:r>
            <a:r>
              <a:rPr b="0" i="1" lang="en-US" sz="1600" u="none" cap="none" strike="noStrike">
                <a:solidFill>
                  <a:srgbClr val="000000"/>
                </a:solidFill>
                <a:latin typeface="Arial"/>
                <a:ea typeface="Arial"/>
                <a:cs typeface="Arial"/>
                <a:sym typeface="Arial"/>
              </a:rPr>
              <a:t>Toxotes jaculatrix</a:t>
            </a:r>
            <a:r>
              <a:rPr b="0" i="0" lang="en-US" sz="1600" u="none" cap="none" strike="noStrike">
                <a:solidFill>
                  <a:srgbClr val="000000"/>
                </a:solidFill>
                <a:latin typeface="Arial"/>
                <a:ea typeface="Arial"/>
                <a:cs typeface="Arial"/>
                <a:sym typeface="Arial"/>
              </a:rPr>
              <a:t>, a successful shot releases an insect into a falling trajectory. Securing the food then requires reaching the water-entry point before another fish does; the shooter and nearby bystanders can both respond.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Rossel and colleagues recorded fish and dislodged flies from above. Responding fish initiated a rapid turn within approximately 100 ms, aligned toward the future landing point, and accelerated along that heading while the prey remained airborne. Shooting and interception therefore impose different motor demands.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Rossel and colleagues quantified the interception response of fish to dislodged flies, and Gerullis and Schuster quantified jet control at controlled target heights, so each behavior is measured in its own preparation.</a:t>
            </a:r>
            <a:endParaRPr b="0" i="0" sz="1800" u="none" cap="none" strike="noStrike">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7585949" y="1280071"/>
            <a:ext cx="2820083" cy="4297561"/>
          </a:xfrm>
          <a:prstGeom prst="rect">
            <a:avLst/>
          </a:prstGeom>
          <a:noFill/>
          <a:ln>
            <a:noFill/>
          </a:ln>
        </p:spPr>
      </p:pic>
      <p:sp>
        <p:nvSpPr>
          <p:cNvPr id="37" name="Google Shape;37;p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1(A). Archerfish directing a water jet toward an aerial insect.</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 Gerullis &amp; Schuster (2014)</a:t>
            </a:r>
            <a:endParaRPr b="0" i="0" sz="1800" u="none" cap="none" strike="noStrike">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Controlled prey release separates two possible aims</a:t>
            </a:r>
            <a:endParaRPr b="0" i="0" sz="1800" u="none" cap="none" strike="noStrike">
              <a:solidFill>
                <a:schemeClr val="dk1"/>
              </a:solidFill>
              <a:latin typeface="Calibri"/>
              <a:ea typeface="Calibri"/>
              <a:cs typeface="Calibri"/>
              <a:sym typeface="Calibri"/>
            </a:endParaRPr>
          </a:p>
        </p:txBody>
      </p:sp>
      <p:sp>
        <p:nvSpPr>
          <p:cNvPr id="46" name="Google Shape;46;p3"/>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52D35"/>
                </a:solidFill>
                <a:latin typeface="Arial"/>
                <a:ea typeface="Arial"/>
                <a:cs typeface="Arial"/>
                <a:sym typeface="Arial"/>
              </a:rPr>
              <a:t>ballistic trajectory</a:t>
            </a:r>
            <a:r>
              <a:rPr b="0" i="0" lang="en-US" sz="1600" u="none" cap="none" strike="noStrike">
                <a:solidFill>
                  <a:srgbClr val="000000"/>
                </a:solidFill>
                <a:latin typeface="Arial"/>
                <a:ea typeface="Arial"/>
                <a:cs typeface="Arial"/>
                <a:sym typeface="Arial"/>
              </a:rPr>
              <a:t> is motion dominated by initial velocity and gravity after release. Rossel and colleagues attached wet flies, approximately 50 mg, beneath a disk positioned 20 or 40 cm above the water. Overhead video sampled prey and fish positions at 20-ms intervals.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investigators compared errors relative to two destinations: the eventual water-entry point and the prey’s horizontal position when the fish finished turning. They corrected the camera’s perspective for the prey’s changing height rather than treating its image position as an unchanged water-surface coordinate.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comparison separates prediction from pursuit of the currently visible target. Trials with obstructed turns were excluded, and initial misalignment exceeded 10° so turn onset and completion could be identified. Sampling every 20 ms resolves the position and heading of the fish across the whole response.</a:t>
            </a:r>
            <a:endParaRPr b="0" i="0" sz="1800" u="none" cap="none" strike="noStrike">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7180153" y="1280071"/>
            <a:ext cx="3631675" cy="4297561"/>
          </a:xfrm>
          <a:prstGeom prst="rect">
            <a:avLst/>
          </a:prstGeom>
          <a:noFill/>
          <a:ln>
            <a:noFill/>
          </a:ln>
        </p:spPr>
      </p:pic>
      <p:sp>
        <p:nvSpPr>
          <p:cNvPr id="50" name="Google Shape;50;p3"/>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1(A–B). Published preparation and definitions of landing-point and current-position errors.</a:t>
            </a:r>
            <a:endParaRPr b="0" i="0" sz="1800" u="none" cap="none" strike="noStrike">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Initial height and velocity constrain the landing point</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For the released flies, horizontal landing distance increased with initial horizontal velocity. Rossel and colleagues compared measured distances at 20- and 40-cm release heights with the ballistic predictions. The measured distances matched those predictions under these conditions, which means air resistance and initial vertical velocity contributed little to the trajectory.</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The same horizontal speed produces a more distant landing point when the release height is greater, because the object stays airborne longer. A fish must therefore combine motion information with height information to locate the destination across both heights. The fish uses the release height and the horizontal speed together, so the response depends on both inputs at once.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The ballistic relation links the landing point to release height and initial horizontal velocity, the two variables that a fish needs to combine. Predicting the landing point from these two inputs allows the fish start its response before the prey reaches the water. Predicting the landing point from these two inputs allows the fish start its response before the prey reaches the water.</a:t>
            </a:r>
            <a:endParaRPr b="0" i="0" sz="1800" u="none" cap="none" strike="noStrike">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367097" y="1280071"/>
            <a:ext cx="5257638" cy="2661493"/>
          </a:xfrm>
          <a:prstGeom prst="rect">
            <a:avLst/>
          </a:prstGeom>
          <a:noFill/>
          <a:ln>
            <a:noFill/>
          </a:ln>
        </p:spPr>
      </p:pic>
      <p:sp>
        <p:nvSpPr>
          <p:cNvPr id="63" name="Google Shape;63;p4"/>
          <p:cNvSpPr/>
          <p:nvPr/>
        </p:nvSpPr>
        <p:spPr>
          <a:xfrm>
            <a:off x="6367016" y="403309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2. Landing distance versus horizontal take-off velocity at 20 and 40 cm.</a:t>
            </a:r>
            <a:endParaRPr b="0" i="0" sz="1800" u="none" cap="none" strike="noStrike">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Interception works across widely different initial headings</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bystander’s initial orientation can differ greatly from the direction in which a dislodged fly moves. Rossel and colleagues sampled this angular relation at both 20- and 40-cm prey heights, including orientations that required large turns before acceleration toward the destination.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observed headings were therefore not restricted to a shooter already facing the prey’s path. Responders could transform prey-motion information into a body-centered turning requirement while occupying different positions and orientations in the tank. Turning generally ended before the prey entered the water.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behavioral flexibility rules out a fixed turn angle as an adequate explanation of interception. The turn must therefore depend on the angle between the current orientation of the fish and the direction of the predicted landing point.</a:t>
            </a:r>
            <a:endParaRPr b="0" i="0" sz="1800" u="none" cap="none" strike="noStrike">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7168238" y="1280071"/>
            <a:ext cx="3655504" cy="4297561"/>
          </a:xfrm>
          <a:prstGeom prst="rect">
            <a:avLst/>
          </a:prstGeom>
          <a:noFill/>
          <a:ln>
            <a:noFill/>
          </a:ln>
        </p:spPr>
      </p:pic>
      <p:sp>
        <p:nvSpPr>
          <p:cNvPr id="76" name="Google Shape;76;p5"/>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3(A–B). Initial orientations sampled during prey interception.</a:t>
            </a:r>
            <a:endParaRPr b="0" i="0" sz="1800" u="none" cap="none" strike="noStrike">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Turns target future impact rather than current prey position</a:t>
            </a:r>
            <a:endParaRPr b="0" i="0" sz="1800" u="none" cap="none" strike="noStrike">
              <a:solidFill>
                <a:schemeClr val="dk1"/>
              </a:solidFill>
              <a:latin typeface="Calibri"/>
              <a:ea typeface="Calibri"/>
              <a:cs typeface="Calibri"/>
              <a:sym typeface="Calibri"/>
            </a:endParaRPr>
          </a:p>
        </p:txBody>
      </p:sp>
      <p:sp>
        <p:nvSpPr>
          <p:cNvPr id="85" name="Google Shape;85;p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Rossel and colleagues measured where the fish's final heading intersected the prey's projected horizontal path. Errors relative to the future water-entry point were centered near zero at both tested heights, across the naturally occurring range of horizontal take-off speeds, so the turns aimed at the point where the prey would enter the water.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Errors relative to the prey's position at turn completion showed a systematic offset instead. The fish had already aimed ahead of that position, so the response anticipates the landing point. This within-trial comparison used the same responses for both measures, so the offset reflects the aim itself. The offset appears in every trial of the test and shows the anticipation directly.</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The result supports prediction of the landing destination before impact. The initial heading is set before later swimming corrections occur, so the initial aim itself carries the prediction. Aiming at the future water-entry point, and not at the current prey position, is the defining feature of a </a:t>
            </a:r>
            <a:r>
              <a:rPr b="1" i="0" lang="en-US" sz="1450" u="none" cap="none" strike="noStrike">
                <a:solidFill>
                  <a:srgbClr val="274E13"/>
                </a:solidFill>
                <a:latin typeface="Arial"/>
                <a:ea typeface="Arial"/>
                <a:cs typeface="Arial"/>
                <a:sym typeface="Arial"/>
              </a:rPr>
              <a:t>predictive start</a:t>
            </a:r>
            <a:r>
              <a:rPr b="0" i="0" lang="en-US" sz="1450" u="none" cap="none" strike="noStrike">
                <a:solidFill>
                  <a:srgbClr val="000000"/>
                </a:solidFill>
                <a:latin typeface="Arial"/>
                <a:ea typeface="Arial"/>
                <a:cs typeface="Arial"/>
                <a:sym typeface="Arial"/>
              </a:rPr>
              <a:t>. The defining feature is the aim at the future entry point, so the prediction is expressed in the first heading the fish adopts.</a:t>
            </a:r>
            <a:endParaRPr b="0" i="0" sz="1800" u="none" cap="none" strike="noStrike">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7900446" y="1280071"/>
            <a:ext cx="2191088" cy="2468761"/>
          </a:xfrm>
          <a:prstGeom prst="rect">
            <a:avLst/>
          </a:prstGeom>
          <a:noFill/>
          <a:ln>
            <a:noFill/>
          </a:ln>
        </p:spPr>
      </p:pic>
      <p:sp>
        <p:nvSpPr>
          <p:cNvPr id="89" name="Google Shape;89;p6"/>
          <p:cNvSpPr/>
          <p:nvPr/>
        </p:nvSpPr>
        <p:spPr>
          <a:xfrm>
            <a:off x="6367016" y="38403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5(A–B). Errors relative to the future landing point.</a:t>
            </a:r>
            <a:endParaRPr b="0" i="0" sz="1800" u="none" cap="none" strike="noStrike">
              <a:solidFill>
                <a:schemeClr val="dk1"/>
              </a:solidFill>
              <a:latin typeface="Calibri"/>
              <a:ea typeface="Calibri"/>
              <a:cs typeface="Calibri"/>
              <a:sym typeface="Calibri"/>
            </a:endParaRPr>
          </a:p>
        </p:txBody>
      </p:sp>
      <p:pic>
        <p:nvPicPr>
          <p:cNvPr id="90" name="Google Shape;90;p6"/>
          <p:cNvPicPr preferRelativeResize="0"/>
          <p:nvPr/>
        </p:nvPicPr>
        <p:blipFill rotWithShape="1">
          <a:blip r:embed="rId4">
            <a:alphaModFix/>
          </a:blip>
          <a:srcRect b="0" l="0" r="0" t="0"/>
          <a:stretch/>
        </p:blipFill>
        <p:spPr>
          <a:xfrm>
            <a:off x="8347472" y="4297588"/>
            <a:ext cx="1296888" cy="1462926"/>
          </a:xfrm>
          <a:prstGeom prst="rect">
            <a:avLst/>
          </a:prstGeom>
          <a:noFill/>
          <a:ln>
            <a:noFill/>
          </a:ln>
        </p:spPr>
      </p:pic>
      <p:sp>
        <p:nvSpPr>
          <p:cNvPr id="91" name="Google Shape;91;p6"/>
          <p:cNvSpPr/>
          <p:nvPr/>
        </p:nvSpPr>
        <p:spPr>
          <a:xfrm>
            <a:off x="6367016" y="5833765"/>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6(A–B). Errors relative to the prey position at turn completion.</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94" name="Google Shape;94;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7"/>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Reversing prey motion exposes an initial motor commitment</a:t>
            </a:r>
            <a:endParaRPr b="0" i="0" sz="1800" u="none" cap="none" strike="noStrike">
              <a:solidFill>
                <a:schemeClr val="dk1"/>
              </a:solidFill>
              <a:latin typeface="Calibri"/>
              <a:ea typeface="Calibri"/>
              <a:cs typeface="Calibri"/>
              <a:sym typeface="Calibri"/>
            </a:endParaRPr>
          </a:p>
        </p:txBody>
      </p:sp>
      <p:sp>
        <p:nvSpPr>
          <p:cNvPr id="100" name="Google Shape;100;p7"/>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To test dependence on continuing visual feedback, Rossel and colleagues tethered prey with a thin filament. The fly initially moved freely for slightly more than 100 ms, then stopped and reversed its direction when the filament became taut.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Fish still turned and initially accelerated toward the landing point predicted from the early motion. Corrections appeared much later. An initial commitment therefore persisted even though the subsequently visible trajectory contradicted the motion information used to choose it.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manipulation supports an initially programmed turn and acceleration rather than continuous tracking during that phase. The early motion therefore sets the turn and acceleration, and visual corrections enter only after the initial phase.</a:t>
            </a:r>
            <a:endParaRPr b="0" i="0" sz="1800" u="none" cap="none" strike="noStrike">
              <a:solidFill>
                <a:schemeClr val="dk1"/>
              </a:solidFill>
              <a:latin typeface="Calibri"/>
              <a:ea typeface="Calibri"/>
              <a:cs typeface="Calibri"/>
              <a:sym typeface="Calibri"/>
            </a:endParaRPr>
          </a:p>
        </p:txBody>
      </p:sp>
      <p:pic>
        <p:nvPicPr>
          <p:cNvPr id="103" name="Google Shape;103;p7"/>
          <p:cNvPicPr preferRelativeResize="0"/>
          <p:nvPr/>
        </p:nvPicPr>
        <p:blipFill rotWithShape="1">
          <a:blip r:embed="rId3">
            <a:alphaModFix/>
          </a:blip>
          <a:srcRect b="0" l="0" r="0" t="0"/>
          <a:stretch/>
        </p:blipFill>
        <p:spPr>
          <a:xfrm>
            <a:off x="7066719" y="1280071"/>
            <a:ext cx="3858394" cy="4297561"/>
          </a:xfrm>
          <a:prstGeom prst="rect">
            <a:avLst/>
          </a:prstGeom>
          <a:noFill/>
          <a:ln>
            <a:noFill/>
          </a:ln>
        </p:spPr>
      </p:pic>
      <p:sp>
        <p:nvSpPr>
          <p:cNvPr id="104" name="Google Shape;104;p7"/>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4(A–B). Turn onset and completion relative to prey landing.</a:t>
            </a:r>
            <a:endParaRPr b="0" i="0" sz="1800" u="none" cap="none" strike="noStrike">
              <a:solidFill>
                <a:schemeClr val="dk1"/>
              </a:solidFill>
              <a:latin typeface="Calibri"/>
              <a:ea typeface="Calibri"/>
              <a:cs typeface="Calibri"/>
              <a:sym typeface="Calibri"/>
            </a:endParaRPr>
          </a:p>
        </p:txBody>
      </p:sp>
      <p:sp>
        <p:nvSpPr>
          <p:cNvPr id="105" name="Google Shape;105;p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Horizontal motion evokes a virtual landing prediction</a:t>
            </a:r>
            <a:endParaRPr b="0" i="0" sz="1800" u="none" cap="none" strike="noStrike">
              <a:solidFill>
                <a:schemeClr val="dk1"/>
              </a:solidFill>
              <a:latin typeface="Calibri"/>
              <a:ea typeface="Calibri"/>
              <a:cs typeface="Calibri"/>
              <a:sym typeface="Calibri"/>
            </a:endParaRPr>
          </a:p>
        </p:txBody>
      </p:sp>
      <p:sp>
        <p:nvSpPr>
          <p:cNvPr id="113" name="Google Shape;113;p8"/>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Rossel and colleagues placed prey on a transparent horizontal glass screen at 20 or 40 cm height. Air from a blast pipe moved the object horizontally at speeds within the natural take-off range. The target therefore moved without descending toward the water, so the fish saw horizontal motion with no fall.</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Fish nevertheless turned toward the </a:t>
            </a:r>
            <a:r>
              <a:rPr b="1" i="0" lang="en-US" sz="1450" u="none" cap="none" strike="noStrike">
                <a:solidFill>
                  <a:srgbClr val="252D35"/>
                </a:solidFill>
                <a:latin typeface="Arial"/>
                <a:ea typeface="Arial"/>
                <a:cs typeface="Arial"/>
                <a:sym typeface="Arial"/>
              </a:rPr>
              <a:t>virtual landing point</a:t>
            </a:r>
            <a:r>
              <a:rPr b="0" i="0" lang="en-US" sz="1450" u="none" cap="none" strike="noStrike">
                <a:solidFill>
                  <a:srgbClr val="000000"/>
                </a:solidFill>
                <a:latin typeface="Arial"/>
                <a:ea typeface="Arial"/>
                <a:cs typeface="Arial"/>
                <a:sym typeface="Arial"/>
              </a:rPr>
              <a:t>, the destination at which prey with that initial height and horizontal velocity would have entered the water if allowed to fall. Errors relative to this virtual point were centered near zero at both heights. The virtual landing point is a computed location rather than a visible one, so the response depends on the calculation.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The fish's turn therefore depends on a computed relation among initial height, speed and direction, rather than on the visible horizontal path alone. The horizontal screen supplies the speed and direction inputs without the fall, and the fish still outputs the landing point. The angle of the turn is computed from the prey's trajectory, so the response is specified by the calculation rather than by any visible target.</a:t>
            </a:r>
            <a:endParaRPr b="0" i="0" sz="1800" u="none" cap="none" strike="noStrike">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3">
            <a:alphaModFix/>
          </a:blip>
          <a:srcRect b="0" l="0" r="0" t="0"/>
          <a:stretch/>
        </p:blipFill>
        <p:spPr>
          <a:xfrm>
            <a:off x="7098083" y="1280071"/>
            <a:ext cx="3795815" cy="4297561"/>
          </a:xfrm>
          <a:prstGeom prst="rect">
            <a:avLst/>
          </a:prstGeom>
          <a:noFill/>
          <a:ln>
            <a:noFill/>
          </a:ln>
        </p:spPr>
      </p:pic>
      <p:sp>
        <p:nvSpPr>
          <p:cNvPr id="117" name="Google Shape;117;p8"/>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7(A–B). Turns toward virtual landing points for targets moving horizontally.</a:t>
            </a:r>
            <a:endParaRPr b="0" i="0" sz="1800" u="none" cap="none" strike="noStrike">
              <a:solidFill>
                <a:schemeClr val="dk1"/>
              </a:solidFill>
              <a:latin typeface="Calibri"/>
              <a:ea typeface="Calibri"/>
              <a:cs typeface="Calibri"/>
              <a:sym typeface="Calibri"/>
            </a:endParaRPr>
          </a:p>
        </p:txBody>
      </p:sp>
      <p:sp>
        <p:nvSpPr>
          <p:cNvPr id="118" name="Google Shape;118;p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120" name="Google Shape;120;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Predictive starts bend and then straighten the body</a:t>
            </a:r>
            <a:endParaRPr b="0" i="0" sz="1800" u="none" cap="none" strike="noStrike">
              <a:solidFill>
                <a:schemeClr val="dk1"/>
              </a:solidFill>
              <a:latin typeface="Calibri"/>
              <a:ea typeface="Calibri"/>
              <a:cs typeface="Calibri"/>
              <a:sym typeface="Calibri"/>
            </a:endParaRPr>
          </a:p>
        </p:txBody>
      </p:sp>
      <p:sp>
        <p:nvSpPr>
          <p:cNvPr id="126" name="Google Shape;126;p9"/>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52D35"/>
                </a:solidFill>
                <a:latin typeface="Arial"/>
                <a:ea typeface="Arial"/>
                <a:cs typeface="Arial"/>
                <a:sym typeface="Arial"/>
              </a:rPr>
              <a:t>C-start</a:t>
            </a:r>
            <a:r>
              <a:rPr b="0" i="0" lang="en-US" sz="1600" u="none" cap="none" strike="noStrike">
                <a:solidFill>
                  <a:srgbClr val="000000"/>
                </a:solidFill>
                <a:latin typeface="Arial"/>
                <a:ea typeface="Arial"/>
                <a:cs typeface="Arial"/>
                <a:sym typeface="Arial"/>
              </a:rPr>
              <a:t> is a rapid maneuver in which the body first bends into a C-like shape and then straightens with an opposite tail movement. Wöhl and Schuster filmed predictive starts from above at 500 frames per second, resolving consecutive body positions every 2 ms.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They defined the first stage by bending toward the chosen destination and the second by straightening. In an original example, a fish rotated 43.6° within 22 ms and subsequently reached a take-off speed of 1.225 m/s. The center of mass and body axis were measured independently.</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Thus, displacement and rotation are coordinated within a recognizable two-stage motor pattern. Stage one rotates the body toward the chosen destination, and stage two completes the turn while the fish accelerates.</a:t>
            </a:r>
            <a:endParaRPr b="0" i="0" sz="1800" u="none" cap="none" strike="noStrike">
              <a:solidFill>
                <a:schemeClr val="dk1"/>
              </a:solidFill>
              <a:latin typeface="Calibri"/>
              <a:ea typeface="Calibri"/>
              <a:cs typeface="Calibri"/>
              <a:sym typeface="Calibri"/>
            </a:endParaRPr>
          </a:p>
        </p:txBody>
      </p:sp>
      <p:pic>
        <p:nvPicPr>
          <p:cNvPr id="129" name="Google Shape;129;p9"/>
          <p:cNvPicPr preferRelativeResize="0"/>
          <p:nvPr/>
        </p:nvPicPr>
        <p:blipFill rotWithShape="1">
          <a:blip r:embed="rId3">
            <a:alphaModFix/>
          </a:blip>
          <a:srcRect b="0" l="0" r="0" t="0"/>
          <a:stretch/>
        </p:blipFill>
        <p:spPr>
          <a:xfrm>
            <a:off x="6367099" y="1280071"/>
            <a:ext cx="5257634" cy="3081635"/>
          </a:xfrm>
          <a:prstGeom prst="rect">
            <a:avLst/>
          </a:prstGeom>
          <a:noFill/>
          <a:ln>
            <a:noFill/>
          </a:ln>
        </p:spPr>
      </p:pic>
      <p:sp>
        <p:nvSpPr>
          <p:cNvPr id="130" name="Google Shape;130;p9"/>
          <p:cNvSpPr/>
          <p:nvPr/>
        </p:nvSpPr>
        <p:spPr>
          <a:xfrm>
            <a:off x="6367016" y="445323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3. Original 2-ms silhouettes of bending, straightening and take-off.</a:t>
            </a:r>
            <a:endParaRPr b="0" i="0" sz="1800" u="none" cap="none" strike="noStrike">
              <a:solidFill>
                <a:schemeClr val="dk1"/>
              </a:solidFill>
              <a:latin typeface="Calibri"/>
              <a:ea typeface="Calibri"/>
              <a:cs typeface="Calibri"/>
              <a:sym typeface="Calibri"/>
            </a:endParaRPr>
          </a:p>
        </p:txBody>
      </p:sp>
      <p:sp>
        <p:nvSpPr>
          <p:cNvPr id="131" name="Google Shape;131;p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33" name="Google Shape;133;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0"/>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Fast starts combine rapid rotation with strong acceleration</a:t>
            </a:r>
            <a:endParaRPr b="0" i="0" sz="1800" u="none" cap="none" strike="noStrike">
              <a:solidFill>
                <a:schemeClr val="dk1"/>
              </a:solidFill>
              <a:latin typeface="Calibri"/>
              <a:ea typeface="Calibri"/>
              <a:cs typeface="Calibri"/>
              <a:sym typeface="Calibri"/>
            </a:endParaRPr>
          </a:p>
        </p:txBody>
      </p:sp>
      <p:sp>
        <p:nvSpPr>
          <p:cNvPr id="139" name="Google Shape;139;p1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Wöhl and Schuster reconstructed angular and linear motion from high-speed video. Predictive starts reached angular speeds above 4500°/s and linear speeds as high as 2.1 m/s. Their measured peak linear acceleration reached 120 m/s².</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Angular speed generally peaked during initial bending, whereas the strongest linear speed occurred after straightening began. These different time courses separate reorientation from the subsequent acceleration toward the predicted prey destination. The same maneuver can therefore set both heading and take-off speed.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These are measured ranges across demanding interception responses, not a claim that every start achieves the maxima simultaneously. Peak values of 4500°/s and 2.1 m/s define the performance range that any controlling circuit must produce.</a:t>
            </a:r>
            <a:endParaRPr b="0" i="0" sz="1800" u="none" cap="none" strike="noStrike">
              <a:solidFill>
                <a:schemeClr val="dk1"/>
              </a:solidFill>
              <a:latin typeface="Calibri"/>
              <a:ea typeface="Calibri"/>
              <a:cs typeface="Calibri"/>
              <a:sym typeface="Calibri"/>
            </a:endParaRPr>
          </a:p>
        </p:txBody>
      </p:sp>
      <p:pic>
        <p:nvPicPr>
          <p:cNvPr id="142" name="Google Shape;142;p10"/>
          <p:cNvPicPr preferRelativeResize="0"/>
          <p:nvPr/>
        </p:nvPicPr>
        <p:blipFill rotWithShape="1">
          <a:blip r:embed="rId3">
            <a:alphaModFix/>
          </a:blip>
          <a:srcRect b="0" l="0" r="0" t="0"/>
          <a:stretch/>
        </p:blipFill>
        <p:spPr>
          <a:xfrm>
            <a:off x="8284518" y="1280072"/>
            <a:ext cx="1422797" cy="2468758"/>
          </a:xfrm>
          <a:prstGeom prst="rect">
            <a:avLst/>
          </a:prstGeom>
          <a:noFill/>
          <a:ln>
            <a:noFill/>
          </a:ln>
        </p:spPr>
      </p:pic>
      <p:sp>
        <p:nvSpPr>
          <p:cNvPr id="143" name="Google Shape;143;p10"/>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5(A–B). Angular speed and acceleration during predictive starts.</a:t>
            </a:r>
            <a:endParaRPr b="0" i="0" sz="1800" u="none" cap="none" strike="noStrike">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4">
            <a:alphaModFix/>
          </a:blip>
          <a:srcRect b="0" l="0" r="0" t="0"/>
          <a:stretch/>
        </p:blipFill>
        <p:spPr>
          <a:xfrm>
            <a:off x="8575625" y="4297644"/>
            <a:ext cx="840730" cy="1462814"/>
          </a:xfrm>
          <a:prstGeom prst="rect">
            <a:avLst/>
          </a:prstGeom>
          <a:noFill/>
          <a:ln>
            <a:noFill/>
          </a:ln>
        </p:spPr>
      </p:pic>
      <p:sp>
        <p:nvSpPr>
          <p:cNvPr id="145" name="Google Shape;145;p10"/>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6(A–B). Linear speed and acceleration for different required take-off speeds.</a:t>
            </a:r>
            <a:endParaRPr b="0" i="0" sz="1800" u="none" cap="none" strike="noStrike">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48" name="Google Shape;148;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Predictive and escape starts share a fast motor pattern</a:t>
            </a:r>
            <a:endParaRPr b="0" i="0" sz="1800" u="none" cap="none" strike="noStrike">
              <a:solidFill>
                <a:schemeClr val="dk1"/>
              </a:solidFill>
              <a:latin typeface="Calibri"/>
              <a:ea typeface="Calibri"/>
              <a:cs typeface="Calibri"/>
              <a:sym typeface="Calibri"/>
            </a:endParaRPr>
          </a:p>
        </p:txBody>
      </p:sp>
      <p:sp>
        <p:nvSpPr>
          <p:cNvPr id="154" name="Google Shape;154;p11"/>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Wöhl and Schuster elicited escape C-starts in the same fish and compared them with prey-directed predictive starts. Both behaviors contained rapid bending followed by straightening, and their ranges of stage durations and performance substantially overlapped.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Predictive starts were not systematically slower despite requiring a heading appropriate for a future catch point. Escape starts also varied in turn angle and speed, so neither behavioral category could be described adequately as a single stereotyped body movement.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shared kinematics support possible recruitment of overlapping fast-start circuitry. The difference between the two behaviors lies in how the turn angle is chosen: away from a threat for an escape, toward a predicted catch point for a predictive start.</a:t>
            </a:r>
            <a:endParaRPr b="0" i="0" sz="1800" u="none" cap="none" strike="noStrike">
              <a:solidFill>
                <a:schemeClr val="dk1"/>
              </a:solidFill>
              <a:latin typeface="Calibri"/>
              <a:ea typeface="Calibri"/>
              <a:cs typeface="Calibri"/>
              <a:sym typeface="Calibri"/>
            </a:endParaRPr>
          </a:p>
        </p:txBody>
      </p:sp>
      <p:pic>
        <p:nvPicPr>
          <p:cNvPr id="157" name="Google Shape;157;p11"/>
          <p:cNvPicPr preferRelativeResize="0"/>
          <p:nvPr/>
        </p:nvPicPr>
        <p:blipFill rotWithShape="1">
          <a:blip r:embed="rId3">
            <a:alphaModFix/>
          </a:blip>
          <a:srcRect b="0" l="0" r="0" t="0"/>
          <a:stretch/>
        </p:blipFill>
        <p:spPr>
          <a:xfrm>
            <a:off x="6367131" y="1280071"/>
            <a:ext cx="5257569" cy="824657"/>
          </a:xfrm>
          <a:prstGeom prst="rect">
            <a:avLst/>
          </a:prstGeom>
          <a:noFill/>
          <a:ln>
            <a:noFill/>
          </a:ln>
        </p:spPr>
      </p:pic>
      <p:sp>
        <p:nvSpPr>
          <p:cNvPr id="158" name="Google Shape;158;p11"/>
          <p:cNvSpPr/>
          <p:nvPr/>
        </p:nvSpPr>
        <p:spPr>
          <a:xfrm>
            <a:off x="6367016" y="2196257"/>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12(A–B). Original comparison of predictive and escape C-start sequences.</a:t>
            </a:r>
            <a:endParaRPr b="0" i="0" sz="1800" u="none" cap="none" strike="noStrike">
              <a:solidFill>
                <a:schemeClr val="dk1"/>
              </a:solidFill>
              <a:latin typeface="Calibri"/>
              <a:ea typeface="Calibri"/>
              <a:cs typeface="Calibri"/>
              <a:sym typeface="Calibri"/>
            </a:endParaRPr>
          </a:p>
        </p:txBody>
      </p:sp>
      <p:sp>
        <p:nvSpPr>
          <p:cNvPr id="159" name="Google Shape;159;p1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61" name="Google Shape;161;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The amount of body bending helps set the turn angle</a:t>
            </a:r>
            <a:endParaRPr b="0" i="0" sz="1800" u="none" cap="none" strike="noStrike">
              <a:solidFill>
                <a:schemeClr val="dk1"/>
              </a:solidFill>
              <a:latin typeface="Calibri"/>
              <a:ea typeface="Calibri"/>
              <a:cs typeface="Calibri"/>
              <a:sym typeface="Calibri"/>
            </a:endParaRPr>
          </a:p>
        </p:txBody>
      </p:sp>
      <p:sp>
        <p:nvSpPr>
          <p:cNvPr id="167" name="Google Shape;167;p1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Predictive starts had to produce turns from 4° to 156° and take-off speeds from 0.4 to 2.1 m/s in Wöhl and Schuster’s recordings. Turn size was most closely associated with the maximum body bending reached at the end of the first stage.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For larger turns, further rotation could occur during straightening. Changes in stage durations, angular speed and displacement contributed additional variability. The motor pattern was therefore flexibly adjusted rather than selected from a small set of identical movements.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Turns from 4° to 156° are produced by scaling the first-stage bend, which gives the fish a continuous range of headings from one motor pattern. Any adequate mechanism must allow rapid movement with continuously variable turning and speed.</a:t>
            </a:r>
            <a:endParaRPr b="0" i="0" sz="1800" u="none" cap="none" strike="noStrike">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6826415" y="1280071"/>
            <a:ext cx="4339150" cy="4297561"/>
          </a:xfrm>
          <a:prstGeom prst="rect">
            <a:avLst/>
          </a:prstGeom>
          <a:noFill/>
          <a:ln>
            <a:noFill/>
          </a:ln>
        </p:spPr>
      </p:pic>
      <p:sp>
        <p:nvSpPr>
          <p:cNvPr id="171" name="Google Shape;171;p12"/>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9. Maximum bending predicts the required turn angle.</a:t>
            </a:r>
            <a:endParaRPr b="0" i="0" sz="1800" u="none" cap="none" strike="noStrike">
              <a:solidFill>
                <a:schemeClr val="dk1"/>
              </a:solidFill>
              <a:latin typeface="Calibri"/>
              <a:ea typeface="Calibri"/>
              <a:cs typeface="Calibri"/>
              <a:sym typeface="Calibri"/>
            </a:endParaRPr>
          </a:p>
        </p:txBody>
      </p:sp>
      <p:sp>
        <p:nvSpPr>
          <p:cNvPr id="172" name="Google Shape;172;p1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74" name="Google Shape;174;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Target height changes jet control</a:t>
            </a:r>
            <a:endParaRPr b="0" i="0" sz="1800" u="none" cap="none" strike="noStrike">
              <a:solidFill>
                <a:schemeClr val="dk1"/>
              </a:solidFill>
              <a:latin typeface="Calibri"/>
              <a:ea typeface="Calibri"/>
              <a:cs typeface="Calibri"/>
              <a:sym typeface="Calibri"/>
            </a:endParaRPr>
          </a:p>
        </p:txBody>
      </p:sp>
      <p:sp>
        <p:nvSpPr>
          <p:cNvPr id="180" name="Google Shape;180;p13"/>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trained </a:t>
            </a:r>
            <a:r>
              <a:rPr b="0" i="1" lang="en-US" sz="1600" u="none" cap="none" strike="noStrike">
                <a:solidFill>
                  <a:srgbClr val="000000"/>
                </a:solidFill>
                <a:latin typeface="Arial"/>
                <a:ea typeface="Arial"/>
                <a:cs typeface="Arial"/>
                <a:sym typeface="Arial"/>
              </a:rPr>
              <a:t>Toxotes jaculatrix</a:t>
            </a:r>
            <a:r>
              <a:rPr b="0" i="0" lang="en-US" sz="1600" u="none" cap="none" strike="noStrike">
                <a:solidFill>
                  <a:srgbClr val="000000"/>
                </a:solidFill>
                <a:latin typeface="Arial"/>
                <a:ea typeface="Arial"/>
                <a:cs typeface="Arial"/>
                <a:sym typeface="Arial"/>
              </a:rPr>
              <a:t> to shoot from a restricted channel at targets 20, 40 or 60 cm above the water. Small black spheres provided reproducible targets, and successful shots were rewarded with flies delivered in front of the shooter.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Side-view recordings reached 5000 frames per second, allowing the investigators to follow the water from emergence to impact. The fish tolerated the illumination needed for these recordings and maintained a nearly fixed mouth-tip position during water release.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preparation separates the target’s range from the fish’s shooting position. The nearly fixed mouth-tip position means that changes in the jet reflect the control of the shot by the fish.</a:t>
            </a:r>
            <a:endParaRPr b="0" i="0" sz="1800" u="none" cap="none" strike="noStrike">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6367087" y="1280071"/>
            <a:ext cx="5257658" cy="2994868"/>
          </a:xfrm>
          <a:prstGeom prst="rect">
            <a:avLst/>
          </a:prstGeom>
          <a:noFill/>
          <a:ln>
            <a:noFill/>
          </a:ln>
        </p:spPr>
      </p:pic>
      <p:sp>
        <p:nvSpPr>
          <p:cNvPr id="184" name="Google Shape;184;p13"/>
          <p:cNvSpPr/>
          <p:nvPr/>
        </p:nvSpPr>
        <p:spPr>
          <a:xfrm>
            <a:off x="6367016" y="4366468"/>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1(D). Preimpact tips at 20, 40 and 60 cm; original 1-cm scale bar.</a:t>
            </a:r>
            <a:endParaRPr b="0" i="0" sz="1800" u="none" cap="none" strike="noStrike">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The jet focuses just before impact at the chosen range</a:t>
            </a:r>
            <a:endParaRPr b="0" i="0" sz="1800" u="none" cap="none" strike="noStrike">
              <a:solidFill>
                <a:schemeClr val="dk1"/>
              </a:solidFill>
              <a:latin typeface="Calibri"/>
              <a:ea typeface="Calibri"/>
              <a:cs typeface="Calibri"/>
              <a:sym typeface="Calibri"/>
            </a:endParaRPr>
          </a:p>
        </p:txBody>
      </p:sp>
      <p:sp>
        <p:nvSpPr>
          <p:cNvPr id="193" name="Google Shape;193;p1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In shots aimed at a target 60 cm high, the water had not finished assembling at the jet tip after 30 cm of travel. Near impact, the tip became concentrated. By contrast, a shot aimed at 20 cm was already focused at that closer target height.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compared original high-speed images at equivalent travel positions and at the preimpact phase. Preimpact tips were similarly concentrated across the three target heights, whereas the intermediate shapes differed according to the intended range.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result rejects a fixed-distance focusing account in which water always assembles near the mouth and the finished tip simply travels onward. It supports active adjustment of the focusing distance. A fish aiming at 60 cm therefore completes focusing farther along the path than a fish aiming at 20 cm.</a:t>
            </a:r>
            <a:endParaRPr b="0" i="0" sz="1800" u="none" cap="none" strike="noStrike">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7525512" y="1280071"/>
            <a:ext cx="2940958" cy="4297561"/>
          </a:xfrm>
          <a:prstGeom prst="rect">
            <a:avLst/>
          </a:prstGeom>
          <a:noFill/>
          <a:ln>
            <a:noFill/>
          </a:ln>
        </p:spPr>
      </p:pic>
      <p:sp>
        <p:nvSpPr>
          <p:cNvPr id="197" name="Google Shape;197;p14"/>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1(A–B). A 60-cm shot midway through travel and just before impact.</a:t>
            </a:r>
            <a:endParaRPr b="0" i="0" sz="1800" u="none" cap="none" strike="noStrike">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Jet stability also depends on intended target distance</a:t>
            </a:r>
            <a:endParaRPr b="0" i="0" sz="1800" u="none" cap="none" strike="noStrike">
              <a:solidFill>
                <a:schemeClr val="dk1"/>
              </a:solidFill>
              <a:latin typeface="Calibri"/>
              <a:ea typeface="Calibri"/>
              <a:cs typeface="Calibri"/>
              <a:sym typeface="Calibri"/>
            </a:endParaRPr>
          </a:p>
        </p:txBody>
      </p:sp>
      <p:sp>
        <p:nvSpPr>
          <p:cNvPr id="206" name="Google Shape;206;p15"/>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water jet can develop diameter fluctuations and break into droplets. Gerullis and Schuster inspected the jet shaft after a common 30-cm path, comparing shots originally directed toward different target heights. Longer-range jets had fewer shaft modulations than shorter-range jets.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For close targets, rare missed shots allowed observation beyond the intended impact point without collision with the target. This control matters because a jet that struck a target could break up as a consequence of the collision rather than its original hydrodynamic design.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resulting differences support coordinated control of stability and focusing range. Longer-range shots need a jet that stays intact over a greater distance, and the reduced shaft modulation fits that requirement.</a:t>
            </a:r>
            <a:endParaRPr b="0" i="0" sz="1800" u="none" cap="none" strike="noStrike">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6425128" y="1280071"/>
            <a:ext cx="5141725" cy="4297561"/>
          </a:xfrm>
          <a:prstGeom prst="rect">
            <a:avLst/>
          </a:prstGeom>
          <a:noFill/>
          <a:ln>
            <a:noFill/>
          </a:ln>
        </p:spPr>
      </p:pic>
      <p:sp>
        <p:nvSpPr>
          <p:cNvPr id="210" name="Google Shape;210;p15"/>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1(E). Shaft stability after a common 30-cm path.</a:t>
            </a:r>
            <a:endParaRPr b="0" i="0" sz="1800" u="none" cap="none" strike="noStrike">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13" name="Google Shape;213;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Later-emerging water accelerates the jet tip</a:t>
            </a:r>
            <a:endParaRPr b="0" i="0" sz="1800" u="none" cap="none" strike="noStrike">
              <a:solidFill>
                <a:schemeClr val="dk1"/>
              </a:solidFill>
              <a:latin typeface="Calibri"/>
              <a:ea typeface="Calibri"/>
              <a:cs typeface="Calibri"/>
              <a:sym typeface="Calibri"/>
            </a:endParaRPr>
          </a:p>
        </p:txBody>
      </p:sp>
      <p:sp>
        <p:nvSpPr>
          <p:cNvPr id="219" name="Google Shape;219;p1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measured the tip speed during the first 20 ms of jet formation. The tip accelerated even while the jet rose against gravity, because it remained connected to subsequently emitted water moving faster than the early water.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Published fits yielded hypothetical limiting speeds of 5.8–6.8 m/s, total speed increments of 2.7–3.8 m/s, and time constants of 6.6–20.0 ms. The speed increment increased with target height, linking the early-to-late velocity difference to the intended shooting range.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data support adjustable velocity gradients and reject an ordinary rigid-projectile description of the jet. Faster water emitted behind slower water catches the tip, which is how a velocity gradient gathers the water toward the impact point.</a:t>
            </a:r>
            <a:endParaRPr b="0" i="0" sz="1800" u="none" cap="none" strike="noStrike">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6367156" y="1280071"/>
            <a:ext cx="5257520" cy="1797100"/>
          </a:xfrm>
          <a:prstGeom prst="rect">
            <a:avLst/>
          </a:prstGeom>
          <a:noFill/>
          <a:ln>
            <a:noFill/>
          </a:ln>
        </p:spPr>
      </p:pic>
      <p:sp>
        <p:nvSpPr>
          <p:cNvPr id="223" name="Google Shape;223;p16"/>
          <p:cNvSpPr/>
          <p:nvPr/>
        </p:nvSpPr>
        <p:spPr>
          <a:xfrm>
            <a:off x="6367016" y="3168700"/>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2(A–C). Tip acceleration during the first 20 ms at three target heights.</a:t>
            </a:r>
            <a:endParaRPr b="0" i="0" sz="1800" u="none" cap="none" strike="noStrike">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4">
            <a:alphaModFix/>
          </a:blip>
          <a:srcRect b="0" l="0" r="0" t="0"/>
          <a:stretch/>
        </p:blipFill>
        <p:spPr>
          <a:xfrm>
            <a:off x="8277398" y="4297561"/>
            <a:ext cx="1437185" cy="1462980"/>
          </a:xfrm>
          <a:prstGeom prst="rect">
            <a:avLst/>
          </a:prstGeom>
          <a:noFill/>
          <a:ln>
            <a:noFill/>
          </a:ln>
        </p:spPr>
      </p:pic>
      <p:sp>
        <p:nvSpPr>
          <p:cNvPr id="225" name="Google Shape;225;p16"/>
          <p:cNvSpPr/>
          <p:nvPr/>
        </p:nvSpPr>
        <p:spPr>
          <a:xfrm>
            <a:off x="6367016" y="5833765"/>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2(D). Speed increment increases with target height.</a:t>
            </a:r>
            <a:endParaRPr b="0" i="0" sz="1800" u="none" cap="none" strike="noStrike">
              <a:solidFill>
                <a:schemeClr val="dk1"/>
              </a:solidFill>
              <a:latin typeface="Calibri"/>
              <a:ea typeface="Calibri"/>
              <a:cs typeface="Calibri"/>
              <a:sym typeface="Calibri"/>
            </a:endParaRPr>
          </a:p>
        </p:txBody>
      </p:sp>
      <p:sp>
        <p:nvSpPr>
          <p:cNvPr id="226" name="Google Shape;226;p1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28" name="Google Shape;228;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matching speed profile does not guarantee a stable jet</a:t>
            </a:r>
            <a:endParaRPr b="0" i="0" sz="1800" u="none" cap="none" strike="noStrike">
              <a:solidFill>
                <a:schemeClr val="dk1"/>
              </a:solidFill>
              <a:latin typeface="Calibri"/>
              <a:ea typeface="Calibri"/>
              <a:cs typeface="Calibri"/>
              <a:sym typeface="Calibri"/>
            </a:endParaRPr>
          </a:p>
        </p:txBody>
      </p:sp>
      <p:sp>
        <p:nvSpPr>
          <p:cNvPr id="234" name="Google Shape;234;p17"/>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To test whether tip acceleration alone explains coherence, Gerullis and Schuster produced upward jets with a fixed disposable syringe. High-speed recordings captured both jets that remained coherent during release and jets that broke up before all the water had emerged.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two classes nevertheless had similar fitted tip-speed time courses. The apparatus could therefore reproduce the increase in speed without consistently reproducing the stability of an archerfish shot. This control separates a sufficient description of tip motion from a sufficient mechanism for the whole jet.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living fish must coordinate properties beyond the acceleration profile if it maintains stable, focused impacts over different ranges. Stable jets therefore depend on additional controlled variables, such as the timing of water release at the mouth.</a:t>
            </a:r>
            <a:endParaRPr b="0" i="0" sz="1800" u="none" cap="none" strike="noStrike">
              <a:solidFill>
                <a:schemeClr val="dk1"/>
              </a:solidFill>
              <a:latin typeface="Calibri"/>
              <a:ea typeface="Calibri"/>
              <a:cs typeface="Calibri"/>
              <a:sym typeface="Calibri"/>
            </a:endParaRPr>
          </a:p>
        </p:txBody>
      </p:sp>
      <p:pic>
        <p:nvPicPr>
          <p:cNvPr id="237" name="Google Shape;237;p17"/>
          <p:cNvPicPr preferRelativeResize="0"/>
          <p:nvPr/>
        </p:nvPicPr>
        <p:blipFill rotWithShape="1">
          <a:blip r:embed="rId3">
            <a:alphaModFix/>
          </a:blip>
          <a:srcRect b="0" l="0" r="0" t="0"/>
          <a:stretch/>
        </p:blipFill>
        <p:spPr>
          <a:xfrm>
            <a:off x="6367166" y="1280071"/>
            <a:ext cx="5257500" cy="2672507"/>
          </a:xfrm>
          <a:prstGeom prst="rect">
            <a:avLst/>
          </a:prstGeom>
          <a:noFill/>
          <a:ln>
            <a:noFill/>
          </a:ln>
        </p:spPr>
      </p:pic>
      <p:sp>
        <p:nvSpPr>
          <p:cNvPr id="238" name="Google Shape;238;p17"/>
          <p:cNvSpPr/>
          <p:nvPr/>
        </p:nvSpPr>
        <p:spPr>
          <a:xfrm>
            <a:off x="6367016" y="4044107"/>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2(E–F). Stable and unstable syringe jets with similar tip-speed profiles.</a:t>
            </a:r>
            <a:endParaRPr b="0" i="0" sz="1800" u="none" cap="none" strike="noStrike">
              <a:solidFill>
                <a:schemeClr val="dk1"/>
              </a:solidFill>
              <a:latin typeface="Calibri"/>
              <a:ea typeface="Calibri"/>
              <a:cs typeface="Calibri"/>
              <a:sym typeface="Calibri"/>
            </a:endParaRPr>
          </a:p>
        </p:txBody>
      </p:sp>
      <p:sp>
        <p:nvSpPr>
          <p:cNvPr id="239" name="Google Shape;239;p1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41" name="Google Shape;241;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Shot chemistry and body drift do not explain range tuning</a:t>
            </a:r>
            <a:endParaRPr b="0" i="0" sz="1800" u="none" cap="none" strike="noStrike">
              <a:solidFill>
                <a:schemeClr val="dk1"/>
              </a:solidFill>
              <a:latin typeface="Calibri"/>
              <a:ea typeface="Calibri"/>
              <a:cs typeface="Calibri"/>
              <a:sym typeface="Calibri"/>
            </a:endParaRPr>
          </a:p>
        </p:txBody>
      </p:sp>
      <p:sp>
        <p:nvSpPr>
          <p:cNvPr id="247" name="Google Shape;247;p18"/>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collected water fired by the fish and compared it with control water. Shot viscosity was 0.867 mPa·s and control viscosity 0.869 mPa·s; surface tension was 70.37 versus 70.49 mN/m. No detectable change in these properties supported chemical tuning of the fluid.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They also tracked mouth-tip displacement and body orientation during emission. Average total displacement was below 0.26 mm and total rotation below 0.5°, with no systematic dependence on target height. Range tuning therefore could not be attributed to large body movements during the shot.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Fluid properties identical to control water and displacement below 0.26 mm point to the time-varying mouth opening as the adjustable element. Water composition and whole-body motion do not supply the range adjustment.</a:t>
            </a:r>
            <a:endParaRPr b="0" i="0" sz="1800" u="none" cap="none" strike="noStrike">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3">
            <a:alphaModFix/>
          </a:blip>
          <a:srcRect b="0" l="0" r="0" t="0"/>
          <a:stretch/>
        </p:blipFill>
        <p:spPr>
          <a:xfrm>
            <a:off x="7493010" y="1280071"/>
            <a:ext cx="3006109" cy="2468761"/>
          </a:xfrm>
          <a:prstGeom prst="rect">
            <a:avLst/>
          </a:prstGeom>
          <a:noFill/>
          <a:ln>
            <a:noFill/>
          </a:ln>
        </p:spPr>
      </p:pic>
      <p:sp>
        <p:nvSpPr>
          <p:cNvPr id="251" name="Google Shape;251;p18"/>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3(A). Water-shot viscosity and surface tension compared with controls.</a:t>
            </a:r>
            <a:endParaRPr b="0" i="0" sz="1800" u="none" cap="none" strike="noStrike">
              <a:solidFill>
                <a:schemeClr val="dk1"/>
              </a:solidFill>
              <a:latin typeface="Calibri"/>
              <a:ea typeface="Calibri"/>
              <a:cs typeface="Calibri"/>
              <a:sym typeface="Calibri"/>
            </a:endParaRPr>
          </a:p>
        </p:txBody>
      </p:sp>
      <p:pic>
        <p:nvPicPr>
          <p:cNvPr id="252" name="Google Shape;252;p18"/>
          <p:cNvPicPr preferRelativeResize="0"/>
          <p:nvPr/>
        </p:nvPicPr>
        <p:blipFill rotWithShape="1">
          <a:blip r:embed="rId4">
            <a:alphaModFix/>
          </a:blip>
          <a:srcRect b="0" l="0" r="0" t="0"/>
          <a:stretch/>
        </p:blipFill>
        <p:spPr>
          <a:xfrm>
            <a:off x="8028407" y="4297561"/>
            <a:ext cx="1935018" cy="1462980"/>
          </a:xfrm>
          <a:prstGeom prst="rect">
            <a:avLst/>
          </a:prstGeom>
          <a:noFill/>
          <a:ln>
            <a:noFill/>
          </a:ln>
        </p:spPr>
      </p:pic>
      <p:sp>
        <p:nvSpPr>
          <p:cNvPr id="253" name="Google Shape;253;p18"/>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3(C). Mouth-tip drift and body rotation during water release.</a:t>
            </a:r>
            <a:endParaRPr b="0" i="0" sz="1800" u="none" cap="none" strike="noStrike">
              <a:solidFill>
                <a:schemeClr val="dk1"/>
              </a:solidFill>
              <a:latin typeface="Calibri"/>
              <a:ea typeface="Calibri"/>
              <a:cs typeface="Calibri"/>
              <a:sym typeface="Calibri"/>
            </a:endParaRPr>
          </a:p>
        </p:txBody>
      </p:sp>
      <p:sp>
        <p:nvSpPr>
          <p:cNvPr id="254" name="Google Shape;254;p1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56" name="Google Shape;256;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19"/>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Mouth-opening dynamics tune the duration of water release</a:t>
            </a:r>
            <a:endParaRPr b="0" i="0" sz="1800" u="none" cap="none" strike="noStrike">
              <a:solidFill>
                <a:schemeClr val="dk1"/>
              </a:solidFill>
              <a:latin typeface="Calibri"/>
              <a:ea typeface="Calibri"/>
              <a:cs typeface="Calibri"/>
              <a:sym typeface="Calibri"/>
            </a:endParaRPr>
          </a:p>
        </p:txBody>
      </p:sp>
      <p:sp>
        <p:nvSpPr>
          <p:cNvPr id="262" name="Google Shape;262;p19"/>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mouth opening changed continuously during a shot; it did not form a constant aperture that simply opened and shut. Gerullis and Schuster measured opening and closing at 20-, 40- and 60-cm target heights, aligning records to the onset of water emergence.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onset-to-closure interval increased with range, approximately 3.4 ms per additional 10 cm in the authors’ analysis. Maximum opening width and the final closure interval after release were comparatively unchanged. Specific phases of the movement therefore changed independently rather than undergoing uniform slowing.</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pattern supports active control of a time-dependent outlet to coordinate jet formation and range. Releasing water for a longer interval supplies the faster subsequent water that long-range jets require.</a:t>
            </a:r>
            <a:endParaRPr b="0" i="0" sz="1800" u="none" cap="none" strike="noStrike">
              <a:solidFill>
                <a:schemeClr val="dk1"/>
              </a:solidFill>
              <a:latin typeface="Calibri"/>
              <a:ea typeface="Calibri"/>
              <a:cs typeface="Calibri"/>
              <a:sym typeface="Calibri"/>
            </a:endParaRPr>
          </a:p>
        </p:txBody>
      </p:sp>
      <p:pic>
        <p:nvPicPr>
          <p:cNvPr id="265" name="Google Shape;265;p19"/>
          <p:cNvPicPr preferRelativeResize="0"/>
          <p:nvPr/>
        </p:nvPicPr>
        <p:blipFill rotWithShape="1">
          <a:blip r:embed="rId3">
            <a:alphaModFix/>
          </a:blip>
          <a:srcRect b="0" l="0" r="0" t="0"/>
          <a:stretch/>
        </p:blipFill>
        <p:spPr>
          <a:xfrm>
            <a:off x="8070548" y="1280071"/>
            <a:ext cx="1851034" cy="2468761"/>
          </a:xfrm>
          <a:prstGeom prst="rect">
            <a:avLst/>
          </a:prstGeom>
          <a:noFill/>
          <a:ln>
            <a:noFill/>
          </a:ln>
        </p:spPr>
      </p:pic>
      <p:sp>
        <p:nvSpPr>
          <p:cNvPr id="266" name="Google Shape;266;p19"/>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4(C). Mouth-opening time courses for three target heights.</a:t>
            </a:r>
            <a:endParaRPr b="0" i="0" sz="1800" u="none" cap="none" strike="noStrike">
              <a:solidFill>
                <a:schemeClr val="dk1"/>
              </a:solidFill>
              <a:latin typeface="Calibri"/>
              <a:ea typeface="Calibri"/>
              <a:cs typeface="Calibri"/>
              <a:sym typeface="Calibri"/>
            </a:endParaRPr>
          </a:p>
        </p:txBody>
      </p:sp>
      <p:pic>
        <p:nvPicPr>
          <p:cNvPr id="267" name="Google Shape;267;p19"/>
          <p:cNvPicPr preferRelativeResize="0"/>
          <p:nvPr/>
        </p:nvPicPr>
        <p:blipFill rotWithShape="1">
          <a:blip r:embed="rId4">
            <a:alphaModFix/>
          </a:blip>
          <a:srcRect b="0" l="0" r="0" t="0"/>
          <a:stretch/>
        </p:blipFill>
        <p:spPr>
          <a:xfrm>
            <a:off x="7509157" y="4297561"/>
            <a:ext cx="2973815" cy="1462980"/>
          </a:xfrm>
          <a:prstGeom prst="rect">
            <a:avLst/>
          </a:prstGeom>
          <a:noFill/>
          <a:ln>
            <a:noFill/>
          </a:ln>
        </p:spPr>
      </p:pic>
      <p:sp>
        <p:nvSpPr>
          <p:cNvPr id="268" name="Google Shape;268;p19"/>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4(A–B). Range-dependent onset-to-closure time and final closure after the jet.</a:t>
            </a:r>
            <a:endParaRPr b="0" i="0" sz="1800" u="none" cap="none" strike="noStrike">
              <a:solidFill>
                <a:schemeClr val="dk1"/>
              </a:solidFill>
              <a:latin typeface="Calibri"/>
              <a:ea typeface="Calibri"/>
              <a:cs typeface="Calibri"/>
              <a:sym typeface="Calibri"/>
            </a:endParaRPr>
          </a:p>
        </p:txBody>
      </p:sp>
      <p:sp>
        <p:nvSpPr>
          <p:cNvPr id="269" name="Google Shape;269;p1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71" name="Google Shape;271;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retinal high-density region aligns with aerial aiming</a:t>
            </a:r>
            <a:endParaRPr b="0" i="0" sz="1800" u="none" cap="none" strike="noStrike">
              <a:solidFill>
                <a:schemeClr val="dk1"/>
              </a:solidFill>
              <a:latin typeface="Calibri"/>
              <a:ea typeface="Calibri"/>
              <a:cs typeface="Calibri"/>
              <a:sym typeface="Calibri"/>
            </a:endParaRPr>
          </a:p>
        </p:txBody>
      </p:sp>
      <p:sp>
        <p:nvSpPr>
          <p:cNvPr id="277" name="Google Shape;277;p2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Temple and colleagues mapped cones and retinal ganglion cells in </a:t>
            </a:r>
            <a:r>
              <a:rPr b="0" i="1" lang="en-US" sz="1500" u="none" cap="none" strike="noStrike">
                <a:solidFill>
                  <a:srgbClr val="000000"/>
                </a:solidFill>
                <a:latin typeface="Arial"/>
                <a:ea typeface="Arial"/>
                <a:cs typeface="Arial"/>
                <a:sym typeface="Arial"/>
              </a:rPr>
              <a:t>Toxotes chatareus</a:t>
            </a:r>
            <a:r>
              <a:rPr b="0" i="0" lang="en-US" sz="1500" u="none" cap="none" strike="noStrike">
                <a:solidFill>
                  <a:srgbClr val="000000"/>
                </a:solidFill>
                <a:latin typeface="Arial"/>
                <a:ea typeface="Arial"/>
                <a:cs typeface="Arial"/>
                <a:sym typeface="Arial"/>
              </a:rPr>
              <a:t> using retinal preparations and anatomical counts. A ventral high-density region aligned with the up-forward visual direction used during spitting, rather than providing equal sampling across the entire visual field.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highest cone densities exceeded 50,000 cells/mm², and the local ganglion-cell density approached a one-to-one relation with cone density in that region. Anatomically estimated resolving power reached 6.9 cycles/degree there, compared with 2.2 cycles/degree along the downward visual axis.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cycle is one bright–dark repetition in a spatial pattern; more cycles per degree indicate finer anatomical sampling. These estimates connect retinal organization to the preferred shooting direction. The up-forward region therefore provides the finest anatomical sampling along the direction in which the fish aims.</a:t>
            </a:r>
            <a:endParaRPr b="0" i="0" sz="1800" u="none" cap="none" strike="noStrike">
              <a:solidFill>
                <a:schemeClr val="dk1"/>
              </a:solidFill>
              <a:latin typeface="Calibri"/>
              <a:ea typeface="Calibri"/>
              <a:cs typeface="Calibri"/>
              <a:sym typeface="Calibri"/>
            </a:endParaRPr>
          </a:p>
        </p:txBody>
      </p:sp>
      <p:pic>
        <p:nvPicPr>
          <p:cNvPr id="280" name="Google Shape;280;p20"/>
          <p:cNvPicPr preferRelativeResize="0"/>
          <p:nvPr/>
        </p:nvPicPr>
        <p:blipFill rotWithShape="1">
          <a:blip r:embed="rId3">
            <a:alphaModFix/>
          </a:blip>
          <a:srcRect b="0" l="0" r="0" t="0"/>
          <a:stretch/>
        </p:blipFill>
        <p:spPr>
          <a:xfrm>
            <a:off x="7414384" y="1280071"/>
            <a:ext cx="3163065" cy="4297561"/>
          </a:xfrm>
          <a:prstGeom prst="rect">
            <a:avLst/>
          </a:prstGeom>
          <a:noFill/>
          <a:ln>
            <a:noFill/>
          </a:ln>
        </p:spPr>
      </p:pic>
      <p:sp>
        <p:nvSpPr>
          <p:cNvPr id="281" name="Google Shape;281;p20"/>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282" name="Google Shape;282;p2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Temple et al. (2010)</a:t>
            </a:r>
            <a:endParaRPr b="0" i="0" sz="1800" u="none" cap="none" strike="noStrike">
              <a:solidFill>
                <a:schemeClr val="dk1"/>
              </a:solidFill>
              <a:latin typeface="Calibri"/>
              <a:ea typeface="Calibri"/>
              <a:cs typeface="Calibri"/>
              <a:sym typeface="Calibri"/>
            </a:endParaRPr>
          </a:p>
        </p:txBody>
      </p:sp>
      <p:sp>
        <p:nvSpPr>
          <p:cNvPr id="284" name="Google Shape;284;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Cone spectral sensitivity differs across retinal regions</a:t>
            </a:r>
            <a:endParaRPr b="0" i="0" sz="1800" u="none" cap="none" strike="noStrike">
              <a:solidFill>
                <a:schemeClr val="dk1"/>
              </a:solidFill>
              <a:latin typeface="Calibri"/>
              <a:ea typeface="Calibri"/>
              <a:cs typeface="Calibri"/>
              <a:sym typeface="Calibri"/>
            </a:endParaRPr>
          </a:p>
        </p:txBody>
      </p:sp>
      <p:sp>
        <p:nvSpPr>
          <p:cNvPr id="290" name="Google Shape;290;p21"/>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Temple and colleagues used microspectrophotometry to measure absorption in individual photoreceptors, then corrected absorptance for ocular transmission and photopigment properties. Their comparisons separated retinal regions viewing different parts of the aquatic and aerial environment.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published spectra contain short-, middle- and long-wavelength cone contributions and show regional differences in their combined spectral coverage. The measurements directly concern light capture by the receptors; they are not inferred solely from a fish choosing among colored targets.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photopigment is a light-absorbing receptor molecule that initiates a photoreceptor response. Regional sensitivity can shape which contrasts are available against an aerial background. Spectral sensitivity and the spatial resolving power measured anatomically are distinct constraints on visual aiming.</a:t>
            </a:r>
            <a:endParaRPr b="0" i="0" sz="1800" u="none" cap="none" strike="noStrike">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3">
            <a:alphaModFix/>
          </a:blip>
          <a:srcRect b="0" l="0" r="0" t="0"/>
          <a:stretch/>
        </p:blipFill>
        <p:spPr>
          <a:xfrm>
            <a:off x="7079511" y="1280071"/>
            <a:ext cx="3832960" cy="4297561"/>
          </a:xfrm>
          <a:prstGeom prst="rect">
            <a:avLst/>
          </a:prstGeom>
          <a:noFill/>
          <a:ln>
            <a:noFill/>
          </a:ln>
        </p:spPr>
      </p:pic>
      <p:sp>
        <p:nvSpPr>
          <p:cNvPr id="294" name="Google Shape;294;p21"/>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2(A–C). Regional cone absorptance spectra.</a:t>
            </a:r>
            <a:endParaRPr b="0" i="0" sz="1800" u="none" cap="none" strike="noStrike">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Temple et al. (2010)</a:t>
            </a:r>
            <a:endParaRPr b="0" i="0" sz="1800" u="none" cap="none" strike="noStrike">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Isolated retinal recordings test rapid motion information</a:t>
            </a:r>
            <a:endParaRPr b="0" i="0" sz="1800" u="none" cap="none" strike="noStrike">
              <a:solidFill>
                <a:schemeClr val="dk1"/>
              </a:solidFill>
              <a:latin typeface="Calibri"/>
              <a:ea typeface="Calibri"/>
              <a:cs typeface="Calibri"/>
              <a:sym typeface="Calibri"/>
            </a:endParaRPr>
          </a:p>
        </p:txBody>
      </p:sp>
      <p:sp>
        <p:nvSpPr>
          <p:cNvPr id="303" name="Google Shape;303;p2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placed isolated archerfish retinas on a multielectrode array and projected alternating black and white bars. The grating remained present while movement began at randomly selected velocities, separating motion onset from the sudden appearance of a new object.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400-µm bars moved upward or downward, stopping when their contrast edges reached the next electrode row. Recorded ganglion cells produced sharply timed responses after movement onset. The protocol also varied movement history so direction reversal did not occur in every step.</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preparation tests information available at retinal output before central processing. Expressing velocities as those of an object about 30 cm from the eye relates the electrode responses to the speeds of real moving targets.</a:t>
            </a:r>
            <a:endParaRPr b="0" i="0" sz="1800" u="none" cap="none" strike="noStrike">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6367185" y="1280071"/>
            <a:ext cx="5257463" cy="2436763"/>
          </a:xfrm>
          <a:prstGeom prst="rect">
            <a:avLst/>
          </a:prstGeom>
          <a:noFill/>
          <a:ln>
            <a:noFill/>
          </a:ln>
        </p:spPr>
      </p:pic>
      <p:sp>
        <p:nvSpPr>
          <p:cNvPr id="307" name="Google Shape;307;p22"/>
          <p:cNvSpPr/>
          <p:nvPr/>
        </p:nvSpPr>
        <p:spPr>
          <a:xfrm>
            <a:off x="6367016" y="380836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1(A–G). Recorded retinal ganglion-cell responses and grating stimulus.</a:t>
            </a:r>
            <a:endParaRPr b="0" i="0" sz="1800" u="none" cap="none" strike="noStrike">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09" name="Google Shape;309;p22"/>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First-spike timing carries information about velocity</a:t>
            </a:r>
            <a:endParaRPr b="0" i="0" sz="1800" u="none" cap="none" strike="noStrike">
              <a:solidFill>
                <a:schemeClr val="dk1"/>
              </a:solidFill>
              <a:latin typeface="Calibri"/>
              <a:ea typeface="Calibri"/>
              <a:cs typeface="Calibri"/>
              <a:sym typeface="Calibri"/>
            </a:endParaRPr>
          </a:p>
        </p:txBody>
      </p:sp>
      <p:sp>
        <p:nvSpPr>
          <p:cNvPr id="318" name="Google Shape;318;p23"/>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52D35"/>
                </a:solidFill>
                <a:latin typeface="Arial"/>
                <a:ea typeface="Arial"/>
                <a:cs typeface="Arial"/>
                <a:sym typeface="Arial"/>
              </a:rPr>
              <a:t>first-spike latency</a:t>
            </a:r>
            <a:r>
              <a:rPr b="0" i="0" lang="en-US" sz="1500" u="none" cap="none" strike="noStrike">
                <a:solidFill>
                  <a:srgbClr val="000000"/>
                </a:solidFill>
                <a:latin typeface="Arial"/>
                <a:ea typeface="Arial"/>
                <a:cs typeface="Arial"/>
                <a:sym typeface="Arial"/>
              </a:rPr>
              <a:t> is the interval from a reference event to the first action potential in a response. Kretschmer and colleagues compared ganglion-cell latencies across the moving-grating velocities. The shortest median absolute latencies were about 22 ms at stimulus speeds around 5–6 m/s.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Latencies increased at both lower and higher velocities. Different individual cells supplied distinct tuning profiles, allowing the population pattern to distinguish velocity better than a single median value could. A published decoder reconstructed the presented velocities most successfully from absolute first-spike latencies.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Absolute latency requires knowledge of stimulus onset, which the experimenter possesses but the brain must infer from its own signals. A decoder that reconstructs velocity from absolute latencies indicates that the timing of spikes across the population carries velocity information within tens of milliseconds of movement onset.</a:t>
            </a:r>
            <a:endParaRPr b="0" i="0" sz="1800" u="none" cap="none" strike="noStrike">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6517338" y="1280071"/>
            <a:ext cx="4957454" cy="2468761"/>
          </a:xfrm>
          <a:prstGeom prst="rect">
            <a:avLst/>
          </a:prstGeom>
          <a:noFill/>
          <a:ln>
            <a:noFill/>
          </a:ln>
        </p:spPr>
      </p:pic>
      <p:sp>
        <p:nvSpPr>
          <p:cNvPr id="322" name="Google Shape;322;p23"/>
          <p:cNvSpPr/>
          <p:nvPr/>
        </p:nvSpPr>
        <p:spPr>
          <a:xfrm>
            <a:off x="6367016" y="38403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2(A–L). First-spike latency varies with stimulus velocity.</a:t>
            </a:r>
            <a:endParaRPr b="0" i="0" sz="1800" u="none" cap="none" strike="noStrike">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24" name="Google Shape;324;p23"/>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27" name="Google Shape;327;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Relative timing outperforms the tested rate code</a:t>
            </a:r>
            <a:endParaRPr b="0" i="0" sz="1800" u="none" cap="none" strike="noStrike">
              <a:solidFill>
                <a:schemeClr val="dk1"/>
              </a:solidFill>
              <a:latin typeface="Calibri"/>
              <a:ea typeface="Calibri"/>
              <a:cs typeface="Calibri"/>
              <a:sym typeface="Calibri"/>
            </a:endParaRPr>
          </a:p>
        </p:txBody>
      </p:sp>
      <p:sp>
        <p:nvSpPr>
          <p:cNvPr id="333" name="Google Shape;333;p2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compared absolute latency with first interspike interval, spike rate over 100 ms, and latency relative to population response onset. An </a:t>
            </a:r>
            <a:r>
              <a:rPr b="1" i="0" lang="en-US" sz="1500" u="none" cap="none" strike="noStrike">
                <a:solidFill>
                  <a:srgbClr val="252D35"/>
                </a:solidFill>
                <a:latin typeface="Arial"/>
                <a:ea typeface="Arial"/>
                <a:cs typeface="Arial"/>
                <a:sym typeface="Arial"/>
              </a:rPr>
              <a:t>interspike interval</a:t>
            </a:r>
            <a:r>
              <a:rPr b="0" i="0" lang="en-US" sz="1500" u="none" cap="none" strike="noStrike">
                <a:solidFill>
                  <a:srgbClr val="000000"/>
                </a:solidFill>
                <a:latin typeface="Arial"/>
                <a:ea typeface="Arial"/>
                <a:cs typeface="Arial"/>
                <a:sym typeface="Arial"/>
              </a:rPr>
              <a:t> is the elapsed time between consecutive action potentials; a firing rate counts spikes per unit time.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first interval and the tested rate measure reconstructed velocity poorly. Relative first-spike latency performed better, even though its median remained near 10 ms across velocities, because the patterns across different cells retained velocity information. Relative timing supplied an internal reference rather than the experimenter’s stimulus clock.</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comparison supports population timing as a plausible fast signal. A spike count over 100 ms is slow relative to a predictive response, whereas relative first-spike latency stays near 10 ms across velocities.</a:t>
            </a:r>
            <a:endParaRPr b="0" i="0" sz="1800" u="none" cap="none" strike="noStrike">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3">
            <a:alphaModFix/>
          </a:blip>
          <a:srcRect b="0" l="0" r="0" t="0"/>
          <a:stretch/>
        </p:blipFill>
        <p:spPr>
          <a:xfrm>
            <a:off x="6517338" y="1280071"/>
            <a:ext cx="4957454" cy="2468761"/>
          </a:xfrm>
          <a:prstGeom prst="rect">
            <a:avLst/>
          </a:prstGeom>
          <a:noFill/>
          <a:ln>
            <a:noFill/>
          </a:ln>
        </p:spPr>
      </p:pic>
      <p:sp>
        <p:nvSpPr>
          <p:cNvPr id="337" name="Google Shape;337;p24"/>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2(A–L). Published decoding based on latency, interval, rate and relative latency.</a:t>
            </a:r>
            <a:endParaRPr b="0" i="0" sz="1800" u="none" cap="none" strike="noStrike">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39" name="Google Shape;339;p24"/>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42" name="Google Shape;342;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Combining ganglion cells improves velocity estimates</a:t>
            </a:r>
            <a:endParaRPr b="0" i="0" sz="1800" u="none" cap="none" strike="noStrike">
              <a:solidFill>
                <a:schemeClr val="dk1"/>
              </a:solidFill>
              <a:latin typeface="Calibri"/>
              <a:ea typeface="Calibri"/>
              <a:cs typeface="Calibri"/>
              <a:sym typeface="Calibri"/>
            </a:endParaRPr>
          </a:p>
        </p:txBody>
      </p:sp>
      <p:sp>
        <p:nvSpPr>
          <p:cNvPr id="348" name="Google Shape;348;p25"/>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repeatedly decoded velocity while increasing the number of recorded ganglion cells included. Published reconstruction errors fell as the population grew, but the gain was steepest for the first few cells and became smaller with additional cells.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Individual experiments differed in accuracy because response timing and tuning quality differed among their sampled cells. Even the most precisely timed unit did not reproduce the information present in a useful combination of units. Population coding therefore depends on which signals are included, not simply on an abstract cell count.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analysis supports distributed retinal information and a limited benefit from progressively larger samples. Combining cells improves the estimate because their timing patterns carry complementary information about velocity.</a:t>
            </a:r>
            <a:endParaRPr b="0" i="0" sz="1800" u="none" cap="none" strike="noStrike">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7427351" y="1280071"/>
            <a:ext cx="3137279" cy="2468761"/>
          </a:xfrm>
          <a:prstGeom prst="rect">
            <a:avLst/>
          </a:prstGeom>
          <a:noFill/>
          <a:ln>
            <a:noFill/>
          </a:ln>
        </p:spPr>
      </p:pic>
      <p:sp>
        <p:nvSpPr>
          <p:cNvPr id="352" name="Google Shape;352;p25"/>
          <p:cNvSpPr/>
          <p:nvPr/>
        </p:nvSpPr>
        <p:spPr>
          <a:xfrm>
            <a:off x="6367016" y="38403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7(A–B). Decoding error as more ganglion cells are added.</a:t>
            </a:r>
            <a:endParaRPr b="0" i="0" sz="1800" u="none" cap="none" strike="noStrike">
              <a:solidFill>
                <a:schemeClr val="dk1"/>
              </a:solidFill>
              <a:latin typeface="Calibri"/>
              <a:ea typeface="Calibri"/>
              <a:cs typeface="Calibri"/>
              <a:sym typeface="Calibri"/>
            </a:endParaRPr>
          </a:p>
        </p:txBody>
      </p:sp>
      <p:pic>
        <p:nvPicPr>
          <p:cNvPr id="353" name="Google Shape;353;p25"/>
          <p:cNvPicPr preferRelativeResize="0"/>
          <p:nvPr/>
        </p:nvPicPr>
        <p:blipFill rotWithShape="1">
          <a:blip r:embed="rId4">
            <a:alphaModFix/>
          </a:blip>
          <a:srcRect b="0" l="0" r="0" t="0"/>
          <a:stretch/>
        </p:blipFill>
        <p:spPr>
          <a:xfrm>
            <a:off x="8457605" y="4297563"/>
            <a:ext cx="1076771" cy="1462977"/>
          </a:xfrm>
          <a:prstGeom prst="rect">
            <a:avLst/>
          </a:prstGeom>
          <a:noFill/>
          <a:ln>
            <a:noFill/>
          </a:ln>
        </p:spPr>
      </p:pic>
      <p:sp>
        <p:nvSpPr>
          <p:cNvPr id="354" name="Google Shape;354;p25"/>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55" name="Google Shape;355;p2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57" name="Google Shape;357;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Tectal neurons integrate spatial and temporal contrast</a:t>
            </a:r>
            <a:endParaRPr b="0" i="0" sz="1800" u="none" cap="none" strike="noStrike">
              <a:solidFill>
                <a:schemeClr val="dk1"/>
              </a:solidFill>
              <a:latin typeface="Calibri"/>
              <a:ea typeface="Calibri"/>
              <a:cs typeface="Calibri"/>
              <a:sym typeface="Calibri"/>
            </a:endParaRPr>
          </a:p>
        </p:txBody>
      </p:sp>
      <p:sp>
        <p:nvSpPr>
          <p:cNvPr id="363" name="Google Shape;363;p2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52D35"/>
                </a:solidFill>
                <a:latin typeface="Arial"/>
                <a:ea typeface="Arial"/>
                <a:cs typeface="Arial"/>
                <a:sym typeface="Arial"/>
              </a:rPr>
              <a:t>optic tectum</a:t>
            </a:r>
            <a:r>
              <a:rPr b="0" i="0" lang="en-US" sz="1500" u="none" cap="none" strike="noStrike">
                <a:solidFill>
                  <a:srgbClr val="000000"/>
                </a:solidFill>
                <a:latin typeface="Arial"/>
                <a:ea typeface="Arial"/>
                <a:cs typeface="Arial"/>
                <a:sym typeface="Arial"/>
              </a:rPr>
              <a:t> is a midbrain structure receiving visual input and participating in sensorimotor processing. Reichenthal and colleagues recorded extracellular activity in archerfish while presenting random checkerboards. A spike-triggered average described the stimulus patterns preceding each neuron’s spikes.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Receptive fields ranged from nearly circular to elongated. About 68% of the sampled cells had a monophasic temporal profile, whereas the remaining group had two phases with opposite contrast signs. Mean estimated response latencies were 54.5 ms and 60 ms for these groups.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These measurements distinguish spatial sampling from the temporal contrast sequence associated with firing. A receptive field is the stimulus region and pattern that changes a neuron’s activity. Each tectal neuron is thus described by where in space and when in time a stimulus changes its firing.</a:t>
            </a:r>
            <a:endParaRPr b="0" i="0" sz="1800" u="none" cap="none" strike="noStrike">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3">
            <a:alphaModFix/>
          </a:blip>
          <a:srcRect b="0" l="0" r="0" t="0"/>
          <a:stretch/>
        </p:blipFill>
        <p:spPr>
          <a:xfrm>
            <a:off x="8089106" y="1280077"/>
            <a:ext cx="1813917" cy="2468748"/>
          </a:xfrm>
          <a:prstGeom prst="rect">
            <a:avLst/>
          </a:prstGeom>
          <a:noFill/>
          <a:ln>
            <a:noFill/>
          </a:ln>
        </p:spPr>
      </p:pic>
      <p:sp>
        <p:nvSpPr>
          <p:cNvPr id="367" name="Google Shape;367;p26"/>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2(A–H). Spatial and temporal receptive fields of tectal neurons.</a:t>
            </a:r>
            <a:endParaRPr b="0" i="0" sz="1800" u="none" cap="none" strike="noStrike">
              <a:solidFill>
                <a:schemeClr val="dk1"/>
              </a:solidFill>
              <a:latin typeface="Calibri"/>
              <a:ea typeface="Calibri"/>
              <a:cs typeface="Calibri"/>
              <a:sym typeface="Calibri"/>
            </a:endParaRPr>
          </a:p>
        </p:txBody>
      </p:sp>
      <p:pic>
        <p:nvPicPr>
          <p:cNvPr id="368" name="Google Shape;368;p26"/>
          <p:cNvPicPr preferRelativeResize="0"/>
          <p:nvPr/>
        </p:nvPicPr>
        <p:blipFill rotWithShape="1">
          <a:blip r:embed="rId4">
            <a:alphaModFix/>
          </a:blip>
          <a:srcRect b="0" l="0" r="0" t="0"/>
          <a:stretch/>
        </p:blipFill>
        <p:spPr>
          <a:xfrm>
            <a:off x="7230306" y="4297561"/>
            <a:ext cx="3531517" cy="1462980"/>
          </a:xfrm>
          <a:prstGeom prst="rect">
            <a:avLst/>
          </a:prstGeom>
          <a:noFill/>
          <a:ln>
            <a:noFill/>
          </a:ln>
        </p:spPr>
      </p:pic>
      <p:sp>
        <p:nvSpPr>
          <p:cNvPr id="369" name="Google Shape;369;p26"/>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370" name="Google Shape;370;p2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372" name="Google Shape;372;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Additional temporal filters capture tectal selectivity</a:t>
            </a:r>
            <a:endParaRPr b="0" i="0" sz="1800" u="none" cap="none" strike="noStrike">
              <a:solidFill>
                <a:schemeClr val="dk1"/>
              </a:solidFill>
              <a:latin typeface="Calibri"/>
              <a:ea typeface="Calibri"/>
              <a:cs typeface="Calibri"/>
              <a:sym typeface="Calibri"/>
            </a:endParaRPr>
          </a:p>
        </p:txBody>
      </p:sp>
      <p:sp>
        <p:nvSpPr>
          <p:cNvPr id="378" name="Google Shape;378;p27"/>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Reichenthal and colleagues also presented full-field flashes with varying intensity to reduce the visual stimulus to a time series. They used spike-triggered covariance, which compares variation in the stimulus histories preceding spikes with variation in the full stimulus set.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Structured temporal filters identified combinations of earlier light levels associated with the response. Cells could be described by one to three relevant filters, with two most common. Some filters were termed excitatory or inhibitory according to their statistical relation to the stimulus ensemble.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Excitatory and inhibitory filters describe how earlier light levels increase or decrease the response of a cell. The analysis adds information missed by an average alone, because it captures several filters per cell.</a:t>
            </a:r>
            <a:endParaRPr b="0" i="0" sz="1800" u="none" cap="none" strike="noStrike">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3">
            <a:alphaModFix/>
          </a:blip>
          <a:srcRect b="0" l="0" r="0" t="0"/>
          <a:stretch/>
        </p:blipFill>
        <p:spPr>
          <a:xfrm>
            <a:off x="6367149" y="1280071"/>
            <a:ext cx="5257534" cy="1991618"/>
          </a:xfrm>
          <a:prstGeom prst="rect">
            <a:avLst/>
          </a:prstGeom>
          <a:noFill/>
          <a:ln>
            <a:noFill/>
          </a:ln>
        </p:spPr>
      </p:pic>
      <p:sp>
        <p:nvSpPr>
          <p:cNvPr id="382" name="Google Shape;382;p27"/>
          <p:cNvSpPr/>
          <p:nvPr/>
        </p:nvSpPr>
        <p:spPr>
          <a:xfrm>
            <a:off x="6367016" y="3363218"/>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4(A–B). Published covariance analysis and significant stimulus filters.</a:t>
            </a:r>
            <a:endParaRPr b="0" i="0" sz="1800" u="none" cap="none" strike="noStrike">
              <a:solidFill>
                <a:schemeClr val="dk1"/>
              </a:solidFill>
              <a:latin typeface="Calibri"/>
              <a:ea typeface="Calibri"/>
              <a:cs typeface="Calibri"/>
              <a:sym typeface="Calibri"/>
            </a:endParaRPr>
          </a:p>
        </p:txBody>
      </p:sp>
      <p:pic>
        <p:nvPicPr>
          <p:cNvPr id="383" name="Google Shape;383;p27"/>
          <p:cNvPicPr preferRelativeResize="0"/>
          <p:nvPr/>
        </p:nvPicPr>
        <p:blipFill rotWithShape="1">
          <a:blip r:embed="rId4">
            <a:alphaModFix/>
          </a:blip>
          <a:srcRect b="0" l="0" r="0" t="0"/>
          <a:stretch/>
        </p:blipFill>
        <p:spPr>
          <a:xfrm>
            <a:off x="7230306" y="4297561"/>
            <a:ext cx="3531517" cy="1462980"/>
          </a:xfrm>
          <a:prstGeom prst="rect">
            <a:avLst/>
          </a:prstGeom>
          <a:noFill/>
          <a:ln>
            <a:noFill/>
          </a:ln>
        </p:spPr>
      </p:pic>
      <p:sp>
        <p:nvSpPr>
          <p:cNvPr id="384" name="Google Shape;384;p27"/>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385" name="Google Shape;385;p2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387" name="Google Shape;387;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Nonlinear combinations predict different tectal responses</a:t>
            </a:r>
            <a:endParaRPr b="0" i="0" sz="1800" u="none" cap="none" strike="noStrike">
              <a:solidFill>
                <a:schemeClr val="dk1"/>
              </a:solidFill>
              <a:latin typeface="Calibri"/>
              <a:ea typeface="Calibri"/>
              <a:cs typeface="Calibri"/>
              <a:sym typeface="Calibri"/>
            </a:endParaRPr>
          </a:p>
        </p:txBody>
      </p:sp>
      <p:sp>
        <p:nvSpPr>
          <p:cNvPr id="393" name="Google Shape;393;p28"/>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300" u="none" cap="none" strike="noStrike">
                <a:solidFill>
                  <a:srgbClr val="000000"/>
                </a:solidFill>
                <a:latin typeface="Arial"/>
                <a:ea typeface="Arial"/>
                <a:cs typeface="Arial"/>
                <a:sym typeface="Arial"/>
              </a:rPr>
              <a:t>Reichenthal and colleagues fitted models that combined the recovered temporal filters through </a:t>
            </a:r>
            <a:r>
              <a:rPr b="1" i="0" lang="en-US" sz="1300" u="none" cap="none" strike="noStrike">
                <a:solidFill>
                  <a:srgbClr val="252D35"/>
                </a:solidFill>
                <a:latin typeface="Arial"/>
                <a:ea typeface="Arial"/>
                <a:cs typeface="Arial"/>
                <a:sym typeface="Arial"/>
              </a:rPr>
              <a:t>nonlinear response functions</a:t>
            </a:r>
            <a:r>
              <a:rPr b="0" i="0" lang="en-US" sz="1300" u="none" cap="none" strike="noStrike">
                <a:solidFill>
                  <a:srgbClr val="000000"/>
                </a:solidFill>
                <a:latin typeface="Arial"/>
                <a:ea typeface="Arial"/>
                <a:cs typeface="Arial"/>
                <a:sym typeface="Arial"/>
              </a:rPr>
              <a:t>. A nonlinearity means that the response combines the filter outputs non-additively, so the joint values of the filters can change how strongly the neuron fires. The nonlinear combination is the step that distinguishes these models from linear descriptions of the same filters.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300" u="none" cap="none" strike="noStrike">
                <a:solidFill>
                  <a:srgbClr val="000000"/>
                </a:solidFill>
                <a:latin typeface="Arial"/>
                <a:ea typeface="Arial"/>
                <a:cs typeface="Arial"/>
                <a:sym typeface="Arial"/>
              </a:rPr>
              <a:t>The original examples included one-, two- and three-filter descriptions with different response surfaces. Two-filter models reproduced response structure that an average-based single filter missed. The authors compared model output with recorded firing rates, so each model is tested against the measured responses. Each model thus carries a specific prediction for the neuron's firing across combinations of inputs.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300" u="none" cap="none" strike="noStrike">
                <a:solidFill>
                  <a:srgbClr val="000000"/>
                </a:solidFill>
                <a:latin typeface="Arial"/>
                <a:ea typeface="Arial"/>
                <a:cs typeface="Arial"/>
                <a:sym typeface="Arial"/>
              </a:rPr>
              <a:t>These are phenomenological models, compact descriptions of measured input–output relationships. The diverse combinations provide candidate transformations of visual timing before a motor decision, and each combination specifies a distinct response surface. These models therefore describe how the visual timing signal is transformed before the response. Each description is a candidate for how the timing signal is transformed, and the measured firing rates decide among them.</a:t>
            </a:r>
            <a:endParaRPr b="0" i="0" sz="1800" u="none" cap="none" strike="noStrike">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3">
            <a:alphaModFix/>
          </a:blip>
          <a:srcRect b="0" l="0" r="0" t="0"/>
          <a:stretch/>
        </p:blipFill>
        <p:spPr>
          <a:xfrm>
            <a:off x="8150470" y="1280071"/>
            <a:ext cx="1691189" cy="2468761"/>
          </a:xfrm>
          <a:prstGeom prst="rect">
            <a:avLst/>
          </a:prstGeom>
          <a:noFill/>
          <a:ln>
            <a:noFill/>
          </a:ln>
        </p:spPr>
      </p:pic>
      <p:sp>
        <p:nvSpPr>
          <p:cNvPr id="397" name="Google Shape;397;p28"/>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7(A–D). Original two-filter nonlinear response models and neural recordings.</a:t>
            </a:r>
            <a:endParaRPr b="0" i="0" sz="1800" u="none" cap="none" strike="noStrike">
              <a:solidFill>
                <a:schemeClr val="dk1"/>
              </a:solidFill>
              <a:latin typeface="Calibri"/>
              <a:ea typeface="Calibri"/>
              <a:cs typeface="Calibri"/>
              <a:sym typeface="Calibri"/>
            </a:endParaRPr>
          </a:p>
        </p:txBody>
      </p:sp>
      <p:pic>
        <p:nvPicPr>
          <p:cNvPr id="398" name="Google Shape;398;p28"/>
          <p:cNvPicPr preferRelativeResize="0"/>
          <p:nvPr/>
        </p:nvPicPr>
        <p:blipFill rotWithShape="1">
          <a:blip r:embed="rId4">
            <a:alphaModFix/>
          </a:blip>
          <a:srcRect b="0" l="0" r="0" t="0"/>
          <a:stretch/>
        </p:blipFill>
        <p:spPr>
          <a:xfrm>
            <a:off x="7230306" y="4297561"/>
            <a:ext cx="3531517" cy="1462980"/>
          </a:xfrm>
          <a:prstGeom prst="rect">
            <a:avLst/>
          </a:prstGeom>
          <a:noFill/>
          <a:ln>
            <a:noFill/>
          </a:ln>
        </p:spPr>
      </p:pic>
      <p:sp>
        <p:nvSpPr>
          <p:cNvPr id="399" name="Google Shape;399;p28"/>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400" name="Google Shape;400;p2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402" name="Google Shape;402;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brain atlas separates visual and descending structures</a:t>
            </a:r>
            <a:endParaRPr b="0" i="0" sz="1800" u="none" cap="none" strike="noStrike">
              <a:solidFill>
                <a:schemeClr val="dk1"/>
              </a:solidFill>
              <a:latin typeface="Calibri"/>
              <a:ea typeface="Calibri"/>
              <a:cs typeface="Calibri"/>
              <a:sym typeface="Calibri"/>
            </a:endParaRPr>
          </a:p>
        </p:txBody>
      </p:sp>
      <p:sp>
        <p:nvSpPr>
          <p:cNvPr id="408" name="Google Shape;408;p29"/>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Karoubi and colleagues examined </a:t>
            </a:r>
            <a:r>
              <a:rPr b="0" i="1" lang="en-US" sz="1500" u="none" cap="none" strike="noStrike">
                <a:solidFill>
                  <a:srgbClr val="000000"/>
                </a:solidFill>
                <a:latin typeface="Arial"/>
                <a:ea typeface="Arial"/>
                <a:cs typeface="Arial"/>
                <a:sym typeface="Arial"/>
              </a:rPr>
              <a:t>Toxotes chatareus</a:t>
            </a:r>
            <a:r>
              <a:rPr b="0" i="0" lang="en-US" sz="1500" u="none" cap="none" strike="noStrike">
                <a:solidFill>
                  <a:srgbClr val="000000"/>
                </a:solidFill>
                <a:latin typeface="Arial"/>
                <a:ea typeface="Arial"/>
                <a:cs typeface="Arial"/>
                <a:sym typeface="Arial"/>
              </a:rPr>
              <a:t> brains with Nissl staining and immunohistochemistry. </a:t>
            </a:r>
            <a:r>
              <a:rPr b="1" i="0" lang="en-US" sz="1500" u="none" cap="none" strike="noStrike">
                <a:solidFill>
                  <a:srgbClr val="252D35"/>
                </a:solidFill>
                <a:latin typeface="Arial"/>
                <a:ea typeface="Arial"/>
                <a:cs typeface="Arial"/>
                <a:sym typeface="Arial"/>
              </a:rPr>
              <a:t>Nissl staining</a:t>
            </a:r>
            <a:r>
              <a:rPr b="0" i="0" lang="en-US" sz="1500" u="none" cap="none" strike="noStrike">
                <a:solidFill>
                  <a:srgbClr val="000000"/>
                </a:solidFill>
                <a:latin typeface="Arial"/>
                <a:ea typeface="Arial"/>
                <a:cs typeface="Arial"/>
                <a:sym typeface="Arial"/>
              </a:rPr>
              <a:t> labels cell-rich tissue and helps distinguish nuclei and layers; immunohistochemistry uses antibodies to locate selected molecular markers within the tissue.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atlas documents the telencephalon, diencephalon, optic tectum, cerebellum and hindbrain in serial sections and whole-brain views. Its labeled sections supply anatomical landmarks for interpreting visual recordings and the location of descending neurons, rather than assuming that all activity comes from a single undifferentiated brain region.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atlas also maps catecholaminergic and cholinergic markers, which identify cell groups by the transmitter they use. A cholinergic neuron uses acetylcholine.</a:t>
            </a:r>
            <a:endParaRPr b="0" i="0" sz="1800" u="none" cap="none" strike="noStrike">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3">
            <a:alphaModFix/>
          </a:blip>
          <a:srcRect b="0" l="0" r="0" t="0"/>
          <a:stretch/>
        </p:blipFill>
        <p:spPr>
          <a:xfrm>
            <a:off x="6367029" y="1280071"/>
            <a:ext cx="5257774" cy="2803922"/>
          </a:xfrm>
          <a:prstGeom prst="rect">
            <a:avLst/>
          </a:prstGeom>
          <a:noFill/>
          <a:ln>
            <a:noFill/>
          </a:ln>
        </p:spPr>
      </p:pic>
      <p:sp>
        <p:nvSpPr>
          <p:cNvPr id="412" name="Google Shape;412;p29"/>
          <p:cNvSpPr/>
          <p:nvPr/>
        </p:nvSpPr>
        <p:spPr>
          <a:xfrm>
            <a:off x="6367016" y="4175522"/>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2(A–D). Lateral view and reconstruction of the archerfish brain.</a:t>
            </a:r>
            <a:endParaRPr b="0" i="0" sz="1800" u="none" cap="none" strike="noStrike">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Karoubi et al. (2016)</a:t>
            </a:r>
            <a:endParaRPr b="0" i="0" sz="1800" u="none" cap="none" strike="noStrike">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An electrical field signature locates the Mauthner cell</a:t>
            </a:r>
            <a:endParaRPr b="0" i="0" sz="1800" u="none" cap="none" strike="noStrike">
              <a:solidFill>
                <a:schemeClr val="dk1"/>
              </a:solidFill>
              <a:latin typeface="Calibri"/>
              <a:ea typeface="Calibri"/>
              <a:cs typeface="Calibri"/>
              <a:sym typeface="Calibri"/>
            </a:endParaRPr>
          </a:p>
        </p:txBody>
      </p:sp>
      <p:sp>
        <p:nvSpPr>
          <p:cNvPr id="421" name="Google Shape;421;p3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252D35"/>
                </a:solidFill>
                <a:latin typeface="Arial"/>
                <a:ea typeface="Arial"/>
                <a:cs typeface="Arial"/>
                <a:sym typeface="Arial"/>
              </a:rPr>
              <a:t>Mauthner cell</a:t>
            </a:r>
            <a:r>
              <a:rPr b="0" i="0" lang="en-US" sz="1500" u="none" cap="none" strike="noStrike">
                <a:solidFill>
                  <a:srgbClr val="000000"/>
                </a:solidFill>
                <a:latin typeface="Arial"/>
                <a:ea typeface="Arial"/>
                <a:cs typeface="Arial"/>
                <a:sym typeface="Arial"/>
              </a:rPr>
              <a:t> is a large hindbrain neuron with a descending axon associated with fast-start behavior in fishes. Machnik and colleagues stimulated the spinal cord and searched the archerfish hindbrain for a characteristic short-latency, all-or-none extracellular field potential.</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Increasing a stimulus above threshold changed whether the signal occurred but did not progressively scale its amplitude. Each side of the hindbrain contained a distinct focus, consistent with a paired neuronal source. Intracellular penetration and subsequent staining then linked that source to a cell with Mauthner-like morphology.</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approach connects an electrical signature to anatomy instead of relying only on cell size. It establishes an experimentally accessible Mauthner neuron in archerfish. Antidromic stimulation travels backward from axon toward cell body, so the recorded all-or-none signal reports the spike of the cell itself.</a:t>
            </a:r>
            <a:endParaRPr b="0" i="0" sz="1800" u="none" cap="none" strike="noStrike">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8063061" y="1280082"/>
            <a:ext cx="1865709" cy="2468738"/>
          </a:xfrm>
          <a:prstGeom prst="rect">
            <a:avLst/>
          </a:prstGeom>
          <a:noFill/>
          <a:ln>
            <a:noFill/>
          </a:ln>
        </p:spPr>
      </p:pic>
      <p:sp>
        <p:nvSpPr>
          <p:cNvPr id="425" name="Google Shape;425;p30"/>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2(A–D). All-or-none field potential used to locate the Mauthner cell.</a:t>
            </a:r>
            <a:endParaRPr b="0" i="0" sz="1800" u="none" cap="none" strike="noStrike">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8325354" y="4297561"/>
            <a:ext cx="1341274" cy="1462980"/>
          </a:xfrm>
          <a:prstGeom prst="rect">
            <a:avLst/>
          </a:prstGeom>
          <a:noFill/>
          <a:ln>
            <a:noFill/>
          </a:ln>
        </p:spPr>
      </p:pic>
      <p:sp>
        <p:nvSpPr>
          <p:cNvPr id="427" name="Google Shape;427;p30"/>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Mauthner morphology resembles that of goldfish</a:t>
            </a:r>
            <a:endParaRPr b="0" i="0" sz="1800" u="none" cap="none" strike="noStrike">
              <a:solidFill>
                <a:schemeClr val="dk1"/>
              </a:solidFill>
              <a:latin typeface="Calibri"/>
              <a:ea typeface="Calibri"/>
              <a:cs typeface="Calibri"/>
              <a:sym typeface="Calibri"/>
            </a:endParaRPr>
          </a:p>
        </p:txBody>
      </p:sp>
      <p:sp>
        <p:nvSpPr>
          <p:cNvPr id="436" name="Google Shape;436;p31"/>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filled identified Mauthner neurons and compared archerfish with similarly sized goldfish processed by the same method. The </a:t>
            </a:r>
            <a:r>
              <a:rPr b="1" i="0" lang="en-US" sz="1500" u="none" cap="none" strike="noStrike">
                <a:solidFill>
                  <a:srgbClr val="252D35"/>
                </a:solidFill>
                <a:latin typeface="Arial"/>
                <a:ea typeface="Arial"/>
                <a:cs typeface="Arial"/>
                <a:sym typeface="Arial"/>
              </a:rPr>
              <a:t>soma</a:t>
            </a:r>
            <a:r>
              <a:rPr b="0" i="0" lang="en-US" sz="1500" u="none" cap="none" strike="noStrike">
                <a:solidFill>
                  <a:srgbClr val="000000"/>
                </a:solidFill>
                <a:latin typeface="Arial"/>
                <a:ea typeface="Arial"/>
                <a:cs typeface="Arial"/>
                <a:sym typeface="Arial"/>
              </a:rPr>
              <a:t> is the neuronal cell body; </a:t>
            </a:r>
            <a:r>
              <a:rPr b="1" i="0" lang="en-US" sz="1500" u="none" cap="none" strike="noStrike">
                <a:solidFill>
                  <a:srgbClr val="252D35"/>
                </a:solidFill>
                <a:latin typeface="Arial"/>
                <a:ea typeface="Arial"/>
                <a:cs typeface="Arial"/>
                <a:sym typeface="Arial"/>
              </a:rPr>
              <a:t>dendrites</a:t>
            </a:r>
            <a:r>
              <a:rPr b="0" i="0" lang="en-US" sz="1500" u="none" cap="none" strike="noStrike">
                <a:solidFill>
                  <a:srgbClr val="000000"/>
                </a:solidFill>
                <a:latin typeface="Arial"/>
                <a:ea typeface="Arial"/>
                <a:cs typeface="Arial"/>
                <a:sym typeface="Arial"/>
              </a:rPr>
              <a:t> receive and integrate inputs before signals reach the spike-initiation region.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Archerfish soma diameters ranged from 45 to 63 µm, compared with 47–66 µm in goldfish. Both had prominent lateral and ventral dendrites, an axon hillock, and smaller branches. The broad similarity persisted despite the archerfish’s specialized interception demands.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matched preparation controls for major differences caused by animal size and staining method. It argues against a dramatically enlarged or uniquely shaped Mauthner neuron as a necessary explanation of the archerfish skill. The archerfish cell therefore has the same overall plan as the goldfish cell, with dendrites receiving input and the axon hillock initiating the spike.</a:t>
            </a:r>
            <a:endParaRPr b="0" i="0" sz="1800" u="none" cap="none" strike="noStrike">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6705968" y="1280071"/>
            <a:ext cx="4580045" cy="4297561"/>
          </a:xfrm>
          <a:prstGeom prst="rect">
            <a:avLst/>
          </a:prstGeom>
          <a:noFill/>
          <a:ln>
            <a:noFill/>
          </a:ln>
        </p:spPr>
      </p:pic>
      <p:sp>
        <p:nvSpPr>
          <p:cNvPr id="440" name="Google Shape;440;p31"/>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441" name="Google Shape;441;p3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43" name="Google Shape;443;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Two crossed giant axons dominate the spinal cord</a:t>
            </a:r>
            <a:endParaRPr b="0" i="0" sz="1800" u="none" cap="none" strike="noStrike">
              <a:solidFill>
                <a:schemeClr val="dk1"/>
              </a:solidFill>
              <a:latin typeface="Calibri"/>
              <a:ea typeface="Calibri"/>
              <a:cs typeface="Calibri"/>
              <a:sym typeface="Calibri"/>
            </a:endParaRPr>
          </a:p>
        </p:txBody>
      </p:sp>
      <p:sp>
        <p:nvSpPr>
          <p:cNvPr id="449" name="Google Shape;449;p3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After staining identified cells, Machnik and colleagues followed the Mauthner axons across the hindbrain midline and into the opposite spinal cord. Unstained cross-sections independently contained two exceptionally large axons in the corresponding positions.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largest axons averaged 71.9 µm in diameter in the measured archerfish sections and were comparable with those of similarly sized goldfish. Finding exactly two matched giants argued against an additional, equally large descending pathway hidden elsewhere in the sampled cord.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large axon can support rapid conduction, making this anatomy compatible with a fast motor command. Two crossed giants of about 71.9 µm in diameter mean that each Mauthner cell sends a fast signal to the opposite side of the spinal cord.</a:t>
            </a:r>
            <a:endParaRPr b="0" i="0" sz="1800" u="none" cap="none" strike="noStrike">
              <a:solidFill>
                <a:schemeClr val="dk1"/>
              </a:solidFill>
              <a:latin typeface="Calibri"/>
              <a:ea typeface="Calibri"/>
              <a:cs typeface="Calibri"/>
              <a:sym typeface="Calibri"/>
            </a:endParaRPr>
          </a:p>
        </p:txBody>
      </p:sp>
      <p:pic>
        <p:nvPicPr>
          <p:cNvPr id="452" name="Google Shape;452;p32"/>
          <p:cNvPicPr preferRelativeResize="0"/>
          <p:nvPr/>
        </p:nvPicPr>
        <p:blipFill rotWithShape="1">
          <a:blip r:embed="rId3">
            <a:alphaModFix/>
          </a:blip>
          <a:srcRect b="0" l="0" r="0" t="0"/>
          <a:stretch/>
        </p:blipFill>
        <p:spPr>
          <a:xfrm>
            <a:off x="7025894" y="1280071"/>
            <a:ext cx="3940043" cy="4297561"/>
          </a:xfrm>
          <a:prstGeom prst="rect">
            <a:avLst/>
          </a:prstGeom>
          <a:noFill/>
          <a:ln>
            <a:noFill/>
          </a:ln>
        </p:spPr>
      </p:pic>
      <p:sp>
        <p:nvSpPr>
          <p:cNvPr id="453" name="Google Shape;453;p3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454" name="Google Shape;454;p3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56" name="Google Shape;456;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3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Intracellular spikes reveal a rapid excitable output neuron</a:t>
            </a:r>
            <a:endParaRPr b="0" i="0" sz="1800" u="none" cap="none" strike="noStrike">
              <a:solidFill>
                <a:schemeClr val="dk1"/>
              </a:solidFill>
              <a:latin typeface="Calibri"/>
              <a:ea typeface="Calibri"/>
              <a:cs typeface="Calibri"/>
              <a:sym typeface="Calibri"/>
            </a:endParaRPr>
          </a:p>
        </p:txBody>
      </p:sp>
      <p:sp>
        <p:nvSpPr>
          <p:cNvPr id="462" name="Google Shape;462;p33"/>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Machnik and colleagues obtained intracellular recordings from identified archerfish </a:t>
            </a:r>
            <a:r>
              <a:rPr b="1" i="0" lang="en-US" sz="1450" u="none" cap="none" strike="noStrike">
                <a:solidFill>
                  <a:srgbClr val="274E13"/>
                </a:solidFill>
                <a:latin typeface="Arial"/>
                <a:ea typeface="Arial"/>
                <a:cs typeface="Arial"/>
                <a:sym typeface="Arial"/>
              </a:rPr>
              <a:t>Mauthner cells</a:t>
            </a:r>
            <a:r>
              <a:rPr b="0" i="0" lang="en-US" sz="1450" u="none" cap="none" strike="noStrike">
                <a:solidFill>
                  <a:srgbClr val="000000"/>
                </a:solidFill>
                <a:latin typeface="Arial"/>
                <a:ea typeface="Arial"/>
                <a:cs typeface="Arial"/>
                <a:sym typeface="Arial"/>
              </a:rPr>
              <a:t>. Mean resting voltage was −79.5 mV, antidromic spike onset latency was 0.265 ms, and the somatically recorded spike had a half-maximal duration of 0.54 ms. The membrane recording gives the cell's own voltage, which is the quantity that controls its spiking.</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The apparently small somatic spike, about 36.7 mV, must be read together with the extracellular field around the cell. Subtracting the nearby external potential reconstructs the actual membrane-voltage change, so the corrected signal reflects the cell's own voltage. The corrected trace is the signal used to compare the cell's response across sensory and inhibitory conditions.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450" u="none" cap="none" strike="noStrike">
                <a:solidFill>
                  <a:srgbClr val="000000"/>
                </a:solidFill>
                <a:latin typeface="Arial"/>
                <a:ea typeface="Arial"/>
                <a:cs typeface="Arial"/>
                <a:sym typeface="Arial"/>
              </a:rPr>
              <a:t>These recordings remained stable for approximately 2–3 hours, permitting repeated sensory and inhibitory tests within one cell. A spike onset latency of 0.265 ms and a half-maximal duration of 0.54 ms mark a </a:t>
            </a:r>
            <a:r>
              <a:rPr b="1" i="0" lang="en-US" sz="1450" u="none" cap="none" strike="noStrike">
                <a:solidFill>
                  <a:srgbClr val="274E13"/>
                </a:solidFill>
                <a:latin typeface="Arial"/>
                <a:ea typeface="Arial"/>
                <a:cs typeface="Arial"/>
                <a:sym typeface="Arial"/>
              </a:rPr>
              <a:t>rapidly conducting output neuron</a:t>
            </a:r>
            <a:r>
              <a:rPr b="0" i="0" lang="en-US" sz="1450" u="none" cap="none" strike="noStrike">
                <a:solidFill>
                  <a:srgbClr val="000000"/>
                </a:solidFill>
                <a:latin typeface="Arial"/>
                <a:ea typeface="Arial"/>
                <a:cs typeface="Arial"/>
                <a:sym typeface="Arial"/>
              </a:rPr>
              <a:t> that signals fast. The fast latency therefore shapes the timing of the escape response that the neuron drives.</a:t>
            </a:r>
            <a:endParaRPr b="0" i="0" sz="1800" u="none" cap="none" strike="noStrike">
              <a:solidFill>
                <a:schemeClr val="dk1"/>
              </a:solidFill>
              <a:latin typeface="Calibri"/>
              <a:ea typeface="Calibri"/>
              <a:cs typeface="Calibri"/>
              <a:sym typeface="Calibri"/>
            </a:endParaRPr>
          </a:p>
        </p:txBody>
      </p:sp>
      <p:pic>
        <p:nvPicPr>
          <p:cNvPr id="465" name="Google Shape;465;p33"/>
          <p:cNvPicPr preferRelativeResize="0"/>
          <p:nvPr/>
        </p:nvPicPr>
        <p:blipFill rotWithShape="1">
          <a:blip r:embed="rId3">
            <a:alphaModFix/>
          </a:blip>
          <a:srcRect b="0" l="0" r="0" t="0"/>
          <a:stretch/>
        </p:blipFill>
        <p:spPr>
          <a:xfrm>
            <a:off x="7619462" y="1280071"/>
            <a:ext cx="2752908" cy="2468761"/>
          </a:xfrm>
          <a:prstGeom prst="rect">
            <a:avLst/>
          </a:prstGeom>
          <a:noFill/>
          <a:ln>
            <a:noFill/>
          </a:ln>
        </p:spPr>
      </p:pic>
      <p:sp>
        <p:nvSpPr>
          <p:cNvPr id="466" name="Google Shape;466;p33"/>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1(B–C). Antidromic spike and correction for the extracellular field.</a:t>
            </a:r>
            <a:endParaRPr b="0" i="0" sz="1800" u="none" cap="none" strike="noStrike">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4">
            <a:alphaModFix/>
          </a:blip>
          <a:srcRect b="0" l="0" r="0" t="0"/>
          <a:stretch/>
        </p:blipFill>
        <p:spPr>
          <a:xfrm>
            <a:off x="8772253" y="4297561"/>
            <a:ext cx="447623" cy="1462980"/>
          </a:xfrm>
          <a:prstGeom prst="rect">
            <a:avLst/>
          </a:prstGeom>
          <a:noFill/>
          <a:ln>
            <a:noFill/>
          </a:ln>
        </p:spPr>
      </p:pic>
      <p:sp>
        <p:nvSpPr>
          <p:cNvPr id="468" name="Google Shape;468;p33"/>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2(A–E). Intracellular recording stability and action-potential measurements.</a:t>
            </a:r>
            <a:endParaRPr b="0" i="0" sz="1800" u="none" cap="none" strike="noStrike">
              <a:solidFill>
                <a:schemeClr val="dk1"/>
              </a:solidFill>
              <a:latin typeface="Calibri"/>
              <a:ea typeface="Calibri"/>
              <a:cs typeface="Calibri"/>
              <a:sym typeface="Calibri"/>
            </a:endParaRPr>
          </a:p>
        </p:txBody>
      </p:sp>
      <p:sp>
        <p:nvSpPr>
          <p:cNvPr id="469" name="Google Shape;469;p3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471" name="Google Shape;471;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sp>
        <p:nvSpPr>
          <p:cNvPr id="476" name="Google Shape;476;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Acoustic stimuli evoke early Mauthner depolarization</a:t>
            </a:r>
            <a:endParaRPr b="0" i="0" sz="1800" u="none" cap="none" strike="noStrike">
              <a:solidFill>
                <a:schemeClr val="dk1"/>
              </a:solidFill>
              <a:latin typeface="Calibri"/>
              <a:ea typeface="Calibri"/>
              <a:cs typeface="Calibri"/>
              <a:sym typeface="Calibri"/>
            </a:endParaRPr>
          </a:p>
        </p:txBody>
      </p:sp>
      <p:sp>
        <p:nvSpPr>
          <p:cNvPr id="477" name="Google Shape;477;p3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Machnik and colleagues delivered brief acoustic bursts while recording the Mauthner cell. A </a:t>
            </a:r>
            <a:r>
              <a:rPr b="1" i="0" lang="en-US" sz="1600" u="none" cap="none" strike="noStrike">
                <a:solidFill>
                  <a:srgbClr val="252D35"/>
                </a:solidFill>
                <a:latin typeface="Arial"/>
                <a:ea typeface="Arial"/>
                <a:cs typeface="Arial"/>
                <a:sym typeface="Arial"/>
              </a:rPr>
              <a:t>postsynaptic potential</a:t>
            </a:r>
            <a:r>
              <a:rPr b="0" i="0" lang="en-US" sz="1600" u="none" cap="none" strike="noStrike">
                <a:solidFill>
                  <a:srgbClr val="000000"/>
                </a:solidFill>
                <a:latin typeface="Arial"/>
                <a:ea typeface="Arial"/>
                <a:cs typeface="Arial"/>
                <a:sym typeface="Arial"/>
              </a:rPr>
              <a:t>, or PSP, is a membrane-voltage change associated with synaptic input. Under their stimulus conditions, detectable acoustic PSPs began after 7.4–15.1 ms in archerfish.</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mean acoustic PSP amplitude was 4.3 mV, and some preparations produced no detectable acoustic PSP despite strong visually evoked responses. The same standardized stimulus and recording conditions were used in the comparison with goldfish, permitting a controlled species contrast.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Latency and amplitude measure different properties of an input, so an earlier onset is separate from the size of the influence on firing. Acoustic PSPs mean that the Mauthner cell receives mechanosensory input as well as visual input.</a:t>
            </a:r>
            <a:endParaRPr b="0" i="0" sz="1800" u="none" cap="none" strike="noStrike">
              <a:solidFill>
                <a:schemeClr val="dk1"/>
              </a:solidFill>
              <a:latin typeface="Calibri"/>
              <a:ea typeface="Calibri"/>
              <a:cs typeface="Calibri"/>
              <a:sym typeface="Calibri"/>
            </a:endParaRPr>
          </a:p>
        </p:txBody>
      </p:sp>
      <p:pic>
        <p:nvPicPr>
          <p:cNvPr id="480" name="Google Shape;480;p34"/>
          <p:cNvPicPr preferRelativeResize="0"/>
          <p:nvPr/>
        </p:nvPicPr>
        <p:blipFill rotWithShape="1">
          <a:blip r:embed="rId3">
            <a:alphaModFix/>
          </a:blip>
          <a:srcRect b="0" l="0" r="0" t="0"/>
          <a:stretch/>
        </p:blipFill>
        <p:spPr>
          <a:xfrm>
            <a:off x="6367100" y="1280071"/>
            <a:ext cx="5257633" cy="2316063"/>
          </a:xfrm>
          <a:prstGeom prst="rect">
            <a:avLst/>
          </a:prstGeom>
          <a:noFill/>
          <a:ln>
            <a:noFill/>
          </a:ln>
        </p:spPr>
      </p:pic>
      <p:sp>
        <p:nvSpPr>
          <p:cNvPr id="481" name="Google Shape;481;p34"/>
          <p:cNvSpPr/>
          <p:nvPr/>
        </p:nvSpPr>
        <p:spPr>
          <a:xfrm>
            <a:off x="6367016" y="368766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4(A–B). Sound- and light-evoked postsynaptic potentials in the same preparations.</a:t>
            </a:r>
            <a:endParaRPr b="0" i="0" sz="1800" u="none" cap="none" strike="noStrike">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483" name="Google Shape;483;p34"/>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484" name="Google Shape;484;p3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486" name="Google Shape;486;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Light flashes evoke stronger but later visual inputs</a:t>
            </a:r>
            <a:endParaRPr b="0" i="0" sz="1800" u="none" cap="none" strike="noStrike">
              <a:solidFill>
                <a:schemeClr val="dk1"/>
              </a:solidFill>
              <a:latin typeface="Calibri"/>
              <a:ea typeface="Calibri"/>
              <a:cs typeface="Calibri"/>
              <a:sym typeface="Calibri"/>
            </a:endParaRPr>
          </a:p>
        </p:txBody>
      </p:sp>
      <p:sp>
        <p:nvSpPr>
          <p:cNvPr id="492" name="Google Shape;492;p35"/>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Machnik and colleagues presented 7-ms light flashes while recording the same identified Mauthner cells. Visual PSP amplitudes ranged from 5.3 to 28.2 mV, with a mean of 17.1 mV. Onset latencies ranged from 27.5 to 54.2 ms, averaging 39.4 ms.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Under the tested conditions, visual responses were substantially larger than acoustic responses in archerfish. Goldfish instead had mean visual and acoustic amplitudes of 7.0 and 8.2 mV. The shared stimuli make this a comparison of relative efficacy rather than an uncontrolled comparison of separate experiments.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late portions of the visual PSPs varied more than their initial rise, consistent with additional network input. Larger but delayed visual input fits a pathway with more processing stages before the Mauthner cell.</a:t>
            </a:r>
            <a:endParaRPr b="0" i="0" sz="1800" u="none" cap="none" strike="noStrike">
              <a:solidFill>
                <a:schemeClr val="dk1"/>
              </a:solidFill>
              <a:latin typeface="Calibri"/>
              <a:ea typeface="Calibri"/>
              <a:cs typeface="Calibri"/>
              <a:sym typeface="Calibri"/>
            </a:endParaRPr>
          </a:p>
        </p:txBody>
      </p:sp>
      <p:pic>
        <p:nvPicPr>
          <p:cNvPr id="495" name="Google Shape;495;p35"/>
          <p:cNvPicPr preferRelativeResize="0"/>
          <p:nvPr/>
        </p:nvPicPr>
        <p:blipFill rotWithShape="1">
          <a:blip r:embed="rId3">
            <a:alphaModFix/>
          </a:blip>
          <a:srcRect b="0" l="0" r="0" t="0"/>
          <a:stretch/>
        </p:blipFill>
        <p:spPr>
          <a:xfrm>
            <a:off x="6595039" y="1280071"/>
            <a:ext cx="4801754" cy="2468761"/>
          </a:xfrm>
          <a:prstGeom prst="rect">
            <a:avLst/>
          </a:prstGeom>
          <a:noFill/>
          <a:ln>
            <a:noFill/>
          </a:ln>
        </p:spPr>
      </p:pic>
      <p:sp>
        <p:nvSpPr>
          <p:cNvPr id="496" name="Google Shape;496;p35"/>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5(A–C). Visual and acoustic PSP amplitude and latency comparisons.</a:t>
            </a:r>
            <a:endParaRPr b="0" i="0" sz="1800" u="none" cap="none" strike="noStrike">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498" name="Google Shape;498;p35"/>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499" name="Google Shape;499;p3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0" name="Google Shape;500;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01" name="Google Shape;501;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Dendritic decay separates visual from acoustic entry sites</a:t>
            </a:r>
            <a:endParaRPr b="0" i="0" sz="1800" u="none" cap="none" strike="noStrike">
              <a:solidFill>
                <a:schemeClr val="dk1"/>
              </a:solidFill>
              <a:latin typeface="Calibri"/>
              <a:ea typeface="Calibri"/>
              <a:cs typeface="Calibri"/>
              <a:sym typeface="Calibri"/>
            </a:endParaRPr>
          </a:p>
        </p:txBody>
      </p:sp>
      <p:sp>
        <p:nvSpPr>
          <p:cNvPr id="507" name="Google Shape;507;p3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recorded at different positions along the Mauthner lateral dendrite and corrected the signals for the nearby extracellular field. Reconstructed spike amplitude decayed passively with length constants of 141–164 µm in the tested cells.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Acoustic PSPs were larger at a distal lateral-dendrite position than close to the soma, consistent with input arriving laterally. Visual PSPs showed the opposite gradient: their amplitude decreased toward the distal lateral dendrite, consistent with input entering nearer the soma or through another dendritic region.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Passive decay with distance means that a signal arriving far from the soma shrinks before it reaches the spike-initiation region, so the amplitude gradient indicates where an input entered.</a:t>
            </a:r>
            <a:endParaRPr b="0" i="0" sz="1800" u="none" cap="none" strike="noStrike">
              <a:solidFill>
                <a:schemeClr val="dk1"/>
              </a:solidFill>
              <a:latin typeface="Calibri"/>
              <a:ea typeface="Calibri"/>
              <a:cs typeface="Calibri"/>
              <a:sym typeface="Calibri"/>
            </a:endParaRPr>
          </a:p>
        </p:txBody>
      </p:sp>
      <p:pic>
        <p:nvPicPr>
          <p:cNvPr id="510" name="Google Shape;510;p36"/>
          <p:cNvPicPr preferRelativeResize="0"/>
          <p:nvPr/>
        </p:nvPicPr>
        <p:blipFill rotWithShape="1">
          <a:blip r:embed="rId3">
            <a:alphaModFix/>
          </a:blip>
          <a:srcRect b="0" l="0" r="0" t="0"/>
          <a:stretch/>
        </p:blipFill>
        <p:spPr>
          <a:xfrm>
            <a:off x="8531572" y="1280107"/>
            <a:ext cx="928836" cy="2468687"/>
          </a:xfrm>
          <a:prstGeom prst="rect">
            <a:avLst/>
          </a:prstGeom>
          <a:noFill/>
          <a:ln>
            <a:noFill/>
          </a:ln>
        </p:spPr>
      </p:pic>
      <p:sp>
        <p:nvSpPr>
          <p:cNvPr id="511" name="Google Shape;511;p36"/>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6(A–D). Passive dendritic decay and locations of sensory input.</a:t>
            </a:r>
            <a:endParaRPr b="0" i="0" sz="1800" u="none" cap="none" strike="noStrike">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513" name="Google Shape;513;p36"/>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514" name="Google Shape;514;p3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16" name="Google Shape;516;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Recurrent inhibition limits repeated Mauthner firing</a:t>
            </a:r>
            <a:endParaRPr b="0" i="0" sz="1800" u="none" cap="none" strike="noStrike">
              <a:solidFill>
                <a:schemeClr val="dk1"/>
              </a:solidFill>
              <a:latin typeface="Calibri"/>
              <a:ea typeface="Calibri"/>
              <a:cs typeface="Calibri"/>
              <a:sym typeface="Calibri"/>
            </a:endParaRPr>
          </a:p>
        </p:txBody>
      </p:sp>
      <p:sp>
        <p:nvSpPr>
          <p:cNvPr id="522" name="Google Shape;522;p37"/>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475C"/>
              </a:buClr>
              <a:buSzPts val="1500"/>
              <a:buFont typeface="Arial"/>
              <a:buNone/>
            </a:pPr>
            <a:r>
              <a:rPr b="1" i="0" lang="en-US" sz="1500" u="none" cap="none" strike="noStrike">
                <a:solidFill>
                  <a:srgbClr val="252D35"/>
                </a:solidFill>
                <a:latin typeface="Arial"/>
                <a:ea typeface="Arial"/>
                <a:cs typeface="Arial"/>
                <a:sym typeface="Arial"/>
              </a:rPr>
              <a:t>Recurrent inhibition</a:t>
            </a:r>
            <a:r>
              <a:rPr b="0" i="0" lang="en-US" sz="1500" u="none" cap="none" strike="noStrike">
                <a:solidFill>
                  <a:srgbClr val="000000"/>
                </a:solidFill>
                <a:latin typeface="Arial"/>
                <a:ea typeface="Arial"/>
                <a:cs typeface="Arial"/>
                <a:sym typeface="Arial"/>
              </a:rPr>
              <a:t> is inhibitory feedback activated after a neuron or its associated network fires. Machnik and colleagues elicited pairs of antidromic Mauthner spikes and varied their separation. The second spike was reduced most strongly at short intervals, and recovery contained fast and slow components.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Archerfish recovery time constants were 0.9 and 16.5 ms, compared with 0.8 and 12.8 ms in goldfish. The paper associates the fast component provisionally with sodium-channel inactivation. Repeated stimulation and chloride-loaded recordings supplied additional tests of later inhibitory responses.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Voltage-gated sodium-channel inactivation temporarily reduces the ability to generate another spike; chloride loading can change the polarity of a chloride-dependent synaptic potential. The comparable physiology supports functionally similar inhibitory networks. Recovery with a fast and a slow component limits how quickly the cell can fire a second spike.</a:t>
            </a:r>
            <a:endParaRPr b="0" i="0" sz="1800" u="none" cap="none" strike="noStrike">
              <a:solidFill>
                <a:schemeClr val="dk1"/>
              </a:solidFill>
              <a:latin typeface="Calibri"/>
              <a:ea typeface="Calibri"/>
              <a:cs typeface="Calibri"/>
              <a:sym typeface="Calibri"/>
            </a:endParaRPr>
          </a:p>
        </p:txBody>
      </p:sp>
      <p:pic>
        <p:nvPicPr>
          <p:cNvPr id="525" name="Google Shape;525;p37"/>
          <p:cNvPicPr preferRelativeResize="0"/>
          <p:nvPr/>
        </p:nvPicPr>
        <p:blipFill rotWithShape="1">
          <a:blip r:embed="rId3">
            <a:alphaModFix/>
          </a:blip>
          <a:srcRect b="0" l="0" r="0" t="0"/>
          <a:stretch/>
        </p:blipFill>
        <p:spPr>
          <a:xfrm>
            <a:off x="8486775" y="1280071"/>
            <a:ext cx="1018580" cy="2468761"/>
          </a:xfrm>
          <a:prstGeom prst="rect">
            <a:avLst/>
          </a:prstGeom>
          <a:noFill/>
          <a:ln>
            <a:noFill/>
          </a:ln>
        </p:spPr>
      </p:pic>
      <p:sp>
        <p:nvSpPr>
          <p:cNvPr id="526" name="Google Shape;526;p37"/>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7(A–D). Paired-spike tests and chloride-loaded recordings of recurrent inhibition.</a:t>
            </a:r>
            <a:endParaRPr b="0" i="0" sz="1800" u="none" cap="none" strike="noStrike">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4">
            <a:alphaModFix/>
          </a:blip>
          <a:srcRect b="0" l="0" r="0" t="0"/>
          <a:stretch/>
        </p:blipFill>
        <p:spPr>
          <a:xfrm>
            <a:off x="8325354" y="4297561"/>
            <a:ext cx="1341274" cy="1462980"/>
          </a:xfrm>
          <a:prstGeom prst="rect">
            <a:avLst/>
          </a:prstGeom>
          <a:noFill/>
          <a:ln>
            <a:noFill/>
          </a:ln>
        </p:spPr>
      </p:pic>
      <p:sp>
        <p:nvSpPr>
          <p:cNvPr id="528" name="Google Shape;528;p37"/>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529" name="Google Shape;529;p3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31" name="Google Shape;53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sp>
        <p:nvSpPr>
          <p:cNvPr id="536" name="Google Shape;53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Sensory input recruits inhibition as well as excitation</a:t>
            </a:r>
            <a:endParaRPr b="0" i="0" sz="1800" u="none" cap="none" strike="noStrike">
              <a:solidFill>
                <a:schemeClr val="dk1"/>
              </a:solidFill>
              <a:latin typeface="Calibri"/>
              <a:ea typeface="Calibri"/>
              <a:cs typeface="Calibri"/>
              <a:sym typeface="Calibri"/>
            </a:endParaRPr>
          </a:p>
        </p:txBody>
      </p:sp>
      <p:sp>
        <p:nvSpPr>
          <p:cNvPr id="537" name="Google Shape;537;p38"/>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475C"/>
              </a:buClr>
              <a:buSzPts val="1500"/>
              <a:buFont typeface="Arial"/>
              <a:buNone/>
            </a:pPr>
            <a:r>
              <a:rPr b="1" i="0" lang="en-US" sz="1500" u="none" cap="none" strike="noStrike">
                <a:solidFill>
                  <a:srgbClr val="252D35"/>
                </a:solidFill>
                <a:latin typeface="Arial"/>
                <a:ea typeface="Arial"/>
                <a:cs typeface="Arial"/>
                <a:sym typeface="Arial"/>
              </a:rPr>
              <a:t>Feed-forward inhibition</a:t>
            </a:r>
            <a:r>
              <a:rPr b="0" i="0" lang="en-US" sz="1500" u="none" cap="none" strike="noStrike">
                <a:solidFill>
                  <a:srgbClr val="000000"/>
                </a:solidFill>
                <a:latin typeface="Arial"/>
                <a:ea typeface="Arial"/>
                <a:cs typeface="Arial"/>
                <a:sym typeface="Arial"/>
              </a:rPr>
              <a:t> occurs when sensory input excites inhibitory pathways alongside the pathway to a target neuron. Machnik and colleagues elicited an antidromic spike at different times during a visual or acoustic PSP, using its reduction as a probe of sensory-driven inhibition.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 archerfish and goldfish, the inhibitory time course was matched to the duration of the evoked PSP. Comparable effects occurred for visual and acoustic stimulation. Sensory access to the Mauthner cell therefore includes opposing influences rather than a purely excitatory command.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reduction of an antidromic spike during a PSP measures a functional inhibitory effect. Matching time courses in the two species make a shared inhibitory network the parsimonious explanation.</a:t>
            </a:r>
            <a:endParaRPr b="0" i="0" sz="1800" u="none" cap="none" strike="noStrike">
              <a:solidFill>
                <a:schemeClr val="dk1"/>
              </a:solidFill>
              <a:latin typeface="Calibri"/>
              <a:ea typeface="Calibri"/>
              <a:cs typeface="Calibri"/>
              <a:sym typeface="Calibri"/>
            </a:endParaRPr>
          </a:p>
        </p:txBody>
      </p:sp>
      <p:pic>
        <p:nvPicPr>
          <p:cNvPr id="540" name="Google Shape;540;p38"/>
          <p:cNvPicPr preferRelativeResize="0"/>
          <p:nvPr/>
        </p:nvPicPr>
        <p:blipFill rotWithShape="1">
          <a:blip r:embed="rId3">
            <a:alphaModFix/>
          </a:blip>
          <a:srcRect b="0" l="0" r="0" t="0"/>
          <a:stretch/>
        </p:blipFill>
        <p:spPr>
          <a:xfrm>
            <a:off x="8598694" y="1280118"/>
            <a:ext cx="794445" cy="2468667"/>
          </a:xfrm>
          <a:prstGeom prst="rect">
            <a:avLst/>
          </a:prstGeom>
          <a:noFill/>
          <a:ln>
            <a:noFill/>
          </a:ln>
        </p:spPr>
      </p:pic>
      <p:sp>
        <p:nvSpPr>
          <p:cNvPr id="541" name="Google Shape;541;p38"/>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8(A–C). Sensory-driven inhibition measured during visual and acoustic PSPs.</a:t>
            </a:r>
            <a:endParaRPr b="0" i="0" sz="1800" u="none" cap="none" strike="noStrike">
              <a:solidFill>
                <a:schemeClr val="dk1"/>
              </a:solidFill>
              <a:latin typeface="Calibri"/>
              <a:ea typeface="Calibri"/>
              <a:cs typeface="Calibri"/>
              <a:sym typeface="Calibri"/>
            </a:endParaRPr>
          </a:p>
        </p:txBody>
      </p:sp>
      <p:pic>
        <p:nvPicPr>
          <p:cNvPr id="542" name="Google Shape;542;p38"/>
          <p:cNvPicPr preferRelativeResize="0"/>
          <p:nvPr/>
        </p:nvPicPr>
        <p:blipFill rotWithShape="1">
          <a:blip r:embed="rId4">
            <a:alphaModFix/>
          </a:blip>
          <a:srcRect b="0" l="0" r="0" t="0"/>
          <a:stretch/>
        </p:blipFill>
        <p:spPr>
          <a:xfrm>
            <a:off x="8216354" y="4297571"/>
            <a:ext cx="1559123" cy="1462961"/>
          </a:xfrm>
          <a:prstGeom prst="rect">
            <a:avLst/>
          </a:prstGeom>
          <a:noFill/>
          <a:ln>
            <a:noFill/>
          </a:ln>
        </p:spPr>
      </p:pic>
      <p:sp>
        <p:nvSpPr>
          <p:cNvPr id="543" name="Google Shape;543;p38"/>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544" name="Google Shape;544;p3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5" name="Google Shape;54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a:t>
            </a:r>
            <a:endParaRPr b="0" i="0" sz="1800" u="none" cap="none" strike="noStrike">
              <a:solidFill>
                <a:schemeClr val="dk1"/>
              </a:solidFill>
              <a:latin typeface="Calibri"/>
              <a:ea typeface="Calibri"/>
              <a:cs typeface="Calibri"/>
              <a:sym typeface="Calibri"/>
            </a:endParaRPr>
          </a:p>
        </p:txBody>
      </p:sp>
      <p:sp>
        <p:nvSpPr>
          <p:cNvPr id="546" name="Google Shape;546;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Airflow perturbation tests adaptation of shooting aim</a:t>
            </a:r>
            <a:endParaRPr b="0" i="0" sz="1800" u="none" cap="none" strike="noStrike">
              <a:solidFill>
                <a:schemeClr val="dk1"/>
              </a:solidFill>
              <a:latin typeface="Calibri"/>
              <a:ea typeface="Calibri"/>
              <a:cs typeface="Calibri"/>
              <a:sym typeface="Calibri"/>
            </a:endParaRPr>
          </a:p>
        </p:txBody>
      </p:sp>
      <p:sp>
        <p:nvSpPr>
          <p:cNvPr id="552" name="Google Shape;552;p39"/>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Volotsky and colleagues trained Toxotes chatareus to shoot at an aerial target and introduced horizontal airflow above the water. The air deflected the jet while the fish remained in the water, creating an aiming error without moving the visible target itself. The fish was trained to hit a target that the airflow displaced only through its effect on the jet.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The experiment compared baseline shots, a perturbation period and shots after the airflow was removed. Errors initially increased when the airflow began and then declined over successive shots. Trials in both airflow directions showed that the adjustment applies to either direction of physical deflection. The trials in the two airflow directions were analyzed separately, so each direction has its own error sequence.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1" i="0" lang="en-US" sz="1450" u="none" cap="none" strike="noStrike">
                <a:solidFill>
                  <a:srgbClr val="274E13"/>
                </a:solidFill>
                <a:latin typeface="Arial"/>
                <a:ea typeface="Arial"/>
                <a:cs typeface="Arial"/>
                <a:sym typeface="Arial"/>
              </a:rPr>
              <a:t>Motor adaptation</a:t>
            </a:r>
            <a:r>
              <a:rPr b="0" i="0" lang="en-US" sz="1450" u="none" cap="none" strike="noStrike">
                <a:solidFill>
                  <a:srgbClr val="000000"/>
                </a:solidFill>
                <a:latin typeface="Arial"/>
                <a:ea typeface="Arial"/>
                <a:cs typeface="Arial"/>
                <a:sym typeface="Arial"/>
              </a:rPr>
              <a:t> is the adjustment of a movement in response to systematic errors caused by changed conditions. The measured correction shows flexible calibration of the shooting action, and the declining errors over successive shots show that the fish recalibrates each shot using the outcome of earlier shots. The adjustment therefore carries information from one shot to the next.</a:t>
            </a:r>
            <a:endParaRPr b="0" i="0" sz="1800" u="none" cap="none" strike="noStrike">
              <a:solidFill>
                <a:schemeClr val="dk1"/>
              </a:solidFill>
              <a:latin typeface="Calibri"/>
              <a:ea typeface="Calibri"/>
              <a:cs typeface="Calibri"/>
              <a:sym typeface="Calibri"/>
            </a:endParaRPr>
          </a:p>
        </p:txBody>
      </p:sp>
      <p:pic>
        <p:nvPicPr>
          <p:cNvPr id="555" name="Google Shape;555;p39"/>
          <p:cNvPicPr preferRelativeResize="0"/>
          <p:nvPr/>
        </p:nvPicPr>
        <p:blipFill rotWithShape="1">
          <a:blip r:embed="rId3">
            <a:alphaModFix/>
          </a:blip>
          <a:srcRect b="0" l="0" r="0" t="0"/>
          <a:stretch/>
        </p:blipFill>
        <p:spPr>
          <a:xfrm>
            <a:off x="6367039" y="1280071"/>
            <a:ext cx="5257753" cy="3308598"/>
          </a:xfrm>
          <a:prstGeom prst="rect">
            <a:avLst/>
          </a:prstGeom>
          <a:noFill/>
          <a:ln>
            <a:noFill/>
          </a:ln>
        </p:spPr>
      </p:pic>
      <p:sp>
        <p:nvSpPr>
          <p:cNvPr id="556" name="Google Shape;556;p39"/>
          <p:cNvSpPr/>
          <p:nvPr/>
        </p:nvSpPr>
        <p:spPr>
          <a:xfrm>
            <a:off x="6367016" y="4680198"/>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2(A–B). Original airflow apparatus and photographed water jet.</a:t>
            </a:r>
            <a:endParaRPr b="0" i="0" sz="1800" u="none" cap="none" strike="noStrike">
              <a:solidFill>
                <a:schemeClr val="dk1"/>
              </a:solidFill>
              <a:latin typeface="Calibri"/>
              <a:ea typeface="Calibri"/>
              <a:cs typeface="Calibri"/>
              <a:sym typeface="Calibri"/>
            </a:endParaRPr>
          </a:p>
        </p:txBody>
      </p:sp>
      <p:sp>
        <p:nvSpPr>
          <p:cNvPr id="557" name="Google Shape;557;p39"/>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8" name="Google Shape;55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59" name="Google Shape;559;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Opposite washout errors reveal retained compensation</a:t>
            </a:r>
            <a:endParaRPr b="0" i="0" sz="1800" u="none" cap="none" strike="noStrike">
              <a:solidFill>
                <a:schemeClr val="dk1"/>
              </a:solidFill>
              <a:latin typeface="Calibri"/>
              <a:ea typeface="Calibri"/>
              <a:cs typeface="Calibri"/>
              <a:sym typeface="Calibri"/>
            </a:endParaRPr>
          </a:p>
        </p:txBody>
      </p:sp>
      <p:sp>
        <p:nvSpPr>
          <p:cNvPr id="565" name="Google Shape;565;p4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After the airflow perturbation ended, Volotsky and colleagues observed errors in the opposite direction. These </a:t>
            </a:r>
            <a:r>
              <a:rPr b="1" i="0" lang="en-US" sz="1600" u="none" cap="none" strike="noStrike">
                <a:solidFill>
                  <a:srgbClr val="252D35"/>
                </a:solidFill>
                <a:latin typeface="Arial"/>
                <a:ea typeface="Arial"/>
                <a:cs typeface="Arial"/>
                <a:sym typeface="Arial"/>
              </a:rPr>
              <a:t>aftereffects</a:t>
            </a:r>
            <a:r>
              <a:rPr b="0" i="0" lang="en-US" sz="1600" u="none" cap="none" strike="noStrike">
                <a:solidFill>
                  <a:srgbClr val="000000"/>
                </a:solidFill>
                <a:latin typeface="Arial"/>
                <a:ea typeface="Arial"/>
                <a:cs typeface="Arial"/>
                <a:sym typeface="Arial"/>
              </a:rPr>
              <a:t> declined over several subsequent shots. A compensation learned during the perturbation therefore initially persisted when the physical deflection was removed.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baseline–perturbation–washout sequence distinguishes adaptive recalibration from simply following the current disturbance. If each shot only corrected the visible outcome after it occurred, removal of the disturbance would not produce the same systematic initial bias in the opposite direction.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result supports altered motor commands anticipating a recurring perturbation. Aftereffects that decline over several shots show the compensation being unlearned as the original conditions return.</a:t>
            </a:r>
            <a:endParaRPr b="0" i="0" sz="1800" u="none" cap="none" strike="noStrike">
              <a:solidFill>
                <a:schemeClr val="dk1"/>
              </a:solidFill>
              <a:latin typeface="Calibri"/>
              <a:ea typeface="Calibri"/>
              <a:cs typeface="Calibri"/>
              <a:sym typeface="Calibri"/>
            </a:endParaRPr>
          </a:p>
        </p:txBody>
      </p:sp>
      <p:pic>
        <p:nvPicPr>
          <p:cNvPr id="568" name="Google Shape;568;p40"/>
          <p:cNvPicPr preferRelativeResize="0"/>
          <p:nvPr/>
        </p:nvPicPr>
        <p:blipFill rotWithShape="1">
          <a:blip r:embed="rId3">
            <a:alphaModFix/>
          </a:blip>
          <a:srcRect b="0" l="0" r="0" t="0"/>
          <a:stretch/>
        </p:blipFill>
        <p:spPr>
          <a:xfrm>
            <a:off x="6534944" y="1280071"/>
            <a:ext cx="4922093" cy="4297561"/>
          </a:xfrm>
          <a:prstGeom prst="rect">
            <a:avLst/>
          </a:prstGeom>
          <a:noFill/>
          <a:ln>
            <a:noFill/>
          </a:ln>
        </p:spPr>
      </p:pic>
      <p:sp>
        <p:nvSpPr>
          <p:cNvPr id="569" name="Google Shape;569;p40"/>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3(C–F). Trial-by-trial error reduction and aftereffects in both airflow directions.</a:t>
            </a:r>
            <a:endParaRPr b="0" i="0" sz="1800" u="none" cap="none" strike="noStrike">
              <a:solidFill>
                <a:schemeClr val="dk1"/>
              </a:solidFill>
              <a:latin typeface="Calibri"/>
              <a:ea typeface="Calibri"/>
              <a:cs typeface="Calibri"/>
              <a:sym typeface="Calibri"/>
            </a:endParaRPr>
          </a:p>
        </p:txBody>
      </p:sp>
      <p:sp>
        <p:nvSpPr>
          <p:cNvPr id="570" name="Google Shape;570;p4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72" name="Google Shape;572;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1"/>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Reversing body direction reveals an egocentric adjustment</a:t>
            </a:r>
            <a:endParaRPr b="0" i="0" sz="1800" u="none" cap="none" strike="noStrike">
              <a:solidFill>
                <a:schemeClr val="dk1"/>
              </a:solidFill>
              <a:latin typeface="Calibri"/>
              <a:ea typeface="Calibri"/>
              <a:cs typeface="Calibri"/>
              <a:sym typeface="Calibri"/>
            </a:endParaRPr>
          </a:p>
        </p:txBody>
      </p:sp>
      <p:sp>
        <p:nvSpPr>
          <p:cNvPr id="578" name="Google Shape;578;p41"/>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252D35"/>
                </a:solidFill>
                <a:latin typeface="Arial"/>
                <a:ea typeface="Arial"/>
                <a:cs typeface="Arial"/>
                <a:sym typeface="Arial"/>
              </a:rPr>
              <a:t>egocentric reference frame</a:t>
            </a:r>
            <a:r>
              <a:rPr b="0" i="0" lang="en-US" sz="1500" u="none" cap="none" strike="noStrike">
                <a:solidFill>
                  <a:srgbClr val="000000"/>
                </a:solidFill>
                <a:latin typeface="Arial"/>
                <a:ea typeface="Arial"/>
                <a:cs typeface="Arial"/>
                <a:sym typeface="Arial"/>
              </a:rPr>
              <a:t> expresses a relation relative to the animal’s body; an allocentric frame expresses it relative to the external environment. Volotsky and colleagues rotated the shooting access so a trained fish changed its body orientation while airflow direction remained fixed in the tank.</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After the reversal, errors became large and adaptation required additional shots. The retained compensation followed the previous body-relative relation rather than immediately accounting for the unchanged external airflow direction. Visual landmarks within the tank remained available.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An egocentric adjustment ties the correction to the direction the fish is facing. The compensation therefore follows the body-relative relation and not the fixed airflow direction in the tank.</a:t>
            </a:r>
            <a:endParaRPr b="0" i="0" sz="1800" u="none" cap="none" strike="noStrike">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3">
            <a:alphaModFix/>
          </a:blip>
          <a:srcRect b="0" l="0" r="0" t="0"/>
          <a:stretch/>
        </p:blipFill>
        <p:spPr>
          <a:xfrm>
            <a:off x="7610977" y="1280071"/>
            <a:ext cx="2769878" cy="4297561"/>
          </a:xfrm>
          <a:prstGeom prst="rect">
            <a:avLst/>
          </a:prstGeom>
          <a:noFill/>
          <a:ln>
            <a:noFill/>
          </a:ln>
        </p:spPr>
      </p:pic>
      <p:sp>
        <p:nvSpPr>
          <p:cNvPr id="582" name="Google Shape;582;p41"/>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5(A–E). Body-direction reversal tests of the adaptation reference frame.</a:t>
            </a:r>
            <a:endParaRPr b="0" i="0" sz="1800" u="none" cap="none" strike="noStrike">
              <a:solidFill>
                <a:schemeClr val="dk1"/>
              </a:solidFill>
              <a:latin typeface="Calibri"/>
              <a:ea typeface="Calibri"/>
              <a:cs typeface="Calibri"/>
              <a:sym typeface="Calibri"/>
            </a:endParaRPr>
          </a:p>
        </p:txBody>
      </p:sp>
      <p:sp>
        <p:nvSpPr>
          <p:cNvPr id="583" name="Google Shape;583;p41"/>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4" name="Google Shape;584;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85" name="Google Shape;585;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Predictive starts can learn a different interception rule</a:t>
            </a:r>
            <a:endParaRPr b="0" i="0" sz="1800" u="none" cap="none" strike="noStrike">
              <a:solidFill>
                <a:schemeClr val="dk1"/>
              </a:solidFill>
              <a:latin typeface="Calibri"/>
              <a:ea typeface="Calibri"/>
              <a:cs typeface="Calibri"/>
              <a:sym typeface="Calibri"/>
            </a:endParaRPr>
          </a:p>
        </p:txBody>
      </p:sp>
      <p:sp>
        <p:nvSpPr>
          <p:cNvPr id="591" name="Google Shape;591;p4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Krause and colleagues presented virtual prey on a screen above the tank and rewarded the corresponding virtual impact points. After initially straight motion, training trajectories changed direction by 39.8°. Food was then delivered at the new deflected destination rather than the old ballistic one.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With training, initial turns shifted toward the new destinations. Critical tests displayed only the early straight trajectory and moved feeders away from both candidate impact points. Fish still aimed at the learned deflected point, excluding simple pursuit of the later deflection or a visible feeder.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response remained a rapid predictive start rather than being replaced by a slow approach. This establishes plasticity in the relation between early motion and chosen destination. The learned deflection of 39.8° became part of the mapping from early motion to destination.</a:t>
            </a:r>
            <a:endParaRPr b="0" i="0" sz="1800" u="none" cap="none" strike="noStrike">
              <a:solidFill>
                <a:schemeClr val="dk1"/>
              </a:solidFill>
              <a:latin typeface="Calibri"/>
              <a:ea typeface="Calibri"/>
              <a:cs typeface="Calibri"/>
              <a:sym typeface="Calibri"/>
            </a:endParaRPr>
          </a:p>
        </p:txBody>
      </p:sp>
      <p:pic>
        <p:nvPicPr>
          <p:cNvPr id="594" name="Google Shape;594;p42"/>
          <p:cNvPicPr preferRelativeResize="0"/>
          <p:nvPr/>
        </p:nvPicPr>
        <p:blipFill rotWithShape="1">
          <a:blip r:embed="rId3">
            <a:alphaModFix/>
          </a:blip>
          <a:srcRect b="0" l="0" r="0" t="0"/>
          <a:stretch/>
        </p:blipFill>
        <p:spPr>
          <a:xfrm>
            <a:off x="6732435" y="1280071"/>
            <a:ext cx="4527111" cy="4297561"/>
          </a:xfrm>
          <a:prstGeom prst="rect">
            <a:avLst/>
          </a:prstGeom>
          <a:noFill/>
          <a:ln>
            <a:noFill/>
          </a:ln>
        </p:spPr>
      </p:pic>
      <p:sp>
        <p:nvSpPr>
          <p:cNvPr id="595" name="Google Shape;595;p4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4(A–K). Original deflection training, transfer tests and latency–accuracy results.</a:t>
            </a:r>
            <a:endParaRPr b="0" i="0" sz="1800" u="none" cap="none" strike="noStrike">
              <a:solidFill>
                <a:schemeClr val="dk1"/>
              </a:solidFill>
              <a:latin typeface="Calibri"/>
              <a:ea typeface="Calibri"/>
              <a:cs typeface="Calibri"/>
              <a:sym typeface="Calibri"/>
            </a:endParaRPr>
          </a:p>
        </p:txBody>
      </p:sp>
      <p:sp>
        <p:nvSpPr>
          <p:cNvPr id="596" name="Google Shape;596;p4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598" name="Google Shape;598;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2" name="Shape 602"/>
        <p:cNvGrpSpPr/>
        <p:nvPr/>
      </p:nvGrpSpPr>
      <p:grpSpPr>
        <a:xfrm>
          <a:off x="0" y="0"/>
          <a:ext cx="0" cy="0"/>
          <a:chOff x="0" y="0"/>
          <a:chExt cx="0" cy="0"/>
        </a:xfrm>
      </p:grpSpPr>
      <p:sp>
        <p:nvSpPr>
          <p:cNvPr id="603" name="Google Shape;603;p4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The learned rule transfers to untrained input combinations</a:t>
            </a:r>
            <a:endParaRPr b="0" i="0" sz="1800" u="none" cap="none" strike="noStrike">
              <a:solidFill>
                <a:schemeClr val="dk1"/>
              </a:solidFill>
              <a:latin typeface="Calibri"/>
              <a:ea typeface="Calibri"/>
              <a:cs typeface="Calibri"/>
              <a:sym typeface="Calibri"/>
            </a:endParaRPr>
          </a:p>
        </p:txBody>
      </p:sp>
      <p:sp>
        <p:nvSpPr>
          <p:cNvPr id="604" name="Google Shape;604;p43"/>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Krause and colleagues tested whether learning only replaced familiar stimulus–response associations. Fish trained at one height were challenged at different heights where the old training-height response and the new rule predicted different destinations.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Initial turns were already appropriate for the untrained heights rather than systematically approaching the training-height substitute. Additional tests changed object size and included an untrained speed of 1.425 m/s. The learned relation generalized beyond the exact combinations repeatedly encountered during training.</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Immediate transfer supports a more general representation than a lookup list restricted to trained cases. The tests used heights for which competing accounts predicted different destinations, so the initial turn identifies which relation the fish applied.</a:t>
            </a:r>
            <a:endParaRPr b="0" i="0" sz="1800" u="none" cap="none" strike="noStrike">
              <a:solidFill>
                <a:schemeClr val="dk1"/>
              </a:solidFill>
              <a:latin typeface="Calibri"/>
              <a:ea typeface="Calibri"/>
              <a:cs typeface="Calibri"/>
              <a:sym typeface="Calibri"/>
            </a:endParaRPr>
          </a:p>
        </p:txBody>
      </p:sp>
      <p:pic>
        <p:nvPicPr>
          <p:cNvPr id="607" name="Google Shape;607;p43"/>
          <p:cNvPicPr preferRelativeResize="0"/>
          <p:nvPr/>
        </p:nvPicPr>
        <p:blipFill rotWithShape="1">
          <a:blip r:embed="rId3">
            <a:alphaModFix/>
          </a:blip>
          <a:srcRect b="0" l="0" r="0" t="0"/>
          <a:stretch/>
        </p:blipFill>
        <p:spPr>
          <a:xfrm>
            <a:off x="7613006" y="1280071"/>
            <a:ext cx="2765671" cy="4297561"/>
          </a:xfrm>
          <a:prstGeom prst="rect">
            <a:avLst/>
          </a:prstGeom>
          <a:noFill/>
          <a:ln>
            <a:noFill/>
          </a:ln>
        </p:spPr>
      </p:pic>
      <p:sp>
        <p:nvSpPr>
          <p:cNvPr id="608" name="Google Shape;608;p43"/>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5(A–G). Transfer to untrained speed, angle, size and height.</a:t>
            </a:r>
            <a:endParaRPr b="0" i="0" sz="1800" u="none" cap="none" strike="noStrike">
              <a:solidFill>
                <a:schemeClr val="dk1"/>
              </a:solidFill>
              <a:latin typeface="Calibri"/>
              <a:ea typeface="Calibri"/>
              <a:cs typeface="Calibri"/>
              <a:sym typeface="Calibri"/>
            </a:endParaRPr>
          </a:p>
        </p:txBody>
      </p:sp>
      <p:sp>
        <p:nvSpPr>
          <p:cNvPr id="609" name="Google Shape;609;p43"/>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611" name="Google Shape;611;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5" name="Shape 615"/>
        <p:cNvGrpSpPr/>
        <p:nvPr/>
      </p:nvGrpSpPr>
      <p:grpSpPr>
        <a:xfrm>
          <a:off x="0" y="0"/>
          <a:ext cx="0" cy="0"/>
          <a:chOff x="0" y="0"/>
          <a:chExt cx="0" cy="0"/>
        </a:xfrm>
      </p:grpSpPr>
      <p:sp>
        <p:nvSpPr>
          <p:cNvPr id="616" name="Google Shape;616;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Object shape selects between two interception rules</a:t>
            </a:r>
            <a:endParaRPr b="0" i="0" sz="1800" u="none" cap="none" strike="noStrike">
              <a:solidFill>
                <a:schemeClr val="dk1"/>
              </a:solidFill>
              <a:latin typeface="Calibri"/>
              <a:ea typeface="Calibri"/>
              <a:cs typeface="Calibri"/>
              <a:sym typeface="Calibri"/>
            </a:endParaRPr>
          </a:p>
        </p:txBody>
      </p:sp>
      <p:sp>
        <p:nvSpPr>
          <p:cNvPr id="617" name="Google Shape;617;p4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Krause and colleagues trained fish with two visually different prey objects. A disk required the learned deflected relation, whereas a triangle required the original ballistic relation. Shape and initial motion were controlled so the same motion variables could require different destinations.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In interspersed tests, only the initial trajectory was visible. Fish directed turns toward the deflected virtual point for disks and the ballistic virtual point for triangles. The decision could therefore use a context cue to choose between two concurrent motion-to-destination relations.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This is stronger evidence than learning one fixed turn toward each shape, because required turns also depended on prey speed, direction, height and fish position. The same early motion thus leads to different destinations depending on the object that the fish sees.</a:t>
            </a:r>
            <a:endParaRPr b="0" i="0" sz="1800" u="none" cap="none" strike="noStrike">
              <a:solidFill>
                <a:schemeClr val="dk1"/>
              </a:solidFill>
              <a:latin typeface="Calibri"/>
              <a:ea typeface="Calibri"/>
              <a:cs typeface="Calibri"/>
              <a:sym typeface="Calibri"/>
            </a:endParaRPr>
          </a:p>
        </p:txBody>
      </p:sp>
      <p:pic>
        <p:nvPicPr>
          <p:cNvPr id="620" name="Google Shape;620;p44"/>
          <p:cNvPicPr preferRelativeResize="0"/>
          <p:nvPr/>
        </p:nvPicPr>
        <p:blipFill rotWithShape="1">
          <a:blip r:embed="rId3">
            <a:alphaModFix/>
          </a:blip>
          <a:srcRect b="0" l="0" r="0" t="0"/>
          <a:stretch/>
        </p:blipFill>
        <p:spPr>
          <a:xfrm>
            <a:off x="7721088" y="1280071"/>
            <a:ext cx="2549954" cy="4297561"/>
          </a:xfrm>
          <a:prstGeom prst="rect">
            <a:avLst/>
          </a:prstGeom>
          <a:noFill/>
          <a:ln>
            <a:noFill/>
          </a:ln>
        </p:spPr>
      </p:pic>
      <p:sp>
        <p:nvSpPr>
          <p:cNvPr id="621" name="Google Shape;621;p44"/>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6(A–J). Shape cues select between learned and ballistic interception rules.</a:t>
            </a:r>
            <a:endParaRPr b="0" i="0" sz="1800" u="none" cap="none" strike="noStrike">
              <a:solidFill>
                <a:schemeClr val="dk1"/>
              </a:solidFill>
              <a:latin typeface="Calibri"/>
              <a:ea typeface="Calibri"/>
              <a:cs typeface="Calibri"/>
              <a:sym typeface="Calibri"/>
            </a:endParaRPr>
          </a:p>
        </p:txBody>
      </p:sp>
      <p:sp>
        <p:nvSpPr>
          <p:cNvPr id="622" name="Google Shape;622;p4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3" name="Google Shape;623;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624" name="Google Shape;624;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late shape cue can still select the correct rule</a:t>
            </a:r>
            <a:endParaRPr b="0" i="0" sz="1800" u="none" cap="none" strike="noStrike">
              <a:solidFill>
                <a:schemeClr val="dk1"/>
              </a:solidFill>
              <a:latin typeface="Calibri"/>
              <a:ea typeface="Calibri"/>
              <a:cs typeface="Calibri"/>
              <a:sym typeface="Calibri"/>
            </a:endParaRPr>
          </a:p>
        </p:txBody>
      </p:sp>
      <p:sp>
        <p:nvSpPr>
          <p:cNvPr id="630" name="Google Shape;630;p45"/>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Krause and colleagues tested whether a shape cue had to appear before prey motion to prepare the appropriate decision. A neutral cross remained stationary for 2 seconds, then changed into the relevant disk or triangle exactly when movement began.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Only the initial straight movement was displayed, preventing the later deflection from identifying the correct destination. Errors were comparable with those obtained when object identity had been visible 2 seconds before motion. The fish selected the appropriate rule during the brief decision interval itself.</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This finding adds conditional flexibility to a response made in less than 100 ms under the tested conditions. A rule can therefore be selected on the fly, without advance preparation, within a start that begins in under 100 ms.</a:t>
            </a:r>
            <a:endParaRPr b="0" i="0" sz="1800" u="none" cap="none" strike="noStrike">
              <a:solidFill>
                <a:schemeClr val="dk1"/>
              </a:solidFill>
              <a:latin typeface="Calibri"/>
              <a:ea typeface="Calibri"/>
              <a:cs typeface="Calibri"/>
              <a:sym typeface="Calibri"/>
            </a:endParaRPr>
          </a:p>
        </p:txBody>
      </p:sp>
      <p:pic>
        <p:nvPicPr>
          <p:cNvPr id="633" name="Google Shape;633;p45"/>
          <p:cNvPicPr preferRelativeResize="0"/>
          <p:nvPr/>
        </p:nvPicPr>
        <p:blipFill rotWithShape="1">
          <a:blip r:embed="rId3">
            <a:alphaModFix/>
          </a:blip>
          <a:srcRect b="0" l="0" r="0" t="0"/>
          <a:stretch/>
        </p:blipFill>
        <p:spPr>
          <a:xfrm>
            <a:off x="6367079" y="1280071"/>
            <a:ext cx="5257674" cy="3474393"/>
          </a:xfrm>
          <a:prstGeom prst="rect">
            <a:avLst/>
          </a:prstGeom>
          <a:noFill/>
          <a:ln>
            <a:noFill/>
          </a:ln>
        </p:spPr>
      </p:pic>
      <p:sp>
        <p:nvSpPr>
          <p:cNvPr id="634" name="Google Shape;634;p45"/>
          <p:cNvSpPr/>
          <p:nvPr/>
        </p:nvSpPr>
        <p:spPr>
          <a:xfrm>
            <a:off x="6367016" y="484599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Krause et al. (2024), Fig. 7(A–E). Rule selection when an object changes appearance after motion onset.</a:t>
            </a:r>
            <a:endParaRPr b="0" i="0" sz="1800" u="none" cap="none" strike="noStrike">
              <a:solidFill>
                <a:schemeClr val="dk1"/>
              </a:solidFill>
              <a:latin typeface="Calibri"/>
              <a:ea typeface="Calibri"/>
              <a:cs typeface="Calibri"/>
              <a:sym typeface="Calibri"/>
            </a:endParaRPr>
          </a:p>
        </p:txBody>
      </p:sp>
      <p:sp>
        <p:nvSpPr>
          <p:cNvPr id="635" name="Google Shape;635;p4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Krause et al. (2024)</a:t>
            </a:r>
            <a:endParaRPr b="0" i="0" sz="1800" u="none" cap="none" strike="noStrike">
              <a:solidFill>
                <a:schemeClr val="dk1"/>
              </a:solidFill>
              <a:latin typeface="Calibri"/>
              <a:ea typeface="Calibri"/>
              <a:cs typeface="Calibri"/>
              <a:sym typeface="Calibri"/>
            </a:endParaRPr>
          </a:p>
        </p:txBody>
      </p:sp>
      <p:sp>
        <p:nvSpPr>
          <p:cNvPr id="637" name="Google Shape;63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1" name="Shape 641"/>
        <p:cNvGrpSpPr/>
        <p:nvPr/>
      </p:nvGrpSpPr>
      <p:grpSpPr>
        <a:xfrm>
          <a:off x="0" y="0"/>
          <a:ext cx="0" cy="0"/>
          <a:chOff x="0" y="0"/>
          <a:chExt cx="0" cy="0"/>
        </a:xfrm>
      </p:grpSpPr>
      <p:sp>
        <p:nvSpPr>
          <p:cNvPr id="642" name="Google Shape;64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Key takeaways</a:t>
            </a:r>
            <a:endParaRPr b="0" i="0" sz="1800" u="none" cap="none" strike="noStrike">
              <a:solidFill>
                <a:schemeClr val="dk1"/>
              </a:solidFill>
              <a:latin typeface="Calibri"/>
              <a:ea typeface="Calibri"/>
              <a:cs typeface="Calibri"/>
              <a:sym typeface="Calibri"/>
            </a:endParaRPr>
          </a:p>
        </p:txBody>
      </p:sp>
      <p:sp>
        <p:nvSpPr>
          <p:cNvPr id="643" name="Google Shape;643;p46"/>
          <p:cNvSpPr/>
          <p:nvPr/>
        </p:nvSpPr>
        <p:spPr>
          <a:xfrm>
            <a:off x="566886" y="12343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600"/>
              <a:buFont typeface="Arial"/>
              <a:buNone/>
            </a:pPr>
            <a:r>
              <a:rPr b="1" i="0" lang="en-US" sz="1600" u="none" cap="none" strike="noStrike">
                <a:solidFill>
                  <a:srgbClr val="252D35"/>
                </a:solidFill>
                <a:latin typeface="Arial"/>
                <a:ea typeface="Arial"/>
                <a:cs typeface="Arial"/>
                <a:sym typeface="Arial"/>
              </a:rPr>
              <a:t>Prediction targets future impact</a:t>
            </a:r>
            <a:r>
              <a:rPr b="0" i="0" lang="en-US" sz="1600" u="none" cap="none" strike="noStrike">
                <a:solidFill>
                  <a:srgbClr val="000000"/>
                </a:solidFill>
                <a:latin typeface="Arial"/>
                <a:ea typeface="Arial"/>
                <a:cs typeface="Arial"/>
                <a:sym typeface="Arial"/>
              </a:rPr>
              <a:t> Early height and horizontal motion guide the initial turn toward a landing point, including a virtual landing point when descent is prevented.</a:t>
            </a:r>
            <a:endParaRPr b="0" i="0" sz="1800" u="none" cap="none" strike="noStrike">
              <a:solidFill>
                <a:schemeClr val="dk1"/>
              </a:solidFill>
              <a:latin typeface="Calibri"/>
              <a:ea typeface="Calibri"/>
              <a:cs typeface="Calibri"/>
              <a:sym typeface="Calibri"/>
            </a:endParaRPr>
          </a:p>
        </p:txBody>
      </p:sp>
      <p:sp>
        <p:nvSpPr>
          <p:cNvPr id="645" name="Google Shape;645;p46"/>
          <p:cNvSpPr/>
          <p:nvPr/>
        </p:nvSpPr>
        <p:spPr>
          <a:xfrm>
            <a:off x="6233071" y="12343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p:nvPr/>
        </p:nvSpPr>
        <p:spPr>
          <a:xfrm>
            <a:off x="6415980"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Fast starts remain flexible</a:t>
            </a:r>
            <a:r>
              <a:rPr b="0" i="0" lang="en-US" sz="1500" u="none" cap="none" strike="noStrike">
                <a:solidFill>
                  <a:srgbClr val="000000"/>
                </a:solidFill>
                <a:latin typeface="Arial"/>
                <a:ea typeface="Arial"/>
                <a:cs typeface="Arial"/>
                <a:sym typeface="Arial"/>
              </a:rPr>
              <a:t> Predictive C-starts bend and straighten rapidly while adjusting heading and take-off speed; similar escape kinematics do not alone prove a shared command neuron.</a:t>
            </a:r>
            <a:endParaRPr b="0" i="0" sz="1800" u="none" cap="none" strike="noStrike">
              <a:solidFill>
                <a:schemeClr val="dk1"/>
              </a:solidFill>
              <a:latin typeface="Calibri"/>
              <a:ea typeface="Calibri"/>
              <a:cs typeface="Calibri"/>
              <a:sym typeface="Calibri"/>
            </a:endParaRPr>
          </a:p>
        </p:txBody>
      </p:sp>
      <p:sp>
        <p:nvSpPr>
          <p:cNvPr id="647" name="Google Shape;647;p46"/>
          <p:cNvSpPr/>
          <p:nvPr/>
        </p:nvSpPr>
        <p:spPr>
          <a:xfrm>
            <a:off x="566886" y="29869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p:nvPr/>
        </p:nvSpPr>
        <p:spPr>
          <a:xfrm>
            <a:off x="749796"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Jet control is active</a:t>
            </a:r>
            <a:r>
              <a:rPr b="0" i="0" lang="en-US" sz="1500" u="none" cap="none" strike="noStrike">
                <a:solidFill>
                  <a:srgbClr val="000000"/>
                </a:solidFill>
                <a:latin typeface="Arial"/>
                <a:ea typeface="Arial"/>
                <a:cs typeface="Arial"/>
                <a:sym typeface="Arial"/>
              </a:rPr>
              <a:t> Range-dependent velocity gradients, stability and mouth-opening timing focus water near impact; the tested shot chemistry and body drift do not explain the adjustment.</a:t>
            </a:r>
            <a:endParaRPr b="0" i="0" sz="1800" u="none" cap="none" strike="noStrike">
              <a:solidFill>
                <a:schemeClr val="dk1"/>
              </a:solidFill>
              <a:latin typeface="Calibri"/>
              <a:ea typeface="Calibri"/>
              <a:cs typeface="Calibri"/>
              <a:sym typeface="Calibri"/>
            </a:endParaRPr>
          </a:p>
        </p:txBody>
      </p:sp>
      <p:sp>
        <p:nvSpPr>
          <p:cNvPr id="649" name="Google Shape;649;p46"/>
          <p:cNvSpPr/>
          <p:nvPr/>
        </p:nvSpPr>
        <p:spPr>
          <a:xfrm>
            <a:off x="6233071" y="29869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600"/>
              <a:buFont typeface="Arial"/>
              <a:buNone/>
            </a:pPr>
            <a:r>
              <a:rPr b="1" i="0" lang="en-US" sz="1600" u="none" cap="none" strike="noStrike">
                <a:solidFill>
                  <a:srgbClr val="252D35"/>
                </a:solidFill>
                <a:latin typeface="Arial"/>
                <a:ea typeface="Arial"/>
                <a:cs typeface="Arial"/>
                <a:sym typeface="Arial"/>
              </a:rPr>
              <a:t>Timing carries retinal information</a:t>
            </a:r>
            <a:r>
              <a:rPr b="0" i="0" lang="en-US" sz="1600" u="none" cap="none" strike="noStrike">
                <a:solidFill>
                  <a:srgbClr val="000000"/>
                </a:solidFill>
                <a:latin typeface="Arial"/>
                <a:ea typeface="Arial"/>
                <a:cs typeface="Arial"/>
                <a:sym typeface="Arial"/>
              </a:rPr>
              <a:t> First-spike population timing decodes motion velocity better than the tested rate or interval measures; biological use of the decoder remains unproven.</a:t>
            </a:r>
            <a:endParaRPr b="0" i="0" sz="1800" u="none" cap="none" strike="noStrike">
              <a:solidFill>
                <a:schemeClr val="dk1"/>
              </a:solidFill>
              <a:latin typeface="Calibri"/>
              <a:ea typeface="Calibri"/>
              <a:cs typeface="Calibri"/>
              <a:sym typeface="Calibri"/>
            </a:endParaRPr>
          </a:p>
        </p:txBody>
      </p:sp>
      <p:sp>
        <p:nvSpPr>
          <p:cNvPr id="651" name="Google Shape;651;p46"/>
          <p:cNvSpPr/>
          <p:nvPr/>
        </p:nvSpPr>
        <p:spPr>
          <a:xfrm>
            <a:off x="566886" y="47395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p:nvPr/>
        </p:nvSpPr>
        <p:spPr>
          <a:xfrm>
            <a:off x="749796"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Neural anatomy and causation differ</a:t>
            </a:r>
            <a:r>
              <a:rPr b="0" i="0" lang="en-US" sz="1500" u="none" cap="none" strike="noStrike">
                <a:solidFill>
                  <a:srgbClr val="000000"/>
                </a:solidFill>
                <a:latin typeface="Arial"/>
                <a:ea typeface="Arial"/>
                <a:cs typeface="Arial"/>
                <a:sym typeface="Arial"/>
              </a:rPr>
              <a:t> Archerfish have identifiable Mauthner cells with strong visual access and inhibitory controls, but these studies do not directly establish their recruitment in predictive starts.</a:t>
            </a:r>
            <a:endParaRPr b="0" i="0" sz="1800" u="none" cap="none" strike="noStrike">
              <a:solidFill>
                <a:schemeClr val="dk1"/>
              </a:solidFill>
              <a:latin typeface="Calibri"/>
              <a:ea typeface="Calibri"/>
              <a:cs typeface="Calibri"/>
              <a:sym typeface="Calibri"/>
            </a:endParaRPr>
          </a:p>
        </p:txBody>
      </p:sp>
      <p:sp>
        <p:nvSpPr>
          <p:cNvPr id="653" name="Google Shape;653;p46"/>
          <p:cNvSpPr/>
          <p:nvPr/>
        </p:nvSpPr>
        <p:spPr>
          <a:xfrm>
            <a:off x="6233071" y="4739580"/>
            <a:ext cx="5391894" cy="1478161"/>
          </a:xfrm>
          <a:prstGeom prst="rect">
            <a:avLst/>
          </a:prstGeom>
          <a:solidFill>
            <a:srgbClr val="F3EAE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p46"/>
          <p:cNvSpPr/>
          <p:nvPr/>
        </p:nvSpPr>
        <p:spPr>
          <a:xfrm>
            <a:off x="6415980"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1500"/>
              <a:buFont typeface="Arial"/>
              <a:buNone/>
            </a:pPr>
            <a:r>
              <a:rPr b="1" i="0" lang="en-US" sz="1500" u="none" cap="none" strike="noStrike">
                <a:solidFill>
                  <a:srgbClr val="252D35"/>
                </a:solidFill>
                <a:latin typeface="Arial"/>
                <a:ea typeface="Arial"/>
                <a:cs typeface="Arial"/>
                <a:sym typeface="Arial"/>
              </a:rPr>
              <a:t>Learning changes rapid control</a:t>
            </a:r>
            <a:r>
              <a:rPr b="0" i="0" lang="en-US" sz="1500" u="none" cap="none" strike="noStrike">
                <a:solidFill>
                  <a:srgbClr val="000000"/>
                </a:solidFill>
                <a:latin typeface="Arial"/>
                <a:ea typeface="Arial"/>
                <a:cs typeface="Arial"/>
                <a:sym typeface="Arial"/>
              </a:rPr>
              <a:t> Shooting shows adaptive aftereffects; predictive starts can learn, generalize and select between context-dependent interception rules without abandoning rapid decisions.</a:t>
            </a:r>
            <a:endParaRPr b="0" i="0" sz="1800" u="none" cap="none" strike="noStrike">
              <a:solidFill>
                <a:schemeClr val="dk1"/>
              </a:solidFill>
              <a:latin typeface="Calibri"/>
              <a:ea typeface="Calibri"/>
              <a:cs typeface="Calibri"/>
              <a:sym typeface="Calibri"/>
            </a:endParaRPr>
          </a:p>
        </p:txBody>
      </p:sp>
      <p:sp>
        <p:nvSpPr>
          <p:cNvPr id="655" name="Google Shape;655;p4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 Wöhl &amp; Schuster (2007); Gerullis &amp; Schuster (2014); Kretschmer et al. (2012); Machnik et al. (2018a); Machnik et al. (2018b); Volotsky et al. (2023); Krause et al. (2024)</a:t>
            </a:r>
            <a:endParaRPr b="0" i="0" sz="1800" u="none" cap="none" strike="noStrike">
              <a:solidFill>
                <a:schemeClr val="dk1"/>
              </a:solidFill>
              <a:latin typeface="Calibri"/>
              <a:ea typeface="Calibri"/>
              <a:cs typeface="Calibri"/>
              <a:sym typeface="Calibri"/>
            </a:endParaRPr>
          </a:p>
        </p:txBody>
      </p:sp>
      <p:sp>
        <p:nvSpPr>
          <p:cNvPr id="657" name="Google Shape;65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64" name="Google Shape;56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An aftereffect reveals retained compensation</a:t>
            </a:r>
            <a:endParaRPr b="0" i="0" sz="1800" u="none" cap="none" strike="noStrike">
              <a:solidFill>
                <a:schemeClr val="dk1"/>
              </a:solidFill>
              <a:latin typeface="Calibri"/>
              <a:ea typeface="Calibri"/>
              <a:cs typeface="Calibri"/>
              <a:sym typeface="Calibri"/>
            </a:endParaRPr>
          </a:p>
        </p:txBody>
      </p:sp>
      <p:sp>
        <p:nvSpPr>
          <p:cNvPr id="565" name="Google Shape;565;p4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An </a:t>
            </a:r>
            <a:r>
              <a:rPr b="1" i="0" lang="en-US" sz="1600" u="none" cap="none" strike="noStrike">
                <a:solidFill>
                  <a:srgbClr val="252D35"/>
                </a:solidFill>
                <a:latin typeface="Arial"/>
                <a:ea typeface="Arial"/>
                <a:cs typeface="Arial"/>
                <a:sym typeface="Arial"/>
              </a:rPr>
              <a:t>aftereffect</a:t>
            </a:r>
            <a:r>
              <a:rPr b="0" i="0" lang="en-US" sz="1600" u="none" cap="none" strike="noStrike">
                <a:solidFill>
                  <a:srgbClr val="000000"/>
                </a:solidFill>
                <a:latin typeface="Arial"/>
                <a:ea typeface="Arial"/>
                <a:cs typeface="Arial"/>
                <a:sym typeface="Arial"/>
              </a:rPr>
              <a:t> is an error in the direction opposite to the original disturbance that appears when the disturbance is removed. It indicates that the movement had been recalibrated to the disturbance and is a standard signature of motor adaptation. The term applies to the first shots after the airflow stops.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Volotsky and colleagues compared baseline shots, a perturbation period of horizontal airflow, and shots after airflow removal. After the perturbation ended, errors appeared in the opposite direction and declined over several subsequent shots.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compensation learned during the perturbation therefore initially persisted when the physical deflection was removed. If each shot only corrected the visible outcome afterward, removal of the disturbance would not produce this systematic initial bias.</a:t>
            </a:r>
            <a:endParaRPr b="0" i="0" sz="1800" u="none" cap="none" strike="noStrike">
              <a:solidFill>
                <a:schemeClr val="dk1"/>
              </a:solidFill>
              <a:latin typeface="Calibri"/>
              <a:ea typeface="Calibri"/>
              <a:cs typeface="Calibri"/>
              <a:sym typeface="Calibri"/>
            </a:endParaRPr>
          </a:p>
        </p:txBody>
      </p:sp>
      <p:pic>
        <p:nvPicPr>
          <p:cNvPr id="568" name="Google Shape;568;p40"/>
          <p:cNvPicPr preferRelativeResize="0"/>
          <p:nvPr/>
        </p:nvPicPr>
        <p:blipFill rotWithShape="1">
          <a:blip r:embed="rId2">
            <a:alphaModFix/>
          </a:blip>
          <a:srcRect b="0" l="0" r="0" t="0"/>
          <a:stretch/>
        </p:blipFill>
        <p:spPr>
          <a:xfrm>
            <a:off x="6534944" y="1280071"/>
            <a:ext cx="4922093" cy="4297561"/>
          </a:xfrm>
          <a:prstGeom prst="rect">
            <a:avLst/>
          </a:prstGeom>
          <a:noFill/>
          <a:ln>
            <a:noFill/>
          </a:ln>
        </p:spPr>
      </p:pic>
      <p:sp>
        <p:nvSpPr>
          <p:cNvPr id="569" name="Google Shape;569;p40"/>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Volotsky et al. (2023), Fig. 3(C–F). Trial-by-trial error reduction and aftereffects in both airflow directions.</a:t>
            </a:r>
            <a:endParaRPr b="0" i="0" sz="1800" u="none" cap="none" strike="noStrike">
              <a:solidFill>
                <a:schemeClr val="dk1"/>
              </a:solidFill>
              <a:latin typeface="Calibri"/>
              <a:ea typeface="Calibri"/>
              <a:cs typeface="Calibri"/>
              <a:sym typeface="Calibri"/>
            </a:endParaRPr>
          </a:p>
        </p:txBody>
      </p:sp>
      <p:sp>
        <p:nvSpPr>
          <p:cNvPr id="570" name="Google Shape;570;p4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Volotsky et al. (2023)</a:t>
            </a:r>
            <a:endParaRPr b="0" i="0" sz="1800" u="none" cap="none" strike="noStrike">
              <a:solidFill>
                <a:schemeClr val="dk1"/>
              </a:solidFill>
              <a:latin typeface="Calibri"/>
              <a:ea typeface="Calibri"/>
              <a:cs typeface="Calibri"/>
              <a:sym typeface="Calibri"/>
            </a:endParaRPr>
          </a:p>
        </p:txBody>
      </p:sp>
      <p:sp>
        <p:nvSpPr>
          <p:cNvPr id="572" name="Google Shape;572;p4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40a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6" name="Google Shape;506;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length constant measures passive decay</a:t>
            </a:r>
            <a:endParaRPr b="0" i="0" sz="1800" u="none" cap="none" strike="noStrike">
              <a:solidFill>
                <a:schemeClr val="dk1"/>
              </a:solidFill>
              <a:latin typeface="Calibri"/>
              <a:ea typeface="Calibri"/>
              <a:cs typeface="Calibri"/>
              <a:sym typeface="Calibri"/>
            </a:endParaRPr>
          </a:p>
        </p:txBody>
      </p:sp>
      <p:sp>
        <p:nvSpPr>
          <p:cNvPr id="507" name="Google Shape;507;p3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74E13"/>
                </a:solidFill>
                <a:latin typeface="Arial"/>
                <a:ea typeface="Arial"/>
                <a:cs typeface="Arial"/>
                <a:sym typeface="Arial"/>
              </a:rPr>
              <a:t>length constant</a:t>
            </a:r>
            <a:r>
              <a:rPr b="0" i="0" lang="en-US" sz="1500" u="none" cap="none" strike="noStrike">
                <a:solidFill>
                  <a:srgbClr val="000000"/>
                </a:solidFill>
                <a:latin typeface="Arial"/>
                <a:ea typeface="Arial"/>
                <a:cs typeface="Arial"/>
                <a:sym typeface="Arial"/>
              </a:rPr>
              <a:t> describes the distance over which passive voltage spread along a dendrite is attenuated. A short length constant means that a signal fades quickly with distance from the place where it entered. Distance along the dendrite is the variable that these recordings sample.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recorded at different positions along the Mauthner lateral dendrite and corrected the signals for the nearby extracellular field. Reconstructed spike amplitude decayed passively with length constants of 141–164 µm in the tested cells.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Acoustic PSPs were larger at a distal lateral-dendrite position than close to the soma, whereas visual PSPs decreased toward the distal dendrite. The opposite gradients place the entry sites of the two inputs at different dendritic locations.</a:t>
            </a:r>
            <a:endParaRPr b="0" i="0" sz="1800" u="none" cap="none" strike="noStrike">
              <a:solidFill>
                <a:schemeClr val="dk1"/>
              </a:solidFill>
              <a:latin typeface="Calibri"/>
              <a:ea typeface="Calibri"/>
              <a:cs typeface="Calibri"/>
              <a:sym typeface="Calibri"/>
            </a:endParaRPr>
          </a:p>
        </p:txBody>
      </p:sp>
      <p:pic>
        <p:nvPicPr>
          <p:cNvPr id="510" name="Google Shape;510;p36"/>
          <p:cNvPicPr preferRelativeResize="0"/>
          <p:nvPr/>
        </p:nvPicPr>
        <p:blipFill rotWithShape="1">
          <a:blip r:embed="rId2">
            <a:alphaModFix/>
          </a:blip>
          <a:srcRect b="0" l="0" r="0" t="0"/>
          <a:stretch/>
        </p:blipFill>
        <p:spPr>
          <a:xfrm>
            <a:off x="8531572" y="1280107"/>
            <a:ext cx="928836" cy="2468687"/>
          </a:xfrm>
          <a:prstGeom prst="rect">
            <a:avLst/>
          </a:prstGeom>
          <a:noFill/>
          <a:ln>
            <a:noFill/>
          </a:ln>
        </p:spPr>
      </p:pic>
      <p:sp>
        <p:nvSpPr>
          <p:cNvPr id="511" name="Google Shape;511;p36"/>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(2018b), Fig. 6(A–D). Passive dendritic decay and locations of sensory input.</a:t>
            </a:r>
            <a:endParaRPr b="0" i="0" sz="1800" u="none" cap="none" strike="noStrike">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3">
            <a:alphaModFix/>
          </a:blip>
          <a:srcRect b="0" l="0" r="0" t="0"/>
          <a:stretch/>
        </p:blipFill>
        <p:spPr>
          <a:xfrm>
            <a:off x="8216354" y="4297571"/>
            <a:ext cx="1559123" cy="1462961"/>
          </a:xfrm>
          <a:prstGeom prst="rect">
            <a:avLst/>
          </a:prstGeom>
          <a:noFill/>
          <a:ln>
            <a:noFill/>
          </a:ln>
        </p:spPr>
      </p:pic>
      <p:sp>
        <p:nvSpPr>
          <p:cNvPr id="513" name="Google Shape;513;p36"/>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5(A–E). Published cell reconstructions and soma/dendrite comparisons.</a:t>
            </a:r>
            <a:endParaRPr b="0" i="0" sz="1800" u="none" cap="none" strike="noStrike">
              <a:solidFill>
                <a:schemeClr val="dk1"/>
              </a:solidFill>
              <a:latin typeface="Calibri"/>
              <a:ea typeface="Calibri"/>
              <a:cs typeface="Calibri"/>
              <a:sym typeface="Calibri"/>
            </a:endParaRPr>
          </a:p>
        </p:txBody>
      </p:sp>
      <p:sp>
        <p:nvSpPr>
          <p:cNvPr id="514" name="Google Shape;514;p3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(2018b); Machnik et al. (2018a)</a:t>
            </a:r>
            <a:endParaRPr b="0" i="0" sz="1800" u="none" cap="none" strike="noStrike">
              <a:solidFill>
                <a:schemeClr val="dk1"/>
              </a:solidFill>
              <a:latin typeface="Calibri"/>
              <a:ea typeface="Calibri"/>
              <a:cs typeface="Calibri"/>
              <a:sym typeface="Calibri"/>
            </a:endParaRPr>
          </a:p>
        </p:txBody>
      </p:sp>
      <p:sp>
        <p:nvSpPr>
          <p:cNvPr id="516" name="Google Shape;516;p3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36a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Antidromic stimulation identifies a cell by its axon</a:t>
            </a:r>
            <a:endParaRPr b="0" i="0" sz="1800" u="none" cap="none" strike="noStrike">
              <a:solidFill>
                <a:schemeClr val="dk1"/>
              </a:solidFill>
              <a:latin typeface="Calibri"/>
              <a:ea typeface="Calibri"/>
              <a:cs typeface="Calibri"/>
              <a:sym typeface="Calibri"/>
            </a:endParaRPr>
          </a:p>
        </p:txBody>
      </p:sp>
      <p:sp>
        <p:nvSpPr>
          <p:cNvPr id="421" name="Google Shape;421;p3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1" i="0" lang="en-US" sz="1500" u="none" cap="none" strike="noStrike">
                <a:solidFill>
                  <a:srgbClr val="252D35"/>
                </a:solidFill>
                <a:latin typeface="Arial"/>
                <a:ea typeface="Arial"/>
                <a:cs typeface="Arial"/>
                <a:sym typeface="Arial"/>
              </a:rPr>
              <a:t>Antidromic</a:t>
            </a:r>
            <a:r>
              <a:rPr b="0" i="0" lang="en-US" sz="1500" u="none" cap="none" strike="noStrike">
                <a:solidFill>
                  <a:srgbClr val="000000"/>
                </a:solidFill>
                <a:latin typeface="Arial"/>
                <a:ea typeface="Arial"/>
                <a:cs typeface="Arial"/>
                <a:sym typeface="Arial"/>
              </a:rPr>
              <a:t> stimulation sends a spike backward along an axon, from the axon toward the cell body, so that the neuron fires without synaptic input. A field potential is the extracellular voltage generated by the currents of a cell or group of cells. The signal can therefore be used to locate the cell before it is filled with dye.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Machnik and colleagues stimulated the spinal cord and searched the archerfish hindbrain for a characteristic short-latency, all-or-none extracellular field potential. Increasing a stimulus above threshold changed whether the signal occurred but did not progressively scale its amplitude.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Each side of the hindbrain contained a distinct focus, consistent with a paired neuronal source. Intracellular penetration and subsequent staining then linked that source to a cell with Mauthner-like morphology.</a:t>
            </a:r>
            <a:endParaRPr b="0" i="0" sz="1800" u="none" cap="none" strike="noStrike">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2">
            <a:alphaModFix/>
          </a:blip>
          <a:srcRect b="0" l="0" r="0" t="0"/>
          <a:stretch/>
        </p:blipFill>
        <p:spPr>
          <a:xfrm>
            <a:off x="8063061" y="1280082"/>
            <a:ext cx="1865709" cy="2468738"/>
          </a:xfrm>
          <a:prstGeom prst="rect">
            <a:avLst/>
          </a:prstGeom>
          <a:noFill/>
          <a:ln>
            <a:noFill/>
          </a:ln>
        </p:spPr>
      </p:pic>
      <p:sp>
        <p:nvSpPr>
          <p:cNvPr id="425" name="Google Shape;425;p30"/>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2(A–D). All-or-none field potential used to locate the Mauthner cell.</a:t>
            </a:r>
            <a:endParaRPr b="0" i="0" sz="1800" u="none" cap="none" strike="noStrike">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3">
            <a:alphaModFix/>
          </a:blip>
          <a:srcRect b="0" l="0" r="0" t="0"/>
          <a:stretch/>
        </p:blipFill>
        <p:spPr>
          <a:xfrm>
            <a:off x="8325354" y="4297561"/>
            <a:ext cx="1341274" cy="1462980"/>
          </a:xfrm>
          <a:prstGeom prst="rect">
            <a:avLst/>
          </a:prstGeom>
          <a:noFill/>
          <a:ln>
            <a:noFill/>
          </a:ln>
        </p:spPr>
      </p:pic>
      <p:sp>
        <p:nvSpPr>
          <p:cNvPr id="427" name="Google Shape;427;p30"/>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Machnik et al. (2018a), Fig. 6(A–E). Hindbrain Mauthner cell and giant crossed spinal axons.</a:t>
            </a:r>
            <a:endParaRPr b="0" i="0" sz="1800" u="none" cap="none" strike="noStrike">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Machnik et al. (2018a)</a:t>
            </a:r>
            <a:endParaRPr b="0" i="0" sz="1800" u="none" cap="none" strike="noStrike">
              <a:solidFill>
                <a:schemeClr val="dk1"/>
              </a:solidFill>
              <a:latin typeface="Calibri"/>
              <a:ea typeface="Calibri"/>
              <a:cs typeface="Calibri"/>
              <a:sym typeface="Calibri"/>
            </a:endParaRPr>
          </a:p>
        </p:txBody>
      </p:sp>
      <p:sp>
        <p:nvSpPr>
          <p:cNvPr id="430" name="Google Shape;430;p3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30a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2" name="Google Shape;362;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spike-triggered average describes preferred stimuli</a:t>
            </a:r>
            <a:endParaRPr b="0" i="0" sz="1800" u="none" cap="none" strike="noStrike">
              <a:solidFill>
                <a:schemeClr val="dk1"/>
              </a:solidFill>
              <a:latin typeface="Calibri"/>
              <a:ea typeface="Calibri"/>
              <a:cs typeface="Calibri"/>
              <a:sym typeface="Calibri"/>
            </a:endParaRPr>
          </a:p>
        </p:txBody>
      </p:sp>
      <p:sp>
        <p:nvSpPr>
          <p:cNvPr id="363" name="Google Shape;363;p2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52D35"/>
                </a:solidFill>
                <a:latin typeface="Arial"/>
                <a:ea typeface="Arial"/>
                <a:cs typeface="Arial"/>
                <a:sym typeface="Arial"/>
              </a:rPr>
              <a:t>spike-triggered average</a:t>
            </a:r>
            <a:r>
              <a:rPr b="0" i="0" lang="en-US" sz="1500" u="none" cap="none" strike="noStrike">
                <a:solidFill>
                  <a:srgbClr val="000000"/>
                </a:solidFill>
                <a:latin typeface="Arial"/>
                <a:ea typeface="Arial"/>
                <a:cs typeface="Arial"/>
                <a:sym typeface="Arial"/>
              </a:rPr>
              <a:t> is the mean of the stimulus patterns that preceded each spike of a neuron. It describes which stimulus features, in space and time, tend to make the neuron fire.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Reichenthal and colleagues recorded extracellular activity in the optic tectum of archerfish while presenting random checkerboards. About 68% of the sampled cells had a monophasic temporal profile, whereas the remaining group had two phases with opposite contrast signs. Mean estimated response latencies were 54.5 ms and 60 ms for these groups.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Receptive fields ranged from nearly circular to elongated. The average therefore gives a spatial pattern and a temporal profile for each cell, which is the information used to compare tectal neurons.</a:t>
            </a:r>
            <a:endParaRPr b="0" i="0" sz="1800" u="none" cap="none" strike="noStrike">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2">
            <a:alphaModFix/>
          </a:blip>
          <a:srcRect b="0" l="0" r="0" t="0"/>
          <a:stretch/>
        </p:blipFill>
        <p:spPr>
          <a:xfrm>
            <a:off x="8089106" y="1280077"/>
            <a:ext cx="1813917" cy="2468748"/>
          </a:xfrm>
          <a:prstGeom prst="rect">
            <a:avLst/>
          </a:prstGeom>
          <a:noFill/>
          <a:ln>
            <a:noFill/>
          </a:ln>
        </p:spPr>
      </p:pic>
      <p:sp>
        <p:nvSpPr>
          <p:cNvPr id="367" name="Google Shape;367;p26"/>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2(A–H). Spatial and temporal receptive fields of tectal neurons.</a:t>
            </a:r>
            <a:endParaRPr b="0" i="0" sz="1800" u="none" cap="none" strike="noStrike">
              <a:solidFill>
                <a:schemeClr val="dk1"/>
              </a:solidFill>
              <a:latin typeface="Calibri"/>
              <a:ea typeface="Calibri"/>
              <a:cs typeface="Calibri"/>
              <a:sym typeface="Calibri"/>
            </a:endParaRPr>
          </a:p>
        </p:txBody>
      </p:sp>
      <p:pic>
        <p:nvPicPr>
          <p:cNvPr id="368" name="Google Shape;368;p26"/>
          <p:cNvPicPr preferRelativeResize="0"/>
          <p:nvPr/>
        </p:nvPicPr>
        <p:blipFill rotWithShape="1">
          <a:blip r:embed="rId3">
            <a:alphaModFix/>
          </a:blip>
          <a:srcRect b="0" l="0" r="0" t="0"/>
          <a:stretch/>
        </p:blipFill>
        <p:spPr>
          <a:xfrm>
            <a:off x="7230306" y="4297561"/>
            <a:ext cx="3531517" cy="1462980"/>
          </a:xfrm>
          <a:prstGeom prst="rect">
            <a:avLst/>
          </a:prstGeom>
          <a:noFill/>
          <a:ln>
            <a:noFill/>
          </a:ln>
        </p:spPr>
      </p:pic>
      <p:sp>
        <p:nvSpPr>
          <p:cNvPr id="369" name="Google Shape;369;p26"/>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Karoubi et al. (2016), Fig. 3(Q–R). Published Nissl-stained sections and labeled brain structures.</a:t>
            </a:r>
            <a:endParaRPr b="0" i="0" sz="1800" u="none" cap="none" strike="noStrike">
              <a:solidFill>
                <a:schemeClr val="dk1"/>
              </a:solidFill>
              <a:latin typeface="Calibri"/>
              <a:ea typeface="Calibri"/>
              <a:cs typeface="Calibri"/>
              <a:sym typeface="Calibri"/>
            </a:endParaRPr>
          </a:p>
        </p:txBody>
      </p:sp>
      <p:sp>
        <p:nvSpPr>
          <p:cNvPr id="370" name="Google Shape;370;p2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Reichenthal et al. (2018)</a:t>
            </a:r>
            <a:endParaRPr b="0" i="0" sz="1800" u="none" cap="none" strike="noStrike">
              <a:solidFill>
                <a:schemeClr val="dk1"/>
              </a:solidFill>
              <a:latin typeface="Calibri"/>
              <a:ea typeface="Calibri"/>
              <a:cs typeface="Calibri"/>
              <a:sym typeface="Calibri"/>
            </a:endParaRPr>
          </a:p>
        </p:txBody>
      </p:sp>
      <p:sp>
        <p:nvSpPr>
          <p:cNvPr id="372" name="Google Shape;372;p2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26a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Relative latency uses an internal timing reference</a:t>
            </a:r>
            <a:endParaRPr b="0" i="0" sz="1800" u="none" cap="none" strike="noStrike">
              <a:solidFill>
                <a:schemeClr val="dk1"/>
              </a:solidFill>
              <a:latin typeface="Calibri"/>
              <a:ea typeface="Calibri"/>
              <a:cs typeface="Calibri"/>
              <a:sym typeface="Calibri"/>
            </a:endParaRPr>
          </a:p>
        </p:txBody>
      </p:sp>
      <p:sp>
        <p:nvSpPr>
          <p:cNvPr id="333" name="Google Shape;333;p2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1" i="0" lang="en-US" sz="1500" u="none" cap="none" strike="noStrike">
                <a:solidFill>
                  <a:srgbClr val="252D35"/>
                </a:solidFill>
                <a:latin typeface="Arial"/>
                <a:ea typeface="Arial"/>
                <a:cs typeface="Arial"/>
                <a:sym typeface="Arial"/>
              </a:rPr>
              <a:t>Relative latency</a:t>
            </a:r>
            <a:r>
              <a:rPr b="0" i="0" lang="en-US" sz="1500" u="none" cap="none" strike="noStrike">
                <a:solidFill>
                  <a:srgbClr val="000000"/>
                </a:solidFill>
                <a:latin typeface="Arial"/>
                <a:ea typeface="Arial"/>
                <a:cs typeface="Arial"/>
                <a:sym typeface="Arial"/>
              </a:rPr>
              <a:t> is the time of a cell's first spike measured from the onset of the population response and not from the stimulus clock. Absolute latency, by contrast, is measured from the moment the experimenter presents the stimulus. Both are first-spike measures, and they differ only in their reference.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compared absolute latency with first interspike interval, spike rate over 100 ms, and latency relative to population response onset. The first interval and the tested rate measure reconstructed velocity poorly.</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Relative first-spike latency performed better, although its median stayed near 10 ms across velocities, because the pattern across cells kept the velocity information. It uses an internal reference and does not need the experimenter's stimulus clock.</a:t>
            </a:r>
            <a:endParaRPr b="0" i="0" sz="1800" u="none" cap="none" strike="noStrike">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2">
            <a:alphaModFix/>
          </a:blip>
          <a:srcRect b="0" l="0" r="0" t="0"/>
          <a:stretch/>
        </p:blipFill>
        <p:spPr>
          <a:xfrm>
            <a:off x="6517338" y="1280071"/>
            <a:ext cx="4957454" cy="2468761"/>
          </a:xfrm>
          <a:prstGeom prst="rect">
            <a:avLst/>
          </a:prstGeom>
          <a:noFill/>
          <a:ln>
            <a:noFill/>
          </a:ln>
        </p:spPr>
      </p:pic>
      <p:sp>
        <p:nvSpPr>
          <p:cNvPr id="337" name="Google Shape;337;p24"/>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2(A–L). Published decoding based on latency, interval, rate and relative latency.</a:t>
            </a:r>
            <a:endParaRPr b="0" i="0" sz="1800" u="none" cap="none" strike="noStrike">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3">
            <a:alphaModFix/>
          </a:blip>
          <a:srcRect b="0" l="0" r="0" t="0"/>
          <a:stretch/>
        </p:blipFill>
        <p:spPr>
          <a:xfrm>
            <a:off x="8457605" y="4297563"/>
            <a:ext cx="1076771" cy="1462977"/>
          </a:xfrm>
          <a:prstGeom prst="rect">
            <a:avLst/>
          </a:prstGeom>
          <a:noFill/>
          <a:ln>
            <a:noFill/>
          </a:ln>
        </p:spPr>
      </p:pic>
      <p:sp>
        <p:nvSpPr>
          <p:cNvPr id="339" name="Google Shape;339;p24"/>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42" name="Google Shape;342;p2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24a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multielectrode array records many retinal neurons</a:t>
            </a:r>
            <a:endParaRPr b="0" i="0" sz="1800" u="none" cap="none" strike="noStrike">
              <a:solidFill>
                <a:schemeClr val="dk1"/>
              </a:solidFill>
              <a:latin typeface="Calibri"/>
              <a:ea typeface="Calibri"/>
              <a:cs typeface="Calibri"/>
              <a:sym typeface="Calibri"/>
            </a:endParaRPr>
          </a:p>
        </p:txBody>
      </p:sp>
      <p:sp>
        <p:nvSpPr>
          <p:cNvPr id="303" name="Google Shape;303;p2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274E13"/>
                </a:solidFill>
                <a:latin typeface="Arial"/>
                <a:ea typeface="Arial"/>
                <a:cs typeface="Arial"/>
                <a:sym typeface="Arial"/>
              </a:rPr>
              <a:t>multielectrode array</a:t>
            </a:r>
            <a:r>
              <a:rPr b="0" i="0" lang="en-US" sz="1500" u="none" cap="none" strike="noStrike">
                <a:solidFill>
                  <a:srgbClr val="000000"/>
                </a:solidFill>
                <a:latin typeface="Arial"/>
                <a:ea typeface="Arial"/>
                <a:cs typeface="Arial"/>
                <a:sym typeface="Arial"/>
              </a:rPr>
              <a:t> is a grid of recording electrodes on which an isolated tissue is placed, so that the spikes of many neurons are recorded at the same time. Retinal ganglion cells are the output neurons of the retina, and their spikes carry visual information to the brain.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Kretschmer and colleagues placed isolated archerfish retinas on the array and projected alternating black and white bars. The grating stayed present while movement began at randomly selected velocities, and the 400-µm bars moved upward or downward.</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Recorded ganglion cells produced sharply timed responses after movement onset. Because the grating was already present, the responses reflect the onset of motion and not the sudden appearance of a new object.</a:t>
            </a:r>
            <a:endParaRPr b="0" i="0" sz="1800" u="none" cap="none" strike="noStrike">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2">
            <a:alphaModFix/>
          </a:blip>
          <a:srcRect b="0" l="0" r="0" t="0"/>
          <a:stretch/>
        </p:blipFill>
        <p:spPr>
          <a:xfrm>
            <a:off x="6367185" y="1280071"/>
            <a:ext cx="5257463" cy="2436763"/>
          </a:xfrm>
          <a:prstGeom prst="rect">
            <a:avLst/>
          </a:prstGeom>
          <a:noFill/>
          <a:ln>
            <a:noFill/>
          </a:ln>
        </p:spPr>
      </p:pic>
      <p:sp>
        <p:nvSpPr>
          <p:cNvPr id="307" name="Google Shape;307;p22"/>
          <p:cNvSpPr/>
          <p:nvPr/>
        </p:nvSpPr>
        <p:spPr>
          <a:xfrm>
            <a:off x="6367016" y="3808363"/>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Kretschmer et al. (2012), Fig. 1(A–G). Recorded retinal ganglion-cell responses and grating stimulus.</a:t>
            </a:r>
            <a:endParaRPr b="0" i="0" sz="1800" u="none" cap="none" strike="noStrike">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3">
            <a:alphaModFix/>
          </a:blip>
          <a:srcRect b="0" l="0" r="0" t="0"/>
          <a:stretch/>
        </p:blipFill>
        <p:spPr>
          <a:xfrm>
            <a:off x="8457605" y="4297563"/>
            <a:ext cx="1076771" cy="1462977"/>
          </a:xfrm>
          <a:prstGeom prst="rect">
            <a:avLst/>
          </a:prstGeom>
          <a:noFill/>
          <a:ln>
            <a:noFill/>
          </a:ln>
        </p:spPr>
      </p:pic>
      <p:sp>
        <p:nvSpPr>
          <p:cNvPr id="309" name="Google Shape;309;p22"/>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Kretschmer et al. (2012)</a:t>
            </a:r>
            <a:endParaRPr b="0" i="0" sz="1800" u="none" cap="none" strike="noStrike">
              <a:solidFill>
                <a:schemeClr val="dk1"/>
              </a:solidFill>
              <a:latin typeface="Calibri"/>
              <a:ea typeface="Calibri"/>
              <a:cs typeface="Calibri"/>
              <a:sym typeface="Calibri"/>
            </a:endParaRPr>
          </a:p>
        </p:txBody>
      </p:sp>
      <p:sp>
        <p:nvSpPr>
          <p:cNvPr id="312" name="Google Shape;312;p2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22a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76" name="Google Shape;276;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Resolving power is the finest detail an eye can sample</a:t>
            </a:r>
            <a:endParaRPr b="0" i="0" sz="1800" u="none" cap="none" strike="noStrike">
              <a:solidFill>
                <a:schemeClr val="dk1"/>
              </a:solidFill>
              <a:latin typeface="Calibri"/>
              <a:ea typeface="Calibri"/>
              <a:cs typeface="Calibri"/>
              <a:sym typeface="Calibri"/>
            </a:endParaRPr>
          </a:p>
        </p:txBody>
      </p:sp>
      <p:sp>
        <p:nvSpPr>
          <p:cNvPr id="277" name="Google Shape;277;p2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1" i="0" lang="en-US" sz="1500" u="none" cap="none" strike="noStrike">
                <a:solidFill>
                  <a:srgbClr val="274E13"/>
                </a:solidFill>
                <a:latin typeface="Arial"/>
                <a:ea typeface="Arial"/>
                <a:cs typeface="Arial"/>
                <a:sym typeface="Arial"/>
              </a:rPr>
              <a:t>Resolving power</a:t>
            </a:r>
            <a:r>
              <a:rPr b="0" i="0" lang="en-US" sz="1500" u="none" cap="none" strike="noStrike">
                <a:solidFill>
                  <a:srgbClr val="000000"/>
                </a:solidFill>
                <a:latin typeface="Arial"/>
                <a:ea typeface="Arial"/>
                <a:cs typeface="Arial"/>
                <a:sym typeface="Arial"/>
              </a:rPr>
              <a:t> is the finest spatial detail an eye can distinguish, expressed in cycles per degree. A cycle is one bright–dark repetition in a spatial pattern, and more cycles per degree indicate finer sampling by cones and ganglion cells.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Temple and colleagues mapped cones and retinal ganglion cells in </a:t>
            </a:r>
            <a:r>
              <a:rPr b="0" i="1" lang="en-US" sz="1500" u="none" cap="none" strike="noStrike">
                <a:solidFill>
                  <a:srgbClr val="000000"/>
                </a:solidFill>
                <a:latin typeface="Arial"/>
                <a:ea typeface="Arial"/>
                <a:cs typeface="Arial"/>
                <a:sym typeface="Arial"/>
              </a:rPr>
              <a:t>Toxotes chatareus</a:t>
            </a:r>
            <a:r>
              <a:rPr b="0" i="0" lang="en-US" sz="1500" u="none" cap="none" strike="noStrike">
                <a:solidFill>
                  <a:srgbClr val="000000"/>
                </a:solidFill>
                <a:latin typeface="Arial"/>
                <a:ea typeface="Arial"/>
                <a:cs typeface="Arial"/>
                <a:sym typeface="Arial"/>
              </a:rPr>
              <a:t>. The highest cone densities exceeded 50,000 cells/mm², and ganglion-cell density approached a one-to-one relation with cone density there. Anatomically estimated resolving power reached 6.9 cycles/degree, compared with 2.2 cycles/degree along the downward axis.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A ventral high-density region aligns with the up-forward visual direction used during spitting. Sampling is therefore finest where the fish aims and coarser elsewhere, instead of equal across the entire visual field.</a:t>
            </a:r>
            <a:endParaRPr b="0" i="0" sz="1800" u="none" cap="none" strike="noStrike">
              <a:solidFill>
                <a:schemeClr val="dk1"/>
              </a:solidFill>
              <a:latin typeface="Calibri"/>
              <a:ea typeface="Calibri"/>
              <a:cs typeface="Calibri"/>
              <a:sym typeface="Calibri"/>
            </a:endParaRPr>
          </a:p>
        </p:txBody>
      </p:sp>
      <p:pic>
        <p:nvPicPr>
          <p:cNvPr id="280" name="Google Shape;280;p20"/>
          <p:cNvPicPr preferRelativeResize="0"/>
          <p:nvPr/>
        </p:nvPicPr>
        <p:blipFill rotWithShape="1">
          <a:blip r:embed="rId2">
            <a:alphaModFix/>
          </a:blip>
          <a:srcRect b="0" l="0" r="0" t="0"/>
          <a:stretch/>
        </p:blipFill>
        <p:spPr>
          <a:xfrm>
            <a:off x="7414384" y="1280071"/>
            <a:ext cx="3163065" cy="4297561"/>
          </a:xfrm>
          <a:prstGeom prst="rect">
            <a:avLst/>
          </a:prstGeom>
          <a:noFill/>
          <a:ln>
            <a:noFill/>
          </a:ln>
        </p:spPr>
      </p:pic>
      <p:sp>
        <p:nvSpPr>
          <p:cNvPr id="281" name="Google Shape;281;p20"/>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Temple et al. (2010), Fig. 3. Ganglion-cell topography aligned with the preferred shooting axis.</a:t>
            </a:r>
            <a:endParaRPr b="0" i="0" sz="1800" u="none" cap="none" strike="noStrike">
              <a:solidFill>
                <a:schemeClr val="dk1"/>
              </a:solidFill>
              <a:latin typeface="Calibri"/>
              <a:ea typeface="Calibri"/>
              <a:cs typeface="Calibri"/>
              <a:sym typeface="Calibri"/>
            </a:endParaRPr>
          </a:p>
        </p:txBody>
      </p:sp>
      <p:sp>
        <p:nvSpPr>
          <p:cNvPr id="282" name="Google Shape;282;p2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Temple et al. (2010)</a:t>
            </a:r>
            <a:endParaRPr b="0" i="0" sz="1800" u="none" cap="none" strike="noStrike">
              <a:solidFill>
                <a:schemeClr val="dk1"/>
              </a:solidFill>
              <a:latin typeface="Calibri"/>
              <a:ea typeface="Calibri"/>
              <a:cs typeface="Calibri"/>
              <a:sym typeface="Calibri"/>
            </a:endParaRPr>
          </a:p>
        </p:txBody>
      </p:sp>
      <p:sp>
        <p:nvSpPr>
          <p:cNvPr id="284" name="Google Shape;284;p2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20a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8" name="Google Shape;218;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velocity gradient speeds rear water catch the tip</a:t>
            </a:r>
            <a:endParaRPr b="0" i="0" sz="1800" u="none" cap="none" strike="noStrike">
              <a:solidFill>
                <a:schemeClr val="dk1"/>
              </a:solidFill>
              <a:latin typeface="Calibri"/>
              <a:ea typeface="Calibri"/>
              <a:cs typeface="Calibri"/>
              <a:sym typeface="Calibri"/>
            </a:endParaRPr>
          </a:p>
        </p:txBody>
      </p:sp>
      <p:sp>
        <p:nvSpPr>
          <p:cNvPr id="219" name="Google Shape;219;p16"/>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74E13"/>
                </a:solidFill>
                <a:latin typeface="Arial"/>
                <a:ea typeface="Arial"/>
                <a:cs typeface="Arial"/>
                <a:sym typeface="Arial"/>
              </a:rPr>
              <a:t>velocity gradient</a:t>
            </a:r>
            <a:r>
              <a:rPr b="0" i="0" lang="en-US" sz="1600" u="none" cap="none" strike="noStrike">
                <a:solidFill>
                  <a:srgbClr val="000000"/>
                </a:solidFill>
                <a:latin typeface="Arial"/>
                <a:ea typeface="Arial"/>
                <a:cs typeface="Arial"/>
                <a:sym typeface="Arial"/>
              </a:rPr>
              <a:t> is a difference in speed between parts of the same moving body of water, here between the water emitted first at the front and the water emitted behind it. Faster rear water can catch up with slower front water.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Gerullis and Schuster measured the tip speed during the first 20 ms of jet formation. The tip accelerated even while the jet rose against gravity, because it remained connected to subsequently emitted water moving faster than the early water.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Published fits gave total speed increments of 2.7–3.8 m/s, and the increment increased with target height. A larger difference between early and subsequent water therefore belongs to a longer intended range, unlike an ordinary rigid projectile.</a:t>
            </a:r>
            <a:endParaRPr b="0" i="0" sz="1800" u="none" cap="none" strike="noStrike">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2">
            <a:alphaModFix/>
          </a:blip>
          <a:srcRect b="0" l="0" r="0" t="0"/>
          <a:stretch/>
        </p:blipFill>
        <p:spPr>
          <a:xfrm>
            <a:off x="6367156" y="1280071"/>
            <a:ext cx="5257520" cy="1797100"/>
          </a:xfrm>
          <a:prstGeom prst="rect">
            <a:avLst/>
          </a:prstGeom>
          <a:noFill/>
          <a:ln>
            <a:noFill/>
          </a:ln>
        </p:spPr>
      </p:pic>
      <p:sp>
        <p:nvSpPr>
          <p:cNvPr id="223" name="Google Shape;223;p16"/>
          <p:cNvSpPr/>
          <p:nvPr/>
        </p:nvSpPr>
        <p:spPr>
          <a:xfrm>
            <a:off x="6367016" y="3168700"/>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2(A–C). Tip acceleration during the first 20 ms at three target heights.</a:t>
            </a:r>
            <a:endParaRPr b="0" i="0" sz="1800" u="none" cap="none" strike="noStrike">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3">
            <a:alphaModFix/>
          </a:blip>
          <a:srcRect b="0" l="0" r="0" t="0"/>
          <a:stretch/>
        </p:blipFill>
        <p:spPr>
          <a:xfrm>
            <a:off x="8277398" y="4297561"/>
            <a:ext cx="1437185" cy="1462980"/>
          </a:xfrm>
          <a:prstGeom prst="rect">
            <a:avLst/>
          </a:prstGeom>
          <a:noFill/>
          <a:ln>
            <a:noFill/>
          </a:ln>
        </p:spPr>
      </p:pic>
      <p:sp>
        <p:nvSpPr>
          <p:cNvPr id="225" name="Google Shape;225;p16"/>
          <p:cNvSpPr/>
          <p:nvPr/>
        </p:nvSpPr>
        <p:spPr>
          <a:xfrm>
            <a:off x="6367016" y="5833765"/>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2(D). Speed increment increases with target height.</a:t>
            </a:r>
            <a:endParaRPr b="0" i="0" sz="1800" u="none" cap="none" strike="noStrike">
              <a:solidFill>
                <a:schemeClr val="dk1"/>
              </a:solidFill>
              <a:latin typeface="Calibri"/>
              <a:ea typeface="Calibri"/>
              <a:cs typeface="Calibri"/>
              <a:sym typeface="Calibri"/>
            </a:endParaRPr>
          </a:p>
        </p:txBody>
      </p:sp>
      <p:sp>
        <p:nvSpPr>
          <p:cNvPr id="226" name="Google Shape;226;p16"/>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28" name="Google Shape;228;p1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16a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focused jet gathers water into a compact tip</a:t>
            </a:r>
            <a:endParaRPr b="0" i="0" sz="1800" u="none" cap="none" strike="noStrike">
              <a:solidFill>
                <a:schemeClr val="dk1"/>
              </a:solidFill>
              <a:latin typeface="Calibri"/>
              <a:ea typeface="Calibri"/>
              <a:cs typeface="Calibri"/>
              <a:sym typeface="Calibri"/>
            </a:endParaRPr>
          </a:p>
        </p:txBody>
      </p:sp>
      <p:sp>
        <p:nvSpPr>
          <p:cNvPr id="193" name="Google Shape;193;p14"/>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74E13"/>
                </a:solidFill>
                <a:latin typeface="Arial"/>
                <a:ea typeface="Arial"/>
                <a:cs typeface="Arial"/>
                <a:sym typeface="Arial"/>
              </a:rPr>
              <a:t>focused jet</a:t>
            </a:r>
            <a:r>
              <a:rPr b="0" i="0" lang="en-US" sz="1600" u="none" cap="none" strike="noStrike">
                <a:solidFill>
                  <a:srgbClr val="000000"/>
                </a:solidFill>
                <a:latin typeface="Arial"/>
                <a:ea typeface="Arial"/>
                <a:cs typeface="Arial"/>
                <a:sym typeface="Arial"/>
              </a:rPr>
              <a:t> is one in which the water has gathered into a concentrated tip, so that the water arrives at the target as a compact mass. The focusing distance is the distance along the path at which the water finishes gathering.</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In shots aimed at a target 60 cm high, the water had not finished assembling at the jet tip after 30 cm of travel, and near impact the tip became concentrated. A shot aimed at 20 cm was already focused at that closer target height.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Preimpact tips were similarly concentrated across the three target heights, whereas intermediate shapes differed with the intended range. The focusing distance is therefore adjusted to the distance of the target and is not fixed near the mouth.</a:t>
            </a:r>
            <a:endParaRPr b="0" i="0" sz="1800" u="none" cap="none" strike="noStrike">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2">
            <a:alphaModFix/>
          </a:blip>
          <a:srcRect b="0" l="0" r="0" t="0"/>
          <a:stretch/>
        </p:blipFill>
        <p:spPr>
          <a:xfrm>
            <a:off x="7525512" y="1280071"/>
            <a:ext cx="2940958" cy="4297561"/>
          </a:xfrm>
          <a:prstGeom prst="rect">
            <a:avLst/>
          </a:prstGeom>
          <a:noFill/>
          <a:ln>
            <a:noFill/>
          </a:ln>
        </p:spPr>
      </p:pic>
      <p:sp>
        <p:nvSpPr>
          <p:cNvPr id="197" name="Google Shape;197;p14"/>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Gerullis &amp; Schuster (2014), Fig. 1(A–B). A 60-cm shot midway through travel and just before impact.</a:t>
            </a:r>
            <a:endParaRPr b="0" i="0" sz="1800" u="none" cap="none" strike="noStrike">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Gerullis &amp; Schuster (2014)</a:t>
            </a:r>
            <a:endParaRPr b="0" i="0" sz="1800" u="none" cap="none" strike="noStrike">
              <a:solidFill>
                <a:schemeClr val="dk1"/>
              </a:solidFill>
              <a:latin typeface="Calibri"/>
              <a:ea typeface="Calibri"/>
              <a:cs typeface="Calibri"/>
              <a:sym typeface="Calibri"/>
            </a:endParaRPr>
          </a:p>
        </p:txBody>
      </p:sp>
      <p:sp>
        <p:nvSpPr>
          <p:cNvPr id="200" name="Google Shape;200;p1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14a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38" name="Google Shape;138;p10"/>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Angular speed and linear speed measure different things</a:t>
            </a:r>
            <a:endParaRPr b="0" i="0" sz="1800" u="none" cap="none" strike="noStrike">
              <a:solidFill>
                <a:schemeClr val="dk1"/>
              </a:solidFill>
              <a:latin typeface="Calibri"/>
              <a:ea typeface="Calibri"/>
              <a:cs typeface="Calibri"/>
              <a:sym typeface="Calibri"/>
            </a:endParaRPr>
          </a:p>
        </p:txBody>
      </p:sp>
      <p:sp>
        <p:nvSpPr>
          <p:cNvPr id="139" name="Google Shape;139;p10"/>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1" i="0" lang="en-US" sz="1600" u="none" cap="none" strike="noStrike">
                <a:solidFill>
                  <a:srgbClr val="274E13"/>
                </a:solidFill>
                <a:latin typeface="Arial"/>
                <a:ea typeface="Arial"/>
                <a:cs typeface="Arial"/>
                <a:sym typeface="Arial"/>
              </a:rPr>
              <a:t>Angular speed</a:t>
            </a:r>
            <a:r>
              <a:rPr b="0" i="0" lang="en-US" sz="1600" u="none" cap="none" strike="noStrike">
                <a:solidFill>
                  <a:srgbClr val="000000"/>
                </a:solidFill>
                <a:latin typeface="Arial"/>
                <a:ea typeface="Arial"/>
                <a:cs typeface="Arial"/>
                <a:sym typeface="Arial"/>
              </a:rPr>
              <a:t> is the rate at which the body axis rotates, expressed in degrees per second. Linear speed is the rate at which the center of mass moves through the water, in meters per second, and acceleration is the rate at which either speed changes.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Wöhl and Schuster reconstructed angular and linear motion from high-speed video. Predictive starts reached angular speeds above 4500°/s and linear speeds as high as 2.1 m/s, with peak linear acceleration reaching 120 m/s².</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Angular speed generally peaked during initial bending, whereas the strongest linear speed occurred after straightening began. These different time courses separate reorientation from acceleration toward the predicted destination, so one maneuver sets both heading and take-off speed.</a:t>
            </a:r>
            <a:endParaRPr b="0" i="0" sz="1800" u="none" cap="none" strike="noStrike">
              <a:solidFill>
                <a:schemeClr val="dk1"/>
              </a:solidFill>
              <a:latin typeface="Calibri"/>
              <a:ea typeface="Calibri"/>
              <a:cs typeface="Calibri"/>
              <a:sym typeface="Calibri"/>
            </a:endParaRPr>
          </a:p>
        </p:txBody>
      </p:sp>
      <p:pic>
        <p:nvPicPr>
          <p:cNvPr id="142" name="Google Shape;142;p10"/>
          <p:cNvPicPr preferRelativeResize="0"/>
          <p:nvPr/>
        </p:nvPicPr>
        <p:blipFill rotWithShape="1">
          <a:blip r:embed="rId2">
            <a:alphaModFix/>
          </a:blip>
          <a:srcRect b="0" l="0" r="0" t="0"/>
          <a:stretch/>
        </p:blipFill>
        <p:spPr>
          <a:xfrm>
            <a:off x="8284518" y="1280072"/>
            <a:ext cx="1422797" cy="2468758"/>
          </a:xfrm>
          <a:prstGeom prst="rect">
            <a:avLst/>
          </a:prstGeom>
          <a:noFill/>
          <a:ln>
            <a:noFill/>
          </a:ln>
        </p:spPr>
      </p:pic>
      <p:sp>
        <p:nvSpPr>
          <p:cNvPr id="143" name="Google Shape;143;p10"/>
          <p:cNvSpPr/>
          <p:nvPr/>
        </p:nvSpPr>
        <p:spPr>
          <a:xfrm>
            <a:off x="6367016" y="38403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5(A–B). Angular speed and acceleration during predictive starts.</a:t>
            </a:r>
            <a:endParaRPr b="0" i="0" sz="1800" u="none" cap="none" strike="noStrike">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8575625" y="4297644"/>
            <a:ext cx="840730" cy="1462814"/>
          </a:xfrm>
          <a:prstGeom prst="rect">
            <a:avLst/>
          </a:prstGeom>
          <a:noFill/>
          <a:ln>
            <a:noFill/>
          </a:ln>
        </p:spPr>
      </p:pic>
      <p:sp>
        <p:nvSpPr>
          <p:cNvPr id="145" name="Google Shape;145;p10"/>
          <p:cNvSpPr/>
          <p:nvPr/>
        </p:nvSpPr>
        <p:spPr>
          <a:xfrm>
            <a:off x="6367016" y="5833765"/>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Wöhl &amp; Schuster (2007), Fig. 6(A–B). Linear speed and acceleration for different required take-off speeds.</a:t>
            </a:r>
            <a:endParaRPr b="0" i="0" sz="1800" u="none" cap="none" strike="noStrike">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Wöhl &amp; Schuster (2007)</a:t>
            </a:r>
            <a:endParaRPr b="0" i="0" sz="1800" u="none" cap="none" strike="noStrike">
              <a:solidFill>
                <a:schemeClr val="dk1"/>
              </a:solidFill>
              <a:latin typeface="Calibri"/>
              <a:ea typeface="Calibri"/>
              <a:cs typeface="Calibri"/>
              <a:sym typeface="Calibri"/>
            </a:endParaRPr>
          </a:p>
        </p:txBody>
      </p:sp>
      <p:sp>
        <p:nvSpPr>
          <p:cNvPr id="148" name="Google Shape;148;p1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10a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2" name="Google Shape;112;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virtual landing point is defined by starting conditions</a:t>
            </a:r>
            <a:endParaRPr b="0" i="0" sz="1800" u="none" cap="none" strike="noStrike">
              <a:solidFill>
                <a:schemeClr val="dk1"/>
              </a:solidFill>
              <a:latin typeface="Calibri"/>
              <a:ea typeface="Calibri"/>
              <a:cs typeface="Calibri"/>
              <a:sym typeface="Calibri"/>
            </a:endParaRPr>
          </a:p>
        </p:txBody>
      </p:sp>
      <p:sp>
        <p:nvSpPr>
          <p:cNvPr id="113" name="Google Shape;113;p8"/>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A </a:t>
            </a:r>
            <a:r>
              <a:rPr b="1" i="0" lang="en-US" sz="1450" u="none" cap="none" strike="noStrike">
                <a:solidFill>
                  <a:srgbClr val="252D35"/>
                </a:solidFill>
                <a:latin typeface="Arial"/>
                <a:ea typeface="Arial"/>
                <a:cs typeface="Arial"/>
                <a:sym typeface="Arial"/>
              </a:rPr>
              <a:t>virtual landing point</a:t>
            </a:r>
            <a:r>
              <a:rPr b="0" i="0" lang="en-US" sz="1450" u="none" cap="none" strike="noStrike">
                <a:solidFill>
                  <a:srgbClr val="000000"/>
                </a:solidFill>
                <a:latin typeface="Arial"/>
                <a:ea typeface="Arial"/>
                <a:cs typeface="Arial"/>
                <a:sym typeface="Arial"/>
              </a:rPr>
              <a:t> is the destination at which prey with a given initial height and horizontal velocity would have entered the water if it had been allowed to fall. The experimenter defines it from the starting conditions, because the prey on the screen never descends.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Rossel and colleagues placed prey on a transparent horizontal glass screen at 20 or 40 cm height. Air from a blast pipe moved the object horizontally at speeds within the natural take-off range, so the target moved without descending toward the water.</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450" u="none" cap="none" strike="noStrike">
                <a:solidFill>
                  <a:srgbClr val="000000"/>
                </a:solidFill>
                <a:latin typeface="Arial"/>
                <a:ea typeface="Arial"/>
                <a:cs typeface="Arial"/>
                <a:sym typeface="Arial"/>
              </a:rPr>
              <a:t>Errors relative to the virtual point were centered near zero at both heights, so fish turned toward the destination that the motion would have produced. The response therefore depends on initial height, speed and direction, and not on a visible water-entry event.</a:t>
            </a:r>
            <a:endParaRPr b="0" i="0" sz="1800" u="none" cap="none" strike="noStrike">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2">
            <a:alphaModFix/>
          </a:blip>
          <a:srcRect b="0" l="0" r="0" t="0"/>
          <a:stretch/>
        </p:blipFill>
        <p:spPr>
          <a:xfrm>
            <a:off x="7098083" y="1280071"/>
            <a:ext cx="3795815" cy="4297561"/>
          </a:xfrm>
          <a:prstGeom prst="rect">
            <a:avLst/>
          </a:prstGeom>
          <a:noFill/>
          <a:ln>
            <a:noFill/>
          </a:ln>
        </p:spPr>
      </p:pic>
      <p:sp>
        <p:nvSpPr>
          <p:cNvPr id="117" name="Google Shape;117;p8"/>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7(A–B). Turns toward virtual landing points for targets moving horizontally.</a:t>
            </a:r>
            <a:endParaRPr b="0" i="0" sz="1800" u="none" cap="none" strike="noStrike">
              <a:solidFill>
                <a:schemeClr val="dk1"/>
              </a:solidFill>
              <a:latin typeface="Calibri"/>
              <a:ea typeface="Calibri"/>
              <a:cs typeface="Calibri"/>
              <a:sym typeface="Calibri"/>
            </a:endParaRPr>
          </a:p>
        </p:txBody>
      </p:sp>
      <p:sp>
        <p:nvSpPr>
          <p:cNvPr id="118" name="Google Shape;118;p8"/>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120" name="Google Shape;120;p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08a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9" name="Google Shape;99;p7"/>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Open-loop control runs without feedback</a:t>
            </a:r>
            <a:endParaRPr b="0" i="0" sz="1800" u="none" cap="none" strike="noStrike">
              <a:solidFill>
                <a:schemeClr val="dk1"/>
              </a:solidFill>
              <a:latin typeface="Calibri"/>
              <a:ea typeface="Calibri"/>
              <a:cs typeface="Calibri"/>
              <a:sym typeface="Calibri"/>
            </a:endParaRPr>
          </a:p>
        </p:txBody>
      </p:sp>
      <p:sp>
        <p:nvSpPr>
          <p:cNvPr id="100" name="Google Shape;100;p7"/>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1" i="0" lang="en-US" sz="1600" u="none" cap="none" strike="noStrike">
                <a:solidFill>
                  <a:srgbClr val="274E13"/>
                </a:solidFill>
                <a:latin typeface="Arial"/>
                <a:ea typeface="Arial"/>
                <a:cs typeface="Arial"/>
                <a:sym typeface="Arial"/>
              </a:rPr>
              <a:t>Open-loop</a:t>
            </a:r>
            <a:r>
              <a:rPr b="0" i="0" lang="en-US" sz="1600" u="none" cap="none" strike="noStrike">
                <a:solidFill>
                  <a:srgbClr val="000000"/>
                </a:solidFill>
                <a:latin typeface="Arial"/>
                <a:ea typeface="Arial"/>
                <a:cs typeface="Arial"/>
                <a:sym typeface="Arial"/>
              </a:rPr>
              <a:t> control is a mode in which a movement is set in advance and runs without adjustment from feedback about its own outcome. Closed-loop control compares the outcome with the goal during the movement and corrects it.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Rossel and colleagues tethered prey with a thin filament. The fly moved freely for slightly more than 100 ms, then stopped and reversed when the filament became taut. Fish still turned and initially accelerated toward the landing point predicted from the early motion.</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The initial turn and acceleration behaved as an open-loop command, because the contradicting trajectory did not alter them at once. Corrections appeared much afterward, so visual feedback acts on the response only after the initial phase.</a:t>
            </a:r>
            <a:endParaRPr b="0" i="0" sz="1800" u="none" cap="none" strike="noStrike">
              <a:solidFill>
                <a:schemeClr val="dk1"/>
              </a:solidFill>
              <a:latin typeface="Calibri"/>
              <a:ea typeface="Calibri"/>
              <a:cs typeface="Calibri"/>
              <a:sym typeface="Calibri"/>
            </a:endParaRPr>
          </a:p>
        </p:txBody>
      </p:sp>
      <p:pic>
        <p:nvPicPr>
          <p:cNvPr id="103" name="Google Shape;103;p7"/>
          <p:cNvPicPr preferRelativeResize="0"/>
          <p:nvPr/>
        </p:nvPicPr>
        <p:blipFill rotWithShape="1">
          <a:blip r:embed="rId2">
            <a:alphaModFix/>
          </a:blip>
          <a:srcRect b="0" l="0" r="0" t="0"/>
          <a:stretch/>
        </p:blipFill>
        <p:spPr>
          <a:xfrm>
            <a:off x="7066719" y="1280071"/>
            <a:ext cx="3858394" cy="4297561"/>
          </a:xfrm>
          <a:prstGeom prst="rect">
            <a:avLst/>
          </a:prstGeom>
          <a:noFill/>
          <a:ln>
            <a:noFill/>
          </a:ln>
        </p:spPr>
      </p:pic>
      <p:sp>
        <p:nvSpPr>
          <p:cNvPr id="104" name="Google Shape;104;p7"/>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4(A–B). Turn onset and completion relative to prey landing.</a:t>
            </a:r>
            <a:endParaRPr b="0" i="0" sz="1800" u="none" cap="none" strike="noStrike">
              <a:solidFill>
                <a:schemeClr val="dk1"/>
              </a:solidFill>
              <a:latin typeface="Calibri"/>
              <a:ea typeface="Calibri"/>
              <a:cs typeface="Calibri"/>
              <a:sym typeface="Calibri"/>
            </a:endParaRPr>
          </a:p>
        </p:txBody>
      </p:sp>
      <p:sp>
        <p:nvSpPr>
          <p:cNvPr id="105" name="Google Shape;105;p7"/>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07a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1" name="Google Shape;71;p5"/>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Heading is the direction of the body axis</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500"/>
              <a:buFont typeface="Arial"/>
              <a:buNone/>
            </a:pPr>
            <a:r>
              <a:rPr b="1" i="0" lang="en-US" sz="1500" u="none" cap="none" strike="noStrike">
                <a:solidFill>
                  <a:srgbClr val="274E13"/>
                </a:solidFill>
                <a:latin typeface="Arial"/>
                <a:ea typeface="Arial"/>
                <a:cs typeface="Arial"/>
                <a:sym typeface="Arial"/>
              </a:rPr>
              <a:t>Heading</a:t>
            </a:r>
            <a:r>
              <a:rPr b="0" i="0" lang="en-US" sz="1500" u="none" cap="none" strike="noStrike">
                <a:solidFill>
                  <a:srgbClr val="000000"/>
                </a:solidFill>
                <a:latin typeface="Arial"/>
                <a:ea typeface="Arial"/>
                <a:cs typeface="Arial"/>
                <a:sym typeface="Arial"/>
              </a:rPr>
              <a:t> is the direction in which the body axis points at a given moment. A bystander's initial heading can differ greatly from the direction in which a dislodged fly moves, so the angle of the required turn changes from trial to trial.</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500"/>
              <a:buFont typeface="Arial"/>
              <a:buNone/>
            </a:pPr>
            <a:r>
              <a:rPr b="0" i="0" lang="en-US" sz="1500" u="none" cap="none" strike="noStrike">
                <a:solidFill>
                  <a:srgbClr val="000000"/>
                </a:solidFill>
                <a:latin typeface="Arial"/>
                <a:ea typeface="Arial"/>
                <a:cs typeface="Arial"/>
                <a:sym typeface="Arial"/>
              </a:rPr>
              <a:t>Rossel and colleagues sampled this angular relation at both 20- and 40-cm prey heights, including orientations that required large turns before acceleration toward the destination. The fish occupied different positions and orientations in the tank, so the same destination was reached from many starting headings.</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500"/>
              <a:buFont typeface="Arial"/>
              <a:buNone/>
            </a:pPr>
            <a:r>
              <a:rPr b="0" i="0" lang="en-US" sz="1500" u="none" cap="none" strike="noStrike">
                <a:solidFill>
                  <a:srgbClr val="000000"/>
                </a:solidFill>
                <a:latin typeface="Arial"/>
                <a:ea typeface="Arial"/>
                <a:cs typeface="Arial"/>
                <a:sym typeface="Arial"/>
              </a:rPr>
              <a:t>The turn needed to reach the destination depends on the heading at the moment of the response. A fixed turn angle would succeed from only one starting orientation, so the responder converts prey-motion information into a turn measured from its own body axis.</a:t>
            </a:r>
            <a:endParaRPr b="0" i="0" sz="1800" u="none" cap="none" strike="noStrike">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2">
            <a:alphaModFix/>
          </a:blip>
          <a:srcRect b="0" l="0" r="0" t="0"/>
          <a:stretch/>
        </p:blipFill>
        <p:spPr>
          <a:xfrm>
            <a:off x="7168238" y="1280071"/>
            <a:ext cx="3655504" cy="4297561"/>
          </a:xfrm>
          <a:prstGeom prst="rect">
            <a:avLst/>
          </a:prstGeom>
          <a:noFill/>
          <a:ln>
            <a:noFill/>
          </a:ln>
        </p:spPr>
      </p:pic>
      <p:sp>
        <p:nvSpPr>
          <p:cNvPr id="76" name="Google Shape;76;p5"/>
          <p:cNvSpPr/>
          <p:nvPr/>
        </p:nvSpPr>
        <p:spPr>
          <a:xfrm>
            <a:off x="6367016" y="5669161"/>
            <a:ext cx="52768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Rossel et al. (2002), Fig. 3(A–B). Initial orientations sampled during prey interception.</a:t>
            </a:r>
            <a:endParaRPr b="0" i="0" sz="1800" u="none" cap="none" strike="noStrike">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a:t>
            </a:r>
            <a:endParaRPr b="0" i="0" sz="1800" u="none" cap="none" strike="noStrike">
              <a:solidFill>
                <a:schemeClr val="dk1"/>
              </a:solidFill>
              <a:latin typeface="Calibri"/>
              <a:ea typeface="Calibri"/>
              <a:cs typeface="Calibri"/>
              <a:sym typeface="Calibri"/>
            </a:endParaRPr>
          </a:p>
        </p:txBody>
      </p:sp>
      <p:sp>
        <p:nvSpPr>
          <p:cNvPr id="79" name="Google Shape;79;p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05a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6475C"/>
              </a:buClr>
              <a:buSzPts val="3000"/>
              <a:buFont typeface="Arial"/>
              <a:buNone/>
            </a:pPr>
            <a:r>
              <a:rPr b="1" i="0" lang="en-US" sz="3000" u="none" cap="none" strike="noStrike">
                <a:solidFill>
                  <a:srgbClr val="274E13"/>
                </a:solidFill>
                <a:latin typeface="Arial"/>
                <a:ea typeface="Arial"/>
                <a:cs typeface="Arial"/>
                <a:sym typeface="Arial"/>
              </a:rPr>
              <a:t>A predictive start is aimed at the future landing point</a:t>
            </a:r>
            <a:endParaRPr b="0" i="0" sz="1800" u="none" cap="none" strike="noStrike">
              <a:solidFill>
                <a:srgbClr val="274E13"/>
              </a:solidFill>
              <a:latin typeface="Calibri"/>
              <a:ea typeface="Calibri"/>
              <a:cs typeface="Calibri"/>
              <a:sym typeface="Calibri"/>
            </a:endParaRPr>
          </a:p>
        </p:txBody>
      </p:sp>
      <p:sp>
        <p:nvSpPr>
          <p:cNvPr id="33" name="Google Shape;33;p2"/>
          <p:cNvSpPr/>
          <p:nvPr/>
        </p:nvSpPr>
        <p:spPr>
          <a:xfrm>
            <a:off x="566886" y="1234380"/>
            <a:ext cx="545336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A </a:t>
            </a:r>
            <a:r>
              <a:rPr b="1" i="0" lang="en-US" sz="1600" u="none" cap="none" strike="noStrike">
                <a:solidFill>
                  <a:srgbClr val="274E13"/>
                </a:solidFill>
                <a:latin typeface="Arial"/>
                <a:ea typeface="Arial"/>
                <a:cs typeface="Arial"/>
                <a:sym typeface="Arial"/>
              </a:rPr>
              <a:t>predictive start</a:t>
            </a:r>
            <a:r>
              <a:rPr b="0" i="0" lang="en-US" sz="1600" u="none" cap="none" strike="noStrike">
                <a:solidFill>
                  <a:srgbClr val="000000"/>
                </a:solidFill>
                <a:latin typeface="Arial"/>
                <a:ea typeface="Arial"/>
                <a:cs typeface="Arial"/>
                <a:sym typeface="Arial"/>
              </a:rPr>
              <a:t> is a rapid turn and acceleration that sends a fish toward the point where prey will land, begun while the prey is still in the air. It differs from pursuit, in which the fish follows the current position of a visible target.</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1200"/>
              </a:spcAft>
              <a:buClr>
                <a:srgbClr val="29343B"/>
              </a:buClr>
              <a:buSzPts val="1600"/>
              <a:buFont typeface="Arial"/>
              <a:buNone/>
            </a:pPr>
            <a:r>
              <a:rPr b="0" i="0" lang="en-US" sz="1600" u="none" cap="none" strike="noStrike">
                <a:solidFill>
                  <a:srgbClr val="000000"/>
                </a:solidFill>
                <a:latin typeface="Arial"/>
                <a:ea typeface="Arial"/>
                <a:cs typeface="Arial"/>
                <a:sym typeface="Arial"/>
              </a:rPr>
              <a:t>Rossel and colleagues recorded fish and dislodged flies from above. Responding fish initiated a rapid turn within approximately 100 ms, aligned toward the future landing point, and accelerated along that heading while the prey remained airborne.</a:t>
            </a:r>
            <a:endParaRPr b="0" i="0" sz="1800" u="none" cap="none" strike="noStrike">
              <a:solidFill>
                <a:schemeClr val="dk1"/>
              </a:solidFill>
              <a:latin typeface="Calibri"/>
              <a:ea typeface="Calibri"/>
              <a:cs typeface="Calibri"/>
              <a:sym typeface="Calibri"/>
            </a:endParaRPr>
          </a:p>
          <a:p>
            <a:pPr indent="0" lvl="0" marL="0" marR="0" rtl="0" algn="l">
              <a:lnSpc>
                <a:spcPct val="108000"/>
              </a:lnSpc>
              <a:spcAft>
                <a:spcPts val="0"/>
              </a:spcAft>
              <a:buClr>
                <a:srgbClr val="29343B"/>
              </a:buClr>
              <a:buSzPts val="1600"/>
              <a:buFont typeface="Arial"/>
              <a:buNone/>
            </a:pPr>
            <a:r>
              <a:rPr b="0" i="0" lang="en-US" sz="1600" u="none" cap="none" strike="noStrike">
                <a:solidFill>
                  <a:srgbClr val="000000"/>
                </a:solidFill>
                <a:latin typeface="Arial"/>
                <a:ea typeface="Arial"/>
                <a:cs typeface="Arial"/>
                <a:sym typeface="Arial"/>
              </a:rPr>
              <a:t>Securing the food requires reaching the water-entry point before another fish does, so the turn must be aimed at a destination that the prey has not yet reached. The shooter and nearby bystanders can both respond.</a:t>
            </a:r>
            <a:endParaRPr b="0" i="0" sz="1800" u="none" cap="none" strike="noStrike">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2">
            <a:alphaModFix/>
          </a:blip>
          <a:srcRect b="0" l="0" r="0" t="0"/>
          <a:stretch/>
        </p:blipFill>
        <p:spPr>
          <a:xfrm>
            <a:off x="7585949" y="1280071"/>
            <a:ext cx="2820083" cy="4297561"/>
          </a:xfrm>
          <a:prstGeom prst="rect">
            <a:avLst/>
          </a:prstGeom>
          <a:noFill/>
          <a:ln>
            <a:noFill/>
          </a:ln>
        </p:spPr>
      </p:pic>
      <p:sp>
        <p:nvSpPr>
          <p:cNvPr id="37" name="Google Shape;37;p2"/>
          <p:cNvSpPr/>
          <p:nvPr/>
        </p:nvSpPr>
        <p:spPr>
          <a:xfrm>
            <a:off x="6367016" y="5669161"/>
            <a:ext cx="52768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1000"/>
              <a:buFont typeface="Arial"/>
              <a:buNone/>
            </a:pPr>
            <a:r>
              <a:rPr b="0" i="0" lang="en-US" sz="1000" u="none" cap="none" strike="noStrike">
                <a:solidFill>
                  <a:srgbClr val="000000"/>
                </a:solidFill>
                <a:latin typeface="Arial"/>
                <a:ea typeface="Arial"/>
                <a:cs typeface="Arial"/>
                <a:sym typeface="Arial"/>
              </a:rPr>
              <a:t>Reichenthal et al. (2018), Fig. 1(A). Archerfish directing a water jet toward an aerial insect.</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8CD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Rossel et al. (2002); Gerullis &amp; Schuster (2014)</a:t>
            </a:r>
            <a:endParaRPr b="0" i="0" sz="1800" u="none" cap="none" strike="noStrike">
              <a:solidFill>
                <a:schemeClr val="dk1"/>
              </a:solidFill>
              <a:latin typeface="Calibri"/>
              <a:ea typeface="Calibri"/>
              <a:cs typeface="Calibri"/>
              <a:sym typeface="Calibri"/>
            </a:endParaRPr>
          </a:p>
        </p:txBody>
      </p:sp>
      <p:sp>
        <p:nvSpPr>
          <p:cNvPr id="40" name="Google Shape;40;p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67279"/>
              </a:buClr>
              <a:buSzPts val="900"/>
              <a:buFont typeface="Arial"/>
              <a:buNone/>
            </a:pPr>
            <a:r>
              <a:rPr b="0" i="0" lang="en-US" sz="900" u="none" cap="none" strike="noStrike">
                <a:solidFill>
                  <a:srgbClr val="000000"/>
                </a:solidFill>
                <a:latin typeface="Arial"/>
                <a:ea typeface="Arial"/>
                <a:cs typeface="Arial"/>
                <a:sym typeface="Arial"/>
              </a:rPr>
              <a:t>02a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2026-10-08T21:36:15.089Z</dcterms:created>
  <dc:creator>Presenton</dc:creator>
</cp:coreProperties>
</file>