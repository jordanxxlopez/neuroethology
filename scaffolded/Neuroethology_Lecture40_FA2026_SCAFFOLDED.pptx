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261" r:id="rId11"/>
    <p:sldId id="314" r:id="rId65"/>
    <p:sldId id="262" r:id="rId12"/>
    <p:sldId id="263" r:id="rId13"/>
    <p:sldId id="264" r:id="rId14"/>
    <p:sldId id="313" r:id="rId64"/>
    <p:sldId id="265" r:id="rId15"/>
    <p:sldId id="266" r:id="rId16"/>
    <p:sldId id="267" r:id="rId17"/>
    <p:sldId id="312" r:id="rId63"/>
    <p:sldId id="268" r:id="rId18"/>
    <p:sldId id="269" r:id="rId19"/>
    <p:sldId id="270" r:id="rId20"/>
    <p:sldId id="311" r:id="rId62"/>
    <p:sldId id="271" r:id="rId21"/>
    <p:sldId id="272" r:id="rId22"/>
    <p:sldId id="273" r:id="rId23"/>
    <p:sldId id="310" r:id="rId61"/>
    <p:sldId id="274" r:id="rId24"/>
    <p:sldId id="275" r:id="rId25"/>
    <p:sldId id="276" r:id="rId26"/>
    <p:sldId id="309" r:id="rId60"/>
    <p:sldId id="277" r:id="rId27"/>
    <p:sldId id="278" r:id="rId28"/>
    <p:sldId id="279" r:id="rId29"/>
    <p:sldId id="308" r:id="rId59"/>
    <p:sldId id="280" r:id="rId30"/>
    <p:sldId id="281" r:id="rId31"/>
    <p:sldId id="282" r:id="rId32"/>
    <p:sldId id="307" r:id="rId58"/>
    <p:sldId id="283" r:id="rId33"/>
    <p:sldId id="284" r:id="rId34"/>
    <p:sldId id="285" r:id="rId35"/>
    <p:sldId id="306" r:id="rId57"/>
    <p:sldId id="286" r:id="rId36"/>
    <p:sldId id="287" r:id="rId37"/>
    <p:sldId id="288" r:id="rId38"/>
    <p:sldId id="305" r:id="rId56"/>
    <p:sldId id="289" r:id="rId39"/>
    <p:sldId id="290" r:id="rId40"/>
    <p:sldId id="291" r:id="rId41"/>
    <p:sldId id="304" r:id="rId55"/>
    <p:sldId id="292" r:id="rId42"/>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WZG3EAFHG4KYys4rd+ahlCJzM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52bf159aa2472580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h52bf159aa2472580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Frontiers: optogenetics, wireless-recording tools in emerging neuroethology systems, and casual tests of neural circuits underlying natural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Lecture 40. NEUR 411 · NEUROETHOLOGY · FALL 2026. Friday, December 4, 2026.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 Nectochaete larva of Platynereis dumerilii.</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p:txBody>
      </p:sp>
      <p:sp>
        <p:nvSpPr>
          <p:cNvPr id="83" name="Google Shape;83;h52bf159aa2472580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Optogenetics changes cellular activity by expressing a light-sensitive protein in selected cells. A descending neuron carries signals from the brain toward the ventral nerve cord, a longitudinal nervous-system structure whose motor networks organize movement. Cande and colleagues expressed the light-gated channel CsChrimson in identified descending-neuron populations of adult flies.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Flies received 15-s pulses of red light separated by 45-s recovery periods. Retinal-fed experimental flies increased occupancy of particular grooming or locomotor behaviors, whereas genetically matched flies without supplemental retinal supplied a stimulation control. Retinal is the light-absorbing cofactor required by the channel.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fly can move within its chamber during stimulation. A behavioral change is attributed to the light-sensitive cells only after comparing it with flies that experience the same illumination but lack the supplied cofactor. The published P1–pIP10 arrangement identifies a brain-to-nerve-cord pathway; it is a separate courtship example, not the anatomical identity of the grooming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Recruiting a particular action establishes sufficiency: activating the tested cells can produce that response under the assay conditions. It does not establish that those cells normally initiate every occurrence of the behavior, or that the artificially imposed activity matches their natural firing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2(A–F). Grooming occupancy and entropy during 15-s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Channelrhodopsin-2, or ChR2, is a retinal-containing membrane protein from the green alga Chlamydomonas reinhardtii. An ion channel provides a pathway through which charged particles move across the membrane. Nagel and colleagues expressed ChR2 in frog oocytes and mammalian cells to determine its primary 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illumination near 450 nm produced currents absent from uninjected oocytes. Under voltage clamp, an amplifier holds membrane voltage at a selected value while measuring current. Changing the held voltage changed current magnitude and direction, supporting a passive conductance rather than an ion pump.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oocyte is an immature egg cell large enough for controlled electrical recordings. Expressing the same protein in more than one host helps separate its own function from a specialized component of the original algal sensory system. Passive ion movement follows electrical and concentration gradients rather than transporting a fixed ion number per photon.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truncated construct containing the first 315 amino acids retained channel function. The findings locate the light-gated conductance within the membrane-spanning portion of the protein. They establish a cellular mechanism in expression systems, rather than a causal role for ChR2 in an animal’s natural behavioral circuit.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Original ChR2 currents under ion substitution and voltage clamp.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10" name="Google Shape;11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Ion selectivity describes which charged species can pass through a channel. Nagel and colleagues replaced salts around ChR2-expressing oocytes while measuring the response to the same blue-light stimulation. Cations carry positive charge; anions carry negative 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varied with the available cation. Replacing external chloride with aspartate did not appreciably change the current or its reversal voltage. Reversal voltage is the membrane voltage at which the net measured current changes direction. Calcium could also pass through ChR2, whereas magnesium permeability was negligible under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Changing one solution component at a time asks which ion is responsible for the current. Protons are hydrogen ions, and pH expresses their availability. Calcium entry also activated a native oocyte current; suppressing that secondary response with a calcium-binding compound helped isolate the channel’s own calcium permeability.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At pH 9, with pH measuring acidity, the small current remaining in a solution containing the bulky cation N-methyl-D-glucamine disappeared, identifying a proton contribution at lower pH. These substitution controls support cation conduction. They do not justify assuming identical currents in neurons with different intracellular ion concentrations or membrane voltages.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Currents and selectivity under controlled salt solutions.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light-evoked current could arise either from the expressed protein itself or from a signaling pathway that activates another channel. Nagel and colleagues recorded ChR2 in excised membrane patches, membrane fragments separated from the intact cell with their internal solution experimentally controlled.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remained after soluble cellular contents were replaced. A 10-ns laser flash triggered channel opening with a rise time near 200 µs or faster. Closing was much slower and depended on intracellular pH, spanning approximately 10–400 ms across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inside-out patch exposes the membrane’s former cytoplasmic surface to the bathing solution. Manipulating that side of the membrane tests whether soluble cytoplasmic components are required and permits independent control of internal acidity. Rapid opening and pH-dependent closing are separate features of the measured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persistence and rapid onset support direct channel gating without a required diffusible intracellular messenger. The unequal opening and closing times also mean that light-pulse duration alone does not define the complete electrical response. These kinetics describe ChR2 in this preparation, not every subsequent channelrhodopsin variant.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3(a–g). Excised-patch responses to light and intracellular pH.</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34" name="Google Shape;13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Boyden and colleagues introduced a ChR2 fusion with yellow fluorescent protein into cultured rat neurons using a lentiviral vector, a modified virus that delivers an expression construct. The fluorescent tag identified the expressing cells and their membrane-associated processes.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light spanning 450–490 nm generated an average peak inward current near 496 pA, followed by a smaller sustained current near 193 pA. Neurons expressing the fluorescent tag alone did not produce light-evoked responses. These controls separate the channel’s electrical effect from fluorescence labeling and illumination.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picoampere is one trillionth of an ampere and expresses the current measured by the recording amplifier. The fluorescent signal locates the introduced protein but does not establish that every labeled process produces an equal photocurrent. The electrical measurement verifies that the expression construct can actually change membrane excitation.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Inward current depolarized the neuron, making its internal voltage less negative. Reaching firing threshold triggered an action potential, a rapid regenerative voltage change. A synapse is a contact that transmits signals between cells. Expression permits intervention without identifying the cell’s natural targets or behavioral function.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1(a–e). Membrane expression, inward current and light-evoked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46" name="Google Shape;14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action potential is a rapid regenerative change in membrane voltage that carries a neuronal signal. Boyden and colleagues recorded neurons while applying repeated 10–15-ms light pulses, comparing the timing of evoked spikes across repeated stimulation sequences.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same pulse sequence produced highly repeatable spike patterns, but not every light pulse elicited a spike. In two irregular stimulation protocols, about 76% and 85% of pulses successfully drove spikes. Spike reliability declined at higher rates in tests spanning 5–30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Current clamp allows membrane voltage to change while the amplifier records that change. Repeating the identical input distinguishes consistency of response timing from the probability that a response occurs. Precisely timed pulses can still fail to reach firing threshold, so temporal control and complete spike fidelity are different properties.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Continuous illumination produced a well-timed initial spike followed by less precisely timed activity. Thus, a pulse train defines a controlled input rather than a guaranteed identical spike train in every neuron. Behavioral interpretations require validation of the actual neural response, especially when expression level and firing properties vary between cells.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2(a–h). Repeated pulse trains and timing of 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58" name="Google Shape;15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Govorunova and colleagues expressed light-sensitive proteins from the cryptophyte alga Guillardia theta in mammalian cells. Two proteins, GtACR1 and GtACR2, functioned as anion channelrhodopsins, light-gated channels carrying negatively charged ions rather than the positive ions carried by ChR2.</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Changing external sodium, potassium or calcium did not shift photocurrent reversal as expected for cation conduction. Replacing chloride with a nonpermeant anion did shift reversal. Currents were measured while membrane voltage varied in 20-mV steps, with ion substitutions providing the selectivity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patch electrode solution determines much of the intracellular ion composition during a whole-cell recording. A current’s sign is therefore interpreted together with the actual solutions. The ion-substitution measurements distinguish what the channel conducts from whether a particular neuron is inhibited by that conductance.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chloride dependence supports anion conduction and excludes a simple inference from the sign of one recorded current. GtACRs could produce an inward current with a high-chloride recording solution. Whether the resulting voltage response excites or suppresses a neuron depends on its chloride gradient and starting membrane voltage.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2(A–D). Cation substitution and photocurrent reversal in GtACRs.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3(A–D). Chloride substitution identifies anion selectivity.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p:txBody>
      </p:sp>
      <p:sp>
        <p:nvSpPr>
          <p:cNvPr id="172" name="Google Shape;17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chloride equilibrium potential is the voltage at which the electrical and concentration forces on chloride balance. Opening an anion channel moves the membrane response toward this voltage; it does not impose a universal hyperpolarizing effect independent of the cell’s ionic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 cultured rat neurons studied by Govorunova and colleagues, GtACR2 photocurrent reversed near −88 mV. Illumination suppressed current-evoked spikes, including trains up to at least 25 Hz. In the tested ramp protocol, full suppression occurred at a light intensity of 0.005 mW/mm².</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externally injected current attempts to make the neuron fire while the optical intervention changes its membrane conductance. Suppression during that challenge is stronger evidence of functional inhibition than fluorescence expression alone. The accompanying neuronal morphology comes from the foundational ChR2 study and is not an image of a GtACR2-expressing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Dark-state electrical properties and morphology were retained in expressing neurons. The experiment validates effective silencing under the measured recording conditions. It does not establish the same chloride gradient in every cell compartment or species, and therefore cannot replace direct validation of inhibition in a new behavioral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4(A–F). GtACR2 current reversal, spike suppression and light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86" name="Google Shape;18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adult fly’s cuticle, its external body covering, limits light reaching internal neurons. Inagaki and colleagues measured light transmission and compared several opsins, retinal-binding light-sensitive proteins, in peripheral and central neuronal populations of intact Drosophila melanogaster.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red-activatable channelrhodopsin ReaChR supported stimulation with 627-nm light. In gustatory receptor neurons, cells that detect chemical taste cues, 100-ms pulses at 1 Hz produced temporally controlled spiking and proboscis extension, the outward movement of the feeding appendage.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Trafficking is the movement of an expressed protein to the cellular location where it can act, including the membrane of neuronal processes. A wavelength that activates an isolated neuron well may work poorly through intact tissue. The adult-fly photograph is from the separate Flyception2 imaging preparation, not the ReaChR activation assay.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also drove central-neuron behavioral responses under conditions where several blue-sensitive variants were ineffective. Cuticle penetration, protein expression and membrane trafficking all contributed to efficacy. Red illumination reduced a visual-stimulation concern, but wavelength choice did not remove the need for light-only controls or physiological validation.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1(a–h). Opsin comparisons, cuticle transmission and gustatory-neuron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1(c). Head imaging window and retroreflective beads on an adult fly.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200" name="Google Shape;20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Light can affect behavior through the animal’s normal sensory pathways as well as through an introduced opsin. Inagaki and colleagues compared intact flies expressing different opsins with no-opsin controls under the same illumination and behavioral scoring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activation recruited distinct responses depending on the targeted population, including wing extension and side walking. No-opsin controls did not produce these characteristic responses. With 5-ms red-light pulses targeting courtship-related P1 brain neurons, response probability increased with pulse frequency, reaching its fitted midpoint near 38.3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control animal sees the light and experiences the chamber without carrying the functional actuator in the tested cells. That comparison tests ordinary sensory responses to illumination. Increasing activation can recruit a different motor outcome, so the existence of a dose-dependent effect is not proof that every dose reproduces natural circuit operation.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dose-response relationship links stimulation strength to response probability, but cannot alone identify a natural neuronal firing rate. At high activation intensities some populations produced paralysis rather than the lower-intensity behavior. Control genotypes and stimulation intensity therefore constrain which neuronal contribution can be inferred from an induced 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2(a–g). Intact-fly optical activation and matched no-opsin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14" name="Google Shape;21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P1 neurons are a male-specific group of brain interneurons implicated in courtship control. An interneuron connects neural processing stages rather than directly serving as a muscle’s motor output. Inagaki and colleagues compared ReaChR-driven wing extension after 7 days of single or group housing.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Single-housed males responded at lower red-light intensities than group-housed males. By contrast, activating the descending courtship neurons pIP10 did not reveal the same housing-dependent sensitivity shift. The comparison used matched stimulation methods while changing the animal’s social experience.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Wing extension is the measured courtship-associated movement, rather than a claim about a subjective motivational state. The different housing effects at two activation sites constrain where the experience-dependent change could act. They do not prove that all neurons downstream of P1 changed or that pIP10 is the only pathway used by natural courtship.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Experience therefore modifies the behavioral consequence of activation at P1 or a functionally downstream stage preceding the pIP10-dependent output. The result does not establish a specific transmitter, receptor or intracellular plasticity mechanism. The published circuit arrangement marks proposed functional relationships rather than a complete synaptically verified connection map.</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4(a–c). Social housing changes P1-evoked wing-extension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26" name="Google Shape;22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split-GAL4 system restricts expression by combining two separately expressed parts of a transcriptional activator, a protein that turns on gene expression. Only cells where these expression patterns overlap strongly activate the linked actuator gene. Cande and colleagues used this intersectional strategy to target sparse descending-neuron populations.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actuator CsChrimson converted 617-nm illumination into a timed depolarizing intervention. Experimental and control flies shared the genetic construct, but only experimental flies received supplemental retinal. Repeated 15-s activation epochs tested the behavioral consequences of the genetically targeted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transcriptional activator controls expression of the linked construct rather than directly producing a spike. The genetic intersection determines where the light-sensitive channel is present, while the light pulse determines when it is activated. Controls with the same genotype retain possible expression-related effects while altering whether the channel has its supplied light-absorbing cofactor.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sparse expression pattern increases anatomical specificity, but does not prove that a behavioral phenotype belongs to one cell if several cells express the actuator. Restricted access and physiological efficacy are separate requirements. The published courtship pathway supplies an identified descending example; it is not a replacement for verifying each screened line’s expression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1(A–C). Retinal controls, optical stimulation and behavioral occupancy.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40" name="Google Shape;24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behavioral response can change without a large change in walking speed. Cande and colleagues recorded freely moving flies at 100 frames/s, aligned their body images and represented time-varying postures in a low-dimensional behavior space, a map grouping similar movement patterns.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Different regions contained anterior grooming, wing and abdomen movements, slow postures and locomotion. Occupancy measured how often a fly performed the movements assigned to a region. Comparing occupancy during red-light activation with matched controls distinguished action-specific effects from a general activity increase.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Posture alignment removes differences in overall position and orientation before movements are compared. Similar body dynamics can then be grouped even when the fly occupies different parts of the chamber. The resulting action categories describe what the video captured, rather than an exhaustive catalogue of everything a fly can do.</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map is an empirical description of movements sampled in this arena, not a map of neural anatomy. Its temporal sampling cannot resolve arbitrarily fast actions, and the flat chamber limits the available behavioral repertoire. A quantitative classifier therefore supports reproducible measurement while retaining the constraints of the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1(B–C). Published behavioral-density map and action categories.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p:txBody>
      </p:sp>
      <p:sp>
        <p:nvSpPr>
          <p:cNvPr id="254" name="Google Shape;25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motor module is a coordinated component of behavior that can be recruited without necessarily producing an entire behavioral sequence. Cande and colleagues asked whether descending-neuron activation concentrated movement into particular regions of their empirically measured behavior space.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15-s red-light epochs, many experimental flies showed reduced behavioral entropy, a measure of how broadly their activity was distributed across available actions. Matched no-retinal controls did not display the same population-level reduction. Most effective lines predominantly favored one behavioral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lower entropy means that behavior becomes concentrated into fewer sampled patterns rather than that the animal necessarily moves less. One fly can walk vigorously while spending nearly all its time in a narrow locomotor pattern. Modular recruitment is therefore evaluated from the distribution of movement, not from speed alone.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results support modular control under these arena and stimulation conditions. They do not establish that each descending neuron has only one function, or that every targeted population is a dedicated command for one natural action. The alternative command interpretation requires more selective testing of normal activity, necessity and context.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3(A–D). Behavioral entropy across descending-neuron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66" name="Google Shape;26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Optical activation acts on a circuit that is already participating in behavior. Cande and colleagues related a fly’s movement in the 1.5 s before stimulation to its movement during the first 1.5 s of red-light activation.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For some descending-neuron lines, the action after activation depended strongly on the action before it. Mutual information quantified how much knowing the earlier behavioral state predicted the later state. The relationship exceeded the corresponding dependence in matched no-retinal controls for many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stimulation is identical across trials, but the network is not necessarily in the same condition when it begins. A dependency on the preceding action can occur within a single individual. It therefore need not be attributed solely to genetic differences between flies or to a change in the channel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effect supports state-dependent recruitment rather than an invariant mapping from cell activation to action. The measurement identifies a behavioral dependency, not the synaptic mechanism that implements it. Sensory input, the activity of other neurons and the state of local motor networks remain possible contributors to the same context effect.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5(A–C). Dependence of stimulated behavior on preceding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80" name="Google Shape;28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marine annelid Platynereis dumerilii swims using cilia, microscopic moving projections on specialized cells. At approximately 72 h after fertilization, locomotor cilia form a main band called the prototroch and additional bands distributed along the larval trunk.</a:t>
            </a:r>
            <a:endParaRPr/>
          </a:p>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combined scanning electron microscopy, high-speed observation and calcium imaging. The different locomotor bands repeatedly stopped beating together and resumed together. Arrests coincided with coordinated increases in calcium-indicator fluorescence across the ciliated fields.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kymograph condenses movement along a selected spatial line over time. In this preparation it relates ciliary motion to calcium changes in the same ciliary bands. The anatomical measurements identify where the beating cells lie, while the synchronized recordings establish that their arrests are coordinated across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calcium indicator changes fluorescence as intracellular calcium changes, providing an indirect measure of cellular activation. Synchrony connects a distributed effector system to a common functional event. It does not alone identify the neurons causing that event, and the imaging preparation must be distinguished from the freely swimming animal’s complete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1(A–H). Larval ciliary bands, arrests and calcium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294" name="Google Shape;294;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connectome records identified neural connections within a reconstructed nervous system. Verasztó and colleagues traced neurons and their synaptic contacts through serial transmission electron microscopy of a 3-day-old Platynereis larva, relating them to the whole-body distribution of ciliated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large MC neuron and paired Loop neurons formed extensive contacts with locomotor ciliary bands. Cholinergic neurons use acetylcholine as a transmitter; their identity was supported by molecular labeling and cell morphology. Axons, neuronal processes that carry signals toward targets, reached several positions along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Serial electron microscopy follows the same cellular processes through successive ultrathin sections. A contact can be assigned to an identified presynaptic neuron and a postsynaptic target. The wiring supplies a physical route for coordination, but it does not measure what that route is doing during a particular swimming episode.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reconstruction constrains how a small set of neurons can coordinate widely separated effectors. A structural synapse does not specify the timing or sign of every functional response. Calcium recordings and selective interventions were therefore needed to determine whether these reconstructed neurons actually participated in ciliary arrests.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2(A–G). Reconstructed cholinergic neurons and ciliary targets.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06" name="Google Shape;30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imaged identified ciliomotor neurons and the prototroch using GCaMP6s, a genetically encoded calcium-sensitive fluorescent protein. In 2-day-old larvae, cell position and reconstructed morphology linked the recorded cells to the anatomical circuit.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 catecholaminergic ciliomotor cells, labeled cMNvl and cMNd, increased fluorescence in phase with the ciliary band. The cMNATO cell instead tended to vary oppositely. Catecholaminergic identifies a transmitter-related molecular class; it does not by itself specify the functional sign of a recorded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fluorescence and anatomical identification are combined to avoid assigning a signal to an unknown neighboring cell. A cell that is active at the opposite phase may participate in a competing circuit state, but that possibility remains different from a demonstrated inhibitory synapse. Timing and synaptic action require separate evidence.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phase relationships separate neuron populations with different timing in the coordinated rhythm. Calcium fluorescence integrates cellular activity over time and is not a direct millisecond spike recording. Opposite phases therefore support differentiated circuit participation without proving that one cell directly inhibits another or establishing the causal contribution of each transmitter.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6(A–G). Identified ciliomotor cells and calcium phase relations.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18" name="Google Shape;31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Ablation removes or destroys a selected cell to test its contribution. Verasztó and colleagues used a pulsed laser to ablate the identified MC neuron, then compared prototroch calcium activity and ciliary arrests before and after the intervention.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MC ablation removed the prominent rhythmic prototroch activity and greatly reduced arrests. The MC calcium cycle had a median period near 71 s in intact imaged preparations. Blocking nicotinic acetylcholine receptors, transmitter-activated ion channels, with α-bungarotoxin uncoupled the ciliary response while the MC neuron continued to cycle.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Removing a neuron changes the circuit itself, whereas blocking a receptor can leave the upstream neuronal rhythm intact. A preserved MC signal with a lost ciliary response localizes a required transmission step downstream of that rhythm. Residual low-rate activity after ablation also limits a claim that no other cell can activate the prototroch.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complementary interventions distinguish the source of rhythmic neuronal activity from cholinergic transmission to the effector. They support MC participation and receptor-dependent output. They do not establish that MC is the sole contributor to every arrest, because residual activity remained and the reconstructed network contained additional cholinergic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7(A–H). MC-cell ablation and cholinergic blockade alter ciliary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30" name="Google Shape;330;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hydrodynamic stimulus is a local movement of water that can deform sensory structures. Bezares-Calderón and colleagues tested Platynereis larvae with a vibrating tungsten filament, observing ciliary arrest, body contraction and elevation of paired appendages called parapodia.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High-speed recordings at 230–350 frames/s resolved the response. Increasing filament speed favored wider appendage elevation, and placing the filament farther from the head required stronger stimulation. Wide elevation was consistently recruited above approximately 28 µm/ms under the tested arrangement.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filament is placed near the larva without delivering a direct touch to its body. Fluorescent beads helped characterize the surrounding flow. Ciliary arrest reduces ongoing swimming while elevated appendages change body configuration, so the defensive response combines multiple effectors rather than one isolated reflex.</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controlled stimulus links local water movement to a coordinated defensive action. Filament speed is the imposed mechanical parameter, not a direct measurement of the water velocity at each receptor. The dependence on distance supports near-field sensing, but behavior alone cannot identify the sensory channel or the neurons transmitting the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1(A–J). Hydrodynamic stimulus and larval startle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42" name="Google Shape;34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Collar-receptor neurons carry a sensory cilium surrounded by microvilli, small cellular projections that form a collar. Bezares-Calderón and colleagues combined electron microscopy with calcium imaging to identify these sensory cells in the head of Platynereis larvae.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collar included ten thick microvilli linked to the projecting cilium by fine fibers. A vibrating filament placed about 50 µm anterior to the head increased calcium-indicator fluorescence in identified head collar receptors. A nearby morphologically different sensory neuron supplied a comparison in the same recording.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projecting cilium and its collar cross the body covering and can interact with surrounding water. Recording neighboring identified cells at the same time helps distinguish a selective response from a global imaging fluctuation. Ultrastructure specifies a candidate mechanical arrangement but does not itself measure channel gating.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anatomical arrangement and stimulus-evoked activity support a mechanosensory input through these cells. They do not directly measure force opening a specific channel. Calcium imaging identifies an activated sensory population, while molecular expression and genetic disruption are needed to test which proteins are required for the behavioral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2(A–G). Collar-receptor anatomy, ultrastructure and stimulus-evoked calcium.</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54" name="Google Shape;354;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Polycystins are a protein family containing candidate components of mechanosensory signaling. Bezares-Calderón and colleagues detected PKD1-1 and PKD2-1 expression in larval collar-receptor neurons, then generated inherited loss-of-function mutations using targeted genome editing.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Larvae homozygous for either mutation failed to produce normal coordinated startle responses to the vibrating filament. Sensory-cell morphology was retained, arguing against a simple loss of the entire receptor cell. In predator tests, PKD2-1 mutants were captured more readily by predatory copepods, small planktonic crustaceans.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Homozygous mutant larvae carry the disrupted form on both inherited copies of the gene. Expression identifies the candidate sensory location, while the mutation tests whether the protein is required. The predator assay connects the laboratory startle deficit to a consequence during an encounter with a real predator.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genetic result establishes a requirement for these proteins in this sensory-to-behavior pathway. It does not establish directly that force gates a PKD1-1/PKD2-1 complex. Impaired detection, altered signal transmission or another channel-related contribution remain possible molecular explanations without direct recordings of mechanically activated current.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4(A–H). Polycystin mutations abolish the hydrodynamic startle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3(A–E). PKD1-1 and PKD2-1 expression in collar-receptor neurons.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66" name="Google Shape;366;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Larval zebrafish hunt small moving prey using a coordinated sequence of eye and body movements. Eye convergence rotates the eyes toward a common frontal region. A saccade is a rapid eye movement; convergent saccades provide a measurable marker of hunting initiation.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studied larvae 6–7 days after fertilization. During a partially restrained visual assay, small dark moving spots preferentially recruited convergence together with lateral tail movement. Approximately 92% of convergent saccades coincided with tail motion, with an average eye-to-tail delay near 12 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Two-photon imaging uses focused excitation to measure fluorescence in a selected tissue volume. The larva can move its eyes and tail even though part of its body is restrained. Eye convergence distinguishes a hunting-related motor transition from a generic tail movement, so it supports more specific activity–behavior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Two-photon calcium imaging measured brain activity while the eyes and tail remained mobile. The preparation links controlled visual input to hunting-related movements, but does not retain the full sensory and mechanical conditions of prey capture. Free-swimming activation and ablation experiments supplied complementary behavioral tests.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1(A–K). Hunting-related calcium activity, eye convergence and brain anatomy.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80" name="Google Shape;38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pretectum is a visual brain region near retinal input sites and the optic tectum. Retinal ganglion cells carry output from the eye into the brain; their axons terminate in regions called arborization fields. Antinucci and colleagues mapped activity around the AF7 input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Calcium responses were compared between prey-like stimulus presentations that did and did not evoke hunting-related convergence. Prey-responsive cells followed visual input, whereas other clusters were more strongly associated with hunting initiation. Their anatomical distributions overlapped near AF7 but differed across the surrounding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visual stimulus can occur on a response trial and a non-response trial. Comparing those trials prevents every stimulus-related signal from being labeled a hunting command. The anatomical mapping also prevents functionally different cells close to the same retinal input site from being treated as one uniform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dissociation distinguishes a response to the sensory event from a response associated with the animal’s action. It does not establish causation from calcium activity alone. A neuron active near movement onset could contribute to initiation, receive a related command or respond to the resulting movement; targeted interventions distinguish these possibilities.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2(A–D). Pretectal hunting-initiation clusters in the larval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92" name="Google Shape;39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expressed CoChR, a light-gated cation channel, in individual genetically accessible pretectal neurons. Cell morphology identified the targeted neuron, and high-speed video quantified free-swimming responses during repeated 7-s blue-light stimulation periods.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Illumination at 470 nm and 0.44 mW/mm² caused some single-cell preparations to produce eye convergence followed by lateralized swim bouts and sustained hunting-like routines without prey. Responsive preparations had a median response probability near 18% during illumination, compared with zero in the corresponding light-off trials.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behavioral sequence is classified from coordinated eye and tail kinematics rather than from one movement alone. The stimulated cell remains embedded in an intact downstream circuit, so sufficiency of its activation does not mean that one neuron executes the entire program without other neurons. The morphology identifies where the stimulated cell projects.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Opsin-negative controls did not display hunting in response to the blue light alone. Single-cell activation therefore supports sufficiency for recruitment of a coordinated motor program. The incomplete response probability and absence of prey limit any claim that the intervention reproduces every aspect of a naturally initiated hunt.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5(A–T). Single-neuron optical activation and hunting-like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3(A–I). Single pretectal-cell morphology and projection classes.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04" name="Google Shape;40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Necessity concerns whether normal performance requires the tested component. Antinucci and colleagues ablated fluorescently identified pretectal cells at 6 days after fertilization, then assessed free-swimming behavior before the intervention and on the following day.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Approximately 90% of the labeled population was removed. Prey consumption, hunting initiation and hunting-sequence duration declined. Average swimming speed, escape responses to looming stimuli and the optomotor response, swimming driven by moving visual patterns, were retained. Sham ablations removed nearby thalamic cells instead.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sham intervention controls for a procedure while changing which tissue is damaged. Here nearby-cell ablations and handling-only comparisons helped constrain a general injury explanation. Reimaging verified cell loss, and intact retinal axons argued against destruction of the visual input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preserved comparison behaviors argue against a general loss of movement or visual responsiveness. The result supports a contribution to normal hunting initiation and maintenance. It does not establish that every labeled cell has the same function, or that the residual population cannot support some remaining hunting under other conditions.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18" name="Google Shape;41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optic tectum is a midbrain region participating in visual and motor processing. Antinucci and colleagues stimulated a ChR2-expressing anterior-ventral tectal region, while comparing sighted larvae with mutants lacking retinal ganglion cells because of disrupted atoh7 function.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Blind larvae retained tectal ChR2 expression despite losing retinal input. Optical stimulation recruited hunting-like behavior more readily in these mutants than in their sighted siblings. Evoked routines retained eye convergence and lateralized tail movements, although response probability and duration differed.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Light in a sighted ChR2-expressing animal can both activate the actuator and stimulate normal photoreceptors. A blind sibling separates these two influences more directly than changing light intensity alone. Preserved central expression is required for interpreting that comparison; otherwise a change in actuator expression could explain the behavioral difference.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Removing retinal input tests whether ordinary light-driven vision is required for the optically induced action. The result supports recruitment through central circuitry and indicates that retinal activation can interfere with the assay. It does not establish that vision is unnecessary for natural prey hunting or that the stimulated tectal population alone specifies the complete normal decision process.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7(A–L). Tectal activation evokes hunting in larvae lacking retinal ganglion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30" name="Google Shape;430;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developed Flyception2, an optical tracking system for recording brain fluorescence in freely moving adult flies. Untethered means that the animal is not mechanically connected to the microscope by a cable; external optics still follow its head.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Three retroreflective glass beads, each about 30 µm in diameter, marked a window over the brain. A tracking loop updated mirror position at 1,000 Hz. Retroreflection returns incoming light toward its source, allowing the head to remain identifiable when two flies’ body outlines overlap.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tracking signal reports head position, not neural activity. The microscope uses that signal to keep the fluorescence measurement aligned to the moving preparation. The head window changes experimental access, while the absence of a tether permits contact and mounting movements that are difficult to measure in a fixed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Focus adjustment followed changes in head height during courtship and copulation. The method preserved social contact that had disrupted outline-based tracking. It still required a surgically prepared imaging window and a bounded imaging arena, so freely moving behavior should not be equated with an untouched animal behaving in the wild.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1(a–i). Retroflector tracking, calcium imaging and behavioral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42" name="Google Shape;44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fluorescence change in a moving animal may arise from activity, altered focus or changing tissue orientation. Flyception2 measured calcium-dependent green GCaMP fluorescence and calcium-independent red tdTomato fluorescence in the same targeted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two channels were recorded simultaneously at 50 Hz using excitation at 473 and 561 nm. Their ratio reduced fluctuations shared by both channels. Frames were also filtered for visible tracking beads, sharpness and excessive motion; about 75% of frames in 100-s recordings passed those quality criteria.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calcium-independent signal measures changes that can affect both optical channels, such as tissue movement through the field of view. A ratio cannot correct every artifact if the channels respond differently or the tissue leaves focus. Recording exclusions therefore remain part of the biological interpretation, not simply a technical cleanup step.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controls improve the attribution of fluorescence changes to cellular calcium. They do not turn fluorescence into a direct spike recording or recover information from excluded frames. Interpretation remains conditional on the analyzed behavioral periods, because rapid movements or occlusion can remove precisely timed parts of an interaction.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54" name="Google Shape;454;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imaged identified P1 neurons while a male approached, contacted and copulated with a female. Neural fluorescence was synchronized with the distance and angle between the flies, providing a measured relation between activity and the ongoing social interaction.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P1 activity increased during courtship but fell during copulation despite continuing physical contact. After mating, P1 activity could return when the male again approached the female. In a separate targeted population, mAL neurons, cells using γ-aminobutyric acid (GABA), a transmitter that can reduce target-cell excitation, remained active across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neuron population can respond differently to contact depending on the behavioral state of the animal. Comparing identified populations prevents all activity during mating from being assigned a common sign or function. GABAergic identity supplies a candidate inhibitory role, but the observed calcium association does not specify which receptor on P1 mediates a particular state change.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contrasting activity patterns support behavioral-state-dependent circuit recruitment. They do not establish the causal receptor mechanism of the P1 decrease or prove that mAL activity alone causes it. These recordings complement, rather than replace, experiments directly activating or removing particular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3(a–e). mAL-neuron fluorescence during courtship and mating.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66" name="Google Shape;46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Neural telemetry transmits recorded electrical signals remotely. Szuts and colleagues built a rat-borne system combining implanted electrodes, a head-mounted amplifier and a radio transmitter carried in a back harness. A short connection remained between the animal’s own boards, but no cable linked the rat to the recording computer.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electronics could process up to 64 channels sampled at 20 kHz each and send the combined signal to a receiver. Continuous operation lasted approximately 6 h with the larger battery configuration. The arrangement enabled recordings during outdoor movement and travel through tunnels.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electrode channel measures voltage relative to a reference, not the membrane potential of an isolated identified cell. Amplification makes small signals large enough for transmission and analysis. The headstage and harness are attached to the animal, so removing the external tether changes the mechanics of the experiment without making the apparatus weightless.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Wireless access expands the available movements and environments, but does not remove implant surgery or carried mass. The study validated recordings in rats with this particular payload. Its engineering success cannot be assumed for a small insect or for another animal whose movement is differently constrained by the device.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1. Published wireless headstage, harness and recording components.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80" name="Google Shape;48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Sampling rate specifies how often a signal is measured, whereas bandwidth specifies the range of frequencies retained by the system. Szuts and colleagues filtered electrode voltages from 80 to 2,300 Hz and sampled each channel at 20 kHz in their recording configuration.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simultaneous sample-and-hold stage captured the channel voltages before time-division multiplexing, placing successive channels onto a shared output. Synchronization markers identified each channel scan so that the original signals could be reconstructed after radio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sample-and-hold circuit captures a value at a specified instant and retains it while that channel is read out. Shared timing reduces ambiguity about whether a difference between channels arose from the circuit or from different acquisition times. The original paper’s circuit panel documents the implemented device, rather than a newly drawn teaching model.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 sampling rate does not restore frequency components removed by the filter. The configuration was suitable for extracellular spike analysis, but did not preserve the complete low-frequency signal as measured by other systems. Hardware settings therefore determine which neural events a behavioral experiment can meaningfully relate to movement, sensation or task timing.</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2(a–b). Sampling, multiplexing and signal conditioning in the original device.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92" name="Google Shape;49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Wireless recordings require validation of signal fidelity as well as transmission range. Szuts and colleagues compared the same extracellular waveform before and after radio transmission, then tested whether the reconstructed recordings retained distinguishable spike shapes.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introduced less than 4 µV of electrode-referred noise. In line-of-sight tests, recordings at distances up to 60 m retained spike waveforms and separable waveform clusters. Antenna orientation and a known test signal were used to characterize distance-dependent signal quality.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Electrode-referred noise expresses added uncertainty as an equivalent voltage at the electrode input. Comparing a signal with itself before and after transmission isolates the engineering change more directly than comparing two unrelated behavioral recordings. A stable waveform cluster supports unit separation while leaving its anatomical and molecular identity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sorted unit is a putative neuron identified from a cluster of similar extracellular waveforms. Retained clustering supports the reliability of this recording chain, but does not establish a neuron’s transmitter or causal behavioral role. Differences in firing rate between separate distance recordings also cannot be assigned to transmission when behavioral state was uncontrolled.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4(a–g). Spike waveforms and unit separation before and after wireless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504" name="Google Shape;504;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recorded the hippocampus, a brain region involved in spatial representation, while Egyptian fruit bats flew between reward locations. A lightweight implanted microdrive positioned electrodes in dorsal CA1, a hippocampal subdivision identified by post-recording histology.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Bats spontaneously followed reproducible three-dimensional paths to human experimenters offering fruit. The humans exchanged reward locations every 5 min while their hands remained on fixed platforms. Wireless recording retained flight between sites without an external recording tether.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microdrive adjusts electrode depth in small steps rather than moving the entire animal or recording apparatus. Histology checks whether the sampled tissue matches the intended brain region. Consistent flight trajectories make it possible to ask whether a change in firing reflects more than a change in the bat’s path.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Repeated paths allowed neural activity to be compared during similar movement toward different experimenters. This controls one source of behavioral variability while preserving self-initiated flight. The reward task still occurred in a prepared laboratory room and included human participants; it should not be described as neural recording during unrestricted wild navigation.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16" name="Google Shape;516;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Relating a recorded spike to an external event requires a shared time reference. Snyder and colleagues tracked both bats and human experimenters with a real-time location system, which estimates the positions of attached tags using fixed room anchors.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Positions were sampled at 100 Hz and synchronized to the neural recordings with an external timing signal. Repeated trajectories were aligned to landing or take-off, allowing comparisons of neuronal discharge at corresponding stages of flights toward different reward providers.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Time stamps from two independently running instruments can drift even if both report measurements in seconds. A shared synchronization event relates their clocks. The experiment also recorded the humans’ positions, because an external participant can move while the bat’s own trajectory remains similar.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landing-aligned firing change can be distinguished from firing associated with a different location or route only when spatial and temporal measurements are sufficiently precise. Synchronization establishes the correspondence between measurements; it does not establish that an observed spike caused landing or that a landing event caused the spike through one identified synaptic pathway.</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28" name="Google Shape;52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compared hippocampal firing during flights along closely matched paths toward two different human experimenters. Location exchange separated the identity of the reward provider from one fixed reward site, while stable flight trajectories constrained self-motion differences.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Nearly half of the analyzable neurons, approximately 48%, differed in their discharge according to the experimenter at the landing site. Some cells combined spatial selectivity with experimenter-related modulation. The effect often occurred at one particular take-off or landing location rather than uniformly across every site.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Spatial selectivity means that a neuron’s firing depends on where the animal is. Experimenter-related selectivity is an additional measured dependency, not evidence that the spatial information disappears. Exchanging locations reduces the confound between who delivers a reward and where that reward is delivered.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 supports a neural representation combining the animal’s position with features associated with an external individual. It does not identify the sensory cue carrying that information or prove recognition of human identity independently of every visual, olfactory and learned reward-associated feature.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40" name="Google Shape;540;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experimenter-related response could arise indirectly from changes in the animal’s movement, reward or another animal nearby. Snyder and colleagues restricted analyses to comparable trajectories and also excluded flights with a conspecific at take-off or landing. A conspecific is another individual of the same species.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Experimenter-dependent firing persisted in over 40% of the analyzable units after that exclusion. During separate trials, a resting bat remained at a stable position while humans repeated fixed paths; about 20% of analyzable units carried information about human position.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stationary animal provides a different comparison from a moving animal on a matched path. Activity changing while the bat remains still can be related to external movement rather than the bat’s own locomotion. The experiment does not selectively remove vision, hearing or olfaction, so their relative contributions remain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comparisons weaken explanations based solely on the bat’s own movement or a nearby bat. They retain a measured influence of the external participant without identifying one sensory modality or receptor. The evidence remains observational neural coding with controlled behavioral comparisons, rather than a neural intervention establishing necessity for social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2(a–h). Human traverses and hippocampal responses in resting bats.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52" name="Google Shape;552;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neural ensemble is a population of neurons whose combined activity can represent information. Forli and colleagues used wireless Neuropixels recordings from the dorsal hippocampus of freely flying Egyptian fruit bats engaged in self-paced, rewarded aerial foraging.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recorded single-unit activity together with local field potentials, extracellular signals reflecting nearby population currents. Flights alternated spontaneously with rest. About 71% of flight-active neurons met the study’s criterion for spatial selectivity across the sampled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Neuropixels probes provide many closely spaced recording sites, allowing simultaneous sampling from a large neuronal population. A local field potential differs from a sorted unit because it combines activity across sources rather than isolating one waveform cluster. The two measurements describe related but distinct levels of circuit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Population recording allows comparisons of activity sequences that one electrode or one cell cannot provide. The combination of freely chosen flights and repeated routes preserves variability while enabling consistent measurement. It does not remove the laboratory’s reward structure, and spatially selective discharge alone does not establish that those cells are required for choosing a route.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1(a–j). Wireless Neuropixels recordings and flight-sequence replay.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p:txBody>
      </p:sp>
      <p:sp>
        <p:nvSpPr>
          <p:cNvPr id="566" name="Google Shape;566;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Replay is the reactivation of an ordered neuronal sequence related to an earlier behavioral trajectory. Forli and colleagues compared hippocampal place-cell activity during flight with brief population events occurring while the bats rested. Place cells are neurons with position-dependent discharge.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Detected replay events had a median duration near 358 ms and could preserve either the forward or reverse ordering of flight-related activity. They coincided with sharp-wave ripples, brief coordinated field-potential events, and frequently represented paths remote from the bat’s current resting location.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Decoding estimates represented position from the firing of neurons with known spatial tuning. The decoded location can differ from the bat’s actual location during rest. A matching sequence establishes a relation to flight experience, while a causal memory claim would require an intervention tied to a defined behavioral consequence.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Sequence comparisons and position decoding support structured reactivation rather than indiscriminate population firing. They do not prove that a specific event causes a memory or predicts the animal’s next route. The recordings measured reactivation; they did not selectively disrupt replay and test the resulting navigation deficit.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2(a–i). Replay location, timing and scaling across flight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78" name="Google Shape;578;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During flight, Forli and colleagues examined how hippocampal population representations changed within ongoing behavior. The recordings did not contain sustained locomotor theta oscillations, a rhythmic field-potential pattern classically associated with rodent spatial processing.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Accelerometers instead detected a prominent wing-beat rhythm near 8 Hz. Many place cells fired preferentially at particular wing-beat phases, and decoded position swept ahead of the animal’s current position cyclically. These representational sweeps occurred despite the absence of continuous theta in the measured field potential.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accelerometer records movement-related acceleration and supplies an independent measure of wing-beat timing. Phase locking means that spike probability depends on the position within a repeated cycle. A rhythmic relationship can arise through sensory feedback, shared drive or another interaction, and the recording alone does not select among those mechanisms.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observation supports coupling between a species-specific motor rhythm and population coding. It does not prove that wing beats generate the neural sweeps or that a particular channel or sensory feedback pathway mediates their timing. Correlated rhythms constrain proposed mechanisms while remaining different from experimentally established causal links.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3(a–k). Representational sweeps and wing-beat phase during flight.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92" name="Google Shape;592;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built fully internal light-delivery implants for mice. A micro-LED is a miniature light-emitting diode; it converts electrical power into light near the targeted tissue. A receiving coil and local electronics obtained power from an external radio-frequency apparatus.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smallest implant weighed about 20 mg and occupied about 10 mm³. An aluminum resonant cavity operating near 1.5 GHz concentrated electromagnetic energy in the mouse, powering a blue LED without an external fiber or battery attached to the animal.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Wireless optical stimulation still uses an external power source; it removes the physical cable between that source and the animal. The receiving coil supplies the implant’s circuit, which drives the LED. The arena and receiving coil define the tested power-delivery geometry, so movement-dependent exposure remains a calibration question.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Miniaturization enabled implantation beneath the skin and access to central or peripheral targets. The radio-frequency geometry was optimized for mice in the tested arena. These measurements do not establish equivalent power delivery in a larger animal, during unrestricted outdoor behavior or with an implant placed in any arbitrary tissue configuration.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1(a–c). Wireless-power preparation and miniaturized implanted light sources.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06" name="Google Shape;60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wireless implant must provide enough light while limiting unwanted heating. Montgomery and colleagues calibrated the LED’s emitted power, pulse fidelity and position-dependent power delivery, using both controlled electrical tests and measurements in a mouse-sized saline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device produced pulses as short as 100 µs. At a fixed cavity input, estimated light power density across the tested surface varied from approximately 9.2 to 25.8 mW/mm². Brain-adjacent measurements with 20 mW/mm² illumination remained below a 1 °C temperature rise at duty cycles up to 20%.</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short pulse limits the duration of each exposure, but repeated pulses can still produce substantial average energy delivery. Position changes can also alter received power. Tissue temperature and delivered optical intensity must therefore be evaluated as measurements separate from the intended neuronal targeting.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Duty cycle is the fraction of time that stimulation is on. Higher duty increased heating, with rises exceeding 1 °C near the tested 40% condition. Calibration therefore constrains dose and thermal artifacts; it does not establish identical light exposure or temperature in every tissue and behavioral position.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2(a–e). LED power, pulse fidelity, position dependence and tissue heating.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18" name="Google Shape;61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implanted a wireless LED near the right premotor cortex, a cortical region participating in movement control. ChR2-expressing mice and implanted wild-type controls were tested in the same powered arena while video quantified movement.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20-s stimulation epochs, 5-ms pulses at 20 Hz increased circling from approximately 0.40 to 2.5 turns/min in the ChR2 group. Mean normalized locomotor speed increased by about 40%. Wild-type controls did not display the corresponding light-dependent movement changes.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device’s receiver remains beneath the skin while the light source enters the targeted brain region. Wild-type mice experience implantation and the radio-frequency arena without the introduced channel. Circling is quantified as a behavioral outcome rather than inferred solely from the fact that the LED emits 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genotype comparison supports an opsin-dependent behavioral effect of wireless stimulation. It does not establish that natural premotor activity normally produces persistent circling, or that the activated population is necessary for every voluntary turn. The experiment validates untethered intervention while retaining the limits of imposed activation and broad expression.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3(a–f). Implanted premotor-cortex stimulation and circling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30" name="Google Shape;63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causal neural test must connect a defined intervention to a defined behavioral effect while controlling alternative explanations. Montgomery and colleagues placed wireless LEDs near paw sensory endings expressing ChR2 in nociceptors, neurons that detect potentially damaging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With 10-ms pulses at 10 Hz, mice reduced time in the powered compartment during a 30-min stimulation period; fluorescent-tag-only controls did not display the same reduction. In a complementary necessity test, Antinucci and colleagues reduced hunting after pretectal ablation while preserving swimming, visual escape and optomotor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Place avoidance is a measured change in where the mouse spends time, not a direct readout of a subjective experience. The nociceptor intervention and pretectal ablation also concern different circuits and different behaviors. Their common evidential requirement is to measure a specific consequence while retaining controls for general sensory or motor disruption.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Activation supports an opsin-dependent aversive consequence under the tested conditions, while selective ablation supports a contribution to normal hunting. Neither result alone specifies every intervening synapse, transmitter or receptor. A behavioral claim is strongest when perturbation efficacy, anatomical targeting and preserved comparison behaviors are established together.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5(a–g). Peripheral implant, sensory-fiber expression and place avoidance.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642" name="Google Shape;64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p:txBody>
      </p:sp>
      <p:sp>
        <p:nvSpPr>
          <p:cNvPr id="656" name="Google Shape;65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Miniature LEDs receive power wirelessly.</a:t>
            </a:r>
          </a:p>
          <a:p>
            <a:r>
              <a:rPr lang="en-US" sz="1200"/>
              <a:t>• Explanation 1.</a:t>
            </a:r>
          </a:p>
          <a:p>
            <a:r>
              <a:rPr lang="en-US" sz="1200"/>
              <a:t>– Montgomery and colleagues built light-delivery implants for mice that sit entirely inside the body</a:t>
            </a:r>
          </a:p>
          <a:p>
            <a:r>
              <a:rPr lang="en-US" sz="1200"/>
              <a:t>– A receiving coil and local electronics drew power from an external radio-frequency apparatus, and a micro-LED converted that power into light near the target tissue. The implant is fully internal, so no fiber leaves the skin.</a:t>
            </a:r>
          </a:p>
          <a:p>
            <a:r>
              <a:rPr lang="en-US" sz="1200"/>
              <a:t>• Explanation 2.</a:t>
            </a:r>
          </a:p>
          <a:p>
            <a:r>
              <a:rPr lang="en-US" sz="1200"/>
              <a:t>– The lightest implant weighed roughly 20 mg and filled about 10 mm³</a:t>
            </a:r>
          </a:p>
          <a:p>
            <a:r>
              <a:rPr lang="en-US" sz="1200"/>
              <a:t>– An aluminum resonant cavity operating near 1.5 GHz concentrated electromagnetic energy in the mouse, which powered a blue LED with no external fiber or battery. The cavity delivered power to the implant from outside the animal.</a:t>
            </a:r>
          </a:p>
          <a:p>
            <a:r>
              <a:rPr lang="en-US" sz="1200"/>
              <a:t>• Explanation 3.</a:t>
            </a:r>
          </a:p>
          <a:p>
            <a:r>
              <a:rPr lang="en-US" sz="1200"/>
              <a:t>– Miniaturization allowed implantation beneath the skin and access to central or peripheral targets</a:t>
            </a:r>
          </a:p>
          <a:p>
            <a:r>
              <a:rPr lang="en-US" sz="1200"/>
              <a:t>– The radio-frequency geometry was optimized for mice in the tested arena, so the power transfer was matched to that body size and that setup. Access to peripheral targets is therefore possible without a tether.</a:t>
            </a:r>
          </a:p>
          <a:p>
            <a:r>
              <a:rPr lang="en-US" sz="1200"/>
              <a:t>• Implant.</a:t>
            </a:r>
          </a:p>
          <a:p>
            <a:r>
              <a:rPr lang="en-US" sz="1200"/>
              <a:t>– The light-delivery implant sits entirely inside the mouse.</a:t>
            </a:r>
          </a:p>
          <a:p>
            <a:r>
              <a:rPr lang="en-US" sz="1200"/>
              <a:t>– A receiving coil and electronics take power from outside.</a:t>
            </a:r>
          </a:p>
          <a:p>
            <a:r>
              <a:rPr lang="en-US" sz="1200"/>
              <a:t>• Output.</a:t>
            </a:r>
          </a:p>
          <a:p>
            <a:r>
              <a:rPr lang="en-US" sz="1200"/>
              <a:t>– A micro-LED converts electrical power into light near the tissue.</a:t>
            </a:r>
          </a:p>
          <a:p>
            <a:r>
              <a:rPr lang="en-US" sz="1200"/>
              <a:t>– The lightest implant weighed roughly 20 mg.</a:t>
            </a:r>
          </a:p>
          <a:p>
            <a:r>
              <a:rPr lang="en-US" sz="1200"/>
              <a:t>• Cavity.</a:t>
            </a:r>
          </a:p>
          <a:p>
            <a:r>
              <a:rPr lang="en-US" sz="1200"/>
              <a:t>– An aluminum resonant cavity operated near 1.5 GHz.</a:t>
            </a:r>
          </a:p>
          <a:p>
            <a:r>
              <a:rPr lang="en-US" sz="1200"/>
              <a:t>– It concentrated energy in the mouse.</a:t>
            </a:r>
          </a:p>
          <a:p>
            <a:r>
              <a:rPr lang="en-US" sz="1200"/>
              <a:t>• Access.</a:t>
            </a:r>
          </a:p>
          <a:p>
            <a:r>
              <a:rPr lang="en-US" sz="1200"/>
              <a:t>– Miniaturization allowed implantation beneath the skin.</a:t>
            </a:r>
          </a:p>
          <a:p>
            <a:r>
              <a:rPr lang="en-US" sz="1200"/>
              <a:t>– Central and peripheral targets could be reached.</a:t>
            </a:r>
          </a:p>
          <a:p>
            <a:r>
              <a:rPr lang="en-US" sz="1200"/>
              <a:t/>
            </a:r>
          </a:p>
          <a:p>
            <a:r>
              <a:rPr lang="en-US" sz="1200"/>
              <a:t>References:</a:t>
            </a:r>
          </a:p>
          <a:p>
            <a:r>
              <a:rPr lang="en-US" sz="1200"/>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Ensembles record freely flying foraging bats.</a:t>
            </a:r>
          </a:p>
          <a:p>
            <a:r>
              <a:rPr lang="en-US" sz="1200"/>
              <a:t>• Explanation 1.</a:t>
            </a:r>
          </a:p>
          <a:p>
            <a:r>
              <a:rPr lang="en-US" sz="1200"/>
              <a:t>– A neural ensemble is a group of neurons whose joint activity can carry information</a:t>
            </a:r>
          </a:p>
          <a:p>
            <a:r>
              <a:rPr lang="en-US" sz="1200"/>
              <a:t>– Wireless Neuropixels recordings from the dorsal hippocampus were made by Forli and colleagues in freely flying Egyptian fruit bats. The bats chose when to fly and foraged for rewards at their own pace.</a:t>
            </a:r>
          </a:p>
          <a:p>
            <a:r>
              <a:rPr lang="en-US" sz="1200"/>
              <a:t>• Explanation 2.</a:t>
            </a:r>
          </a:p>
          <a:p>
            <a:r>
              <a:rPr lang="en-US" sz="1200"/>
              <a:t>– The system recorded single-unit activity together with local field potentials, which reflect nearby population currents</a:t>
            </a:r>
          </a:p>
          <a:p>
            <a:r>
              <a:rPr lang="en-US" sz="1200"/>
              <a:t>– Flights alternated spontaneously with rest, and about 71% of flight-active neurons showed spatial selectivity across the sampled trajectories. Both single units and population signals were therefore available for each flight.</a:t>
            </a:r>
          </a:p>
          <a:p>
            <a:r>
              <a:rPr lang="en-US" sz="1200"/>
              <a:t>• Explanation 3.</a:t>
            </a:r>
          </a:p>
          <a:p>
            <a:r>
              <a:rPr lang="en-US" sz="1200"/>
              <a:t>– Population recording reveals activity sequences that one electrode or one cell would miss</a:t>
            </a:r>
          </a:p>
          <a:p>
            <a:r>
              <a:rPr lang="en-US" sz="1200"/>
              <a:t>– Freely chosen flights combined with repeated routes keep natural variability while still allowing consistent measurement. Sequences can be compared across repeated flights, which is the value of the design.</a:t>
            </a:r>
          </a:p>
          <a:p>
            <a:r>
              <a:rPr lang="en-US" sz="1200"/>
              <a:t>• Preparation.</a:t>
            </a:r>
          </a:p>
          <a:p>
            <a:r>
              <a:rPr lang="en-US" sz="1200"/>
              <a:t>– Wireless Neuropixels recorded the dorsal hippocampus.</a:t>
            </a:r>
          </a:p>
          <a:p>
            <a:r>
              <a:rPr lang="en-US" sz="1200"/>
              <a:t>– The bats flew freely and foraged at a self-paced rate.</a:t>
            </a:r>
          </a:p>
          <a:p>
            <a:r>
              <a:rPr lang="en-US" sz="1200"/>
              <a:t>• Signals.</a:t>
            </a:r>
          </a:p>
          <a:p>
            <a:r>
              <a:rPr lang="en-US" sz="1200"/>
              <a:t>– Single-unit activity and local field potentials were recorded together.</a:t>
            </a:r>
          </a:p>
          <a:p>
            <a:r>
              <a:rPr lang="en-US" sz="1200"/>
              <a:t>– Field potentials reflect nearby population currents.</a:t>
            </a:r>
          </a:p>
          <a:p>
            <a:r>
              <a:rPr lang="en-US" sz="1200"/>
              <a:t>• Selectivity.</a:t>
            </a:r>
          </a:p>
          <a:p>
            <a:r>
              <a:rPr lang="en-US" sz="1200"/>
              <a:t>– About 71% of flight-active neurons showed spatial selectivity.</a:t>
            </a:r>
          </a:p>
          <a:p>
            <a:r>
              <a:rPr lang="en-US" sz="1200"/>
              <a:t>– The trajectories were sampled across the flights.</a:t>
            </a:r>
          </a:p>
          <a:p>
            <a:r>
              <a:rPr lang="en-US" sz="1200"/>
              <a:t>• Meaning.</a:t>
            </a:r>
          </a:p>
          <a:p>
            <a:r>
              <a:rPr lang="en-US" sz="1200"/>
              <a:t>– Population recordings expose sequences that single cells cannot show.</a:t>
            </a:r>
          </a:p>
          <a:p>
            <a:r>
              <a:rPr lang="en-US" sz="1200"/>
              <a:t>– Repeated routes keep variability while enabling consistent measurement.</a:t>
            </a:r>
          </a:p>
          <a:p>
            <a:r>
              <a:rPr lang="en-US" sz="1200"/>
              <a:t/>
            </a:r>
          </a:p>
          <a:p>
            <a:r>
              <a:rPr lang="en-US" sz="1200"/>
              <a:t>References:</a:t>
            </a:r>
          </a:p>
          <a:p>
            <a:r>
              <a:rPr lang="en-US" sz="1200"/>
              <a:t>Angelo Forli; Wudi Fan; Kevin K. Qi; Michael M. Yartsev (2025). Replay and representation dynamics in the hippocampus of freely flying bats. Nature 645(8082): 974-980. https://doi.org/10.1038/s41586-025-09341-z</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Synchronized clocks link spikes to landings.</a:t>
            </a:r>
          </a:p>
          <a:p>
            <a:r>
              <a:rPr lang="en-US" sz="1200"/>
              <a:t>• Explanation 1.</a:t>
            </a:r>
          </a:p>
          <a:p>
            <a:r>
              <a:rPr lang="en-US" sz="1200"/>
              <a:t>– Snyder and colleagues tracked bats and human experimenters with a real-time location system that estimates tag positions from fixed room anchors</a:t>
            </a:r>
          </a:p>
          <a:p>
            <a:r>
              <a:rPr lang="en-US" sz="1200"/>
              <a:t>– Relating a spike to a landing requires that the positional and neural clocks share one reference.</a:t>
            </a:r>
          </a:p>
          <a:p>
            <a:r>
              <a:rPr lang="en-US" sz="1200"/>
              <a:t>• Explanation 2.</a:t>
            </a:r>
          </a:p>
          <a:p>
            <a:r>
              <a:rPr lang="en-US" sz="1200"/>
              <a:t>– Positions were sampled at 100 Hz and synchronized to the neural data through an external timing signal</a:t>
            </a:r>
          </a:p>
          <a:p>
            <a:r>
              <a:rPr lang="en-US" sz="1200"/>
              <a:t>– Repeated trajectories were aligned to landing or take-off, so discharge could be compared at matching flight stages toward different reward providers. Each aligned trajectory therefore lines up with the same event in every flight.</a:t>
            </a:r>
          </a:p>
          <a:p>
            <a:r>
              <a:rPr lang="en-US" sz="1200"/>
              <a:t>• Explanation 3.</a:t>
            </a:r>
          </a:p>
          <a:p>
            <a:r>
              <a:rPr lang="en-US" sz="1200"/>
              <a:t>– A landing-aligned change in firing can be distinguished from firing linked to a different location or route when the spatial and temporal measurements are precise enough</a:t>
            </a:r>
          </a:p>
          <a:p>
            <a:r>
              <a:rPr lang="en-US" sz="1200"/>
              <a:t>– Synchronization fixes which measured position corresponds to each recorded spike. Matched timing keeps each flight's events aligned across trials.</a:t>
            </a:r>
          </a:p>
          <a:p>
            <a:r>
              <a:rPr lang="en-US" sz="1200"/>
              <a:t>• Tracking.</a:t>
            </a:r>
          </a:p>
          <a:p>
            <a:r>
              <a:rPr lang="en-US" sz="1200"/>
              <a:t>– A real-time location system estimated tag positions from room anchors.</a:t>
            </a:r>
          </a:p>
          <a:p>
            <a:r>
              <a:rPr lang="en-US" sz="1200"/>
              <a:t>– Bats and human experimenters were both tracked.</a:t>
            </a:r>
          </a:p>
          <a:p>
            <a:r>
              <a:rPr lang="en-US" sz="1200"/>
              <a:t>• Sampling.</a:t>
            </a:r>
          </a:p>
          <a:p>
            <a:r>
              <a:rPr lang="en-US" sz="1200"/>
              <a:t>– Positions were sampled at 100 Hz.</a:t>
            </a:r>
          </a:p>
          <a:p>
            <a:r>
              <a:rPr lang="en-US" sz="1200"/>
              <a:t>– An external timing signal synchronized them with the neural data.</a:t>
            </a:r>
          </a:p>
          <a:p>
            <a:r>
              <a:rPr lang="en-US" sz="1200"/>
              <a:t>• Alignment.</a:t>
            </a:r>
          </a:p>
          <a:p>
            <a:r>
              <a:rPr lang="en-US" sz="1200"/>
              <a:t>– Repeated trajectories were aligned to landing or take-off.</a:t>
            </a:r>
          </a:p>
          <a:p>
            <a:r>
              <a:rPr lang="en-US" sz="1200"/>
              <a:t>– Discharge was compared across matching flight stages.</a:t>
            </a:r>
          </a:p>
          <a:p>
            <a:r>
              <a:rPr lang="en-US" sz="1200"/>
              <a:t>• Precision.</a:t>
            </a:r>
          </a:p>
          <a:p>
            <a:r>
              <a:rPr lang="en-US" sz="1200"/>
              <a:t>– The spatial and temporal measurements set the resolution.</a:t>
            </a:r>
          </a:p>
          <a:p>
            <a:r>
              <a:rPr lang="en-US" sz="1200"/>
              <a:t>– Synchronization matches each spike to a measured position.</a:t>
            </a:r>
          </a:p>
          <a:p>
            <a:r>
              <a:rPr lang="en-US" sz="1200"/>
              <a:t/>
            </a:r>
          </a:p>
          <a:p>
            <a:r>
              <a:rPr lang="en-US" sz="1200"/>
              <a:t>References:</a:t>
            </a:r>
          </a:p>
          <a:p>
            <a:r>
              <a:rPr lang="en-US" sz="1200"/>
              <a:t>Madeleine C. Snyder; Kevin K. Qi; Michael M. Yartsev (2024). Neural representation of human experimenters in the bat hippocampus. Nature Neuroscience 27(9): 1675-1679. https://doi.org/10.1038/s41593-024-01690-8</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Filters set which spikes can be measured.</a:t>
            </a:r>
          </a:p>
          <a:p>
            <a:r>
              <a:rPr lang="en-US" sz="1200"/>
              <a:t>• Explanation 1.</a:t>
            </a:r>
          </a:p>
          <a:p>
            <a:r>
              <a:rPr lang="en-US" sz="1200"/>
              <a:t>– In the Szuts design, electrode voltages passed a filter between 80 and 2,300 Hz, and each channel was sampled 20,000 times per second</a:t>
            </a:r>
          </a:p>
          <a:p>
            <a:r>
              <a:rPr lang="en-US" sz="1200"/>
              <a:t>– Sampling rate states how often a signal is measured, while bandwidth states which frequency range the filter keeps. Both settings determine what the recording can show.</a:t>
            </a:r>
          </a:p>
          <a:p>
            <a:r>
              <a:rPr lang="en-US" sz="1200"/>
              <a:t>• Explanation 2.</a:t>
            </a:r>
          </a:p>
          <a:p>
            <a:r>
              <a:rPr lang="en-US" sz="1200"/>
              <a:t>– A simultaneous sample-and-hold stage captured the channel voltages before time-division multiplexing placed successive channels onto one shared output</a:t>
            </a:r>
          </a:p>
          <a:p>
            <a:r>
              <a:rPr lang="en-US" sz="1200"/>
              <a:t>– Synchronization markers identified each channel scan, so the original signals could be rebuilt after radio transmission. Multiplexing therefore sends the channels in turn through one radio link.</a:t>
            </a:r>
          </a:p>
          <a:p>
            <a:r>
              <a:rPr lang="en-US" sz="1200"/>
              <a:t>• Explanation 3.</a:t>
            </a:r>
          </a:p>
          <a:p>
            <a:r>
              <a:rPr lang="en-US" sz="1200"/>
              <a:t>– Frequency components removed by the filter stay absent however fast the sampling is</a:t>
            </a:r>
          </a:p>
          <a:p>
            <a:r>
              <a:rPr lang="en-US" sz="1200"/>
              <a:t>– The configuration suited extracellular spike analysis, so hardware settings decide which neural events a behavioral experiment can relate to movement, sensation or task timing.</a:t>
            </a:r>
          </a:p>
          <a:p>
            <a:r>
              <a:rPr lang="en-US" sz="1200"/>
              <a:t>• Settings.</a:t>
            </a:r>
          </a:p>
          <a:p>
            <a:r>
              <a:rPr lang="en-US" sz="1200"/>
              <a:t>– Electrode voltages were filtered from 80 to 2,300 Hz.</a:t>
            </a:r>
          </a:p>
          <a:p>
            <a:r>
              <a:rPr lang="en-US" sz="1200"/>
              <a:t>– Each channel was sampled at 20 kHz.</a:t>
            </a:r>
          </a:p>
          <a:p>
            <a:r>
              <a:rPr lang="en-US" sz="1200"/>
              <a:t>• Multiplexing.</a:t>
            </a:r>
          </a:p>
          <a:p>
            <a:r>
              <a:rPr lang="en-US" sz="1200"/>
              <a:t>– A sample-and-hold stage captured the channel voltages.</a:t>
            </a:r>
          </a:p>
          <a:p>
            <a:r>
              <a:rPr lang="en-US" sz="1200"/>
              <a:t>– Successive channels were placed onto one shared output.</a:t>
            </a:r>
          </a:p>
          <a:p>
            <a:r>
              <a:rPr lang="en-US" sz="1200"/>
              <a:t>• Markers.</a:t>
            </a:r>
          </a:p>
          <a:p>
            <a:r>
              <a:rPr lang="en-US" sz="1200"/>
              <a:t>– Synchronization markers identified each channel scan.</a:t>
            </a:r>
          </a:p>
          <a:p>
            <a:r>
              <a:rPr lang="en-US" sz="1200"/>
              <a:t>– The original signals could be rebuilt after radio transmission.</a:t>
            </a:r>
          </a:p>
          <a:p>
            <a:r>
              <a:rPr lang="en-US" sz="1200"/>
              <a:t>• Meaning.</a:t>
            </a:r>
          </a:p>
          <a:p>
            <a:r>
              <a:rPr lang="en-US" sz="1200"/>
              <a:t>– Hardware settings define which events are measurable.</a:t>
            </a:r>
          </a:p>
          <a:p>
            <a:r>
              <a:rPr lang="en-US" sz="1200"/>
              <a:t>– Spike analysis was the configuration's main purpose.</a:t>
            </a:r>
          </a:p>
          <a:p>
            <a:r>
              <a:rPr lang="en-US" sz="1200"/>
              <a:t/>
            </a:r>
          </a:p>
          <a:p>
            <a:r>
              <a:rPr lang="en-US" sz="1200"/>
              <a:t>References:</a:t>
            </a:r>
          </a:p>
          <a:p>
            <a:r>
              <a:rPr lang="en-US" sz="1200"/>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Head tracking follows flies during copulation.</a:t>
            </a:r>
          </a:p>
          <a:p>
            <a:r>
              <a:rPr lang="en-US" sz="1200"/>
              <a:t>• Explanation 1.</a:t>
            </a:r>
          </a:p>
          <a:p>
            <a:r>
              <a:rPr lang="en-US" sz="1200"/>
              <a:t>– Flyception2 tracks the head rather than the outline of the body, so the head stays identifiable when two flies overlap</a:t>
            </a:r>
          </a:p>
          <a:p>
            <a:r>
              <a:rPr lang="en-US" sz="1200"/>
              <a:t>– Grover and colleagues built the system to record brain fluorescence in freely moving adult flies. The animal is untethered, with no cable running to the microscope.</a:t>
            </a:r>
          </a:p>
          <a:p>
            <a:r>
              <a:rPr lang="en-US" sz="1200"/>
              <a:t>• Explanation 2.</a:t>
            </a:r>
          </a:p>
          <a:p>
            <a:r>
              <a:rPr lang="en-US" sz="1200"/>
              <a:t>– Three glass retroreflective beads, each about 30 µm across, marked the imaging window</a:t>
            </a:r>
          </a:p>
          <a:p>
            <a:r>
              <a:rPr lang="en-US" sz="1200"/>
              <a:t>– A tracking loop updated mirror position at 1,000 Hz, and focus followed changes in head height during courtship and copulation. Retroreflection returns incoming light toward its source, which makes the beads easy to track.</a:t>
            </a:r>
          </a:p>
          <a:p>
            <a:r>
              <a:rPr lang="en-US" sz="1200"/>
              <a:t>• Explanation 3.</a:t>
            </a:r>
          </a:p>
          <a:p>
            <a:r>
              <a:rPr lang="en-US" sz="1200"/>
              <a:t>– P1 fluorescence during the same social interaction was recorded in freely moving flies</a:t>
            </a:r>
          </a:p>
          <a:p>
            <a:r>
              <a:rPr lang="en-US" sz="1200"/>
              <a:t>– The method keeps social contact in the measurement, which outline-based tracking had disrupted, and it still uses a surgically prepared window in a bounded arena. Recordings were made from the same targeted cells during courtship and mating.</a:t>
            </a:r>
          </a:p>
          <a:p>
            <a:r>
              <a:rPr lang="en-US" sz="1200"/>
              <a:t>• Tracking.</a:t>
            </a:r>
          </a:p>
          <a:p>
            <a:r>
              <a:rPr lang="en-US" sz="1200"/>
              <a:t>– The system tracks the head instead of the body outline.</a:t>
            </a:r>
          </a:p>
          <a:p>
            <a:r>
              <a:rPr lang="en-US" sz="1200"/>
              <a:t>– The head stays identifiable when flies overlap.</a:t>
            </a:r>
          </a:p>
          <a:p>
            <a:r>
              <a:rPr lang="en-US" sz="1200"/>
              <a:t>• Hardware.</a:t>
            </a:r>
          </a:p>
          <a:p>
            <a:r>
              <a:rPr lang="en-US" sz="1200"/>
              <a:t>– Three glass beads, each about 30 µm across, marked the window.</a:t>
            </a:r>
          </a:p>
          <a:p>
            <a:r>
              <a:rPr lang="en-US" sz="1200"/>
              <a:t>– A tracking loop updated mirror position at 1,000 Hz.</a:t>
            </a:r>
          </a:p>
          <a:p>
            <a:r>
              <a:rPr lang="en-US" sz="1200"/>
              <a:t>• Focus.</a:t>
            </a:r>
          </a:p>
          <a:p>
            <a:r>
              <a:rPr lang="en-US" sz="1200"/>
              <a:t>– Focus followed changes in head height.</a:t>
            </a:r>
          </a:p>
          <a:p>
            <a:r>
              <a:rPr lang="en-US" sz="1200"/>
              <a:t>– Courtship and copulation were both tracked.</a:t>
            </a:r>
          </a:p>
          <a:p>
            <a:r>
              <a:rPr lang="en-US" sz="1200"/>
              <a:t>• Preparation.</a:t>
            </a:r>
          </a:p>
          <a:p>
            <a:r>
              <a:rPr lang="en-US" sz="1200"/>
              <a:t>– A surgically prepared window and a bounded arena were used.</a:t>
            </a:r>
          </a:p>
          <a:p>
            <a:r>
              <a:rPr lang="en-US" sz="1200"/>
              <a:t>– Social contact was preserved in the recording.</a:t>
            </a:r>
          </a:p>
          <a:p>
            <a:r>
              <a:rPr lang="en-US" sz="1200"/>
              <a:t/>
            </a:r>
          </a:p>
          <a:p>
            <a:r>
              <a:rPr lang="en-US" sz="1200"/>
              <a:t>References:</a:t>
            </a:r>
          </a:p>
          <a:p>
            <a:r>
              <a:rPr lang="en-US" sz="1200"/>
              <a:t>Dhruv Grover; Takeo Katsuki; Jinfang Li; Thomas J. Dawkins; Ralph J. Greenspan (2020). Imaging brain activity during complex social behaviors in Drosophila with Flyception2. Nature Communications 11(1): 623. https://doi.org/10.1038/s41467-020-14487-7</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Pretectal loss spares swimming and escape.</a:t>
            </a:r>
          </a:p>
          <a:p>
            <a:r>
              <a:rPr lang="en-US" sz="1200"/>
              <a:t>• Explanation 1.</a:t>
            </a:r>
          </a:p>
          <a:p>
            <a:r>
              <a:rPr lang="en-US" sz="1200"/>
              <a:t>– Antinucci and colleagues ablated about 90% of a fluorescently labeled pretectal population at 6 days after fertilization</a:t>
            </a:r>
          </a:p>
          <a:p>
            <a:r>
              <a:rPr lang="en-US" sz="1200"/>
              <a:t>– Free-swimming larvae were tested before the procedure and again on the following day. Fluorescent labeling identified which cells were removed.</a:t>
            </a:r>
          </a:p>
          <a:p>
            <a:r>
              <a:rPr lang="en-US" sz="1200"/>
              <a:t>• Explanation 2.</a:t>
            </a:r>
          </a:p>
          <a:p>
            <a:r>
              <a:rPr lang="en-US" sz="1200"/>
              <a:t>– Prey consumption, hunting initiation and the duration of hunting sequences declined after the ablation</a:t>
            </a:r>
          </a:p>
          <a:p>
            <a:r>
              <a:rPr lang="en-US" sz="1200"/>
              <a:t>– Average swimming speed, escape responses to looming stimuli and the optomotor response were retained. The optomotor response is swimming driven by moving visual patterns. Sham ablations of nearby thalamic cells were run as the control instead.</a:t>
            </a:r>
          </a:p>
          <a:p>
            <a:r>
              <a:rPr lang="en-US" sz="1200"/>
              <a:t>• Explanation 3.</a:t>
            </a:r>
          </a:p>
          <a:p>
            <a:r>
              <a:rPr lang="en-US" sz="1200"/>
              <a:t>– The spared behaviors indicate that the deficit is specific to hunting rather than a general loss of movement or visual responsiveness</a:t>
            </a:r>
          </a:p>
          <a:p>
            <a:r>
              <a:rPr lang="en-US" sz="1200"/>
              <a:t>– The pretectal population contributes to the start and continuation of prey capture, and its loss leaves swimming and escape working normally.</a:t>
            </a:r>
          </a:p>
          <a:p>
            <a:r>
              <a:rPr lang="en-US" sz="1200"/>
              <a:t>• Ablation.</a:t>
            </a:r>
          </a:p>
          <a:p>
            <a:r>
              <a:rPr lang="en-US" sz="1200"/>
              <a:t>– About 90% of the labeled pretectal population was removed.</a:t>
            </a:r>
          </a:p>
          <a:p>
            <a:r>
              <a:rPr lang="en-US" sz="1200"/>
              <a:t>– Larvae were tested before and after the procedure.</a:t>
            </a:r>
          </a:p>
          <a:p>
            <a:r>
              <a:rPr lang="en-US" sz="1200"/>
              <a:t>• Deficit.</a:t>
            </a:r>
          </a:p>
          <a:p>
            <a:r>
              <a:rPr lang="en-US" sz="1200"/>
              <a:t>– Prey consumption and hunting initiation declined.</a:t>
            </a:r>
          </a:p>
          <a:p>
            <a:r>
              <a:rPr lang="en-US" sz="1200"/>
              <a:t>– Hunting-sequence duration also declined.</a:t>
            </a:r>
          </a:p>
          <a:p>
            <a:r>
              <a:rPr lang="en-US" sz="1200"/>
              <a:t>• Controls.</a:t>
            </a:r>
          </a:p>
          <a:p>
            <a:r>
              <a:rPr lang="en-US" sz="1200"/>
              <a:t>– Swimming speed and escape responses were retained.</a:t>
            </a:r>
          </a:p>
          <a:p>
            <a:r>
              <a:rPr lang="en-US" sz="1200"/>
              <a:t>– The optomotor response was also retained.</a:t>
            </a:r>
          </a:p>
          <a:p>
            <a:r>
              <a:rPr lang="en-US" sz="1200"/>
              <a:t>• Sham.</a:t>
            </a:r>
          </a:p>
          <a:p>
            <a:r>
              <a:rPr lang="en-US" sz="1200"/>
              <a:t>– Sham ablations removed nearby thalamic cells.</a:t>
            </a:r>
          </a:p>
          <a:p>
            <a:r>
              <a:rPr lang="en-US" sz="1200"/>
              <a:t>– That comparison isolates the pretectal population.</a:t>
            </a:r>
          </a:p>
          <a:p>
            <a:r>
              <a:rPr lang="en-US" sz="1200"/>
              <a:t/>
            </a:r>
          </a:p>
          <a:p>
            <a:r>
              <a:rPr lang="en-US" sz="1200"/>
              <a:t>References:</a:t>
            </a:r>
          </a:p>
          <a:p>
            <a:r>
              <a:rPr lang="en-US" sz="1200"/>
              <a:t>Paride Antinucci; Mónica Folgueira; Isaac H Bianco (2019). Pretectal neurons control hunting behaviour. eLife 8: e48114. https://doi.org/10.7554/elife.48114</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Eye convergence marks the start of hunting.</a:t>
            </a:r>
          </a:p>
          <a:p>
            <a:r>
              <a:rPr lang="en-US" sz="1200"/>
              <a:t>• Explanation 1.</a:t>
            </a:r>
          </a:p>
          <a:p>
            <a:r>
              <a:rPr lang="en-US" sz="1200"/>
              <a:t>– Larval zebrafish that spot small moving prey converge their eyes toward a common frontal region</a:t>
            </a:r>
          </a:p>
          <a:p>
            <a:r>
              <a:rPr lang="en-US" sz="1200"/>
              <a:t>– In the study by Antinucci and colleagues, convergent saccades served as the measurable marker that hunting had begun. A saccade is a rapid eye movement, so each convergent saccade can be counted as the start of a hunt.</a:t>
            </a:r>
          </a:p>
          <a:p>
            <a:r>
              <a:rPr lang="en-US" sz="1200"/>
              <a:t>• Explanation 2.</a:t>
            </a:r>
          </a:p>
          <a:p>
            <a:r>
              <a:rPr lang="en-US" sz="1200"/>
              <a:t>– Larvae 6 to 7 days after fertilization produced convergence together with lateral tail movement in response to small dark moving spots</a:t>
            </a:r>
          </a:p>
          <a:p>
            <a:r>
              <a:rPr lang="en-US" sz="1200"/>
              <a:t>– About 92% of convergent saccades coincided with tail motion, and the eye-to-tail delay averaged near 12 ms. Small dark spots were the stimulus that most reliably recruited the combined movement.</a:t>
            </a:r>
          </a:p>
          <a:p>
            <a:r>
              <a:rPr lang="en-US" sz="1200"/>
              <a:t>• Explanation 3.</a:t>
            </a:r>
          </a:p>
          <a:p>
            <a:r>
              <a:rPr lang="en-US" sz="1200"/>
              <a:t>– Two-photon calcium imaging recorded brain activity during these movements in the restrained preparation</a:t>
            </a:r>
          </a:p>
          <a:p>
            <a:r>
              <a:rPr lang="en-US" sz="1200"/>
              <a:t>– Pretectal neurons were then tested for their role in hunting through activation and ablation in larvae that moved freely. Those experiments used free-swimming larvae to test the behavior under fewer constraints.</a:t>
            </a:r>
          </a:p>
          <a:p>
            <a:r>
              <a:rPr lang="en-US" sz="1200"/>
              <a:t>• Behavior.</a:t>
            </a:r>
          </a:p>
          <a:p>
            <a:r>
              <a:rPr lang="en-US" sz="1200"/>
              <a:t>– Larval zebrafish converge their eyes toward a frontal region when prey appears.</a:t>
            </a:r>
          </a:p>
          <a:p>
            <a:r>
              <a:rPr lang="en-US" sz="1200"/>
              <a:t>– Convergent saccades mark the start of hunting.</a:t>
            </a:r>
          </a:p>
          <a:p>
            <a:r>
              <a:rPr lang="en-US" sz="1200"/>
              <a:t>• Timing.</a:t>
            </a:r>
          </a:p>
          <a:p>
            <a:r>
              <a:rPr lang="en-US" sz="1200"/>
              <a:t>– About 92% of convergent saccades coincided with tail motion.</a:t>
            </a:r>
          </a:p>
          <a:p>
            <a:r>
              <a:rPr lang="en-US" sz="1200"/>
              <a:t>– The eye-to-tail delay averaged near 12 ms.</a:t>
            </a:r>
          </a:p>
          <a:p>
            <a:r>
              <a:rPr lang="en-US" sz="1200"/>
              <a:t>• Imaging.</a:t>
            </a:r>
          </a:p>
          <a:p>
            <a:r>
              <a:rPr lang="en-US" sz="1200"/>
              <a:t>– Two-photon calcium imaging recorded activity in the restrained preparation.</a:t>
            </a:r>
          </a:p>
          <a:p>
            <a:r>
              <a:rPr lang="en-US" sz="1200"/>
              <a:t>– Eyes and tails stayed mobile during recording.</a:t>
            </a:r>
          </a:p>
          <a:p>
            <a:r>
              <a:rPr lang="en-US" sz="1200"/>
              <a:t>• Follow-up.</a:t>
            </a:r>
          </a:p>
          <a:p>
            <a:r>
              <a:rPr lang="en-US" sz="1200"/>
              <a:t>– Activation and ablation tests were run in free-swimming larvae.</a:t>
            </a:r>
          </a:p>
          <a:p>
            <a:r>
              <a:rPr lang="en-US" sz="1200"/>
              <a:t>– They addressed the role of pretectal neurons.</a:t>
            </a:r>
          </a:p>
          <a:p>
            <a:r>
              <a:rPr lang="en-US" sz="1200"/>
              <a:t/>
            </a:r>
          </a:p>
          <a:p>
            <a:r>
              <a:rPr lang="en-US" sz="1200"/>
              <a:t>References:</a:t>
            </a:r>
          </a:p>
          <a:p>
            <a:r>
              <a:rPr lang="en-US" sz="1200"/>
              <a:t>Paride Antinucci; Mónica Folgueira; Isaac H Bianco (2019). Pretectal neurons control hunting behaviour. eLife 8: e48114. https://doi.org/10.7554/elife.48114</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Filament speed sets the startle response.</a:t>
            </a:r>
          </a:p>
          <a:p>
            <a:r>
              <a:rPr lang="en-US" sz="1200"/>
              <a:t>• Explanation 1.</a:t>
            </a:r>
          </a:p>
          <a:p>
            <a:r>
              <a:rPr lang="en-US" sz="1200"/>
              <a:t>– Bezares-Calderón and colleagues moved a vibrating tungsten filament past Platynereis larvae and recorded the movements at 230 to 350 frames per second</a:t>
            </a:r>
          </a:p>
          <a:p>
            <a:r>
              <a:rPr lang="en-US" sz="1200"/>
              <a:t>– The startle included ciliary arrest, body contraction and elevation of the parapodia. Several of these movements occurred together in each response.</a:t>
            </a:r>
          </a:p>
          <a:p>
            <a:r>
              <a:rPr lang="en-US" sz="1200"/>
              <a:t>• Explanation 2.</a:t>
            </a:r>
          </a:p>
          <a:p>
            <a:r>
              <a:rPr lang="en-US" sz="1200"/>
              <a:t>– Increasing filament speed favored wider appendage elevation</a:t>
            </a:r>
          </a:p>
          <a:p>
            <a:r>
              <a:rPr lang="en-US" sz="1200"/>
              <a:t>– Placing the filament farther from the head required stronger stimulation, which indicates sensing at short range. Wide elevation was consistently recruited above about 28 µm/ms, and that speed marks the recruitment threshold.</a:t>
            </a:r>
          </a:p>
          <a:p>
            <a:r>
              <a:rPr lang="en-US" sz="1200"/>
              <a:t>• Explanation 3.</a:t>
            </a:r>
          </a:p>
          <a:p>
            <a:r>
              <a:rPr lang="en-US" sz="1200"/>
              <a:t>– The arrangement therefore links a defined water movement to a coordinated defensive action</a:t>
            </a:r>
          </a:p>
          <a:p>
            <a:r>
              <a:rPr lang="en-US" sz="1200"/>
              <a:t>– The filament speed is the mechanical parameter the experimenter controls, so it provides an input that can be varied and measured across trials. Varying that input changes which appendage movements the larva produces.</a:t>
            </a:r>
          </a:p>
          <a:p>
            <a:r>
              <a:rPr lang="en-US" sz="1200"/>
              <a:t>• Stimulus.</a:t>
            </a:r>
          </a:p>
          <a:p>
            <a:r>
              <a:rPr lang="en-US" sz="1200"/>
              <a:t>– A vibrating tungsten filament moved water around the larva.</a:t>
            </a:r>
          </a:p>
          <a:p>
            <a:r>
              <a:rPr lang="en-US" sz="1200"/>
              <a:t>– Responses were recorded at 230 to 350 frames per second.</a:t>
            </a:r>
          </a:p>
          <a:p>
            <a:r>
              <a:rPr lang="en-US" sz="1200"/>
              <a:t>• Speed.</a:t>
            </a:r>
          </a:p>
          <a:p>
            <a:r>
              <a:rPr lang="en-US" sz="1200"/>
              <a:t>– Faster filaments favored wider parapodia elevation.</a:t>
            </a:r>
          </a:p>
          <a:p>
            <a:r>
              <a:rPr lang="en-US" sz="1200"/>
              <a:t>– Wide elevation was recruited above about 28 µm/ms.</a:t>
            </a:r>
          </a:p>
          <a:p>
            <a:r>
              <a:rPr lang="en-US" sz="1200"/>
              <a:t>• Distance.</a:t>
            </a:r>
          </a:p>
          <a:p>
            <a:r>
              <a:rPr lang="en-US" sz="1200"/>
              <a:t>– Filaments placed farther from the head needed stronger stimulation.</a:t>
            </a:r>
          </a:p>
          <a:p>
            <a:r>
              <a:rPr lang="en-US" sz="1200"/>
              <a:t>– The result indicates sensing at short range.</a:t>
            </a:r>
          </a:p>
          <a:p>
            <a:r>
              <a:rPr lang="en-US" sz="1200"/>
              <a:t>• Meaning.</a:t>
            </a:r>
          </a:p>
          <a:p>
            <a:r>
              <a:rPr lang="en-US" sz="1200"/>
              <a:t>– A defined water movement drives a coordinated defensive action.</a:t>
            </a:r>
          </a:p>
          <a:p>
            <a:r>
              <a:rPr lang="en-US" sz="1200"/>
              <a:t>– Filament speed is the controlled input.</a:t>
            </a:r>
          </a:p>
          <a:p>
            <a:r>
              <a:rPr lang="en-US" sz="1200"/>
              <a:t/>
            </a:r>
          </a:p>
          <a:p>
            <a:r>
              <a:rPr lang="en-US" sz="1200"/>
              <a:t>References:</a:t>
            </a:r>
          </a:p>
          <a:p>
            <a:r>
              <a:rPr lang="en-US" sz="1200"/>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Serial reconstruction maps ciliomotor wiring.</a:t>
            </a:r>
          </a:p>
          <a:p>
            <a:r>
              <a:rPr lang="en-US" sz="1200"/>
              <a:t>• Explanation 1.</a:t>
            </a:r>
          </a:p>
          <a:p>
            <a:r>
              <a:rPr lang="en-US" sz="1200"/>
              <a:t>– Serial transmission electron microscopy of a 3-day-old Platynereis larva allowed Verasztó and colleagues to trace neurons and their synaptic contacts</a:t>
            </a:r>
          </a:p>
          <a:p>
            <a:r>
              <a:rPr lang="en-US" sz="1200"/>
              <a:t>– The reconstruction was related to the whole-body distribution of ciliated cells. The map therefore links specific neurons to specific sites of ciliary control.</a:t>
            </a:r>
          </a:p>
          <a:p>
            <a:r>
              <a:rPr lang="en-US" sz="1200"/>
              <a:t>• Explanation 2.</a:t>
            </a:r>
          </a:p>
          <a:p>
            <a:r>
              <a:rPr lang="en-US" sz="1200"/>
              <a:t>– The large MC neuron and the paired Loop neurons made extensive contacts with the locomotor ciliary bands</a:t>
            </a:r>
          </a:p>
          <a:p>
            <a:r>
              <a:rPr lang="en-US" sz="1200"/>
              <a:t>– Molecular labeling and cell morphology supported a cholinergic identity, meaning that these cells use acetylcholine as their transmitter. Axons reached several positions along the body.</a:t>
            </a:r>
          </a:p>
          <a:p>
            <a:r>
              <a:rPr lang="en-US" sz="1200"/>
              <a:t>• Explanation 3.</a:t>
            </a:r>
          </a:p>
          <a:p>
            <a:r>
              <a:rPr lang="en-US" sz="1200"/>
              <a:t>– A structural synapse sets neither the timing nor the sign of the functional response</a:t>
            </a:r>
          </a:p>
          <a:p>
            <a:r>
              <a:rPr lang="en-US" sz="1200"/>
              <a:t>– Calcium recordings and selective interventions are therefore needed to show which reconstructed neurons take part in ciliary arrests. Reconstructed contacts show where a neuron could act, and calcium recordings show when it acts.</a:t>
            </a:r>
          </a:p>
          <a:p>
            <a:r>
              <a:rPr lang="en-US" sz="1200"/>
              <a:t>• Method.</a:t>
            </a:r>
          </a:p>
          <a:p>
            <a:r>
              <a:rPr lang="en-US" sz="1200"/>
              <a:t>– Serial transmission electron microscopy imaged a 3-day-old larva.</a:t>
            </a:r>
          </a:p>
          <a:p>
            <a:r>
              <a:rPr lang="en-US" sz="1200"/>
              <a:t>– Neurons and their synaptic contacts were traced.</a:t>
            </a:r>
          </a:p>
          <a:p>
            <a:r>
              <a:rPr lang="en-US" sz="1200"/>
              <a:t>• Contacts.</a:t>
            </a:r>
          </a:p>
          <a:p>
            <a:r>
              <a:rPr lang="en-US" sz="1200"/>
              <a:t>– The MC neuron and the paired Loop neurons contacted the ciliary bands.</a:t>
            </a:r>
          </a:p>
          <a:p>
            <a:r>
              <a:rPr lang="en-US" sz="1200"/>
              <a:t>– Axons reached several positions along the body.</a:t>
            </a:r>
          </a:p>
          <a:p>
            <a:r>
              <a:rPr lang="en-US" sz="1200"/>
              <a:t>• Identity.</a:t>
            </a:r>
          </a:p>
          <a:p>
            <a:r>
              <a:rPr lang="en-US" sz="1200"/>
              <a:t>– Molecular labeling supported a cholinergic identity.</a:t>
            </a:r>
          </a:p>
          <a:p>
            <a:r>
              <a:rPr lang="en-US" sz="1200"/>
              <a:t>– These cells use acetylcholine as their transmitter.</a:t>
            </a:r>
          </a:p>
          <a:p>
            <a:r>
              <a:rPr lang="en-US" sz="1200"/>
              <a:t>• Meaning.</a:t>
            </a:r>
          </a:p>
          <a:p>
            <a:r>
              <a:rPr lang="en-US" sz="1200"/>
              <a:t>– The wiring shows how a few neurons reach distant effectors.</a:t>
            </a:r>
          </a:p>
          <a:p>
            <a:r>
              <a:rPr lang="en-US" sz="1200"/>
              <a:t>– Function is tested separately with calcium recordings.</a:t>
            </a:r>
          </a:p>
          <a:p>
            <a:r>
              <a:rPr lang="en-US" sz="1200"/>
              <a:t/>
            </a:r>
          </a:p>
          <a:p>
            <a:r>
              <a:rPr lang="en-US" sz="1200"/>
              <a:t>References:</a:t>
            </a:r>
          </a:p>
          <a:p>
            <a:r>
              <a:rPr lang="en-US" sz="1200"/>
              <a:t>Csaba Verasztó; Nobuo Ueda; Luis A Bezares-Calderón; Aurora Panzera; Elizabeth A Williams; Réza Shahidi; Gáspár Jékely (2017). Ciliomotor circuitry underlying whole-body coordination of ciliary activity in the Platynereis larva. eLife 6: e26000. https://doi.org/10.7554/elife.26000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Single neurons bias behavior toward one action.</a:t>
            </a:r>
          </a:p>
          <a:p>
            <a:r>
              <a:rPr lang="en-US" sz="1200"/>
              <a:t>• Explanation 1.</a:t>
            </a:r>
          </a:p>
          <a:p>
            <a:r>
              <a:rPr lang="en-US" sz="1200"/>
              <a:t>– Cande and colleagues measured behavior in a low-dimensional map that groups similar movements, then asked whether activating a descending population moved behavior toward one region of that map</a:t>
            </a:r>
          </a:p>
          <a:p>
            <a:r>
              <a:rPr lang="en-US" sz="1200"/>
              <a:t>– Occupancy counted how often each fly performed the movements assigned to a region.</a:t>
            </a:r>
          </a:p>
          <a:p>
            <a:r>
              <a:rPr lang="en-US" sz="1200"/>
              <a:t>• Explanation 2.</a:t>
            </a:r>
          </a:p>
          <a:p>
            <a:r>
              <a:rPr lang="en-US" sz="1200"/>
              <a:t>– Many experimental flies showed reduced behavioral entropy during 15 s red-light epochs, which means their activity spread across fewer actions</a:t>
            </a:r>
          </a:p>
          <a:p>
            <a:r>
              <a:rPr lang="en-US" sz="1200"/>
              <a:t>– Matched controls without retinal showed no such population-level reduction. Most effective lines favored one behavioral region. Entropy is a measure of how broadly activity is distributed across the available actions.</a:t>
            </a:r>
          </a:p>
          <a:p>
            <a:r>
              <a:rPr lang="en-US" sz="1200"/>
              <a:t>• Explanation 3.</a:t>
            </a:r>
          </a:p>
          <a:p>
            <a:r>
              <a:rPr lang="en-US" sz="1200"/>
              <a:t>– The pattern points to modular control, in which a descending population recruits a coherent part of the movement repertoire</a:t>
            </a:r>
          </a:p>
          <a:p>
            <a:r>
              <a:rPr lang="en-US" sz="1200"/>
              <a:t>– Selective tests of normal activity, necessity and context would show whether each neuron serves one command or several. Each tested line therefore recruits a defined region of the behavior space.</a:t>
            </a:r>
          </a:p>
          <a:p>
            <a:r>
              <a:rPr lang="en-US" sz="1200"/>
              <a:t>• Map.</a:t>
            </a:r>
          </a:p>
          <a:p>
            <a:r>
              <a:rPr lang="en-US" sz="1200"/>
              <a:t>– Behavior was described in a low-dimensional map of similar movements.</a:t>
            </a:r>
          </a:p>
          <a:p>
            <a:r>
              <a:rPr lang="en-US" sz="1200"/>
              <a:t>– Occupancy was tracked for each red-light activation.</a:t>
            </a:r>
          </a:p>
          <a:p>
            <a:r>
              <a:rPr lang="en-US" sz="1200"/>
              <a:t>• Entropy.</a:t>
            </a:r>
          </a:p>
          <a:p>
            <a:r>
              <a:rPr lang="en-US" sz="1200"/>
              <a:t>– Many experimental flies showed reduced behavioral entropy.</a:t>
            </a:r>
          </a:p>
          <a:p>
            <a:r>
              <a:rPr lang="en-US" sz="1200"/>
              <a:t>– Matched controls showed no such reduction.</a:t>
            </a:r>
          </a:p>
          <a:p>
            <a:r>
              <a:rPr lang="en-US" sz="1200"/>
              <a:t>• Modularity.</a:t>
            </a:r>
          </a:p>
          <a:p>
            <a:r>
              <a:rPr lang="en-US" sz="1200"/>
              <a:t>– Most effective lines favored one behavioral region.</a:t>
            </a:r>
          </a:p>
          <a:p>
            <a:r>
              <a:rPr lang="en-US" sz="1200"/>
              <a:t>– A descending population can recruit a coherent part of the repertoire.</a:t>
            </a:r>
          </a:p>
          <a:p>
            <a:r>
              <a:rPr lang="en-US" sz="1200"/>
              <a:t>• Context.</a:t>
            </a:r>
          </a:p>
          <a:p>
            <a:r>
              <a:rPr lang="en-US" sz="1200"/>
              <a:t>– The effect was measured in an arena with stimulation at 15 s epochs.</a:t>
            </a:r>
          </a:p>
          <a:p>
            <a:r>
              <a:rPr lang="en-US" sz="1200"/>
              <a:t>– Entropy measures how broadly activity spreads across actions.</a:t>
            </a:r>
          </a:p>
          <a:p>
            <a:r>
              <a:rPr lang="en-US" sz="1200"/>
              <a:t/>
            </a:r>
          </a:p>
          <a:p>
            <a:r>
              <a:rPr lang="en-US" sz="1200"/>
              <a:t>References:</a:t>
            </a:r>
          </a:p>
          <a:p>
            <a:r>
              <a:rPr lang="en-US" sz="1200"/>
              <a:t>Jessica Cande; Shigehiro Namiki; Jirui Qiu; Wyatt Korff; Gwyneth M Card; Joshua W Shaevitz; David L Stern; Gordon J Berman (2018). Optogenetic dissection of descending behavioral control in Drosophila. eLife 7: e34275. https://doi.org/10.7554/elife.34275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Housing changes wing-extension sensitivity.</a:t>
            </a:r>
          </a:p>
          <a:p>
            <a:r>
              <a:rPr lang="en-US" sz="1200"/>
              <a:t>• Explanation 1.</a:t>
            </a:r>
          </a:p>
          <a:p>
            <a:r>
              <a:rPr lang="en-US" sz="1200"/>
              <a:t>– Inagaki and colleagues housed males alone or in groups for 7 days before testing them with red light</a:t>
            </a:r>
          </a:p>
          <a:p>
            <a:r>
              <a:rPr lang="en-US" sz="1200"/>
              <a:t>– Wing extension was the measured readout of the courtship circuit, and each male was stimulated across a range of light intensities with the same method.</a:t>
            </a:r>
          </a:p>
          <a:p>
            <a:r>
              <a:rPr lang="en-US" sz="1200"/>
              <a:t>• Explanation 2.</a:t>
            </a:r>
          </a:p>
          <a:p>
            <a:r>
              <a:rPr lang="en-US" sz="1200"/>
              <a:t>– Males housed alone responded to weaker red light than males housed in groups</a:t>
            </a:r>
          </a:p>
          <a:p>
            <a:r>
              <a:rPr lang="en-US" sz="1200"/>
              <a:t>– Activating the descending courtship neurons pIP10 produced no comparable shift, even though the stimulation method matched across the two groups. Housing-dependent sensitivity therefore appeared for P1 activation but not for pIP10 activation.</a:t>
            </a:r>
          </a:p>
          <a:p>
            <a:r>
              <a:rPr lang="en-US" sz="1200"/>
              <a:t>• Explanation 3.</a:t>
            </a:r>
          </a:p>
          <a:p>
            <a:r>
              <a:rPr lang="en-US" sz="1200"/>
              <a:t>– The housing effect acts at P1 or at a downstream stage before pIP10, so social experience changes how strongly the same light input drives wing extension</a:t>
            </a:r>
          </a:p>
          <a:p>
            <a:r>
              <a:rPr lang="en-US" sz="1200"/>
              <a:t>– The light stimulus stays constant while the behavioral response changes with housing history. Social history thus modifies the behavioral consequence of an identical input.</a:t>
            </a:r>
          </a:p>
          <a:p>
            <a:r>
              <a:rPr lang="en-US" sz="1200"/>
              <a:t>• Design.</a:t>
            </a:r>
          </a:p>
          <a:p>
            <a:r>
              <a:rPr lang="en-US" sz="1200"/>
              <a:t>– Males were housed alone or in groups for 7 days.</a:t>
            </a:r>
          </a:p>
          <a:p>
            <a:r>
              <a:rPr lang="en-US" sz="1200"/>
              <a:t>– Red-light intensities were then varied during testing.</a:t>
            </a:r>
          </a:p>
          <a:p>
            <a:r>
              <a:rPr lang="en-US" sz="1200"/>
              <a:t>• Result.</a:t>
            </a:r>
          </a:p>
          <a:p>
            <a:r>
              <a:rPr lang="en-US" sz="1200"/>
              <a:t>– Single-housed males responded at lower intensities.</a:t>
            </a:r>
          </a:p>
          <a:p>
            <a:r>
              <a:rPr lang="en-US" sz="1200"/>
              <a:t>– The pIP10 activation showed no comparable shift.</a:t>
            </a:r>
          </a:p>
          <a:p>
            <a:r>
              <a:rPr lang="en-US" sz="1200"/>
              <a:t>• Locus.</a:t>
            </a:r>
          </a:p>
          <a:p>
            <a:r>
              <a:rPr lang="en-US" sz="1200"/>
              <a:t>– The housing effect acts at P1 or upstream of pIP10.</a:t>
            </a:r>
          </a:p>
          <a:p>
            <a:r>
              <a:rPr lang="en-US" sz="1200"/>
              <a:t>– The light input stays the same across groups.</a:t>
            </a:r>
          </a:p>
          <a:p>
            <a:r>
              <a:rPr lang="en-US" sz="1200"/>
              <a:t>• Context.</a:t>
            </a:r>
          </a:p>
          <a:p>
            <a:r>
              <a:rPr lang="en-US" sz="1200"/>
              <a:t>– The stimulation method matched across the two groups.</a:t>
            </a:r>
          </a:p>
          <a:p>
            <a:r>
              <a:rPr lang="en-US" sz="1200"/>
              <a:t>– The social experience was the difference between them.</a:t>
            </a:r>
          </a:p>
          <a:p>
            <a:r>
              <a:rPr lang="en-US" sz="1200"/>
              <a:t/>
            </a:r>
          </a:p>
          <a:p>
            <a:r>
              <a:rPr lang="en-US" sz="1200"/>
              <a:t>References:</a:t>
            </a:r>
          </a:p>
          <a:p>
            <a:r>
              <a:rPr lang="en-US" sz="1200"/>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Chloride gradients set the silencing effect.</a:t>
            </a:r>
          </a:p>
          <a:p>
            <a:r>
              <a:rPr lang="en-US" sz="1200"/>
              <a:t>• Explanation 1.</a:t>
            </a:r>
          </a:p>
          <a:p>
            <a:r>
              <a:rPr lang="en-US" sz="1200"/>
              <a:t>– Govorunova and colleagues used GtACR2 in cultured rat neurons to test whether light can silence cells</a:t>
            </a:r>
          </a:p>
          <a:p>
            <a:r>
              <a:rPr lang="en-US" sz="1200"/>
              <a:t>– The photocurrent reversed near −88 mV, a voltage that depends on the chloride gradient across the membrane. The reversal voltage is the point where the measured current changes sign.</a:t>
            </a:r>
          </a:p>
          <a:p>
            <a:r>
              <a:rPr lang="en-US" sz="1200"/>
              <a:t>• Explanation 2.</a:t>
            </a:r>
          </a:p>
          <a:p>
            <a:r>
              <a:rPr lang="en-US" sz="1200"/>
              <a:t>– Illumination suppressed current-evoked spikes in trains up to at least 25 Hz</a:t>
            </a:r>
          </a:p>
          <a:p>
            <a:r>
              <a:rPr lang="en-US" sz="1200"/>
              <a:t>– In a ramp protocol, full suppression occurred at a light intensity of 0.005 mW/mm², and the ramp tested a graded range of light intensities. Expressing neurons kept their dark-state electrical properties and morphology.</a:t>
            </a:r>
          </a:p>
          <a:p>
            <a:r>
              <a:rPr lang="en-US" sz="1200"/>
              <a:t>• Explanation 3.</a:t>
            </a:r>
          </a:p>
          <a:p>
            <a:r>
              <a:rPr lang="en-US" sz="1200"/>
              <a:t>– Opening an anion channel moves the membrane toward the chloride equilibrium potential, so the same light can hyperpolarize one cell and depolarize another</a:t>
            </a:r>
          </a:p>
          <a:p>
            <a:r>
              <a:rPr lang="en-US" sz="1200"/>
              <a:t>– The starting voltage and the chloride gradient of each cell determine which outcome occurs. Silencing was validated under the measured recording conditions, so each new cell type needs its own chloride measurement.</a:t>
            </a:r>
          </a:p>
          <a:p>
            <a:r>
              <a:rPr lang="en-US" sz="1200"/>
              <a:t>• Reversal.</a:t>
            </a:r>
          </a:p>
          <a:p>
            <a:r>
              <a:rPr lang="en-US" sz="1200"/>
              <a:t>– The photocurrent reversed near −88 mV in cultured rat neurons.</a:t>
            </a:r>
          </a:p>
          <a:p>
            <a:r>
              <a:rPr lang="en-US" sz="1200"/>
              <a:t>– That voltage depends on the chloride gradient.</a:t>
            </a:r>
          </a:p>
          <a:p>
            <a:r>
              <a:rPr lang="en-US" sz="1200"/>
              <a:t>• Suppression.</a:t>
            </a:r>
          </a:p>
          <a:p>
            <a:r>
              <a:rPr lang="en-US" sz="1200"/>
              <a:t>– Illumination suppressed spikes in trains up to at least 25 Hz.</a:t>
            </a:r>
          </a:p>
          <a:p>
            <a:r>
              <a:rPr lang="en-US" sz="1200"/>
              <a:t>– A ramp protocol reached full suppression at 0.005 mW/mm².</a:t>
            </a:r>
          </a:p>
          <a:p>
            <a:r>
              <a:rPr lang="en-US" sz="1200"/>
              <a:t>• Mechanism.</a:t>
            </a:r>
          </a:p>
          <a:p>
            <a:r>
              <a:rPr lang="en-US" sz="1200"/>
              <a:t>– An anion channel moves the membrane toward the chloride equilibrium potential.</a:t>
            </a:r>
          </a:p>
          <a:p>
            <a:r>
              <a:rPr lang="en-US" sz="1200"/>
              <a:t>– The same light can hyperpolarize one cell and depolarize another.</a:t>
            </a:r>
          </a:p>
          <a:p>
            <a:r>
              <a:rPr lang="en-US" sz="1200"/>
              <a:t>• Context.</a:t>
            </a:r>
          </a:p>
          <a:p>
            <a:r>
              <a:rPr lang="en-US" sz="1200"/>
              <a:t>– Dark-state properties of the expressing neurons were retained.</a:t>
            </a:r>
          </a:p>
          <a:p>
            <a:r>
              <a:rPr lang="en-US" sz="1200"/>
              <a:t>– The silencing was validated under the measured recording conditions.</a:t>
            </a:r>
          </a:p>
          <a:p>
            <a:r>
              <a:rPr lang="en-US" sz="1200"/>
              <a:t/>
            </a:r>
          </a:p>
          <a:p>
            <a:r>
              <a:rPr lang="en-US" sz="1200"/>
              <a:t>References:</a:t>
            </a:r>
          </a:p>
          <a:p>
            <a:r>
              <a:rPr lang="en-US" sz="1200"/>
              <a:t>Elena G. Govorunova; Oleg A. Sineshchekov; Roger Janz; Xiaoqin Liu; John L. Spudich (2015). Natural light-gated anion channels: A family of microbial rhodopsins for advanced optogenetics. Science 349(6248): 647-650. https://doi.org/10.1126/science.aaa7484</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Membrane expression enables optical spiking.</a:t>
            </a:r>
          </a:p>
          <a:p>
            <a:r>
              <a:rPr lang="en-US" sz="1200"/>
              <a:t>• Explanation 1.</a:t>
            </a:r>
          </a:p>
          <a:p>
            <a:r>
              <a:rPr lang="en-US" sz="1200"/>
              <a:t>– Boyden and colleagues delivered a ChR2 fusion with yellow fluorescent protein into cultured rat neurons using a lentiviral vector</a:t>
            </a:r>
          </a:p>
          <a:p>
            <a:r>
              <a:rPr lang="en-US" sz="1200"/>
              <a:t>– The fluorescent tag marked the expressing cells and the membrane-associated processes that extend from them. The lentiviral vector is a modified virus that carries the expression construct into the cells.</a:t>
            </a:r>
          </a:p>
          <a:p>
            <a:r>
              <a:rPr lang="en-US" sz="1200"/>
              <a:t>• Explanation 2.</a:t>
            </a:r>
          </a:p>
          <a:p>
            <a:r>
              <a:rPr lang="en-US" sz="1200"/>
              <a:t>– Blue light between 450 and 490 nm generated an average peak inward current near 496 pA, followed by a smaller sustained current near 193 pA</a:t>
            </a:r>
          </a:p>
          <a:p>
            <a:r>
              <a:rPr lang="en-US" sz="1200"/>
              <a:t>– Neurons carrying the fluorescent tag alone gave no light-evoked response, so the electrical effect came from the channel rather than from fluorescence or illumination.</a:t>
            </a:r>
          </a:p>
          <a:p>
            <a:r>
              <a:rPr lang="en-US" sz="1200"/>
              <a:t>• Explanation 3.</a:t>
            </a:r>
          </a:p>
          <a:p>
            <a:r>
              <a:rPr lang="en-US" sz="1200"/>
              <a:t>– Inward current depolarizes the neuron, and when the voltage reaches firing threshold, the neuron produces an action potential</a:t>
            </a:r>
          </a:p>
          <a:p>
            <a:r>
              <a:rPr lang="en-US" sz="1200"/>
              <a:t>– Light therefore drives spikes in an expressing cell without requiring knowledge of its natural synaptic targets. The current is an inward flow that makes the internal voltage less negative.</a:t>
            </a:r>
          </a:p>
          <a:p>
            <a:r>
              <a:rPr lang="en-US" sz="1200"/>
              <a:t>• Expression.</a:t>
            </a:r>
          </a:p>
          <a:p>
            <a:r>
              <a:rPr lang="en-US" sz="1200"/>
              <a:t>– A ChR2 fusion with yellow fluorescent protein was delivered into cultured rat neurons.</a:t>
            </a:r>
          </a:p>
          <a:p>
            <a:r>
              <a:rPr lang="en-US" sz="1200"/>
              <a:t>– The fluorescent tag marked the expressing cells.</a:t>
            </a:r>
          </a:p>
          <a:p>
            <a:r>
              <a:rPr lang="en-US" sz="1200"/>
              <a:t>• Current.</a:t>
            </a:r>
          </a:p>
          <a:p>
            <a:r>
              <a:rPr lang="en-US" sz="1200"/>
              <a:t>– Blue light produced an average peak inward current near 496 pA.</a:t>
            </a:r>
          </a:p>
          <a:p>
            <a:r>
              <a:rPr lang="en-US" sz="1200"/>
              <a:t>– A smaller sustained current near 193 pA followed.</a:t>
            </a:r>
          </a:p>
          <a:p>
            <a:r>
              <a:rPr lang="en-US" sz="1200"/>
              <a:t>• Control.</a:t>
            </a:r>
          </a:p>
          <a:p>
            <a:r>
              <a:rPr lang="en-US" sz="1200"/>
              <a:t>– Neurons with the tag alone gave no light-evoked response.</a:t>
            </a:r>
          </a:p>
          <a:p>
            <a:r>
              <a:rPr lang="en-US" sz="1200"/>
              <a:t>– The effect therefore came from the channel itself.</a:t>
            </a:r>
          </a:p>
          <a:p>
            <a:r>
              <a:rPr lang="en-US" sz="1200"/>
              <a:t>• Spikes.</a:t>
            </a:r>
          </a:p>
          <a:p>
            <a:r>
              <a:rPr lang="en-US" sz="1200"/>
              <a:t>– Inward current made the internal voltage less negative.</a:t>
            </a:r>
          </a:p>
          <a:p>
            <a:r>
              <a:rPr lang="en-US" sz="1200"/>
              <a:t>– Threshold triggered an action potential.</a:t>
            </a:r>
          </a:p>
          <a:p>
            <a:r>
              <a:rPr lang="en-US" sz="1200"/>
              <a:t>• Field setting.</a:t>
            </a:r>
          </a:p>
          <a:p>
            <a:r>
              <a:rPr lang="en-US" sz="1200"/>
              <a:t>– The neurons were cultured, not in an intact animal.</a:t>
            </a:r>
          </a:p>
          <a:p>
            <a:r>
              <a:rPr lang="en-US" sz="1200"/>
              <a:t>– The result concerns expression in a dish.</a:t>
            </a:r>
          </a:p>
          <a:p>
            <a:r>
              <a:rPr lang="en-US" sz="1200"/>
              <a:t/>
            </a:r>
          </a:p>
          <a:p>
            <a:r>
              <a:rPr lang="en-US" sz="1200"/>
              <a:t>References:</a:t>
            </a:r>
          </a:p>
          <a:p>
            <a:r>
              <a:rPr lang="en-US" sz="1200"/>
              <a:t>Edward S Boyden; Feng Zhang; Ernst Bamberg; Georg Nagel; Karl Deisseroth (2005). Millisecond-timescale, genetically targeted optical control of neural activity. Nature Neuroscience 8(9): 1263-1268. https://doi.org/10.1038/nn1525</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ChR2 conducts light-driven current directly.</a:t>
            </a:r>
          </a:p>
          <a:p>
            <a:r>
              <a:rPr lang="en-US" sz="1200"/>
              <a:t>• Explanation 1.</a:t>
            </a:r>
          </a:p>
          <a:p>
            <a:r>
              <a:rPr lang="en-US" sz="1200"/>
              <a:t>– Channelrhodopsin-2 is a retinal-containing protein from the green alga Chlamydomonas reinhardtii</a:t>
            </a:r>
          </a:p>
          <a:p>
            <a:r>
              <a:rPr lang="en-US" sz="1200"/>
              <a:t>– When blue light near 450 nm reached ChR2-expressing frog oocytes, it produced a current that uninjected oocytes lacked, which showed that the protein itself carries the response to light.</a:t>
            </a:r>
          </a:p>
          <a:p>
            <a:r>
              <a:rPr lang="en-US" sz="1200"/>
              <a:t>• Explanation 2.</a:t>
            </a:r>
          </a:p>
          <a:p>
            <a:r>
              <a:rPr lang="en-US" sz="1200"/>
              <a:t>– Voltage clamp holds the membrane at a chosen voltage while the amplifier records the current that flows</a:t>
            </a:r>
          </a:p>
          <a:p>
            <a:r>
              <a:rPr lang="en-US" sz="1200"/>
              <a:t>– Changing the held voltage altered the size and direction of the light-evoked current, a pattern that fits a passive conductance rather than an ion pump. Current direction therefore depends on the voltage at which the membrane is held.</a:t>
            </a:r>
          </a:p>
          <a:p>
            <a:r>
              <a:rPr lang="en-US" sz="1200"/>
              <a:t>• Explanation 3.</a:t>
            </a:r>
          </a:p>
          <a:p>
            <a:r>
              <a:rPr lang="en-US" sz="1200"/>
              <a:t>– A truncated protein containing the first 315 amino acids kept its channel function</a:t>
            </a:r>
          </a:p>
          <a:p>
            <a:r>
              <a:rPr lang="en-US" sz="1200"/>
              <a:t>– The light-gated conductance therefore lies within the membrane-spanning portion of the protein, the part that forms the pathway for charged particles. That region alone is sufficient to carry the light-gated current.</a:t>
            </a:r>
          </a:p>
          <a:p>
            <a:r>
              <a:rPr lang="en-US" sz="1200"/>
              <a:t>• Expression.</a:t>
            </a:r>
          </a:p>
          <a:p>
            <a:r>
              <a:rPr lang="en-US" sz="1200"/>
              <a:t>– Blue light near 450 nm produced a current in ChR2-expressing oocytes.</a:t>
            </a:r>
          </a:p>
          <a:p>
            <a:r>
              <a:rPr lang="en-US" sz="1200"/>
              <a:t>– Uninjected oocytes showed no such current.</a:t>
            </a:r>
          </a:p>
          <a:p>
            <a:r>
              <a:rPr lang="en-US" sz="1200"/>
              <a:t>– The protein carries the response itself.</a:t>
            </a:r>
          </a:p>
          <a:p>
            <a:r>
              <a:rPr lang="en-US" sz="1200"/>
              <a:t>• Clamp.</a:t>
            </a:r>
          </a:p>
          <a:p>
            <a:r>
              <a:rPr lang="en-US" sz="1200"/>
              <a:t>– Voltage clamp held the membrane at chosen voltages.</a:t>
            </a:r>
          </a:p>
          <a:p>
            <a:r>
              <a:rPr lang="en-US" sz="1200"/>
              <a:t>– The current changed size and direction with the held voltage.</a:t>
            </a:r>
          </a:p>
          <a:p>
            <a:r>
              <a:rPr lang="en-US" sz="1200"/>
              <a:t>– That pattern fits a passive conductance.</a:t>
            </a:r>
          </a:p>
          <a:p>
            <a:r>
              <a:rPr lang="en-US" sz="1200"/>
              <a:t>• Truncation.</a:t>
            </a:r>
          </a:p>
          <a:p>
            <a:r>
              <a:rPr lang="en-US" sz="1200"/>
              <a:t>– The first 315 amino acids kept channel function.</a:t>
            </a:r>
          </a:p>
          <a:p>
            <a:r>
              <a:rPr lang="en-US" sz="1200"/>
              <a:t>– The light-gated conductance lies in the membrane-spanning region.</a:t>
            </a:r>
          </a:p>
          <a:p>
            <a:r>
              <a:rPr lang="en-US" sz="1200"/>
              <a:t>• Field setting.</a:t>
            </a:r>
          </a:p>
          <a:p>
            <a:r>
              <a:rPr lang="en-US" sz="1200"/>
              <a:t>– The experiments used expression systems, not intact animals.</a:t>
            </a:r>
          </a:p>
          <a:p>
            <a:r>
              <a:rPr lang="en-US" sz="1200"/>
              <a:t>– They identify a cellular mechanism.</a:t>
            </a:r>
          </a:p>
          <a:p>
            <a:r>
              <a:rPr lang="en-US" sz="1200"/>
              <a:t/>
            </a:r>
          </a:p>
          <a:p>
            <a:r>
              <a:rPr lang="en-US" sz="1200"/>
              <a:t>References:</a:t>
            </a:r>
          </a:p>
          <a:p>
            <a:r>
              <a:rPr lang="en-US" sz="1200"/>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6.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h52bf159aa2472580_0_0"/>
          <p:cNvSpPr/>
          <p:nvPr/>
        </p:nvSpPr>
        <p:spPr>
          <a:xfrm>
            <a:off x="0" y="0"/>
            <a:ext cx="6095700" cy="6858000"/>
          </a:xfrm>
          <a:prstGeom prst="rect">
            <a:avLst/>
          </a:prstGeom>
          <a:solidFill>
            <a:srgbClr val="0737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FE8FC"/>
              </a:solidFill>
              <a:latin typeface="Calibri"/>
              <a:ea typeface="Calibri"/>
              <a:cs typeface="Calibri"/>
              <a:sym typeface="Calibri"/>
            </a:endParaRPr>
          </a:p>
        </p:txBody>
      </p:sp>
      <p:sp>
        <p:nvSpPr>
          <p:cNvPr id="86" name="Google Shape;86;h52bf159aa2472580_0_0"/>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FE8FC"/>
                </a:solidFill>
                <a:latin typeface="Arial"/>
                <a:ea typeface="Arial"/>
                <a:cs typeface="Arial"/>
                <a:sym typeface="Arial"/>
              </a:rPr>
              <a:t>NEUR 411 · NEUROETHOLOGY · FALL 2026</a:t>
            </a:r>
            <a:endParaRPr>
              <a:solidFill>
                <a:srgbClr val="DFE8FC"/>
              </a:solidFill>
            </a:endParaRPr>
          </a:p>
        </p:txBody>
      </p:sp>
      <p:sp>
        <p:nvSpPr>
          <p:cNvPr id="87" name="Google Shape;87;h52bf159aa2472580_0_0"/>
          <p:cNvSpPr txBox="1"/>
          <p:nvPr/>
        </p:nvSpPr>
        <p:spPr>
          <a:xfrm>
            <a:off x="685800" y="1783080"/>
            <a:ext cx="4724100"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DFE8FC"/>
                </a:solidFill>
                <a:latin typeface="Arial"/>
                <a:ea typeface="Arial"/>
                <a:cs typeface="Arial"/>
                <a:sym typeface="Arial"/>
              </a:rPr>
              <a:t>Lecture 40</a:t>
            </a:r>
            <a:endParaRPr>
              <a:solidFill>
                <a:srgbClr val="DFE8FC"/>
              </a:solidFill>
            </a:endParaRPr>
          </a:p>
          <a:p>
            <a:pPr indent="0" lvl="0" marL="0" marR="0" rtl="0" algn="l">
              <a:lnSpc>
                <a:spcPct val="108000"/>
              </a:lnSpc>
              <a:spcAft>
                <a:spcPts val="1200"/>
              </a:spcAft>
              <a:buNone/>
            </a:pPr>
            <a:r>
              <a:rPr b="1" i="0" lang="en-US" sz="1500" u="none" cap="none" strike="noStrike">
                <a:solidFill>
                  <a:schemeClr val="lt1"/>
                </a:solidFill>
                <a:latin typeface="Arial"/>
                <a:ea typeface="Arial"/>
                <a:cs typeface="Arial"/>
                <a:sym typeface="Arial"/>
              </a:rPr>
              <a:t>Frontiers:</a:t>
            </a:r>
            <a:endParaRPr>
              <a:solidFill>
                <a:schemeClr val="lt1"/>
              </a:solidFill>
            </a:endParaRPr>
          </a:p>
          <a:p>
            <a:pPr indent="0" lvl="0" marL="0" marR="0" rtl="0" algn="l">
              <a:lnSpc>
                <a:spcPct val="108000"/>
              </a:lnSpc>
              <a:spcAft>
                <a:spcPts val="1200"/>
              </a:spcAft>
              <a:buNone/>
            </a:pPr>
            <a:r>
              <a:rPr b="1" i="0" lang="en-US" sz="1500" u="none" cap="none" strike="noStrike">
                <a:solidFill>
                  <a:schemeClr val="lt1"/>
                </a:solidFill>
                <a:latin typeface="Arial"/>
                <a:ea typeface="Arial"/>
                <a:cs typeface="Arial"/>
                <a:sym typeface="Arial"/>
              </a:rPr>
              <a:t>optogenetics, wireless-recording tools in emerging neuroethology systems, and casual tests of neural circuits underlying natural behavior</a:t>
            </a:r>
            <a:endParaRPr>
              <a:solidFill>
                <a:schemeClr val="lt1"/>
              </a:solidFill>
            </a:endParaRPr>
          </a:p>
          <a:p>
            <a:pPr indent="0" lvl="0" marL="0" marR="0" rtl="0" algn="l">
              <a:lnSpc>
                <a:spcPct val="108000"/>
              </a:lnSpc>
              <a:spcAft>
                <a:spcPts val="1200"/>
              </a:spcAft>
              <a:buNone/>
            </a:pPr>
            <a:r>
              <a:rPr b="0" i="0" lang="en-US" sz="1500" u="none" cap="none" strike="noStrike">
                <a:solidFill>
                  <a:srgbClr val="DFE8FC"/>
                </a:solidFill>
                <a:latin typeface="Arial"/>
                <a:ea typeface="Arial"/>
                <a:cs typeface="Arial"/>
                <a:sym typeface="Arial"/>
              </a:rPr>
              <a:t>Friday, December 4, 2026</a:t>
            </a:r>
            <a:endParaRPr>
              <a:solidFill>
                <a:srgbClr val="DFE8FC"/>
              </a:solidFill>
            </a:endParaRPr>
          </a:p>
          <a:p>
            <a:pPr indent="0" lvl="0" marL="0" marR="0" rtl="0" algn="l">
              <a:lnSpc>
                <a:spcPct val="108000"/>
              </a:lnSpc>
              <a:spcAft>
                <a:spcPts val="1200"/>
              </a:spcAft>
              <a:buNone/>
            </a:pPr>
            <a:r>
              <a:rPr b="0" i="0" lang="en-US" sz="1500" u="none" cap="none" strike="noStrike">
                <a:solidFill>
                  <a:srgbClr val="DFE8FC"/>
                </a:solidFill>
                <a:latin typeface="Arial"/>
                <a:ea typeface="Arial"/>
                <a:cs typeface="Arial"/>
                <a:sym typeface="Arial"/>
              </a:rPr>
              <a:t>Jordan Lopez, Ph.D.</a:t>
            </a:r>
            <a:endParaRPr>
              <a:solidFill>
                <a:srgbClr val="DFE8FC"/>
              </a:solidFill>
            </a:endParaRPr>
          </a:p>
          <a:p>
            <a:pPr indent="0" lvl="0" marL="0" marR="0" rtl="0" algn="l">
              <a:lnSpc>
                <a:spcPct val="108000"/>
              </a:lnSpc>
              <a:spcAft>
                <a:spcPts val="1200"/>
              </a:spcAft>
              <a:buNone/>
            </a:pPr>
            <a:r>
              <a:rPr b="0" i="0" lang="en-US" sz="1500" u="none" cap="none" strike="noStrike">
                <a:solidFill>
                  <a:srgbClr val="DFE8FC"/>
                </a:solidFill>
                <a:latin typeface="Arial"/>
                <a:ea typeface="Arial"/>
                <a:cs typeface="Arial"/>
                <a:sym typeface="Arial"/>
              </a:rPr>
              <a:t>Professor of Neurobiology &amp; Biomedical Engineering</a:t>
            </a:r>
            <a:endParaRPr>
              <a:solidFill>
                <a:srgbClr val="DFE8FC"/>
              </a:solidFill>
            </a:endParaRPr>
          </a:p>
        </p:txBody>
      </p:sp>
      <p:sp>
        <p:nvSpPr>
          <p:cNvPr id="91" name="Google Shape;91;h52bf159aa2472580_0_0"/>
          <p:cNvSpPr txBox="1"/>
          <p:nvPr/>
        </p:nvSpPr>
        <p:spPr>
          <a:xfrm>
            <a:off x="6553047" y="5943600"/>
            <a:ext cx="5181300" cy="3201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chemeClr val="dk1"/>
                </a:solidFill>
              </a:rPr>
              <a:t>Photo: Optogenetic stimulation in a mouse; blue light through implanted fibers activates targeted neurons.</a:t>
            </a:r>
            <a:endParaRPr sz="1000">
              <a:solidFill>
                <a:schemeClr val="dk1"/>
              </a:solidFill>
            </a:endParaRPr>
          </a:p>
        </p:txBody>
      </p:sp>
      <p:pic>
        <p:nvPicPr>
          <p:cNvPr id="92" name="Google Shape;92;h52bf159aa2472580_0_0" title="Screenshot 2026-10-08 at 6.59.05 PM.png"/>
          <p:cNvPicPr preferRelativeResize="0"/>
          <p:nvPr/>
        </p:nvPicPr>
        <p:blipFill>
          <a:blip r:embed="rId3">
            <a:alphaModFix/>
          </a:blip>
          <a:stretch>
            <a:fillRect/>
          </a:stretch>
        </p:blipFill>
        <p:spPr>
          <a:xfrm>
            <a:off x="6820475" y="887874"/>
            <a:ext cx="4646601" cy="4343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Optical activation can recruit a specific action</a:t>
            </a:r>
            <a:endParaRPr/>
          </a:p>
        </p:txBody>
      </p:sp>
      <p:sp>
        <p:nvSpPr>
          <p:cNvPr id="99" name="Google Shape;99;p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E3B7B"/>
                </a:solidFill>
                <a:latin typeface="Arial"/>
                <a:ea typeface="Arial"/>
                <a:cs typeface="Arial"/>
                <a:sym typeface="Arial"/>
              </a:rPr>
              <a:t>Optogenetics</a:t>
            </a:r>
            <a:r>
              <a:rPr b="0" i="0" lang="en-US" sz="1400" u="none" cap="none" strike="noStrike">
                <a:solidFill>
                  <a:srgbClr val="000000"/>
                </a:solidFill>
                <a:latin typeface="Arial"/>
                <a:ea typeface="Arial"/>
                <a:cs typeface="Arial"/>
                <a:sym typeface="Arial"/>
              </a:rPr>
              <a:t> gives control over cell activity by making selected cells express a light-sensitive protein. A </a:t>
            </a:r>
            <a:r>
              <a:rPr b="1" i="0" lang="en-US" sz="1400" u="none" cap="none" strike="noStrike">
                <a:solidFill>
                  <a:srgbClr val="1E3B7B"/>
                </a:solidFill>
                <a:latin typeface="Arial"/>
                <a:ea typeface="Arial"/>
                <a:cs typeface="Arial"/>
                <a:sym typeface="Arial"/>
              </a:rPr>
              <a:t>descending neuron</a:t>
            </a:r>
            <a:r>
              <a:rPr b="0" i="0" lang="en-US" sz="1400" u="none" cap="none" strike="noStrike">
                <a:solidFill>
                  <a:srgbClr val="000000"/>
                </a:solidFill>
                <a:latin typeface="Arial"/>
                <a:ea typeface="Arial"/>
                <a:cs typeface="Arial"/>
                <a:sym typeface="Arial"/>
              </a:rPr>
              <a:t> relays signals from the brain to the ventral nerve cord, a longitudinal structure with motor networks that organize movement. Cande and colleagues placed the light-gated channel CsChrimson into identified descending neurons of adult flies.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Flies received 15 s pulses of red light separated by 45 s recovery periods. Flies fed retinal, the light-absorbing cofactor the channel needs, raised how often they occupied particular grooming or locomotor behaviors. Genetically matched flies without the cofactor served as the control for the light itself.</a:t>
            </a:r>
            <a:endParaRPr/>
          </a:p>
          <a:p>
            <a:pPr indent="0" lvl="0" marL="0" marR="0" rtl="0" algn="l">
              <a:lnSpc>
                <a:spcPct val="108000"/>
              </a:lnSpc>
              <a:spcBef>
                <a:spcPts val="0"/>
              </a:spcBef>
              <a:spcAft>
                <a:spcPts val="1200"/>
              </a:spcAft>
              <a:buNone/>
            </a:pPr>
            <a:r>
              <a:rPr b="1" i="0" lang="en-US" sz="1400" u="none" cap="none" strike="noStrike">
                <a:solidFill>
                  <a:srgbClr val="1E3B7B"/>
                </a:solidFill>
                <a:latin typeface="Arial"/>
                <a:ea typeface="Arial"/>
                <a:cs typeface="Arial"/>
                <a:sym typeface="Arial"/>
              </a:rPr>
              <a:t>Sufficiency</a:t>
            </a:r>
            <a:r>
              <a:rPr b="0" i="0" lang="en-US" sz="1400" u="none" cap="none" strike="noStrike">
                <a:solidFill>
                  <a:srgbClr val="000000"/>
                </a:solidFill>
                <a:latin typeface="Arial"/>
                <a:ea typeface="Arial"/>
                <a:cs typeface="Arial"/>
                <a:sym typeface="Arial"/>
              </a:rPr>
              <a:t> means that activating the tested cells can produce a response under the assay conditions. A proposed circuit arrangement by Inagaki and colleagues places the courtship interneuron P1 upstream of the descending population pIP10, which links optical input to a defined motor output in that proposed pathway.</a:t>
            </a:r>
            <a:endParaRPr/>
          </a:p>
        </p:txBody>
      </p:sp>
      <p:pic>
        <p:nvPicPr>
          <p:cNvPr descr="cande2.png" id="100" name="Google Shape;100;p2"/>
          <p:cNvPicPr preferRelativeResize="0"/>
          <p:nvPr/>
        </p:nvPicPr>
        <p:blipFill rotWithShape="1">
          <a:blip r:embed="rId3">
            <a:alphaModFix/>
          </a:blip>
          <a:srcRect b="0" l="0" r="0" t="0"/>
          <a:stretch/>
        </p:blipFill>
        <p:spPr>
          <a:xfrm>
            <a:off x="6909804" y="1280160"/>
            <a:ext cx="2297605" cy="4297679"/>
          </a:xfrm>
          <a:prstGeom prst="rect">
            <a:avLst/>
          </a:prstGeom>
          <a:noFill/>
          <a:ln>
            <a:noFill/>
          </a:ln>
        </p:spPr>
      </p:pic>
      <p:sp>
        <p:nvSpPr>
          <p:cNvPr id="101" name="Google Shape;101;p2"/>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2(A–F). Grooming occupancy and entropy during 15-s stimulation.</a:t>
            </a:r>
            <a:endParaRPr/>
          </a:p>
        </p:txBody>
      </p:sp>
      <p:pic>
        <p:nvPicPr>
          <p:cNvPr descr="inag3b.png" id="102" name="Google Shape;102;p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103" name="Google Shape;103;p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104" name="Google Shape;104;p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106" name="Google Shape;106;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 microbial channel directly couples light to current</a:t>
            </a:r>
            <a:endParaRPr/>
          </a:p>
        </p:txBody>
      </p:sp>
      <p:sp>
        <p:nvSpPr>
          <p:cNvPr id="113" name="Google Shape;113;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Channelrhodopsin-2</a:t>
            </a:r>
            <a:r>
              <a:rPr b="0" i="0" lang="en-US" sz="1500" u="none" cap="none" strike="noStrike">
                <a:solidFill>
                  <a:srgbClr val="000000"/>
                </a:solidFill>
                <a:latin typeface="Arial"/>
                <a:ea typeface="Arial"/>
                <a:cs typeface="Arial"/>
                <a:sym typeface="Arial"/>
              </a:rPr>
              <a:t>, or ChR2, is a membrane protein from the green alga Chlamydomonas reinhardtii that contains retinal. Its ion channel forms a pathway for charged particles to cross the membrane. Nagel and colleagues expressed ChR2 in frog oocytes and mammalian cells to learn what the protein does when light reaches it.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Illumination near 450 nm produced currents that were missing from uninjected oocytes. Voltage clamp holds the membrane at a chosen voltage while an amplifier measures the current. Changing the held voltage changed the size and direction of the current, a pattern that fits a </a:t>
            </a:r>
            <a:r>
              <a:rPr b="1" i="0" lang="en-US" sz="1500" u="none" cap="none" strike="noStrike">
                <a:solidFill>
                  <a:srgbClr val="1E3B7B"/>
                </a:solidFill>
                <a:latin typeface="Arial"/>
                <a:ea typeface="Arial"/>
                <a:cs typeface="Arial"/>
                <a:sym typeface="Arial"/>
              </a:rPr>
              <a:t>passive conductance</a:t>
            </a:r>
            <a:r>
              <a:rPr b="0" i="0" lang="en-US" sz="1500" u="none" cap="none" strike="noStrike">
                <a:solidFill>
                  <a:srgbClr val="000000"/>
                </a:solidFill>
                <a:latin typeface="Arial"/>
                <a:ea typeface="Arial"/>
                <a:cs typeface="Arial"/>
                <a:sym typeface="Arial"/>
              </a:rPr>
              <a:t> rather than an ion pump.</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truncated construct containing the first 315 amino acids kept its channel function. The light-gated conductance therefore sits within the membrane-spanning portion of the protein, which forms the pathway for charged particles. The protein carries the current itself rather than relaying it through another molecule.</a:t>
            </a:r>
            <a:endParaRPr/>
          </a:p>
        </p:txBody>
      </p:sp>
      <p:pic>
        <p:nvPicPr>
          <p:cNvPr descr="nagel1.png" id="114" name="Google Shape;114;p3"/>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15" name="Google Shape;115;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Original ChR2 currents under ion substitution and voltage clamp.</a:t>
            </a:r>
            <a:endParaRPr/>
          </a:p>
        </p:txBody>
      </p:sp>
      <p:sp>
        <p:nvSpPr>
          <p:cNvPr id="116" name="Google Shape;116;p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18" name="Google Shape;118;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Ion substitution identifies the channel’s selectivity</a:t>
            </a:r>
            <a:endParaRPr/>
          </a:p>
        </p:txBody>
      </p:sp>
      <p:sp>
        <p:nvSpPr>
          <p:cNvPr id="125" name="Google Shape;125;p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Ion selectivity</a:t>
            </a:r>
            <a:r>
              <a:rPr b="0" i="0" lang="en-US" sz="1500" u="none" cap="none" strike="noStrike">
                <a:solidFill>
                  <a:srgbClr val="000000"/>
                </a:solidFill>
                <a:latin typeface="Arial"/>
                <a:ea typeface="Arial"/>
                <a:cs typeface="Arial"/>
                <a:sym typeface="Arial"/>
              </a:rPr>
              <a:t> sets which charged species a channel admits. Nagel and colleagues replaced the external salts around ChR2-expressing oocytes while measuring the response to the same blue light. Cations carry positive charge, and anions carry negative charge.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Photocurrents depended on the cation available in the solution. Replacing external chloride with aspartate left the current and its </a:t>
            </a:r>
            <a:r>
              <a:rPr b="1" i="0" lang="en-US" sz="1500" u="none" cap="none" strike="noStrike">
                <a:solidFill>
                  <a:srgbClr val="1E3B7B"/>
                </a:solidFill>
                <a:latin typeface="Arial"/>
                <a:ea typeface="Arial"/>
                <a:cs typeface="Arial"/>
                <a:sym typeface="Arial"/>
              </a:rPr>
              <a:t>reversal voltage</a:t>
            </a:r>
            <a:r>
              <a:rPr b="0" i="0" lang="en-US" sz="1500" u="none" cap="none" strike="noStrike">
                <a:solidFill>
                  <a:srgbClr val="000000"/>
                </a:solidFill>
                <a:latin typeface="Arial"/>
                <a:ea typeface="Arial"/>
                <a:cs typeface="Arial"/>
                <a:sym typeface="Arial"/>
              </a:rPr>
              <a:t> almost unchanged. The reversal voltage is the membrane voltage at which the net current changes direction. Calcium passed through ChR2, while magnesium permeated the channel to a negligible degree.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At pH 9, a small current remained in a solution containing the bulky cation N-methyl-D-glucamine, and that remnant disappeared. Its loss identified a proton contribution at lower pH. Together these substitution controls support cation conduction through the channel.</a:t>
            </a:r>
            <a:endParaRPr/>
          </a:p>
        </p:txBody>
      </p:sp>
      <p:pic>
        <p:nvPicPr>
          <p:cNvPr descr="nagel1.png" id="126" name="Google Shape;126;p4"/>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27" name="Google Shape;127;p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Currents and selectivity under controlled salt solutions.</a:t>
            </a:r>
            <a:endParaRPr/>
          </a:p>
        </p:txBody>
      </p:sp>
      <p:sp>
        <p:nvSpPr>
          <p:cNvPr id="128" name="Google Shape;128;p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30" name="Google Shape;130;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Excised membranes retain rapid light gating</a:t>
            </a:r>
            <a:endParaRPr/>
          </a:p>
        </p:txBody>
      </p:sp>
      <p:sp>
        <p:nvSpPr>
          <p:cNvPr id="137" name="Google Shape;137;p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light-evoked current could come from the expressed protein itself or from a signaling pathway that opens a different channel. Nagel and colleagues recorded ChR2 in </a:t>
            </a:r>
            <a:r>
              <a:rPr b="1" i="0" lang="en-US" sz="1500" u="none" cap="none" strike="noStrike">
                <a:solidFill>
                  <a:srgbClr val="1E3B7B"/>
                </a:solidFill>
                <a:latin typeface="Arial"/>
                <a:ea typeface="Arial"/>
                <a:cs typeface="Arial"/>
                <a:sym typeface="Arial"/>
              </a:rPr>
              <a:t>excised membrane patches</a:t>
            </a:r>
            <a:r>
              <a:rPr b="0" i="0" lang="en-US" sz="1500" u="none" cap="none" strike="noStrike">
                <a:solidFill>
                  <a:srgbClr val="000000"/>
                </a:solidFill>
                <a:latin typeface="Arial"/>
                <a:ea typeface="Arial"/>
                <a:cs typeface="Arial"/>
                <a:sym typeface="Arial"/>
              </a:rPr>
              <a:t>, membrane fragments removed from the cell so that the internal solution could be controlled.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Photocurrents persisted after the soluble contents of the cell were replaced. A 10 ns laser flash opened the channel with a rise time of about 200 µs or faster. Closing was much slower and depended on intracellular pH, taking roughly 10 to 400 ms across the conditions tested.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Rapid opening and persistent current support </a:t>
            </a:r>
            <a:r>
              <a:rPr b="1" i="0" lang="en-US" sz="1500" u="none" cap="none" strike="noStrike">
                <a:solidFill>
                  <a:srgbClr val="1E3B7B"/>
                </a:solidFill>
                <a:latin typeface="Arial"/>
                <a:ea typeface="Arial"/>
                <a:cs typeface="Arial"/>
                <a:sym typeface="Arial"/>
              </a:rPr>
              <a:t>direct gating</a:t>
            </a:r>
            <a:r>
              <a:rPr b="0" i="0" lang="en-US" sz="1500" u="none" cap="none" strike="noStrike">
                <a:solidFill>
                  <a:srgbClr val="000000"/>
                </a:solidFill>
                <a:latin typeface="Arial"/>
                <a:ea typeface="Arial"/>
                <a:cs typeface="Arial"/>
                <a:sym typeface="Arial"/>
              </a:rPr>
              <a:t>, in which light opens the channel without a diffusible messenger inside the cell. The slower closing means that the electrical response can outlast the light pulse, because the closing rate depends on intracellular pH.</a:t>
            </a:r>
            <a:endParaRPr/>
          </a:p>
        </p:txBody>
      </p:sp>
      <p:pic>
        <p:nvPicPr>
          <p:cNvPr descr="nagel3.png" id="138" name="Google Shape;138;p5"/>
          <p:cNvPicPr preferRelativeResize="0"/>
          <p:nvPr/>
        </p:nvPicPr>
        <p:blipFill rotWithShape="1">
          <a:blip r:embed="rId3">
            <a:alphaModFix/>
          </a:blip>
          <a:srcRect b="0" l="0" r="0" t="0"/>
          <a:stretch/>
        </p:blipFill>
        <p:spPr>
          <a:xfrm>
            <a:off x="7036734" y="1280160"/>
            <a:ext cx="3689664" cy="4297679"/>
          </a:xfrm>
          <a:prstGeom prst="rect">
            <a:avLst/>
          </a:prstGeom>
          <a:noFill/>
          <a:ln>
            <a:noFill/>
          </a:ln>
        </p:spPr>
      </p:pic>
      <p:sp>
        <p:nvSpPr>
          <p:cNvPr id="139" name="Google Shape;139;p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3(a–g). Excised-patch responses to light and intracellular pH.</a:t>
            </a:r>
            <a:endParaRPr/>
          </a:p>
        </p:txBody>
      </p:sp>
      <p:sp>
        <p:nvSpPr>
          <p:cNvPr id="140" name="Google Shape;140;p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42" name="Google Shape;142;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Membrane expression enables optical drive of neurons</a:t>
            </a:r>
            <a:endParaRPr/>
          </a:p>
        </p:txBody>
      </p:sp>
      <p:sp>
        <p:nvSpPr>
          <p:cNvPr id="149" name="Google Shape;149;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Boyden and colleagues delivered a ChR2 fusion with yellow fluorescent protein into cultured rat neurons, using a lentiviral vector, a modified virus that carries the expression construct. The fluorescent tag marked the expressing cells and the membrane-associated processes that extend from them.</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Blue light between 450 and 490 nm generated an average peak </a:t>
            </a:r>
            <a:r>
              <a:rPr b="1" i="0" lang="en-US" sz="1500" u="none" cap="none" strike="noStrike">
                <a:solidFill>
                  <a:srgbClr val="1E3B7B"/>
                </a:solidFill>
                <a:latin typeface="Arial"/>
                <a:ea typeface="Arial"/>
                <a:cs typeface="Arial"/>
                <a:sym typeface="Arial"/>
              </a:rPr>
              <a:t>inward current</a:t>
            </a:r>
            <a:r>
              <a:rPr b="0" i="0" lang="en-US" sz="1500" u="none" cap="none" strike="noStrike">
                <a:solidFill>
                  <a:srgbClr val="000000"/>
                </a:solidFill>
                <a:latin typeface="Arial"/>
                <a:ea typeface="Arial"/>
                <a:cs typeface="Arial"/>
                <a:sym typeface="Arial"/>
              </a:rPr>
              <a:t> near 496 pA, followed by a smaller sustained current near 193 pA. Neurons carrying the fluorescent tag alone gave no light-evoked response, so the electrical effect came from the channel rather than from fluorescence or illumination.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Inward current depolarizes the neuron, making its internal voltage less negative. When that voltage reaches firing threshold, the neuron produces an </a:t>
            </a:r>
            <a:r>
              <a:rPr b="1" i="0" lang="en-US" sz="1500" u="none" cap="none" strike="noStrike">
                <a:solidFill>
                  <a:srgbClr val="1E3B7B"/>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a rapid regenerative change in membrane voltage. Light therefore drives spikes in an expressing cell without requiring knowledge of its natural synaptic targets.</a:t>
            </a:r>
            <a:endParaRPr/>
          </a:p>
        </p:txBody>
      </p:sp>
      <p:pic>
        <p:nvPicPr>
          <p:cNvPr descr="boyden1.png" id="150" name="Google Shape;150;p6"/>
          <p:cNvPicPr preferRelativeResize="0"/>
          <p:nvPr/>
        </p:nvPicPr>
        <p:blipFill rotWithShape="1">
          <a:blip r:embed="rId3">
            <a:alphaModFix/>
          </a:blip>
          <a:srcRect b="0" l="0" r="0" t="0"/>
          <a:stretch/>
        </p:blipFill>
        <p:spPr>
          <a:xfrm>
            <a:off x="6138367" y="1280160"/>
            <a:ext cx="5486400" cy="3265970"/>
          </a:xfrm>
          <a:prstGeom prst="rect">
            <a:avLst/>
          </a:prstGeom>
          <a:noFill/>
          <a:ln>
            <a:noFill/>
          </a:ln>
        </p:spPr>
      </p:pic>
      <p:sp>
        <p:nvSpPr>
          <p:cNvPr id="151" name="Google Shape;151;p6"/>
          <p:cNvSpPr txBox="1"/>
          <p:nvPr/>
        </p:nvSpPr>
        <p:spPr>
          <a:xfrm>
            <a:off x="6138367" y="463757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1(a–e). Membrane expression, inward current and light-evoked spikes.</a:t>
            </a:r>
            <a:endParaRPr/>
          </a:p>
        </p:txBody>
      </p:sp>
      <p:sp>
        <p:nvSpPr>
          <p:cNvPr id="152" name="Google Shape;152;p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54" name="Google Shape;154;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Pulse timing controls spikes with finite reliability</a:t>
            </a:r>
            <a:endParaRPr/>
          </a:p>
        </p:txBody>
      </p:sp>
      <p:sp>
        <p:nvSpPr>
          <p:cNvPr id="161" name="Google Shape;161;p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1E3B7B"/>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is a brief regenerative shift in membrane voltage that conveys a neuron's signal. Boyden and colleagues recorded neurons during repeated 10 to 15 ms light pulses, comparing the timing of evoked spikes across repeated stimulation sequences.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same pulse sequence gave highly repeatable spike patterns, yet some individual pulses failed to evoke a spike. In two irregular protocols about 76% and 85% of pulses drove spikes successfully. Spike reliability fell at higher stimulation rates in the 5 to 30 Hz range.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Continuous illumination produced a precisely timed first spike followed by less precisely timed activity. A pulse train therefore sets a controlled input, while the spike output varies from one neuron to another. Each experiment must check the spikes that the light actually produces in its own neurons.</a:t>
            </a:r>
            <a:endParaRPr/>
          </a:p>
        </p:txBody>
      </p:sp>
      <p:pic>
        <p:nvPicPr>
          <p:cNvPr descr="boyden2.png" id="162" name="Google Shape;162;p7"/>
          <p:cNvPicPr preferRelativeResize="0"/>
          <p:nvPr/>
        </p:nvPicPr>
        <p:blipFill rotWithShape="1">
          <a:blip r:embed="rId3">
            <a:alphaModFix/>
          </a:blip>
          <a:srcRect b="0" l="0" r="0" t="0"/>
          <a:stretch/>
        </p:blipFill>
        <p:spPr>
          <a:xfrm>
            <a:off x="6724082" y="1280160"/>
            <a:ext cx="4314969" cy="3017520"/>
          </a:xfrm>
          <a:prstGeom prst="rect">
            <a:avLst/>
          </a:prstGeom>
          <a:noFill/>
          <a:ln>
            <a:noFill/>
          </a:ln>
        </p:spPr>
      </p:pic>
      <p:sp>
        <p:nvSpPr>
          <p:cNvPr id="163" name="Google Shape;163;p7"/>
          <p:cNvSpPr txBox="1"/>
          <p:nvPr/>
        </p:nvSpPr>
        <p:spPr>
          <a:xfrm>
            <a:off x="6138367" y="43891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2(a–h). Repeated pulse trains and timing of evoked spikes.</a:t>
            </a:r>
            <a:endParaRPr/>
          </a:p>
        </p:txBody>
      </p:sp>
      <p:pic>
        <p:nvPicPr>
          <p:cNvPr descr="boyden1a.png" id="164" name="Google Shape;164;p7"/>
          <p:cNvPicPr preferRelativeResize="0"/>
          <p:nvPr/>
        </p:nvPicPr>
        <p:blipFill rotWithShape="1">
          <a:blip r:embed="rId4">
            <a:alphaModFix/>
          </a:blip>
          <a:srcRect b="0" l="0" r="0" t="0"/>
          <a:stretch/>
        </p:blipFill>
        <p:spPr>
          <a:xfrm>
            <a:off x="8249107" y="4846320"/>
            <a:ext cx="1264919" cy="914399"/>
          </a:xfrm>
          <a:prstGeom prst="rect">
            <a:avLst/>
          </a:prstGeom>
          <a:noFill/>
          <a:ln>
            <a:noFill/>
          </a:ln>
        </p:spPr>
      </p:pic>
      <p:sp>
        <p:nvSpPr>
          <p:cNvPr id="165" name="Google Shape;165;p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66" name="Google Shape;166;p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68" name="Google Shape;168;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Anion channels conduct a different class of ions</a:t>
            </a:r>
            <a:endParaRPr/>
          </a:p>
        </p:txBody>
      </p:sp>
      <p:sp>
        <p:nvSpPr>
          <p:cNvPr id="175" name="Google Shape;175;p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Govorunova and colleagues put light-sensitive proteins from the cryptophyte alga Guillardia theta into mammalian cells. The two proteins, GtACR1 and GtACR2, act as </a:t>
            </a:r>
            <a:r>
              <a:rPr b="1" i="0" lang="en-US" sz="1500" u="none" cap="none" strike="noStrike">
                <a:solidFill>
                  <a:srgbClr val="1E3B7B"/>
                </a:solidFill>
                <a:latin typeface="Arial"/>
                <a:ea typeface="Arial"/>
                <a:cs typeface="Arial"/>
                <a:sym typeface="Arial"/>
              </a:rPr>
              <a:t>anion channelrhodopsins</a:t>
            </a:r>
            <a:r>
              <a:rPr b="0" i="0" lang="en-US" sz="1500" u="none" cap="none" strike="noStrike">
                <a:solidFill>
                  <a:srgbClr val="000000"/>
                </a:solidFill>
                <a:latin typeface="Arial"/>
                <a:ea typeface="Arial"/>
                <a:cs typeface="Arial"/>
                <a:sym typeface="Arial"/>
              </a:rPr>
              <a:t>, light-gated channels that carry negatively charged ions instead of the positive ions carried by ChR2.</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Changing external sodium, potassium or calcium left the photocurrent reversal in place. Replacing chloride with a nonpermeant anion shifted the reversal, which identified chloride as the carried ion. Membrane voltage was stepped in 20 mV increments while the ion substitutions supplied the selectivity controls.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GtACRs produced an inward current in a high-chloride recording solution. The voltage effect of that current depends on the neuron's chloride gradient and its starting membrane voltage. The same channel can therefore excite one neuron and suppress another.</a:t>
            </a:r>
            <a:endParaRPr/>
          </a:p>
        </p:txBody>
      </p:sp>
      <p:pic>
        <p:nvPicPr>
          <p:cNvPr descr="gov2.png" id="176" name="Google Shape;176;p8"/>
          <p:cNvPicPr preferRelativeResize="0"/>
          <p:nvPr/>
        </p:nvPicPr>
        <p:blipFill rotWithShape="1">
          <a:blip r:embed="rId3">
            <a:alphaModFix/>
          </a:blip>
          <a:srcRect b="0" l="0" r="0" t="0"/>
          <a:stretch/>
        </p:blipFill>
        <p:spPr>
          <a:xfrm>
            <a:off x="7715707" y="1280160"/>
            <a:ext cx="2331720" cy="1920240"/>
          </a:xfrm>
          <a:prstGeom prst="rect">
            <a:avLst/>
          </a:prstGeom>
          <a:noFill/>
          <a:ln>
            <a:noFill/>
          </a:ln>
        </p:spPr>
      </p:pic>
      <p:sp>
        <p:nvSpPr>
          <p:cNvPr id="177" name="Google Shape;177;p8"/>
          <p:cNvSpPr txBox="1"/>
          <p:nvPr/>
        </p:nvSpPr>
        <p:spPr>
          <a:xfrm>
            <a:off x="6138367" y="32918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2(A–D). Cation substitution and photocurrent reversal in GtACRs.</a:t>
            </a:r>
            <a:endParaRPr/>
          </a:p>
        </p:txBody>
      </p:sp>
      <p:pic>
        <p:nvPicPr>
          <p:cNvPr descr="gov3.png" id="178" name="Google Shape;178;p8"/>
          <p:cNvPicPr preferRelativeResize="0"/>
          <p:nvPr/>
        </p:nvPicPr>
        <p:blipFill rotWithShape="1">
          <a:blip r:embed="rId4">
            <a:alphaModFix/>
          </a:blip>
          <a:srcRect b="0" l="0" r="0" t="0"/>
          <a:stretch/>
        </p:blipFill>
        <p:spPr>
          <a:xfrm>
            <a:off x="7701381" y="3749040"/>
            <a:ext cx="2360371" cy="2011679"/>
          </a:xfrm>
          <a:prstGeom prst="rect">
            <a:avLst/>
          </a:prstGeom>
          <a:noFill/>
          <a:ln>
            <a:noFill/>
          </a:ln>
        </p:spPr>
      </p:pic>
      <p:sp>
        <p:nvSpPr>
          <p:cNvPr id="179" name="Google Shape;179;p8"/>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3(A–D). Chloride substitution identifies anion selectivity.</a:t>
            </a:r>
            <a:endParaRPr/>
          </a:p>
        </p:txBody>
      </p:sp>
      <p:sp>
        <p:nvSpPr>
          <p:cNvPr id="180" name="Google Shape;180;p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a:t>
            </a:r>
            <a:endParaRPr/>
          </a:p>
        </p:txBody>
      </p:sp>
      <p:sp>
        <p:nvSpPr>
          <p:cNvPr id="182" name="Google Shape;182;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Optical silencing depends on the chloride gradient</a:t>
            </a:r>
            <a:endParaRPr/>
          </a:p>
        </p:txBody>
      </p:sp>
      <p:sp>
        <p:nvSpPr>
          <p:cNvPr id="189" name="Google Shape;189;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chloride equilibrium potential</a:t>
            </a:r>
            <a:r>
              <a:rPr b="0" i="0" lang="en-US" sz="1500" u="none" cap="none" strike="noStrike">
                <a:solidFill>
                  <a:srgbClr val="000000"/>
                </a:solidFill>
                <a:latin typeface="Arial"/>
                <a:ea typeface="Arial"/>
                <a:cs typeface="Arial"/>
                <a:sym typeface="Arial"/>
              </a:rPr>
              <a:t> is the voltage at which the electrical and concentration forces acting on chloride balance. When an anion channel opens, the membrane voltage moves toward this value, so the effect depends on the ionic conditions of the cell rather than being fixed.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 cultured rat neurons, GtACR2 photocurrent reversed near −88 mV. Illumination suppressed current-evoked spikes in trains up to at least 25 Hz. In a ramp protocol, full suppression occurred at a light intensity of 0.005 mW/mm². The ramp tested a graded range of light intensities.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Expressing neurons kept their dark-state electrical properties and morphology, so the expression left the cells intact. Silencing was validated under the measured recording conditions, and each new cell type or species needs its own check of the chloride gradient before inhibition is assumed.</a:t>
            </a:r>
            <a:endParaRPr/>
          </a:p>
        </p:txBody>
      </p:sp>
      <p:pic>
        <p:nvPicPr>
          <p:cNvPr descr="gov4.png" id="190" name="Google Shape;190;p9"/>
          <p:cNvPicPr preferRelativeResize="0"/>
          <p:nvPr/>
        </p:nvPicPr>
        <p:blipFill rotWithShape="1">
          <a:blip r:embed="rId3">
            <a:alphaModFix/>
          </a:blip>
          <a:srcRect b="0" l="0" r="0" t="0"/>
          <a:stretch/>
        </p:blipFill>
        <p:spPr>
          <a:xfrm>
            <a:off x="6176848" y="1280160"/>
            <a:ext cx="5409438" cy="2834640"/>
          </a:xfrm>
          <a:prstGeom prst="rect">
            <a:avLst/>
          </a:prstGeom>
          <a:noFill/>
          <a:ln>
            <a:noFill/>
          </a:ln>
        </p:spPr>
      </p:pic>
      <p:sp>
        <p:nvSpPr>
          <p:cNvPr id="191" name="Google Shape;191;p9"/>
          <p:cNvSpPr txBox="1"/>
          <p:nvPr/>
        </p:nvSpPr>
        <p:spPr>
          <a:xfrm>
            <a:off x="6138367" y="42062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4(A–F). GtACR2 current reversal, spike suppression and light sensitivity.</a:t>
            </a:r>
            <a:endParaRPr/>
          </a:p>
        </p:txBody>
      </p:sp>
      <p:pic>
        <p:nvPicPr>
          <p:cNvPr descr="boyden1a.png" id="192" name="Google Shape;192;p9"/>
          <p:cNvPicPr preferRelativeResize="0"/>
          <p:nvPr/>
        </p:nvPicPr>
        <p:blipFill rotWithShape="1">
          <a:blip r:embed="rId4">
            <a:alphaModFix/>
          </a:blip>
          <a:srcRect b="0" l="0" r="0" t="0"/>
          <a:stretch/>
        </p:blipFill>
        <p:spPr>
          <a:xfrm>
            <a:off x="8122615" y="4663440"/>
            <a:ext cx="1517903" cy="1097279"/>
          </a:xfrm>
          <a:prstGeom prst="rect">
            <a:avLst/>
          </a:prstGeom>
          <a:noFill/>
          <a:ln>
            <a:noFill/>
          </a:ln>
        </p:spPr>
      </p:pic>
      <p:sp>
        <p:nvSpPr>
          <p:cNvPr id="193" name="Google Shape;193;p9"/>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94" name="Google Shape;194;p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 Boyden et al. (2005)</a:t>
            </a:r>
            <a:endParaRPr/>
          </a:p>
        </p:txBody>
      </p:sp>
      <p:sp>
        <p:nvSpPr>
          <p:cNvPr id="196" name="Google Shape;196;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Red-shifted activation reaches neurons in intact flies</a:t>
            </a:r>
            <a:endParaRPr/>
          </a:p>
        </p:txBody>
      </p:sp>
      <p:sp>
        <p:nvSpPr>
          <p:cNvPr id="203" name="Google Shape;203;p1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adult fly's cuticle, its external covering, reduces the light that reaches internal neurons. Inagaki and colleagues measured light transmission and compared several opsins, the retinal-binding light-sensitive proteins, in peripheral and central neurons of intact </a:t>
            </a:r>
            <a:r>
              <a:rPr b="0" i="1" lang="en-US" sz="1500" u="none" cap="none" strike="noStrike">
                <a:solidFill>
                  <a:srgbClr val="000000"/>
                </a:solidFill>
                <a:latin typeface="Arial"/>
                <a:ea typeface="Arial"/>
                <a:cs typeface="Arial"/>
                <a:sym typeface="Arial"/>
              </a:rPr>
              <a:t>Drosophila melanogaster</a:t>
            </a:r>
            <a:r>
              <a:rPr b="0" i="0" lang="en-US" sz="1500" u="none" cap="none" strike="noStrike">
                <a:solidFill>
                  <a:srgbClr val="000000"/>
                </a:solidFill>
                <a:latin typeface="Arial"/>
                <a:ea typeface="Arial"/>
                <a:cs typeface="Arial"/>
                <a:sym typeface="Arial"/>
              </a:rPr>
              <a: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red-shifted channelrhodopsin ReaChR responded to 627 nm light. In gustatory receptor neurons, which detect chemical taste cues, 100 ms pulses at 1 Hz produced timed spiking and </a:t>
            </a:r>
            <a:r>
              <a:rPr b="1" i="0" lang="en-US" sz="1500" u="none" cap="none" strike="noStrike">
                <a:solidFill>
                  <a:srgbClr val="1E3B7B"/>
                </a:solidFill>
                <a:latin typeface="Arial"/>
                <a:ea typeface="Arial"/>
                <a:cs typeface="Arial"/>
                <a:sym typeface="Arial"/>
              </a:rPr>
              <a:t>proboscis extension</a:t>
            </a:r>
            <a:r>
              <a:rPr b="0" i="0" lang="en-US" sz="1500" u="none" cap="none" strike="noStrike">
                <a:solidFill>
                  <a:srgbClr val="000000"/>
                </a:solidFill>
                <a:latin typeface="Arial"/>
                <a:ea typeface="Arial"/>
                <a:cs typeface="Arial"/>
                <a:sym typeface="Arial"/>
              </a:rPr>
              <a:t>, the outward movement of the feeding appendage.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ReaChR also drove responses from central neurons under conditions where several blue-sensitive variants had no effect. Cuticle penetration, protein expression and membrane trafficking all contributed to how well the light worked. Red illumination also reduced a concern about visual stimulation.</a:t>
            </a:r>
            <a:endParaRPr/>
          </a:p>
        </p:txBody>
      </p:sp>
      <p:pic>
        <p:nvPicPr>
          <p:cNvPr descr="inag1.png" id="204" name="Google Shape;204;p10"/>
          <p:cNvPicPr preferRelativeResize="0"/>
          <p:nvPr/>
        </p:nvPicPr>
        <p:blipFill rotWithShape="1">
          <a:blip r:embed="rId3">
            <a:alphaModFix/>
          </a:blip>
          <a:srcRect b="0" l="0" r="0" t="0"/>
          <a:stretch/>
        </p:blipFill>
        <p:spPr>
          <a:xfrm>
            <a:off x="6357929" y="1280160"/>
            <a:ext cx="3401354" cy="4297679"/>
          </a:xfrm>
          <a:prstGeom prst="rect">
            <a:avLst/>
          </a:prstGeom>
          <a:noFill/>
          <a:ln>
            <a:noFill/>
          </a:ln>
        </p:spPr>
      </p:pic>
      <p:sp>
        <p:nvSpPr>
          <p:cNvPr id="205" name="Google Shape;205;p10"/>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1(a–h). Opsin comparisons, cuticle transmission and gustatory-neuron responses.</a:t>
            </a:r>
            <a:endParaRPr/>
          </a:p>
        </p:txBody>
      </p:sp>
      <p:pic>
        <p:nvPicPr>
          <p:cNvPr descr="gro1c.png" id="206" name="Google Shape;206;p10"/>
          <p:cNvPicPr preferRelativeResize="0"/>
          <p:nvPr/>
        </p:nvPicPr>
        <p:blipFill rotWithShape="1">
          <a:blip r:embed="rId4">
            <a:alphaModFix/>
          </a:blip>
          <a:srcRect b="0" l="0" r="0" t="0"/>
          <a:stretch/>
        </p:blipFill>
        <p:spPr>
          <a:xfrm>
            <a:off x="10161727" y="2148840"/>
            <a:ext cx="1463039" cy="1199089"/>
          </a:xfrm>
          <a:prstGeom prst="rect">
            <a:avLst/>
          </a:prstGeom>
          <a:noFill/>
          <a:ln>
            <a:noFill/>
          </a:ln>
        </p:spPr>
      </p:pic>
      <p:sp>
        <p:nvSpPr>
          <p:cNvPr id="207" name="Google Shape;207;p10"/>
          <p:cNvSpPr txBox="1"/>
          <p:nvPr/>
        </p:nvSpPr>
        <p:spPr>
          <a:xfrm>
            <a:off x="10161727" y="3421081"/>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1(c). Head imaging window and retroreflective beads on an adult fly.</a:t>
            </a:r>
            <a:endParaRPr/>
          </a:p>
        </p:txBody>
      </p:sp>
      <p:sp>
        <p:nvSpPr>
          <p:cNvPr id="208" name="Google Shape;208;p1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 Grover et al. (2020)</a:t>
            </a:r>
            <a:endParaRPr/>
          </a:p>
        </p:txBody>
      </p:sp>
      <p:sp>
        <p:nvSpPr>
          <p:cNvPr id="210" name="Google Shape;21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Matched light controls separate activation from sensation</a:t>
            </a:r>
            <a:endParaRPr/>
          </a:p>
        </p:txBody>
      </p:sp>
      <p:sp>
        <p:nvSpPr>
          <p:cNvPr id="217" name="Google Shape;217;p1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Light can change behavior through the animal's normal sensory pathways as well as through an introduced opsin. Intact flies carrying different opsins were set against no-opsin controls by Inagaki and colleagues, with identical light and scoring conditions.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ReaChR activation evoked responses that depended on the targeted population, including wing extension and side walking, and no-opsin controls showed none of these responses. With 5 ms red-light pulses aimed at courtship-related P1 neurons, response probability rose with pulse frequency and reached a fitted midpoint near 38.3 Hz.</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dose-response relationship links stimulation strength to response probability, so the curve describes how an induced action scales with input. At high intensities some populations produced </a:t>
            </a:r>
            <a:r>
              <a:rPr b="1" i="0" lang="en-US" sz="1500" u="none" cap="none" strike="noStrike">
                <a:solidFill>
                  <a:srgbClr val="1E3B7B"/>
                </a:solidFill>
                <a:latin typeface="Arial"/>
                <a:ea typeface="Arial"/>
                <a:cs typeface="Arial"/>
                <a:sym typeface="Arial"/>
              </a:rPr>
              <a:t>paralysis</a:t>
            </a:r>
            <a:r>
              <a:rPr b="0" i="0" lang="en-US" sz="1500" u="none" cap="none" strike="noStrike">
                <a:solidFill>
                  <a:srgbClr val="000000"/>
                </a:solidFill>
                <a:latin typeface="Arial"/>
                <a:ea typeface="Arial"/>
                <a:cs typeface="Arial"/>
                <a:sym typeface="Arial"/>
              </a:rPr>
              <a:t> in place of the lower-intensity behavior, so control genotypes and intensity jointly set which neuronal contribution can be inferred.</a:t>
            </a:r>
            <a:endParaRPr/>
          </a:p>
        </p:txBody>
      </p:sp>
      <p:pic>
        <p:nvPicPr>
          <p:cNvPr descr="inag2.png" id="218" name="Google Shape;218;p11"/>
          <p:cNvPicPr preferRelativeResize="0"/>
          <p:nvPr/>
        </p:nvPicPr>
        <p:blipFill rotWithShape="1">
          <a:blip r:embed="rId3">
            <a:alphaModFix/>
          </a:blip>
          <a:srcRect b="0" l="0" r="0" t="0"/>
          <a:stretch/>
        </p:blipFill>
        <p:spPr>
          <a:xfrm>
            <a:off x="6609713" y="1280160"/>
            <a:ext cx="4543706" cy="4297679"/>
          </a:xfrm>
          <a:prstGeom prst="rect">
            <a:avLst/>
          </a:prstGeom>
          <a:noFill/>
          <a:ln>
            <a:noFill/>
          </a:ln>
        </p:spPr>
      </p:pic>
      <p:sp>
        <p:nvSpPr>
          <p:cNvPr id="219" name="Google Shape;219;p1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2(a–g). Intact-fly optical activation and matched no-opsin comparisons.</a:t>
            </a:r>
            <a:endParaRPr/>
          </a:p>
        </p:txBody>
      </p:sp>
      <p:sp>
        <p:nvSpPr>
          <p:cNvPr id="220" name="Google Shape;220;p1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22" name="Google Shape;22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Social history changes the effect of P1 activation</a:t>
            </a:r>
            <a:endParaRPr/>
          </a:p>
        </p:txBody>
      </p:sp>
      <p:sp>
        <p:nvSpPr>
          <p:cNvPr id="229" name="Google Shape;22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Courtship control involves P1 neurons, a male-specific set of brain interneurons. An interneuron links processing stages rather than serving directly as a muscle's motor output. After 7 days of single or group housing, Inagaki and colleagues measured how readily ReaChR activation produced wing extension. Wing extension served as the measured readout of that circuit.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Males housed alone reacted to weaker red light than males housed in groups. Activating the descending courtship neurons pIP10 instead produced no housing-dependent shift in sensitivity. Both experiments used matched stimulation methods while the social experience of the animals changed.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Experience therefore changes how strongly activation at P1, or at a downstream stage before the pIP10 output, drives wing extension. Social history thus modifies the behavioral consequence of activation while the light stimulus stays the same.</a:t>
            </a:r>
            <a:endParaRPr/>
          </a:p>
        </p:txBody>
      </p:sp>
      <p:pic>
        <p:nvPicPr>
          <p:cNvPr descr="inag4.png" id="230" name="Google Shape;230;p12"/>
          <p:cNvPicPr preferRelativeResize="0"/>
          <p:nvPr/>
        </p:nvPicPr>
        <p:blipFill rotWithShape="1">
          <a:blip r:embed="rId3">
            <a:alphaModFix/>
          </a:blip>
          <a:srcRect b="0" l="0" r="0" t="0"/>
          <a:stretch/>
        </p:blipFill>
        <p:spPr>
          <a:xfrm>
            <a:off x="6138367" y="1280160"/>
            <a:ext cx="3840480" cy="3202915"/>
          </a:xfrm>
          <a:prstGeom prst="rect">
            <a:avLst/>
          </a:prstGeom>
          <a:noFill/>
          <a:ln>
            <a:noFill/>
          </a:ln>
        </p:spPr>
      </p:pic>
      <p:sp>
        <p:nvSpPr>
          <p:cNvPr id="231" name="Google Shape;231;p12"/>
          <p:cNvSpPr txBox="1"/>
          <p:nvPr/>
        </p:nvSpPr>
        <p:spPr>
          <a:xfrm>
            <a:off x="6138367" y="457451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4(a–c). Social housing changes P1-evoked wing-extension sensitivity.</a:t>
            </a:r>
            <a:endParaRPr/>
          </a:p>
        </p:txBody>
      </p:sp>
      <p:pic>
        <p:nvPicPr>
          <p:cNvPr descr="inag3b.png" id="232" name="Google Shape;232;p1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33" name="Google Shape;233;p1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34" name="Google Shape;234;p1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36" name="Google Shape;23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Intersectional targeting restricts descending-cell drive</a:t>
            </a:r>
            <a:endParaRPr/>
          </a:p>
        </p:txBody>
      </p:sp>
      <p:sp>
        <p:nvSpPr>
          <p:cNvPr id="243" name="Google Shape;243;p1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E3B7B"/>
                </a:solidFill>
                <a:latin typeface="Arial"/>
                <a:ea typeface="Arial"/>
                <a:cs typeface="Arial"/>
                <a:sym typeface="Arial"/>
              </a:rPr>
              <a:t>split-GAL4</a:t>
            </a:r>
            <a:r>
              <a:rPr b="0" i="0" lang="en-US" sz="1400" u="none" cap="none" strike="noStrike">
                <a:solidFill>
                  <a:srgbClr val="000000"/>
                </a:solidFill>
                <a:latin typeface="Arial"/>
                <a:ea typeface="Arial"/>
                <a:cs typeface="Arial"/>
                <a:sym typeface="Arial"/>
              </a:rPr>
              <a:t> system restricts expression by combining two separately expressed parts of a transcriptional activator, a protein that switches on gene expression. Gene activation occurs where the two expression patterns overlap strongly. The intersectional strategy was the one Cande and colleagues applied to reach sparse descending-neuron groups.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actuator CsChrimson converted 617 nm illumination into a timed depolarizing stimulus. Experimental and control flies carried the same genetic construct, and experimental flies alone received supplemental retinal. Repeated 15 s activation epochs tested the behavioral effects of the targeted population.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sparse expression pattern sharpens anatomical specificity. When several cells express the actuator, a behavioral phenotype can still arise from more than one cell, so the expression pattern of each screened line must be verified. Restricted access and physiological efficacy are separate requirements that each line has to meet.</a:t>
            </a:r>
            <a:endParaRPr/>
          </a:p>
        </p:txBody>
      </p:sp>
      <p:pic>
        <p:nvPicPr>
          <p:cNvPr descr="cande1.png" id="244" name="Google Shape;244;p13"/>
          <p:cNvPicPr preferRelativeResize="0"/>
          <p:nvPr/>
        </p:nvPicPr>
        <p:blipFill rotWithShape="1">
          <a:blip r:embed="rId3">
            <a:alphaModFix/>
          </a:blip>
          <a:srcRect b="0" l="0" r="0" t="0"/>
          <a:stretch/>
        </p:blipFill>
        <p:spPr>
          <a:xfrm>
            <a:off x="6138367" y="1280160"/>
            <a:ext cx="3840480" cy="3332647"/>
          </a:xfrm>
          <a:prstGeom prst="rect">
            <a:avLst/>
          </a:prstGeom>
          <a:noFill/>
          <a:ln>
            <a:noFill/>
          </a:ln>
        </p:spPr>
      </p:pic>
      <p:sp>
        <p:nvSpPr>
          <p:cNvPr id="245" name="Google Shape;245;p13"/>
          <p:cNvSpPr txBox="1"/>
          <p:nvPr/>
        </p:nvSpPr>
        <p:spPr>
          <a:xfrm>
            <a:off x="6138367" y="4704247"/>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1(A–C). Retinal controls, optical stimulation and behavioral occupancy.</a:t>
            </a:r>
            <a:endParaRPr/>
          </a:p>
        </p:txBody>
      </p:sp>
      <p:pic>
        <p:nvPicPr>
          <p:cNvPr descr="inag3b.png" id="246" name="Google Shape;246;p13"/>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47" name="Google Shape;247;p13"/>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48" name="Google Shape;248;p1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50" name="Google Shape;25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Posture dynamics resolve a broad behavioral repertoire</a:t>
            </a:r>
            <a:endParaRPr/>
          </a:p>
        </p:txBody>
      </p:sp>
      <p:sp>
        <p:nvSpPr>
          <p:cNvPr id="257" name="Google Shape;257;p1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Behavior can shift while walking speed stays nearly constant. Cande and colleagues recorded freely moving flies at 100 frames per second, aligned their body images and represented postures over time in a low-dimensional behavior space, a map that groups similar movement patterns together.</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Different regions of the map contained anterior grooming, wing and abdomen movements, slow postures and locomotion. </a:t>
            </a:r>
            <a:r>
              <a:rPr b="1" i="0" lang="en-US" sz="1400" u="none" cap="none" strike="noStrike">
                <a:solidFill>
                  <a:srgbClr val="1E3B7B"/>
                </a:solidFill>
                <a:latin typeface="Arial"/>
                <a:ea typeface="Arial"/>
                <a:cs typeface="Arial"/>
                <a:sym typeface="Arial"/>
              </a:rPr>
              <a:t>Occupancy</a:t>
            </a:r>
            <a:r>
              <a:rPr b="0" i="0" lang="en-US" sz="1400" u="none" cap="none" strike="noStrike">
                <a:solidFill>
                  <a:srgbClr val="000000"/>
                </a:solidFill>
                <a:latin typeface="Arial"/>
                <a:ea typeface="Arial"/>
                <a:cs typeface="Arial"/>
                <a:sym typeface="Arial"/>
              </a:rPr>
              <a:t> measured how often a fly performed the movements assigned to each region. Occupancy during red-light activation, set against matched controls, distinguished action-specific effects from a general rise in activity.</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map is an empirical description of movements sampled in this arena rather than a map of neural anatomy. Sampling at 100 frames per second sets the time scale of the movements the map captures, and the flat chamber sets which behaviors can appear. A quantitative classifier gives reproducible measurements within those bounds.</a:t>
            </a:r>
            <a:endParaRPr/>
          </a:p>
        </p:txBody>
      </p:sp>
      <p:pic>
        <p:nvPicPr>
          <p:cNvPr descr="cande1bc.png" id="258" name="Google Shape;258;p14"/>
          <p:cNvPicPr preferRelativeResize="0"/>
          <p:nvPr/>
        </p:nvPicPr>
        <p:blipFill rotWithShape="1">
          <a:blip r:embed="rId3">
            <a:alphaModFix/>
          </a:blip>
          <a:srcRect b="0" l="0" r="0" t="0"/>
          <a:stretch/>
        </p:blipFill>
        <p:spPr>
          <a:xfrm>
            <a:off x="6138367" y="1280160"/>
            <a:ext cx="5486400" cy="2461352"/>
          </a:xfrm>
          <a:prstGeom prst="rect">
            <a:avLst/>
          </a:prstGeom>
          <a:noFill/>
          <a:ln>
            <a:noFill/>
          </a:ln>
        </p:spPr>
      </p:pic>
      <p:sp>
        <p:nvSpPr>
          <p:cNvPr id="259" name="Google Shape;259;p14"/>
          <p:cNvSpPr txBox="1"/>
          <p:nvPr/>
        </p:nvSpPr>
        <p:spPr>
          <a:xfrm>
            <a:off x="6138367" y="383295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1(B–C). Published behavioral-density map and action categories.</a:t>
            </a:r>
            <a:endParaRPr/>
          </a:p>
        </p:txBody>
      </p:sp>
      <p:sp>
        <p:nvSpPr>
          <p:cNvPr id="260" name="Google Shape;260;p1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a:t>
            </a:r>
            <a:endParaRPr/>
          </a:p>
        </p:txBody>
      </p:sp>
      <p:sp>
        <p:nvSpPr>
          <p:cNvPr id="262" name="Google Shape;262;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Descending activation often favors one motor module</a:t>
            </a:r>
            <a:endParaRPr/>
          </a:p>
        </p:txBody>
      </p:sp>
      <p:sp>
        <p:nvSpPr>
          <p:cNvPr id="269" name="Google Shape;269;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motor module</a:t>
            </a:r>
            <a:r>
              <a:rPr b="0" i="0" lang="en-US" sz="1500" u="none" cap="none" strike="noStrike">
                <a:solidFill>
                  <a:srgbClr val="000000"/>
                </a:solidFill>
                <a:latin typeface="Arial"/>
                <a:ea typeface="Arial"/>
                <a:cs typeface="Arial"/>
                <a:sym typeface="Arial"/>
              </a:rPr>
              <a:t> is a coordinated part of behavior that can be recruited on its own, without triggering a complete behavioral sequence. Cande and colleagues asked whether activating descending neurons concentrated movement into particular regions of the behavior space they had measured.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During 15 s red-light epochs, many experimental flies showed reduced </a:t>
            </a:r>
            <a:r>
              <a:rPr b="1" i="0" lang="en-US" sz="1500" u="none" cap="none" strike="noStrike">
                <a:solidFill>
                  <a:srgbClr val="1E3B7B"/>
                </a:solidFill>
                <a:latin typeface="Arial"/>
                <a:ea typeface="Arial"/>
                <a:cs typeface="Arial"/>
                <a:sym typeface="Arial"/>
              </a:rPr>
              <a:t>behavioral entropy</a:t>
            </a:r>
            <a:r>
              <a:rPr b="0" i="0" lang="en-US" sz="1500" u="none" cap="none" strike="noStrike">
                <a:solidFill>
                  <a:srgbClr val="000000"/>
                </a:solidFill>
                <a:latin typeface="Arial"/>
                <a:ea typeface="Arial"/>
                <a:cs typeface="Arial"/>
                <a:sym typeface="Arial"/>
              </a:rPr>
              <a:t>, a measure of how broadly their activity spread across available actions. Matched controls without retinal showed no such population-level reduction. Most effective lines favored one behavioral region.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Modular recruitment, under these arena and stimulation conditions, means that a single descending population can bias behavior toward one class of actions. Selective tests of normal activity, necessity and context offer the way to determine how many distinct actions each targeted neuron commands.</a:t>
            </a:r>
            <a:endParaRPr/>
          </a:p>
        </p:txBody>
      </p:sp>
      <p:pic>
        <p:nvPicPr>
          <p:cNvPr descr="cande3.png" id="270" name="Google Shape;270;p15"/>
          <p:cNvPicPr preferRelativeResize="0"/>
          <p:nvPr/>
        </p:nvPicPr>
        <p:blipFill rotWithShape="1">
          <a:blip r:embed="rId3">
            <a:alphaModFix/>
          </a:blip>
          <a:srcRect b="0" l="0" r="0" t="0"/>
          <a:stretch/>
        </p:blipFill>
        <p:spPr>
          <a:xfrm>
            <a:off x="6138367" y="1280160"/>
            <a:ext cx="3840480" cy="3709525"/>
          </a:xfrm>
          <a:prstGeom prst="rect">
            <a:avLst/>
          </a:prstGeom>
          <a:noFill/>
          <a:ln>
            <a:noFill/>
          </a:ln>
        </p:spPr>
      </p:pic>
      <p:sp>
        <p:nvSpPr>
          <p:cNvPr id="271" name="Google Shape;271;p15"/>
          <p:cNvSpPr txBox="1"/>
          <p:nvPr/>
        </p:nvSpPr>
        <p:spPr>
          <a:xfrm>
            <a:off x="6138367" y="508112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3(A–D). Behavioral entropy across descending-neuron lines.</a:t>
            </a:r>
            <a:endParaRPr/>
          </a:p>
        </p:txBody>
      </p:sp>
      <p:pic>
        <p:nvPicPr>
          <p:cNvPr descr="inag3b.png" id="272" name="Google Shape;272;p15"/>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73" name="Google Shape;273;p15"/>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74" name="Google Shape;274;p1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76" name="Google Shape;276;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The preceding action constrains the activated response</a:t>
            </a:r>
            <a:endParaRPr/>
          </a:p>
        </p:txBody>
      </p:sp>
      <p:sp>
        <p:nvSpPr>
          <p:cNvPr id="283" name="Google Shape;283;p1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Light-driven activation engages a circuit that is already active during behavior. Cande and colleagues related each fly's movement in the 1.5 s before stimulation to its movement during the first 1.5 s of red-light activation. Its output therefore depends on what the animal is already doing.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For some descending-neuron lines, the action after activation depended strongly on the action that came before it. </a:t>
            </a:r>
            <a:r>
              <a:rPr b="1" i="0" lang="en-US" sz="1500" u="none" cap="none" strike="noStrike">
                <a:solidFill>
                  <a:srgbClr val="1E3B7B"/>
                </a:solidFill>
                <a:latin typeface="Arial"/>
                <a:ea typeface="Arial"/>
                <a:cs typeface="Arial"/>
                <a:sym typeface="Arial"/>
              </a:rPr>
              <a:t>Mutual information</a:t>
            </a:r>
            <a:r>
              <a:rPr b="0" i="0" lang="en-US" sz="1500" u="none" cap="none" strike="noStrike">
                <a:solidFill>
                  <a:srgbClr val="000000"/>
                </a:solidFill>
                <a:latin typeface="Arial"/>
                <a:ea typeface="Arial"/>
                <a:cs typeface="Arial"/>
                <a:sym typeface="Arial"/>
              </a:rPr>
              <a:t> measures how much knowing the earlier behavioral state predicts the later one, and for many lines this dependence exceeded that in matched no-retinal controls.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result supports </a:t>
            </a:r>
            <a:r>
              <a:rPr b="1" i="0" lang="en-US" sz="1500" u="none" cap="none" strike="noStrike">
                <a:solidFill>
                  <a:srgbClr val="1E3B7B"/>
                </a:solidFill>
                <a:latin typeface="Arial"/>
                <a:ea typeface="Arial"/>
                <a:cs typeface="Arial"/>
                <a:sym typeface="Arial"/>
              </a:rPr>
              <a:t>state-dependent recruitment</a:t>
            </a:r>
            <a:r>
              <a:rPr b="0" i="0" lang="en-US" sz="1500" u="none" cap="none" strike="noStrike">
                <a:solidFill>
                  <a:srgbClr val="000000"/>
                </a:solidFill>
                <a:latin typeface="Arial"/>
                <a:ea typeface="Arial"/>
                <a:cs typeface="Arial"/>
                <a:sym typeface="Arial"/>
              </a:rPr>
              <a:t>, in which the same activation produces different actions depending on the current behavior. Sensory input, the activity of other neurons and the state of local motor networks can each contribute to this context effect.</a:t>
            </a:r>
            <a:endParaRPr/>
          </a:p>
        </p:txBody>
      </p:sp>
      <p:pic>
        <p:nvPicPr>
          <p:cNvPr descr="cande5.png" id="284" name="Google Shape;284;p16"/>
          <p:cNvPicPr preferRelativeResize="0"/>
          <p:nvPr/>
        </p:nvPicPr>
        <p:blipFill rotWithShape="1">
          <a:blip r:embed="rId3">
            <a:alphaModFix/>
          </a:blip>
          <a:srcRect b="0" l="0" r="0" t="0"/>
          <a:stretch/>
        </p:blipFill>
        <p:spPr>
          <a:xfrm>
            <a:off x="6138367" y="1280160"/>
            <a:ext cx="3840480" cy="3247411"/>
          </a:xfrm>
          <a:prstGeom prst="rect">
            <a:avLst/>
          </a:prstGeom>
          <a:noFill/>
          <a:ln>
            <a:noFill/>
          </a:ln>
        </p:spPr>
      </p:pic>
      <p:sp>
        <p:nvSpPr>
          <p:cNvPr id="285" name="Google Shape;285;p16"/>
          <p:cNvSpPr txBox="1"/>
          <p:nvPr/>
        </p:nvSpPr>
        <p:spPr>
          <a:xfrm>
            <a:off x="6138367" y="461901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5(A–C). Dependence of stimulated behavior on preceding behavior.</a:t>
            </a:r>
            <a:endParaRPr/>
          </a:p>
        </p:txBody>
      </p:sp>
      <p:pic>
        <p:nvPicPr>
          <p:cNvPr descr="inag3b.png" id="286" name="Google Shape;286;p16"/>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87" name="Google Shape;287;p16"/>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88" name="Google Shape;288;p1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90" name="Google Shape;290;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Ciliary arrests coordinate an entire larval body</a:t>
            </a:r>
            <a:endParaRPr/>
          </a:p>
        </p:txBody>
      </p:sp>
      <p:sp>
        <p:nvSpPr>
          <p:cNvPr id="297" name="Google Shape;297;p1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Cilia, which are microscopic moving projections on specialized cells, propel the marine annelid </a:t>
            </a:r>
            <a:r>
              <a:rPr b="0" i="1" lang="en-US" sz="1500" u="none" cap="none" strike="noStrike">
                <a:solidFill>
                  <a:srgbClr val="000000"/>
                </a:solidFill>
                <a:latin typeface="Arial"/>
                <a:ea typeface="Arial"/>
                <a:cs typeface="Arial"/>
                <a:sym typeface="Arial"/>
              </a:rPr>
              <a:t>Platynereis dumerilii</a:t>
            </a:r>
            <a:r>
              <a:rPr b="0" i="0" lang="en-US" sz="1500" u="none" cap="none" strike="noStrike">
                <a:solidFill>
                  <a:srgbClr val="000000"/>
                </a:solidFill>
                <a:latin typeface="Arial"/>
                <a:ea typeface="Arial"/>
                <a:cs typeface="Arial"/>
                <a:sym typeface="Arial"/>
              </a:rPr>
              <a:t>. At about 72 h after fertilization, locomotor cilia form a main band called the prototroch, along with additional bands distributed along the larval trunk.</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Verasztó and colleagues brought together scanning electron microscopy, fast video and calcium imaging. The different locomotor bands stopped beating together and resumed together, and each arrest coincided with a coordinated rise in calcium-indicator fluorescence across the ciliated fields.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calcium indicator</a:t>
            </a:r>
            <a:r>
              <a:rPr b="0" i="0" lang="en-US" sz="1500" u="none" cap="none" strike="noStrike">
                <a:solidFill>
                  <a:srgbClr val="000000"/>
                </a:solidFill>
                <a:latin typeface="Arial"/>
                <a:ea typeface="Arial"/>
                <a:cs typeface="Arial"/>
                <a:sym typeface="Arial"/>
              </a:rPr>
              <a:t> changes fluorescence as intracellular calcium rises and falls, giving an indirect readout of cell activation. The synchrony links a distributed set of effectors to one shared event, and identifying the neurons that trigger that event takes separate experiments.</a:t>
            </a:r>
            <a:endParaRPr/>
          </a:p>
        </p:txBody>
      </p:sp>
      <p:pic>
        <p:nvPicPr>
          <p:cNvPr descr="ver1.png" id="298" name="Google Shape;298;p17"/>
          <p:cNvPicPr preferRelativeResize="0"/>
          <p:nvPr/>
        </p:nvPicPr>
        <p:blipFill rotWithShape="1">
          <a:blip r:embed="rId3">
            <a:alphaModFix/>
          </a:blip>
          <a:srcRect b="0" l="0" r="0" t="0"/>
          <a:stretch/>
        </p:blipFill>
        <p:spPr>
          <a:xfrm>
            <a:off x="6138367" y="1280160"/>
            <a:ext cx="5486400" cy="4136979"/>
          </a:xfrm>
          <a:prstGeom prst="rect">
            <a:avLst/>
          </a:prstGeom>
          <a:noFill/>
          <a:ln>
            <a:noFill/>
          </a:ln>
        </p:spPr>
      </p:pic>
      <p:sp>
        <p:nvSpPr>
          <p:cNvPr id="299" name="Google Shape;299;p17"/>
          <p:cNvSpPr txBox="1"/>
          <p:nvPr/>
        </p:nvSpPr>
        <p:spPr>
          <a:xfrm>
            <a:off x="6138367" y="55085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1(A–H). Larval ciliary bands, arrests and calcium activity.</a:t>
            </a:r>
            <a:endParaRPr/>
          </a:p>
        </p:txBody>
      </p:sp>
      <p:sp>
        <p:nvSpPr>
          <p:cNvPr id="300" name="Google Shape;300;p1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02" name="Google Shape;302;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Serial reconstruction locates ciliomotor connections</a:t>
            </a:r>
            <a:endParaRPr/>
          </a:p>
        </p:txBody>
      </p:sp>
      <p:sp>
        <p:nvSpPr>
          <p:cNvPr id="309" name="Google Shape;309;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connectome</a:t>
            </a:r>
            <a:r>
              <a:rPr b="0" i="0" lang="en-US" sz="1500" u="none" cap="none" strike="noStrike">
                <a:solidFill>
                  <a:srgbClr val="000000"/>
                </a:solidFill>
                <a:latin typeface="Arial"/>
                <a:ea typeface="Arial"/>
                <a:cs typeface="Arial"/>
                <a:sym typeface="Arial"/>
              </a:rPr>
              <a:t> maps the identified neural connections inside a reconstructed nervous system. Using serial transmission electron microscopy on a 3-day-old Platynereis larva, Verasztó and colleagues followed neurons and their synaptic contacts, matching them to where ciliated cells sit across the body.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large MC neuron and the paired Loop neurons formed extensive contacts with the locomotor ciliary bands. Molecular labeling and cell morphology supported a cholinergic identity, meaning that these cells use acetylcholine as their transmitter. Axons reached several positions along the body.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According to this reconstruction, a small set of neurons can coordinate effectors that lie far apart. A synaptic contact by itself sets neither the timing nor the sign of the functional response, so calcium recordings and selective interventions are needed to show which reconstructed neurons take part in arrests.</a:t>
            </a:r>
            <a:endParaRPr/>
          </a:p>
        </p:txBody>
      </p:sp>
      <p:pic>
        <p:nvPicPr>
          <p:cNvPr descr="ver2.png" id="310" name="Google Shape;310;p18"/>
          <p:cNvPicPr preferRelativeResize="0"/>
          <p:nvPr/>
        </p:nvPicPr>
        <p:blipFill rotWithShape="1">
          <a:blip r:embed="rId3">
            <a:alphaModFix/>
          </a:blip>
          <a:srcRect b="0" l="0" r="0" t="0"/>
          <a:stretch/>
        </p:blipFill>
        <p:spPr>
          <a:xfrm>
            <a:off x="6138367" y="1280160"/>
            <a:ext cx="5486400" cy="3364868"/>
          </a:xfrm>
          <a:prstGeom prst="rect">
            <a:avLst/>
          </a:prstGeom>
          <a:noFill/>
          <a:ln>
            <a:noFill/>
          </a:ln>
        </p:spPr>
      </p:pic>
      <p:sp>
        <p:nvSpPr>
          <p:cNvPr id="311" name="Google Shape;311;p18"/>
          <p:cNvSpPr txBox="1"/>
          <p:nvPr/>
        </p:nvSpPr>
        <p:spPr>
          <a:xfrm>
            <a:off x="6138367" y="47364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2(A–G). Reconstructed cholinergic neurons and ciliary targets.</a:t>
            </a:r>
            <a:endParaRPr/>
          </a:p>
        </p:txBody>
      </p:sp>
      <p:sp>
        <p:nvSpPr>
          <p:cNvPr id="312" name="Google Shape;312;p1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14" name="Google Shape;314;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Identified ciliomotor cells occupy different phases</a:t>
            </a:r>
            <a:endParaRPr/>
          </a:p>
        </p:txBody>
      </p:sp>
      <p:sp>
        <p:nvSpPr>
          <p:cNvPr id="321" name="Google Shape;321;p1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Verasztó and colleagues imaged identified ciliomotor neurons and the prototroch with GCaMP6s, a genetically encoded calcium-sensitive fluorescent protein. In 2-day-old larvae, cell position and reconstructed morphology linked each recorded cell to the anatomical circuit.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Fluorescence in cMNvl and cMNd, two catecholaminergic ciliomotor cells, rose in step with the ciliary band. The cMNATO cell tended to vary in the opposite direction. Catecholaminergic identity marks a transmitter-related molecular class, while the functional sign of each cell comes from its activity pattern.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phase relationships place the neurons in populations with different timing within the coordinated rhythm. Calcium fluorescence integrates activity over time, so opposite phases show </a:t>
            </a:r>
            <a:r>
              <a:rPr b="1" i="0" lang="en-US" sz="1500" u="none" cap="none" strike="noStrike">
                <a:solidFill>
                  <a:srgbClr val="1E3B7B"/>
                </a:solidFill>
                <a:latin typeface="Arial"/>
                <a:ea typeface="Arial"/>
                <a:cs typeface="Arial"/>
                <a:sym typeface="Arial"/>
              </a:rPr>
              <a:t>differentiated circuit participation</a:t>
            </a:r>
            <a:r>
              <a:rPr b="0" i="0" lang="en-US" sz="1500" u="none" cap="none" strike="noStrike">
                <a:solidFill>
                  <a:srgbClr val="000000"/>
                </a:solidFill>
                <a:latin typeface="Arial"/>
                <a:ea typeface="Arial"/>
                <a:cs typeface="Arial"/>
                <a:sym typeface="Arial"/>
              </a:rPr>
              <a:t> rather than the millisecond timing of individual spikes.</a:t>
            </a:r>
            <a:endParaRPr/>
          </a:p>
        </p:txBody>
      </p:sp>
      <p:pic>
        <p:nvPicPr>
          <p:cNvPr descr="ver6.png" id="322" name="Google Shape;322;p19"/>
          <p:cNvPicPr preferRelativeResize="0"/>
          <p:nvPr/>
        </p:nvPicPr>
        <p:blipFill rotWithShape="1">
          <a:blip r:embed="rId3">
            <a:alphaModFix/>
          </a:blip>
          <a:srcRect b="0" l="0" r="0" t="0"/>
          <a:stretch/>
        </p:blipFill>
        <p:spPr>
          <a:xfrm>
            <a:off x="7109622" y="1280160"/>
            <a:ext cx="3543889" cy="4297679"/>
          </a:xfrm>
          <a:prstGeom prst="rect">
            <a:avLst/>
          </a:prstGeom>
          <a:noFill/>
          <a:ln>
            <a:noFill/>
          </a:ln>
        </p:spPr>
      </p:pic>
      <p:sp>
        <p:nvSpPr>
          <p:cNvPr id="323" name="Google Shape;323;p1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6(A–G). Identified ciliomotor cells and calcium phase relations.</a:t>
            </a:r>
            <a:endParaRPr/>
          </a:p>
        </p:txBody>
      </p:sp>
      <p:sp>
        <p:nvSpPr>
          <p:cNvPr id="324" name="Google Shape;324;p1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26" name="Google Shape;326;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Ablation separates rhythm generation from its output</a:t>
            </a:r>
            <a:endParaRPr/>
          </a:p>
        </p:txBody>
      </p:sp>
      <p:sp>
        <p:nvSpPr>
          <p:cNvPr id="333" name="Google Shape;333;p2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Ablation</a:t>
            </a:r>
            <a:r>
              <a:rPr b="0" i="0" lang="en-US" sz="1500" u="none" cap="none" strike="noStrike">
                <a:solidFill>
                  <a:srgbClr val="000000"/>
                </a:solidFill>
                <a:latin typeface="Arial"/>
                <a:ea typeface="Arial"/>
                <a:cs typeface="Arial"/>
                <a:sym typeface="Arial"/>
              </a:rPr>
              <a:t> destroys a chosen cell so that its contribution can be tested. Verasztó and colleagues used a pulsed laser to ablate the identified MC neuron, then compared prototroch calcium activity and ciliary arrests before and after the procedure. Calcium activity and arrests were the two readouts of the rhythm.</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Removing MC abolished the prominent rhythmic prototroch activity and sharply cut the number of arrests. In intact imaged preparations the MC calcium cycle had a median period of about 71 s. Blocking </a:t>
            </a:r>
            <a:r>
              <a:rPr b="1" i="0" lang="en-US" sz="1500" u="none" cap="none" strike="noStrike">
                <a:solidFill>
                  <a:srgbClr val="1E3B7B"/>
                </a:solidFill>
                <a:latin typeface="Arial"/>
                <a:ea typeface="Arial"/>
                <a:cs typeface="Arial"/>
                <a:sym typeface="Arial"/>
              </a:rPr>
              <a:t>nicotinic acetylcholine receptors</a:t>
            </a:r>
            <a:r>
              <a:rPr b="0" i="0" lang="en-US" sz="1500" u="none" cap="none" strike="noStrike">
                <a:solidFill>
                  <a:srgbClr val="000000"/>
                </a:solidFill>
                <a:latin typeface="Arial"/>
                <a:ea typeface="Arial"/>
                <a:cs typeface="Arial"/>
                <a:sym typeface="Arial"/>
              </a:rPr>
              <a:t> with α-bungarotoxin uncoupled the ciliary response, while the MC neuron kept cycling.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two interventions distinguish the source of rhythmic neuronal activity from the cholinergic transmission that drives the effector. The MC neuron therefore contributes both to the rhythm and to its receptor-dependent output, and the reconstructed network contains additional cholinergic neurons that also feed into arrests.</a:t>
            </a:r>
            <a:endParaRPr/>
          </a:p>
        </p:txBody>
      </p:sp>
      <p:pic>
        <p:nvPicPr>
          <p:cNvPr descr="ver7.png" id="334" name="Google Shape;334;p20"/>
          <p:cNvPicPr preferRelativeResize="0"/>
          <p:nvPr/>
        </p:nvPicPr>
        <p:blipFill rotWithShape="1">
          <a:blip r:embed="rId3">
            <a:alphaModFix/>
          </a:blip>
          <a:srcRect b="0" l="0" r="0" t="0"/>
          <a:stretch/>
        </p:blipFill>
        <p:spPr>
          <a:xfrm>
            <a:off x="6141853" y="1280160"/>
            <a:ext cx="5479426" cy="4297679"/>
          </a:xfrm>
          <a:prstGeom prst="rect">
            <a:avLst/>
          </a:prstGeom>
          <a:noFill/>
          <a:ln>
            <a:noFill/>
          </a:ln>
        </p:spPr>
      </p:pic>
      <p:sp>
        <p:nvSpPr>
          <p:cNvPr id="335" name="Google Shape;335;p2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7(A–H). MC-cell ablation and cholinergic blockade alter ciliary activity.</a:t>
            </a:r>
            <a:endParaRPr/>
          </a:p>
        </p:txBody>
      </p:sp>
      <p:sp>
        <p:nvSpPr>
          <p:cNvPr id="336" name="Google Shape;336;p2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38" name="Google Shape;338;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Water disturbance recruits coordinated larval defense</a:t>
            </a:r>
            <a:endParaRPr/>
          </a:p>
        </p:txBody>
      </p:sp>
      <p:sp>
        <p:nvSpPr>
          <p:cNvPr id="345" name="Google Shape;345;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hydrodynamic stimulus</a:t>
            </a:r>
            <a:r>
              <a:rPr b="0" i="0" lang="en-US" sz="1500" u="none" cap="none" strike="noStrike">
                <a:solidFill>
                  <a:srgbClr val="000000"/>
                </a:solidFill>
                <a:latin typeface="Arial"/>
                <a:ea typeface="Arial"/>
                <a:cs typeface="Arial"/>
                <a:sym typeface="Arial"/>
              </a:rPr>
              <a:t> moves water locally and can deform sensory structures. Bezares-Calderón and colleagues tested Platynereis larvae with a vibrating tungsten filament and observed ciliary arrest, body contraction and elevation of paired appendages called parapodia.</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High-speed recordings at 230 to 350 frames per second resolved the response. Faster filaments pushed the appendages into a wider elevation, and a filament placed farther from the head had to move more forcefully to trigger it. Wide elevation was consistently recruited above about 28 µm/ms under the arrangement tested.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controlled stimulus ties local water movement to a coordinated defensive action. The dependence on distance supports </a:t>
            </a:r>
            <a:r>
              <a:rPr b="1" i="0" lang="en-US" sz="1500" u="none" cap="none" strike="noStrike">
                <a:solidFill>
                  <a:srgbClr val="1E3B7B"/>
                </a:solidFill>
                <a:latin typeface="Arial"/>
                <a:ea typeface="Arial"/>
                <a:cs typeface="Arial"/>
                <a:sym typeface="Arial"/>
              </a:rPr>
              <a:t>near-field sensing</a:t>
            </a:r>
            <a:r>
              <a:rPr b="0" i="0" lang="en-US" sz="1500" u="none" cap="none" strike="noStrike">
                <a:solidFill>
                  <a:srgbClr val="000000"/>
                </a:solidFill>
                <a:latin typeface="Arial"/>
                <a:ea typeface="Arial"/>
                <a:cs typeface="Arial"/>
                <a:sym typeface="Arial"/>
              </a:rPr>
              <a:t>, in which receptors respond to water movement close to the body. Filament speed is the mechanical parameter the experimenter sets, so it provides an input that can be varied and measured.</a:t>
            </a:r>
            <a:endParaRPr/>
          </a:p>
        </p:txBody>
      </p:sp>
      <p:pic>
        <p:nvPicPr>
          <p:cNvPr descr="bez1.png" id="346" name="Google Shape;346;p21"/>
          <p:cNvPicPr preferRelativeResize="0"/>
          <p:nvPr/>
        </p:nvPicPr>
        <p:blipFill rotWithShape="1">
          <a:blip r:embed="rId3">
            <a:alphaModFix/>
          </a:blip>
          <a:srcRect b="0" l="0" r="0" t="0"/>
          <a:stretch/>
        </p:blipFill>
        <p:spPr>
          <a:xfrm>
            <a:off x="6138367" y="1280160"/>
            <a:ext cx="5486400" cy="2498422"/>
          </a:xfrm>
          <a:prstGeom prst="rect">
            <a:avLst/>
          </a:prstGeom>
          <a:noFill/>
          <a:ln>
            <a:noFill/>
          </a:ln>
        </p:spPr>
      </p:pic>
      <p:sp>
        <p:nvSpPr>
          <p:cNvPr id="347" name="Google Shape;347;p21"/>
          <p:cNvSpPr txBox="1"/>
          <p:nvPr/>
        </p:nvSpPr>
        <p:spPr>
          <a:xfrm>
            <a:off x="6138367" y="387002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1(A–J). Hydrodynamic stimulus and larval startle kinematics.</a:t>
            </a:r>
            <a:endParaRPr/>
          </a:p>
        </p:txBody>
      </p:sp>
      <p:sp>
        <p:nvSpPr>
          <p:cNvPr id="348" name="Google Shape;348;p2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50" name="Google Shape;350;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Collar receptors respond to local water movement</a:t>
            </a:r>
            <a:endParaRPr/>
          </a:p>
        </p:txBody>
      </p:sp>
      <p:sp>
        <p:nvSpPr>
          <p:cNvPr id="357" name="Google Shape;357;p2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Each </a:t>
            </a:r>
            <a:r>
              <a:rPr b="1" i="0" lang="en-US" sz="1500" u="none" cap="none" strike="noStrike">
                <a:solidFill>
                  <a:srgbClr val="1E3B7B"/>
                </a:solidFill>
                <a:latin typeface="Arial"/>
                <a:ea typeface="Arial"/>
                <a:cs typeface="Arial"/>
                <a:sym typeface="Arial"/>
              </a:rPr>
              <a:t>collar-receptor</a:t>
            </a:r>
            <a:r>
              <a:rPr b="0" i="0" lang="en-US" sz="1500" u="none" cap="none" strike="noStrike">
                <a:solidFill>
                  <a:srgbClr val="000000"/>
                </a:solidFill>
                <a:latin typeface="Arial"/>
                <a:ea typeface="Arial"/>
                <a:cs typeface="Arial"/>
                <a:sym typeface="Arial"/>
              </a:rPr>
              <a:t> neuron bears a sensory cilium ringed by microvilli, which are small projections that form a collar. Bezares-Calderón and colleagues combined electron microscopy with calcium imaging to find these sensory cells in the head of Platynereis larvae.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One collar contained ten thick microvilli linked to the projecting cilium by fine fibers. A vibrating filament placed about 50 µm in front of the head increased calcium-indicator fluorescence in identified head collar receptors. A nearby sensory neuron with a different morphology served as a comparison in the same recording.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anatomy and the stimulus-evoked activity together support mechanosensory input through these cells. Calcium imaging identifies which sensory population becomes active, while molecular expression and genetic disruption show which proteins the behavioral response requires.</a:t>
            </a:r>
            <a:endParaRPr/>
          </a:p>
        </p:txBody>
      </p:sp>
      <p:pic>
        <p:nvPicPr>
          <p:cNvPr descr="bez2.png" id="358" name="Google Shape;358;p22"/>
          <p:cNvPicPr preferRelativeResize="0"/>
          <p:nvPr/>
        </p:nvPicPr>
        <p:blipFill rotWithShape="1">
          <a:blip r:embed="rId3">
            <a:alphaModFix/>
          </a:blip>
          <a:srcRect b="0" l="0" r="0" t="0"/>
          <a:stretch/>
        </p:blipFill>
        <p:spPr>
          <a:xfrm>
            <a:off x="6512394" y="1280160"/>
            <a:ext cx="4738346" cy="4297679"/>
          </a:xfrm>
          <a:prstGeom prst="rect">
            <a:avLst/>
          </a:prstGeom>
          <a:noFill/>
          <a:ln>
            <a:noFill/>
          </a:ln>
        </p:spPr>
      </p:pic>
      <p:sp>
        <p:nvSpPr>
          <p:cNvPr id="359" name="Google Shape;359;p2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2(A–G). Collar-receptor anatomy, ultrastructure and stimulus-evoked calcium.</a:t>
            </a:r>
            <a:endParaRPr/>
          </a:p>
        </p:txBody>
      </p:sp>
      <p:sp>
        <p:nvSpPr>
          <p:cNvPr id="360" name="Google Shape;360;p2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62" name="Google Shape;362;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Polycystin mutations disrupt startle and protection</a:t>
            </a:r>
            <a:endParaRPr/>
          </a:p>
        </p:txBody>
      </p:sp>
      <p:sp>
        <p:nvSpPr>
          <p:cNvPr id="369" name="Google Shape;369;p2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Polycystins</a:t>
            </a:r>
            <a:r>
              <a:rPr b="0" i="0" lang="en-US" sz="1500" u="none" cap="none" strike="noStrike">
                <a:solidFill>
                  <a:srgbClr val="000000"/>
                </a:solidFill>
                <a:latin typeface="Arial"/>
                <a:ea typeface="Arial"/>
                <a:cs typeface="Arial"/>
                <a:sym typeface="Arial"/>
              </a:rPr>
              <a:t> are a protein family with candidate components for mechanosensory signaling. Bezares-Calderón and colleagues detected PKD1-1 and PKD2-1 expression in larval collar-receptor neurons, then generated inherited loss-of-function mutations with targeted genome editing.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Larvae homozygous for either mutation produced abnormal startle responses to the vibrating filament instead of the normal coordinated response. Sensory-cell morphology was preserved, which argues against a simple loss of the entire receptor cell. Predatory copepods, which are small planktonic crustaceans, caught PKD2-1 mutants more easily in predator tests.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genetic result shows that PKD1-1 and PKD2-1 are required in the pathway that carries the filament stimulus from sensory cell to behavior. Recordings of mechanically activated current are the measurement that would show how force reaches these proteins.</a:t>
            </a:r>
            <a:endParaRPr/>
          </a:p>
        </p:txBody>
      </p:sp>
      <p:pic>
        <p:nvPicPr>
          <p:cNvPr descr="bez4.png" id="370" name="Google Shape;370;p23"/>
          <p:cNvPicPr preferRelativeResize="0"/>
          <p:nvPr/>
        </p:nvPicPr>
        <p:blipFill rotWithShape="1">
          <a:blip r:embed="rId3">
            <a:alphaModFix/>
          </a:blip>
          <a:srcRect b="0" l="0" r="0" t="0"/>
          <a:stretch/>
        </p:blipFill>
        <p:spPr>
          <a:xfrm>
            <a:off x="6959436" y="1280160"/>
            <a:ext cx="3844260" cy="1828800"/>
          </a:xfrm>
          <a:prstGeom prst="rect">
            <a:avLst/>
          </a:prstGeom>
          <a:noFill/>
          <a:ln>
            <a:noFill/>
          </a:ln>
        </p:spPr>
      </p:pic>
      <p:sp>
        <p:nvSpPr>
          <p:cNvPr id="371" name="Google Shape;371;p23"/>
          <p:cNvSpPr txBox="1"/>
          <p:nvPr/>
        </p:nvSpPr>
        <p:spPr>
          <a:xfrm>
            <a:off x="6138367" y="32004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4(A–H). Polycystin mutations abolish the hydrodynamic startle response.</a:t>
            </a:r>
            <a:endParaRPr/>
          </a:p>
        </p:txBody>
      </p:sp>
      <p:pic>
        <p:nvPicPr>
          <p:cNvPr descr="bez3.png" id="372" name="Google Shape;372;p23"/>
          <p:cNvPicPr preferRelativeResize="0"/>
          <p:nvPr/>
        </p:nvPicPr>
        <p:blipFill rotWithShape="1">
          <a:blip r:embed="rId4">
            <a:alphaModFix/>
          </a:blip>
          <a:srcRect b="0" l="0" r="0" t="0"/>
          <a:stretch/>
        </p:blipFill>
        <p:spPr>
          <a:xfrm>
            <a:off x="7515356" y="3657600"/>
            <a:ext cx="2732421" cy="2103120"/>
          </a:xfrm>
          <a:prstGeom prst="rect">
            <a:avLst/>
          </a:prstGeom>
          <a:noFill/>
          <a:ln>
            <a:noFill/>
          </a:ln>
        </p:spPr>
      </p:pic>
      <p:sp>
        <p:nvSpPr>
          <p:cNvPr id="373" name="Google Shape;373;p23"/>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3(A–E). PKD1-1 and PKD2-1 expression in collar-receptor neurons.</a:t>
            </a:r>
            <a:endParaRPr/>
          </a:p>
        </p:txBody>
      </p:sp>
      <p:sp>
        <p:nvSpPr>
          <p:cNvPr id="374" name="Google Shape;374;p2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76" name="Google Shape;37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Hunting begins with coordinated eye and tail movements</a:t>
            </a:r>
            <a:endParaRPr/>
          </a:p>
        </p:txBody>
      </p:sp>
      <p:sp>
        <p:nvSpPr>
          <p:cNvPr id="383" name="Google Shape;38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Larval zebrafish hunt small moving prey with a coordinated sequence of eye and body movements. Eye convergence rotates both eyes toward a common frontal region. A </a:t>
            </a:r>
            <a:r>
              <a:rPr b="1" i="0" lang="en-US" sz="1500" u="none" cap="none" strike="noStrike">
                <a:solidFill>
                  <a:srgbClr val="1E3B7B"/>
                </a:solidFill>
                <a:latin typeface="Arial"/>
                <a:ea typeface="Arial"/>
                <a:cs typeface="Arial"/>
                <a:sym typeface="Arial"/>
              </a:rPr>
              <a:t>saccade</a:t>
            </a:r>
            <a:r>
              <a:rPr b="0" i="0" lang="en-US" sz="1500" u="none" cap="none" strike="noStrike">
                <a:solidFill>
                  <a:srgbClr val="000000"/>
                </a:solidFill>
                <a:latin typeface="Arial"/>
                <a:ea typeface="Arial"/>
                <a:cs typeface="Arial"/>
                <a:sym typeface="Arial"/>
              </a:rPr>
              <a:t> is a rapid eye movement, and convergent saccades provide a measurable marker of hunting initiation.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Antinucci and colleagues studied larvae 6 to 7 days after fertilization. In a partly restrained visual assay, small dark moving spots preferentially recruited convergence together with lateral tail movement. About 92% of convergent saccades coincided with tail motion, and the eye-to-tail delay averaged near 12 ms.</a:t>
            </a:r>
            <a:endParaRPr/>
          </a:p>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Two-photon calcium imaging</a:t>
            </a:r>
            <a:r>
              <a:rPr b="0" i="0" lang="en-US" sz="1500" u="none" cap="none" strike="noStrike">
                <a:solidFill>
                  <a:srgbClr val="000000"/>
                </a:solidFill>
                <a:latin typeface="Arial"/>
                <a:ea typeface="Arial"/>
                <a:cs typeface="Arial"/>
                <a:sym typeface="Arial"/>
              </a:rPr>
              <a:t> recorded brain activity while the eyes and tail stayed mobile, which ties controlled visual input to the movements of the hunt. Free-swimming activation and ablation experiments then supplied complementary behavioral tests in fully mobile larvae.</a:t>
            </a:r>
            <a:endParaRPr/>
          </a:p>
        </p:txBody>
      </p:sp>
      <p:pic>
        <p:nvPicPr>
          <p:cNvPr descr="ant1.png" id="384" name="Google Shape;384;p24"/>
          <p:cNvPicPr preferRelativeResize="0"/>
          <p:nvPr/>
        </p:nvPicPr>
        <p:blipFill rotWithShape="1">
          <a:blip r:embed="rId3">
            <a:alphaModFix/>
          </a:blip>
          <a:srcRect b="0" l="0" r="0" t="0"/>
          <a:stretch/>
        </p:blipFill>
        <p:spPr>
          <a:xfrm>
            <a:off x="7246478" y="1280160"/>
            <a:ext cx="3270177" cy="4297679"/>
          </a:xfrm>
          <a:prstGeom prst="rect">
            <a:avLst/>
          </a:prstGeom>
          <a:noFill/>
          <a:ln>
            <a:noFill/>
          </a:ln>
        </p:spPr>
      </p:pic>
      <p:sp>
        <p:nvSpPr>
          <p:cNvPr id="385" name="Google Shape;385;p2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1(A–K). Hunting-related calcium activity, eye convergence and brain anatomy.</a:t>
            </a:r>
            <a:endParaRPr/>
          </a:p>
        </p:txBody>
      </p:sp>
      <p:sp>
        <p:nvSpPr>
          <p:cNvPr id="386" name="Google Shape;386;p2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388" name="Google Shape;38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Pretectal populations separate prey input from action</a:t>
            </a:r>
            <a:endParaRPr/>
          </a:p>
        </p:txBody>
      </p:sp>
      <p:sp>
        <p:nvSpPr>
          <p:cNvPr id="395" name="Google Shape;395;p2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Lying close to the retinal input sites and the optic tectum, the </a:t>
            </a:r>
            <a:r>
              <a:rPr b="1" i="0" lang="en-US" sz="1500" u="none" cap="none" strike="noStrike">
                <a:solidFill>
                  <a:srgbClr val="1E3B7B"/>
                </a:solidFill>
                <a:latin typeface="Arial"/>
                <a:ea typeface="Arial"/>
                <a:cs typeface="Arial"/>
                <a:sym typeface="Arial"/>
              </a:rPr>
              <a:t>pretectum</a:t>
            </a:r>
            <a:r>
              <a:rPr b="0" i="0" lang="en-US" sz="1500" u="none" cap="none" strike="noStrike">
                <a:solidFill>
                  <a:srgbClr val="000000"/>
                </a:solidFill>
                <a:latin typeface="Arial"/>
                <a:ea typeface="Arial"/>
                <a:cs typeface="Arial"/>
                <a:sym typeface="Arial"/>
              </a:rPr>
              <a:t> is a visual brain region. Retinal ganglion cells carry signals from the eye into the brain, and their axons end in regions called arborization fields. Activity was mapped around the AF7 input region by Antinucci and colleagues.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Calcium responses were measured for prey-like stimuli that evoked convergence and for those that failed to evoke it. Prey-responsive cells followed the visual input, whereas other clusters were more strongly tied to the start of hunting. Their distributions overlapped near AF7 and diverged across the surrounding brain.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This split distinguishes a response to the sensory event from a response tied to the animal's own action. A neuron active near movement onset may contribute to initiation, may receive a related command, or may respond to the movement that follows, and targeted interventions decide among these options.</a:t>
            </a:r>
            <a:endParaRPr/>
          </a:p>
        </p:txBody>
      </p:sp>
      <p:pic>
        <p:nvPicPr>
          <p:cNvPr descr="ant2ab.png" id="396" name="Google Shape;396;p25"/>
          <p:cNvPicPr preferRelativeResize="0"/>
          <p:nvPr/>
        </p:nvPicPr>
        <p:blipFill rotWithShape="1">
          <a:blip r:embed="rId3">
            <a:alphaModFix/>
          </a:blip>
          <a:srcRect b="0" l="0" r="0" t="0"/>
          <a:stretch/>
        </p:blipFill>
        <p:spPr>
          <a:xfrm>
            <a:off x="7390745" y="1280160"/>
            <a:ext cx="2981644" cy="4297679"/>
          </a:xfrm>
          <a:prstGeom prst="rect">
            <a:avLst/>
          </a:prstGeom>
          <a:noFill/>
          <a:ln>
            <a:noFill/>
          </a:ln>
        </p:spPr>
      </p:pic>
      <p:sp>
        <p:nvSpPr>
          <p:cNvPr id="397" name="Google Shape;397;p2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2(A–D). Pretectal hunting-initiation clusters in the larval brain.</a:t>
            </a:r>
            <a:endParaRPr/>
          </a:p>
        </p:txBody>
      </p:sp>
      <p:sp>
        <p:nvSpPr>
          <p:cNvPr id="398" name="Google Shape;398;p2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00" name="Google Shape;40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Activating one pretectal cell can recruit hunting</a:t>
            </a:r>
            <a:endParaRPr/>
          </a:p>
        </p:txBody>
      </p:sp>
      <p:sp>
        <p:nvSpPr>
          <p:cNvPr id="407" name="Google Shape;407;p2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CoChR, a light-gated cation channel, was expressed by Antinucci and colleagues in single genetically accessible pretectal neurons. Cell morphology identified each targeted neuron, and high-speed video quantified free-swimming responses during repeated 7 s blue-light periods.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Illumination at 470 nm and 0.44 mW/mm² led some single-cell preparations to produce eye convergence, lateralized swim bouts and sustained hunting-like routines without prey. Responsive preparations had a median response probability near 18% during illumination, while light-off trials produced zero such events.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Opsin-negative controls showed no hunting under blue light alone, so the response depends on the opsin. The activated routine includes eye convergence followed by lateralized swimming, which means that a single identified cell can recruit a coordinated motor program.</a:t>
            </a:r>
            <a:endParaRPr/>
          </a:p>
        </p:txBody>
      </p:sp>
      <p:pic>
        <p:nvPicPr>
          <p:cNvPr descr="ant5.png" id="408" name="Google Shape;408;p26"/>
          <p:cNvPicPr preferRelativeResize="0"/>
          <p:nvPr/>
        </p:nvPicPr>
        <p:blipFill rotWithShape="1">
          <a:blip r:embed="rId3">
            <a:alphaModFix/>
          </a:blip>
          <a:srcRect b="0" l="0" r="0" t="0"/>
          <a:stretch/>
        </p:blipFill>
        <p:spPr>
          <a:xfrm>
            <a:off x="6679220" y="1280160"/>
            <a:ext cx="2758772" cy="4297679"/>
          </a:xfrm>
          <a:prstGeom prst="rect">
            <a:avLst/>
          </a:prstGeom>
          <a:noFill/>
          <a:ln>
            <a:noFill/>
          </a:ln>
        </p:spPr>
      </p:pic>
      <p:sp>
        <p:nvSpPr>
          <p:cNvPr id="409" name="Google Shape;409;p26"/>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5(A–T). Single-neuron optical activation and hunting-like kinematics.</a:t>
            </a:r>
            <a:endParaRPr/>
          </a:p>
        </p:txBody>
      </p:sp>
      <p:pic>
        <p:nvPicPr>
          <p:cNvPr descr="ant3.png" id="410" name="Google Shape;410;p26"/>
          <p:cNvPicPr preferRelativeResize="0"/>
          <p:nvPr/>
        </p:nvPicPr>
        <p:blipFill rotWithShape="1">
          <a:blip r:embed="rId4">
            <a:alphaModFix/>
          </a:blip>
          <a:srcRect b="0" l="0" r="0" t="0"/>
          <a:stretch/>
        </p:blipFill>
        <p:spPr>
          <a:xfrm>
            <a:off x="10161727" y="2148840"/>
            <a:ext cx="1463039" cy="968108"/>
          </a:xfrm>
          <a:prstGeom prst="rect">
            <a:avLst/>
          </a:prstGeom>
          <a:noFill/>
          <a:ln>
            <a:noFill/>
          </a:ln>
        </p:spPr>
      </p:pic>
      <p:sp>
        <p:nvSpPr>
          <p:cNvPr id="411" name="Google Shape;411;p26"/>
          <p:cNvSpPr txBox="1"/>
          <p:nvPr/>
        </p:nvSpPr>
        <p:spPr>
          <a:xfrm>
            <a:off x="10161727" y="3190100"/>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3(A–I). Single pretectal-cell morphology and projection classes.</a:t>
            </a:r>
            <a:endParaRPr/>
          </a:p>
        </p:txBody>
      </p:sp>
      <p:sp>
        <p:nvSpPr>
          <p:cNvPr id="412" name="Google Shape;412;p2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14" name="Google Shape;414;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Pretectal ablation impairs hunting selectively</a:t>
            </a:r>
            <a:endParaRPr/>
          </a:p>
        </p:txBody>
      </p:sp>
      <p:sp>
        <p:nvSpPr>
          <p:cNvPr id="421" name="Google Shape;421;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Necessity</a:t>
            </a:r>
            <a:r>
              <a:rPr b="0" i="0" lang="en-US" sz="1500" u="none" cap="none" strike="noStrike">
                <a:solidFill>
                  <a:srgbClr val="000000"/>
                </a:solidFill>
                <a:latin typeface="Arial"/>
                <a:ea typeface="Arial"/>
                <a:cs typeface="Arial"/>
                <a:sym typeface="Arial"/>
              </a:rPr>
              <a:t> asks whether normal performance requires the tested component. At 6 days after fertilization, Antinucci and colleagues destroyed fluorescently labeled pretectal cells and then scored free-swimming behavior both before the procedure and the next day.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About 90% of the labeled population was removed. Prey consumption, hunting initiation and the duration of hunting sequences declined. Average swimming speed, escape responses to looming stimuli and the optomotor response, which is swimming driven by moving visual patterns, were retained. Sham ablations removed nearby thalamic cells instead.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preserved behaviors show that the loss reflects a specific deficit in hunting rather than a general decline in movement or visual responsiveness. The pretectal population therefore contributes to the initiation and maintenance of normal hunting.</a:t>
            </a:r>
            <a:endParaRPr/>
          </a:p>
        </p:txBody>
      </p:sp>
      <p:pic>
        <p:nvPicPr>
          <p:cNvPr descr="ant6.png" id="422" name="Google Shape;422;p27"/>
          <p:cNvPicPr preferRelativeResize="0"/>
          <p:nvPr/>
        </p:nvPicPr>
        <p:blipFill rotWithShape="1">
          <a:blip r:embed="rId3">
            <a:alphaModFix/>
          </a:blip>
          <a:srcRect b="0" l="0" r="0" t="0"/>
          <a:stretch/>
        </p:blipFill>
        <p:spPr>
          <a:xfrm>
            <a:off x="7553106" y="1280160"/>
            <a:ext cx="2656922" cy="4297679"/>
          </a:xfrm>
          <a:prstGeom prst="rect">
            <a:avLst/>
          </a:prstGeom>
          <a:noFill/>
          <a:ln>
            <a:noFill/>
          </a:ln>
        </p:spPr>
      </p:pic>
      <p:sp>
        <p:nvSpPr>
          <p:cNvPr id="423" name="Google Shape;423;p2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424" name="Google Shape;424;p2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26" name="Google Shape;426;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Tectal activation can recruit hunting without retinal input</a:t>
            </a:r>
            <a:endParaRPr/>
          </a:p>
        </p:txBody>
      </p:sp>
      <p:sp>
        <p:nvSpPr>
          <p:cNvPr id="433" name="Google Shape;433;p2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1E3B7B"/>
                </a:solidFill>
                <a:latin typeface="Arial"/>
                <a:ea typeface="Arial"/>
                <a:cs typeface="Arial"/>
                <a:sym typeface="Arial"/>
              </a:rPr>
              <a:t>optic tectum</a:t>
            </a:r>
            <a:r>
              <a:rPr b="0" i="0" lang="en-US" sz="1500" u="none" cap="none" strike="noStrike">
                <a:solidFill>
                  <a:srgbClr val="000000"/>
                </a:solidFill>
                <a:latin typeface="Arial"/>
                <a:ea typeface="Arial"/>
                <a:cs typeface="Arial"/>
                <a:sym typeface="Arial"/>
              </a:rPr>
              <a:t> is a midbrain region that takes part in visual and motor processing. Antinucci and colleagues stimulated a ChR2-expressing anterior-ventral tectal region and compared sighted larvae with mutants that lack retinal ganglion cells because of disrupted atoh7 function.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Blind larvae kept tectal ChR2 expression even though they lacked retinal input. Light stimulation evoked hunting-like behavior more easily in these mutants than in sighted siblings. Evoked routines kept eye convergence and lateralized tail movements, although response probability and duration differed between the groups.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Removing retinal input tests whether ordinary light-driven vision is required for the optically induced action, and the result shows that the action can be recruited through central circuitry. Retinal activation can therefore interfere with the assay itself.</a:t>
            </a:r>
            <a:endParaRPr/>
          </a:p>
        </p:txBody>
      </p:sp>
      <p:pic>
        <p:nvPicPr>
          <p:cNvPr descr="ant7.png" id="434" name="Google Shape;434;p28"/>
          <p:cNvPicPr preferRelativeResize="0"/>
          <p:nvPr/>
        </p:nvPicPr>
        <p:blipFill rotWithShape="1">
          <a:blip r:embed="rId3">
            <a:alphaModFix/>
          </a:blip>
          <a:srcRect b="0" l="0" r="0" t="0"/>
          <a:stretch/>
        </p:blipFill>
        <p:spPr>
          <a:xfrm>
            <a:off x="6138367" y="1280160"/>
            <a:ext cx="5486400" cy="4017137"/>
          </a:xfrm>
          <a:prstGeom prst="rect">
            <a:avLst/>
          </a:prstGeom>
          <a:noFill/>
          <a:ln>
            <a:noFill/>
          </a:ln>
        </p:spPr>
      </p:pic>
      <p:sp>
        <p:nvSpPr>
          <p:cNvPr id="435" name="Google Shape;435;p28"/>
          <p:cNvSpPr txBox="1"/>
          <p:nvPr/>
        </p:nvSpPr>
        <p:spPr>
          <a:xfrm>
            <a:off x="6138367" y="5388737"/>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7(A–L). Tectal activation evokes hunting in larvae lacking retinal ganglion cells.</a:t>
            </a:r>
            <a:endParaRPr/>
          </a:p>
        </p:txBody>
      </p:sp>
      <p:sp>
        <p:nvSpPr>
          <p:cNvPr id="436" name="Google Shape;436;p2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38" name="Google Shape;438;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Tracking optics retain contact between untethered flies</a:t>
            </a:r>
            <a:endParaRPr/>
          </a:p>
        </p:txBody>
      </p:sp>
      <p:sp>
        <p:nvSpPr>
          <p:cNvPr id="445" name="Google Shape;445;p2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Flyception2, an optical tracking system for brain fluorescence in freely moving adult flies, was developed by Grover and colleagues. The animal is untethered, meaning that no cable links it to the microscope, and external optics follow its head as it moves.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Three glass beads that reflect light, about 30 µm across, outlined a window over the brain. Mirror position was refreshed 1,000 times per second by a tracking loop. </a:t>
            </a:r>
            <a:r>
              <a:rPr b="1" i="0" lang="en-US" sz="1500" u="none" cap="none" strike="noStrike">
                <a:solidFill>
                  <a:srgbClr val="1E3B7B"/>
                </a:solidFill>
                <a:latin typeface="Arial"/>
                <a:ea typeface="Arial"/>
                <a:cs typeface="Arial"/>
                <a:sym typeface="Arial"/>
              </a:rPr>
              <a:t>Retroreflection</a:t>
            </a:r>
            <a:r>
              <a:rPr b="0" i="0" lang="en-US" sz="1500" u="none" cap="none" strike="noStrike">
                <a:solidFill>
                  <a:srgbClr val="000000"/>
                </a:solidFill>
                <a:latin typeface="Arial"/>
                <a:ea typeface="Arial"/>
                <a:cs typeface="Arial"/>
                <a:sym typeface="Arial"/>
              </a:rPr>
              <a:t> sends incoming light back toward its source, so the head stays identifiable when two flies' body outlines overlap.</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Focus tracked the change in head height that occurred during courtship and copulation. The method keeps social contact in the measurement, which outline-based tracking had disrupted. The approach still uses a surgically prepared imaging window and a bounded imaging arena.</a:t>
            </a:r>
            <a:endParaRPr/>
          </a:p>
        </p:txBody>
      </p:sp>
      <p:pic>
        <p:nvPicPr>
          <p:cNvPr descr="gro1.png" id="446" name="Google Shape;446;p29"/>
          <p:cNvPicPr preferRelativeResize="0"/>
          <p:nvPr/>
        </p:nvPicPr>
        <p:blipFill rotWithShape="1">
          <a:blip r:embed="rId3">
            <a:alphaModFix/>
          </a:blip>
          <a:srcRect b="0" l="0" r="0" t="0"/>
          <a:stretch/>
        </p:blipFill>
        <p:spPr>
          <a:xfrm>
            <a:off x="7061814" y="1280160"/>
            <a:ext cx="3639506" cy="4297679"/>
          </a:xfrm>
          <a:prstGeom prst="rect">
            <a:avLst/>
          </a:prstGeom>
          <a:noFill/>
          <a:ln>
            <a:noFill/>
          </a:ln>
        </p:spPr>
      </p:pic>
      <p:sp>
        <p:nvSpPr>
          <p:cNvPr id="447" name="Google Shape;447;p2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1(a–i). Retroflector tracking, calcium imaging and behavioral preparation.</a:t>
            </a:r>
            <a:endParaRPr/>
          </a:p>
        </p:txBody>
      </p:sp>
      <p:sp>
        <p:nvSpPr>
          <p:cNvPr id="448" name="Google Shape;448;p2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50" name="Google Shape;450;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Two-color imaging constrains movement artifacts</a:t>
            </a:r>
            <a:endParaRPr/>
          </a:p>
        </p:txBody>
      </p:sp>
      <p:sp>
        <p:nvSpPr>
          <p:cNvPr id="457" name="Google Shape;457;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fluorescence change in a moving animal can come from activity, from altered focus or from a changing tissue orientation. Flyception2 measured calcium-dependent green GCaMP fluorescence together with calcium-independent red tdTomato fluorescence in the same targeted cells.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Both channels were recorded simultaneously at 50 Hz, with excitation at 473 and 561 nm. Taking the ratio reduced fluctuations shared by both channels. Frames were also screened for visible tracking beads, sharpness and excessive motion, and about 75% of frames in 100 s recordings passed these criteria.</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controls strengthen the attribution of fluorescence changes to cellular calcium. Rapid movements or occlusion can remove precisely timed parts of an interaction, so the analysis applies to the behavioral periods that pass the screen.</a:t>
            </a:r>
            <a:endParaRPr/>
          </a:p>
        </p:txBody>
      </p:sp>
      <p:pic>
        <p:nvPicPr>
          <p:cNvPr descr="gro2.png" id="458" name="Google Shape;458;p30"/>
          <p:cNvPicPr preferRelativeResize="0"/>
          <p:nvPr/>
        </p:nvPicPr>
        <p:blipFill rotWithShape="1">
          <a:blip r:embed="rId3">
            <a:alphaModFix/>
          </a:blip>
          <a:srcRect b="0" l="0" r="0" t="0"/>
          <a:stretch/>
        </p:blipFill>
        <p:spPr>
          <a:xfrm>
            <a:off x="7546927" y="1280160"/>
            <a:ext cx="2669280" cy="4297679"/>
          </a:xfrm>
          <a:prstGeom prst="rect">
            <a:avLst/>
          </a:prstGeom>
          <a:noFill/>
          <a:ln>
            <a:noFill/>
          </a:ln>
        </p:spPr>
      </p:pic>
      <p:sp>
        <p:nvSpPr>
          <p:cNvPr id="459" name="Google Shape;459;p3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sp>
        <p:nvSpPr>
          <p:cNvPr id="460" name="Google Shape;460;p3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62" name="Google Shape;462;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Courtship-related activity changes during copulation</a:t>
            </a:r>
            <a:endParaRPr/>
          </a:p>
        </p:txBody>
      </p:sp>
      <p:sp>
        <p:nvSpPr>
          <p:cNvPr id="469" name="Google Shape;469;p3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P1 neurons were imaged by Grover and colleagues as a male moved toward, touched and mated with a female. Neural fluorescence was synchronized with the distance and angle between the two flies, which links activity to the ongoing social interaction.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P1 activity rose during courtship and fell during copulation, even though physical contact continued. After mating, P1 activity returned when the male again approached the female. In a separate targeted population, mAL neurons, which use </a:t>
            </a:r>
            <a:r>
              <a:rPr b="1" i="0" lang="en-US" sz="1500" u="none" cap="none" strike="noStrike">
                <a:solidFill>
                  <a:srgbClr val="1E3B7B"/>
                </a:solidFill>
                <a:latin typeface="Arial"/>
                <a:ea typeface="Arial"/>
                <a:cs typeface="Arial"/>
                <a:sym typeface="Arial"/>
              </a:rPr>
              <a:t>GABA</a:t>
            </a:r>
            <a:r>
              <a:rPr b="0" i="0" lang="en-US" sz="1500" u="none" cap="none" strike="noStrike">
                <a:solidFill>
                  <a:srgbClr val="000000"/>
                </a:solidFill>
                <a:latin typeface="Arial"/>
                <a:ea typeface="Arial"/>
                <a:cs typeface="Arial"/>
                <a:sym typeface="Arial"/>
              </a:rPr>
              <a:t> as their transmitter, stayed active across courtship and copulation.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GABA is a transmitter that can reduce the excitation of target cells. The contrasting activity patterns show that circuit recruitment depends on behavioral state, and recordings of this kind complement experiments that activate or remove particular neurons directly.</a:t>
            </a:r>
            <a:endParaRPr/>
          </a:p>
        </p:txBody>
      </p:sp>
      <p:pic>
        <p:nvPicPr>
          <p:cNvPr descr="gro2.png" id="470" name="Google Shape;470;p31"/>
          <p:cNvPicPr preferRelativeResize="0"/>
          <p:nvPr/>
        </p:nvPicPr>
        <p:blipFill rotWithShape="1">
          <a:blip r:embed="rId3">
            <a:alphaModFix/>
          </a:blip>
          <a:srcRect b="0" l="0" r="0" t="0"/>
          <a:stretch/>
        </p:blipFill>
        <p:spPr>
          <a:xfrm>
            <a:off x="6138367" y="1280160"/>
            <a:ext cx="2651760" cy="4269471"/>
          </a:xfrm>
          <a:prstGeom prst="rect">
            <a:avLst/>
          </a:prstGeom>
          <a:noFill/>
          <a:ln>
            <a:noFill/>
          </a:ln>
        </p:spPr>
      </p:pic>
      <p:sp>
        <p:nvSpPr>
          <p:cNvPr id="471" name="Google Shape;471;p31"/>
          <p:cNvSpPr txBox="1"/>
          <p:nvPr/>
        </p:nvSpPr>
        <p:spPr>
          <a:xfrm>
            <a:off x="6138367" y="56410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pic>
        <p:nvPicPr>
          <p:cNvPr descr="gro3.png" id="472" name="Google Shape;472;p31"/>
          <p:cNvPicPr preferRelativeResize="0"/>
          <p:nvPr/>
        </p:nvPicPr>
        <p:blipFill rotWithShape="1">
          <a:blip r:embed="rId4">
            <a:alphaModFix/>
          </a:blip>
          <a:srcRect b="0" l="0" r="0" t="0"/>
          <a:stretch/>
        </p:blipFill>
        <p:spPr>
          <a:xfrm>
            <a:off x="9154408" y="2148840"/>
            <a:ext cx="2288957" cy="3383279"/>
          </a:xfrm>
          <a:prstGeom prst="rect">
            <a:avLst/>
          </a:prstGeom>
          <a:noFill/>
          <a:ln>
            <a:noFill/>
          </a:ln>
        </p:spPr>
      </p:pic>
      <p:sp>
        <p:nvSpPr>
          <p:cNvPr id="473" name="Google Shape;473;p31"/>
          <p:cNvSpPr txBox="1"/>
          <p:nvPr/>
        </p:nvSpPr>
        <p:spPr>
          <a:xfrm>
            <a:off x="8973007" y="56052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3(a–e). mAL-neuron fluorescence during courtship and mating.</a:t>
            </a:r>
            <a:endParaRPr/>
          </a:p>
        </p:txBody>
      </p:sp>
      <p:sp>
        <p:nvSpPr>
          <p:cNvPr id="474" name="Google Shape;474;p3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76" name="Google Shape;47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telemetry removes the external recording tether</a:t>
            </a:r>
            <a:endParaRPr/>
          </a:p>
        </p:txBody>
      </p:sp>
      <p:sp>
        <p:nvSpPr>
          <p:cNvPr id="483" name="Google Shape;483;p3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Neural telemetry</a:t>
            </a:r>
            <a:r>
              <a:rPr b="0" i="0" lang="en-US" sz="1500" u="none" cap="none" strike="noStrike">
                <a:solidFill>
                  <a:srgbClr val="000000"/>
                </a:solidFill>
                <a:latin typeface="Arial"/>
                <a:ea typeface="Arial"/>
                <a:cs typeface="Arial"/>
                <a:sym typeface="Arial"/>
              </a:rPr>
              <a:t> transmits recorded electrical signals remotely. Szuts and colleagues built a rat-borne system that combines implanted electrodes, a head-mounted amplifier and a radio transmitter carried in a back harness. A short connection links the animal's own boards, and no cable runs to the recording computer.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electronics processed up to 64 channels, each sampled at 20 kHz, and sent the combined signal to a receiver. Continuous operation lasted about 6 h with the larger battery configuration. The arrangement made recordings possible during outdoor movement and during travel through tunnels.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Wireless access expands the movements and environments available to an experiment, while implant surgery and the carried mass are part of the preparation. The validation covered rats carrying this particular payload and the larger battery.</a:t>
            </a:r>
            <a:endParaRPr/>
          </a:p>
        </p:txBody>
      </p:sp>
      <p:pic>
        <p:nvPicPr>
          <p:cNvPr descr="sz1.png" id="484" name="Google Shape;484;p32"/>
          <p:cNvPicPr preferRelativeResize="0"/>
          <p:nvPr/>
        </p:nvPicPr>
        <p:blipFill rotWithShape="1">
          <a:blip r:embed="rId3">
            <a:alphaModFix/>
          </a:blip>
          <a:srcRect b="0" l="0" r="0" t="0"/>
          <a:stretch/>
        </p:blipFill>
        <p:spPr>
          <a:xfrm>
            <a:off x="6138367" y="1280160"/>
            <a:ext cx="5486400" cy="3552579"/>
          </a:xfrm>
          <a:prstGeom prst="rect">
            <a:avLst/>
          </a:prstGeom>
          <a:noFill/>
          <a:ln>
            <a:noFill/>
          </a:ln>
        </p:spPr>
      </p:pic>
      <p:sp>
        <p:nvSpPr>
          <p:cNvPr id="485" name="Google Shape;485;p32"/>
          <p:cNvSpPr txBox="1"/>
          <p:nvPr/>
        </p:nvSpPr>
        <p:spPr>
          <a:xfrm>
            <a:off x="6138367" y="49241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1. Published wireless headstage, harness and recording components.</a:t>
            </a:r>
            <a:endParaRPr/>
          </a:p>
        </p:txBody>
      </p:sp>
      <p:sp>
        <p:nvSpPr>
          <p:cNvPr id="486" name="Google Shape;486;p3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488" name="Google Shape;48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Sampling and bandwidth define the observable signal</a:t>
            </a:r>
            <a:endParaRPr/>
          </a:p>
        </p:txBody>
      </p:sp>
      <p:sp>
        <p:nvSpPr>
          <p:cNvPr id="495" name="Google Shape;495;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Sampling rate</a:t>
            </a:r>
            <a:r>
              <a:rPr b="0" i="0" lang="en-US" sz="1500" u="none" cap="none" strike="noStrike">
                <a:solidFill>
                  <a:srgbClr val="000000"/>
                </a:solidFill>
                <a:latin typeface="Arial"/>
                <a:ea typeface="Arial"/>
                <a:cs typeface="Arial"/>
                <a:sym typeface="Arial"/>
              </a:rPr>
              <a:t> specifies how often a signal is measured, whereas </a:t>
            </a:r>
            <a:r>
              <a:rPr b="1" i="0" lang="en-US" sz="1500" u="none" cap="none" strike="noStrike">
                <a:solidFill>
                  <a:srgbClr val="1E3B7B"/>
                </a:solidFill>
                <a:latin typeface="Arial"/>
                <a:ea typeface="Arial"/>
                <a:cs typeface="Arial"/>
                <a:sym typeface="Arial"/>
              </a:rPr>
              <a:t>bandwidth</a:t>
            </a:r>
            <a:r>
              <a:rPr b="0" i="0" lang="en-US" sz="1500" u="none" cap="none" strike="noStrike">
                <a:solidFill>
                  <a:srgbClr val="000000"/>
                </a:solidFill>
                <a:latin typeface="Arial"/>
                <a:ea typeface="Arial"/>
                <a:cs typeface="Arial"/>
                <a:sym typeface="Arial"/>
              </a:rPr>
              <a:t> specifies the range of frequencies the system retains. In the configuration of Szuts and colleagues, electrode voltages passed through a filter between 80 and 2,300 Hz, and each channel was sampled 20,000 times per second.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simultaneous sample-and-hold stage captured the channel voltages before time-division multiplexing placed successive channels onto a shared output. Synchronization markers identified each channel scan, so the original signals could be rebuilt after radio transmission.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Frequency components removed by the filter stay absent however fast the sampling is. The configuration suited extracellular spike analysis, so hardware settings determine which neural events a behavioral experiment can relate to movement, sensation or task timing.</a:t>
            </a:r>
            <a:endParaRPr/>
          </a:p>
        </p:txBody>
      </p:sp>
      <p:pic>
        <p:nvPicPr>
          <p:cNvPr descr="sz2.png" id="496" name="Google Shape;496;p33"/>
          <p:cNvPicPr preferRelativeResize="0"/>
          <p:nvPr/>
        </p:nvPicPr>
        <p:blipFill rotWithShape="1">
          <a:blip r:embed="rId3">
            <a:alphaModFix/>
          </a:blip>
          <a:srcRect b="0" l="0" r="0" t="0"/>
          <a:stretch/>
        </p:blipFill>
        <p:spPr>
          <a:xfrm>
            <a:off x="6283296" y="1280160"/>
            <a:ext cx="5196541" cy="4297679"/>
          </a:xfrm>
          <a:prstGeom prst="rect">
            <a:avLst/>
          </a:prstGeom>
          <a:noFill/>
          <a:ln>
            <a:noFill/>
          </a:ln>
        </p:spPr>
      </p:pic>
      <p:sp>
        <p:nvSpPr>
          <p:cNvPr id="497" name="Google Shape;497;p3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2(a–b). Sampling, multiplexing and signal conditioning in the original device.</a:t>
            </a:r>
            <a:endParaRPr/>
          </a:p>
        </p:txBody>
      </p:sp>
      <p:sp>
        <p:nvSpPr>
          <p:cNvPr id="498" name="Google Shape;498;p3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00" name="Google Shape;500;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Transmission quality is tested against a wired signal</a:t>
            </a:r>
            <a:endParaRPr/>
          </a:p>
        </p:txBody>
      </p:sp>
      <p:sp>
        <p:nvSpPr>
          <p:cNvPr id="507" name="Google Shape;507;p3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Wireless recordings need validation of signal fidelity as well as transmission range. Szuts and colleagues compared the same extracellular waveform before and after radio transmission, then tested whether the reconstructed recordings kept distinguishable spike shapes.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system added less than 4 µV of electrode-referred noise. In line-of-sight tests, recordings at distances up to 60 m kept their spike waveforms and separable waveform clusters. Antenna orientation and a known test signal characterized how signal quality changed with distance.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sorted unit</a:t>
            </a:r>
            <a:r>
              <a:rPr b="0" i="0" lang="en-US" sz="1500" u="none" cap="none" strike="noStrike">
                <a:solidFill>
                  <a:srgbClr val="000000"/>
                </a:solidFill>
                <a:latin typeface="Arial"/>
                <a:ea typeface="Arial"/>
                <a:cs typeface="Arial"/>
                <a:sym typeface="Arial"/>
              </a:rPr>
              <a:t> is a putative neuron recognized as one group of similar extracellular waveforms. Retained clustering supports the reliability of this recording chain, so a sorted unit can be linked to a stable waveform cluster even after the signal has traveled by radio.</a:t>
            </a:r>
            <a:endParaRPr/>
          </a:p>
        </p:txBody>
      </p:sp>
      <p:pic>
        <p:nvPicPr>
          <p:cNvPr descr="sz4.png" id="508" name="Google Shape;508;p34"/>
          <p:cNvPicPr preferRelativeResize="0"/>
          <p:nvPr/>
        </p:nvPicPr>
        <p:blipFill rotWithShape="1">
          <a:blip r:embed="rId3">
            <a:alphaModFix/>
          </a:blip>
          <a:srcRect b="0" l="0" r="0" t="0"/>
          <a:stretch/>
        </p:blipFill>
        <p:spPr>
          <a:xfrm>
            <a:off x="6749558" y="1280160"/>
            <a:ext cx="4264016" cy="4297679"/>
          </a:xfrm>
          <a:prstGeom prst="rect">
            <a:avLst/>
          </a:prstGeom>
          <a:noFill/>
          <a:ln>
            <a:noFill/>
          </a:ln>
        </p:spPr>
      </p:pic>
      <p:sp>
        <p:nvSpPr>
          <p:cNvPr id="509" name="Google Shape;509;p3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4(a–g). Spike waveforms and unit separation before and after wireless transmission.</a:t>
            </a:r>
            <a:endParaRPr/>
          </a:p>
        </p:txBody>
      </p:sp>
      <p:sp>
        <p:nvSpPr>
          <p:cNvPr id="510" name="Google Shape;510;p3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12" name="Google Shape;512;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recordings retain three-dimensional flight</a:t>
            </a:r>
            <a:endParaRPr/>
          </a:p>
        </p:txBody>
      </p:sp>
      <p:sp>
        <p:nvSpPr>
          <p:cNvPr id="519" name="Google Shape;519;p3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While Egyptian fruit bats flew between reward sites, Snyder and colleagues recorded from the hippocampus, a region that participates in spatial representation. A light implanted microdrive placed electrodes in dorsal CA1, a hippocampal subregion that histology confirmed after recording.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Bats spontaneously followed reproducible three-dimensional paths to human experimenters who offered fruit. The humans exchanged reward locations every 5 min while keeping their hands on fixed platforms. Wireless recording retained the bats' flights between sites without an external recording tether.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Repeated paths let neural activity be compared during similar movement toward different experimenters. That control removes one source of behavioral variability while the bats still choose their own flights. The flights were self-initiated, so each bat chose when to travel between sites.</a:t>
            </a:r>
            <a:endParaRPr/>
          </a:p>
        </p:txBody>
      </p:sp>
      <p:pic>
        <p:nvPicPr>
          <p:cNvPr descr="sny1.png" id="520" name="Google Shape;520;p35"/>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21" name="Google Shape;521;p3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22" name="Google Shape;522;p3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24" name="Google Shape;524;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Neural and positional clocks require synchronization</a:t>
            </a:r>
            <a:endParaRPr/>
          </a:p>
        </p:txBody>
      </p:sp>
      <p:sp>
        <p:nvSpPr>
          <p:cNvPr id="531" name="Google Shape;531;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shared time reference is needed before a recorded spike can be matched to an external event. Both bats and human experimenters carried tags, and a real-time location system estimated those positions from fixed room anchors, as Snyder and colleagues describe.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external timing signal kept the position samples, taken at 100 Hz, aligned with the neural data. Repeated trajectories were aligned to landing or take-off, so neuronal discharge could be compared at matching stages of flights toward different reward providers.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landing-aligned firing change can be distinguished from firing linked to a different location or route when the spatial and temporal measurements are precise enough. Synchronization fixes which measured position corresponds to each recorded spike.</a:t>
            </a:r>
            <a:endParaRPr/>
          </a:p>
        </p:txBody>
      </p:sp>
      <p:pic>
        <p:nvPicPr>
          <p:cNvPr descr="sny1.png" id="532" name="Google Shape;532;p36"/>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33" name="Google Shape;533;p3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34" name="Google Shape;534;p3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36" name="Google Shape;536;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Experimenter identity modulates hippocampal firing</a:t>
            </a:r>
            <a:endParaRPr/>
          </a:p>
        </p:txBody>
      </p:sp>
      <p:sp>
        <p:nvSpPr>
          <p:cNvPr id="543" name="Google Shape;543;p3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Hippocampal firing was compared by Snyder and colleagues across flights on closely matched paths toward two human experimenters. Exchanging the reward locations decoupled the identity of the reward provider from any one fixed reward site, and stable flight trajectories kept self-motion differences small.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About 48% of the analyzable neurons differed in discharge according to the experimenter at the landing site. A subset of cells showed both spatial selectivity and modulation tied to the experimenter. The effect often appeared at one particular take-off or landing location rather than uniformly across every site.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result supports a </a:t>
            </a:r>
            <a:r>
              <a:rPr b="1" i="0" lang="en-US" sz="1500" u="none" cap="none" strike="noStrike">
                <a:solidFill>
                  <a:srgbClr val="1E3B7B"/>
                </a:solidFill>
                <a:latin typeface="Arial"/>
                <a:ea typeface="Arial"/>
                <a:cs typeface="Arial"/>
                <a:sym typeface="Arial"/>
              </a:rPr>
              <a:t>neural representation</a:t>
            </a:r>
            <a:r>
              <a:rPr b="0" i="0" lang="en-US" sz="1500" u="none" cap="none" strike="noStrike">
                <a:solidFill>
                  <a:srgbClr val="000000"/>
                </a:solidFill>
                <a:latin typeface="Arial"/>
                <a:ea typeface="Arial"/>
                <a:cs typeface="Arial"/>
                <a:sym typeface="Arial"/>
              </a:rPr>
              <a:t> that combines the animal's position with features associated with an external individual. Hippocampal responses therefore carry information about another individual in addition to the animal's own location.</a:t>
            </a:r>
            <a:endParaRPr/>
          </a:p>
        </p:txBody>
      </p:sp>
      <p:pic>
        <p:nvPicPr>
          <p:cNvPr descr="sny1.png" id="544" name="Google Shape;544;p37"/>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45" name="Google Shape;545;p3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46" name="Google Shape;546;p3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48" name="Google Shape;548;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Matched behavior constrains experimenter-related coding</a:t>
            </a:r>
            <a:endParaRPr/>
          </a:p>
        </p:txBody>
      </p:sp>
      <p:sp>
        <p:nvSpPr>
          <p:cNvPr id="555" name="Google Shape;555;p3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experimenter-related response could arise indirectly from changes in the animal's movement, its reward or a nearby animal. Analyses were confined to comparable trajectories, and flights with another member of the same species at take-off or landing were removed.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Experimenter-dependent firing persisted in more than 40% of the analyzable units after that exclusion. In separate trials, a resting bat stayed at a stable position while humans repeated fixed paths, and about 20% of analyzable units carried information about human position.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comparisons argue against explanations based solely on the bat's own movement or on a nearby bat. They keep the external participant's influence in the measurement, and they tie that influence to observed </a:t>
            </a:r>
            <a:r>
              <a:rPr b="1" i="0" lang="en-US" sz="1500" u="none" cap="none" strike="noStrike">
                <a:solidFill>
                  <a:srgbClr val="1E3B7B"/>
                </a:solidFill>
                <a:latin typeface="Arial"/>
                <a:ea typeface="Arial"/>
                <a:cs typeface="Arial"/>
                <a:sym typeface="Arial"/>
              </a:rPr>
              <a:t>neural coding</a:t>
            </a:r>
            <a:r>
              <a:rPr b="0" i="0" lang="en-US" sz="1500" u="none" cap="none" strike="noStrike">
                <a:solidFill>
                  <a:srgbClr val="000000"/>
                </a:solidFill>
                <a:latin typeface="Arial"/>
                <a:ea typeface="Arial"/>
                <a:cs typeface="Arial"/>
                <a:sym typeface="Arial"/>
              </a:rPr>
              <a:t> under controlled behavioral comparisons.</a:t>
            </a:r>
            <a:endParaRPr/>
          </a:p>
        </p:txBody>
      </p:sp>
      <p:pic>
        <p:nvPicPr>
          <p:cNvPr descr="sny2.png" id="556" name="Google Shape;556;p38"/>
          <p:cNvPicPr preferRelativeResize="0"/>
          <p:nvPr/>
        </p:nvPicPr>
        <p:blipFill rotWithShape="1">
          <a:blip r:embed="rId3">
            <a:alphaModFix/>
          </a:blip>
          <a:srcRect b="0" l="0" r="0" t="0"/>
          <a:stretch/>
        </p:blipFill>
        <p:spPr>
          <a:xfrm>
            <a:off x="6138367" y="1280160"/>
            <a:ext cx="3840480" cy="3817264"/>
          </a:xfrm>
          <a:prstGeom prst="rect">
            <a:avLst/>
          </a:prstGeom>
          <a:noFill/>
          <a:ln>
            <a:noFill/>
          </a:ln>
        </p:spPr>
      </p:pic>
      <p:sp>
        <p:nvSpPr>
          <p:cNvPr id="557" name="Google Shape;557;p38"/>
          <p:cNvSpPr txBox="1"/>
          <p:nvPr/>
        </p:nvSpPr>
        <p:spPr>
          <a:xfrm>
            <a:off x="6138367" y="5188864"/>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2(a–h). Human traverses and hippocampal responses in resting bats.</a:t>
            </a:r>
            <a:endParaRPr/>
          </a:p>
        </p:txBody>
      </p:sp>
      <p:pic>
        <p:nvPicPr>
          <p:cNvPr descr="sny1d.png" id="558" name="Google Shape;558;p38"/>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59" name="Google Shape;559;p38"/>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60" name="Google Shape;560;p3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62" name="Google Shape;562;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Large ensembles can be recorded during aerial foraging</a:t>
            </a:r>
            <a:endParaRPr/>
          </a:p>
        </p:txBody>
      </p:sp>
      <p:sp>
        <p:nvSpPr>
          <p:cNvPr id="569" name="Google Shape;569;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neural ensemble</a:t>
            </a:r>
            <a:r>
              <a:rPr b="0" i="0" lang="en-US" sz="1500" u="none" cap="none" strike="noStrike">
                <a:solidFill>
                  <a:srgbClr val="000000"/>
                </a:solidFill>
                <a:latin typeface="Arial"/>
                <a:ea typeface="Arial"/>
                <a:cs typeface="Arial"/>
                <a:sym typeface="Arial"/>
              </a:rPr>
              <a:t> is a group of neurons whose joint activity can carry information. Wireless Neuropixels recordings from the dorsal hippocampus were made by Forli and colleagues in freely flying Egyptian fruit bats that foraged for rewards at their own pace.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system recorded single-unit activity together with local field potentials, which reflect nearby population currents. Flights alternated spontaneously with rest. Of the flight-active neurons, about 71% satisfied the study's test for spatial selectivity along the sampled routes.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Population recording reveals activity sequences that one electrode or one cell would miss. Freely chosen flights combined with repeated routes keep natural variability while still allowing consistent measurement. Sequences can be compared across repeated flights.</a:t>
            </a:r>
            <a:endParaRPr/>
          </a:p>
        </p:txBody>
      </p:sp>
      <p:pic>
        <p:nvPicPr>
          <p:cNvPr descr="for1.png" id="570" name="Google Shape;570;p39"/>
          <p:cNvPicPr preferRelativeResize="0"/>
          <p:nvPr/>
        </p:nvPicPr>
        <p:blipFill rotWithShape="1">
          <a:blip r:embed="rId3">
            <a:alphaModFix/>
          </a:blip>
          <a:srcRect b="0" l="0" r="0" t="0"/>
          <a:stretch/>
        </p:blipFill>
        <p:spPr>
          <a:xfrm>
            <a:off x="6138367" y="1280160"/>
            <a:ext cx="5486400" cy="3762690"/>
          </a:xfrm>
          <a:prstGeom prst="rect">
            <a:avLst/>
          </a:prstGeom>
          <a:noFill/>
          <a:ln>
            <a:noFill/>
          </a:ln>
        </p:spPr>
      </p:pic>
      <p:sp>
        <p:nvSpPr>
          <p:cNvPr id="571" name="Google Shape;571;p39"/>
          <p:cNvSpPr txBox="1"/>
          <p:nvPr/>
        </p:nvSpPr>
        <p:spPr>
          <a:xfrm>
            <a:off x="6138367" y="513429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1(a–j). Wireless Neuropixels recordings and flight-sequence replay.</a:t>
            </a:r>
            <a:endParaRPr/>
          </a:p>
        </p:txBody>
      </p:sp>
      <p:sp>
        <p:nvSpPr>
          <p:cNvPr id="572" name="Google Shape;572;p3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a:t>
            </a:r>
            <a:endParaRPr/>
          </a:p>
        </p:txBody>
      </p:sp>
      <p:sp>
        <p:nvSpPr>
          <p:cNvPr id="574" name="Google Shape;574;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Rest events replay compressed flight sequences</a:t>
            </a:r>
            <a:endParaRPr/>
          </a:p>
        </p:txBody>
      </p:sp>
      <p:sp>
        <p:nvSpPr>
          <p:cNvPr id="581" name="Google Shape;581;p4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Replay</a:t>
            </a:r>
            <a:r>
              <a:rPr b="0" i="0" lang="en-US" sz="1500" u="none" cap="none" strike="noStrike">
                <a:solidFill>
                  <a:srgbClr val="000000"/>
                </a:solidFill>
                <a:latin typeface="Arial"/>
                <a:ea typeface="Arial"/>
                <a:cs typeface="Arial"/>
                <a:sym typeface="Arial"/>
              </a:rPr>
              <a:t> means that an ordered neuronal sequence tied to an earlier path is reactivated. Forli and colleagues compared hippocampal </a:t>
            </a:r>
            <a:r>
              <a:rPr b="1" i="0" lang="en-US" sz="1500" u="none" cap="none" strike="noStrike">
                <a:solidFill>
                  <a:srgbClr val="1E3B7B"/>
                </a:solidFill>
                <a:latin typeface="Arial"/>
                <a:ea typeface="Arial"/>
                <a:cs typeface="Arial"/>
                <a:sym typeface="Arial"/>
              </a:rPr>
              <a:t>place-cell</a:t>
            </a:r>
            <a:r>
              <a:rPr b="0" i="0" lang="en-US" sz="1500" u="none" cap="none" strike="noStrike">
                <a:solidFill>
                  <a:srgbClr val="000000"/>
                </a:solidFill>
                <a:latin typeface="Arial"/>
                <a:ea typeface="Arial"/>
                <a:cs typeface="Arial"/>
                <a:sym typeface="Arial"/>
              </a:rPr>
              <a:t> activity during flight with brief population events that occurred while the bats rested. Place cells are neurons whose discharge depends on position. Their firing marks where the animal is along a route.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Detected replay events had a median duration near 358 ms and could preserve either the forward or the reverse order of flight-related activity. They coincided with sharp-wave ripples, brief coordinated field-potential events, and often represented paths remote from the bat's current resting location. Each event reflects an organized sequence.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Sequence comparisons and position decoding show structured reactivation rather than indiscriminate population firing. Because the reactivated paths can lie far from the resting spot, the rest-time events carry route information about places other than where the bat currently sits.</a:t>
            </a:r>
            <a:endParaRPr/>
          </a:p>
        </p:txBody>
      </p:sp>
      <p:pic>
        <p:nvPicPr>
          <p:cNvPr descr="for2.png" id="582" name="Google Shape;582;p40"/>
          <p:cNvPicPr preferRelativeResize="0"/>
          <p:nvPr/>
        </p:nvPicPr>
        <p:blipFill rotWithShape="1">
          <a:blip r:embed="rId3">
            <a:alphaModFix/>
          </a:blip>
          <a:srcRect b="0" l="0" r="0" t="0"/>
          <a:stretch/>
        </p:blipFill>
        <p:spPr>
          <a:xfrm>
            <a:off x="6138367" y="1280160"/>
            <a:ext cx="3840480" cy="3101029"/>
          </a:xfrm>
          <a:prstGeom prst="rect">
            <a:avLst/>
          </a:prstGeom>
          <a:noFill/>
          <a:ln>
            <a:noFill/>
          </a:ln>
        </p:spPr>
      </p:pic>
      <p:sp>
        <p:nvSpPr>
          <p:cNvPr id="583" name="Google Shape;583;p40"/>
          <p:cNvSpPr txBox="1"/>
          <p:nvPr/>
        </p:nvSpPr>
        <p:spPr>
          <a:xfrm>
            <a:off x="6138367" y="447262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2(a–i). Replay location, timing and scaling across flight trajectories.</a:t>
            </a:r>
            <a:endParaRPr/>
          </a:p>
        </p:txBody>
      </p:sp>
      <p:pic>
        <p:nvPicPr>
          <p:cNvPr descr="sny1d.png" id="584" name="Google Shape;584;p40"/>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85" name="Google Shape;585;p40"/>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86" name="Google Shape;586;p4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588" name="Google Shape;588;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Flight-related representations track a motor rhythm</a:t>
            </a:r>
            <a:endParaRPr/>
          </a:p>
        </p:txBody>
      </p:sp>
      <p:sp>
        <p:nvSpPr>
          <p:cNvPr id="595" name="Google Shape;595;p4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Forli and colleagues tracked how hippocampal population representations shifted during ongoing flight. The recordings contained no sustained locomotor theta oscillations, the rhythmic field-potential pattern classically linked to rodent spatial processing.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Accelerometers, by contrast, picked up a prominent wing-beat rhythm near 8 Hz. Many place cells fired preferentially at particular wing-beat phases, and the decoded position swept ahead of the animal's current position in a cyclical manner. These representational sweeps occurred even though the measured field potential lacked continuous theta.</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This </a:t>
            </a:r>
            <a:r>
              <a:rPr b="1" i="0" lang="en-US" sz="1500" u="none" cap="none" strike="noStrike">
                <a:solidFill>
                  <a:srgbClr val="1E3B7B"/>
                </a:solidFill>
                <a:latin typeface="Arial"/>
                <a:ea typeface="Arial"/>
                <a:cs typeface="Arial"/>
                <a:sym typeface="Arial"/>
              </a:rPr>
              <a:t>coupling</a:t>
            </a:r>
            <a:r>
              <a:rPr b="0" i="0" lang="en-US" sz="1500" u="none" cap="none" strike="noStrike">
                <a:solidFill>
                  <a:srgbClr val="000000"/>
                </a:solidFill>
                <a:latin typeface="Arial"/>
                <a:ea typeface="Arial"/>
                <a:cs typeface="Arial"/>
                <a:sym typeface="Arial"/>
              </a:rPr>
              <a:t> links a species-specific motor rhythm, the wing beat, to the timing of population coding in the hippocampus. The observation therefore connects the animal's own movement to the structure of its spatial representation during flight.</a:t>
            </a:r>
            <a:endParaRPr/>
          </a:p>
        </p:txBody>
      </p:sp>
      <p:pic>
        <p:nvPicPr>
          <p:cNvPr descr="for3.png" id="596" name="Google Shape;596;p41"/>
          <p:cNvPicPr preferRelativeResize="0"/>
          <p:nvPr/>
        </p:nvPicPr>
        <p:blipFill rotWithShape="1">
          <a:blip r:embed="rId3">
            <a:alphaModFix/>
          </a:blip>
          <a:srcRect b="0" l="0" r="0" t="0"/>
          <a:stretch/>
        </p:blipFill>
        <p:spPr>
          <a:xfrm>
            <a:off x="6138367" y="1280160"/>
            <a:ext cx="3840480" cy="2529973"/>
          </a:xfrm>
          <a:prstGeom prst="rect">
            <a:avLst/>
          </a:prstGeom>
          <a:noFill/>
          <a:ln>
            <a:noFill/>
          </a:ln>
        </p:spPr>
      </p:pic>
      <p:sp>
        <p:nvSpPr>
          <p:cNvPr id="597" name="Google Shape;597;p41"/>
          <p:cNvSpPr txBox="1"/>
          <p:nvPr/>
        </p:nvSpPr>
        <p:spPr>
          <a:xfrm>
            <a:off x="6138367" y="3901573"/>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3(a–k). Representational sweeps and wing-beat phase during flight.</a:t>
            </a:r>
            <a:endParaRPr/>
          </a:p>
        </p:txBody>
      </p:sp>
      <p:pic>
        <p:nvPicPr>
          <p:cNvPr descr="sny1d.png" id="598" name="Google Shape;598;p41"/>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99" name="Google Shape;599;p41"/>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600" name="Google Shape;600;p4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602" name="Google Shape;60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An internal implant can receive wireless optical power</a:t>
            </a:r>
            <a:endParaRPr/>
          </a:p>
        </p:txBody>
      </p:sp>
      <p:sp>
        <p:nvSpPr>
          <p:cNvPr id="609" name="Google Shape;60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For mice, Montgomery and colleagues designed light-delivery implants that sit fully inside the body. A </a:t>
            </a:r>
            <a:r>
              <a:rPr b="1" i="0" lang="en-US" sz="1500" u="none" cap="none" strike="noStrike">
                <a:solidFill>
                  <a:srgbClr val="1E3B7B"/>
                </a:solidFill>
                <a:latin typeface="Arial"/>
                <a:ea typeface="Arial"/>
                <a:cs typeface="Arial"/>
                <a:sym typeface="Arial"/>
              </a:rPr>
              <a:t>micro-LED</a:t>
            </a:r>
            <a:r>
              <a:rPr b="0" i="0" lang="en-US" sz="1500" u="none" cap="none" strike="noStrike">
                <a:solidFill>
                  <a:srgbClr val="000000"/>
                </a:solidFill>
                <a:latin typeface="Arial"/>
                <a:ea typeface="Arial"/>
                <a:cs typeface="Arial"/>
                <a:sym typeface="Arial"/>
              </a:rPr>
              <a:t> is a miniature light-emitting diode that converts electrical power into light near the targeted tissue. A receiving coil and local electronics drew power from an external radio-frequency apparatus.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lightest implant weighed roughly 20 mg and filled about 10 mm³. An aluminum resonant cavity operating near 1.5 GHz concentrated electromagnetic energy in the mouse, powering a blue LED with no external fiber or battery attached to the animal.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Miniaturization allowed implantation beneath the skin and access to central or peripheral targets. The radio-frequency geometry was optimized for mice in the tested arena, so the power transfer was matched to that body size and that setup. The implant then needs no external fiber to deliver light.</a:t>
            </a:r>
            <a:endParaRPr/>
          </a:p>
        </p:txBody>
      </p:sp>
      <p:pic>
        <p:nvPicPr>
          <p:cNvPr descr="mon1.png" id="610" name="Google Shape;610;p42"/>
          <p:cNvPicPr preferRelativeResize="0"/>
          <p:nvPr/>
        </p:nvPicPr>
        <p:blipFill rotWithShape="1">
          <a:blip r:embed="rId3">
            <a:alphaModFix/>
          </a:blip>
          <a:srcRect b="0" l="0" r="0" t="0"/>
          <a:stretch/>
        </p:blipFill>
        <p:spPr>
          <a:xfrm>
            <a:off x="6651769" y="1280160"/>
            <a:ext cx="4459594" cy="4297679"/>
          </a:xfrm>
          <a:prstGeom prst="rect">
            <a:avLst/>
          </a:prstGeom>
          <a:noFill/>
          <a:ln>
            <a:noFill/>
          </a:ln>
        </p:spPr>
      </p:pic>
      <p:sp>
        <p:nvSpPr>
          <p:cNvPr id="611" name="Google Shape;611;p4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1(a–c). Wireless-power preparation and miniaturized implanted light sources.</a:t>
            </a:r>
            <a:endParaRPr/>
          </a:p>
        </p:txBody>
      </p:sp>
      <p:sp>
        <p:nvSpPr>
          <p:cNvPr id="612" name="Google Shape;612;p4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14" name="Google Shape;61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Position, pulse duty and heating constrain stimulation</a:t>
            </a:r>
            <a:endParaRPr/>
          </a:p>
        </p:txBody>
      </p:sp>
      <p:sp>
        <p:nvSpPr>
          <p:cNvPr id="621" name="Google Shape;621;p4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wireless implant must deliver enough light while keeping unwanted heating low. Montgomery and colleagues calibrated the LED's emitted power, pulse fidelity and position-dependent power delivery, using controlled electrical tests and measurements in a mouse-sized saline preparation.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Pulses as brief as 100 µs were produced by the device. At a fixed cavity input, the estimated light power density across the tested surface ranged from about 9.2 to 25.8 mW/mm². With 20 mW/mm² illumination, brain-adjacent tissue warmed by less than 1 °C at duty cycles up to 20%.</a:t>
            </a:r>
            <a:endParaRPr/>
          </a:p>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Duty cycle</a:t>
            </a:r>
            <a:r>
              <a:rPr b="0" i="0" lang="en-US" sz="1500" u="none" cap="none" strike="noStrike">
                <a:solidFill>
                  <a:srgbClr val="000000"/>
                </a:solidFill>
                <a:latin typeface="Arial"/>
                <a:ea typeface="Arial"/>
                <a:cs typeface="Arial"/>
                <a:sym typeface="Arial"/>
              </a:rPr>
              <a:t> measures the share of time during which stimulation is switched on. Higher duty cycles increased heating, with rises above 1 °C near the 40% condition tested. Calibration therefore sets both the light dose and the thermal load for a given implant design. Stimulation settings thus trade light dose against heating.</a:t>
            </a:r>
            <a:endParaRPr/>
          </a:p>
        </p:txBody>
      </p:sp>
      <p:pic>
        <p:nvPicPr>
          <p:cNvPr descr="mon2.png" id="622" name="Google Shape;622;p43"/>
          <p:cNvPicPr preferRelativeResize="0"/>
          <p:nvPr/>
        </p:nvPicPr>
        <p:blipFill rotWithShape="1">
          <a:blip r:embed="rId3">
            <a:alphaModFix/>
          </a:blip>
          <a:srcRect b="0" l="0" r="0" t="0"/>
          <a:stretch/>
        </p:blipFill>
        <p:spPr>
          <a:xfrm>
            <a:off x="7252226" y="1280160"/>
            <a:ext cx="3258680" cy="4297679"/>
          </a:xfrm>
          <a:prstGeom prst="rect">
            <a:avLst/>
          </a:prstGeom>
          <a:noFill/>
          <a:ln>
            <a:noFill/>
          </a:ln>
        </p:spPr>
      </p:pic>
      <p:sp>
        <p:nvSpPr>
          <p:cNvPr id="623" name="Google Shape;623;p4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2(a–e). LED power, pulse fidelity, position dependence and tissue heating.</a:t>
            </a:r>
            <a:endParaRPr/>
          </a:p>
        </p:txBody>
      </p:sp>
      <p:sp>
        <p:nvSpPr>
          <p:cNvPr id="624" name="Google Shape;624;p4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26" name="Google Shape;62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cortical stimulation changes turning behavior</a:t>
            </a:r>
            <a:endParaRPr/>
          </a:p>
        </p:txBody>
      </p:sp>
      <p:sp>
        <p:nvSpPr>
          <p:cNvPr id="633" name="Google Shape;633;p4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Montgomery and colleagues implanted a wireless LED near the right premotor cortex, a cortical region that takes part in movement control. ChR2-expressing mice and implanted wild-type controls were tested in the same powered arena while video quantified their movement.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During 20 s stimulation epochs, 5 ms pulses at 20 Hz increased circling from about 0.40 to 2.5 turns per minute in the ChR2 group. Mean normalized locomotor speed rose by about 40%. Wild-type controls showed none of the light-dependent movement changes.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genotype comparison links wireless stimulation to an </a:t>
            </a:r>
            <a:r>
              <a:rPr b="1" i="0" lang="en-US" sz="1500" u="none" cap="none" strike="noStrike">
                <a:solidFill>
                  <a:srgbClr val="1E3B7B"/>
                </a:solidFill>
                <a:latin typeface="Arial"/>
                <a:ea typeface="Arial"/>
                <a:cs typeface="Arial"/>
                <a:sym typeface="Arial"/>
              </a:rPr>
              <a:t>opsin-dependent behavioral effect</a:t>
            </a:r>
            <a:r>
              <a:rPr b="0" i="0" lang="en-US" sz="1500" u="none" cap="none" strike="noStrike">
                <a:solidFill>
                  <a:srgbClr val="000000"/>
                </a:solidFill>
                <a:latin typeface="Arial"/>
                <a:ea typeface="Arial"/>
                <a:cs typeface="Arial"/>
                <a:sym typeface="Arial"/>
              </a:rPr>
              <a:t>. Persistent circling after stimulation shows that the activated population can drive a turning behavior when light is delivered through an untethered implant.</a:t>
            </a:r>
            <a:endParaRPr/>
          </a:p>
        </p:txBody>
      </p:sp>
      <p:pic>
        <p:nvPicPr>
          <p:cNvPr descr="mon3.png" id="634" name="Google Shape;634;p44"/>
          <p:cNvPicPr preferRelativeResize="0"/>
          <p:nvPr/>
        </p:nvPicPr>
        <p:blipFill rotWithShape="1">
          <a:blip r:embed="rId3">
            <a:alphaModFix/>
          </a:blip>
          <a:srcRect b="0" l="0" r="0" t="0"/>
          <a:stretch/>
        </p:blipFill>
        <p:spPr>
          <a:xfrm>
            <a:off x="6138367" y="1280160"/>
            <a:ext cx="5486400" cy="3063692"/>
          </a:xfrm>
          <a:prstGeom prst="rect">
            <a:avLst/>
          </a:prstGeom>
          <a:noFill/>
          <a:ln>
            <a:noFill/>
          </a:ln>
        </p:spPr>
      </p:pic>
      <p:sp>
        <p:nvSpPr>
          <p:cNvPr id="635" name="Google Shape;635;p44"/>
          <p:cNvSpPr txBox="1"/>
          <p:nvPr/>
        </p:nvSpPr>
        <p:spPr>
          <a:xfrm>
            <a:off x="6138367" y="443529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3(a–f). Implanted premotor-cortex stimulation and circling behavior.</a:t>
            </a:r>
            <a:endParaRPr/>
          </a:p>
        </p:txBody>
      </p:sp>
      <p:sp>
        <p:nvSpPr>
          <p:cNvPr id="636" name="Google Shape;636;p4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38" name="Google Shape;63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Causal claims need matched behavioral controls</a:t>
            </a:r>
            <a:endParaRPr/>
          </a:p>
        </p:txBody>
      </p:sp>
      <p:sp>
        <p:nvSpPr>
          <p:cNvPr id="645" name="Google Shape;645;p4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causal neural test links a specified intervention to a specified behavioral effect, and it controls for competing explanations. Montgomery and colleagues placed wireless LEDs near paw sensory endings that express ChR2 in nociceptors, neurons that detect potentially damaging stimulation.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With 10 ms pulses at 10 Hz, mice spent less time in the powered compartment during a 30 min stimulation period. Controls with the fluorescent tag alone showed no such reduction. In a complementary necessity test, Antinucci and colleagues reduced hunting after pretectal ablation, while swimming, visual escape and optomotor responses were preserved.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Activation produces an opsin-dependent aversive consequence under these conditions, and selective ablation shows a contribution to normal hunting. A behavioral claim is strongest when perturbation efficacy, anatomical targeting and preserved comparison behaviors are confirmed together.</a:t>
            </a:r>
            <a:endParaRPr/>
          </a:p>
        </p:txBody>
      </p:sp>
      <p:pic>
        <p:nvPicPr>
          <p:cNvPr descr="mon5.png" id="646" name="Google Shape;646;p45"/>
          <p:cNvPicPr preferRelativeResize="0"/>
          <p:nvPr/>
        </p:nvPicPr>
        <p:blipFill rotWithShape="1">
          <a:blip r:embed="rId3">
            <a:alphaModFix/>
          </a:blip>
          <a:srcRect b="0" l="0" r="0" t="0"/>
          <a:stretch/>
        </p:blipFill>
        <p:spPr>
          <a:xfrm>
            <a:off x="6138367" y="1280160"/>
            <a:ext cx="3840480" cy="3690401"/>
          </a:xfrm>
          <a:prstGeom prst="rect">
            <a:avLst/>
          </a:prstGeom>
          <a:noFill/>
          <a:ln>
            <a:noFill/>
          </a:ln>
        </p:spPr>
      </p:pic>
      <p:sp>
        <p:nvSpPr>
          <p:cNvPr id="647" name="Google Shape;647;p45"/>
          <p:cNvSpPr txBox="1"/>
          <p:nvPr/>
        </p:nvSpPr>
        <p:spPr>
          <a:xfrm>
            <a:off x="6138367" y="506200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5(a–g). Peripheral implant, sensory-fiber expression and place avoidance.</a:t>
            </a:r>
            <a:endParaRPr/>
          </a:p>
        </p:txBody>
      </p:sp>
      <p:pic>
        <p:nvPicPr>
          <p:cNvPr descr="ant6.png" id="648" name="Google Shape;648;p45"/>
          <p:cNvPicPr preferRelativeResize="0"/>
          <p:nvPr/>
        </p:nvPicPr>
        <p:blipFill rotWithShape="1">
          <a:blip r:embed="rId4">
            <a:alphaModFix/>
          </a:blip>
          <a:srcRect b="0" l="0" r="0" t="0"/>
          <a:stretch/>
        </p:blipFill>
        <p:spPr>
          <a:xfrm>
            <a:off x="10161727" y="2148840"/>
            <a:ext cx="1463039" cy="2366526"/>
          </a:xfrm>
          <a:prstGeom prst="rect">
            <a:avLst/>
          </a:prstGeom>
          <a:noFill/>
          <a:ln>
            <a:noFill/>
          </a:ln>
        </p:spPr>
      </p:pic>
      <p:sp>
        <p:nvSpPr>
          <p:cNvPr id="649" name="Google Shape;649;p45"/>
          <p:cNvSpPr txBox="1"/>
          <p:nvPr/>
        </p:nvSpPr>
        <p:spPr>
          <a:xfrm>
            <a:off x="10161727" y="4588518"/>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650" name="Google Shape;650;p4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 Antinucci et al. (2019)</a:t>
            </a:r>
            <a:endParaRPr/>
          </a:p>
        </p:txBody>
      </p:sp>
      <p:sp>
        <p:nvSpPr>
          <p:cNvPr id="652" name="Google Shape;65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7" name="Shape 657"/>
        <p:cNvGrpSpPr/>
        <p:nvPr/>
      </p:nvGrpSpPr>
      <p:grpSpPr>
        <a:xfrm>
          <a:off x="0" y="0"/>
          <a:ext cx="0" cy="0"/>
          <a:chOff x="0" y="0"/>
          <a:chExt cx="0" cy="0"/>
        </a:xfrm>
      </p:grpSpPr>
      <p:sp>
        <p:nvSpPr>
          <p:cNvPr id="658" name="Google Shape;65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Key takeaways</a:t>
            </a:r>
            <a:endParaRPr/>
          </a:p>
        </p:txBody>
      </p:sp>
      <p:sp>
        <p:nvSpPr>
          <p:cNvPr id="659" name="Google Shape;659;p46"/>
          <p:cNvSpPr/>
          <p:nvPr/>
        </p:nvSpPr>
        <p:spPr>
          <a:xfrm>
            <a:off x="566928" y="12344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Channel mechanism:</a:t>
            </a:r>
            <a:r>
              <a:rPr b="0" i="0" lang="en-US" sz="1500" u="none" cap="none" strike="noStrike">
                <a:solidFill>
                  <a:srgbClr val="000000"/>
                </a:solidFill>
                <a:latin typeface="Arial"/>
                <a:ea typeface="Arial"/>
                <a:cs typeface="Arial"/>
                <a:sym typeface="Arial"/>
              </a:rPr>
              <a:t> Light-gated cation and anion channels alter conductance directly. The ionic gradient and membrane voltage determine the electrical consequence; actuator expression alone does not establish excitation or inhibition.</a:t>
            </a:r>
            <a:endParaRPr/>
          </a:p>
        </p:txBody>
      </p:sp>
      <p:sp>
        <p:nvSpPr>
          <p:cNvPr id="661" name="Google Shape;661;p46"/>
          <p:cNvSpPr/>
          <p:nvPr/>
        </p:nvSpPr>
        <p:spPr>
          <a:xfrm>
            <a:off x="6233007" y="12344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Sufficiency and necessity:</a:t>
            </a:r>
            <a:r>
              <a:rPr b="0" i="0" lang="en-US" sz="1400" u="none" cap="none" strike="noStrike">
                <a:solidFill>
                  <a:srgbClr val="000000"/>
                </a:solidFill>
                <a:latin typeface="Arial"/>
                <a:ea typeface="Arial"/>
                <a:cs typeface="Arial"/>
                <a:sym typeface="Arial"/>
              </a:rPr>
              <a:t> Optical activation tests whether a targeted population can recruit an action. Ablation or verified silencing tests its contribution to normal performance. Neither intervention automatically identifies the complete natural circuit.</a:t>
            </a:r>
            <a:endParaRPr/>
          </a:p>
        </p:txBody>
      </p:sp>
      <p:sp>
        <p:nvSpPr>
          <p:cNvPr id="663" name="Google Shape;663;p46"/>
          <p:cNvSpPr/>
          <p:nvPr/>
        </p:nvSpPr>
        <p:spPr>
          <a:xfrm>
            <a:off x="566928" y="29870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State dependence:</a:t>
            </a:r>
            <a:r>
              <a:rPr b="0" i="0" lang="en-US" sz="1500" u="none" cap="none" strike="noStrike">
                <a:solidFill>
                  <a:srgbClr val="000000"/>
                </a:solidFill>
                <a:latin typeface="Arial"/>
                <a:ea typeface="Arial"/>
                <a:cs typeface="Arial"/>
                <a:sym typeface="Arial"/>
              </a:rPr>
              <a:t> The behavioral effect of neuronal activation depends on stimulation strength, preceding behavior and social history. Identical optical input need not produce an invariant action.</a:t>
            </a:r>
            <a:endParaRPr/>
          </a:p>
        </p:txBody>
      </p:sp>
      <p:sp>
        <p:nvSpPr>
          <p:cNvPr id="665" name="Google Shape;665;p46"/>
          <p:cNvSpPr/>
          <p:nvPr/>
        </p:nvSpPr>
        <p:spPr>
          <a:xfrm>
            <a:off x="6233007" y="29870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Measurement validity:</a:t>
            </a:r>
            <a:r>
              <a:rPr b="0" i="0" lang="en-US" sz="1500" u="none" cap="none" strike="noStrike">
                <a:solidFill>
                  <a:srgbClr val="000000"/>
                </a:solidFill>
                <a:latin typeface="Arial"/>
                <a:ea typeface="Arial"/>
                <a:cs typeface="Arial"/>
                <a:sym typeface="Arial"/>
              </a:rPr>
              <a:t> Fluorescence requires motion and reference-channel controls. Wireless electrophysiology requires signal-fidelity and timing validation. Neither measurement is a direct causal test of behavioral function.</a:t>
            </a:r>
            <a:endParaRPr/>
          </a:p>
        </p:txBody>
      </p:sp>
      <p:sp>
        <p:nvSpPr>
          <p:cNvPr id="667" name="Google Shape;667;p46"/>
          <p:cNvSpPr/>
          <p:nvPr/>
        </p:nvSpPr>
        <p:spPr>
          <a:xfrm>
            <a:off x="566928" y="47396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Comparative evidence:</a:t>
            </a:r>
            <a:r>
              <a:rPr b="0" i="0" lang="en-US" sz="1400" u="none" cap="none" strike="noStrike">
                <a:solidFill>
                  <a:srgbClr val="000000"/>
                </a:solidFill>
                <a:latin typeface="Arial"/>
                <a:ea typeface="Arial"/>
                <a:cs typeface="Arial"/>
                <a:sym typeface="Arial"/>
              </a:rPr>
              <a:t> Annelid startle, zebrafish hunting, fly courtship and bat flight link distinct circuit arrangements to species-specific behavior. Connectomes and activity patterns constrain mechanisms without proving every functional connection.</a:t>
            </a:r>
            <a:endParaRPr/>
          </a:p>
        </p:txBody>
      </p:sp>
      <p:sp>
        <p:nvSpPr>
          <p:cNvPr id="669" name="Google Shape;669;p46"/>
          <p:cNvSpPr/>
          <p:nvPr/>
        </p:nvSpPr>
        <p:spPr>
          <a:xfrm>
            <a:off x="6233007" y="47396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Behavioral controls:</a:t>
            </a:r>
            <a:r>
              <a:rPr b="0" i="0" lang="en-US" sz="1400" u="none" cap="none" strike="noStrike">
                <a:solidFill>
                  <a:srgbClr val="000000"/>
                </a:solidFill>
                <a:latin typeface="Arial"/>
                <a:ea typeface="Arial"/>
                <a:cs typeface="Arial"/>
                <a:sym typeface="Arial"/>
              </a:rPr>
              <a:t> Light-only and expression controls, anatomical verification, thermal calibration and preserved comparison behaviors limit alternative explanations. Wireless access expands behavior without removing preparation-specific constraints.</a:t>
            </a:r>
            <a:endParaRPr/>
          </a:p>
        </p:txBody>
      </p:sp>
      <p:sp>
        <p:nvSpPr>
          <p:cNvPr id="671" name="Google Shape;671;p4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 Govorunova et al. (2015); Cande et al. (2018); Antinucci et al. (2019); Montgomery et al. (2015)</a:t>
            </a:r>
            <a:endParaRPr/>
          </a:p>
        </p:txBody>
      </p:sp>
      <p:sp>
        <p:nvSpPr>
          <p:cNvPr id="673" name="Google Shape;67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08" name="Google Shape;60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Miniature LEDs receive power wirelessly</a:t>
            </a:r>
            <a:endParaRPr/>
          </a:p>
        </p:txBody>
      </p:sp>
      <p:sp>
        <p:nvSpPr>
          <p:cNvPr id="609" name="Google Shape;60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Montgomery and colleagues built light-delivery implants for mice that sit entirely inside the body. A receiving coil and local electronics drew power from an external radio-frequency apparatus, and a micro-LED converted that power into light near the target tissue. The implant is fully internal, so no fiber leaves the skin.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lightest implant weighed roughly 20 mg and filled about 10 mm³. An aluminum resonant cavity operating near 1.5 GHz concentrated electromagnetic energy in the mouse, which powered a blue LED with no external fiber or battery. The cavity delivered power to the implant from outside the animal.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Miniaturization allowed implantation beneath the skin and access to central or peripheral targets. The radio-frequency geometry was optimized for mice in the tested arena, so the power transfer was matched to that body size and that setup. Access to peripheral targets is therefore possible without a tether.</a:t>
            </a:r>
            <a:endParaRPr/>
          </a:p>
        </p:txBody>
      </p:sp>
      <p:pic>
        <p:nvPicPr>
          <p:cNvPr descr="mon1.png" id="610" name="Google Shape;610;p42"/>
          <p:cNvPicPr preferRelativeResize="0"/>
          <p:nvPr/>
        </p:nvPicPr>
        <p:blipFill rotWithShape="1">
          <a:blip r:embed="rId2">
            <a:alphaModFix/>
          </a:blip>
          <a:srcRect b="0" l="0" r="0" t="0"/>
          <a:stretch/>
        </p:blipFill>
        <p:spPr>
          <a:xfrm>
            <a:off x="6651769" y="1280160"/>
            <a:ext cx="4459594" cy="4297679"/>
          </a:xfrm>
          <a:prstGeom prst="rect">
            <a:avLst/>
          </a:prstGeom>
          <a:noFill/>
          <a:ln>
            <a:noFill/>
          </a:ln>
        </p:spPr>
      </p:pic>
      <p:sp>
        <p:nvSpPr>
          <p:cNvPr id="611" name="Google Shape;611;p4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1(a–c). Wireless-power preparation and miniaturized implanted light sources.</a:t>
            </a:r>
            <a:endParaRPr/>
          </a:p>
        </p:txBody>
      </p:sp>
      <p:sp>
        <p:nvSpPr>
          <p:cNvPr id="612" name="Google Shape;612;p4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14" name="Google Shape;614;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68" name="Google Shape;568;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Ensembles record freely flying foraging bats</a:t>
            </a:r>
            <a:endParaRPr/>
          </a:p>
        </p:txBody>
      </p:sp>
      <p:sp>
        <p:nvSpPr>
          <p:cNvPr id="569" name="Google Shape;569;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neural ensemble</a:t>
            </a:r>
            <a:r>
              <a:rPr b="0" i="0" lang="en-US" sz="1500" u="none" cap="none" strike="noStrike">
                <a:solidFill>
                  <a:srgbClr val="000000"/>
                </a:solidFill>
                <a:latin typeface="Arial"/>
                <a:ea typeface="Arial"/>
                <a:cs typeface="Arial"/>
                <a:sym typeface="Arial"/>
              </a:rPr>
              <a:t> is a group of neurons whose joint activity can carry information. Wireless Neuropixels recordings from the dorsal hippocampus were made by Forli and colleagues in freely flying Egyptian fruit bats. The bats chose when to fly and foraged for rewards at their own pace.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system recorded single-unit activity together with local field potentials, which reflect nearby population currents. Flights alternated spontaneously with rest, and about 71% of flight-active neurons showed spatial selectivity across the sampled trajectories. Both single units and population signals were therefore available for each flight.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Population recording reveals activity sequences that one electrode or one cell would miss. Freely chosen flights combined with repeated routes keep natural variability while still allowing consistent measurement. Sequences can be compared across repeated flights, which is the value of the design.</a:t>
            </a:r>
            <a:endParaRPr/>
          </a:p>
        </p:txBody>
      </p:sp>
      <p:pic>
        <p:nvPicPr>
          <p:cNvPr descr="for1.png" id="570" name="Google Shape;570;p39"/>
          <p:cNvPicPr preferRelativeResize="0"/>
          <p:nvPr/>
        </p:nvPicPr>
        <p:blipFill rotWithShape="1">
          <a:blip r:embed="rId2">
            <a:alphaModFix/>
          </a:blip>
          <a:srcRect b="0" l="0" r="0" t="0"/>
          <a:stretch/>
        </p:blipFill>
        <p:spPr>
          <a:xfrm>
            <a:off x="6138367" y="1280160"/>
            <a:ext cx="5486400" cy="3762690"/>
          </a:xfrm>
          <a:prstGeom prst="rect">
            <a:avLst/>
          </a:prstGeom>
          <a:noFill/>
          <a:ln>
            <a:noFill/>
          </a:ln>
        </p:spPr>
      </p:pic>
      <p:sp>
        <p:nvSpPr>
          <p:cNvPr id="571" name="Google Shape;571;p39"/>
          <p:cNvSpPr txBox="1"/>
          <p:nvPr/>
        </p:nvSpPr>
        <p:spPr>
          <a:xfrm>
            <a:off x="6138367" y="513429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1(a–j). Wireless Neuropixels recordings and flight-sequence replay.</a:t>
            </a:r>
            <a:endParaRPr/>
          </a:p>
        </p:txBody>
      </p:sp>
      <p:sp>
        <p:nvSpPr>
          <p:cNvPr id="572" name="Google Shape;572;p3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a:t>
            </a:r>
            <a:endParaRPr/>
          </a:p>
        </p:txBody>
      </p:sp>
      <p:sp>
        <p:nvSpPr>
          <p:cNvPr id="574" name="Google Shape;574;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30" name="Google Shape;53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Synchronized clocks link spikes to landings</a:t>
            </a:r>
            <a:endParaRPr/>
          </a:p>
        </p:txBody>
      </p:sp>
      <p:sp>
        <p:nvSpPr>
          <p:cNvPr id="531" name="Google Shape;531;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Snyder and colleagues tracked bats and human experimenters with a real-time location system that estimates tag positions from fixed room anchors. Relating a spike to a landing requires that the positional and neural clocks share one reference.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Positions were sampled at 100 Hz and synchronized to the neural data through an external timing signal. Repeated trajectories were aligned to landing or take-off, so discharge could be compared at matching flight stages toward different reward providers. Each aligned trajectory therefore lines up with the same event in every flight.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landing-aligned change in firing can be distinguished from firing linked to a different location or route when the spatial and temporal measurements are precise enough. Synchronization fixes which measured position corresponds to each recorded spike. Matched timing keeps each flight's events aligned across trials.</a:t>
            </a:r>
            <a:endParaRPr/>
          </a:p>
        </p:txBody>
      </p:sp>
      <p:pic>
        <p:nvPicPr>
          <p:cNvPr descr="sny1.png" id="532" name="Google Shape;532;p36"/>
          <p:cNvPicPr preferRelativeResize="0"/>
          <p:nvPr/>
        </p:nvPicPr>
        <p:blipFill rotWithShape="1">
          <a:blip r:embed="rId2">
            <a:alphaModFix/>
          </a:blip>
          <a:srcRect b="0" l="0" r="0" t="0"/>
          <a:stretch/>
        </p:blipFill>
        <p:spPr>
          <a:xfrm>
            <a:off x="6400476" y="1280160"/>
            <a:ext cx="4962180" cy="4297679"/>
          </a:xfrm>
          <a:prstGeom prst="rect">
            <a:avLst/>
          </a:prstGeom>
          <a:noFill/>
          <a:ln>
            <a:noFill/>
          </a:ln>
        </p:spPr>
      </p:pic>
      <p:sp>
        <p:nvSpPr>
          <p:cNvPr id="533" name="Google Shape;533;p3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34" name="Google Shape;534;p3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36" name="Google Shape;536;p3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94" name="Google Shape;49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Filters set which spikes can be measured</a:t>
            </a:r>
            <a:endParaRPr/>
          </a:p>
        </p:txBody>
      </p:sp>
      <p:sp>
        <p:nvSpPr>
          <p:cNvPr id="495" name="Google Shape;495;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 the Szuts design, electrode voltages passed a filter between 80 and 2,300 Hz, and each channel was sampled 20,000 times per second. Sampling rate states how often a signal is measured, while bandwidth states which frequency range the filter keeps. Both settings determine what the recording can show.</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simultaneous sample-and-hold stage captured the channel voltages before time-division multiplexing placed successive channels onto one shared output. Synchronization markers identified each channel scan, so the original signals could be rebuilt after radio transmission. Multiplexing therefore sends the channels in turn through one radio link.</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Frequency components removed by the filter stay absent however fast the sampling is. The configuration suited extracellular spike analysis, so hardware settings decide which neural events a behavioral experiment can relate to movement, sensation or task timing.</a:t>
            </a:r>
            <a:endParaRPr/>
          </a:p>
        </p:txBody>
      </p:sp>
      <p:pic>
        <p:nvPicPr>
          <p:cNvPr descr="sz2.png" id="496" name="Google Shape;496;p33"/>
          <p:cNvPicPr preferRelativeResize="0"/>
          <p:nvPr/>
        </p:nvPicPr>
        <p:blipFill rotWithShape="1">
          <a:blip r:embed="rId2">
            <a:alphaModFix/>
          </a:blip>
          <a:srcRect b="0" l="0" r="0" t="0"/>
          <a:stretch/>
        </p:blipFill>
        <p:spPr>
          <a:xfrm>
            <a:off x="6283296" y="1280160"/>
            <a:ext cx="5196541" cy="4297679"/>
          </a:xfrm>
          <a:prstGeom prst="rect">
            <a:avLst/>
          </a:prstGeom>
          <a:noFill/>
          <a:ln>
            <a:noFill/>
          </a:ln>
        </p:spPr>
      </p:pic>
      <p:sp>
        <p:nvSpPr>
          <p:cNvPr id="497" name="Google Shape;497;p3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2(a–b). Sampling, multiplexing and signal conditioning in the original device.</a:t>
            </a:r>
            <a:endParaRPr/>
          </a:p>
        </p:txBody>
      </p:sp>
      <p:sp>
        <p:nvSpPr>
          <p:cNvPr id="498" name="Google Shape;498;p3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00" name="Google Shape;500;p3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6" name="Google Shape;456;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Head tracking follows flies during copulation</a:t>
            </a:r>
            <a:endParaRPr/>
          </a:p>
        </p:txBody>
      </p:sp>
      <p:sp>
        <p:nvSpPr>
          <p:cNvPr id="457" name="Google Shape;457;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Flyception2 tracks the head rather than the outline of the body, so the head stays identifiable when two flies overlap. Grover and colleagues built the system to record brain fluorescence in freely moving adult flies. The animal is untethered, with no cable running to the microscope.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Three glass retroreflective beads, each about 30 µm across, marked the imaging window. A tracking loop updated mirror position at 1,000 Hz, and focus followed changes in head height during courtship and copulation. Retroreflection returns incoming light toward its source, which makes the beads easy to track.</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P1 fluorescence during the same social interaction was recorded in freely moving flies. The method keeps social contact in the measurement, which outline-based tracking had disrupted, and it still uses a surgically prepared window in a bounded arena. Recordings were made from the same targeted cells during courtship and mating.</a:t>
            </a:r>
            <a:endParaRPr/>
          </a:p>
        </p:txBody>
      </p:sp>
      <p:pic>
        <p:nvPicPr>
          <p:cNvPr descr="gro2.png" id="458" name="Google Shape;458;p30"/>
          <p:cNvPicPr preferRelativeResize="0"/>
          <p:nvPr/>
        </p:nvPicPr>
        <p:blipFill rotWithShape="1">
          <a:blip r:embed="rId2">
            <a:alphaModFix/>
          </a:blip>
          <a:srcRect b="0" l="0" r="0" t="0"/>
          <a:stretch/>
        </p:blipFill>
        <p:spPr>
          <a:xfrm>
            <a:off x="7546927" y="1280160"/>
            <a:ext cx="2669280" cy="4297679"/>
          </a:xfrm>
          <a:prstGeom prst="rect">
            <a:avLst/>
          </a:prstGeom>
          <a:noFill/>
          <a:ln>
            <a:noFill/>
          </a:ln>
        </p:spPr>
      </p:pic>
      <p:sp>
        <p:nvSpPr>
          <p:cNvPr id="459" name="Google Shape;459;p3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sp>
        <p:nvSpPr>
          <p:cNvPr id="460" name="Google Shape;460;p3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62" name="Google Shape;462;p30"/>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0" name="Google Shape;42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Pretectal loss spares swimming and escape</a:t>
            </a:r>
            <a:endParaRPr/>
          </a:p>
        </p:txBody>
      </p:sp>
      <p:sp>
        <p:nvSpPr>
          <p:cNvPr id="421" name="Google Shape;421;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Antinucci and colleagues ablated about 90% of a fluorescently labeled pretectal population at 6 days after fertilization. Free-swimming larvae were tested before the procedure and again on the following day. Fluorescent labeling identified which cells were removed.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Prey consumption, hunting initiation and the duration of hunting sequences declined after the ablation. Average swimming speed, escape responses to looming stimuli and the optomotor response were retained. The optomotor response is swimming driven by moving visual patterns. Sham ablations of nearby thalamic cells were run as the control instead.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spared behaviors indicate that the deficit is specific to hunting rather than a general loss of movement or visual responsiveness. The pretectal population contributes to the start and continuation of prey capture, and its loss leaves swimming and escape working normally.</a:t>
            </a:r>
            <a:endParaRPr/>
          </a:p>
        </p:txBody>
      </p:sp>
      <p:pic>
        <p:nvPicPr>
          <p:cNvPr descr="ant6.png" id="422" name="Google Shape;422;p27"/>
          <p:cNvPicPr preferRelativeResize="0"/>
          <p:nvPr/>
        </p:nvPicPr>
        <p:blipFill rotWithShape="1">
          <a:blip r:embed="rId2">
            <a:alphaModFix/>
          </a:blip>
          <a:srcRect b="0" l="0" r="0" t="0"/>
          <a:stretch/>
        </p:blipFill>
        <p:spPr>
          <a:xfrm>
            <a:off x="7553106" y="1280160"/>
            <a:ext cx="2656922" cy="4297679"/>
          </a:xfrm>
          <a:prstGeom prst="rect">
            <a:avLst/>
          </a:prstGeom>
          <a:noFill/>
          <a:ln>
            <a:noFill/>
          </a:ln>
        </p:spPr>
      </p:pic>
      <p:sp>
        <p:nvSpPr>
          <p:cNvPr id="423" name="Google Shape;423;p2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424" name="Google Shape;424;p2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26" name="Google Shape;426;p2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82" name="Google Shape;38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Eye convergence marks the start of hunting</a:t>
            </a:r>
            <a:endParaRPr/>
          </a:p>
        </p:txBody>
      </p:sp>
      <p:sp>
        <p:nvSpPr>
          <p:cNvPr id="383" name="Google Shape;38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Larval zebrafish that spot small moving prey converge their eyes toward a common frontal region. In the study by Antinucci and colleagues, convergent saccades served as the measurable marker that hunting had begun. A saccade is a rapid eye movement, so each convergent saccade can be counted as the start of a hunt.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Larvae 6 to 7 days after fertilization produced convergence together with lateral tail movement in response to small dark moving spots. About 92% of convergent saccades coincided with tail motion, and the eye-to-tail delay averaged near 12 ms. Small dark spots were the stimulus that most reliably recruited the combined movement.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Two-photon calcium imaging recorded brain activity during these movements in the restrained preparation. Pretectal neurons were then tested for their role in hunting through activation and ablation in larvae that moved freely. Those experiments used free-swimming larvae to test the behavior under fewer constraints.</a:t>
            </a:r>
            <a:endParaRPr/>
          </a:p>
        </p:txBody>
      </p:sp>
      <p:pic>
        <p:nvPicPr>
          <p:cNvPr descr="ant1.png" id="384" name="Google Shape;384;p24"/>
          <p:cNvPicPr preferRelativeResize="0"/>
          <p:nvPr/>
        </p:nvPicPr>
        <p:blipFill rotWithShape="1">
          <a:blip r:embed="rId2">
            <a:alphaModFix/>
          </a:blip>
          <a:srcRect b="0" l="0" r="0" t="0"/>
          <a:stretch/>
        </p:blipFill>
        <p:spPr>
          <a:xfrm>
            <a:off x="7246478" y="1280160"/>
            <a:ext cx="3270177" cy="4297679"/>
          </a:xfrm>
          <a:prstGeom prst="rect">
            <a:avLst/>
          </a:prstGeom>
          <a:noFill/>
          <a:ln>
            <a:noFill/>
          </a:ln>
        </p:spPr>
      </p:pic>
      <p:sp>
        <p:nvSpPr>
          <p:cNvPr id="385" name="Google Shape;385;p2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1(A–K). Hunting-related calcium activity, eye convergence and brain anatomy.</a:t>
            </a:r>
            <a:endParaRPr/>
          </a:p>
        </p:txBody>
      </p:sp>
      <p:sp>
        <p:nvSpPr>
          <p:cNvPr id="386" name="Google Shape;386;p2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388" name="Google Shape;388;p2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44" name="Google Shape;34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Filament speed sets the startle response</a:t>
            </a:r>
            <a:endParaRPr/>
          </a:p>
        </p:txBody>
      </p:sp>
      <p:sp>
        <p:nvSpPr>
          <p:cNvPr id="345" name="Google Shape;345;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Bezares-Calderón and colleagues moved a vibrating tungsten filament past Platynereis larvae and recorded the movements at 230 to 350 frames per second. The startle included ciliary arrest, body contraction and elevation of the parapodia. Several of these movements occurred together in each response.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Increasing filament speed favored wider appendage elevation. Placing the filament farther from the head required stronger stimulation, which indicates sensing at short range. Wide elevation was consistently recruited above about 28 µm/ms, and that speed marks the recruitment threshold.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arrangement therefore links a defined water movement to a coordinated defensive action. The filament speed is the mechanical parameter the experimenter controls, so it provides an input that can be varied and measured across trials. Varying that input changes which appendage movements the larva produces.</a:t>
            </a:r>
            <a:endParaRPr/>
          </a:p>
        </p:txBody>
      </p:sp>
      <p:pic>
        <p:nvPicPr>
          <p:cNvPr descr="bez1.png" id="346" name="Google Shape;346;p21"/>
          <p:cNvPicPr preferRelativeResize="0"/>
          <p:nvPr/>
        </p:nvPicPr>
        <p:blipFill rotWithShape="1">
          <a:blip r:embed="rId2">
            <a:alphaModFix/>
          </a:blip>
          <a:srcRect b="0" l="0" r="0" t="0"/>
          <a:stretch/>
        </p:blipFill>
        <p:spPr>
          <a:xfrm>
            <a:off x="6138367" y="1280160"/>
            <a:ext cx="5486400" cy="2498422"/>
          </a:xfrm>
          <a:prstGeom prst="rect">
            <a:avLst/>
          </a:prstGeom>
          <a:noFill/>
          <a:ln>
            <a:noFill/>
          </a:ln>
        </p:spPr>
      </p:pic>
      <p:sp>
        <p:nvSpPr>
          <p:cNvPr id="347" name="Google Shape;347;p21"/>
          <p:cNvSpPr txBox="1"/>
          <p:nvPr/>
        </p:nvSpPr>
        <p:spPr>
          <a:xfrm>
            <a:off x="6138367" y="387002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1(A–J). Hydrodynamic stimulus and larval startle kinematics.</a:t>
            </a:r>
            <a:endParaRPr/>
          </a:p>
        </p:txBody>
      </p:sp>
      <p:sp>
        <p:nvSpPr>
          <p:cNvPr id="348" name="Google Shape;348;p2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50" name="Google Shape;350;p2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8" name="Google Shape;308;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Serial reconstruction maps ciliomotor wiring</a:t>
            </a:r>
            <a:endParaRPr/>
          </a:p>
        </p:txBody>
      </p:sp>
      <p:sp>
        <p:nvSpPr>
          <p:cNvPr id="309" name="Google Shape;309;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Serial transmission electron microscopy of a 3-day-old Platynereis larva allowed Verasztó and colleagues to trace neurons and their synaptic contacts. The reconstruction was related to the whole-body distribution of ciliated cells. The map therefore links specific neurons to specific sites of ciliary control.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large MC neuron and the paired Loop neurons made extensive contacts with the locomotor ciliary bands. Molecular labeling and cell morphology supported a cholinergic identity, meaning that these cells use acetylcholine as their transmitter. Axons reached several positions along the body.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structural synapse sets neither the timing nor the sign of the functional response. Calcium recordings and selective interventions are therefore needed to show which reconstructed neurons take part in ciliary arrests. Reconstructed contacts show where a neuron could act, and calcium recordings show when it acts.</a:t>
            </a:r>
            <a:endParaRPr/>
          </a:p>
        </p:txBody>
      </p:sp>
      <p:pic>
        <p:nvPicPr>
          <p:cNvPr descr="ver2.png" id="310" name="Google Shape;310;p18"/>
          <p:cNvPicPr preferRelativeResize="0"/>
          <p:nvPr/>
        </p:nvPicPr>
        <p:blipFill rotWithShape="1">
          <a:blip r:embed="rId2">
            <a:alphaModFix/>
          </a:blip>
          <a:srcRect b="0" l="0" r="0" t="0"/>
          <a:stretch/>
        </p:blipFill>
        <p:spPr>
          <a:xfrm>
            <a:off x="6138367" y="1280160"/>
            <a:ext cx="5486400" cy="3364868"/>
          </a:xfrm>
          <a:prstGeom prst="rect">
            <a:avLst/>
          </a:prstGeom>
          <a:noFill/>
          <a:ln>
            <a:noFill/>
          </a:ln>
        </p:spPr>
      </p:pic>
      <p:sp>
        <p:nvSpPr>
          <p:cNvPr id="311" name="Google Shape;311;p18"/>
          <p:cNvSpPr txBox="1"/>
          <p:nvPr/>
        </p:nvSpPr>
        <p:spPr>
          <a:xfrm>
            <a:off x="6138367" y="47364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2(A–G). Reconstructed cholinergic neurons and ciliary targets.</a:t>
            </a:r>
            <a:endParaRPr/>
          </a:p>
        </p:txBody>
      </p:sp>
      <p:sp>
        <p:nvSpPr>
          <p:cNvPr id="312" name="Google Shape;312;p1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14" name="Google Shape;314;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68" name="Google Shape;26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Single neurons bias behavior toward one action</a:t>
            </a:r>
            <a:endParaRPr/>
          </a:p>
        </p:txBody>
      </p:sp>
      <p:sp>
        <p:nvSpPr>
          <p:cNvPr id="269" name="Google Shape;269;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Cande and colleagues measured behavior in a low-dimensional map that groups similar movements, then asked whether activating a descending population moved behavior toward one region of that map. Occupancy counted how often each fly performed the movements assigned to a region.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Many experimental flies showed reduced behavioral entropy during 15 s red-light epochs, which means their activity spread across fewer actions. Matched controls without retinal showed no such population-level reduction. Most effective lines favored one behavioral region. Entropy is a measure of how broadly activity is distributed across the available actions.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pattern points to modular control, in which a descending population recruits a coherent part of the movement repertoire. Selective tests of normal activity, necessity and context would show whether each neuron serves one command or several. Each tested line therefore recruits a defined region of the behavior space.</a:t>
            </a:r>
            <a:endParaRPr/>
          </a:p>
        </p:txBody>
      </p:sp>
      <p:pic>
        <p:nvPicPr>
          <p:cNvPr descr="cande3.png" id="270" name="Google Shape;270;p15"/>
          <p:cNvPicPr preferRelativeResize="0"/>
          <p:nvPr/>
        </p:nvPicPr>
        <p:blipFill rotWithShape="1">
          <a:blip r:embed="rId2">
            <a:alphaModFix/>
          </a:blip>
          <a:srcRect b="0" l="0" r="0" t="0"/>
          <a:stretch/>
        </p:blipFill>
        <p:spPr>
          <a:xfrm>
            <a:off x="6138367" y="1280160"/>
            <a:ext cx="3840480" cy="3709525"/>
          </a:xfrm>
          <a:prstGeom prst="rect">
            <a:avLst/>
          </a:prstGeom>
          <a:noFill/>
          <a:ln>
            <a:noFill/>
          </a:ln>
        </p:spPr>
      </p:pic>
      <p:sp>
        <p:nvSpPr>
          <p:cNvPr id="271" name="Google Shape;271;p15"/>
          <p:cNvSpPr txBox="1"/>
          <p:nvPr/>
        </p:nvSpPr>
        <p:spPr>
          <a:xfrm>
            <a:off x="6138367" y="508112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3(A–D). Behavioral entropy across descending-neuron lines.</a:t>
            </a:r>
            <a:endParaRPr/>
          </a:p>
        </p:txBody>
      </p:sp>
      <p:pic>
        <p:nvPicPr>
          <p:cNvPr descr="inag3b.png" id="272" name="Google Shape;272;p15"/>
          <p:cNvPicPr preferRelativeResize="0"/>
          <p:nvPr/>
        </p:nvPicPr>
        <p:blipFill rotWithShape="1">
          <a:blip r:embed="rId3">
            <a:alphaModFix/>
          </a:blip>
          <a:srcRect b="0" l="0" r="0" t="0"/>
          <a:stretch/>
        </p:blipFill>
        <p:spPr>
          <a:xfrm>
            <a:off x="10161727" y="2148840"/>
            <a:ext cx="1463039" cy="2121114"/>
          </a:xfrm>
          <a:prstGeom prst="rect">
            <a:avLst/>
          </a:prstGeom>
          <a:noFill/>
          <a:ln>
            <a:noFill/>
          </a:ln>
        </p:spPr>
      </p:pic>
      <p:sp>
        <p:nvSpPr>
          <p:cNvPr id="273" name="Google Shape;273;p15"/>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74" name="Google Shape;274;p1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a:t>
            </a:r>
            <a:endParaRPr/>
          </a:p>
        </p:txBody>
      </p:sp>
      <p:sp>
        <p:nvSpPr>
          <p:cNvPr id="276" name="Google Shape;276;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28" name="Google Shape;22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Housing changes wing-extension sensitivity</a:t>
            </a:r>
            <a:endParaRPr/>
          </a:p>
        </p:txBody>
      </p:sp>
      <p:sp>
        <p:nvSpPr>
          <p:cNvPr id="229" name="Google Shape;22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Inagaki and colleagues housed males alone or in groups for 7 days before testing them with red light. Wing extension was the measured readout of the courtship circuit, and each male was stimulated across a range of light intensities with the same method.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Males housed alone responded to weaker red light than males housed in groups. Activating the descending courtship neurons pIP10 produced no comparable shift, even though the stimulation method matched across the two groups. Housing-dependent sensitivity therefore appeared for P1 activation but not for pIP10 activation.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housing effect acts at P1 or at a downstream stage before pIP10, so social experience changes how strongly the same light input drives wing extension. The light stimulus stays constant while the behavioral response changes with housing history. Social history thus modifies the behavioral consequence of an identical input.</a:t>
            </a:r>
            <a:endParaRPr/>
          </a:p>
        </p:txBody>
      </p:sp>
      <p:pic>
        <p:nvPicPr>
          <p:cNvPr descr="inag4.png" id="230" name="Google Shape;230;p12"/>
          <p:cNvPicPr preferRelativeResize="0"/>
          <p:nvPr/>
        </p:nvPicPr>
        <p:blipFill rotWithShape="1">
          <a:blip r:embed="rId2">
            <a:alphaModFix/>
          </a:blip>
          <a:srcRect b="0" l="0" r="0" t="0"/>
          <a:stretch/>
        </p:blipFill>
        <p:spPr>
          <a:xfrm>
            <a:off x="6138367" y="1280160"/>
            <a:ext cx="3840480" cy="3202915"/>
          </a:xfrm>
          <a:prstGeom prst="rect">
            <a:avLst/>
          </a:prstGeom>
          <a:noFill/>
          <a:ln>
            <a:noFill/>
          </a:ln>
        </p:spPr>
      </p:pic>
      <p:sp>
        <p:nvSpPr>
          <p:cNvPr id="231" name="Google Shape;231;p12"/>
          <p:cNvSpPr txBox="1"/>
          <p:nvPr/>
        </p:nvSpPr>
        <p:spPr>
          <a:xfrm>
            <a:off x="6138367" y="457451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4(a–c). Social housing changes P1-evoked wing-extension sensitivity.</a:t>
            </a:r>
            <a:endParaRPr/>
          </a:p>
        </p:txBody>
      </p:sp>
      <p:pic>
        <p:nvPicPr>
          <p:cNvPr descr="inag3b.png" id="232" name="Google Shape;232;p12"/>
          <p:cNvPicPr preferRelativeResize="0"/>
          <p:nvPr/>
        </p:nvPicPr>
        <p:blipFill rotWithShape="1">
          <a:blip r:embed="rId3">
            <a:alphaModFix/>
          </a:blip>
          <a:srcRect b="0" l="0" r="0" t="0"/>
          <a:stretch/>
        </p:blipFill>
        <p:spPr>
          <a:xfrm>
            <a:off x="10161727" y="2148840"/>
            <a:ext cx="1463039" cy="2121114"/>
          </a:xfrm>
          <a:prstGeom prst="rect">
            <a:avLst/>
          </a:prstGeom>
          <a:noFill/>
          <a:ln>
            <a:noFill/>
          </a:ln>
        </p:spPr>
      </p:pic>
      <p:sp>
        <p:nvSpPr>
          <p:cNvPr id="233" name="Google Shape;233;p1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34" name="Google Shape;234;p1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36" name="Google Shape;236;p1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8" name="Google Shape;188;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Chloride gradients set the silencing effect</a:t>
            </a:r>
            <a:endParaRPr/>
          </a:p>
        </p:txBody>
      </p:sp>
      <p:sp>
        <p:nvSpPr>
          <p:cNvPr id="189" name="Google Shape;189;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Govorunova and colleagues used GtACR2 in cultured rat neurons to test whether light can silence cells. The photocurrent reversed near −88 mV, a voltage that depends on the chloride gradient across the membrane. The reversal voltage is the point where the measured current changes sign.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Illumination suppressed current-evoked spikes in trains up to at least 25 Hz. In a ramp protocol, full suppression occurred at a light intensity of 0.005 mW/mm², and the ramp tested a graded range of light intensities. Expressing neurons kept their dark-state electrical properties and morphology.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Opening an anion channel moves the membrane toward the chloride equilibrium potential, so the same light can hyperpolarize one cell and depolarize another. The starting voltage and the chloride gradient of each cell determine which outcome occurs. Silencing was validated under the measured recording conditions, so each new cell type needs its own chloride measurement.</a:t>
            </a:r>
            <a:endParaRPr/>
          </a:p>
        </p:txBody>
      </p:sp>
      <p:pic>
        <p:nvPicPr>
          <p:cNvPr descr="gov4.png" id="190" name="Google Shape;190;p9"/>
          <p:cNvPicPr preferRelativeResize="0"/>
          <p:nvPr/>
        </p:nvPicPr>
        <p:blipFill rotWithShape="1">
          <a:blip r:embed="rId2">
            <a:alphaModFix/>
          </a:blip>
          <a:srcRect b="0" l="0" r="0" t="0"/>
          <a:stretch/>
        </p:blipFill>
        <p:spPr>
          <a:xfrm>
            <a:off x="6176848" y="1280160"/>
            <a:ext cx="5409438" cy="2834640"/>
          </a:xfrm>
          <a:prstGeom prst="rect">
            <a:avLst/>
          </a:prstGeom>
          <a:noFill/>
          <a:ln>
            <a:noFill/>
          </a:ln>
        </p:spPr>
      </p:pic>
      <p:sp>
        <p:nvSpPr>
          <p:cNvPr id="191" name="Google Shape;191;p9"/>
          <p:cNvSpPr txBox="1"/>
          <p:nvPr/>
        </p:nvSpPr>
        <p:spPr>
          <a:xfrm>
            <a:off x="6138367" y="42062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4(A–F). GtACR2 current reversal, spike suppression and light sensitivity.</a:t>
            </a:r>
            <a:endParaRPr/>
          </a:p>
        </p:txBody>
      </p:sp>
      <p:pic>
        <p:nvPicPr>
          <p:cNvPr descr="boyden1a.png" id="192" name="Google Shape;192;p9"/>
          <p:cNvPicPr preferRelativeResize="0"/>
          <p:nvPr/>
        </p:nvPicPr>
        <p:blipFill rotWithShape="1">
          <a:blip r:embed="rId3">
            <a:alphaModFix/>
          </a:blip>
          <a:srcRect b="0" l="0" r="0" t="0"/>
          <a:stretch/>
        </p:blipFill>
        <p:spPr>
          <a:xfrm>
            <a:off x="8122615" y="4663440"/>
            <a:ext cx="1517903" cy="1097279"/>
          </a:xfrm>
          <a:prstGeom prst="rect">
            <a:avLst/>
          </a:prstGeom>
          <a:noFill/>
          <a:ln>
            <a:noFill/>
          </a:ln>
        </p:spPr>
      </p:pic>
      <p:sp>
        <p:nvSpPr>
          <p:cNvPr id="193" name="Google Shape;193;p9"/>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94" name="Google Shape;194;p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a:t>
            </a:r>
            <a:endParaRPr/>
          </a:p>
        </p:txBody>
      </p:sp>
      <p:sp>
        <p:nvSpPr>
          <p:cNvPr id="196" name="Google Shape;196;p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8" name="Google Shape;148;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Membrane expression enables optical spiking</a:t>
            </a:r>
            <a:endParaRPr/>
          </a:p>
        </p:txBody>
      </p:sp>
      <p:sp>
        <p:nvSpPr>
          <p:cNvPr id="149" name="Google Shape;149;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Boyden and colleagues delivered a ChR2 fusion with yellow fluorescent protein into cultured rat neurons using a lentiviral vector. The fluorescent tag marked the expressing cells and the membrane-associated processes that extend from them. The lentiviral vector is a modified virus that carries the expression construct into the cells.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Blue light between 450 and 490 nm generated an average peak </a:t>
            </a:r>
            <a:r>
              <a:rPr b="1" i="0" lang="en-US" sz="1500" u="none" cap="none" strike="noStrike">
                <a:solidFill>
                  <a:srgbClr val="1E3B7B"/>
                </a:solidFill>
                <a:latin typeface="Arial"/>
                <a:ea typeface="Arial"/>
                <a:cs typeface="Arial"/>
                <a:sym typeface="Arial"/>
              </a:rPr>
              <a:t>inward current</a:t>
            </a:r>
            <a:r>
              <a:rPr b="0" i="0" lang="en-US" sz="1500" u="none" cap="none" strike="noStrike">
                <a:solidFill>
                  <a:srgbClr val="000000"/>
                </a:solidFill>
                <a:latin typeface="Arial"/>
                <a:ea typeface="Arial"/>
                <a:cs typeface="Arial"/>
                <a:sym typeface="Arial"/>
              </a:rPr>
              <a:t> near 496 pA, followed by a smaller sustained current near 193 pA. Neurons carrying the fluorescent tag alone gave no light-evoked response, so the electrical effect came from the channel rather than from fluorescence or illumination.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Inward current depolarizes the neuron, and when the voltage reaches firing threshold, the neuron produces an </a:t>
            </a:r>
            <a:r>
              <a:rPr b="1" i="0" lang="en-US" sz="1500" u="none" cap="none" strike="noStrike">
                <a:solidFill>
                  <a:srgbClr val="1E3B7B"/>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Light therefore drives spikes in an expressing cell without requiring knowledge of its natural synaptic targets. The current is an inward flow that makes the internal voltage less negative.</a:t>
            </a:r>
            <a:endParaRPr/>
          </a:p>
        </p:txBody>
      </p:sp>
      <p:pic>
        <p:nvPicPr>
          <p:cNvPr descr="boyden1.png" id="150" name="Google Shape;150;p6"/>
          <p:cNvPicPr preferRelativeResize="0"/>
          <p:nvPr/>
        </p:nvPicPr>
        <p:blipFill rotWithShape="1">
          <a:blip r:embed="rId2">
            <a:alphaModFix/>
          </a:blip>
          <a:srcRect b="0" l="0" r="0" t="0"/>
          <a:stretch/>
        </p:blipFill>
        <p:spPr>
          <a:xfrm>
            <a:off x="6138367" y="1280160"/>
            <a:ext cx="5486400" cy="3265970"/>
          </a:xfrm>
          <a:prstGeom prst="rect">
            <a:avLst/>
          </a:prstGeom>
          <a:noFill/>
          <a:ln>
            <a:noFill/>
          </a:ln>
        </p:spPr>
      </p:pic>
      <p:sp>
        <p:nvSpPr>
          <p:cNvPr id="151" name="Google Shape;151;p6"/>
          <p:cNvSpPr txBox="1"/>
          <p:nvPr/>
        </p:nvSpPr>
        <p:spPr>
          <a:xfrm>
            <a:off x="6138367" y="463757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1(a–e). Membrane expression, inward current and light-evoked spikes.</a:t>
            </a:r>
            <a:endParaRPr/>
          </a:p>
        </p:txBody>
      </p:sp>
      <p:sp>
        <p:nvSpPr>
          <p:cNvPr id="152" name="Google Shape;152;p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54" name="Google Shape;154;p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2" name="Google Shape;112;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ChR2 conducts light-driven current directly</a:t>
            </a:r>
            <a:endParaRPr/>
          </a:p>
        </p:txBody>
      </p:sp>
      <p:sp>
        <p:nvSpPr>
          <p:cNvPr id="113" name="Google Shape;113;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E3B7B"/>
                </a:solidFill>
                <a:latin typeface="Arial"/>
                <a:ea typeface="Arial"/>
                <a:cs typeface="Arial"/>
                <a:sym typeface="Arial"/>
              </a:rPr>
              <a:t>Channelrhodopsin-2</a:t>
            </a:r>
            <a:r>
              <a:rPr b="0" i="0" lang="en-US" sz="1500" u="none" cap="none" strike="noStrike">
                <a:solidFill>
                  <a:srgbClr val="000000"/>
                </a:solidFill>
                <a:latin typeface="Arial"/>
                <a:ea typeface="Arial"/>
                <a:cs typeface="Arial"/>
                <a:sym typeface="Arial"/>
              </a:rPr>
              <a:t> is a retinal-containing protein from the green alga Chlamydomonas reinhardtii. When blue light near 450 nm reached ChR2-expressing frog oocytes, it produced a current that uninjected oocytes lacked, which showed that the protein itself carries the response to light.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Voltage clamp holds the membrane at a chosen voltage while the amplifier records the current that flows. Changing the held voltage altered the size and direction of the light-evoked current, a pattern that fits a passive conductance rather than an ion pump. Current direction therefore depends on the voltage at which the membrane is held.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truncated protein containing the first 315 amino acids kept its channel function. The light-gated conductance therefore lies within the membrane-spanning portion of the protein, the part that forms the pathway for charged particles. That region alone is sufficient to carry the light-gated current.</a:t>
            </a:r>
            <a:endParaRPr/>
          </a:p>
        </p:txBody>
      </p:sp>
      <p:pic>
        <p:nvPicPr>
          <p:cNvPr descr="nagel1.png" id="114" name="Google Shape;114;p3"/>
          <p:cNvPicPr preferRelativeResize="0"/>
          <p:nvPr/>
        </p:nvPicPr>
        <p:blipFill rotWithShape="1">
          <a:blip r:embed="rId2">
            <a:alphaModFix/>
          </a:blip>
          <a:srcRect b="0" l="0" r="0" t="0"/>
          <a:stretch/>
        </p:blipFill>
        <p:spPr>
          <a:xfrm>
            <a:off x="7290678" y="1280160"/>
            <a:ext cx="3181776" cy="4297679"/>
          </a:xfrm>
          <a:prstGeom prst="rect">
            <a:avLst/>
          </a:prstGeom>
          <a:noFill/>
          <a:ln>
            <a:noFill/>
          </a:ln>
        </p:spPr>
      </p:pic>
      <p:sp>
        <p:nvSpPr>
          <p:cNvPr id="115" name="Google Shape;115;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Original ChR2 currents under ion substitution and voltage clamp.</a:t>
            </a:r>
            <a:endParaRPr/>
          </a:p>
        </p:txBody>
      </p:sp>
      <p:sp>
        <p:nvSpPr>
          <p:cNvPr id="116" name="Google Shape;116;p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18" name="Google Shape;118;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