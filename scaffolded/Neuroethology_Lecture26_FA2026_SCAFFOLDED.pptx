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312" r:id="rId62"/>
    <p:sldId id="267" r:id="rId16"/>
    <p:sldId id="268" r:id="rId17"/>
    <p:sldId id="269" r:id="rId18"/>
    <p:sldId id="311" r:id="rId61"/>
    <p:sldId id="270" r:id="rId19"/>
    <p:sldId id="271" r:id="rId20"/>
    <p:sldId id="272" r:id="rId21"/>
    <p:sldId id="273" r:id="rId22"/>
    <p:sldId id="274" r:id="rId23"/>
    <p:sldId id="275" r:id="rId24"/>
    <p:sldId id="276" r:id="rId25"/>
    <p:sldId id="310" r:id="rId60"/>
    <p:sldId id="277" r:id="rId26"/>
    <p:sldId id="278" r:id="rId27"/>
    <p:sldId id="279" r:id="rId28"/>
    <p:sldId id="280" r:id="rId29"/>
    <p:sldId id="309" r:id="rId59"/>
    <p:sldId id="281" r:id="rId30"/>
    <p:sldId id="282" r:id="rId31"/>
    <p:sldId id="308" r:id="rId58"/>
    <p:sldId id="283" r:id="rId32"/>
    <p:sldId id="284" r:id="rId33"/>
    <p:sldId id="307" r:id="rId57"/>
    <p:sldId id="285" r:id="rId34"/>
    <p:sldId id="286" r:id="rId35"/>
    <p:sldId id="287" r:id="rId36"/>
    <p:sldId id="306" r:id="rId56"/>
    <p:sldId id="288" r:id="rId37"/>
    <p:sldId id="289" r:id="rId38"/>
    <p:sldId id="305" r:id="rId55"/>
    <p:sldId id="290" r:id="rId39"/>
    <p:sldId id="291" r:id="rId40"/>
    <p:sldId id="304" r:id="rId54"/>
    <p:sldId id="292" r:id="rId41"/>
    <p:sldId id="293" r:id="rId42"/>
    <p:sldId id="303" r:id="rId53"/>
    <p:sldId id="294" r:id="rId43"/>
    <p:sldId id="295" r:id="rId44"/>
    <p:sldId id="296" r:id="rId45"/>
    <p:sldId id="302" r:id="rId52"/>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oqTEcVc/saNTrvHUxiDqMy1dD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Tactile specialization: the star-nosed mole's tactile fovea (Catania)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26. NEUR 411 · NEUROETHOLOGY · FALL 2026. Monday, October 26,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Gerhold et al. (2013), Fig. 1(A). Star-nosed mole with the expanded tactile star.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https://doi.org/10.1371/journal.pone.0055001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star-nosed mole uses 22 nasal rays to sample surfaces. Initial contacts recruit a broad sensory sheet; prey-directed movements bring the eleventh ray pair onto the target. The photograph is Gerhold et al. (2013),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star-nosed mole, Condylura cristata, searches wetland substrates using 22 fleshy nasal rays. Tactile sensing means detecting mechanical contact rather than detecting airborne chemicals. The rays contact surrounding surfaces; they do not function as fingers that grasp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term ray refers to one fleshy appendage surrounding a nostril. Eleven rays surround each nostril; matching ray numbers on the two sides describe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Catania and Kaas filmed captive animals from beneath transparent tunnel floors and scored which rays touched earthworm pieces. Contact initially occurred across the star, but subsequent exploration concentrated on the paired ventral eleventh rays, immediately in front of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directed sampling is a behavioral specialization within one sensory surface. The star provides broad initial coverage while a small region repeatedly inspects potential prey, in the way that an eye scans a scene and then fixates on a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1(A). Star-nosed mole with the expanded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recorded feeding through a glass-bottom tunnel at 500 frames per second. This high-speed videography separated periods of substrate contact from movements between contacts. Earthworm fragments supplied prey while the transparent floor preserved a clear view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500 frames per second, consecutive recorded frames are separated by 2 ms. The time labels in the published sequence are measurements of behavior, not spike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1(a–c). Published search timing and high-speed prey-capture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Foveation is movement that places a region of high sensory resolution onto a target. Catania and Kaas scored successive contacts in video recordings of feeding. The initial contact could involve a lateral ray; later contacts brought the prey toward the paired eleventh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fovea is defined by preferential, high-resolution sampling, not merely by occupying the center of an organ. The mole moves its entire nasal star to align this ventral region with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repeated use of ray 11 justifies calling it a tactile fovea. Its behavior resembles target-directed visual fixation, because the sensory surface moves until its most sensitive region meets the target. The star inspects the prey, and the teeth then perform the grasping.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4(A–E). Original video frames of prey contact and repositioning of ray 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Handling time is the foraging time lost while taking a prey item instead of searching for another. Catania and Remple measured it from the end of the first prey contact until eating finished and the star began another searching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end of handling is defined behaviorally by resumed searching. Using the same endpoint across trials prevents a comparison of swallowing in one trial with first tooth contact in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earthworm pieces 0.8–2.0 mm across, mean handling time was 227 ms and observed times ranged from 120 to 440 ms. The measured interval included foveation, grasping and consumption. It therefore exceeds a sensory latency and cannot be interpreted as perception time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shortest sequences took 120 ms and spanned foveation, grasping and eating of small prey. Larger earthworm segments took about 19 s to handle, so small prey are processed in a distinct, rapid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1(b). Prey capture followed by renewed search; original frame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a double take, the star initially moves away from a contacted prey item, then reverses and places the fovea onto it. Catania and Remple identified these sequences in high-speed video, preserving the time course and prey position across consecutive frames.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mistaken initial movement lengthens handling without implying that the animal permanently misidentified the prey. The correction indicates that useful tactile information can continue to affect movement after the first response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takes occurred in more than one-third of their feeding trials. A typical contact lasted about 25 ms, whereas prior cortical recordings placed tactile response onset near 12 ms. The authors additionally estimated about 5 ms for a motor command to reach the periphery.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timings support the proposal that fast sampling sometimes outruns the completed feeding decision, because a contact of about 25 ms is short relative to a cortical onset near 12 ms plus about 5 ms of motor delay. A processing-speed limit is an interpretation of converging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4. Initial movement away from prey followed by a corrective foveation.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Prey profitability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curve is retained exactly as published. Its continuous shape is a theoretical relationship; the feeding durations associated with the animal are separate empirical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typical small fragment supplied approximately 10 J, with handling near 230 ms. The authors reported profitability near 44 J/s. Larger earthworm segments supplied about 1,100 J but took approximately 19 s to handle, reducing the advantage of their greater energy content.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2(a). Published prey profitability curves and measured handling-time examples.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measured the contact surface from close-up behavioral recordings and compared star-nosed moles with eastern moles, Scalopus aquaticus. Sensory coverage refers here to the area touched during one sampling event, rather than the sensitivity of an individual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Area per touch and the number of touches per second affect encounter opportunity independently. A dense receptor array cannot compensate for failing to bring the sensory surface into contact with an item.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links expanded anatomy to a plausible search advantage. Multiplying the area of each touch by the number of touches per second gives the encounter opportunity, and the star's larger area per touch and higher rate both raise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3(c–d). Star-nosed and eastern mole receptor surfaces; 1-mm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foveal inspection, the star-nosed mole captures small prey using its front teeth. Catania and Remple examined the dentition with scanning electron microscopy and compared it with eastern mole incisors. Incisors are the anterior teeth involved here in grasping, not sensory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star detects and positions the target; the incisors grasp it. These are different mechanical functions even though they occur within a single brief feeding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comparison and behavior support coordinated sensory and feeding specializations. The reduced, tweezer-like incisors sit next to the fovea, so the movement that positions ray 11 also brings the teeth to prey as small as 0.8 mm across.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3(a–b). Specialized incisors compared with eastern mole teeth.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1(c). A second high-speed feeding sequence with original time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Eimer’s organ is a small epidermal sensory unit containing several types of nerve ending. The epidermis is the outer cellular layer of skin. Sawyer and Catania used scanning electron microscopy to map these units across the flattened front surface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unit can contain multiple transducers with different response properties. Surface microscopy identifies unit boundaries but does not assign their functional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organ is supplied by several endings, and individual fibers may branch, so counting organs measures the distribution of anatomical units across the star. Because every dome has an external structure, receptor-unit density and position can be mapped across all 22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1(D–E). Eimer’s organs on the ray surface and an individual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used fluorescent dyes and confocal microscopy to examine star-nosed mole Eimer’s organs. Confocal microscopy resolves selected optical depths, allowing the arrangement of nerve terminals to be compared in horizontal and vertical tissue sections rather than inferred from the surface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apex is the top of a sensory dome. An optical section at a specified depth samples a different part of an ending from a section through its final superficial swelling.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15 µm below an organ’s apex, a central ending was surrounded by seven satellite fibers in the illustrated specimen. A second, outer ring contained smaller peripheral endings. Near the surface, terminal swellings of the satellite fibers approached the central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3(G–L). Star-nosed mole sensory endings, Merkel complexes and corpuscle.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Merkel cell–neurite complex couples a specialized epidermal cell to a sensory axon ending. Marasco and colleagues resolved these complexes near the base of star-nosed mole Eimer’s organs using dye labeling. The labeled neurite formed a disk associated with the Merkel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neurite is a neuronal process; the disk is the terminal part contacting the Merkel cell. Dye brightness should not be converted into a quantitative estimate of membrane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3(J–K). Merkel cell–neurite complexes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lamellated corpuscle contains a sensory ending surrounded by layered tissue. Marasco and colleagues localized this structure beneath the epidermis in Eimer’s organs. The terminal neurite ran through the capsule and lay approximately parallel to the skin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capsule and axon ending are different structures. A fluorescent terminal inside an unlabeled capsule supports anatomical localization without establishing how the capsule mechanically filters a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arrangement is consistent with sensitivity to changing mechanical input. Layered capsule tissue surrounds the terminal neurite, and Pacinian-like rapidly adapting responses were recorded from mole nasal afferents. The skin unit integrates several receptor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3(L). A lamellated corpuscle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NF200 is a neurofilament marker associated with many large, myelinated sensory fibers. Substance P is a neuropeptide associated with a subset of pain-signaling neurons. Marasco and colleagues double-labeled coast mole Eimer’s organs to compare these populations within the same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coast-mole micrographs provide the clearest double-label comparison; the accompanying star-nosed mole panel supplies species-specific anatomy. Published fluorescence colors are preserved, including the original overlapping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applied DiI, a lipophilic dye that spreads within cell membranes, to trace free nerve endings in star-nosed mole Eimer’s organs. Tracing tests whether nearby terminal profiles belong to separate fibers or share an underlying neuronal process.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branch can distribute one axon’s peripheral territory without adding another ganglion cell. Organ counts, terminal counts and sensory-neuron counts therefore measure different levels of the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support branching of afferents across the organ's specialized endings. Central and satellite terminals that label together can belong to one fiber, so profiles that look like separate points share an underlying neuronal process.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6(A–E). DiI fills of central and satellite endings in star-nosed mole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sectioned the base of the star and examined its myelinated nerves. Myelin is the insulating sheath around many axons. A primary afferent is a sensory neuron carrying peripheral information toward the central nervous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 branch is a bundle containing many axons. The investigators counted profiles within those bundles; the bundle itself is not one functional sensory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branch arrangement provides a tractable way to measure afferent allocation, since the fibers of each ray can be counted separately and related to its organs and cortical stripe. Counting fibers and counting organs give complementary measurements of the sensory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6(A–F). Ray nerve bundles, myelinated fibers and receptor-bearing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combined Eimer’s-organ counts with myelinated-fiber counts for each ray. Innervation density per organ describes the number of counted afferents relative to the number of anatomical sensory units, rather than the number of domes per square millimeter.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organ can have typical spacing while receiving unusually many sensory fibers. This distinguishes peripheral neural investment from a claim that the fovea simply contains the greatest number of visible domes.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7(C). Myelinated fibers per Eimer’s organ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measured Eimer’s-organ positions on flattened stars using scanning electron microscopy. Eccentricity here means normalized distance along a ray from its base toward its tip. Comparing this coordinate across rays separates longitudinal position from ray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heat maps retain the authors’ original scale and colors. Their color represents measured organ density, not cortical magnification or the sensitivity of an individual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density increased from about 228 organs/mm² near the star center to 391 at ray bases, 516 in middle regions and 718 near the tips. Density rose near the base, plateaued through much of the ray, then increased again in its distal portion.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gradient means that contact location changes the density of sampled units even within one ray, with the tips carrying the finest array. Because position along a ray is separate from ray identity, the gradient can be compared across all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 name="Google Shape;27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anatomical density can support different neural representations. More cortical tissue assigned to an organ is not the same variable as more organs assigned to a millimeter of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did not possess higher overall Eimer’s-organ density than the other rays. Nevertheless, Catania and Kaas found much greater cortical area per organ for ray 11. The tactile fovea therefore differs from an explanation based solely on extra receptor units per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reveal a mismatch between dome density and central allocation: ray 11 has typical density but a much larger cortical area per organ. Central magnification is therefore one measured contributor to foveal acuity.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12(A–C). Cortical area and its normalization by organs and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traced the frontal surface area of individual Eimer’s organs in scanning electron micrographs. Surface area here describes a dome’s visible footprint; it does not describe the receptive field of a recorded neuron or the full three-dimensional dome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of unit area is distinct from a map of unit density. Larger units can occupy more of the surface while fewer separate units fit into a given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organs, roughly 25 times the area of the smallest, cluster near the star's center, so the footprint of the sensory unit differs between central and distal regions. That variation could change how a contacting object distributes force across sensory units.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4(A–B). Original maps of individual Eimer’s-organ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recorded single sensory units from the trigeminal ganglion while controlled stimulators contacted the nose. Adaptation is a change in firing during continued stimulation. Their star-nosed mole traces compare responses to a maintained mechanical indentation rather than to freely chosen touches.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rapidly adapting neuron can remain highly sensitive while becoming silent during an unchanged indentation. Silence in that interval reflects the stimulus feature it encodes, rather than failure of the sensory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4(A–G). Recorded receptor responses in star-nosed mole nasal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varied sinusoidal indentation frequency and amplitude in coast-mole nasal afferents. A sinusoidal stimulus repeatedly moves the skin inward and outward. This comparative preparation tests receptor dynamics in Eimer’s organs without assuming that all mole species have identical tuning.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frequency peak is conditional on stimulus amplitude. Comparing two neurons at different amplitudes can confound frequency selectivity with their different indentation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parallel channels for distinct mechanical changes. Pacinian-like units prefer small displacements near 250–300 Hz, while other rapidly adapting units respond across broader ranges, so receptor class sets which vibrations drive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5. Peak frequency and displacement sensitivity in coast-mole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tested ramp indentations in coast-mole afferents, changing onset speed while holding displacement at 500 µm. Indentation velocity describes how quickly the probe moves into the skin; it is separate from the final indentation depth and the duration of maintained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Keeping displacement constant makes velocity the intended variable. A higher spike count at one speed can still reflect that receptor’s mechanical filtering rather than an abstract neural representation of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7(A–C). Coast-mole afferent responses to indentation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trigeminal ganglion, or TG, contains sensory-neuron cell bodies serving the face. Dorsal root ganglia, or DRG, serve the body. Gerhold and colleagues compared these tissues in star-nosed moles using NF200 and peripherin, a marker associated with many small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ganglion contains cell bodies outside the brain. Differences in this population can change what kinds of signals enter central pathways before cortical magnification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57% of TG neurons labeled for NF200 and 13% for peripherin. In DRG, the corresponding proportions were about 36% and 35%. Thus the face-associated ganglion had a different neuronal composition from the body-associated comparison tissue within the same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1(E). Trigeminal-ganglion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1(F). Dorsal-root-ganglion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isolated TG and DRG neurons and monitored intracellular calcium with Fura-2, a fluorescent calcium indicator. Neurons were cultured on deformable substrates, allowing a 10% radial stretch to be compared between tissues under a shared mechanical stimulation protocol.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imaging can compare responsive fractions while leaving the initial transduction channel unresolved. Mechanical activation may recruit additional conductances before calcium increases enough to be detected.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Approximately 80% of TG neurons responded to stretch, compared with 34% of DRG neurons. The original images retain the authors’ calcium-response colors. This functional enrichment agrees with the greater fraction of touch-associated markers in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a mechanosensitive neuronal population. A 10% radial stretch activated about 80% of TG neurons, so the facial ganglion contains many cells that respond directly to deformation, and the calcium rise reports cellular activation by the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challenged cultured TG and DRG neurons with mechanical stimuli and chemical agonists. An agonist activates a receptor or channel. Capsaicin targets TRPV1, mustard oil targets TRPA1 and menthol targets TRPM8; these probes separate cellular sensitivities beyond anatomical marker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TRP denotes a family of transient receptor potential ion channels. Their activation can depolarize a neuron, but a chemical sensitivity in culture does not identify that neuron’s complete natural stimulus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Capsaicin activated about 15% of TG neurons but 36% of DRG neurons. Mechanical stretch, hypotonic solution and hydroxy-alpha-sanshool activated greater fractions in TG. A hypotonic solution has lower solute concentration and can deform cells as water enters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used RNA sequencing to measure expressed messenger RNAs in TG and DRG. A transcriptome is the collection of these RNA transcripts. Because an annotated star-nosed mole genome was unavailable, reads were aligned successively against human, dog and mouse transcript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RNA abundance is several steps removed from behavior: a transcript must produce protein, the protein must act in an appropriate cell, and its activity must contribute to a relevant sensory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identifies expression patterns that distinguish the facial ganglion from the body ganglion. The mouse comparison separates differences shared across mammals from those specific to the mole, which nominates genes for functional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ion channel is a membrane protein that permits ions to cross the cell membrane. Gerhold and colleagues focused their expression comparison on channels and modulators. Facial-ganglion candidates included ASIC3, Piezo1, cyclic-nucleotide-gated channels and stomatin-related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conductance table is retained as an original article panel. Channel enrichment and channel conductance are different properties: abundant expression does not determine the effect of opening the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Quantitative PCR,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reference transcript supplies a common normalization baseline. It does not correct every possible difference in tissue composition, RNA preservation or cell-type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Cnga2 and Stoml3 were more highly expressed in TG, whereas Trpa1 and Trpv1 were more highly expressed in DRG. Fam38a, the Piezo1 gene, followed the TG-directed trend but its qPCR difference was not established convincingly in this follow-up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between sequencing and qPCR strengthens the expression claim for Cnga2, Stoml3, Trpa1 and Trpv1. Stomatin-related proteins can modulate channels, which makes Stoml3 a candidate modulator of channels in the facial ganglion.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CNGA2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Co-labeling associates proteins with the same cellular profiles at the resolution of the assay. It does not establish a physical protein complex or direct interaction between CNGA2 and neurofilament.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provides spatial validation beyond a bulk RNA comparison. The protein localizes to the same touch-associated fibers that carry the NF200 marker, which confirms at the protein level the enrichment seen in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examined candidate channels in mouse sensory ganglia using reverse-transcription PCR, which detects RNA after converting it to DNA. The mouse supplied a more experimentally tractable comparison, rather than a replacement measurement of the mole’s sensory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orthologous gene is a corresponding gene inherited from a common ancestor. Shared sequence identity permits comparisons while leaving species-specific expression and physiological roles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connects a specialized animal's molecular screen with possible mechanistic experiments, because candidate genes detected in mouse ganglia can be examined with mouse tools. An orthologous gene present in both species is the starting point for testing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5(A–B). Candidate-channel detection in mouse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4(E–F). CNGA2 and NF200 labeling in Eimer’s-organ fibers.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4" name="Google Shape;454;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principal trigeminal nucleus, or PrV, is a brainstem relay for facial mechanosensory input. Catania, Leitch and Gauthier compared stained brainstem sections from star-nosed and hairy-tailed moles, Parascalops breweri, relating central anatomy to their different nasal receptor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Cytochrome oxidase is a metabolic enzyme used to reveal tissue organization. A darkly stained module is an anatomical compartment, not a direct quantitative recording of momentary neural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enlargement marks a major specialization before signals reach cortex. Cytochrome-oxidase subdivisions inside PrV were compared with receptive-field mapping to determine which rays the visible subdivisions represent.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Somatotopy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brainstem star is a map of ray identities. Its dimensions represent allocated neural tissue and need not preserve the physical dimensions of the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3(A–B). The star and its 11-module representation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2. Parasagittal section locating ganglion, nerve and trigeminal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recorded neural responses while gently stimulating identified nasal rays. They marked selected electrode locations with small lesions, then aligned these marks with stained sections. A receptive field is the peripheral region whose stimulation changes a recorded neuron’s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recording lesion marks the electrode’s position after physiological measurements. It is a localization tool here, rather than an experimental lesion used to measure a loss of feeding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establish ray-related activity within PrV. Lesion marks aligned with stained sections link each recorded response to its module, so a neuron that responds to a given ray lies in the module assigned to that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4(A–H). Recording lesions linked to histology and ray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5(A–K). Independent electrode tracks and ray assignments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reconstructed serial PrV sections to measure each ray representation’s volume. They compared these volumes with previously measured myelinated-afferent counts and S1 cortical areas. Magnification describes unequal allocation of neural tissue to different regions of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Comparing proportions within each structure avoids confusing cubic millimeters of brainstem with square millimeters of cortex. The measured percentages refer to the star representation, not the entire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star subnucleus averaged about 7.1 mm³. Ray 11 supplied about 11% of the star’s counted afferents, occupied 14% of its PrV representation and occupied 25% of the S1 star representation. Foveal investment therefore increased across these measured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indicates that magnification builds up in steps, with the foveal ray receiving a larger share of neural tissue at each successive stage. Allocation is therefore a distributional transformation and not a uniform scaling of the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6(C–E). PrV volume, afferent counts and S1 allocation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2" name="Google Shape;512;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Primary somatosensory cortex, or S1, is a cortical area receiving somatic sensory information. Secondary somatosensory cortex, or S2, is another processing area with its own map. Catania and Kaas flattened cortex and cut tangential sections to expose its ray-related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tangential section runs approximately parallel to the cortical surface. Flattening makes the map easier to measure, while changing the tissue’s original three-dimensional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visible stripes allow anatomical area to be compared with measured peripheral innervation. Two stripe sets, one for S1 and one for S2, each hold a separate map of the opposite side of the nose, and the enlarged foveal territory is visible in S1.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defined afferent magnification as cortical representational area per primary sensory afferent. They divided measured S1 ray territories by the corresponding myelinated-fiber counts. This differs from cortical area per skin area or per Eimer’s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Normalization asks whether a difference remains after accounting for a measured input variable. A remaining difference is evidence against that variable being the sole explanation; it does not identify the only alternative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unequal central investment per counted input. Ray 11 keeps the largest cortical allocation after normalization by afferent number, which is consistent with functional specialization associated with its preferential behavioral use.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12(C). Cortical area per myelinated afferent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6(F–G). Brainstem volume and S1 area per afferent.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mapped excitatory receptive fields while recording multiunit activity in anesthetized moles. A fine glass probe contacted individual parts of the star under a microscope. Multiunit activity combines spikes from nearby neurons, so its field differs from a single isolated neuron’s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small receptive field means that local contact can activate a more restricted neuronal population. It does not by itself determine how reliably an animal discriminates two nearby objects.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excitatory field area was 0.59 mm² on ray 11 and 0.82 mm² on rays 1–10. Boundaries were sharply defined by the fall in evoked activity outside each field. Most fields occupied a continuous patch within one ray rather than spanning the whole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smaller foveal fields support finer spatial sampling in the disproportionately large representation. A smaller field means that a touch at a given location drives a more restricted group of cortical neurons, with 0.59 mm² on ray 11 against 0.82 mm² on rays 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 Measured multiunit receptive fields across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isolated cortical units and stimulated the mapped field with a piezoelectrically controlled probe. Piezoelectric actuation converts an applied voltage into a small mechanical displacement. Stimuli lasting 5 or 500 ms separated brief contact from a prolonged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poststimulus time histogram pools spike timing relative to stimulus onset. Its peak describes a response across trials; it should not be interpreted as every trial producing a spike at the same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probe was approximately 0.2–0.5 mm across and depressed the skin about 200 µm. The authors recorded baseline spontaneous activity and compared responses at different locations. Mean excitatory onset latency was 11.6 ms, similar for brief and prolonged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common onset latency of 11.6 ms for 5-ms and 500-ms stimuli supports fast transmission that is not determined by total contact duration. The latency fits the cortical tactile onset near 12 ms used in the double-take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8(A–B). Population onset responses to 500-ms and 5-ms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measured cortical firing during 500-ms indentations. An ON response is evoked at contact onset; an OFF response follows its release. The two events can both change mechanical strain even though their effects on the skin have opposite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neuron’s response to release can carry information about contact ending. The experiment measured mechanical release directly; it did not ask the animal to report whether an object had departed.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61% of recorded neurons had an excitatory OFF response. Its mean latency was 12.2 ms and mean duration 39.1 ms, comparable to the brief ON discharge. Many units showed suppression after onset instead of maintaining an elevated rate throughout the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supports a code sensitive to transitions as well as continuing contact. About 61% of neurons carried an OFF response at 12.2 ms, so release of the stimulus is signaled about as quickly as its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 Population onset and release responses to 500-ms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5" name="Google Shape;58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used simultaneous recordings at electrodes separated by 200 µm while moving the probe among mapped sites. Center–surround organization means that stimulation in a central receptive region can excite a neuron while stimulation outside that region reduces its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Extracellular suppression describes a reduction in spikes. Synaptic inhibition is one possible mechanism, but reduced excitation or other network effects can also lower a neuron’s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interactions that sharpen the spatial pattern of cortical activity. One contact raises activity at its own location and lowers it at neighboring ones, which increases the contrast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6(A–F). Simultaneous recordings of excitation and suppression.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receptive-field border is measured from responses, not inferred from the physical outline of the ray. Several response zones can therefore occupy one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positional dependence supports a spatially structured response in which excitation at the center and suppression in the surround define a response boundary within a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7. Responses as contact moves from the receptive-field center.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compared cortical responses to 5-, 20- and 500-ms stimuli delivered to the same receptive fields. Transient responses emphasize short changes near onset, whereas sustained responses continue during contact. These categories concern recorded activity rather than an assumed receptor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Applying different durations to the same mapped site limits a spatial confound. The neuronal class is defined by the prolonged-stimulus response, not by an anatomical identification of its peripheral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multiple temporal representations of contact duration within cortex. A short natural touch can activate these neurons without reproducing their response to a long hold, so duration is coded by which neurons stay active.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2(A–C). Different transient and sustained responses across stimulus durations.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https://doi.org/10.1080/0899022021000037737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Northcutt and Kaas examined embryos with scanning microscopy and stained sections. Morphogenesis is the formation of an anatomical structure during development. The mole’s rays formed as patterned epidermal waves before becoming free appendages, rather than initially projecting outward as separate limbs.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crest is a raised part of the developing epidermis. The later ray derives from reorganized facial tissue, so adult appearance alone would not reveal this developmental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9-mm embryonic stage, the nose lacked differentiated rays. At 11 mm, a series of epidermal crests appeared; by 13–15 mm, the 22-ray pattern was apparent. The original sections locate developing nerves relative to the tissue layers that later separate.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developmental sequence establishes how the star's basic structure emerges. Rays arise from epidermal crests that form between embryo lengths of 9 and 15 mm, and embryo length serves as a staging measure for these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1(A–C). Prenatal ray formation and corresponding stained nose sections.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traced embryonic facial nerves with DiI while the star’s rays were still embedded in the facial epidermis. The preparation relates nerve organization to tissue morphogenesis before the newborn possesses the freely moving adult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fascicle is a bundle of axons traveling together. The tracing records an evolving anatomical pathway, not neuronal firing during embryonic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3(A1–C2). Development of ray-specific nerves and terminal 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0" name="Google Shape;66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Active touch uses a fovea. Broad initial contact is followed by repositioning of ray 11; the star senses and positions prey while incisors grasp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handling changes prey value. Small-prey handling averages 227 ms; low handling costs make tiny prey profitable, while search costs still depend on encounter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Peripheral specialization has several levels. Eimer’s organs contain multiple endings; foveal specialization involves afferent investment and cannot be explained solely by dome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Molecular evidence has limits. TG neurons are enriched for mechanosensitivity; transcript and protein enrichment identify candidate channels without proving their causal role.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allocation magnifies ray 11. Ray 11 accounts for about 11% of afferents, 14% of the PrV star representation and 25% of the S1 star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Spatial and temporal codes complement each other. Small foveal fields, center–surround suppression and distinct onset, release and sustained responses encode different aspects of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touch excites some cortical neurons and suppresses their neighbors.</a:t>
            </a:r>
          </a:p>
          <a:p>
            <a:r>
              <a:rPr lang="en-US" sz="1200"/>
              <a:t>• Definition.</a:t>
            </a:r>
          </a:p>
          <a:p>
            <a:r>
              <a:rPr lang="en-US" sz="1200"/>
              <a:t>– Center–surround organization pairs excitation in the center of a field with reduced activity in the surround.</a:t>
            </a:r>
          </a:p>
          <a:p>
            <a:r>
              <a:rPr lang="en-US" sz="1200"/>
              <a:t>• Reference level.</a:t>
            </a:r>
          </a:p>
          <a:p>
            <a:r>
              <a:rPr lang="en-US" sz="1200"/>
              <a:t>– Suppression is measured relative to spontaneous firing.</a:t>
            </a:r>
          </a:p>
          <a:p>
            <a:r>
              <a:rPr lang="en-US" sz="1200"/>
              <a:t>• Recordings.</a:t>
            </a:r>
          </a:p>
          <a:p>
            <a:r>
              <a:rPr lang="en-US" sz="1200"/>
              <a:t>– Sachdev and Catania recorded at electrodes separated by 200 micrometers.</a:t>
            </a:r>
          </a:p>
          <a:p>
            <a:r>
              <a:rPr lang="en-US" sz="1200"/>
              <a:t>– They moved the probe among mapped sites.</a:t>
            </a:r>
          </a:p>
          <a:p>
            <a:r>
              <a:rPr lang="en-US" sz="1200"/>
              <a:t>• Paired example.</a:t>
            </a:r>
          </a:p>
          <a:p>
            <a:r>
              <a:rPr lang="en-US" sz="1200"/>
              <a:t>– One contact excited a neuron whose field included that position.</a:t>
            </a:r>
          </a:p>
          <a:p>
            <a:r>
              <a:rPr lang="en-US" sz="1200"/>
              <a:t>– The same contact suppressed another neuron whose field lay elsewhere.</a:t>
            </a:r>
          </a:p>
          <a:p>
            <a:r>
              <a:rPr lang="en-US" sz="1200"/>
              <a:t>• Inhibition.</a:t>
            </a:r>
          </a:p>
          <a:p>
            <a:r>
              <a:rPr lang="en-US" sz="1200"/>
              <a:t>– Suppression is different from merely failing to excite a neuron.</a:t>
            </a:r>
          </a:p>
          <a:p>
            <a:r>
              <a:rPr lang="en-US" sz="1200"/>
              <a:t>• Extent.</a:t>
            </a:r>
          </a:p>
          <a:p>
            <a:r>
              <a:rPr lang="en-US" sz="1200"/>
              <a:t>– Most inhibitory surrounds were larger than the excitatory patch.</a:t>
            </a:r>
          </a:p>
          <a:p>
            <a:r>
              <a:rPr lang="en-US" sz="1200"/>
              <a:t>– They remained largely confined to one ray.</a:t>
            </a:r>
          </a:p>
          <a:p>
            <a:r>
              <a:rPr lang="en-US" sz="1200"/>
              <a:t>• Electrode spacing.</a:t>
            </a:r>
          </a:p>
          <a:p>
            <a:r>
              <a:rPr lang="en-US" sz="1200"/>
              <a:t>– Two electrodes 200 micrometers apart recorded neurons with different fields at the same time.</a:t>
            </a:r>
          </a:p>
          <a:p>
            <a:r>
              <a:rPr lang="en-US" sz="1200"/>
              <a:t>• Baseline.</a:t>
            </a:r>
          </a:p>
          <a:p>
            <a:r>
              <a:rPr lang="en-US" sz="1200"/>
              <a:t>– Spontaneous firing provides the reference for a decrease.</a:t>
            </a:r>
          </a:p>
          <a:p>
            <a:r>
              <a:rPr lang="en-US" sz="1200"/>
              <a:t>– A neuron that simply does not respond stays at baseline.</a:t>
            </a:r>
          </a:p>
          <a:p>
            <a:r>
              <a:rPr lang="en-US" sz="1200"/>
              <a:t>• Cortical consequence.</a:t>
            </a:r>
          </a:p>
          <a:p>
            <a:r>
              <a:rPr lang="en-US" sz="1200"/>
              <a:t>– Excitation at one location with suppression at neighboring sites sharpens the spatial pattern of cortical activity.</a:t>
            </a:r>
          </a:p>
          <a:p>
            <a:r>
              <a:rPr lang="en-US" sz="1200"/>
              <a:t>– The suppression remained largely within one ray.</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a small group of neurons at once gives a stable map of the skin territory they serve.</a:t>
            </a:r>
          </a:p>
          <a:p>
            <a:r>
              <a:rPr lang="en-US" sz="1200"/>
              <a:t>• Definition.</a:t>
            </a:r>
          </a:p>
          <a:p>
            <a:r>
              <a:rPr lang="en-US" sz="1200"/>
              <a:t>– Multiunit activity combines spikes from nearby neurons.</a:t>
            </a:r>
          </a:p>
          <a:p>
            <a:r>
              <a:rPr lang="en-US" sz="1200"/>
              <a:t>– Individual cells are not separated.</a:t>
            </a:r>
          </a:p>
          <a:p>
            <a:r>
              <a:rPr lang="en-US" sz="1200"/>
              <a:t>• Mapping.</a:t>
            </a:r>
          </a:p>
          <a:p>
            <a:r>
              <a:rPr lang="en-US" sz="1200"/>
              <a:t>– A fine glass probe contacted individual parts of the star under a microscope.</a:t>
            </a:r>
          </a:p>
          <a:p>
            <a:r>
              <a:rPr lang="en-US" sz="1200"/>
              <a:t>– The recordings came from anesthetized moles.</a:t>
            </a:r>
          </a:p>
          <a:p>
            <a:r>
              <a:rPr lang="en-US" sz="1200"/>
              <a:t>• Field size.</a:t>
            </a:r>
          </a:p>
          <a:p>
            <a:r>
              <a:rPr lang="en-US" sz="1200"/>
              <a:t>– Mean excitatory field area was 0.59 square millimeters on ray 11.</a:t>
            </a:r>
          </a:p>
          <a:p>
            <a:r>
              <a:rPr lang="en-US" sz="1200"/>
              <a:t>– It was 0.82 square millimeters on rays 1 to 10.</a:t>
            </a:r>
          </a:p>
          <a:p>
            <a:r>
              <a:rPr lang="en-US" sz="1200"/>
              <a:t>• Boundaries.</a:t>
            </a:r>
          </a:p>
          <a:p>
            <a:r>
              <a:rPr lang="en-US" sz="1200"/>
              <a:t>– Field edges were sharply defined by the fall in evoked activity outside each field.</a:t>
            </a:r>
          </a:p>
          <a:p>
            <a:r>
              <a:rPr lang="en-US" sz="1200"/>
              <a:t>• Location.</a:t>
            </a:r>
          </a:p>
          <a:p>
            <a:r>
              <a:rPr lang="en-US" sz="1200"/>
              <a:t>– Most fields occupied a continuous patch within one ray and did not span the whole star.</a:t>
            </a:r>
          </a:p>
          <a:p>
            <a:r>
              <a:rPr lang="en-US" sz="1200"/>
              <a:t>• Meaning.</a:t>
            </a:r>
          </a:p>
          <a:p>
            <a:r>
              <a:rPr lang="en-US" sz="1200"/>
              <a:t>– A multiunit field differs from the field of a single isolated neuron.</a:t>
            </a:r>
          </a:p>
          <a:p>
            <a:r>
              <a:rPr lang="en-US" sz="1200"/>
              <a:t>• Recording preparation.</a:t>
            </a:r>
          </a:p>
          <a:p>
            <a:r>
              <a:rPr lang="en-US" sz="1200"/>
              <a:t>– The moles were anesthetized during mapping.</a:t>
            </a:r>
          </a:p>
          <a:p>
            <a:r>
              <a:rPr lang="en-US" sz="1200"/>
              <a:t>– Cortical activity was recorded while the probe touched the star.</a:t>
            </a:r>
          </a:p>
          <a:p>
            <a:r>
              <a:rPr lang="en-US" sz="1200"/>
              <a:t>• Comparison of rays.</a:t>
            </a:r>
          </a:p>
          <a:p>
            <a:r>
              <a:rPr lang="en-US" sz="1200"/>
              <a:t>– Ray 11 had smaller fields than rays 1 to 10.</a:t>
            </a:r>
          </a:p>
          <a:p>
            <a:r>
              <a:rPr lang="en-US" sz="1200"/>
              <a:t>– Its representation in cortex is also disproportionately large.</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plane of a tissue section determines which spatial relationships can be seen.</a:t>
            </a:r>
          </a:p>
          <a:p>
            <a:r>
              <a:rPr lang="en-US" sz="1200"/>
              <a:t>• Definition.</a:t>
            </a:r>
          </a:p>
          <a:p>
            <a:r>
              <a:rPr lang="en-US" sz="1200"/>
              <a:t>– A tangential section is cut parallel to the cortical surface.</a:t>
            </a:r>
          </a:p>
          <a:p>
            <a:r>
              <a:rPr lang="en-US" sz="1200"/>
              <a:t>– Flattening the cortex first places the whole sheet in one plane.</a:t>
            </a:r>
          </a:p>
          <a:p>
            <a:r>
              <a:rPr lang="en-US" sz="1200"/>
              <a:t>• Why flatten.</a:t>
            </a:r>
          </a:p>
          <a:p>
            <a:r>
              <a:rPr lang="en-US" sz="1200"/>
              <a:t>– The layout of an area across the surface becomes visible.</a:t>
            </a:r>
          </a:p>
          <a:p>
            <a:r>
              <a:rPr lang="en-US" sz="1200"/>
              <a:t>– Slices cut perpendicular to the surface show only a narrow strip.</a:t>
            </a:r>
          </a:p>
          <a:p>
            <a:r>
              <a:rPr lang="en-US" sz="1200"/>
              <a:t>• Staining.</a:t>
            </a:r>
          </a:p>
          <a:p>
            <a:r>
              <a:rPr lang="en-US" sz="1200"/>
              <a:t>– Catania and Kaas processed the sections for cytochrome oxidase.</a:t>
            </a:r>
          </a:p>
          <a:p>
            <a:r>
              <a:rPr lang="en-US" sz="1200"/>
              <a:t>• Result.</a:t>
            </a:r>
          </a:p>
          <a:p>
            <a:r>
              <a:rPr lang="en-US" sz="1200"/>
              <a:t>– Two pinwheel-like sets of stripes appeared.</a:t>
            </a:r>
          </a:p>
          <a:p>
            <a:r>
              <a:rPr lang="en-US" sz="1200"/>
              <a:t>– They corresponded to S1 and S2 star representations.</a:t>
            </a:r>
          </a:p>
          <a:p>
            <a:r>
              <a:rPr lang="en-US" sz="1200"/>
              <a:t>• Mapping.</a:t>
            </a:r>
          </a:p>
          <a:p>
            <a:r>
              <a:rPr lang="en-US" sz="1200"/>
              <a:t>– Electrophysiological mapping associated stripes with input from rays on the opposite side of the nose.</a:t>
            </a:r>
          </a:p>
          <a:p>
            <a:r>
              <a:rPr lang="en-US" sz="1200"/>
              <a:t>• Fovea.</a:t>
            </a:r>
          </a:p>
          <a:p>
            <a:r>
              <a:rPr lang="en-US" sz="1200"/>
              <a:t>– The foveal ray occupied an especially large S1 territory.</a:t>
            </a:r>
          </a:p>
          <a:p>
            <a:r>
              <a:rPr lang="en-US" sz="1200"/>
              <a:t>• S1 and S2.</a:t>
            </a:r>
          </a:p>
          <a:p>
            <a:r>
              <a:rPr lang="en-US" sz="1200"/>
              <a:t>– S1 is primary somatosensory cortex and S2 is a secondary processing area with its own map.</a:t>
            </a:r>
          </a:p>
          <a:p>
            <a:r>
              <a:rPr lang="en-US" sz="1200"/>
              <a:t>• Pinwheel arrangement.</a:t>
            </a:r>
          </a:p>
          <a:p>
            <a:r>
              <a:rPr lang="en-US" sz="1200"/>
              <a:t>– The stripes are arranged around a center like the rays of the nose.</a:t>
            </a:r>
          </a:p>
          <a:p>
            <a:r>
              <a:rPr lang="en-US" sz="1200"/>
              <a:t>– Each set represents the opposite side of the nose.</a:t>
            </a:r>
          </a:p>
          <a:p>
            <a:r>
              <a:rPr lang="en-US" sz="1200"/>
              <a:t/>
            </a:r>
          </a:p>
          <a:p>
            <a:r>
              <a:rPr lang="en-US" sz="1200"/>
              <a:t>References:</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a:p>
            <a:r>
              <a:rPr lang="en-US" sz="1200"/>
              <a:t>Sawyer EK, Catania KC (2016). Somatosensory organ topography across the star of the star‐nosed mole (Condylura cristata). Journal of Comparative Neurology 524(5):917-929. https://doi.org/10.1002/cne.23943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a module and finding where on the nose it responds links anatomy to function.</a:t>
            </a:r>
          </a:p>
          <a:p>
            <a:r>
              <a:rPr lang="en-US" sz="1200"/>
              <a:t>• Definition.</a:t>
            </a:r>
          </a:p>
          <a:p>
            <a:r>
              <a:rPr lang="en-US" sz="1200"/>
              <a:t>– A receptive field is the peripheral region whose stimulation changes a recorded neuron's activity.</a:t>
            </a:r>
          </a:p>
          <a:p>
            <a:r>
              <a:rPr lang="en-US" sz="1200"/>
              <a:t>• Stimulation.</a:t>
            </a:r>
          </a:p>
          <a:p>
            <a:r>
              <a:rPr lang="en-US" sz="1200"/>
              <a:t>– Catania and colleagues gently stimulated identified nasal rays while recording.</a:t>
            </a:r>
          </a:p>
          <a:p>
            <a:r>
              <a:rPr lang="en-US" sz="1200"/>
              <a:t>• Lesion marks.</a:t>
            </a:r>
          </a:p>
          <a:p>
            <a:r>
              <a:rPr lang="en-US" sz="1200"/>
              <a:t>– Selected electrode locations were marked with small lesions.</a:t>
            </a:r>
          </a:p>
          <a:p>
            <a:r>
              <a:rPr lang="en-US" sz="1200"/>
              <a:t>– The marks were aligned with stained sections.</a:t>
            </a:r>
          </a:p>
          <a:p>
            <a:r>
              <a:rPr lang="en-US" sz="1200"/>
              <a:t>• Responses.</a:t>
            </a:r>
          </a:p>
          <a:p>
            <a:r>
              <a:rPr lang="en-US" sz="1200"/>
              <a:t>– Responses along penetrations changed according to the module entered.</a:t>
            </a:r>
          </a:p>
          <a:p>
            <a:r>
              <a:rPr lang="en-US" sz="1200"/>
              <a:t>• Assignments.</a:t>
            </a:r>
          </a:p>
          <a:p>
            <a:r>
              <a:rPr lang="en-US" sz="1200"/>
              <a:t>– Lesion positions and serial sections related functional assignments to the 11-module pattern.</a:t>
            </a:r>
          </a:p>
          <a:p>
            <a:r>
              <a:rPr lang="en-US" sz="1200"/>
              <a:t>• Evidence.</a:t>
            </a:r>
          </a:p>
          <a:p>
            <a:r>
              <a:rPr lang="en-US" sz="1200"/>
              <a:t>– The paired record of stimulation territory and recording location is stronger than labeling modules from resemblance alone.</a:t>
            </a:r>
          </a:p>
          <a:p>
            <a:r>
              <a:rPr lang="en-US" sz="1200"/>
              <a:t>• Penetrations.</a:t>
            </a:r>
          </a:p>
          <a:p>
            <a:r>
              <a:rPr lang="en-US" sz="1200"/>
              <a:t>– Each electrode track passed through several modules.</a:t>
            </a:r>
          </a:p>
          <a:p>
            <a:r>
              <a:rPr lang="en-US" sz="1200"/>
              <a:t>– Responses changed as the electrode entered each new module.</a:t>
            </a:r>
          </a:p>
          <a:p>
            <a:r>
              <a:rPr lang="en-US" sz="1200"/>
              <a:t>• Controls on location.</a:t>
            </a:r>
          </a:p>
          <a:p>
            <a:r>
              <a:rPr lang="en-US" sz="1200"/>
              <a:t>– Some penetrations also encountered trigeminal-nerve or spinal-nucleus responses, so location was checked in the stained sections.</a:t>
            </a:r>
          </a:p>
          <a:p>
            <a:r>
              <a:rPr lang="en-US" sz="1200"/>
              <a:t>• Outcome.</a:t>
            </a:r>
          </a:p>
          <a:p>
            <a:r>
              <a:rPr lang="en-US" sz="1200"/>
              <a:t>– Ray-related activity was recorded within PrV.</a:t>
            </a:r>
          </a:p>
          <a:p>
            <a:r>
              <a:rPr lang="en-US" sz="1200"/>
              <a:t>– Each recorded response could be tied to a module by its lesion mark.</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metabolic stain makes the internal organization of the brainstem visible.</a:t>
            </a:r>
          </a:p>
          <a:p>
            <a:r>
              <a:rPr lang="en-US" sz="1200"/>
              <a:t>• Stain.</a:t>
            </a:r>
          </a:p>
          <a:p>
            <a:r>
              <a:rPr lang="en-US" sz="1200"/>
              <a:t>– Cytochrome oxidase is a mitochondrial enzyme.</a:t>
            </a:r>
          </a:p>
          <a:p>
            <a:r>
              <a:rPr lang="en-US" sz="1200"/>
              <a:t>– Tissue stains darker where neurons are metabolically more active.</a:t>
            </a:r>
          </a:p>
          <a:p>
            <a:r>
              <a:rPr lang="en-US" sz="1200"/>
              <a:t>• Sections.</a:t>
            </a:r>
          </a:p>
          <a:p>
            <a:r>
              <a:rPr lang="en-US" sz="1200"/>
              <a:t>– Catania, Leitch and Gauthier stained brainstem sections.</a:t>
            </a:r>
          </a:p>
          <a:p>
            <a:r>
              <a:rPr lang="en-US" sz="1200"/>
              <a:t>– They compared star-nosed and hairy-tailed moles.</a:t>
            </a:r>
          </a:p>
          <a:p>
            <a:r>
              <a:rPr lang="en-US" sz="1200"/>
              <a:t>• Star-nosed mole PrV.</a:t>
            </a:r>
          </a:p>
          <a:p>
            <a:r>
              <a:rPr lang="en-US" sz="1200"/>
              <a:t>– PrV was greatly expanded and bulged toward the incoming trigeminal nerve.</a:t>
            </a:r>
          </a:p>
          <a:p>
            <a:r>
              <a:rPr lang="en-US" sz="1200"/>
              <a:t>• Subdivisions.</a:t>
            </a:r>
          </a:p>
          <a:p>
            <a:r>
              <a:rPr lang="en-US" sz="1200"/>
              <a:t>– The stain revealed strong internal subdivisions.</a:t>
            </a:r>
          </a:p>
          <a:p>
            <a:r>
              <a:rPr lang="en-US" sz="1200"/>
              <a:t>• Comparison region.</a:t>
            </a:r>
          </a:p>
          <a:p>
            <a:r>
              <a:rPr lang="en-US" sz="1200"/>
              <a:t>– The adjacent spinal trigeminal complex provided an anatomical comparison.</a:t>
            </a:r>
          </a:p>
          <a:p>
            <a:r>
              <a:rPr lang="en-US" sz="1200"/>
              <a:t>– It was not evidence that all facial nuclei expanded equally.</a:t>
            </a:r>
          </a:p>
          <a:p>
            <a:r>
              <a:rPr lang="en-US" sz="1200"/>
              <a:t>• Cortex.</a:t>
            </a:r>
          </a:p>
          <a:p>
            <a:r>
              <a:rPr lang="en-US" sz="1200"/>
              <a:t>– The same stain applied to flattened cortex reveals the stripes of the cortical star.</a:t>
            </a:r>
          </a:p>
          <a:p>
            <a:r>
              <a:rPr lang="en-US" sz="1200"/>
              <a:t>• Species comparison.</a:t>
            </a:r>
          </a:p>
          <a:p>
            <a:r>
              <a:rPr lang="en-US" sz="1200"/>
              <a:t>– The hairy-tailed mole, Parascalops breweri, has a different nasal receptor surface.</a:t>
            </a:r>
          </a:p>
          <a:p>
            <a:r>
              <a:rPr lang="en-US" sz="1200"/>
              <a:t>– Comparing the two relates central anatomy to peripheral specialization.</a:t>
            </a:r>
          </a:p>
          <a:p>
            <a:r>
              <a:rPr lang="en-US" sz="1200"/>
              <a:t>• PrV.</a:t>
            </a:r>
          </a:p>
          <a:p>
            <a:r>
              <a:rPr lang="en-US" sz="1200"/>
              <a:t>– The principal trigeminal nucleus is a brainstem relay for facial mechanosensory input.</a:t>
            </a:r>
          </a:p>
          <a:p>
            <a:r>
              <a:rPr lang="en-US" sz="1200"/>
              <a:t>• Result.</a:t>
            </a:r>
          </a:p>
          <a:p>
            <a:r>
              <a:rPr lang="en-US" sz="1200"/>
              <a:t>– The enlarged nucleus is a major specialization that appears before signals reach cortex.</a:t>
            </a:r>
          </a:p>
          <a:p>
            <a:r>
              <a:rPr lang="en-US" sz="1200"/>
              <a:t>– Its subdivisions were then related to rays by mapping receptive fields.</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second method on selected genes tests whether the sequencing screen was reliable.</a:t>
            </a:r>
          </a:p>
          <a:p>
            <a:r>
              <a:rPr lang="en-US" sz="1200"/>
              <a:t>• Method.</a:t>
            </a:r>
          </a:p>
          <a:p>
            <a:r>
              <a:rPr lang="en-US" sz="1200"/>
              <a:t>– Quantitative PCR amplifies a selected RNA target.</a:t>
            </a:r>
          </a:p>
          <a:p>
            <a:r>
              <a:rPr lang="en-US" sz="1200"/>
              <a:t>– The product is monitored during amplification.</a:t>
            </a:r>
          </a:p>
          <a:p>
            <a:r>
              <a:rPr lang="en-US" sz="1200"/>
              <a:t>• Normalization.</a:t>
            </a:r>
          </a:p>
          <a:p>
            <a:r>
              <a:rPr lang="en-US" sz="1200"/>
              <a:t>– Expression is normalized to a reference transcript.</a:t>
            </a:r>
          </a:p>
          <a:p>
            <a:r>
              <a:rPr lang="en-US" sz="1200"/>
              <a:t>– This allows samples to be compared.</a:t>
            </a:r>
          </a:p>
          <a:p>
            <a:r>
              <a:rPr lang="en-US" sz="1200"/>
              <a:t>• TG-enriched genes.</a:t>
            </a:r>
          </a:p>
          <a:p>
            <a:r>
              <a:rPr lang="en-US" sz="1200"/>
              <a:t>– Cnga2 and Stoml3 were more highly expressed in the trigeminal ganglion.</a:t>
            </a:r>
          </a:p>
          <a:p>
            <a:r>
              <a:rPr lang="en-US" sz="1200"/>
              <a:t>• DRG-enriched genes.</a:t>
            </a:r>
          </a:p>
          <a:p>
            <a:r>
              <a:rPr lang="en-US" sz="1200"/>
              <a:t>– Trpa1 and Trpv1 were more highly expressed in the dorsal root ganglia.</a:t>
            </a:r>
          </a:p>
          <a:p>
            <a:r>
              <a:rPr lang="en-US" sz="1200"/>
              <a:t>• Piezo1.</a:t>
            </a:r>
          </a:p>
          <a:p>
            <a:r>
              <a:rPr lang="en-US" sz="1200"/>
              <a:t>– Fam38a, the Piezo1 gene, followed the TG-directed trend.</a:t>
            </a:r>
          </a:p>
          <a:p>
            <a:r>
              <a:rPr lang="en-US" sz="1200"/>
              <a:t>– Its difference in this assay was not established convincingly.</a:t>
            </a:r>
          </a:p>
          <a:p>
            <a:r>
              <a:rPr lang="en-US" sz="1200"/>
              <a:t>• Meaning.</a:t>
            </a:r>
          </a:p>
          <a:p>
            <a:r>
              <a:rPr lang="en-US" sz="1200"/>
              <a:t>– Agreement across independent assays strengthens an expression claim, and function remains to be tested.</a:t>
            </a:r>
          </a:p>
          <a:p>
            <a:r>
              <a:rPr lang="en-US" sz="1200"/>
              <a:t>• Reference transcript.</a:t>
            </a:r>
          </a:p>
          <a:p>
            <a:r>
              <a:rPr lang="en-US" sz="1200"/>
              <a:t>– A reference transcript corrects for differences in the amount of starting material.</a:t>
            </a:r>
          </a:p>
          <a:p>
            <a:r>
              <a:rPr lang="en-US" sz="1200"/>
              <a:t>– Each candidate is then expressed relative to it.</a:t>
            </a:r>
          </a:p>
          <a:p>
            <a:r>
              <a:rPr lang="en-US" sz="1200"/>
              <a:t>• Candidates.</a:t>
            </a:r>
          </a:p>
          <a:p>
            <a:r>
              <a:rPr lang="en-US" sz="1200"/>
              <a:t>– Cnga2 and Stoml3 favored the face-serving ganglion.</a:t>
            </a:r>
          </a:p>
          <a:p>
            <a:r>
              <a:rPr lang="en-US" sz="1200"/>
              <a:t>– Trpa1 and Trpv1 favored the body-serving ganglion.</a:t>
            </a:r>
          </a:p>
          <a:p>
            <a:r>
              <a:rPr lang="en-US" sz="1200"/>
              <a:t>• Piezo1.</a:t>
            </a:r>
          </a:p>
          <a:p>
            <a:r>
              <a:rPr lang="en-US" sz="1200"/>
              <a:t>– The Piezo1 gene followed the face-directed trend.</a:t>
            </a:r>
          </a:p>
          <a:p>
            <a:r>
              <a:rPr lang="en-US" sz="1200"/>
              <a:t>– The follow-up assay did not establish the difference convincingly, so this candidate is treated with more caution.</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Sequencing the RNA of a tissue lists the genes that it is actively using.</a:t>
            </a:r>
          </a:p>
          <a:p>
            <a:r>
              <a:rPr lang="en-US" sz="1200"/>
              <a:t>• Definition.</a:t>
            </a:r>
          </a:p>
          <a:p>
            <a:r>
              <a:rPr lang="en-US" sz="1200"/>
              <a:t>– A transcriptome is the collection of RNA transcripts in a tissue.</a:t>
            </a:r>
          </a:p>
          <a:p>
            <a:r>
              <a:rPr lang="en-US" sz="1200"/>
              <a:t>– RNA sequencing reads and counts these transcripts.</a:t>
            </a:r>
          </a:p>
          <a:p>
            <a:r>
              <a:rPr lang="en-US" sz="1200"/>
              <a:t>• Tissues.</a:t>
            </a:r>
          </a:p>
          <a:p>
            <a:r>
              <a:rPr lang="en-US" sz="1200"/>
              <a:t>– Gerhold and colleagues compared the trigeminal ganglion with the dorsal root ganglia of star-nosed moles.</a:t>
            </a:r>
          </a:p>
          <a:p>
            <a:r>
              <a:rPr lang="en-US" sz="1200"/>
              <a:t>– The first serves the face and the second serves the body.</a:t>
            </a:r>
          </a:p>
          <a:p>
            <a:r>
              <a:rPr lang="en-US" sz="1200"/>
              <a:t>• No annotated genome.</a:t>
            </a:r>
          </a:p>
          <a:p>
            <a:r>
              <a:rPr lang="en-US" sz="1200"/>
              <a:t>– Reads were aligned successively against human, dog and mouse transcript sequences.</a:t>
            </a:r>
          </a:p>
          <a:p>
            <a:r>
              <a:rPr lang="en-US" sz="1200"/>
              <a:t>• Coverage.</a:t>
            </a:r>
          </a:p>
          <a:p>
            <a:r>
              <a:rPr lang="en-US" sz="1200"/>
              <a:t>– The approach assigned approximately 42 to 65 percent of sequenced reads.</a:t>
            </a:r>
          </a:p>
          <a:p>
            <a:r>
              <a:rPr lang="en-US" sz="1200"/>
              <a:t>– Thousands of genes differed between the two mole ganglia.</a:t>
            </a:r>
          </a:p>
          <a:p>
            <a:r>
              <a:rPr lang="en-US" sz="1200"/>
              <a:t>• Mouse comparison.</a:t>
            </a:r>
          </a:p>
          <a:p>
            <a:r>
              <a:rPr lang="en-US" sz="1200"/>
              <a:t>– A parallel mouse comparison separated differences shared across mammals from those associated with the mole.</a:t>
            </a:r>
          </a:p>
          <a:p>
            <a:r>
              <a:rPr lang="en-US" sz="1200"/>
              <a:t>• Meaning.</a:t>
            </a:r>
          </a:p>
          <a:p>
            <a:r>
              <a:rPr lang="en-US" sz="1200"/>
              <a:t>– Expression differences nominate genes for functional testing.</a:t>
            </a:r>
          </a:p>
          <a:p>
            <a:r>
              <a:rPr lang="en-US" sz="1200"/>
              <a:t>• Why three genomes.</a:t>
            </a:r>
          </a:p>
          <a:p>
            <a:r>
              <a:rPr lang="en-US" sz="1200"/>
              <a:t>– The star-nosed mole genome was not annotated, so human, dog and mouse sequences served as references in turn.</a:t>
            </a:r>
          </a:p>
          <a:p>
            <a:r>
              <a:rPr lang="en-US" sz="1200"/>
              <a:t>• Bulk tissue.</a:t>
            </a:r>
          </a:p>
          <a:p>
            <a:r>
              <a:rPr lang="en-US" sz="1200"/>
              <a:t>– The sequencing samples whole ganglia, which contain neurons and supporting cells.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calcium indicator allows cultured neurons to report their response to deformation.</a:t>
            </a:r>
          </a:p>
          <a:p>
            <a:r>
              <a:rPr lang="en-US" sz="1200"/>
              <a:t>• Indicator.</a:t>
            </a:r>
          </a:p>
          <a:p>
            <a:r>
              <a:rPr lang="en-US" sz="1200"/>
              <a:t>– Fura-2 is a fluorescent calcium indicator.</a:t>
            </a:r>
          </a:p>
          <a:p>
            <a:r>
              <a:rPr lang="en-US" sz="1200"/>
              <a:t>– Its signal changes when it binds calcium.</a:t>
            </a:r>
          </a:p>
          <a:p>
            <a:r>
              <a:rPr lang="en-US" sz="1200"/>
              <a:t>• Why calcium.</a:t>
            </a:r>
          </a:p>
          <a:p>
            <a:r>
              <a:rPr lang="en-US" sz="1200"/>
              <a:t>– Calcium enters neurons when they are activated.</a:t>
            </a:r>
          </a:p>
          <a:p>
            <a:r>
              <a:rPr lang="en-US" sz="1200"/>
              <a:t>– A rise in the signal reports cellular activation.</a:t>
            </a:r>
          </a:p>
          <a:p>
            <a:r>
              <a:rPr lang="en-US" sz="1200"/>
              <a:t>• Culture.</a:t>
            </a:r>
          </a:p>
          <a:p>
            <a:r>
              <a:rPr lang="en-US" sz="1200"/>
              <a:t>– Gerhold and colleagues isolated TG and DRG neurons.</a:t>
            </a:r>
          </a:p>
          <a:p>
            <a:r>
              <a:rPr lang="en-US" sz="1200"/>
              <a:t>– The neurons were cultured on deformable substrates.</a:t>
            </a:r>
          </a:p>
          <a:p>
            <a:r>
              <a:rPr lang="en-US" sz="1200"/>
              <a:t>• Stimulus.</a:t>
            </a:r>
          </a:p>
          <a:p>
            <a:r>
              <a:rPr lang="en-US" sz="1200"/>
              <a:t>– A 10 percent radial stretch was applied to both tissues under a shared protocol.</a:t>
            </a:r>
          </a:p>
          <a:p>
            <a:r>
              <a:rPr lang="en-US" sz="1200"/>
              <a:t>• Result.</a:t>
            </a:r>
          </a:p>
          <a:p>
            <a:r>
              <a:rPr lang="en-US" sz="1200"/>
              <a:t>– About 80 percent of TG neurons responded.</a:t>
            </a:r>
          </a:p>
          <a:p>
            <a:r>
              <a:rPr lang="en-US" sz="1200"/>
              <a:t>– In DRG neurons the figure was 34 percent.</a:t>
            </a:r>
          </a:p>
          <a:p>
            <a:r>
              <a:rPr lang="en-US" sz="1200"/>
              <a:t>• Agreement with markers.</a:t>
            </a:r>
          </a:p>
          <a:p>
            <a:r>
              <a:rPr lang="en-US" sz="1200"/>
              <a:t>– The enrichment of responses in TG matches its greater fraction of touch-associated markers.</a:t>
            </a:r>
          </a:p>
          <a:p>
            <a:r>
              <a:rPr lang="en-US" sz="1200"/>
              <a:t>• Tissue comparison.</a:t>
            </a:r>
          </a:p>
          <a:p>
            <a:r>
              <a:rPr lang="en-US" sz="1200"/>
              <a:t>– TG neurons come from the ganglion serving the face and DRG neurons from the one serving the body.</a:t>
            </a:r>
          </a:p>
          <a:p>
            <a:r>
              <a:rPr lang="en-US" sz="1200"/>
              <a:t>– Both were cultured and stretched in the same way.</a:t>
            </a:r>
          </a:p>
          <a:p>
            <a:r>
              <a:rPr lang="en-US" sz="1200"/>
              <a:t>• Colors.</a:t>
            </a:r>
          </a:p>
          <a:p>
            <a:r>
              <a:rPr lang="en-US" sz="1200"/>
              <a:t>– The images retain the authors' calcium-response colors, so a responding cell changes color when calcium rises.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afferents respond differently to the same maintained indentation.</a:t>
            </a:r>
          </a:p>
          <a:p>
            <a:r>
              <a:rPr lang="en-US" sz="1200"/>
              <a:t>• Definition.</a:t>
            </a:r>
          </a:p>
          <a:p>
            <a:r>
              <a:rPr lang="en-US" sz="1200"/>
              <a:t>– Adaptation is a change in firing during continued stimulation.</a:t>
            </a:r>
          </a:p>
          <a:p>
            <a:r>
              <a:rPr lang="en-US" sz="1200"/>
              <a:t>– The firing rate declines at a rate that depends on the receptor.</a:t>
            </a:r>
          </a:p>
          <a:p>
            <a:r>
              <a:rPr lang="en-US" sz="1200"/>
              <a:t>• Slowly adapting.</a:t>
            </a:r>
          </a:p>
          <a:p>
            <a:r>
              <a:rPr lang="en-US" sz="1200"/>
              <a:t>– These afferents fire throughout the static portion of the indentation.</a:t>
            </a:r>
          </a:p>
          <a:p>
            <a:r>
              <a:rPr lang="en-US" sz="1200"/>
              <a:t>– They report that contact is present.</a:t>
            </a:r>
          </a:p>
          <a:p>
            <a:r>
              <a:rPr lang="en-US" sz="1200"/>
              <a:t>• Rapidly adapting.</a:t>
            </a:r>
          </a:p>
          <a:p>
            <a:r>
              <a:rPr lang="en-US" sz="1200"/>
              <a:t>– These afferents respond mainly to changing indentation.</a:t>
            </a:r>
          </a:p>
          <a:p>
            <a:r>
              <a:rPr lang="en-US" sz="1200"/>
              <a:t>– One class produced a single onset impulse.</a:t>
            </a:r>
          </a:p>
          <a:p>
            <a:r>
              <a:rPr lang="en-US" sz="1200"/>
              <a:t>• Recordings.</a:t>
            </a:r>
          </a:p>
          <a:p>
            <a:r>
              <a:rPr lang="en-US" sz="1200"/>
              <a:t>– Marasco and Catania recorded single units from the trigeminal ganglion.</a:t>
            </a:r>
          </a:p>
          <a:p>
            <a:r>
              <a:rPr lang="en-US" sz="1200"/>
              <a:t>– Controlled stimulators contacted the nose for 500 milliseconds.</a:t>
            </a:r>
          </a:p>
          <a:p>
            <a:r>
              <a:rPr lang="en-US" sz="1200"/>
              <a:t>• Merkel-like responses.</a:t>
            </a:r>
          </a:p>
          <a:p>
            <a:r>
              <a:rPr lang="en-US" sz="1200"/>
              <a:t>– Slowly adapting responses resembled those of Merkel cell receptors.</a:t>
            </a:r>
          </a:p>
          <a:p>
            <a:r>
              <a:rPr lang="en-US" sz="1200"/>
              <a:t>• Meaning.</a:t>
            </a:r>
          </a:p>
          <a:p>
            <a:r>
              <a:rPr lang="en-US" sz="1200"/>
              <a:t>– Contact presence and contact change are carried by different afferent classes, so one touch generates several parallel signals.</a:t>
            </a:r>
          </a:p>
          <a:p>
            <a:r>
              <a:rPr lang="en-US" sz="1200"/>
              <a:t>• Stimulus.</a:t>
            </a:r>
          </a:p>
          <a:p>
            <a:r>
              <a:rPr lang="en-US" sz="1200"/>
              <a:t>– A controlled stimulator indented the nose in a stationary hold of 500 milliseconds.</a:t>
            </a:r>
          </a:p>
          <a:p>
            <a:r>
              <a:rPr lang="en-US" sz="1200"/>
              <a:t>– This is different from freely chosen touches.</a:t>
            </a:r>
          </a:p>
          <a:p>
            <a:r>
              <a:rPr lang="en-US" sz="1200"/>
              <a:t>• Response types.</a:t>
            </a:r>
          </a:p>
          <a:p>
            <a:r>
              <a:rPr lang="en-US" sz="1200"/>
              <a:t>– Merkel-like units fired throughout the hold.</a:t>
            </a:r>
          </a:p>
          <a:p>
            <a:r>
              <a:rPr lang="en-US" sz="1200"/>
              <a:t>– Rapidly adapting units fired when the indentation changed.</a:t>
            </a:r>
          </a:p>
          <a:p>
            <a:r>
              <a:rPr lang="en-US" sz="1200"/>
              <a:t/>
            </a:r>
          </a:p>
          <a:p>
            <a:r>
              <a:rPr lang="en-US" sz="1200"/>
              <a:t>References:</a:t>
            </a:r>
          </a:p>
          <a:p>
            <a:r>
              <a:rPr lang="en-US" sz="1200"/>
              <a:t>Marasco PD, Catania KC (2007). Response properties of primary afferents supplying Eimer's organ. Journal of Experimental Biology 210(5):765-780. https://doi.org/10.1242/jeb.02690</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molecular markers in one section separate neighboring endings by identity.</a:t>
            </a:r>
          </a:p>
          <a:p>
            <a:r>
              <a:rPr lang="en-US" sz="1200"/>
              <a:t>• Method.</a:t>
            </a:r>
          </a:p>
          <a:p>
            <a:r>
              <a:rPr lang="en-US" sz="1200"/>
              <a:t>– Double labeling uses two antibodies with different fluorescent colors.</a:t>
            </a:r>
          </a:p>
          <a:p>
            <a:r>
              <a:rPr lang="en-US" sz="1200"/>
              <a:t>– Both labels appear in the same tissue section.</a:t>
            </a:r>
          </a:p>
          <a:p>
            <a:r>
              <a:rPr lang="en-US" sz="1200"/>
              <a:t>• NF200.</a:t>
            </a:r>
          </a:p>
          <a:p>
            <a:r>
              <a:rPr lang="en-US" sz="1200"/>
              <a:t>– NF200 is a neurofilament marker associated with many large, myelinated sensory fibers.</a:t>
            </a:r>
          </a:p>
          <a:p>
            <a:r>
              <a:rPr lang="en-US" sz="1200"/>
              <a:t>• Substance P.</a:t>
            </a:r>
          </a:p>
          <a:p>
            <a:r>
              <a:rPr lang="en-US" sz="1200"/>
              <a:t>– Substance P is a neuropeptide associated with a subset of pain-signaling neurons.</a:t>
            </a:r>
          </a:p>
          <a:p>
            <a:r>
              <a:rPr lang="en-US" sz="1200"/>
              <a:t>• Coast mole result.</a:t>
            </a:r>
          </a:p>
          <a:p>
            <a:r>
              <a:rPr lang="en-US" sz="1200"/>
              <a:t>– Central and satellite endings labeled for NF200.</a:t>
            </a:r>
          </a:p>
          <a:p>
            <a:r>
              <a:rPr lang="en-US" sz="1200"/>
              <a:t>– The outer peripheral ring labeled for substance P.</a:t>
            </a:r>
          </a:p>
          <a:p>
            <a:r>
              <a:rPr lang="en-US" sz="1200"/>
              <a:t>• Star-nosed mole result.</a:t>
            </a:r>
          </a:p>
          <a:p>
            <a:r>
              <a:rPr lang="en-US" sz="1200"/>
              <a:t>– Gerhold and colleagues found strong NF200 staining and sparse peripheral substance-P staining.</a:t>
            </a:r>
          </a:p>
          <a:p>
            <a:r>
              <a:rPr lang="en-US" sz="1200"/>
              <a:t>• Meaning.</a:t>
            </a:r>
          </a:p>
          <a:p>
            <a:r>
              <a:rPr lang="en-US" sz="1200"/>
              <a:t>– Position within the organ corresponds to molecular class, so the peripheral ring is not an undifferentiated set of endings.</a:t>
            </a:r>
          </a:p>
          <a:p>
            <a:r>
              <a:rPr lang="en-US" sz="1200"/>
              <a:t>• Why two species.</a:t>
            </a:r>
          </a:p>
          <a:p>
            <a:r>
              <a:rPr lang="en-US" sz="1200"/>
              <a:t>– The coast mole organs were double-labeled by Marasco and colleagues.</a:t>
            </a:r>
          </a:p>
          <a:p>
            <a:r>
              <a:rPr lang="en-US" sz="1200"/>
              <a:t>– Gerhold and colleagues examined the star-nosed mole organs afterward.</a:t>
            </a:r>
          </a:p>
          <a:p>
            <a:r>
              <a:rPr lang="en-US" sz="1200"/>
              <a:t>• Terminal position.</a:t>
            </a:r>
          </a:p>
          <a:p>
            <a:r>
              <a:rPr lang="en-US" sz="1200"/>
              <a:t>– The two studies distinguish terminal position from a single undifferentiated ring.</a:t>
            </a:r>
          </a:p>
          <a:p>
            <a:r>
              <a:rPr lang="en-US" sz="1200"/>
              <a:t>• Use of the labels.</a:t>
            </a:r>
          </a:p>
          <a:p>
            <a:r>
              <a:rPr lang="en-US" sz="1200"/>
              <a:t>– A molecular label identifies the class of an ending without recording from it.</a:t>
            </a:r>
          </a:p>
          <a:p>
            <a:r>
              <a:rPr lang="en-US" sz="1200"/>
              <a:t>– Position and identity together describe each ending in the organ.</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Optical sectioning allows the internal arrangement of an organ to be read from fluorescent labels.</a:t>
            </a:r>
          </a:p>
          <a:p>
            <a:r>
              <a:rPr lang="en-US" sz="1200"/>
              <a:t>• Method.</a:t>
            </a:r>
          </a:p>
          <a:p>
            <a:r>
              <a:rPr lang="en-US" sz="1200"/>
              <a:t>– Confocal microscopy images a single thin plane of a fluorescent specimen.</a:t>
            </a:r>
          </a:p>
          <a:p>
            <a:r>
              <a:rPr lang="en-US" sz="1200"/>
              <a:t>– Light from above and below the plane is rejected.</a:t>
            </a:r>
          </a:p>
          <a:p>
            <a:r>
              <a:rPr lang="en-US" sz="1200"/>
              <a:t>• Stacks.</a:t>
            </a:r>
          </a:p>
          <a:p>
            <a:r>
              <a:rPr lang="en-US" sz="1200"/>
              <a:t>– Images from different depths reconstruct the three-dimensional arrangement of labeled structures.</a:t>
            </a:r>
          </a:p>
          <a:p>
            <a:r>
              <a:rPr lang="en-US" sz="1200"/>
              <a:t>• Sections.</a:t>
            </a:r>
          </a:p>
          <a:p>
            <a:r>
              <a:rPr lang="en-US" sz="1200"/>
              <a:t>– Marasco and colleagues examined horizontal and vertical tissue sections.</a:t>
            </a:r>
          </a:p>
          <a:p>
            <a:r>
              <a:rPr lang="en-US" sz="1200"/>
              <a:t>– The arrangement of nerve terminals was compared across sections and not inferred from the surface.</a:t>
            </a:r>
          </a:p>
          <a:p>
            <a:r>
              <a:rPr lang="en-US" sz="1200"/>
              <a:t>• Central ending.</a:t>
            </a:r>
          </a:p>
          <a:p>
            <a:r>
              <a:rPr lang="en-US" sz="1200"/>
              <a:t>– About 15 micrometers below the apex a central ending was surrounded by seven satellite fibers in the illustrated specimen.</a:t>
            </a:r>
          </a:p>
          <a:p>
            <a:r>
              <a:rPr lang="en-US" sz="1200"/>
              <a:t>• Outer ring.</a:t>
            </a:r>
          </a:p>
          <a:p>
            <a:r>
              <a:rPr lang="en-US" sz="1200"/>
              <a:t>– A second ring contained smaller peripheral endings.</a:t>
            </a:r>
          </a:p>
          <a:p>
            <a:r>
              <a:rPr lang="en-US" sz="1200"/>
              <a:t>• Near the surface.</a:t>
            </a:r>
          </a:p>
          <a:p>
            <a:r>
              <a:rPr lang="en-US" sz="1200"/>
              <a:t>– Terminal swellings of the satellite fibers approached the central terminal.</a:t>
            </a:r>
          </a:p>
          <a:p>
            <a:r>
              <a:rPr lang="en-US" sz="1200"/>
              <a:t>• Why dyes.</a:t>
            </a:r>
          </a:p>
          <a:p>
            <a:r>
              <a:rPr lang="en-US" sz="1200"/>
              <a:t>– Fluorescent dyes label nerve terminals, so their positions can be compared across sections.</a:t>
            </a:r>
          </a:p>
          <a:p>
            <a:r>
              <a:rPr lang="en-US" sz="1200"/>
              <a:t>– Different colors mark different structures in the same specimen.</a:t>
            </a:r>
          </a:p>
          <a:p>
            <a:r>
              <a:rPr lang="en-US" sz="1200"/>
              <a:t>• Horizontal and vertical sections.</a:t>
            </a:r>
          </a:p>
          <a:p>
            <a:r>
              <a:rPr lang="en-US" sz="1200"/>
              <a:t>– Sections cut in two orientations show the rings from above and the layers from the side.</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Surface imaging made it possible to count and map sensory units across the whole star.</a:t>
            </a:r>
          </a:p>
          <a:p>
            <a:r>
              <a:rPr lang="en-US" sz="1200"/>
              <a:t>• Method.</a:t>
            </a:r>
          </a:p>
          <a:p>
            <a:r>
              <a:rPr lang="en-US" sz="1200"/>
              <a:t>– Scanning electron microscopy scans a specimen with a focused beam of electrons.</a:t>
            </a:r>
          </a:p>
          <a:p>
            <a:r>
              <a:rPr lang="en-US" sz="1200"/>
              <a:t>– It resolves fine surface structure at high magnification.</a:t>
            </a:r>
          </a:p>
          <a:p>
            <a:r>
              <a:rPr lang="en-US" sz="1200"/>
              <a:t>• Specimen.</a:t>
            </a:r>
          </a:p>
          <a:p>
            <a:r>
              <a:rPr lang="en-US" sz="1200"/>
              <a:t>– Sawyer and Catania imaged the flattened front surface of the star.</a:t>
            </a:r>
          </a:p>
          <a:p>
            <a:r>
              <a:rPr lang="en-US" sz="1200"/>
              <a:t>• Eimer's organs.</a:t>
            </a:r>
          </a:p>
          <a:p>
            <a:r>
              <a:rPr lang="en-US" sz="1200"/>
              <a:t>– The star contains roughly 25,000 organs across its 22 rays.</a:t>
            </a:r>
          </a:p>
          <a:p>
            <a:r>
              <a:rPr lang="en-US" sz="1200"/>
              <a:t>– Surface images reveal separate domes packed into a repeated array.</a:t>
            </a:r>
          </a:p>
          <a:p>
            <a:r>
              <a:rPr lang="en-US" sz="1200"/>
              <a:t>• Direct measurement.</a:t>
            </a:r>
          </a:p>
          <a:p>
            <a:r>
              <a:rPr lang="en-US" sz="1200"/>
              <a:t>– Each unit has an external structure that can be identified.</a:t>
            </a:r>
          </a:p>
          <a:p>
            <a:r>
              <a:rPr lang="en-US" sz="1200"/>
              <a:t>– Its position can be read from the image without tracing its entire innervation.</a:t>
            </a:r>
          </a:p>
          <a:p>
            <a:r>
              <a:rPr lang="en-US" sz="1200"/>
              <a:t>• Other measures from the same images.</a:t>
            </a:r>
          </a:p>
          <a:p>
            <a:r>
              <a:rPr lang="en-US" sz="1200"/>
              <a:t>– Density of organs, eccentricity along each ray and the frontal surface area of individual organs all come from the micrographs.</a:t>
            </a:r>
          </a:p>
          <a:p>
            <a:r>
              <a:rPr lang="en-US" sz="1200"/>
              <a:t>• Comparison with other mammals.</a:t>
            </a:r>
          </a:p>
          <a:p>
            <a:r>
              <a:rPr lang="en-US" sz="1200"/>
              <a:t>– Many mammalian touch receptors have no externally visible unit, so the star offers an unusually accessible array.</a:t>
            </a:r>
          </a:p>
          <a:p>
            <a:r>
              <a:rPr lang="en-US" sz="1200"/>
              <a:t>• Why a flattened star.</a:t>
            </a:r>
          </a:p>
          <a:p>
            <a:r>
              <a:rPr lang="en-US" sz="1200"/>
              <a:t>– Flattening the star places all of its surface in one plane so that the domes can be imaged and counted together.</a:t>
            </a:r>
          </a:p>
          <a:p>
            <a:r>
              <a:rPr lang="en-US" sz="1200"/>
              <a:t>• Organ structure.</a:t>
            </a:r>
          </a:p>
          <a:p>
            <a:r>
              <a:rPr lang="en-US" sz="1200"/>
              <a:t>– An Eimer's organ is a small epidermal sensory unit containing several types of nerve ending.</a:t>
            </a:r>
          </a:p>
          <a:p>
            <a:r>
              <a:rPr lang="en-US" sz="1200"/>
              <a:t>– The epidermis is the outer cellular layer of skin.</a:t>
            </a:r>
          </a:p>
          <a:p>
            <a:r>
              <a:rPr lang="en-US" sz="1200"/>
              <a:t/>
            </a:r>
          </a:p>
          <a:p>
            <a:r>
              <a:rPr lang="en-US" sz="1200"/>
              <a:t>References:</a:t>
            </a:r>
          </a:p>
          <a:p>
            <a:r>
              <a:rPr lang="en-US" sz="1200"/>
              <a:t>Sawyer EK, Catania KC (2016). Somatosensory organ topography across the star of the star‐nosed mole (Condylura cristata). Journal of Comparative Neurology 524(5):917-929. https://doi.org/10.1002/cne.23943</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Several delays separate a touch from the movement that follows it.</a:t>
            </a:r>
          </a:p>
          <a:p>
            <a:r>
              <a:rPr lang="en-US" sz="1200"/>
              <a:t>• Definition.</a:t>
            </a:r>
          </a:p>
          <a:p>
            <a:r>
              <a:rPr lang="en-US" sz="1200"/>
              <a:t>– Latency is the time from a stimulus until a response begins.</a:t>
            </a:r>
          </a:p>
          <a:p>
            <a:r>
              <a:rPr lang="en-US" sz="1200"/>
              <a:t>– Each processing stage adds its own delay.</a:t>
            </a:r>
          </a:p>
          <a:p>
            <a:r>
              <a:rPr lang="en-US" sz="1200"/>
              <a:t>• Sensory and motor stages.</a:t>
            </a:r>
          </a:p>
          <a:p>
            <a:r>
              <a:rPr lang="en-US" sz="1200"/>
              <a:t>– Sensory latency is the delay before neurons change their firing.</a:t>
            </a:r>
          </a:p>
          <a:p>
            <a:r>
              <a:rPr lang="en-US" sz="1200"/>
              <a:t>– Motor delay is the time for a command to reach the muscles.</a:t>
            </a:r>
          </a:p>
          <a:p>
            <a:r>
              <a:rPr lang="en-US" sz="1200"/>
              <a:t>• Contact duration.</a:t>
            </a:r>
          </a:p>
          <a:p>
            <a:r>
              <a:rPr lang="en-US" sz="1200"/>
              <a:t>– A typical contact lasted about 25 milliseconds.</a:t>
            </a:r>
          </a:p>
          <a:p>
            <a:r>
              <a:rPr lang="en-US" sz="1200"/>
              <a:t>• Neural timing.</a:t>
            </a:r>
          </a:p>
          <a:p>
            <a:r>
              <a:rPr lang="en-US" sz="1200"/>
              <a:t>– Prior cortical recordings placed tactile response onset near 12 milliseconds.</a:t>
            </a:r>
          </a:p>
          <a:p>
            <a:r>
              <a:rPr lang="en-US" sz="1200"/>
              <a:t>– Catania and Remple estimated about 5 milliseconds for a motor command to reach the periphery.</a:t>
            </a:r>
          </a:p>
          <a:p>
            <a:r>
              <a:rPr lang="en-US" sz="1200"/>
              <a:t>• Double takes.</a:t>
            </a:r>
          </a:p>
          <a:p>
            <a:r>
              <a:rPr lang="en-US" sz="1200"/>
              <a:t>– The star moves away from a contacted item, then reverses and places the fovea onto it.</a:t>
            </a:r>
          </a:p>
          <a:p>
            <a:r>
              <a:rPr lang="en-US" sz="1200"/>
              <a:t>– These sequences occurred in more than one-third of feeding trials.</a:t>
            </a:r>
          </a:p>
          <a:p>
            <a:r>
              <a:rPr lang="en-US" sz="1200"/>
              <a:t>• Proposal.</a:t>
            </a:r>
          </a:p>
          <a:p>
            <a:r>
              <a:rPr lang="en-US" sz="1200"/>
              <a:t>– Fast sampling sometimes outruns the completed feeding decision.</a:t>
            </a:r>
          </a:p>
          <a:p>
            <a:r>
              <a:rPr lang="en-US" sz="1200"/>
              <a:t>– The star leaves the contact before the decision to eat is finished.</a:t>
            </a:r>
          </a:p>
          <a:p>
            <a:r>
              <a:rPr lang="en-US" sz="1200"/>
              <a:t>• Why timing matters.</a:t>
            </a:r>
          </a:p>
          <a:p>
            <a:r>
              <a:rPr lang="en-US" sz="1200"/>
              <a:t>– The star touches about 13 times each second, so each decision must be made within a few tens of milliseconds.</a:t>
            </a:r>
          </a:p>
          <a:p>
            <a:r>
              <a:rPr lang="en-US" sz="1200"/>
              <a:t>– A reversal appears in video as the star moving away and then back onto the prey.</a:t>
            </a:r>
          </a:p>
          <a:p>
            <a:r>
              <a:rPr lang="en-US" sz="1200"/>
              <a:t>• Sources of the numbers.</a:t>
            </a:r>
          </a:p>
          <a:p>
            <a:r>
              <a:rPr lang="en-US" sz="1200"/>
              <a:t>– The cortical onset came from prior recordings, and the motor figure was an estimate by the authors.</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Sachdev RNS, Catania KC (2002). Receptive Fields and Response Properties of Neurons in the Star-Nosed Mole's Somatosensory Fovea. Journal of Neurophysiology 87(5):2602-2611. https://doi.org/10.1152/jn.2002.87.5.2602</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Timing measurements from video depend on how many images the camera records each second.</a:t>
            </a:r>
          </a:p>
          <a:p>
            <a:r>
              <a:rPr lang="en-US" sz="1200"/>
              <a:t>• Definition.</a:t>
            </a:r>
          </a:p>
          <a:p>
            <a:r>
              <a:rPr lang="en-US" sz="1200"/>
              <a:t>– Frame rate is the number of images recorded per second.</a:t>
            </a:r>
          </a:p>
          <a:p>
            <a:r>
              <a:rPr lang="en-US" sz="1200"/>
              <a:t>– It sets the shortest event that a video can resolve.</a:t>
            </a:r>
          </a:p>
          <a:p>
            <a:r>
              <a:rPr lang="en-US" sz="1200"/>
              <a:t>• Fast and slow cameras.</a:t>
            </a:r>
          </a:p>
          <a:p>
            <a:r>
              <a:rPr lang="en-US" sz="1200"/>
              <a:t>– A fast camera divides a brief movement into many successive images.</a:t>
            </a:r>
          </a:p>
          <a:p>
            <a:r>
              <a:rPr lang="en-US" sz="1200"/>
              <a:t>– A slow camera collapses the same movement into one or two images.</a:t>
            </a:r>
          </a:p>
          <a:p>
            <a:r>
              <a:rPr lang="en-US" sz="1200"/>
              <a:t>• Setup.</a:t>
            </a:r>
          </a:p>
          <a:p>
            <a:r>
              <a:rPr lang="en-US" sz="1200"/>
              <a:t>– Catania and Remple filmed feeding through a glass-bottom tunnel.</a:t>
            </a:r>
          </a:p>
          <a:p>
            <a:r>
              <a:rPr lang="en-US" sz="1200"/>
              <a:t>– The transparent floor preserved a clear view of the star.</a:t>
            </a:r>
          </a:p>
          <a:p>
            <a:r>
              <a:rPr lang="en-US" sz="1200"/>
              <a:t>• Prey.</a:t>
            </a:r>
          </a:p>
          <a:p>
            <a:r>
              <a:rPr lang="en-US" sz="1200"/>
              <a:t>– Earthworm fragments supplied the prey that the moles sampled and ate.</a:t>
            </a:r>
          </a:p>
          <a:p>
            <a:r>
              <a:rPr lang="en-US" sz="1200"/>
              <a:t>• Timing result.</a:t>
            </a:r>
          </a:p>
          <a:p>
            <a:r>
              <a:rPr lang="en-US" sz="1200"/>
              <a:t>– Search movements lasted about 50 milliseconds and touches about 25 milliseconds.</a:t>
            </a:r>
          </a:p>
          <a:p>
            <a:r>
              <a:rPr lang="en-US" sz="1200"/>
              <a:t>– The sampling rate was approximately 13 contacts per second.</a:t>
            </a:r>
          </a:p>
          <a:p>
            <a:r>
              <a:rPr lang="en-US" sz="1200"/>
              <a:t>• Comparison with earlier work.</a:t>
            </a:r>
          </a:p>
          <a:p>
            <a:r>
              <a:rPr lang="en-US" sz="1200"/>
              <a:t>– The recordings of Catania and Kaas used 30 frames per second.</a:t>
            </a:r>
          </a:p>
          <a:p>
            <a:r>
              <a:rPr lang="en-US" sz="1200"/>
              <a:t>– Their frame numbers identify successive observations and do not give millisecond-precise events.</a:t>
            </a:r>
          </a:p>
          <a:p>
            <a:r>
              <a:rPr lang="en-US" sz="1200"/>
              <a:t>• Meaning.</a:t>
            </a:r>
          </a:p>
          <a:p>
            <a:r>
              <a:rPr lang="en-US" sz="1200"/>
              <a:t>– A recording at 500 frames per second resolves individual touches and the movements between them.</a:t>
            </a:r>
          </a:p>
          <a:p>
            <a:r>
              <a:rPr lang="en-US" sz="1200"/>
              <a:t>• Starting point.</a:t>
            </a:r>
          </a:p>
          <a:p>
            <a:r>
              <a:rPr lang="en-US" sz="1200"/>
              <a:t>– The earlier records are valuable for the sequence of contacts, which identifies which ray touched the prey first.</a:t>
            </a:r>
          </a:p>
          <a:p>
            <a:r>
              <a:rPr lang="en-US" sz="1200"/>
              <a:t>– Ray 11 is the final position that the prey reaches.</a:t>
            </a:r>
          </a:p>
          <a:p>
            <a:r>
              <a:rPr lang="en-US" sz="1200"/>
              <a:t>• Meaning for the study.</a:t>
            </a:r>
          </a:p>
          <a:p>
            <a:r>
              <a:rPr lang="en-US" sz="1200"/>
              <a:t>– Both recordings answer different questions, one about order and one about duration.</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3.png"/><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5.png"/><Relationship Id="rId4"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8.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75B7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CFE2F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F4350"/>
              </a:buClr>
              <a:buSzPts val="1200"/>
              <a:buFont typeface="Arial"/>
              <a:buNone/>
            </a:pPr>
            <a:r>
              <a:rPr b="0" i="0" lang="en-US" sz="1200">
                <a:solidFill>
                  <a:srgbClr val="CFE2F3"/>
                </a:solidFill>
                <a:latin typeface="Arial"/>
                <a:ea typeface="Arial"/>
                <a:cs typeface="Arial"/>
                <a:sym typeface="Arial"/>
              </a:rPr>
              <a:t>NEUR 411 · NEUROETHOLOGY · FALL 2026</a:t>
            </a:r>
            <a:endParaRPr sz="1800">
              <a:solidFill>
                <a:srgbClr val="CFE2F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F4350"/>
              </a:buClr>
              <a:buSzPts val="1800"/>
              <a:buFont typeface="Arial"/>
              <a:buNone/>
            </a:pPr>
            <a:r>
              <a:rPr b="0" i="0" lang="en-US" sz="1800">
                <a:solidFill>
                  <a:srgbClr val="CFE2F3"/>
                </a:solidFill>
                <a:latin typeface="Arial"/>
                <a:ea typeface="Arial"/>
                <a:cs typeface="Arial"/>
                <a:sym typeface="Arial"/>
              </a:rPr>
              <a:t>Lecture 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283E4A"/>
              </a:buClr>
              <a:buSzPts val="2500"/>
              <a:buFont typeface="Arial"/>
              <a:buNone/>
            </a:pPr>
            <a:r>
              <a:rPr b="1" i="0" lang="en-US" sz="2500">
                <a:solidFill>
                  <a:srgbClr val="CFE2F3"/>
                </a:solidFill>
                <a:latin typeface="Arial"/>
                <a:ea typeface="Arial"/>
                <a:cs typeface="Arial"/>
                <a:sym typeface="Arial"/>
              </a:rPr>
              <a:t>Tactile specialization: the star-nosed mole's tactile fovea (Catania)</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600"/>
              <a:buFont typeface="Arial"/>
              <a:buNone/>
            </a:pPr>
            <a:r>
              <a:rPr b="0" i="0" lang="en-US" sz="1600">
                <a:solidFill>
                  <a:srgbClr val="CFE2F3"/>
                </a:solidFill>
                <a:latin typeface="Arial"/>
                <a:ea typeface="Arial"/>
                <a:cs typeface="Arial"/>
                <a:sym typeface="Arial"/>
              </a:rPr>
              <a:t>Monday, October 26, 2026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200"/>
              <a:buFont typeface="Arial"/>
              <a:buNone/>
            </a:pPr>
            <a:r>
              <a:rPr b="0" i="0" lang="en-US" sz="1200">
                <a:solidFill>
                  <a:srgbClr val="CFE2F3"/>
                </a:solidFill>
                <a:latin typeface="Arial"/>
                <a:ea typeface="Arial"/>
                <a:cs typeface="Arial"/>
                <a:sym typeface="Arial"/>
              </a:rPr>
              <a:t>Jordan Lopez, Ph.D.</a:t>
            </a:r>
            <a:endParaRPr sz="1800">
              <a:solidFill>
                <a:srgbClr val="CFE2F3"/>
              </a:solidFill>
              <a:latin typeface="Calibri"/>
              <a:ea typeface="Calibri"/>
              <a:cs typeface="Calibri"/>
              <a:sym typeface="Calibri"/>
            </a:endParaRPr>
          </a:p>
          <a:p>
            <a:pPr indent="0" lvl="0" marL="0" marR="0" rtl="0" algn="l">
              <a:lnSpc>
                <a:spcPct val="108000"/>
              </a:lnSpc>
              <a:spcAft>
                <a:spcPts val="0"/>
              </a:spcAft>
              <a:buClr>
                <a:srgbClr val="6F4350"/>
              </a:buClr>
              <a:buSzPts val="1200"/>
              <a:buFont typeface="Arial"/>
              <a:buNone/>
            </a:pPr>
            <a:r>
              <a:rPr b="0" i="0" lang="en-US" sz="1200">
                <a:solidFill>
                  <a:srgbClr val="CFE2F3"/>
                </a:solidFill>
                <a:latin typeface="Arial"/>
                <a:ea typeface="Arial"/>
                <a:cs typeface="Arial"/>
                <a:sym typeface="Arial"/>
              </a:rPr>
              <a:t>Professor of Neurobiology &amp; Biomedical Engineering</a:t>
            </a:r>
            <a:endParaRPr sz="1800">
              <a:solidFill>
                <a:srgbClr val="CFE2F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3" cy="3346252"/>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is a tactile surface for finding small prey</a:t>
            </a:r>
            <a:endParaRPr sz="1800">
              <a:solidFill>
                <a:schemeClr val="dk1"/>
              </a:solidFill>
              <a:latin typeface="Calibri"/>
              <a:ea typeface="Calibri"/>
              <a:cs typeface="Calibri"/>
              <a:sym typeface="Calibri"/>
            </a:endParaRPr>
          </a:p>
        </p:txBody>
      </p:sp>
      <p:sp>
        <p:nvSpPr>
          <p:cNvPr id="33" name="Google Shape;33;p2"/>
          <p:cNvSpPr/>
          <p:nvPr/>
        </p:nvSpPr>
        <p:spPr>
          <a:xfrm>
            <a:off x="566886" y="1352205"/>
            <a:ext cx="5590500" cy="497779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star-nosed mole, </a:t>
            </a:r>
            <a:r>
              <a:rPr b="0" i="1" lang="en-US" sz="1500">
                <a:solidFill>
                  <a:srgbClr val="25313C"/>
                </a:solidFill>
                <a:latin typeface="Arial"/>
                <a:ea typeface="Arial"/>
                <a:cs typeface="Arial"/>
                <a:sym typeface="Arial"/>
              </a:rPr>
              <a:t>Condylura cristata</a:t>
            </a:r>
            <a:r>
              <a:rPr b="0" i="0" lang="en-US" sz="1500">
                <a:solidFill>
                  <a:srgbClr val="25313C"/>
                </a:solidFill>
                <a:latin typeface="Arial"/>
                <a:ea typeface="Arial"/>
                <a:cs typeface="Arial"/>
                <a:sym typeface="Arial"/>
              </a:rPr>
              <a:t>, searches wetland substrates using 22 fleshy nasal rays. </a:t>
            </a:r>
            <a:r>
              <a:rPr b="1" i="0" lang="en-US" sz="1500">
                <a:solidFill>
                  <a:srgbClr val="375B70"/>
                </a:solidFill>
                <a:latin typeface="Arial"/>
                <a:ea typeface="Arial"/>
                <a:cs typeface="Arial"/>
                <a:sym typeface="Arial"/>
              </a:rPr>
              <a:t>Tactile sensing</a:t>
            </a:r>
            <a:r>
              <a:rPr b="0" i="0" lang="en-US" sz="1500">
                <a:solidFill>
                  <a:srgbClr val="25313C"/>
                </a:solidFill>
                <a:latin typeface="Arial"/>
                <a:ea typeface="Arial"/>
                <a:cs typeface="Arial"/>
                <a:sym typeface="Arial"/>
              </a:rPr>
              <a:t> means detecting mechanical contact rather than detecting airborne chemicals. The rays contact surrounding surfaces; they do not function as fingers that grasp food.</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1" i="0" lang="en-US" sz="1500">
                <a:solidFill>
                  <a:srgbClr val="375B70"/>
                </a:solidFill>
              </a:rPr>
              <a:t>Catania and Kaas</a:t>
            </a:r>
            <a:r>
              <a:rPr b="0" i="0" lang="en-US" sz="1500">
                <a:solidFill>
                  <a:srgbClr val="25313C"/>
                </a:solidFill>
                <a:latin typeface="Arial"/>
                <a:ea typeface="Arial"/>
                <a:cs typeface="Arial"/>
                <a:sym typeface="Arial"/>
              </a:rPr>
              <a:t> filmed captive animals from beneath transparent tunnel floors and scored which rays touched earthworm pieces. Contact initially occurred across the star, but subsequent exploration concentrated on the paired ventral eleventh rays, immediately in front of the mouth.</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directed sampling is a behavioral specialization within one sensory surface. The star provides broad initial coverage while a small region repeatedly inspects potential prey, in the way that an eye scans a scene and then fixates on a target.</a:t>
            </a:r>
            <a:endParaRPr sz="17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372" y="1280071"/>
            <a:ext cx="5120456" cy="3306961"/>
          </a:xfrm>
          <a:prstGeom prst="rect">
            <a:avLst/>
          </a:prstGeom>
          <a:noFill/>
          <a:ln>
            <a:noFill/>
          </a:ln>
        </p:spPr>
      </p:pic>
      <p:sp>
        <p:nvSpPr>
          <p:cNvPr id="37" name="Google Shape;37;p2"/>
          <p:cNvSpPr/>
          <p:nvPr/>
        </p:nvSpPr>
        <p:spPr>
          <a:xfrm>
            <a:off x="6586642" y="4678561"/>
            <a:ext cx="51399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 Catania &amp; Kaas (1997)</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Brief touches alternate with rapid searching movements</a:t>
            </a:r>
            <a:endParaRPr sz="1800">
              <a:solidFill>
                <a:schemeClr val="dk1"/>
              </a:solidFill>
              <a:latin typeface="Calibri"/>
              <a:ea typeface="Calibri"/>
              <a:cs typeface="Calibri"/>
              <a:sym typeface="Calibri"/>
            </a:endParaRPr>
          </a:p>
        </p:txBody>
      </p:sp>
      <p:sp>
        <p:nvSpPr>
          <p:cNvPr id="46" name="Google Shape;46;p3"/>
          <p:cNvSpPr/>
          <p:nvPr/>
        </p:nvSpPr>
        <p:spPr>
          <a:xfrm>
            <a:off x="566876" y="1234375"/>
            <a:ext cx="50016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recorded feeding through a glass-bottom tunnel at 500 frames per second. This </a:t>
            </a:r>
            <a:r>
              <a:rPr b="1" i="0" lang="en-US" sz="1500">
                <a:solidFill>
                  <a:srgbClr val="375B70"/>
                </a:solidFill>
                <a:latin typeface="Arial"/>
                <a:ea typeface="Arial"/>
                <a:cs typeface="Arial"/>
                <a:sym typeface="Arial"/>
              </a:rPr>
              <a:t>high-speed videography</a:t>
            </a:r>
            <a:r>
              <a:rPr b="0" i="0" lang="en-US" sz="1500">
                <a:solidFill>
                  <a:srgbClr val="25313C"/>
                </a:solidFill>
                <a:latin typeface="Arial"/>
                <a:ea typeface="Arial"/>
                <a:cs typeface="Arial"/>
                <a:sym typeface="Arial"/>
              </a:rPr>
              <a:t> separated periods of substrate contact from movements between contacts. Earthworm fragments supplied prey while the transparent floor preserved a clear view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endParaRPr sz="1800">
              <a:solidFill>
                <a:schemeClr val="dk1"/>
              </a:solidFill>
              <a:latin typeface="Calibri"/>
              <a:ea typeface="Calibri"/>
              <a:cs typeface="Calibri"/>
              <a:sym typeface="Calibri"/>
            </a:endParaRPr>
          </a:p>
        </p:txBody>
      </p:sp>
      <p:sp>
        <p:nvSpPr>
          <p:cNvPr id="48" name="Google Shape;48;p3"/>
          <p:cNvSpPr/>
          <p:nvPr/>
        </p:nvSpPr>
        <p:spPr>
          <a:xfrm>
            <a:off x="6034461" y="4565306"/>
            <a:ext cx="5590500" cy="1316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04247" y="1086396"/>
            <a:ext cx="5120708" cy="2633364"/>
          </a:xfrm>
          <a:prstGeom prst="rect">
            <a:avLst/>
          </a:prstGeom>
          <a:noFill/>
          <a:ln>
            <a:noFill/>
          </a:ln>
        </p:spPr>
      </p:pic>
      <p:sp>
        <p:nvSpPr>
          <p:cNvPr id="50" name="Google Shape;50;p3"/>
          <p:cNvSpPr/>
          <p:nvPr/>
        </p:nvSpPr>
        <p:spPr>
          <a:xfrm>
            <a:off x="6504236" y="3811290"/>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1(a–c). Published search timing and high-speed prey-capture sequences.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Prey contact redirects the star toward ray 11</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Foveation</a:t>
            </a:r>
            <a:r>
              <a:rPr b="0" i="0" lang="en-US" sz="1500">
                <a:solidFill>
                  <a:srgbClr val="25313C"/>
                </a:solidFill>
                <a:latin typeface="Arial"/>
                <a:ea typeface="Arial"/>
                <a:cs typeface="Arial"/>
                <a:sym typeface="Arial"/>
              </a:rPr>
              <a:t> is movement that places a region of high sensory resolution onto a target. Catania and Kaas scored successive contacts in video recordings of feeding. The initial contact could involve a lateral ray; later contacts brought the prey toward the paired eleventh rays.</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repeated use of ray 11 justifies calling it a tactile fovea. Its behavior resembles target-directed visual fixation, because the sensory surface moves until its most sensitive region meets the target. The star inspects the prey, and the teeth then perform the grasping.</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4">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Tiny prey can be identified and eaten within 120 ms</a:t>
            </a:r>
            <a:endParaRPr sz="1800">
              <a:solidFill>
                <a:schemeClr val="dk1"/>
              </a:solidFill>
              <a:latin typeface="Calibri"/>
              <a:ea typeface="Calibri"/>
              <a:cs typeface="Calibri"/>
              <a:sym typeface="Calibri"/>
            </a:endParaRPr>
          </a:p>
        </p:txBody>
      </p:sp>
      <p:sp>
        <p:nvSpPr>
          <p:cNvPr id="74" name="Google Shape;74;p5"/>
          <p:cNvSpPr/>
          <p:nvPr/>
        </p:nvSpPr>
        <p:spPr>
          <a:xfrm>
            <a:off x="566886" y="1385271"/>
            <a:ext cx="5590500" cy="494472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Handling time</a:t>
            </a:r>
            <a:r>
              <a:rPr b="0" i="0" lang="en-US" sz="1500">
                <a:solidFill>
                  <a:srgbClr val="25313C"/>
                </a:solidFill>
                <a:latin typeface="Arial"/>
                <a:ea typeface="Arial"/>
                <a:cs typeface="Arial"/>
                <a:sym typeface="Arial"/>
              </a:rPr>
              <a:t> is the foraging time lost while taking a prey item instead of searching for another. Catania and Remple measured it from the end of the first prey contact until eating finished and the star began another searching movement.</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For earthworm pieces 0.8–2.0 mm across, mean handling time was 227 ms and observed times ranged from 120 to 440 ms. The measured interval included foveation, grasping and consumption. It therefore exceeds a sensory latency and cannot be interpreted as perception time alone.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shortest sequences took 120 ms and spanned foveation, grasping and eating of small prey. Larger earthworm segments took about 19 s to handle, so small prey are processed in a distinct, rapid sequence.</a:t>
            </a:r>
            <a:endParaRPr sz="17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485186" y="2747968"/>
            <a:ext cx="5120731" cy="996386"/>
          </a:xfrm>
          <a:prstGeom prst="rect">
            <a:avLst/>
          </a:prstGeom>
          <a:noFill/>
          <a:ln>
            <a:noFill/>
          </a:ln>
        </p:spPr>
      </p:pic>
      <p:sp>
        <p:nvSpPr>
          <p:cNvPr id="78" name="Google Shape;78;p5"/>
          <p:cNvSpPr/>
          <p:nvPr/>
        </p:nvSpPr>
        <p:spPr>
          <a:xfrm>
            <a:off x="6485186" y="3835892"/>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1(b). Prey capture followed by renewed search; original frame times.</a:t>
            </a:r>
            <a:endParaRPr sz="1800">
              <a:solidFill>
                <a:schemeClr val="dk1"/>
              </a:solidFill>
              <a:latin typeface="Calibri"/>
              <a:ea typeface="Calibri"/>
              <a:cs typeface="Calibri"/>
              <a:sym typeface="Calibri"/>
            </a:endParaRPr>
          </a:p>
        </p:txBody>
      </p:sp>
      <p:sp>
        <p:nvSpPr>
          <p:cNvPr id="79" name="Google Shape;79;p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81" name="Google Shape;81;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double take exposes a delay in the feeding decision</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a </a:t>
            </a:r>
            <a:r>
              <a:rPr b="1" i="0" lang="en-US" sz="1600">
                <a:solidFill>
                  <a:srgbClr val="375B70"/>
                </a:solidFill>
                <a:latin typeface="Arial"/>
                <a:ea typeface="Arial"/>
                <a:cs typeface="Arial"/>
                <a:sym typeface="Arial"/>
              </a:rPr>
              <a:t>double take</a:t>
            </a:r>
            <a:r>
              <a:rPr b="0" i="0" lang="en-US" sz="1600">
                <a:solidFill>
                  <a:srgbClr val="25313C"/>
                </a:solidFill>
                <a:latin typeface="Arial"/>
                <a:ea typeface="Arial"/>
                <a:cs typeface="Arial"/>
                <a:sym typeface="Arial"/>
              </a:rPr>
              <a:t>, the star initially moves away from a contacted prey item, then reverses and places the fovea onto it. Catania and Remple identified these sequences in high-speed video, preserving the time course and prey position across consecutive frames.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Double takes occurred in more than one-third of their feeding trials. A typical contact lasted about 25 ms, whereas prior cortical recordings placed tactile response onset near 12 ms. The authors additionally estimated about 5 ms for a motor command to reach the periphery.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These timings support the proposal that fast sampling sometimes outruns the completed feeding decision, because a contact of about 25 ms is short relative to a cortical onset near 12 ms plus about 5 ms of motor delay.</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3">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Short handling times make tiny prey profitable</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Prey profitability</a:t>
            </a:r>
            <a:r>
              <a:rPr b="0" i="0" lang="en-US" sz="1500">
                <a:solidFill>
                  <a:srgbClr val="25313C"/>
                </a:solidFill>
                <a:latin typeface="Arial"/>
                <a:ea typeface="Arial"/>
                <a:cs typeface="Arial"/>
                <a:sym typeface="Arial"/>
              </a:rPr>
              <a:t>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typical small fragment supplied approximately 10 J, with handling near 230 ms. The authors reported profitability near 44 J/s. Larger earthworm segments supplied about 1,100 J but took approximately 19 s to handle, reducing the advantage of their greater energy content.</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endParaRPr sz="17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13689" r="0" t="0"/>
          <a:stretch/>
        </p:blipFill>
        <p:spPr>
          <a:xfrm>
            <a:off x="6864362" y="1305075"/>
            <a:ext cx="4419525" cy="4247850"/>
          </a:xfrm>
          <a:prstGeom prst="rect">
            <a:avLst/>
          </a:prstGeom>
          <a:noFill/>
          <a:ln>
            <a:noFill/>
          </a:ln>
        </p:spPr>
      </p:pic>
      <p:sp>
        <p:nvSpPr>
          <p:cNvPr id="104" name="Google Shape;104;p7"/>
          <p:cNvSpPr/>
          <p:nvPr/>
        </p:nvSpPr>
        <p:spPr>
          <a:xfrm>
            <a:off x="6504236" y="5619452"/>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2(a). Published prey profitability curves and measured handling-time examples.</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larger receptor sheet increases sampled area</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measured the contact surface from close-up behavioral recordings and compared star-nosed moles with eastern moles, </a:t>
            </a:r>
            <a:r>
              <a:rPr b="0" i="1" lang="en-US" sz="1500">
                <a:solidFill>
                  <a:srgbClr val="25313C"/>
                </a:solidFill>
                <a:latin typeface="Arial"/>
                <a:ea typeface="Arial"/>
                <a:cs typeface="Arial"/>
                <a:sym typeface="Arial"/>
              </a:rPr>
              <a:t>Scalopus aquaticus</a:t>
            </a:r>
            <a:r>
              <a:rPr b="0" i="0" lang="en-US" sz="1500">
                <a:solidFill>
                  <a:srgbClr val="25313C"/>
                </a:solidFill>
                <a:latin typeface="Arial"/>
                <a:ea typeface="Arial"/>
                <a:cs typeface="Arial"/>
                <a:sym typeface="Arial"/>
              </a:rPr>
              <a:t>. </a:t>
            </a:r>
            <a:r>
              <a:rPr b="1" i="0" lang="en-US" sz="1500">
                <a:solidFill>
                  <a:srgbClr val="375B70"/>
                </a:solidFill>
                <a:latin typeface="Arial"/>
                <a:ea typeface="Arial"/>
                <a:cs typeface="Arial"/>
                <a:sym typeface="Arial"/>
              </a:rPr>
              <a:t>Sensory coverage</a:t>
            </a:r>
            <a:r>
              <a:rPr b="0" i="0" lang="en-US" sz="1500">
                <a:solidFill>
                  <a:srgbClr val="25313C"/>
                </a:solidFill>
                <a:latin typeface="Arial"/>
                <a:ea typeface="Arial"/>
                <a:cs typeface="Arial"/>
                <a:sym typeface="Arial"/>
              </a:rPr>
              <a:t> refers here to the area touched during one sampling event, rather than the sensitivity of an individual receptor.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comparison links expanded anatomy to a plausible search advantage. Multiplying the area of each touch by the number of touches per second gives the encounter opportunity, and the star's larger area per touch and higher rate both raise it.</a:t>
            </a:r>
            <a:endParaRPr sz="17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6229930" y="1280071"/>
            <a:ext cx="5394753" cy="2415332"/>
          </a:xfrm>
          <a:prstGeom prst="rect">
            <a:avLst/>
          </a:prstGeom>
          <a:noFill/>
          <a:ln>
            <a:noFill/>
          </a:ln>
        </p:spPr>
      </p:pic>
      <p:sp>
        <p:nvSpPr>
          <p:cNvPr id="117" name="Google Shape;117;p8"/>
          <p:cNvSpPr/>
          <p:nvPr/>
        </p:nvSpPr>
        <p:spPr>
          <a:xfrm>
            <a:off x="6229796" y="3786932"/>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3(c–d). Star-nosed and eastern mole receptor surfaces; 1-mm scale bars.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4">
            <a:alphaModFix/>
          </a:blip>
          <a:srcRect b="0" l="0" r="0" t="0"/>
          <a:stretch/>
        </p:blipFill>
        <p:spPr>
          <a:xfrm>
            <a:off x="7967004" y="4302605"/>
            <a:ext cx="1920602" cy="1097161"/>
          </a:xfrm>
          <a:prstGeom prst="rect">
            <a:avLst/>
          </a:prstGeom>
          <a:noFill/>
          <a:ln>
            <a:noFill/>
          </a:ln>
        </p:spPr>
      </p:pic>
      <p:sp>
        <p:nvSpPr>
          <p:cNvPr id="119" name="Google Shape;119;p8"/>
          <p:cNvSpPr/>
          <p:nvPr/>
        </p:nvSpPr>
        <p:spPr>
          <a:xfrm>
            <a:off x="7199749" y="5439954"/>
            <a:ext cx="3455100" cy="1878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Sawyer &amp; Catania (2016)</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Specialized incisors complete close-range prey capture</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After foveal inspection, the star-nosed mole captures small prey using its front teeth. Catania and Remple examined the dentition with scanning electron microscopy and compared it with eastern mole incisors. </a:t>
            </a:r>
            <a:r>
              <a:rPr b="1" i="0" lang="en-US" sz="1500">
                <a:solidFill>
                  <a:srgbClr val="375B70"/>
                </a:solidFill>
                <a:latin typeface="Arial"/>
                <a:ea typeface="Arial"/>
                <a:cs typeface="Arial"/>
                <a:sym typeface="Arial"/>
              </a:rPr>
              <a:t>Incisors</a:t>
            </a:r>
            <a:r>
              <a:rPr b="0" i="0" lang="en-US" sz="1500">
                <a:solidFill>
                  <a:srgbClr val="25313C"/>
                </a:solidFill>
                <a:latin typeface="Arial"/>
                <a:ea typeface="Arial"/>
                <a:cs typeface="Arial"/>
                <a:sym typeface="Arial"/>
              </a:rPr>
              <a:t> are the anterior teeth involved here in grasping, not sensory organs.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anatomical comparison and behavior support coordinated sensory and feeding specializations. The reduced, tweezer-like incisors sit next to the fovea, so the movement that positions ray 11 also brings the teeth to prey as small as 0.8 mm across.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229952" y="1280071"/>
            <a:ext cx="5394709" cy="2398216"/>
          </a:xfrm>
          <a:prstGeom prst="rect">
            <a:avLst/>
          </a:prstGeom>
          <a:noFill/>
          <a:ln>
            <a:noFill/>
          </a:ln>
        </p:spPr>
      </p:pic>
      <p:sp>
        <p:nvSpPr>
          <p:cNvPr id="132" name="Google Shape;132;p9"/>
          <p:cNvSpPr/>
          <p:nvPr/>
        </p:nvSpPr>
        <p:spPr>
          <a:xfrm>
            <a:off x="6229796" y="3769816"/>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3(a–b). Specialized incisors compared with eastern mole teeth.</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4">
            <a:alphaModFix/>
          </a:blip>
          <a:srcRect b="0" l="0" r="0" t="0"/>
          <a:stretch/>
        </p:blipFill>
        <p:spPr>
          <a:xfrm>
            <a:off x="6229824" y="4187130"/>
            <a:ext cx="5394964" cy="1049238"/>
          </a:xfrm>
          <a:prstGeom prst="rect">
            <a:avLst/>
          </a:prstGeom>
          <a:noFill/>
          <a:ln>
            <a:noFill/>
          </a:ln>
        </p:spPr>
      </p:pic>
      <p:sp>
        <p:nvSpPr>
          <p:cNvPr id="134" name="Google Shape;134;p9"/>
          <p:cNvSpPr/>
          <p:nvPr/>
        </p:nvSpPr>
        <p:spPr>
          <a:xfrm>
            <a:off x="6229796" y="5309592"/>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1(c). A second high-speed feeding sequence with original time labels.</a:t>
            </a:r>
            <a:endParaRPr sz="1800">
              <a:solidFill>
                <a:schemeClr val="dk1"/>
              </a:solidFill>
              <a:latin typeface="Calibri"/>
              <a:ea typeface="Calibri"/>
              <a:cs typeface="Calibri"/>
              <a:sym typeface="Calibri"/>
            </a:endParaRPr>
          </a:p>
        </p:txBody>
      </p:sp>
      <p:sp>
        <p:nvSpPr>
          <p:cNvPr id="135" name="Google Shape;135;p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37" name="Google Shape;137;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Eimer’s organs tile the contact surface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An </a:t>
            </a:r>
            <a:r>
              <a:rPr b="1" i="0" lang="en-US">
                <a:solidFill>
                  <a:srgbClr val="375B70"/>
                </a:solidFill>
                <a:latin typeface="Arial"/>
                <a:ea typeface="Arial"/>
                <a:cs typeface="Arial"/>
                <a:sym typeface="Arial"/>
              </a:rPr>
              <a:t>Eimer’s organ</a:t>
            </a:r>
            <a:r>
              <a:rPr b="0" i="0" lang="en-US">
                <a:solidFill>
                  <a:srgbClr val="25313C"/>
                </a:solidFill>
                <a:latin typeface="Arial"/>
                <a:ea typeface="Arial"/>
                <a:cs typeface="Arial"/>
                <a:sym typeface="Arial"/>
              </a:rPr>
              <a:t> is a small epidermal sensory unit containing several types of nerve ending. The </a:t>
            </a:r>
            <a:r>
              <a:rPr b="1" i="0" lang="en-US">
                <a:solidFill>
                  <a:srgbClr val="375B70"/>
                </a:solidFill>
                <a:latin typeface="Arial"/>
                <a:ea typeface="Arial"/>
                <a:cs typeface="Arial"/>
                <a:sym typeface="Arial"/>
              </a:rPr>
              <a:t>epidermis</a:t>
            </a:r>
            <a:r>
              <a:rPr b="0" i="0" lang="en-US">
                <a:solidFill>
                  <a:srgbClr val="25313C"/>
                </a:solidFill>
                <a:latin typeface="Arial"/>
                <a:ea typeface="Arial"/>
                <a:cs typeface="Arial"/>
                <a:sym typeface="Arial"/>
              </a:rPr>
              <a:t> is the outer cellular layer of skin. Sawyer and Catania used scanning electron microscopy to map these units across the flattened front surface of the star.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organ is supplied by several endings, and individual fibers may branch, so counting organs measures the distribution of anatomical units across the star. Because every dome has an external structure, receptor-unit density and position can be mapped across all 22 rays.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3">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4">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Central and peripheral endings occupy distinct rings</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star-nosed mole Eimer’s organs. </a:t>
            </a: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resolves selected optical depths, allowing the arrangement of nerve terminals to be compared in horizontal and vertical tissue sections rather than inferred from the surface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15 µm below an organ’s apex, a central ending was surrounded by seven satellite fibers in the illustrated specimen. A second, outer ring contained smaller peripheral endings. Near the surface, terminal swellings of the satellite fibers approached the central terminal.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Merkel cells form complexes with sensory neurites</a:t>
            </a:r>
            <a:endParaRPr sz="1800">
              <a:solidFill>
                <a:schemeClr val="dk1"/>
              </a:solidFill>
              <a:latin typeface="Calibri"/>
              <a:ea typeface="Calibri"/>
              <a:cs typeface="Calibri"/>
              <a:sym typeface="Calibri"/>
            </a:endParaRPr>
          </a:p>
        </p:txBody>
      </p:sp>
      <p:sp>
        <p:nvSpPr>
          <p:cNvPr id="173" name="Google Shape;17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Merkel cell–neurite complex</a:t>
            </a:r>
            <a:r>
              <a:rPr b="0" i="0" lang="en-US" sz="1500">
                <a:solidFill>
                  <a:srgbClr val="25313C"/>
                </a:solidFill>
                <a:latin typeface="Arial"/>
                <a:ea typeface="Arial"/>
                <a:cs typeface="Arial"/>
                <a:sym typeface="Arial"/>
              </a:rPr>
              <a:t> couples a specialized epidermal cell to a sensory axon ending. Marasco and colleagues resolved these complexes near the base of star-nosed mole Eimer’s organs using dye labeling. The labeled neurite formed a disk associated with the Merkel cell.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endParaRPr sz="1700">
              <a:solidFill>
                <a:schemeClr val="dk1"/>
              </a:solidFill>
              <a:latin typeface="Calibri"/>
              <a:ea typeface="Calibri"/>
              <a:cs typeface="Calibri"/>
              <a:sym typeface="Calibri"/>
            </a:endParaRPr>
          </a:p>
        </p:txBody>
      </p:sp>
      <p:pic>
        <p:nvPicPr>
          <p:cNvPr id="176" name="Google Shape;176;p12"/>
          <p:cNvPicPr preferRelativeResize="0"/>
          <p:nvPr/>
        </p:nvPicPr>
        <p:blipFill rotWithShape="1">
          <a:blip r:embed="rId3">
            <a:alphaModFix/>
          </a:blip>
          <a:srcRect b="0" l="0" r="0" t="0"/>
          <a:stretch/>
        </p:blipFill>
        <p:spPr>
          <a:xfrm>
            <a:off x="6229922" y="1280071"/>
            <a:ext cx="5394768" cy="2822228"/>
          </a:xfrm>
          <a:prstGeom prst="rect">
            <a:avLst/>
          </a:prstGeom>
          <a:noFill/>
          <a:ln>
            <a:noFill/>
          </a:ln>
        </p:spPr>
      </p:pic>
      <p:sp>
        <p:nvSpPr>
          <p:cNvPr id="177" name="Google Shape;177;p12"/>
          <p:cNvSpPr/>
          <p:nvPr/>
        </p:nvSpPr>
        <p:spPr>
          <a:xfrm>
            <a:off x="6229796" y="419382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3(J–K). Merkel cell–neurite complexes in the star-nosed mole.</a:t>
            </a:r>
            <a:endParaRPr sz="1800">
              <a:solidFill>
                <a:schemeClr val="dk1"/>
              </a:solidFill>
              <a:latin typeface="Calibri"/>
              <a:ea typeface="Calibri"/>
              <a:cs typeface="Calibri"/>
              <a:sym typeface="Calibri"/>
            </a:endParaRPr>
          </a:p>
        </p:txBody>
      </p:sp>
      <p:pic>
        <p:nvPicPr>
          <p:cNvPr id="178" name="Google Shape;178;p12"/>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79" name="Google Shape;179;p1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80" name="Google Shape;180;p1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82" name="Google Shape;18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Lamellated corpuscles add a deep receptor component</a:t>
            </a:r>
            <a:endParaRPr sz="1800">
              <a:solidFill>
                <a:schemeClr val="dk1"/>
              </a:solidFill>
              <a:latin typeface="Calibri"/>
              <a:ea typeface="Calibri"/>
              <a:cs typeface="Calibri"/>
              <a:sym typeface="Calibri"/>
            </a:endParaRPr>
          </a:p>
        </p:txBody>
      </p:sp>
      <p:sp>
        <p:nvSpPr>
          <p:cNvPr id="188" name="Google Shape;18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 </a:t>
            </a:r>
            <a:r>
              <a:rPr b="1" i="0" lang="en-US">
                <a:solidFill>
                  <a:srgbClr val="375B70"/>
                </a:solidFill>
                <a:latin typeface="Arial"/>
                <a:ea typeface="Arial"/>
                <a:cs typeface="Arial"/>
                <a:sym typeface="Arial"/>
              </a:rPr>
              <a:t>lamellated corpuscle</a:t>
            </a:r>
            <a:r>
              <a:rPr b="0" i="0" lang="en-US">
                <a:solidFill>
                  <a:srgbClr val="25313C"/>
                </a:solidFill>
                <a:latin typeface="Arial"/>
                <a:ea typeface="Arial"/>
                <a:cs typeface="Arial"/>
                <a:sym typeface="Arial"/>
              </a:rPr>
              <a:t> contains a sensory ending surrounded by layered tissue. Marasco and colleagues localized this structure beneath the epidermis in Eimer’s organs. The terminal neurite ran through the capsule and lay approximately parallel to the skin surface.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arrangement is consistent with sensitivity to changing mechanical input. Layered capsule tissue surrounds the terminal neurite, and Pacinian-like rapidly adapting responses were recorded from mole nasal afferents. The skin unit integrates several receptor components.</a:t>
            </a:r>
            <a:endParaRPr sz="17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3">
            <a:alphaModFix/>
          </a:blip>
          <a:srcRect b="0" l="0" r="0" t="0"/>
          <a:stretch/>
        </p:blipFill>
        <p:spPr>
          <a:xfrm>
            <a:off x="7559298" y="1280071"/>
            <a:ext cx="2736315" cy="2834580"/>
          </a:xfrm>
          <a:prstGeom prst="rect">
            <a:avLst/>
          </a:prstGeom>
          <a:noFill/>
          <a:ln>
            <a:noFill/>
          </a:ln>
        </p:spPr>
      </p:pic>
      <p:sp>
        <p:nvSpPr>
          <p:cNvPr id="192" name="Google Shape;192;p1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3(L). A lamellated corpuscle in the star-nosed mole.</a:t>
            </a:r>
            <a:endParaRPr sz="1800">
              <a:solidFill>
                <a:schemeClr val="dk1"/>
              </a:solidFill>
              <a:latin typeface="Calibri"/>
              <a:ea typeface="Calibri"/>
              <a:cs typeface="Calibri"/>
              <a:sym typeface="Calibri"/>
            </a:endParaRPr>
          </a:p>
        </p:txBody>
      </p:sp>
      <p:pic>
        <p:nvPicPr>
          <p:cNvPr id="193" name="Google Shape;193;p13"/>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94" name="Google Shape;194;p13"/>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95" name="Google Shape;195;p1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97" name="Google Shape;19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Molecular markers separate touch-associated endings</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NF200</a:t>
            </a:r>
            <a:r>
              <a:rPr b="0" i="0" lang="en-US" sz="1500">
                <a:solidFill>
                  <a:srgbClr val="25313C"/>
                </a:solidFill>
                <a:latin typeface="Arial"/>
                <a:ea typeface="Arial"/>
                <a:cs typeface="Arial"/>
                <a:sym typeface="Arial"/>
              </a:rPr>
              <a:t> is a neurofilament marker associated with many large, myelinated sensory fibers. </a:t>
            </a:r>
            <a:r>
              <a:rPr b="1" i="0" lang="en-US" sz="1500">
                <a:solidFill>
                  <a:srgbClr val="375B70"/>
                </a:solidFill>
                <a:latin typeface="Arial"/>
                <a:ea typeface="Arial"/>
                <a:cs typeface="Arial"/>
                <a:sym typeface="Arial"/>
              </a:rPr>
              <a:t>Substance P</a:t>
            </a:r>
            <a:r>
              <a:rPr b="0" i="0" lang="en-US" sz="1500">
                <a:solidFill>
                  <a:srgbClr val="25313C"/>
                </a:solidFill>
                <a:latin typeface="Arial"/>
                <a:ea typeface="Arial"/>
                <a:cs typeface="Arial"/>
                <a:sym typeface="Arial"/>
              </a:rPr>
              <a:t> is a neuropeptide associated with a subset of pain-signaling neurons. Marasco and colleagues double-labeled coast mole Eimer’s organs to compare these populations within the same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3">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Dye fills reveal branching within the organ</a:t>
            </a:r>
            <a:endParaRPr sz="1800">
              <a:solidFill>
                <a:schemeClr val="dk1"/>
              </a:solidFill>
              <a:latin typeface="Calibri"/>
              <a:ea typeface="Calibri"/>
              <a:cs typeface="Calibri"/>
              <a:sym typeface="Calibri"/>
            </a:endParaRPr>
          </a:p>
        </p:txBody>
      </p:sp>
      <p:sp>
        <p:nvSpPr>
          <p:cNvPr id="218" name="Google Shape;218;p1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Marasco and colleagues applied </a:t>
            </a:r>
            <a:r>
              <a:rPr b="1" i="0" lang="en-US" sz="1600">
                <a:solidFill>
                  <a:srgbClr val="375B70"/>
                </a:solidFill>
                <a:latin typeface="Arial"/>
                <a:ea typeface="Arial"/>
                <a:cs typeface="Arial"/>
                <a:sym typeface="Arial"/>
              </a:rPr>
              <a:t>DiI</a:t>
            </a:r>
            <a:r>
              <a:rPr b="0" i="0" lang="en-US" sz="1600">
                <a:solidFill>
                  <a:srgbClr val="25313C"/>
                </a:solidFill>
                <a:latin typeface="Arial"/>
                <a:ea typeface="Arial"/>
                <a:cs typeface="Arial"/>
                <a:sym typeface="Arial"/>
              </a:rPr>
              <a:t>, a lipophilic dye that spreads within cell membranes, to trace free nerve endings in star-nosed mole Eimer’s organs. Tracing tests whether nearby terminal profiles belong to separate fibers or share an underlying neuronal process.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These observations support branching of afferents across the organ's specialized endings. Central and satellite terminals that label together can belong to one fiber, so profiles that look like separate points share an underlying neuronal process.</a:t>
            </a:r>
            <a:endParaRPr sz="1800">
              <a:solidFill>
                <a:schemeClr val="dk1"/>
              </a:solidFill>
              <a:latin typeface="Calibri"/>
              <a:ea typeface="Calibri"/>
              <a:cs typeface="Calibri"/>
              <a:sym typeface="Calibri"/>
            </a:endParaRPr>
          </a:p>
        </p:txBody>
      </p:sp>
      <p:pic>
        <p:nvPicPr>
          <p:cNvPr id="221" name="Google Shape;221;p15"/>
          <p:cNvPicPr preferRelativeResize="0"/>
          <p:nvPr/>
        </p:nvPicPr>
        <p:blipFill rotWithShape="1">
          <a:blip r:embed="rId3">
            <a:alphaModFix/>
          </a:blip>
          <a:srcRect b="0" l="0" r="0" t="0"/>
          <a:stretch/>
        </p:blipFill>
        <p:spPr>
          <a:xfrm>
            <a:off x="6504506" y="1280071"/>
            <a:ext cx="5120188" cy="1064121"/>
          </a:xfrm>
          <a:prstGeom prst="rect">
            <a:avLst/>
          </a:prstGeom>
          <a:noFill/>
          <a:ln>
            <a:noFill/>
          </a:ln>
        </p:spPr>
      </p:pic>
      <p:sp>
        <p:nvSpPr>
          <p:cNvPr id="222" name="Google Shape;222;p15"/>
          <p:cNvSpPr/>
          <p:nvPr/>
        </p:nvSpPr>
        <p:spPr>
          <a:xfrm>
            <a:off x="6504236" y="243572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6(A–E). DiI fills of central and satellite endings in star-nosed mole organs.</a:t>
            </a:r>
            <a:endParaRPr sz="1800">
              <a:solidFill>
                <a:schemeClr val="dk1"/>
              </a:solidFill>
              <a:latin typeface="Calibri"/>
              <a:ea typeface="Calibri"/>
              <a:cs typeface="Calibri"/>
              <a:sym typeface="Calibri"/>
            </a:endParaRPr>
          </a:p>
        </p:txBody>
      </p:sp>
      <p:sp>
        <p:nvSpPr>
          <p:cNvPr id="223" name="Google Shape;223;p1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a:t>
            </a:r>
            <a:endParaRPr sz="1800">
              <a:solidFill>
                <a:schemeClr val="dk1"/>
              </a:solidFill>
              <a:latin typeface="Calibri"/>
              <a:ea typeface="Calibri"/>
              <a:cs typeface="Calibri"/>
              <a:sym typeface="Calibri"/>
            </a:endParaRPr>
          </a:p>
        </p:txBody>
      </p:sp>
      <p:sp>
        <p:nvSpPr>
          <p:cNvPr id="225" name="Google Shape;22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Separate nerve branches supply individual rays</a:t>
            </a:r>
            <a:endParaRPr sz="1800">
              <a:solidFill>
                <a:schemeClr val="dk1"/>
              </a:solidFill>
              <a:latin typeface="Calibri"/>
              <a:ea typeface="Calibri"/>
              <a:cs typeface="Calibri"/>
              <a:sym typeface="Calibri"/>
            </a:endParaRPr>
          </a:p>
        </p:txBody>
      </p:sp>
      <p:sp>
        <p:nvSpPr>
          <p:cNvPr id="231" name="Google Shape;23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sectioned the base of the star and examined its myelinated nerves. </a:t>
            </a:r>
            <a:r>
              <a:rPr b="1" i="0" lang="en-US" sz="1600">
                <a:solidFill>
                  <a:srgbClr val="375B70"/>
                </a:solidFill>
                <a:latin typeface="Arial"/>
                <a:ea typeface="Arial"/>
                <a:cs typeface="Arial"/>
                <a:sym typeface="Arial"/>
              </a:rPr>
              <a:t>Myelin</a:t>
            </a:r>
            <a:r>
              <a:rPr b="0" i="0" lang="en-US" sz="1600">
                <a:solidFill>
                  <a:srgbClr val="25313C"/>
                </a:solidFill>
                <a:latin typeface="Arial"/>
                <a:ea typeface="Arial"/>
                <a:cs typeface="Arial"/>
                <a:sym typeface="Arial"/>
              </a:rPr>
              <a:t> is the insulating sheath around many axons. A </a:t>
            </a:r>
            <a:r>
              <a:rPr b="1" i="0" lang="en-US" sz="1600">
                <a:solidFill>
                  <a:srgbClr val="375B70"/>
                </a:solidFill>
                <a:latin typeface="Arial"/>
                <a:ea typeface="Arial"/>
                <a:cs typeface="Arial"/>
                <a:sym typeface="Arial"/>
              </a:rPr>
              <a:t>primary afferent</a:t>
            </a:r>
            <a:r>
              <a:rPr b="0" i="0" lang="en-US" sz="1600">
                <a:solidFill>
                  <a:srgbClr val="25313C"/>
                </a:solidFill>
                <a:latin typeface="Arial"/>
                <a:ea typeface="Arial"/>
                <a:cs typeface="Arial"/>
                <a:sym typeface="Arial"/>
              </a:rPr>
              <a:t> is a sensory neuron carrying peripheral information toward the central nervous system.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branch arrangement provides a tractable way to measure afferent allocation, since the fibers of each ray can be counted separately and related to its organs and cortical stripe. Counting fibers and counting organs give complementary measurements of the sensory periphery.</a:t>
            </a:r>
            <a:endParaRPr sz="1800">
              <a:solidFill>
                <a:schemeClr val="dk1"/>
              </a:solidFill>
              <a:latin typeface="Calibri"/>
              <a:ea typeface="Calibri"/>
              <a:cs typeface="Calibri"/>
              <a:sym typeface="Calibri"/>
            </a:endParaRPr>
          </a:p>
        </p:txBody>
      </p:sp>
      <p:pic>
        <p:nvPicPr>
          <p:cNvPr id="234" name="Google Shape;234;p16"/>
          <p:cNvPicPr preferRelativeResize="0"/>
          <p:nvPr/>
        </p:nvPicPr>
        <p:blipFill rotWithShape="1">
          <a:blip r:embed="rId3">
            <a:alphaModFix/>
          </a:blip>
          <a:srcRect b="0" l="0" r="0" t="0"/>
          <a:stretch/>
        </p:blipFill>
        <p:spPr>
          <a:xfrm>
            <a:off x="7593233" y="1280071"/>
            <a:ext cx="2668295" cy="2834580"/>
          </a:xfrm>
          <a:prstGeom prst="rect">
            <a:avLst/>
          </a:prstGeom>
          <a:noFill/>
          <a:ln>
            <a:noFill/>
          </a:ln>
        </p:spPr>
      </p:pic>
      <p:sp>
        <p:nvSpPr>
          <p:cNvPr id="235" name="Google Shape;235;p16"/>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6(A–F). Ray nerve bundles, myelinated fibers and receptor-bearing surface.</a:t>
            </a:r>
            <a:endParaRPr sz="1800">
              <a:solidFill>
                <a:schemeClr val="dk1"/>
              </a:solidFill>
              <a:latin typeface="Calibri"/>
              <a:ea typeface="Calibri"/>
              <a:cs typeface="Calibri"/>
              <a:sym typeface="Calibri"/>
            </a:endParaRPr>
          </a:p>
        </p:txBody>
      </p:sp>
      <p:pic>
        <p:nvPicPr>
          <p:cNvPr id="236" name="Google Shape;236;p16"/>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37" name="Google Shape;23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38" name="Google Shape;238;p1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Gerhold et al. (2013)</a:t>
            </a:r>
            <a:endParaRPr sz="1800">
              <a:solidFill>
                <a:schemeClr val="dk1"/>
              </a:solidFill>
              <a:latin typeface="Calibri"/>
              <a:ea typeface="Calibri"/>
              <a:cs typeface="Calibri"/>
              <a:sym typeface="Calibri"/>
            </a:endParaRPr>
          </a:p>
        </p:txBody>
      </p:sp>
      <p:sp>
        <p:nvSpPr>
          <p:cNvPr id="240" name="Google Shape;24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 11 has more afferents per sensory organ</a:t>
            </a:r>
            <a:endParaRPr sz="1800">
              <a:solidFill>
                <a:schemeClr val="dk1"/>
              </a:solidFill>
              <a:latin typeface="Calibri"/>
              <a:ea typeface="Calibri"/>
              <a:cs typeface="Calibri"/>
              <a:sym typeface="Calibri"/>
            </a:endParaRPr>
          </a:p>
        </p:txBody>
      </p:sp>
      <p:sp>
        <p:nvSpPr>
          <p:cNvPr id="246" name="Google Shape;24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combined Eimer’s-organ counts with myelinated-fiber counts for each ray. </a:t>
            </a:r>
            <a:r>
              <a:rPr b="1" i="0" lang="en-US" sz="1500">
                <a:solidFill>
                  <a:srgbClr val="375B70"/>
                </a:solidFill>
                <a:latin typeface="Arial"/>
                <a:ea typeface="Arial"/>
                <a:cs typeface="Arial"/>
                <a:sym typeface="Arial"/>
              </a:rPr>
              <a:t>Innervation density per organ</a:t>
            </a:r>
            <a:r>
              <a:rPr b="0" i="0" lang="en-US" sz="1500">
                <a:solidFill>
                  <a:srgbClr val="25313C"/>
                </a:solidFill>
                <a:latin typeface="Arial"/>
                <a:ea typeface="Arial"/>
                <a:cs typeface="Arial"/>
                <a:sym typeface="Arial"/>
              </a:rPr>
              <a:t> describes the number of counted afferents relative to the number of anatomical sensory units, rather than the number of domes per square millimeter.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endParaRPr sz="1800">
              <a:solidFill>
                <a:schemeClr val="dk1"/>
              </a:solidFill>
              <a:latin typeface="Calibri"/>
              <a:ea typeface="Calibri"/>
              <a:cs typeface="Calibri"/>
              <a:sym typeface="Calibri"/>
            </a:endParaRPr>
          </a:p>
        </p:txBody>
      </p:sp>
      <p:pic>
        <p:nvPicPr>
          <p:cNvPr id="249" name="Google Shape;249;p17"/>
          <p:cNvPicPr preferRelativeResize="0"/>
          <p:nvPr/>
        </p:nvPicPr>
        <p:blipFill rotWithShape="1">
          <a:blip r:embed="rId3">
            <a:alphaModFix/>
          </a:blip>
          <a:srcRect b="0" l="0" r="0" t="0"/>
          <a:stretch/>
        </p:blipFill>
        <p:spPr>
          <a:xfrm>
            <a:off x="7314345" y="1280071"/>
            <a:ext cx="3225922" cy="2834580"/>
          </a:xfrm>
          <a:prstGeom prst="rect">
            <a:avLst/>
          </a:prstGeom>
          <a:noFill/>
          <a:ln>
            <a:noFill/>
          </a:ln>
        </p:spPr>
      </p:pic>
      <p:sp>
        <p:nvSpPr>
          <p:cNvPr id="250" name="Google Shape;250;p1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7(C). Myelinated fibers per Eimer’s organ across rays.</a:t>
            </a:r>
            <a:endParaRPr sz="1800">
              <a:solidFill>
                <a:schemeClr val="dk1"/>
              </a:solidFill>
              <a:latin typeface="Calibri"/>
              <a:ea typeface="Calibri"/>
              <a:cs typeface="Calibri"/>
              <a:sym typeface="Calibri"/>
            </a:endParaRPr>
          </a:p>
        </p:txBody>
      </p:sp>
      <p:pic>
        <p:nvPicPr>
          <p:cNvPr id="251" name="Google Shape;251;p17"/>
          <p:cNvPicPr preferRelativeResize="0"/>
          <p:nvPr/>
        </p:nvPicPr>
        <p:blipFill rotWithShape="1">
          <a:blip r:embed="rId4">
            <a:alphaModFix/>
          </a:blip>
          <a:srcRect b="0" l="0" r="0" t="0"/>
          <a:stretch/>
        </p:blipFill>
        <p:spPr>
          <a:xfrm>
            <a:off x="8602861" y="4663427"/>
            <a:ext cx="649188" cy="1097067"/>
          </a:xfrm>
          <a:prstGeom prst="rect">
            <a:avLst/>
          </a:prstGeom>
          <a:noFill/>
          <a:ln>
            <a:noFill/>
          </a:ln>
        </p:spPr>
      </p:pic>
      <p:sp>
        <p:nvSpPr>
          <p:cNvPr id="252" name="Google Shape;252;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53" name="Google Shape;253;p1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255" name="Google Shape;25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Receptor density rises toward the ray tips</a:t>
            </a:r>
            <a:endParaRPr sz="1800">
              <a:solidFill>
                <a:schemeClr val="dk1"/>
              </a:solidFill>
              <a:latin typeface="Calibri"/>
              <a:ea typeface="Calibri"/>
              <a:cs typeface="Calibri"/>
              <a:sym typeface="Calibri"/>
            </a:endParaRPr>
          </a:p>
        </p:txBody>
      </p:sp>
      <p:sp>
        <p:nvSpPr>
          <p:cNvPr id="261" name="Google Shape;261;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measured Eimer’s-organ positions on flattened stars using scanning electron microscopy. </a:t>
            </a:r>
            <a:r>
              <a:rPr b="1" i="0" lang="en-US" sz="1600">
                <a:solidFill>
                  <a:srgbClr val="375B70"/>
                </a:solidFill>
                <a:latin typeface="Arial"/>
                <a:ea typeface="Arial"/>
                <a:cs typeface="Arial"/>
                <a:sym typeface="Arial"/>
              </a:rPr>
              <a:t>Eccentricity</a:t>
            </a:r>
            <a:r>
              <a:rPr b="0" i="0" lang="en-US" sz="1600">
                <a:solidFill>
                  <a:srgbClr val="25313C"/>
                </a:solidFill>
                <a:latin typeface="Arial"/>
                <a:ea typeface="Arial"/>
                <a:cs typeface="Arial"/>
                <a:sym typeface="Arial"/>
              </a:rPr>
              <a:t> here means normalized distance along a ray from its base toward its tip. Comparing this coordinate across rays separates longitudinal position from ray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density increased from about 228 organs/mm² near the star center to 391 at ray bases, 516 in middle regions and 718 near the tips. Density rose near the base, plateaued through much of the ray, then increased again in its distal portion.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gradient means that contact location changes the density of sampled units even within one ray, with the tips carrying the finest array. Because position along a ray is separate from ray identity, the gradient can be compared across all rays.</a:t>
            </a:r>
            <a:endParaRPr sz="1800">
              <a:solidFill>
                <a:schemeClr val="dk1"/>
              </a:solidFill>
              <a:latin typeface="Calibri"/>
              <a:ea typeface="Calibri"/>
              <a:cs typeface="Calibri"/>
              <a:sym typeface="Calibri"/>
            </a:endParaRPr>
          </a:p>
        </p:txBody>
      </p:sp>
      <p:pic>
        <p:nvPicPr>
          <p:cNvPr id="264" name="Google Shape;264;p18"/>
          <p:cNvPicPr preferRelativeResize="0"/>
          <p:nvPr/>
        </p:nvPicPr>
        <p:blipFill rotWithShape="1">
          <a:blip r:embed="rId3">
            <a:alphaModFix/>
          </a:blip>
          <a:srcRect b="0" l="0" r="0" t="0"/>
          <a:stretch/>
        </p:blipFill>
        <p:spPr>
          <a:xfrm>
            <a:off x="7792987" y="1280071"/>
            <a:ext cx="2543078" cy="4297561"/>
          </a:xfrm>
          <a:prstGeom prst="rect">
            <a:avLst/>
          </a:prstGeom>
          <a:noFill/>
          <a:ln>
            <a:noFill/>
          </a:ln>
        </p:spPr>
      </p:pic>
      <p:sp>
        <p:nvSpPr>
          <p:cNvPr id="265" name="Google Shape;265;p18"/>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66" name="Google Shape;266;p1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68" name="Google Shape;26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fovea lacks an exceptional dome-density peak</a:t>
            </a:r>
            <a:endParaRPr sz="1800">
              <a:solidFill>
                <a:schemeClr val="dk1"/>
              </a:solidFill>
              <a:latin typeface="Calibri"/>
              <a:ea typeface="Calibri"/>
              <a:cs typeface="Calibri"/>
              <a:sym typeface="Calibri"/>
            </a:endParaRPr>
          </a:p>
        </p:txBody>
      </p:sp>
      <p:sp>
        <p:nvSpPr>
          <p:cNvPr id="274" name="Google Shape;274;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Ray 11 did not possess higher overall Eimer’s-organ density than the other rays. Nevertheless, Catania and Kaas found much greater cortical area per organ for ray 11. The tactile fovea therefore differs from an explanation based solely on extra receptor units per surface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findings reveal a mismatch between dome density and central allocation: ray 11 has typical density but a much larger cortical area per organ. Central magnification is therefore one measured contributor to foveal acuity.</a:t>
            </a:r>
            <a:endParaRPr sz="1800">
              <a:solidFill>
                <a:schemeClr val="dk1"/>
              </a:solidFill>
              <a:latin typeface="Calibri"/>
              <a:ea typeface="Calibri"/>
              <a:cs typeface="Calibri"/>
              <a:sym typeface="Calibri"/>
            </a:endParaRPr>
          </a:p>
        </p:txBody>
      </p:sp>
      <p:pic>
        <p:nvPicPr>
          <p:cNvPr id="277" name="Google Shape;277;p19"/>
          <p:cNvPicPr preferRelativeResize="0"/>
          <p:nvPr/>
        </p:nvPicPr>
        <p:blipFill rotWithShape="1">
          <a:blip r:embed="rId3">
            <a:alphaModFix/>
          </a:blip>
          <a:srcRect b="0" l="0" r="0" t="0"/>
          <a:stretch/>
        </p:blipFill>
        <p:spPr>
          <a:xfrm>
            <a:off x="6695826" y="1280071"/>
            <a:ext cx="2543078" cy="4297561"/>
          </a:xfrm>
          <a:prstGeom prst="rect">
            <a:avLst/>
          </a:prstGeom>
          <a:noFill/>
          <a:ln>
            <a:noFill/>
          </a:ln>
        </p:spPr>
      </p:pic>
      <p:sp>
        <p:nvSpPr>
          <p:cNvPr id="278" name="Google Shape;278;p19"/>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pic>
        <p:nvPicPr>
          <p:cNvPr id="279" name="Google Shape;279;p19"/>
          <p:cNvPicPr preferRelativeResize="0"/>
          <p:nvPr/>
        </p:nvPicPr>
        <p:blipFill rotWithShape="1">
          <a:blip r:embed="rId4">
            <a:alphaModFix/>
          </a:blip>
          <a:srcRect b="0" l="0" r="0" t="0"/>
          <a:stretch/>
        </p:blipFill>
        <p:spPr>
          <a:xfrm>
            <a:off x="10087727" y="2148780"/>
            <a:ext cx="1337206" cy="3383161"/>
          </a:xfrm>
          <a:prstGeom prst="rect">
            <a:avLst/>
          </a:prstGeom>
          <a:noFill/>
          <a:ln>
            <a:noFill/>
          </a:ln>
        </p:spPr>
      </p:pic>
      <p:sp>
        <p:nvSpPr>
          <p:cNvPr id="280" name="Google Shape;280;p19"/>
          <p:cNvSpPr/>
          <p:nvPr/>
        </p:nvSpPr>
        <p:spPr>
          <a:xfrm>
            <a:off x="9887545" y="560516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12(A–C). Cortical area and its normalization by organs and afferents.</a:t>
            </a:r>
            <a:endParaRPr sz="1800">
              <a:solidFill>
                <a:schemeClr val="dk1"/>
              </a:solidFill>
              <a:latin typeface="Calibri"/>
              <a:ea typeface="Calibri"/>
              <a:cs typeface="Calibri"/>
              <a:sym typeface="Calibri"/>
            </a:endParaRPr>
          </a:p>
        </p:txBody>
      </p:sp>
      <p:sp>
        <p:nvSpPr>
          <p:cNvPr id="281" name="Google Shape;281;p1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283" name="Google Shape;28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Individual organ size varies across the star</a:t>
            </a:r>
            <a:endParaRPr sz="1800">
              <a:solidFill>
                <a:schemeClr val="dk1"/>
              </a:solidFill>
              <a:latin typeface="Calibri"/>
              <a:ea typeface="Calibri"/>
              <a:cs typeface="Calibri"/>
              <a:sym typeface="Calibri"/>
            </a:endParaRPr>
          </a:p>
        </p:txBody>
      </p:sp>
      <p:sp>
        <p:nvSpPr>
          <p:cNvPr id="289" name="Google Shape;289;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traced the frontal surface area of individual Eimer’s organs in scanning electron micrographs. </a:t>
            </a:r>
            <a:r>
              <a:rPr b="1" i="0" lang="en-US" sz="1600">
                <a:solidFill>
                  <a:srgbClr val="375B70"/>
                </a:solidFill>
                <a:latin typeface="Arial"/>
                <a:ea typeface="Arial"/>
                <a:cs typeface="Arial"/>
                <a:sym typeface="Arial"/>
              </a:rPr>
              <a:t>Surface area</a:t>
            </a:r>
            <a:r>
              <a:rPr b="0" i="0" lang="en-US" sz="1600">
                <a:solidFill>
                  <a:srgbClr val="25313C"/>
                </a:solidFill>
                <a:latin typeface="Arial"/>
                <a:ea typeface="Arial"/>
                <a:cs typeface="Arial"/>
                <a:sym typeface="Arial"/>
              </a:rPr>
              <a:t> here describes a dome’s visible footprint; it does not describe the receptive field of a recorded neuron or the full three-dimensional dome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largest organs, roughly 25 times the area of the smallest, cluster near the star's center, so the footprint of the sensory unit differs between central and distal regions. That variation could change how a contacting object distributes force across sensory units.</a:t>
            </a:r>
            <a:endParaRPr sz="1800">
              <a:solidFill>
                <a:schemeClr val="dk1"/>
              </a:solidFill>
              <a:latin typeface="Calibri"/>
              <a:ea typeface="Calibri"/>
              <a:cs typeface="Calibri"/>
              <a:sym typeface="Calibri"/>
            </a:endParaRPr>
          </a:p>
        </p:txBody>
      </p:sp>
      <p:pic>
        <p:nvPicPr>
          <p:cNvPr id="292" name="Google Shape;292;p20"/>
          <p:cNvPicPr preferRelativeResize="0"/>
          <p:nvPr/>
        </p:nvPicPr>
        <p:blipFill rotWithShape="1">
          <a:blip r:embed="rId3">
            <a:alphaModFix/>
          </a:blip>
          <a:srcRect b="0" l="0" r="0" t="0"/>
          <a:stretch/>
        </p:blipFill>
        <p:spPr>
          <a:xfrm>
            <a:off x="6504305" y="1280071"/>
            <a:ext cx="5120590" cy="3759101"/>
          </a:xfrm>
          <a:prstGeom prst="rect">
            <a:avLst/>
          </a:prstGeom>
          <a:noFill/>
          <a:ln>
            <a:noFill/>
          </a:ln>
        </p:spPr>
      </p:pic>
      <p:sp>
        <p:nvSpPr>
          <p:cNvPr id="293" name="Google Shape;293;p20"/>
          <p:cNvSpPr/>
          <p:nvPr/>
        </p:nvSpPr>
        <p:spPr>
          <a:xfrm>
            <a:off x="6504236" y="513070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4(A–B). Original maps of individual Eimer’s-organ surface area.</a:t>
            </a:r>
            <a:endParaRPr sz="1800">
              <a:solidFill>
                <a:schemeClr val="dk1"/>
              </a:solidFill>
              <a:latin typeface="Calibri"/>
              <a:ea typeface="Calibri"/>
              <a:cs typeface="Calibri"/>
              <a:sym typeface="Calibri"/>
            </a:endParaRPr>
          </a:p>
        </p:txBody>
      </p:sp>
      <p:sp>
        <p:nvSpPr>
          <p:cNvPr id="294" name="Google Shape;294;p2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96" name="Google Shape;296;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Peripheral afferents encode changing and held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sensory units from the trigeminal ganglion while controlled stimulators contacted the nose. </a:t>
            </a: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change in firing during continued stimulation. Their star-nosed mole traces compare responses to a maintained mechanical indentation rather than to freely chosen touches.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3">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Vibration tuning distinguishes afferent response classes</a:t>
            </a:r>
            <a:endParaRPr sz="1800">
              <a:solidFill>
                <a:schemeClr val="dk1"/>
              </a:solidFill>
              <a:latin typeface="Calibri"/>
              <a:ea typeface="Calibri"/>
              <a:cs typeface="Calibri"/>
              <a:sym typeface="Calibri"/>
            </a:endParaRPr>
          </a:p>
        </p:txBody>
      </p:sp>
      <p:sp>
        <p:nvSpPr>
          <p:cNvPr id="317" name="Google Shape;317;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Marasco and Catania varied sinusoidal indentation frequency and amplitude in coast-mole nasal afferents. A </a:t>
            </a:r>
            <a:r>
              <a:rPr b="1" i="0" lang="en-US" sz="1400">
                <a:solidFill>
                  <a:srgbClr val="375B70"/>
                </a:solidFill>
                <a:latin typeface="Arial"/>
                <a:ea typeface="Arial"/>
                <a:cs typeface="Arial"/>
                <a:sym typeface="Arial"/>
              </a:rPr>
              <a:t>sinusoidal stimulus</a:t>
            </a:r>
            <a:r>
              <a:rPr b="0" i="0" lang="en-US" sz="1400">
                <a:solidFill>
                  <a:srgbClr val="25313C"/>
                </a:solidFill>
                <a:latin typeface="Arial"/>
                <a:ea typeface="Arial"/>
                <a:cs typeface="Arial"/>
                <a:sym typeface="Arial"/>
              </a:rPr>
              <a:t> repeatedly moves the skin inward and outward. This comparative preparation tests receptor dynamics in Eimer’s organs without assuming that all mole species have identical tuning.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400"/>
              <a:buFont typeface="Arial"/>
              <a:buNone/>
            </a:pPr>
            <a:r>
              <a:rPr b="0" i="0" lang="en-US" sz="1400">
                <a:solidFill>
                  <a:srgbClr val="25313C"/>
                </a:solidFill>
                <a:latin typeface="Arial"/>
                <a:ea typeface="Arial"/>
                <a:cs typeface="Arial"/>
                <a:sym typeface="Arial"/>
              </a:rPr>
              <a:t>The results support parallel channels for distinct mechanical changes. Pacinian-like units prefer small displacements near 250–300 Hz, while other rapidly adapting units respond across broader ranges, so receptor class sets which vibrations drive the afferent.</a:t>
            </a:r>
            <a:endParaRPr sz="1800">
              <a:solidFill>
                <a:schemeClr val="dk1"/>
              </a:solidFill>
              <a:latin typeface="Calibri"/>
              <a:ea typeface="Calibri"/>
              <a:cs typeface="Calibri"/>
              <a:sym typeface="Calibri"/>
            </a:endParaRPr>
          </a:p>
        </p:txBody>
      </p:sp>
      <p:pic>
        <p:nvPicPr>
          <p:cNvPr id="320" name="Google Shape;320;p22"/>
          <p:cNvPicPr preferRelativeResize="0"/>
          <p:nvPr/>
        </p:nvPicPr>
        <p:blipFill rotWithShape="1">
          <a:blip r:embed="rId3">
            <a:alphaModFix/>
          </a:blip>
          <a:srcRect b="0" l="0" r="0" t="0"/>
          <a:stretch/>
        </p:blipFill>
        <p:spPr>
          <a:xfrm>
            <a:off x="7251730" y="1280071"/>
            <a:ext cx="3351301" cy="2834580"/>
          </a:xfrm>
          <a:prstGeom prst="rect">
            <a:avLst/>
          </a:prstGeom>
          <a:noFill/>
          <a:ln>
            <a:noFill/>
          </a:ln>
        </p:spPr>
      </p:pic>
      <p:sp>
        <p:nvSpPr>
          <p:cNvPr id="321" name="Google Shape;321;p22"/>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5. Peak frequency and displacement sensitivity in coast-mole afferents.</a:t>
            </a:r>
            <a:endParaRPr sz="1800">
              <a:solidFill>
                <a:schemeClr val="dk1"/>
              </a:solidFill>
              <a:latin typeface="Calibri"/>
              <a:ea typeface="Calibri"/>
              <a:cs typeface="Calibri"/>
              <a:sym typeface="Calibri"/>
            </a:endParaRPr>
          </a:p>
        </p:txBody>
      </p:sp>
      <p:pic>
        <p:nvPicPr>
          <p:cNvPr id="322" name="Google Shape;322;p22"/>
          <p:cNvPicPr preferRelativeResize="0"/>
          <p:nvPr/>
        </p:nvPicPr>
        <p:blipFill rotWithShape="1">
          <a:blip r:embed="rId4">
            <a:alphaModFix/>
          </a:blip>
          <a:srcRect b="0" l="0" r="0" t="0"/>
          <a:stretch/>
        </p:blipFill>
        <p:spPr>
          <a:xfrm>
            <a:off x="7152282" y="4663380"/>
            <a:ext cx="3550049" cy="1097161"/>
          </a:xfrm>
          <a:prstGeom prst="rect">
            <a:avLst/>
          </a:prstGeom>
          <a:noFill/>
          <a:ln>
            <a:noFill/>
          </a:ln>
        </p:spPr>
      </p:pic>
      <p:sp>
        <p:nvSpPr>
          <p:cNvPr id="323" name="Google Shape;323;p2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24" name="Google Shape;324;p2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26" name="Google Shape;326;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Some afferents respond best at natural contact speeds</a:t>
            </a:r>
            <a:endParaRPr sz="1800">
              <a:solidFill>
                <a:schemeClr val="dk1"/>
              </a:solidFill>
              <a:latin typeface="Calibri"/>
              <a:ea typeface="Calibri"/>
              <a:cs typeface="Calibri"/>
              <a:sym typeface="Calibri"/>
            </a:endParaRPr>
          </a:p>
        </p:txBody>
      </p:sp>
      <p:sp>
        <p:nvSpPr>
          <p:cNvPr id="332" name="Google Shape;332;p2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tested ramp indentations in coast-mole afferents, changing onset speed while holding displacement at 500 µm. </a:t>
            </a:r>
            <a:r>
              <a:rPr b="1" i="0" lang="en-US" sz="1500">
                <a:solidFill>
                  <a:srgbClr val="375B70"/>
                </a:solidFill>
                <a:latin typeface="Arial"/>
                <a:ea typeface="Arial"/>
                <a:cs typeface="Arial"/>
                <a:sym typeface="Arial"/>
              </a:rPr>
              <a:t>Indentation velocity</a:t>
            </a:r>
            <a:r>
              <a:rPr b="0" i="0" lang="en-US" sz="1500">
                <a:solidFill>
                  <a:srgbClr val="25313C"/>
                </a:solidFill>
                <a:latin typeface="Arial"/>
                <a:ea typeface="Arial"/>
                <a:cs typeface="Arial"/>
                <a:sym typeface="Arial"/>
              </a:rPr>
              <a:t> describes how quickly the probe moves into the skin; it is separate from the final indentation depth and the duration of maintained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endParaRPr sz="1800">
              <a:solidFill>
                <a:schemeClr val="dk1"/>
              </a:solidFill>
              <a:latin typeface="Calibri"/>
              <a:ea typeface="Calibri"/>
              <a:cs typeface="Calibri"/>
              <a:sym typeface="Calibri"/>
            </a:endParaRPr>
          </a:p>
        </p:txBody>
      </p:sp>
      <p:pic>
        <p:nvPicPr>
          <p:cNvPr id="335" name="Google Shape;335;p23"/>
          <p:cNvPicPr preferRelativeResize="0"/>
          <p:nvPr/>
        </p:nvPicPr>
        <p:blipFill rotWithShape="1">
          <a:blip r:embed="rId3">
            <a:alphaModFix/>
          </a:blip>
          <a:srcRect b="0" l="0" r="0" t="0"/>
          <a:stretch/>
        </p:blipFill>
        <p:spPr>
          <a:xfrm>
            <a:off x="6233258" y="1280071"/>
            <a:ext cx="3467916" cy="4297561"/>
          </a:xfrm>
          <a:prstGeom prst="rect">
            <a:avLst/>
          </a:prstGeom>
          <a:noFill/>
          <a:ln>
            <a:noFill/>
          </a:ln>
        </p:spPr>
      </p:pic>
      <p:sp>
        <p:nvSpPr>
          <p:cNvPr id="336" name="Google Shape;336;p23"/>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7(A–C). Coast-mole afferent responses to indentation velocity.</a:t>
            </a:r>
            <a:endParaRPr sz="1800">
              <a:solidFill>
                <a:schemeClr val="dk1"/>
              </a:solidFill>
              <a:latin typeface="Calibri"/>
              <a:ea typeface="Calibri"/>
              <a:cs typeface="Calibri"/>
              <a:sym typeface="Calibri"/>
            </a:endParaRPr>
          </a:p>
        </p:txBody>
      </p:sp>
      <p:pic>
        <p:nvPicPr>
          <p:cNvPr id="337" name="Google Shape;337;p23"/>
          <p:cNvPicPr preferRelativeResize="0"/>
          <p:nvPr/>
        </p:nvPicPr>
        <p:blipFill rotWithShape="1">
          <a:blip r:embed="rId4">
            <a:alphaModFix/>
          </a:blip>
          <a:srcRect b="0" l="0" r="0" t="0"/>
          <a:stretch/>
        </p:blipFill>
        <p:spPr>
          <a:xfrm>
            <a:off x="9887690" y="2148780"/>
            <a:ext cx="1736982" cy="536823"/>
          </a:xfrm>
          <a:prstGeom prst="rect">
            <a:avLst/>
          </a:prstGeom>
          <a:noFill/>
          <a:ln>
            <a:noFill/>
          </a:ln>
        </p:spPr>
      </p:pic>
      <p:sp>
        <p:nvSpPr>
          <p:cNvPr id="338" name="Google Shape;338;p23"/>
          <p:cNvSpPr/>
          <p:nvPr/>
        </p:nvSpPr>
        <p:spPr>
          <a:xfrm>
            <a:off x="9887545" y="275882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39" name="Google Shape;339;p2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41" name="Google Shape;34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trigeminal ganglion favors touch-associated neurons</a:t>
            </a:r>
            <a:endParaRPr sz="1800">
              <a:solidFill>
                <a:schemeClr val="dk1"/>
              </a:solidFill>
              <a:latin typeface="Calibri"/>
              <a:ea typeface="Calibri"/>
              <a:cs typeface="Calibri"/>
              <a:sym typeface="Calibri"/>
            </a:endParaRPr>
          </a:p>
        </p:txBody>
      </p:sp>
      <p:sp>
        <p:nvSpPr>
          <p:cNvPr id="347" name="Google Shape;347;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trigeminal ganglion</a:t>
            </a:r>
            <a:r>
              <a:rPr b="0" i="0" lang="en-US" sz="1500">
                <a:solidFill>
                  <a:srgbClr val="25313C"/>
                </a:solidFill>
                <a:latin typeface="Arial"/>
                <a:ea typeface="Arial"/>
                <a:cs typeface="Arial"/>
                <a:sym typeface="Arial"/>
              </a:rPr>
              <a:t>, or TG, contains sensory-neuron cell bodies serving the face. </a:t>
            </a:r>
            <a:r>
              <a:rPr b="1" i="0" lang="en-US" sz="1500">
                <a:solidFill>
                  <a:srgbClr val="375B70"/>
                </a:solidFill>
                <a:latin typeface="Arial"/>
                <a:ea typeface="Arial"/>
                <a:cs typeface="Arial"/>
                <a:sym typeface="Arial"/>
              </a:rPr>
              <a:t>Dorsal root ganglia</a:t>
            </a:r>
            <a:r>
              <a:rPr b="0" i="0" lang="en-US" sz="1500">
                <a:solidFill>
                  <a:srgbClr val="25313C"/>
                </a:solidFill>
                <a:latin typeface="Arial"/>
                <a:ea typeface="Arial"/>
                <a:cs typeface="Arial"/>
                <a:sym typeface="Arial"/>
              </a:rPr>
              <a:t>, or DRG, serve the body. Gerhold and colleagues compared these tissues in star-nosed moles using NF200 and peripherin, a marker associated with many small sensory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57% of TG neurons labeled for NF200 and 13% for peripherin. In DRG, the corresponding proportions were about 36% and 35%. Thus the face-associated ganglion had a different neuronal composition from the body-associated comparison tissue within the same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endParaRPr sz="1800">
              <a:solidFill>
                <a:schemeClr val="dk1"/>
              </a:solidFill>
              <a:latin typeface="Calibri"/>
              <a:ea typeface="Calibri"/>
              <a:cs typeface="Calibri"/>
              <a:sym typeface="Calibri"/>
            </a:endParaRPr>
          </a:p>
        </p:txBody>
      </p:sp>
      <p:pic>
        <p:nvPicPr>
          <p:cNvPr id="350" name="Google Shape;350;p24"/>
          <p:cNvPicPr preferRelativeResize="0"/>
          <p:nvPr/>
        </p:nvPicPr>
        <p:blipFill rotWithShape="1">
          <a:blip r:embed="rId3">
            <a:alphaModFix/>
          </a:blip>
          <a:srcRect b="0" l="0" r="0" t="0"/>
          <a:stretch/>
        </p:blipFill>
        <p:spPr>
          <a:xfrm>
            <a:off x="6229842" y="1280071"/>
            <a:ext cx="5394929" cy="1852613"/>
          </a:xfrm>
          <a:prstGeom prst="rect">
            <a:avLst/>
          </a:prstGeom>
          <a:noFill/>
          <a:ln>
            <a:noFill/>
          </a:ln>
        </p:spPr>
      </p:pic>
      <p:sp>
        <p:nvSpPr>
          <p:cNvPr id="351" name="Google Shape;351;p24"/>
          <p:cNvSpPr/>
          <p:nvPr/>
        </p:nvSpPr>
        <p:spPr>
          <a:xfrm>
            <a:off x="6229796" y="322421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1(E). Trigeminal-ganglion labeling and cell fluorescence distributions.</a:t>
            </a:r>
            <a:endParaRPr sz="1800">
              <a:solidFill>
                <a:schemeClr val="dk1"/>
              </a:solidFill>
              <a:latin typeface="Calibri"/>
              <a:ea typeface="Calibri"/>
              <a:cs typeface="Calibri"/>
              <a:sym typeface="Calibri"/>
            </a:endParaRPr>
          </a:p>
        </p:txBody>
      </p:sp>
      <p:pic>
        <p:nvPicPr>
          <p:cNvPr id="352" name="Google Shape;352;p24"/>
          <p:cNvPicPr preferRelativeResize="0"/>
          <p:nvPr/>
        </p:nvPicPr>
        <p:blipFill rotWithShape="1">
          <a:blip r:embed="rId4">
            <a:alphaModFix/>
          </a:blip>
          <a:srcRect b="0" l="0" r="0" t="0"/>
          <a:stretch/>
        </p:blipFill>
        <p:spPr>
          <a:xfrm>
            <a:off x="7332929" y="4663380"/>
            <a:ext cx="3188903" cy="1097161"/>
          </a:xfrm>
          <a:prstGeom prst="rect">
            <a:avLst/>
          </a:prstGeom>
          <a:noFill/>
          <a:ln>
            <a:noFill/>
          </a:ln>
        </p:spPr>
      </p:pic>
      <p:sp>
        <p:nvSpPr>
          <p:cNvPr id="353" name="Google Shape;353;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1(F). Dorsal-root-ganglion labeling and cell fluorescence distributions.</a:t>
            </a:r>
            <a:endParaRPr sz="1800">
              <a:solidFill>
                <a:schemeClr val="dk1"/>
              </a:solidFill>
              <a:latin typeface="Calibri"/>
              <a:ea typeface="Calibri"/>
              <a:cs typeface="Calibri"/>
              <a:sym typeface="Calibri"/>
            </a:endParaRPr>
          </a:p>
        </p:txBody>
      </p:sp>
      <p:sp>
        <p:nvSpPr>
          <p:cNvPr id="354" name="Google Shape;354;p2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56" name="Google Shape;35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Stretch activates many cultured facial sensory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monitored intracellular calcium with </a:t>
            </a: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a fluorescent calcium indicator. Neurons were cultured on deformable substrates, allowing a 10% radial stretch to be compared between tissues under a shared mechanical stimulation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Approximately 80% of TG neurons responded to stretch, compared with 34% of DRG neurons. The original images retain the authors’ calcium-response colors. This functional enrichment agrees with the greater fraction of touch-associated markers in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comparison supports a mechanosensitive neuronal population. A 10% radial stretch activated about 80% of TG neurons, so the facial ganglion contains many cells that respond directly to deformation, and the calcium rise reports cellular activation by the stimulus.</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Chemical and mechanical sensitivity differ by ganglion</a:t>
            </a:r>
            <a:endParaRPr sz="1800">
              <a:solidFill>
                <a:schemeClr val="dk1"/>
              </a:solidFill>
              <a:latin typeface="Calibri"/>
              <a:ea typeface="Calibri"/>
              <a:cs typeface="Calibri"/>
              <a:sym typeface="Calibri"/>
            </a:endParaRPr>
          </a:p>
        </p:txBody>
      </p:sp>
      <p:sp>
        <p:nvSpPr>
          <p:cNvPr id="375" name="Google Shape;375;p2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challenged cultured TG and DRG neurons with mechanical stimuli and chemical agonists. An </a:t>
            </a:r>
            <a:r>
              <a:rPr b="1" i="0" lang="en-US" sz="1600">
                <a:solidFill>
                  <a:srgbClr val="375B70"/>
                </a:solidFill>
                <a:latin typeface="Arial"/>
                <a:ea typeface="Arial"/>
                <a:cs typeface="Arial"/>
                <a:sym typeface="Arial"/>
              </a:rPr>
              <a:t>agonist</a:t>
            </a:r>
            <a:r>
              <a:rPr b="0" i="0" lang="en-US" sz="1600">
                <a:solidFill>
                  <a:srgbClr val="25313C"/>
                </a:solidFill>
                <a:latin typeface="Arial"/>
                <a:ea typeface="Arial"/>
                <a:cs typeface="Arial"/>
                <a:sym typeface="Arial"/>
              </a:rPr>
              <a:t> activates a receptor or channel. Capsaicin targets TRPV1, mustard oil targets TRPA1 and menthol targets TRPM8; these probes separate cellular sensitivities beyond anatomical marker labeling.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Capsaicin activated about 15% of TG neurons but 36% of DRG neurons. Mechanical stretch, hypotonic solution and hydroxy-alpha-sanshool activated greater fractions in TG. A </a:t>
            </a:r>
            <a:r>
              <a:rPr b="1" i="0" lang="en-US" sz="1600">
                <a:solidFill>
                  <a:srgbClr val="375B70"/>
                </a:solidFill>
                <a:latin typeface="Arial"/>
                <a:ea typeface="Arial"/>
                <a:cs typeface="Arial"/>
                <a:sym typeface="Arial"/>
              </a:rPr>
              <a:t>hypotonic solution</a:t>
            </a:r>
            <a:r>
              <a:rPr b="0" i="0" lang="en-US" sz="1600">
                <a:solidFill>
                  <a:srgbClr val="25313C"/>
                </a:solidFill>
                <a:latin typeface="Arial"/>
                <a:ea typeface="Arial"/>
                <a:cs typeface="Arial"/>
                <a:sym typeface="Arial"/>
              </a:rPr>
              <a:t> has lower solute concentration and can deform cells as water enters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endParaRPr sz="1800">
              <a:solidFill>
                <a:schemeClr val="dk1"/>
              </a:solidFill>
              <a:latin typeface="Calibri"/>
              <a:ea typeface="Calibri"/>
              <a:cs typeface="Calibri"/>
              <a:sym typeface="Calibri"/>
            </a:endParaRPr>
          </a:p>
        </p:txBody>
      </p:sp>
      <p:pic>
        <p:nvPicPr>
          <p:cNvPr id="378" name="Google Shape;378;p26"/>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79" name="Google Shape;379;p2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80" name="Google Shape;380;p2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82" name="Google Shape;38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Transcript comparisons reveal molecular specialization</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used </a:t>
            </a:r>
            <a:r>
              <a:rPr b="1" i="0" lang="en-US" sz="1500">
                <a:solidFill>
                  <a:srgbClr val="375B70"/>
                </a:solidFill>
                <a:latin typeface="Arial"/>
                <a:ea typeface="Arial"/>
                <a:cs typeface="Arial"/>
                <a:sym typeface="Arial"/>
              </a:rPr>
              <a:t>RNA sequencing</a:t>
            </a:r>
            <a:r>
              <a:rPr b="0" i="0" lang="en-US" sz="1500">
                <a:solidFill>
                  <a:srgbClr val="25313C"/>
                </a:solidFill>
                <a:latin typeface="Arial"/>
                <a:ea typeface="Arial"/>
                <a:cs typeface="Arial"/>
                <a:sym typeface="Arial"/>
              </a:rPr>
              <a:t> to measure expressed messenger RNAs in TG and DRG. 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collection of these RNA transcripts. Because an annotated star-nosed mole genome was unavailable, reads were aligned successively against human, dog and mouse transcript sequences.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comparison identifies expression patterns that distinguish the facial ganglion from the body ganglion. The mouse comparison separates differences shared across mammals from those specific to the mole, which nominates genes for functional testing.</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3">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Expression nominates channels without proving causality</a:t>
            </a:r>
            <a:endParaRPr sz="1800">
              <a:solidFill>
                <a:schemeClr val="dk1"/>
              </a:solidFill>
              <a:latin typeface="Calibri"/>
              <a:ea typeface="Calibri"/>
              <a:cs typeface="Calibri"/>
              <a:sym typeface="Calibri"/>
            </a:endParaRPr>
          </a:p>
        </p:txBody>
      </p:sp>
      <p:sp>
        <p:nvSpPr>
          <p:cNvPr id="401" name="Google Shape;40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a:t>
            </a:r>
            <a:r>
              <a:rPr b="1" i="0" lang="en-US" sz="1500">
                <a:solidFill>
                  <a:srgbClr val="375B70"/>
                </a:solidFill>
                <a:latin typeface="Arial"/>
                <a:ea typeface="Arial"/>
                <a:cs typeface="Arial"/>
                <a:sym typeface="Arial"/>
              </a:rPr>
              <a:t>ion channel</a:t>
            </a:r>
            <a:r>
              <a:rPr b="0" i="0" lang="en-US" sz="1500">
                <a:solidFill>
                  <a:srgbClr val="25313C"/>
                </a:solidFill>
                <a:latin typeface="Arial"/>
                <a:ea typeface="Arial"/>
                <a:cs typeface="Arial"/>
                <a:sym typeface="Arial"/>
              </a:rPr>
              <a:t> is a membrane protein that permits ions to cross the cell membrane. Gerhold and colleagues focused their expression comparison on channels and modulators. Facial-ganglion candidates included ASIC3, Piezo1, cyclic-nucleotide-gated channels and stomatin-related proteins.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endParaRPr sz="1800">
              <a:solidFill>
                <a:schemeClr val="dk1"/>
              </a:solidFill>
              <a:latin typeface="Calibri"/>
              <a:ea typeface="Calibri"/>
              <a:cs typeface="Calibri"/>
              <a:sym typeface="Calibri"/>
            </a:endParaRPr>
          </a:p>
        </p:txBody>
      </p:sp>
      <p:pic>
        <p:nvPicPr>
          <p:cNvPr id="404" name="Google Shape;404;p28"/>
          <p:cNvPicPr preferRelativeResize="0"/>
          <p:nvPr/>
        </p:nvPicPr>
        <p:blipFill rotWithShape="1">
          <a:blip r:embed="rId3">
            <a:alphaModFix/>
          </a:blip>
          <a:srcRect b="0" l="0" r="0" t="0"/>
          <a:stretch/>
        </p:blipFill>
        <p:spPr>
          <a:xfrm>
            <a:off x="6591362" y="1280071"/>
            <a:ext cx="4672186" cy="2834580"/>
          </a:xfrm>
          <a:prstGeom prst="rect">
            <a:avLst/>
          </a:prstGeom>
          <a:noFill/>
          <a:ln>
            <a:noFill/>
          </a:ln>
        </p:spPr>
      </p:pic>
      <p:sp>
        <p:nvSpPr>
          <p:cNvPr id="405" name="Google Shape;405;p28"/>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pic>
        <p:nvPicPr>
          <p:cNvPr id="406" name="Google Shape;406;p28"/>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407" name="Google Shape;407;p2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408" name="Google Shape;408;p2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10" name="Google Shape;41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Independent assays qualify the expression screen</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Cnga2 and Stoml3 were more highly expressed in TG, whereas Trpa1 and Trpv1 were more highly expressed in DRG. Fam38a, the Piezo1 gene, followed the TG-directed trend but its qPCR difference was not established convincingly in this follow-up assay.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Agreement between sequencing and qPCR strengthens the expression claim for Cnga2, Stoml3, Trpa1 and Trpv1. Stomatin-related proteins can modulate channels, which makes Stoml3 a candidate modulator of channels in the facial ganglion.</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CNGA2 protein occurs in touch-associated cells</a:t>
            </a:r>
            <a:endParaRPr sz="1800">
              <a:solidFill>
                <a:schemeClr val="dk1"/>
              </a:solidFill>
              <a:latin typeface="Calibri"/>
              <a:ea typeface="Calibri"/>
              <a:cs typeface="Calibri"/>
              <a:sym typeface="Calibri"/>
            </a:endParaRPr>
          </a:p>
        </p:txBody>
      </p:sp>
      <p:sp>
        <p:nvSpPr>
          <p:cNvPr id="429" name="Google Shape;429;p3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CNGA2</a:t>
            </a:r>
            <a:r>
              <a:rPr b="0" i="0" lang="en-US" sz="1500">
                <a:solidFill>
                  <a:srgbClr val="25313C"/>
                </a:solidFill>
                <a:latin typeface="Arial"/>
                <a:ea typeface="Arial"/>
                <a:cs typeface="Arial"/>
                <a:sym typeface="Arial"/>
              </a:rPr>
              <a:t>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provides spatial validation beyond a bulk RNA comparison. The protein localizes to the same touch-associated fibers that carry the NF200 marker, which confirms at the protein level the enrichment seen in RNA.</a:t>
            </a:r>
            <a:endParaRPr sz="1800">
              <a:solidFill>
                <a:schemeClr val="dk1"/>
              </a:solidFill>
              <a:latin typeface="Calibri"/>
              <a:ea typeface="Calibri"/>
              <a:cs typeface="Calibri"/>
              <a:sym typeface="Calibri"/>
            </a:endParaRPr>
          </a:p>
        </p:txBody>
      </p:sp>
      <p:pic>
        <p:nvPicPr>
          <p:cNvPr id="432" name="Google Shape;432;p30"/>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33" name="Google Shape;433;p3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34" name="Google Shape;434;p3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36" name="Google Shape;436;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Cross-species tests retain candidates for functional work</a:t>
            </a:r>
            <a:endParaRPr sz="1800">
              <a:solidFill>
                <a:schemeClr val="dk1"/>
              </a:solidFill>
              <a:latin typeface="Calibri"/>
              <a:ea typeface="Calibri"/>
              <a:cs typeface="Calibri"/>
              <a:sym typeface="Calibri"/>
            </a:endParaRPr>
          </a:p>
        </p:txBody>
      </p:sp>
      <p:sp>
        <p:nvSpPr>
          <p:cNvPr id="442" name="Google Shape;442;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examined candidate channels in mouse sensory ganglia using </a:t>
            </a:r>
            <a:r>
              <a:rPr b="1" i="0" lang="en-US" sz="1500">
                <a:solidFill>
                  <a:srgbClr val="375B70"/>
                </a:solidFill>
                <a:latin typeface="Arial"/>
                <a:ea typeface="Arial"/>
                <a:cs typeface="Arial"/>
                <a:sym typeface="Arial"/>
              </a:rPr>
              <a:t>reverse-transcription PCR</a:t>
            </a:r>
            <a:r>
              <a:rPr b="0" i="0" lang="en-US" sz="1500">
                <a:solidFill>
                  <a:srgbClr val="25313C"/>
                </a:solidFill>
                <a:latin typeface="Arial"/>
                <a:ea typeface="Arial"/>
                <a:cs typeface="Arial"/>
                <a:sym typeface="Arial"/>
              </a:rPr>
              <a:t>, which detects RNA after converting it to DNA. The mouse supplied a more experimentally tractable comparison, rather than a replacement measurement of the mole’s sensory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approach connects a specialized animal's molecular screen with possible mechanistic experiments, because candidate genes detected in mouse ganglia can be examined with mouse tools. An orthologous gene present in both species is the starting point for testing function.</a:t>
            </a:r>
            <a:endParaRPr sz="1800">
              <a:solidFill>
                <a:schemeClr val="dk1"/>
              </a:solidFill>
              <a:latin typeface="Calibri"/>
              <a:ea typeface="Calibri"/>
              <a:cs typeface="Calibri"/>
              <a:sym typeface="Calibri"/>
            </a:endParaRPr>
          </a:p>
        </p:txBody>
      </p:sp>
      <p:pic>
        <p:nvPicPr>
          <p:cNvPr id="445" name="Google Shape;445;p31"/>
          <p:cNvPicPr preferRelativeResize="0"/>
          <p:nvPr/>
        </p:nvPicPr>
        <p:blipFill rotWithShape="1">
          <a:blip r:embed="rId3">
            <a:alphaModFix/>
          </a:blip>
          <a:srcRect b="0" l="0" r="0" t="0"/>
          <a:stretch/>
        </p:blipFill>
        <p:spPr>
          <a:xfrm>
            <a:off x="6751676" y="1280071"/>
            <a:ext cx="4351558" cy="2834580"/>
          </a:xfrm>
          <a:prstGeom prst="rect">
            <a:avLst/>
          </a:prstGeom>
          <a:noFill/>
          <a:ln>
            <a:noFill/>
          </a:ln>
        </p:spPr>
      </p:pic>
      <p:sp>
        <p:nvSpPr>
          <p:cNvPr id="446" name="Google Shape;446;p31"/>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5(A–B). Candidate-channel detection in mouse sensory ganglia.</a:t>
            </a:r>
            <a:endParaRPr sz="1800">
              <a:solidFill>
                <a:schemeClr val="dk1"/>
              </a:solidFill>
              <a:latin typeface="Calibri"/>
              <a:ea typeface="Calibri"/>
              <a:cs typeface="Calibri"/>
              <a:sym typeface="Calibri"/>
            </a:endParaRPr>
          </a:p>
        </p:txBody>
      </p:sp>
      <p:pic>
        <p:nvPicPr>
          <p:cNvPr id="447" name="Google Shape;447;p31"/>
          <p:cNvPicPr preferRelativeResize="0"/>
          <p:nvPr/>
        </p:nvPicPr>
        <p:blipFill rotWithShape="1">
          <a:blip r:embed="rId4">
            <a:alphaModFix/>
          </a:blip>
          <a:srcRect b="0" l="0" r="0" t="0"/>
          <a:stretch/>
        </p:blipFill>
        <p:spPr>
          <a:xfrm>
            <a:off x="7268827" y="4663380"/>
            <a:ext cx="3317107" cy="1097161"/>
          </a:xfrm>
          <a:prstGeom prst="rect">
            <a:avLst/>
          </a:prstGeom>
          <a:noFill/>
          <a:ln>
            <a:noFill/>
          </a:ln>
        </p:spPr>
      </p:pic>
      <p:sp>
        <p:nvSpPr>
          <p:cNvPr id="448" name="Google Shape;448;p31"/>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4(E–F). CNGA2 and NF200 labeling in Eimer’s-organ fibers.</a:t>
            </a:r>
            <a:endParaRPr sz="1800">
              <a:solidFill>
                <a:schemeClr val="dk1"/>
              </a:solidFill>
              <a:latin typeface="Calibri"/>
              <a:ea typeface="Calibri"/>
              <a:cs typeface="Calibri"/>
              <a:sym typeface="Calibri"/>
            </a:endParaRPr>
          </a:p>
        </p:txBody>
      </p:sp>
      <p:sp>
        <p:nvSpPr>
          <p:cNvPr id="449" name="Google Shape;449;p3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51" name="Google Shape;451;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principal trigeminal nucleus is enlarged</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principal trigeminal nucleus</a:t>
            </a:r>
            <a:r>
              <a:rPr b="0" i="0" lang="en-US" sz="1500">
                <a:solidFill>
                  <a:srgbClr val="25313C"/>
                </a:solidFill>
                <a:latin typeface="Arial"/>
                <a:ea typeface="Arial"/>
                <a:cs typeface="Arial"/>
                <a:sym typeface="Arial"/>
              </a:rPr>
              <a:t>, or PrV, is a brainstem relay for facial mechanosensory input. Catania, Leitch and Gauthier compared stained brainstem sections from star-nosed and hairy-tailed moles, </a:t>
            </a:r>
            <a:r>
              <a:rPr b="0" i="1" lang="en-US" sz="1500">
                <a:solidFill>
                  <a:srgbClr val="25313C"/>
                </a:solidFill>
                <a:latin typeface="Arial"/>
                <a:ea typeface="Arial"/>
                <a:cs typeface="Arial"/>
                <a:sym typeface="Arial"/>
              </a:rPr>
              <a:t>Parascalops breweri</a:t>
            </a:r>
            <a:r>
              <a:rPr b="0" i="0" lang="en-US" sz="1500">
                <a:solidFill>
                  <a:srgbClr val="25313C"/>
                </a:solidFill>
                <a:latin typeface="Arial"/>
                <a:ea typeface="Arial"/>
                <a:cs typeface="Arial"/>
                <a:sym typeface="Arial"/>
              </a:rPr>
              <a:t>, relating central anatomy to their different nasal receptor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enlargement marks a major specialization before signals reach cortex. Cytochrome-oxidase subdivisions inside PrV were compared with receptive-field mapping to determine which rays the visible subdivisions represent.</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3">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Eleven brainstem modules correspond to eleven rays</a:t>
            </a:r>
            <a:endParaRPr sz="1800">
              <a:solidFill>
                <a:schemeClr val="dk1"/>
              </a:solidFill>
              <a:latin typeface="Calibri"/>
              <a:ea typeface="Calibri"/>
              <a:cs typeface="Calibri"/>
              <a:sym typeface="Calibri"/>
            </a:endParaRPr>
          </a:p>
        </p:txBody>
      </p:sp>
      <p:sp>
        <p:nvSpPr>
          <p:cNvPr id="470" name="Google Shape;470;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Somatotopy</a:t>
            </a:r>
            <a:r>
              <a:rPr b="0" i="0" lang="en-US" sz="1500">
                <a:solidFill>
                  <a:srgbClr val="25313C"/>
                </a:solidFill>
                <a:latin typeface="Arial"/>
                <a:ea typeface="Arial"/>
                <a:cs typeface="Arial"/>
                <a:sym typeface="Arial"/>
              </a:rPr>
              <a:t>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endParaRPr sz="1800">
              <a:solidFill>
                <a:schemeClr val="dk1"/>
              </a:solidFill>
              <a:latin typeface="Calibri"/>
              <a:ea typeface="Calibri"/>
              <a:cs typeface="Calibri"/>
              <a:sym typeface="Calibri"/>
            </a:endParaRPr>
          </a:p>
        </p:txBody>
      </p:sp>
      <p:pic>
        <p:nvPicPr>
          <p:cNvPr id="473" name="Google Shape;473;p33"/>
          <p:cNvPicPr preferRelativeResize="0"/>
          <p:nvPr/>
        </p:nvPicPr>
        <p:blipFill rotWithShape="1">
          <a:blip r:embed="rId3">
            <a:alphaModFix/>
          </a:blip>
          <a:srcRect b="0" l="0" r="0" t="0"/>
          <a:stretch/>
        </p:blipFill>
        <p:spPr>
          <a:xfrm>
            <a:off x="7782371" y="1280093"/>
            <a:ext cx="2289870" cy="2834536"/>
          </a:xfrm>
          <a:prstGeom prst="rect">
            <a:avLst/>
          </a:prstGeom>
          <a:noFill/>
          <a:ln>
            <a:noFill/>
          </a:ln>
        </p:spPr>
      </p:pic>
      <p:sp>
        <p:nvSpPr>
          <p:cNvPr id="474" name="Google Shape;474;p3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3(A–B). The star and its 11-module representation in PrV.</a:t>
            </a:r>
            <a:endParaRPr sz="1800">
              <a:solidFill>
                <a:schemeClr val="dk1"/>
              </a:solidFill>
              <a:latin typeface="Calibri"/>
              <a:ea typeface="Calibri"/>
              <a:cs typeface="Calibri"/>
              <a:sym typeface="Calibri"/>
            </a:endParaRPr>
          </a:p>
        </p:txBody>
      </p:sp>
      <p:pic>
        <p:nvPicPr>
          <p:cNvPr id="475" name="Google Shape;475;p33"/>
          <p:cNvPicPr preferRelativeResize="0"/>
          <p:nvPr/>
        </p:nvPicPr>
        <p:blipFill rotWithShape="1">
          <a:blip r:embed="rId4">
            <a:alphaModFix/>
          </a:blip>
          <a:srcRect b="0" l="0" r="0" t="0"/>
          <a:stretch/>
        </p:blipFill>
        <p:spPr>
          <a:xfrm>
            <a:off x="8049767" y="4663380"/>
            <a:ext cx="1755227" cy="1097161"/>
          </a:xfrm>
          <a:prstGeom prst="rect">
            <a:avLst/>
          </a:prstGeom>
          <a:noFill/>
          <a:ln>
            <a:noFill/>
          </a:ln>
        </p:spPr>
      </p:pic>
      <p:sp>
        <p:nvSpPr>
          <p:cNvPr id="476" name="Google Shape;476;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2. Parasagittal section locating ganglion, nerve and trigeminal nuclei.</a:t>
            </a:r>
            <a:endParaRPr sz="1800">
              <a:solidFill>
                <a:schemeClr val="dk1"/>
              </a:solidFill>
              <a:latin typeface="Calibri"/>
              <a:ea typeface="Calibri"/>
              <a:cs typeface="Calibri"/>
              <a:sym typeface="Calibri"/>
            </a:endParaRPr>
          </a:p>
        </p:txBody>
      </p:sp>
      <p:sp>
        <p:nvSpPr>
          <p:cNvPr id="477" name="Google Shape;477;p3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79" name="Google Shape;479;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Recordings validate the brainstem ray assignments</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then aligned these marks with stained sections. 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peripheral region whose stimulation changes a recorded neuron’s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results establish ray-related activity within PrV. Lesion marks aligned with stained sections link each recorded response to its module, so a neuron that responds to a given ray lies in the module assigned to that ray.</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3">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4">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magnification increases beyond the brainstem</a:t>
            </a:r>
            <a:endParaRPr sz="1800">
              <a:solidFill>
                <a:schemeClr val="dk1"/>
              </a:solidFill>
              <a:latin typeface="Calibri"/>
              <a:ea typeface="Calibri"/>
              <a:cs typeface="Calibri"/>
              <a:sym typeface="Calibri"/>
            </a:endParaRPr>
          </a:p>
        </p:txBody>
      </p:sp>
      <p:sp>
        <p:nvSpPr>
          <p:cNvPr id="500" name="Google Shape;500;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reconstructed serial PrV sections to measure each ray representation’s volume. They compared these volumes with previously measured myelinated-afferent counts and S1 cortical areas. </a:t>
            </a:r>
            <a:r>
              <a:rPr b="1" i="0" lang="en-US" sz="1500">
                <a:solidFill>
                  <a:srgbClr val="375B70"/>
                </a:solidFill>
                <a:latin typeface="Arial"/>
                <a:ea typeface="Arial"/>
                <a:cs typeface="Arial"/>
                <a:sym typeface="Arial"/>
              </a:rPr>
              <a:t>Magnification</a:t>
            </a:r>
            <a:r>
              <a:rPr b="0" i="0" lang="en-US" sz="1500">
                <a:solidFill>
                  <a:srgbClr val="25313C"/>
                </a:solidFill>
                <a:latin typeface="Arial"/>
                <a:ea typeface="Arial"/>
                <a:cs typeface="Arial"/>
                <a:sym typeface="Arial"/>
              </a:rPr>
              <a:t> describes unequal allocation of neural tissue to different regions of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reconstructed star subnucleus averaged about 7.1 mm³. Ray 11 supplied about 11% of the star’s counted afferents, occupied 14% of its PrV representation and occupied 25% of the S1 star representation. Foveal investment therefore increased across these measured stages.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indicates that magnification builds up in steps, with the foveal ray receiving a larger share of neural tissue at each successive stage. Allocation is therefore a distributional transformation and not a uniform scaling of the periphery.</a:t>
            </a:r>
            <a:endParaRPr sz="1800">
              <a:solidFill>
                <a:schemeClr val="dk1"/>
              </a:solidFill>
              <a:latin typeface="Calibri"/>
              <a:ea typeface="Calibri"/>
              <a:cs typeface="Calibri"/>
              <a:sym typeface="Calibri"/>
            </a:endParaRPr>
          </a:p>
        </p:txBody>
      </p:sp>
      <p:pic>
        <p:nvPicPr>
          <p:cNvPr id="503" name="Google Shape;503;p35"/>
          <p:cNvPicPr preferRelativeResize="0"/>
          <p:nvPr/>
        </p:nvPicPr>
        <p:blipFill rotWithShape="1">
          <a:blip r:embed="rId3">
            <a:alphaModFix/>
          </a:blip>
          <a:srcRect b="0" l="0" r="0" t="0"/>
          <a:stretch/>
        </p:blipFill>
        <p:spPr>
          <a:xfrm>
            <a:off x="6229856" y="1280071"/>
            <a:ext cx="5394901" cy="1660178"/>
          </a:xfrm>
          <a:prstGeom prst="rect">
            <a:avLst/>
          </a:prstGeom>
          <a:noFill/>
          <a:ln>
            <a:noFill/>
          </a:ln>
        </p:spPr>
      </p:pic>
      <p:sp>
        <p:nvSpPr>
          <p:cNvPr id="504" name="Google Shape;504;p35"/>
          <p:cNvSpPr/>
          <p:nvPr/>
        </p:nvSpPr>
        <p:spPr>
          <a:xfrm>
            <a:off x="6229796" y="303177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6(C–E). PrV volume, afferent counts and S1 allocation across rays.</a:t>
            </a:r>
            <a:endParaRPr sz="1800">
              <a:solidFill>
                <a:schemeClr val="dk1"/>
              </a:solidFill>
              <a:latin typeface="Calibri"/>
              <a:ea typeface="Calibri"/>
              <a:cs typeface="Calibri"/>
              <a:sym typeface="Calibri"/>
            </a:endParaRPr>
          </a:p>
        </p:txBody>
      </p:sp>
      <p:pic>
        <p:nvPicPr>
          <p:cNvPr id="505" name="Google Shape;505;p35"/>
          <p:cNvPicPr preferRelativeResize="0"/>
          <p:nvPr/>
        </p:nvPicPr>
        <p:blipFill rotWithShape="1">
          <a:blip r:embed="rId4">
            <a:alphaModFix/>
          </a:blip>
          <a:srcRect b="0" l="0" r="0" t="0"/>
          <a:stretch/>
        </p:blipFill>
        <p:spPr>
          <a:xfrm>
            <a:off x="8481751" y="4663380"/>
            <a:ext cx="891408" cy="1097161"/>
          </a:xfrm>
          <a:prstGeom prst="rect">
            <a:avLst/>
          </a:prstGeom>
          <a:noFill/>
          <a:ln>
            <a:noFill/>
          </a:ln>
        </p:spPr>
      </p:pic>
      <p:sp>
        <p:nvSpPr>
          <p:cNvPr id="506" name="Google Shape;506;p3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507" name="Google Shape;507;p3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509" name="Google Shape;509;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cortical star consists of histological stripes</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600">
                <a:solidFill>
                  <a:srgbClr val="375B70"/>
                </a:solidFill>
                <a:latin typeface="Arial"/>
                <a:ea typeface="Arial"/>
                <a:cs typeface="Arial"/>
                <a:sym typeface="Arial"/>
              </a:rPr>
              <a:t>Primary somatosensory cortex</a:t>
            </a:r>
            <a:r>
              <a:rPr b="0" i="0" lang="en-US" sz="1600">
                <a:solidFill>
                  <a:srgbClr val="25313C"/>
                </a:solidFill>
                <a:latin typeface="Arial"/>
                <a:ea typeface="Arial"/>
                <a:cs typeface="Arial"/>
                <a:sym typeface="Arial"/>
              </a:rPr>
              <a:t>, or S1, is a cortical area receiving somatic sensory information. </a:t>
            </a:r>
            <a:r>
              <a:rPr b="1" i="0" lang="en-US" sz="1600">
                <a:solidFill>
                  <a:srgbClr val="375B70"/>
                </a:solidFill>
                <a:latin typeface="Arial"/>
                <a:ea typeface="Arial"/>
                <a:cs typeface="Arial"/>
                <a:sym typeface="Arial"/>
              </a:rPr>
              <a:t>Secondary somatosensory cortex</a:t>
            </a:r>
            <a:r>
              <a:rPr b="0" i="0" lang="en-US" sz="1600">
                <a:solidFill>
                  <a:srgbClr val="25313C"/>
                </a:solidFill>
                <a:latin typeface="Arial"/>
                <a:ea typeface="Arial"/>
                <a:cs typeface="Arial"/>
                <a:sym typeface="Arial"/>
              </a:rPr>
              <a:t>, or S2, is another processing area with its own map. Catania and Kaas flattened cortex and cut tangential sections to expose its ray-related organization.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visible stripes allow anatomical area to be compared with measured peripheral innervation. Two stripe sets, one for S1 and one for S2, each hold a separate map of the opposite side of the nose, and the enlarged foveal territory is visible in S1.</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3">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4">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Afferent number does not fully explain cortical area</a:t>
            </a:r>
            <a:endParaRPr sz="1800">
              <a:solidFill>
                <a:schemeClr val="dk1"/>
              </a:solidFill>
              <a:latin typeface="Calibri"/>
              <a:ea typeface="Calibri"/>
              <a:cs typeface="Calibri"/>
              <a:sym typeface="Calibri"/>
            </a:endParaRPr>
          </a:p>
        </p:txBody>
      </p:sp>
      <p:sp>
        <p:nvSpPr>
          <p:cNvPr id="530" name="Google Shape;530;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defined </a:t>
            </a:r>
            <a:r>
              <a:rPr b="1" i="0" lang="en-US" sz="1500">
                <a:solidFill>
                  <a:srgbClr val="375B70"/>
                </a:solidFill>
                <a:latin typeface="Arial"/>
                <a:ea typeface="Arial"/>
                <a:cs typeface="Arial"/>
                <a:sym typeface="Arial"/>
              </a:rPr>
              <a:t>afferent magnification</a:t>
            </a:r>
            <a:r>
              <a:rPr b="0" i="0" lang="en-US" sz="1500">
                <a:solidFill>
                  <a:srgbClr val="25313C"/>
                </a:solidFill>
                <a:latin typeface="Arial"/>
                <a:ea typeface="Arial"/>
                <a:cs typeface="Arial"/>
                <a:sym typeface="Arial"/>
              </a:rPr>
              <a:t> as cortical representational area per primary sensory afferent. They divided measured S1 ray territories by the corresponding myelinated-fiber counts. This differs from cortical area per skin area or per Eimer’s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 establishes unequal central investment per counted input. Ray 11 keeps the largest cortical allocation after normalization by afferent number, which is consistent with functional specialization associated with its preferential behavioral use.</a:t>
            </a:r>
            <a:endParaRPr sz="1800">
              <a:solidFill>
                <a:schemeClr val="dk1"/>
              </a:solidFill>
              <a:latin typeface="Calibri"/>
              <a:ea typeface="Calibri"/>
              <a:cs typeface="Calibri"/>
              <a:sym typeface="Calibri"/>
            </a:endParaRPr>
          </a:p>
        </p:txBody>
      </p:sp>
      <p:pic>
        <p:nvPicPr>
          <p:cNvPr id="533" name="Google Shape;533;p37"/>
          <p:cNvPicPr preferRelativeResize="0"/>
          <p:nvPr/>
        </p:nvPicPr>
        <p:blipFill rotWithShape="1">
          <a:blip r:embed="rId3">
            <a:alphaModFix/>
          </a:blip>
          <a:srcRect b="0" l="0" r="0" t="0"/>
          <a:stretch/>
        </p:blipFill>
        <p:spPr>
          <a:xfrm>
            <a:off x="7200058" y="1280071"/>
            <a:ext cx="3454645" cy="2834580"/>
          </a:xfrm>
          <a:prstGeom prst="rect">
            <a:avLst/>
          </a:prstGeom>
          <a:noFill/>
          <a:ln>
            <a:noFill/>
          </a:ln>
        </p:spPr>
      </p:pic>
      <p:sp>
        <p:nvSpPr>
          <p:cNvPr id="534" name="Google Shape;534;p3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12(C). Cortical area per myelinated afferent across rays.</a:t>
            </a:r>
            <a:endParaRPr sz="1800">
              <a:solidFill>
                <a:schemeClr val="dk1"/>
              </a:solidFill>
              <a:latin typeface="Calibri"/>
              <a:ea typeface="Calibri"/>
              <a:cs typeface="Calibri"/>
              <a:sym typeface="Calibri"/>
            </a:endParaRPr>
          </a:p>
        </p:txBody>
      </p:sp>
      <p:pic>
        <p:nvPicPr>
          <p:cNvPr id="535" name="Google Shape;535;p37"/>
          <p:cNvPicPr preferRelativeResize="0"/>
          <p:nvPr/>
        </p:nvPicPr>
        <p:blipFill rotWithShape="1">
          <a:blip r:embed="rId4">
            <a:alphaModFix/>
          </a:blip>
          <a:srcRect b="0" l="0" r="0" t="0"/>
          <a:stretch/>
        </p:blipFill>
        <p:spPr>
          <a:xfrm>
            <a:off x="7787508" y="4663380"/>
            <a:ext cx="2279894" cy="1097161"/>
          </a:xfrm>
          <a:prstGeom prst="rect">
            <a:avLst/>
          </a:prstGeom>
          <a:noFill/>
          <a:ln>
            <a:noFill/>
          </a:ln>
        </p:spPr>
      </p:pic>
      <p:sp>
        <p:nvSpPr>
          <p:cNvPr id="536" name="Google Shape;536;p3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6(F–G). Brainstem volume and S1 area per afferent.</a:t>
            </a:r>
            <a:endParaRPr sz="1800">
              <a:solidFill>
                <a:schemeClr val="dk1"/>
              </a:solidFill>
              <a:latin typeface="Calibri"/>
              <a:ea typeface="Calibri"/>
              <a:cs typeface="Calibri"/>
              <a:sym typeface="Calibri"/>
            </a:endParaRPr>
          </a:p>
        </p:txBody>
      </p:sp>
      <p:sp>
        <p:nvSpPr>
          <p:cNvPr id="537" name="Google Shape;537;p3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et al. (2011)</a:t>
            </a:r>
            <a:endParaRPr sz="1800">
              <a:solidFill>
                <a:schemeClr val="dk1"/>
              </a:solidFill>
              <a:latin typeface="Calibri"/>
              <a:ea typeface="Calibri"/>
              <a:cs typeface="Calibri"/>
              <a:sym typeface="Calibri"/>
            </a:endParaRPr>
          </a:p>
        </p:txBody>
      </p:sp>
      <p:sp>
        <p:nvSpPr>
          <p:cNvPr id="539" name="Google Shape;539;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receptive fields are exceptionally small</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while recording multiunit activity in anesthetized moles. A fine glass probe contacted individual parts of the star under a microscope. </a:t>
            </a: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combines spikes from nearby neurons, so its field differs from a single isolated neuron’s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excitatory field area was 0.59 mm² on ray 11 and 0.82 mm² on rays 1–10. Boundaries were sharply defined by the fall in evoked activity outside each field. Most fields occupied a continuous patch within one ray rather than spanning the whole star.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smaller foveal fields support finer spatial sampling in the disproportionately large representation. A smaller field means that a touch at a given location drives a more restricted group of cortical neurons, with 0.59 mm² on ray 11 against 0.82 mm² on rays 1–10.</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3">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Controlled indentation separates contact from movement</a:t>
            </a:r>
            <a:endParaRPr sz="1800">
              <a:solidFill>
                <a:schemeClr val="dk1"/>
              </a:solidFill>
              <a:latin typeface="Calibri"/>
              <a:ea typeface="Calibri"/>
              <a:cs typeface="Calibri"/>
              <a:sym typeface="Calibri"/>
            </a:endParaRPr>
          </a:p>
        </p:txBody>
      </p:sp>
      <p:sp>
        <p:nvSpPr>
          <p:cNvPr id="560" name="Google Shape;560;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isolated cortical units and stimulated the mapped field with a piezoelectrically controlled probe. </a:t>
            </a:r>
            <a:r>
              <a:rPr b="1" i="0" lang="en-US" sz="1500">
                <a:solidFill>
                  <a:srgbClr val="375B70"/>
                </a:solidFill>
                <a:latin typeface="Arial"/>
                <a:ea typeface="Arial"/>
                <a:cs typeface="Arial"/>
                <a:sym typeface="Arial"/>
              </a:rPr>
              <a:t>Piezoelectric actuation</a:t>
            </a:r>
            <a:r>
              <a:rPr b="0" i="0" lang="en-US" sz="1500">
                <a:solidFill>
                  <a:srgbClr val="25313C"/>
                </a:solidFill>
                <a:latin typeface="Arial"/>
                <a:ea typeface="Arial"/>
                <a:cs typeface="Arial"/>
                <a:sym typeface="Arial"/>
              </a:rPr>
              <a:t> converts an applied voltage into a small mechanical displacement. Stimuli lasting 5 or 500 ms separated brief contact from a prolonged 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probe was approximately 0.2–0.5 mm across and depressed the skin about 200 µm. The authors recorded baseline spontaneous activity and compared responses at different locations. Mean excitatory onset latency was 11.6 ms, similar for brief and prolonged stimuli.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common onset latency of 11.6 ms for 5-ms and 500-ms stimuli supports fast transmission that is not determined by total contact duration. The latency fits the cortical tactile onset near 12 ms used in the double-take timing.</a:t>
            </a:r>
            <a:endParaRPr sz="1800">
              <a:solidFill>
                <a:schemeClr val="dk1"/>
              </a:solidFill>
              <a:latin typeface="Calibri"/>
              <a:ea typeface="Calibri"/>
              <a:cs typeface="Calibri"/>
              <a:sym typeface="Calibri"/>
            </a:endParaRPr>
          </a:p>
        </p:txBody>
      </p:sp>
      <p:pic>
        <p:nvPicPr>
          <p:cNvPr id="563" name="Google Shape;563;p39"/>
          <p:cNvPicPr preferRelativeResize="0"/>
          <p:nvPr/>
        </p:nvPicPr>
        <p:blipFill rotWithShape="1">
          <a:blip r:embed="rId3">
            <a:alphaModFix/>
          </a:blip>
          <a:srcRect b="0" l="0" r="0" t="0"/>
          <a:stretch/>
        </p:blipFill>
        <p:spPr>
          <a:xfrm>
            <a:off x="7313278" y="1280071"/>
            <a:ext cx="3228206" cy="2834580"/>
          </a:xfrm>
          <a:prstGeom prst="rect">
            <a:avLst/>
          </a:prstGeom>
          <a:noFill/>
          <a:ln>
            <a:noFill/>
          </a:ln>
        </p:spPr>
      </p:pic>
      <p:sp>
        <p:nvSpPr>
          <p:cNvPr id="564" name="Google Shape;564;p39"/>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8(A–B). Population onset responses to 500-ms and 5-ms contact.</a:t>
            </a:r>
            <a:endParaRPr sz="1800">
              <a:solidFill>
                <a:schemeClr val="dk1"/>
              </a:solidFill>
              <a:latin typeface="Calibri"/>
              <a:ea typeface="Calibri"/>
              <a:cs typeface="Calibri"/>
              <a:sym typeface="Calibri"/>
            </a:endParaRPr>
          </a:p>
        </p:txBody>
      </p:sp>
      <p:pic>
        <p:nvPicPr>
          <p:cNvPr id="565" name="Google Shape;565;p39"/>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66" name="Google Shape;566;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67" name="Google Shape;567;p3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69" name="Google Shape;56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onset and release evoke distinct responses</a:t>
            </a:r>
            <a:endParaRPr sz="1800">
              <a:solidFill>
                <a:schemeClr val="dk1"/>
              </a:solidFill>
              <a:latin typeface="Calibri"/>
              <a:ea typeface="Calibri"/>
              <a:cs typeface="Calibri"/>
              <a:sym typeface="Calibri"/>
            </a:endParaRPr>
          </a:p>
        </p:txBody>
      </p:sp>
      <p:sp>
        <p:nvSpPr>
          <p:cNvPr id="575" name="Google Shape;575;p4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measured cortical firing during 500-ms indentations. An </a:t>
            </a:r>
            <a:r>
              <a:rPr b="1" i="0" lang="en-US" sz="1600">
                <a:solidFill>
                  <a:srgbClr val="375B70"/>
                </a:solidFill>
                <a:latin typeface="Arial"/>
                <a:ea typeface="Arial"/>
                <a:cs typeface="Arial"/>
                <a:sym typeface="Arial"/>
              </a:rPr>
              <a:t>ON response</a:t>
            </a:r>
            <a:r>
              <a:rPr b="0" i="0" lang="en-US" sz="1600">
                <a:solidFill>
                  <a:srgbClr val="25313C"/>
                </a:solidFill>
                <a:latin typeface="Arial"/>
                <a:ea typeface="Arial"/>
                <a:cs typeface="Arial"/>
                <a:sym typeface="Arial"/>
              </a:rPr>
              <a:t> is evoked at contact onset; an </a:t>
            </a:r>
            <a:r>
              <a:rPr b="1" i="0" lang="en-US" sz="1600">
                <a:solidFill>
                  <a:srgbClr val="375B70"/>
                </a:solidFill>
                <a:latin typeface="Arial"/>
                <a:ea typeface="Arial"/>
                <a:cs typeface="Arial"/>
                <a:sym typeface="Arial"/>
              </a:rPr>
              <a:t>OFF response</a:t>
            </a:r>
            <a:r>
              <a:rPr b="0" i="0" lang="en-US" sz="1600">
                <a:solidFill>
                  <a:srgbClr val="25313C"/>
                </a:solidFill>
                <a:latin typeface="Arial"/>
                <a:ea typeface="Arial"/>
                <a:cs typeface="Arial"/>
                <a:sym typeface="Arial"/>
              </a:rPr>
              <a:t> follows its release. The two events can both change mechanical strain even though their effects on the skin have opposite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About 61% of recorded neurons had an excitatory OFF response. Its mean latency was 12.2 ms and mean duration 39.1 ms, comparable to the brief ON discharge. Many units showed suppression after onset instead of maintaining an elevated rate throughout the hold.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supports a code sensitive to transitions as well as continuing contact. About 61% of neurons carried an OFF response at 12.2 ms, so release of the stimulus is signaled about as quickly as its onset.</a:t>
            </a:r>
            <a:endParaRPr sz="1800">
              <a:solidFill>
                <a:schemeClr val="dk1"/>
              </a:solidFill>
              <a:latin typeface="Calibri"/>
              <a:ea typeface="Calibri"/>
              <a:cs typeface="Calibri"/>
              <a:sym typeface="Calibri"/>
            </a:endParaRPr>
          </a:p>
        </p:txBody>
      </p:sp>
      <p:pic>
        <p:nvPicPr>
          <p:cNvPr id="578" name="Google Shape;578;p40"/>
          <p:cNvPicPr preferRelativeResize="0"/>
          <p:nvPr/>
        </p:nvPicPr>
        <p:blipFill rotWithShape="1">
          <a:blip r:embed="rId3">
            <a:alphaModFix/>
          </a:blip>
          <a:srcRect b="0" l="0" r="0" t="0"/>
          <a:stretch/>
        </p:blipFill>
        <p:spPr>
          <a:xfrm>
            <a:off x="6504333" y="1280071"/>
            <a:ext cx="5120535" cy="2413695"/>
          </a:xfrm>
          <a:prstGeom prst="rect">
            <a:avLst/>
          </a:prstGeom>
          <a:noFill/>
          <a:ln>
            <a:noFill/>
          </a:ln>
        </p:spPr>
      </p:pic>
      <p:sp>
        <p:nvSpPr>
          <p:cNvPr id="579" name="Google Shape;579;p40"/>
          <p:cNvSpPr/>
          <p:nvPr/>
        </p:nvSpPr>
        <p:spPr>
          <a:xfrm>
            <a:off x="6504236" y="37852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 Population onset and release responses to 500-ms contact.</a:t>
            </a:r>
            <a:endParaRPr sz="1800">
              <a:solidFill>
                <a:schemeClr val="dk1"/>
              </a:solidFill>
              <a:latin typeface="Calibri"/>
              <a:ea typeface="Calibri"/>
              <a:cs typeface="Calibri"/>
              <a:sym typeface="Calibri"/>
            </a:endParaRPr>
          </a:p>
        </p:txBody>
      </p:sp>
      <p:sp>
        <p:nvSpPr>
          <p:cNvPr id="580" name="Google Shape;580;p4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582" name="Google Shape;58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6" name="Shape 586"/>
        <p:cNvGrpSpPr/>
        <p:nvPr/>
      </p:nvGrpSpPr>
      <p:grpSpPr>
        <a:xfrm>
          <a:off x="0" y="0"/>
          <a:ext cx="0" cy="0"/>
          <a:chOff x="0" y="0"/>
          <a:chExt cx="0" cy="0"/>
        </a:xfrm>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Surround stimulation can suppress a cortical neuron</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used simultaneous recordings at electrodes separated by 200 µm while moving the probe among mapped sites. </a:t>
            </a: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in a central receptive region can excite a neuron while stimulation outside that region reduces its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interactions that sharpen the spatial pattern of cortical activity. One contact raises activity at its own location and lowers it at neighboring ones, which increases the contrast between them.</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Moving contact changes excitation into suppression</a:t>
            </a:r>
            <a:endParaRPr sz="1800">
              <a:solidFill>
                <a:schemeClr val="dk1"/>
              </a:solidFill>
              <a:latin typeface="Calibri"/>
              <a:ea typeface="Calibri"/>
              <a:cs typeface="Calibri"/>
              <a:sym typeface="Calibri"/>
            </a:endParaRPr>
          </a:p>
        </p:txBody>
      </p:sp>
      <p:sp>
        <p:nvSpPr>
          <p:cNvPr id="603" name="Google Shape;603;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positional dependence supports a spatially structured response in which excitation at the center and suppression in the surround define a response boundary within a ray.</a:t>
            </a:r>
            <a:endParaRPr sz="1800">
              <a:solidFill>
                <a:schemeClr val="dk1"/>
              </a:solidFill>
              <a:latin typeface="Calibri"/>
              <a:ea typeface="Calibri"/>
              <a:cs typeface="Calibri"/>
              <a:sym typeface="Calibri"/>
            </a:endParaRPr>
          </a:p>
        </p:txBody>
      </p:sp>
      <p:pic>
        <p:nvPicPr>
          <p:cNvPr id="606" name="Google Shape;606;p42"/>
          <p:cNvPicPr preferRelativeResize="0"/>
          <p:nvPr/>
        </p:nvPicPr>
        <p:blipFill rotWithShape="1">
          <a:blip r:embed="rId3">
            <a:alphaModFix/>
          </a:blip>
          <a:srcRect b="0" l="0" r="0" t="0"/>
          <a:stretch/>
        </p:blipFill>
        <p:spPr>
          <a:xfrm>
            <a:off x="6229813" y="1280071"/>
            <a:ext cx="3474656" cy="3892451"/>
          </a:xfrm>
          <a:prstGeom prst="rect">
            <a:avLst/>
          </a:prstGeom>
          <a:noFill/>
          <a:ln>
            <a:noFill/>
          </a:ln>
        </p:spPr>
      </p:pic>
      <p:sp>
        <p:nvSpPr>
          <p:cNvPr id="607" name="Google Shape;607;p42"/>
          <p:cNvSpPr/>
          <p:nvPr/>
        </p:nvSpPr>
        <p:spPr>
          <a:xfrm>
            <a:off x="6229796" y="526405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7. Responses as contact moves from the receptive-field center.</a:t>
            </a:r>
            <a:endParaRPr sz="1800">
              <a:solidFill>
                <a:schemeClr val="dk1"/>
              </a:solidFill>
              <a:latin typeface="Calibri"/>
              <a:ea typeface="Calibri"/>
              <a:cs typeface="Calibri"/>
              <a:sym typeface="Calibri"/>
            </a:endParaRPr>
          </a:p>
        </p:txBody>
      </p:sp>
      <p:pic>
        <p:nvPicPr>
          <p:cNvPr id="608" name="Google Shape;608;p42"/>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609" name="Google Shape;609;p42"/>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610" name="Google Shape;610;p4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612" name="Google Shape;61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duration recruits transient and sustained codes</a:t>
            </a:r>
            <a:endParaRPr sz="1800">
              <a:solidFill>
                <a:schemeClr val="dk1"/>
              </a:solidFill>
              <a:latin typeface="Calibri"/>
              <a:ea typeface="Calibri"/>
              <a:cs typeface="Calibri"/>
              <a:sym typeface="Calibri"/>
            </a:endParaRPr>
          </a:p>
        </p:txBody>
      </p:sp>
      <p:sp>
        <p:nvSpPr>
          <p:cNvPr id="618" name="Google Shape;618;p4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compared cortical responses to 5-, 20- and 500-ms stimuli delivered to the same receptive fields. </a:t>
            </a:r>
            <a:r>
              <a:rPr b="1" i="0" lang="en-US" sz="1500">
                <a:solidFill>
                  <a:srgbClr val="375B70"/>
                </a:solidFill>
                <a:latin typeface="Arial"/>
                <a:ea typeface="Arial"/>
                <a:cs typeface="Arial"/>
                <a:sym typeface="Arial"/>
              </a:rPr>
              <a:t>Transient responses</a:t>
            </a:r>
            <a:r>
              <a:rPr b="0" i="0" lang="en-US" sz="1500">
                <a:solidFill>
                  <a:srgbClr val="25313C"/>
                </a:solidFill>
                <a:latin typeface="Arial"/>
                <a:ea typeface="Arial"/>
                <a:cs typeface="Arial"/>
                <a:sym typeface="Arial"/>
              </a:rPr>
              <a:t> emphasize short changes near onset, whereas </a:t>
            </a:r>
            <a:r>
              <a:rPr b="1" i="0" lang="en-US" sz="1500">
                <a:solidFill>
                  <a:srgbClr val="375B70"/>
                </a:solidFill>
                <a:latin typeface="Arial"/>
                <a:ea typeface="Arial"/>
                <a:cs typeface="Arial"/>
                <a:sym typeface="Arial"/>
              </a:rPr>
              <a:t>sustained responses</a:t>
            </a:r>
            <a:r>
              <a:rPr b="0" i="0" lang="en-US" sz="1500">
                <a:solidFill>
                  <a:srgbClr val="25313C"/>
                </a:solidFill>
                <a:latin typeface="Arial"/>
                <a:ea typeface="Arial"/>
                <a:cs typeface="Arial"/>
                <a:sym typeface="Arial"/>
              </a:rPr>
              <a:t> continue during contact. These categories concern recorded activity rather than an assumed receptor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supports multiple temporal representations of contact duration within cortex. A short natural touch can activate these neurons without reproducing their response to a long hold, so duration is coded by which neurons stay active.</a:t>
            </a:r>
            <a:endParaRPr sz="1800">
              <a:solidFill>
                <a:schemeClr val="dk1"/>
              </a:solidFill>
              <a:latin typeface="Calibri"/>
              <a:ea typeface="Calibri"/>
              <a:cs typeface="Calibri"/>
              <a:sym typeface="Calibri"/>
            </a:endParaRPr>
          </a:p>
        </p:txBody>
      </p:sp>
      <p:pic>
        <p:nvPicPr>
          <p:cNvPr id="621" name="Google Shape;621;p43"/>
          <p:cNvPicPr preferRelativeResize="0"/>
          <p:nvPr/>
        </p:nvPicPr>
        <p:blipFill rotWithShape="1">
          <a:blip r:embed="rId3">
            <a:alphaModFix/>
          </a:blip>
          <a:srcRect b="0" l="0" r="0" t="0"/>
          <a:stretch/>
        </p:blipFill>
        <p:spPr>
          <a:xfrm>
            <a:off x="6229872" y="1280071"/>
            <a:ext cx="3474538" cy="3146822"/>
          </a:xfrm>
          <a:prstGeom prst="rect">
            <a:avLst/>
          </a:prstGeom>
          <a:noFill/>
          <a:ln>
            <a:noFill/>
          </a:ln>
        </p:spPr>
      </p:pic>
      <p:sp>
        <p:nvSpPr>
          <p:cNvPr id="622" name="Google Shape;622;p43"/>
          <p:cNvSpPr/>
          <p:nvPr/>
        </p:nvSpPr>
        <p:spPr>
          <a:xfrm>
            <a:off x="6229796" y="4518422"/>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2(A–C). Different transient and sustained responses across stimulus durations.</a:t>
            </a:r>
            <a:endParaRPr sz="1800">
              <a:solidFill>
                <a:schemeClr val="dk1"/>
              </a:solidFill>
              <a:latin typeface="Calibri"/>
              <a:ea typeface="Calibri"/>
              <a:cs typeface="Calibri"/>
              <a:sym typeface="Calibri"/>
            </a:endParaRPr>
          </a:p>
        </p:txBody>
      </p:sp>
      <p:pic>
        <p:nvPicPr>
          <p:cNvPr id="623" name="Google Shape;623;p43"/>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624" name="Google Shape;624;p43"/>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625" name="Google Shape;625;p4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627" name="Google Shape;62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forms within the embryonic facial epidermis</a:t>
            </a:r>
            <a:endParaRPr sz="1800">
              <a:solidFill>
                <a:schemeClr val="dk1"/>
              </a:solidFill>
              <a:latin typeface="Calibri"/>
              <a:ea typeface="Calibri"/>
              <a:cs typeface="Calibri"/>
              <a:sym typeface="Calibri"/>
            </a:endParaRPr>
          </a:p>
        </p:txBody>
      </p:sp>
      <p:sp>
        <p:nvSpPr>
          <p:cNvPr id="633" name="Google Shape;633;p4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Northcutt and Kaas examined embryos with scanning microscopy and stained sections. </a:t>
            </a:r>
            <a:r>
              <a:rPr b="1" i="0" lang="en-US" sz="1600">
                <a:solidFill>
                  <a:srgbClr val="375B70"/>
                </a:solidFill>
                <a:latin typeface="Arial"/>
                <a:ea typeface="Arial"/>
                <a:cs typeface="Arial"/>
                <a:sym typeface="Arial"/>
              </a:rPr>
              <a:t>Morphogenesis</a:t>
            </a:r>
            <a:r>
              <a:rPr b="0" i="0" lang="en-US" sz="1600">
                <a:solidFill>
                  <a:srgbClr val="25313C"/>
                </a:solidFill>
                <a:latin typeface="Arial"/>
                <a:ea typeface="Arial"/>
                <a:cs typeface="Arial"/>
                <a:sym typeface="Arial"/>
              </a:rPr>
              <a:t> is the formation of an anatomical structure during development. The mole’s rays formed as patterned epidermal waves before becoming free appendages, rather than initially projecting outward as separate limbs.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At a 9-mm embryonic stage, the nose lacked differentiated rays. At 11 mm, a series of epidermal crests appeared; by 13–15 mm, the 22-ray pattern was apparent. The original sections locate developing nerves relative to the tissue layers that later separate.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This developmental sequence establishes how the star's basic structure emerges. Rays arise from epidermal crests that form between embryo lengths of 9 and 15 mm, and embryo length serves as a staging measure for these steps.</a:t>
            </a:r>
            <a:endParaRPr sz="1800">
              <a:solidFill>
                <a:schemeClr val="dk1"/>
              </a:solidFill>
              <a:latin typeface="Calibri"/>
              <a:ea typeface="Calibri"/>
              <a:cs typeface="Calibri"/>
              <a:sym typeface="Calibri"/>
            </a:endParaRPr>
          </a:p>
        </p:txBody>
      </p:sp>
      <p:pic>
        <p:nvPicPr>
          <p:cNvPr id="636" name="Google Shape;636;p44"/>
          <p:cNvPicPr preferRelativeResize="0"/>
          <p:nvPr/>
        </p:nvPicPr>
        <p:blipFill rotWithShape="1">
          <a:blip r:embed="rId3">
            <a:alphaModFix/>
          </a:blip>
          <a:srcRect b="0" l="0" r="0" t="0"/>
          <a:stretch/>
        </p:blipFill>
        <p:spPr>
          <a:xfrm>
            <a:off x="6570992" y="1280071"/>
            <a:ext cx="2792745" cy="4297561"/>
          </a:xfrm>
          <a:prstGeom prst="rect">
            <a:avLst/>
          </a:prstGeom>
          <a:noFill/>
          <a:ln>
            <a:noFill/>
          </a:ln>
        </p:spPr>
      </p:pic>
      <p:sp>
        <p:nvSpPr>
          <p:cNvPr id="637" name="Google Shape;637;p4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1(A–C). Prenatal ray formation and corresponding stained nose sections.</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4">
            <a:alphaModFix/>
          </a:blip>
          <a:srcRect b="0" l="0" r="0" t="0"/>
          <a:stretch/>
        </p:blipFill>
        <p:spPr>
          <a:xfrm>
            <a:off x="9887545" y="2148789"/>
            <a:ext cx="1737271" cy="437835"/>
          </a:xfrm>
          <a:prstGeom prst="rect">
            <a:avLst/>
          </a:prstGeom>
          <a:noFill/>
          <a:ln>
            <a:noFill/>
          </a:ln>
        </p:spPr>
      </p:pic>
      <p:sp>
        <p:nvSpPr>
          <p:cNvPr id="639" name="Google Shape;639;p44"/>
          <p:cNvSpPr/>
          <p:nvPr/>
        </p:nvSpPr>
        <p:spPr>
          <a:xfrm>
            <a:off x="9887545" y="2659856"/>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sp>
        <p:nvSpPr>
          <p:cNvPr id="640" name="Google Shape;640;p4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42" name="Google Shape;64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Ray-specific innervation develops before free movement</a:t>
            </a:r>
            <a:endParaRPr sz="1800">
              <a:solidFill>
                <a:schemeClr val="dk1"/>
              </a:solidFill>
              <a:latin typeface="Calibri"/>
              <a:ea typeface="Calibri"/>
              <a:cs typeface="Calibri"/>
              <a:sym typeface="Calibri"/>
            </a:endParaRPr>
          </a:p>
        </p:txBody>
      </p:sp>
      <p:sp>
        <p:nvSpPr>
          <p:cNvPr id="648" name="Google Shape;64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traced embryonic facial nerves with DiI while the star’s rays were still embedded in the facial epidermis. The preparation relates nerve organization to tissue morphogenesis before the newborn possesses the freely moving adult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endParaRPr sz="1800">
              <a:solidFill>
                <a:schemeClr val="dk1"/>
              </a:solidFill>
              <a:latin typeface="Calibri"/>
              <a:ea typeface="Calibri"/>
              <a:cs typeface="Calibri"/>
              <a:sym typeface="Calibri"/>
            </a:endParaRPr>
          </a:p>
        </p:txBody>
      </p:sp>
      <p:pic>
        <p:nvPicPr>
          <p:cNvPr id="651" name="Google Shape;651;p45"/>
          <p:cNvPicPr preferRelativeResize="0"/>
          <p:nvPr/>
        </p:nvPicPr>
        <p:blipFill rotWithShape="1">
          <a:blip r:embed="rId3">
            <a:alphaModFix/>
          </a:blip>
          <a:srcRect b="0" l="0" r="0" t="0"/>
          <a:stretch/>
        </p:blipFill>
        <p:spPr>
          <a:xfrm>
            <a:off x="6229796" y="1280078"/>
            <a:ext cx="5395020" cy="1359679"/>
          </a:xfrm>
          <a:prstGeom prst="rect">
            <a:avLst/>
          </a:prstGeom>
          <a:noFill/>
          <a:ln>
            <a:noFill/>
          </a:ln>
        </p:spPr>
      </p:pic>
      <p:sp>
        <p:nvSpPr>
          <p:cNvPr id="652" name="Google Shape;652;p45"/>
          <p:cNvSpPr/>
          <p:nvPr/>
        </p:nvSpPr>
        <p:spPr>
          <a:xfrm>
            <a:off x="6229796" y="2731294"/>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4">
            <a:alphaModFix/>
          </a:blip>
          <a:srcRect b="0" l="0" r="0" t="0"/>
          <a:stretch/>
        </p:blipFill>
        <p:spPr>
          <a:xfrm>
            <a:off x="8559903" y="4663380"/>
            <a:ext cx="735104" cy="1097161"/>
          </a:xfrm>
          <a:prstGeom prst="rect">
            <a:avLst/>
          </a:prstGeom>
          <a:noFill/>
          <a:ln>
            <a:noFill/>
          </a:ln>
        </p:spPr>
      </p:pic>
      <p:sp>
        <p:nvSpPr>
          <p:cNvPr id="654" name="Google Shape;654;p4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3(A1–C2). Development of ray-specific nerves and terminal rings.</a:t>
            </a:r>
            <a:endParaRPr sz="1800">
              <a:solidFill>
                <a:schemeClr val="dk1"/>
              </a:solidFill>
              <a:latin typeface="Calibri"/>
              <a:ea typeface="Calibri"/>
              <a:cs typeface="Calibri"/>
              <a:sym typeface="Calibri"/>
            </a:endParaRPr>
          </a:p>
        </p:txBody>
      </p:sp>
      <p:sp>
        <p:nvSpPr>
          <p:cNvPr id="655" name="Google Shape;655;p4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57" name="Google Shape;65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sp>
        <p:nvSpPr>
          <p:cNvPr id="662" name="Google Shape;66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3" name="Google Shape;663;p46"/>
          <p:cNvSpPr/>
          <p:nvPr/>
        </p:nvSpPr>
        <p:spPr>
          <a:xfrm>
            <a:off x="566886"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Active touch uses a fovea</a:t>
            </a:r>
            <a:r>
              <a:rPr b="0" i="0" lang="en-US" sz="1600">
                <a:solidFill>
                  <a:srgbClr val="25313C"/>
                </a:solidFill>
                <a:latin typeface="Arial"/>
                <a:ea typeface="Arial"/>
                <a:cs typeface="Arial"/>
                <a:sym typeface="Arial"/>
              </a:rPr>
              <a:t> Broad initial contact is followed by repositioning of ray 11; the star senses and positions prey while incisors grasp it.</a:t>
            </a:r>
            <a:endParaRPr sz="1800">
              <a:solidFill>
                <a:schemeClr val="dk1"/>
              </a:solidFill>
              <a:latin typeface="Calibri"/>
              <a:ea typeface="Calibri"/>
              <a:cs typeface="Calibri"/>
              <a:sym typeface="Calibri"/>
            </a:endParaRPr>
          </a:p>
        </p:txBody>
      </p:sp>
      <p:sp>
        <p:nvSpPr>
          <p:cNvPr id="665" name="Google Shape;665;p46"/>
          <p:cNvSpPr/>
          <p:nvPr/>
        </p:nvSpPr>
        <p:spPr>
          <a:xfrm>
            <a:off x="6233071"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Fast handling changes prey value</a:t>
            </a:r>
            <a:r>
              <a:rPr b="0" i="0" lang="en-US" sz="1600">
                <a:solidFill>
                  <a:srgbClr val="25313C"/>
                </a:solidFill>
                <a:latin typeface="Arial"/>
                <a:ea typeface="Arial"/>
                <a:cs typeface="Arial"/>
                <a:sym typeface="Arial"/>
              </a:rPr>
              <a:t> Small-prey handling averages 227 ms; low handling costs make tiny prey profitable, while search costs still depend on encounter rate.</a:t>
            </a:r>
            <a:endParaRPr sz="1800">
              <a:solidFill>
                <a:schemeClr val="dk1"/>
              </a:solidFill>
              <a:latin typeface="Calibri"/>
              <a:ea typeface="Calibri"/>
              <a:cs typeface="Calibri"/>
              <a:sym typeface="Calibri"/>
            </a:endParaRPr>
          </a:p>
        </p:txBody>
      </p:sp>
      <p:sp>
        <p:nvSpPr>
          <p:cNvPr id="667" name="Google Shape;667;p46"/>
          <p:cNvSpPr/>
          <p:nvPr/>
        </p:nvSpPr>
        <p:spPr>
          <a:xfrm>
            <a:off x="566886"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Peripheral specialization has several levels</a:t>
            </a:r>
            <a:r>
              <a:rPr b="0" i="0" lang="en-US" sz="1600">
                <a:solidFill>
                  <a:srgbClr val="25313C"/>
                </a:solidFill>
                <a:latin typeface="Arial"/>
                <a:ea typeface="Arial"/>
                <a:cs typeface="Arial"/>
                <a:sym typeface="Arial"/>
              </a:rPr>
              <a:t> Eimer’s organs contain multiple endings; foveal specialization involves afferent investment and cannot be explained solely by dome density.</a:t>
            </a:r>
            <a:endParaRPr sz="1800">
              <a:solidFill>
                <a:schemeClr val="dk1"/>
              </a:solidFill>
              <a:latin typeface="Calibri"/>
              <a:ea typeface="Calibri"/>
              <a:cs typeface="Calibri"/>
              <a:sym typeface="Calibri"/>
            </a:endParaRPr>
          </a:p>
        </p:txBody>
      </p:sp>
      <p:sp>
        <p:nvSpPr>
          <p:cNvPr id="669" name="Google Shape;669;p46"/>
          <p:cNvSpPr/>
          <p:nvPr/>
        </p:nvSpPr>
        <p:spPr>
          <a:xfrm>
            <a:off x="6233071"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Molecular evidence has limits</a:t>
            </a:r>
            <a:r>
              <a:rPr b="0" i="0" lang="en-US" sz="1600">
                <a:solidFill>
                  <a:srgbClr val="25313C"/>
                </a:solidFill>
                <a:latin typeface="Arial"/>
                <a:ea typeface="Arial"/>
                <a:cs typeface="Arial"/>
                <a:sym typeface="Arial"/>
              </a:rPr>
              <a:t> TG neurons are enriched for mechanosensitivity; transcript and protein enrichment identify candidate channels without proving their causal role.</a:t>
            </a:r>
            <a:endParaRPr sz="1800">
              <a:solidFill>
                <a:schemeClr val="dk1"/>
              </a:solidFill>
              <a:latin typeface="Calibri"/>
              <a:ea typeface="Calibri"/>
              <a:cs typeface="Calibri"/>
              <a:sym typeface="Calibri"/>
            </a:endParaRPr>
          </a:p>
        </p:txBody>
      </p:sp>
      <p:sp>
        <p:nvSpPr>
          <p:cNvPr id="671" name="Google Shape;671;p46"/>
          <p:cNvSpPr/>
          <p:nvPr/>
        </p:nvSpPr>
        <p:spPr>
          <a:xfrm>
            <a:off x="566886"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Central allocation magnifies ray 11</a:t>
            </a:r>
            <a:r>
              <a:rPr b="0" i="0" lang="en-US" sz="1600">
                <a:solidFill>
                  <a:srgbClr val="25313C"/>
                </a:solidFill>
                <a:latin typeface="Arial"/>
                <a:ea typeface="Arial"/>
                <a:cs typeface="Arial"/>
                <a:sym typeface="Arial"/>
              </a:rPr>
              <a:t> Ray 11 accounts for about 11% of afferents, 14% of the PrV star representation and 25% of the S1 star representation.</a:t>
            </a:r>
            <a:endParaRPr sz="1800">
              <a:solidFill>
                <a:schemeClr val="dk1"/>
              </a:solidFill>
              <a:latin typeface="Calibri"/>
              <a:ea typeface="Calibri"/>
              <a:cs typeface="Calibri"/>
              <a:sym typeface="Calibri"/>
            </a:endParaRPr>
          </a:p>
        </p:txBody>
      </p:sp>
      <p:sp>
        <p:nvSpPr>
          <p:cNvPr id="673" name="Google Shape;673;p46"/>
          <p:cNvSpPr/>
          <p:nvPr/>
        </p:nvSpPr>
        <p:spPr>
          <a:xfrm>
            <a:off x="6233071"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6415980" y="4876800"/>
            <a:ext cx="5045125"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Spatial and temporal codes complement each other</a:t>
            </a:r>
            <a:r>
              <a:rPr b="0" i="0" lang="en-US" sz="1600">
                <a:solidFill>
                  <a:srgbClr val="25313C"/>
                </a:solidFill>
                <a:latin typeface="Arial"/>
                <a:ea typeface="Arial"/>
                <a:cs typeface="Arial"/>
                <a:sym typeface="Arial"/>
              </a:rPr>
              <a:t> Small foveal fields, center–surround suppression and distinct onset, release and sustained responses encode different aspects of contact.</a:t>
            </a:r>
            <a:endParaRPr sz="1800">
              <a:solidFill>
                <a:schemeClr val="dk1"/>
              </a:solidFill>
              <a:latin typeface="Calibri"/>
              <a:ea typeface="Calibri"/>
              <a:cs typeface="Calibri"/>
              <a:sym typeface="Calibri"/>
            </a:endParaRPr>
          </a:p>
        </p:txBody>
      </p:sp>
      <p:sp>
        <p:nvSpPr>
          <p:cNvPr id="675" name="Google Shape;675;p4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&amp; Remple (2005); Gerhold et al. (2013); Catania et al. (2011); Sachdev &amp; Catania (2002)</a:t>
            </a:r>
            <a:endParaRPr sz="1800">
              <a:solidFill>
                <a:schemeClr val="dk1"/>
              </a:solidFill>
              <a:latin typeface="Calibri"/>
              <a:ea typeface="Calibri"/>
              <a:cs typeface="Calibri"/>
              <a:sym typeface="Calibri"/>
            </a:endParaRPr>
          </a:p>
        </p:txBody>
      </p:sp>
      <p:sp>
        <p:nvSpPr>
          <p:cNvPr id="677" name="Google Shape;67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Center–surround organization sharpens the cortical map</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of a central receptive region excites a neuron, whereas stimulation of the region around it reduces the neuron's activity. The reduction is measured relative to spontaneous firing. Both center and surround are defined for a single neuron.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recorded simultaneously at electrodes separated by 200 µm while moving a probe among mapped sites. In paired examples, one contact excited a neuron whose field included that position and suppressed another whose field lay elsewhere.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Suppression separates an inhibitory influence from simply failing to excite a neuron at an unrelated location. Most inhibitory surrounds were larger than the central excitatory patch, yet remained largely confined to one ray. The paired recordings came from separate neurons whose fields lay at different positions.</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2">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3">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Multiunit activity maps where skin drives cortex</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is the combined spiking of several neurons near an electrode, recorded without separating individual cells. It is a robust signal for mapping where on the skin stimulation drives a local group of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in anesthetized moles. A fine glass probe contacted individual parts of the star under a microscope. Mean excitatory field area was 0.59 mm² on ray 11 and 0.82 mm² on rays 1–10.</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Boundaries were sharply defined by the fall in evoked activity outside each field, and most fields occupied a continuous patch within one ray. A multiunit field is the area over which a small group of neurons responds, which differs from the field of a single isolated neuron.</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2">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3">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Tangential sections expose the layout of cortex</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0" i="0" lang="en-US" sz="1600">
                <a:solidFill>
                  <a:srgbClr val="25313C"/>
                </a:solidFill>
                <a:latin typeface="Arial"/>
                <a:ea typeface="Arial"/>
                <a:cs typeface="Arial"/>
                <a:sym typeface="Arial"/>
              </a:rPr>
              <a:t>A </a:t>
            </a:r>
            <a:r>
              <a:rPr b="1" i="0" lang="en-US" sz="1600">
                <a:solidFill>
                  <a:srgbClr val="375B70"/>
                </a:solidFill>
                <a:latin typeface="Arial"/>
                <a:ea typeface="Arial"/>
                <a:cs typeface="Arial"/>
                <a:sym typeface="Arial"/>
              </a:rPr>
              <a:t>tangential section</a:t>
            </a:r>
            <a:r>
              <a:rPr b="0" i="0" lang="en-US" sz="1600">
                <a:solidFill>
                  <a:srgbClr val="25313C"/>
                </a:solidFill>
                <a:latin typeface="Arial"/>
                <a:ea typeface="Arial"/>
                <a:cs typeface="Arial"/>
                <a:sym typeface="Arial"/>
              </a:rPr>
              <a:t> is a slice cut parallel to the cortical surface, and flattening the cortex before cutting places the whole sheet in one plane. Such sections reveal how an area is laid out across the surface, unlike slices cut perpendicular to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flattened cortex and cut tangential sections, then processed them for cytochrome oxidase. Two pinwheel-like sets of stripes appeared, corresponding to S1 and S2 star representations. Electrophysiological mapping associated stripes with input from rays on the opposite side of the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foveal ray occupied an especially large S1 territory. The stripes allow cortical area to be measured for each ray and compared with the myelinated-fiber counts of the same ray.</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2">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3">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receptive field is the territory a neuron responds to</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region of the sensory surface whose stimulation changes the activity of a recorded neuron. Mapping fields while recording turns an anatomical module into a functional territory on the skin. The pairing of stimulus and recording site gives each module a functional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and aligned these marks with stained sections. Responses encountered along penetrations changed according to the module entered. The stimuli were gentle contacts applied to individual rays.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Pairing the stimulation territory with the recording location is stronger evidence than labeling modules from resemblance alone. Each module of the 11-module PrV pattern can be assigned to a ray from the receptive fields recorded in it.</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2">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3">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Cytochrome oxidase staining reveals active regions</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Cytochrome oxidase</a:t>
            </a:r>
            <a:r>
              <a:rPr b="0" i="0" lang="en-US" sz="1500">
                <a:solidFill>
                  <a:srgbClr val="25313C"/>
                </a:solidFill>
                <a:latin typeface="Arial"/>
                <a:ea typeface="Arial"/>
                <a:cs typeface="Arial"/>
                <a:sym typeface="Arial"/>
              </a:rPr>
              <a:t> is a mitochondrial enzyme, and tissue stained for it appears darker where neurons are metabolically more active. In brain sections the stain reveals boundaries between regions that differ in their activity. The staining is applied to tissue sections after the brain has been removed.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Leitch and Gauthier stained brainstem sections from star-nosed and hairy-tailed moles. In the star-nosed mole, PrV was greatly expanded and bulged toward the incoming trigeminal nerve, and cytochrome-oxidase staining revealed strong internal subdivisions.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adjacent spinal trigeminal complex provided an anatomical comparison. The same staining approach, applied to flattened cortex, reveals the stripes of the cortical star, so one histological marker links brainstem and cortex. The comparison with the hairy-tailed mole relates central anatomy to a different nasal receptor surface.</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2">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Quantitative PCR checks selected genes independently</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Quantitative PCR</a:t>
            </a:r>
            <a:r>
              <a:rPr b="0" i="0" lang="en-US" sz="1500">
                <a:solidFill>
                  <a:srgbClr val="25313C"/>
                </a:solidFill>
                <a:latin typeface="Arial"/>
                <a:ea typeface="Arial"/>
                <a:cs typeface="Arial"/>
                <a:sym typeface="Arial"/>
              </a:rPr>
              <a:t>, or qPCR, measures the amount of a selected RNA target by amplifying it and monitoring the product during amplification. Expression of each target is normalized to a reference transcript so that samples can be compared.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tested several TG- and DRG-enriched candidates. Cnga2 and Stoml3 were more highly expressed in TG, whereas Trpa1 and Trpv1 were more highly expressed in DRG. Fam38a, the Piezo1 gene, followed the TG-directed trend, but its difference was not established convincingly.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Agreement with the sequencing screen strengthens an expression claim, because a second method measures the same genes independently. The assay retains most candidates for further testing and marks Piezo1 as less certain than the others.</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2">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transcriptome is the set of RNAs a tissue expresses</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full collection of RNA transcripts expressed in a tissue. RNA sequencing reads these transcripts and counts them, so genes with more transcripts are inferred to be expressed more strongly in that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sequenced TG and DRG of star-nosed moles. Without an annotated genome, reads were aligned successively against human, dog and mouse transcript sequences, assigning approximately 42–65% of reads. Thousands of genes differed between the two ganglia.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 parallel mouse TG–DRG comparison separates differences shared across mammals from those potentially associated with the mole's specialized facial sensory population. Genes that differ only in the mole become candidates for the specialization of the star.</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2">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Fura-2 reports calcium in cultured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is a fluorescent calcium indicator whose emission changes when it binds calcium. Because calcium enters neurons when they are activated, a rise in the indicator signal reports activation of an individual cultured cell. Cultured cells can be compared under one mechanical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cultured them on deformable substrates. A 10% radial stretch was applied under a shared protocol, and about 80% of TG neurons responded, compared with 34% of DRG neurons. Both tissues were exposed to the same stretch, so the difference in responses belongs to the neurons.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original images retain the authors' calcium-response colors, so responding cells appear as a change in color. The higher fraction of responding TG neurons agrees with the greater fraction of touch-associated markers in the facial ganglion.</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2">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Adaptation separates held contact from changing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decline in a sensory neuron's firing during a continued stimulus. A slowly adapting afferent keeps firing throughout a maintained indentation and reports that contact is present, whereas a rapidly adapting afferent fires mainly when the indentation changes.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units from the trigeminal ganglion while controlled stimulators contacted the nose for 500 ms. Some receptors fired throughout the static portion, producing slowly adapting, Merkel-like responses. Others responded to changing indentation, and one rapidly adapting response produced a single onset impulse.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classes carry complementary information: presence of contact from slowly adapting units and change of contact from rapidly adapting units. A single nose therefore sends several peripheral codes to the brain for the same touch.</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2">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3">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Double labeling marks two molecules in one section</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Double labeling</a:t>
            </a:r>
            <a:r>
              <a:rPr b="0" i="0" lang="en-US" sz="1500">
                <a:solidFill>
                  <a:srgbClr val="25313C"/>
                </a:solidFill>
                <a:latin typeface="Arial"/>
                <a:ea typeface="Arial"/>
                <a:cs typeface="Arial"/>
                <a:sym typeface="Arial"/>
              </a:rPr>
              <a:t> uses two antibodies with different fluorescent colors to mark two molecules in the same tissue section. Because both labels appear in one structure, the positions of the two populations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double-labeled coast mole Eimer's organs for NF200 and substance P. Central and satellite endings labeled for NF200, whereas the outer peripheral ring labeled for substance P. Gerhold and colleagues found strong NF200 staining and sparse peripheral substance-P staining in star-nosed mole organs.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NF200 marks many large, myelinated sensory fibers, and substance P marks a subset of pain-signaling neurons. Each ending can therefore be assigned to a molecular class by its position within the organ.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2">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3">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Confocal microscopy resolves endings at a chosen depth</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forms an image from a single thin optical plane of a fluorescently labeled specimen, rejecting light from above and below that plane. Stacking planes at different depths reconstructs the three-dimensional arrangement of labeled structures.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Eimer's organs in horizontal and vertical sections. About 15 µm below the apex, a central ending was surrounded by seven satellite fibers, and a second, outer ring contained smaller peripheral endings.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Optical sectioning places each ending at a defined depth and ring position. Near the surface, terminal swellings of the satellite fibers approach the central terminal, an arrangement that a surface image alone could not reveal.</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2">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3">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Scanning electron microscopy images fine surface structure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a:solidFill>
                  <a:srgbClr val="375B70"/>
                </a:solidFill>
                <a:latin typeface="Arial"/>
                <a:ea typeface="Arial"/>
                <a:cs typeface="Arial"/>
                <a:sym typeface="Arial"/>
              </a:rPr>
              <a:t>Scanning electron microscopy</a:t>
            </a:r>
            <a:r>
              <a:rPr b="0" i="0" lang="en-US">
                <a:solidFill>
                  <a:srgbClr val="25313C"/>
                </a:solidFill>
                <a:latin typeface="Arial"/>
                <a:ea typeface="Arial"/>
                <a:cs typeface="Arial"/>
                <a:sym typeface="Arial"/>
              </a:rPr>
              <a:t> images the surface of a specimen by scanning it with a focused beam of electrons. The method resolves fine surface structure, such as the shape and spacing of small domes, at much higher magnification than a light microscope.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Sawyer and Catania used it to map Eimer's organs across the flattened front surface of the star. The star contains roughly 25,000 organs across its 22 rays, and surface images reveal separate domes packed into a repeated array.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dome has an external structure, so organ position can be measured directly from the image without tracing its innervation. The same images supply organ density, position along each ray and the frontal area of individual organs.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2">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3">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Latency is the delay between stimulus and response</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Latency</a:t>
            </a:r>
            <a:r>
              <a:rPr b="0" i="0" lang="en-US" sz="1600">
                <a:solidFill>
                  <a:srgbClr val="25313C"/>
                </a:solidFill>
                <a:latin typeface="Arial"/>
                <a:ea typeface="Arial"/>
                <a:cs typeface="Arial"/>
                <a:sym typeface="Arial"/>
              </a:rPr>
              <a:t> is the time from a stimulus until a response begins. Sensory latency is the delay before neurons change their firing, and motor delay is the time for a command to reach the muscles. Each stage adds to the total time between a touch and a reaction.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the double-take analysis, a typical contact lasted about 25 ms. Prior cortical recordings placed tactile response onset near 12 ms, and Catania and Remple estimated about 5 ms for a motor command to reach the periphery. Double takes occurred in more than one-third of their feeding trials.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Latencies of this size are comparable to the 25 ms of a single touch. When the star leaves a contact before the decision to eat is complete, it reverses and returns, which produces the double take. The proposal is that fast sampling sometimes outruns the completed feeding decision.</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2">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Frame rate sets the timing resolution of video</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Frame rate</a:t>
            </a:r>
            <a:r>
              <a:rPr b="0" i="0" lang="en-US" sz="1500">
                <a:solidFill>
                  <a:srgbClr val="25313C"/>
                </a:solidFill>
                <a:latin typeface="Arial"/>
                <a:ea typeface="Arial"/>
                <a:cs typeface="Arial"/>
                <a:sym typeface="Arial"/>
              </a:rPr>
              <a:t> is the number of images that a camera records each second, and it sets the shortest event that a video record can resolve. A fast camera divides a brief movement into many successive images, whereas a slow camera collapses it into one or two.</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filmed feeding through a glass-bottom tunnel at 500 frames per second. Earthworm fragments supplied prey, and the transparent floor preserved a clear view of the star. Search movements lasted about 50 ms and touches about 25 ms, giving approximately 13 contacts per second.</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earlier work of Catania and Kaas used 30 frames per second, so those frame numbers identify successive observations. The 500 frames per second recording resolves individual touches and the movements between them, which allows contact time and search time to be measured separately.</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2026-10-08T20:22:14.307Z</dcterms:created>
  <dc:creator>Presenton</dc:creator>
</cp:coreProperties>
</file>