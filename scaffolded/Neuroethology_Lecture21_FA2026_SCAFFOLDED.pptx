
<file path=[Content_Types].xml><?xml version="1.0" encoding="utf-8"?>
<Types xmlns="http://schemas.openxmlformats.org/package/2006/content-types">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Lst>
  <p:notesMasterIdLst>
    <p:notesMasterId r:id="rId52"/>
  </p:notesMasterIdLst>
  <p:sldIdLst>
    <p:sldId id="256" r:id="rId2"/>
    <p:sldId id="257" r:id="rId3"/>
    <p:sldId id="258" r:id="rId4"/>
    <p:sldId id="315" r:id="rId66"/>
    <p:sldId id="259" r:id="rId5"/>
    <p:sldId id="260" r:id="rId6"/>
    <p:sldId id="261" r:id="rId7"/>
    <p:sldId id="314" r:id="rId65"/>
    <p:sldId id="262" r:id="rId8"/>
    <p:sldId id="263" r:id="rId9"/>
    <p:sldId id="264" r:id="rId10"/>
    <p:sldId id="313" r:id="rId64"/>
    <p:sldId id="265" r:id="rId11"/>
    <p:sldId id="266" r:id="rId12"/>
    <p:sldId id="267" r:id="rId13"/>
    <p:sldId id="312" r:id="rId63"/>
    <p:sldId id="268" r:id="rId14"/>
    <p:sldId id="269" r:id="rId15"/>
    <p:sldId id="270" r:id="rId16"/>
    <p:sldId id="311" r:id="rId62"/>
    <p:sldId id="271" r:id="rId17"/>
    <p:sldId id="272" r:id="rId18"/>
    <p:sldId id="273" r:id="rId19"/>
    <p:sldId id="310" r:id="rId61"/>
    <p:sldId id="274" r:id="rId20"/>
    <p:sldId id="275" r:id="rId21"/>
    <p:sldId id="276" r:id="rId22"/>
    <p:sldId id="309" r:id="rId60"/>
    <p:sldId id="277" r:id="rId23"/>
    <p:sldId id="278" r:id="rId24"/>
    <p:sldId id="279" r:id="rId25"/>
    <p:sldId id="308" r:id="rId59"/>
    <p:sldId id="280" r:id="rId26"/>
    <p:sldId id="281" r:id="rId27"/>
    <p:sldId id="282" r:id="rId28"/>
    <p:sldId id="307" r:id="rId58"/>
    <p:sldId id="283" r:id="rId29"/>
    <p:sldId id="284" r:id="rId30"/>
    <p:sldId id="285" r:id="rId31"/>
    <p:sldId id="306" r:id="rId57"/>
    <p:sldId id="286" r:id="rId32"/>
    <p:sldId id="287" r:id="rId33"/>
    <p:sldId id="288" r:id="rId34"/>
    <p:sldId id="305" r:id="rId56"/>
    <p:sldId id="289" r:id="rId35"/>
    <p:sldId id="290" r:id="rId36"/>
    <p:sldId id="291" r:id="rId37"/>
    <p:sldId id="304" r:id="rId55"/>
    <p:sldId id="292" r:id="rId38"/>
    <p:sldId id="293" r:id="rId39"/>
    <p:sldId id="294" r:id="rId40"/>
    <p:sldId id="303" r:id="rId54"/>
    <p:sldId id="295" r:id="rId41"/>
    <p:sldId id="296" r:id="rId42"/>
    <p:sldId id="297" r:id="rId43"/>
    <p:sldId id="302" r:id="rId53"/>
    <p:sldId id="298" r:id="rId44"/>
    <p:sldId id="299" r:id="rId45"/>
    <p:sldId id="300" r:id="rId46"/>
    <p:sldId id="301" r:id="rId47"/>
  </p:sldIdLst>
  <p:sldSz cx="12192000" cy="6858000"/>
  <p:notesSz cx="6858000" cy="9144000"/>
  <p:defaultTextStyle xmlns:a="http://schemas.openxmlformats.org/drawingml/2006/main">
    <a:defPPr>
      <a:defRP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4996" autoAdjust="0"/>
    <p:restoredTop sz="94660"/>
  </p:normalViewPr>
  <p:slideViewPr>
    <p:cSldViewPr>
      <p:cViewPr varScale="1">
        <p:scale>
          <a:sx n="90" d="100"/>
          <a:sy n="90" d="100"/>
        </p:scale>
        <p:origin x="1200" y="72"/>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presProps" Target="presProps.xml"/><Relationship Id="rId49" Type="http://schemas.openxmlformats.org/officeDocument/2006/relationships/viewProps" Target="viewProps.xml"/><Relationship Id="rId50" Type="http://schemas.openxmlformats.org/officeDocument/2006/relationships/theme" Target="theme/theme1.xml"/><Relationship Id="rId51" Type="http://schemas.openxmlformats.org/officeDocument/2006/relationships/tableStyles" Target="tableStyles.xml"/><Relationship Id="rId52" Type="http://schemas.openxmlformats.org/officeDocument/2006/relationships/notesMaster" Target="notesMasters/notesMaster1.xml"/><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slide" Target="slides/slide49.xml"/><Relationship Id="rId56" Type="http://schemas.openxmlformats.org/officeDocument/2006/relationships/slide" Target="slides/slide50.xml"/><Relationship Id="rId57" Type="http://schemas.openxmlformats.org/officeDocument/2006/relationships/slide" Target="slides/slide51.xml"/><Relationship Id="rId58" Type="http://schemas.openxmlformats.org/officeDocument/2006/relationships/slide" Target="slides/slide52.xml"/><Relationship Id="rId59" Type="http://schemas.openxmlformats.org/officeDocument/2006/relationships/slide" Target="slides/slide53.xml"/><Relationship Id="rId60" Type="http://schemas.openxmlformats.org/officeDocument/2006/relationships/slide" Target="slides/slide54.xml"/><Relationship Id="rId61" Type="http://schemas.openxmlformats.org/officeDocument/2006/relationships/slide" Target="slides/slide55.xml"/><Relationship Id="rId62" Type="http://schemas.openxmlformats.org/officeDocument/2006/relationships/slide" Target="slides/slide56.xml"/><Relationship Id="rId63" Type="http://schemas.openxmlformats.org/officeDocument/2006/relationships/slide" Target="slides/slide57.xml"/><Relationship Id="rId64" Type="http://schemas.openxmlformats.org/officeDocument/2006/relationships/slide" Target="slides/slide58.xml"/><Relationship Id="rId65" Type="http://schemas.openxmlformats.org/officeDocument/2006/relationships/slide" Target="slides/slide59.xml"/><Relationship Id="rId66" Type="http://schemas.openxmlformats.org/officeDocument/2006/relationships/slide" Target="slides/slide6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hf dt="0" hdr="0" ftr="0" sldNum="0"/>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600200"/>
            <a:ext cx="5486400" cy="3086100"/>
          </a:xfrm>
        </p:spPr>
      </p:sp>
      <p:sp>
        <p:nvSpPr>
          <p:cNvPr id="3" name="Notes Placeholder 1"/>
          <p:cNvSpPr>
            <a:spLocks noGrp="1"/>
          </p:cNvSpPr>
          <p:nvPr>
            <p:ph type="body" idx="1"/>
          </p:nvPr>
        </p:nvSpPr>
        <p:spPr>
          <a:xfrm>
            <a:off x="685800" y="4800600"/>
            <a:ext cx="5486400" cy="3600450"/>
          </a:xfrm>
        </p:spPr>
        <p:txBody>
          <a:bodyPr/>
          <a:lstStyle/>
          <a:p>
            <a:r>
              <a:rPr lang="en-US" dirty="0"/>
              <a:t>Electroreception II: active electrolocation in weakly electric fish (Bullock)
Wednesday, October 14, 2026
Photo: Elephantnose fish (Gnathonemus petersii). Jutta234, CC BY-SA 3.0.
Credit: Jutta234 / Wikimedia Commons
License: CC BY-SA 3.0
Source: https://commons.wikimedia.org/wiki/File:Gnathonemus_petersii_-_Zoo_Frankfurt.jpg</a:t>
            </a: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600200"/>
            <a:ext cx="5486400" cy="3086100"/>
          </a:xfrm>
        </p:spPr>
      </p:sp>
      <p:sp>
        <p:nvSpPr>
          <p:cNvPr id="3" name="Notes Placeholder 1"/>
          <p:cNvSpPr>
            <a:spLocks noGrp="1"/>
          </p:cNvSpPr>
          <p:nvPr>
            <p:ph type="body" idx="1"/>
          </p:nvPr>
        </p:nvSpPr>
        <p:spPr>
          <a:xfrm>
            <a:off x="685800" y="4800600"/>
            <a:ext cx="5486400" cy="3600450"/>
          </a:xfrm>
        </p:spPr>
        <p:txBody>
          <a:bodyPr/>
          <a:lstStyle/>
          <a:p>
            <a:r>
              <a:rPr lang="en-US" dirty="0"/>
              <a:t>Teaching transcript:
Active electrolocation is detection of nearby objects through changes in an electric field generated by the animal. The weakly electric elephantnose fish, Gnathonemus petersii, emits brief electric organ discharges, or EODs, and senses how surrounding objects alter the resulting current at its skin.
Von der Emde and colleagues trained fish to choose between three-dimensional objects using a two-alternative task. Recognition persisted in complete darkness, including tests of size and rotation, establishing that visible appearance was unnecessary under these conditions.
The behavior concerns near-field sensing rather than a long-range image of the environment. Object recognition failed beyond approximately 4 cm in the tested tasks, even though physical electric fields extend farther.
A two-alternative choice measures which of two objects the animal selects. Accurate choice in darkness establishes a nonvisual capacity under the controlled task conditions.
References:
G. von der Emde; K. Behr; B. Bouton; J. Engelmann; S. Fetz; C. Folde (2010). 3-Dimensional scene perception during active electrolocation in a weakly electric pulse fish. Frontiers in Behavioral Neuroscience 4:26. https://doi.org/10.3389/fnbeh.2010.00026
von der Emde et al. (2010), Fig. 1(A–B). Object-choice apparatus and experimental manipulations.
Figure source: https://doi.org/10.3389/fnbeh.2010.00026</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600200"/>
            <a:ext cx="5486400" cy="3086100"/>
          </a:xfrm>
        </p:spPr>
      </p:sp>
      <p:sp>
        <p:nvSpPr>
          <p:cNvPr id="3" name="Notes Placeholder 1"/>
          <p:cNvSpPr>
            <a:spLocks noGrp="1"/>
          </p:cNvSpPr>
          <p:nvPr>
            <p:ph type="body" idx="1"/>
          </p:nvPr>
        </p:nvSpPr>
        <p:spPr>
          <a:xfrm>
            <a:off x="685800" y="4800600"/>
            <a:ext cx="5486400" cy="3600450"/>
          </a:xfrm>
        </p:spPr>
        <p:txBody>
          <a:bodyPr/>
          <a:lstStyle/>
          <a:p>
            <a:r>
              <a:rPr lang="en-US" dirty="0"/>
              <a:t>Teaching transcript:
An electric image is the spatial pattern of object-induced change in current across the fish’s skin. An object whose conductivity differs from the surrounding water changes the local electric field; the pattern therefore depends on both the object and the fish’s position.
Hofmann and colleagues recorded spontaneous approaches to metal cubes and reconstructed electric images with a biophysical model. Their comparison of object-present and object-absent conditions isolated the perturbation attributable to the object along the sensory surface.
The reconstructed images changed over successive discharges during approach. These are model-based estimates constrained by measured behavior, rather than direct recordings from every receptor, and they do not establish a one-to-one copy of object geometry.
Conductivity describes how readily a material carries electric current. The reconstruction compared otherwise matched simulated scenes with and without the object.
References:
V. Hofmann; J.I. Sanguinetti-Scheck; L. Gómez-Sena; J. Engelmann (2017). Sensory Flow as a Basis for a Novel Distance Cue in Freely Behaving Electric Fish. Journal of Neuroscience 37(2):302–312. https://doi.org/10.1523/JNEUROSCI.1361-16.2016
Hofmann et al. (2017), Fig. 2(A–G). Published reconstruction of electric images during approach.
Figure source: https://doi.org/10.1523/JNEUROSCI.1361-16.2016</a:t>
            </a: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600200"/>
            <a:ext cx="5486400" cy="3086100"/>
          </a:xfrm>
        </p:spPr>
      </p:sp>
      <p:sp>
        <p:nvSpPr>
          <p:cNvPr id="3" name="Notes Placeholder 1"/>
          <p:cNvSpPr>
            <a:spLocks noGrp="1"/>
          </p:cNvSpPr>
          <p:nvPr>
            <p:ph type="body" idx="1"/>
          </p:nvPr>
        </p:nvSpPr>
        <p:spPr>
          <a:xfrm>
            <a:off x="685800" y="4800600"/>
            <a:ext cx="5486400" cy="3600450"/>
          </a:xfrm>
        </p:spPr>
        <p:txBody>
          <a:bodyPr/>
          <a:lstStyle/>
          <a:p>
            <a:r>
              <a:rPr lang="en-US" dirty="0"/>
              <a:t>Teaching transcript:
Generalization is preservation of a learned response when conditions differ from training. Von der Emde and colleagues trained an elephantnose fish to recognize a compound object consisting of a cone with a sphere above it while varying the alternative object across trials.
After approximately three months of training, the fish preferred the rewarded object against both familiar alternatives and two previously unfamiliar objects. Test trials were neither rewarded nor punished, reducing the possibility that the test itself taught each new comparison.
Recognition therefore did not require memorizing one fixed pair. The experiment supports identification of features associated with the positive object, while leaving open which combination of electrical and movement-dependent cues supplied those features.
The positive object is the rewarded training stimulus, conventionally S+. The negative object, S−, is the alternative; changing S− tests whether learning extends beyond one stimulus pair.
References:
G. von der Emde; K. Behr; B. Bouton; J. Engelmann; S. Fetz; C. Folde (2010). 3-Dimensional scene perception during active electrolocation in a weakly electric pulse fish. Frontiers in Behavioral Neuroscience 4:26. https://doi.org/10.3389/fnbeh.2010.00026
von der Emde et al. (2010), Fig. 2. Recognition with familiar and novel negative objects.
Figure source: https://doi.org/10.3389/fnbeh.2010.00026</a:t>
            </a: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600200"/>
            <a:ext cx="5486400" cy="3086100"/>
          </a:xfrm>
        </p:spPr>
      </p:sp>
      <p:sp>
        <p:nvSpPr>
          <p:cNvPr id="3" name="Notes Placeholder 1"/>
          <p:cNvSpPr>
            <a:spLocks noGrp="1"/>
          </p:cNvSpPr>
          <p:nvPr>
            <p:ph type="body" idx="1"/>
          </p:nvPr>
        </p:nvSpPr>
        <p:spPr>
          <a:xfrm>
            <a:off x="685800" y="4800600"/>
            <a:ext cx="5486400" cy="3600450"/>
          </a:xfrm>
        </p:spPr>
        <p:txBody>
          <a:bodyPr/>
          <a:lstStyle/>
          <a:p>
            <a:r>
              <a:rPr lang="en-US" dirty="0"/>
              <a:t>Teaching transcript:
A component cue is an identifiable part of a larger object that can contribute to recognition. The compound training object contained a sphere, a cone, and a narrow junction, allowing von der Emde and colleagues to test parts separately against novel alternatives.
The sphere preserved much of the preference obtained with the intact object. The cone produced lower choice frequencies, approximately 70% or 59% depending on the alternative, and a stimulus mimicking the narrow junction also reduced recognition.
The parts were therefore not equally effective. These results support selective use of learned object features, but do not identify a neuron representing a sphere or demonstrate that one part alone explains every recognition condition.
Removing a component changes the current pattern available to the animal. Part-based behavioral recognition should not be equated with a directly measured neural representation of that part.
References:
G. von der Emde; K. Behr; B. Bouton; J. Engelmann; S. Fetz; C. Folde (2010). 3-Dimensional scene perception during active electrolocation in a weakly electric pulse fish. Frontiers in Behavioral Neuroscience 4:26. https://doi.org/10.3389/fnbeh.2010.00026
von der Emde et al. (2010), Fig. 3(A–B). Choices for the compound object and its components.
Figure source: https://doi.org/10.3389/fnbeh.2010.00026</a:t>
            </a: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600200"/>
            <a:ext cx="5486400" cy="3086100"/>
          </a:xfrm>
        </p:spPr>
      </p:sp>
      <p:sp>
        <p:nvSpPr>
          <p:cNvPr id="3" name="Notes Placeholder 1"/>
          <p:cNvSpPr>
            <a:spLocks noGrp="1"/>
          </p:cNvSpPr>
          <p:nvPr>
            <p:ph type="body" idx="1"/>
          </p:nvPr>
        </p:nvSpPr>
        <p:spPr>
          <a:xfrm>
            <a:off x="685800" y="4800600"/>
            <a:ext cx="5486400" cy="3600450"/>
          </a:xfrm>
        </p:spPr>
        <p:txBody>
          <a:bodyPr/>
          <a:lstStyle/>
          <a:p>
            <a:r>
              <a:rPr lang="en-US" dirty="0"/>
              <a:t>Teaching transcript:
Size constancy means identifying physical object size despite changes in the sensory image caused by distance. Von der Emde and colleagues trained a fish to choose a smaller cube rather than a larger cube, initially placing them 2 cm and 3 cm from the gates, respectively.
The distances of the cubes were then varied independently. The fish continued to prefer the smaller cube across distance combinations, with useful performance extending to approximately 4 cm. Control tests in darkness preserved the size discrimination.
Measured image diameter increased when a small cube moved farther away, so image width alone did not preserve physical size. The behavior supports compensation for distance-dependent sensory changes, without identifying the complete neural computation that produces the compensation.
The distance manipulation prevents a fixed image-intensity rule from consistently matching the rewarded physical size. Size constancy is a behavioral property, not proof of a particular distance estimator.
References:
G. von der Emde; K. Behr; B. Bouton; J. Engelmann; S. Fetz; C. Folde (2010). 3-Dimensional scene perception during active electrolocation in a weakly electric pulse fish. Frontiers in Behavioral Neuroscience 4:26. https://doi.org/10.3389/fnbeh.2010.00026
von der Emde et al. (2010), Fig. 4(A–B). Size-constancy tests across object-distance combinations.
Figure source: https://doi.org/10.3389/fnbeh.2010.00026</a:t>
            </a: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600200"/>
            <a:ext cx="5486400" cy="3086100"/>
          </a:xfrm>
        </p:spPr>
      </p:sp>
      <p:sp>
        <p:nvSpPr>
          <p:cNvPr id="3" name="Notes Placeholder 1"/>
          <p:cNvSpPr>
            <a:spLocks noGrp="1"/>
          </p:cNvSpPr>
          <p:nvPr>
            <p:ph type="body" idx="1"/>
          </p:nvPr>
        </p:nvSpPr>
        <p:spPr>
          <a:xfrm>
            <a:off x="685800" y="4800600"/>
            <a:ext cx="5486400" cy="3600450"/>
          </a:xfrm>
        </p:spPr>
        <p:txBody>
          <a:bodyPr/>
          <a:lstStyle/>
          <a:p>
            <a:r>
              <a:rPr lang="en-US" dirty="0"/>
              <a:t>Teaching transcript:
Rotation invariance is recognition that persists when an object changes orientation in space. Von der Emde and colleagues rotated trained objects through several angles while preserving the choice task, thereby changing the electrical patterns generated during inspection.
A fish trained with the compound object continued to identify it across tested rotations; another trained to choose a pyramid over a cube retained at least 80% correct choices across the tested combinations. Dark-condition controls supported an electrosensory basis for the latter performance.
Other object pairs produced stronger rotation-dependent effects. The findings establish a capacity for orientation-tolerant recognition, while cautioning against treating every fish or learned comparison as equally invariant. The specific geometry and acquired cues remain relevant.
An invariant behavior remains stable across a defined transformation. That does not require all receptor signals to remain unchanged; the transformed input can still support the same object choice.
References:
G. von der Emde; K. Behr; B. Bouton; J. Engelmann; S. Fetz; C. Folde (2010). 3-Dimensional scene perception during active electrolocation in a weakly electric pulse fish. Frontiers in Behavioral Neuroscience 4:26. https://doi.org/10.3389/fnbeh.2010.00026
von der Emde et al. (2010), Fig. 5(A–C). Recognition after rotating positive and negative objects.
Figure source: https://doi.org/10.3389/fnbeh.2010.00026</a:t>
            </a: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600200"/>
            <a:ext cx="5486400" cy="3086100"/>
          </a:xfrm>
        </p:spPr>
      </p:sp>
      <p:sp>
        <p:nvSpPr>
          <p:cNvPr id="3" name="Notes Placeholder 1"/>
          <p:cNvSpPr>
            <a:spLocks noGrp="1"/>
          </p:cNvSpPr>
          <p:nvPr>
            <p:ph type="body" idx="1"/>
          </p:nvPr>
        </p:nvSpPr>
        <p:spPr>
          <a:xfrm>
            <a:off x="685800" y="4800600"/>
            <a:ext cx="5486400" cy="3600450"/>
          </a:xfrm>
        </p:spPr>
        <p:txBody>
          <a:bodyPr/>
          <a:lstStyle/>
          <a:p>
            <a:r>
              <a:rPr lang="en-US" dirty="0"/>
              <a:t>Teaching transcript:
The recognition range is the distance over which an animal can identify a tested object reliably. Von der Emde and colleagues moved metal objects from 1 to 8 cm away from a grid that prevented fish from approaching closer before making their choices.
Performance declined with increasing distance, and the tested shape and size discriminations failed beyond approximately 4 cm. The grid maintained a defined minimum inspection distance rather than allowing the fish to solve every trial by moving directly beside the object.
An electric field can still be physically present beyond this behavioral range. Recognition depends on the usable object-induced perturbation, sensory noise, and the task, so this result should not be interpreted as a universal boundary for all electrosensory detection.
Detection asks whether an object is present; recognition asks which object it is. Their distance limits need not coincide because identification requires additional discriminating information.
References:
G. von der Emde; K. Behr; B. Bouton; J. Engelmann; S. Fetz; C. Folde (2010). 3-Dimensional scene perception during active electrolocation in a weakly electric pulse fish. Frontiers in Behavioral Neuroscience 4:26. https://doi.org/10.3389/fnbeh.2010.00026
von der Emde et al. (2010), Fig. 7(A–B). Choice performance as object distance increases.
Figure source: https://doi.org/10.3389/fnbeh.2010.00026</a:t>
            </a: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600200"/>
            <a:ext cx="5486400" cy="3086100"/>
          </a:xfrm>
        </p:spPr>
      </p:sp>
      <p:sp>
        <p:nvSpPr>
          <p:cNvPr id="3" name="Notes Placeholder 1"/>
          <p:cNvSpPr>
            <a:spLocks noGrp="1"/>
          </p:cNvSpPr>
          <p:nvPr>
            <p:ph type="body" idx="1"/>
          </p:nvPr>
        </p:nvSpPr>
        <p:spPr>
          <a:xfrm>
            <a:off x="685800" y="4800600"/>
            <a:ext cx="5486400" cy="3600450"/>
          </a:xfrm>
        </p:spPr>
        <p:txBody>
          <a:bodyPr/>
          <a:lstStyle/>
          <a:p>
            <a:r>
              <a:rPr lang="en-US" dirty="0"/>
              <a:t>Teaching transcript:
Active sensing includes movements and emission patterns that alter the sensory information acquired by an animal. Hofmann and colleagues tracked spontaneous approaches of elephantnose fish to objects while recording EOD timing in water with conductivity near 100 µS/cm.
As fish approached, thrust decreased while discharge activity and spatial sampling density increased. The fish also became more directly aligned with the object and adopted straighter postures, linking the geometry of inspection to the sequence of electric samples.
These are coordinated behavioral changes rather than a demonstration of one controlling neural pathway. They establish that natural electrolocation input is sampled through changing movements and pulse intervals; a stationary stimulus sequence cannot reproduce every aspect of this sensory situation.
Spatial sampling density is the number of electric discharges per distance traveled. It depends jointly on emission timing and swimming speed.
References:
V. Hofmann; J.I. Sanguinetti-Scheck; L. Gómez-Sena; J. Engelmann (2017). Sensory Flow as a Basis for a Novel Distance Cue in Freely Behaving Electric Fish. Journal of Neuroscience 37(2):302–312. https://doi.org/10.1523/JNEUROSCI.1361-16.2016
Hofmann et al. (2017), Fig. 1(A–F). Measured movement and discharge patterns during approaches.
Figure source: https://doi.org/10.1523/JNEUROSCI.1361-16.2016</a:t>
            </a: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600200"/>
            <a:ext cx="5486400" cy="3086100"/>
          </a:xfrm>
        </p:spPr>
      </p:sp>
      <p:sp>
        <p:nvSpPr>
          <p:cNvPr id="3" name="Notes Placeholder 1"/>
          <p:cNvSpPr>
            <a:spLocks noGrp="1"/>
          </p:cNvSpPr>
          <p:nvPr>
            <p:ph type="body" idx="1"/>
          </p:nvPr>
        </p:nvSpPr>
        <p:spPr>
          <a:xfrm>
            <a:off x="685800" y="4800600"/>
            <a:ext cx="5486400" cy="3600450"/>
          </a:xfrm>
        </p:spPr>
        <p:txBody>
          <a:bodyPr/>
          <a:lstStyle/>
          <a:p>
            <a:r>
              <a:rPr lang="en-US" dirty="0"/>
              <a:t>Teaching transcript:
Electrosensory flow is the change in electric input across successive samples as the fish moves relative to objects. Hofmann and colleagues combined measured approach trajectories with a model that reconstructed object-induced current along the fish’s sensory surface.
Successive images changed in amplitude and spatial position. The reconstructed scene therefore supplied both the current electric pattern and its recent history, while measured posture determined which receptors were positioned near the strongest perturbation.
The study did not record the proposed flow signal from a dedicated neuronal population. Its established contribution is a behaviorally constrained description of available information; using that information for object distance remains a mechanistic proposal requiring direct neural or behavioral manipulation.
The reconstruction omitted some three-dimensional postural variables, including pitch and roll. Consequently, modeled input variability need not include every fluctuation encountered by a freely swimming fish.
References:
V. Hofmann; J.I. Sanguinetti-Scheck; L. Gómez-Sena; J. Engelmann (2017). Sensory Flow as a Basis for a Novel Distance Cue in Freely Behaving Electric Fish. Journal of Neuroscience 37(2):302–312. https://doi.org/10.1523/JNEUROSCI.1361-16.2016
Hofmann et al. (2017), Fig. 2(A–G). Spatiotemporal electric-image structure during natural behavior.
Figure source: https://doi.org/10.1523/JNEUROSCI.1361-16.2016</a:t>
            </a: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600200"/>
            <a:ext cx="5486400" cy="3086100"/>
          </a:xfrm>
        </p:spPr>
      </p:sp>
      <p:sp>
        <p:nvSpPr>
          <p:cNvPr id="3" name="Notes Placeholder 1"/>
          <p:cNvSpPr>
            <a:spLocks noGrp="1"/>
          </p:cNvSpPr>
          <p:nvPr>
            <p:ph type="body" idx="1"/>
          </p:nvPr>
        </p:nvSpPr>
        <p:spPr>
          <a:xfrm>
            <a:off x="685800" y="4800600"/>
            <a:ext cx="5486400" cy="3600450"/>
          </a:xfrm>
        </p:spPr>
        <p:txBody>
          <a:bodyPr/>
          <a:lstStyle/>
          <a:p>
            <a:r>
              <a:rPr lang="en-US" dirty="0"/>
              <a:t>Teaching transcript:
A static distance cue is information available within one sensory sample. Electric-image blur changes with object distance, and the slope-to-amplitude ratio summarizes a spatial property of that image. Hofmann and colleagues evaluated this measure during spontaneous approaches.
The measure varied with distance, but natural changes in posture and body curvature introduced substantial variability. Comparisons with controlled straight approaches separated distance-related structure from variation produced by inspection geometry.
This result does not make static cues unusable. It limits the reliability of a single spatial measurement under the tested natural behaviors and motivates examining information distributed across successive samples, without demonstrating that the fish abandons static cues altogether.
Blur refers to the broadening of the electric pattern across the skin. A spatial ratio can reduce some dependence on amplitude while remaining affected by posture and sampling geometry.
References:
V. Hofmann; J.I. Sanguinetti-Scheck; L. Gómez-Sena; J. Engelmann (2017). Sensory Flow as a Basis for a Novel Distance Cue in Freely Behaving Electric Fish. Journal of Neuroscience 37(2):302–312. https://doi.org/10.1523/JNEUROSCI.1361-16.2016
Hofmann et al. (2017), Fig. 3(A–B). Static distance cue during natural approaches and simulations.
Figure source: https://doi.org/10.1523/JNEUROSCI.1361-16.2016</a:t>
            </a: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600200"/>
            <a:ext cx="5486400" cy="3086100"/>
          </a:xfrm>
        </p:spPr>
      </p:sp>
      <p:sp>
        <p:nvSpPr>
          <p:cNvPr id="3" name="Notes Placeholder 1"/>
          <p:cNvSpPr>
            <a:spLocks noGrp="1"/>
          </p:cNvSpPr>
          <p:nvPr>
            <p:ph type="body" idx="1"/>
          </p:nvPr>
        </p:nvSpPr>
        <p:spPr>
          <a:xfrm>
            <a:off x="685800" y="4800600"/>
            <a:ext cx="5486400" cy="3600450"/>
          </a:xfrm>
        </p:spPr>
        <p:txBody>
          <a:bodyPr/>
          <a:lstStyle/>
          <a:p>
            <a:r>
              <a:rPr lang="en-US" dirty="0"/>
              <a:t>Teaching transcript:
A relative gradient expresses how rapidly electric-image amplitude changes during movement relative to the current amplitude. Hofmann and colleagues reconstructed approaches to differently sized metal cubes and compared absolute image amplitude with this movement-dependent measure.
Absolute amplitude depended strongly on object size. The relative-gradient curves overlapped much more closely across sizes, preserving a systematic relationship with distance. Near the objects, naturally adapted sampling also supplied more measurements than a comparison using unadapted emission and movement patterns.
The finding establishes a candidate cue in the reconstructed sensory input. It does not prove that the fish explicitly divides neuronal signals or that the relative gradient alone explains behavioral distance judgments; the required movement estimate and neural implementation were not directly measured.
Normalizing a change by the current signal can reduce scale differences across objects. The paper evaluates this operation within its reconstruction, rather than demonstrating a particular cellular arithmetic mechanism.
References:
V. Hofmann; J.I. Sanguinetti-Scheck; L. Gómez-Sena; J. Engelmann (2017). Sensory Flow as a Basis for a Novel Distance Cue in Freely Behaving Electric Fish. Journal of Neuroscience 37(2):302–312. https://doi.org/10.1523/JNEUROSCI.1361-16.2016
Hofmann et al. (2017), Fig. 4(A–D). Amplitude, relative gradient, and sampling during approach.
Figure source: https://doi.org/10.1523/JNEUROSCI.1361-16.2016</a:t>
            </a: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600200"/>
            <a:ext cx="5486400" cy="3086100"/>
          </a:xfrm>
        </p:spPr>
      </p:sp>
      <p:sp>
        <p:nvSpPr>
          <p:cNvPr id="3" name="Notes Placeholder 1"/>
          <p:cNvSpPr>
            <a:spLocks noGrp="1"/>
          </p:cNvSpPr>
          <p:nvPr>
            <p:ph type="body" idx="1"/>
          </p:nvPr>
        </p:nvSpPr>
        <p:spPr>
          <a:xfrm>
            <a:off x="685800" y="4800600"/>
            <a:ext cx="5486400" cy="3600450"/>
          </a:xfrm>
        </p:spPr>
        <p:txBody>
          <a:bodyPr/>
          <a:lstStyle/>
          <a:p>
            <a:r>
              <a:rPr lang="en-US" dirty="0"/>
              <a:t>Teaching transcript:
Cue invariance is reduced sensitivity to an irrelevant property while retaining information about the property being estimated. Hofmann and colleagues simulated straight approaches to cubes and spheres with characteristic dimensions of 1, 2, and 3 cm, and varied electrical material properties.
Absolute image amplitude changed markedly with size, shape, and conductivity. Relative-gradient curves overlapped across these modeled conditions, suggesting that distance information could survive changes that strongly alter the absolute signal.
These particular comparisons are simulations, not independent discrimination experiments with every modeled object. They specify the conditions under which the proposed cue is robust, while leaving unresolved whether biological receptor noise, real posture, or additional environmental objects would preserve the same degree of invariance.
A result from a published model remains model evidence. It can establish what information the modeled physics contains without proving how an animal reads that information.
References:
V. Hofmann; J.I. Sanguinetti-Scheck; L. Gómez-Sena; J. Engelmann (2017). Sensory Flow as a Basis for a Novel Distance Cue in Freely Behaving Electric Fish. Journal of Neuroscience 37(2):302–312. https://doi.org/10.1523/JNEUROSCI.1361-16.2016
Hofmann et al. (2017), Fig. 5(A–D). Published simulations across object size, shape, and material.
Figure source: https://doi.org/10.1523/JNEUROSCI.1361-16.2016</a:t>
            </a: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600200"/>
            <a:ext cx="5486400" cy="3086100"/>
          </a:xfrm>
        </p:spPr>
      </p:sp>
      <p:sp>
        <p:nvSpPr>
          <p:cNvPr id="3" name="Notes Placeholder 1"/>
          <p:cNvSpPr>
            <a:spLocks noGrp="1"/>
          </p:cNvSpPr>
          <p:nvPr>
            <p:ph type="body" idx="1"/>
          </p:nvPr>
        </p:nvSpPr>
        <p:spPr>
          <a:xfrm>
            <a:off x="685800" y="4800600"/>
            <a:ext cx="5486400" cy="3600450"/>
          </a:xfrm>
        </p:spPr>
        <p:txBody>
          <a:bodyPr/>
          <a:lstStyle/>
          <a:p>
            <a:r>
              <a:rPr lang="en-US" dirty="0"/>
              <a:t>Teaching transcript:
A local amplitude is the object-induced signal measured at a particular point on the sensory surface. Hofmann and colleagues simulated a straight approach to a metal cube with volume 8 cm³ and compared estimates at different positions along the fish’s body.
The local amplitudes differed across positions, while their relative gradients overlapped more closely when distance was expressed relative to the receptor location. The proposed distance information was therefore less tied to one specially selected point on the skin.
This is a property of the tested reconstruction rather than proof that all receptors encode distance identically. Different receptor properties and central readout mechanisms could still weight body regions differently, and the simulation does not establish a uniform neuronal representation of distance.
The object-to-head distance and the object-to-receptor distance differ for receptors distributed along the body. Distinguishing these references prevents a geometric shift from being mistaken for a change in cue meaning.
References:
V. Hofmann; J.I. Sanguinetti-Scheck; L. Gómez-Sena; J. Engelmann (2017). Sensory Flow as a Basis for a Novel Distance Cue in Freely Behaving Electric Fish. Journal of Neuroscience 37(2):302–312. https://doi.org/10.1523/JNEUROSCI.1361-16.2016
Hofmann et al. (2017), Fig. 6(A–B). Modeled local amplitudes and relative gradients along the skin.
Figure source: https://doi.org/10.1523/JNEUROSCI.1361-16.2016</a:t>
            </a: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600200"/>
            <a:ext cx="5486400" cy="3086100"/>
          </a:xfrm>
        </p:spPr>
      </p:sp>
      <p:sp>
        <p:nvSpPr>
          <p:cNvPr id="3" name="Notes Placeholder 1"/>
          <p:cNvSpPr>
            <a:spLocks noGrp="1"/>
          </p:cNvSpPr>
          <p:nvPr>
            <p:ph type="body" idx="1"/>
          </p:nvPr>
        </p:nvSpPr>
        <p:spPr>
          <a:xfrm>
            <a:off x="685800" y="4800600"/>
            <a:ext cx="5486400" cy="3600450"/>
          </a:xfrm>
        </p:spPr>
        <p:txBody>
          <a:bodyPr/>
          <a:lstStyle/>
          <a:p>
            <a:r>
              <a:rPr lang="en-US" dirty="0"/>
              <a:t>Teaching transcript:
Hofmann and colleagues compared the discriminability of reconstructed relative-gradient values with that of the static image measure. Both were evaluated against a distant reference condition, preserving a common basis for judging when object-related information emerged from variability.
Under the paper’s defined detection criterion, the relative gradient reached the criterion at approximately 6 cm, whereas the static measure reached it at approximately 3 cm. The dynamic measure also provided finer modeled distance resolution at longer distances.
These values describe cue analysis, not directly observed neural thresholds or behavioral recognition limits. They can coexist with the roughly 4 cm object-recognition range measured in different choice tasks, because identifying shape and extracting a distance-related signal are distinct experimental demands.
The published comparison uses distributions of reconstructed cue values. Its distance estimates should not be relabeled as measured detection thresholds of the fish.
References:
V. Hofmann; J.I. Sanguinetti-Scheck; L. Gómez-Sena; J. Engelmann (2017). Sensory Flow as a Basis for a Novel Distance Cue in Freely Behaving Electric Fish. Journal of Neuroscience 37(2):302–312. https://doi.org/10.1523/JNEUROSCI.1361-16.2016
Hofmann et al. (2017), Fig. 7(A–D). Comparison of reconstructed dynamic and static distance cues.
Figure source: https://doi.org/10.1523/JNEUROSCI.1361-16.2016</a:t>
            </a: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600200"/>
            <a:ext cx="5486400" cy="3086100"/>
          </a:xfrm>
        </p:spPr>
      </p:sp>
      <p:sp>
        <p:nvSpPr>
          <p:cNvPr id="3" name="Notes Placeholder 1"/>
          <p:cNvSpPr>
            <a:spLocks noGrp="1"/>
          </p:cNvSpPr>
          <p:nvPr>
            <p:ph type="body" idx="1"/>
          </p:nvPr>
        </p:nvSpPr>
        <p:spPr>
          <a:xfrm>
            <a:off x="685800" y="4800600"/>
            <a:ext cx="5486400" cy="3600450"/>
          </a:xfrm>
        </p:spPr>
        <p:txBody>
          <a:bodyPr/>
          <a:lstStyle/>
          <a:p>
            <a:r>
              <a:rPr lang="en-US" dirty="0"/>
              <a:t>Teaching transcript:
Electrical transparency means that an object produces little discriminating electrical contrast against the surrounding water. Schumacher and colleagues used colored agarose objects with conductivity close to the tank water to supply visible shapes while reducing active electrolocation cues.
A 3 cm sphere served as the rewarded object, and a cross or cuboid served as the alternative. Metal objects supplied electric contrast; opaque, electrically transparent covers reduced visible shape differences in electric-only conditions. Objects were placed 1 cm behind the gates.
The material and lighting manipulations separated sensory availability while preserving the choice format. Their interpretation depended on control tests of electrical and lateral-line cues, rather than assuming that darkness or matched conductivity automatically isolates every possible sensory contribution.
Agarose is a gel whose conductivity can be adjusted. Matching its measured electrical resistance to water reduced the contrast that an active electric image would otherwise provide.
References:
S. Schumacher; T. Burt de Perera; G. von der Emde (2017). Electrosensory capture during multisensory discrimination of nearby objects in the weakly electric fish Gnathonemus petersii. Scientific Reports 7:43665. https://doi.org/10.1038/srep43665
Schumacher et al. (2017), Fig. 2(a–c). Objects used for multisensory and single-sense conditions.
Figure source: https://doi.org/10.1038/srep43665</a:t>
            </a: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600200"/>
            <a:ext cx="5486400" cy="3086100"/>
          </a:xfrm>
        </p:spPr>
      </p:sp>
      <p:sp>
        <p:nvSpPr>
          <p:cNvPr id="3" name="Notes Placeholder 1"/>
          <p:cNvSpPr>
            <a:spLocks noGrp="1"/>
          </p:cNvSpPr>
          <p:nvPr>
            <p:ph type="body" idx="1"/>
          </p:nvPr>
        </p:nvSpPr>
        <p:spPr>
          <a:xfrm>
            <a:off x="685800" y="4800600"/>
            <a:ext cx="5486400" cy="3600450"/>
          </a:xfrm>
        </p:spPr>
        <p:txBody>
          <a:bodyPr/>
          <a:lstStyle/>
          <a:p>
            <a:r>
              <a:rPr lang="en-US" dirty="0"/>
              <a:t>Teaching transcript:
Task acquisition is the development of the learned choice during training. Schumacher and colleagues trained elephantnose fish with both senses, electric information alone, or visual information alone, using a criterion above 75% correct choices on three consecutive training days.
Mean training durations were about 12.5 days with both senses, 16.2 days with electric input, and 31.5 days with visual input in intact fish. Electrically silenced fish learned the visual task in about 6 days under the tested conditions.
The manipulation links emission and sensory context to learning behavior. It does not establish a universal ranking of learning speed across modalities, because experience, available cues, and the near-field object task all constrain the comparison.
Electrically silenced fish could not emit their normal sensing pulses. Their visual learning outcome helps separate an effect of electric-sense conflict from a general inability to learn visually.
References:
S. Schumacher; T. Burt de Perera; G. von der Emde (2017). Electrosensory capture during multisensory discrimination of nearby objects in the weakly electric fish Gnathonemus petersii. Scientific Reports 7:43665. https://doi.org/10.1038/srep43665
Schumacher et al. (2017), Fig. 3. Training duration under different sensory conditions.
Figure source: https://doi.org/10.1038/srep43665</a:t>
            </a: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600200"/>
            <a:ext cx="5486400" cy="3086100"/>
          </a:xfrm>
        </p:spPr>
      </p:sp>
      <p:sp>
        <p:nvSpPr>
          <p:cNvPr id="3" name="Notes Placeholder 1"/>
          <p:cNvSpPr>
            <a:spLocks noGrp="1"/>
          </p:cNvSpPr>
          <p:nvPr>
            <p:ph type="body" idx="1"/>
          </p:nvPr>
        </p:nvSpPr>
        <p:spPr>
          <a:xfrm>
            <a:off x="685800" y="4800600"/>
            <a:ext cx="5486400" cy="3600450"/>
          </a:xfrm>
        </p:spPr>
        <p:txBody>
          <a:bodyPr/>
          <a:lstStyle/>
          <a:p>
            <a:r>
              <a:rPr lang="en-US" dirty="0"/>
              <a:t>Teaching transcript:
Asymptotic performance is the relatively stable accuracy reached after a task has been learned. Schumacher and colleagues compared trained fish under conditions permitting both vision and electrolocation, electrolocation alone, or vision alone, while maintaining the same rewarded-object choice.
Accuracy reached at least 84% in every group. The combined-sense group averaged approximately 94.5% correct choices, exceeding the visual-only accuracy in intact fish. The objects remained close, approximately 1 cm behind the inspection gates.
The result supports a benefit of combined sensory information in this task. It does not establish that every improvement reflects statistically optimal fusion, nor does it identify where in the brain the two modalities converge to influence the choice.
Training duration and final accuracy describe different aspects of behavior. A modality can support successful discrimination while producing a different acquisition rate or final performance level.
References:
S. Schumacher; T. Burt de Perera; G. von der Emde (2017). Electrosensory capture during multisensory discrimination of nearby objects in the weakly electric fish Gnathonemus petersii. Scientific Reports 7:43665. https://doi.org/10.1038/srep43665
Schumacher et al. (2017), Fig. 4. Accuracy after training under different sensory conditions.
Figure source: https://doi.org/10.1038/srep43665</a:t>
            </a: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600200"/>
            <a:ext cx="5486400" cy="3086100"/>
          </a:xfrm>
        </p:spPr>
      </p:sp>
      <p:sp>
        <p:nvSpPr>
          <p:cNvPr id="3" name="Notes Placeholder 1"/>
          <p:cNvSpPr>
            <a:spLocks noGrp="1"/>
          </p:cNvSpPr>
          <p:nvPr>
            <p:ph type="body" idx="1"/>
          </p:nvPr>
        </p:nvSpPr>
        <p:spPr>
          <a:xfrm>
            <a:off x="685800" y="4800600"/>
            <a:ext cx="5486400" cy="3600450"/>
          </a:xfrm>
        </p:spPr>
        <p:txBody>
          <a:bodyPr/>
          <a:lstStyle/>
          <a:p>
            <a:r>
              <a:rPr lang="en-US" dirty="0"/>
              <a:t>Teaching transcript:
Electrosensory capture is dominance of electric information over conflicting visual information in a perceptual task. Schumacher and colleagues trained fish with electrically conspicuous metal objects and then tested choices with electric-only or visual-only information available.
At the short inspection distance of 1 cm, electric information strongly supported the trained discrimination, while removing discriminating electric cues could impair use of visual shape. The result depends on the specific near-field task and the animal’s training history.
Dominance is therefore conditional rather than a permanent absence of visual competence. The behavioral tests measure the sensory information controlling choice; they do not directly reveal a synaptic weight, receptor suppression, or a dedicated multisensory neuron.
The term sensory weighting describes the contribution of each modality to the observable decision. A behavioral weight should not be treated as a measured molecular or synaptic parameter.
References:
S. Schumacher; T. Burt de Perera; G. von der Emde (2017). Electrosensory capture during multisensory discrimination of nearby objects in the weakly electric fish Gnathonemus petersii. Scientific Reports 7:43665. https://doi.org/10.1038/srep43665
Schumacher et al. (2017), Fig. 5. Multisensory training followed by single-sense tests.
Figure source: https://doi.org/10.1038/srep43665</a:t>
            </a: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600200"/>
            <a:ext cx="5486400" cy="3086100"/>
          </a:xfrm>
        </p:spPr>
      </p:sp>
      <p:sp>
        <p:nvSpPr>
          <p:cNvPr id="3" name="Notes Placeholder 1"/>
          <p:cNvSpPr>
            <a:spLocks noGrp="1"/>
          </p:cNvSpPr>
          <p:nvPr>
            <p:ph type="body" idx="1"/>
          </p:nvPr>
        </p:nvSpPr>
        <p:spPr>
          <a:xfrm>
            <a:off x="685800" y="4800600"/>
            <a:ext cx="5486400" cy="3600450"/>
          </a:xfrm>
        </p:spPr>
        <p:txBody>
          <a:bodyPr/>
          <a:lstStyle/>
          <a:p>
            <a:r>
              <a:rPr lang="en-US" dirty="0"/>
              <a:t>Teaching transcript:
A training conflict occurs when one available sensory stream carries the learned distinguishing features while another offers little useful contrast. Schumacher and colleagues repeatedly tested visual object discrimination after training that emphasized electrically conspicuous objects.
The longitudinal tests documented changes in visual-only performance across weeks of training. Comparisons of combined-sense and visual conditions preserved the near-field choice task, while electrically transparent stimuli reduced the previously useful electric distinction.
The results support experience-dependent sensory weighting, including interference from electric information under particular training conditions. They do not demonstrate that active electrolocation always prevents visual learning: visually trained and electrically silenced fish could learn the task, and stimulus reliability remained a defining factor.
Repeated measurements track performance in the same behavioral context. Changes across weeks need not specify the location or cellular mechanism of the underlying plasticity.
References:
S. Schumacher; T. Burt de Perera; G. von der Emde (2017). Electrosensory capture during multisensory discrimination of nearby objects in the weakly electric fish Gnathonemus petersii. Scientific Reports 7:43665. https://doi.org/10.1038/srep43665
Schumacher et al. (2017), Fig. 7(a–b). Choice changes across continued training and visual tests.
Figure source: https://doi.org/10.1038/srep43665</a:t>
            </a: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600200"/>
            <a:ext cx="5486400" cy="3086100"/>
          </a:xfrm>
        </p:spPr>
      </p:sp>
      <p:sp>
        <p:nvSpPr>
          <p:cNvPr id="3" name="Notes Placeholder 1"/>
          <p:cNvSpPr>
            <a:spLocks noGrp="1"/>
          </p:cNvSpPr>
          <p:nvPr>
            <p:ph type="body" idx="1"/>
          </p:nvPr>
        </p:nvSpPr>
        <p:spPr>
          <a:xfrm>
            <a:off x="685800" y="4800600"/>
            <a:ext cx="5486400" cy="3600450"/>
          </a:xfrm>
        </p:spPr>
        <p:txBody>
          <a:bodyPr/>
          <a:lstStyle/>
          <a:p>
            <a:r>
              <a:rPr lang="en-US" dirty="0"/>
              <a:t>Teaching transcript:
A mormyromast is an electroreceptor organ used in mormyrid active electrolocation. Its sensory afferent carries information from the skin toward the brain. Spike latency is the interval between the electric stimulus and the first recorded afferent action potential.
Sawtell and colleagues varied local electric-pulse amplitude and pulse timing while recording afferent spikes. Their brief stimuli mimicked an EOD, allowing amplitude changes associated with objects to be examined separately from changes in the sampling interval.
An amplitude increase generally shortened first-spike latency. Thus, receptor input is represented partly by when a spike occurs, not simply by how many spikes occur. This temporal representation still depends on the recent sequence of sensing events.
An afferent action potential is the propagated electrical output of the sensory fiber. The latency code refers to its timing relative to a controlled electric pulse, not to object distance measured directly.
References:
N.B. Sawtell; A. Williams; P.D. Roberts; G. von der Emde; C.C. Bell (2006). Effects of Sensing Behavior on a Latency Code. Journal of Neuroscience 26(32):8221–8234. https://doi.org/10.1523/JNEUROSCI.1508-06.2006
Sawtell et al. (2006), Fig. 1(A–B). Spatial receptor input and controlled sensing-interval stimuli.
Figure source: https://doi.org/10.1523/JNEUROSCI.1508-06.2006</a:t>
            </a: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600200"/>
            <a:ext cx="5486400" cy="3086100"/>
          </a:xfrm>
        </p:spPr>
      </p:sp>
      <p:sp>
        <p:nvSpPr>
          <p:cNvPr id="3" name="Notes Placeholder 1"/>
          <p:cNvSpPr>
            <a:spLocks noGrp="1"/>
          </p:cNvSpPr>
          <p:nvPr>
            <p:ph type="body" idx="1"/>
          </p:nvPr>
        </p:nvSpPr>
        <p:spPr>
          <a:xfrm>
            <a:off x="685800" y="4800600"/>
            <a:ext cx="5486400" cy="3600450"/>
          </a:xfrm>
        </p:spPr>
        <p:txBody>
          <a:bodyPr/>
          <a:lstStyle/>
          <a:p>
            <a:r>
              <a:rPr lang="en-US" dirty="0"/>
              <a:t>Teaching transcript:
Adaptation is a change in responsiveness associated with recent stimulation. Sawtell and colleagues compared afferent responses over different mean local EOD amplitudes, distinguishing the steady carrier level from smaller amplitude changes superimposed on it.
The latency relationship shifted with the mean electric stimulus. Responses were therefore not determined solely by the instantaneous voltage at a receptor; the preceding stimulus environment established part of the reference against which amplitude modulation was encoded.
This result concerns adaptation within the recorded afferent pathway. It does not identify one molecular adaptation mechanism or establish that every receptor adjusts identically. A central decoder must account for the fact that the same immediate amplitude can occur under different sensory histories.
The carrier is the baseline pulse amplitude. Modulation is the deviation from that baseline; separating them avoids conflating object-related changes with a different overall stimulation level.
References:
N.B. Sawtell; A. Williams; P.D. Roberts; G. von der Emde; C.C. Bell (2006). Effects of Sensing Behavior on a Latency Code. Journal of Neuroscience 26(32):8221–8234. https://doi.org/10.1523/JNEUROSCI.1508-06.2006
Sawtell et al. (2006), Fig. 2(A–C). Latency adaptation to the mean local electric amplitude.
Figure source: https://doi.org/10.1523/JNEUROSCI.1508-06.2006</a:t>
            </a:r>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600200"/>
            <a:ext cx="5486400" cy="3086100"/>
          </a:xfrm>
        </p:spPr>
      </p:sp>
      <p:sp>
        <p:nvSpPr>
          <p:cNvPr id="3" name="Notes Placeholder 1"/>
          <p:cNvSpPr>
            <a:spLocks noGrp="1"/>
          </p:cNvSpPr>
          <p:nvPr>
            <p:ph type="body" idx="1"/>
          </p:nvPr>
        </p:nvSpPr>
        <p:spPr>
          <a:xfrm>
            <a:off x="685800" y="4800600"/>
            <a:ext cx="5486400" cy="3600450"/>
          </a:xfrm>
        </p:spPr>
        <p:txBody>
          <a:bodyPr/>
          <a:lstStyle/>
          <a:p>
            <a:r>
              <a:rPr lang="en-US" dirty="0"/>
              <a:t>Teaching transcript:
An inter-discharge interval is the time between successive sensing pulses. Sawtell and colleagues ramped pulse amplitude from approximately −30% to +30% while presenting pulses at fixed intervals of 200, 67, or 20 ms, then recorded afferent first-spike latency.
Increasing amplitude shortened latency, but shorter sensing intervals produced longer latencies at the same amplitude. Individual afferents differed in the slope and position of their latency–amplitude relationships, so the interval effect did not amount to one identical offset for all fibers.
The motor sampling pattern therefore influences the sensory code before central decoding. A latency shift cannot automatically be assigned to an object-induced amplitude change without considering how recently the receptor was stimulated.
The experiment held interval constant within each ramp. Comparing ramps across intervals isolates an effect of pulse spacing from the amplitude dependence within a ramp.
References:
N.B. Sawtell; A. Williams; P.D. Roberts; G. von der Emde; C.C. Bell (2006). Effects of Sensing Behavior on a Latency Code. Journal of Neuroscience 26(32):8221–8234. https://doi.org/10.1523/JNEUROSCI.1508-06.2006
Sawtell et al. (2006), Fig. 3(A–D). First-spike latency across amplitude ramps and pulse intervals.
Figure source: https://doi.org/10.1523/JNEUROSCI.1508-06.2006</a:t>
            </a:r>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600200"/>
            <a:ext cx="5486400" cy="3086100"/>
          </a:xfrm>
        </p:spPr>
      </p:sp>
      <p:sp>
        <p:nvSpPr>
          <p:cNvPr id="3" name="Notes Placeholder 1"/>
          <p:cNvSpPr>
            <a:spLocks noGrp="1"/>
          </p:cNvSpPr>
          <p:nvPr>
            <p:ph type="body" idx="1"/>
          </p:nvPr>
        </p:nvSpPr>
        <p:spPr>
          <a:xfrm>
            <a:off x="685800" y="4800600"/>
            <a:ext cx="5486400" cy="3600450"/>
          </a:xfrm>
        </p:spPr>
        <p:txBody>
          <a:bodyPr/>
          <a:lstStyle/>
          <a:p>
            <a:r>
              <a:rPr lang="en-US" dirty="0"/>
              <a:t>Teaching transcript:
A sampling history is the sequence of preceding pulses rather than only the latest interval. Sawtell and colleagues replayed natural patterns of EOD intervals while measuring first-spike latency and comparing responses with controlled amplitude modulation.
The afferent latency changed as the natural pulse sequence changed, even when an instantaneous amplitude alone could not account for the response. The measured code therefore reflected the time structure of active sampling as well as the electrical contrast being sampled.
The replay experiment directly establishes history dependence at the sensory afferent. It does not measure the animal’s decision during those recordings, and it does not imply that the central nervous system necessarily reconstructs every prior interval explicitly.
Replaying a natural sequence preserves temporal structure that fixed-rate stimulation removes. The experimental separation permits response changes to be attributed to sampling history under controlled input conditions.
References:
N.B. Sawtell; A. Williams; P.D. Roberts; G. von der Emde; C.C. Bell (2006). Effects of Sensing Behavior on a Latency Code. Journal of Neuroscience 26(32):8221–8234. https://doi.org/10.1523/JNEUROSCI.1508-06.2006
Sawtell et al. (2006), Fig. 4(A–D). Afferent latencies under natural sensing-interval sequences.
Figure source: https://doi.org/10.1523/JNEUROSCI.1508-06.2006</a:t>
            </a:r>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600200"/>
            <a:ext cx="5486400" cy="3086100"/>
          </a:xfrm>
        </p:spPr>
      </p:sp>
      <p:sp>
        <p:nvSpPr>
          <p:cNvPr id="3" name="Notes Placeholder 1"/>
          <p:cNvSpPr>
            <a:spLocks noGrp="1"/>
          </p:cNvSpPr>
          <p:nvPr>
            <p:ph type="body" idx="1"/>
          </p:nvPr>
        </p:nvSpPr>
        <p:spPr>
          <a:xfrm>
            <a:off x="685800" y="4800600"/>
            <a:ext cx="5486400" cy="3600450"/>
          </a:xfrm>
        </p:spPr>
        <p:txBody>
          <a:bodyPr/>
          <a:lstStyle/>
          <a:p>
            <a:r>
              <a:rPr lang="en-US" dirty="0"/>
              <a:t>Teaching transcript:
A spike train is a sequence of action potentials emitted by one neuron. Some recorded mormyromast afferents produced more than one spike after a pulse, raising the possibility that later spikes might provide additional independent information about local electric amplitude.
Sawtell and colleagues compared the times of subsequent spikes with the first-spike latency. Their tight relationships supported treating the first spike as the principal effective timing variable for the responses examined, rather than regarding every spike as an independent new estimate.
This result narrows the coding description under the tested conditions. It does not imply that later spikes have no synaptic impact; multiple spikes can still influence transmission even when their timing contributes little independent stimulus information.
Independent information is different from physiological influence. A later spike can drive a postsynaptic response while remaining strongly predictable from the first-spike latency.
References:
N.B. Sawtell; A. Williams; P.D. Roberts; G. von der Emde; C.C. Bell (2006). Effects of Sensing Behavior on a Latency Code. Journal of Neuroscience 26(32):8221–8234. https://doi.org/10.1523/JNEUROSCI.1508-06.2006
Sawtell et al. (2006), Fig. 5(A–B). Relationships between first and subsequent afferent spike times.
Figure source: https://doi.org/10.1523/JNEUROSCI.1508-06.2006</a:t>
            </a:r>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600200"/>
            <a:ext cx="5486400" cy="3086100"/>
          </a:xfrm>
        </p:spPr>
      </p:sp>
      <p:sp>
        <p:nvSpPr>
          <p:cNvPr id="3" name="Notes Placeholder 1"/>
          <p:cNvSpPr>
            <a:spLocks noGrp="1"/>
          </p:cNvSpPr>
          <p:nvPr>
            <p:ph type="body" idx="1"/>
          </p:nvPr>
        </p:nvSpPr>
        <p:spPr>
          <a:xfrm>
            <a:off x="685800" y="4800600"/>
            <a:ext cx="5486400" cy="3600450"/>
          </a:xfrm>
        </p:spPr>
        <p:txBody>
          <a:bodyPr/>
          <a:lstStyle/>
          <a:p>
            <a:r>
              <a:rPr lang="en-US" dirty="0"/>
              <a:t>Teaching transcript:
Sensitivity here means the change in afferent latency associated with a given amplitude modulation. Sawtell and colleagues compared responses at constant pulse rates, including 15, 30, and 50 Hz, while estimating how current and previous amplitudes influenced timing.
Sensitivity to present amplitude increased with constant sensing rate. This rate dependence differed from what a fixed linear filter estimated under another stimulation regime would predict, particularly when amplitude changes were correlated across successive pulses.
The result identifies a state-dependent sensory transformation rather than a uniform gain attached permanently to a fiber. It supports adjusting coding models for sampling rate, without establishing that the animal has conscious access to rate or that one receptor channel alone produces the effect.
Gain refers to the size of a response change per input change. A fixed filter can approximate one regime while failing when gain changes under another temporal stimulation regime.
References:
N.B. Sawtell; A. Williams; P.D. Roberts; G. von der Emde; C.C. Bell (2006). Effects of Sensing Behavior on a Latency Code. Journal of Neuroscience 26(32):8221–8234. https://doi.org/10.1523/JNEUROSCI.1508-06.2006
Sawtell et al. (2006), Fig. 11(A–F). Amplitude sensitivity and filters at constant EOD rates.
Figure source: https://doi.org/10.1523/JNEUROSCI.1508-06.2006</a:t>
            </a:r>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600200"/>
            <a:ext cx="5486400" cy="3086100"/>
          </a:xfrm>
        </p:spPr>
      </p:sp>
      <p:sp>
        <p:nvSpPr>
          <p:cNvPr id="3" name="Notes Placeholder 1"/>
          <p:cNvSpPr>
            <a:spLocks noGrp="1"/>
          </p:cNvSpPr>
          <p:nvPr>
            <p:ph type="body" idx="1"/>
          </p:nvPr>
        </p:nvSpPr>
        <p:spPr>
          <a:xfrm>
            <a:off x="685800" y="4800600"/>
            <a:ext cx="5486400" cy="3600450"/>
          </a:xfrm>
        </p:spPr>
        <p:txBody>
          <a:bodyPr/>
          <a:lstStyle/>
          <a:p>
            <a:r>
              <a:rPr lang="en-US" dirty="0"/>
              <a:t>Teaching transcript:
A coding model predicts neuronal responses from specified stimulus variables. Sawtell and colleagues tested models using both EOD amplitude and prior intervals, then examined prediction failures when natural interval patterns were combined with slowly correlated amplitude changes.
Incorporating interval-dependent changes in amplitude sensitivity improved predictions of measured afferent latencies. The comparison retained the same recorded responses, so the improvement came from accounting for sensory context rather than collecting a different type of neural output.
These are published models fitted to experimental afferent data. Their success supports a description of history-dependent coding, but does not establish the exact cellular mechanism or prove that the downstream ELL performs the same mathematical operations as the fitted model.
A model prediction should remain distinct from an observed spike latency. Agreement constrains possible coding mechanisms; it does not by itself identify the implementation in a neuron.
References:
N.B. Sawtell; A. Williams; P.D. Roberts; G. von der Emde; C.C. Bell (2006). Effects of Sensing Behavior on a Latency Code. Journal of Neuroscience 26(32):8221–8234. https://doi.org/10.1523/JNEUROSCI.1508-06.2006
Sawtell et al. (2006), Fig. 12(A–F). Published predictions incorporating interval-dependent sensitivity.
Figure source: https://doi.org/10.1523/JNEUROSCI.1508-06.2006</a:t>
            </a:r>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600200"/>
            <a:ext cx="5486400" cy="3086100"/>
          </a:xfrm>
        </p:spPr>
      </p:sp>
      <p:sp>
        <p:nvSpPr>
          <p:cNvPr id="3" name="Notes Placeholder 1"/>
          <p:cNvSpPr>
            <a:spLocks noGrp="1"/>
          </p:cNvSpPr>
          <p:nvPr>
            <p:ph type="body" idx="1"/>
          </p:nvPr>
        </p:nvSpPr>
        <p:spPr>
          <a:xfrm>
            <a:off x="685800" y="4800600"/>
            <a:ext cx="5486400" cy="3600450"/>
          </a:xfrm>
        </p:spPr>
        <p:txBody>
          <a:bodyPr/>
          <a:lstStyle/>
          <a:p>
            <a:r>
              <a:rPr lang="en-US" dirty="0"/>
              <a:t>Teaching transcript:
The electrosensory lateral line lobe, or ELL, is a hindbrain structure receiving input from skin electroreceptors. Grant and colleagues studied elephantnose ELL slices, recording cells intracellularly and stimulating deep afferent pathways separately from molecular-layer parallel fibers.
Parallel fibers are axons carrying central information across the apical dendrites of ELL neurons. The slice preparation preserved the organization needed to compare these inputs while using brief 0.1 ms stimulation pulses and receptor antagonists.
The experiments establish local synaptic properties in a controlled preparation. They do not reproduce the complete freely moving animal, and electrical tract stimulation can recruit more than one input. Anatomical identification and pharmacology constrain which pathways and receptors contribute to the recorded response.
Intracellular recording measures membrane voltage inside a cell. The anatomical reconstruction links a recorded response to tissue layers and cell type rather than inferring identity from waveform alone.
References:
K. Grant; Y. Sugawara; L. Gómez; V.Z. Han; C.C. Bell (1998). The Mormyrid Electrosensory Lobe In Vitro: Physiology and Pharmacology of Cells and Circuits. Journal of Neuroscience 18(15):6009–6025. https://doi.org/10.1523/JNEUROSCI.18-15-06009.1998
Grant et al. (1998), Fig. 1. Published slice anatomy and stimulation pathways.
Figure source: https://doi.org/10.1523/JNEUROSCI.18-15-06009.1998</a:t>
            </a:r>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600200"/>
            <a:ext cx="5486400" cy="3086100"/>
          </a:xfrm>
        </p:spPr>
      </p:sp>
      <p:sp>
        <p:nvSpPr>
          <p:cNvPr id="3" name="Notes Placeholder 1"/>
          <p:cNvSpPr>
            <a:spLocks noGrp="1"/>
          </p:cNvSpPr>
          <p:nvPr>
            <p:ph type="body" idx="1"/>
          </p:nvPr>
        </p:nvSpPr>
        <p:spPr>
          <a:xfrm>
            <a:off x="685800" y="4800600"/>
            <a:ext cx="5486400" cy="3600450"/>
          </a:xfrm>
        </p:spPr>
        <p:txBody>
          <a:bodyPr/>
          <a:lstStyle/>
          <a:p>
            <a:r>
              <a:rPr lang="en-US" dirty="0"/>
              <a:t>Teaching transcript:
A field potential is an extracellular voltage generated by nearby neural activity. Grant and colleagues stimulated deep ELL layers and separated an early afferent volley from a later postsynaptic component by recording across tissue layers and applying channel blockers.
Cadmium, which blocks calcium-dependent synaptic transmission in this preparation, removed the postsynaptic component while leaving the afferent component. Tetrodotoxin removed the remaining component, consistent with action potentials propagating through sodium-channel-dependent afferent fibers.
The sequence separates arriving spikes from the local response they evoke. It does not identify every contributing synapse from the field waveform alone, but the pharmacological dissociation provides stronger evidence than assigning a mechanism solely from response latency or polarity.
A volley is activity arriving across a group of afferent fibers. Calcium-channel dependence of synaptic transmission differs from sodium-channel dependence of the propagated action potential.
References:
K. Grant; Y. Sugawara; L. Gómez; V.Z. Han; C.C. Bell (1998). The Mormyrid Electrosensory Lobe In Vitro: Physiology and Pharmacology of Cells and Circuits. Journal of Neuroscience 18(15):6009–6025. https://doi.org/10.1523/JNEUROSCI.18-15-06009.1998
Grant et al. (1998), Fig. 2(A–D). Deep-layer field responses and pharmacological separation.
Figure source: https://doi.org/10.1523/JNEUROSCI.18-15-06009.1998
Grant et al. (1998), Fig. 1. ELL layers and input pathways in the slice.
Figure source: https://doi.org/10.1523/JNEUROSCI.18-15-06009.1998</a:t>
            </a:r>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600200"/>
            <a:ext cx="5486400" cy="3086100"/>
          </a:xfrm>
        </p:spPr>
      </p:sp>
      <p:sp>
        <p:nvSpPr>
          <p:cNvPr id="3" name="Notes Placeholder 1"/>
          <p:cNvSpPr>
            <a:spLocks noGrp="1"/>
          </p:cNvSpPr>
          <p:nvPr>
            <p:ph type="body" idx="1"/>
          </p:nvPr>
        </p:nvSpPr>
        <p:spPr>
          <a:xfrm>
            <a:off x="685800" y="4800600"/>
            <a:ext cx="5486400" cy="3600450"/>
          </a:xfrm>
        </p:spPr>
        <p:txBody>
          <a:bodyPr/>
          <a:lstStyle/>
          <a:p>
            <a:r>
              <a:rPr lang="en-US" dirty="0"/>
              <a:t>Teaching transcript:
An excitatory postsynaptic potential, or EPSP, is a synaptically evoked voltage change favoring neuronal firing. Grant and colleagues stimulated molecular-layer pathways and applied CNQX, an AMPA-receptor antagonist, and AP-5, an NMDA-receptor antagonist, to identify glutamate-mediated excitation.
Removing extracellular magnesium enhanced components associated with NMDA-receptor activation. Applying CNQX and AP-5 reduced distinct portions of the evoked response, and recovery after washout supported a reversible pharmacological effect rather than irreversible tissue failure.
AMPA and NMDA receptors are glutamate-activated ion channels. Their contribution links transmitter release to postsynaptic depolarization, but field responses do not specify receptor numbers at individual synapses or prove that both receptor classes contribute equally during natural electrolocation.
Magnesium limits NMDA-channel current in a voltage-dependent manner. Removing it experimentally changes the conditions for observing that receptor contribution; it is not a normal behavior of the fish.
References:
K. Grant; Y. Sugawara; L. Gómez; V.Z. Han; C.C. Bell (1998). The Mormyrid Electrosensory Lobe In Vitro: Physiology and Pharmacology of Cells and Circuits. Journal of Neuroscience 18(15):6009–6025. https://doi.org/10.1523/JNEUROSCI.18-15-06009.1998
Grant et al. (1998), Fig. 7(a–e). Parallel-fiber responses under magnesium and glutamate antagonists.
Figure source: https://doi.org/10.1523/JNEUROSCI.18-15-06009.1998
Grant et al. (1998), Fig. 1. Anatomical relationship of molecular layer and ELL cells.
Figure source: https://doi.org/10.1523/JNEUROSCI.18-15-06009.1998</a:t>
            </a:r>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600200"/>
            <a:ext cx="5486400" cy="3086100"/>
          </a:xfrm>
        </p:spPr>
      </p:sp>
      <p:sp>
        <p:nvSpPr>
          <p:cNvPr id="3" name="Notes Placeholder 1"/>
          <p:cNvSpPr>
            <a:spLocks noGrp="1"/>
          </p:cNvSpPr>
          <p:nvPr>
            <p:ph type="body" idx="1"/>
          </p:nvPr>
        </p:nvSpPr>
        <p:spPr>
          <a:xfrm>
            <a:off x="685800" y="4800600"/>
            <a:ext cx="5486400" cy="3600450"/>
          </a:xfrm>
        </p:spPr>
        <p:txBody>
          <a:bodyPr/>
          <a:lstStyle/>
          <a:p>
            <a:r>
              <a:rPr lang="en-US" dirty="0"/>
              <a:t>Teaching transcript:
An inhibitory postsynaptic potential, or IPSP, is a synaptic response that reduces excitability under the recorded conditions. Grant and colleagues stimulated deep ELL pathways while recording identified output cells and used bicuculline and strychnine to test inhibitory receptor contributions.
Bicuculline blocks GABA-A receptors, while strychnine blocks glycine receptors. Sequential blockade reduced or abolished inhibitory responses, revealing that deep-input inhibition could involve both transmitter systems rather than one uniform inhibitory mechanism.
These ligand-gated receptors provide ionic conductances through which synaptic input changes membrane voltage. The results establish pharmacological contributions in the slice; they do not prove that every electrically recruited inhibitory connection is activated with the same strength during natural sensing.
GABA is gamma-aminobutyric acid, an inhibitory transmitter in the studied circuit. Glycine supplies a distinct inhibitory receptor pathway that the second antagonist helps separate.
References:
K. Grant; Y. Sugawara; L. Gómez; V.Z. Han; C.C. Bell (1998). The Mormyrid Electrosensory Lobe In Vitro: Physiology and Pharmacology of Cells and Circuits. Journal of Neuroscience 18(15):6009–6025. https://doi.org/10.1523/JNEUROSCI.18-15-06009.1998
Grant et al. (1998), Fig. 13(A–C). Inhibitory and excitatory responses in identified efferent cells.
Figure source: https://doi.org/10.1523/JNEUROSCI.18-15-06009.1998
Grant et al. (1998), Fig. 1. Locations of ELL input layers and efferent neurons.
Figure source: https://doi.org/10.1523/JNEUROSCI.18-15-06009.1998</a:t>
            </a:r>
          </a:p>
        </p:txBody>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600200"/>
            <a:ext cx="5486400" cy="3086100"/>
          </a:xfrm>
        </p:spPr>
      </p:sp>
      <p:sp>
        <p:nvSpPr>
          <p:cNvPr id="3" name="Notes Placeholder 1"/>
          <p:cNvSpPr>
            <a:spLocks noGrp="1"/>
          </p:cNvSpPr>
          <p:nvPr>
            <p:ph type="body" idx="1"/>
          </p:nvPr>
        </p:nvSpPr>
        <p:spPr>
          <a:xfrm>
            <a:off x="685800" y="4800600"/>
            <a:ext cx="5486400" cy="3600450"/>
          </a:xfrm>
        </p:spPr>
        <p:txBody>
          <a:bodyPr/>
          <a:lstStyle/>
          <a:p>
            <a:r>
              <a:rPr lang="en-US" dirty="0"/>
              <a:t>Teaching transcript:
A medium ganglion cell is a Purkinje-like ELL interneuron whose apical dendrites receive parallel-fiber input. Grant and colleagues stimulated those fibers and recorded a sequence of excitation followed by inhibition, then used antagonists to separate its components.
Bicuculline removed the inhibitory portion, while CNQX and AP-5 reduced glutamate-mediated excitation. Unlike inhibition recruited through deep inputs, the parallel-fiber-evoked inhibitory response was attributed to GABA-A receptors rather than a combined GABA-A and glycine contribution.
The ordering of excitation and inhibition shapes the interval during which synaptic drive can produce firing. This measured sequence supports pathway-specific integration, without establishing that the recorded interneuron independently computes an object’s identity, size, or distance.
An interneuron influences local circuit activity rather than constituting the principal long-range sensory output. Purkinje-like describes the dendritic and circuit organization, not identity with a cerebellar Purkinje cell.
References:
K. Grant; Y. Sugawara; L. Gómez; V.Z. Han; C.C. Bell (1998). The Mormyrid Electrosensory Lobe In Vitro: Physiology and Pharmacology of Cells and Circuits. Journal of Neuroscience 18(15):6009–6025. https://doi.org/10.1523/JNEUROSCI.18-15-06009.1998
N.B. Sawtell; A. Williams; C.C. Bell (2007). Central Control of Dendritic Spikes Shapes the Responses of Purkinje-Like Cells through Spike Timing-Dependent Synaptic Plasticity. Journal of Neuroscience 27(7):1552–1565. https://doi.org/10.1523/JNEUROSCI.5302-06.2007
Grant et al. (1998), Fig. 11(a–f). Pharmacology of parallel-fiber responses in a medium ganglion cell.
Figure source: https://doi.org/10.1523/JNEUROSCI.18-15-06009.1998
Sawtell et al. (2007), Fig. 1(A). Published anatomy of the medium ganglion cell circuit.
Figure source: https://doi.org/10.1523/JNEUROSCI.5302-06.2007</a:t>
            </a:r>
          </a:p>
        </p:txBody>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600200"/>
            <a:ext cx="5486400" cy="3086100"/>
          </a:xfrm>
        </p:spPr>
      </p:sp>
      <p:sp>
        <p:nvSpPr>
          <p:cNvPr id="3" name="Notes Placeholder 1"/>
          <p:cNvSpPr>
            <a:spLocks noGrp="1"/>
          </p:cNvSpPr>
          <p:nvPr>
            <p:ph type="body" idx="1"/>
          </p:nvPr>
        </p:nvSpPr>
        <p:spPr>
          <a:xfrm>
            <a:off x="685800" y="4800600"/>
            <a:ext cx="5486400" cy="3600450"/>
          </a:xfrm>
        </p:spPr>
        <p:txBody>
          <a:bodyPr/>
          <a:lstStyle/>
          <a:p>
            <a:r>
              <a:rPr lang="en-US" dirty="0"/>
              <a:t>Teaching transcript:
Paired-pulse facilitation is an increase in the response to a second closely spaced stimulus. Grant and colleagues stimulated parallel fibers twice and recorded larger second EPSPs in medium ganglion cells, with facilitation depending on the spacing of the two pulses.
The experiment varied intervals across tens to hundreds of milliseconds; comparisons using independent stimulation sites distinguished repeated recruitment of the same fiber population from activation of another population. Strong facilitation occurred at short intervals, including approximately 30 ms.
The result establishes short-term dependence of synaptic efficacy on recent activity. It does not alone locate the change exclusively in transmitter release or receptor sensitivity, and it should be distinguished from longer-lasting plasticity driven by repeated spike-timing pairings.
Short-term facilitation modifies how a recent input affects the next response. It can shape temporal integration even before any durable learning-related change in synaptic strength is considered.
References:
K. Grant; Y. Sugawara; L. Gómez; V.Z. Han; C.C. Bell (1998). The Mormyrid Electrosensory Lobe In Vitro: Physiology and Pharmacology of Cells and Circuits. Journal of Neuroscience 18(15):6009–6025. https://doi.org/10.1523/JNEUROSCI.18-15-06009.1998
N.B. Sawtell; A. Williams; C.C. Bell (2007). Central Control of Dendritic Spikes Shapes the Responses of Purkinje-Like Cells through Spike Timing-Dependent Synaptic Plasticity. Journal of Neuroscience 27(7):1552–1565. https://doi.org/10.1523/JNEUROSCI.5302-06.2007
Grant et al. (1998), Fig. 10(A–C). Parallel-fiber paired-pulse facilitation in medium ganglion cells.
Figure source: https://doi.org/10.1523/JNEUROSCI.18-15-06009.1998
Sawtell et al. (2007), Fig. 1(A). Published anatomy of the medium ganglion cell circuit.
Figure source: https://doi.org/10.1523/JNEUROSCI.5302-06.2007</a:t>
            </a:r>
          </a:p>
        </p:txBody>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600200"/>
            <a:ext cx="5486400" cy="3086100"/>
          </a:xfrm>
        </p:spPr>
      </p:sp>
      <p:sp>
        <p:nvSpPr>
          <p:cNvPr id="3" name="Notes Placeholder 1"/>
          <p:cNvSpPr>
            <a:spLocks noGrp="1"/>
          </p:cNvSpPr>
          <p:nvPr>
            <p:ph type="body" idx="1"/>
          </p:nvPr>
        </p:nvSpPr>
        <p:spPr>
          <a:xfrm>
            <a:off x="685800" y="4800600"/>
            <a:ext cx="5486400" cy="3600450"/>
          </a:xfrm>
        </p:spPr>
        <p:txBody>
          <a:bodyPr/>
          <a:lstStyle/>
          <a:p>
            <a:r>
              <a:rPr lang="en-US" dirty="0"/>
              <a:t>Teaching transcript:
An intrinsic response is generated by a cell’s membrane properties during controlled current injection. Grant and colleagues injected depolarizing and hyperpolarizing currents into medium ganglion cells and recorded a large broad spike together with smaller, narrower spikes.
The broad spikes had durations of approximately 8–15 ms and amplitudes of 40–60 mV in the intracellular recordings. Narrow spikes were approximately 1–2 ms wide, establishing that one identified cell could express distinct electrical events.
Waveform differences constrain possible propagation and integration mechanisms but do not independently assign a function. The slice study combined waveform measurements with field and pharmacological evidence; later in vivo experiments separately examined the relation of these spike types to circuit output and learning.
Depolarizing current makes membrane voltage less negative, while hyperpolarizing current makes it more negative. Different spike forms can reflect distinct initiation and propagation compartments within a single cell.
References:
K. Grant; Y. Sugawara; L. Gómez; V.Z. Han; C.C. Bell (1998). The Mormyrid Electrosensory Lobe In Vitro: Physiology and Pharmacology of Cells and Circuits. Journal of Neuroscience 18(15):6009–6025. https://doi.org/10.1523/JNEUROSCI.18-15-06009.1998
N.B. Sawtell; A. Williams; C.C. Bell (2007). Central Control of Dendritic Spikes Shapes the Responses of Purkinje-Like Cells through Spike Timing-Dependent Synaptic Plasticity. Journal of Neuroscience 27(7):1552–1565. https://doi.org/10.1523/JNEUROSCI.5302-06.2007
Grant et al. (1998), Fig. 8. Responses of an identified medium ganglion cell to current.
Figure source: https://doi.org/10.1523/JNEUROSCI.18-15-06009.1998
Sawtell et al. (2007), Fig. 1(A). Published anatomy of the medium ganglion cell circuit.
Figure source: https://doi.org/10.1523/JNEUROSCI.5302-06.2007</a:t>
            </a:r>
          </a:p>
        </p:txBody>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600200"/>
            <a:ext cx="5486400" cy="3086100"/>
          </a:xfrm>
        </p:spPr>
      </p:sp>
      <p:sp>
        <p:nvSpPr>
          <p:cNvPr id="3" name="Notes Placeholder 1"/>
          <p:cNvSpPr>
            <a:spLocks noGrp="1"/>
          </p:cNvSpPr>
          <p:nvPr>
            <p:ph type="body" idx="1"/>
          </p:nvPr>
        </p:nvSpPr>
        <p:spPr>
          <a:xfrm>
            <a:off x="685800" y="4800600"/>
            <a:ext cx="5486400" cy="3600450"/>
          </a:xfrm>
        </p:spPr>
        <p:txBody>
          <a:bodyPr/>
          <a:lstStyle/>
          <a:p>
            <a:r>
              <a:rPr lang="en-US" dirty="0"/>
              <a:t>Teaching transcript:
A spike threshold is the level of depolarizing drive needed to initiate a spike under specified conditions. Grant and colleagues stimulated deep pathways and parallel fibers while recording medium ganglion cells, comparing synaptic responses with the distinct spike forms of the same cell.
Deep stimulation could evoke inhibitory or excitatory potentials depending on stimulation position. Removing inhibition with bicuculline exposed broad-spike responses, while parallel-fiber stimulation could generate excitation and smaller spike events before stronger depolarization recruited broad spikes.
The results connect pathway recruitment to membrane excitability. They do not support assigning each stimulus electrode to one natural sensory feature; tract stimulation and pharmacological disinhibition alter the circuit conditions, and the observed firing reflects their combined influence on the recorded neuron.
A threshold is conditional on membrane state and inhibition. Unmasking a spike with an antagonist does not mean the antagonist created a new pathway; it can reveal excitation that was already present.
References:
K. Grant; Y. Sugawara; L. Gómez; V.Z. Han; C.C. Bell (1998). The Mormyrid Electrosensory Lobe In Vitro: Physiology and Pharmacology of Cells and Circuits. Journal of Neuroscience 18(15):6009–6025. https://doi.org/10.1523/JNEUROSCI.18-15-06009.1998
N.B. Sawtell; A. Williams; C.C. Bell (2007). Central Control of Dendritic Spikes Shapes the Responses of Purkinje-Like Cells through Spike Timing-Dependent Synaptic Plasticity. Journal of Neuroscience 27(7):1552–1565. https://doi.org/10.1523/JNEUROSCI.5302-06.2007
Grant et al. (1998), Fig. 9(A–D). Medium ganglion responses to deep and molecular-layer stimuli.
Figure source: https://doi.org/10.1523/JNEUROSCI.18-15-06009.1998
Sawtell et al. (2007), Fig. 1(A). Published anatomy of the medium ganglion cell circuit.
Figure source: https://doi.org/10.1523/JNEUROSCI.5302-06.2007</a:t>
            </a:r>
          </a:p>
        </p:txBody>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600200"/>
            <a:ext cx="5486400" cy="3086100"/>
          </a:xfrm>
        </p:spPr>
      </p:sp>
      <p:sp>
        <p:nvSpPr>
          <p:cNvPr id="3" name="Notes Placeholder 1"/>
          <p:cNvSpPr>
            <a:spLocks noGrp="1"/>
          </p:cNvSpPr>
          <p:nvPr>
            <p:ph type="body" idx="1"/>
          </p:nvPr>
        </p:nvSpPr>
        <p:spPr>
          <a:xfrm>
            <a:off x="685800" y="4800600"/>
            <a:ext cx="5486400" cy="3600450"/>
          </a:xfrm>
        </p:spPr>
        <p:txBody>
          <a:bodyPr/>
          <a:lstStyle/>
          <a:p>
            <a:r>
              <a:rPr lang="en-US" dirty="0"/>
              <a:t>Teaching transcript:
An efferent cell is a neuron whose axon carries output away from the local sensory structure. Grant and colleagues recorded large ganglion and large fusiform cells, comparing their current-evoked firing and synaptic responses with those of medium ganglion interneurons.
The output cells responded to both deep-layer and molecular-layer stimulation, receiving excitatory and inhibitory influences whose balance depended on pathway and cell. These recordings place the medium ganglion cell’s local role within a circuit that also contains distinct sensory output neurons.
A local spike or synaptic potential is therefore not automatically the final signal delivered to downstream structures. The slice comparisons establish cellular and pathway diversity, while behavior-specific interpretation requires measurements linking output activity to controlled object stimuli in the intact animal.
A fusiform cell has an elongated cell body. Cell morphology and axonal role distinguish these recorded efferent neurons from the Purkinje-like medium ganglion interneuron.
References:
K. Grant; Y. Sugawara; L. Gómez; V.Z. Han; C.C. Bell (1998). The Mormyrid Electrosensory Lobe In Vitro: Physiology and Pharmacology of Cells and Circuits. Journal of Neuroscience 18(15):6009–6025. https://doi.org/10.1523/JNEUROSCI.18-15-06009.1998
Grant et al. (1998), Fig. 12(A–E). Current and synaptic responses of identified efferent cells.
Figure source: https://doi.org/10.1523/JNEUROSCI.18-15-06009.1998
Grant et al. (1998), Fig. 1. Anatomical organization of ELL cells and input layers.
Figure source: https://doi.org/10.1523/JNEUROSCI.18-15-06009.1998</a:t>
            </a:r>
          </a:p>
        </p:txBody>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600200"/>
            <a:ext cx="5486400" cy="3086100"/>
          </a:xfrm>
        </p:spPr>
      </p:sp>
      <p:sp>
        <p:nvSpPr>
          <p:cNvPr id="3" name="Notes Placeholder 1"/>
          <p:cNvSpPr>
            <a:spLocks noGrp="1"/>
          </p:cNvSpPr>
          <p:nvPr>
            <p:ph type="body" idx="1"/>
          </p:nvPr>
        </p:nvSpPr>
        <p:spPr>
          <a:xfrm>
            <a:off x="685800" y="4800600"/>
            <a:ext cx="5486400" cy="3600450"/>
          </a:xfrm>
        </p:spPr>
        <p:txBody>
          <a:bodyPr/>
          <a:lstStyle/>
          <a:p>
            <a:r>
              <a:rPr lang="en-US" dirty="0"/>
              <a:t>Teaching transcript:
Conduction is propagation of an electrical signal along an axon. Grant and colleagues stimulated molecular-layer fibers and moved the recording site along the parallel-fiber beam, measuring how response latency changed with distance from the stimulation electrode.
Latency increased with the separation between stimulation and recording positions. The distance–time relationship supported propagation along the stimulated pathway, rather than simultaneous activation of every measured location by a single local postsynaptic event.
Such spatially distributed input can reach dendrites across an organized sensory structure, but the conduction measurements do not reveal the information carried by every fiber. They establish a physical transmission property in the slice, while the sensory and motor context represented in vivo must be determined separately.
The parallel-fiber beam is the aligned bundle recruited by molecular-layer stimulation. Measuring distance and arrival time tests propagation without assigning a perceptual meaning to the signal.
References:
K. Grant; Y. Sugawara; L. Gómez; V.Z. Han; C.C. Bell (1998). The Mormyrid Electrosensory Lobe In Vitro: Physiology and Pharmacology of Cells and Circuits. Journal of Neuroscience 18(15):6009–6025. https://doi.org/10.1523/JNEUROSCI.18-15-06009.1998
Grant et al. (1998), Fig. 5(A–C). Field recordings along a stimulated parallel-fiber beam.
Figure source: https://doi.org/10.1523/JNEUROSCI.18-15-06009.1998
Grant et al. (1998), Fig. 1. ELL geometry and molecular-layer stimulation sites.
Figure source: https://doi.org/10.1523/JNEUROSCI.18-15-06009.1998</a:t>
            </a:r>
          </a:p>
        </p:txBody>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600200"/>
            <a:ext cx="5486400" cy="3086100"/>
          </a:xfrm>
        </p:spPr>
      </p:sp>
      <p:sp>
        <p:nvSpPr>
          <p:cNvPr id="3" name="Notes Placeholder 1"/>
          <p:cNvSpPr>
            <a:spLocks noGrp="1"/>
          </p:cNvSpPr>
          <p:nvPr>
            <p:ph type="body" idx="1"/>
          </p:nvPr>
        </p:nvSpPr>
        <p:spPr>
          <a:xfrm>
            <a:off x="685800" y="4800600"/>
            <a:ext cx="5486400" cy="3600450"/>
          </a:xfrm>
        </p:spPr>
        <p:txBody>
          <a:bodyPr/>
          <a:lstStyle/>
          <a:p>
            <a:r>
              <a:rPr lang="en-US" dirty="0"/>
              <a:t>Teaching transcript:
A corollary discharge is an internal signal associated with a motor command. In mormyrid ELL, electric-organ command-related input accompanies peripheral electrosensory input, providing timing information about the animal’s own sensing action rather than only the external perturbation.
Sawtell and colleagues recorded medium ganglion cells in vivo and compared command-evoked activity, sensory responses, and broad versus narrow spikes. Their preparation separated the motor command signal from an experimentally delivered electric stimulus, allowing each contribution to be assessed.
The recordings support integration of self-generated context with sensory information. A corollary signal is not itself an electric image of an object, and a command-related response does not establish that the neuron encodes object shape or distance.
The corollary signal follows the command pathway even when the experimental preparation prevents the usual movement or electric emission. This permits a controlled comparison with separately supplied sensory stimulation.
References:
N.B. Sawtell; A. Williams; C.C. Bell (2007). Central Control of Dendritic Spikes Shapes the Responses of Purkinje-Like Cells through Spike Timing-Dependent Synaptic Plasticity. Journal of Neuroscience 27(7):1552–1565. https://doi.org/10.1523/JNEUROSCI.5302-06.2007
Sawtell et al. (2007), Fig. 1(A–B). Published circuit anatomy and command-linked cell responses.
Figure source: https://doi.org/10.1523/JNEUROSCI.5302-06.2007</a:t>
            </a:r>
          </a:p>
        </p:txBody>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600200"/>
            <a:ext cx="5486400" cy="3086100"/>
          </a:xfrm>
        </p:spPr>
      </p:sp>
      <p:sp>
        <p:nvSpPr>
          <p:cNvPr id="3" name="Notes Placeholder 1"/>
          <p:cNvSpPr>
            <a:spLocks noGrp="1"/>
          </p:cNvSpPr>
          <p:nvPr>
            <p:ph type="body" idx="1"/>
          </p:nvPr>
        </p:nvSpPr>
        <p:spPr>
          <a:xfrm>
            <a:off x="685800" y="4800600"/>
            <a:ext cx="5486400" cy="3600450"/>
          </a:xfrm>
        </p:spPr>
        <p:txBody>
          <a:bodyPr/>
          <a:lstStyle/>
          <a:p>
            <a:r>
              <a:rPr lang="en-US" dirty="0"/>
              <a:t>Teaching transcript:
N spikes are narrow axonal spikes forming the principal medium ganglion output, whereas B spikes are broad dendritic events associated with parallel-fiber plasticity. Sawtell and colleagues recorded both event types to determine how one cell’s output and learning-related signals interact.
B spikes were associated with distinct patterns of nearby N spikes, and their timing varied within the electric-organ command cycle. The relationship established that the two event types can interact while remaining distinguishable in the same recordings.
The circuit interpretation separates immediate output from an event that regulates subsequent synaptic change. It does not mean every broad spike is a behavioral error signal, and waveform-based identification is supported by the anatomical and physiological context of the preparation.
An axonal event travels along the output pathway; a dendritic event changes activity in the input-receiving compartment. Distinguishing them avoids equating all spikes in one neuron with the same functional signal.
References:
N.B. Sawtell; A. Williams; C.C. Bell (2007). Central Control of Dendritic Spikes Shapes the Responses of Purkinje-Like Cells through Spike Timing-Dependent Synaptic Plasticity. Journal of Neuroscience 27(7):1552–1565. https://doi.org/10.1523/JNEUROSCI.5302-06.2007
Sawtell et al. (2007), Fig. 2(A–C). Broad-spike events and neighboring narrow-spike patterns.
Figure source: https://doi.org/10.1523/JNEUROSCI.5302-06.2007
Sawtell et al. (2007), Fig. 1(A). Published anatomy of the medium ganglion cell circuit.
Figure source: https://doi.org/10.1523/JNEUROSCI.5302-06.2007</a:t>
            </a:r>
          </a:p>
        </p:txBody>
      </p:sp>
    </p:spTree>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600200"/>
            <a:ext cx="5486400" cy="3086100"/>
          </a:xfrm>
        </p:spPr>
      </p:sp>
      <p:sp>
        <p:nvSpPr>
          <p:cNvPr id="3" name="Notes Placeholder 1"/>
          <p:cNvSpPr>
            <a:spLocks noGrp="1"/>
          </p:cNvSpPr>
          <p:nvPr>
            <p:ph type="body" idx="1"/>
          </p:nvPr>
        </p:nvSpPr>
        <p:spPr>
          <a:xfrm>
            <a:off x="685800" y="4800600"/>
            <a:ext cx="5486400" cy="3600450"/>
          </a:xfrm>
        </p:spPr>
        <p:txBody>
          <a:bodyPr/>
          <a:lstStyle/>
          <a:p>
            <a:r>
              <a:rPr lang="en-US" dirty="0"/>
              <a:t>Teaching transcript:
A command cycle is the interval following one electric-organ motor command. Sawtell and colleagues aligned medium ganglion recordings to that command and compared the time courses of narrow-spike output with broad-spike probability.
B-spike probability could fall during an interval approximately 10–20 ms after the command even while N-spike output was elevated. The different time courses indicated that increased output did not require a matching increase in the learning-related dendritic event.
The dissociation supports control at distinct compartments or input pathways rather than one scalar excitability change affecting every spike equally. The recordings establish temporal relationships; pharmacological manipulation and conductance measurements supplied additional evidence about the inhibitory mechanism.
Command alignment compares repeated trials on a common temporal reference. A pause in one spike class during a burst in another constrains how inhibition can act on the cell.
References:
N.B. Sawtell; A. Williams; C.C. Bell (2007). Central Control of Dendritic Spikes Shapes the Responses of Purkinje-Like Cells through Spike Timing-Dependent Synaptic Plasticity. Journal of Neuroscience 27(7):1552–1565. https://doi.org/10.1523/JNEUROSCI.5302-06.2007
Sawtell et al. (2007), Fig. 3(A–F). Command-evoked patterns of narrow and broad spikes.
Figure source: https://doi.org/10.1523/JNEUROSCI.5302-06.2007
Sawtell et al. (2007), Fig. 1(A). Published anatomy of the medium ganglion cell circuit.
Figure source: https://doi.org/10.1523/JNEUROSCI.5302-06.2007</a:t>
            </a:r>
          </a:p>
        </p:txBody>
      </p:sp>
    </p:spTree>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600200"/>
            <a:ext cx="5486400" cy="3086100"/>
          </a:xfrm>
        </p:spPr>
      </p:sp>
      <p:sp>
        <p:nvSpPr>
          <p:cNvPr id="3" name="Notes Placeholder 1"/>
          <p:cNvSpPr>
            <a:spLocks noGrp="1"/>
          </p:cNvSpPr>
          <p:nvPr>
            <p:ph type="body" idx="1"/>
          </p:nvPr>
        </p:nvSpPr>
        <p:spPr>
          <a:xfrm>
            <a:off x="685800" y="4800600"/>
            <a:ext cx="5486400" cy="3600450"/>
          </a:xfrm>
        </p:spPr>
        <p:txBody>
          <a:bodyPr/>
          <a:lstStyle/>
          <a:p>
            <a:r>
              <a:rPr lang="en-US" dirty="0"/>
              <a:t>Teaching transcript:
A compartment-specific response is a change that differs across a neuron’s axonal and dendritic events. Sawtell and colleagues varied electrosensory stimuli while recording N spikes and B spikes in medium ganglion cells, holding the command reference available for comparison.
Some stimuli increased N spikes while decreasing B spikes, and other conditions produced the opposite pattern. Thus, sensory excitation and learning-related dendritic firing could not be summarized reliably by one pooled spike rate.
The result supports functional separation within the recorded cell. It does not establish that the cell has independent perceptual decisions in its compartments; the compartments participate in one circuit, with output and plasticity influenced differently by incoming sensory and central signals.
Pooling broad and narrow events would conceal changes in opposite directions. Their separate classification preserves information about how sensory input affects immediate output and the event associated with synaptic adaptation.
References:
N.B. Sawtell; A. Williams; C.C. Bell (2007). Central Control of Dendritic Spikes Shapes the Responses of Purkinje-Like Cells through Spike Timing-Dependent Synaptic Plasticity. Journal of Neuroscience 27(7):1552–1565. https://doi.org/10.1523/JNEUROSCI.5302-06.2007
Sawtell et al. (2007), Fig. 4(A–D). Narrow and broad responses to controlled electrosensory stimuli.
Figure source: https://doi.org/10.1523/JNEUROSCI.5302-06.2007
Sawtell et al. (2007), Fig. 1(A). Published anatomy of the medium ganglion cell circuit.
Figure source: https://doi.org/10.1523/JNEUROSCI.5302-06.2007</a:t>
            </a:r>
          </a:p>
        </p:txBody>
      </p:sp>
    </p:spTree>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600200"/>
            <a:ext cx="5486400" cy="3086100"/>
          </a:xfrm>
        </p:spPr>
      </p:sp>
      <p:sp>
        <p:nvSpPr>
          <p:cNvPr id="3" name="Notes Placeholder 1"/>
          <p:cNvSpPr>
            <a:spLocks noGrp="1"/>
          </p:cNvSpPr>
          <p:nvPr>
            <p:ph type="body" idx="1"/>
          </p:nvPr>
        </p:nvSpPr>
        <p:spPr>
          <a:xfrm>
            <a:off x="685800" y="4800600"/>
            <a:ext cx="5486400" cy="3600450"/>
          </a:xfrm>
        </p:spPr>
        <p:txBody>
          <a:bodyPr/>
          <a:lstStyle/>
          <a:p>
            <a:r>
              <a:rPr lang="en-US" dirty="0"/>
              <a:t>Teaching transcript:
Recent context includes the stimulus sequence experienced before the currently measured command. Sawtell and colleagues examined B-spike responses during and after repeated electrosensory stimulation, distinguishing immediate stimulus effects from changes that persisted into subsequent command cycles.
The history of stimulation altered the probability and timing of B spikes. In some conditions, switching off the electrosensory stimulus produced a transient increase in early B-spike activity, even though the command signal remained the temporal reference.
The observation connects sensory history to the event controlling plasticity. It does not alone identify the responsible synapse or prove that every transient response is a learned prediction; additional inhibition and pairing experiments distinguish candidate mechanisms from the directly observed firing pattern.
A response after stimulus removal can reflect the circuit state established during stimulation. The experiment measures that change in state without requiring the external stimulus to remain present.
References:
N.B. Sawtell; A. Williams; C.C. Bell (2007). Central Control of Dendritic Spikes Shapes the Responses of Purkinje-Like Cells through Spike Timing-Dependent Synaptic Plasticity. Journal of Neuroscience 27(7):1552–1565. https://doi.org/10.1523/JNEUROSCI.5302-06.2007
Sawtell et al. (2007), Fig. 5(A–D). Broad-spike patterns before and after electrosensory stimulation.
Figure source: https://doi.org/10.1523/JNEUROSCI.5302-06.2007
Sawtell et al. (2007), Fig. 1(A). Published anatomy of the medium ganglion cell circuit.
Figure source: https://doi.org/10.1523/JNEUROSCI.5302-06.2007</a:t>
            </a:r>
          </a:p>
        </p:txBody>
      </p:sp>
    </p:spTree>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600200"/>
            <a:ext cx="5486400" cy="3086100"/>
          </a:xfrm>
        </p:spPr>
      </p:sp>
      <p:sp>
        <p:nvSpPr>
          <p:cNvPr id="3" name="Notes Placeholder 1"/>
          <p:cNvSpPr>
            <a:spLocks noGrp="1"/>
          </p:cNvSpPr>
          <p:nvPr>
            <p:ph type="body" idx="1"/>
          </p:nvPr>
        </p:nvSpPr>
        <p:spPr>
          <a:xfrm>
            <a:off x="685800" y="4800600"/>
            <a:ext cx="5486400" cy="3600450"/>
          </a:xfrm>
        </p:spPr>
        <p:txBody>
          <a:bodyPr/>
          <a:lstStyle/>
          <a:p>
            <a:r>
              <a:rPr lang="en-US" dirty="0"/>
              <a:t>Teaching transcript:
A synaptic conductance is a change in membrane ion permeability produced by synaptic input. Sawtell and colleagues examined command-evoked membrane responses over different holding potentials, using their voltage dependence to separate excitatory and inhibitory contributions in ELL cells.
The recordings supported inhibition occurring during command-evoked excitation, including in medium ganglion cells. A reduced B-spike probability therefore did not require a complete absence of excitatory synaptic drive during that interval.
Concurrent inputs can affect dendritic firing and axonal output differently because their timing, location, and reversal properties differ. The conductance analysis constrains those contributions, but does not by itself identify every presynaptic inhibitory neuron or receptor distribution responsible for the intact command response.
A holding potential is the membrane voltage imposed during the comparison. Changes in the response across holding potentials help distinguish synaptic currents with different reversal properties.
References:
N.B. Sawtell; A. Williams; C.C. Bell (2007). Central Control of Dendritic Spikes Shapes the Responses of Purkinje-Like Cells through Spike Timing-Dependent Synaptic Plasticity. Journal of Neuroscience 27(7):1552–1565. https://doi.org/10.1523/JNEUROSCI.5302-06.2007
Sawtell et al. (2007), Fig. 7(A–K). Conductance and voltage evidence for concurrent inhibition.
Figure source: https://doi.org/10.1523/JNEUROSCI.5302-06.2007
Sawtell et al. (2007), Fig. 1(A). Published anatomy of the medium ganglion cell circuit.
Figure source: https://doi.org/10.1523/JNEUROSCI.5302-06.2007</a:t>
            </a:r>
          </a:p>
        </p:txBody>
      </p:sp>
    </p:spTree>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600200"/>
            <a:ext cx="5486400" cy="3086100"/>
          </a:xfrm>
        </p:spPr>
      </p:sp>
      <p:sp>
        <p:nvSpPr>
          <p:cNvPr id="3" name="Notes Placeholder 1"/>
          <p:cNvSpPr>
            <a:spLocks noGrp="1"/>
          </p:cNvSpPr>
          <p:nvPr>
            <p:ph type="body" idx="1"/>
          </p:nvPr>
        </p:nvSpPr>
        <p:spPr>
          <a:xfrm>
            <a:off x="685800" y="4800600"/>
            <a:ext cx="5486400" cy="3600450"/>
          </a:xfrm>
        </p:spPr>
        <p:txBody>
          <a:bodyPr/>
          <a:lstStyle/>
          <a:p>
            <a:r>
              <a:rPr lang="en-US" dirty="0"/>
              <a:t>Teaching transcript:
Disinhibition is increased activity following removal of an inhibitory influence. Sawtell and colleagues injected bicuculline locally into the ventral molecular layer, blocking GABA-A receptor-mediated inhibition while recording command-linked medium ganglion spikes.
B-spike probability increased strongly just after the injection, with much less immediate change in N-spike output. More superficial injections had weaker effects on B spikes, supplying a spatial comparison rather than treating all local antagonist application as equivalent.
The manipulation supports a potent inhibitory control over dendritic events. It does not prove that inhibition only affects dendrites under every condition, and the injection changes a local network rather than selectively blocking one identified synapse. The observed selectivity is specific to the tested timing and locations.
A local antagonist provides causal evidence that the blocked receptor pathway contributes to suppression. The deeper and more superficial injection comparisons constrain where the effective inhibitory influence is expressed.
References:
N.B. Sawtell; A. Williams; C.C. Bell (2007). Central Control of Dendritic Spikes Shapes the Responses of Purkinje-Like Cells through Spike Timing-Dependent Synaptic Plasticity. Journal of Neuroscience 27(7):1552–1565. https://doi.org/10.1523/JNEUROSCI.5302-06.2007
Sawtell et al. (2007), Fig. 8(A–G). Effects of local bicuculline on narrow and broad spikes.
Figure source: https://doi.org/10.1523/JNEUROSCI.5302-06.2007
Sawtell et al. (2007), Fig. 1(A). Published anatomy of the medium ganglion cell circuit.
Figure source: https://doi.org/10.1523/JNEUROSCI.5302-06.2007</a:t>
            </a:r>
          </a:p>
        </p:txBody>
      </p:sp>
    </p:spTree>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600200"/>
            <a:ext cx="5486400" cy="3086100"/>
          </a:xfrm>
        </p:spPr>
      </p:sp>
      <p:sp>
        <p:nvSpPr>
          <p:cNvPr id="3" name="Notes Placeholder 1"/>
          <p:cNvSpPr>
            <a:spLocks noGrp="1"/>
          </p:cNvSpPr>
          <p:nvPr>
            <p:ph type="body" idx="1"/>
          </p:nvPr>
        </p:nvSpPr>
        <p:spPr>
          <a:xfrm>
            <a:off x="685800" y="4800600"/>
            <a:ext cx="5486400" cy="3600450"/>
          </a:xfrm>
        </p:spPr>
        <p:txBody>
          <a:bodyPr/>
          <a:lstStyle/>
          <a:p>
            <a:r>
              <a:rPr lang="en-US" dirty="0"/>
              <a:t>Teaching transcript:
Spike-timing-dependent plasticity is a lasting synaptic change whose direction depends on relative activity timing. Sawtell and colleagues repeatedly evoked a B spike at defined delays, approximately 8–110 ms after the electric-organ command, then compared command-evoked responses before and after pairing.
Pairing near the peak of the command response tended to reduce subsequent excitation, whereas earlier or later pairings could enhance it. Corresponding changes in N-spike output linked the altered synaptic response to the cell’s principal output event.
The results establish timing-dependent adaptation in the studied circuit. They do not directly demonstrate a complete object-recognition algorithm; they connect command context, dendritic events, synaptic strength, and axonal activity while leaving the transformation into a behavioral object judgment unresolved.
Repeated pairing isolates the timing relationship experimentally. A change in output after pairing supports a functional consequence of synaptic adaptation, while the actual behavioral readout remains a separate level of evidence.
References:
N.B. Sawtell; A. Williams; C.C. Bell (2007). Central Control of Dendritic Spikes Shapes the Responses of Purkinje-Like Cells through Spike Timing-Dependent Synaptic Plasticity. Journal of Neuroscience 27(7):1552–1565. https://doi.org/10.1523/JNEUROSCI.5302-06.2007
Sawtell et al. (2007), Fig. 9(A–G). Pairing effects on synaptic responses and narrow-spike output.
Figure source: https://doi.org/10.1523/JNEUROSCI.5302-06.2007
Sawtell et al. (2007), Fig. 1(A). Published anatomy of the medium ganglion cell circuit.
Figure source: https://doi.org/10.1523/JNEUROSCI.5302-06.2007</a:t>
            </a:r>
          </a:p>
        </p:txBody>
      </p:sp>
    </p:spTree>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600200"/>
            <a:ext cx="5486400" cy="3086100"/>
          </a:xfrm>
        </p:spPr>
      </p:sp>
      <p:sp>
        <p:nvSpPr>
          <p:cNvPr id="3" name="Notes Placeholder 1"/>
          <p:cNvSpPr>
            <a:spLocks noGrp="1"/>
          </p:cNvSpPr>
          <p:nvPr>
            <p:ph type="body" idx="1"/>
          </p:nvPr>
        </p:nvSpPr>
        <p:spPr>
          <a:xfrm>
            <a:off x="685800" y="4800600"/>
            <a:ext cx="5486400" cy="3600450"/>
          </a:xfrm>
        </p:spPr>
        <p:txBody>
          <a:bodyPr/>
          <a:lstStyle/>
          <a:p>
            <a:r>
              <a:rPr lang="en-US" dirty="0"/>
              <a:t>Active electrolocation samples self-generated fields. Object-induced current changes form electric images across the skin; recognition in darkness is a near-field capacity.
Object recognition can tolerate sensory transformations. Size constancy, rotation tolerance, and generalization depend on the tested geometry, distance, and learning conditions.
Movement creates additional distance information. Natural approaches shape sampling density and electrosensory flow; reconstructed relative gradients are candidate cues, not proven neural computations.
Afferent timing depends on sensory history. Local amplitude changes alter first-spike latency, but pulse intervals, baseline adaptation, and sensing rate also modify the code.
ELL integration is pathway and receptor specific. AMPA and NMDA receptors contribute excitation; GABA-A and glycine receptors contribute inhibition in pathway-dependent combinations.
Dendritic events regulate adaptation separately from output. Command-linked inhibition can suppress B spikes while N spikes persist; B-spike timing changes synaptic responses and subsequent output.
References:
G. von der Emde; K. Behr; B. Bouton; J. Engelmann; S. Fetz; C. Folde (2010). 3-Dimensional scene perception during active electrolocation in a weakly electric pulse fish. Frontiers in Behavioral Neuroscience 4:26. https://doi.org/10.3389/fnbeh.2010.00026
V. Hofmann; J.I. Sanguinetti-Scheck; L. Gómez-Sena; J. Engelmann (2017). Sensory Flow as a Basis for a Novel Distance Cue in Freely Behaving Electric Fish. Journal of Neuroscience 37(2):302–312. https://doi.org/10.1523/JNEUROSCI.1361-16.2016
S. Schumacher; T. Burt de Perera; G. von der Emde (2017). Electrosensory capture during multisensory discrimination of nearby objects in the weakly electric fish Gnathonemus petersii. Scientific Reports 7:43665. https://doi.org/10.1038/srep43665
N.B. Sawtell; A. Williams; P.D. Roberts; G. von der Emde; C.C. Bell (2006). Effects of Sensing Behavior on a Latency Code. Journal of Neuroscience 26(32):8221–8234. https://doi.org/10.1523/JNEUROSCI.1508-06.2006
K. Grant; Y. Sugawara; L. Gómez; V.Z. Han; C.C. Bell (1998). The Mormyrid Electrosensory Lobe In Vitro: Physiology and Pharmacology of Cells and Circuits. Journal of Neuroscience 18(15):6009–6025. https://doi.org/10.1523/JNEUROSCI.18-15-06009.1998
N.B. Sawtell; A. Williams; C.C. Bell (2007). Central Control of Dendritic Spikes Shapes the Responses of Purkinje-Like Cells through Spike Timing-Dependent Synaptic Plasticity. Journal of Neuroscience 27(7):1552–1565. https://doi.org/10.1523/JNEUROSCI.5302-06.2007</a:t>
            </a:r>
          </a:p>
        </p:txBody>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600200"/>
            <a:ext cx="5486400" cy="3086100"/>
          </a:xfrm>
        </p:spPr>
      </p:sp>
      <p:sp>
        <p:nvSpPr>
          <p:cNvPr id="3" name="Notes Placeholder 1"/>
          <p:cNvSpPr>
            <a:spLocks noGrp="1"/>
          </p:cNvSpPr>
          <p:nvPr>
            <p:ph type="body" idx="1"/>
          </p:nvPr>
        </p:nvSpPr>
        <p:spPr>
          <a:xfrm>
            <a:off x="685800" y="4800600"/>
            <a:ext cx="5486400" cy="3600450"/>
          </a:xfrm>
        </p:spPr>
        <p:txBody>
          <a:bodyPr/>
          <a:lstStyle/>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A transient rise follows stimulus removal.</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Explanation 1.</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The recordings captured the state that the circuit entered during repeated electrosensory stimulation, and they tracked that state into the command cycles that followed</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Switching the stimulus off produced a transient increase in early B-spike activity. The recordings examined the cycles that followed each stimulation episode. Command-linked recordings were analyzed in the cycles immediately after stimulation ended.</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Explanation 2.</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That rise appeared although the command signal served as the timing reference throughout</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Stimulus history shaped when and how often these events occurred, not merely whether they occurred in a given cycle. Switching off the stimulus changed the timing of B spikes within the early cycles. This change in early timing is what the transient increase consists of.</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Explanation 3.</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The transient response is a candidate learned prediction, and additional inhibition and pairing experiments are needed to identify the mechanism behind it</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The observed firing pattern is the measured result, while the mechanism is an interpretation of that result. The circuit state built during stimulation provides one explanation for the rise. Each candidate mechanism predicts a different time course for the transient.</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Source.</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The figure and the measurements come from Sawtell et al. (2007).</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Each statement is tied to the recordings or observations of that study.</a:t>
            </a:r>
          </a:p>
          <a:p>
            <a:pPr indent="0" lvl="0" marL="0" marR="0" rtl="0" algn="l">
              <a:spcBef>
                <a:spcPts val="0"/>
              </a:spcBef>
              <a:spcAft>
                <a:spcPts val="0"/>
              </a:spcAft>
              <a:buNone/>
            </a:pPr>
            <a:r>
              <a:rPr lang="en-US" sz="1200">
                <a:solidFill>
                  <a:schemeClr val="dk1"/>
                </a:solidFill>
                <a:latin typeface="Calibri"/>
                <a:ea typeface="Calibri"/>
                <a:cs typeface="Calibri"/>
                <a:sym typeface="Calibri"/>
              </a:rPr>
              <a:t/>
            </a:r>
          </a:p>
          <a:p>
            <a:pPr indent="0" lvl="0" marL="0" marR="0" rtl="0" algn="l">
              <a:spcBef>
                <a:spcPts val="0"/>
              </a:spcBef>
              <a:spcAft>
                <a:spcPts val="0"/>
              </a:spcAft>
              <a:buNone/>
            </a:pPr>
            <a:r>
              <a:rPr lang="en-US" sz="1200">
                <a:solidFill>
                  <a:schemeClr val="dk1"/>
                </a:solidFill>
                <a:latin typeface="Calibri"/>
                <a:ea typeface="Calibri"/>
                <a:cs typeface="Calibri"/>
                <a:sym typeface="Calibri"/>
              </a:rPr>
              <a:t>References:</a:t>
            </a:r>
          </a:p>
          <a:p>
            <a:pPr indent="0" lvl="0" marL="0" marR="0" rtl="0" algn="l">
              <a:spcBef>
                <a:spcPts val="0"/>
              </a:spcBef>
              <a:spcAft>
                <a:spcPts val="0"/>
              </a:spcAft>
              <a:buNone/>
            </a:pPr>
            <a:r>
              <a:rPr lang="en-US" sz="1200">
                <a:solidFill>
                  <a:schemeClr val="dk1"/>
                </a:solidFill>
                <a:latin typeface="Calibri"/>
                <a:ea typeface="Calibri"/>
                <a:cs typeface="Calibri"/>
                <a:sym typeface="Calibri"/>
              </a:rPr>
              <a:t>N.B. Sawtell; A. Williams; C.C. Bell (2007). Central Control of Dendritic Spikes Shapes the Responses of Purkinje-Like Cells through Spike Timing-Dependent Synaptic Plasticity. Journal of Neuroscience 27(7):1552–1565. https://doi.org/10.1523/JNEUROSCI.5302-06.2007</a:t>
            </a:r>
          </a:p>
        </p:txBody>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600200"/>
            <a:ext cx="5486400" cy="3086100"/>
          </a:xfrm>
        </p:spPr>
      </p:sp>
      <p:sp>
        <p:nvSpPr>
          <p:cNvPr id="3" name="Notes Placeholder 1"/>
          <p:cNvSpPr>
            <a:spLocks noGrp="1"/>
          </p:cNvSpPr>
          <p:nvPr>
            <p:ph type="body" idx="1"/>
          </p:nvPr>
        </p:nvSpPr>
        <p:spPr>
          <a:xfrm>
            <a:off x="685800" y="4800600"/>
            <a:ext cx="5486400" cy="3600450"/>
          </a:xfrm>
        </p:spPr>
        <p:txBody>
          <a:bodyPr/>
          <a:lstStyle/>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B spikes and N spikes are separate events.</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Explanation 1.</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Broad dendritic events, called B spikes, are tied to plasticity at parallel-fiber synapses</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Both event classes arise in one medium ganglion cell, which allows their timing to be compared directly within a single recording. Their timing relative to the command can be compared on a shared reference. Both event classes were examined in each recording.</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Explanation 2.</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B-spike timing shifted across the phases of the electric-organ command cycle, and specific N-spike patterns were found near each B spike</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These associations were made within the same cell during the same recording sessions, so the two event types were observed together. Their relative timing was tracked across cycles. Their relation to the command cycle was examined phase by phase.</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Explanation 3.</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Keeping the two event types apart matters because they reach different targets within one cell</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A broad spike regulates later synaptic change, while a narrow spike carries the cell's immediate signal outward to the rest of the circuit. The narrow spike carries the immediate output, and the broad spike feeds back on synaptic strength. Both events remain distinguishable in the same recording.</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Source.</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The figure and the measurements come from Sawtell et al. (2007).</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Each statement is tied to the recordings or observations of that study.</a:t>
            </a:r>
          </a:p>
          <a:p>
            <a:pPr indent="0" lvl="0" marL="0" marR="0" rtl="0" algn="l">
              <a:spcBef>
                <a:spcPts val="0"/>
              </a:spcBef>
              <a:spcAft>
                <a:spcPts val="0"/>
              </a:spcAft>
              <a:buNone/>
            </a:pPr>
            <a:r>
              <a:rPr lang="en-US" sz="1200">
                <a:solidFill>
                  <a:schemeClr val="dk1"/>
                </a:solidFill>
                <a:latin typeface="Calibri"/>
                <a:ea typeface="Calibri"/>
                <a:cs typeface="Calibri"/>
                <a:sym typeface="Calibri"/>
              </a:rPr>
              <a:t/>
            </a:r>
          </a:p>
          <a:p>
            <a:pPr indent="0" lvl="0" marL="0" marR="0" rtl="0" algn="l">
              <a:spcBef>
                <a:spcPts val="0"/>
              </a:spcBef>
              <a:spcAft>
                <a:spcPts val="0"/>
              </a:spcAft>
              <a:buNone/>
            </a:pPr>
            <a:r>
              <a:rPr lang="en-US" sz="1200">
                <a:solidFill>
                  <a:schemeClr val="dk1"/>
                </a:solidFill>
                <a:latin typeface="Calibri"/>
                <a:ea typeface="Calibri"/>
                <a:cs typeface="Calibri"/>
                <a:sym typeface="Calibri"/>
              </a:rPr>
              <a:t>References:</a:t>
            </a:r>
          </a:p>
          <a:p>
            <a:pPr indent="0" lvl="0" marL="0" marR="0" rtl="0" algn="l">
              <a:spcBef>
                <a:spcPts val="0"/>
              </a:spcBef>
              <a:spcAft>
                <a:spcPts val="0"/>
              </a:spcAft>
              <a:buNone/>
            </a:pPr>
            <a:r>
              <a:rPr lang="en-US" sz="1200">
                <a:solidFill>
                  <a:schemeClr val="dk1"/>
                </a:solidFill>
                <a:latin typeface="Calibri"/>
                <a:ea typeface="Calibri"/>
                <a:cs typeface="Calibri"/>
                <a:sym typeface="Calibri"/>
              </a:rPr>
              <a:t>N.B. Sawtell; A. Williams; C.C. Bell (2007). Central Control of Dendritic Spikes Shapes the Responses of Purkinje-Like Cells through Spike Timing-Dependent Synaptic Plasticity. Journal of Neuroscience 27(7):1552–1565. https://doi.org/10.1523/JNEUROSCI.5302-06.2007</a:t>
            </a:r>
          </a:p>
        </p:txBody>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600200"/>
            <a:ext cx="5486400" cy="3086100"/>
          </a:xfrm>
        </p:spPr>
      </p:sp>
      <p:sp>
        <p:nvSpPr>
          <p:cNvPr id="3" name="Notes Placeholder 1"/>
          <p:cNvSpPr>
            <a:spLocks noGrp="1"/>
          </p:cNvSpPr>
          <p:nvPr>
            <p:ph type="body" idx="1"/>
          </p:nvPr>
        </p:nvSpPr>
        <p:spPr>
          <a:xfrm>
            <a:off x="685800" y="4800600"/>
            <a:ext cx="5486400" cy="3600450"/>
          </a:xfrm>
        </p:spPr>
        <p:txBody>
          <a:bodyPr/>
          <a:lstStyle/>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Efferent cells respond to both input layers.</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Explanation 1.</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Output neurons of two kinds, large ganglion cells and fusiform cells, were recorded in these slices alongside the medium ganglion interneurons</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Their firing to current injection was set against that of the interneurons, which provides a second cell type for comparison. Their current-evoked firing was recorded for each cell type. Those recordings sampled cells of different types within one slice.</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Explanation 2.</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Excitatory and inhibitory influences reached these output cells, and the balance between them depended on the stimulated pathway</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A fusiform cell has an elongated cell body, which distinguishes its morphology from that of the Purkinje-like interneuron in the same structure. The balance was tested for each pathway and cell in these recordings. The stimulated pathway determined which influence dominated.</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Explanation 3.</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The output cells form a separate route out of the ELL, while the medium ganglion interneuron contributes to the local circuit</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Local responses are one stage of the processing that precedes the output neurons in each slice. Circuit position determines whether a local signal reaches the output neurons. Behavior-level interpretation requires intact animal experiments.</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Source.</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The figure and the measurements come from Grant et al. (1998).</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Each statement is tied to the recordings or observations of that study.</a:t>
            </a:r>
          </a:p>
          <a:p>
            <a:pPr indent="0" lvl="0" marL="0" marR="0" rtl="0" algn="l">
              <a:spcBef>
                <a:spcPts val="0"/>
              </a:spcBef>
              <a:spcAft>
                <a:spcPts val="0"/>
              </a:spcAft>
              <a:buNone/>
            </a:pPr>
            <a:r>
              <a:rPr lang="en-US" sz="1200">
                <a:solidFill>
                  <a:schemeClr val="dk1"/>
                </a:solidFill>
                <a:latin typeface="Calibri"/>
                <a:ea typeface="Calibri"/>
                <a:cs typeface="Calibri"/>
                <a:sym typeface="Calibri"/>
              </a:rPr>
              <a:t/>
            </a:r>
          </a:p>
          <a:p>
            <a:pPr indent="0" lvl="0" marL="0" marR="0" rtl="0" algn="l">
              <a:spcBef>
                <a:spcPts val="0"/>
              </a:spcBef>
              <a:spcAft>
                <a:spcPts val="0"/>
              </a:spcAft>
              <a:buNone/>
            </a:pPr>
            <a:r>
              <a:rPr lang="en-US" sz="1200">
                <a:solidFill>
                  <a:schemeClr val="dk1"/>
                </a:solidFill>
                <a:latin typeface="Calibri"/>
                <a:ea typeface="Calibri"/>
                <a:cs typeface="Calibri"/>
                <a:sym typeface="Calibri"/>
              </a:rPr>
              <a:t>References:</a:t>
            </a:r>
          </a:p>
          <a:p>
            <a:pPr indent="0" lvl="0" marL="0" marR="0" rtl="0" algn="l">
              <a:spcBef>
                <a:spcPts val="0"/>
              </a:spcBef>
              <a:spcAft>
                <a:spcPts val="0"/>
              </a:spcAft>
              <a:buNone/>
            </a:pPr>
            <a:r>
              <a:rPr lang="en-US" sz="1200">
                <a:solidFill>
                  <a:schemeClr val="dk1"/>
                </a:solidFill>
                <a:latin typeface="Calibri"/>
                <a:ea typeface="Calibri"/>
                <a:cs typeface="Calibri"/>
                <a:sym typeface="Calibri"/>
              </a:rPr>
              <a:t>K. Grant; Y. Sugawara; L. Gómez; V.Z. Han; C.C. Bell (1998). The Mormyrid Electrosensory Lobe In Vitro: Physiology and Pharmacology of Cells and Circuits. Journal of Neuroscience 18(15):6009–6025. https://doi.org/10.1523/JNEUROSCI.18-15-06009.1998</a:t>
            </a:r>
          </a:p>
        </p:txBody>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600200"/>
            <a:ext cx="5486400" cy="3086100"/>
          </a:xfrm>
        </p:spPr>
      </p:sp>
      <p:sp>
        <p:nvSpPr>
          <p:cNvPr id="3" name="Notes Placeholder 1"/>
          <p:cNvSpPr>
            <a:spLocks noGrp="1"/>
          </p:cNvSpPr>
          <p:nvPr>
            <p:ph type="body" idx="1"/>
          </p:nvPr>
        </p:nvSpPr>
        <p:spPr>
          <a:xfrm>
            <a:off x="685800" y="4800600"/>
            <a:ext cx="5486400" cy="3600450"/>
          </a:xfrm>
        </p:spPr>
        <p:txBody>
          <a:bodyPr/>
          <a:lstStyle/>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Facilitation depends on the spacing of two pulses.</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Explanation 1.</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Paired-pulse facilitation was measured as the ratio of the second EPSP to the first, using pulse pairs spaced across tens to hundreds of milliseconds</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Facilitation was strongest at the shortest spacings tested, which means the effect fades as the gap between pulses lengthens. Facilitation was tested across that whole range. Pulse spacing was the variable that changed across the pairs.</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Explanation 2.</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Independent stimulation sites separated repeated stimulation of one fiber population from activation of a different population</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Each site produced its own pair of responses, which made the source of facilitation identifiable in the recordings. Facilitation depends on which fibers are recruited as well as on the interval. The two cases differ in which fibers respond to the second pulse.</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Explanation 3.</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Short-term facilitation enlarges the response of a synapse that was used moments earlier, so the next input has a larger effect on the cell</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Long-lasting changes need repeated spike pairings, a separate process from the short-term change measured in these recordings. Its time course follows the spacing of the paired stimuli, which is why the interval is the key variable.</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Source.</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The figure and the measurements come from Grant et al. (1998).</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Each statement is tied to the recordings or observations of that study.</a:t>
            </a:r>
          </a:p>
          <a:p>
            <a:pPr indent="0" lvl="0" marL="0" marR="0" rtl="0" algn="l">
              <a:spcBef>
                <a:spcPts val="0"/>
              </a:spcBef>
              <a:spcAft>
                <a:spcPts val="0"/>
              </a:spcAft>
              <a:buNone/>
            </a:pPr>
            <a:r>
              <a:rPr lang="en-US" sz="1200">
                <a:solidFill>
                  <a:schemeClr val="dk1"/>
                </a:solidFill>
                <a:latin typeface="Calibri"/>
                <a:ea typeface="Calibri"/>
                <a:cs typeface="Calibri"/>
                <a:sym typeface="Calibri"/>
              </a:rPr>
              <a:t/>
            </a:r>
          </a:p>
          <a:p>
            <a:pPr indent="0" lvl="0" marL="0" marR="0" rtl="0" algn="l">
              <a:spcBef>
                <a:spcPts val="0"/>
              </a:spcBef>
              <a:spcAft>
                <a:spcPts val="0"/>
              </a:spcAft>
              <a:buNone/>
            </a:pPr>
            <a:r>
              <a:rPr lang="en-US" sz="1200">
                <a:solidFill>
                  <a:schemeClr val="dk1"/>
                </a:solidFill>
                <a:latin typeface="Calibri"/>
                <a:ea typeface="Calibri"/>
                <a:cs typeface="Calibri"/>
                <a:sym typeface="Calibri"/>
              </a:rPr>
              <a:t>References:</a:t>
            </a:r>
          </a:p>
          <a:p>
            <a:pPr indent="0" lvl="0" marL="0" marR="0" rtl="0" algn="l">
              <a:spcBef>
                <a:spcPts val="0"/>
              </a:spcBef>
              <a:spcAft>
                <a:spcPts val="0"/>
              </a:spcAft>
              <a:buNone/>
            </a:pPr>
            <a:r>
              <a:rPr lang="en-US" sz="1200">
                <a:solidFill>
                  <a:schemeClr val="dk1"/>
                </a:solidFill>
                <a:latin typeface="Calibri"/>
                <a:ea typeface="Calibri"/>
                <a:cs typeface="Calibri"/>
                <a:sym typeface="Calibri"/>
              </a:rPr>
              <a:t>K. Grant; Y. Sugawara; L. Gómez; V.Z. Han; C.C. Bell (1998). The Mormyrid Electrosensory Lobe In Vitro: Physiology and Pharmacology of Cells and Circuits. Journal of Neuroscience 18(15):6009–6025. https://doi.org/10.1523/JNEUROSCI.18-15-06009.1998</a:t>
            </a:r>
          </a:p>
        </p:txBody>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600200"/>
            <a:ext cx="5486400" cy="3086100"/>
          </a:xfrm>
        </p:spPr>
      </p:sp>
      <p:sp>
        <p:nvSpPr>
          <p:cNvPr id="3" name="Notes Placeholder 1"/>
          <p:cNvSpPr>
            <a:spLocks noGrp="1"/>
          </p:cNvSpPr>
          <p:nvPr>
            <p:ph type="body" idx="1"/>
          </p:nvPr>
        </p:nvSpPr>
        <p:spPr>
          <a:xfrm>
            <a:off x="685800" y="4800600"/>
            <a:ext cx="5486400" cy="3600450"/>
          </a:xfrm>
        </p:spPr>
        <p:txBody>
          <a:bodyPr/>
          <a:lstStyle/>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Excitation in the ELL uses two glutamate receptors.</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Explanation 1.</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Glutamate-gated ion channels of the AMPA and NMDA types carry the excitatory current evoked by parallel-fiber input</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Their pharmacology was examined separately in the same slice preparation, so each receptor type could be tested on its own. Their contributions were separated by drug application. The NMDA and AMPA receptors are distinguished by their antagonists, which were applied in separate tests.</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Explanation 2.</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Removing magnesium increased the NMDA component of the response, which shows that magnesium blocks the NMDA channel at normal resting voltage</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Washing out the antagonists restored the response, so the drug effect was reversible rather than a sign of tissue damage. The reversibility argument rests on recovery after washout in the same tissue. Recovery confirmed the reversibility of that effect.</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Explanation 3.</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The two receptor types respond to the same transmitter, so their relative contributions depend on the state of the postsynaptic membrane at the moment of input</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The slice results name the receptor types that contribute in this preparation. The field response combines these contributions and gives no count of receptors per synapse. Their pharmacology identifies the contributing receptors.</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Source.</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The figure and the measurements come from Grant et al. (1998).</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Each statement is tied to the recordings or observations of that study.</a:t>
            </a:r>
          </a:p>
          <a:p>
            <a:pPr indent="0" lvl="0" marL="0" marR="0" rtl="0" algn="l">
              <a:spcBef>
                <a:spcPts val="0"/>
              </a:spcBef>
              <a:spcAft>
                <a:spcPts val="0"/>
              </a:spcAft>
              <a:buNone/>
            </a:pPr>
            <a:r>
              <a:rPr lang="en-US" sz="1200">
                <a:solidFill>
                  <a:schemeClr val="dk1"/>
                </a:solidFill>
                <a:latin typeface="Calibri"/>
                <a:ea typeface="Calibri"/>
                <a:cs typeface="Calibri"/>
                <a:sym typeface="Calibri"/>
              </a:rPr>
              <a:t/>
            </a:r>
          </a:p>
          <a:p>
            <a:pPr indent="0" lvl="0" marL="0" marR="0" rtl="0" algn="l">
              <a:spcBef>
                <a:spcPts val="0"/>
              </a:spcBef>
              <a:spcAft>
                <a:spcPts val="0"/>
              </a:spcAft>
              <a:buNone/>
            </a:pPr>
            <a:r>
              <a:rPr lang="en-US" sz="1200">
                <a:solidFill>
                  <a:schemeClr val="dk1"/>
                </a:solidFill>
                <a:latin typeface="Calibri"/>
                <a:ea typeface="Calibri"/>
                <a:cs typeface="Calibri"/>
                <a:sym typeface="Calibri"/>
              </a:rPr>
              <a:t>References:</a:t>
            </a:r>
          </a:p>
          <a:p>
            <a:pPr indent="0" lvl="0" marL="0" marR="0" rtl="0" algn="l">
              <a:spcBef>
                <a:spcPts val="0"/>
              </a:spcBef>
              <a:spcAft>
                <a:spcPts val="0"/>
              </a:spcAft>
              <a:buNone/>
            </a:pPr>
            <a:r>
              <a:rPr lang="en-US" sz="1200">
                <a:solidFill>
                  <a:schemeClr val="dk1"/>
                </a:solidFill>
                <a:latin typeface="Calibri"/>
                <a:ea typeface="Calibri"/>
                <a:cs typeface="Calibri"/>
                <a:sym typeface="Calibri"/>
              </a:rPr>
              <a:t>K. Grant; Y. Sugawara; L. Gómez; V.Z. Han; C.C. Bell (1998). The Mormyrid Electrosensory Lobe In Vitro: Physiology and Pharmacology of Cells and Circuits. Journal of Neuroscience 18(15):6009–6025. https://doi.org/10.1523/JNEUROSCI.18-15-06009.1998</a:t>
            </a:r>
          </a:p>
        </p:txBody>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600200"/>
            <a:ext cx="5486400" cy="3086100"/>
          </a:xfrm>
        </p:spPr>
      </p:sp>
      <p:sp>
        <p:nvSpPr>
          <p:cNvPr id="3" name="Notes Placeholder 1"/>
          <p:cNvSpPr>
            <a:spLocks noGrp="1"/>
          </p:cNvSpPr>
          <p:nvPr>
            <p:ph type="body" idx="1"/>
          </p:nvPr>
        </p:nvSpPr>
        <p:spPr>
          <a:xfrm>
            <a:off x="685800" y="4800600"/>
            <a:ext cx="5486400" cy="3600450"/>
          </a:xfrm>
        </p:spPr>
        <p:txBody>
          <a:bodyPr/>
          <a:lstStyle/>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Interval-dependent gain improves latency fits.</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Explanation 1.</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Interval-dependent sensitivity was added as a term that changes the amplitude gain according to previous intervals</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The model with this term predicted measured latencies better than a model that ignored interval history, which is the main result of the fitting exercise. The added term changes gain with the previous intervals, not with the present amplitude alone.</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Explanation 2.</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The fit used the same recorded afferent responses, so the improvement came from representing stimulus history rather than from new data</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Prediction failures were most visible when natural intervals were combined with slowly correlated amplitudes, which is the condition the model had to reproduce. Prediction failures were examined separately for each interval pattern. The fits were checked against the recorded latencies.</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Explanation 3.</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The fitted model names the variables that govern the history dependence of the latency code</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A model of this kind can make predictions for responses to interval sequences that were not part of the original fit, so it extends beyond the recorded examples. Such models summarize the afferent's input-output relation in a form that can be tested on new sequences.</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Source.</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The figure and the measurements come from Sawtell et al. (2006).</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Each statement is tied to the recordings or observations of that study.</a:t>
            </a:r>
          </a:p>
          <a:p>
            <a:pPr indent="0" lvl="0" marL="0" marR="0" rtl="0" algn="l">
              <a:spcBef>
                <a:spcPts val="0"/>
              </a:spcBef>
              <a:spcAft>
                <a:spcPts val="0"/>
              </a:spcAft>
              <a:buNone/>
            </a:pPr>
            <a:r>
              <a:rPr lang="en-US" sz="1200">
                <a:solidFill>
                  <a:schemeClr val="dk1"/>
                </a:solidFill>
                <a:latin typeface="Calibri"/>
                <a:ea typeface="Calibri"/>
                <a:cs typeface="Calibri"/>
                <a:sym typeface="Calibri"/>
              </a:rPr>
              <a:t/>
            </a:r>
          </a:p>
          <a:p>
            <a:pPr indent="0" lvl="0" marL="0" marR="0" rtl="0" algn="l">
              <a:spcBef>
                <a:spcPts val="0"/>
              </a:spcBef>
              <a:spcAft>
                <a:spcPts val="0"/>
              </a:spcAft>
              <a:buNone/>
            </a:pPr>
            <a:r>
              <a:rPr lang="en-US" sz="1200">
                <a:solidFill>
                  <a:schemeClr val="dk1"/>
                </a:solidFill>
                <a:latin typeface="Calibri"/>
                <a:ea typeface="Calibri"/>
                <a:cs typeface="Calibri"/>
                <a:sym typeface="Calibri"/>
              </a:rPr>
              <a:t>References:</a:t>
            </a:r>
          </a:p>
          <a:p>
            <a:pPr indent="0" lvl="0" marL="0" marR="0" rtl="0" algn="l">
              <a:spcBef>
                <a:spcPts val="0"/>
              </a:spcBef>
              <a:spcAft>
                <a:spcPts val="0"/>
              </a:spcAft>
              <a:buNone/>
            </a:pPr>
            <a:r>
              <a:rPr lang="en-US" sz="1200">
                <a:solidFill>
                  <a:schemeClr val="dk1"/>
                </a:solidFill>
                <a:latin typeface="Calibri"/>
                <a:ea typeface="Calibri"/>
                <a:cs typeface="Calibri"/>
                <a:sym typeface="Calibri"/>
              </a:rPr>
              <a:t>N.B. Sawtell; A. Williams; P.D. Roberts; G. von der Emde; C.C. Bell (2006). Effects of Sensing Behavior on a Latency Code. Journal of Neuroscience 26(32):8221–8234. https://doi.org/10.1523/JNEUROSCI.1508-06.2006</a:t>
            </a:r>
          </a:p>
        </p:txBody>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600200"/>
            <a:ext cx="5486400" cy="3086100"/>
          </a:xfrm>
        </p:spPr>
      </p:sp>
      <p:sp>
        <p:nvSpPr>
          <p:cNvPr id="3" name="Notes Placeholder 1"/>
          <p:cNvSpPr>
            <a:spLocks noGrp="1"/>
          </p:cNvSpPr>
          <p:nvPr>
            <p:ph type="body" idx="1"/>
          </p:nvPr>
        </p:nvSpPr>
        <p:spPr>
          <a:xfrm>
            <a:off x="685800" y="4800600"/>
            <a:ext cx="5486400" cy="3600450"/>
          </a:xfrm>
        </p:spPr>
        <p:txBody>
          <a:bodyPr/>
          <a:lstStyle/>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Natural interval sequences change latency.</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Explanation 1.</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The replay used natural EOD interval sequences, so each pulse in the sequence carried its own preceding interval</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Latency changed from pulse to pulse as those intervals varied, a pattern that a fixed-rate stimulus lacks entirely. The replay kept the sequence of natural pulses intact across each trial. Fixed-rate pulses lack the variability of that sequence.</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Explanation 2.</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Amplitude modulation was delivered as a controlled comparison input, so the replayed intervals and the amplitude changes were recorded in the same afferents</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This arrangement isolated how the interval sequence shifted the response while the amplitude input was held constant. The amplitude input was constant across the replayed intervals, which isolated the interval effect. Latency was read on every replayed pulse.</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Explanation 3.</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The same local amplitude gave a different latency depending on the sequence that preceded it, which places sampling history inside the afferent code</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The afferent carries information about the timing of active sampling itself, alongside the electric contrast. Sampling history is a property of the animal's own sensing, since the animal generates the intervals. Every sequence was run through the same afferents.</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Source.</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The figure and the measurements come from Sawtell et al. (2006).</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Each statement is tied to the recordings or observations of that study.</a:t>
            </a:r>
          </a:p>
          <a:p>
            <a:pPr indent="0" lvl="0" marL="0" marR="0" rtl="0" algn="l">
              <a:spcBef>
                <a:spcPts val="0"/>
              </a:spcBef>
              <a:spcAft>
                <a:spcPts val="0"/>
              </a:spcAft>
              <a:buNone/>
            </a:pPr>
            <a:r>
              <a:rPr lang="en-US" sz="1200">
                <a:solidFill>
                  <a:schemeClr val="dk1"/>
                </a:solidFill>
                <a:latin typeface="Calibri"/>
                <a:ea typeface="Calibri"/>
                <a:cs typeface="Calibri"/>
                <a:sym typeface="Calibri"/>
              </a:rPr>
              <a:t/>
            </a:r>
          </a:p>
          <a:p>
            <a:pPr indent="0" lvl="0" marL="0" marR="0" rtl="0" algn="l">
              <a:spcBef>
                <a:spcPts val="0"/>
              </a:spcBef>
              <a:spcAft>
                <a:spcPts val="0"/>
              </a:spcAft>
              <a:buNone/>
            </a:pPr>
            <a:r>
              <a:rPr lang="en-US" sz="1200">
                <a:solidFill>
                  <a:schemeClr val="dk1"/>
                </a:solidFill>
                <a:latin typeface="Calibri"/>
                <a:ea typeface="Calibri"/>
                <a:cs typeface="Calibri"/>
                <a:sym typeface="Calibri"/>
              </a:rPr>
              <a:t>References:</a:t>
            </a:r>
          </a:p>
          <a:p>
            <a:pPr indent="0" lvl="0" marL="0" marR="0" rtl="0" algn="l">
              <a:spcBef>
                <a:spcPts val="0"/>
              </a:spcBef>
              <a:spcAft>
                <a:spcPts val="0"/>
              </a:spcAft>
              <a:buNone/>
            </a:pPr>
            <a:r>
              <a:rPr lang="en-US" sz="1200">
                <a:solidFill>
                  <a:schemeClr val="dk1"/>
                </a:solidFill>
                <a:latin typeface="Calibri"/>
                <a:ea typeface="Calibri"/>
                <a:cs typeface="Calibri"/>
                <a:sym typeface="Calibri"/>
              </a:rPr>
              <a:t>N.B. Sawtell; A. Williams; P.D. Roberts; G. von der Emde; C.C. Bell (2006). Effects of Sensing Behavior on a Latency Code. Journal of Neuroscience 26(32):8221–8234. https://doi.org/10.1523/JNEUROSCI.1508-06.2006</a:t>
            </a:r>
          </a:p>
        </p:txBody>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600200"/>
            <a:ext cx="5486400" cy="3086100"/>
          </a:xfrm>
        </p:spPr>
      </p:sp>
      <p:sp>
        <p:nvSpPr>
          <p:cNvPr id="3" name="Notes Placeholder 1"/>
          <p:cNvSpPr>
            <a:spLocks noGrp="1"/>
          </p:cNvSpPr>
          <p:nvPr>
            <p:ph type="body" idx="1"/>
          </p:nvPr>
        </p:nvSpPr>
        <p:spPr>
          <a:xfrm>
            <a:off x="685800" y="4800600"/>
            <a:ext cx="5486400" cy="3600450"/>
          </a:xfrm>
        </p:spPr>
        <p:txBody>
          <a:bodyPr/>
          <a:lstStyle/>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Latency adds timing to amplitude information.</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Explanation 1.</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The first spike of a mormyromast afferent appears at a latency measured from the electric stimulus</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A larger amplitude shortens that latency, so the spike's timing carries amplitude information that a spike count alone lacks. The latency is measured from stimulus onset, so it reflects the timing of a single neuron's response. Each recording reflects one afferent's timing.</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Explanation 2.</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The brief pulses were chosen to resemble an EOD, which allowed amplitude to vary while the sampling interval was held apart from it</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Each recorded response was tied to a controlled pulse, and its latency could be read directly from the recording. The pulses were controlled, so the same stimulus could be repeated for each amplitude and interval.</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Explanation 3.</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Timing information is available within a single spike, before the count of a whole burst is known</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The latency code is one way the afferent represents local electric contrast, and it operates at the level of a single fiber rather than a population. Latency adds a second dimension to the afferent response, beyond how many spikes were fired.</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Source.</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The figure and the measurements come from Sawtell et al. (2006).</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Each statement is tied to the recordings or observations of that study.</a:t>
            </a:r>
          </a:p>
          <a:p>
            <a:pPr indent="0" lvl="0" marL="0" marR="0" rtl="0" algn="l">
              <a:spcBef>
                <a:spcPts val="0"/>
              </a:spcBef>
              <a:spcAft>
                <a:spcPts val="0"/>
              </a:spcAft>
              <a:buNone/>
            </a:pPr>
            <a:r>
              <a:rPr lang="en-US" sz="1200">
                <a:solidFill>
                  <a:schemeClr val="dk1"/>
                </a:solidFill>
                <a:latin typeface="Calibri"/>
                <a:ea typeface="Calibri"/>
                <a:cs typeface="Calibri"/>
                <a:sym typeface="Calibri"/>
              </a:rPr>
              <a:t/>
            </a:r>
          </a:p>
          <a:p>
            <a:pPr indent="0" lvl="0" marL="0" marR="0" rtl="0" algn="l">
              <a:spcBef>
                <a:spcPts val="0"/>
              </a:spcBef>
              <a:spcAft>
                <a:spcPts val="0"/>
              </a:spcAft>
              <a:buNone/>
            </a:pPr>
            <a:r>
              <a:rPr lang="en-US" sz="1200">
                <a:solidFill>
                  <a:schemeClr val="dk1"/>
                </a:solidFill>
                <a:latin typeface="Calibri"/>
                <a:ea typeface="Calibri"/>
                <a:cs typeface="Calibri"/>
                <a:sym typeface="Calibri"/>
              </a:rPr>
              <a:t>References:</a:t>
            </a:r>
          </a:p>
          <a:p>
            <a:pPr indent="0" lvl="0" marL="0" marR="0" rtl="0" algn="l">
              <a:spcBef>
                <a:spcPts val="0"/>
              </a:spcBef>
              <a:spcAft>
                <a:spcPts val="0"/>
              </a:spcAft>
              <a:buNone/>
            </a:pPr>
            <a:r>
              <a:rPr lang="en-US" sz="1200">
                <a:solidFill>
                  <a:schemeClr val="dk1"/>
                </a:solidFill>
                <a:latin typeface="Calibri"/>
                <a:ea typeface="Calibri"/>
                <a:cs typeface="Calibri"/>
                <a:sym typeface="Calibri"/>
              </a:rPr>
              <a:t>N.B. Sawtell; A. Williams; P.D. Roberts; G. von der Emde; C.C. Bell (2006). Effects of Sensing Behavior on a Latency Code. Journal of Neuroscience 26(32):8221–8234. https://doi.org/10.1523/JNEUROSCI.1508-06.2006</a:t>
            </a:r>
          </a:p>
        </p:txBody>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600200"/>
            <a:ext cx="5486400" cy="3086100"/>
          </a:xfrm>
        </p:spPr>
      </p:sp>
      <p:sp>
        <p:nvSpPr>
          <p:cNvPr id="3" name="Notes Placeholder 1"/>
          <p:cNvSpPr>
            <a:spLocks noGrp="1"/>
          </p:cNvSpPr>
          <p:nvPr>
            <p:ph type="body" idx="1"/>
          </p:nvPr>
        </p:nvSpPr>
        <p:spPr>
          <a:xfrm>
            <a:off x="685800" y="4800600"/>
            <a:ext cx="5486400" cy="3600450"/>
          </a:xfrm>
        </p:spPr>
        <p:txBody>
          <a:bodyPr/>
          <a:lstStyle/>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Electrolocation alone reached high accuracy.</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Explanation 1.</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Each group was defined by the senses it could use during testing, and each group was tested under its own condition</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Every group reached at least 84% correct, so electrolocation by itself supported a high level of discrimination in this near-field task. Accuracy stayed at or above 84% in each group despite the different sensory inputs.</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Explanation 2.</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The gain from combining the senses was measured with the objects placed close to the gates, at about 1 cm, where electric information is strongest for these fish</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Both sensory channels were available together in the combined condition, so the difference reflects the information each channel supplied. The electric route alone supported accurate choices at close range.</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Explanation 3.</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The rewarded-object choice stayed identical across those conditions, so accuracy differences reflect the sensory information available to each group</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Final accuracy and the number of training days are separate outcomes, one describing the stable endpoint and the other the speed of learning. Placement at the gates was identical across the three groups and in every test session.</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Source.</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The figure and the measurements come from Schumacher et al. (2017).</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Each statement is tied to the recordings or observations of that study.</a:t>
            </a:r>
          </a:p>
          <a:p>
            <a:pPr indent="0" lvl="0" marL="0" marR="0" rtl="0" algn="l">
              <a:spcBef>
                <a:spcPts val="0"/>
              </a:spcBef>
              <a:spcAft>
                <a:spcPts val="0"/>
              </a:spcAft>
              <a:buNone/>
            </a:pPr>
            <a:r>
              <a:rPr lang="en-US" sz="1200">
                <a:solidFill>
                  <a:schemeClr val="dk1"/>
                </a:solidFill>
                <a:latin typeface="Calibri"/>
                <a:ea typeface="Calibri"/>
                <a:cs typeface="Calibri"/>
                <a:sym typeface="Calibri"/>
              </a:rPr>
              <a:t/>
            </a:r>
          </a:p>
          <a:p>
            <a:pPr indent="0" lvl="0" marL="0" marR="0" rtl="0" algn="l">
              <a:spcBef>
                <a:spcPts val="0"/>
              </a:spcBef>
              <a:spcAft>
                <a:spcPts val="0"/>
              </a:spcAft>
              <a:buNone/>
            </a:pPr>
            <a:r>
              <a:rPr lang="en-US" sz="1200">
                <a:solidFill>
                  <a:schemeClr val="dk1"/>
                </a:solidFill>
                <a:latin typeface="Calibri"/>
                <a:ea typeface="Calibri"/>
                <a:cs typeface="Calibri"/>
                <a:sym typeface="Calibri"/>
              </a:rPr>
              <a:t>References:</a:t>
            </a:r>
          </a:p>
          <a:p>
            <a:pPr indent="0" lvl="0" marL="0" marR="0" rtl="0" algn="l">
              <a:spcBef>
                <a:spcPts val="0"/>
              </a:spcBef>
              <a:spcAft>
                <a:spcPts val="0"/>
              </a:spcAft>
              <a:buNone/>
            </a:pPr>
            <a:r>
              <a:rPr lang="en-US" sz="1200">
                <a:solidFill>
                  <a:schemeClr val="dk1"/>
                </a:solidFill>
                <a:latin typeface="Calibri"/>
                <a:ea typeface="Calibri"/>
                <a:cs typeface="Calibri"/>
                <a:sym typeface="Calibri"/>
              </a:rPr>
              <a:t>S. Schumacher; T. Burt de Perera; G. von der Emde (2017). Electrosensory capture during multisensory discrimination of nearby objects in the weakly electric fish Gnathonemus petersii. Scientific Reports 7:43665. https://doi.org/10.1038/srep43665</a:t>
            </a:r>
          </a:p>
        </p:txBody>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600200"/>
            <a:ext cx="5486400" cy="3086100"/>
          </a:xfrm>
        </p:spPr>
      </p:sp>
      <p:sp>
        <p:nvSpPr>
          <p:cNvPr id="3" name="Notes Placeholder 1"/>
          <p:cNvSpPr>
            <a:spLocks noGrp="1"/>
          </p:cNvSpPr>
          <p:nvPr>
            <p:ph type="body" idx="1"/>
          </p:nvPr>
        </p:nvSpPr>
        <p:spPr>
          <a:xfrm>
            <a:off x="685800" y="4800600"/>
            <a:ext cx="5486400" cy="3600450"/>
          </a:xfrm>
        </p:spPr>
        <p:txBody>
          <a:bodyPr/>
          <a:lstStyle/>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Dynamic cues reach threshold farther away.</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Explanation 1.</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The detection criterion defines when an object's information first rises above the variability of the reference condition</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Under that criterion, the dynamic cue crossed threshold at about 6 cm, while the static image measure crossed it at about 3 cm, so the dynamic cue carried information to a greater distance. The paper defined that criterion for the reconstructed cues.</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Explanation 2.</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The dynamic measure also resolved distance more finely at longer distances in the modeled data</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That resolution describes what the reconstructed cue can separate, which is an analysis result rather than a value recorded from the fish, and it is computed from the same reconstructed approaches. Both cues were judged over the same range of simulated distances.</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Explanation 3.</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The roughly 4 cm recognition range in the choice tasks is a separate measure of identification</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Shape discrimination and distance estimation require different kinds of information, so the two thresholds can differ in value even when both come from the same object. The two ranges were measured in different experiments, so the two numbers answer different questions.</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Source.</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The figure and the measurements come from Hofmann et al. (2017).</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Each statement is tied to the recordings or observations of that study.</a:t>
            </a:r>
          </a:p>
          <a:p>
            <a:pPr indent="0" lvl="0" marL="0" marR="0" rtl="0" algn="l">
              <a:spcBef>
                <a:spcPts val="0"/>
              </a:spcBef>
              <a:spcAft>
                <a:spcPts val="0"/>
              </a:spcAft>
              <a:buNone/>
            </a:pPr>
            <a:r>
              <a:rPr lang="en-US" sz="1200">
                <a:solidFill>
                  <a:schemeClr val="dk1"/>
                </a:solidFill>
                <a:latin typeface="Calibri"/>
                <a:ea typeface="Calibri"/>
                <a:cs typeface="Calibri"/>
                <a:sym typeface="Calibri"/>
              </a:rPr>
              <a:t/>
            </a:r>
          </a:p>
          <a:p>
            <a:pPr indent="0" lvl="0" marL="0" marR="0" rtl="0" algn="l">
              <a:spcBef>
                <a:spcPts val="0"/>
              </a:spcBef>
              <a:spcAft>
                <a:spcPts val="0"/>
              </a:spcAft>
              <a:buNone/>
            </a:pPr>
            <a:r>
              <a:rPr lang="en-US" sz="1200">
                <a:solidFill>
                  <a:schemeClr val="dk1"/>
                </a:solidFill>
                <a:latin typeface="Calibri"/>
                <a:ea typeface="Calibri"/>
                <a:cs typeface="Calibri"/>
                <a:sym typeface="Calibri"/>
              </a:rPr>
              <a:t>References:</a:t>
            </a:r>
          </a:p>
          <a:p>
            <a:pPr indent="0" lvl="0" marL="0" marR="0" rtl="0" algn="l">
              <a:spcBef>
                <a:spcPts val="0"/>
              </a:spcBef>
              <a:spcAft>
                <a:spcPts val="0"/>
              </a:spcAft>
              <a:buNone/>
            </a:pPr>
            <a:r>
              <a:rPr lang="en-US" sz="1200">
                <a:solidFill>
                  <a:schemeClr val="dk1"/>
                </a:solidFill>
                <a:latin typeface="Calibri"/>
                <a:ea typeface="Calibri"/>
                <a:cs typeface="Calibri"/>
                <a:sym typeface="Calibri"/>
              </a:rPr>
              <a:t>V. Hofmann; J.I. Sanguinetti-Scheck; L. Gómez-Sena; J. Engelmann (2017). Sensory Flow as a Basis for a Novel Distance Cue in Freely Behaving Electric Fish. Journal of Neuroscience 37(2):302–312. https://doi.org/10.1523/JNEUROSCI.1361-16.2016</a:t>
            </a:r>
          </a:p>
        </p:txBody>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600200"/>
            <a:ext cx="5486400" cy="3086100"/>
          </a:xfrm>
        </p:spPr>
      </p:sp>
      <p:sp>
        <p:nvSpPr>
          <p:cNvPr id="3" name="Notes Placeholder 1"/>
          <p:cNvSpPr>
            <a:spLocks noGrp="1"/>
          </p:cNvSpPr>
          <p:nvPr>
            <p:ph type="body" idx="1"/>
          </p:nvPr>
        </p:nvSpPr>
        <p:spPr>
          <a:xfrm>
            <a:off x="685800" y="4800600"/>
            <a:ext cx="5486400" cy="3600450"/>
          </a:xfrm>
        </p:spPr>
        <p:txBody>
          <a:bodyPr/>
          <a:lstStyle/>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Normalization removes the amplitude scale.</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Explanation 1.</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A relative gradient divides the rate of amplitude change by the current amplitude, so its output depends on the shape of the change rather than on absolute size</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For that reason the relative-gradient curves overlapped across cube sizes that produced very different absolute amplitudes, which is the central result of this comparison. The ratio thus discounts the overall scale of the signal.</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Explanation 2.</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Adapted emission and movement produced more samples near each cube than unadapted patterns did, so the cue depends on the animal's own sampling pattern in every trial</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Adapted emission changes how many measurements feed the gradient at each distance, and that change is built into the reconstruction. Each cube size yielded its own sampling profile.</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Explanation 3.</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The gradient cue was built from reconstructed frames and tested inside the modeled input</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The reconstruction supplies the candidate signal, while the neurons that would use that signal were not part of the model. Relative gradients give the same distance information across the cube sizes tested. The absolute amplitude, by contrast, carries size information that tracks object size rather than distance.</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Source.</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The figure and the measurements come from Hofmann et al. (2017).</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Each statement is tied to the recordings or observations of that study.</a:t>
            </a:r>
          </a:p>
          <a:p>
            <a:pPr indent="0" lvl="0" marL="0" marR="0" rtl="0" algn="l">
              <a:spcBef>
                <a:spcPts val="0"/>
              </a:spcBef>
              <a:spcAft>
                <a:spcPts val="0"/>
              </a:spcAft>
              <a:buNone/>
            </a:pPr>
            <a:r>
              <a:rPr lang="en-US" sz="1200">
                <a:solidFill>
                  <a:schemeClr val="dk1"/>
                </a:solidFill>
                <a:latin typeface="Calibri"/>
                <a:ea typeface="Calibri"/>
                <a:cs typeface="Calibri"/>
                <a:sym typeface="Calibri"/>
              </a:rPr>
              <a:t/>
            </a:r>
          </a:p>
          <a:p>
            <a:pPr indent="0" lvl="0" marL="0" marR="0" rtl="0" algn="l">
              <a:spcBef>
                <a:spcPts val="0"/>
              </a:spcBef>
              <a:spcAft>
                <a:spcPts val="0"/>
              </a:spcAft>
              <a:buNone/>
            </a:pPr>
            <a:r>
              <a:rPr lang="en-US" sz="1200">
                <a:solidFill>
                  <a:schemeClr val="dk1"/>
                </a:solidFill>
                <a:latin typeface="Calibri"/>
                <a:ea typeface="Calibri"/>
                <a:cs typeface="Calibri"/>
                <a:sym typeface="Calibri"/>
              </a:rPr>
              <a:t>References:</a:t>
            </a:r>
          </a:p>
          <a:p>
            <a:pPr indent="0" lvl="0" marL="0" marR="0" rtl="0" algn="l">
              <a:spcBef>
                <a:spcPts val="0"/>
              </a:spcBef>
              <a:spcAft>
                <a:spcPts val="0"/>
              </a:spcAft>
              <a:buNone/>
            </a:pPr>
            <a:r>
              <a:rPr lang="en-US" sz="1200">
                <a:solidFill>
                  <a:schemeClr val="dk1"/>
                </a:solidFill>
                <a:latin typeface="Calibri"/>
                <a:ea typeface="Calibri"/>
                <a:cs typeface="Calibri"/>
                <a:sym typeface="Calibri"/>
              </a:rPr>
              <a:t>V. Hofmann; J.I. Sanguinetti-Scheck; L. Gómez-Sena; J. Engelmann (2017). Sensory Flow as a Basis for a Novel Distance Cue in Freely Behaving Electric Fish. Journal of Neuroscience 37(2):302–312. https://doi.org/10.1523/JNEUROSCI.1361-16.2016</a:t>
            </a:r>
          </a:p>
        </p:txBody>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600200"/>
            <a:ext cx="5486400" cy="3086100"/>
          </a:xfrm>
        </p:spPr>
      </p:sp>
      <p:sp>
        <p:nvSpPr>
          <p:cNvPr id="3" name="Notes Placeholder 1"/>
          <p:cNvSpPr>
            <a:spLocks noGrp="1"/>
          </p:cNvSpPr>
          <p:nvPr>
            <p:ph type="body" idx="1"/>
          </p:nvPr>
        </p:nvSpPr>
        <p:spPr>
          <a:xfrm>
            <a:off x="685800" y="4800600"/>
            <a:ext cx="5486400" cy="3600450"/>
          </a:xfrm>
        </p:spPr>
        <p:txBody>
          <a:bodyPr/>
          <a:lstStyle/>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Discharge timing shapes each approach sample.</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Explanation 1.</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Spatial sampling density is the number of electric discharges per distance traveled</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It depends jointly on emission timing and swimming speed, so a fish that swims faster collects fewer discharges per centimeter unless it also raises its discharge rate. Density reflects two behaviors at once, the emission pattern and the movement. This ratio is the quantity that changes during each approach.</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Explanation 2.</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Each electric sample reaches the skin while the object's image is changing, so each discharge carries a different spatial context</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Hofmann and colleagues paired the discharge record with the approach trajectory, which let each sample be matched to the fish's position at that moment. The recorded discharge timing supplied the sampling record for every approach.</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Explanation 3.</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Thrust and discharge activity moved in opposite directions across the approach, and the sampling density rose as the fish closed in</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Straighter postures and more direct alignment with the object accompanied that rise in density, so the geometry of inspection and the sample sequence changed together. The approach geometry was measured as well as the electric samples.</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Source.</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The figure and the measurements come from Hofmann et al. (2017).</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Each statement is tied to the recordings or observations of that study.</a:t>
            </a:r>
          </a:p>
          <a:p>
            <a:pPr indent="0" lvl="0" marL="0" marR="0" rtl="0" algn="l">
              <a:spcBef>
                <a:spcPts val="0"/>
              </a:spcBef>
              <a:spcAft>
                <a:spcPts val="0"/>
              </a:spcAft>
              <a:buNone/>
            </a:pPr>
            <a:r>
              <a:rPr lang="en-US" sz="1200">
                <a:solidFill>
                  <a:schemeClr val="dk1"/>
                </a:solidFill>
                <a:latin typeface="Calibri"/>
                <a:ea typeface="Calibri"/>
                <a:cs typeface="Calibri"/>
                <a:sym typeface="Calibri"/>
              </a:rPr>
              <a:t/>
            </a:r>
          </a:p>
          <a:p>
            <a:pPr indent="0" lvl="0" marL="0" marR="0" rtl="0" algn="l">
              <a:spcBef>
                <a:spcPts val="0"/>
              </a:spcBef>
              <a:spcAft>
                <a:spcPts val="0"/>
              </a:spcAft>
              <a:buNone/>
            </a:pPr>
            <a:r>
              <a:rPr lang="en-US" sz="1200">
                <a:solidFill>
                  <a:schemeClr val="dk1"/>
                </a:solidFill>
                <a:latin typeface="Calibri"/>
                <a:ea typeface="Calibri"/>
                <a:cs typeface="Calibri"/>
                <a:sym typeface="Calibri"/>
              </a:rPr>
              <a:t>References:</a:t>
            </a:r>
          </a:p>
          <a:p>
            <a:pPr indent="0" lvl="0" marL="0" marR="0" rtl="0" algn="l">
              <a:spcBef>
                <a:spcPts val="0"/>
              </a:spcBef>
              <a:spcAft>
                <a:spcPts val="0"/>
              </a:spcAft>
              <a:buNone/>
            </a:pPr>
            <a:r>
              <a:rPr lang="en-US" sz="1200">
                <a:solidFill>
                  <a:schemeClr val="dk1"/>
                </a:solidFill>
                <a:latin typeface="Calibri"/>
                <a:ea typeface="Calibri"/>
                <a:cs typeface="Calibri"/>
                <a:sym typeface="Calibri"/>
              </a:rPr>
              <a:t>V. Hofmann; J.I. Sanguinetti-Scheck; L. Gómez-Sena; J. Engelmann (2017). Sensory Flow as a Basis for a Novel Distance Cue in Freely Behaving Electric Fish. Journal of Neuroscience 37(2):302–312. https://doi.org/10.1523/JNEUROSCI.1361-16.2016</a:t>
            </a:r>
          </a:p>
        </p:txBody>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600200"/>
            <a:ext cx="5486400" cy="3086100"/>
          </a:xfrm>
        </p:spPr>
      </p:sp>
      <p:sp>
        <p:nvSpPr>
          <p:cNvPr id="3" name="Notes Placeholder 1"/>
          <p:cNvSpPr>
            <a:spLocks noGrp="1"/>
          </p:cNvSpPr>
          <p:nvPr>
            <p:ph type="body" idx="1"/>
          </p:nvPr>
        </p:nvSpPr>
        <p:spPr>
          <a:xfrm>
            <a:off x="685800" y="4800600"/>
            <a:ext cx="5486400" cy="3600450"/>
          </a:xfrm>
        </p:spPr>
        <p:txBody>
          <a:bodyPr/>
          <a:lstStyle/>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Image intensity and diameter both shift with distance.</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Explanation 1.</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A rule based on image intensity fails here because intensity falls as an object moves away, while the rewarded physical size stays the same</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The distance manipulation separated intensity from the real cube size in each trial, so a fixed intensity criterion could not match the reward across every combination of distances. The rewarded size was the stable reference across trials.</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Explanation 2.</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Image diameter behaved in the same way, and its measured width grew with each increase in distance, so the image changed while the reward did not</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Width fails as a stand-in for size, and the fish's choices followed the physical cube instead of the image it produced. Image intensity and image width were the two candidate cues for size.</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Explanation 3.</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Darkness controls showed that the size discrimination survived without visual input, which suggests an electrosensory route for the learned choice</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Cubes were moved to new distances in separate tests, while each cube's rewarded size stayed fixed across them. The learned preference still held when each cube's distance changed relative to the gates.</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Source.</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The figure and the measurements come from von der Emde et al. (2010).</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Each statement is tied to the recordings or observations of that study.</a:t>
            </a:r>
          </a:p>
          <a:p>
            <a:pPr indent="0" lvl="0" marL="0" marR="0" rtl="0" algn="l">
              <a:spcBef>
                <a:spcPts val="0"/>
              </a:spcBef>
              <a:spcAft>
                <a:spcPts val="0"/>
              </a:spcAft>
              <a:buNone/>
            </a:pPr>
            <a:r>
              <a:rPr lang="en-US" sz="1200">
                <a:solidFill>
                  <a:schemeClr val="dk1"/>
                </a:solidFill>
                <a:latin typeface="Calibri"/>
                <a:ea typeface="Calibri"/>
                <a:cs typeface="Calibri"/>
                <a:sym typeface="Calibri"/>
              </a:rPr>
              <a:t/>
            </a:r>
          </a:p>
          <a:p>
            <a:pPr indent="0" lvl="0" marL="0" marR="0" rtl="0" algn="l">
              <a:spcBef>
                <a:spcPts val="0"/>
              </a:spcBef>
              <a:spcAft>
                <a:spcPts val="0"/>
              </a:spcAft>
              <a:buNone/>
            </a:pPr>
            <a:r>
              <a:rPr lang="en-US" sz="1200">
                <a:solidFill>
                  <a:schemeClr val="dk1"/>
                </a:solidFill>
                <a:latin typeface="Calibri"/>
                <a:ea typeface="Calibri"/>
                <a:cs typeface="Calibri"/>
                <a:sym typeface="Calibri"/>
              </a:rPr>
              <a:t>References:</a:t>
            </a:r>
          </a:p>
          <a:p>
            <a:pPr indent="0" lvl="0" marL="0" marR="0" rtl="0" algn="l">
              <a:spcBef>
                <a:spcPts val="0"/>
              </a:spcBef>
              <a:spcAft>
                <a:spcPts val="0"/>
              </a:spcAft>
              <a:buNone/>
            </a:pPr>
            <a:r>
              <a:rPr lang="en-US" sz="1200">
                <a:solidFill>
                  <a:schemeClr val="dk1"/>
                </a:solidFill>
                <a:latin typeface="Calibri"/>
                <a:ea typeface="Calibri"/>
                <a:cs typeface="Calibri"/>
                <a:sym typeface="Calibri"/>
              </a:rPr>
              <a:t>G. von der Emde; K. Behr; B. Bouton; J. Engelmann; S. Fetz; C. Folde (2010). 3-Dimensional scene perception during active electrolocation in a weakly electric pulse fish. Frontiers in Behavioral Neuroscience 4:26. https://doi.org/10.3389/fnbeh.2010.00026</a:t>
            </a:r>
          </a:p>
        </p:txBody>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600200"/>
            <a:ext cx="5486400" cy="3086100"/>
          </a:xfrm>
        </p:spPr>
      </p:sp>
      <p:sp>
        <p:nvSpPr>
          <p:cNvPr id="3" name="Notes Placeholder 1"/>
          <p:cNvSpPr>
            <a:spLocks noGrp="1"/>
          </p:cNvSpPr>
          <p:nvPr>
            <p:ph type="body" idx="1"/>
          </p:nvPr>
        </p:nvSpPr>
        <p:spPr>
          <a:xfrm>
            <a:off x="685800" y="4800600"/>
            <a:ext cx="5486400" cy="3600450"/>
          </a:xfrm>
        </p:spPr>
        <p:txBody>
          <a:bodyPr/>
          <a:lstStyle/>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Matched simulations isolate the object's contribution.</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Explanation 1.</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Conductivity describes how readily a material carries electric current, and an object's conductivity sets how strongly it distorts the field around it</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Simulated scenes with and without the object were otherwise matched, so the difference between them reflects the object itself rather than other scene differences. The reconstruction keeps that difference as the signal of interest for each frame.</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Explanation 2.</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The pattern also depends on where the fish sits relative to the object</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Each receptor samples a different part of the perturbation as the fish moves, so the same metal cube can generate different electric images at different positions. Each frame records the object's influence at every receptor location, and position is encoded alongside the object.</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Explanation 3.</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Because the reconstruction was built from real approaches, each image in the series corresponds to one moment in one fish's inspection</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The estimates inherit the timing of the fish's own movement. Each reconstructed frame is a model output, not a snapshot taken by a camera. The frames follow the successive discharges emitted during the approach.</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Source.</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The figure and the measurements come from Hofmann et al. (2017).</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Each statement is tied to the recordings or observations of that study.</a:t>
            </a:r>
          </a:p>
          <a:p>
            <a:pPr indent="0" lvl="0" marL="0" marR="0" rtl="0" algn="l">
              <a:spcBef>
                <a:spcPts val="0"/>
              </a:spcBef>
              <a:spcAft>
                <a:spcPts val="0"/>
              </a:spcAft>
              <a:buNone/>
            </a:pPr>
            <a:r>
              <a:rPr lang="en-US" sz="1200">
                <a:solidFill>
                  <a:schemeClr val="dk1"/>
                </a:solidFill>
                <a:latin typeface="Calibri"/>
                <a:ea typeface="Calibri"/>
                <a:cs typeface="Calibri"/>
                <a:sym typeface="Calibri"/>
              </a:rPr>
              <a:t/>
            </a:r>
          </a:p>
          <a:p>
            <a:pPr indent="0" lvl="0" marL="0" marR="0" rtl="0" algn="l">
              <a:spcBef>
                <a:spcPts val="0"/>
              </a:spcBef>
              <a:spcAft>
                <a:spcPts val="0"/>
              </a:spcAft>
              <a:buNone/>
            </a:pPr>
            <a:r>
              <a:rPr lang="en-US" sz="1200">
                <a:solidFill>
                  <a:schemeClr val="dk1"/>
                </a:solidFill>
                <a:latin typeface="Calibri"/>
                <a:ea typeface="Calibri"/>
                <a:cs typeface="Calibri"/>
                <a:sym typeface="Calibri"/>
              </a:rPr>
              <a:t>References:</a:t>
            </a:r>
          </a:p>
          <a:p>
            <a:pPr indent="0" lvl="0" marL="0" marR="0" rtl="0" algn="l">
              <a:spcBef>
                <a:spcPts val="0"/>
              </a:spcBef>
              <a:spcAft>
                <a:spcPts val="0"/>
              </a:spcAft>
              <a:buNone/>
            </a:pPr>
            <a:r>
              <a:rPr lang="en-US" sz="1200">
                <a:solidFill>
                  <a:schemeClr val="dk1"/>
                </a:solidFill>
                <a:latin typeface="Calibri"/>
                <a:ea typeface="Calibri"/>
                <a:cs typeface="Calibri"/>
                <a:sym typeface="Calibri"/>
              </a:rPr>
              <a:t>V. Hofmann; J.I. Sanguinetti-Scheck; L. Gómez-Sena; J. Engelmann (2017). Sensory Flow as a Basis for a Novel Distance Cue in Freely Behaving Electric Fish. Journal of Neuroscience 37(2):302–312. https://doi.org/10.1523/JNEUROSCI.1361-16.2016</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idx="10" sz="half"/>
          </p:nvPr>
        </p:nvSpPr>
        <p:spPr/>
        <p:txBody>
          <a:bodyPr/>
          <a:lstStyle/>
          <a:p>
            <a:fld id="{5BCAD085-E8A6-8845-BD4E-CB4CCA059FC4}" type="datetimeFigureOut">
              <a:rPr lang="en-US"/>
              <a:t>1/27/13</a:t>
            </a:fld>
            <a:endParaRPr lang="en-US"/>
          </a:p>
        </p:txBody>
      </p:sp>
      <p:sp>
        <p:nvSpPr>
          <p:cNvPr id="3" name="Footer Placeholder 2"/>
          <p:cNvSpPr>
            <a:spLocks noGrp="1"/>
          </p:cNvSpPr>
          <p:nvPr>
            <p:ph type="ftr" idx="11" sz="quarter"/>
          </p:nvPr>
        </p:nvSpPr>
        <p:spPr/>
        <p:txBody>
          <a:bodyPr/>
          <a:lstStyle/>
          <a:p>
            <a:endParaRPr lang="en-US"/>
          </a:p>
        </p:txBody>
      </p:sp>
      <p:sp>
        <p:nvSpPr>
          <p:cNvPr id="4" name="Slide Number Placeholder 3"/>
          <p:cNvSpPr>
            <a:spLocks noGrp="1"/>
          </p:cNvSpPr>
          <p:nvPr>
            <p:ph type="sldNum" idx="12" sz="quarter"/>
          </p:nvPr>
        </p:nvSpPr>
        <p:spPr/>
        <p:txBody>
          <a:bodyPr/>
          <a:lstStyle/>
          <a:p>
            <a:fld id="{C1FF6DA9-008F-8B48-92A6-B652298478BF}" type="slidenum">
              <a:rPr lang="en-US"/>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38200" y="365125"/>
            <a:ext cx="10515600" cy="1325563"/>
          </a:xfrm>
          <a:prstGeom prst="rect">
            <a:avLst/>
          </a:prstGeom>
        </p:spPr>
        <p:txBody>
          <a:bodyPr/>
          <a:lstStyle/>
          <a:p>
            <a:endParaRPr lang="en-US"/>
          </a:p>
        </p:txBody>
      </p:sp>
      <p:sp>
        <p:nvSpPr>
          <p:cNvPr id="3" name="Text Placeholder 2"/>
          <p:cNvSpPr>
            <a:spLocks noGrp="1"/>
          </p:cNvSpPr>
          <p:nvPr>
            <p:ph type="body" idx="1"/>
          </p:nvPr>
        </p:nvSpPr>
        <p:spPr>
          <a:xfrm>
            <a:off x="838200" y="1825625"/>
            <a:ext cx="10515600" cy="4351338"/>
          </a:xfrm>
          <a:prstGeom prst="rect">
            <a:avLst/>
          </a:prstGeom>
        </p:spPr>
        <p:txBody>
          <a:bodyPr/>
          <a:lstStyle/>
          <a:p>
            <a:endParaRPr lang="en-US"/>
          </a:p>
        </p:txBody>
      </p:sp>
      <p:sp>
        <p:nvSpPr>
          <p:cNvPr id="4" name="Date Placeholder 3"/>
          <p:cNvSpPr>
            <a:spLocks noGrp="1"/>
          </p:cNvSpPr>
          <p:nvPr>
            <p:ph type="dt" sz="half" idx="2"/>
          </p:nvPr>
        </p:nvSpPr>
        <p:spPr>
          <a:xfrm>
            <a:off x="838200" y="6356350"/>
            <a:ext cx="2743200" cy="365125"/>
          </a:xfrm>
          <a:prstGeom prst="rect">
            <a:avLst/>
          </a:prstGeom>
        </p:spPr>
        <p:txBody>
          <a:bodyP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4038600" y="6356350"/>
            <a:ext cx="4114800" cy="365125"/>
          </a:xfrm>
          <a:prstGeom prst="rect">
            <a:avLst/>
          </a:prstGeom>
        </p:spPr>
        <p:txBody>
          <a:bodyP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8610600" y="6356350"/>
            <a:ext cx="2743200" cy="365125"/>
          </a:xfrm>
          <a:prstGeom prst="rect">
            <a:avLst/>
          </a:prstGeom>
        </p:spPr>
        <p:txBody>
          <a:bodyPr/>
          <a:lstStyle>
            <a:lvl1pPr algn="r">
              <a:defRPr sz="1200">
                <a:solidFill>
                  <a:schemeClr val="tx1">
                    <a:tint val="75000"/>
                  </a:schemeClr>
                </a:solidFill>
              </a:defRPr>
            </a:lvl1pPr>
          </a:lstStyle>
          <a:p>
            <a:fld id="{C1FF6DA9-008F-8B48-92A6-B652298478BF}" type="slidenum">
              <a:rPr lang="en-US" smtClean="0"/>
              <a:t>‹#›</a:t>
            </a:fld>
            <a:endParaRPr lang="en-US"/>
          </a:p>
        </p:txBody>
      </p:sp>
    </p:spTree>
  </p:cSld>
  <p:clrMap bg1="lt1" tx1="dk1" bg2="lt2" tx2="dk2" accent1="accent1" accent2="accent2" accent3="accent3" accent4="accent4" accent5="accent5" accent6="accent6" hlink="hlink" folHlink="folHlink"/>
  <p:sldLayoutIdLst>
    <p:sldLayoutId id="2147483649" r:id="rId1"/>
  </p:sldLayoutIdLst>
  <p:hf dt="0" hdr="0" ftr="0" sldNum="0"/>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ct val="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indent="-228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Presenton_Native_Image_1.jp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Presenton_Native_Image_2.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Presenton_Native_Image_3.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Presenton_Native_Image_4.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Presenton_Native_Image_5.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Presenton_Native_Image_6.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Presenton_Native_Image_7.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Presenton_Native_Image_8.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Presenton_Native_Image_9.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Presenton_Native_Image_3.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Presenton_Native_Image_11.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Presenton_Native_Image_12.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Presenton_Native_Image_13.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Presenton_Native_Image_14.pn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Presenton_Native_Image_15.png"/><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Presenton_Native_Image_16.pn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Presenton_Native_Image_17.png"/><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Presenton_Native_Image_18.png"/><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Presenton_Native_Image_19.png"/><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Presenton_Native_Image_20.png"/><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Presenton_Native_Image_21.png"/><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Presenton_Native_Image_22.png"/><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Presenton_Native_Image_23.png"/><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Presenton_Native_Image_24.png"/><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Presenton_Native_Image_25.png"/><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Presenton_Native_Image_26.png"/><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Presenton_Native_Image_27.png"/><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Presenton_Native_Image_28.png"/><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Presenton_Native_Image_28.png"/><Relationship Id="rId3" Type="http://schemas.openxmlformats.org/officeDocument/2006/relationships/image" Target="../media/Presenton_Native_Image_29.png"/><Relationship Id="rId4"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Presenton_Native_Image_28.png"/><Relationship Id="rId3" Type="http://schemas.openxmlformats.org/officeDocument/2006/relationships/image" Target="../media/Presenton_Native_Image_31.png"/><Relationship Id="rId4"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Presenton_Native_Image_28.png"/><Relationship Id="rId3" Type="http://schemas.openxmlformats.org/officeDocument/2006/relationships/image" Target="../media/Presenton_Native_Image_33.png"/><Relationship Id="rId4"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Presenton_Native_Image_35.png"/><Relationship Id="rId3" Type="http://schemas.openxmlformats.org/officeDocument/2006/relationships/image" Target="../media/Presenton_Native_Image_36.png"/><Relationship Id="rId4"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Presenton_Native_Image_36.png"/><Relationship Id="rId3" Type="http://schemas.openxmlformats.org/officeDocument/2006/relationships/image" Target="../media/Presenton_Native_Image_37.png"/><Relationship Id="rId4"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Presenton_Native_Image_36.png"/><Relationship Id="rId3" Type="http://schemas.openxmlformats.org/officeDocument/2006/relationships/image" Target="../media/Presenton_Native_Image_39.png"/><Relationship Id="rId4"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Presenton_Native_Image_36.png"/><Relationship Id="rId3" Type="http://schemas.openxmlformats.org/officeDocument/2006/relationships/image" Target="../media/Presenton_Native_Image_41.png"/><Relationship Id="rId4"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Presenton_Native_Image_28.png"/><Relationship Id="rId3" Type="http://schemas.openxmlformats.org/officeDocument/2006/relationships/image" Target="../media/Presenton_Native_Image_43.png"/><Relationship Id="rId4"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Presenton_Native_Image_28.png"/><Relationship Id="rId3" Type="http://schemas.openxmlformats.org/officeDocument/2006/relationships/image" Target="../media/Presenton_Native_Image_45.png"/><Relationship Id="rId4"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Presenton_Native_Image_47.png"/><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Presenton_Native_Image_36.png"/><Relationship Id="rId3" Type="http://schemas.openxmlformats.org/officeDocument/2006/relationships/image" Target="../media/Presenton_Native_Image_48.png"/><Relationship Id="rId4"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Presenton_Native_Image_36.png"/><Relationship Id="rId3" Type="http://schemas.openxmlformats.org/officeDocument/2006/relationships/image" Target="../media/Presenton_Native_Image_50.png"/><Relationship Id="rId4"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Presenton_Native_Image_36.png"/><Relationship Id="rId3" Type="http://schemas.openxmlformats.org/officeDocument/2006/relationships/image" Target="../media/Presenton_Native_Image_52.png"/><Relationship Id="rId4"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Presenton_Native_Image_36.png"/><Relationship Id="rId3" Type="http://schemas.openxmlformats.org/officeDocument/2006/relationships/image" Target="../media/Presenton_Native_Image_54.png"/><Relationship Id="rId4"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Presenton_Native_Image_36.png"/><Relationship Id="rId3" Type="http://schemas.openxmlformats.org/officeDocument/2006/relationships/image" Target="../media/Presenton_Native_Image_56.png"/><Relationship Id="rId4"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Presenton_Native_Image_36.png"/><Relationship Id="rId3" Type="http://schemas.openxmlformats.org/officeDocument/2006/relationships/image" Target="../media/Presenton_Native_Image_58.png"/><Relationship Id="rId4"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Presenton_Native_Image_36.png"/><Relationship Id="rId3" Type="http://schemas.openxmlformats.org/officeDocument/2006/relationships/image" Target="../media/Presenton_Native_Image_60.png"/><Relationship Id="rId4"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Presenton_Native_Image_54.png"/><Relationship Id="rId3" Type="http://schemas.openxmlformats.org/officeDocument/2006/relationships/image" Target="../media/Presenton_Native_Image_36.png"/><Relationship Id="rId4"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Presenton_Native_Image_48.png"/><Relationship Id="rId3" Type="http://schemas.openxmlformats.org/officeDocument/2006/relationships/image" Target="../media/Presenton_Native_Image_36.png"/><Relationship Id="rId4"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Presenton_Native_Image_43.png"/><Relationship Id="rId3" Type="http://schemas.openxmlformats.org/officeDocument/2006/relationships/image" Target="../media/Presenton_Native_Image_28.png"/><Relationship Id="rId4"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Presenton_Native_Image_37.png"/><Relationship Id="rId3" Type="http://schemas.openxmlformats.org/officeDocument/2006/relationships/image" Target="../media/Presenton_Native_Image_36.png"/><Relationship Id="rId4"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Presenton_Native_Image_31.png"/><Relationship Id="rId3" Type="http://schemas.openxmlformats.org/officeDocument/2006/relationships/image" Target="../media/Presenton_Native_Image_28.png"/><Relationship Id="rId4"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Presenton_Native_Image_27.png"/><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Presenton_Native_Image_24.png"/><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Presenton_Native_Image_21.png"/><Relationship Id="rId3"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Presenton_Native_Image_18.png"/><Relationship Id="rId3"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Presenton_Native_Image_15.png"/><Relationship Id="rId3"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Presenton_Native_Image_12.png"/><Relationship Id="rId3"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Presenton_Native_Image_9.png"/><Relationship Id="rId3"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Presenton_Native_Image_6.png"/><Relationship Id="rId3"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Presenton_Native_Image_3.png"/><Relationship Id="rId3" Type="http://schemas.openxmlformats.org/officeDocument/2006/relationships/notesSlide" Target="../notesSlides/notesSlide60.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FFFFFF"/>
        </a:solidFill>
      </p:bgPr>
    </p:bg>
    <p:spTree>
      <p:nvGrpSpPr>
        <p:cNvPr id="1" name=""/>
        <p:cNvGrpSpPr/>
        <p:nvPr/>
      </p:nvGrpSpPr>
      <p:grpSpPr>
        <a:xfrm>
          <a:off x="0" y="0"/>
          <a:ext cx="0" cy="0"/>
          <a:chOff x="0" y="0"/>
          <a:chExt cx="0" cy="0"/>
        </a:xfrm>
      </p:grpSpPr>
      <p:sp>
        <p:nvSpPr>
          <p:cNvPr id="711" name="Shape 711"/>
          <p:cNvSpPr/>
          <p:nvPr/>
        </p:nvSpPr>
        <p:spPr>
          <a:xfrm>
            <a:off x="0" y="0"/>
            <a:ext cx="6096000" cy="6858000"/>
          </a:xfrm>
          <a:prstGeom prst="rect">
            <a:avLst/>
          </a:prstGeom>
          <a:solidFill>
            <a:srgbClr val="DCEAF5"/>
          </a:solidFill>
        </p:spPr>
        <p:txBody>
          <a:bodyPr/>
          <a:lstStyle/>
          <a:p/>
        </p:txBody>
      </p:sp>
      <p:sp>
        <p:nvSpPr>
          <p:cNvPr id="712" name="Shape 712"/>
          <p:cNvSpPr/>
          <p:nvPr/>
        </p:nvSpPr>
        <p:spPr>
          <a:xfrm>
            <a:off x="571500" y="1900238"/>
            <a:ext cx="4972050" cy="257175"/>
          </a:xfrm>
          <a:prstGeom prst="rect">
            <a:avLst/>
          </a:prstGeom>
          <a:noFill/>
        </p:spPr>
        <p:txBody>
          <a:bodyPr anchor="t" wrap="square" tIns="0" bIns="0" lIns="0" rIns="0">
            <a:normAutofit/>
          </a:bodyPr>
          <a:lstStyle/>
          <a:p>
            <a:pPr algn="l">
              <a:lnSpc>
                <a:spcPts val="2025"/>
              </a:lnSpc>
              <a:buNone/>
            </a:pPr>
            <a:r>
              <a:rPr sz="1350" b="0" i="0">
                <a:solidFill>
                  <a:srgbClr val="3F6E92"/>
                </a:solidFill>
                <a:latin typeface="Arial"/>
                <a:ea typeface="Arial"/>
              </a:rPr>
              <a:t>NEUR 411 · NEUROETHOLOGY · FALL 2026 · Lecture 21</a:t>
            </a:r>
            <a:endParaRPr lang="en-US"/>
          </a:p>
        </p:txBody>
      </p:sp>
      <p:sp>
        <p:nvSpPr>
          <p:cNvPr id="713" name="Shape 713"/>
          <p:cNvSpPr/>
          <p:nvPr/>
        </p:nvSpPr>
        <p:spPr>
          <a:xfrm>
            <a:off x="571500" y="2443163"/>
            <a:ext cx="4972050" cy="1371600"/>
          </a:xfrm>
          <a:prstGeom prst="rect">
            <a:avLst/>
          </a:prstGeom>
          <a:noFill/>
        </p:spPr>
        <p:txBody>
          <a:bodyPr anchor="t" wrap="square" tIns="0" bIns="0" lIns="0" rIns="0">
            <a:normAutofit/>
          </a:bodyPr>
          <a:lstStyle/>
          <a:p>
            <a:pPr algn="l">
              <a:lnSpc>
                <a:spcPts val="3600"/>
              </a:lnSpc>
              <a:buNone/>
            </a:pPr>
            <a:r>
              <a:rPr sz="3000" b="1" i="0">
                <a:solidFill>
                  <a:srgbClr val="1E3448"/>
                </a:solidFill>
                <a:latin typeface="Arial"/>
                <a:ea typeface="Arial"/>
              </a:rPr>
              <a:t>Electroreception II: active electrolocation in weakly electric fish (Bullock)</a:t>
            </a:r>
            <a:endParaRPr lang="en-US"/>
          </a:p>
        </p:txBody>
      </p:sp>
      <p:sp>
        <p:nvSpPr>
          <p:cNvPr id="714" name="Shape 714"/>
          <p:cNvSpPr/>
          <p:nvPr/>
        </p:nvSpPr>
        <p:spPr>
          <a:xfrm>
            <a:off x="571500" y="4157663"/>
            <a:ext cx="4972050" cy="314325"/>
          </a:xfrm>
          <a:prstGeom prst="rect">
            <a:avLst/>
          </a:prstGeom>
          <a:noFill/>
        </p:spPr>
        <p:txBody>
          <a:bodyPr anchor="t" wrap="square" tIns="0" bIns="0" lIns="0" rIns="0">
            <a:normAutofit/>
          </a:bodyPr>
          <a:lstStyle/>
          <a:p>
            <a:pPr algn="l">
              <a:lnSpc>
                <a:spcPts val="2475"/>
              </a:lnSpc>
              <a:buNone/>
            </a:pPr>
            <a:r>
              <a:rPr sz="1650" b="0" i="0">
                <a:solidFill>
                  <a:srgbClr val="3F6E92"/>
                </a:solidFill>
                <a:latin typeface="Arial"/>
                <a:ea typeface="Arial"/>
              </a:rPr>
              <a:t>Wednesday, October 14, 2026</a:t>
            </a:r>
            <a:endParaRPr lang="en-US"/>
          </a:p>
        </p:txBody>
      </p:sp>
      <p:sp>
        <p:nvSpPr>
          <p:cNvPr id="715" name="Shape 715"/>
          <p:cNvSpPr/>
          <p:nvPr/>
        </p:nvSpPr>
        <p:spPr>
          <a:xfrm>
            <a:off x="571500" y="4700588"/>
            <a:ext cx="4972050" cy="257175"/>
          </a:xfrm>
          <a:prstGeom prst="rect">
            <a:avLst/>
          </a:prstGeom>
          <a:noFill/>
        </p:spPr>
        <p:txBody>
          <a:bodyPr anchor="t" wrap="square" tIns="0" bIns="0" lIns="0" rIns="0">
            <a:normAutofit/>
          </a:bodyPr>
          <a:lstStyle/>
          <a:p>
            <a:pPr algn="l">
              <a:lnSpc>
                <a:spcPts val="2025"/>
              </a:lnSpc>
              <a:buNone/>
            </a:pPr>
            <a:r>
              <a:rPr sz="1350" b="0" i="0">
                <a:solidFill>
                  <a:srgbClr val="1E3448"/>
                </a:solidFill>
                <a:latin typeface="Arial"/>
                <a:ea typeface="Arial"/>
              </a:rPr>
              <a:t>Jordan Lopez, Ph.D.</a:t>
            </a:r>
            <a:endParaRPr lang="en-US"/>
          </a:p>
        </p:txBody>
      </p:sp>
      <p:pic>
        <p:nvPicPr>
          <p:cNvPr id="295" name="Presenton Native Image 1" descr=""/>
          <p:cNvPicPr/>
          <p:nvPr/>
        </p:nvPicPr>
        <p:blipFill>
          <a:blip r:embed="rId2" cstate="none"/>
          <a:stretch>
            <a:fillRect/>
          </a:stretch>
        </p:blipFill>
        <p:spPr>
          <a:xfrm>
            <a:off x="6477000" y="1112044"/>
            <a:ext cx="5238750" cy="3929063"/>
          </a:xfrm>
          <a:prstGeom prst="rect">
            <a:avLst/>
          </a:prstGeom>
        </p:spPr>
      </p:pic>
      <p:sp>
        <p:nvSpPr>
          <p:cNvPr id="716" name="Shape 716"/>
          <p:cNvSpPr/>
          <p:nvPr/>
        </p:nvSpPr>
        <p:spPr>
          <a:xfrm>
            <a:off x="6477000" y="5810250"/>
            <a:ext cx="5257800" cy="185738"/>
          </a:xfrm>
          <a:prstGeom prst="rect">
            <a:avLst/>
          </a:prstGeom>
          <a:noFill/>
        </p:spPr>
        <p:txBody>
          <a:bodyPr anchor="t" wrap="square" tIns="0" bIns="0" lIns="0" rIns="0">
            <a:normAutofit/>
          </a:bodyPr>
          <a:lstStyle/>
          <a:p>
            <a:pPr algn="l">
              <a:lnSpc>
                <a:spcPts val="1463"/>
              </a:lnSpc>
              <a:buNone/>
            </a:pPr>
            <a:r>
              <a:rPr sz="1125" b="0" i="0">
                <a:solidFill>
                  <a:srgbClr val="1F262D"/>
                </a:solidFill>
                <a:latin typeface="Arial"/>
                <a:ea typeface="Arial"/>
              </a:rPr>
              <a:t>Photo: Elephantnose fish (Gnathonemus petersii). Jutta234, CC BY-SA 3.0.</a:t>
            </a:r>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FFFFF"/>
        </a:solidFill>
      </p:bgPr>
    </p:bg>
    <p:spTree>
      <p:nvGrpSpPr>
        <p:cNvPr id="1" name=""/>
        <p:cNvGrpSpPr/>
        <p:nvPr/>
      </p:nvGrpSpPr>
      <p:grpSpPr>
        <a:xfrm>
          <a:off x="0" y="0"/>
          <a:ext cx="0" cy="0"/>
          <a:chOff x="0" y="0"/>
          <a:chExt cx="0" cy="0"/>
        </a:xfrm>
      </p:grpSpPr>
      <p:sp>
        <p:nvSpPr>
          <p:cNvPr id="717" name="Shape 717"/>
          <p:cNvSpPr/>
          <p:nvPr/>
        </p:nvSpPr>
        <p:spPr>
          <a:xfrm>
            <a:off x="457200" y="457200"/>
            <a:ext cx="11296650" cy="350490"/>
          </a:xfrm>
          <a:prstGeom prst="rect">
            <a:avLst/>
          </a:prstGeom>
          <a:noFill/>
        </p:spPr>
        <p:txBody>
          <a:bodyPr anchor="t" wrap="square" tIns="0" bIns="0" lIns="0" rIns="0">
            <a:normAutofit/>
          </a:bodyPr>
          <a:lstStyle/>
          <a:p>
            <a:pPr algn="l">
              <a:lnSpc>
                <a:spcPts val="2760"/>
              </a:lnSpc>
              <a:buNone/>
            </a:pPr>
            <a:r>
              <a:rPr sz="2400" b="1" i="0">
                <a:solidFill>
                  <a:srgbClr val="2B5577"/>
                </a:solidFill>
                <a:latin typeface="Arial"/>
                <a:ea typeface="Arial"/>
              </a:rPr>
              <a:t>Self-generated electric fields support object recognition</a:t>
            </a:r>
            <a:endParaRPr lang="en-US"/>
          </a:p>
        </p:txBody>
      </p:sp>
      <p:sp>
        <p:nvSpPr>
          <p:cNvPr id="718" name="Shape 718"/>
          <p:cNvSpPr/>
          <p:nvPr/>
        </p:nvSpPr>
        <p:spPr>
          <a:xfrm>
            <a:off x="566000" y="1234440"/>
            <a:ext cx="5480000" cy="4915560"/>
          </a:xfrm>
          <a:prstGeom prst="rect">
            <a:avLst/>
          </a:prstGeom>
          <a:noFill/>
        </p:spPr>
        <p:txBody>
          <a:bodyPr anchor="t" wrap="square" tIns="0" bIns="0" lIns="0" rIns="0">
            <a:normAutofit/>
          </a:bodyPr>
          <a:lstStyle/>
          <a:p>
            <a:pPr algn="l">
              <a:lnSpc>
                <a:spcPct val="108000"/>
              </a:lnSpc>
              <a:spcAft>
                <a:spcPts val="1200"/>
              </a:spcAft>
              <a:buNone/>
            </a:pPr>
            <a:r>
              <a:rPr sz="1400" b="0" i="0">
                <a:solidFill>
                  <a:srgbClr val="1F262D"/>
                </a:solidFill>
                <a:latin typeface="Arial"/>
                <a:ea typeface="Arial"/>
              </a:rPr>
              <a:t xml:space="preserve">Active electrolocation is the detection of nearby objects through changes in an electric field that the animal generates itself. The weakly electric elephantnose fish, Gnathonemus petersii, emits brief </a:t>
            </a:r>
            <a:r>
              <a:rPr sz="1400" b="1" i="0">
                <a:solidFill>
                  <a:srgbClr val="1F262D"/>
                </a:solidFill>
                <a:latin typeface="Arial"/>
                <a:ea typeface="Arial"/>
              </a:rPr>
              <a:t>electric organ discharges</a:t>
            </a:r>
            <a:r>
              <a:rPr sz="1400" b="0" i="0">
                <a:solidFill>
                  <a:srgbClr val="1F262D"/>
                </a:solidFill>
                <a:latin typeface="Arial"/>
                <a:ea typeface="Arial"/>
              </a:rPr>
              <a:t xml:space="preserve">, or EODs, and senses how surrounding objects alter the current flowing across its skin. Each discharge therefore samples the nearby objects again.</a:t>
            </a:r>
            <a:endParaRPr lang="en-US"/>
          </a:p>
          <a:p>
            <a:pPr algn="l">
              <a:lnSpc>
                <a:spcPct val="108000"/>
              </a:lnSpc>
              <a:spcAft>
                <a:spcPts val="1200"/>
              </a:spcAft>
              <a:buNone/>
            </a:pPr>
            <a:r>
              <a:rPr sz="1400" b="0" i="0">
                <a:solidFill>
                  <a:srgbClr val="1F262D"/>
                </a:solidFill>
                <a:latin typeface="Arial"/>
                <a:ea typeface="Arial"/>
              </a:rPr>
              <a:t xml:space="preserve">Von der Emde and colleagues trained fish to choose between three-dimensional objects in a two-alternative task, with each trial offering a pair of objects. Recognition persisted in complete darkness, including tests of object size and rotation, so visible appearance was not needed under those conditions. Accurate choices in the dark therefore point to a nonvisual capacity.</a:t>
            </a:r>
            <a:endParaRPr lang="en-US"/>
          </a:p>
          <a:p>
            <a:pPr algn="l">
              <a:lnSpc>
                <a:spcPct val="108000"/>
              </a:lnSpc>
              <a:spcAft>
                <a:spcPts val="1200"/>
              </a:spcAft>
              <a:buNone/>
            </a:pPr>
            <a:r>
              <a:rPr sz="1400" b="0" i="0">
                <a:solidFill>
                  <a:srgbClr val="1F262D"/>
                </a:solidFill>
                <a:latin typeface="Arial"/>
                <a:ea typeface="Arial"/>
              </a:rPr>
              <a:t xml:space="preserve">This behavior concerns near-field sensing rather than a long-range image of the environment. In the tested tasks, object recognition failed beyond about 4 cm, even though the electric field itself extends farther from the fish. Recognition at that range therefore depends on the fish's own electric field, which carries the object's effect to the skin.</a:t>
            </a:r>
            <a:endParaRPr lang="en-US"/>
          </a:p>
        </p:txBody>
      </p:sp>
      <p:pic>
        <p:nvPicPr>
          <p:cNvPr id="296" name="Presenton Native Image 2" descr=""/>
          <p:cNvPicPr/>
          <p:nvPr/>
        </p:nvPicPr>
        <p:blipFill>
          <a:blip r:embed="rId2" cstate="none"/>
          <a:stretch>
            <a:fillRect/>
          </a:stretch>
        </p:blipFill>
        <p:spPr>
          <a:xfrm>
            <a:off x="6610350" y="1712741"/>
            <a:ext cx="5048250" cy="2685698"/>
          </a:xfrm>
          <a:prstGeom prst="rect">
            <a:avLst/>
          </a:prstGeom>
        </p:spPr>
      </p:pic>
      <p:sp>
        <p:nvSpPr>
          <p:cNvPr id="721" name="Shape 721"/>
          <p:cNvSpPr/>
          <p:nvPr/>
        </p:nvSpPr>
        <p:spPr>
          <a:xfrm>
            <a:off x="6610350" y="5170140"/>
            <a:ext cx="5067300" cy="371475"/>
          </a:xfrm>
          <a:prstGeom prst="rect">
            <a:avLst/>
          </a:prstGeom>
          <a:noFill/>
        </p:spPr>
        <p:txBody>
          <a:bodyPr anchor="t" wrap="square" tIns="0" bIns="0" lIns="0" rIns="0">
            <a:normAutofit/>
          </a:bodyPr>
          <a:lstStyle/>
          <a:p>
            <a:pPr algn="l">
              <a:lnSpc>
                <a:spcPts val="1463"/>
              </a:lnSpc>
              <a:buNone/>
            </a:pPr>
            <a:r>
              <a:rPr sz="1125" b="0" i="0">
                <a:solidFill>
                  <a:srgbClr val="1F262D"/>
                </a:solidFill>
                <a:latin typeface="Arial"/>
                <a:ea typeface="Arial"/>
              </a:rPr>
              <a:t>von der Emde et al. (2010), Fig. 1(A–B). Object-choice apparatus and experimental manipulations.</a:t>
            </a:r>
            <a:endParaRPr lang="en-US"/>
          </a:p>
        </p:txBody>
      </p:sp>
      <p:sp>
        <p:nvSpPr>
          <p:cNvPr id="722" name="Shape 722"/>
          <p:cNvSpPr/>
          <p:nvPr/>
        </p:nvSpPr>
        <p:spPr>
          <a:xfrm>
            <a:off x="457200" y="6462713"/>
            <a:ext cx="1528911" cy="185738"/>
          </a:xfrm>
          <a:prstGeom prst="rect">
            <a:avLst/>
          </a:prstGeom>
          <a:noFill/>
        </p:spPr>
        <p:txBody>
          <a:bodyPr anchor="t" wrap="square" tIns="0" bIns="0" lIns="0" rIns="0">
            <a:normAutofit/>
          </a:bodyPr>
          <a:lstStyle/>
          <a:p>
            <a:pPr algn="l">
              <a:lnSpc>
                <a:spcPts val="1463"/>
              </a:lnSpc>
              <a:buNone/>
            </a:pPr>
            <a:r>
              <a:rPr sz="975" b="0" i="0">
                <a:solidFill>
                  <a:srgbClr val="58636E"/>
                </a:solidFill>
                <a:latin typeface="Arial"/>
                <a:ea typeface="Arial"/>
              </a:rPr>
              <a:t>von der Emde et al. (2010)</a:t>
            </a:r>
            <a:endParaRPr lang="en-US"/>
          </a:p>
        </p:txBody>
      </p:sp>
      <p:sp>
        <p:nvSpPr>
          <p:cNvPr id="723" name="Shape 723"/>
          <p:cNvSpPr/>
          <p:nvPr/>
        </p:nvSpPr>
        <p:spPr>
          <a:xfrm>
            <a:off x="11663958" y="6462713"/>
            <a:ext cx="89892" cy="185738"/>
          </a:xfrm>
          <a:prstGeom prst="rect">
            <a:avLst/>
          </a:prstGeom>
          <a:noFill/>
        </p:spPr>
        <p:txBody>
          <a:bodyPr anchor="t" wrap="square" tIns="0" bIns="0" lIns="0" rIns="0">
            <a:normAutofit/>
          </a:bodyPr>
          <a:lstStyle/>
          <a:p>
            <a:pPr algn="l">
              <a:lnSpc>
                <a:spcPts val="1463"/>
              </a:lnSpc>
              <a:buNone/>
            </a:pPr>
            <a:r>
              <a:rPr sz="975" b="0" i="0">
                <a:solidFill>
                  <a:srgbClr val="58636E"/>
                </a:solidFill>
                <a:latin typeface="Arial"/>
                <a:ea typeface="Arial"/>
              </a:rPr>
              <a:t>2</a:t>
            </a:r>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FFFFFF"/>
        </a:solidFill>
      </p:bgPr>
    </p:bg>
    <p:spTree>
      <p:nvGrpSpPr>
        <p:cNvPr id="1" name=""/>
        <p:cNvGrpSpPr/>
        <p:nvPr/>
      </p:nvGrpSpPr>
      <p:grpSpPr>
        <a:xfrm>
          <a:off x="0" y="0"/>
          <a:ext cx="0" cy="0"/>
          <a:chOff x="0" y="0"/>
          <a:chExt cx="0" cy="0"/>
        </a:xfrm>
      </p:grpSpPr>
      <p:sp>
        <p:nvSpPr>
          <p:cNvPr id="724" name="Shape 724"/>
          <p:cNvSpPr/>
          <p:nvPr/>
        </p:nvSpPr>
        <p:spPr>
          <a:xfrm>
            <a:off x="457200" y="457200"/>
            <a:ext cx="11296650" cy="350490"/>
          </a:xfrm>
          <a:prstGeom prst="rect">
            <a:avLst/>
          </a:prstGeom>
          <a:noFill/>
        </p:spPr>
        <p:txBody>
          <a:bodyPr anchor="t" wrap="square" tIns="0" bIns="0" lIns="0" rIns="0">
            <a:normAutofit/>
          </a:bodyPr>
          <a:lstStyle/>
          <a:p>
            <a:pPr algn="l">
              <a:lnSpc>
                <a:spcPts val="2760"/>
              </a:lnSpc>
              <a:buNone/>
            </a:pPr>
            <a:r>
              <a:rPr sz="2400" b="1" i="0">
                <a:solidFill>
                  <a:srgbClr val="2B5577"/>
                </a:solidFill>
                <a:latin typeface="Arial"/>
                <a:ea typeface="Arial"/>
              </a:rPr>
              <a:t>An electric image is a pattern across the sensory skin</a:t>
            </a:r>
            <a:endParaRPr lang="en-US"/>
          </a:p>
        </p:txBody>
      </p:sp>
      <p:sp>
        <p:nvSpPr>
          <p:cNvPr id="725" name="Shape 725"/>
          <p:cNvSpPr/>
          <p:nvPr/>
        </p:nvSpPr>
        <p:spPr>
          <a:xfrm>
            <a:off x="566000" y="1234440"/>
            <a:ext cx="5480000" cy="4915560"/>
          </a:xfrm>
          <a:prstGeom prst="rect">
            <a:avLst/>
          </a:prstGeom>
          <a:noFill/>
        </p:spPr>
        <p:txBody>
          <a:bodyPr anchor="t" wrap="square" tIns="0" bIns="0" lIns="0" rIns="0">
            <a:normAutofit/>
          </a:bodyPr>
          <a:lstStyle/>
          <a:p>
            <a:pPr algn="l">
              <a:lnSpc>
                <a:spcPct val="108000"/>
              </a:lnSpc>
              <a:spcAft>
                <a:spcPts val="1200"/>
              </a:spcAft>
              <a:buNone/>
            </a:pPr>
            <a:r>
              <a:rPr sz="1400" b="0" i="0">
                <a:solidFill>
                  <a:srgbClr val="1F262D"/>
                </a:solidFill>
                <a:latin typeface="Arial"/>
                <a:ea typeface="Arial"/>
              </a:rPr>
              <a:t xml:space="preserve">An </a:t>
            </a:r>
            <a:r>
              <a:rPr sz="1400" b="1" i="0">
                <a:solidFill>
                  <a:srgbClr val="1F262D"/>
                </a:solidFill>
                <a:latin typeface="Arial"/>
                <a:ea typeface="Arial"/>
              </a:rPr>
              <a:t>electric image</a:t>
            </a:r>
            <a:r>
              <a:rPr sz="1400" b="0" i="0">
                <a:solidFill>
                  <a:srgbClr val="1F262D"/>
                </a:solidFill>
                <a:latin typeface="Arial"/>
                <a:ea typeface="Arial"/>
              </a:rPr>
              <a:t xml:space="preserve"> is the spatial pattern of object-induced change in current across the fish's skin. An object whose conductivity differs from the water around it changes the local electric field, so the pattern carries information about that object. The sensory skin registers that pattern across many locations at once, and each location contributes a different part of it.</a:t>
            </a:r>
            <a:endParaRPr lang="en-US"/>
          </a:p>
          <a:p>
            <a:pPr algn="l">
              <a:lnSpc>
                <a:spcPct val="108000"/>
              </a:lnSpc>
              <a:spcAft>
                <a:spcPts val="1200"/>
              </a:spcAft>
              <a:buNone/>
            </a:pPr>
            <a:r>
              <a:rPr sz="1400" b="0" i="0">
                <a:solidFill>
                  <a:srgbClr val="1F262D"/>
                </a:solidFill>
                <a:latin typeface="Arial"/>
                <a:ea typeface="Arial"/>
              </a:rPr>
              <a:t xml:space="preserve">Hofmann and colleagues recorded spontaneous approaches to metal cubes and reconstructed electric images with a biophysical model. Comparing object-present and object-absent simulations isolated the perturbation that the object produced along the sensory surface. The model used measured behavior as its constraint, so each estimate reflects the movements the fish actually made during each approach.</a:t>
            </a:r>
            <a:endParaRPr lang="en-US"/>
          </a:p>
          <a:p>
            <a:pPr algn="l">
              <a:lnSpc>
                <a:spcPct val="108000"/>
              </a:lnSpc>
              <a:spcAft>
                <a:spcPts val="1200"/>
              </a:spcAft>
              <a:buNone/>
            </a:pPr>
            <a:r>
              <a:rPr sz="1400" b="0" i="0">
                <a:solidFill>
                  <a:srgbClr val="1F262D"/>
                </a:solidFill>
                <a:latin typeface="Arial"/>
                <a:ea typeface="Arial"/>
              </a:rPr>
              <a:t xml:space="preserve">The reconstructed images changed over successive discharges as the fish approached the object. These are model-based estimates rather than direct recordings from every receptor, so each frame is a predicted current pattern that approximates the object's geometry closely. The sequence of frames therefore follows the fish's approach from distance to close inspection.</a:t>
            </a:r>
            <a:endParaRPr lang="en-US"/>
          </a:p>
        </p:txBody>
      </p:sp>
      <p:pic>
        <p:nvPicPr>
          <p:cNvPr id="297" name="Presenton Native Image 3" descr=""/>
          <p:cNvPicPr/>
          <p:nvPr/>
        </p:nvPicPr>
        <p:blipFill>
          <a:blip r:embed="rId2" cstate="none"/>
          <a:stretch>
            <a:fillRect/>
          </a:stretch>
        </p:blipFill>
        <p:spPr>
          <a:xfrm>
            <a:off x="6835061" y="1055340"/>
            <a:ext cx="4598828" cy="4000500"/>
          </a:xfrm>
          <a:prstGeom prst="rect">
            <a:avLst/>
          </a:prstGeom>
        </p:spPr>
      </p:pic>
      <p:sp>
        <p:nvSpPr>
          <p:cNvPr id="728" name="Shape 728"/>
          <p:cNvSpPr/>
          <p:nvPr/>
        </p:nvSpPr>
        <p:spPr>
          <a:xfrm>
            <a:off x="6610350" y="5170140"/>
            <a:ext cx="5067300" cy="371475"/>
          </a:xfrm>
          <a:prstGeom prst="rect">
            <a:avLst/>
          </a:prstGeom>
          <a:noFill/>
        </p:spPr>
        <p:txBody>
          <a:bodyPr anchor="t" wrap="square" tIns="0" bIns="0" lIns="0" rIns="0">
            <a:normAutofit/>
          </a:bodyPr>
          <a:lstStyle/>
          <a:p>
            <a:pPr algn="l">
              <a:lnSpc>
                <a:spcPts val="1463"/>
              </a:lnSpc>
              <a:buNone/>
            </a:pPr>
            <a:r>
              <a:rPr sz="1125" b="0" i="0">
                <a:solidFill>
                  <a:srgbClr val="1F262D"/>
                </a:solidFill>
                <a:latin typeface="Arial"/>
                <a:ea typeface="Arial"/>
              </a:rPr>
              <a:t>Hofmann et al. (2017), Fig. 2(A–G). Published reconstruction of electric images during approach.</a:t>
            </a:r>
            <a:endParaRPr lang="en-US"/>
          </a:p>
        </p:txBody>
      </p:sp>
      <p:sp>
        <p:nvSpPr>
          <p:cNvPr id="729" name="Shape 729"/>
          <p:cNvSpPr/>
          <p:nvPr/>
        </p:nvSpPr>
        <p:spPr>
          <a:xfrm>
            <a:off x="457200" y="6462713"/>
            <a:ext cx="1269950" cy="185738"/>
          </a:xfrm>
          <a:prstGeom prst="rect">
            <a:avLst/>
          </a:prstGeom>
          <a:noFill/>
        </p:spPr>
        <p:txBody>
          <a:bodyPr anchor="t" wrap="square" tIns="0" bIns="0" lIns="0" rIns="0">
            <a:normAutofit/>
          </a:bodyPr>
          <a:lstStyle/>
          <a:p>
            <a:pPr algn="l">
              <a:lnSpc>
                <a:spcPts val="1463"/>
              </a:lnSpc>
              <a:buNone/>
            </a:pPr>
            <a:r>
              <a:rPr sz="975" b="0" i="0">
                <a:solidFill>
                  <a:srgbClr val="58636E"/>
                </a:solidFill>
                <a:latin typeface="Arial"/>
                <a:ea typeface="Arial"/>
              </a:rPr>
              <a:t>Hofmann et al. (2017)</a:t>
            </a:r>
            <a:endParaRPr lang="en-US"/>
          </a:p>
        </p:txBody>
      </p:sp>
      <p:sp>
        <p:nvSpPr>
          <p:cNvPr id="730" name="Shape 730"/>
          <p:cNvSpPr/>
          <p:nvPr/>
        </p:nvSpPr>
        <p:spPr>
          <a:xfrm>
            <a:off x="11663958" y="6462713"/>
            <a:ext cx="89892" cy="185738"/>
          </a:xfrm>
          <a:prstGeom prst="rect">
            <a:avLst/>
          </a:prstGeom>
          <a:noFill/>
        </p:spPr>
        <p:txBody>
          <a:bodyPr anchor="t" wrap="square" tIns="0" bIns="0" lIns="0" rIns="0">
            <a:normAutofit/>
          </a:bodyPr>
          <a:lstStyle/>
          <a:p>
            <a:pPr algn="l">
              <a:lnSpc>
                <a:spcPts val="1463"/>
              </a:lnSpc>
              <a:buNone/>
            </a:pPr>
            <a:r>
              <a:rPr sz="975" b="0" i="0">
                <a:solidFill>
                  <a:srgbClr val="58636E"/>
                </a:solidFill>
                <a:latin typeface="Arial"/>
                <a:ea typeface="Arial"/>
              </a:rPr>
              <a:t>3</a:t>
            </a:r>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FFFFF"/>
        </a:solidFill>
      </p:bgPr>
    </p:bg>
    <p:spTree>
      <p:nvGrpSpPr>
        <p:cNvPr id="1" name=""/>
        <p:cNvGrpSpPr/>
        <p:nvPr/>
      </p:nvGrpSpPr>
      <p:grpSpPr>
        <a:xfrm>
          <a:off x="0" y="0"/>
          <a:ext cx="0" cy="0"/>
          <a:chOff x="0" y="0"/>
          <a:chExt cx="0" cy="0"/>
        </a:xfrm>
      </p:grpSpPr>
      <p:sp>
        <p:nvSpPr>
          <p:cNvPr id="731" name="Shape 731"/>
          <p:cNvSpPr/>
          <p:nvPr/>
        </p:nvSpPr>
        <p:spPr>
          <a:xfrm>
            <a:off x="457200" y="457200"/>
            <a:ext cx="11296650" cy="350490"/>
          </a:xfrm>
          <a:prstGeom prst="rect">
            <a:avLst/>
          </a:prstGeom>
          <a:noFill/>
        </p:spPr>
        <p:txBody>
          <a:bodyPr anchor="t" wrap="square" tIns="0" bIns="0" lIns="0" rIns="0">
            <a:normAutofit/>
          </a:bodyPr>
          <a:lstStyle/>
          <a:p>
            <a:pPr algn="l">
              <a:lnSpc>
                <a:spcPts val="2760"/>
              </a:lnSpc>
              <a:buNone/>
            </a:pPr>
            <a:r>
              <a:rPr sz="2400" b="1" i="0">
                <a:solidFill>
                  <a:srgbClr val="2B5577"/>
                </a:solidFill>
                <a:latin typeface="Arial"/>
                <a:ea typeface="Arial"/>
              </a:rPr>
              <a:t>Object choice can generalize to unfamiliar alternatives</a:t>
            </a:r>
            <a:endParaRPr lang="en-US"/>
          </a:p>
        </p:txBody>
      </p:sp>
      <p:sp>
        <p:nvSpPr>
          <p:cNvPr id="732" name="Shape 732"/>
          <p:cNvSpPr/>
          <p:nvPr/>
        </p:nvSpPr>
        <p:spPr>
          <a:xfrm>
            <a:off x="566000" y="1234440"/>
            <a:ext cx="5480000" cy="4915560"/>
          </a:xfrm>
          <a:prstGeom prst="rect">
            <a:avLst/>
          </a:prstGeom>
          <a:noFill/>
        </p:spPr>
        <p:txBody>
          <a:bodyPr anchor="t" wrap="square" tIns="0" bIns="0" lIns="0" rIns="0">
            <a:normAutofit/>
          </a:bodyPr>
          <a:lstStyle/>
          <a:p>
            <a:pPr algn="l">
              <a:lnSpc>
                <a:spcPct val="108000"/>
              </a:lnSpc>
              <a:spcAft>
                <a:spcPts val="1200"/>
              </a:spcAft>
              <a:buNone/>
            </a:pPr>
            <a:r>
              <a:rPr sz="1400" b="1" i="0">
                <a:solidFill>
                  <a:srgbClr val="1F262D"/>
                </a:solidFill>
                <a:latin typeface="Arial"/>
                <a:ea typeface="Arial"/>
              </a:rPr>
              <a:t>Generalization</a:t>
            </a:r>
            <a:r>
              <a:rPr sz="1400" b="0" i="0">
                <a:solidFill>
                  <a:srgbClr val="1F262D"/>
                </a:solidFill>
                <a:latin typeface="Arial"/>
                <a:ea typeface="Arial"/>
              </a:rPr>
              <a:t xml:space="preserve"> is preservation of a learned response when conditions differ from training. Von der Emde and colleagues trained an elephantnose fish to recognize a compound object, a cone with a sphere above it, while varying the alternative object across trials. The alternative changed from one trial to the next, so no single pair was ever repeated.</a:t>
            </a:r>
            <a:endParaRPr lang="en-US"/>
          </a:p>
          <a:p>
            <a:pPr algn="l">
              <a:lnSpc>
                <a:spcPct val="108000"/>
              </a:lnSpc>
              <a:spcAft>
                <a:spcPts val="1200"/>
              </a:spcAft>
              <a:buNone/>
            </a:pPr>
            <a:r>
              <a:rPr sz="1400" b="0" i="0">
                <a:solidFill>
                  <a:srgbClr val="1F262D"/>
                </a:solidFill>
                <a:latin typeface="Arial"/>
                <a:ea typeface="Arial"/>
              </a:rPr>
              <a:t xml:space="preserve">After about three months of training, the fish preferred the rewarded object over both familiar alternatives and two previously unfamiliar objects. Test trials carried no reward or punishment, so the new pairings were never reinforced during testing. Each familiar alternative was an object the fish had already seen during training, and preference was measured across all of the pairs.</a:t>
            </a:r>
            <a:endParaRPr lang="en-US"/>
          </a:p>
          <a:p>
            <a:pPr algn="l">
              <a:lnSpc>
                <a:spcPct val="108000"/>
              </a:lnSpc>
              <a:spcAft>
                <a:spcPts val="1200"/>
              </a:spcAft>
              <a:buNone/>
            </a:pPr>
            <a:r>
              <a:rPr sz="1400" b="0" i="0">
                <a:solidFill>
                  <a:srgbClr val="1F262D"/>
                </a:solidFill>
                <a:latin typeface="Arial"/>
                <a:ea typeface="Arial"/>
              </a:rPr>
              <a:t xml:space="preserve">Recognition therefore depended on features shared by the positive object rather than on memorizing one fixed pair. The fish's preference extended to objects it had never been trained against, which makes generalization the defining feature of this task. Electrical and movement-dependent cues could both supply the features that guided the choice in each trial.</a:t>
            </a:r>
            <a:endParaRPr lang="en-US"/>
          </a:p>
        </p:txBody>
      </p:sp>
      <p:pic>
        <p:nvPicPr>
          <p:cNvPr id="298" name="Presenton Native Image 4" descr=""/>
          <p:cNvPicPr/>
          <p:nvPr/>
        </p:nvPicPr>
        <p:blipFill>
          <a:blip r:embed="rId2" cstate="none"/>
          <a:stretch>
            <a:fillRect/>
          </a:stretch>
        </p:blipFill>
        <p:spPr>
          <a:xfrm>
            <a:off x="6719665" y="1055340"/>
            <a:ext cx="4829619" cy="4000500"/>
          </a:xfrm>
          <a:prstGeom prst="rect">
            <a:avLst/>
          </a:prstGeom>
        </p:spPr>
      </p:pic>
      <p:sp>
        <p:nvSpPr>
          <p:cNvPr id="735" name="Shape 735"/>
          <p:cNvSpPr/>
          <p:nvPr/>
        </p:nvSpPr>
        <p:spPr>
          <a:xfrm>
            <a:off x="6610350" y="5170140"/>
            <a:ext cx="5067300" cy="371475"/>
          </a:xfrm>
          <a:prstGeom prst="rect">
            <a:avLst/>
          </a:prstGeom>
          <a:noFill/>
        </p:spPr>
        <p:txBody>
          <a:bodyPr anchor="t" wrap="square" tIns="0" bIns="0" lIns="0" rIns="0">
            <a:normAutofit/>
          </a:bodyPr>
          <a:lstStyle/>
          <a:p>
            <a:pPr algn="l">
              <a:lnSpc>
                <a:spcPts val="1463"/>
              </a:lnSpc>
              <a:buNone/>
            </a:pPr>
            <a:r>
              <a:rPr sz="1125" b="0" i="0">
                <a:solidFill>
                  <a:srgbClr val="1F262D"/>
                </a:solidFill>
                <a:latin typeface="Arial"/>
                <a:ea typeface="Arial"/>
              </a:rPr>
              <a:t>von der Emde et al. (2010), Fig. 2. Recognition with familiar and novel negative objects.</a:t>
            </a:r>
            <a:endParaRPr lang="en-US"/>
          </a:p>
        </p:txBody>
      </p:sp>
      <p:sp>
        <p:nvSpPr>
          <p:cNvPr id="736" name="Shape 736"/>
          <p:cNvSpPr/>
          <p:nvPr/>
        </p:nvSpPr>
        <p:spPr>
          <a:xfrm>
            <a:off x="457200" y="6462713"/>
            <a:ext cx="1528911" cy="185738"/>
          </a:xfrm>
          <a:prstGeom prst="rect">
            <a:avLst/>
          </a:prstGeom>
          <a:noFill/>
        </p:spPr>
        <p:txBody>
          <a:bodyPr anchor="t" wrap="square" tIns="0" bIns="0" lIns="0" rIns="0">
            <a:normAutofit/>
          </a:bodyPr>
          <a:lstStyle/>
          <a:p>
            <a:pPr algn="l">
              <a:lnSpc>
                <a:spcPts val="1463"/>
              </a:lnSpc>
              <a:buNone/>
            </a:pPr>
            <a:r>
              <a:rPr sz="975" b="0" i="0">
                <a:solidFill>
                  <a:srgbClr val="58636E"/>
                </a:solidFill>
                <a:latin typeface="Arial"/>
                <a:ea typeface="Arial"/>
              </a:rPr>
              <a:t>von der Emde et al. (2010)</a:t>
            </a:r>
            <a:endParaRPr lang="en-US"/>
          </a:p>
        </p:txBody>
      </p:sp>
      <p:sp>
        <p:nvSpPr>
          <p:cNvPr id="737" name="Shape 737"/>
          <p:cNvSpPr/>
          <p:nvPr/>
        </p:nvSpPr>
        <p:spPr>
          <a:xfrm>
            <a:off x="11663958" y="6462713"/>
            <a:ext cx="89892" cy="185738"/>
          </a:xfrm>
          <a:prstGeom prst="rect">
            <a:avLst/>
          </a:prstGeom>
          <a:noFill/>
        </p:spPr>
        <p:txBody>
          <a:bodyPr anchor="t" wrap="square" tIns="0" bIns="0" lIns="0" rIns="0">
            <a:normAutofit/>
          </a:bodyPr>
          <a:lstStyle/>
          <a:p>
            <a:pPr algn="l">
              <a:lnSpc>
                <a:spcPts val="1463"/>
              </a:lnSpc>
              <a:buNone/>
            </a:pPr>
            <a:r>
              <a:rPr sz="975" b="0" i="0">
                <a:solidFill>
                  <a:srgbClr val="58636E"/>
                </a:solidFill>
                <a:latin typeface="Arial"/>
                <a:ea typeface="Arial"/>
              </a:rPr>
              <a:t>4</a:t>
            </a:r>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FFFFF"/>
        </a:solidFill>
      </p:bgPr>
    </p:bg>
    <p:spTree>
      <p:nvGrpSpPr>
        <p:cNvPr id="1" name=""/>
        <p:cNvGrpSpPr/>
        <p:nvPr/>
      </p:nvGrpSpPr>
      <p:grpSpPr>
        <a:xfrm>
          <a:off x="0" y="0"/>
          <a:ext cx="0" cy="0"/>
          <a:chOff x="0" y="0"/>
          <a:chExt cx="0" cy="0"/>
        </a:xfrm>
      </p:grpSpPr>
      <p:sp>
        <p:nvSpPr>
          <p:cNvPr id="738" name="Shape 738"/>
          <p:cNvSpPr/>
          <p:nvPr/>
        </p:nvSpPr>
        <p:spPr>
          <a:xfrm>
            <a:off x="457200" y="457200"/>
            <a:ext cx="11296650" cy="350490"/>
          </a:xfrm>
          <a:prstGeom prst="rect">
            <a:avLst/>
          </a:prstGeom>
          <a:noFill/>
        </p:spPr>
        <p:txBody>
          <a:bodyPr anchor="t" wrap="square" tIns="0" bIns="0" lIns="0" rIns="0">
            <a:normAutofit/>
          </a:bodyPr>
          <a:lstStyle/>
          <a:p>
            <a:pPr algn="l">
              <a:lnSpc>
                <a:spcPts val="2760"/>
              </a:lnSpc>
              <a:buNone/>
            </a:pPr>
            <a:r>
              <a:rPr sz="2400" b="1" i="0">
                <a:solidFill>
                  <a:srgbClr val="2B5577"/>
                </a:solidFill>
                <a:latin typeface="Arial"/>
                <a:ea typeface="Arial"/>
              </a:rPr>
              <a:t>Recognition can depend unequally on object components</a:t>
            </a:r>
            <a:endParaRPr lang="en-US"/>
          </a:p>
        </p:txBody>
      </p:sp>
      <p:sp>
        <p:nvSpPr>
          <p:cNvPr id="739" name="Shape 739"/>
          <p:cNvSpPr/>
          <p:nvPr/>
        </p:nvSpPr>
        <p:spPr>
          <a:xfrm>
            <a:off x="566000" y="1234440"/>
            <a:ext cx="5480000" cy="4915560"/>
          </a:xfrm>
          <a:prstGeom prst="rect">
            <a:avLst/>
          </a:prstGeom>
          <a:noFill/>
        </p:spPr>
        <p:txBody>
          <a:bodyPr anchor="t" wrap="square" tIns="0" bIns="0" lIns="0" rIns="0">
            <a:normAutofit/>
          </a:bodyPr>
          <a:lstStyle/>
          <a:p>
            <a:pPr algn="l">
              <a:lnSpc>
                <a:spcPct val="108000"/>
              </a:lnSpc>
              <a:spcAft>
                <a:spcPts val="1200"/>
              </a:spcAft>
              <a:buNone/>
            </a:pPr>
            <a:r>
              <a:rPr sz="1400" b="0" i="0">
                <a:solidFill>
                  <a:srgbClr val="1F262D"/>
                </a:solidFill>
                <a:latin typeface="Arial"/>
                <a:ea typeface="Arial"/>
              </a:rPr>
              <a:t xml:space="preserve">A </a:t>
            </a:r>
            <a:r>
              <a:rPr sz="1400" b="1" i="0">
                <a:solidFill>
                  <a:srgbClr val="1F262D"/>
                </a:solidFill>
                <a:latin typeface="Arial"/>
                <a:ea typeface="Arial"/>
              </a:rPr>
              <a:t>component cue</a:t>
            </a:r>
            <a:r>
              <a:rPr sz="1400" b="0" i="0">
                <a:solidFill>
                  <a:srgbClr val="1F262D"/>
                </a:solidFill>
                <a:latin typeface="Arial"/>
                <a:ea typeface="Arial"/>
              </a:rPr>
              <a:t xml:space="preserve"> is an identifiable part of a larger object that can contribute to recognition. The compound training object had a sphere, a cone, and a narrow junction, so von der Emde and colleagues could test each part as a separate stimulus against novel alternatives. The intact object served as the reference for every component test.</a:t>
            </a:r>
            <a:endParaRPr lang="en-US"/>
          </a:p>
          <a:p>
            <a:pPr algn="l">
              <a:lnSpc>
                <a:spcPct val="108000"/>
              </a:lnSpc>
              <a:spcAft>
                <a:spcPts val="1200"/>
              </a:spcAft>
              <a:buNone/>
            </a:pPr>
            <a:r>
              <a:rPr sz="1400" b="0" i="0">
                <a:solidFill>
                  <a:srgbClr val="1F262D"/>
                </a:solidFill>
                <a:latin typeface="Arial"/>
                <a:ea typeface="Arial"/>
              </a:rPr>
              <a:t xml:space="preserve">The sphere kept much of the preference that the intact object produced. The cone gave lower choice frequencies, roughly 70% or 59% depending on the alternative, and a stimulus mimicking the narrow junction also reduced recognition. Each component therefore produced its own level of recognition, measured against the same novel alternatives that the intact object faced.</a:t>
            </a:r>
            <a:endParaRPr lang="en-US"/>
          </a:p>
          <a:p>
            <a:pPr algn="l">
              <a:lnSpc>
                <a:spcPct val="108000"/>
              </a:lnSpc>
              <a:spcAft>
                <a:spcPts val="1200"/>
              </a:spcAft>
              <a:buNone/>
            </a:pPr>
            <a:r>
              <a:rPr sz="1400" b="0" i="0">
                <a:solidFill>
                  <a:srgbClr val="1F262D"/>
                </a:solidFill>
                <a:latin typeface="Arial"/>
                <a:ea typeface="Arial"/>
              </a:rPr>
              <a:t xml:space="preserve">The parts were therefore not equally effective, so learned object features are used selectively. Choices reveal this selectivity at the level of behavior, and removing one component changes the electric pattern available to the animal. Recognition of the compound object rests on several learned components rather than on any one of them alone.</a:t>
            </a:r>
            <a:endParaRPr lang="en-US"/>
          </a:p>
        </p:txBody>
      </p:sp>
      <p:pic>
        <p:nvPicPr>
          <p:cNvPr id="299" name="Presenton Native Image 5" descr=""/>
          <p:cNvPicPr/>
          <p:nvPr/>
        </p:nvPicPr>
        <p:blipFill>
          <a:blip r:embed="rId2" cstate="none"/>
          <a:stretch>
            <a:fillRect/>
          </a:stretch>
        </p:blipFill>
        <p:spPr>
          <a:xfrm>
            <a:off x="7997777" y="1055340"/>
            <a:ext cx="2273397" cy="4000500"/>
          </a:xfrm>
          <a:prstGeom prst="rect">
            <a:avLst/>
          </a:prstGeom>
        </p:spPr>
      </p:pic>
      <p:sp>
        <p:nvSpPr>
          <p:cNvPr id="742" name="Shape 742"/>
          <p:cNvSpPr/>
          <p:nvPr/>
        </p:nvSpPr>
        <p:spPr>
          <a:xfrm>
            <a:off x="6610350" y="5170140"/>
            <a:ext cx="5067300" cy="371475"/>
          </a:xfrm>
          <a:prstGeom prst="rect">
            <a:avLst/>
          </a:prstGeom>
          <a:noFill/>
        </p:spPr>
        <p:txBody>
          <a:bodyPr anchor="t" wrap="square" tIns="0" bIns="0" lIns="0" rIns="0">
            <a:normAutofit/>
          </a:bodyPr>
          <a:lstStyle/>
          <a:p>
            <a:pPr algn="l">
              <a:lnSpc>
                <a:spcPts val="1463"/>
              </a:lnSpc>
              <a:buNone/>
            </a:pPr>
            <a:r>
              <a:rPr sz="1125" b="0" i="0">
                <a:solidFill>
                  <a:srgbClr val="1F262D"/>
                </a:solidFill>
                <a:latin typeface="Arial"/>
                <a:ea typeface="Arial"/>
              </a:rPr>
              <a:t>von der Emde et al. (2010), Fig. 3(A–B). Choices for the compound object and its components.</a:t>
            </a:r>
            <a:endParaRPr lang="en-US"/>
          </a:p>
        </p:txBody>
      </p:sp>
      <p:sp>
        <p:nvSpPr>
          <p:cNvPr id="743" name="Shape 743"/>
          <p:cNvSpPr/>
          <p:nvPr/>
        </p:nvSpPr>
        <p:spPr>
          <a:xfrm>
            <a:off x="457200" y="6462713"/>
            <a:ext cx="1528911" cy="185738"/>
          </a:xfrm>
          <a:prstGeom prst="rect">
            <a:avLst/>
          </a:prstGeom>
          <a:noFill/>
        </p:spPr>
        <p:txBody>
          <a:bodyPr anchor="t" wrap="square" tIns="0" bIns="0" lIns="0" rIns="0">
            <a:normAutofit/>
          </a:bodyPr>
          <a:lstStyle/>
          <a:p>
            <a:pPr algn="l">
              <a:lnSpc>
                <a:spcPts val="1463"/>
              </a:lnSpc>
              <a:buNone/>
            </a:pPr>
            <a:r>
              <a:rPr sz="975" b="0" i="0">
                <a:solidFill>
                  <a:srgbClr val="58636E"/>
                </a:solidFill>
                <a:latin typeface="Arial"/>
                <a:ea typeface="Arial"/>
              </a:rPr>
              <a:t>von der Emde et al. (2010)</a:t>
            </a:r>
            <a:endParaRPr lang="en-US"/>
          </a:p>
        </p:txBody>
      </p:sp>
      <p:sp>
        <p:nvSpPr>
          <p:cNvPr id="744" name="Shape 744"/>
          <p:cNvSpPr/>
          <p:nvPr/>
        </p:nvSpPr>
        <p:spPr>
          <a:xfrm>
            <a:off x="11663958" y="6462713"/>
            <a:ext cx="89892" cy="185738"/>
          </a:xfrm>
          <a:prstGeom prst="rect">
            <a:avLst/>
          </a:prstGeom>
          <a:noFill/>
        </p:spPr>
        <p:txBody>
          <a:bodyPr anchor="t" wrap="square" tIns="0" bIns="0" lIns="0" rIns="0">
            <a:normAutofit/>
          </a:bodyPr>
          <a:lstStyle/>
          <a:p>
            <a:pPr algn="l">
              <a:lnSpc>
                <a:spcPts val="1463"/>
              </a:lnSpc>
              <a:buNone/>
            </a:pPr>
            <a:r>
              <a:rPr sz="975" b="0" i="0">
                <a:solidFill>
                  <a:srgbClr val="58636E"/>
                </a:solidFill>
                <a:latin typeface="Arial"/>
                <a:ea typeface="Arial"/>
              </a:rPr>
              <a:t>5</a:t>
            </a:r>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FFFFF"/>
        </a:solidFill>
      </p:bgPr>
    </p:bg>
    <p:spTree>
      <p:nvGrpSpPr>
        <p:cNvPr id="1" name=""/>
        <p:cNvGrpSpPr/>
        <p:nvPr/>
      </p:nvGrpSpPr>
      <p:grpSpPr>
        <a:xfrm>
          <a:off x="0" y="0"/>
          <a:ext cx="0" cy="0"/>
          <a:chOff x="0" y="0"/>
          <a:chExt cx="0" cy="0"/>
        </a:xfrm>
      </p:grpSpPr>
      <p:sp>
        <p:nvSpPr>
          <p:cNvPr id="745" name="Shape 745"/>
          <p:cNvSpPr/>
          <p:nvPr/>
        </p:nvSpPr>
        <p:spPr>
          <a:xfrm>
            <a:off x="457200" y="457200"/>
            <a:ext cx="11296650" cy="350490"/>
          </a:xfrm>
          <a:prstGeom prst="rect">
            <a:avLst/>
          </a:prstGeom>
          <a:noFill/>
        </p:spPr>
        <p:txBody>
          <a:bodyPr anchor="t" wrap="square" tIns="0" bIns="0" lIns="0" rIns="0">
            <a:normAutofit/>
          </a:bodyPr>
          <a:lstStyle/>
          <a:p>
            <a:pPr algn="l">
              <a:lnSpc>
                <a:spcPts val="2760"/>
              </a:lnSpc>
              <a:buNone/>
            </a:pPr>
            <a:r>
              <a:rPr sz="2400" b="1" i="0">
                <a:solidFill>
                  <a:srgbClr val="2B5577"/>
                </a:solidFill>
                <a:latin typeface="Arial"/>
                <a:ea typeface="Arial"/>
              </a:rPr>
              <a:t>Physical size can be recognized despite image changes</a:t>
            </a:r>
            <a:endParaRPr lang="en-US"/>
          </a:p>
        </p:txBody>
      </p:sp>
      <p:sp>
        <p:nvSpPr>
          <p:cNvPr id="746" name="Shape 746"/>
          <p:cNvSpPr/>
          <p:nvPr/>
        </p:nvSpPr>
        <p:spPr>
          <a:xfrm>
            <a:off x="566000" y="1234440"/>
            <a:ext cx="5480000" cy="4915560"/>
          </a:xfrm>
          <a:prstGeom prst="rect">
            <a:avLst/>
          </a:prstGeom>
          <a:noFill/>
        </p:spPr>
        <p:txBody>
          <a:bodyPr anchor="t" wrap="square" tIns="0" bIns="0" lIns="0" rIns="0">
            <a:normAutofit/>
          </a:bodyPr>
          <a:lstStyle/>
          <a:p>
            <a:pPr algn="l">
              <a:lnSpc>
                <a:spcPct val="108000"/>
              </a:lnSpc>
              <a:spcAft>
                <a:spcPts val="1200"/>
              </a:spcAft>
              <a:buNone/>
            </a:pPr>
            <a:r>
              <a:rPr sz="1400" b="1" i="0">
                <a:solidFill>
                  <a:srgbClr val="1F262D"/>
                </a:solidFill>
                <a:latin typeface="Arial"/>
                <a:ea typeface="Arial"/>
              </a:rPr>
              <a:t>Size constancy</a:t>
            </a:r>
            <a:r>
              <a:rPr sz="1400" b="0" i="0">
                <a:solidFill>
                  <a:srgbClr val="1F262D"/>
                </a:solidFill>
                <a:latin typeface="Arial"/>
                <a:ea typeface="Arial"/>
              </a:rPr>
              <a:t xml:space="preserve"> is identification of physical size despite changes in the sensory image caused by distance. Von der Emde and colleagues trained a fish to choose the smaller of two cubes, initially placed 2 cm and 3 cm from the gates, so physical size was the rewarded feature in every single choice.</a:t>
            </a:r>
            <a:endParaRPr lang="en-US"/>
          </a:p>
          <a:p>
            <a:pPr algn="l">
              <a:lnSpc>
                <a:spcPct val="108000"/>
              </a:lnSpc>
              <a:spcAft>
                <a:spcPts val="1200"/>
              </a:spcAft>
              <a:buNone/>
            </a:pPr>
            <a:r>
              <a:rPr sz="1400" b="0" i="0">
                <a:solidFill>
                  <a:srgbClr val="1F262D"/>
                </a:solidFill>
                <a:latin typeface="Arial"/>
                <a:ea typeface="Arial"/>
              </a:rPr>
              <a:t xml:space="preserve">The distances of the two cubes were then varied independently. The fish kept preferring the smaller cube across distance combinations, with useful performance reaching about 4 cm. Control tests in darkness preserved the size discrimination, which points to an electrosensory basis for the choice, and the distance pairs covered many different combinations.</a:t>
            </a:r>
            <a:endParaRPr lang="en-US"/>
          </a:p>
          <a:p>
            <a:pPr algn="l">
              <a:lnSpc>
                <a:spcPct val="108000"/>
              </a:lnSpc>
              <a:spcAft>
                <a:spcPts val="1200"/>
              </a:spcAft>
              <a:buNone/>
            </a:pPr>
            <a:r>
              <a:rPr sz="1400" b="0" i="0">
                <a:solidFill>
                  <a:srgbClr val="1F262D"/>
                </a:solidFill>
                <a:latin typeface="Arial"/>
                <a:ea typeface="Arial"/>
              </a:rPr>
              <a:t xml:space="preserve">The measured image diameter of a small cube increased when it moved farther away, so image width alone fails to preserve physical size. A fixed rule based on image intensity would pick the larger cube at some distances, so the behavior reflects compensation for distance-dependent changes. Size constancy is therefore a property of the learned choice, not a single measured signal.</a:t>
            </a:r>
            <a:endParaRPr lang="en-US"/>
          </a:p>
        </p:txBody>
      </p:sp>
      <p:pic>
        <p:nvPicPr>
          <p:cNvPr id="300" name="Presenton Native Image 6" descr=""/>
          <p:cNvPicPr/>
          <p:nvPr/>
        </p:nvPicPr>
        <p:blipFill>
          <a:blip r:embed="rId2" cstate="none"/>
          <a:stretch>
            <a:fillRect/>
          </a:stretch>
        </p:blipFill>
        <p:spPr>
          <a:xfrm>
            <a:off x="6610350" y="2010116"/>
            <a:ext cx="5048250" cy="2090948"/>
          </a:xfrm>
          <a:prstGeom prst="rect">
            <a:avLst/>
          </a:prstGeom>
        </p:spPr>
      </p:pic>
      <p:sp>
        <p:nvSpPr>
          <p:cNvPr id="749" name="Shape 749"/>
          <p:cNvSpPr/>
          <p:nvPr/>
        </p:nvSpPr>
        <p:spPr>
          <a:xfrm>
            <a:off x="6610350" y="5170140"/>
            <a:ext cx="5067300" cy="371475"/>
          </a:xfrm>
          <a:prstGeom prst="rect">
            <a:avLst/>
          </a:prstGeom>
          <a:noFill/>
        </p:spPr>
        <p:txBody>
          <a:bodyPr anchor="t" wrap="square" tIns="0" bIns="0" lIns="0" rIns="0">
            <a:normAutofit/>
          </a:bodyPr>
          <a:lstStyle/>
          <a:p>
            <a:pPr algn="l">
              <a:lnSpc>
                <a:spcPts val="1463"/>
              </a:lnSpc>
              <a:buNone/>
            </a:pPr>
            <a:r>
              <a:rPr sz="1125" b="0" i="0">
                <a:solidFill>
                  <a:srgbClr val="1F262D"/>
                </a:solidFill>
                <a:latin typeface="Arial"/>
                <a:ea typeface="Arial"/>
              </a:rPr>
              <a:t>von der Emde et al. (2010), Fig. 4(A–B). Size-constancy tests across object-distance combinations.</a:t>
            </a:r>
            <a:endParaRPr lang="en-US"/>
          </a:p>
        </p:txBody>
      </p:sp>
      <p:sp>
        <p:nvSpPr>
          <p:cNvPr id="750" name="Shape 750"/>
          <p:cNvSpPr/>
          <p:nvPr/>
        </p:nvSpPr>
        <p:spPr>
          <a:xfrm>
            <a:off x="457200" y="6462713"/>
            <a:ext cx="1528911" cy="185738"/>
          </a:xfrm>
          <a:prstGeom prst="rect">
            <a:avLst/>
          </a:prstGeom>
          <a:noFill/>
        </p:spPr>
        <p:txBody>
          <a:bodyPr anchor="t" wrap="square" tIns="0" bIns="0" lIns="0" rIns="0">
            <a:normAutofit/>
          </a:bodyPr>
          <a:lstStyle/>
          <a:p>
            <a:pPr algn="l">
              <a:lnSpc>
                <a:spcPts val="1463"/>
              </a:lnSpc>
              <a:buNone/>
            </a:pPr>
            <a:r>
              <a:rPr sz="975" b="0" i="0">
                <a:solidFill>
                  <a:srgbClr val="58636E"/>
                </a:solidFill>
                <a:latin typeface="Arial"/>
                <a:ea typeface="Arial"/>
              </a:rPr>
              <a:t>von der Emde et al. (2010)</a:t>
            </a:r>
            <a:endParaRPr lang="en-US"/>
          </a:p>
        </p:txBody>
      </p:sp>
      <p:sp>
        <p:nvSpPr>
          <p:cNvPr id="751" name="Shape 751"/>
          <p:cNvSpPr/>
          <p:nvPr/>
        </p:nvSpPr>
        <p:spPr>
          <a:xfrm>
            <a:off x="11663958" y="6462713"/>
            <a:ext cx="89892" cy="185738"/>
          </a:xfrm>
          <a:prstGeom prst="rect">
            <a:avLst/>
          </a:prstGeom>
          <a:noFill/>
        </p:spPr>
        <p:txBody>
          <a:bodyPr anchor="t" wrap="square" tIns="0" bIns="0" lIns="0" rIns="0">
            <a:normAutofit/>
          </a:bodyPr>
          <a:lstStyle/>
          <a:p>
            <a:pPr algn="l">
              <a:lnSpc>
                <a:spcPts val="1463"/>
              </a:lnSpc>
              <a:buNone/>
            </a:pPr>
            <a:r>
              <a:rPr sz="975" b="0" i="0">
                <a:solidFill>
                  <a:srgbClr val="58636E"/>
                </a:solidFill>
                <a:latin typeface="Arial"/>
                <a:ea typeface="Arial"/>
              </a:rPr>
              <a:t>6</a:t>
            </a:r>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FFFFF"/>
        </a:solidFill>
      </p:bgPr>
    </p:bg>
    <p:spTree>
      <p:nvGrpSpPr>
        <p:cNvPr id="1" name=""/>
        <p:cNvGrpSpPr/>
        <p:nvPr/>
      </p:nvGrpSpPr>
      <p:grpSpPr>
        <a:xfrm>
          <a:off x="0" y="0"/>
          <a:ext cx="0" cy="0"/>
          <a:chOff x="0" y="0"/>
          <a:chExt cx="0" cy="0"/>
        </a:xfrm>
      </p:grpSpPr>
      <p:sp>
        <p:nvSpPr>
          <p:cNvPr id="752" name="Shape 752"/>
          <p:cNvSpPr/>
          <p:nvPr/>
        </p:nvSpPr>
        <p:spPr>
          <a:xfrm>
            <a:off x="457200" y="457200"/>
            <a:ext cx="11296650" cy="350490"/>
          </a:xfrm>
          <a:prstGeom prst="rect">
            <a:avLst/>
          </a:prstGeom>
          <a:noFill/>
        </p:spPr>
        <p:txBody>
          <a:bodyPr anchor="t" wrap="square" tIns="0" bIns="0" lIns="0" rIns="0">
            <a:normAutofit/>
          </a:bodyPr>
          <a:lstStyle/>
          <a:p>
            <a:pPr algn="l">
              <a:lnSpc>
                <a:spcPts val="2760"/>
              </a:lnSpc>
              <a:buNone/>
            </a:pPr>
            <a:r>
              <a:rPr sz="2400" b="1" i="0">
                <a:solidFill>
                  <a:srgbClr val="2B5577"/>
                </a:solidFill>
                <a:latin typeface="Arial"/>
                <a:ea typeface="Arial"/>
              </a:rPr>
              <a:t>Rotation invariance varies across trained individuals</a:t>
            </a:r>
            <a:endParaRPr lang="en-US"/>
          </a:p>
        </p:txBody>
      </p:sp>
      <p:sp>
        <p:nvSpPr>
          <p:cNvPr id="753" name="Shape 753"/>
          <p:cNvSpPr/>
          <p:nvPr/>
        </p:nvSpPr>
        <p:spPr>
          <a:xfrm>
            <a:off x="566000" y="1234440"/>
            <a:ext cx="5480000" cy="4915560"/>
          </a:xfrm>
          <a:prstGeom prst="rect">
            <a:avLst/>
          </a:prstGeom>
          <a:noFill/>
        </p:spPr>
        <p:txBody>
          <a:bodyPr anchor="t" wrap="square" tIns="0" bIns="0" lIns="0" rIns="0">
            <a:normAutofit/>
          </a:bodyPr>
          <a:lstStyle/>
          <a:p>
            <a:pPr algn="l">
              <a:lnSpc>
                <a:spcPct val="108000"/>
              </a:lnSpc>
              <a:spcAft>
                <a:spcPts val="1200"/>
              </a:spcAft>
              <a:buNone/>
            </a:pPr>
            <a:r>
              <a:rPr sz="1400" b="1" i="0">
                <a:solidFill>
                  <a:srgbClr val="1F262D"/>
                </a:solidFill>
                <a:latin typeface="Arial"/>
                <a:ea typeface="Arial"/>
              </a:rPr>
              <a:t>Rotation invariance</a:t>
            </a:r>
            <a:r>
              <a:rPr sz="1400" b="0" i="0">
                <a:solidFill>
                  <a:srgbClr val="1F262D"/>
                </a:solidFill>
                <a:latin typeface="Arial"/>
                <a:ea typeface="Arial"/>
              </a:rPr>
              <a:t xml:space="preserve"> is recognition that persists when an object changes orientation in space. Von der Emde and colleagues rotated trained objects through several angles, which changed the electric patterns the fish generated during inspection. Each rotation changed the orientation of the object relative to the fish. The choice itself stayed the same across those angles.</a:t>
            </a:r>
            <a:endParaRPr lang="en-US"/>
          </a:p>
          <a:p>
            <a:pPr algn="l">
              <a:lnSpc>
                <a:spcPct val="108000"/>
              </a:lnSpc>
              <a:spcAft>
                <a:spcPts val="1200"/>
              </a:spcAft>
              <a:buNone/>
            </a:pPr>
            <a:r>
              <a:rPr sz="1400" b="0" i="0">
                <a:solidFill>
                  <a:srgbClr val="1F262D"/>
                </a:solidFill>
                <a:latin typeface="Arial"/>
                <a:ea typeface="Arial"/>
              </a:rPr>
              <a:t xml:space="preserve">A fish trained with the compound object kept identifying it across the tested rotations. Another fish, trained to choose a pyramid over a cube, kept at least 80% correct choices across the tested combinations, and dark-condition controls pointed to an electrosensory basis for that performance. The two results came from different trained comparisons.</a:t>
            </a:r>
            <a:endParaRPr lang="en-US"/>
          </a:p>
          <a:p>
            <a:pPr algn="l">
              <a:lnSpc>
                <a:spcPct val="108000"/>
              </a:lnSpc>
              <a:spcAft>
                <a:spcPts val="1200"/>
              </a:spcAft>
              <a:buNone/>
            </a:pPr>
            <a:r>
              <a:rPr sz="1400" b="0" i="0">
                <a:solidFill>
                  <a:srgbClr val="1F262D"/>
                </a:solidFill>
                <a:latin typeface="Arial"/>
                <a:ea typeface="Arial"/>
              </a:rPr>
              <a:t xml:space="preserve">Other object pairs produced stronger rotation-dependent effects, so orientation tolerance varies with the fish and the learned comparison. The specific geometry of each object and the cues acquired during training shape how far recognition holds across orientations. Rotation tolerance is therefore a property of the trained object pair as well as the fish.</a:t>
            </a:r>
            <a:endParaRPr lang="en-US"/>
          </a:p>
        </p:txBody>
      </p:sp>
      <p:pic>
        <p:nvPicPr>
          <p:cNvPr id="301" name="Presenton Native Image 7" descr=""/>
          <p:cNvPicPr/>
          <p:nvPr/>
        </p:nvPicPr>
        <p:blipFill>
          <a:blip r:embed="rId2" cstate="none"/>
          <a:stretch>
            <a:fillRect/>
          </a:stretch>
        </p:blipFill>
        <p:spPr>
          <a:xfrm>
            <a:off x="6610350" y="2017427"/>
            <a:ext cx="5048250" cy="2076326"/>
          </a:xfrm>
          <a:prstGeom prst="rect">
            <a:avLst/>
          </a:prstGeom>
        </p:spPr>
      </p:pic>
      <p:sp>
        <p:nvSpPr>
          <p:cNvPr id="756" name="Shape 756"/>
          <p:cNvSpPr/>
          <p:nvPr/>
        </p:nvSpPr>
        <p:spPr>
          <a:xfrm>
            <a:off x="6610350" y="5170140"/>
            <a:ext cx="5067300" cy="371475"/>
          </a:xfrm>
          <a:prstGeom prst="rect">
            <a:avLst/>
          </a:prstGeom>
          <a:noFill/>
        </p:spPr>
        <p:txBody>
          <a:bodyPr anchor="t" wrap="square" tIns="0" bIns="0" lIns="0" rIns="0">
            <a:normAutofit/>
          </a:bodyPr>
          <a:lstStyle/>
          <a:p>
            <a:pPr algn="l">
              <a:lnSpc>
                <a:spcPts val="1463"/>
              </a:lnSpc>
              <a:buNone/>
            </a:pPr>
            <a:r>
              <a:rPr sz="1125" b="0" i="0">
                <a:solidFill>
                  <a:srgbClr val="1F262D"/>
                </a:solidFill>
                <a:latin typeface="Arial"/>
                <a:ea typeface="Arial"/>
              </a:rPr>
              <a:t>von der Emde et al. (2010), Fig. 5(A–C). Recognition after rotating positive and negative objects.</a:t>
            </a:r>
            <a:endParaRPr lang="en-US"/>
          </a:p>
        </p:txBody>
      </p:sp>
      <p:sp>
        <p:nvSpPr>
          <p:cNvPr id="757" name="Shape 757"/>
          <p:cNvSpPr/>
          <p:nvPr/>
        </p:nvSpPr>
        <p:spPr>
          <a:xfrm>
            <a:off x="457200" y="6462713"/>
            <a:ext cx="1528911" cy="185738"/>
          </a:xfrm>
          <a:prstGeom prst="rect">
            <a:avLst/>
          </a:prstGeom>
          <a:noFill/>
        </p:spPr>
        <p:txBody>
          <a:bodyPr anchor="t" wrap="square" tIns="0" bIns="0" lIns="0" rIns="0">
            <a:normAutofit/>
          </a:bodyPr>
          <a:lstStyle/>
          <a:p>
            <a:pPr algn="l">
              <a:lnSpc>
                <a:spcPts val="1463"/>
              </a:lnSpc>
              <a:buNone/>
            </a:pPr>
            <a:r>
              <a:rPr sz="975" b="0" i="0">
                <a:solidFill>
                  <a:srgbClr val="58636E"/>
                </a:solidFill>
                <a:latin typeface="Arial"/>
                <a:ea typeface="Arial"/>
              </a:rPr>
              <a:t>von der Emde et al. (2010)</a:t>
            </a:r>
            <a:endParaRPr lang="en-US"/>
          </a:p>
        </p:txBody>
      </p:sp>
      <p:sp>
        <p:nvSpPr>
          <p:cNvPr id="758" name="Shape 758"/>
          <p:cNvSpPr/>
          <p:nvPr/>
        </p:nvSpPr>
        <p:spPr>
          <a:xfrm>
            <a:off x="11663958" y="6462713"/>
            <a:ext cx="89892" cy="185738"/>
          </a:xfrm>
          <a:prstGeom prst="rect">
            <a:avLst/>
          </a:prstGeom>
          <a:noFill/>
        </p:spPr>
        <p:txBody>
          <a:bodyPr anchor="t" wrap="square" tIns="0" bIns="0" lIns="0" rIns="0">
            <a:normAutofit/>
          </a:bodyPr>
          <a:lstStyle/>
          <a:p>
            <a:pPr algn="l">
              <a:lnSpc>
                <a:spcPts val="1463"/>
              </a:lnSpc>
              <a:buNone/>
            </a:pPr>
            <a:r>
              <a:rPr sz="975" b="0" i="0">
                <a:solidFill>
                  <a:srgbClr val="58636E"/>
                </a:solidFill>
                <a:latin typeface="Arial"/>
                <a:ea typeface="Arial"/>
              </a:rPr>
              <a:t>7</a:t>
            </a:r>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FFFFFF"/>
        </a:solidFill>
      </p:bgPr>
    </p:bg>
    <p:spTree>
      <p:nvGrpSpPr>
        <p:cNvPr id="1" name=""/>
        <p:cNvGrpSpPr/>
        <p:nvPr/>
      </p:nvGrpSpPr>
      <p:grpSpPr>
        <a:xfrm>
          <a:off x="0" y="0"/>
          <a:ext cx="0" cy="0"/>
          <a:chOff x="0" y="0"/>
          <a:chExt cx="0" cy="0"/>
        </a:xfrm>
      </p:grpSpPr>
      <p:sp>
        <p:nvSpPr>
          <p:cNvPr id="759" name="Shape 759"/>
          <p:cNvSpPr/>
          <p:nvPr/>
        </p:nvSpPr>
        <p:spPr>
          <a:xfrm>
            <a:off x="457200" y="457200"/>
            <a:ext cx="11296650" cy="350490"/>
          </a:xfrm>
          <a:prstGeom prst="rect">
            <a:avLst/>
          </a:prstGeom>
          <a:noFill/>
        </p:spPr>
        <p:txBody>
          <a:bodyPr anchor="t" wrap="square" tIns="0" bIns="0" lIns="0" rIns="0">
            <a:normAutofit/>
          </a:bodyPr>
          <a:lstStyle/>
          <a:p>
            <a:pPr algn="l">
              <a:lnSpc>
                <a:spcPts val="2760"/>
              </a:lnSpc>
              <a:buNone/>
            </a:pPr>
            <a:r>
              <a:rPr sz="2400" b="1" i="0">
                <a:solidFill>
                  <a:srgbClr val="2B5577"/>
                </a:solidFill>
                <a:latin typeface="Arial"/>
                <a:ea typeface="Arial"/>
              </a:rPr>
              <a:t>Recognition range differs from mere field propagation</a:t>
            </a:r>
            <a:endParaRPr lang="en-US"/>
          </a:p>
        </p:txBody>
      </p:sp>
      <p:sp>
        <p:nvSpPr>
          <p:cNvPr id="760" name="Shape 760"/>
          <p:cNvSpPr/>
          <p:nvPr/>
        </p:nvSpPr>
        <p:spPr>
          <a:xfrm>
            <a:off x="566000" y="1234440"/>
            <a:ext cx="5480000" cy="4915560"/>
          </a:xfrm>
          <a:prstGeom prst="rect">
            <a:avLst/>
          </a:prstGeom>
          <a:noFill/>
        </p:spPr>
        <p:txBody>
          <a:bodyPr anchor="t" wrap="square" tIns="0" bIns="0" lIns="0" rIns="0">
            <a:normAutofit/>
          </a:bodyPr>
          <a:lstStyle/>
          <a:p>
            <a:pPr algn="l">
              <a:lnSpc>
                <a:spcPct val="108000"/>
              </a:lnSpc>
              <a:spcAft>
                <a:spcPts val="1200"/>
              </a:spcAft>
              <a:buNone/>
            </a:pPr>
            <a:r>
              <a:rPr sz="1400" b="0" i="0">
                <a:solidFill>
                  <a:srgbClr val="1F262D"/>
                </a:solidFill>
                <a:latin typeface="Arial"/>
                <a:ea typeface="Arial"/>
              </a:rPr>
              <a:t xml:space="preserve">The </a:t>
            </a:r>
            <a:r>
              <a:rPr sz="1400" b="1" i="0">
                <a:solidFill>
                  <a:srgbClr val="1F262D"/>
                </a:solidFill>
                <a:latin typeface="Arial"/>
                <a:ea typeface="Arial"/>
              </a:rPr>
              <a:t>recognition range</a:t>
            </a:r>
            <a:r>
              <a:rPr sz="1400" b="0" i="0">
                <a:solidFill>
                  <a:srgbClr val="1F262D"/>
                </a:solidFill>
                <a:latin typeface="Arial"/>
                <a:ea typeface="Arial"/>
              </a:rPr>
              <a:t xml:space="preserve"> is the distance over which an animal reliably identifies a tested object. Von der Emde and colleagues moved metal objects from 1 to 8 cm away, behind a grid that kept each fish at a defined minimum distance before it chose. The grid thus held the inspection distance at a fixed minimum on every trial.</a:t>
            </a:r>
            <a:endParaRPr lang="en-US"/>
          </a:p>
          <a:p>
            <a:pPr algn="l">
              <a:lnSpc>
                <a:spcPct val="108000"/>
              </a:lnSpc>
              <a:spcAft>
                <a:spcPts val="1200"/>
              </a:spcAft>
              <a:buNone/>
            </a:pPr>
            <a:r>
              <a:rPr sz="1400" b="0" i="0">
                <a:solidFill>
                  <a:srgbClr val="1F262D"/>
                </a:solidFill>
                <a:latin typeface="Arial"/>
                <a:ea typeface="Arial"/>
              </a:rPr>
              <a:t xml:space="preserve">Choice performance declined as distance increased, and the tested shape and size discriminations failed beyond about 4 cm. The grid prevented the fish from solving each trial by moving directly beside the object, so the inspection geometry stayed constant across distances. Performance fell gradually rather than abruptly, which marks where accuracy drops off in these tasks.</a:t>
            </a:r>
            <a:endParaRPr lang="en-US"/>
          </a:p>
          <a:p>
            <a:pPr algn="l">
              <a:lnSpc>
                <a:spcPct val="108000"/>
              </a:lnSpc>
              <a:spcAft>
                <a:spcPts val="1200"/>
              </a:spcAft>
              <a:buNone/>
            </a:pPr>
            <a:r>
              <a:rPr sz="1400" b="0" i="0">
                <a:solidFill>
                  <a:srgbClr val="1F262D"/>
                </a:solidFill>
                <a:latin typeface="Arial"/>
                <a:ea typeface="Arial"/>
              </a:rPr>
              <a:t xml:space="preserve">An electric field remains physically present beyond this behavioral range. Detection of an object's presence and recognition of its identity are different measures, and recognition depends on the usable perturbation, on sensory noise, and on the task. Recognition therefore has a range that is narrower than the physical extent of the electric field.</a:t>
            </a:r>
            <a:endParaRPr lang="en-US"/>
          </a:p>
        </p:txBody>
      </p:sp>
      <p:pic>
        <p:nvPicPr>
          <p:cNvPr id="302" name="Presenton Native Image 8" descr=""/>
          <p:cNvPicPr/>
          <p:nvPr/>
        </p:nvPicPr>
        <p:blipFill>
          <a:blip r:embed="rId2" cstate="none"/>
          <a:stretch>
            <a:fillRect/>
          </a:stretch>
        </p:blipFill>
        <p:spPr>
          <a:xfrm>
            <a:off x="7818004" y="1055340"/>
            <a:ext cx="2632942" cy="4000500"/>
          </a:xfrm>
          <a:prstGeom prst="rect">
            <a:avLst/>
          </a:prstGeom>
        </p:spPr>
      </p:pic>
      <p:sp>
        <p:nvSpPr>
          <p:cNvPr id="763" name="Shape 763"/>
          <p:cNvSpPr/>
          <p:nvPr/>
        </p:nvSpPr>
        <p:spPr>
          <a:xfrm>
            <a:off x="6610350" y="5170140"/>
            <a:ext cx="5067300" cy="371475"/>
          </a:xfrm>
          <a:prstGeom prst="rect">
            <a:avLst/>
          </a:prstGeom>
          <a:noFill/>
        </p:spPr>
        <p:txBody>
          <a:bodyPr anchor="t" wrap="square" tIns="0" bIns="0" lIns="0" rIns="0">
            <a:normAutofit/>
          </a:bodyPr>
          <a:lstStyle/>
          <a:p>
            <a:pPr algn="l">
              <a:lnSpc>
                <a:spcPts val="1463"/>
              </a:lnSpc>
              <a:buNone/>
            </a:pPr>
            <a:r>
              <a:rPr sz="1125" b="0" i="0">
                <a:solidFill>
                  <a:srgbClr val="1F262D"/>
                </a:solidFill>
                <a:latin typeface="Arial"/>
                <a:ea typeface="Arial"/>
              </a:rPr>
              <a:t>von der Emde et al. (2010), Fig. 7(A–B). Choice performance as object distance increases.</a:t>
            </a:r>
            <a:endParaRPr lang="en-US"/>
          </a:p>
        </p:txBody>
      </p:sp>
      <p:sp>
        <p:nvSpPr>
          <p:cNvPr id="764" name="Shape 764"/>
          <p:cNvSpPr/>
          <p:nvPr/>
        </p:nvSpPr>
        <p:spPr>
          <a:xfrm>
            <a:off x="457200" y="6462713"/>
            <a:ext cx="1528911" cy="185738"/>
          </a:xfrm>
          <a:prstGeom prst="rect">
            <a:avLst/>
          </a:prstGeom>
          <a:noFill/>
        </p:spPr>
        <p:txBody>
          <a:bodyPr anchor="t" wrap="square" tIns="0" bIns="0" lIns="0" rIns="0">
            <a:normAutofit/>
          </a:bodyPr>
          <a:lstStyle/>
          <a:p>
            <a:pPr algn="l">
              <a:lnSpc>
                <a:spcPts val="1463"/>
              </a:lnSpc>
              <a:buNone/>
            </a:pPr>
            <a:r>
              <a:rPr sz="975" b="0" i="0">
                <a:solidFill>
                  <a:srgbClr val="58636E"/>
                </a:solidFill>
                <a:latin typeface="Arial"/>
                <a:ea typeface="Arial"/>
              </a:rPr>
              <a:t>von der Emde et al. (2010)</a:t>
            </a:r>
            <a:endParaRPr lang="en-US"/>
          </a:p>
        </p:txBody>
      </p:sp>
      <p:sp>
        <p:nvSpPr>
          <p:cNvPr id="765" name="Shape 765"/>
          <p:cNvSpPr/>
          <p:nvPr/>
        </p:nvSpPr>
        <p:spPr>
          <a:xfrm>
            <a:off x="11663958" y="6462713"/>
            <a:ext cx="89892" cy="185738"/>
          </a:xfrm>
          <a:prstGeom prst="rect">
            <a:avLst/>
          </a:prstGeom>
          <a:noFill/>
        </p:spPr>
        <p:txBody>
          <a:bodyPr anchor="t" wrap="square" tIns="0" bIns="0" lIns="0" rIns="0">
            <a:normAutofit/>
          </a:bodyPr>
          <a:lstStyle/>
          <a:p>
            <a:pPr algn="l">
              <a:lnSpc>
                <a:spcPts val="1463"/>
              </a:lnSpc>
              <a:buNone/>
            </a:pPr>
            <a:r>
              <a:rPr sz="975" b="0" i="0">
                <a:solidFill>
                  <a:srgbClr val="58636E"/>
                </a:solidFill>
                <a:latin typeface="Arial"/>
                <a:ea typeface="Arial"/>
              </a:rPr>
              <a:t>8</a:t>
            </a:r>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FFFFFF"/>
        </a:solidFill>
      </p:bgPr>
    </p:bg>
    <p:spTree>
      <p:nvGrpSpPr>
        <p:cNvPr id="1" name=""/>
        <p:cNvGrpSpPr/>
        <p:nvPr/>
      </p:nvGrpSpPr>
      <p:grpSpPr>
        <a:xfrm>
          <a:off x="0" y="0"/>
          <a:ext cx="0" cy="0"/>
          <a:chOff x="0" y="0"/>
          <a:chExt cx="0" cy="0"/>
        </a:xfrm>
      </p:grpSpPr>
      <p:sp>
        <p:nvSpPr>
          <p:cNvPr id="766" name="Shape 766"/>
          <p:cNvSpPr/>
          <p:nvPr/>
        </p:nvSpPr>
        <p:spPr>
          <a:xfrm>
            <a:off x="457200" y="457200"/>
            <a:ext cx="11296650" cy="350490"/>
          </a:xfrm>
          <a:prstGeom prst="rect">
            <a:avLst/>
          </a:prstGeom>
          <a:noFill/>
        </p:spPr>
        <p:txBody>
          <a:bodyPr anchor="t" wrap="square" tIns="0" bIns="0" lIns="0" rIns="0">
            <a:normAutofit/>
          </a:bodyPr>
          <a:lstStyle/>
          <a:p>
            <a:pPr algn="l">
              <a:lnSpc>
                <a:spcPts val="2760"/>
              </a:lnSpc>
              <a:buNone/>
            </a:pPr>
            <a:r>
              <a:rPr sz="2400" b="1" i="0">
                <a:solidFill>
                  <a:srgbClr val="2B5577"/>
                </a:solidFill>
                <a:latin typeface="Arial"/>
                <a:ea typeface="Arial"/>
              </a:rPr>
              <a:t>Approach movements change when electric samples arrive</a:t>
            </a:r>
            <a:endParaRPr lang="en-US"/>
          </a:p>
        </p:txBody>
      </p:sp>
      <p:sp>
        <p:nvSpPr>
          <p:cNvPr id="767" name="Shape 767"/>
          <p:cNvSpPr/>
          <p:nvPr/>
        </p:nvSpPr>
        <p:spPr>
          <a:xfrm>
            <a:off x="566000" y="1234440"/>
            <a:ext cx="5480000" cy="4915560"/>
          </a:xfrm>
          <a:prstGeom prst="rect">
            <a:avLst/>
          </a:prstGeom>
          <a:noFill/>
        </p:spPr>
        <p:txBody>
          <a:bodyPr anchor="t" wrap="square" tIns="0" bIns="0" lIns="0" rIns="0">
            <a:normAutofit/>
          </a:bodyPr>
          <a:lstStyle/>
          <a:p>
            <a:pPr algn="l">
              <a:lnSpc>
                <a:spcPct val="108000"/>
              </a:lnSpc>
              <a:spcAft>
                <a:spcPts val="1200"/>
              </a:spcAft>
              <a:buNone/>
            </a:pPr>
            <a:r>
              <a:rPr sz="1400" b="1" i="0">
                <a:solidFill>
                  <a:srgbClr val="1F262D"/>
                </a:solidFill>
                <a:latin typeface="Arial"/>
                <a:ea typeface="Arial"/>
              </a:rPr>
              <a:t>Active sensing</a:t>
            </a:r>
            <a:r>
              <a:rPr sz="1400" b="0" i="0">
                <a:solidFill>
                  <a:srgbClr val="1F262D"/>
                </a:solidFill>
                <a:latin typeface="Arial"/>
                <a:ea typeface="Arial"/>
              </a:rPr>
              <a:t xml:space="preserve"> includes movements and emission patterns that change the sensory information an animal acquires. Hofmann and colleagues tracked spontaneous approaches of elephantnose fish to objects while recording discharge timing in water with a conductivity near 100 µS/cm. Each approach was therefore recorded as a sequence of movements and discharges across the approach.</a:t>
            </a:r>
            <a:endParaRPr lang="en-US"/>
          </a:p>
          <a:p>
            <a:pPr algn="l">
              <a:lnSpc>
                <a:spcPct val="108000"/>
              </a:lnSpc>
              <a:spcAft>
                <a:spcPts val="1200"/>
              </a:spcAft>
              <a:buNone/>
            </a:pPr>
            <a:r>
              <a:rPr sz="1400" b="0" i="0">
                <a:solidFill>
                  <a:srgbClr val="1F262D"/>
                </a:solidFill>
                <a:latin typeface="Arial"/>
                <a:ea typeface="Arial"/>
              </a:rPr>
              <a:t xml:space="preserve">As fish approached, thrust decreased while discharge activity and spatial sampling density increased. The fish also aligned more directly with the object and adopted straighter postures, so each approach produced a sequence of samples rather than a single reading. The increase in sampling occurred as the fish closed in on the object, not at a fixed distance.</a:t>
            </a:r>
            <a:endParaRPr lang="en-US"/>
          </a:p>
          <a:p>
            <a:pPr algn="l">
              <a:lnSpc>
                <a:spcPct val="108000"/>
              </a:lnSpc>
              <a:spcAft>
                <a:spcPts val="1200"/>
              </a:spcAft>
              <a:buNone/>
            </a:pPr>
            <a:r>
              <a:rPr sz="1400" b="0" i="0">
                <a:solidFill>
                  <a:srgbClr val="1F262D"/>
                </a:solidFill>
                <a:latin typeface="Arial"/>
                <a:ea typeface="Arial"/>
              </a:rPr>
              <a:t xml:space="preserve">Natural electrolocation input therefore arrives through changing movements and pulse intervals. A stationary stimulus sequence reproduces just part of this sensory situation, because movement and emission patterns shape the samples that the electric system receives during inspection. Active sensing therefore links how the fish moves to what its electric system can measure.</a:t>
            </a:r>
            <a:endParaRPr lang="en-US"/>
          </a:p>
        </p:txBody>
      </p:sp>
      <p:pic>
        <p:nvPicPr>
          <p:cNvPr id="303" name="Presenton Native Image 9" descr=""/>
          <p:cNvPicPr/>
          <p:nvPr/>
        </p:nvPicPr>
        <p:blipFill>
          <a:blip r:embed="rId2" cstate="none"/>
          <a:stretch>
            <a:fillRect/>
          </a:stretch>
        </p:blipFill>
        <p:spPr>
          <a:xfrm>
            <a:off x="8282540" y="1055340"/>
            <a:ext cx="1703869" cy="4000500"/>
          </a:xfrm>
          <a:prstGeom prst="rect">
            <a:avLst/>
          </a:prstGeom>
        </p:spPr>
      </p:pic>
      <p:sp>
        <p:nvSpPr>
          <p:cNvPr id="770" name="Shape 770"/>
          <p:cNvSpPr/>
          <p:nvPr/>
        </p:nvSpPr>
        <p:spPr>
          <a:xfrm>
            <a:off x="6610350" y="5170140"/>
            <a:ext cx="5067300" cy="371475"/>
          </a:xfrm>
          <a:prstGeom prst="rect">
            <a:avLst/>
          </a:prstGeom>
          <a:noFill/>
        </p:spPr>
        <p:txBody>
          <a:bodyPr anchor="t" wrap="square" tIns="0" bIns="0" lIns="0" rIns="0">
            <a:normAutofit/>
          </a:bodyPr>
          <a:lstStyle/>
          <a:p>
            <a:pPr algn="l">
              <a:lnSpc>
                <a:spcPts val="1463"/>
              </a:lnSpc>
              <a:buNone/>
            </a:pPr>
            <a:r>
              <a:rPr sz="1125" b="0" i="0">
                <a:solidFill>
                  <a:srgbClr val="1F262D"/>
                </a:solidFill>
                <a:latin typeface="Arial"/>
                <a:ea typeface="Arial"/>
              </a:rPr>
              <a:t>Hofmann et al. (2017), Fig. 1(A–F). Measured movement and discharge patterns during approaches.</a:t>
            </a:r>
            <a:endParaRPr lang="en-US"/>
          </a:p>
        </p:txBody>
      </p:sp>
      <p:sp>
        <p:nvSpPr>
          <p:cNvPr id="771" name="Shape 771"/>
          <p:cNvSpPr/>
          <p:nvPr/>
        </p:nvSpPr>
        <p:spPr>
          <a:xfrm>
            <a:off x="457200" y="6462713"/>
            <a:ext cx="1269950" cy="185738"/>
          </a:xfrm>
          <a:prstGeom prst="rect">
            <a:avLst/>
          </a:prstGeom>
          <a:noFill/>
        </p:spPr>
        <p:txBody>
          <a:bodyPr anchor="t" wrap="square" tIns="0" bIns="0" lIns="0" rIns="0">
            <a:normAutofit/>
          </a:bodyPr>
          <a:lstStyle/>
          <a:p>
            <a:pPr algn="l">
              <a:lnSpc>
                <a:spcPts val="1463"/>
              </a:lnSpc>
              <a:buNone/>
            </a:pPr>
            <a:r>
              <a:rPr sz="975" b="0" i="0">
                <a:solidFill>
                  <a:srgbClr val="58636E"/>
                </a:solidFill>
                <a:latin typeface="Arial"/>
                <a:ea typeface="Arial"/>
              </a:rPr>
              <a:t>Hofmann et al. (2017)</a:t>
            </a:r>
            <a:endParaRPr lang="en-US"/>
          </a:p>
        </p:txBody>
      </p:sp>
      <p:sp>
        <p:nvSpPr>
          <p:cNvPr id="772" name="Shape 772"/>
          <p:cNvSpPr/>
          <p:nvPr/>
        </p:nvSpPr>
        <p:spPr>
          <a:xfrm>
            <a:off x="11663958" y="6462713"/>
            <a:ext cx="89892" cy="185738"/>
          </a:xfrm>
          <a:prstGeom prst="rect">
            <a:avLst/>
          </a:prstGeom>
          <a:noFill/>
        </p:spPr>
        <p:txBody>
          <a:bodyPr anchor="t" wrap="square" tIns="0" bIns="0" lIns="0" rIns="0">
            <a:normAutofit/>
          </a:bodyPr>
          <a:lstStyle/>
          <a:p>
            <a:pPr algn="l">
              <a:lnSpc>
                <a:spcPts val="1463"/>
              </a:lnSpc>
              <a:buNone/>
            </a:pPr>
            <a:r>
              <a:rPr sz="975" b="0" i="0">
                <a:solidFill>
                  <a:srgbClr val="58636E"/>
                </a:solidFill>
                <a:latin typeface="Arial"/>
                <a:ea typeface="Arial"/>
              </a:rPr>
              <a:t>9</a:t>
            </a:r>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FFFFFF"/>
        </a:solidFill>
      </p:bgPr>
    </p:bg>
    <p:spTree>
      <p:nvGrpSpPr>
        <p:cNvPr id="1" name=""/>
        <p:cNvGrpSpPr/>
        <p:nvPr/>
      </p:nvGrpSpPr>
      <p:grpSpPr>
        <a:xfrm>
          <a:off x="0" y="0"/>
          <a:ext cx="0" cy="0"/>
          <a:chOff x="0" y="0"/>
          <a:chExt cx="0" cy="0"/>
        </a:xfrm>
      </p:grpSpPr>
      <p:sp>
        <p:nvSpPr>
          <p:cNvPr id="773" name="Shape 773"/>
          <p:cNvSpPr/>
          <p:nvPr/>
        </p:nvSpPr>
        <p:spPr>
          <a:xfrm>
            <a:off x="457200" y="457200"/>
            <a:ext cx="11296650" cy="350490"/>
          </a:xfrm>
          <a:prstGeom prst="rect">
            <a:avLst/>
          </a:prstGeom>
          <a:noFill/>
        </p:spPr>
        <p:txBody>
          <a:bodyPr anchor="t" wrap="square" tIns="0" bIns="0" lIns="0" rIns="0">
            <a:normAutofit/>
          </a:bodyPr>
          <a:lstStyle/>
          <a:p>
            <a:pPr algn="l">
              <a:lnSpc>
                <a:spcPts val="2760"/>
              </a:lnSpc>
              <a:buNone/>
            </a:pPr>
            <a:r>
              <a:rPr sz="2400" b="1" i="0">
                <a:solidFill>
                  <a:srgbClr val="2B5577"/>
                </a:solidFill>
                <a:latin typeface="Arial"/>
                <a:ea typeface="Arial"/>
              </a:rPr>
              <a:t>Each discharge samples a changing electrical scene</a:t>
            </a:r>
            <a:endParaRPr lang="en-US"/>
          </a:p>
        </p:txBody>
      </p:sp>
      <p:sp>
        <p:nvSpPr>
          <p:cNvPr id="774" name="Shape 774"/>
          <p:cNvSpPr/>
          <p:nvPr/>
        </p:nvSpPr>
        <p:spPr>
          <a:xfrm>
            <a:off x="566000" y="1234440"/>
            <a:ext cx="5480000" cy="4915560"/>
          </a:xfrm>
          <a:prstGeom prst="rect">
            <a:avLst/>
          </a:prstGeom>
          <a:noFill/>
        </p:spPr>
        <p:txBody>
          <a:bodyPr anchor="t" wrap="square" tIns="0" bIns="0" lIns="0" rIns="0">
            <a:normAutofit/>
          </a:bodyPr>
          <a:lstStyle/>
          <a:p>
            <a:pPr algn="l">
              <a:lnSpc>
                <a:spcPct val="108000"/>
              </a:lnSpc>
              <a:spcAft>
                <a:spcPts val="1200"/>
              </a:spcAft>
              <a:buNone/>
            </a:pPr>
            <a:r>
              <a:rPr sz="1400" b="1" i="0">
                <a:solidFill>
                  <a:srgbClr val="1F262D"/>
                </a:solidFill>
                <a:latin typeface="Arial"/>
                <a:ea typeface="Arial"/>
              </a:rPr>
              <a:t>Electrosensory flow</a:t>
            </a:r>
            <a:r>
              <a:rPr sz="1400" b="0" i="0">
                <a:solidFill>
                  <a:srgbClr val="1F262D"/>
                </a:solidFill>
                <a:latin typeface="Arial"/>
                <a:ea typeface="Arial"/>
              </a:rPr>
              <a:t xml:space="preserve"> is the change in electric input across successive samples as the fish moves relative to objects. Hofmann and colleagues combined measured approach trajectories with a model that reconstructed object-induced current along the fish's sensory surface. Each sample in the sequence therefore reflects a real approach by a real fish. These flow data are the basis for every later estimate.</a:t>
            </a:r>
            <a:endParaRPr lang="en-US"/>
          </a:p>
          <a:p>
            <a:pPr algn="l">
              <a:lnSpc>
                <a:spcPct val="108000"/>
              </a:lnSpc>
              <a:spcAft>
                <a:spcPts val="1200"/>
              </a:spcAft>
              <a:buNone/>
            </a:pPr>
            <a:r>
              <a:rPr sz="1400" b="0" i="0">
                <a:solidFill>
                  <a:srgbClr val="1F262D"/>
                </a:solidFill>
                <a:latin typeface="Arial"/>
                <a:ea typeface="Arial"/>
              </a:rPr>
              <a:t xml:space="preserve">Successive images changed in amplitude and spatial position as the fish's position relative to the object changed. The reconstructed scene supplied both the current electric pattern and its recent history, while measured posture determined which receptors sat near the strongest perturbation. Each new discharge added one more sample to that recent history.</a:t>
            </a:r>
            <a:endParaRPr lang="en-US"/>
          </a:p>
          <a:p>
            <a:pPr algn="l">
              <a:lnSpc>
                <a:spcPct val="108000"/>
              </a:lnSpc>
              <a:spcAft>
                <a:spcPts val="1200"/>
              </a:spcAft>
              <a:buNone/>
            </a:pPr>
            <a:r>
              <a:rPr sz="1400" b="0" i="0">
                <a:solidFill>
                  <a:srgbClr val="1F262D"/>
                </a:solidFill>
                <a:latin typeface="Arial"/>
                <a:ea typeface="Arial"/>
              </a:rPr>
              <a:t xml:space="preserve">The study's main contribution is a behaviorally constrained description of the information available to the fish. Using that information to estimate object distance is a mechanistic proposal, to be tested with direct neural or behavioral manipulation, since the neurons that would use the information lie outside the model. The reconstruction therefore stops at the sensory input.</a:t>
            </a:r>
            <a:endParaRPr lang="en-US"/>
          </a:p>
        </p:txBody>
      </p:sp>
      <p:pic>
        <p:nvPicPr>
          <p:cNvPr id="304" name="Presenton Native Image 10" descr=""/>
          <p:cNvPicPr/>
          <p:nvPr/>
        </p:nvPicPr>
        <p:blipFill>
          <a:blip r:embed="rId2" cstate="none"/>
          <a:stretch>
            <a:fillRect/>
          </a:stretch>
        </p:blipFill>
        <p:spPr>
          <a:xfrm>
            <a:off x="6835061" y="1055340"/>
            <a:ext cx="4598828" cy="4000500"/>
          </a:xfrm>
          <a:prstGeom prst="rect">
            <a:avLst/>
          </a:prstGeom>
        </p:spPr>
      </p:pic>
      <p:sp>
        <p:nvSpPr>
          <p:cNvPr id="777" name="Shape 777"/>
          <p:cNvSpPr/>
          <p:nvPr/>
        </p:nvSpPr>
        <p:spPr>
          <a:xfrm>
            <a:off x="6610350" y="5170140"/>
            <a:ext cx="5067300" cy="371475"/>
          </a:xfrm>
          <a:prstGeom prst="rect">
            <a:avLst/>
          </a:prstGeom>
          <a:noFill/>
        </p:spPr>
        <p:txBody>
          <a:bodyPr anchor="t" wrap="square" tIns="0" bIns="0" lIns="0" rIns="0">
            <a:normAutofit/>
          </a:bodyPr>
          <a:lstStyle/>
          <a:p>
            <a:pPr algn="l">
              <a:lnSpc>
                <a:spcPts val="1463"/>
              </a:lnSpc>
              <a:buNone/>
            </a:pPr>
            <a:r>
              <a:rPr sz="1125" b="0" i="0">
                <a:solidFill>
                  <a:srgbClr val="1F262D"/>
                </a:solidFill>
                <a:latin typeface="Arial"/>
                <a:ea typeface="Arial"/>
              </a:rPr>
              <a:t>Hofmann et al. (2017), Fig. 2(A–G). Spatiotemporal electric-image structure during natural behavior.</a:t>
            </a:r>
            <a:endParaRPr lang="en-US"/>
          </a:p>
        </p:txBody>
      </p:sp>
      <p:sp>
        <p:nvSpPr>
          <p:cNvPr id="778" name="Shape 778"/>
          <p:cNvSpPr/>
          <p:nvPr/>
        </p:nvSpPr>
        <p:spPr>
          <a:xfrm>
            <a:off x="457200" y="6462713"/>
            <a:ext cx="1269950" cy="185738"/>
          </a:xfrm>
          <a:prstGeom prst="rect">
            <a:avLst/>
          </a:prstGeom>
          <a:noFill/>
        </p:spPr>
        <p:txBody>
          <a:bodyPr anchor="t" wrap="square" tIns="0" bIns="0" lIns="0" rIns="0">
            <a:normAutofit/>
          </a:bodyPr>
          <a:lstStyle/>
          <a:p>
            <a:pPr algn="l">
              <a:lnSpc>
                <a:spcPts val="1463"/>
              </a:lnSpc>
              <a:buNone/>
            </a:pPr>
            <a:r>
              <a:rPr sz="975" b="0" i="0">
                <a:solidFill>
                  <a:srgbClr val="58636E"/>
                </a:solidFill>
                <a:latin typeface="Arial"/>
                <a:ea typeface="Arial"/>
              </a:rPr>
              <a:t>Hofmann et al. (2017)</a:t>
            </a:r>
            <a:endParaRPr lang="en-US"/>
          </a:p>
        </p:txBody>
      </p:sp>
      <p:sp>
        <p:nvSpPr>
          <p:cNvPr id="779" name="Shape 779"/>
          <p:cNvSpPr/>
          <p:nvPr/>
        </p:nvSpPr>
        <p:spPr>
          <a:xfrm>
            <a:off x="11593116" y="6462713"/>
            <a:ext cx="160734" cy="185738"/>
          </a:xfrm>
          <a:prstGeom prst="rect">
            <a:avLst/>
          </a:prstGeom>
          <a:noFill/>
        </p:spPr>
        <p:txBody>
          <a:bodyPr anchor="t" wrap="square" tIns="0" bIns="0" lIns="0" rIns="0">
            <a:normAutofit/>
          </a:bodyPr>
          <a:lstStyle/>
          <a:p>
            <a:pPr algn="l">
              <a:lnSpc>
                <a:spcPts val="1463"/>
              </a:lnSpc>
              <a:buNone/>
            </a:pPr>
            <a:r>
              <a:rPr sz="975" b="0" i="0">
                <a:solidFill>
                  <a:srgbClr val="58636E"/>
                </a:solidFill>
                <a:latin typeface="Arial"/>
                <a:ea typeface="Arial"/>
              </a:rPr>
              <a:t>10</a:t>
            </a:r>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FFFFFF"/>
        </a:solidFill>
      </p:bgPr>
    </p:bg>
    <p:spTree>
      <p:nvGrpSpPr>
        <p:cNvPr id="1" name=""/>
        <p:cNvGrpSpPr/>
        <p:nvPr/>
      </p:nvGrpSpPr>
      <p:grpSpPr>
        <a:xfrm>
          <a:off x="0" y="0"/>
          <a:ext cx="0" cy="0"/>
          <a:chOff x="0" y="0"/>
          <a:chExt cx="0" cy="0"/>
        </a:xfrm>
      </p:grpSpPr>
      <p:sp>
        <p:nvSpPr>
          <p:cNvPr id="780" name="Shape 780"/>
          <p:cNvSpPr/>
          <p:nvPr/>
        </p:nvSpPr>
        <p:spPr>
          <a:xfrm>
            <a:off x="457200" y="457200"/>
            <a:ext cx="11296650" cy="350490"/>
          </a:xfrm>
          <a:prstGeom prst="rect">
            <a:avLst/>
          </a:prstGeom>
          <a:noFill/>
        </p:spPr>
        <p:txBody>
          <a:bodyPr anchor="t" wrap="square" tIns="0" bIns="0" lIns="0" rIns="0">
            <a:normAutofit/>
          </a:bodyPr>
          <a:lstStyle/>
          <a:p>
            <a:pPr algn="l">
              <a:lnSpc>
                <a:spcPts val="2760"/>
              </a:lnSpc>
              <a:buNone/>
            </a:pPr>
            <a:r>
              <a:rPr sz="2400" b="1" i="0">
                <a:solidFill>
                  <a:srgbClr val="2B5577"/>
                </a:solidFill>
                <a:latin typeface="Arial"/>
                <a:ea typeface="Arial"/>
              </a:rPr>
              <a:t>Static image blur is sensitive to inspection geometry</a:t>
            </a:r>
            <a:endParaRPr lang="en-US"/>
          </a:p>
        </p:txBody>
      </p:sp>
      <p:sp>
        <p:nvSpPr>
          <p:cNvPr id="781" name="Shape 781"/>
          <p:cNvSpPr/>
          <p:nvPr/>
        </p:nvSpPr>
        <p:spPr>
          <a:xfrm>
            <a:off x="566000" y="1234440"/>
            <a:ext cx="5480000" cy="4915560"/>
          </a:xfrm>
          <a:prstGeom prst="rect">
            <a:avLst/>
          </a:prstGeom>
          <a:noFill/>
        </p:spPr>
        <p:txBody>
          <a:bodyPr anchor="t" wrap="square" tIns="0" bIns="0" lIns="0" rIns="0">
            <a:normAutofit/>
          </a:bodyPr>
          <a:lstStyle/>
          <a:p>
            <a:pPr algn="l">
              <a:lnSpc>
                <a:spcPct val="108000"/>
              </a:lnSpc>
              <a:spcAft>
                <a:spcPts val="1200"/>
              </a:spcAft>
              <a:buNone/>
            </a:pPr>
            <a:r>
              <a:rPr sz="1400" b="0" i="0">
                <a:solidFill>
                  <a:srgbClr val="1F262D"/>
                </a:solidFill>
                <a:latin typeface="Arial"/>
                <a:ea typeface="Arial"/>
              </a:rPr>
              <a:t xml:space="preserve">A </a:t>
            </a:r>
            <a:r>
              <a:rPr sz="1400" b="1" i="0">
                <a:solidFill>
                  <a:srgbClr val="1F262D"/>
                </a:solidFill>
                <a:latin typeface="Arial"/>
                <a:ea typeface="Arial"/>
              </a:rPr>
              <a:t>static distance cue</a:t>
            </a:r>
            <a:r>
              <a:rPr sz="1400" b="0" i="0">
                <a:solidFill>
                  <a:srgbClr val="1F262D"/>
                </a:solidFill>
                <a:latin typeface="Arial"/>
                <a:ea typeface="Arial"/>
              </a:rPr>
              <a:t xml:space="preserve"> is information available within one sensory sample. Electric-image blur changes with object distance, and the slope-to-amplitude ratio summarizes a spatial property of that image. Hofmann and colleagues evaluated this measure during spontaneous approaches to objects, and the ratio is computed from one image at one moment of the approach.</a:t>
            </a:r>
            <a:endParaRPr lang="en-US"/>
          </a:p>
          <a:p>
            <a:pPr algn="l">
              <a:lnSpc>
                <a:spcPct val="108000"/>
              </a:lnSpc>
              <a:spcAft>
                <a:spcPts val="1200"/>
              </a:spcAft>
              <a:buNone/>
            </a:pPr>
            <a:r>
              <a:rPr sz="1400" b="0" i="0">
                <a:solidFill>
                  <a:srgbClr val="1F262D"/>
                </a:solidFill>
                <a:latin typeface="Arial"/>
                <a:ea typeface="Arial"/>
              </a:rPr>
              <a:t xml:space="preserve">The measure varied with distance in these approaches, yet its values scattered as body curvature changed. Natural changes in posture and body curvature added substantial variability, while controlled straight approaches separated distance-related structure from the variation that geometry adds. Body bending also shifts receptor positions relative to the object during each approach.</a:t>
            </a:r>
            <a:endParaRPr lang="en-US"/>
          </a:p>
          <a:p>
            <a:pPr algn="l">
              <a:lnSpc>
                <a:spcPct val="108000"/>
              </a:lnSpc>
              <a:spcAft>
                <a:spcPts val="1200"/>
              </a:spcAft>
              <a:buNone/>
            </a:pPr>
            <a:r>
              <a:rPr sz="1400" b="0" i="0">
                <a:solidFill>
                  <a:srgbClr val="1F262D"/>
                </a:solidFill>
                <a:latin typeface="Arial"/>
                <a:ea typeface="Arial"/>
              </a:rPr>
              <a:t xml:space="preserve">A single spatial measurement therefore becomes less reliable under natural postures and body curvature. That reliability limit motivates examining information spread across successive samples, since each new sample measures the same object again. The static cue still remains present within each sample, so single-sample information is not discarded entirely. Each sample therefore adds information.</a:t>
            </a:r>
            <a:endParaRPr lang="en-US"/>
          </a:p>
        </p:txBody>
      </p:sp>
      <p:pic>
        <p:nvPicPr>
          <p:cNvPr id="305" name="Presenton Native Image 11" descr=""/>
          <p:cNvPicPr/>
          <p:nvPr/>
        </p:nvPicPr>
        <p:blipFill>
          <a:blip r:embed="rId2" cstate="none"/>
          <a:stretch>
            <a:fillRect/>
          </a:stretch>
        </p:blipFill>
        <p:spPr>
          <a:xfrm>
            <a:off x="6610350" y="1935090"/>
            <a:ext cx="5048250" cy="2241001"/>
          </a:xfrm>
          <a:prstGeom prst="rect">
            <a:avLst/>
          </a:prstGeom>
        </p:spPr>
      </p:pic>
      <p:sp>
        <p:nvSpPr>
          <p:cNvPr id="784" name="Shape 784"/>
          <p:cNvSpPr/>
          <p:nvPr/>
        </p:nvSpPr>
        <p:spPr>
          <a:xfrm>
            <a:off x="6610350" y="5170140"/>
            <a:ext cx="5067300" cy="371475"/>
          </a:xfrm>
          <a:prstGeom prst="rect">
            <a:avLst/>
          </a:prstGeom>
          <a:noFill/>
        </p:spPr>
        <p:txBody>
          <a:bodyPr anchor="t" wrap="square" tIns="0" bIns="0" lIns="0" rIns="0">
            <a:normAutofit/>
          </a:bodyPr>
          <a:lstStyle/>
          <a:p>
            <a:pPr algn="l">
              <a:lnSpc>
                <a:spcPts val="1463"/>
              </a:lnSpc>
              <a:buNone/>
            </a:pPr>
            <a:r>
              <a:rPr sz="1125" b="0" i="0">
                <a:solidFill>
                  <a:srgbClr val="1F262D"/>
                </a:solidFill>
                <a:latin typeface="Arial"/>
                <a:ea typeface="Arial"/>
              </a:rPr>
              <a:t>Hofmann et al. (2017), Fig. 3(A–B). Static distance cue during natural approaches and simulations.</a:t>
            </a:r>
            <a:endParaRPr lang="en-US"/>
          </a:p>
        </p:txBody>
      </p:sp>
      <p:sp>
        <p:nvSpPr>
          <p:cNvPr id="785" name="Shape 785"/>
          <p:cNvSpPr/>
          <p:nvPr/>
        </p:nvSpPr>
        <p:spPr>
          <a:xfrm>
            <a:off x="457200" y="6462713"/>
            <a:ext cx="1269950" cy="185738"/>
          </a:xfrm>
          <a:prstGeom prst="rect">
            <a:avLst/>
          </a:prstGeom>
          <a:noFill/>
        </p:spPr>
        <p:txBody>
          <a:bodyPr anchor="t" wrap="square" tIns="0" bIns="0" lIns="0" rIns="0">
            <a:normAutofit/>
          </a:bodyPr>
          <a:lstStyle/>
          <a:p>
            <a:pPr algn="l">
              <a:lnSpc>
                <a:spcPts val="1463"/>
              </a:lnSpc>
              <a:buNone/>
            </a:pPr>
            <a:r>
              <a:rPr sz="975" b="0" i="0">
                <a:solidFill>
                  <a:srgbClr val="58636E"/>
                </a:solidFill>
                <a:latin typeface="Arial"/>
                <a:ea typeface="Arial"/>
              </a:rPr>
              <a:t>Hofmann et al. (2017)</a:t>
            </a:r>
            <a:endParaRPr lang="en-US"/>
          </a:p>
        </p:txBody>
      </p:sp>
      <p:sp>
        <p:nvSpPr>
          <p:cNvPr id="786" name="Shape 786"/>
          <p:cNvSpPr/>
          <p:nvPr/>
        </p:nvSpPr>
        <p:spPr>
          <a:xfrm>
            <a:off x="11593116" y="6462713"/>
            <a:ext cx="160734" cy="185738"/>
          </a:xfrm>
          <a:prstGeom prst="rect">
            <a:avLst/>
          </a:prstGeom>
          <a:noFill/>
        </p:spPr>
        <p:txBody>
          <a:bodyPr anchor="t" wrap="square" tIns="0" bIns="0" lIns="0" rIns="0">
            <a:normAutofit/>
          </a:bodyPr>
          <a:lstStyle/>
          <a:p>
            <a:pPr algn="l">
              <a:lnSpc>
                <a:spcPts val="1463"/>
              </a:lnSpc>
              <a:buNone/>
            </a:pPr>
            <a:r>
              <a:rPr sz="975" b="0" i="0">
                <a:solidFill>
                  <a:srgbClr val="58636E"/>
                </a:solidFill>
                <a:latin typeface="Arial"/>
                <a:ea typeface="Arial"/>
              </a:rPr>
              <a:t>11</a:t>
            </a:r>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FFFFFF"/>
        </a:solidFill>
      </p:bgPr>
    </p:bg>
    <p:spTree>
      <p:nvGrpSpPr>
        <p:cNvPr id="1" name=""/>
        <p:cNvGrpSpPr/>
        <p:nvPr/>
      </p:nvGrpSpPr>
      <p:grpSpPr>
        <a:xfrm>
          <a:off x="0" y="0"/>
          <a:ext cx="0" cy="0"/>
          <a:chOff x="0" y="0"/>
          <a:chExt cx="0" cy="0"/>
        </a:xfrm>
      </p:grpSpPr>
      <p:sp>
        <p:nvSpPr>
          <p:cNvPr id="787" name="Shape 787"/>
          <p:cNvSpPr/>
          <p:nvPr/>
        </p:nvSpPr>
        <p:spPr>
          <a:xfrm>
            <a:off x="457200" y="457200"/>
            <a:ext cx="11296650" cy="350490"/>
          </a:xfrm>
          <a:prstGeom prst="rect">
            <a:avLst/>
          </a:prstGeom>
          <a:noFill/>
        </p:spPr>
        <p:txBody>
          <a:bodyPr anchor="t" wrap="square" tIns="0" bIns="0" lIns="0" rIns="0">
            <a:normAutofit/>
          </a:bodyPr>
          <a:lstStyle/>
          <a:p>
            <a:pPr algn="l">
              <a:lnSpc>
                <a:spcPts val="2760"/>
              </a:lnSpc>
              <a:buNone/>
            </a:pPr>
            <a:r>
              <a:rPr sz="2400" b="1" i="0">
                <a:solidFill>
                  <a:srgbClr val="2B5577"/>
                </a:solidFill>
                <a:latin typeface="Arial"/>
                <a:ea typeface="Arial"/>
              </a:rPr>
              <a:t>A relative gradient reduces object-size ambiguity</a:t>
            </a:r>
            <a:endParaRPr lang="en-US"/>
          </a:p>
        </p:txBody>
      </p:sp>
      <p:sp>
        <p:nvSpPr>
          <p:cNvPr id="788" name="Shape 788"/>
          <p:cNvSpPr/>
          <p:nvPr/>
        </p:nvSpPr>
        <p:spPr>
          <a:xfrm>
            <a:off x="566000" y="1234440"/>
            <a:ext cx="5480000" cy="4915560"/>
          </a:xfrm>
          <a:prstGeom prst="rect">
            <a:avLst/>
          </a:prstGeom>
          <a:noFill/>
        </p:spPr>
        <p:txBody>
          <a:bodyPr anchor="t" wrap="square" tIns="0" bIns="0" lIns="0" rIns="0">
            <a:normAutofit/>
          </a:bodyPr>
          <a:lstStyle/>
          <a:p>
            <a:pPr algn="l">
              <a:lnSpc>
                <a:spcPct val="108000"/>
              </a:lnSpc>
              <a:spcAft>
                <a:spcPts val="1200"/>
              </a:spcAft>
              <a:buNone/>
            </a:pPr>
            <a:r>
              <a:rPr sz="1400" b="0" i="0">
                <a:solidFill>
                  <a:srgbClr val="1F262D"/>
                </a:solidFill>
                <a:latin typeface="Arial"/>
                <a:ea typeface="Arial"/>
              </a:rPr>
              <a:t xml:space="preserve">A </a:t>
            </a:r>
            <a:r>
              <a:rPr sz="1400" b="1" i="0">
                <a:solidFill>
                  <a:srgbClr val="1F262D"/>
                </a:solidFill>
                <a:latin typeface="Arial"/>
                <a:ea typeface="Arial"/>
              </a:rPr>
              <a:t>relative gradient</a:t>
            </a:r>
            <a:r>
              <a:rPr sz="1400" b="0" i="0">
                <a:solidFill>
                  <a:srgbClr val="1F262D"/>
                </a:solidFill>
                <a:latin typeface="Arial"/>
                <a:ea typeface="Arial"/>
              </a:rPr>
              <a:t xml:space="preserve"> expresses how rapidly electric-image amplitude changes during movement, relative to the current amplitude. Hofmann and colleagues reconstructed approaches to differently sized metal cubes and set absolute image amplitude against this movement-dependent measure. Object size was the variable that had to be controlled. Each cube therefore produced its own absolute amplitude at every distance.</a:t>
            </a:r>
            <a:endParaRPr lang="en-US"/>
          </a:p>
          <a:p>
            <a:pPr algn="l">
              <a:lnSpc>
                <a:spcPct val="108000"/>
              </a:lnSpc>
              <a:spcAft>
                <a:spcPts val="1200"/>
              </a:spcAft>
              <a:buNone/>
            </a:pPr>
            <a:r>
              <a:rPr sz="1400" b="0" i="0">
                <a:solidFill>
                  <a:srgbClr val="1F262D"/>
                </a:solidFill>
                <a:latin typeface="Arial"/>
                <a:ea typeface="Arial"/>
              </a:rPr>
              <a:t xml:space="preserve">Absolute amplitude depended strongly on object size. The relative-gradient curves overlapped much more closely across sizes and kept a systematic relationship with distance, while naturally adapted sampling supplied more measurements near the objects. The relative gradient therefore kept its distance relationship where the absolute amplitude did not. That contrast was the main result of the analysis.</a:t>
            </a:r>
            <a:endParaRPr lang="en-US"/>
          </a:p>
          <a:p>
            <a:pPr algn="l">
              <a:lnSpc>
                <a:spcPct val="108000"/>
              </a:lnSpc>
              <a:spcAft>
                <a:spcPts val="1200"/>
              </a:spcAft>
              <a:buNone/>
            </a:pPr>
            <a:r>
              <a:rPr sz="1400" b="0" i="0">
                <a:solidFill>
                  <a:srgbClr val="1F262D"/>
                </a:solidFill>
                <a:latin typeface="Arial"/>
                <a:ea typeface="Arial"/>
              </a:rPr>
              <a:t xml:space="preserve">Normalizing a change by the current signal reduces scale differences across objects. The paper evaluates this operation within its reconstruction, so the cue is a candidate in the modeled sensory input rather than an established neural computation. Its value depends on the sampling that the fish performs during approach. The result is therefore a model-based prediction.</a:t>
            </a:r>
            <a:endParaRPr lang="en-US"/>
          </a:p>
        </p:txBody>
      </p:sp>
      <p:pic>
        <p:nvPicPr>
          <p:cNvPr id="306" name="Presenton Native Image 12" descr=""/>
          <p:cNvPicPr/>
          <p:nvPr/>
        </p:nvPicPr>
        <p:blipFill>
          <a:blip r:embed="rId2" cstate="none"/>
          <a:stretch>
            <a:fillRect/>
          </a:stretch>
        </p:blipFill>
        <p:spPr>
          <a:xfrm>
            <a:off x="6739170" y="1055340"/>
            <a:ext cx="4790610" cy="4000500"/>
          </a:xfrm>
          <a:prstGeom prst="rect">
            <a:avLst/>
          </a:prstGeom>
        </p:spPr>
      </p:pic>
      <p:sp>
        <p:nvSpPr>
          <p:cNvPr id="791" name="Shape 791"/>
          <p:cNvSpPr/>
          <p:nvPr/>
        </p:nvSpPr>
        <p:spPr>
          <a:xfrm>
            <a:off x="6610350" y="5170140"/>
            <a:ext cx="5067300" cy="371475"/>
          </a:xfrm>
          <a:prstGeom prst="rect">
            <a:avLst/>
          </a:prstGeom>
          <a:noFill/>
        </p:spPr>
        <p:txBody>
          <a:bodyPr anchor="t" wrap="square" tIns="0" bIns="0" lIns="0" rIns="0">
            <a:normAutofit/>
          </a:bodyPr>
          <a:lstStyle/>
          <a:p>
            <a:pPr algn="l">
              <a:lnSpc>
                <a:spcPts val="1463"/>
              </a:lnSpc>
              <a:buNone/>
            </a:pPr>
            <a:r>
              <a:rPr sz="1125" b="0" i="0">
                <a:solidFill>
                  <a:srgbClr val="1F262D"/>
                </a:solidFill>
                <a:latin typeface="Arial"/>
                <a:ea typeface="Arial"/>
              </a:rPr>
              <a:t>Hofmann et al. (2017), Fig. 4(A–D). Amplitude, relative gradient, and sampling during approach.</a:t>
            </a:r>
            <a:endParaRPr lang="en-US"/>
          </a:p>
        </p:txBody>
      </p:sp>
      <p:sp>
        <p:nvSpPr>
          <p:cNvPr id="792" name="Shape 792"/>
          <p:cNvSpPr/>
          <p:nvPr/>
        </p:nvSpPr>
        <p:spPr>
          <a:xfrm>
            <a:off x="457200" y="6462713"/>
            <a:ext cx="1269950" cy="185738"/>
          </a:xfrm>
          <a:prstGeom prst="rect">
            <a:avLst/>
          </a:prstGeom>
          <a:noFill/>
        </p:spPr>
        <p:txBody>
          <a:bodyPr anchor="t" wrap="square" tIns="0" bIns="0" lIns="0" rIns="0">
            <a:normAutofit/>
          </a:bodyPr>
          <a:lstStyle/>
          <a:p>
            <a:pPr algn="l">
              <a:lnSpc>
                <a:spcPts val="1463"/>
              </a:lnSpc>
              <a:buNone/>
            </a:pPr>
            <a:r>
              <a:rPr sz="975" b="0" i="0">
                <a:solidFill>
                  <a:srgbClr val="58636E"/>
                </a:solidFill>
                <a:latin typeface="Arial"/>
                <a:ea typeface="Arial"/>
              </a:rPr>
              <a:t>Hofmann et al. (2017)</a:t>
            </a:r>
            <a:endParaRPr lang="en-US"/>
          </a:p>
        </p:txBody>
      </p:sp>
      <p:sp>
        <p:nvSpPr>
          <p:cNvPr id="793" name="Shape 793"/>
          <p:cNvSpPr/>
          <p:nvPr/>
        </p:nvSpPr>
        <p:spPr>
          <a:xfrm>
            <a:off x="11593116" y="6462713"/>
            <a:ext cx="160734" cy="185738"/>
          </a:xfrm>
          <a:prstGeom prst="rect">
            <a:avLst/>
          </a:prstGeom>
          <a:noFill/>
        </p:spPr>
        <p:txBody>
          <a:bodyPr anchor="t" wrap="square" tIns="0" bIns="0" lIns="0" rIns="0">
            <a:normAutofit/>
          </a:bodyPr>
          <a:lstStyle/>
          <a:p>
            <a:pPr algn="l">
              <a:lnSpc>
                <a:spcPts val="1463"/>
              </a:lnSpc>
              <a:buNone/>
            </a:pPr>
            <a:r>
              <a:rPr sz="975" b="0" i="0">
                <a:solidFill>
                  <a:srgbClr val="58636E"/>
                </a:solidFill>
                <a:latin typeface="Arial"/>
                <a:ea typeface="Arial"/>
              </a:rPr>
              <a:t>12</a:t>
            </a:r>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FFFFFF"/>
        </a:solidFill>
      </p:bgPr>
    </p:bg>
    <p:spTree>
      <p:nvGrpSpPr>
        <p:cNvPr id="1" name=""/>
        <p:cNvGrpSpPr/>
        <p:nvPr/>
      </p:nvGrpSpPr>
      <p:grpSpPr>
        <a:xfrm>
          <a:off x="0" y="0"/>
          <a:ext cx="0" cy="0"/>
          <a:chOff x="0" y="0"/>
          <a:chExt cx="0" cy="0"/>
        </a:xfrm>
      </p:grpSpPr>
      <p:sp>
        <p:nvSpPr>
          <p:cNvPr id="794" name="Shape 794"/>
          <p:cNvSpPr/>
          <p:nvPr/>
        </p:nvSpPr>
        <p:spPr>
          <a:xfrm>
            <a:off x="457200" y="457200"/>
            <a:ext cx="11296650" cy="350490"/>
          </a:xfrm>
          <a:prstGeom prst="rect">
            <a:avLst/>
          </a:prstGeom>
          <a:noFill/>
        </p:spPr>
        <p:txBody>
          <a:bodyPr anchor="t" wrap="square" tIns="0" bIns="0" lIns="0" rIns="0">
            <a:normAutofit/>
          </a:bodyPr>
          <a:lstStyle/>
          <a:p>
            <a:pPr algn="l">
              <a:lnSpc>
                <a:spcPts val="2760"/>
              </a:lnSpc>
              <a:buNone/>
            </a:pPr>
            <a:r>
              <a:rPr sz="2400" b="1" i="0">
                <a:solidFill>
                  <a:srgbClr val="2B5577"/>
                </a:solidFill>
                <a:latin typeface="Arial"/>
                <a:ea typeface="Arial"/>
              </a:rPr>
              <a:t>Candidate distance cues can resist material differences</a:t>
            </a:r>
            <a:endParaRPr lang="en-US"/>
          </a:p>
        </p:txBody>
      </p:sp>
      <p:sp>
        <p:nvSpPr>
          <p:cNvPr id="795" name="Shape 795"/>
          <p:cNvSpPr/>
          <p:nvPr/>
        </p:nvSpPr>
        <p:spPr>
          <a:xfrm>
            <a:off x="566000" y="1234440"/>
            <a:ext cx="5480000" cy="4915560"/>
          </a:xfrm>
          <a:prstGeom prst="rect">
            <a:avLst/>
          </a:prstGeom>
          <a:noFill/>
        </p:spPr>
        <p:txBody>
          <a:bodyPr anchor="t" wrap="square" tIns="0" bIns="0" lIns="0" rIns="0">
            <a:normAutofit/>
          </a:bodyPr>
          <a:lstStyle/>
          <a:p>
            <a:pPr algn="l">
              <a:lnSpc>
                <a:spcPct val="108000"/>
              </a:lnSpc>
              <a:spcAft>
                <a:spcPts val="1200"/>
              </a:spcAft>
              <a:buNone/>
            </a:pPr>
            <a:r>
              <a:rPr sz="1400" b="1" i="0">
                <a:solidFill>
                  <a:srgbClr val="1F262D"/>
                </a:solidFill>
                <a:latin typeface="Arial"/>
                <a:ea typeface="Arial"/>
              </a:rPr>
              <a:t>Cue invariance</a:t>
            </a:r>
            <a:r>
              <a:rPr sz="1400" b="0" i="0">
                <a:solidFill>
                  <a:srgbClr val="1F262D"/>
                </a:solidFill>
                <a:latin typeface="Arial"/>
                <a:ea typeface="Arial"/>
              </a:rPr>
              <a:t xml:space="preserve"> is reduced sensitivity to an irrelevant property while information about the estimated property is retained. Hofmann and colleagues simulated straight approaches to cubes and spheres with characteristic dimensions of 1, 2, and 3 cm, varying their electrical material properties. Those simulated objects had exact geometry and preset conductivity values in every case.</a:t>
            </a:r>
            <a:endParaRPr lang="en-US"/>
          </a:p>
          <a:p>
            <a:pPr algn="l">
              <a:lnSpc>
                <a:spcPct val="108000"/>
              </a:lnSpc>
              <a:spcAft>
                <a:spcPts val="1200"/>
              </a:spcAft>
              <a:buNone/>
            </a:pPr>
            <a:r>
              <a:rPr sz="1400" b="0" i="0">
                <a:solidFill>
                  <a:srgbClr val="1F262D"/>
                </a:solidFill>
                <a:latin typeface="Arial"/>
                <a:ea typeface="Arial"/>
              </a:rPr>
              <a:t xml:space="preserve">Absolute image amplitude changed markedly with size, shape, and conductivity. Relative-gradient curves overlapped across these modeled conditions, suggesting that distance information survives changes that strongly alter the absolute signal. Shape and conductivity therefore affected the absolute amplitude as strongly as size did. The relative-gradient curves stayed together across the same conditions in these simulations.</a:t>
            </a:r>
            <a:endParaRPr lang="en-US"/>
          </a:p>
          <a:p>
            <a:pPr algn="l">
              <a:lnSpc>
                <a:spcPct val="108000"/>
              </a:lnSpc>
              <a:spcAft>
                <a:spcPts val="1200"/>
              </a:spcAft>
              <a:buNone/>
            </a:pPr>
            <a:r>
              <a:rPr sz="1400" b="0" i="0">
                <a:solidFill>
                  <a:srgbClr val="1F262D"/>
                </a:solidFill>
                <a:latin typeface="Arial"/>
                <a:ea typeface="Arial"/>
              </a:rPr>
              <a:t xml:space="preserve">These comparisons are simulations that specify when the proposed cue stays robust. Receptor noise, real posture, and additional environmental objects are the conditions that a biological test would add, so the simulated invariance is a starting point for experiments with real fish. Each simulated comparison fixed the approach geometry and varied the object alone.</a:t>
            </a:r>
            <a:endParaRPr lang="en-US"/>
          </a:p>
        </p:txBody>
      </p:sp>
      <p:pic>
        <p:nvPicPr>
          <p:cNvPr id="307" name="Presenton Native Image 13" descr=""/>
          <p:cNvPicPr/>
          <p:nvPr/>
        </p:nvPicPr>
        <p:blipFill>
          <a:blip r:embed="rId2" cstate="none"/>
          <a:stretch>
            <a:fillRect/>
          </a:stretch>
        </p:blipFill>
        <p:spPr>
          <a:xfrm>
            <a:off x="6692551" y="1055340"/>
            <a:ext cx="4883847" cy="4000500"/>
          </a:xfrm>
          <a:prstGeom prst="rect">
            <a:avLst/>
          </a:prstGeom>
        </p:spPr>
      </p:pic>
      <p:sp>
        <p:nvSpPr>
          <p:cNvPr id="798" name="Shape 798"/>
          <p:cNvSpPr/>
          <p:nvPr/>
        </p:nvSpPr>
        <p:spPr>
          <a:xfrm>
            <a:off x="6610350" y="5170140"/>
            <a:ext cx="5067300" cy="371475"/>
          </a:xfrm>
          <a:prstGeom prst="rect">
            <a:avLst/>
          </a:prstGeom>
          <a:noFill/>
        </p:spPr>
        <p:txBody>
          <a:bodyPr anchor="t" wrap="square" tIns="0" bIns="0" lIns="0" rIns="0">
            <a:normAutofit/>
          </a:bodyPr>
          <a:lstStyle/>
          <a:p>
            <a:pPr algn="l">
              <a:lnSpc>
                <a:spcPts val="1463"/>
              </a:lnSpc>
              <a:buNone/>
            </a:pPr>
            <a:r>
              <a:rPr sz="1125" b="0" i="0">
                <a:solidFill>
                  <a:srgbClr val="1F262D"/>
                </a:solidFill>
                <a:latin typeface="Arial"/>
                <a:ea typeface="Arial"/>
              </a:rPr>
              <a:t>Hofmann et al. (2017), Fig. 5(A–D). Published simulations across object size, shape, and material.</a:t>
            </a:r>
            <a:endParaRPr lang="en-US"/>
          </a:p>
        </p:txBody>
      </p:sp>
      <p:sp>
        <p:nvSpPr>
          <p:cNvPr id="799" name="Shape 799"/>
          <p:cNvSpPr/>
          <p:nvPr/>
        </p:nvSpPr>
        <p:spPr>
          <a:xfrm>
            <a:off x="457200" y="6462713"/>
            <a:ext cx="1269950" cy="185738"/>
          </a:xfrm>
          <a:prstGeom prst="rect">
            <a:avLst/>
          </a:prstGeom>
          <a:noFill/>
        </p:spPr>
        <p:txBody>
          <a:bodyPr anchor="t" wrap="square" tIns="0" bIns="0" lIns="0" rIns="0">
            <a:normAutofit/>
          </a:bodyPr>
          <a:lstStyle/>
          <a:p>
            <a:pPr algn="l">
              <a:lnSpc>
                <a:spcPts val="1463"/>
              </a:lnSpc>
              <a:buNone/>
            </a:pPr>
            <a:r>
              <a:rPr sz="975" b="0" i="0">
                <a:solidFill>
                  <a:srgbClr val="58636E"/>
                </a:solidFill>
                <a:latin typeface="Arial"/>
                <a:ea typeface="Arial"/>
              </a:rPr>
              <a:t>Hofmann et al. (2017)</a:t>
            </a:r>
            <a:endParaRPr lang="en-US"/>
          </a:p>
        </p:txBody>
      </p:sp>
      <p:sp>
        <p:nvSpPr>
          <p:cNvPr id="800" name="Shape 800"/>
          <p:cNvSpPr/>
          <p:nvPr/>
        </p:nvSpPr>
        <p:spPr>
          <a:xfrm>
            <a:off x="11593116" y="6462713"/>
            <a:ext cx="160734" cy="185738"/>
          </a:xfrm>
          <a:prstGeom prst="rect">
            <a:avLst/>
          </a:prstGeom>
          <a:noFill/>
        </p:spPr>
        <p:txBody>
          <a:bodyPr anchor="t" wrap="square" tIns="0" bIns="0" lIns="0" rIns="0">
            <a:normAutofit/>
          </a:bodyPr>
          <a:lstStyle/>
          <a:p>
            <a:pPr algn="l">
              <a:lnSpc>
                <a:spcPts val="1463"/>
              </a:lnSpc>
              <a:buNone/>
            </a:pPr>
            <a:r>
              <a:rPr sz="975" b="0" i="0">
                <a:solidFill>
                  <a:srgbClr val="58636E"/>
                </a:solidFill>
                <a:latin typeface="Arial"/>
                <a:ea typeface="Arial"/>
              </a:rPr>
              <a:t>13</a:t>
            </a:r>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rgbClr val="FFFFFF"/>
        </a:solidFill>
      </p:bgPr>
    </p:bg>
    <p:spTree>
      <p:nvGrpSpPr>
        <p:cNvPr id="1" name=""/>
        <p:cNvGrpSpPr/>
        <p:nvPr/>
      </p:nvGrpSpPr>
      <p:grpSpPr>
        <a:xfrm>
          <a:off x="0" y="0"/>
          <a:ext cx="0" cy="0"/>
          <a:chOff x="0" y="0"/>
          <a:chExt cx="0" cy="0"/>
        </a:xfrm>
      </p:grpSpPr>
      <p:sp>
        <p:nvSpPr>
          <p:cNvPr id="801" name="Shape 801"/>
          <p:cNvSpPr/>
          <p:nvPr/>
        </p:nvSpPr>
        <p:spPr>
          <a:xfrm>
            <a:off x="457200" y="457200"/>
            <a:ext cx="11296650" cy="350490"/>
          </a:xfrm>
          <a:prstGeom prst="rect">
            <a:avLst/>
          </a:prstGeom>
          <a:noFill/>
        </p:spPr>
        <p:txBody>
          <a:bodyPr anchor="t" wrap="square" tIns="0" bIns="0" lIns="0" rIns="0">
            <a:normAutofit/>
          </a:bodyPr>
          <a:lstStyle/>
          <a:p>
            <a:pPr algn="l">
              <a:lnSpc>
                <a:spcPts val="2760"/>
              </a:lnSpc>
              <a:buNone/>
            </a:pPr>
            <a:r>
              <a:rPr sz="2400" b="1" i="0">
                <a:solidFill>
                  <a:srgbClr val="2B5577"/>
                </a:solidFill>
                <a:latin typeface="Arial"/>
                <a:ea typeface="Arial"/>
              </a:rPr>
              <a:t>Local sensory position need not define one distance cue</a:t>
            </a:r>
            <a:endParaRPr lang="en-US"/>
          </a:p>
        </p:txBody>
      </p:sp>
      <p:sp>
        <p:nvSpPr>
          <p:cNvPr id="802" name="Shape 802"/>
          <p:cNvSpPr/>
          <p:nvPr/>
        </p:nvSpPr>
        <p:spPr>
          <a:xfrm>
            <a:off x="566000" y="1234440"/>
            <a:ext cx="5480000" cy="4915560"/>
          </a:xfrm>
          <a:prstGeom prst="rect">
            <a:avLst/>
          </a:prstGeom>
          <a:noFill/>
        </p:spPr>
        <p:txBody>
          <a:bodyPr anchor="t" wrap="square" tIns="0" bIns="0" lIns="0" rIns="0">
            <a:normAutofit/>
          </a:bodyPr>
          <a:lstStyle/>
          <a:p>
            <a:pPr algn="l">
              <a:lnSpc>
                <a:spcPct val="108000"/>
              </a:lnSpc>
              <a:spcAft>
                <a:spcPts val="1200"/>
              </a:spcAft>
              <a:buNone/>
            </a:pPr>
            <a:r>
              <a:rPr sz="1400" b="0" i="0">
                <a:solidFill>
                  <a:srgbClr val="1F262D"/>
                </a:solidFill>
                <a:latin typeface="Arial"/>
                <a:ea typeface="Arial"/>
              </a:rPr>
              <a:t xml:space="preserve">A </a:t>
            </a:r>
            <a:r>
              <a:rPr sz="1400" b="1" i="0">
                <a:solidFill>
                  <a:srgbClr val="1F262D"/>
                </a:solidFill>
                <a:latin typeface="Arial"/>
                <a:ea typeface="Arial"/>
              </a:rPr>
              <a:t>local amplitude</a:t>
            </a:r>
            <a:r>
              <a:rPr sz="1400" b="0" i="0">
                <a:solidFill>
                  <a:srgbClr val="1F262D"/>
                </a:solidFill>
                <a:latin typeface="Arial"/>
                <a:ea typeface="Arial"/>
              </a:rPr>
              <a:t xml:space="preserve"> is the object-induced signal measured at one point on the sensory surface. Hofmann and colleagues simulated a straight approach to a metal cube with a volume of 8 cm³ and estimated the signal at several positions along the fish's body. Local amplitude therefore depends on where the receptor sits relative to the object.</a:t>
            </a:r>
            <a:endParaRPr lang="en-US"/>
          </a:p>
          <a:p>
            <a:pPr algn="l">
              <a:lnSpc>
                <a:spcPct val="108000"/>
              </a:lnSpc>
              <a:spcAft>
                <a:spcPts val="1200"/>
              </a:spcAft>
              <a:buNone/>
            </a:pPr>
            <a:r>
              <a:rPr sz="1400" b="0" i="0">
                <a:solidFill>
                  <a:srgbClr val="1F262D"/>
                </a:solidFill>
                <a:latin typeface="Arial"/>
                <a:ea typeface="Arial"/>
              </a:rPr>
              <a:t xml:space="preserve">Local amplitudes differed across positions, while relative gradients overlapped more closely when distance was expressed relative to the receptor location. The proposed distance information was therefore less tied to one specially selected point on the skin. Distance measured to each receptor differs from distance measured to the head, because receptors sit at different body locations.</a:t>
            </a:r>
            <a:endParaRPr lang="en-US"/>
          </a:p>
          <a:p>
            <a:pPr algn="l">
              <a:lnSpc>
                <a:spcPct val="108000"/>
              </a:lnSpc>
              <a:spcAft>
                <a:spcPts val="1200"/>
              </a:spcAft>
              <a:buNone/>
            </a:pPr>
            <a:r>
              <a:rPr sz="1400" b="0" i="0">
                <a:solidFill>
                  <a:srgbClr val="1F262D"/>
                </a:solidFill>
                <a:latin typeface="Arial"/>
                <a:ea typeface="Arial"/>
              </a:rPr>
              <a:t xml:space="preserve">This result holds for the tested reconstruction. Receptor properties and central readout mechanisms could still weight body regions differently, so the simulation describes a geometric property rather than a uniform neuronal representation of distance. Distinguishing these references prevents a geometric shift from changing the cue's meaning. Receptors along the body are distributed over different distances from the same object.</a:t>
            </a:r>
            <a:endParaRPr lang="en-US"/>
          </a:p>
        </p:txBody>
      </p:sp>
      <p:pic>
        <p:nvPicPr>
          <p:cNvPr id="308" name="Presenton Native Image 14" descr=""/>
          <p:cNvPicPr/>
          <p:nvPr/>
        </p:nvPicPr>
        <p:blipFill>
          <a:blip r:embed="rId2" cstate="none"/>
          <a:stretch>
            <a:fillRect/>
          </a:stretch>
        </p:blipFill>
        <p:spPr>
          <a:xfrm>
            <a:off x="6610350" y="1942006"/>
            <a:ext cx="5048250" cy="2227169"/>
          </a:xfrm>
          <a:prstGeom prst="rect">
            <a:avLst/>
          </a:prstGeom>
        </p:spPr>
      </p:pic>
      <p:sp>
        <p:nvSpPr>
          <p:cNvPr id="805" name="Shape 805"/>
          <p:cNvSpPr/>
          <p:nvPr/>
        </p:nvSpPr>
        <p:spPr>
          <a:xfrm>
            <a:off x="6610350" y="5170140"/>
            <a:ext cx="5067300" cy="371475"/>
          </a:xfrm>
          <a:prstGeom prst="rect">
            <a:avLst/>
          </a:prstGeom>
          <a:noFill/>
        </p:spPr>
        <p:txBody>
          <a:bodyPr anchor="t" wrap="square" tIns="0" bIns="0" lIns="0" rIns="0">
            <a:normAutofit/>
          </a:bodyPr>
          <a:lstStyle/>
          <a:p>
            <a:pPr algn="l">
              <a:lnSpc>
                <a:spcPts val="1463"/>
              </a:lnSpc>
              <a:buNone/>
            </a:pPr>
            <a:r>
              <a:rPr sz="1125" b="0" i="0">
                <a:solidFill>
                  <a:srgbClr val="1F262D"/>
                </a:solidFill>
                <a:latin typeface="Arial"/>
                <a:ea typeface="Arial"/>
              </a:rPr>
              <a:t>Hofmann et al. (2017), Fig. 6(A–B). Modeled local amplitudes and relative gradients along the skin.</a:t>
            </a:r>
            <a:endParaRPr lang="en-US"/>
          </a:p>
        </p:txBody>
      </p:sp>
      <p:sp>
        <p:nvSpPr>
          <p:cNvPr id="806" name="Shape 806"/>
          <p:cNvSpPr/>
          <p:nvPr/>
        </p:nvSpPr>
        <p:spPr>
          <a:xfrm>
            <a:off x="457200" y="6462713"/>
            <a:ext cx="1269950" cy="185738"/>
          </a:xfrm>
          <a:prstGeom prst="rect">
            <a:avLst/>
          </a:prstGeom>
          <a:noFill/>
        </p:spPr>
        <p:txBody>
          <a:bodyPr anchor="t" wrap="square" tIns="0" bIns="0" lIns="0" rIns="0">
            <a:normAutofit/>
          </a:bodyPr>
          <a:lstStyle/>
          <a:p>
            <a:pPr algn="l">
              <a:lnSpc>
                <a:spcPts val="1463"/>
              </a:lnSpc>
              <a:buNone/>
            </a:pPr>
            <a:r>
              <a:rPr sz="975" b="0" i="0">
                <a:solidFill>
                  <a:srgbClr val="58636E"/>
                </a:solidFill>
                <a:latin typeface="Arial"/>
                <a:ea typeface="Arial"/>
              </a:rPr>
              <a:t>Hofmann et al. (2017)</a:t>
            </a:r>
            <a:endParaRPr lang="en-US"/>
          </a:p>
        </p:txBody>
      </p:sp>
      <p:sp>
        <p:nvSpPr>
          <p:cNvPr id="807" name="Shape 807"/>
          <p:cNvSpPr/>
          <p:nvPr/>
        </p:nvSpPr>
        <p:spPr>
          <a:xfrm>
            <a:off x="11593116" y="6462713"/>
            <a:ext cx="160734" cy="185738"/>
          </a:xfrm>
          <a:prstGeom prst="rect">
            <a:avLst/>
          </a:prstGeom>
          <a:noFill/>
        </p:spPr>
        <p:txBody>
          <a:bodyPr anchor="t" wrap="square" tIns="0" bIns="0" lIns="0" rIns="0">
            <a:normAutofit/>
          </a:bodyPr>
          <a:lstStyle/>
          <a:p>
            <a:pPr algn="l">
              <a:lnSpc>
                <a:spcPts val="1463"/>
              </a:lnSpc>
              <a:buNone/>
            </a:pPr>
            <a:r>
              <a:rPr sz="975" b="0" i="0">
                <a:solidFill>
                  <a:srgbClr val="58636E"/>
                </a:solidFill>
                <a:latin typeface="Arial"/>
                <a:ea typeface="Arial"/>
              </a:rPr>
              <a:t>14</a:t>
            </a:r>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rgbClr val="FFFFFF"/>
        </a:solidFill>
      </p:bgPr>
    </p:bg>
    <p:spTree>
      <p:nvGrpSpPr>
        <p:cNvPr id="1" name=""/>
        <p:cNvGrpSpPr/>
        <p:nvPr/>
      </p:nvGrpSpPr>
      <p:grpSpPr>
        <a:xfrm>
          <a:off x="0" y="0"/>
          <a:ext cx="0" cy="0"/>
          <a:chOff x="0" y="0"/>
          <a:chExt cx="0" cy="0"/>
        </a:xfrm>
      </p:grpSpPr>
      <p:sp>
        <p:nvSpPr>
          <p:cNvPr id="808" name="Shape 808"/>
          <p:cNvSpPr/>
          <p:nvPr/>
        </p:nvSpPr>
        <p:spPr>
          <a:xfrm>
            <a:off x="457200" y="457200"/>
            <a:ext cx="11296650" cy="350490"/>
          </a:xfrm>
          <a:prstGeom prst="rect">
            <a:avLst/>
          </a:prstGeom>
          <a:noFill/>
        </p:spPr>
        <p:txBody>
          <a:bodyPr anchor="t" wrap="square" tIns="0" bIns="0" lIns="0" rIns="0">
            <a:normAutofit/>
          </a:bodyPr>
          <a:lstStyle/>
          <a:p>
            <a:pPr algn="l">
              <a:lnSpc>
                <a:spcPts val="2760"/>
              </a:lnSpc>
              <a:buNone/>
            </a:pPr>
            <a:r>
              <a:rPr sz="2400" b="1" i="0">
                <a:solidFill>
                  <a:srgbClr val="2B5577"/>
                </a:solidFill>
                <a:latin typeface="Arial"/>
                <a:ea typeface="Arial"/>
              </a:rPr>
              <a:t>Reconstructed flow outperforms a static cue at range</a:t>
            </a:r>
            <a:endParaRPr lang="en-US"/>
          </a:p>
        </p:txBody>
      </p:sp>
      <p:sp>
        <p:nvSpPr>
          <p:cNvPr id="809" name="Shape 809"/>
          <p:cNvSpPr/>
          <p:nvPr/>
        </p:nvSpPr>
        <p:spPr>
          <a:xfrm>
            <a:off x="566000" y="1234440"/>
            <a:ext cx="5480000" cy="4915560"/>
          </a:xfrm>
          <a:prstGeom prst="rect">
            <a:avLst/>
          </a:prstGeom>
          <a:noFill/>
        </p:spPr>
        <p:txBody>
          <a:bodyPr anchor="t" wrap="square" tIns="0" bIns="0" lIns="0" rIns="0">
            <a:normAutofit/>
          </a:bodyPr>
          <a:lstStyle/>
          <a:p>
            <a:pPr algn="l">
              <a:lnSpc>
                <a:spcPct val="108000"/>
              </a:lnSpc>
              <a:spcAft>
                <a:spcPts val="1200"/>
              </a:spcAft>
              <a:buNone/>
            </a:pPr>
            <a:r>
              <a:rPr sz="1400" b="0" i="0">
                <a:solidFill>
                  <a:srgbClr val="1F262D"/>
                </a:solidFill>
                <a:latin typeface="Arial"/>
                <a:ea typeface="Arial"/>
              </a:rPr>
              <a:t>The study set the discriminability of reconstructed relative-gradient values against that of the static image measure. Both were judged against a distant reference condition, which gave a common basis for deciding when object-related information emerged from variability. The same reconstructed approaches were used for both. The analysis treated both as detection criteria.</a:t>
            </a:r>
            <a:endParaRPr lang="en-US"/>
          </a:p>
          <a:p>
            <a:pPr algn="l">
              <a:lnSpc>
                <a:spcPct val="108000"/>
              </a:lnSpc>
              <a:spcAft>
                <a:spcPts val="1200"/>
              </a:spcAft>
              <a:buNone/>
            </a:pPr>
            <a:r>
              <a:rPr sz="1400" b="0" i="0">
                <a:solidFill>
                  <a:srgbClr val="1F262D"/>
                </a:solidFill>
                <a:latin typeface="Arial"/>
                <a:ea typeface="Arial"/>
              </a:rPr>
              <a:t>Under the paper's detection criterion, the relative gradient reached threshold at about 6 cm, whereas the static measure reached it at about 3 cm. The dynamic measure also gave finer modeled distance resolution at longer distances. The dynamic cue therefore carried distance information to a greater distance than the static cue did.</a:t>
            </a:r>
            <a:endParaRPr lang="en-US"/>
          </a:p>
          <a:p>
            <a:pPr algn="l">
              <a:lnSpc>
                <a:spcPct val="108000"/>
              </a:lnSpc>
              <a:spcAft>
                <a:spcPts val="1200"/>
              </a:spcAft>
              <a:buNone/>
            </a:pPr>
            <a:r>
              <a:rPr sz="1400" b="0" i="0">
                <a:solidFill>
                  <a:srgbClr val="1F262D"/>
                </a:solidFill>
                <a:latin typeface="Arial"/>
                <a:ea typeface="Arial"/>
              </a:rPr>
              <a:t>These values describe cue analysis built from reconstructed distributions, and they coexist with the roughly 4 cm object-recognition range from choice tasks. Identifying shape and extracting a distance-related signal place distinct demands on the animal. The 4 cm range measures what the fish can identify in the choice tasks. Detection and identification are separate capacities.</a:t>
            </a:r>
            <a:endParaRPr lang="en-US"/>
          </a:p>
        </p:txBody>
      </p:sp>
      <p:pic>
        <p:nvPicPr>
          <p:cNvPr id="309" name="Presenton Native Image 15" descr=""/>
          <p:cNvPicPr/>
          <p:nvPr/>
        </p:nvPicPr>
        <p:blipFill>
          <a:blip r:embed="rId2" cstate="none"/>
          <a:stretch>
            <a:fillRect/>
          </a:stretch>
        </p:blipFill>
        <p:spPr>
          <a:xfrm>
            <a:off x="7837653" y="1055340"/>
            <a:ext cx="2593644" cy="4000500"/>
          </a:xfrm>
          <a:prstGeom prst="rect">
            <a:avLst/>
          </a:prstGeom>
        </p:spPr>
      </p:pic>
      <p:sp>
        <p:nvSpPr>
          <p:cNvPr id="812" name="Shape 812"/>
          <p:cNvSpPr/>
          <p:nvPr/>
        </p:nvSpPr>
        <p:spPr>
          <a:xfrm>
            <a:off x="6610350" y="5170140"/>
            <a:ext cx="5067300" cy="371475"/>
          </a:xfrm>
          <a:prstGeom prst="rect">
            <a:avLst/>
          </a:prstGeom>
          <a:noFill/>
        </p:spPr>
        <p:txBody>
          <a:bodyPr anchor="t" wrap="square" tIns="0" bIns="0" lIns="0" rIns="0">
            <a:normAutofit/>
          </a:bodyPr>
          <a:lstStyle/>
          <a:p>
            <a:pPr algn="l">
              <a:lnSpc>
                <a:spcPts val="1463"/>
              </a:lnSpc>
              <a:buNone/>
            </a:pPr>
            <a:r>
              <a:rPr sz="1125" b="0" i="0">
                <a:solidFill>
                  <a:srgbClr val="1F262D"/>
                </a:solidFill>
                <a:latin typeface="Arial"/>
                <a:ea typeface="Arial"/>
              </a:rPr>
              <a:t>Hofmann et al. (2017), Fig. 7(A–D). Comparison of reconstructed dynamic and static distance cues.</a:t>
            </a:r>
            <a:endParaRPr lang="en-US"/>
          </a:p>
        </p:txBody>
      </p:sp>
      <p:sp>
        <p:nvSpPr>
          <p:cNvPr id="813" name="Shape 813"/>
          <p:cNvSpPr/>
          <p:nvPr/>
        </p:nvSpPr>
        <p:spPr>
          <a:xfrm>
            <a:off x="457200" y="6462713"/>
            <a:ext cx="1269950" cy="185738"/>
          </a:xfrm>
          <a:prstGeom prst="rect">
            <a:avLst/>
          </a:prstGeom>
          <a:noFill/>
        </p:spPr>
        <p:txBody>
          <a:bodyPr anchor="t" wrap="square" tIns="0" bIns="0" lIns="0" rIns="0">
            <a:normAutofit/>
          </a:bodyPr>
          <a:lstStyle/>
          <a:p>
            <a:pPr algn="l">
              <a:lnSpc>
                <a:spcPts val="1463"/>
              </a:lnSpc>
              <a:buNone/>
            </a:pPr>
            <a:r>
              <a:rPr sz="975" b="0" i="0">
                <a:solidFill>
                  <a:srgbClr val="58636E"/>
                </a:solidFill>
                <a:latin typeface="Arial"/>
                <a:ea typeface="Arial"/>
              </a:rPr>
              <a:t>Hofmann et al. (2017)</a:t>
            </a:r>
            <a:endParaRPr lang="en-US"/>
          </a:p>
        </p:txBody>
      </p:sp>
      <p:sp>
        <p:nvSpPr>
          <p:cNvPr id="814" name="Shape 814"/>
          <p:cNvSpPr/>
          <p:nvPr/>
        </p:nvSpPr>
        <p:spPr>
          <a:xfrm>
            <a:off x="11593116" y="6462713"/>
            <a:ext cx="160734" cy="185738"/>
          </a:xfrm>
          <a:prstGeom prst="rect">
            <a:avLst/>
          </a:prstGeom>
          <a:noFill/>
        </p:spPr>
        <p:txBody>
          <a:bodyPr anchor="t" wrap="square" tIns="0" bIns="0" lIns="0" rIns="0">
            <a:normAutofit/>
          </a:bodyPr>
          <a:lstStyle/>
          <a:p>
            <a:pPr algn="l">
              <a:lnSpc>
                <a:spcPts val="1463"/>
              </a:lnSpc>
              <a:buNone/>
            </a:pPr>
            <a:r>
              <a:rPr sz="975" b="0" i="0">
                <a:solidFill>
                  <a:srgbClr val="58636E"/>
                </a:solidFill>
                <a:latin typeface="Arial"/>
                <a:ea typeface="Arial"/>
              </a:rPr>
              <a:t>15</a:t>
            </a:r>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rgbClr val="FFFFFF"/>
        </a:solidFill>
      </p:bgPr>
    </p:bg>
    <p:spTree>
      <p:nvGrpSpPr>
        <p:cNvPr id="1" name=""/>
        <p:cNvGrpSpPr/>
        <p:nvPr/>
      </p:nvGrpSpPr>
      <p:grpSpPr>
        <a:xfrm>
          <a:off x="0" y="0"/>
          <a:ext cx="0" cy="0"/>
          <a:chOff x="0" y="0"/>
          <a:chExt cx="0" cy="0"/>
        </a:xfrm>
      </p:grpSpPr>
      <p:sp>
        <p:nvSpPr>
          <p:cNvPr id="815" name="Shape 815"/>
          <p:cNvSpPr/>
          <p:nvPr/>
        </p:nvSpPr>
        <p:spPr>
          <a:xfrm>
            <a:off x="457200" y="457200"/>
            <a:ext cx="11296650" cy="350490"/>
          </a:xfrm>
          <a:prstGeom prst="rect">
            <a:avLst/>
          </a:prstGeom>
          <a:noFill/>
        </p:spPr>
        <p:txBody>
          <a:bodyPr anchor="t" wrap="square" tIns="0" bIns="0" lIns="0" rIns="0">
            <a:normAutofit/>
          </a:bodyPr>
          <a:lstStyle/>
          <a:p>
            <a:pPr algn="l">
              <a:lnSpc>
                <a:spcPts val="2760"/>
              </a:lnSpc>
              <a:buNone/>
            </a:pPr>
            <a:r>
              <a:rPr sz="2400" b="1" i="0">
                <a:solidFill>
                  <a:srgbClr val="2B5577"/>
                </a:solidFill>
                <a:latin typeface="Arial"/>
                <a:ea typeface="Arial"/>
              </a:rPr>
              <a:t>Electrical transparency isolates visual object learning</a:t>
            </a:r>
            <a:endParaRPr lang="en-US"/>
          </a:p>
        </p:txBody>
      </p:sp>
      <p:sp>
        <p:nvSpPr>
          <p:cNvPr id="816" name="Shape 816"/>
          <p:cNvSpPr/>
          <p:nvPr/>
        </p:nvSpPr>
        <p:spPr>
          <a:xfrm>
            <a:off x="566000" y="1234440"/>
            <a:ext cx="5480000" cy="4915560"/>
          </a:xfrm>
          <a:prstGeom prst="rect">
            <a:avLst/>
          </a:prstGeom>
          <a:noFill/>
        </p:spPr>
        <p:txBody>
          <a:bodyPr anchor="t" wrap="square" tIns="0" bIns="0" lIns="0" rIns="0">
            <a:normAutofit/>
          </a:bodyPr>
          <a:lstStyle/>
          <a:p>
            <a:pPr algn="l">
              <a:lnSpc>
                <a:spcPct val="108000"/>
              </a:lnSpc>
              <a:spcAft>
                <a:spcPts val="1200"/>
              </a:spcAft>
              <a:buNone/>
            </a:pPr>
            <a:r>
              <a:rPr sz="1400" b="1" i="0">
                <a:solidFill>
                  <a:srgbClr val="1F262D"/>
                </a:solidFill>
                <a:latin typeface="Arial"/>
                <a:ea typeface="Arial"/>
              </a:rPr>
              <a:t>Electrical transparency</a:t>
            </a:r>
            <a:r>
              <a:rPr sz="1400" b="0" i="0">
                <a:solidFill>
                  <a:srgbClr val="1F262D"/>
                </a:solidFill>
                <a:latin typeface="Arial"/>
                <a:ea typeface="Arial"/>
              </a:rPr>
              <a:t xml:space="preserve"> means an object produces little discriminating electrical contrast against the surrounding water. Schumacher and colleagues used colored agarose objects with conductivity close to the tank water, which supplied visible shapes while reducing active electrolocation cues. Agarose is a gel whose conductivity can be adjusted to match water. Its matched conductivity reduced the electric contrast of the object.</a:t>
            </a:r>
            <a:endParaRPr lang="en-US"/>
          </a:p>
          <a:p>
            <a:pPr algn="l">
              <a:lnSpc>
                <a:spcPct val="108000"/>
              </a:lnSpc>
              <a:spcAft>
                <a:spcPts val="1200"/>
              </a:spcAft>
              <a:buNone/>
            </a:pPr>
            <a:r>
              <a:rPr sz="1400" b="0" i="0">
                <a:solidFill>
                  <a:srgbClr val="1F262D"/>
                </a:solidFill>
                <a:latin typeface="Arial"/>
                <a:ea typeface="Arial"/>
              </a:rPr>
              <a:t xml:space="preserve">A 3 cm sphere served as the rewarded object, and a cross or cuboid served as the alternative. Metal objects supplied electric contrast, while opaque, electrically transparent covers reduced visible shape differences in electric-only conditions. The objects sat 1 cm behind the gates in every test. Each test kept the same choice format as the training.</a:t>
            </a:r>
            <a:endParaRPr lang="en-US"/>
          </a:p>
          <a:p>
            <a:pPr algn="l">
              <a:lnSpc>
                <a:spcPct val="108000"/>
              </a:lnSpc>
              <a:spcAft>
                <a:spcPts val="1200"/>
              </a:spcAft>
              <a:buNone/>
            </a:pPr>
            <a:r>
              <a:rPr sz="1400" b="0" i="0">
                <a:solidFill>
                  <a:srgbClr val="1F262D"/>
                </a:solidFill>
                <a:latin typeface="Arial"/>
                <a:ea typeface="Arial"/>
              </a:rPr>
              <a:t xml:space="preserve">Material and lighting manipulations changed sensory availability while the choice format stayed fixed. Control tests of electrical and lateral-line cues supported each interpretation, rather than an assumption that darkness alone isolates a single channel. Lateral-line cues were the second channel tested in those controls. The control results were needed to attribute the effect to electrical cues.</a:t>
            </a:r>
            <a:endParaRPr lang="en-US"/>
          </a:p>
        </p:txBody>
      </p:sp>
      <p:pic>
        <p:nvPicPr>
          <p:cNvPr id="310" name="Presenton Native Image 16" descr=""/>
          <p:cNvPicPr/>
          <p:nvPr/>
        </p:nvPicPr>
        <p:blipFill>
          <a:blip r:embed="rId2" cstate="none"/>
          <a:stretch>
            <a:fillRect/>
          </a:stretch>
        </p:blipFill>
        <p:spPr>
          <a:xfrm>
            <a:off x="6610350" y="2078652"/>
            <a:ext cx="5048250" cy="1953876"/>
          </a:xfrm>
          <a:prstGeom prst="rect">
            <a:avLst/>
          </a:prstGeom>
        </p:spPr>
      </p:pic>
      <p:sp>
        <p:nvSpPr>
          <p:cNvPr id="819" name="Shape 819"/>
          <p:cNvSpPr/>
          <p:nvPr/>
        </p:nvSpPr>
        <p:spPr>
          <a:xfrm>
            <a:off x="6610350" y="5170140"/>
            <a:ext cx="5067300" cy="371475"/>
          </a:xfrm>
          <a:prstGeom prst="rect">
            <a:avLst/>
          </a:prstGeom>
          <a:noFill/>
        </p:spPr>
        <p:txBody>
          <a:bodyPr anchor="t" wrap="square" tIns="0" bIns="0" lIns="0" rIns="0">
            <a:normAutofit/>
          </a:bodyPr>
          <a:lstStyle/>
          <a:p>
            <a:pPr algn="l">
              <a:lnSpc>
                <a:spcPts val="1463"/>
              </a:lnSpc>
              <a:buNone/>
            </a:pPr>
            <a:r>
              <a:rPr sz="1125" b="0" i="0">
                <a:solidFill>
                  <a:srgbClr val="1F262D"/>
                </a:solidFill>
                <a:latin typeface="Arial"/>
                <a:ea typeface="Arial"/>
              </a:rPr>
              <a:t>Schumacher et al. (2017), Fig. 2(a–c). Objects used for multisensory and single-sense conditions.</a:t>
            </a:r>
            <a:endParaRPr lang="en-US"/>
          </a:p>
        </p:txBody>
      </p:sp>
      <p:sp>
        <p:nvSpPr>
          <p:cNvPr id="820" name="Shape 820"/>
          <p:cNvSpPr/>
          <p:nvPr/>
        </p:nvSpPr>
        <p:spPr>
          <a:xfrm>
            <a:off x="457200" y="6462713"/>
            <a:ext cx="1445121" cy="185738"/>
          </a:xfrm>
          <a:prstGeom prst="rect">
            <a:avLst/>
          </a:prstGeom>
          <a:noFill/>
        </p:spPr>
        <p:txBody>
          <a:bodyPr anchor="t" wrap="square" tIns="0" bIns="0" lIns="0" rIns="0">
            <a:normAutofit/>
          </a:bodyPr>
          <a:lstStyle/>
          <a:p>
            <a:pPr algn="l">
              <a:lnSpc>
                <a:spcPts val="1463"/>
              </a:lnSpc>
              <a:buNone/>
            </a:pPr>
            <a:r>
              <a:rPr sz="975" b="0" i="0">
                <a:solidFill>
                  <a:srgbClr val="58636E"/>
                </a:solidFill>
                <a:latin typeface="Arial"/>
                <a:ea typeface="Arial"/>
              </a:rPr>
              <a:t>Schumacher et al. (2017)</a:t>
            </a:r>
            <a:endParaRPr lang="en-US"/>
          </a:p>
        </p:txBody>
      </p:sp>
      <p:sp>
        <p:nvSpPr>
          <p:cNvPr id="821" name="Shape 821"/>
          <p:cNvSpPr/>
          <p:nvPr/>
        </p:nvSpPr>
        <p:spPr>
          <a:xfrm>
            <a:off x="11593116" y="6462713"/>
            <a:ext cx="160734" cy="185738"/>
          </a:xfrm>
          <a:prstGeom prst="rect">
            <a:avLst/>
          </a:prstGeom>
          <a:noFill/>
        </p:spPr>
        <p:txBody>
          <a:bodyPr anchor="t" wrap="square" tIns="0" bIns="0" lIns="0" rIns="0">
            <a:normAutofit/>
          </a:bodyPr>
          <a:lstStyle/>
          <a:p>
            <a:pPr algn="l">
              <a:lnSpc>
                <a:spcPts val="1463"/>
              </a:lnSpc>
              <a:buNone/>
            </a:pPr>
            <a:r>
              <a:rPr sz="975" b="0" i="0">
                <a:solidFill>
                  <a:srgbClr val="58636E"/>
                </a:solidFill>
                <a:latin typeface="Arial"/>
                <a:ea typeface="Arial"/>
              </a:rPr>
              <a:t>16</a:t>
            </a:r>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rgbClr val="FFFFFF"/>
        </a:solidFill>
      </p:bgPr>
    </p:bg>
    <p:spTree>
      <p:nvGrpSpPr>
        <p:cNvPr id="1" name=""/>
        <p:cNvGrpSpPr/>
        <p:nvPr/>
      </p:nvGrpSpPr>
      <p:grpSpPr>
        <a:xfrm>
          <a:off x="0" y="0"/>
          <a:ext cx="0" cy="0"/>
          <a:chOff x="0" y="0"/>
          <a:chExt cx="0" cy="0"/>
        </a:xfrm>
      </p:grpSpPr>
      <p:sp>
        <p:nvSpPr>
          <p:cNvPr id="822" name="Shape 822"/>
          <p:cNvSpPr/>
          <p:nvPr/>
        </p:nvSpPr>
        <p:spPr>
          <a:xfrm>
            <a:off x="457200" y="457200"/>
            <a:ext cx="11296650" cy="350490"/>
          </a:xfrm>
          <a:prstGeom prst="rect">
            <a:avLst/>
          </a:prstGeom>
          <a:noFill/>
        </p:spPr>
        <p:txBody>
          <a:bodyPr anchor="t" wrap="square" tIns="0" bIns="0" lIns="0" rIns="0">
            <a:normAutofit/>
          </a:bodyPr>
          <a:lstStyle/>
          <a:p>
            <a:pPr algn="l">
              <a:lnSpc>
                <a:spcPts val="2760"/>
              </a:lnSpc>
              <a:buNone/>
            </a:pPr>
            <a:r>
              <a:rPr sz="2400" b="1" i="0">
                <a:solidFill>
                  <a:srgbClr val="2B5577"/>
                </a:solidFill>
                <a:latin typeface="Arial"/>
                <a:ea typeface="Arial"/>
              </a:rPr>
              <a:t>Available senses change the rate of task acquisition</a:t>
            </a:r>
            <a:endParaRPr lang="en-US"/>
          </a:p>
        </p:txBody>
      </p:sp>
      <p:sp>
        <p:nvSpPr>
          <p:cNvPr id="823" name="Shape 823"/>
          <p:cNvSpPr/>
          <p:nvPr/>
        </p:nvSpPr>
        <p:spPr>
          <a:xfrm>
            <a:off x="566000" y="1234440"/>
            <a:ext cx="5480000" cy="4915560"/>
          </a:xfrm>
          <a:prstGeom prst="rect">
            <a:avLst/>
          </a:prstGeom>
          <a:noFill/>
        </p:spPr>
        <p:txBody>
          <a:bodyPr anchor="t" wrap="square" tIns="0" bIns="0" lIns="0" rIns="0">
            <a:normAutofit/>
          </a:bodyPr>
          <a:lstStyle/>
          <a:p>
            <a:pPr algn="l">
              <a:lnSpc>
                <a:spcPct val="108000"/>
              </a:lnSpc>
              <a:spcAft>
                <a:spcPts val="1200"/>
              </a:spcAft>
              <a:buNone/>
            </a:pPr>
            <a:r>
              <a:rPr sz="1400" b="1" i="0">
                <a:solidFill>
                  <a:srgbClr val="1F262D"/>
                </a:solidFill>
                <a:latin typeface="Arial"/>
                <a:ea typeface="Arial"/>
              </a:rPr>
              <a:t>Task acquisition</a:t>
            </a:r>
            <a:r>
              <a:rPr sz="1400" b="0" i="0">
                <a:solidFill>
                  <a:srgbClr val="1F262D"/>
                </a:solidFill>
                <a:latin typeface="Arial"/>
                <a:ea typeface="Arial"/>
              </a:rPr>
              <a:t xml:space="preserve"> is the development of the learned choice during training. Schumacher and colleagues trained elephantnose fish with both senses, with electric information alone, or with visual information alone, using a criterion above 75% correct choices on three consecutive days. Each group trained until it reached that criterion. The three groups differed in which sensory cues were available.</a:t>
            </a:r>
            <a:endParaRPr lang="en-US"/>
          </a:p>
          <a:p>
            <a:pPr algn="l">
              <a:lnSpc>
                <a:spcPct val="108000"/>
              </a:lnSpc>
              <a:spcAft>
                <a:spcPts val="1200"/>
              </a:spcAft>
              <a:buNone/>
            </a:pPr>
            <a:r>
              <a:rPr sz="1400" b="0" i="0">
                <a:solidFill>
                  <a:srgbClr val="1F262D"/>
                </a:solidFill>
                <a:latin typeface="Arial"/>
                <a:ea typeface="Arial"/>
              </a:rPr>
              <a:t xml:space="preserve">Mean training lasted about 12.5 days with both senses, 16.2 days with electric input, and 31.5 days with visual input in intact fish. Electrically silenced fish learned the visual task in about 6 days under the tested conditions. Visual training was the slowest of the three conditions in intact fish. The duration differences are the main measured result here.</a:t>
            </a:r>
            <a:endParaRPr lang="en-US"/>
          </a:p>
          <a:p>
            <a:pPr algn="l">
              <a:lnSpc>
                <a:spcPct val="108000"/>
              </a:lnSpc>
              <a:spcAft>
                <a:spcPts val="1200"/>
              </a:spcAft>
              <a:buNone/>
            </a:pPr>
            <a:r>
              <a:rPr sz="1400" b="0" i="0">
                <a:solidFill>
                  <a:srgbClr val="1F262D"/>
                </a:solidFill>
                <a:latin typeface="Arial"/>
                <a:ea typeface="Arial"/>
              </a:rPr>
              <a:t xml:space="preserve">Learning speed therefore tracks emission state and sensory context in this near-field object task. Each sensory condition sets a different rate at which the learned choice develops. Emission and sensory context therefore both bear on how quickly the choice forms. Electrically silenced fish learned the visual task faster than intact fish did.</a:t>
            </a:r>
            <a:endParaRPr lang="en-US"/>
          </a:p>
        </p:txBody>
      </p:sp>
      <p:pic>
        <p:nvPicPr>
          <p:cNvPr id="311" name="Presenton Native Image 17" descr=""/>
          <p:cNvPicPr/>
          <p:nvPr/>
        </p:nvPicPr>
        <p:blipFill>
          <a:blip r:embed="rId2" cstate="none"/>
          <a:stretch>
            <a:fillRect/>
          </a:stretch>
        </p:blipFill>
        <p:spPr>
          <a:xfrm>
            <a:off x="6610350" y="1715995"/>
            <a:ext cx="5048250" cy="2679191"/>
          </a:xfrm>
          <a:prstGeom prst="rect">
            <a:avLst/>
          </a:prstGeom>
        </p:spPr>
      </p:pic>
      <p:sp>
        <p:nvSpPr>
          <p:cNvPr id="826" name="Shape 826"/>
          <p:cNvSpPr/>
          <p:nvPr/>
        </p:nvSpPr>
        <p:spPr>
          <a:xfrm>
            <a:off x="6610350" y="5170140"/>
            <a:ext cx="5067300" cy="371475"/>
          </a:xfrm>
          <a:prstGeom prst="rect">
            <a:avLst/>
          </a:prstGeom>
          <a:noFill/>
        </p:spPr>
        <p:txBody>
          <a:bodyPr anchor="t" wrap="square" tIns="0" bIns="0" lIns="0" rIns="0">
            <a:normAutofit/>
          </a:bodyPr>
          <a:lstStyle/>
          <a:p>
            <a:pPr algn="l">
              <a:lnSpc>
                <a:spcPts val="1463"/>
              </a:lnSpc>
              <a:buNone/>
            </a:pPr>
            <a:r>
              <a:rPr sz="1125" b="0" i="0">
                <a:solidFill>
                  <a:srgbClr val="1F262D"/>
                </a:solidFill>
                <a:latin typeface="Arial"/>
                <a:ea typeface="Arial"/>
              </a:rPr>
              <a:t>Schumacher et al. (2017), Fig. 3. Training duration under different sensory conditions.</a:t>
            </a:r>
            <a:endParaRPr lang="en-US"/>
          </a:p>
        </p:txBody>
      </p:sp>
      <p:sp>
        <p:nvSpPr>
          <p:cNvPr id="827" name="Shape 827"/>
          <p:cNvSpPr/>
          <p:nvPr/>
        </p:nvSpPr>
        <p:spPr>
          <a:xfrm>
            <a:off x="457200" y="6462713"/>
            <a:ext cx="1445121" cy="185738"/>
          </a:xfrm>
          <a:prstGeom prst="rect">
            <a:avLst/>
          </a:prstGeom>
          <a:noFill/>
        </p:spPr>
        <p:txBody>
          <a:bodyPr anchor="t" wrap="square" tIns="0" bIns="0" lIns="0" rIns="0">
            <a:normAutofit/>
          </a:bodyPr>
          <a:lstStyle/>
          <a:p>
            <a:pPr algn="l">
              <a:lnSpc>
                <a:spcPts val="1463"/>
              </a:lnSpc>
              <a:buNone/>
            </a:pPr>
            <a:r>
              <a:rPr sz="975" b="0" i="0">
                <a:solidFill>
                  <a:srgbClr val="58636E"/>
                </a:solidFill>
                <a:latin typeface="Arial"/>
                <a:ea typeface="Arial"/>
              </a:rPr>
              <a:t>Schumacher et al. (2017)</a:t>
            </a:r>
            <a:endParaRPr lang="en-US"/>
          </a:p>
        </p:txBody>
      </p:sp>
      <p:sp>
        <p:nvSpPr>
          <p:cNvPr id="828" name="Shape 828"/>
          <p:cNvSpPr/>
          <p:nvPr/>
        </p:nvSpPr>
        <p:spPr>
          <a:xfrm>
            <a:off x="11593116" y="6462713"/>
            <a:ext cx="160734" cy="185738"/>
          </a:xfrm>
          <a:prstGeom prst="rect">
            <a:avLst/>
          </a:prstGeom>
          <a:noFill/>
        </p:spPr>
        <p:txBody>
          <a:bodyPr anchor="t" wrap="square" tIns="0" bIns="0" lIns="0" rIns="0">
            <a:normAutofit/>
          </a:bodyPr>
          <a:lstStyle/>
          <a:p>
            <a:pPr algn="l">
              <a:lnSpc>
                <a:spcPts val="1463"/>
              </a:lnSpc>
              <a:buNone/>
            </a:pPr>
            <a:r>
              <a:rPr sz="975" b="0" i="0">
                <a:solidFill>
                  <a:srgbClr val="58636E"/>
                </a:solidFill>
                <a:latin typeface="Arial"/>
                <a:ea typeface="Arial"/>
              </a:rPr>
              <a:t>17</a:t>
            </a:r>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rgbClr val="FFFFFF"/>
        </a:solidFill>
      </p:bgPr>
    </p:bg>
    <p:spTree>
      <p:nvGrpSpPr>
        <p:cNvPr id="1" name=""/>
        <p:cNvGrpSpPr/>
        <p:nvPr/>
      </p:nvGrpSpPr>
      <p:grpSpPr>
        <a:xfrm>
          <a:off x="0" y="0"/>
          <a:ext cx="0" cy="0"/>
          <a:chOff x="0" y="0"/>
          <a:chExt cx="0" cy="0"/>
        </a:xfrm>
      </p:grpSpPr>
      <p:sp>
        <p:nvSpPr>
          <p:cNvPr id="829" name="Shape 829"/>
          <p:cNvSpPr/>
          <p:nvPr/>
        </p:nvSpPr>
        <p:spPr>
          <a:xfrm>
            <a:off x="457200" y="457200"/>
            <a:ext cx="11296650" cy="350490"/>
          </a:xfrm>
          <a:prstGeom prst="rect">
            <a:avLst/>
          </a:prstGeom>
          <a:noFill/>
        </p:spPr>
        <p:txBody>
          <a:bodyPr anchor="t" wrap="square" tIns="0" bIns="0" lIns="0" rIns="0">
            <a:normAutofit/>
          </a:bodyPr>
          <a:lstStyle/>
          <a:p>
            <a:pPr algn="l">
              <a:lnSpc>
                <a:spcPts val="2760"/>
              </a:lnSpc>
              <a:buNone/>
            </a:pPr>
            <a:r>
              <a:rPr sz="2400" b="1" i="0">
                <a:solidFill>
                  <a:srgbClr val="2B5577"/>
                </a:solidFill>
                <a:latin typeface="Arial"/>
                <a:ea typeface="Arial"/>
              </a:rPr>
              <a:t>Combined senses improve asymptotic discrimination</a:t>
            </a:r>
            <a:endParaRPr lang="en-US"/>
          </a:p>
        </p:txBody>
      </p:sp>
      <p:sp>
        <p:nvSpPr>
          <p:cNvPr id="830" name="Shape 830"/>
          <p:cNvSpPr/>
          <p:nvPr/>
        </p:nvSpPr>
        <p:spPr>
          <a:xfrm>
            <a:off x="566000" y="1234440"/>
            <a:ext cx="5480000" cy="4915560"/>
          </a:xfrm>
          <a:prstGeom prst="rect">
            <a:avLst/>
          </a:prstGeom>
          <a:noFill/>
        </p:spPr>
        <p:txBody>
          <a:bodyPr anchor="t" wrap="square" tIns="0" bIns="0" lIns="0" rIns="0">
            <a:normAutofit/>
          </a:bodyPr>
          <a:lstStyle/>
          <a:p>
            <a:pPr algn="l">
              <a:lnSpc>
                <a:spcPct val="108000"/>
              </a:lnSpc>
              <a:spcAft>
                <a:spcPts val="1200"/>
              </a:spcAft>
              <a:buNone/>
            </a:pPr>
            <a:r>
              <a:rPr sz="1400" b="1" i="0">
                <a:solidFill>
                  <a:srgbClr val="1F262D"/>
                </a:solidFill>
                <a:latin typeface="Arial"/>
                <a:ea typeface="Arial"/>
              </a:rPr>
              <a:t>Asymptotic performance</a:t>
            </a:r>
            <a:r>
              <a:rPr sz="1400" b="0" i="0">
                <a:solidFill>
                  <a:srgbClr val="1F262D"/>
                </a:solidFill>
                <a:latin typeface="Arial"/>
                <a:ea typeface="Arial"/>
              </a:rPr>
              <a:t xml:space="preserve"> is the relatively stable accuracy reached after a task has been learned. Schumacher and colleagues tested trained fish under conditions allowing vision and electrolocation together, electrolocation alone, or vision alone, with the same rewarded-object choice. That endpoint was measured for each group using identical objects and the same choice format.</a:t>
            </a:r>
            <a:endParaRPr lang="en-US"/>
          </a:p>
          <a:p>
            <a:pPr algn="l">
              <a:lnSpc>
                <a:spcPct val="108000"/>
              </a:lnSpc>
              <a:spcAft>
                <a:spcPts val="1200"/>
              </a:spcAft>
              <a:buNone/>
            </a:pPr>
            <a:r>
              <a:rPr sz="1400" b="0" i="0">
                <a:solidFill>
                  <a:srgbClr val="1F262D"/>
                </a:solidFill>
                <a:latin typeface="Arial"/>
                <a:ea typeface="Arial"/>
              </a:rPr>
              <a:t xml:space="preserve">Accuracy reached at least 84% in every group. The combined-sense group averaged about 94.5% correct choices, above the visual-only accuracy of intact fish, while the objects stayed about 1 cm behind the inspection gates. Each group reached a stable level of accuracy. The objects stayed in the same place in every group.</a:t>
            </a:r>
            <a:endParaRPr lang="en-US"/>
          </a:p>
          <a:p>
            <a:pPr algn="l">
              <a:lnSpc>
                <a:spcPct val="108000"/>
              </a:lnSpc>
              <a:spcAft>
                <a:spcPts val="1200"/>
              </a:spcAft>
              <a:buNone/>
            </a:pPr>
            <a:r>
              <a:rPr sz="1400" b="0" i="0">
                <a:solidFill>
                  <a:srgbClr val="1F262D"/>
                </a:solidFill>
                <a:latin typeface="Arial"/>
                <a:ea typeface="Arial"/>
              </a:rPr>
              <a:t xml:space="preserve">Combined sensory input therefore improved discrimination in this task. Accuracy measured after training reflects the final level of the learned choice rather than its speed. Training duration is a separate measure of how fast the choice was learned, and both measures describe the same training history. The benefit appears in accuracy at the endpoint.</a:t>
            </a:r>
            <a:endParaRPr lang="en-US"/>
          </a:p>
        </p:txBody>
      </p:sp>
      <p:pic>
        <p:nvPicPr>
          <p:cNvPr id="312" name="Presenton Native Image 18" descr=""/>
          <p:cNvPicPr/>
          <p:nvPr/>
        </p:nvPicPr>
        <p:blipFill>
          <a:blip r:embed="rId2" cstate="none"/>
          <a:stretch>
            <a:fillRect/>
          </a:stretch>
        </p:blipFill>
        <p:spPr>
          <a:xfrm>
            <a:off x="6610350" y="1681917"/>
            <a:ext cx="5048250" cy="2747347"/>
          </a:xfrm>
          <a:prstGeom prst="rect">
            <a:avLst/>
          </a:prstGeom>
        </p:spPr>
      </p:pic>
      <p:sp>
        <p:nvSpPr>
          <p:cNvPr id="833" name="Shape 833"/>
          <p:cNvSpPr/>
          <p:nvPr/>
        </p:nvSpPr>
        <p:spPr>
          <a:xfrm>
            <a:off x="6610350" y="5170140"/>
            <a:ext cx="5067300" cy="371475"/>
          </a:xfrm>
          <a:prstGeom prst="rect">
            <a:avLst/>
          </a:prstGeom>
          <a:noFill/>
        </p:spPr>
        <p:txBody>
          <a:bodyPr anchor="t" wrap="square" tIns="0" bIns="0" lIns="0" rIns="0">
            <a:normAutofit/>
          </a:bodyPr>
          <a:lstStyle/>
          <a:p>
            <a:pPr algn="l">
              <a:lnSpc>
                <a:spcPts val="1463"/>
              </a:lnSpc>
              <a:buNone/>
            </a:pPr>
            <a:r>
              <a:rPr sz="1125" b="0" i="0">
                <a:solidFill>
                  <a:srgbClr val="1F262D"/>
                </a:solidFill>
                <a:latin typeface="Arial"/>
                <a:ea typeface="Arial"/>
              </a:rPr>
              <a:t>Schumacher et al. (2017), Fig. 4. Accuracy after training under different sensory conditions.</a:t>
            </a:r>
            <a:endParaRPr lang="en-US"/>
          </a:p>
        </p:txBody>
      </p:sp>
      <p:sp>
        <p:nvSpPr>
          <p:cNvPr id="834" name="Shape 834"/>
          <p:cNvSpPr/>
          <p:nvPr/>
        </p:nvSpPr>
        <p:spPr>
          <a:xfrm>
            <a:off x="457200" y="6462713"/>
            <a:ext cx="1445121" cy="185738"/>
          </a:xfrm>
          <a:prstGeom prst="rect">
            <a:avLst/>
          </a:prstGeom>
          <a:noFill/>
        </p:spPr>
        <p:txBody>
          <a:bodyPr anchor="t" wrap="square" tIns="0" bIns="0" lIns="0" rIns="0">
            <a:normAutofit/>
          </a:bodyPr>
          <a:lstStyle/>
          <a:p>
            <a:pPr algn="l">
              <a:lnSpc>
                <a:spcPts val="1463"/>
              </a:lnSpc>
              <a:buNone/>
            </a:pPr>
            <a:r>
              <a:rPr sz="975" b="0" i="0">
                <a:solidFill>
                  <a:srgbClr val="58636E"/>
                </a:solidFill>
                <a:latin typeface="Arial"/>
                <a:ea typeface="Arial"/>
              </a:rPr>
              <a:t>Schumacher et al. (2017)</a:t>
            </a:r>
            <a:endParaRPr lang="en-US"/>
          </a:p>
        </p:txBody>
      </p:sp>
      <p:sp>
        <p:nvSpPr>
          <p:cNvPr id="835" name="Shape 835"/>
          <p:cNvSpPr/>
          <p:nvPr/>
        </p:nvSpPr>
        <p:spPr>
          <a:xfrm>
            <a:off x="11593116" y="6462713"/>
            <a:ext cx="160734" cy="185738"/>
          </a:xfrm>
          <a:prstGeom prst="rect">
            <a:avLst/>
          </a:prstGeom>
          <a:noFill/>
        </p:spPr>
        <p:txBody>
          <a:bodyPr anchor="t" wrap="square" tIns="0" bIns="0" lIns="0" rIns="0">
            <a:normAutofit/>
          </a:bodyPr>
          <a:lstStyle/>
          <a:p>
            <a:pPr algn="l">
              <a:lnSpc>
                <a:spcPts val="1463"/>
              </a:lnSpc>
              <a:buNone/>
            </a:pPr>
            <a:r>
              <a:rPr sz="975" b="0" i="0">
                <a:solidFill>
                  <a:srgbClr val="58636E"/>
                </a:solidFill>
                <a:latin typeface="Arial"/>
                <a:ea typeface="Arial"/>
              </a:rPr>
              <a:t>18</a:t>
            </a:r>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rgbClr val="FFFFFF"/>
        </a:solidFill>
      </p:bgPr>
    </p:bg>
    <p:spTree>
      <p:nvGrpSpPr>
        <p:cNvPr id="1" name=""/>
        <p:cNvGrpSpPr/>
        <p:nvPr/>
      </p:nvGrpSpPr>
      <p:grpSpPr>
        <a:xfrm>
          <a:off x="0" y="0"/>
          <a:ext cx="0" cy="0"/>
          <a:chOff x="0" y="0"/>
          <a:chExt cx="0" cy="0"/>
        </a:xfrm>
      </p:grpSpPr>
      <p:sp>
        <p:nvSpPr>
          <p:cNvPr id="836" name="Shape 836"/>
          <p:cNvSpPr/>
          <p:nvPr/>
        </p:nvSpPr>
        <p:spPr>
          <a:xfrm>
            <a:off x="457200" y="457200"/>
            <a:ext cx="11296650" cy="350490"/>
          </a:xfrm>
          <a:prstGeom prst="rect">
            <a:avLst/>
          </a:prstGeom>
          <a:noFill/>
        </p:spPr>
        <p:txBody>
          <a:bodyPr anchor="t" wrap="square" tIns="0" bIns="0" lIns="0" rIns="0">
            <a:normAutofit/>
          </a:bodyPr>
          <a:lstStyle/>
          <a:p>
            <a:pPr algn="l">
              <a:lnSpc>
                <a:spcPts val="2760"/>
              </a:lnSpc>
              <a:buNone/>
            </a:pPr>
            <a:r>
              <a:rPr sz="2400" b="1" i="0">
                <a:solidFill>
                  <a:srgbClr val="2B5577"/>
                </a:solidFill>
                <a:latin typeface="Arial"/>
                <a:ea typeface="Arial"/>
              </a:rPr>
              <a:t>Sensory conflict reveals electrosensory dominance nearby</a:t>
            </a:r>
            <a:endParaRPr lang="en-US"/>
          </a:p>
        </p:txBody>
      </p:sp>
      <p:sp>
        <p:nvSpPr>
          <p:cNvPr id="837" name="Shape 837"/>
          <p:cNvSpPr/>
          <p:nvPr/>
        </p:nvSpPr>
        <p:spPr>
          <a:xfrm>
            <a:off x="566000" y="1234440"/>
            <a:ext cx="5480000" cy="4915560"/>
          </a:xfrm>
          <a:prstGeom prst="rect">
            <a:avLst/>
          </a:prstGeom>
          <a:noFill/>
        </p:spPr>
        <p:txBody>
          <a:bodyPr anchor="t" wrap="square" tIns="0" bIns="0" lIns="0" rIns="0">
            <a:normAutofit/>
          </a:bodyPr>
          <a:lstStyle/>
          <a:p>
            <a:pPr algn="l">
              <a:lnSpc>
                <a:spcPct val="108000"/>
              </a:lnSpc>
              <a:spcAft>
                <a:spcPts val="1200"/>
              </a:spcAft>
              <a:buNone/>
            </a:pPr>
            <a:r>
              <a:rPr sz="1400" b="1" i="0">
                <a:solidFill>
                  <a:srgbClr val="1F262D"/>
                </a:solidFill>
                <a:latin typeface="Arial"/>
                <a:ea typeface="Arial"/>
              </a:rPr>
              <a:t>Electrosensory capture</a:t>
            </a:r>
            <a:r>
              <a:rPr sz="1400" b="0" i="0">
                <a:solidFill>
                  <a:srgbClr val="1F262D"/>
                </a:solidFill>
                <a:latin typeface="Arial"/>
                <a:ea typeface="Arial"/>
              </a:rPr>
              <a:t xml:space="preserve"> is dominance of electric information over conflicting visual information in a perceptual task. Schumacher and colleagues trained fish with electrically conspicuous metal objects, then tested choices with electric-only or visual-only information available. The metal objects supplied strong electric contrast during the training trials. Visual shape was available in the visual-only tests.</a:t>
            </a:r>
            <a:endParaRPr lang="en-US"/>
          </a:p>
          <a:p>
            <a:pPr algn="l">
              <a:lnSpc>
                <a:spcPct val="108000"/>
              </a:lnSpc>
              <a:spcAft>
                <a:spcPts val="1200"/>
              </a:spcAft>
              <a:buNone/>
            </a:pPr>
            <a:r>
              <a:rPr sz="1400" b="0" i="0">
                <a:solidFill>
                  <a:srgbClr val="1F262D"/>
                </a:solidFill>
                <a:latin typeface="Arial"/>
                <a:ea typeface="Arial"/>
              </a:rPr>
              <a:t xml:space="preserve">At the short inspection distance of 1 cm, electric information strongly supported the trained discrimination. Removing discriminating electric cues could impair the use of visual shape, and the result depends on the specific near-field task and the training history. The gates fixed the inspection distance at 1 cm in every trial. This sets the near-field condition.</a:t>
            </a:r>
            <a:endParaRPr lang="en-US"/>
          </a:p>
          <a:p>
            <a:pPr algn="l">
              <a:lnSpc>
                <a:spcPct val="108000"/>
              </a:lnSpc>
              <a:spcAft>
                <a:spcPts val="1200"/>
              </a:spcAft>
              <a:buNone/>
            </a:pPr>
            <a:r>
              <a:rPr sz="1400" b="0" i="0">
                <a:solidFill>
                  <a:srgbClr val="1F262D"/>
                </a:solidFill>
                <a:latin typeface="Arial"/>
                <a:ea typeface="Arial"/>
              </a:rPr>
              <a:t xml:space="preserve">Dominance is therefore conditional on the task and on the animal's training. Choices are the readout available in these experiments, and sensory weighting describes the contribution of each modality to the observable decision. Behavioral weights are inferred from the choices that each condition produced. Each condition isolates one source of sensory information.</a:t>
            </a:r>
            <a:endParaRPr lang="en-US"/>
          </a:p>
        </p:txBody>
      </p:sp>
      <p:pic>
        <p:nvPicPr>
          <p:cNvPr id="313" name="Presenton Native Image 19" descr=""/>
          <p:cNvPicPr/>
          <p:nvPr/>
        </p:nvPicPr>
        <p:blipFill>
          <a:blip r:embed="rId2" cstate="none"/>
          <a:stretch>
            <a:fillRect/>
          </a:stretch>
        </p:blipFill>
        <p:spPr>
          <a:xfrm>
            <a:off x="6610350" y="2334089"/>
            <a:ext cx="5048250" cy="1443003"/>
          </a:xfrm>
          <a:prstGeom prst="rect">
            <a:avLst/>
          </a:prstGeom>
        </p:spPr>
      </p:pic>
      <p:sp>
        <p:nvSpPr>
          <p:cNvPr id="840" name="Shape 840"/>
          <p:cNvSpPr/>
          <p:nvPr/>
        </p:nvSpPr>
        <p:spPr>
          <a:xfrm>
            <a:off x="6610350" y="5170140"/>
            <a:ext cx="5067300" cy="371475"/>
          </a:xfrm>
          <a:prstGeom prst="rect">
            <a:avLst/>
          </a:prstGeom>
          <a:noFill/>
        </p:spPr>
        <p:txBody>
          <a:bodyPr anchor="t" wrap="square" tIns="0" bIns="0" lIns="0" rIns="0">
            <a:normAutofit/>
          </a:bodyPr>
          <a:lstStyle/>
          <a:p>
            <a:pPr algn="l">
              <a:lnSpc>
                <a:spcPts val="1463"/>
              </a:lnSpc>
              <a:buNone/>
            </a:pPr>
            <a:r>
              <a:rPr sz="1125" b="0" i="0">
                <a:solidFill>
                  <a:srgbClr val="1F262D"/>
                </a:solidFill>
                <a:latin typeface="Arial"/>
                <a:ea typeface="Arial"/>
              </a:rPr>
              <a:t>Schumacher et al. (2017), Fig. 5. Multisensory training followed by single-sense tests.</a:t>
            </a:r>
            <a:endParaRPr lang="en-US"/>
          </a:p>
        </p:txBody>
      </p:sp>
      <p:sp>
        <p:nvSpPr>
          <p:cNvPr id="841" name="Shape 841"/>
          <p:cNvSpPr/>
          <p:nvPr/>
        </p:nvSpPr>
        <p:spPr>
          <a:xfrm>
            <a:off x="457200" y="6462713"/>
            <a:ext cx="1445121" cy="185738"/>
          </a:xfrm>
          <a:prstGeom prst="rect">
            <a:avLst/>
          </a:prstGeom>
          <a:noFill/>
        </p:spPr>
        <p:txBody>
          <a:bodyPr anchor="t" wrap="square" tIns="0" bIns="0" lIns="0" rIns="0">
            <a:normAutofit/>
          </a:bodyPr>
          <a:lstStyle/>
          <a:p>
            <a:pPr algn="l">
              <a:lnSpc>
                <a:spcPts val="1463"/>
              </a:lnSpc>
              <a:buNone/>
            </a:pPr>
            <a:r>
              <a:rPr sz="975" b="0" i="0">
                <a:solidFill>
                  <a:srgbClr val="58636E"/>
                </a:solidFill>
                <a:latin typeface="Arial"/>
                <a:ea typeface="Arial"/>
              </a:rPr>
              <a:t>Schumacher et al. (2017)</a:t>
            </a:r>
            <a:endParaRPr lang="en-US"/>
          </a:p>
        </p:txBody>
      </p:sp>
      <p:sp>
        <p:nvSpPr>
          <p:cNvPr id="842" name="Shape 842"/>
          <p:cNvSpPr/>
          <p:nvPr/>
        </p:nvSpPr>
        <p:spPr>
          <a:xfrm>
            <a:off x="11593116" y="6462713"/>
            <a:ext cx="160734" cy="185738"/>
          </a:xfrm>
          <a:prstGeom prst="rect">
            <a:avLst/>
          </a:prstGeom>
          <a:noFill/>
        </p:spPr>
        <p:txBody>
          <a:bodyPr anchor="t" wrap="square" tIns="0" bIns="0" lIns="0" rIns="0">
            <a:normAutofit/>
          </a:bodyPr>
          <a:lstStyle/>
          <a:p>
            <a:pPr algn="l">
              <a:lnSpc>
                <a:spcPts val="1463"/>
              </a:lnSpc>
              <a:buNone/>
            </a:pPr>
            <a:r>
              <a:rPr sz="975" b="0" i="0">
                <a:solidFill>
                  <a:srgbClr val="58636E"/>
                </a:solidFill>
                <a:latin typeface="Arial"/>
                <a:ea typeface="Arial"/>
              </a:rPr>
              <a:t>19</a:t>
            </a:r>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rgbClr val="FFFFFF"/>
        </a:solidFill>
      </p:bgPr>
    </p:bg>
    <p:spTree>
      <p:nvGrpSpPr>
        <p:cNvPr id="1" name=""/>
        <p:cNvGrpSpPr/>
        <p:nvPr/>
      </p:nvGrpSpPr>
      <p:grpSpPr>
        <a:xfrm>
          <a:off x="0" y="0"/>
          <a:ext cx="0" cy="0"/>
          <a:chOff x="0" y="0"/>
          <a:chExt cx="0" cy="0"/>
        </a:xfrm>
      </p:grpSpPr>
      <p:sp>
        <p:nvSpPr>
          <p:cNvPr id="843" name="Shape 843"/>
          <p:cNvSpPr/>
          <p:nvPr/>
        </p:nvSpPr>
        <p:spPr>
          <a:xfrm>
            <a:off x="457200" y="457200"/>
            <a:ext cx="11296650" cy="350490"/>
          </a:xfrm>
          <a:prstGeom prst="rect">
            <a:avLst/>
          </a:prstGeom>
          <a:noFill/>
        </p:spPr>
        <p:txBody>
          <a:bodyPr anchor="t" wrap="square" tIns="0" bIns="0" lIns="0" rIns="0">
            <a:normAutofit/>
          </a:bodyPr>
          <a:lstStyle/>
          <a:p>
            <a:pPr algn="l">
              <a:lnSpc>
                <a:spcPts val="2760"/>
              </a:lnSpc>
              <a:buNone/>
            </a:pPr>
            <a:r>
              <a:rPr sz="2400" b="1" i="0">
                <a:solidFill>
                  <a:srgbClr val="2B5577"/>
                </a:solidFill>
                <a:latin typeface="Arial"/>
                <a:ea typeface="Arial"/>
              </a:rPr>
              <a:t>Repeated visual tests can expose a training conflict</a:t>
            </a:r>
            <a:endParaRPr lang="en-US"/>
          </a:p>
        </p:txBody>
      </p:sp>
      <p:sp>
        <p:nvSpPr>
          <p:cNvPr id="844" name="Shape 844"/>
          <p:cNvSpPr/>
          <p:nvPr/>
        </p:nvSpPr>
        <p:spPr>
          <a:xfrm>
            <a:off x="566000" y="1234440"/>
            <a:ext cx="5480000" cy="4915560"/>
          </a:xfrm>
          <a:prstGeom prst="rect">
            <a:avLst/>
          </a:prstGeom>
          <a:noFill/>
        </p:spPr>
        <p:txBody>
          <a:bodyPr anchor="t" wrap="square" tIns="0" bIns="0" lIns="0" rIns="0">
            <a:normAutofit/>
          </a:bodyPr>
          <a:lstStyle/>
          <a:p>
            <a:pPr algn="l">
              <a:lnSpc>
                <a:spcPct val="108000"/>
              </a:lnSpc>
              <a:spcAft>
                <a:spcPts val="1200"/>
              </a:spcAft>
              <a:buNone/>
            </a:pPr>
            <a:r>
              <a:rPr sz="1400" b="0" i="0">
                <a:solidFill>
                  <a:srgbClr val="1F262D"/>
                </a:solidFill>
                <a:latin typeface="Arial"/>
                <a:ea typeface="Arial"/>
              </a:rPr>
              <a:t xml:space="preserve">A </a:t>
            </a:r>
            <a:r>
              <a:rPr sz="1400" b="1" i="0">
                <a:solidFill>
                  <a:srgbClr val="1F262D"/>
                </a:solidFill>
                <a:latin typeface="Arial"/>
                <a:ea typeface="Arial"/>
              </a:rPr>
              <a:t>training conflict</a:t>
            </a:r>
            <a:r>
              <a:rPr sz="1400" b="0" i="0">
                <a:solidFill>
                  <a:srgbClr val="1F262D"/>
                </a:solidFill>
                <a:latin typeface="Arial"/>
                <a:ea typeface="Arial"/>
              </a:rPr>
              <a:t xml:space="preserve"> occurs when one sensory stream carries the learned distinguishing features while another offers little useful contrast. Schumacher and colleagues repeatedly tested visual object discrimination after training that emphasized electrically conspicuous objects, so the electric cue carried most of the learned distinction. Visual performance was therefore measured against an imbalance that training had created.</a:t>
            </a:r>
            <a:endParaRPr lang="en-US"/>
          </a:p>
          <a:p>
            <a:pPr algn="l">
              <a:lnSpc>
                <a:spcPct val="108000"/>
              </a:lnSpc>
              <a:spcAft>
                <a:spcPts val="1200"/>
              </a:spcAft>
              <a:buNone/>
            </a:pPr>
            <a:r>
              <a:rPr sz="1400" b="0" i="0">
                <a:solidFill>
                  <a:srgbClr val="1F262D"/>
                </a:solidFill>
                <a:latin typeface="Arial"/>
                <a:ea typeface="Arial"/>
              </a:rPr>
              <a:t xml:space="preserve">Visual-only performance changed over several weeks of training, and longitudinal tests recorded the same fish repeatedly across that whole period. Electrically transparent stimuli removed the electric distinction that had previously been useful, while the near-field choice format remained the same in every test session. The sessions therefore tracked changes in visual learning across training.</a:t>
            </a:r>
            <a:endParaRPr lang="en-US"/>
          </a:p>
          <a:p>
            <a:pPr algn="l">
              <a:lnSpc>
                <a:spcPct val="108000"/>
              </a:lnSpc>
              <a:spcAft>
                <a:spcPts val="1200"/>
              </a:spcAft>
              <a:buNone/>
            </a:pPr>
            <a:r>
              <a:rPr sz="1400" b="0" i="0">
                <a:solidFill>
                  <a:srgbClr val="1F262D"/>
                </a:solidFill>
                <a:latin typeface="Arial"/>
                <a:ea typeface="Arial"/>
              </a:rPr>
              <a:t xml:space="preserve">Experience-dependent sensory weighting can include interference from electric information under particular training conditions. Visually trained and electrically silenced fish could still learn the task, so the reliability of each stimulus stream sets how much it contributes to the choice. Interference is therefore a training effect that depends on which stream was reliable.</a:t>
            </a:r>
            <a:endParaRPr lang="en-US"/>
          </a:p>
        </p:txBody>
      </p:sp>
      <p:pic>
        <p:nvPicPr>
          <p:cNvPr id="314" name="Presenton Native Image 20" descr=""/>
          <p:cNvPicPr/>
          <p:nvPr/>
        </p:nvPicPr>
        <p:blipFill>
          <a:blip r:embed="rId2" cstate="none"/>
          <a:stretch>
            <a:fillRect/>
          </a:stretch>
        </p:blipFill>
        <p:spPr>
          <a:xfrm>
            <a:off x="7374495" y="1055340"/>
            <a:ext cx="3519959" cy="4000500"/>
          </a:xfrm>
          <a:prstGeom prst="rect">
            <a:avLst/>
          </a:prstGeom>
        </p:spPr>
      </p:pic>
      <p:sp>
        <p:nvSpPr>
          <p:cNvPr id="847" name="Shape 847"/>
          <p:cNvSpPr/>
          <p:nvPr/>
        </p:nvSpPr>
        <p:spPr>
          <a:xfrm>
            <a:off x="6610350" y="5170140"/>
            <a:ext cx="5067300" cy="371475"/>
          </a:xfrm>
          <a:prstGeom prst="rect">
            <a:avLst/>
          </a:prstGeom>
          <a:noFill/>
        </p:spPr>
        <p:txBody>
          <a:bodyPr anchor="t" wrap="square" tIns="0" bIns="0" lIns="0" rIns="0">
            <a:normAutofit/>
          </a:bodyPr>
          <a:lstStyle/>
          <a:p>
            <a:pPr algn="l">
              <a:lnSpc>
                <a:spcPts val="1463"/>
              </a:lnSpc>
              <a:buNone/>
            </a:pPr>
            <a:r>
              <a:rPr sz="1125" b="0" i="0">
                <a:solidFill>
                  <a:srgbClr val="1F262D"/>
                </a:solidFill>
                <a:latin typeface="Arial"/>
                <a:ea typeface="Arial"/>
              </a:rPr>
              <a:t>Schumacher et al. (2017), Fig. 7(a–b). Choice changes across continued training and visual tests.</a:t>
            </a:r>
            <a:endParaRPr lang="en-US"/>
          </a:p>
        </p:txBody>
      </p:sp>
      <p:sp>
        <p:nvSpPr>
          <p:cNvPr id="848" name="Shape 848"/>
          <p:cNvSpPr/>
          <p:nvPr/>
        </p:nvSpPr>
        <p:spPr>
          <a:xfrm>
            <a:off x="457200" y="6462713"/>
            <a:ext cx="1445121" cy="185738"/>
          </a:xfrm>
          <a:prstGeom prst="rect">
            <a:avLst/>
          </a:prstGeom>
          <a:noFill/>
        </p:spPr>
        <p:txBody>
          <a:bodyPr anchor="t" wrap="square" tIns="0" bIns="0" lIns="0" rIns="0">
            <a:normAutofit/>
          </a:bodyPr>
          <a:lstStyle/>
          <a:p>
            <a:pPr algn="l">
              <a:lnSpc>
                <a:spcPts val="1463"/>
              </a:lnSpc>
              <a:buNone/>
            </a:pPr>
            <a:r>
              <a:rPr sz="975" b="0" i="0">
                <a:solidFill>
                  <a:srgbClr val="58636E"/>
                </a:solidFill>
                <a:latin typeface="Arial"/>
                <a:ea typeface="Arial"/>
              </a:rPr>
              <a:t>Schumacher et al. (2017)</a:t>
            </a:r>
            <a:endParaRPr lang="en-US"/>
          </a:p>
        </p:txBody>
      </p:sp>
      <p:sp>
        <p:nvSpPr>
          <p:cNvPr id="849" name="Shape 849"/>
          <p:cNvSpPr/>
          <p:nvPr/>
        </p:nvSpPr>
        <p:spPr>
          <a:xfrm>
            <a:off x="11593116" y="6462713"/>
            <a:ext cx="160734" cy="185738"/>
          </a:xfrm>
          <a:prstGeom prst="rect">
            <a:avLst/>
          </a:prstGeom>
          <a:noFill/>
        </p:spPr>
        <p:txBody>
          <a:bodyPr anchor="t" wrap="square" tIns="0" bIns="0" lIns="0" rIns="0">
            <a:normAutofit/>
          </a:bodyPr>
          <a:lstStyle/>
          <a:p>
            <a:pPr algn="l">
              <a:lnSpc>
                <a:spcPts val="1463"/>
              </a:lnSpc>
              <a:buNone/>
            </a:pPr>
            <a:r>
              <a:rPr sz="975" b="0" i="0">
                <a:solidFill>
                  <a:srgbClr val="58636E"/>
                </a:solidFill>
                <a:latin typeface="Arial"/>
                <a:ea typeface="Arial"/>
              </a:rPr>
              <a:t>20</a:t>
            </a:r>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solidFill>
          <a:srgbClr val="FFFFFF"/>
        </a:solidFill>
      </p:bgPr>
    </p:bg>
    <p:spTree>
      <p:nvGrpSpPr>
        <p:cNvPr id="1" name=""/>
        <p:cNvGrpSpPr/>
        <p:nvPr/>
      </p:nvGrpSpPr>
      <p:grpSpPr>
        <a:xfrm>
          <a:off x="0" y="0"/>
          <a:ext cx="0" cy="0"/>
          <a:chOff x="0" y="0"/>
          <a:chExt cx="0" cy="0"/>
        </a:xfrm>
      </p:grpSpPr>
      <p:sp>
        <p:nvSpPr>
          <p:cNvPr id="850" name="Shape 850"/>
          <p:cNvSpPr/>
          <p:nvPr/>
        </p:nvSpPr>
        <p:spPr>
          <a:xfrm>
            <a:off x="457200" y="457200"/>
            <a:ext cx="11296650" cy="350490"/>
          </a:xfrm>
          <a:prstGeom prst="rect">
            <a:avLst/>
          </a:prstGeom>
          <a:noFill/>
        </p:spPr>
        <p:txBody>
          <a:bodyPr anchor="t" wrap="square" tIns="0" bIns="0" lIns="0" rIns="0">
            <a:normAutofit/>
          </a:bodyPr>
          <a:lstStyle/>
          <a:p>
            <a:pPr algn="l">
              <a:lnSpc>
                <a:spcPts val="2760"/>
              </a:lnSpc>
              <a:buNone/>
            </a:pPr>
            <a:r>
              <a:rPr sz="2400" b="1" i="0">
                <a:solidFill>
                  <a:srgbClr val="2B5577"/>
                </a:solidFill>
                <a:latin typeface="Arial"/>
                <a:ea typeface="Arial"/>
              </a:rPr>
              <a:t>Mormyromast afferents encode amplitude through timing</a:t>
            </a:r>
            <a:endParaRPr lang="en-US"/>
          </a:p>
        </p:txBody>
      </p:sp>
      <p:sp>
        <p:nvSpPr>
          <p:cNvPr id="851" name="Shape 851"/>
          <p:cNvSpPr/>
          <p:nvPr/>
        </p:nvSpPr>
        <p:spPr>
          <a:xfrm>
            <a:off x="566000" y="1234440"/>
            <a:ext cx="5480000" cy="4915560"/>
          </a:xfrm>
          <a:prstGeom prst="rect">
            <a:avLst/>
          </a:prstGeom>
          <a:noFill/>
        </p:spPr>
        <p:txBody>
          <a:bodyPr anchor="t" wrap="square" tIns="0" bIns="0" lIns="0" rIns="0">
            <a:normAutofit/>
          </a:bodyPr>
          <a:lstStyle/>
          <a:p>
            <a:pPr algn="l">
              <a:lnSpc>
                <a:spcPct val="108000"/>
              </a:lnSpc>
              <a:spcAft>
                <a:spcPts val="1200"/>
              </a:spcAft>
              <a:buNone/>
            </a:pPr>
            <a:r>
              <a:rPr sz="1400" b="0" i="0">
                <a:solidFill>
                  <a:srgbClr val="1F262D"/>
                </a:solidFill>
                <a:latin typeface="Arial"/>
                <a:ea typeface="Arial"/>
              </a:rPr>
              <a:t xml:space="preserve">A </a:t>
            </a:r>
            <a:r>
              <a:rPr sz="1400" b="1" i="0">
                <a:solidFill>
                  <a:srgbClr val="1F262D"/>
                </a:solidFill>
                <a:latin typeface="Arial"/>
                <a:ea typeface="Arial"/>
              </a:rPr>
              <a:t>mormyromast</a:t>
            </a:r>
            <a:r>
              <a:rPr sz="1400" b="0" i="0">
                <a:solidFill>
                  <a:srgbClr val="1F262D"/>
                </a:solidFill>
                <a:latin typeface="Arial"/>
                <a:ea typeface="Arial"/>
              </a:rPr>
              <a:t xml:space="preserve"> is an electroreceptor organ used in mormyrid active electrolocation, and its sensory afferent carries information from the skin toward the brain. </a:t>
            </a:r>
            <a:r>
              <a:rPr sz="1400" b="1" i="0">
                <a:solidFill>
                  <a:srgbClr val="1F262D"/>
                </a:solidFill>
                <a:latin typeface="Arial"/>
                <a:ea typeface="Arial"/>
              </a:rPr>
              <a:t>Spike latency</a:t>
            </a:r>
            <a:r>
              <a:rPr sz="1400" b="0" i="0">
                <a:solidFill>
                  <a:srgbClr val="1F262D"/>
                </a:solidFill>
                <a:latin typeface="Arial"/>
                <a:ea typeface="Arial"/>
              </a:rPr>
              <a:t xml:space="preserve"> is the interval between the electric stimulus and the first recorded afferent action potential, measured from the onset of the stimulus. Its spikes carry that timing signal toward the brain.</a:t>
            </a:r>
            <a:endParaRPr lang="en-US"/>
          </a:p>
          <a:p>
            <a:pPr algn="l">
              <a:lnSpc>
                <a:spcPct val="108000"/>
              </a:lnSpc>
              <a:spcAft>
                <a:spcPts val="1200"/>
              </a:spcAft>
              <a:buNone/>
            </a:pPr>
            <a:r>
              <a:rPr sz="1400" b="0" i="0">
                <a:solidFill>
                  <a:srgbClr val="1F262D"/>
                </a:solidFill>
                <a:latin typeface="Arial"/>
                <a:ea typeface="Arial"/>
              </a:rPr>
              <a:t xml:space="preserve">Sawtell and colleagues varied local electric-pulse amplitude and pulse timing while recording afferent spikes. Their brief stimuli mimicked an EOD, so object-associated amplitude changes could be examined separately from changes in the sampling interval, and each recording isolated the response of one afferent. Each stimulus therefore resembled a single discharge of the fish.</a:t>
            </a:r>
            <a:endParaRPr lang="en-US"/>
          </a:p>
          <a:p>
            <a:pPr algn="l">
              <a:lnSpc>
                <a:spcPct val="108000"/>
              </a:lnSpc>
              <a:spcAft>
                <a:spcPts val="1200"/>
              </a:spcAft>
              <a:buNone/>
            </a:pPr>
            <a:r>
              <a:rPr sz="1400" b="0" i="0">
                <a:solidFill>
                  <a:srgbClr val="1F262D"/>
                </a:solidFill>
                <a:latin typeface="Arial"/>
                <a:ea typeface="Arial"/>
              </a:rPr>
              <a:t xml:space="preserve">A larger amplitude generally shortened first-spike latency. Receptor input is therefore represented partly by when a spike occurs, not only by how many spikes occur, and this temporal code still depends on the recent sequence of sensing events. Timing carries information within the first spike, before the spike count of a burst is known.</a:t>
            </a:r>
            <a:endParaRPr lang="en-US"/>
          </a:p>
        </p:txBody>
      </p:sp>
      <p:pic>
        <p:nvPicPr>
          <p:cNvPr id="315" name="Presenton Native Image 21" descr=""/>
          <p:cNvPicPr/>
          <p:nvPr/>
        </p:nvPicPr>
        <p:blipFill>
          <a:blip r:embed="rId2" cstate="none"/>
          <a:stretch>
            <a:fillRect/>
          </a:stretch>
        </p:blipFill>
        <p:spPr>
          <a:xfrm>
            <a:off x="7706018" y="1055340"/>
            <a:ext cx="2856914" cy="4000500"/>
          </a:xfrm>
          <a:prstGeom prst="rect">
            <a:avLst/>
          </a:prstGeom>
        </p:spPr>
      </p:pic>
      <p:sp>
        <p:nvSpPr>
          <p:cNvPr id="854" name="Shape 854"/>
          <p:cNvSpPr/>
          <p:nvPr/>
        </p:nvSpPr>
        <p:spPr>
          <a:xfrm>
            <a:off x="6610350" y="5170140"/>
            <a:ext cx="5067300" cy="371475"/>
          </a:xfrm>
          <a:prstGeom prst="rect">
            <a:avLst/>
          </a:prstGeom>
          <a:noFill/>
        </p:spPr>
        <p:txBody>
          <a:bodyPr anchor="t" wrap="square" tIns="0" bIns="0" lIns="0" rIns="0">
            <a:normAutofit/>
          </a:bodyPr>
          <a:lstStyle/>
          <a:p>
            <a:pPr algn="l">
              <a:lnSpc>
                <a:spcPts val="1463"/>
              </a:lnSpc>
              <a:buNone/>
            </a:pPr>
            <a:r>
              <a:rPr sz="1125" b="0" i="0">
                <a:solidFill>
                  <a:srgbClr val="1F262D"/>
                </a:solidFill>
                <a:latin typeface="Arial"/>
                <a:ea typeface="Arial"/>
              </a:rPr>
              <a:t>Sawtell et al. (2006), Fig. 1(A–B). Spatial receptor input and controlled sensing-interval stimuli.</a:t>
            </a:r>
            <a:endParaRPr lang="en-US"/>
          </a:p>
        </p:txBody>
      </p:sp>
      <p:sp>
        <p:nvSpPr>
          <p:cNvPr id="855" name="Shape 855"/>
          <p:cNvSpPr/>
          <p:nvPr/>
        </p:nvSpPr>
        <p:spPr>
          <a:xfrm>
            <a:off x="457200" y="6462713"/>
            <a:ext cx="1135707" cy="185738"/>
          </a:xfrm>
          <a:prstGeom prst="rect">
            <a:avLst/>
          </a:prstGeom>
          <a:noFill/>
        </p:spPr>
        <p:txBody>
          <a:bodyPr anchor="t" wrap="square" tIns="0" bIns="0" lIns="0" rIns="0">
            <a:normAutofit/>
          </a:bodyPr>
          <a:lstStyle/>
          <a:p>
            <a:pPr algn="l">
              <a:lnSpc>
                <a:spcPts val="1463"/>
              </a:lnSpc>
              <a:buNone/>
            </a:pPr>
            <a:r>
              <a:rPr sz="975" b="0" i="0">
                <a:solidFill>
                  <a:srgbClr val="58636E"/>
                </a:solidFill>
                <a:latin typeface="Arial"/>
                <a:ea typeface="Arial"/>
              </a:rPr>
              <a:t>Sawtell et al. (2006)</a:t>
            </a:r>
            <a:endParaRPr lang="en-US"/>
          </a:p>
        </p:txBody>
      </p:sp>
      <p:sp>
        <p:nvSpPr>
          <p:cNvPr id="856" name="Shape 856"/>
          <p:cNvSpPr/>
          <p:nvPr/>
        </p:nvSpPr>
        <p:spPr>
          <a:xfrm>
            <a:off x="11593116" y="6462713"/>
            <a:ext cx="160734" cy="185738"/>
          </a:xfrm>
          <a:prstGeom prst="rect">
            <a:avLst/>
          </a:prstGeom>
          <a:noFill/>
        </p:spPr>
        <p:txBody>
          <a:bodyPr anchor="t" wrap="square" tIns="0" bIns="0" lIns="0" rIns="0">
            <a:normAutofit/>
          </a:bodyPr>
          <a:lstStyle/>
          <a:p>
            <a:pPr algn="l">
              <a:lnSpc>
                <a:spcPts val="1463"/>
              </a:lnSpc>
              <a:buNone/>
            </a:pPr>
            <a:r>
              <a:rPr sz="975" b="0" i="0">
                <a:solidFill>
                  <a:srgbClr val="58636E"/>
                </a:solidFill>
                <a:latin typeface="Arial"/>
                <a:ea typeface="Arial"/>
              </a:rPr>
              <a:t>21</a:t>
            </a:r>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solidFill>
          <a:srgbClr val="FFFFFF"/>
        </a:solidFill>
      </p:bgPr>
    </p:bg>
    <p:spTree>
      <p:nvGrpSpPr>
        <p:cNvPr id="1" name=""/>
        <p:cNvGrpSpPr/>
        <p:nvPr/>
      </p:nvGrpSpPr>
      <p:grpSpPr>
        <a:xfrm>
          <a:off x="0" y="0"/>
          <a:ext cx="0" cy="0"/>
          <a:chOff x="0" y="0"/>
          <a:chExt cx="0" cy="0"/>
        </a:xfrm>
      </p:grpSpPr>
      <p:sp>
        <p:nvSpPr>
          <p:cNvPr id="857" name="Shape 857"/>
          <p:cNvSpPr/>
          <p:nvPr/>
        </p:nvSpPr>
        <p:spPr>
          <a:xfrm>
            <a:off x="457200" y="457200"/>
            <a:ext cx="11296650" cy="350490"/>
          </a:xfrm>
          <a:prstGeom prst="rect">
            <a:avLst/>
          </a:prstGeom>
          <a:noFill/>
        </p:spPr>
        <p:txBody>
          <a:bodyPr anchor="t" wrap="square" tIns="0" bIns="0" lIns="0" rIns="0">
            <a:normAutofit/>
          </a:bodyPr>
          <a:lstStyle/>
          <a:p>
            <a:pPr algn="l">
              <a:lnSpc>
                <a:spcPts val="2760"/>
              </a:lnSpc>
              <a:buNone/>
            </a:pPr>
            <a:r>
              <a:rPr sz="2400" b="1" i="0">
                <a:solidFill>
                  <a:srgbClr val="2B5577"/>
                </a:solidFill>
                <a:latin typeface="Arial"/>
                <a:ea typeface="Arial"/>
              </a:rPr>
              <a:t>Sensory adaptation changes the amplitude reference</a:t>
            </a:r>
            <a:endParaRPr lang="en-US"/>
          </a:p>
        </p:txBody>
      </p:sp>
      <p:sp>
        <p:nvSpPr>
          <p:cNvPr id="858" name="Shape 858"/>
          <p:cNvSpPr/>
          <p:nvPr/>
        </p:nvSpPr>
        <p:spPr>
          <a:xfrm>
            <a:off x="566000" y="1234440"/>
            <a:ext cx="5480000" cy="4915560"/>
          </a:xfrm>
          <a:prstGeom prst="rect">
            <a:avLst/>
          </a:prstGeom>
          <a:noFill/>
        </p:spPr>
        <p:txBody>
          <a:bodyPr anchor="t" wrap="square" tIns="0" bIns="0" lIns="0" rIns="0">
            <a:normAutofit/>
          </a:bodyPr>
          <a:lstStyle/>
          <a:p>
            <a:pPr algn="l">
              <a:lnSpc>
                <a:spcPct val="108000"/>
              </a:lnSpc>
              <a:spcAft>
                <a:spcPts val="1200"/>
              </a:spcAft>
              <a:buNone/>
            </a:pPr>
            <a:r>
              <a:rPr sz="1400" b="1" i="0">
                <a:solidFill>
                  <a:srgbClr val="1F262D"/>
                </a:solidFill>
                <a:latin typeface="Arial"/>
                <a:ea typeface="Arial"/>
              </a:rPr>
              <a:t>Adaptation</a:t>
            </a:r>
            <a:r>
              <a:rPr sz="1400" b="0" i="0">
                <a:solidFill>
                  <a:srgbClr val="1F262D"/>
                </a:solidFill>
                <a:latin typeface="Arial"/>
                <a:ea typeface="Arial"/>
              </a:rPr>
              <a:t xml:space="preserve"> is a change in responsiveness associated with recent stimulation. Sawtell and colleagues recorded afferent responses across different mean local EOD amplitudes, distinguishing the steady carrier level from smaller changes superimposed on it, so the baseline was controlled separately. The modulation therefore measured deviations from that carrier level, not absolute amplitude alone.</a:t>
            </a:r>
            <a:endParaRPr lang="en-US"/>
          </a:p>
          <a:p>
            <a:pPr algn="l">
              <a:lnSpc>
                <a:spcPct val="108000"/>
              </a:lnSpc>
              <a:spcAft>
                <a:spcPts val="1200"/>
              </a:spcAft>
              <a:buNone/>
            </a:pPr>
            <a:r>
              <a:rPr sz="1400" b="0" i="0">
                <a:solidFill>
                  <a:srgbClr val="1F262D"/>
                </a:solidFill>
                <a:latin typeface="Arial"/>
                <a:ea typeface="Arial"/>
              </a:rPr>
              <a:t xml:space="preserve">The latency relationship shifted with the mean electric stimulus across every mean level that was tested. Responses were therefore set by the stimulus environment that preceded each modulation, which established part of the reference against which amplitude was encoded. This shift was measured across the full range of mean levels that were tested.</a:t>
            </a:r>
            <a:endParaRPr lang="en-US"/>
          </a:p>
          <a:p>
            <a:pPr algn="l">
              <a:lnSpc>
                <a:spcPct val="108000"/>
              </a:lnSpc>
              <a:spcAft>
                <a:spcPts val="1200"/>
              </a:spcAft>
              <a:buNone/>
            </a:pPr>
            <a:r>
              <a:rPr sz="1400" b="0" i="0">
                <a:solidFill>
                  <a:srgbClr val="1F262D"/>
                </a:solidFill>
                <a:latin typeface="Arial"/>
                <a:ea typeface="Arial"/>
              </a:rPr>
              <a:t xml:space="preserve">The same immediate amplitude can therefore occur under different sensory histories and produce different latencies. A central decoder must account for the mean level that precedes an amplitude change, since the same carrier shift can mimic an object-induced change if that history is ignored. That history is part of the context for reading each latency.</a:t>
            </a:r>
            <a:endParaRPr lang="en-US"/>
          </a:p>
        </p:txBody>
      </p:sp>
      <p:pic>
        <p:nvPicPr>
          <p:cNvPr id="316" name="Presenton Native Image 22" descr=""/>
          <p:cNvPicPr/>
          <p:nvPr/>
        </p:nvPicPr>
        <p:blipFill>
          <a:blip r:embed="rId2" cstate="none"/>
          <a:stretch>
            <a:fillRect/>
          </a:stretch>
        </p:blipFill>
        <p:spPr>
          <a:xfrm>
            <a:off x="7643578" y="1055340"/>
            <a:ext cx="2981793" cy="4000500"/>
          </a:xfrm>
          <a:prstGeom prst="rect">
            <a:avLst/>
          </a:prstGeom>
        </p:spPr>
      </p:pic>
      <p:sp>
        <p:nvSpPr>
          <p:cNvPr id="861" name="Shape 861"/>
          <p:cNvSpPr/>
          <p:nvPr/>
        </p:nvSpPr>
        <p:spPr>
          <a:xfrm>
            <a:off x="6610350" y="5170140"/>
            <a:ext cx="5067300" cy="371475"/>
          </a:xfrm>
          <a:prstGeom prst="rect">
            <a:avLst/>
          </a:prstGeom>
          <a:noFill/>
        </p:spPr>
        <p:txBody>
          <a:bodyPr anchor="t" wrap="square" tIns="0" bIns="0" lIns="0" rIns="0">
            <a:normAutofit/>
          </a:bodyPr>
          <a:lstStyle/>
          <a:p>
            <a:pPr algn="l">
              <a:lnSpc>
                <a:spcPts val="1463"/>
              </a:lnSpc>
              <a:buNone/>
            </a:pPr>
            <a:r>
              <a:rPr sz="1125" b="0" i="0">
                <a:solidFill>
                  <a:srgbClr val="1F262D"/>
                </a:solidFill>
                <a:latin typeface="Arial"/>
                <a:ea typeface="Arial"/>
              </a:rPr>
              <a:t>Sawtell et al. (2006), Fig. 2(A–C). Latency adaptation to the mean local electric amplitude.</a:t>
            </a:r>
            <a:endParaRPr lang="en-US"/>
          </a:p>
        </p:txBody>
      </p:sp>
      <p:sp>
        <p:nvSpPr>
          <p:cNvPr id="862" name="Shape 862"/>
          <p:cNvSpPr/>
          <p:nvPr/>
        </p:nvSpPr>
        <p:spPr>
          <a:xfrm>
            <a:off x="457200" y="6462713"/>
            <a:ext cx="1135707" cy="185738"/>
          </a:xfrm>
          <a:prstGeom prst="rect">
            <a:avLst/>
          </a:prstGeom>
          <a:noFill/>
        </p:spPr>
        <p:txBody>
          <a:bodyPr anchor="t" wrap="square" tIns="0" bIns="0" lIns="0" rIns="0">
            <a:normAutofit/>
          </a:bodyPr>
          <a:lstStyle/>
          <a:p>
            <a:pPr algn="l">
              <a:lnSpc>
                <a:spcPts val="1463"/>
              </a:lnSpc>
              <a:buNone/>
            </a:pPr>
            <a:r>
              <a:rPr sz="975" b="0" i="0">
                <a:solidFill>
                  <a:srgbClr val="58636E"/>
                </a:solidFill>
                <a:latin typeface="Arial"/>
                <a:ea typeface="Arial"/>
              </a:rPr>
              <a:t>Sawtell et al. (2006)</a:t>
            </a:r>
            <a:endParaRPr lang="en-US"/>
          </a:p>
        </p:txBody>
      </p:sp>
      <p:sp>
        <p:nvSpPr>
          <p:cNvPr id="863" name="Shape 863"/>
          <p:cNvSpPr/>
          <p:nvPr/>
        </p:nvSpPr>
        <p:spPr>
          <a:xfrm>
            <a:off x="11593116" y="6462713"/>
            <a:ext cx="160734" cy="185738"/>
          </a:xfrm>
          <a:prstGeom prst="rect">
            <a:avLst/>
          </a:prstGeom>
          <a:noFill/>
        </p:spPr>
        <p:txBody>
          <a:bodyPr anchor="t" wrap="square" tIns="0" bIns="0" lIns="0" rIns="0">
            <a:normAutofit/>
          </a:bodyPr>
          <a:lstStyle/>
          <a:p>
            <a:pPr algn="l">
              <a:lnSpc>
                <a:spcPts val="1463"/>
              </a:lnSpc>
              <a:buNone/>
            </a:pPr>
            <a:r>
              <a:rPr sz="975" b="0" i="0">
                <a:solidFill>
                  <a:srgbClr val="58636E"/>
                </a:solidFill>
                <a:latin typeface="Arial"/>
                <a:ea typeface="Arial"/>
              </a:rPr>
              <a:t>22</a:t>
            </a:r>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bg>
      <p:bgPr>
        <a:solidFill>
          <a:srgbClr val="FFFFFF"/>
        </a:solidFill>
      </p:bgPr>
    </p:bg>
    <p:spTree>
      <p:nvGrpSpPr>
        <p:cNvPr id="1" name=""/>
        <p:cNvGrpSpPr/>
        <p:nvPr/>
      </p:nvGrpSpPr>
      <p:grpSpPr>
        <a:xfrm>
          <a:off x="0" y="0"/>
          <a:ext cx="0" cy="0"/>
          <a:chOff x="0" y="0"/>
          <a:chExt cx="0" cy="0"/>
        </a:xfrm>
      </p:grpSpPr>
      <p:sp>
        <p:nvSpPr>
          <p:cNvPr id="864" name="Shape 864"/>
          <p:cNvSpPr/>
          <p:nvPr/>
        </p:nvSpPr>
        <p:spPr>
          <a:xfrm>
            <a:off x="457200" y="457200"/>
            <a:ext cx="11296650" cy="350490"/>
          </a:xfrm>
          <a:prstGeom prst="rect">
            <a:avLst/>
          </a:prstGeom>
          <a:noFill/>
        </p:spPr>
        <p:txBody>
          <a:bodyPr anchor="t" wrap="square" tIns="0" bIns="0" lIns="0" rIns="0">
            <a:normAutofit/>
          </a:bodyPr>
          <a:lstStyle/>
          <a:p>
            <a:pPr algn="l">
              <a:lnSpc>
                <a:spcPts val="2760"/>
              </a:lnSpc>
              <a:buNone/>
            </a:pPr>
            <a:r>
              <a:rPr sz="2400" b="1" i="0">
                <a:solidFill>
                  <a:srgbClr val="2B5577"/>
                </a:solidFill>
                <a:latin typeface="Arial"/>
                <a:ea typeface="Arial"/>
              </a:rPr>
              <a:t>Pulse interval shifts the latency–amplitude relationship</a:t>
            </a:r>
            <a:endParaRPr lang="en-US"/>
          </a:p>
        </p:txBody>
      </p:sp>
      <p:sp>
        <p:nvSpPr>
          <p:cNvPr id="865" name="Shape 865"/>
          <p:cNvSpPr/>
          <p:nvPr/>
        </p:nvSpPr>
        <p:spPr>
          <a:xfrm>
            <a:off x="566000" y="1234440"/>
            <a:ext cx="5480000" cy="4915560"/>
          </a:xfrm>
          <a:prstGeom prst="rect">
            <a:avLst/>
          </a:prstGeom>
          <a:noFill/>
        </p:spPr>
        <p:txBody>
          <a:bodyPr anchor="t" wrap="square" tIns="0" bIns="0" lIns="0" rIns="0">
            <a:normAutofit/>
          </a:bodyPr>
          <a:lstStyle/>
          <a:p>
            <a:pPr algn="l">
              <a:lnSpc>
                <a:spcPct val="108000"/>
              </a:lnSpc>
              <a:spcAft>
                <a:spcPts val="1200"/>
              </a:spcAft>
              <a:buNone/>
            </a:pPr>
            <a:r>
              <a:rPr sz="1400" b="0" i="0">
                <a:solidFill>
                  <a:srgbClr val="1F262D"/>
                </a:solidFill>
                <a:latin typeface="Arial"/>
                <a:ea typeface="Arial"/>
              </a:rPr>
              <a:t xml:space="preserve">An </a:t>
            </a:r>
            <a:r>
              <a:rPr sz="1400" b="1" i="0">
                <a:solidFill>
                  <a:srgbClr val="1F262D"/>
                </a:solidFill>
                <a:latin typeface="Arial"/>
                <a:ea typeface="Arial"/>
              </a:rPr>
              <a:t>inter-discharge interval</a:t>
            </a:r>
            <a:r>
              <a:rPr sz="1400" b="0" i="0">
                <a:solidFill>
                  <a:srgbClr val="1F262D"/>
                </a:solidFill>
                <a:latin typeface="Arial"/>
                <a:ea typeface="Arial"/>
              </a:rPr>
              <a:t xml:space="preserve"> is the time between successive sensing pulses. Sawtell and colleagues ramped pulse amplitude from about -30% to +30% while presenting pulses at fixed intervals of 200, 67, or 20 ms, and first-spike latency was recorded for every ramp at each interval. Each interval therefore set a different timing for the same ramp.</a:t>
            </a:r>
            <a:endParaRPr lang="en-US"/>
          </a:p>
          <a:p>
            <a:pPr algn="l">
              <a:lnSpc>
                <a:spcPct val="108000"/>
              </a:lnSpc>
              <a:spcAft>
                <a:spcPts val="1200"/>
              </a:spcAft>
              <a:buNone/>
            </a:pPr>
            <a:r>
              <a:rPr sz="1400" b="0" i="0">
                <a:solidFill>
                  <a:srgbClr val="1F262D"/>
                </a:solidFill>
                <a:latin typeface="Arial"/>
                <a:ea typeface="Arial"/>
              </a:rPr>
              <a:t xml:space="preserve">Increasing amplitude shortened latency, while shorter sensing intervals produced longer latencies at the same amplitude. Individual afferents differed in the slope and position of their latency-amplitude relationships, so the interval effect was not one identical offset for all fibers. Shorter intervals raised latency at every amplitude tested in these ramps. That offset was the interval effect.</a:t>
            </a:r>
            <a:endParaRPr lang="en-US"/>
          </a:p>
          <a:p>
            <a:pPr algn="l">
              <a:lnSpc>
                <a:spcPct val="108000"/>
              </a:lnSpc>
              <a:spcAft>
                <a:spcPts val="1200"/>
              </a:spcAft>
              <a:buNone/>
            </a:pPr>
            <a:r>
              <a:rPr sz="1400" b="0" i="0">
                <a:solidFill>
                  <a:srgbClr val="1F262D"/>
                </a:solidFill>
                <a:latin typeface="Arial"/>
                <a:ea typeface="Arial"/>
              </a:rPr>
              <a:t xml:space="preserve">The motor sampling pattern therefore shapes the sensory code before central decoding. A latency shift carries information about both amplitude and the recent interval, so interpreting it as an object-induced change requires knowing how recently the receptor was stimulated. Recent stimulation therefore shapes how a latency change should be interpreted. The receptor's history is part of the decoding problem.</a:t>
            </a:r>
            <a:endParaRPr lang="en-US"/>
          </a:p>
        </p:txBody>
      </p:sp>
      <p:pic>
        <p:nvPicPr>
          <p:cNvPr id="317" name="Presenton Native Image 23" descr=""/>
          <p:cNvPicPr/>
          <p:nvPr/>
        </p:nvPicPr>
        <p:blipFill>
          <a:blip r:embed="rId2" cstate="none"/>
          <a:stretch>
            <a:fillRect/>
          </a:stretch>
        </p:blipFill>
        <p:spPr>
          <a:xfrm>
            <a:off x="7460646" y="1055340"/>
            <a:ext cx="3347658" cy="4000500"/>
          </a:xfrm>
          <a:prstGeom prst="rect">
            <a:avLst/>
          </a:prstGeom>
        </p:spPr>
      </p:pic>
      <p:sp>
        <p:nvSpPr>
          <p:cNvPr id="868" name="Shape 868"/>
          <p:cNvSpPr/>
          <p:nvPr/>
        </p:nvSpPr>
        <p:spPr>
          <a:xfrm>
            <a:off x="6610350" y="5170140"/>
            <a:ext cx="5067300" cy="371475"/>
          </a:xfrm>
          <a:prstGeom prst="rect">
            <a:avLst/>
          </a:prstGeom>
          <a:noFill/>
        </p:spPr>
        <p:txBody>
          <a:bodyPr anchor="t" wrap="square" tIns="0" bIns="0" lIns="0" rIns="0">
            <a:normAutofit/>
          </a:bodyPr>
          <a:lstStyle/>
          <a:p>
            <a:pPr algn="l">
              <a:lnSpc>
                <a:spcPts val="1463"/>
              </a:lnSpc>
              <a:buNone/>
            </a:pPr>
            <a:r>
              <a:rPr sz="1125" b="0" i="0">
                <a:solidFill>
                  <a:srgbClr val="1F262D"/>
                </a:solidFill>
                <a:latin typeface="Arial"/>
                <a:ea typeface="Arial"/>
              </a:rPr>
              <a:t>Sawtell et al. (2006), Fig. 3(A–D). First-spike latency across amplitude ramps and pulse intervals.</a:t>
            </a:r>
            <a:endParaRPr lang="en-US"/>
          </a:p>
        </p:txBody>
      </p:sp>
      <p:sp>
        <p:nvSpPr>
          <p:cNvPr id="869" name="Shape 869"/>
          <p:cNvSpPr/>
          <p:nvPr/>
        </p:nvSpPr>
        <p:spPr>
          <a:xfrm>
            <a:off x="457200" y="6462713"/>
            <a:ext cx="1135707" cy="185738"/>
          </a:xfrm>
          <a:prstGeom prst="rect">
            <a:avLst/>
          </a:prstGeom>
          <a:noFill/>
        </p:spPr>
        <p:txBody>
          <a:bodyPr anchor="t" wrap="square" tIns="0" bIns="0" lIns="0" rIns="0">
            <a:normAutofit/>
          </a:bodyPr>
          <a:lstStyle/>
          <a:p>
            <a:pPr algn="l">
              <a:lnSpc>
                <a:spcPts val="1463"/>
              </a:lnSpc>
              <a:buNone/>
            </a:pPr>
            <a:r>
              <a:rPr sz="975" b="0" i="0">
                <a:solidFill>
                  <a:srgbClr val="58636E"/>
                </a:solidFill>
                <a:latin typeface="Arial"/>
                <a:ea typeface="Arial"/>
              </a:rPr>
              <a:t>Sawtell et al. (2006)</a:t>
            </a:r>
            <a:endParaRPr lang="en-US"/>
          </a:p>
        </p:txBody>
      </p:sp>
      <p:sp>
        <p:nvSpPr>
          <p:cNvPr id="870" name="Shape 870"/>
          <p:cNvSpPr/>
          <p:nvPr/>
        </p:nvSpPr>
        <p:spPr>
          <a:xfrm>
            <a:off x="11593116" y="6462713"/>
            <a:ext cx="160734" cy="185738"/>
          </a:xfrm>
          <a:prstGeom prst="rect">
            <a:avLst/>
          </a:prstGeom>
          <a:noFill/>
        </p:spPr>
        <p:txBody>
          <a:bodyPr anchor="t" wrap="square" tIns="0" bIns="0" lIns="0" rIns="0">
            <a:normAutofit/>
          </a:bodyPr>
          <a:lstStyle/>
          <a:p>
            <a:pPr algn="l">
              <a:lnSpc>
                <a:spcPts val="1463"/>
              </a:lnSpc>
              <a:buNone/>
            </a:pPr>
            <a:r>
              <a:rPr sz="975" b="0" i="0">
                <a:solidFill>
                  <a:srgbClr val="58636E"/>
                </a:solidFill>
                <a:latin typeface="Arial"/>
                <a:ea typeface="Arial"/>
              </a:rPr>
              <a:t>23</a:t>
            </a:r>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bg>
      <p:bgPr>
        <a:solidFill>
          <a:srgbClr val="FFFFFF"/>
        </a:solidFill>
      </p:bgPr>
    </p:bg>
    <p:spTree>
      <p:nvGrpSpPr>
        <p:cNvPr id="1" name=""/>
        <p:cNvGrpSpPr/>
        <p:nvPr/>
      </p:nvGrpSpPr>
      <p:grpSpPr>
        <a:xfrm>
          <a:off x="0" y="0"/>
          <a:ext cx="0" cy="0"/>
          <a:chOff x="0" y="0"/>
          <a:chExt cx="0" cy="0"/>
        </a:xfrm>
      </p:grpSpPr>
      <p:sp>
        <p:nvSpPr>
          <p:cNvPr id="871" name="Shape 871"/>
          <p:cNvSpPr/>
          <p:nvPr/>
        </p:nvSpPr>
        <p:spPr>
          <a:xfrm>
            <a:off x="457200" y="457200"/>
            <a:ext cx="11296650" cy="350490"/>
          </a:xfrm>
          <a:prstGeom prst="rect">
            <a:avLst/>
          </a:prstGeom>
          <a:noFill/>
        </p:spPr>
        <p:txBody>
          <a:bodyPr anchor="t" wrap="square" tIns="0" bIns="0" lIns="0" rIns="0">
            <a:normAutofit/>
          </a:bodyPr>
          <a:lstStyle/>
          <a:p>
            <a:pPr algn="l">
              <a:lnSpc>
                <a:spcPts val="2760"/>
              </a:lnSpc>
              <a:buNone/>
            </a:pPr>
            <a:r>
              <a:rPr sz="2400" b="1" i="0">
                <a:solidFill>
                  <a:srgbClr val="2B5577"/>
                </a:solidFill>
                <a:latin typeface="Arial"/>
                <a:ea typeface="Arial"/>
              </a:rPr>
              <a:t>Natural sampling histories alter afferent responses</a:t>
            </a:r>
            <a:endParaRPr lang="en-US"/>
          </a:p>
        </p:txBody>
      </p:sp>
      <p:sp>
        <p:nvSpPr>
          <p:cNvPr id="872" name="Shape 872"/>
          <p:cNvSpPr/>
          <p:nvPr/>
        </p:nvSpPr>
        <p:spPr>
          <a:xfrm>
            <a:off x="566000" y="1234440"/>
            <a:ext cx="5480000" cy="4915560"/>
          </a:xfrm>
          <a:prstGeom prst="rect">
            <a:avLst/>
          </a:prstGeom>
          <a:noFill/>
        </p:spPr>
        <p:txBody>
          <a:bodyPr anchor="t" wrap="square" tIns="0" bIns="0" lIns="0" rIns="0">
            <a:normAutofit/>
          </a:bodyPr>
          <a:lstStyle/>
          <a:p>
            <a:pPr algn="l">
              <a:lnSpc>
                <a:spcPct val="108000"/>
              </a:lnSpc>
              <a:spcAft>
                <a:spcPts val="1200"/>
              </a:spcAft>
              <a:buNone/>
            </a:pPr>
            <a:r>
              <a:rPr sz="1400" b="0" i="0">
                <a:solidFill>
                  <a:srgbClr val="1F262D"/>
                </a:solidFill>
                <a:latin typeface="Arial"/>
                <a:ea typeface="Arial"/>
              </a:rPr>
              <a:t xml:space="preserve">A </a:t>
            </a:r>
            <a:r>
              <a:rPr sz="1400" b="1" i="0">
                <a:solidFill>
                  <a:srgbClr val="1F262D"/>
                </a:solidFill>
                <a:latin typeface="Arial"/>
                <a:ea typeface="Arial"/>
              </a:rPr>
              <a:t>sampling history</a:t>
            </a:r>
            <a:r>
              <a:rPr sz="1400" b="0" i="0">
                <a:solidFill>
                  <a:srgbClr val="1F262D"/>
                </a:solidFill>
                <a:latin typeface="Arial"/>
                <a:ea typeface="Arial"/>
              </a:rPr>
              <a:t xml:space="preserve"> is the sequence of preceding pulses, not just the latest interval. Sawtell and colleagues replayed natural patterns of EOD intervals while measuring first-spike latency, and set those responses against controlled amplitude modulation as a comparison input. The replayed sequence kept each natural interval in its original order. Fixed-rate stimulation lacks that order.</a:t>
            </a:r>
            <a:endParaRPr lang="en-US"/>
          </a:p>
          <a:p>
            <a:pPr algn="l">
              <a:lnSpc>
                <a:spcPct val="108000"/>
              </a:lnSpc>
              <a:spcAft>
                <a:spcPts val="1200"/>
              </a:spcAft>
              <a:buNone/>
            </a:pPr>
            <a:r>
              <a:rPr sz="1400" b="0" i="0">
                <a:solidFill>
                  <a:srgbClr val="1F262D"/>
                </a:solidFill>
                <a:latin typeface="Arial"/>
                <a:ea typeface="Arial"/>
              </a:rPr>
              <a:t xml:space="preserve">Afferent latency changed as the natural pulse sequence changed, even when instantaneous amplitude alone failed to account for the response. The measured code reflected the time structure of active sampling as well as the electrical contrast being sampled, which is the central point of the replay. Latency responses followed the sequence at each pulse.</a:t>
            </a:r>
            <a:endParaRPr lang="en-US"/>
          </a:p>
          <a:p>
            <a:pPr algn="l">
              <a:lnSpc>
                <a:spcPct val="108000"/>
              </a:lnSpc>
              <a:spcAft>
                <a:spcPts val="1200"/>
              </a:spcAft>
              <a:buNone/>
            </a:pPr>
            <a:r>
              <a:rPr sz="1400" b="0" i="0">
                <a:solidFill>
                  <a:srgbClr val="1F262D"/>
                </a:solidFill>
                <a:latin typeface="Arial"/>
                <a:ea typeface="Arial"/>
              </a:rPr>
              <a:t xml:space="preserve">Replaying a natural sequence preserves temporal structure that fixed-rate stimulation removes. Response changes can therefore be attributed to sampling history under controlled input conditions, which isolates the effect of the pulse sequence itself. Its code reflects the sampling process of the fish. Replaying the sequence therefore keeps the pulse-by-pulse structure of natural sensing.</a:t>
            </a:r>
            <a:endParaRPr lang="en-US"/>
          </a:p>
        </p:txBody>
      </p:sp>
      <p:pic>
        <p:nvPicPr>
          <p:cNvPr id="318" name="Presenton Native Image 24" descr=""/>
          <p:cNvPicPr/>
          <p:nvPr/>
        </p:nvPicPr>
        <p:blipFill>
          <a:blip r:embed="rId2" cstate="none"/>
          <a:stretch>
            <a:fillRect/>
          </a:stretch>
        </p:blipFill>
        <p:spPr>
          <a:xfrm>
            <a:off x="6928503" y="1055340"/>
            <a:ext cx="4411944" cy="4000500"/>
          </a:xfrm>
          <a:prstGeom prst="rect">
            <a:avLst/>
          </a:prstGeom>
        </p:spPr>
      </p:pic>
      <p:sp>
        <p:nvSpPr>
          <p:cNvPr id="875" name="Shape 875"/>
          <p:cNvSpPr/>
          <p:nvPr/>
        </p:nvSpPr>
        <p:spPr>
          <a:xfrm>
            <a:off x="6610350" y="5170140"/>
            <a:ext cx="5067300" cy="371475"/>
          </a:xfrm>
          <a:prstGeom prst="rect">
            <a:avLst/>
          </a:prstGeom>
          <a:noFill/>
        </p:spPr>
        <p:txBody>
          <a:bodyPr anchor="t" wrap="square" tIns="0" bIns="0" lIns="0" rIns="0">
            <a:normAutofit/>
          </a:bodyPr>
          <a:lstStyle/>
          <a:p>
            <a:pPr algn="l">
              <a:lnSpc>
                <a:spcPts val="1463"/>
              </a:lnSpc>
              <a:buNone/>
            </a:pPr>
            <a:r>
              <a:rPr sz="1125" b="0" i="0">
                <a:solidFill>
                  <a:srgbClr val="1F262D"/>
                </a:solidFill>
                <a:latin typeface="Arial"/>
                <a:ea typeface="Arial"/>
              </a:rPr>
              <a:t>Sawtell et al. (2006), Fig. 4(A–D). Afferent latencies under natural sensing-interval sequences.</a:t>
            </a:r>
            <a:endParaRPr lang="en-US"/>
          </a:p>
        </p:txBody>
      </p:sp>
      <p:sp>
        <p:nvSpPr>
          <p:cNvPr id="876" name="Shape 876"/>
          <p:cNvSpPr/>
          <p:nvPr/>
        </p:nvSpPr>
        <p:spPr>
          <a:xfrm>
            <a:off x="457200" y="6462713"/>
            <a:ext cx="1135707" cy="185738"/>
          </a:xfrm>
          <a:prstGeom prst="rect">
            <a:avLst/>
          </a:prstGeom>
          <a:noFill/>
        </p:spPr>
        <p:txBody>
          <a:bodyPr anchor="t" wrap="square" tIns="0" bIns="0" lIns="0" rIns="0">
            <a:normAutofit/>
          </a:bodyPr>
          <a:lstStyle/>
          <a:p>
            <a:pPr algn="l">
              <a:lnSpc>
                <a:spcPts val="1463"/>
              </a:lnSpc>
              <a:buNone/>
            </a:pPr>
            <a:r>
              <a:rPr sz="975" b="0" i="0">
                <a:solidFill>
                  <a:srgbClr val="58636E"/>
                </a:solidFill>
                <a:latin typeface="Arial"/>
                <a:ea typeface="Arial"/>
              </a:rPr>
              <a:t>Sawtell et al. (2006)</a:t>
            </a:r>
            <a:endParaRPr lang="en-US"/>
          </a:p>
        </p:txBody>
      </p:sp>
      <p:sp>
        <p:nvSpPr>
          <p:cNvPr id="877" name="Shape 877"/>
          <p:cNvSpPr/>
          <p:nvPr/>
        </p:nvSpPr>
        <p:spPr>
          <a:xfrm>
            <a:off x="11593116" y="6462713"/>
            <a:ext cx="160734" cy="185738"/>
          </a:xfrm>
          <a:prstGeom prst="rect">
            <a:avLst/>
          </a:prstGeom>
          <a:noFill/>
        </p:spPr>
        <p:txBody>
          <a:bodyPr anchor="t" wrap="square" tIns="0" bIns="0" lIns="0" rIns="0">
            <a:normAutofit/>
          </a:bodyPr>
          <a:lstStyle/>
          <a:p>
            <a:pPr algn="l">
              <a:lnSpc>
                <a:spcPts val="1463"/>
              </a:lnSpc>
              <a:buNone/>
            </a:pPr>
            <a:r>
              <a:rPr sz="975" b="0" i="0">
                <a:solidFill>
                  <a:srgbClr val="58636E"/>
                </a:solidFill>
                <a:latin typeface="Arial"/>
                <a:ea typeface="Arial"/>
              </a:rPr>
              <a:t>24</a:t>
            </a:r>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bg>
      <p:bgPr>
        <a:solidFill>
          <a:srgbClr val="FFFFFF"/>
        </a:solidFill>
      </p:bgPr>
    </p:bg>
    <p:spTree>
      <p:nvGrpSpPr>
        <p:cNvPr id="1" name=""/>
        <p:cNvGrpSpPr/>
        <p:nvPr/>
      </p:nvGrpSpPr>
      <p:grpSpPr>
        <a:xfrm>
          <a:off x="0" y="0"/>
          <a:ext cx="0" cy="0"/>
          <a:chOff x="0" y="0"/>
          <a:chExt cx="0" cy="0"/>
        </a:xfrm>
      </p:grpSpPr>
      <p:sp>
        <p:nvSpPr>
          <p:cNvPr id="878" name="Shape 878"/>
          <p:cNvSpPr/>
          <p:nvPr/>
        </p:nvSpPr>
        <p:spPr>
          <a:xfrm>
            <a:off x="457200" y="457200"/>
            <a:ext cx="11296650" cy="350490"/>
          </a:xfrm>
          <a:prstGeom prst="rect">
            <a:avLst/>
          </a:prstGeom>
          <a:noFill/>
        </p:spPr>
        <p:txBody>
          <a:bodyPr anchor="t" wrap="square" tIns="0" bIns="0" lIns="0" rIns="0">
            <a:normAutofit/>
          </a:bodyPr>
          <a:lstStyle/>
          <a:p>
            <a:pPr algn="l">
              <a:lnSpc>
                <a:spcPts val="2760"/>
              </a:lnSpc>
              <a:buNone/>
            </a:pPr>
            <a:r>
              <a:rPr sz="2400" b="1" i="0">
                <a:solidFill>
                  <a:srgbClr val="2B5577"/>
                </a:solidFill>
                <a:latin typeface="Arial"/>
                <a:ea typeface="Arial"/>
              </a:rPr>
              <a:t>Later afferent spikes largely follow the first spike</a:t>
            </a:r>
            <a:endParaRPr lang="en-US"/>
          </a:p>
        </p:txBody>
      </p:sp>
      <p:sp>
        <p:nvSpPr>
          <p:cNvPr id="879" name="Shape 879"/>
          <p:cNvSpPr/>
          <p:nvPr/>
        </p:nvSpPr>
        <p:spPr>
          <a:xfrm>
            <a:off x="566000" y="1234440"/>
            <a:ext cx="5480000" cy="4915560"/>
          </a:xfrm>
          <a:prstGeom prst="rect">
            <a:avLst/>
          </a:prstGeom>
          <a:noFill/>
        </p:spPr>
        <p:txBody>
          <a:bodyPr anchor="t" wrap="square" tIns="0" bIns="0" lIns="0" rIns="0">
            <a:normAutofit/>
          </a:bodyPr>
          <a:lstStyle/>
          <a:p>
            <a:pPr algn="l">
              <a:lnSpc>
                <a:spcPct val="108000"/>
              </a:lnSpc>
              <a:spcAft>
                <a:spcPts val="1200"/>
              </a:spcAft>
              <a:buNone/>
            </a:pPr>
            <a:r>
              <a:rPr sz="1400" b="0" i="0">
                <a:solidFill>
                  <a:srgbClr val="1F262D"/>
                </a:solidFill>
                <a:latin typeface="Arial"/>
                <a:ea typeface="Arial"/>
              </a:rPr>
              <a:t xml:space="preserve">A </a:t>
            </a:r>
            <a:r>
              <a:rPr sz="1400" b="1" i="0">
                <a:solidFill>
                  <a:srgbClr val="1F262D"/>
                </a:solidFill>
                <a:latin typeface="Arial"/>
                <a:ea typeface="Arial"/>
              </a:rPr>
              <a:t>spike train</a:t>
            </a:r>
            <a:r>
              <a:rPr sz="1400" b="0" i="0">
                <a:solidFill>
                  <a:srgbClr val="1F262D"/>
                </a:solidFill>
                <a:latin typeface="Arial"/>
                <a:ea typeface="Arial"/>
              </a:rPr>
              <a:t xml:space="preserve"> is a sequence of action potentials emitted by one neuron. Some recorded mormyromast afferents produced more than one spike after a pulse, which raised the possibility that later spikes add independent information about local electric amplitude, beyond the first spike. Each spike in the train has its own timing relative to the pulse.</a:t>
            </a:r>
            <a:endParaRPr lang="en-US"/>
          </a:p>
          <a:p>
            <a:pPr algn="l">
              <a:lnSpc>
                <a:spcPct val="108000"/>
              </a:lnSpc>
              <a:spcAft>
                <a:spcPts val="1200"/>
              </a:spcAft>
              <a:buNone/>
            </a:pPr>
            <a:r>
              <a:rPr sz="1400" b="0" i="0">
                <a:solidFill>
                  <a:srgbClr val="1F262D"/>
                </a:solidFill>
                <a:latin typeface="Arial"/>
                <a:ea typeface="Arial"/>
              </a:rPr>
              <a:t xml:space="preserve">Sawtell and colleagues measured the times of subsequent spikes against first-spike latency. The tight relationships supported the first spike as the principal timing variable in the responses examined, rather than treating every spike as a new estimate of amplitude in these recordings. The first spike therefore served as the reference event for later spikes.</a:t>
            </a:r>
            <a:endParaRPr lang="en-US"/>
          </a:p>
          <a:p>
            <a:pPr algn="l">
              <a:lnSpc>
                <a:spcPct val="108000"/>
              </a:lnSpc>
              <a:spcAft>
                <a:spcPts val="1200"/>
              </a:spcAft>
              <a:buNone/>
            </a:pPr>
            <a:r>
              <a:rPr sz="1400" b="0" i="0">
                <a:solidFill>
                  <a:srgbClr val="1F262D"/>
                </a:solidFill>
                <a:latin typeface="Arial"/>
                <a:ea typeface="Arial"/>
              </a:rPr>
              <a:t xml:space="preserve">Independent information is distinct from physiological influence. A later spike can drive a postsynaptic response while staying strongly predictable from the first-spike latency, so the coding description narrows under the tested conditions. Later spikes can still influence the postsynaptic cell even when their timing says little about amplitude. Influence on transmission is a separate question.</a:t>
            </a:r>
            <a:endParaRPr lang="en-US"/>
          </a:p>
        </p:txBody>
      </p:sp>
      <p:pic>
        <p:nvPicPr>
          <p:cNvPr id="319" name="Presenton Native Image 25" descr=""/>
          <p:cNvPicPr/>
          <p:nvPr/>
        </p:nvPicPr>
        <p:blipFill>
          <a:blip r:embed="rId2" cstate="none"/>
          <a:stretch>
            <a:fillRect/>
          </a:stretch>
        </p:blipFill>
        <p:spPr>
          <a:xfrm>
            <a:off x="6610350" y="1342133"/>
            <a:ext cx="5048250" cy="3426914"/>
          </a:xfrm>
          <a:prstGeom prst="rect">
            <a:avLst/>
          </a:prstGeom>
        </p:spPr>
      </p:pic>
      <p:sp>
        <p:nvSpPr>
          <p:cNvPr id="882" name="Shape 882"/>
          <p:cNvSpPr/>
          <p:nvPr/>
        </p:nvSpPr>
        <p:spPr>
          <a:xfrm>
            <a:off x="6610350" y="5170140"/>
            <a:ext cx="5067300" cy="371475"/>
          </a:xfrm>
          <a:prstGeom prst="rect">
            <a:avLst/>
          </a:prstGeom>
          <a:noFill/>
        </p:spPr>
        <p:txBody>
          <a:bodyPr anchor="t" wrap="square" tIns="0" bIns="0" lIns="0" rIns="0">
            <a:normAutofit/>
          </a:bodyPr>
          <a:lstStyle/>
          <a:p>
            <a:pPr algn="l">
              <a:lnSpc>
                <a:spcPts val="1463"/>
              </a:lnSpc>
              <a:buNone/>
            </a:pPr>
            <a:r>
              <a:rPr sz="1125" b="0" i="0">
                <a:solidFill>
                  <a:srgbClr val="1F262D"/>
                </a:solidFill>
                <a:latin typeface="Arial"/>
                <a:ea typeface="Arial"/>
              </a:rPr>
              <a:t>Sawtell et al. (2006), Fig. 5(A–B). Relationships between first and subsequent afferent spike times.</a:t>
            </a:r>
            <a:endParaRPr lang="en-US"/>
          </a:p>
        </p:txBody>
      </p:sp>
      <p:sp>
        <p:nvSpPr>
          <p:cNvPr id="883" name="Shape 883"/>
          <p:cNvSpPr/>
          <p:nvPr/>
        </p:nvSpPr>
        <p:spPr>
          <a:xfrm>
            <a:off x="457200" y="6462713"/>
            <a:ext cx="1135707" cy="185738"/>
          </a:xfrm>
          <a:prstGeom prst="rect">
            <a:avLst/>
          </a:prstGeom>
          <a:noFill/>
        </p:spPr>
        <p:txBody>
          <a:bodyPr anchor="t" wrap="square" tIns="0" bIns="0" lIns="0" rIns="0">
            <a:normAutofit/>
          </a:bodyPr>
          <a:lstStyle/>
          <a:p>
            <a:pPr algn="l">
              <a:lnSpc>
                <a:spcPts val="1463"/>
              </a:lnSpc>
              <a:buNone/>
            </a:pPr>
            <a:r>
              <a:rPr sz="975" b="0" i="0">
                <a:solidFill>
                  <a:srgbClr val="58636E"/>
                </a:solidFill>
                <a:latin typeface="Arial"/>
                <a:ea typeface="Arial"/>
              </a:rPr>
              <a:t>Sawtell et al. (2006)</a:t>
            </a:r>
            <a:endParaRPr lang="en-US"/>
          </a:p>
        </p:txBody>
      </p:sp>
      <p:sp>
        <p:nvSpPr>
          <p:cNvPr id="884" name="Shape 884"/>
          <p:cNvSpPr/>
          <p:nvPr/>
        </p:nvSpPr>
        <p:spPr>
          <a:xfrm>
            <a:off x="11593116" y="6462713"/>
            <a:ext cx="160734" cy="185738"/>
          </a:xfrm>
          <a:prstGeom prst="rect">
            <a:avLst/>
          </a:prstGeom>
          <a:noFill/>
        </p:spPr>
        <p:txBody>
          <a:bodyPr anchor="t" wrap="square" tIns="0" bIns="0" lIns="0" rIns="0">
            <a:normAutofit/>
          </a:bodyPr>
          <a:lstStyle/>
          <a:p>
            <a:pPr algn="l">
              <a:lnSpc>
                <a:spcPts val="1463"/>
              </a:lnSpc>
              <a:buNone/>
            </a:pPr>
            <a:r>
              <a:rPr sz="975" b="0" i="0">
                <a:solidFill>
                  <a:srgbClr val="58636E"/>
                </a:solidFill>
                <a:latin typeface="Arial"/>
                <a:ea typeface="Arial"/>
              </a:rPr>
              <a:t>25</a:t>
            </a:r>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bg>
      <p:bgPr>
        <a:solidFill>
          <a:srgbClr val="FFFFFF"/>
        </a:solidFill>
      </p:bgPr>
    </p:bg>
    <p:spTree>
      <p:nvGrpSpPr>
        <p:cNvPr id="1" name=""/>
        <p:cNvGrpSpPr/>
        <p:nvPr/>
      </p:nvGrpSpPr>
      <p:grpSpPr>
        <a:xfrm>
          <a:off x="0" y="0"/>
          <a:ext cx="0" cy="0"/>
          <a:chOff x="0" y="0"/>
          <a:chExt cx="0" cy="0"/>
        </a:xfrm>
      </p:grpSpPr>
      <p:sp>
        <p:nvSpPr>
          <p:cNvPr id="885" name="Shape 885"/>
          <p:cNvSpPr/>
          <p:nvPr/>
        </p:nvSpPr>
        <p:spPr>
          <a:xfrm>
            <a:off x="457200" y="457200"/>
            <a:ext cx="11296650" cy="350490"/>
          </a:xfrm>
          <a:prstGeom prst="rect">
            <a:avLst/>
          </a:prstGeom>
          <a:noFill/>
        </p:spPr>
        <p:txBody>
          <a:bodyPr anchor="t" wrap="square" tIns="0" bIns="0" lIns="0" rIns="0">
            <a:normAutofit/>
          </a:bodyPr>
          <a:lstStyle/>
          <a:p>
            <a:pPr algn="l">
              <a:lnSpc>
                <a:spcPts val="2760"/>
              </a:lnSpc>
              <a:buNone/>
            </a:pPr>
            <a:r>
              <a:rPr sz="2400" b="1" i="0">
                <a:solidFill>
                  <a:srgbClr val="2B5577"/>
                </a:solidFill>
                <a:latin typeface="Arial"/>
                <a:ea typeface="Arial"/>
              </a:rPr>
              <a:t>Afferent sensitivity changes with sustained sampling rate</a:t>
            </a:r>
            <a:endParaRPr lang="en-US"/>
          </a:p>
        </p:txBody>
      </p:sp>
      <p:sp>
        <p:nvSpPr>
          <p:cNvPr id="886" name="Shape 886"/>
          <p:cNvSpPr/>
          <p:nvPr/>
        </p:nvSpPr>
        <p:spPr>
          <a:xfrm>
            <a:off x="566000" y="1234440"/>
            <a:ext cx="5480000" cy="4915560"/>
          </a:xfrm>
          <a:prstGeom prst="rect">
            <a:avLst/>
          </a:prstGeom>
          <a:noFill/>
        </p:spPr>
        <p:txBody>
          <a:bodyPr anchor="t" wrap="square" tIns="0" bIns="0" lIns="0" rIns="0">
            <a:normAutofit/>
          </a:bodyPr>
          <a:lstStyle/>
          <a:p>
            <a:pPr algn="l">
              <a:lnSpc>
                <a:spcPct val="108000"/>
              </a:lnSpc>
              <a:spcAft>
                <a:spcPts val="1200"/>
              </a:spcAft>
              <a:buNone/>
            </a:pPr>
            <a:r>
              <a:rPr sz="1400" b="1" i="0">
                <a:solidFill>
                  <a:srgbClr val="1F262D"/>
                </a:solidFill>
                <a:latin typeface="Arial"/>
                <a:ea typeface="Arial"/>
              </a:rPr>
              <a:t>Sensitivity</a:t>
            </a:r>
            <a:r>
              <a:rPr sz="1400" b="0" i="0">
                <a:solidFill>
                  <a:srgbClr val="1F262D"/>
                </a:solidFill>
                <a:latin typeface="Arial"/>
                <a:ea typeface="Arial"/>
              </a:rPr>
              <a:t xml:space="preserve"> here means the change in afferent latency associated with a given amplitude modulation. Sawtell and colleagues tested constant pulse rates, including 15, 30, and 50 Hz, while estimating how present and previous amplitudes influenced the timing of each response. Sensitivity is therefore a slope that relates timing change to amplitude change.</a:t>
            </a:r>
            <a:endParaRPr lang="en-US"/>
          </a:p>
          <a:p>
            <a:pPr algn="l">
              <a:lnSpc>
                <a:spcPct val="108000"/>
              </a:lnSpc>
              <a:spcAft>
                <a:spcPts val="1200"/>
              </a:spcAft>
              <a:buNone/>
            </a:pPr>
            <a:r>
              <a:rPr sz="1400" b="0" i="0">
                <a:solidFill>
                  <a:srgbClr val="1F262D"/>
                </a:solidFill>
                <a:latin typeface="Arial"/>
                <a:ea typeface="Arial"/>
              </a:rPr>
              <a:t xml:space="preserve">Sensitivity to present amplitude increased with constant sensing rate. This rate dependence differed from what a fixed linear filter predicted under another stimulation regime, especially when amplitude changes were correlated across successive pulses. Fixed linear filters capture one regime of stimulation, so they fail when gain changes under another regime. The difference was largest for correlated amplitude sequences.</a:t>
            </a:r>
            <a:endParaRPr lang="en-US"/>
          </a:p>
          <a:p>
            <a:pPr algn="l">
              <a:lnSpc>
                <a:spcPct val="108000"/>
              </a:lnSpc>
              <a:spcAft>
                <a:spcPts val="1200"/>
              </a:spcAft>
              <a:buNone/>
            </a:pPr>
            <a:r>
              <a:rPr sz="1400" b="0" i="0">
                <a:solidFill>
                  <a:srgbClr val="1F262D"/>
                </a:solidFill>
                <a:latin typeface="Arial"/>
                <a:ea typeface="Arial"/>
              </a:rPr>
              <a:t xml:space="preserve">The result identifies a state-dependent sensory transformation rather than a uniform gain fixed to a fiber. Coding models therefore need adjustment for the sampling rate that a fiber experiences during active sensing. A fiber therefore has a sensitivity that depends on its recent sampling rate, not a single gain value. That dependence adds a rate term to coding models.</a:t>
            </a:r>
            <a:endParaRPr lang="en-US"/>
          </a:p>
        </p:txBody>
      </p:sp>
      <p:pic>
        <p:nvPicPr>
          <p:cNvPr id="320" name="Presenton Native Image 26" descr=""/>
          <p:cNvPicPr/>
          <p:nvPr/>
        </p:nvPicPr>
        <p:blipFill>
          <a:blip r:embed="rId2" cstate="none"/>
          <a:stretch>
            <a:fillRect/>
          </a:stretch>
        </p:blipFill>
        <p:spPr>
          <a:xfrm>
            <a:off x="8000449" y="1055340"/>
            <a:ext cx="2268052" cy="4000500"/>
          </a:xfrm>
          <a:prstGeom prst="rect">
            <a:avLst/>
          </a:prstGeom>
        </p:spPr>
      </p:pic>
      <p:sp>
        <p:nvSpPr>
          <p:cNvPr id="889" name="Shape 889"/>
          <p:cNvSpPr/>
          <p:nvPr/>
        </p:nvSpPr>
        <p:spPr>
          <a:xfrm>
            <a:off x="6610350" y="5170140"/>
            <a:ext cx="5067300" cy="371475"/>
          </a:xfrm>
          <a:prstGeom prst="rect">
            <a:avLst/>
          </a:prstGeom>
          <a:noFill/>
        </p:spPr>
        <p:txBody>
          <a:bodyPr anchor="t" wrap="square" tIns="0" bIns="0" lIns="0" rIns="0">
            <a:normAutofit/>
          </a:bodyPr>
          <a:lstStyle/>
          <a:p>
            <a:pPr algn="l">
              <a:lnSpc>
                <a:spcPts val="1463"/>
              </a:lnSpc>
              <a:buNone/>
            </a:pPr>
            <a:r>
              <a:rPr sz="1125" b="0" i="0">
                <a:solidFill>
                  <a:srgbClr val="1F262D"/>
                </a:solidFill>
                <a:latin typeface="Arial"/>
                <a:ea typeface="Arial"/>
              </a:rPr>
              <a:t>Sawtell et al. (2006), Fig. 11(A–F). Amplitude sensitivity and filters at constant EOD rates.</a:t>
            </a:r>
            <a:endParaRPr lang="en-US"/>
          </a:p>
        </p:txBody>
      </p:sp>
      <p:sp>
        <p:nvSpPr>
          <p:cNvPr id="890" name="Shape 890"/>
          <p:cNvSpPr/>
          <p:nvPr/>
        </p:nvSpPr>
        <p:spPr>
          <a:xfrm>
            <a:off x="457200" y="6462713"/>
            <a:ext cx="1135707" cy="185738"/>
          </a:xfrm>
          <a:prstGeom prst="rect">
            <a:avLst/>
          </a:prstGeom>
          <a:noFill/>
        </p:spPr>
        <p:txBody>
          <a:bodyPr anchor="t" wrap="square" tIns="0" bIns="0" lIns="0" rIns="0">
            <a:normAutofit/>
          </a:bodyPr>
          <a:lstStyle/>
          <a:p>
            <a:pPr algn="l">
              <a:lnSpc>
                <a:spcPts val="1463"/>
              </a:lnSpc>
              <a:buNone/>
            </a:pPr>
            <a:r>
              <a:rPr sz="975" b="0" i="0">
                <a:solidFill>
                  <a:srgbClr val="58636E"/>
                </a:solidFill>
                <a:latin typeface="Arial"/>
                <a:ea typeface="Arial"/>
              </a:rPr>
              <a:t>Sawtell et al. (2006)</a:t>
            </a:r>
            <a:endParaRPr lang="en-US"/>
          </a:p>
        </p:txBody>
      </p:sp>
      <p:sp>
        <p:nvSpPr>
          <p:cNvPr id="891" name="Shape 891"/>
          <p:cNvSpPr/>
          <p:nvPr/>
        </p:nvSpPr>
        <p:spPr>
          <a:xfrm>
            <a:off x="11593116" y="6462713"/>
            <a:ext cx="160734" cy="185738"/>
          </a:xfrm>
          <a:prstGeom prst="rect">
            <a:avLst/>
          </a:prstGeom>
          <a:noFill/>
        </p:spPr>
        <p:txBody>
          <a:bodyPr anchor="t" wrap="square" tIns="0" bIns="0" lIns="0" rIns="0">
            <a:normAutofit/>
          </a:bodyPr>
          <a:lstStyle/>
          <a:p>
            <a:pPr algn="l">
              <a:lnSpc>
                <a:spcPts val="1463"/>
              </a:lnSpc>
              <a:buNone/>
            </a:pPr>
            <a:r>
              <a:rPr sz="975" b="0" i="0">
                <a:solidFill>
                  <a:srgbClr val="58636E"/>
                </a:solidFill>
                <a:latin typeface="Arial"/>
                <a:ea typeface="Arial"/>
              </a:rPr>
              <a:t>26</a:t>
            </a:r>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bg>
      <p:bgPr>
        <a:solidFill>
          <a:srgbClr val="FFFFFF"/>
        </a:solidFill>
      </p:bgPr>
    </p:bg>
    <p:spTree>
      <p:nvGrpSpPr>
        <p:cNvPr id="1" name=""/>
        <p:cNvGrpSpPr/>
        <p:nvPr/>
      </p:nvGrpSpPr>
      <p:grpSpPr>
        <a:xfrm>
          <a:off x="0" y="0"/>
          <a:ext cx="0" cy="0"/>
          <a:chOff x="0" y="0"/>
          <a:chExt cx="0" cy="0"/>
        </a:xfrm>
      </p:grpSpPr>
      <p:sp>
        <p:nvSpPr>
          <p:cNvPr id="892" name="Shape 892"/>
          <p:cNvSpPr/>
          <p:nvPr/>
        </p:nvSpPr>
        <p:spPr>
          <a:xfrm>
            <a:off x="457200" y="457200"/>
            <a:ext cx="11296650" cy="350490"/>
          </a:xfrm>
          <a:prstGeom prst="rect">
            <a:avLst/>
          </a:prstGeom>
          <a:noFill/>
        </p:spPr>
        <p:txBody>
          <a:bodyPr anchor="t" wrap="square" tIns="0" bIns="0" lIns="0" rIns="0">
            <a:normAutofit/>
          </a:bodyPr>
          <a:lstStyle/>
          <a:p>
            <a:pPr algn="l">
              <a:lnSpc>
                <a:spcPts val="2760"/>
              </a:lnSpc>
              <a:buNone/>
            </a:pPr>
            <a:r>
              <a:rPr sz="2400" b="1" i="0">
                <a:solidFill>
                  <a:srgbClr val="2B5577"/>
                </a:solidFill>
                <a:latin typeface="Arial"/>
                <a:ea typeface="Arial"/>
              </a:rPr>
              <a:t>History-aware models improve latency predictions</a:t>
            </a:r>
            <a:endParaRPr lang="en-US"/>
          </a:p>
        </p:txBody>
      </p:sp>
      <p:sp>
        <p:nvSpPr>
          <p:cNvPr id="893" name="Shape 893"/>
          <p:cNvSpPr/>
          <p:nvPr/>
        </p:nvSpPr>
        <p:spPr>
          <a:xfrm>
            <a:off x="566000" y="1234440"/>
            <a:ext cx="5480000" cy="4915560"/>
          </a:xfrm>
          <a:prstGeom prst="rect">
            <a:avLst/>
          </a:prstGeom>
          <a:noFill/>
        </p:spPr>
        <p:txBody>
          <a:bodyPr anchor="t" wrap="square" tIns="0" bIns="0" lIns="0" rIns="0">
            <a:normAutofit/>
          </a:bodyPr>
          <a:lstStyle/>
          <a:p>
            <a:pPr algn="l">
              <a:lnSpc>
                <a:spcPct val="108000"/>
              </a:lnSpc>
              <a:spcAft>
                <a:spcPts val="1200"/>
              </a:spcAft>
              <a:buNone/>
            </a:pPr>
            <a:r>
              <a:rPr sz="1400" b="0" i="0">
                <a:solidFill>
                  <a:srgbClr val="1F262D"/>
                </a:solidFill>
                <a:latin typeface="Arial"/>
                <a:ea typeface="Arial"/>
              </a:rPr>
              <a:t xml:space="preserve">A </a:t>
            </a:r>
            <a:r>
              <a:rPr sz="1400" b="1" i="0">
                <a:solidFill>
                  <a:srgbClr val="1F262D"/>
                </a:solidFill>
                <a:latin typeface="Arial"/>
                <a:ea typeface="Arial"/>
              </a:rPr>
              <a:t>coding model</a:t>
            </a:r>
            <a:r>
              <a:rPr sz="1400" b="0" i="0">
                <a:solidFill>
                  <a:srgbClr val="1F262D"/>
                </a:solidFill>
                <a:latin typeface="Arial"/>
                <a:ea typeface="Arial"/>
              </a:rPr>
              <a:t xml:space="preserve"> predicts neuronal responses from specified stimulus variables. Sawtell and colleagues tested models using EOD amplitude and prior intervals, then examined prediction failures when natural interval patterns combined with slowly correlated amplitude changes in the same recordings. The fitted models included the amplitude and interval of every preceding pulse as inputs.</a:t>
            </a:r>
            <a:endParaRPr lang="en-US"/>
          </a:p>
          <a:p>
            <a:pPr algn="l">
              <a:lnSpc>
                <a:spcPct val="108000"/>
              </a:lnSpc>
              <a:spcAft>
                <a:spcPts val="1200"/>
              </a:spcAft>
              <a:buNone/>
            </a:pPr>
            <a:r>
              <a:rPr sz="1400" b="0" i="0">
                <a:solidFill>
                  <a:srgbClr val="1F262D"/>
                </a:solidFill>
                <a:latin typeface="Arial"/>
                <a:ea typeface="Arial"/>
              </a:rPr>
              <a:t xml:space="preserve">Adding interval-dependent changes in amplitude sensitivity improved predictions of measured afferent latencies. The recorded responses stayed the same, so the gain came from accounting for sensory context rather than from a different type of neural output. The gain term is the new element, and it changes with the interval history. That change explains the improved fit.</a:t>
            </a:r>
            <a:endParaRPr lang="en-US"/>
          </a:p>
          <a:p>
            <a:pPr algn="l">
              <a:lnSpc>
                <a:spcPct val="108000"/>
              </a:lnSpc>
              <a:spcAft>
                <a:spcPts val="1200"/>
              </a:spcAft>
              <a:buNone/>
            </a:pPr>
            <a:r>
              <a:rPr sz="1400" b="0" i="0">
                <a:solidFill>
                  <a:srgbClr val="1F262D"/>
                </a:solidFill>
                <a:latin typeface="Arial"/>
                <a:ea typeface="Arial"/>
              </a:rPr>
              <a:t xml:space="preserve">These published models were fitted to afferent data, and their success supports a description of history-dependent coding. Agreement narrows the set of possible coding mechanisms, and model fits constrain what a neuron could compute without naming the mechanism. They summarize measured responses rather than replace them. They are tested against the recorded data.</a:t>
            </a:r>
            <a:endParaRPr lang="en-US"/>
          </a:p>
        </p:txBody>
      </p:sp>
      <p:pic>
        <p:nvPicPr>
          <p:cNvPr id="321" name="Presenton Native Image 27" descr=""/>
          <p:cNvPicPr/>
          <p:nvPr/>
        </p:nvPicPr>
        <p:blipFill>
          <a:blip r:embed="rId2" cstate="none"/>
          <a:stretch>
            <a:fillRect/>
          </a:stretch>
        </p:blipFill>
        <p:spPr>
          <a:xfrm>
            <a:off x="6610350" y="1836492"/>
            <a:ext cx="5048250" cy="2438197"/>
          </a:xfrm>
          <a:prstGeom prst="rect">
            <a:avLst/>
          </a:prstGeom>
        </p:spPr>
      </p:pic>
      <p:sp>
        <p:nvSpPr>
          <p:cNvPr id="896" name="Shape 896"/>
          <p:cNvSpPr/>
          <p:nvPr/>
        </p:nvSpPr>
        <p:spPr>
          <a:xfrm>
            <a:off x="6610350" y="5170140"/>
            <a:ext cx="5067300" cy="371475"/>
          </a:xfrm>
          <a:prstGeom prst="rect">
            <a:avLst/>
          </a:prstGeom>
          <a:noFill/>
        </p:spPr>
        <p:txBody>
          <a:bodyPr anchor="t" wrap="square" tIns="0" bIns="0" lIns="0" rIns="0">
            <a:normAutofit/>
          </a:bodyPr>
          <a:lstStyle/>
          <a:p>
            <a:pPr algn="l">
              <a:lnSpc>
                <a:spcPts val="1463"/>
              </a:lnSpc>
              <a:buNone/>
            </a:pPr>
            <a:r>
              <a:rPr sz="1125" b="0" i="0">
                <a:solidFill>
                  <a:srgbClr val="1F262D"/>
                </a:solidFill>
                <a:latin typeface="Arial"/>
                <a:ea typeface="Arial"/>
              </a:rPr>
              <a:t>Sawtell et al. (2006), Fig. 12(A–F). Published predictions incorporating interval-dependent sensitivity.</a:t>
            </a:r>
            <a:endParaRPr lang="en-US"/>
          </a:p>
        </p:txBody>
      </p:sp>
      <p:sp>
        <p:nvSpPr>
          <p:cNvPr id="897" name="Shape 897"/>
          <p:cNvSpPr/>
          <p:nvPr/>
        </p:nvSpPr>
        <p:spPr>
          <a:xfrm>
            <a:off x="457200" y="6462713"/>
            <a:ext cx="1135707" cy="185738"/>
          </a:xfrm>
          <a:prstGeom prst="rect">
            <a:avLst/>
          </a:prstGeom>
          <a:noFill/>
        </p:spPr>
        <p:txBody>
          <a:bodyPr anchor="t" wrap="square" tIns="0" bIns="0" lIns="0" rIns="0">
            <a:normAutofit/>
          </a:bodyPr>
          <a:lstStyle/>
          <a:p>
            <a:pPr algn="l">
              <a:lnSpc>
                <a:spcPts val="1463"/>
              </a:lnSpc>
              <a:buNone/>
            </a:pPr>
            <a:r>
              <a:rPr sz="975" b="0" i="0">
                <a:solidFill>
                  <a:srgbClr val="58636E"/>
                </a:solidFill>
                <a:latin typeface="Arial"/>
                <a:ea typeface="Arial"/>
              </a:rPr>
              <a:t>Sawtell et al. (2006)</a:t>
            </a:r>
            <a:endParaRPr lang="en-US"/>
          </a:p>
        </p:txBody>
      </p:sp>
      <p:sp>
        <p:nvSpPr>
          <p:cNvPr id="898" name="Shape 898"/>
          <p:cNvSpPr/>
          <p:nvPr/>
        </p:nvSpPr>
        <p:spPr>
          <a:xfrm>
            <a:off x="11593116" y="6462713"/>
            <a:ext cx="160734" cy="185738"/>
          </a:xfrm>
          <a:prstGeom prst="rect">
            <a:avLst/>
          </a:prstGeom>
          <a:noFill/>
        </p:spPr>
        <p:txBody>
          <a:bodyPr anchor="t" wrap="square" tIns="0" bIns="0" lIns="0" rIns="0">
            <a:normAutofit/>
          </a:bodyPr>
          <a:lstStyle/>
          <a:p>
            <a:pPr algn="l">
              <a:lnSpc>
                <a:spcPts val="1463"/>
              </a:lnSpc>
              <a:buNone/>
            </a:pPr>
            <a:r>
              <a:rPr sz="975" b="0" i="0">
                <a:solidFill>
                  <a:srgbClr val="58636E"/>
                </a:solidFill>
                <a:latin typeface="Arial"/>
                <a:ea typeface="Arial"/>
              </a:rPr>
              <a:t>27</a:t>
            </a:r>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bg>
      <p:bgPr>
        <a:solidFill>
          <a:srgbClr val="FFFFFF"/>
        </a:solidFill>
      </p:bgPr>
    </p:bg>
    <p:spTree>
      <p:nvGrpSpPr>
        <p:cNvPr id="1" name=""/>
        <p:cNvGrpSpPr/>
        <p:nvPr/>
      </p:nvGrpSpPr>
      <p:grpSpPr>
        <a:xfrm>
          <a:off x="0" y="0"/>
          <a:ext cx="0" cy="0"/>
          <a:chOff x="0" y="0"/>
          <a:chExt cx="0" cy="0"/>
        </a:xfrm>
      </p:grpSpPr>
      <p:sp>
        <p:nvSpPr>
          <p:cNvPr id="899" name="Shape 899"/>
          <p:cNvSpPr/>
          <p:nvPr/>
        </p:nvSpPr>
        <p:spPr>
          <a:xfrm>
            <a:off x="457200" y="457200"/>
            <a:ext cx="11296650" cy="350490"/>
          </a:xfrm>
          <a:prstGeom prst="rect">
            <a:avLst/>
          </a:prstGeom>
          <a:noFill/>
        </p:spPr>
        <p:txBody>
          <a:bodyPr anchor="t" wrap="square" tIns="0" bIns="0" lIns="0" rIns="0">
            <a:normAutofit/>
          </a:bodyPr>
          <a:lstStyle/>
          <a:p>
            <a:pPr algn="l">
              <a:lnSpc>
                <a:spcPts val="2760"/>
              </a:lnSpc>
              <a:buNone/>
            </a:pPr>
            <a:r>
              <a:rPr sz="2400" b="1" i="0">
                <a:solidFill>
                  <a:srgbClr val="2B5577"/>
                </a:solidFill>
                <a:latin typeface="Arial"/>
                <a:ea typeface="Arial"/>
              </a:rPr>
              <a:t>ELL integrates peripheral and descending synaptic input</a:t>
            </a:r>
            <a:endParaRPr lang="en-US"/>
          </a:p>
        </p:txBody>
      </p:sp>
      <p:sp>
        <p:nvSpPr>
          <p:cNvPr id="900" name="Shape 900"/>
          <p:cNvSpPr/>
          <p:nvPr/>
        </p:nvSpPr>
        <p:spPr>
          <a:xfrm>
            <a:off x="566000" y="1234440"/>
            <a:ext cx="5480000" cy="4915560"/>
          </a:xfrm>
          <a:prstGeom prst="rect">
            <a:avLst/>
          </a:prstGeom>
          <a:noFill/>
        </p:spPr>
        <p:txBody>
          <a:bodyPr anchor="t" wrap="square" tIns="0" bIns="0" lIns="0" rIns="0">
            <a:normAutofit/>
          </a:bodyPr>
          <a:lstStyle/>
          <a:p>
            <a:pPr algn="l">
              <a:lnSpc>
                <a:spcPct val="108000"/>
              </a:lnSpc>
              <a:spcAft>
                <a:spcPts val="1200"/>
              </a:spcAft>
              <a:buNone/>
            </a:pPr>
            <a:r>
              <a:rPr sz="1400" b="0" i="0">
                <a:solidFill>
                  <a:srgbClr val="1F262D"/>
                </a:solidFill>
                <a:latin typeface="Arial"/>
                <a:ea typeface="Arial"/>
              </a:rPr>
              <a:t xml:space="preserve">The </a:t>
            </a:r>
            <a:r>
              <a:rPr sz="1400" b="1" i="0">
                <a:solidFill>
                  <a:srgbClr val="1F262D"/>
                </a:solidFill>
                <a:latin typeface="Arial"/>
                <a:ea typeface="Arial"/>
              </a:rPr>
              <a:t>electrosensory lateral line lobe</a:t>
            </a:r>
            <a:r>
              <a:rPr sz="1400" b="0" i="0">
                <a:solidFill>
                  <a:srgbClr val="1F262D"/>
                </a:solidFill>
                <a:latin typeface="Arial"/>
                <a:ea typeface="Arial"/>
              </a:rPr>
              <a:t xml:space="preserve">, or ELL, is a hindbrain structure that receives input from skin electroreceptors. Grant and colleagues studied elephantnose ELL slices, recording cells intracellularly while stimulating deep afferent pathways separately from molecular-layer parallel fibers in the same preparation. Its input comes from electroreceptors spread across the skin. It lies in the hindbrain.</a:t>
            </a:r>
            <a:endParaRPr lang="en-US"/>
          </a:p>
          <a:p>
            <a:pPr algn="l">
              <a:lnSpc>
                <a:spcPct val="108000"/>
              </a:lnSpc>
              <a:spcAft>
                <a:spcPts val="1200"/>
              </a:spcAft>
              <a:buNone/>
            </a:pPr>
            <a:r>
              <a:rPr sz="1400" b="1" i="0">
                <a:solidFill>
                  <a:srgbClr val="1F262D"/>
                </a:solidFill>
                <a:latin typeface="Arial"/>
                <a:ea typeface="Arial"/>
              </a:rPr>
              <a:t>Parallel fibers</a:t>
            </a:r>
            <a:r>
              <a:rPr sz="1400" b="0" i="0">
                <a:solidFill>
                  <a:srgbClr val="1F262D"/>
                </a:solidFill>
                <a:latin typeface="Arial"/>
                <a:ea typeface="Arial"/>
              </a:rPr>
              <a:t xml:space="preserve"> are axons carrying central information across the apical dendrites of ELL neurons. The slice kept the organization needed to compare these inputs, and the investigators used brief 0.1 ms stimulation pulses together with receptor antagonists in each slice to test each pathway. The deep pathways and the molecular-layer fibers were stimulated separately.</a:t>
            </a:r>
            <a:endParaRPr lang="en-US"/>
          </a:p>
          <a:p>
            <a:pPr algn="l">
              <a:lnSpc>
                <a:spcPct val="108000"/>
              </a:lnSpc>
              <a:spcAft>
                <a:spcPts val="1200"/>
              </a:spcAft>
              <a:buNone/>
            </a:pPr>
            <a:r>
              <a:rPr sz="1400" b="0" i="0">
                <a:solidFill>
                  <a:srgbClr val="1F262D"/>
                </a:solidFill>
                <a:latin typeface="Arial"/>
                <a:ea typeface="Arial"/>
              </a:rPr>
              <a:t xml:space="preserve">Local synaptic properties are established in this controlled preparation. Anatomical identification links each recorded response to tissue layers and cell type, while pharmacology constrains which pathways and receptors contribute to that response. The preparation keeps the ELL connections intact enough to test them. Intracellular recording then shows the membrane response of each identified cell.</a:t>
            </a:r>
            <a:endParaRPr lang="en-US"/>
          </a:p>
        </p:txBody>
      </p:sp>
      <p:pic>
        <p:nvPicPr>
          <p:cNvPr id="322" name="Presenton Native Image 28" descr=""/>
          <p:cNvPicPr/>
          <p:nvPr/>
        </p:nvPicPr>
        <p:blipFill>
          <a:blip r:embed="rId2" cstate="none"/>
          <a:stretch>
            <a:fillRect/>
          </a:stretch>
        </p:blipFill>
        <p:spPr>
          <a:xfrm>
            <a:off x="6610350" y="1388851"/>
            <a:ext cx="5048250" cy="3333478"/>
          </a:xfrm>
          <a:prstGeom prst="rect">
            <a:avLst/>
          </a:prstGeom>
        </p:spPr>
      </p:pic>
      <p:sp>
        <p:nvSpPr>
          <p:cNvPr id="903" name="Shape 903"/>
          <p:cNvSpPr/>
          <p:nvPr/>
        </p:nvSpPr>
        <p:spPr>
          <a:xfrm>
            <a:off x="6610350" y="5170140"/>
            <a:ext cx="5067300" cy="371475"/>
          </a:xfrm>
          <a:prstGeom prst="rect">
            <a:avLst/>
          </a:prstGeom>
          <a:noFill/>
        </p:spPr>
        <p:txBody>
          <a:bodyPr anchor="t" wrap="square" tIns="0" bIns="0" lIns="0" rIns="0">
            <a:normAutofit/>
          </a:bodyPr>
          <a:lstStyle/>
          <a:p>
            <a:pPr algn="l">
              <a:lnSpc>
                <a:spcPts val="1463"/>
              </a:lnSpc>
              <a:buNone/>
            </a:pPr>
            <a:r>
              <a:rPr sz="1125" b="0" i="0">
                <a:solidFill>
                  <a:srgbClr val="1F262D"/>
                </a:solidFill>
                <a:latin typeface="Arial"/>
                <a:ea typeface="Arial"/>
              </a:rPr>
              <a:t>Grant et al. (1998), Fig. 1. Published slice anatomy and stimulation pathways.</a:t>
            </a:r>
            <a:endParaRPr lang="en-US"/>
          </a:p>
        </p:txBody>
      </p:sp>
      <p:sp>
        <p:nvSpPr>
          <p:cNvPr id="904" name="Shape 904"/>
          <p:cNvSpPr/>
          <p:nvPr/>
        </p:nvSpPr>
        <p:spPr>
          <a:xfrm>
            <a:off x="457200" y="6462713"/>
            <a:ext cx="1051917" cy="185738"/>
          </a:xfrm>
          <a:prstGeom prst="rect">
            <a:avLst/>
          </a:prstGeom>
          <a:noFill/>
        </p:spPr>
        <p:txBody>
          <a:bodyPr anchor="t" wrap="square" tIns="0" bIns="0" lIns="0" rIns="0">
            <a:normAutofit/>
          </a:bodyPr>
          <a:lstStyle/>
          <a:p>
            <a:pPr algn="l">
              <a:lnSpc>
                <a:spcPts val="1463"/>
              </a:lnSpc>
              <a:buNone/>
            </a:pPr>
            <a:r>
              <a:rPr sz="975" b="0" i="0">
                <a:solidFill>
                  <a:srgbClr val="58636E"/>
                </a:solidFill>
                <a:latin typeface="Arial"/>
                <a:ea typeface="Arial"/>
              </a:rPr>
              <a:t>Grant et al. (1998)</a:t>
            </a:r>
            <a:endParaRPr lang="en-US"/>
          </a:p>
        </p:txBody>
      </p:sp>
      <p:sp>
        <p:nvSpPr>
          <p:cNvPr id="905" name="Shape 905"/>
          <p:cNvSpPr/>
          <p:nvPr/>
        </p:nvSpPr>
        <p:spPr>
          <a:xfrm>
            <a:off x="11593116" y="6462713"/>
            <a:ext cx="160734" cy="185738"/>
          </a:xfrm>
          <a:prstGeom prst="rect">
            <a:avLst/>
          </a:prstGeom>
          <a:noFill/>
        </p:spPr>
        <p:txBody>
          <a:bodyPr anchor="t" wrap="square" tIns="0" bIns="0" lIns="0" rIns="0">
            <a:normAutofit/>
          </a:bodyPr>
          <a:lstStyle/>
          <a:p>
            <a:pPr algn="l">
              <a:lnSpc>
                <a:spcPts val="1463"/>
              </a:lnSpc>
              <a:buNone/>
            </a:pPr>
            <a:r>
              <a:rPr sz="975" b="0" i="0">
                <a:solidFill>
                  <a:srgbClr val="58636E"/>
                </a:solidFill>
                <a:latin typeface="Arial"/>
                <a:ea typeface="Arial"/>
              </a:rPr>
              <a:t>28</a:t>
            </a:r>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bg>
      <p:bgPr>
        <a:solidFill>
          <a:srgbClr val="FFFFFF"/>
        </a:solidFill>
      </p:bgPr>
    </p:bg>
    <p:spTree>
      <p:nvGrpSpPr>
        <p:cNvPr id="1" name=""/>
        <p:cNvGrpSpPr/>
        <p:nvPr/>
      </p:nvGrpSpPr>
      <p:grpSpPr>
        <a:xfrm>
          <a:off x="0" y="0"/>
          <a:ext cx="0" cy="0"/>
          <a:chOff x="0" y="0"/>
          <a:chExt cx="0" cy="0"/>
        </a:xfrm>
      </p:grpSpPr>
      <p:sp>
        <p:nvSpPr>
          <p:cNvPr id="906" name="Shape 906"/>
          <p:cNvSpPr/>
          <p:nvPr/>
        </p:nvSpPr>
        <p:spPr>
          <a:xfrm>
            <a:off x="457200" y="457200"/>
            <a:ext cx="11296650" cy="350490"/>
          </a:xfrm>
          <a:prstGeom prst="rect">
            <a:avLst/>
          </a:prstGeom>
          <a:noFill/>
        </p:spPr>
        <p:txBody>
          <a:bodyPr anchor="t" wrap="square" tIns="0" bIns="0" lIns="0" rIns="0">
            <a:normAutofit/>
          </a:bodyPr>
          <a:lstStyle/>
          <a:p>
            <a:pPr algn="l">
              <a:lnSpc>
                <a:spcPts val="2760"/>
              </a:lnSpc>
              <a:buNone/>
            </a:pPr>
            <a:r>
              <a:rPr sz="2400" b="1" i="0">
                <a:solidFill>
                  <a:srgbClr val="2B5577"/>
                </a:solidFill>
                <a:latin typeface="Arial"/>
                <a:ea typeface="Arial"/>
              </a:rPr>
              <a:t>Afferent volleys precede postsynaptic ELL responses</a:t>
            </a:r>
            <a:endParaRPr lang="en-US"/>
          </a:p>
        </p:txBody>
      </p:sp>
      <p:sp>
        <p:nvSpPr>
          <p:cNvPr id="907" name="Shape 907"/>
          <p:cNvSpPr/>
          <p:nvPr/>
        </p:nvSpPr>
        <p:spPr>
          <a:xfrm>
            <a:off x="566000" y="1234440"/>
            <a:ext cx="5480000" cy="4915560"/>
          </a:xfrm>
          <a:prstGeom prst="rect">
            <a:avLst/>
          </a:prstGeom>
          <a:noFill/>
        </p:spPr>
        <p:txBody>
          <a:bodyPr anchor="t" wrap="square" tIns="0" bIns="0" lIns="0" rIns="0">
            <a:normAutofit/>
          </a:bodyPr>
          <a:lstStyle/>
          <a:p>
            <a:pPr algn="l">
              <a:lnSpc>
                <a:spcPct val="108000"/>
              </a:lnSpc>
              <a:spcAft>
                <a:spcPts val="1200"/>
              </a:spcAft>
              <a:buNone/>
            </a:pPr>
            <a:r>
              <a:rPr sz="1400" b="0" i="0">
                <a:solidFill>
                  <a:srgbClr val="1F262D"/>
                </a:solidFill>
                <a:latin typeface="Arial"/>
                <a:ea typeface="Arial"/>
              </a:rPr>
              <a:t xml:space="preserve">A </a:t>
            </a:r>
            <a:r>
              <a:rPr sz="1400" b="1" i="0">
                <a:solidFill>
                  <a:srgbClr val="1F262D"/>
                </a:solidFill>
                <a:latin typeface="Arial"/>
                <a:ea typeface="Arial"/>
              </a:rPr>
              <a:t>field potential</a:t>
            </a:r>
            <a:r>
              <a:rPr sz="1400" b="0" i="0">
                <a:solidFill>
                  <a:srgbClr val="1F262D"/>
                </a:solidFill>
                <a:latin typeface="Arial"/>
                <a:ea typeface="Arial"/>
              </a:rPr>
              <a:t xml:space="preserve"> is an extracellular voltage generated by nearby neural activity. Grant and colleagues stimulated deep ELL layers and separated an early afferent volley from a later postsynaptic component by recording across tissue layers and applying channel blockers. Recording across layers located the early volley and the later component at different depths.</a:t>
            </a:r>
            <a:endParaRPr lang="en-US"/>
          </a:p>
          <a:p>
            <a:pPr algn="l">
              <a:lnSpc>
                <a:spcPct val="108000"/>
              </a:lnSpc>
              <a:spcAft>
                <a:spcPts val="1200"/>
              </a:spcAft>
              <a:buNone/>
            </a:pPr>
            <a:r>
              <a:rPr sz="1400" b="0" i="0">
                <a:solidFill>
                  <a:srgbClr val="1F262D"/>
                </a:solidFill>
                <a:latin typeface="Arial"/>
                <a:ea typeface="Arial"/>
              </a:rPr>
              <a:t xml:space="preserve">Cadmium, which blocks calcium-dependent synaptic transmission in this preparation, removed the postsynaptic component and left the afferent component. Tetrodotoxin removed the remaining component, consistent with action potentials in sodium-channel-dependent afferent fibers that carry the volley. Each blocker therefore isolated a single step in the response. Each blocker removed one step in that sequence.</a:t>
            </a:r>
            <a:endParaRPr lang="en-US"/>
          </a:p>
          <a:p>
            <a:pPr algn="l">
              <a:lnSpc>
                <a:spcPct val="108000"/>
              </a:lnSpc>
              <a:spcAft>
                <a:spcPts val="1200"/>
              </a:spcAft>
              <a:buNone/>
            </a:pPr>
            <a:r>
              <a:rPr sz="1400" b="0" i="0">
                <a:solidFill>
                  <a:srgbClr val="1F262D"/>
                </a:solidFill>
                <a:latin typeface="Arial"/>
                <a:ea typeface="Arial"/>
              </a:rPr>
              <a:t xml:space="preserve">The sequence distinguishes arriving spikes from the local response they evoke. Pharmacological dissociation gives stronger evidence than assigning a mechanism from response latency or polarity alone, because each blocker removes one identified component. The pharmacological split adds a second line of evidence. Pharmacological evidence therefore strengthens the assignment of each component to its source.</a:t>
            </a:r>
            <a:endParaRPr lang="en-US"/>
          </a:p>
        </p:txBody>
      </p:sp>
      <p:pic>
        <p:nvPicPr>
          <p:cNvPr id="323" name="Presenton Native Image 29" descr=""/>
          <p:cNvPicPr/>
          <p:nvPr/>
        </p:nvPicPr>
        <p:blipFill>
          <a:blip r:embed="rId3" cstate="none"/>
          <a:stretch>
            <a:fillRect/>
          </a:stretch>
        </p:blipFill>
        <p:spPr>
          <a:xfrm>
            <a:off x="7941197" y="1055340"/>
            <a:ext cx="2215107" cy="2466975"/>
          </a:xfrm>
          <a:prstGeom prst="rect">
            <a:avLst/>
          </a:prstGeom>
        </p:spPr>
      </p:pic>
      <p:sp>
        <p:nvSpPr>
          <p:cNvPr id="910" name="Shape 910"/>
          <p:cNvSpPr/>
          <p:nvPr/>
        </p:nvSpPr>
        <p:spPr>
          <a:xfrm>
            <a:off x="6362700" y="3598515"/>
            <a:ext cx="5391150" cy="333375"/>
          </a:xfrm>
          <a:prstGeom prst="rect">
            <a:avLst/>
          </a:prstGeom>
          <a:noFill/>
        </p:spPr>
        <p:txBody>
          <a:bodyPr anchor="t" wrap="square" tIns="0" bIns="0" lIns="0" rIns="0">
            <a:normAutofit/>
          </a:bodyPr>
          <a:lstStyle/>
          <a:p>
            <a:pPr algn="l">
              <a:lnSpc>
                <a:spcPts val="1313"/>
              </a:lnSpc>
              <a:buNone/>
            </a:pPr>
            <a:r>
              <a:rPr sz="1050" b="0" i="0">
                <a:solidFill>
                  <a:srgbClr val="1F262D"/>
                </a:solidFill>
                <a:latin typeface="Arial"/>
                <a:ea typeface="Arial"/>
              </a:rPr>
              <a:t>Grant et al. (1998), Fig. 2(A–D). Deep-layer field responses and pharmacological separation.</a:t>
            </a:r>
            <a:endParaRPr lang="en-US"/>
          </a:p>
        </p:txBody>
      </p:sp>
      <p:pic>
        <p:nvPicPr>
          <p:cNvPr id="324" name="Presenton Native Image 30" descr=""/>
          <p:cNvPicPr/>
          <p:nvPr/>
        </p:nvPicPr>
        <p:blipFill>
          <a:blip r:embed="rId2" cstate="none"/>
          <a:stretch>
            <a:fillRect/>
          </a:stretch>
        </p:blipFill>
        <p:spPr>
          <a:xfrm>
            <a:off x="7930832" y="4103340"/>
            <a:ext cx="2235836" cy="1476375"/>
          </a:xfrm>
          <a:prstGeom prst="rect">
            <a:avLst/>
          </a:prstGeom>
        </p:spPr>
      </p:pic>
      <p:sp>
        <p:nvSpPr>
          <p:cNvPr id="911" name="Shape 911"/>
          <p:cNvSpPr/>
          <p:nvPr/>
        </p:nvSpPr>
        <p:spPr>
          <a:xfrm>
            <a:off x="6362700" y="5655915"/>
            <a:ext cx="5391150" cy="166688"/>
          </a:xfrm>
          <a:prstGeom prst="rect">
            <a:avLst/>
          </a:prstGeom>
          <a:noFill/>
        </p:spPr>
        <p:txBody>
          <a:bodyPr anchor="t" wrap="square" tIns="0" bIns="0" lIns="0" rIns="0">
            <a:normAutofit/>
          </a:bodyPr>
          <a:lstStyle/>
          <a:p>
            <a:pPr algn="l">
              <a:lnSpc>
                <a:spcPts val="1313"/>
              </a:lnSpc>
              <a:buNone/>
            </a:pPr>
            <a:r>
              <a:rPr sz="1050" b="0" i="0">
                <a:solidFill>
                  <a:srgbClr val="1F262D"/>
                </a:solidFill>
                <a:latin typeface="Arial"/>
                <a:ea typeface="Arial"/>
              </a:rPr>
              <a:t>Grant et al. (1998), Fig. 1. ELL layers and input pathways in the slice.</a:t>
            </a:r>
            <a:endParaRPr lang="en-US"/>
          </a:p>
        </p:txBody>
      </p:sp>
      <p:sp>
        <p:nvSpPr>
          <p:cNvPr id="912" name="Shape 912"/>
          <p:cNvSpPr/>
          <p:nvPr/>
        </p:nvSpPr>
        <p:spPr>
          <a:xfrm>
            <a:off x="457200" y="6462713"/>
            <a:ext cx="1051917" cy="185738"/>
          </a:xfrm>
          <a:prstGeom prst="rect">
            <a:avLst/>
          </a:prstGeom>
          <a:noFill/>
        </p:spPr>
        <p:txBody>
          <a:bodyPr anchor="t" wrap="square" tIns="0" bIns="0" lIns="0" rIns="0">
            <a:normAutofit/>
          </a:bodyPr>
          <a:lstStyle/>
          <a:p>
            <a:pPr algn="l">
              <a:lnSpc>
                <a:spcPts val="1463"/>
              </a:lnSpc>
              <a:buNone/>
            </a:pPr>
            <a:r>
              <a:rPr sz="975" b="0" i="0">
                <a:solidFill>
                  <a:srgbClr val="58636E"/>
                </a:solidFill>
                <a:latin typeface="Arial"/>
                <a:ea typeface="Arial"/>
              </a:rPr>
              <a:t>Grant et al. (1998)</a:t>
            </a:r>
            <a:endParaRPr lang="en-US"/>
          </a:p>
        </p:txBody>
      </p:sp>
      <p:sp>
        <p:nvSpPr>
          <p:cNvPr id="913" name="Shape 913"/>
          <p:cNvSpPr/>
          <p:nvPr/>
        </p:nvSpPr>
        <p:spPr>
          <a:xfrm>
            <a:off x="11593116" y="6462713"/>
            <a:ext cx="160734" cy="185738"/>
          </a:xfrm>
          <a:prstGeom prst="rect">
            <a:avLst/>
          </a:prstGeom>
          <a:noFill/>
        </p:spPr>
        <p:txBody>
          <a:bodyPr anchor="t" wrap="square" tIns="0" bIns="0" lIns="0" rIns="0">
            <a:normAutofit/>
          </a:bodyPr>
          <a:lstStyle/>
          <a:p>
            <a:pPr algn="l">
              <a:lnSpc>
                <a:spcPts val="1463"/>
              </a:lnSpc>
              <a:buNone/>
            </a:pPr>
            <a:r>
              <a:rPr sz="975" b="0" i="0">
                <a:solidFill>
                  <a:srgbClr val="58636E"/>
                </a:solidFill>
                <a:latin typeface="Arial"/>
                <a:ea typeface="Arial"/>
              </a:rPr>
              <a:t>29</a:t>
            </a:r>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bg>
      <p:bgPr>
        <a:solidFill>
          <a:srgbClr val="FFFFFF"/>
        </a:solidFill>
      </p:bgPr>
    </p:bg>
    <p:spTree>
      <p:nvGrpSpPr>
        <p:cNvPr id="1" name=""/>
        <p:cNvGrpSpPr/>
        <p:nvPr/>
      </p:nvGrpSpPr>
      <p:grpSpPr>
        <a:xfrm>
          <a:off x="0" y="0"/>
          <a:ext cx="0" cy="0"/>
          <a:chOff x="0" y="0"/>
          <a:chExt cx="0" cy="0"/>
        </a:xfrm>
      </p:grpSpPr>
      <p:sp>
        <p:nvSpPr>
          <p:cNvPr id="914" name="Shape 914"/>
          <p:cNvSpPr/>
          <p:nvPr/>
        </p:nvSpPr>
        <p:spPr>
          <a:xfrm>
            <a:off x="457200" y="457200"/>
            <a:ext cx="11296650" cy="350490"/>
          </a:xfrm>
          <a:prstGeom prst="rect">
            <a:avLst/>
          </a:prstGeom>
          <a:noFill/>
        </p:spPr>
        <p:txBody>
          <a:bodyPr anchor="t" wrap="square" tIns="0" bIns="0" lIns="0" rIns="0">
            <a:normAutofit/>
          </a:bodyPr>
          <a:lstStyle/>
          <a:p>
            <a:pPr algn="l">
              <a:lnSpc>
                <a:spcPts val="2760"/>
              </a:lnSpc>
              <a:buNone/>
            </a:pPr>
            <a:r>
              <a:rPr sz="2400" b="1" i="0">
                <a:solidFill>
                  <a:srgbClr val="2B5577"/>
                </a:solidFill>
                <a:latin typeface="Arial"/>
                <a:ea typeface="Arial"/>
              </a:rPr>
              <a:t>Glutamate receptors mediate excitatory ELL responses</a:t>
            </a:r>
            <a:endParaRPr lang="en-US"/>
          </a:p>
        </p:txBody>
      </p:sp>
      <p:sp>
        <p:nvSpPr>
          <p:cNvPr id="915" name="Shape 915"/>
          <p:cNvSpPr/>
          <p:nvPr/>
        </p:nvSpPr>
        <p:spPr>
          <a:xfrm>
            <a:off x="566000" y="1234440"/>
            <a:ext cx="5480000" cy="4915560"/>
          </a:xfrm>
          <a:prstGeom prst="rect">
            <a:avLst/>
          </a:prstGeom>
          <a:noFill/>
        </p:spPr>
        <p:txBody>
          <a:bodyPr anchor="t" wrap="square" tIns="0" bIns="0" lIns="0" rIns="0">
            <a:normAutofit/>
          </a:bodyPr>
          <a:lstStyle/>
          <a:p>
            <a:pPr algn="l">
              <a:lnSpc>
                <a:spcPct val="108000"/>
              </a:lnSpc>
              <a:spcAft>
                <a:spcPts val="1200"/>
              </a:spcAft>
              <a:buNone/>
            </a:pPr>
            <a:r>
              <a:rPr sz="1400" b="0" i="0">
                <a:solidFill>
                  <a:srgbClr val="1F262D"/>
                </a:solidFill>
                <a:latin typeface="Arial"/>
                <a:ea typeface="Arial"/>
              </a:rPr>
              <a:t xml:space="preserve">An </a:t>
            </a:r>
            <a:r>
              <a:rPr sz="1400" b="1" i="0">
                <a:solidFill>
                  <a:srgbClr val="1F262D"/>
                </a:solidFill>
                <a:latin typeface="Arial"/>
                <a:ea typeface="Arial"/>
              </a:rPr>
              <a:t>excitatory postsynaptic potential</a:t>
            </a:r>
            <a:r>
              <a:rPr sz="1400" b="0" i="0">
                <a:solidFill>
                  <a:srgbClr val="1F262D"/>
                </a:solidFill>
                <a:latin typeface="Arial"/>
                <a:ea typeface="Arial"/>
              </a:rPr>
              <a:t xml:space="preserve">, or EPSP, is a synaptically evoked voltage change that favors neuronal firing. Grant and colleagues stimulated molecular-layer pathways and applied CNQX, an AMPA-receptor antagonist, and AP-5, an NMDA-receptor antagonist, to isolate the glutamate-mediated part of the response. Both antagonists were applied in the same slice preparation in separate tests.</a:t>
            </a:r>
            <a:endParaRPr lang="en-US"/>
          </a:p>
          <a:p>
            <a:pPr algn="l">
              <a:lnSpc>
                <a:spcPct val="108000"/>
              </a:lnSpc>
              <a:spcAft>
                <a:spcPts val="1200"/>
              </a:spcAft>
              <a:buNone/>
            </a:pPr>
            <a:r>
              <a:rPr sz="1400" b="0" i="0">
                <a:solidFill>
                  <a:srgbClr val="1F262D"/>
                </a:solidFill>
                <a:latin typeface="Arial"/>
                <a:ea typeface="Arial"/>
              </a:rPr>
              <a:t xml:space="preserve">Removing extracellular magnesium enhanced components linked to NMDA-receptor activation. CNQX and AP-5 each reduced distinct portions of the evoked response, and recovery after washout indicated a reversible pharmacological effect in the same tissue. The enhancement was tied to NMDA-receptor activation in the recorded tissue. Recovery after washout confirmed that the effect was reversible.</a:t>
            </a:r>
            <a:endParaRPr lang="en-US"/>
          </a:p>
          <a:p>
            <a:pPr algn="l">
              <a:lnSpc>
                <a:spcPct val="108000"/>
              </a:lnSpc>
              <a:spcAft>
                <a:spcPts val="1200"/>
              </a:spcAft>
              <a:buNone/>
            </a:pPr>
            <a:r>
              <a:rPr sz="1400" b="0" i="0">
                <a:solidFill>
                  <a:srgbClr val="1F262D"/>
                </a:solidFill>
                <a:latin typeface="Arial"/>
                <a:ea typeface="Arial"/>
              </a:rPr>
              <a:t xml:space="preserve">AMPA and NMDA receptors are glutamate-activated ion channels that link transmitter release to postsynaptic depolarization. Both receptor classes are therefore candidates for shaping excitation in this circuit, and their relative weights were not counted. Each antagonist targeted one class of glutamate receptor. The slice experiments identify which receptor types contribute.</a:t>
            </a:r>
            <a:endParaRPr lang="en-US"/>
          </a:p>
        </p:txBody>
      </p:sp>
      <p:pic>
        <p:nvPicPr>
          <p:cNvPr id="325" name="Presenton Native Image 31" descr=""/>
          <p:cNvPicPr/>
          <p:nvPr/>
        </p:nvPicPr>
        <p:blipFill>
          <a:blip r:embed="rId3" cstate="none"/>
          <a:stretch>
            <a:fillRect/>
          </a:stretch>
        </p:blipFill>
        <p:spPr>
          <a:xfrm>
            <a:off x="8209616" y="1055340"/>
            <a:ext cx="1678267" cy="2466975"/>
          </a:xfrm>
          <a:prstGeom prst="rect">
            <a:avLst/>
          </a:prstGeom>
        </p:spPr>
      </p:pic>
      <p:pic>
        <p:nvPicPr>
          <p:cNvPr id="326" name="Presenton Native Image 32" descr=""/>
          <p:cNvPicPr/>
          <p:nvPr/>
        </p:nvPicPr>
        <p:blipFill>
          <a:blip r:embed="rId2" cstate="none"/>
          <a:stretch>
            <a:fillRect/>
          </a:stretch>
        </p:blipFill>
        <p:spPr>
          <a:xfrm>
            <a:off x="7930832" y="4103340"/>
            <a:ext cx="2235836" cy="1476375"/>
          </a:xfrm>
          <a:prstGeom prst="rect">
            <a:avLst/>
          </a:prstGeom>
        </p:spPr>
      </p:pic>
      <p:sp>
        <p:nvSpPr>
          <p:cNvPr id="919" name="Shape 919"/>
          <p:cNvSpPr/>
          <p:nvPr/>
        </p:nvSpPr>
        <p:spPr>
          <a:xfrm>
            <a:off x="6362700" y="5655915"/>
            <a:ext cx="5391150" cy="166688"/>
          </a:xfrm>
          <a:prstGeom prst="rect">
            <a:avLst/>
          </a:prstGeom>
          <a:noFill/>
        </p:spPr>
        <p:txBody>
          <a:bodyPr anchor="t" wrap="square" tIns="0" bIns="0" lIns="0" rIns="0">
            <a:normAutofit/>
          </a:bodyPr>
          <a:lstStyle/>
          <a:p>
            <a:pPr algn="l">
              <a:lnSpc>
                <a:spcPts val="1313"/>
              </a:lnSpc>
              <a:buNone/>
            </a:pPr>
            <a:r>
              <a:rPr sz="1050" b="0" i="0">
                <a:solidFill>
                  <a:srgbClr val="1F262D"/>
                </a:solidFill>
                <a:latin typeface="Arial"/>
                <a:ea typeface="Arial"/>
              </a:rPr>
              <a:t>Grant et al. (1998), Fig. 1. Anatomical relationship of molecular layer and ELL cells.</a:t>
            </a:r>
            <a:endParaRPr lang="en-US"/>
          </a:p>
        </p:txBody>
      </p:sp>
      <p:sp>
        <p:nvSpPr>
          <p:cNvPr id="920" name="Shape 920"/>
          <p:cNvSpPr/>
          <p:nvPr/>
        </p:nvSpPr>
        <p:spPr>
          <a:xfrm>
            <a:off x="457200" y="6462713"/>
            <a:ext cx="1051917" cy="185738"/>
          </a:xfrm>
          <a:prstGeom prst="rect">
            <a:avLst/>
          </a:prstGeom>
          <a:noFill/>
        </p:spPr>
        <p:txBody>
          <a:bodyPr anchor="t" wrap="square" tIns="0" bIns="0" lIns="0" rIns="0">
            <a:normAutofit/>
          </a:bodyPr>
          <a:lstStyle/>
          <a:p>
            <a:pPr algn="l">
              <a:lnSpc>
                <a:spcPts val="1463"/>
              </a:lnSpc>
              <a:buNone/>
            </a:pPr>
            <a:r>
              <a:rPr sz="975" b="0" i="0">
                <a:solidFill>
                  <a:srgbClr val="58636E"/>
                </a:solidFill>
                <a:latin typeface="Arial"/>
                <a:ea typeface="Arial"/>
              </a:rPr>
              <a:t>Grant et al. (1998)</a:t>
            </a:r>
            <a:endParaRPr lang="en-US"/>
          </a:p>
        </p:txBody>
      </p:sp>
      <p:sp>
        <p:nvSpPr>
          <p:cNvPr id="921" name="Shape 921"/>
          <p:cNvSpPr/>
          <p:nvPr/>
        </p:nvSpPr>
        <p:spPr>
          <a:xfrm>
            <a:off x="11593116" y="6462713"/>
            <a:ext cx="160734" cy="185738"/>
          </a:xfrm>
          <a:prstGeom prst="rect">
            <a:avLst/>
          </a:prstGeom>
          <a:noFill/>
        </p:spPr>
        <p:txBody>
          <a:bodyPr anchor="t" wrap="square" tIns="0" bIns="0" lIns="0" rIns="0">
            <a:normAutofit/>
          </a:bodyPr>
          <a:lstStyle/>
          <a:p>
            <a:pPr algn="l">
              <a:lnSpc>
                <a:spcPts val="1463"/>
              </a:lnSpc>
              <a:buNone/>
            </a:pPr>
            <a:r>
              <a:rPr sz="975" b="0" i="0">
                <a:solidFill>
                  <a:srgbClr val="58636E"/>
                </a:solidFill>
                <a:latin typeface="Arial"/>
                <a:ea typeface="Arial"/>
              </a:rPr>
              <a:t>30</a:t>
            </a:r>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bg>
      <p:bgPr>
        <a:solidFill>
          <a:srgbClr val="FFFFFF"/>
        </a:solidFill>
      </p:bgPr>
    </p:bg>
    <p:spTree>
      <p:nvGrpSpPr>
        <p:cNvPr id="1" name=""/>
        <p:cNvGrpSpPr/>
        <p:nvPr/>
      </p:nvGrpSpPr>
      <p:grpSpPr>
        <a:xfrm>
          <a:off x="0" y="0"/>
          <a:ext cx="0" cy="0"/>
          <a:chOff x="0" y="0"/>
          <a:chExt cx="0" cy="0"/>
        </a:xfrm>
      </p:grpSpPr>
      <p:sp>
        <p:nvSpPr>
          <p:cNvPr id="922" name="Shape 922"/>
          <p:cNvSpPr/>
          <p:nvPr/>
        </p:nvSpPr>
        <p:spPr>
          <a:xfrm>
            <a:off x="457200" y="457200"/>
            <a:ext cx="11296650" cy="350490"/>
          </a:xfrm>
          <a:prstGeom prst="rect">
            <a:avLst/>
          </a:prstGeom>
          <a:noFill/>
        </p:spPr>
        <p:txBody>
          <a:bodyPr anchor="t" wrap="square" tIns="0" bIns="0" lIns="0" rIns="0">
            <a:normAutofit/>
          </a:bodyPr>
          <a:lstStyle/>
          <a:p>
            <a:pPr algn="l">
              <a:lnSpc>
                <a:spcPts val="2760"/>
              </a:lnSpc>
              <a:buNone/>
            </a:pPr>
            <a:r>
              <a:rPr sz="2400" b="1" i="0">
                <a:solidFill>
                  <a:srgbClr val="2B5577"/>
                </a:solidFill>
                <a:latin typeface="Arial"/>
                <a:ea typeface="Arial"/>
              </a:rPr>
              <a:t>GABA and glycine contribute to deep-input inhibition</a:t>
            </a:r>
            <a:endParaRPr lang="en-US"/>
          </a:p>
        </p:txBody>
      </p:sp>
      <p:sp>
        <p:nvSpPr>
          <p:cNvPr id="923" name="Shape 923"/>
          <p:cNvSpPr/>
          <p:nvPr/>
        </p:nvSpPr>
        <p:spPr>
          <a:xfrm>
            <a:off x="566000" y="1234440"/>
            <a:ext cx="5480000" cy="4915560"/>
          </a:xfrm>
          <a:prstGeom prst="rect">
            <a:avLst/>
          </a:prstGeom>
          <a:noFill/>
        </p:spPr>
        <p:txBody>
          <a:bodyPr anchor="t" wrap="square" tIns="0" bIns="0" lIns="0" rIns="0">
            <a:normAutofit/>
          </a:bodyPr>
          <a:lstStyle/>
          <a:p>
            <a:pPr algn="l">
              <a:lnSpc>
                <a:spcPct val="108000"/>
              </a:lnSpc>
              <a:spcAft>
                <a:spcPts val="1200"/>
              </a:spcAft>
              <a:buNone/>
            </a:pPr>
            <a:r>
              <a:rPr sz="1400" b="0" i="0">
                <a:solidFill>
                  <a:srgbClr val="1F262D"/>
                </a:solidFill>
                <a:latin typeface="Arial"/>
                <a:ea typeface="Arial"/>
              </a:rPr>
              <a:t xml:space="preserve">An </a:t>
            </a:r>
            <a:r>
              <a:rPr sz="1400" b="1" i="0">
                <a:solidFill>
                  <a:srgbClr val="1F262D"/>
                </a:solidFill>
                <a:latin typeface="Arial"/>
                <a:ea typeface="Arial"/>
              </a:rPr>
              <a:t>inhibitory postsynaptic potential</a:t>
            </a:r>
            <a:r>
              <a:rPr sz="1400" b="0" i="0">
                <a:solidFill>
                  <a:srgbClr val="1F262D"/>
                </a:solidFill>
                <a:latin typeface="Arial"/>
                <a:ea typeface="Arial"/>
              </a:rPr>
              <a:t xml:space="preserve">, or IPSP, is a synaptic response that reduces excitability under the recorded conditions. Grant and colleagues stimulated deep ELL pathways while recording identified output cells in a slice that kept their connections intact. They used bicuculline and strychnine, two carefully chosen antagonists, to test inhibitory receptor contributions in those cells.</a:t>
            </a:r>
            <a:endParaRPr lang="en-US"/>
          </a:p>
          <a:p>
            <a:pPr algn="l">
              <a:lnSpc>
                <a:spcPct val="108000"/>
              </a:lnSpc>
              <a:spcAft>
                <a:spcPts val="1200"/>
              </a:spcAft>
              <a:buNone/>
            </a:pPr>
            <a:r>
              <a:rPr sz="1400" b="0" i="0">
                <a:solidFill>
                  <a:srgbClr val="1F262D"/>
                </a:solidFill>
                <a:latin typeface="Arial"/>
                <a:ea typeface="Arial"/>
              </a:rPr>
              <a:t xml:space="preserve">Bicuculline blocks GABA-A receptors, while strychnine blocks glycine receptors. Sequential blockade reduced or abolished the inhibitory responses, which suggests that deep-input inhibition can involve both transmitter systems rather than one uniform mechanism. antagonist was tested for its own receptor on the same cells. The two responses were recorded in the same cells.</a:t>
            </a:r>
            <a:endParaRPr lang="en-US"/>
          </a:p>
          <a:p>
            <a:pPr algn="l">
              <a:lnSpc>
                <a:spcPct val="108000"/>
              </a:lnSpc>
              <a:spcAft>
                <a:spcPts val="1200"/>
              </a:spcAft>
              <a:buNone/>
            </a:pPr>
            <a:r>
              <a:rPr sz="1400" b="0" i="0">
                <a:solidFill>
                  <a:srgbClr val="1F262D"/>
                </a:solidFill>
                <a:latin typeface="Arial"/>
                <a:ea typeface="Arial"/>
              </a:rPr>
              <a:t xml:space="preserve">These ligand-gated receptors provide ionic conductances that change membrane voltage when synaptic input arrives. GABA is gamma-aminobutyric acid, an inhibitory transmitter in the studied circuit. Glycine supplies a distinct inhibitory receptor pathway that the second antagonist helps identify. Each receptor type was identified pharmacologically in those cells. Its role was tested within the same slice.</a:t>
            </a:r>
            <a:endParaRPr lang="en-US"/>
          </a:p>
        </p:txBody>
      </p:sp>
      <p:pic>
        <p:nvPicPr>
          <p:cNvPr id="327" name="Presenton Native Image 33" descr=""/>
          <p:cNvPicPr/>
          <p:nvPr/>
        </p:nvPicPr>
        <p:blipFill>
          <a:blip r:embed="rId3" cstate="none"/>
          <a:stretch>
            <a:fillRect/>
          </a:stretch>
        </p:blipFill>
        <p:spPr>
          <a:xfrm>
            <a:off x="7755532" y="1055340"/>
            <a:ext cx="2586437" cy="2466975"/>
          </a:xfrm>
          <a:prstGeom prst="rect">
            <a:avLst/>
          </a:prstGeom>
        </p:spPr>
      </p:pic>
      <p:sp>
        <p:nvSpPr>
          <p:cNvPr id="926" name="Shape 926"/>
          <p:cNvSpPr/>
          <p:nvPr/>
        </p:nvSpPr>
        <p:spPr>
          <a:xfrm>
            <a:off x="6362700" y="3598515"/>
            <a:ext cx="5391150" cy="333375"/>
          </a:xfrm>
          <a:prstGeom prst="rect">
            <a:avLst/>
          </a:prstGeom>
          <a:noFill/>
        </p:spPr>
        <p:txBody>
          <a:bodyPr anchor="t" wrap="square" tIns="0" bIns="0" lIns="0" rIns="0">
            <a:normAutofit/>
          </a:bodyPr>
          <a:lstStyle/>
          <a:p>
            <a:pPr algn="l">
              <a:lnSpc>
                <a:spcPts val="1313"/>
              </a:lnSpc>
              <a:buNone/>
            </a:pPr>
            <a:r>
              <a:rPr sz="1050" b="0" i="0">
                <a:solidFill>
                  <a:srgbClr val="1F262D"/>
                </a:solidFill>
                <a:latin typeface="Arial"/>
                <a:ea typeface="Arial"/>
              </a:rPr>
              <a:t>Grant et al. (1998), Fig. 13(A–C). Inhibitory and excitatory responses in identified efferent cells.</a:t>
            </a:r>
            <a:endParaRPr lang="en-US"/>
          </a:p>
        </p:txBody>
      </p:sp>
      <p:pic>
        <p:nvPicPr>
          <p:cNvPr id="328" name="Presenton Native Image 34" descr=""/>
          <p:cNvPicPr/>
          <p:nvPr/>
        </p:nvPicPr>
        <p:blipFill>
          <a:blip r:embed="rId2" cstate="none"/>
          <a:stretch>
            <a:fillRect/>
          </a:stretch>
        </p:blipFill>
        <p:spPr>
          <a:xfrm>
            <a:off x="7930832" y="4103340"/>
            <a:ext cx="2235836" cy="1476375"/>
          </a:xfrm>
          <a:prstGeom prst="rect">
            <a:avLst/>
          </a:prstGeom>
        </p:spPr>
      </p:pic>
      <p:sp>
        <p:nvSpPr>
          <p:cNvPr id="927" name="Shape 927"/>
          <p:cNvSpPr/>
          <p:nvPr/>
        </p:nvSpPr>
        <p:spPr>
          <a:xfrm>
            <a:off x="6362700" y="5655915"/>
            <a:ext cx="5391150" cy="166688"/>
          </a:xfrm>
          <a:prstGeom prst="rect">
            <a:avLst/>
          </a:prstGeom>
          <a:noFill/>
        </p:spPr>
        <p:txBody>
          <a:bodyPr anchor="t" wrap="square" tIns="0" bIns="0" lIns="0" rIns="0">
            <a:normAutofit/>
          </a:bodyPr>
          <a:lstStyle/>
          <a:p>
            <a:pPr algn="l">
              <a:lnSpc>
                <a:spcPts val="1313"/>
              </a:lnSpc>
              <a:buNone/>
            </a:pPr>
            <a:r>
              <a:rPr sz="1050" b="0" i="0">
                <a:solidFill>
                  <a:srgbClr val="1F262D"/>
                </a:solidFill>
                <a:latin typeface="Arial"/>
                <a:ea typeface="Arial"/>
              </a:rPr>
              <a:t>Grant et al. (1998), Fig. 1. Locations of ELL input layers and efferent neurons.</a:t>
            </a:r>
            <a:endParaRPr lang="en-US"/>
          </a:p>
        </p:txBody>
      </p:sp>
      <p:sp>
        <p:nvSpPr>
          <p:cNvPr id="928" name="Shape 928"/>
          <p:cNvSpPr/>
          <p:nvPr/>
        </p:nvSpPr>
        <p:spPr>
          <a:xfrm>
            <a:off x="457200" y="6462713"/>
            <a:ext cx="1051917" cy="185738"/>
          </a:xfrm>
          <a:prstGeom prst="rect">
            <a:avLst/>
          </a:prstGeom>
          <a:noFill/>
        </p:spPr>
        <p:txBody>
          <a:bodyPr anchor="t" wrap="square" tIns="0" bIns="0" lIns="0" rIns="0">
            <a:normAutofit/>
          </a:bodyPr>
          <a:lstStyle/>
          <a:p>
            <a:pPr algn="l">
              <a:lnSpc>
                <a:spcPts val="1463"/>
              </a:lnSpc>
              <a:buNone/>
            </a:pPr>
            <a:r>
              <a:rPr sz="975" b="0" i="0">
                <a:solidFill>
                  <a:srgbClr val="58636E"/>
                </a:solidFill>
                <a:latin typeface="Arial"/>
                <a:ea typeface="Arial"/>
              </a:rPr>
              <a:t>Grant et al. (1998)</a:t>
            </a:r>
            <a:endParaRPr lang="en-US"/>
          </a:p>
        </p:txBody>
      </p:sp>
      <p:sp>
        <p:nvSpPr>
          <p:cNvPr id="929" name="Shape 929"/>
          <p:cNvSpPr/>
          <p:nvPr/>
        </p:nvSpPr>
        <p:spPr>
          <a:xfrm>
            <a:off x="11593116" y="6462713"/>
            <a:ext cx="160734" cy="185738"/>
          </a:xfrm>
          <a:prstGeom prst="rect">
            <a:avLst/>
          </a:prstGeom>
          <a:noFill/>
        </p:spPr>
        <p:txBody>
          <a:bodyPr anchor="t" wrap="square" tIns="0" bIns="0" lIns="0" rIns="0">
            <a:normAutofit/>
          </a:bodyPr>
          <a:lstStyle/>
          <a:p>
            <a:pPr algn="l">
              <a:lnSpc>
                <a:spcPts val="1463"/>
              </a:lnSpc>
              <a:buNone/>
            </a:pPr>
            <a:r>
              <a:rPr sz="975" b="0" i="0">
                <a:solidFill>
                  <a:srgbClr val="58636E"/>
                </a:solidFill>
                <a:latin typeface="Arial"/>
                <a:ea typeface="Arial"/>
              </a:rPr>
              <a:t>31</a:t>
            </a:r>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bg>
      <p:bgPr>
        <a:solidFill>
          <a:srgbClr val="FFFFFF"/>
        </a:solidFill>
      </p:bgPr>
    </p:bg>
    <p:spTree>
      <p:nvGrpSpPr>
        <p:cNvPr id="1" name=""/>
        <p:cNvGrpSpPr/>
        <p:nvPr/>
      </p:nvGrpSpPr>
      <p:grpSpPr>
        <a:xfrm>
          <a:off x="0" y="0"/>
          <a:ext cx="0" cy="0"/>
          <a:chOff x="0" y="0"/>
          <a:chExt cx="0" cy="0"/>
        </a:xfrm>
      </p:grpSpPr>
      <p:sp>
        <p:nvSpPr>
          <p:cNvPr id="930" name="Shape 930"/>
          <p:cNvSpPr/>
          <p:nvPr/>
        </p:nvSpPr>
        <p:spPr>
          <a:xfrm>
            <a:off x="457200" y="457200"/>
            <a:ext cx="11296650" cy="350490"/>
          </a:xfrm>
          <a:prstGeom prst="rect">
            <a:avLst/>
          </a:prstGeom>
          <a:noFill/>
        </p:spPr>
        <p:txBody>
          <a:bodyPr anchor="t" wrap="square" tIns="0" bIns="0" lIns="0" rIns="0">
            <a:normAutofit/>
          </a:bodyPr>
          <a:lstStyle/>
          <a:p>
            <a:pPr algn="l">
              <a:lnSpc>
                <a:spcPts val="2760"/>
              </a:lnSpc>
              <a:buNone/>
            </a:pPr>
            <a:r>
              <a:rPr sz="2400" b="1" i="0">
                <a:solidFill>
                  <a:srgbClr val="2B5577"/>
                </a:solidFill>
                <a:latin typeface="Arial"/>
                <a:ea typeface="Arial"/>
              </a:rPr>
              <a:t>Parallel fibers evoke excitation followed by inhibition</a:t>
            </a:r>
            <a:endParaRPr lang="en-US"/>
          </a:p>
        </p:txBody>
      </p:sp>
      <p:sp>
        <p:nvSpPr>
          <p:cNvPr id="931" name="Shape 931"/>
          <p:cNvSpPr/>
          <p:nvPr/>
        </p:nvSpPr>
        <p:spPr>
          <a:xfrm>
            <a:off x="566000" y="1234440"/>
            <a:ext cx="5480000" cy="4915560"/>
          </a:xfrm>
          <a:prstGeom prst="rect">
            <a:avLst/>
          </a:prstGeom>
          <a:noFill/>
        </p:spPr>
        <p:txBody>
          <a:bodyPr anchor="t" wrap="square" tIns="0" bIns="0" lIns="0" rIns="0">
            <a:normAutofit/>
          </a:bodyPr>
          <a:lstStyle/>
          <a:p>
            <a:pPr algn="l">
              <a:lnSpc>
                <a:spcPct val="108000"/>
              </a:lnSpc>
              <a:spcAft>
                <a:spcPts val="1200"/>
              </a:spcAft>
              <a:buNone/>
            </a:pPr>
            <a:r>
              <a:rPr sz="1400" b="0" i="0">
                <a:solidFill>
                  <a:srgbClr val="1F262D"/>
                </a:solidFill>
                <a:latin typeface="Arial"/>
                <a:ea typeface="Arial"/>
              </a:rPr>
              <a:t xml:space="preserve">A </a:t>
            </a:r>
            <a:r>
              <a:rPr sz="1400" b="1" i="0">
                <a:solidFill>
                  <a:srgbClr val="1F262D"/>
                </a:solidFill>
                <a:latin typeface="Arial"/>
                <a:ea typeface="Arial"/>
              </a:rPr>
              <a:t>medium ganglion cell</a:t>
            </a:r>
            <a:r>
              <a:rPr sz="1400" b="0" i="0">
                <a:solidFill>
                  <a:srgbClr val="1F262D"/>
                </a:solidFill>
                <a:latin typeface="Arial"/>
                <a:ea typeface="Arial"/>
              </a:rPr>
              <a:t xml:space="preserve"> is a Purkinje-like ELL interneuron whose apical dendrites receive parallel-fiber input. Grant and colleagues stimulated those fibers, recorded a sequence of excitation followed by inhibition, and used antagonists to separate its components. Parallel fibers carry central information across those dendrites in the ELL. The sequence was measured within a single cell.</a:t>
            </a:r>
            <a:endParaRPr lang="en-US"/>
          </a:p>
          <a:p>
            <a:pPr algn="l">
              <a:lnSpc>
                <a:spcPct val="108000"/>
              </a:lnSpc>
              <a:spcAft>
                <a:spcPts val="1200"/>
              </a:spcAft>
              <a:buNone/>
            </a:pPr>
            <a:r>
              <a:rPr sz="1400" b="0" i="0">
                <a:solidFill>
                  <a:srgbClr val="1F262D"/>
                </a:solidFill>
                <a:latin typeface="Arial"/>
                <a:ea typeface="Arial"/>
              </a:rPr>
              <a:t xml:space="preserve">Bicuculline removed the inhibitory portion, while CNQX and AP-5 reduced glutamate-mediated excitation. The parallel-fiber-evoked inhibition was attributed to GABA-A receptors, without the combined glycine contribution seen for deep inputs. Excitation was reduced by CNQX and AP-5, which block the glutamate receptors that carry it. The inhibitory portion was removed by bicuculline alone.</a:t>
            </a:r>
            <a:endParaRPr lang="en-US"/>
          </a:p>
          <a:p>
            <a:pPr algn="l">
              <a:lnSpc>
                <a:spcPct val="108000"/>
              </a:lnSpc>
              <a:spcAft>
                <a:spcPts val="1200"/>
              </a:spcAft>
              <a:buNone/>
            </a:pPr>
            <a:r>
              <a:rPr sz="1400" b="0" i="0">
                <a:solidFill>
                  <a:srgbClr val="1F262D"/>
                </a:solidFill>
                <a:latin typeface="Arial"/>
                <a:ea typeface="Arial"/>
              </a:rPr>
              <a:t xml:space="preserve">The ordering of excitation and inhibition shapes the interval in which synaptic drive can produce firing. This measured sequence supports pathway-specific integration within the cell. Interneurons influence local circuit activity rather than forming the principal long-range output of the ELL. Their dendritic organization resembles, but is not identical to, the Purkinje cell.</a:t>
            </a:r>
            <a:endParaRPr lang="en-US"/>
          </a:p>
        </p:txBody>
      </p:sp>
      <p:pic>
        <p:nvPicPr>
          <p:cNvPr id="329" name="Presenton Native Image 35" descr=""/>
          <p:cNvPicPr/>
          <p:nvPr/>
        </p:nvPicPr>
        <p:blipFill>
          <a:blip r:embed="rId2" cstate="none"/>
          <a:stretch>
            <a:fillRect/>
          </a:stretch>
        </p:blipFill>
        <p:spPr>
          <a:xfrm>
            <a:off x="8358373" y="1055340"/>
            <a:ext cx="1380754" cy="2466975"/>
          </a:xfrm>
          <a:prstGeom prst="rect">
            <a:avLst/>
          </a:prstGeom>
        </p:spPr>
      </p:pic>
      <p:pic>
        <p:nvPicPr>
          <p:cNvPr id="330" name="Presenton Native Image 36" descr=""/>
          <p:cNvPicPr/>
          <p:nvPr/>
        </p:nvPicPr>
        <p:blipFill>
          <a:blip r:embed="rId3" cstate="none"/>
          <a:stretch>
            <a:fillRect/>
          </a:stretch>
        </p:blipFill>
        <p:spPr>
          <a:xfrm>
            <a:off x="8533626" y="4103340"/>
            <a:ext cx="1030249" cy="1476375"/>
          </a:xfrm>
          <a:prstGeom prst="rect">
            <a:avLst/>
          </a:prstGeom>
        </p:spPr>
      </p:pic>
      <p:sp>
        <p:nvSpPr>
          <p:cNvPr id="935" name="Shape 935"/>
          <p:cNvSpPr/>
          <p:nvPr/>
        </p:nvSpPr>
        <p:spPr>
          <a:xfrm>
            <a:off x="6362700" y="5655915"/>
            <a:ext cx="5391150" cy="166688"/>
          </a:xfrm>
          <a:prstGeom prst="rect">
            <a:avLst/>
          </a:prstGeom>
          <a:noFill/>
        </p:spPr>
        <p:txBody>
          <a:bodyPr anchor="t" wrap="square" tIns="0" bIns="0" lIns="0" rIns="0">
            <a:normAutofit/>
          </a:bodyPr>
          <a:lstStyle/>
          <a:p>
            <a:pPr algn="l">
              <a:lnSpc>
                <a:spcPts val="1313"/>
              </a:lnSpc>
              <a:buNone/>
            </a:pPr>
            <a:r>
              <a:rPr sz="1050" b="0" i="0">
                <a:solidFill>
                  <a:srgbClr val="1F262D"/>
                </a:solidFill>
                <a:latin typeface="Arial"/>
                <a:ea typeface="Arial"/>
              </a:rPr>
              <a:t>Sawtell et al. (2007), Fig. 1(A). Published anatomy of the medium ganglion cell circuit.</a:t>
            </a:r>
            <a:endParaRPr lang="en-US"/>
          </a:p>
        </p:txBody>
      </p:sp>
      <p:sp>
        <p:nvSpPr>
          <p:cNvPr id="936" name="Shape 936"/>
          <p:cNvSpPr/>
          <p:nvPr/>
        </p:nvSpPr>
        <p:spPr>
          <a:xfrm>
            <a:off x="457200" y="6462713"/>
            <a:ext cx="1051917" cy="185738"/>
          </a:xfrm>
          <a:prstGeom prst="rect">
            <a:avLst/>
          </a:prstGeom>
          <a:noFill/>
        </p:spPr>
        <p:txBody>
          <a:bodyPr anchor="t" wrap="square" tIns="0" bIns="0" lIns="0" rIns="0">
            <a:normAutofit/>
          </a:bodyPr>
          <a:lstStyle/>
          <a:p>
            <a:pPr algn="l">
              <a:lnSpc>
                <a:spcPts val="1463"/>
              </a:lnSpc>
              <a:buNone/>
            </a:pPr>
            <a:r>
              <a:rPr sz="975" b="0" i="0">
                <a:solidFill>
                  <a:srgbClr val="58636E"/>
                </a:solidFill>
                <a:latin typeface="Arial"/>
                <a:ea typeface="Arial"/>
              </a:rPr>
              <a:t>Grant et al. (1998)</a:t>
            </a:r>
            <a:endParaRPr lang="en-US"/>
          </a:p>
        </p:txBody>
      </p:sp>
      <p:sp>
        <p:nvSpPr>
          <p:cNvPr id="937" name="Shape 937"/>
          <p:cNvSpPr/>
          <p:nvPr/>
        </p:nvSpPr>
        <p:spPr>
          <a:xfrm>
            <a:off x="11593116" y="6462713"/>
            <a:ext cx="160734" cy="185738"/>
          </a:xfrm>
          <a:prstGeom prst="rect">
            <a:avLst/>
          </a:prstGeom>
          <a:noFill/>
        </p:spPr>
        <p:txBody>
          <a:bodyPr anchor="t" wrap="square" tIns="0" bIns="0" lIns="0" rIns="0">
            <a:normAutofit/>
          </a:bodyPr>
          <a:lstStyle/>
          <a:p>
            <a:pPr algn="l">
              <a:lnSpc>
                <a:spcPts val="1463"/>
              </a:lnSpc>
              <a:buNone/>
            </a:pPr>
            <a:r>
              <a:rPr sz="975" b="0" i="0">
                <a:solidFill>
                  <a:srgbClr val="58636E"/>
                </a:solidFill>
                <a:latin typeface="Arial"/>
                <a:ea typeface="Arial"/>
              </a:rPr>
              <a:t>32</a:t>
            </a:r>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bg>
      <p:bgPr>
        <a:solidFill>
          <a:srgbClr val="FFFFFF"/>
        </a:solidFill>
      </p:bgPr>
    </p:bg>
    <p:spTree>
      <p:nvGrpSpPr>
        <p:cNvPr id="1" name=""/>
        <p:cNvGrpSpPr/>
        <p:nvPr/>
      </p:nvGrpSpPr>
      <p:grpSpPr>
        <a:xfrm>
          <a:off x="0" y="0"/>
          <a:ext cx="0" cy="0"/>
          <a:chOff x="0" y="0"/>
          <a:chExt cx="0" cy="0"/>
        </a:xfrm>
      </p:grpSpPr>
      <p:sp>
        <p:nvSpPr>
          <p:cNvPr id="938" name="Shape 938"/>
          <p:cNvSpPr/>
          <p:nvPr/>
        </p:nvSpPr>
        <p:spPr>
          <a:xfrm>
            <a:off x="457200" y="457200"/>
            <a:ext cx="11296650" cy="350490"/>
          </a:xfrm>
          <a:prstGeom prst="rect">
            <a:avLst/>
          </a:prstGeom>
          <a:noFill/>
        </p:spPr>
        <p:txBody>
          <a:bodyPr anchor="t" wrap="square" tIns="0" bIns="0" lIns="0" rIns="0">
            <a:normAutofit/>
          </a:bodyPr>
          <a:lstStyle/>
          <a:p>
            <a:pPr algn="l">
              <a:lnSpc>
                <a:spcPts val="2760"/>
              </a:lnSpc>
              <a:buNone/>
            </a:pPr>
            <a:r>
              <a:rPr sz="2400" b="1" i="0">
                <a:solidFill>
                  <a:srgbClr val="2B5577"/>
                </a:solidFill>
                <a:latin typeface="Arial"/>
                <a:ea typeface="Arial"/>
              </a:rPr>
              <a:t>Paired pulses reveal history-dependent synaptic strength</a:t>
            </a:r>
            <a:endParaRPr lang="en-US"/>
          </a:p>
        </p:txBody>
      </p:sp>
      <p:sp>
        <p:nvSpPr>
          <p:cNvPr id="939" name="Shape 939"/>
          <p:cNvSpPr/>
          <p:nvPr/>
        </p:nvSpPr>
        <p:spPr>
          <a:xfrm>
            <a:off x="566000" y="1234440"/>
            <a:ext cx="5480000" cy="4915560"/>
          </a:xfrm>
          <a:prstGeom prst="rect">
            <a:avLst/>
          </a:prstGeom>
          <a:noFill/>
        </p:spPr>
        <p:txBody>
          <a:bodyPr anchor="t" wrap="square" tIns="0" bIns="0" lIns="0" rIns="0">
            <a:normAutofit/>
          </a:bodyPr>
          <a:lstStyle/>
          <a:p>
            <a:pPr algn="l">
              <a:lnSpc>
                <a:spcPct val="108000"/>
              </a:lnSpc>
              <a:spcAft>
                <a:spcPts val="1200"/>
              </a:spcAft>
              <a:buNone/>
            </a:pPr>
            <a:r>
              <a:rPr sz="1400" b="1" i="0">
                <a:solidFill>
                  <a:srgbClr val="1F262D"/>
                </a:solidFill>
                <a:latin typeface="Arial"/>
                <a:ea typeface="Arial"/>
              </a:rPr>
              <a:t>Paired-pulse facilitation</a:t>
            </a:r>
            <a:r>
              <a:rPr sz="1400" b="0" i="0">
                <a:solidFill>
                  <a:srgbClr val="1F262D"/>
                </a:solidFill>
                <a:latin typeface="Arial"/>
                <a:ea typeface="Arial"/>
              </a:rPr>
              <a:t xml:space="preserve"> is an increase in the response to a second closely spaced stimulus. Grant and colleagues stimulated parallel fibers twice and recorded larger second EPSPs in medium ganglion cells. The second EPSP was measured against the first in each pair of pulses. Each pulse pair was delivered to the same parallel-fiber population.</a:t>
            </a:r>
            <a:endParaRPr lang="en-US"/>
          </a:p>
          <a:p>
            <a:pPr algn="l">
              <a:lnSpc>
                <a:spcPct val="108000"/>
              </a:lnSpc>
              <a:spcAft>
                <a:spcPts val="1200"/>
              </a:spcAft>
              <a:buNone/>
            </a:pPr>
            <a:r>
              <a:rPr sz="1400" b="0" i="0">
                <a:solidFill>
                  <a:srgbClr val="1F262D"/>
                </a:solidFill>
                <a:latin typeface="Arial"/>
                <a:ea typeface="Arial"/>
              </a:rPr>
              <a:t xml:space="preserve">Facilitation depended on the spacing of the two pulses. Intervals spanned tens to hundreds of milliseconds, and independent stimulation sites distinguished repeated recruitment of the same fibers from activation of another population. Facilitation therefore depended on which stimulation site was used, not only on the interval. The independent sites gave two separate measurements.</a:t>
            </a:r>
            <a:endParaRPr lang="en-US"/>
          </a:p>
          <a:p>
            <a:pPr algn="l">
              <a:lnSpc>
                <a:spcPct val="108000"/>
              </a:lnSpc>
              <a:spcAft>
                <a:spcPts val="1200"/>
              </a:spcAft>
              <a:buNone/>
            </a:pPr>
            <a:r>
              <a:rPr sz="1400" b="0" i="0">
                <a:solidFill>
                  <a:srgbClr val="1F262D"/>
                </a:solidFill>
                <a:latin typeface="Arial"/>
                <a:ea typeface="Arial"/>
              </a:rPr>
              <a:t xml:space="preserve">Strong facilitation occurred at short intervals, including about 30 ms. Synaptic efficacy therefore depends on recent activity over a short timescale, shaping temporal integration before any durable change in synaptic strength. Short-term facilitation changes how a recent input affects the next response. Longer-lasting plasticity is driven by repeated spike-timing pairings, a separate process.</a:t>
            </a:r>
            <a:endParaRPr lang="en-US"/>
          </a:p>
        </p:txBody>
      </p:sp>
      <p:pic>
        <p:nvPicPr>
          <p:cNvPr id="331" name="Presenton Native Image 37" descr=""/>
          <p:cNvPicPr/>
          <p:nvPr/>
        </p:nvPicPr>
        <p:blipFill>
          <a:blip r:embed="rId3" cstate="none"/>
          <a:stretch>
            <a:fillRect/>
          </a:stretch>
        </p:blipFill>
        <p:spPr>
          <a:xfrm>
            <a:off x="6817747" y="1055340"/>
            <a:ext cx="4462007" cy="2466975"/>
          </a:xfrm>
          <a:prstGeom prst="rect">
            <a:avLst/>
          </a:prstGeom>
        </p:spPr>
      </p:pic>
      <p:sp>
        <p:nvSpPr>
          <p:cNvPr id="942" name="Shape 942"/>
          <p:cNvSpPr/>
          <p:nvPr/>
        </p:nvSpPr>
        <p:spPr>
          <a:xfrm>
            <a:off x="6362700" y="3598515"/>
            <a:ext cx="5391150" cy="333375"/>
          </a:xfrm>
          <a:prstGeom prst="rect">
            <a:avLst/>
          </a:prstGeom>
          <a:noFill/>
        </p:spPr>
        <p:txBody>
          <a:bodyPr anchor="t" wrap="square" tIns="0" bIns="0" lIns="0" rIns="0">
            <a:normAutofit/>
          </a:bodyPr>
          <a:lstStyle/>
          <a:p>
            <a:pPr algn="l">
              <a:lnSpc>
                <a:spcPts val="1313"/>
              </a:lnSpc>
              <a:buNone/>
            </a:pPr>
            <a:r>
              <a:rPr sz="1050" b="0" i="0">
                <a:solidFill>
                  <a:srgbClr val="1F262D"/>
                </a:solidFill>
                <a:latin typeface="Arial"/>
                <a:ea typeface="Arial"/>
              </a:rPr>
              <a:t>Grant et al. (1998), Fig. 10(A–C). Parallel-fiber paired-pulse facilitation in medium ganglion cells.</a:t>
            </a:r>
            <a:endParaRPr lang="en-US"/>
          </a:p>
        </p:txBody>
      </p:sp>
      <p:pic>
        <p:nvPicPr>
          <p:cNvPr id="332" name="Presenton Native Image 38" descr=""/>
          <p:cNvPicPr/>
          <p:nvPr/>
        </p:nvPicPr>
        <p:blipFill>
          <a:blip r:embed="rId2" cstate="none"/>
          <a:stretch>
            <a:fillRect/>
          </a:stretch>
        </p:blipFill>
        <p:spPr>
          <a:xfrm>
            <a:off x="8533626" y="4103340"/>
            <a:ext cx="1030249" cy="1476375"/>
          </a:xfrm>
          <a:prstGeom prst="rect">
            <a:avLst/>
          </a:prstGeom>
        </p:spPr>
      </p:pic>
      <p:sp>
        <p:nvSpPr>
          <p:cNvPr id="943" name="Shape 943"/>
          <p:cNvSpPr/>
          <p:nvPr/>
        </p:nvSpPr>
        <p:spPr>
          <a:xfrm>
            <a:off x="6362700" y="5655915"/>
            <a:ext cx="5391150" cy="166688"/>
          </a:xfrm>
          <a:prstGeom prst="rect">
            <a:avLst/>
          </a:prstGeom>
          <a:noFill/>
        </p:spPr>
        <p:txBody>
          <a:bodyPr anchor="t" wrap="square" tIns="0" bIns="0" lIns="0" rIns="0">
            <a:normAutofit/>
          </a:bodyPr>
          <a:lstStyle/>
          <a:p>
            <a:pPr algn="l">
              <a:lnSpc>
                <a:spcPts val="1313"/>
              </a:lnSpc>
              <a:buNone/>
            </a:pPr>
            <a:r>
              <a:rPr sz="1050" b="0" i="0">
                <a:solidFill>
                  <a:srgbClr val="1F262D"/>
                </a:solidFill>
                <a:latin typeface="Arial"/>
                <a:ea typeface="Arial"/>
              </a:rPr>
              <a:t>Sawtell et al. (2007), Fig. 1(A). Published anatomy of the medium ganglion cell circuit.</a:t>
            </a:r>
            <a:endParaRPr lang="en-US"/>
          </a:p>
        </p:txBody>
      </p:sp>
      <p:sp>
        <p:nvSpPr>
          <p:cNvPr id="944" name="Shape 944"/>
          <p:cNvSpPr/>
          <p:nvPr/>
        </p:nvSpPr>
        <p:spPr>
          <a:xfrm>
            <a:off x="457200" y="6462713"/>
            <a:ext cx="1051917" cy="185738"/>
          </a:xfrm>
          <a:prstGeom prst="rect">
            <a:avLst/>
          </a:prstGeom>
          <a:noFill/>
        </p:spPr>
        <p:txBody>
          <a:bodyPr anchor="t" wrap="square" tIns="0" bIns="0" lIns="0" rIns="0">
            <a:normAutofit/>
          </a:bodyPr>
          <a:lstStyle/>
          <a:p>
            <a:pPr algn="l">
              <a:lnSpc>
                <a:spcPts val="1463"/>
              </a:lnSpc>
              <a:buNone/>
            </a:pPr>
            <a:r>
              <a:rPr sz="975" b="0" i="0">
                <a:solidFill>
                  <a:srgbClr val="58636E"/>
                </a:solidFill>
                <a:latin typeface="Arial"/>
                <a:ea typeface="Arial"/>
              </a:rPr>
              <a:t>Grant et al. (1998)</a:t>
            </a:r>
            <a:endParaRPr lang="en-US"/>
          </a:p>
        </p:txBody>
      </p:sp>
      <p:sp>
        <p:nvSpPr>
          <p:cNvPr id="945" name="Shape 945"/>
          <p:cNvSpPr/>
          <p:nvPr/>
        </p:nvSpPr>
        <p:spPr>
          <a:xfrm>
            <a:off x="11593116" y="6462713"/>
            <a:ext cx="160734" cy="185738"/>
          </a:xfrm>
          <a:prstGeom prst="rect">
            <a:avLst/>
          </a:prstGeom>
          <a:noFill/>
        </p:spPr>
        <p:txBody>
          <a:bodyPr anchor="t" wrap="square" tIns="0" bIns="0" lIns="0" rIns="0">
            <a:normAutofit/>
          </a:bodyPr>
          <a:lstStyle/>
          <a:p>
            <a:pPr algn="l">
              <a:lnSpc>
                <a:spcPts val="1463"/>
              </a:lnSpc>
              <a:buNone/>
            </a:pPr>
            <a:r>
              <a:rPr sz="975" b="0" i="0">
                <a:solidFill>
                  <a:srgbClr val="58636E"/>
                </a:solidFill>
                <a:latin typeface="Arial"/>
                <a:ea typeface="Arial"/>
              </a:rPr>
              <a:t>33</a:t>
            </a:r>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bg>
      <p:bgPr>
        <a:solidFill>
          <a:srgbClr val="FFFFFF"/>
        </a:solidFill>
      </p:bgPr>
    </p:bg>
    <p:spTree>
      <p:nvGrpSpPr>
        <p:cNvPr id="1" name=""/>
        <p:cNvGrpSpPr/>
        <p:nvPr/>
      </p:nvGrpSpPr>
      <p:grpSpPr>
        <a:xfrm>
          <a:off x="0" y="0"/>
          <a:ext cx="0" cy="0"/>
          <a:chOff x="0" y="0"/>
          <a:chExt cx="0" cy="0"/>
        </a:xfrm>
      </p:grpSpPr>
      <p:sp>
        <p:nvSpPr>
          <p:cNvPr id="946" name="Shape 946"/>
          <p:cNvSpPr/>
          <p:nvPr/>
        </p:nvSpPr>
        <p:spPr>
          <a:xfrm>
            <a:off x="457200" y="457200"/>
            <a:ext cx="11296650" cy="350490"/>
          </a:xfrm>
          <a:prstGeom prst="rect">
            <a:avLst/>
          </a:prstGeom>
          <a:noFill/>
        </p:spPr>
        <p:txBody>
          <a:bodyPr anchor="t" wrap="square" tIns="0" bIns="0" lIns="0" rIns="0">
            <a:normAutofit/>
          </a:bodyPr>
          <a:lstStyle/>
          <a:p>
            <a:pPr algn="l">
              <a:lnSpc>
                <a:spcPts val="2760"/>
              </a:lnSpc>
              <a:buNone/>
            </a:pPr>
            <a:r>
              <a:rPr sz="2400" b="1" i="0">
                <a:solidFill>
                  <a:srgbClr val="2B5577"/>
                </a:solidFill>
                <a:latin typeface="Arial"/>
                <a:ea typeface="Arial"/>
              </a:rPr>
              <a:t>Medium ganglion cells generate distinct spike forms</a:t>
            </a:r>
            <a:endParaRPr lang="en-US"/>
          </a:p>
        </p:txBody>
      </p:sp>
      <p:sp>
        <p:nvSpPr>
          <p:cNvPr id="947" name="Shape 947"/>
          <p:cNvSpPr/>
          <p:nvPr/>
        </p:nvSpPr>
        <p:spPr>
          <a:xfrm>
            <a:off x="566000" y="1234440"/>
            <a:ext cx="5480000" cy="4915560"/>
          </a:xfrm>
          <a:prstGeom prst="rect">
            <a:avLst/>
          </a:prstGeom>
          <a:noFill/>
        </p:spPr>
        <p:txBody>
          <a:bodyPr anchor="t" wrap="square" tIns="0" bIns="0" lIns="0" rIns="0">
            <a:normAutofit/>
          </a:bodyPr>
          <a:lstStyle/>
          <a:p>
            <a:pPr algn="l">
              <a:lnSpc>
                <a:spcPct val="108000"/>
              </a:lnSpc>
              <a:spcAft>
                <a:spcPts val="1200"/>
              </a:spcAft>
              <a:buNone/>
            </a:pPr>
            <a:r>
              <a:rPr sz="1400" b="0" i="0">
                <a:solidFill>
                  <a:srgbClr val="1F262D"/>
                </a:solidFill>
                <a:latin typeface="Arial"/>
                <a:ea typeface="Arial"/>
              </a:rPr>
              <a:t xml:space="preserve">An </a:t>
            </a:r>
            <a:r>
              <a:rPr sz="1400" b="1" i="0">
                <a:solidFill>
                  <a:srgbClr val="1F262D"/>
                </a:solidFill>
                <a:latin typeface="Arial"/>
                <a:ea typeface="Arial"/>
              </a:rPr>
              <a:t>intrinsic response</a:t>
            </a:r>
            <a:r>
              <a:rPr sz="1400" b="0" i="0">
                <a:solidFill>
                  <a:srgbClr val="1F262D"/>
                </a:solidFill>
                <a:latin typeface="Arial"/>
                <a:ea typeface="Arial"/>
              </a:rPr>
              <a:t xml:space="preserve"> is generated by a cell's membrane properties during controlled current injection. Grant and colleagues injected depolarizing and hyperpolarizing currents into medium ganglion cells and recorded a large broad spike along with smaller, narrower spikes. Current injection allowed the membrane response to be tested under controlled conditions. Hyperpolarizing currents were used alongside depolarizing ones.</a:t>
            </a:r>
            <a:endParaRPr lang="en-US"/>
          </a:p>
          <a:p>
            <a:pPr algn="l">
              <a:lnSpc>
                <a:spcPct val="108000"/>
              </a:lnSpc>
              <a:spcAft>
                <a:spcPts val="1200"/>
              </a:spcAft>
              <a:buNone/>
            </a:pPr>
            <a:r>
              <a:rPr sz="1400" b="0" i="0">
                <a:solidFill>
                  <a:srgbClr val="1F262D"/>
                </a:solidFill>
                <a:latin typeface="Arial"/>
                <a:ea typeface="Arial"/>
              </a:rPr>
              <a:t xml:space="preserve">The broad spikes lasted about 8-15 ms and reached 40-60 mV in the intracellular recordings. The narrow spikes were about 1-2 ms wide, so one identified cell expressed distinct electrical events. Broad spikes were the larger of the two event types. Both spike forms arose in one identified medium ganglion cell, so the difference reflects the cell's own properties.</a:t>
            </a:r>
            <a:endParaRPr lang="en-US"/>
          </a:p>
          <a:p>
            <a:pPr algn="l">
              <a:lnSpc>
                <a:spcPct val="108000"/>
              </a:lnSpc>
              <a:spcAft>
                <a:spcPts val="1200"/>
              </a:spcAft>
              <a:buNone/>
            </a:pPr>
            <a:r>
              <a:rPr sz="1400" b="0" i="0">
                <a:solidFill>
                  <a:srgbClr val="1F262D"/>
                </a:solidFill>
                <a:latin typeface="Arial"/>
                <a:ea typeface="Arial"/>
              </a:rPr>
              <a:t xml:space="preserve">Waveform differences constrain possible propagation and integration mechanisms. The slice work combined waveform measurements with field and pharmacological evidence, and later in vivo experiments examined how these spike types relate to circuit output. Each event type therefore has a characteristic waveform duration. The slice combined that waveform evidence with field and pharmacological measures.</a:t>
            </a:r>
            <a:endParaRPr lang="en-US"/>
          </a:p>
        </p:txBody>
      </p:sp>
      <p:pic>
        <p:nvPicPr>
          <p:cNvPr id="333" name="Presenton Native Image 39" descr=""/>
          <p:cNvPicPr/>
          <p:nvPr/>
        </p:nvPicPr>
        <p:blipFill>
          <a:blip r:embed="rId3" cstate="none"/>
          <a:stretch>
            <a:fillRect/>
          </a:stretch>
        </p:blipFill>
        <p:spPr>
          <a:xfrm>
            <a:off x="7915809" y="1055340"/>
            <a:ext cx="2265882" cy="2466975"/>
          </a:xfrm>
          <a:prstGeom prst="rect">
            <a:avLst/>
          </a:prstGeom>
        </p:spPr>
      </p:pic>
      <p:sp>
        <p:nvSpPr>
          <p:cNvPr id="950" name="Shape 950"/>
          <p:cNvSpPr/>
          <p:nvPr/>
        </p:nvSpPr>
        <p:spPr>
          <a:xfrm>
            <a:off x="6362700" y="3598515"/>
            <a:ext cx="5391150" cy="166688"/>
          </a:xfrm>
          <a:prstGeom prst="rect">
            <a:avLst/>
          </a:prstGeom>
          <a:noFill/>
        </p:spPr>
        <p:txBody>
          <a:bodyPr anchor="t" wrap="square" tIns="0" bIns="0" lIns="0" rIns="0">
            <a:normAutofit/>
          </a:bodyPr>
          <a:lstStyle/>
          <a:p>
            <a:pPr algn="l">
              <a:lnSpc>
                <a:spcPts val="1313"/>
              </a:lnSpc>
              <a:buNone/>
            </a:pPr>
            <a:r>
              <a:rPr sz="1050" b="0" i="0">
                <a:solidFill>
                  <a:srgbClr val="1F262D"/>
                </a:solidFill>
                <a:latin typeface="Arial"/>
                <a:ea typeface="Arial"/>
              </a:rPr>
              <a:t>Grant et al. (1998), Fig. 8. Responses of an identified medium ganglion cell to current.</a:t>
            </a:r>
            <a:endParaRPr lang="en-US"/>
          </a:p>
        </p:txBody>
      </p:sp>
      <p:pic>
        <p:nvPicPr>
          <p:cNvPr id="334" name="Presenton Native Image 40" descr=""/>
          <p:cNvPicPr/>
          <p:nvPr/>
        </p:nvPicPr>
        <p:blipFill>
          <a:blip r:embed="rId2" cstate="none"/>
          <a:stretch>
            <a:fillRect/>
          </a:stretch>
        </p:blipFill>
        <p:spPr>
          <a:xfrm>
            <a:off x="8533626" y="3936653"/>
            <a:ext cx="1030249" cy="1476375"/>
          </a:xfrm>
          <a:prstGeom prst="rect">
            <a:avLst/>
          </a:prstGeom>
        </p:spPr>
      </p:pic>
      <p:sp>
        <p:nvSpPr>
          <p:cNvPr id="951" name="Shape 951"/>
          <p:cNvSpPr/>
          <p:nvPr/>
        </p:nvSpPr>
        <p:spPr>
          <a:xfrm>
            <a:off x="6362700" y="5489228"/>
            <a:ext cx="5391150" cy="166688"/>
          </a:xfrm>
          <a:prstGeom prst="rect">
            <a:avLst/>
          </a:prstGeom>
          <a:noFill/>
        </p:spPr>
        <p:txBody>
          <a:bodyPr anchor="t" wrap="square" tIns="0" bIns="0" lIns="0" rIns="0">
            <a:normAutofit/>
          </a:bodyPr>
          <a:lstStyle/>
          <a:p>
            <a:pPr algn="l">
              <a:lnSpc>
                <a:spcPts val="1313"/>
              </a:lnSpc>
              <a:buNone/>
            </a:pPr>
            <a:r>
              <a:rPr sz="1050" b="0" i="0">
                <a:solidFill>
                  <a:srgbClr val="1F262D"/>
                </a:solidFill>
                <a:latin typeface="Arial"/>
                <a:ea typeface="Arial"/>
              </a:rPr>
              <a:t>Sawtell et al. (2007), Fig. 1(A). Published anatomy of the medium ganglion cell circuit.</a:t>
            </a:r>
            <a:endParaRPr lang="en-US"/>
          </a:p>
        </p:txBody>
      </p:sp>
      <p:sp>
        <p:nvSpPr>
          <p:cNvPr id="952" name="Shape 952"/>
          <p:cNvSpPr/>
          <p:nvPr/>
        </p:nvSpPr>
        <p:spPr>
          <a:xfrm>
            <a:off x="457200" y="6462713"/>
            <a:ext cx="1051917" cy="185738"/>
          </a:xfrm>
          <a:prstGeom prst="rect">
            <a:avLst/>
          </a:prstGeom>
          <a:noFill/>
        </p:spPr>
        <p:txBody>
          <a:bodyPr anchor="t" wrap="square" tIns="0" bIns="0" lIns="0" rIns="0">
            <a:normAutofit/>
          </a:bodyPr>
          <a:lstStyle/>
          <a:p>
            <a:pPr algn="l">
              <a:lnSpc>
                <a:spcPts val="1463"/>
              </a:lnSpc>
              <a:buNone/>
            </a:pPr>
            <a:r>
              <a:rPr sz="975" b="0" i="0">
                <a:solidFill>
                  <a:srgbClr val="58636E"/>
                </a:solidFill>
                <a:latin typeface="Arial"/>
                <a:ea typeface="Arial"/>
              </a:rPr>
              <a:t>Grant et al. (1998)</a:t>
            </a:r>
            <a:endParaRPr lang="en-US"/>
          </a:p>
        </p:txBody>
      </p:sp>
      <p:sp>
        <p:nvSpPr>
          <p:cNvPr id="953" name="Shape 953"/>
          <p:cNvSpPr/>
          <p:nvPr/>
        </p:nvSpPr>
        <p:spPr>
          <a:xfrm>
            <a:off x="11593116" y="6462713"/>
            <a:ext cx="160734" cy="185738"/>
          </a:xfrm>
          <a:prstGeom prst="rect">
            <a:avLst/>
          </a:prstGeom>
          <a:noFill/>
        </p:spPr>
        <p:txBody>
          <a:bodyPr anchor="t" wrap="square" tIns="0" bIns="0" lIns="0" rIns="0">
            <a:normAutofit/>
          </a:bodyPr>
          <a:lstStyle/>
          <a:p>
            <a:pPr algn="l">
              <a:lnSpc>
                <a:spcPts val="1463"/>
              </a:lnSpc>
              <a:buNone/>
            </a:pPr>
            <a:r>
              <a:rPr sz="975" b="0" i="0">
                <a:solidFill>
                  <a:srgbClr val="58636E"/>
                </a:solidFill>
                <a:latin typeface="Arial"/>
                <a:ea typeface="Arial"/>
              </a:rPr>
              <a:t>34</a:t>
            </a:r>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bg>
      <p:bgPr>
        <a:solidFill>
          <a:srgbClr val="FFFFFF"/>
        </a:solidFill>
      </p:bgPr>
    </p:bg>
    <p:spTree>
      <p:nvGrpSpPr>
        <p:cNvPr id="1" name=""/>
        <p:cNvGrpSpPr/>
        <p:nvPr/>
      </p:nvGrpSpPr>
      <p:grpSpPr>
        <a:xfrm>
          <a:off x="0" y="0"/>
          <a:ext cx="0" cy="0"/>
          <a:chOff x="0" y="0"/>
          <a:chExt cx="0" cy="0"/>
        </a:xfrm>
      </p:grpSpPr>
      <p:sp>
        <p:nvSpPr>
          <p:cNvPr id="954" name="Shape 954"/>
          <p:cNvSpPr/>
          <p:nvPr/>
        </p:nvSpPr>
        <p:spPr>
          <a:xfrm>
            <a:off x="457200" y="457200"/>
            <a:ext cx="11296650" cy="350490"/>
          </a:xfrm>
          <a:prstGeom prst="rect">
            <a:avLst/>
          </a:prstGeom>
          <a:noFill/>
        </p:spPr>
        <p:txBody>
          <a:bodyPr anchor="t" wrap="square" tIns="0" bIns="0" lIns="0" rIns="0">
            <a:normAutofit/>
          </a:bodyPr>
          <a:lstStyle/>
          <a:p>
            <a:pPr algn="l">
              <a:lnSpc>
                <a:spcPts val="2760"/>
              </a:lnSpc>
              <a:buNone/>
            </a:pPr>
            <a:r>
              <a:rPr sz="2400" b="1" i="0">
                <a:solidFill>
                  <a:srgbClr val="2B5577"/>
                </a:solidFill>
                <a:latin typeface="Arial"/>
                <a:ea typeface="Arial"/>
              </a:rPr>
              <a:t>Synaptic pathway and spike threshold jointly shape firing</a:t>
            </a:r>
            <a:endParaRPr lang="en-US"/>
          </a:p>
        </p:txBody>
      </p:sp>
      <p:sp>
        <p:nvSpPr>
          <p:cNvPr id="955" name="Shape 955"/>
          <p:cNvSpPr/>
          <p:nvPr/>
        </p:nvSpPr>
        <p:spPr>
          <a:xfrm>
            <a:off x="566000" y="1234440"/>
            <a:ext cx="5480000" cy="4915560"/>
          </a:xfrm>
          <a:prstGeom prst="rect">
            <a:avLst/>
          </a:prstGeom>
          <a:noFill/>
        </p:spPr>
        <p:txBody>
          <a:bodyPr anchor="t" wrap="square" tIns="0" bIns="0" lIns="0" rIns="0">
            <a:normAutofit/>
          </a:bodyPr>
          <a:lstStyle/>
          <a:p>
            <a:pPr algn="l">
              <a:lnSpc>
                <a:spcPct val="108000"/>
              </a:lnSpc>
              <a:spcAft>
                <a:spcPts val="1200"/>
              </a:spcAft>
              <a:buNone/>
            </a:pPr>
            <a:r>
              <a:rPr sz="1400" b="0" i="0">
                <a:solidFill>
                  <a:srgbClr val="1F262D"/>
                </a:solidFill>
                <a:latin typeface="Arial"/>
                <a:ea typeface="Arial"/>
              </a:rPr>
              <a:t xml:space="preserve">A </a:t>
            </a:r>
            <a:r>
              <a:rPr sz="1400" b="1" i="0">
                <a:solidFill>
                  <a:srgbClr val="1F262D"/>
                </a:solidFill>
                <a:latin typeface="Arial"/>
                <a:ea typeface="Arial"/>
              </a:rPr>
              <a:t>spike threshold</a:t>
            </a:r>
            <a:r>
              <a:rPr sz="1400" b="0" i="0">
                <a:solidFill>
                  <a:srgbClr val="1F262D"/>
                </a:solidFill>
                <a:latin typeface="Arial"/>
                <a:ea typeface="Arial"/>
              </a:rPr>
              <a:t xml:space="preserve"> is the level of depolarizing drive needed to initiate a spike under specified conditions. Grant and colleagues stimulated deep pathways and parallel fibers while recording medium ganglion cells, and they sorted the synaptic responses by the spike form that followed. Threshold depends on the membrane state at the time of stimulation.</a:t>
            </a:r>
            <a:endParaRPr lang="en-US"/>
          </a:p>
          <a:p>
            <a:pPr algn="l">
              <a:lnSpc>
                <a:spcPct val="108000"/>
              </a:lnSpc>
              <a:spcAft>
                <a:spcPts val="1200"/>
              </a:spcAft>
              <a:buNone/>
            </a:pPr>
            <a:r>
              <a:rPr sz="1400" b="0" i="0">
                <a:solidFill>
                  <a:srgbClr val="1F262D"/>
                </a:solidFill>
                <a:latin typeface="Arial"/>
                <a:ea typeface="Arial"/>
              </a:rPr>
              <a:t xml:space="preserve">Deep stimulation evoked inhibitory or excitatory potentials depending on electrode position. Removing inhibition with bicuculline exposed broad-spike responses. Parallel-fiber stimulation produced excitation before stronger depolarization recruited broad spikes in the same cell. Stronger depolarization was needed before those broad spikes appeared. The relation between inhibition and firing was tested in the same cells.</a:t>
            </a:r>
            <a:endParaRPr lang="en-US"/>
          </a:p>
          <a:p>
            <a:pPr algn="l">
              <a:lnSpc>
                <a:spcPct val="108000"/>
              </a:lnSpc>
              <a:spcAft>
                <a:spcPts val="1200"/>
              </a:spcAft>
              <a:buNone/>
            </a:pPr>
            <a:r>
              <a:rPr sz="1400" b="0" i="0">
                <a:solidFill>
                  <a:srgbClr val="1F262D"/>
                </a:solidFill>
                <a:latin typeface="Arial"/>
                <a:ea typeface="Arial"/>
              </a:rPr>
              <a:t xml:space="preserve">Pathway recruitment connects to membrane excitability in this cell. Tract stimulation activates more than one input, so each electrode mixes several pathways. The recorded firing therefore reflects the combined influence of those inputs. Electrode position therefore changes which pathways dominate the response. Pharmacological disinhibition changes the circuit conditions in the same way.</a:t>
            </a:r>
            <a:endParaRPr lang="en-US"/>
          </a:p>
        </p:txBody>
      </p:sp>
      <p:pic>
        <p:nvPicPr>
          <p:cNvPr id="335" name="Presenton Native Image 41" descr=""/>
          <p:cNvPicPr/>
          <p:nvPr/>
        </p:nvPicPr>
        <p:blipFill>
          <a:blip r:embed="rId3" cstate="none"/>
          <a:stretch>
            <a:fillRect/>
          </a:stretch>
        </p:blipFill>
        <p:spPr>
          <a:xfrm>
            <a:off x="7905606" y="1055340"/>
            <a:ext cx="2286288" cy="2466975"/>
          </a:xfrm>
          <a:prstGeom prst="rect">
            <a:avLst/>
          </a:prstGeom>
        </p:spPr>
      </p:pic>
      <p:sp>
        <p:nvSpPr>
          <p:cNvPr id="958" name="Shape 958"/>
          <p:cNvSpPr/>
          <p:nvPr/>
        </p:nvSpPr>
        <p:spPr>
          <a:xfrm>
            <a:off x="6362700" y="3598515"/>
            <a:ext cx="5391150" cy="333375"/>
          </a:xfrm>
          <a:prstGeom prst="rect">
            <a:avLst/>
          </a:prstGeom>
          <a:noFill/>
        </p:spPr>
        <p:txBody>
          <a:bodyPr anchor="t" wrap="square" tIns="0" bIns="0" lIns="0" rIns="0">
            <a:normAutofit/>
          </a:bodyPr>
          <a:lstStyle/>
          <a:p>
            <a:pPr algn="l">
              <a:lnSpc>
                <a:spcPts val="1313"/>
              </a:lnSpc>
              <a:buNone/>
            </a:pPr>
            <a:r>
              <a:rPr sz="1050" b="0" i="0">
                <a:solidFill>
                  <a:srgbClr val="1F262D"/>
                </a:solidFill>
                <a:latin typeface="Arial"/>
                <a:ea typeface="Arial"/>
              </a:rPr>
              <a:t>Grant et al. (1998), Fig. 9(A–D). Medium ganglion responses to deep and molecular-layer stimuli.</a:t>
            </a:r>
            <a:endParaRPr lang="en-US"/>
          </a:p>
        </p:txBody>
      </p:sp>
      <p:pic>
        <p:nvPicPr>
          <p:cNvPr id="336" name="Presenton Native Image 42" descr=""/>
          <p:cNvPicPr/>
          <p:nvPr/>
        </p:nvPicPr>
        <p:blipFill>
          <a:blip r:embed="rId2" cstate="none"/>
          <a:stretch>
            <a:fillRect/>
          </a:stretch>
        </p:blipFill>
        <p:spPr>
          <a:xfrm>
            <a:off x="8533626" y="4103340"/>
            <a:ext cx="1030249" cy="1476375"/>
          </a:xfrm>
          <a:prstGeom prst="rect">
            <a:avLst/>
          </a:prstGeom>
        </p:spPr>
      </p:pic>
      <p:sp>
        <p:nvSpPr>
          <p:cNvPr id="959" name="Shape 959"/>
          <p:cNvSpPr/>
          <p:nvPr/>
        </p:nvSpPr>
        <p:spPr>
          <a:xfrm>
            <a:off x="6362700" y="5655915"/>
            <a:ext cx="5391150" cy="166688"/>
          </a:xfrm>
          <a:prstGeom prst="rect">
            <a:avLst/>
          </a:prstGeom>
          <a:noFill/>
        </p:spPr>
        <p:txBody>
          <a:bodyPr anchor="t" wrap="square" tIns="0" bIns="0" lIns="0" rIns="0">
            <a:normAutofit/>
          </a:bodyPr>
          <a:lstStyle/>
          <a:p>
            <a:pPr algn="l">
              <a:lnSpc>
                <a:spcPts val="1313"/>
              </a:lnSpc>
              <a:buNone/>
            </a:pPr>
            <a:r>
              <a:rPr sz="1050" b="0" i="0">
                <a:solidFill>
                  <a:srgbClr val="1F262D"/>
                </a:solidFill>
                <a:latin typeface="Arial"/>
                <a:ea typeface="Arial"/>
              </a:rPr>
              <a:t>Sawtell et al. (2007), Fig. 1(A). Published anatomy of the medium ganglion cell circuit.</a:t>
            </a:r>
            <a:endParaRPr lang="en-US"/>
          </a:p>
        </p:txBody>
      </p:sp>
      <p:sp>
        <p:nvSpPr>
          <p:cNvPr id="960" name="Shape 960"/>
          <p:cNvSpPr/>
          <p:nvPr/>
        </p:nvSpPr>
        <p:spPr>
          <a:xfrm>
            <a:off x="457200" y="6462713"/>
            <a:ext cx="1051917" cy="185738"/>
          </a:xfrm>
          <a:prstGeom prst="rect">
            <a:avLst/>
          </a:prstGeom>
          <a:noFill/>
        </p:spPr>
        <p:txBody>
          <a:bodyPr anchor="t" wrap="square" tIns="0" bIns="0" lIns="0" rIns="0">
            <a:normAutofit/>
          </a:bodyPr>
          <a:lstStyle/>
          <a:p>
            <a:pPr algn="l">
              <a:lnSpc>
                <a:spcPts val="1463"/>
              </a:lnSpc>
              <a:buNone/>
            </a:pPr>
            <a:r>
              <a:rPr sz="975" b="0" i="0">
                <a:solidFill>
                  <a:srgbClr val="58636E"/>
                </a:solidFill>
                <a:latin typeface="Arial"/>
                <a:ea typeface="Arial"/>
              </a:rPr>
              <a:t>Grant et al. (1998)</a:t>
            </a:r>
            <a:endParaRPr lang="en-US"/>
          </a:p>
        </p:txBody>
      </p:sp>
      <p:sp>
        <p:nvSpPr>
          <p:cNvPr id="961" name="Shape 961"/>
          <p:cNvSpPr/>
          <p:nvPr/>
        </p:nvSpPr>
        <p:spPr>
          <a:xfrm>
            <a:off x="11593116" y="6462713"/>
            <a:ext cx="160734" cy="185738"/>
          </a:xfrm>
          <a:prstGeom prst="rect">
            <a:avLst/>
          </a:prstGeom>
          <a:noFill/>
        </p:spPr>
        <p:txBody>
          <a:bodyPr anchor="t" wrap="square" tIns="0" bIns="0" lIns="0" rIns="0">
            <a:normAutofit/>
          </a:bodyPr>
          <a:lstStyle/>
          <a:p>
            <a:pPr algn="l">
              <a:lnSpc>
                <a:spcPts val="1463"/>
              </a:lnSpc>
              <a:buNone/>
            </a:pPr>
            <a:r>
              <a:rPr sz="975" b="0" i="0">
                <a:solidFill>
                  <a:srgbClr val="58636E"/>
                </a:solidFill>
                <a:latin typeface="Arial"/>
                <a:ea typeface="Arial"/>
              </a:rPr>
              <a:t>35</a:t>
            </a:r>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bg>
      <p:bgPr>
        <a:solidFill>
          <a:srgbClr val="FFFFFF"/>
        </a:solidFill>
      </p:bgPr>
    </p:bg>
    <p:spTree>
      <p:nvGrpSpPr>
        <p:cNvPr id="1" name=""/>
        <p:cNvGrpSpPr/>
        <p:nvPr/>
      </p:nvGrpSpPr>
      <p:grpSpPr>
        <a:xfrm>
          <a:off x="0" y="0"/>
          <a:ext cx="0" cy="0"/>
          <a:chOff x="0" y="0"/>
          <a:chExt cx="0" cy="0"/>
        </a:xfrm>
      </p:grpSpPr>
      <p:sp>
        <p:nvSpPr>
          <p:cNvPr id="962" name="Shape 962"/>
          <p:cNvSpPr/>
          <p:nvPr/>
        </p:nvSpPr>
        <p:spPr>
          <a:xfrm>
            <a:off x="457200" y="457200"/>
            <a:ext cx="11296650" cy="350490"/>
          </a:xfrm>
          <a:prstGeom prst="rect">
            <a:avLst/>
          </a:prstGeom>
          <a:noFill/>
        </p:spPr>
        <p:txBody>
          <a:bodyPr anchor="t" wrap="square" tIns="0" bIns="0" lIns="0" rIns="0">
            <a:normAutofit/>
          </a:bodyPr>
          <a:lstStyle/>
          <a:p>
            <a:pPr algn="l">
              <a:lnSpc>
                <a:spcPts val="2760"/>
              </a:lnSpc>
              <a:buNone/>
            </a:pPr>
            <a:r>
              <a:rPr sz="2400" b="1" i="0">
                <a:solidFill>
                  <a:srgbClr val="2B5577"/>
                </a:solidFill>
                <a:latin typeface="Arial"/>
                <a:ea typeface="Arial"/>
              </a:rPr>
              <a:t>ELL output cells differ from local learning interneurons</a:t>
            </a:r>
            <a:endParaRPr lang="en-US"/>
          </a:p>
        </p:txBody>
      </p:sp>
      <p:sp>
        <p:nvSpPr>
          <p:cNvPr id="963" name="Shape 963"/>
          <p:cNvSpPr/>
          <p:nvPr/>
        </p:nvSpPr>
        <p:spPr>
          <a:xfrm>
            <a:off x="566000" y="1234440"/>
            <a:ext cx="5480000" cy="4915560"/>
          </a:xfrm>
          <a:prstGeom prst="rect">
            <a:avLst/>
          </a:prstGeom>
          <a:noFill/>
        </p:spPr>
        <p:txBody>
          <a:bodyPr anchor="t" wrap="square" tIns="0" bIns="0" lIns="0" rIns="0">
            <a:normAutofit/>
          </a:bodyPr>
          <a:lstStyle/>
          <a:p>
            <a:pPr algn="l">
              <a:lnSpc>
                <a:spcPct val="108000"/>
              </a:lnSpc>
              <a:spcAft>
                <a:spcPts val="1200"/>
              </a:spcAft>
              <a:buNone/>
            </a:pPr>
            <a:r>
              <a:rPr sz="1400" b="0" i="0">
                <a:solidFill>
                  <a:srgbClr val="1F262D"/>
                </a:solidFill>
                <a:latin typeface="Arial"/>
                <a:ea typeface="Arial"/>
              </a:rPr>
              <a:t xml:space="preserve">An </a:t>
            </a:r>
            <a:r>
              <a:rPr sz="1400" b="1" i="0">
                <a:solidFill>
                  <a:srgbClr val="1F262D"/>
                </a:solidFill>
                <a:latin typeface="Arial"/>
                <a:ea typeface="Arial"/>
              </a:rPr>
              <a:t>efferent cell</a:t>
            </a:r>
            <a:r>
              <a:rPr sz="1400" b="0" i="0">
                <a:solidFill>
                  <a:srgbClr val="1F262D"/>
                </a:solidFill>
                <a:latin typeface="Arial"/>
                <a:ea typeface="Arial"/>
              </a:rPr>
              <a:t xml:space="preserve"> is a neuron whose axon carries output away from the local sensory structure. Grant and colleagues recorded large ganglion and large fusiform cells, and set their current-evoked firing against that of medium ganglion interneurons. Large ganglion cells and large fusiform cells were the output cells recorded in the same slices.</a:t>
            </a:r>
            <a:endParaRPr lang="en-US"/>
          </a:p>
          <a:p>
            <a:pPr algn="l">
              <a:lnSpc>
                <a:spcPct val="108000"/>
              </a:lnSpc>
              <a:spcAft>
                <a:spcPts val="1200"/>
              </a:spcAft>
              <a:buNone/>
            </a:pPr>
            <a:r>
              <a:rPr sz="1400" b="0" i="0">
                <a:solidFill>
                  <a:srgbClr val="1F262D"/>
                </a:solidFill>
                <a:latin typeface="Arial"/>
                <a:ea typeface="Arial"/>
              </a:rPr>
              <a:t xml:space="preserve">The output cells responded to both deep-layer and molecular-layer stimulation, receiving excitatory and inhibitory influences whose balance depended on pathway and cell. Medium ganglion cells therefore sit within a circuit that also contains distinct sensory output neurons. Excitatory and inhibitory influences differed between the two stimulation layers. Each cell type was tested with both layers.</a:t>
            </a:r>
            <a:endParaRPr lang="en-US"/>
          </a:p>
          <a:p>
            <a:pPr algn="l">
              <a:lnSpc>
                <a:spcPct val="108000"/>
              </a:lnSpc>
              <a:spcAft>
                <a:spcPts val="1200"/>
              </a:spcAft>
              <a:buNone/>
            </a:pPr>
            <a:r>
              <a:rPr sz="1400" b="0" i="0">
                <a:solidFill>
                  <a:srgbClr val="1F262D"/>
                </a:solidFill>
                <a:latin typeface="Arial"/>
                <a:ea typeface="Arial"/>
              </a:rPr>
              <a:t xml:space="preserve">A local spike or synaptic potential may be transformed before it reaches downstream structures. The slice recordings establish cellular and pathway diversity across the ELL circuit. The local medium ganglion response is one step in a longer chain of processing. Behavior-specific interpretation requires measurements that link output activity to controlled object stimuli in intact animals.</a:t>
            </a:r>
            <a:endParaRPr lang="en-US"/>
          </a:p>
        </p:txBody>
      </p:sp>
      <p:pic>
        <p:nvPicPr>
          <p:cNvPr id="337" name="Presenton Native Image 43" descr=""/>
          <p:cNvPicPr/>
          <p:nvPr/>
        </p:nvPicPr>
        <p:blipFill>
          <a:blip r:embed="rId3" cstate="none"/>
          <a:stretch>
            <a:fillRect/>
          </a:stretch>
        </p:blipFill>
        <p:spPr>
          <a:xfrm>
            <a:off x="7301638" y="1055340"/>
            <a:ext cx="3494224" cy="2466975"/>
          </a:xfrm>
          <a:prstGeom prst="rect">
            <a:avLst/>
          </a:prstGeom>
        </p:spPr>
      </p:pic>
      <p:sp>
        <p:nvSpPr>
          <p:cNvPr id="966" name="Shape 966"/>
          <p:cNvSpPr/>
          <p:nvPr/>
        </p:nvSpPr>
        <p:spPr>
          <a:xfrm>
            <a:off x="6362700" y="3598515"/>
            <a:ext cx="5391150" cy="333375"/>
          </a:xfrm>
          <a:prstGeom prst="rect">
            <a:avLst/>
          </a:prstGeom>
          <a:noFill/>
        </p:spPr>
        <p:txBody>
          <a:bodyPr anchor="t" wrap="square" tIns="0" bIns="0" lIns="0" rIns="0">
            <a:normAutofit/>
          </a:bodyPr>
          <a:lstStyle/>
          <a:p>
            <a:pPr algn="l">
              <a:lnSpc>
                <a:spcPts val="1313"/>
              </a:lnSpc>
              <a:buNone/>
            </a:pPr>
            <a:r>
              <a:rPr sz="1050" b="0" i="0">
                <a:solidFill>
                  <a:srgbClr val="1F262D"/>
                </a:solidFill>
                <a:latin typeface="Arial"/>
                <a:ea typeface="Arial"/>
              </a:rPr>
              <a:t>Grant et al. (1998), Fig. 12(A–E). Current and synaptic responses of identified efferent cells.</a:t>
            </a:r>
            <a:endParaRPr lang="en-US"/>
          </a:p>
        </p:txBody>
      </p:sp>
      <p:pic>
        <p:nvPicPr>
          <p:cNvPr id="338" name="Presenton Native Image 44" descr=""/>
          <p:cNvPicPr/>
          <p:nvPr/>
        </p:nvPicPr>
        <p:blipFill>
          <a:blip r:embed="rId2" cstate="none"/>
          <a:stretch>
            <a:fillRect/>
          </a:stretch>
        </p:blipFill>
        <p:spPr>
          <a:xfrm>
            <a:off x="7930832" y="4103340"/>
            <a:ext cx="2235836" cy="1476375"/>
          </a:xfrm>
          <a:prstGeom prst="rect">
            <a:avLst/>
          </a:prstGeom>
        </p:spPr>
      </p:pic>
      <p:sp>
        <p:nvSpPr>
          <p:cNvPr id="967" name="Shape 967"/>
          <p:cNvSpPr/>
          <p:nvPr/>
        </p:nvSpPr>
        <p:spPr>
          <a:xfrm>
            <a:off x="6362700" y="5655915"/>
            <a:ext cx="5391150" cy="166688"/>
          </a:xfrm>
          <a:prstGeom prst="rect">
            <a:avLst/>
          </a:prstGeom>
          <a:noFill/>
        </p:spPr>
        <p:txBody>
          <a:bodyPr anchor="t" wrap="square" tIns="0" bIns="0" lIns="0" rIns="0">
            <a:normAutofit/>
          </a:bodyPr>
          <a:lstStyle/>
          <a:p>
            <a:pPr algn="l">
              <a:lnSpc>
                <a:spcPts val="1313"/>
              </a:lnSpc>
              <a:buNone/>
            </a:pPr>
            <a:r>
              <a:rPr sz="1050" b="0" i="0">
                <a:solidFill>
                  <a:srgbClr val="1F262D"/>
                </a:solidFill>
                <a:latin typeface="Arial"/>
                <a:ea typeface="Arial"/>
              </a:rPr>
              <a:t>Grant et al. (1998), Fig. 1. Anatomical organization of ELL cells and input layers.</a:t>
            </a:r>
            <a:endParaRPr lang="en-US"/>
          </a:p>
        </p:txBody>
      </p:sp>
      <p:sp>
        <p:nvSpPr>
          <p:cNvPr id="968" name="Shape 968"/>
          <p:cNvSpPr/>
          <p:nvPr/>
        </p:nvSpPr>
        <p:spPr>
          <a:xfrm>
            <a:off x="457200" y="6462713"/>
            <a:ext cx="1051917" cy="185738"/>
          </a:xfrm>
          <a:prstGeom prst="rect">
            <a:avLst/>
          </a:prstGeom>
          <a:noFill/>
        </p:spPr>
        <p:txBody>
          <a:bodyPr anchor="t" wrap="square" tIns="0" bIns="0" lIns="0" rIns="0">
            <a:normAutofit/>
          </a:bodyPr>
          <a:lstStyle/>
          <a:p>
            <a:pPr algn="l">
              <a:lnSpc>
                <a:spcPts val="1463"/>
              </a:lnSpc>
              <a:buNone/>
            </a:pPr>
            <a:r>
              <a:rPr sz="975" b="0" i="0">
                <a:solidFill>
                  <a:srgbClr val="58636E"/>
                </a:solidFill>
                <a:latin typeface="Arial"/>
                <a:ea typeface="Arial"/>
              </a:rPr>
              <a:t>Grant et al. (1998)</a:t>
            </a:r>
            <a:endParaRPr lang="en-US"/>
          </a:p>
        </p:txBody>
      </p:sp>
      <p:sp>
        <p:nvSpPr>
          <p:cNvPr id="969" name="Shape 969"/>
          <p:cNvSpPr/>
          <p:nvPr/>
        </p:nvSpPr>
        <p:spPr>
          <a:xfrm>
            <a:off x="11593116" y="6462713"/>
            <a:ext cx="160734" cy="185738"/>
          </a:xfrm>
          <a:prstGeom prst="rect">
            <a:avLst/>
          </a:prstGeom>
          <a:noFill/>
        </p:spPr>
        <p:txBody>
          <a:bodyPr anchor="t" wrap="square" tIns="0" bIns="0" lIns="0" rIns="0">
            <a:normAutofit/>
          </a:bodyPr>
          <a:lstStyle/>
          <a:p>
            <a:pPr algn="l">
              <a:lnSpc>
                <a:spcPts val="1463"/>
              </a:lnSpc>
              <a:buNone/>
            </a:pPr>
            <a:r>
              <a:rPr sz="975" b="0" i="0">
                <a:solidFill>
                  <a:srgbClr val="58636E"/>
                </a:solidFill>
                <a:latin typeface="Arial"/>
                <a:ea typeface="Arial"/>
              </a:rPr>
              <a:t>36</a:t>
            </a:r>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bg>
      <p:bgPr>
        <a:solidFill>
          <a:srgbClr val="FFFFFF"/>
        </a:solidFill>
      </p:bgPr>
    </p:bg>
    <p:spTree>
      <p:nvGrpSpPr>
        <p:cNvPr id="1" name=""/>
        <p:cNvGrpSpPr/>
        <p:nvPr/>
      </p:nvGrpSpPr>
      <p:grpSpPr>
        <a:xfrm>
          <a:off x="0" y="0"/>
          <a:ext cx="0" cy="0"/>
          <a:chOff x="0" y="0"/>
          <a:chExt cx="0" cy="0"/>
        </a:xfrm>
      </p:grpSpPr>
      <p:sp>
        <p:nvSpPr>
          <p:cNvPr id="970" name="Shape 970"/>
          <p:cNvSpPr/>
          <p:nvPr/>
        </p:nvSpPr>
        <p:spPr>
          <a:xfrm>
            <a:off x="457200" y="457200"/>
            <a:ext cx="11296650" cy="350490"/>
          </a:xfrm>
          <a:prstGeom prst="rect">
            <a:avLst/>
          </a:prstGeom>
          <a:noFill/>
        </p:spPr>
        <p:txBody>
          <a:bodyPr anchor="t" wrap="square" tIns="0" bIns="0" lIns="0" rIns="0">
            <a:normAutofit/>
          </a:bodyPr>
          <a:lstStyle/>
          <a:p>
            <a:pPr algn="l">
              <a:lnSpc>
                <a:spcPts val="2760"/>
              </a:lnSpc>
              <a:buNone/>
            </a:pPr>
            <a:r>
              <a:rPr sz="2400" b="1" i="0">
                <a:solidFill>
                  <a:srgbClr val="2B5577"/>
                </a:solidFill>
                <a:latin typeface="Arial"/>
                <a:ea typeface="Arial"/>
              </a:rPr>
              <a:t>Parallel-fiber conduction distributes input through ELL</a:t>
            </a:r>
            <a:endParaRPr lang="en-US"/>
          </a:p>
        </p:txBody>
      </p:sp>
      <p:sp>
        <p:nvSpPr>
          <p:cNvPr id="971" name="Shape 971"/>
          <p:cNvSpPr/>
          <p:nvPr/>
        </p:nvSpPr>
        <p:spPr>
          <a:xfrm>
            <a:off x="566000" y="1234440"/>
            <a:ext cx="5480000" cy="4915560"/>
          </a:xfrm>
          <a:prstGeom prst="rect">
            <a:avLst/>
          </a:prstGeom>
          <a:noFill/>
        </p:spPr>
        <p:txBody>
          <a:bodyPr anchor="t" wrap="square" tIns="0" bIns="0" lIns="0" rIns="0">
            <a:normAutofit/>
          </a:bodyPr>
          <a:lstStyle/>
          <a:p>
            <a:pPr algn="l">
              <a:lnSpc>
                <a:spcPct val="108000"/>
              </a:lnSpc>
              <a:spcAft>
                <a:spcPts val="1200"/>
              </a:spcAft>
              <a:buNone/>
            </a:pPr>
            <a:r>
              <a:rPr sz="1400" b="1" i="0">
                <a:solidFill>
                  <a:srgbClr val="1F262D"/>
                </a:solidFill>
                <a:latin typeface="Arial"/>
                <a:ea typeface="Arial"/>
              </a:rPr>
              <a:t>Conduction</a:t>
            </a:r>
            <a:r>
              <a:rPr sz="1400" b="0" i="0">
                <a:solidFill>
                  <a:srgbClr val="1F262D"/>
                </a:solidFill>
                <a:latin typeface="Arial"/>
                <a:ea typeface="Arial"/>
              </a:rPr>
              <a:t xml:space="preserve"> is spread of an electrical signal along an axon. Grant and colleagues stimulated molecular-layer fibers and moved the recording site along the parallel-fiber beam, measuring response latency at increasing distance from the stimulating electrode. The beam is the aligned bundle that molecular-layer stimulation recruits. The recording site moved along that beam.</a:t>
            </a:r>
            <a:endParaRPr lang="en-US"/>
          </a:p>
          <a:p>
            <a:pPr algn="l">
              <a:lnSpc>
                <a:spcPct val="108000"/>
              </a:lnSpc>
              <a:spcAft>
                <a:spcPts val="1200"/>
              </a:spcAft>
              <a:buNone/>
            </a:pPr>
            <a:r>
              <a:rPr sz="1400" b="0" i="0">
                <a:solidFill>
                  <a:srgbClr val="1F262D"/>
                </a:solidFill>
                <a:latin typeface="Arial"/>
                <a:ea typeface="Arial"/>
              </a:rPr>
              <a:t xml:space="preserve">Latency increased with the separation between stimulation and recording positions. This distance-time relationship supports propagation along the stimulated pathway. Arrival time at each site was measured, which tested propagation rather than a single local event. Each recording site was a separate measurement of arrival time. The distance-time relationship was measured across the full beam.</a:t>
            </a:r>
            <a:endParaRPr lang="en-US"/>
          </a:p>
          <a:p>
            <a:pPr algn="l">
              <a:lnSpc>
                <a:spcPct val="108000"/>
              </a:lnSpc>
              <a:spcAft>
                <a:spcPts val="1200"/>
              </a:spcAft>
              <a:buNone/>
            </a:pPr>
            <a:r>
              <a:rPr sz="1400" b="0" i="0">
                <a:solidFill>
                  <a:srgbClr val="1F262D"/>
                </a:solidFill>
                <a:latin typeface="Arial"/>
                <a:ea typeface="Arial"/>
              </a:rPr>
              <a:t xml:space="preserve">Spatially distributed input can reach dendrites across an organized sensory structure. The conduction measurements establish a physical transmission property in the slice. Conduction describes how the signal travels, not the information each fiber carries. The measured latencies describe how signals spread through the beam. Such spatially distributed input is a physical property of the pathway.</a:t>
            </a:r>
            <a:endParaRPr lang="en-US"/>
          </a:p>
        </p:txBody>
      </p:sp>
      <p:pic>
        <p:nvPicPr>
          <p:cNvPr id="339" name="Presenton Native Image 45" descr=""/>
          <p:cNvPicPr/>
          <p:nvPr/>
        </p:nvPicPr>
        <p:blipFill>
          <a:blip r:embed="rId3" cstate="none"/>
          <a:stretch>
            <a:fillRect/>
          </a:stretch>
        </p:blipFill>
        <p:spPr>
          <a:xfrm>
            <a:off x="6362700" y="1353341"/>
            <a:ext cx="5372100" cy="1870973"/>
          </a:xfrm>
          <a:prstGeom prst="rect">
            <a:avLst/>
          </a:prstGeom>
        </p:spPr>
      </p:pic>
      <p:sp>
        <p:nvSpPr>
          <p:cNvPr id="974" name="Shape 974"/>
          <p:cNvSpPr/>
          <p:nvPr/>
        </p:nvSpPr>
        <p:spPr>
          <a:xfrm>
            <a:off x="6362700" y="3598515"/>
            <a:ext cx="5391150" cy="166688"/>
          </a:xfrm>
          <a:prstGeom prst="rect">
            <a:avLst/>
          </a:prstGeom>
          <a:noFill/>
        </p:spPr>
        <p:txBody>
          <a:bodyPr anchor="t" wrap="square" tIns="0" bIns="0" lIns="0" rIns="0">
            <a:normAutofit/>
          </a:bodyPr>
          <a:lstStyle/>
          <a:p>
            <a:pPr algn="l">
              <a:lnSpc>
                <a:spcPts val="1313"/>
              </a:lnSpc>
              <a:buNone/>
            </a:pPr>
            <a:r>
              <a:rPr sz="1050" b="0" i="0">
                <a:solidFill>
                  <a:srgbClr val="1F262D"/>
                </a:solidFill>
                <a:latin typeface="Arial"/>
                <a:ea typeface="Arial"/>
              </a:rPr>
              <a:t>Grant et al. (1998), Fig. 5(A–C). Field recordings along a stimulated parallel-fiber beam.</a:t>
            </a:r>
            <a:endParaRPr lang="en-US"/>
          </a:p>
        </p:txBody>
      </p:sp>
      <p:pic>
        <p:nvPicPr>
          <p:cNvPr id="340" name="Presenton Native Image 46" descr=""/>
          <p:cNvPicPr/>
          <p:nvPr/>
        </p:nvPicPr>
        <p:blipFill>
          <a:blip r:embed="rId2" cstate="none"/>
          <a:stretch>
            <a:fillRect/>
          </a:stretch>
        </p:blipFill>
        <p:spPr>
          <a:xfrm>
            <a:off x="7930832" y="3936653"/>
            <a:ext cx="2235836" cy="1476375"/>
          </a:xfrm>
          <a:prstGeom prst="rect">
            <a:avLst/>
          </a:prstGeom>
        </p:spPr>
      </p:pic>
      <p:sp>
        <p:nvSpPr>
          <p:cNvPr id="975" name="Shape 975"/>
          <p:cNvSpPr/>
          <p:nvPr/>
        </p:nvSpPr>
        <p:spPr>
          <a:xfrm>
            <a:off x="6362700" y="5489228"/>
            <a:ext cx="5391150" cy="166688"/>
          </a:xfrm>
          <a:prstGeom prst="rect">
            <a:avLst/>
          </a:prstGeom>
          <a:noFill/>
        </p:spPr>
        <p:txBody>
          <a:bodyPr anchor="t" wrap="square" tIns="0" bIns="0" lIns="0" rIns="0">
            <a:normAutofit/>
          </a:bodyPr>
          <a:lstStyle/>
          <a:p>
            <a:pPr algn="l">
              <a:lnSpc>
                <a:spcPts val="1313"/>
              </a:lnSpc>
              <a:buNone/>
            </a:pPr>
            <a:r>
              <a:rPr sz="1050" b="0" i="0">
                <a:solidFill>
                  <a:srgbClr val="1F262D"/>
                </a:solidFill>
                <a:latin typeface="Arial"/>
                <a:ea typeface="Arial"/>
              </a:rPr>
              <a:t>Grant et al. (1998), Fig. 1. ELL geometry and molecular-layer stimulation sites.</a:t>
            </a:r>
            <a:endParaRPr lang="en-US"/>
          </a:p>
        </p:txBody>
      </p:sp>
      <p:sp>
        <p:nvSpPr>
          <p:cNvPr id="976" name="Shape 976"/>
          <p:cNvSpPr/>
          <p:nvPr/>
        </p:nvSpPr>
        <p:spPr>
          <a:xfrm>
            <a:off x="457200" y="6462713"/>
            <a:ext cx="1051917" cy="185738"/>
          </a:xfrm>
          <a:prstGeom prst="rect">
            <a:avLst/>
          </a:prstGeom>
          <a:noFill/>
        </p:spPr>
        <p:txBody>
          <a:bodyPr anchor="t" wrap="square" tIns="0" bIns="0" lIns="0" rIns="0">
            <a:normAutofit/>
          </a:bodyPr>
          <a:lstStyle/>
          <a:p>
            <a:pPr algn="l">
              <a:lnSpc>
                <a:spcPts val="1463"/>
              </a:lnSpc>
              <a:buNone/>
            </a:pPr>
            <a:r>
              <a:rPr sz="975" b="0" i="0">
                <a:solidFill>
                  <a:srgbClr val="58636E"/>
                </a:solidFill>
                <a:latin typeface="Arial"/>
                <a:ea typeface="Arial"/>
              </a:rPr>
              <a:t>Grant et al. (1998)</a:t>
            </a:r>
            <a:endParaRPr lang="en-US"/>
          </a:p>
        </p:txBody>
      </p:sp>
      <p:sp>
        <p:nvSpPr>
          <p:cNvPr id="977" name="Shape 977"/>
          <p:cNvSpPr/>
          <p:nvPr/>
        </p:nvSpPr>
        <p:spPr>
          <a:xfrm>
            <a:off x="11593116" y="6462713"/>
            <a:ext cx="160734" cy="185738"/>
          </a:xfrm>
          <a:prstGeom prst="rect">
            <a:avLst/>
          </a:prstGeom>
          <a:noFill/>
        </p:spPr>
        <p:txBody>
          <a:bodyPr anchor="t" wrap="square" tIns="0" bIns="0" lIns="0" rIns="0">
            <a:normAutofit/>
          </a:bodyPr>
          <a:lstStyle/>
          <a:p>
            <a:pPr algn="l">
              <a:lnSpc>
                <a:spcPts val="1463"/>
              </a:lnSpc>
              <a:buNone/>
            </a:pPr>
            <a:r>
              <a:rPr sz="975" b="0" i="0">
                <a:solidFill>
                  <a:srgbClr val="58636E"/>
                </a:solidFill>
                <a:latin typeface="Arial"/>
                <a:ea typeface="Arial"/>
              </a:rPr>
              <a:t>37</a:t>
            </a:r>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bg>
      <p:bgPr>
        <a:solidFill>
          <a:srgbClr val="FFFFFF"/>
        </a:solidFill>
      </p:bgPr>
    </p:bg>
    <p:spTree>
      <p:nvGrpSpPr>
        <p:cNvPr id="1" name=""/>
        <p:cNvGrpSpPr/>
        <p:nvPr/>
      </p:nvGrpSpPr>
      <p:grpSpPr>
        <a:xfrm>
          <a:off x="0" y="0"/>
          <a:ext cx="0" cy="0"/>
          <a:chOff x="0" y="0"/>
          <a:chExt cx="0" cy="0"/>
        </a:xfrm>
      </p:grpSpPr>
      <p:sp>
        <p:nvSpPr>
          <p:cNvPr id="978" name="Shape 978"/>
          <p:cNvSpPr/>
          <p:nvPr/>
        </p:nvSpPr>
        <p:spPr>
          <a:xfrm>
            <a:off x="457200" y="457200"/>
            <a:ext cx="11296650" cy="350490"/>
          </a:xfrm>
          <a:prstGeom prst="rect">
            <a:avLst/>
          </a:prstGeom>
          <a:noFill/>
        </p:spPr>
        <p:txBody>
          <a:bodyPr anchor="t" wrap="square" tIns="0" bIns="0" lIns="0" rIns="0">
            <a:normAutofit/>
          </a:bodyPr>
          <a:lstStyle/>
          <a:p>
            <a:pPr algn="l">
              <a:lnSpc>
                <a:spcPts val="2760"/>
              </a:lnSpc>
              <a:buNone/>
            </a:pPr>
            <a:r>
              <a:rPr sz="2400" b="1" i="0">
                <a:solidFill>
                  <a:srgbClr val="2B5577"/>
                </a:solidFill>
                <a:latin typeface="Arial"/>
                <a:ea typeface="Arial"/>
              </a:rPr>
              <a:t>A motor command supplies context for sensory processing</a:t>
            </a:r>
            <a:endParaRPr lang="en-US"/>
          </a:p>
        </p:txBody>
      </p:sp>
      <p:sp>
        <p:nvSpPr>
          <p:cNvPr id="979" name="Shape 979"/>
          <p:cNvSpPr/>
          <p:nvPr/>
        </p:nvSpPr>
        <p:spPr>
          <a:xfrm>
            <a:off x="566000" y="1234440"/>
            <a:ext cx="5480000" cy="4915560"/>
          </a:xfrm>
          <a:prstGeom prst="rect">
            <a:avLst/>
          </a:prstGeom>
          <a:noFill/>
        </p:spPr>
        <p:txBody>
          <a:bodyPr anchor="t" wrap="square" tIns="0" bIns="0" lIns="0" rIns="0">
            <a:normAutofit/>
          </a:bodyPr>
          <a:lstStyle/>
          <a:p>
            <a:pPr algn="l">
              <a:lnSpc>
                <a:spcPct val="108000"/>
              </a:lnSpc>
              <a:spcAft>
                <a:spcPts val="1200"/>
              </a:spcAft>
              <a:buNone/>
            </a:pPr>
            <a:r>
              <a:rPr sz="1400" b="0" i="0">
                <a:solidFill>
                  <a:srgbClr val="1F262D"/>
                </a:solidFill>
                <a:latin typeface="Arial"/>
                <a:ea typeface="Arial"/>
              </a:rPr>
              <a:t xml:space="preserve">A </a:t>
            </a:r>
            <a:r>
              <a:rPr sz="1400" b="1" i="0">
                <a:solidFill>
                  <a:srgbClr val="1F262D"/>
                </a:solidFill>
                <a:latin typeface="Arial"/>
                <a:ea typeface="Arial"/>
              </a:rPr>
              <a:t>corollary discharge</a:t>
            </a:r>
            <a:r>
              <a:rPr sz="1400" b="0" i="0">
                <a:solidFill>
                  <a:srgbClr val="1F262D"/>
                </a:solidFill>
                <a:latin typeface="Arial"/>
                <a:ea typeface="Arial"/>
              </a:rPr>
              <a:t xml:space="preserve"> is an internal signal associated with a motor command. In mormyrid ELL, electric-organ command-related input accompanies peripheral electrosensory input, giving timing information about the animal's own sensing action. The command input is therefore internal, and it marks the timing of the animal's own emission. It is a timing signal.</a:t>
            </a:r>
            <a:endParaRPr lang="en-US"/>
          </a:p>
          <a:p>
            <a:pPr algn="l">
              <a:lnSpc>
                <a:spcPct val="108000"/>
              </a:lnSpc>
              <a:spcAft>
                <a:spcPts val="1200"/>
              </a:spcAft>
              <a:buNone/>
            </a:pPr>
            <a:r>
              <a:rPr sz="1400" b="0" i="0">
                <a:solidFill>
                  <a:srgbClr val="1F262D"/>
                </a:solidFill>
                <a:latin typeface="Arial"/>
                <a:ea typeface="Arial"/>
              </a:rPr>
              <a:t xml:space="preserve">Sawtell and colleagues recorded medium ganglion cells in vivo and measured command-evoked activity, sensory responses, and broad and narrow spikes separately. Their preparation kept the motor command apart from an experimentally delivered electric stimulus. Command-evoked activity was examined in vivo, not in slices. Both broad and narrow spikes were recorded in the same preparation.</a:t>
            </a:r>
            <a:endParaRPr lang="en-US"/>
          </a:p>
          <a:p>
            <a:pPr algn="l">
              <a:lnSpc>
                <a:spcPct val="108000"/>
              </a:lnSpc>
              <a:spcAft>
                <a:spcPts val="1200"/>
              </a:spcAft>
              <a:buNone/>
            </a:pPr>
            <a:r>
              <a:rPr sz="1400" b="0" i="0">
                <a:solidFill>
                  <a:srgbClr val="1F262D"/>
                </a:solidFill>
                <a:latin typeface="Arial"/>
                <a:ea typeface="Arial"/>
              </a:rPr>
              <a:t xml:space="preserve">Self-generated context is integrated with sensory information in these recordings. The corollary signal follows the command pathway even when the preparation prevents the usual movement or emission. A corollary signal is not sensory evidence about the object, but a record of the animal's own action. It marks when the sensing action took place.</a:t>
            </a:r>
            <a:endParaRPr lang="en-US"/>
          </a:p>
        </p:txBody>
      </p:sp>
      <p:pic>
        <p:nvPicPr>
          <p:cNvPr id="341" name="Presenton Native Image 47" descr=""/>
          <p:cNvPicPr/>
          <p:nvPr/>
        </p:nvPicPr>
        <p:blipFill>
          <a:blip r:embed="rId2" cstate="none"/>
          <a:stretch>
            <a:fillRect/>
          </a:stretch>
        </p:blipFill>
        <p:spPr>
          <a:xfrm>
            <a:off x="6765421" y="1055340"/>
            <a:ext cx="4738108" cy="4000500"/>
          </a:xfrm>
          <a:prstGeom prst="rect">
            <a:avLst/>
          </a:prstGeom>
        </p:spPr>
      </p:pic>
      <p:sp>
        <p:nvSpPr>
          <p:cNvPr id="982" name="Shape 982"/>
          <p:cNvSpPr/>
          <p:nvPr/>
        </p:nvSpPr>
        <p:spPr>
          <a:xfrm>
            <a:off x="6610350" y="5170140"/>
            <a:ext cx="5067300" cy="371475"/>
          </a:xfrm>
          <a:prstGeom prst="rect">
            <a:avLst/>
          </a:prstGeom>
          <a:noFill/>
        </p:spPr>
        <p:txBody>
          <a:bodyPr anchor="t" wrap="square" tIns="0" bIns="0" lIns="0" rIns="0">
            <a:normAutofit/>
          </a:bodyPr>
          <a:lstStyle/>
          <a:p>
            <a:pPr algn="l">
              <a:lnSpc>
                <a:spcPts val="1463"/>
              </a:lnSpc>
              <a:buNone/>
            </a:pPr>
            <a:r>
              <a:rPr sz="1125" b="0" i="0">
                <a:solidFill>
                  <a:srgbClr val="1F262D"/>
                </a:solidFill>
                <a:latin typeface="Arial"/>
                <a:ea typeface="Arial"/>
              </a:rPr>
              <a:t>Sawtell et al. (2007), Fig. 1(A–B). Published circuit anatomy and command-linked cell responses.</a:t>
            </a:r>
            <a:endParaRPr lang="en-US"/>
          </a:p>
        </p:txBody>
      </p:sp>
      <p:sp>
        <p:nvSpPr>
          <p:cNvPr id="983" name="Shape 983"/>
          <p:cNvSpPr/>
          <p:nvPr/>
        </p:nvSpPr>
        <p:spPr>
          <a:xfrm>
            <a:off x="457200" y="6462713"/>
            <a:ext cx="1135707" cy="185738"/>
          </a:xfrm>
          <a:prstGeom prst="rect">
            <a:avLst/>
          </a:prstGeom>
          <a:noFill/>
        </p:spPr>
        <p:txBody>
          <a:bodyPr anchor="t" wrap="square" tIns="0" bIns="0" lIns="0" rIns="0">
            <a:normAutofit/>
          </a:bodyPr>
          <a:lstStyle/>
          <a:p>
            <a:pPr algn="l">
              <a:lnSpc>
                <a:spcPts val="1463"/>
              </a:lnSpc>
              <a:buNone/>
            </a:pPr>
            <a:r>
              <a:rPr sz="975" b="0" i="0">
                <a:solidFill>
                  <a:srgbClr val="58636E"/>
                </a:solidFill>
                <a:latin typeface="Arial"/>
                <a:ea typeface="Arial"/>
              </a:rPr>
              <a:t>Sawtell et al. (2007)</a:t>
            </a:r>
            <a:endParaRPr lang="en-US"/>
          </a:p>
        </p:txBody>
      </p:sp>
      <p:sp>
        <p:nvSpPr>
          <p:cNvPr id="984" name="Shape 984"/>
          <p:cNvSpPr/>
          <p:nvPr/>
        </p:nvSpPr>
        <p:spPr>
          <a:xfrm>
            <a:off x="11593116" y="6462713"/>
            <a:ext cx="160734" cy="185738"/>
          </a:xfrm>
          <a:prstGeom prst="rect">
            <a:avLst/>
          </a:prstGeom>
          <a:noFill/>
        </p:spPr>
        <p:txBody>
          <a:bodyPr anchor="t" wrap="square" tIns="0" bIns="0" lIns="0" rIns="0">
            <a:normAutofit/>
          </a:bodyPr>
          <a:lstStyle/>
          <a:p>
            <a:pPr algn="l">
              <a:lnSpc>
                <a:spcPts val="1463"/>
              </a:lnSpc>
              <a:buNone/>
            </a:pPr>
            <a:r>
              <a:rPr sz="975" b="0" i="0">
                <a:solidFill>
                  <a:srgbClr val="58636E"/>
                </a:solidFill>
                <a:latin typeface="Arial"/>
                <a:ea typeface="Arial"/>
              </a:rPr>
              <a:t>38</a:t>
            </a:r>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bg>
      <p:bgPr>
        <a:solidFill>
          <a:srgbClr val="FFFFFF"/>
        </a:solidFill>
      </p:bgPr>
    </p:bg>
    <p:spTree>
      <p:nvGrpSpPr>
        <p:cNvPr id="1" name=""/>
        <p:cNvGrpSpPr/>
        <p:nvPr/>
      </p:nvGrpSpPr>
      <p:grpSpPr>
        <a:xfrm>
          <a:off x="0" y="0"/>
          <a:ext cx="0" cy="0"/>
          <a:chOff x="0" y="0"/>
          <a:chExt cx="0" cy="0"/>
        </a:xfrm>
      </p:grpSpPr>
      <p:sp>
        <p:nvSpPr>
          <p:cNvPr id="985" name="Shape 985"/>
          <p:cNvSpPr/>
          <p:nvPr/>
        </p:nvSpPr>
        <p:spPr>
          <a:xfrm>
            <a:off x="457200" y="457200"/>
            <a:ext cx="11296650" cy="350490"/>
          </a:xfrm>
          <a:prstGeom prst="rect">
            <a:avLst/>
          </a:prstGeom>
          <a:noFill/>
        </p:spPr>
        <p:txBody>
          <a:bodyPr anchor="t" wrap="square" tIns="0" bIns="0" lIns="0" rIns="0">
            <a:normAutofit/>
          </a:bodyPr>
          <a:lstStyle/>
          <a:p>
            <a:pPr algn="l">
              <a:lnSpc>
                <a:spcPts val="2760"/>
              </a:lnSpc>
              <a:buNone/>
            </a:pPr>
            <a:r>
              <a:rPr sz="2400" b="1" i="0">
                <a:solidFill>
                  <a:srgbClr val="2B5577"/>
                </a:solidFill>
                <a:latin typeface="Arial"/>
                <a:ea typeface="Arial"/>
              </a:rPr>
              <a:t>Broad and narrow spikes have different circuit roles</a:t>
            </a:r>
            <a:endParaRPr lang="en-US"/>
          </a:p>
        </p:txBody>
      </p:sp>
      <p:sp>
        <p:nvSpPr>
          <p:cNvPr id="986" name="Shape 986"/>
          <p:cNvSpPr/>
          <p:nvPr/>
        </p:nvSpPr>
        <p:spPr>
          <a:xfrm>
            <a:off x="566000" y="1234440"/>
            <a:ext cx="5480000" cy="4915560"/>
          </a:xfrm>
          <a:prstGeom prst="rect">
            <a:avLst/>
          </a:prstGeom>
          <a:noFill/>
        </p:spPr>
        <p:txBody>
          <a:bodyPr anchor="t" wrap="square" tIns="0" bIns="0" lIns="0" rIns="0">
            <a:normAutofit/>
          </a:bodyPr>
          <a:lstStyle/>
          <a:p>
            <a:pPr algn="l">
              <a:lnSpc>
                <a:spcPct val="108000"/>
              </a:lnSpc>
              <a:spcAft>
                <a:spcPts val="1200"/>
              </a:spcAft>
              <a:buNone/>
            </a:pPr>
            <a:r>
              <a:rPr sz="1400" b="1" i="0">
                <a:solidFill>
                  <a:srgbClr val="1F262D"/>
                </a:solidFill>
                <a:latin typeface="Arial"/>
                <a:ea typeface="Arial"/>
              </a:rPr>
              <a:t>N spikes</a:t>
            </a:r>
            <a:r>
              <a:rPr sz="1400" b="0" i="0">
                <a:solidFill>
                  <a:srgbClr val="1F262D"/>
                </a:solidFill>
                <a:latin typeface="Arial"/>
                <a:ea typeface="Arial"/>
              </a:rPr>
              <a:t xml:space="preserve"> are narrow axonal spikes that form the principal medium ganglion output, whereas </a:t>
            </a:r>
            <a:r>
              <a:rPr sz="1400" b="1" i="0">
                <a:solidFill>
                  <a:srgbClr val="1F262D"/>
                </a:solidFill>
                <a:latin typeface="Arial"/>
                <a:ea typeface="Arial"/>
              </a:rPr>
              <a:t>B spikes</a:t>
            </a:r>
            <a:r>
              <a:rPr sz="1400" b="0" i="0">
                <a:solidFill>
                  <a:srgbClr val="1F262D"/>
                </a:solidFill>
                <a:latin typeface="Arial"/>
                <a:ea typeface="Arial"/>
              </a:rPr>
              <a:t xml:space="preserve"> are broad dendritic events associated with parallel-fiber plasticity. Sawtell and colleagues recorded both event types to see how one cell's output and learning signals interact. Both event types occur in the same cell, which makes their relation a within-neuron question.</a:t>
            </a:r>
            <a:endParaRPr lang="en-US"/>
          </a:p>
          <a:p>
            <a:pPr algn="l">
              <a:lnSpc>
                <a:spcPct val="108000"/>
              </a:lnSpc>
              <a:spcAft>
                <a:spcPts val="1200"/>
              </a:spcAft>
              <a:buNone/>
            </a:pPr>
            <a:r>
              <a:rPr sz="1400" b="0" i="0">
                <a:solidFill>
                  <a:srgbClr val="1F262D"/>
                </a:solidFill>
                <a:latin typeface="Arial"/>
                <a:ea typeface="Arial"/>
              </a:rPr>
              <a:t xml:space="preserve">B also spikes were associated with distinct patterns of nearby N spikes, and their timing varied within the electric-organ command cycle. The two event types can interact while remaining distinguishable in the same recordings. B-spike timing was measured within each command cycle. The distinct N-spike patterns were recorded in the same cell.</a:t>
            </a:r>
            <a:endParaRPr lang="en-US"/>
          </a:p>
          <a:p>
            <a:pPr algn="l">
              <a:lnSpc>
                <a:spcPct val="108000"/>
              </a:lnSpc>
              <a:spcAft>
                <a:spcPts val="1200"/>
              </a:spcAft>
              <a:buNone/>
            </a:pPr>
            <a:r>
              <a:rPr sz="1400" b="0" i="0">
                <a:solidFill>
                  <a:srgbClr val="1F262D"/>
                </a:solidFill>
                <a:latin typeface="Arial"/>
                <a:ea typeface="Arial"/>
              </a:rPr>
              <a:t xml:space="preserve">The also circuit view distinguishes immediate output from an event that regulates later synaptic change. Dendritic events occur in the input-receiving compartment, while axonal events travel along the output pathway. A broad spike is associated with changes in later synaptic strength rather than immediate output. Both events remain distinguishable in one recording.</a:t>
            </a:r>
            <a:endParaRPr lang="en-US"/>
          </a:p>
        </p:txBody>
      </p:sp>
      <p:pic>
        <p:nvPicPr>
          <p:cNvPr id="342" name="Presenton Native Image 48" descr=""/>
          <p:cNvPicPr/>
          <p:nvPr/>
        </p:nvPicPr>
        <p:blipFill>
          <a:blip r:embed="rId3" cstate="none"/>
          <a:stretch>
            <a:fillRect/>
          </a:stretch>
        </p:blipFill>
        <p:spPr>
          <a:xfrm>
            <a:off x="8016011" y="1055340"/>
            <a:ext cx="2065478" cy="2466975"/>
          </a:xfrm>
          <a:prstGeom prst="rect">
            <a:avLst/>
          </a:prstGeom>
        </p:spPr>
      </p:pic>
      <p:pic>
        <p:nvPicPr>
          <p:cNvPr id="343" name="Presenton Native Image 49" descr=""/>
          <p:cNvPicPr/>
          <p:nvPr/>
        </p:nvPicPr>
        <p:blipFill>
          <a:blip r:embed="rId2" cstate="none"/>
          <a:stretch>
            <a:fillRect/>
          </a:stretch>
        </p:blipFill>
        <p:spPr>
          <a:xfrm>
            <a:off x="8533626" y="4103340"/>
            <a:ext cx="1030249" cy="1476375"/>
          </a:xfrm>
          <a:prstGeom prst="rect">
            <a:avLst/>
          </a:prstGeom>
        </p:spPr>
      </p:pic>
      <p:sp>
        <p:nvSpPr>
          <p:cNvPr id="990" name="Shape 990"/>
          <p:cNvSpPr/>
          <p:nvPr/>
        </p:nvSpPr>
        <p:spPr>
          <a:xfrm>
            <a:off x="6362700" y="5655915"/>
            <a:ext cx="5391150" cy="166688"/>
          </a:xfrm>
          <a:prstGeom prst="rect">
            <a:avLst/>
          </a:prstGeom>
          <a:noFill/>
        </p:spPr>
        <p:txBody>
          <a:bodyPr anchor="t" wrap="square" tIns="0" bIns="0" lIns="0" rIns="0">
            <a:normAutofit/>
          </a:bodyPr>
          <a:lstStyle/>
          <a:p>
            <a:pPr algn="l">
              <a:lnSpc>
                <a:spcPts val="1313"/>
              </a:lnSpc>
              <a:buNone/>
            </a:pPr>
            <a:r>
              <a:rPr sz="1050" b="0" i="0">
                <a:solidFill>
                  <a:srgbClr val="1F262D"/>
                </a:solidFill>
                <a:latin typeface="Arial"/>
                <a:ea typeface="Arial"/>
              </a:rPr>
              <a:t>Sawtell et al. (2007), Fig. 1(A). Published anatomy of the medium ganglion cell circuit.</a:t>
            </a:r>
            <a:endParaRPr lang="en-US"/>
          </a:p>
        </p:txBody>
      </p:sp>
      <p:sp>
        <p:nvSpPr>
          <p:cNvPr id="991" name="Shape 991"/>
          <p:cNvSpPr/>
          <p:nvPr/>
        </p:nvSpPr>
        <p:spPr>
          <a:xfrm>
            <a:off x="457200" y="6462713"/>
            <a:ext cx="1135707" cy="185738"/>
          </a:xfrm>
          <a:prstGeom prst="rect">
            <a:avLst/>
          </a:prstGeom>
          <a:noFill/>
        </p:spPr>
        <p:txBody>
          <a:bodyPr anchor="t" wrap="square" tIns="0" bIns="0" lIns="0" rIns="0">
            <a:normAutofit/>
          </a:bodyPr>
          <a:lstStyle/>
          <a:p>
            <a:pPr algn="l">
              <a:lnSpc>
                <a:spcPts val="1463"/>
              </a:lnSpc>
              <a:buNone/>
            </a:pPr>
            <a:r>
              <a:rPr sz="975" b="0" i="0">
                <a:solidFill>
                  <a:srgbClr val="58636E"/>
                </a:solidFill>
                <a:latin typeface="Arial"/>
                <a:ea typeface="Arial"/>
              </a:rPr>
              <a:t>Sawtell et al. (2007)</a:t>
            </a:r>
            <a:endParaRPr lang="en-US"/>
          </a:p>
        </p:txBody>
      </p:sp>
      <p:sp>
        <p:nvSpPr>
          <p:cNvPr id="992" name="Shape 992"/>
          <p:cNvSpPr/>
          <p:nvPr/>
        </p:nvSpPr>
        <p:spPr>
          <a:xfrm>
            <a:off x="11593116" y="6462713"/>
            <a:ext cx="160734" cy="185738"/>
          </a:xfrm>
          <a:prstGeom prst="rect">
            <a:avLst/>
          </a:prstGeom>
          <a:noFill/>
        </p:spPr>
        <p:txBody>
          <a:bodyPr anchor="t" wrap="square" tIns="0" bIns="0" lIns="0" rIns="0">
            <a:normAutofit/>
          </a:bodyPr>
          <a:lstStyle/>
          <a:p>
            <a:pPr algn="l">
              <a:lnSpc>
                <a:spcPts val="1463"/>
              </a:lnSpc>
              <a:buNone/>
            </a:pPr>
            <a:r>
              <a:rPr sz="975" b="0" i="0">
                <a:solidFill>
                  <a:srgbClr val="58636E"/>
                </a:solidFill>
                <a:latin typeface="Arial"/>
                <a:ea typeface="Arial"/>
              </a:rPr>
              <a:t>39</a:t>
            </a:r>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bg>
      <p:bgPr>
        <a:solidFill>
          <a:srgbClr val="FFFFFF"/>
        </a:solidFill>
      </p:bgPr>
    </p:bg>
    <p:spTree>
      <p:nvGrpSpPr>
        <p:cNvPr id="1" name=""/>
        <p:cNvGrpSpPr/>
        <p:nvPr/>
      </p:nvGrpSpPr>
      <p:grpSpPr>
        <a:xfrm>
          <a:off x="0" y="0"/>
          <a:ext cx="0" cy="0"/>
          <a:chOff x="0" y="0"/>
          <a:chExt cx="0" cy="0"/>
        </a:xfrm>
      </p:grpSpPr>
      <p:sp>
        <p:nvSpPr>
          <p:cNvPr id="993" name="Shape 993"/>
          <p:cNvSpPr/>
          <p:nvPr/>
        </p:nvSpPr>
        <p:spPr>
          <a:xfrm>
            <a:off x="457200" y="457200"/>
            <a:ext cx="11296650" cy="350490"/>
          </a:xfrm>
          <a:prstGeom prst="rect">
            <a:avLst/>
          </a:prstGeom>
          <a:noFill/>
        </p:spPr>
        <p:txBody>
          <a:bodyPr anchor="t" wrap="square" tIns="0" bIns="0" lIns="0" rIns="0">
            <a:normAutofit/>
          </a:bodyPr>
          <a:lstStyle/>
          <a:p>
            <a:pPr algn="l">
              <a:lnSpc>
                <a:spcPts val="2760"/>
              </a:lnSpc>
              <a:buNone/>
            </a:pPr>
            <a:r>
              <a:rPr sz="2400" b="1" i="0">
                <a:solidFill>
                  <a:srgbClr val="2B5577"/>
                </a:solidFill>
                <a:latin typeface="Arial"/>
                <a:ea typeface="Arial"/>
              </a:rPr>
              <a:t>Command timing can dissociate excitation and B spikes</a:t>
            </a:r>
            <a:endParaRPr lang="en-US"/>
          </a:p>
        </p:txBody>
      </p:sp>
      <p:sp>
        <p:nvSpPr>
          <p:cNvPr id="994" name="Shape 994"/>
          <p:cNvSpPr/>
          <p:nvPr/>
        </p:nvSpPr>
        <p:spPr>
          <a:xfrm>
            <a:off x="566000" y="1234440"/>
            <a:ext cx="5480000" cy="4915560"/>
          </a:xfrm>
          <a:prstGeom prst="rect">
            <a:avLst/>
          </a:prstGeom>
          <a:noFill/>
        </p:spPr>
        <p:txBody>
          <a:bodyPr anchor="t" wrap="square" tIns="0" bIns="0" lIns="0" rIns="0">
            <a:normAutofit/>
          </a:bodyPr>
          <a:lstStyle/>
          <a:p>
            <a:pPr algn="l">
              <a:lnSpc>
                <a:spcPct val="108000"/>
              </a:lnSpc>
              <a:spcAft>
                <a:spcPts val="1200"/>
              </a:spcAft>
              <a:buNone/>
            </a:pPr>
            <a:r>
              <a:rPr sz="1400" b="0" i="0">
                <a:solidFill>
                  <a:srgbClr val="1F262D"/>
                </a:solidFill>
                <a:latin typeface="Arial"/>
                <a:ea typeface="Arial"/>
              </a:rPr>
              <a:t xml:space="preserve">A </a:t>
            </a:r>
            <a:r>
              <a:rPr sz="1400" b="1" i="0">
                <a:solidFill>
                  <a:srgbClr val="1F262D"/>
                </a:solidFill>
                <a:latin typeface="Arial"/>
                <a:ea typeface="Arial"/>
              </a:rPr>
              <a:t>command cycle</a:t>
            </a:r>
            <a:r>
              <a:rPr sz="1400" b="0" i="0">
                <a:solidFill>
                  <a:srgbClr val="1F262D"/>
                </a:solidFill>
                <a:latin typeface="Arial"/>
                <a:ea typeface="Arial"/>
              </a:rPr>
              <a:t xml:space="preserve"> is the interval following one electric-organ motor command. Sawtell and colleagues aligned medium ganglion recordings to that command, and narrow-spike output and broad-spike probability were tracked against the same command reference. Alignment to the command makes the timing of each event type comparable across trials. The reference was identical for every trial.</a:t>
            </a:r>
            <a:endParaRPr lang="en-US"/>
          </a:p>
          <a:p>
            <a:pPr algn="l">
              <a:lnSpc>
                <a:spcPct val="108000"/>
              </a:lnSpc>
              <a:spcAft>
                <a:spcPts val="1200"/>
              </a:spcAft>
              <a:buNone/>
            </a:pPr>
            <a:r>
              <a:rPr sz="1400" b="0" i="0">
                <a:solidFill>
                  <a:srgbClr val="1F262D"/>
                </a:solidFill>
                <a:latin typeface="Arial"/>
                <a:ea typeface="Arial"/>
              </a:rPr>
              <a:t xml:space="preserve">B-spike probability fell in an interval about 10-20 ms after the command, even while N-spike output stayed elevated. The different time courses indicate that increased output did not need a matching rise in the dendritic event, and the dissociation was observed in the same cell during each command cycle. The reference was the same in each cycle.</a:t>
            </a:r>
            <a:endParaRPr lang="en-US"/>
          </a:p>
          <a:p>
            <a:pPr algn="l">
              <a:lnSpc>
                <a:spcPct val="108000"/>
              </a:lnSpc>
              <a:spcAft>
                <a:spcPts val="1200"/>
              </a:spcAft>
              <a:buNone/>
            </a:pPr>
            <a:r>
              <a:rPr sz="1400" b="0" i="0">
                <a:solidFill>
                  <a:srgbClr val="1F262D"/>
                </a:solidFill>
                <a:latin typeface="Arial"/>
                <a:ea typeface="Arial"/>
              </a:rPr>
              <a:t xml:space="preserve">This dissociation supports control at distinct compartments or input pathways, rather than one excitability change that affects every spike equally. A pause in one spike class during a burst in another constrains how inhibition acts on the cell. Pharmacological manipulation supplied extra evidence about the inhibitory mechanism. Its time course follows the command timing.</a:t>
            </a:r>
            <a:endParaRPr lang="en-US"/>
          </a:p>
        </p:txBody>
      </p:sp>
      <p:pic>
        <p:nvPicPr>
          <p:cNvPr id="344" name="Presenton Native Image 50" descr=""/>
          <p:cNvPicPr/>
          <p:nvPr/>
        </p:nvPicPr>
        <p:blipFill>
          <a:blip r:embed="rId3" cstate="none"/>
          <a:stretch>
            <a:fillRect/>
          </a:stretch>
        </p:blipFill>
        <p:spPr>
          <a:xfrm>
            <a:off x="8091564" y="1055340"/>
            <a:ext cx="1914373" cy="2466975"/>
          </a:xfrm>
          <a:prstGeom prst="rect">
            <a:avLst/>
          </a:prstGeom>
        </p:spPr>
      </p:pic>
      <p:pic>
        <p:nvPicPr>
          <p:cNvPr id="345" name="Presenton Native Image 51" descr=""/>
          <p:cNvPicPr/>
          <p:nvPr/>
        </p:nvPicPr>
        <p:blipFill>
          <a:blip r:embed="rId2" cstate="none"/>
          <a:stretch>
            <a:fillRect/>
          </a:stretch>
        </p:blipFill>
        <p:spPr>
          <a:xfrm>
            <a:off x="8533626" y="4103340"/>
            <a:ext cx="1030249" cy="1476375"/>
          </a:xfrm>
          <a:prstGeom prst="rect">
            <a:avLst/>
          </a:prstGeom>
        </p:spPr>
      </p:pic>
      <p:sp>
        <p:nvSpPr>
          <p:cNvPr id="998" name="Shape 998"/>
          <p:cNvSpPr/>
          <p:nvPr/>
        </p:nvSpPr>
        <p:spPr>
          <a:xfrm>
            <a:off x="6362700" y="5655915"/>
            <a:ext cx="5391150" cy="166688"/>
          </a:xfrm>
          <a:prstGeom prst="rect">
            <a:avLst/>
          </a:prstGeom>
          <a:noFill/>
        </p:spPr>
        <p:txBody>
          <a:bodyPr anchor="t" wrap="square" tIns="0" bIns="0" lIns="0" rIns="0">
            <a:normAutofit/>
          </a:bodyPr>
          <a:lstStyle/>
          <a:p>
            <a:pPr algn="l">
              <a:lnSpc>
                <a:spcPts val="1313"/>
              </a:lnSpc>
              <a:buNone/>
            </a:pPr>
            <a:r>
              <a:rPr sz="1050" b="0" i="0">
                <a:solidFill>
                  <a:srgbClr val="1F262D"/>
                </a:solidFill>
                <a:latin typeface="Arial"/>
                <a:ea typeface="Arial"/>
              </a:rPr>
              <a:t>Sawtell et al. (2007), Fig. 1(A). Published anatomy of the medium ganglion cell circuit.</a:t>
            </a:r>
            <a:endParaRPr lang="en-US"/>
          </a:p>
        </p:txBody>
      </p:sp>
      <p:sp>
        <p:nvSpPr>
          <p:cNvPr id="999" name="Shape 999"/>
          <p:cNvSpPr/>
          <p:nvPr/>
        </p:nvSpPr>
        <p:spPr>
          <a:xfrm>
            <a:off x="457200" y="6462713"/>
            <a:ext cx="1135707" cy="185738"/>
          </a:xfrm>
          <a:prstGeom prst="rect">
            <a:avLst/>
          </a:prstGeom>
          <a:noFill/>
        </p:spPr>
        <p:txBody>
          <a:bodyPr anchor="t" wrap="square" tIns="0" bIns="0" lIns="0" rIns="0">
            <a:normAutofit/>
          </a:bodyPr>
          <a:lstStyle/>
          <a:p>
            <a:pPr algn="l">
              <a:lnSpc>
                <a:spcPts val="1463"/>
              </a:lnSpc>
              <a:buNone/>
            </a:pPr>
            <a:r>
              <a:rPr sz="975" b="0" i="0">
                <a:solidFill>
                  <a:srgbClr val="58636E"/>
                </a:solidFill>
                <a:latin typeface="Arial"/>
                <a:ea typeface="Arial"/>
              </a:rPr>
              <a:t>Sawtell et al. (2007)</a:t>
            </a:r>
            <a:endParaRPr lang="en-US"/>
          </a:p>
        </p:txBody>
      </p:sp>
      <p:sp>
        <p:nvSpPr>
          <p:cNvPr id="1000" name="Shape 1000"/>
          <p:cNvSpPr/>
          <p:nvPr/>
        </p:nvSpPr>
        <p:spPr>
          <a:xfrm>
            <a:off x="11593116" y="6462713"/>
            <a:ext cx="160734" cy="185738"/>
          </a:xfrm>
          <a:prstGeom prst="rect">
            <a:avLst/>
          </a:prstGeom>
          <a:noFill/>
        </p:spPr>
        <p:txBody>
          <a:bodyPr anchor="t" wrap="square" tIns="0" bIns="0" lIns="0" rIns="0">
            <a:normAutofit/>
          </a:bodyPr>
          <a:lstStyle/>
          <a:p>
            <a:pPr algn="l">
              <a:lnSpc>
                <a:spcPts val="1463"/>
              </a:lnSpc>
              <a:buNone/>
            </a:pPr>
            <a:r>
              <a:rPr sz="975" b="0" i="0">
                <a:solidFill>
                  <a:srgbClr val="58636E"/>
                </a:solidFill>
                <a:latin typeface="Arial"/>
                <a:ea typeface="Arial"/>
              </a:rPr>
              <a:t>40</a:t>
            </a:r>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bg>
      <p:bgPr>
        <a:solidFill>
          <a:srgbClr val="FFFFFF"/>
        </a:solidFill>
      </p:bgPr>
    </p:bg>
    <p:spTree>
      <p:nvGrpSpPr>
        <p:cNvPr id="1" name=""/>
        <p:cNvGrpSpPr/>
        <p:nvPr/>
      </p:nvGrpSpPr>
      <p:grpSpPr>
        <a:xfrm>
          <a:off x="0" y="0"/>
          <a:ext cx="0" cy="0"/>
          <a:chOff x="0" y="0"/>
          <a:chExt cx="0" cy="0"/>
        </a:xfrm>
      </p:grpSpPr>
      <p:sp>
        <p:nvSpPr>
          <p:cNvPr id="1001" name="Shape 1001"/>
          <p:cNvSpPr/>
          <p:nvPr/>
        </p:nvSpPr>
        <p:spPr>
          <a:xfrm>
            <a:off x="457200" y="457200"/>
            <a:ext cx="11296650" cy="350490"/>
          </a:xfrm>
          <a:prstGeom prst="rect">
            <a:avLst/>
          </a:prstGeom>
          <a:noFill/>
        </p:spPr>
        <p:txBody>
          <a:bodyPr anchor="t" wrap="square" tIns="0" bIns="0" lIns="0" rIns="0">
            <a:normAutofit/>
          </a:bodyPr>
          <a:lstStyle/>
          <a:p>
            <a:pPr algn="l">
              <a:lnSpc>
                <a:spcPts val="2760"/>
              </a:lnSpc>
              <a:buNone/>
            </a:pPr>
            <a:r>
              <a:rPr sz="2400" b="1" i="0">
                <a:solidFill>
                  <a:srgbClr val="2B5577"/>
                </a:solidFill>
                <a:latin typeface="Arial"/>
                <a:ea typeface="Arial"/>
              </a:rPr>
              <a:t>Electrosensory stimuli affect the two spike types unequally</a:t>
            </a:r>
            <a:endParaRPr lang="en-US"/>
          </a:p>
        </p:txBody>
      </p:sp>
      <p:sp>
        <p:nvSpPr>
          <p:cNvPr id="1002" name="Shape 1002"/>
          <p:cNvSpPr/>
          <p:nvPr/>
        </p:nvSpPr>
        <p:spPr>
          <a:xfrm>
            <a:off x="566000" y="1234440"/>
            <a:ext cx="5480000" cy="4915560"/>
          </a:xfrm>
          <a:prstGeom prst="rect">
            <a:avLst/>
          </a:prstGeom>
          <a:noFill/>
        </p:spPr>
        <p:txBody>
          <a:bodyPr anchor="t" wrap="square" tIns="0" bIns="0" lIns="0" rIns="0">
            <a:normAutofit/>
          </a:bodyPr>
          <a:lstStyle/>
          <a:p>
            <a:pPr algn="l">
              <a:lnSpc>
                <a:spcPct val="108000"/>
              </a:lnSpc>
              <a:spcAft>
                <a:spcPts val="1200"/>
              </a:spcAft>
              <a:buNone/>
            </a:pPr>
            <a:r>
              <a:rPr sz="1400" b="0" i="0">
                <a:solidFill>
                  <a:srgbClr val="1F262D"/>
                </a:solidFill>
                <a:latin typeface="Arial"/>
                <a:ea typeface="Arial"/>
              </a:rPr>
              <a:t xml:space="preserve">A </a:t>
            </a:r>
            <a:r>
              <a:rPr sz="1400" b="1" i="0">
                <a:solidFill>
                  <a:srgbClr val="1F262D"/>
                </a:solidFill>
                <a:latin typeface="Arial"/>
                <a:ea typeface="Arial"/>
              </a:rPr>
              <a:t>compartment-specific response</a:t>
            </a:r>
            <a:r>
              <a:rPr sz="1400" b="0" i="0">
                <a:solidFill>
                  <a:srgbClr val="1F262D"/>
                </a:solidFill>
                <a:latin typeface="Arial"/>
                <a:ea typeface="Arial"/>
              </a:rPr>
              <a:t xml:space="preserve"> is a change that differs between a neuron's axonal and dendritic events. Sawtell and colleagues varied electrosensory stimuli while recording N spikes and B spikes in medium ganglion cells, with the command reference available for comparison. The stimuli varied from one condition to the next in each single recording.</a:t>
            </a:r>
            <a:endParaRPr lang="en-US"/>
          </a:p>
          <a:p>
            <a:pPr algn="l">
              <a:lnSpc>
                <a:spcPct val="108000"/>
              </a:lnSpc>
              <a:spcAft>
                <a:spcPts val="1200"/>
              </a:spcAft>
              <a:buNone/>
            </a:pPr>
            <a:r>
              <a:rPr sz="1400" b="0" i="0">
                <a:solidFill>
                  <a:srgbClr val="1F262D"/>
                </a:solidFill>
                <a:latin typeface="Arial"/>
                <a:ea typeface="Arial"/>
              </a:rPr>
              <a:t xml:space="preserve">Some stimuli increased N spikes while decreasing B spikes, and other conditions produced the opposite pattern. Sensory excitation and learning-related dendritic firing therefore need separate analysis, since one pooled spike rate hides changes in opposite directions. Each event class was classified separately, so the two responses were not merged. The pooled measure hid the opposite changes.</a:t>
            </a:r>
            <a:endParaRPr lang="en-US"/>
          </a:p>
          <a:p>
            <a:pPr algn="l">
              <a:lnSpc>
                <a:spcPct val="108000"/>
              </a:lnSpc>
              <a:spcAft>
                <a:spcPts val="1200"/>
              </a:spcAft>
              <a:buNone/>
            </a:pPr>
            <a:r>
              <a:rPr sz="1400" b="0" i="0">
                <a:solidFill>
                  <a:srgbClr val="1F262D"/>
                </a:solidFill>
                <a:latin typeface="Arial"/>
                <a:ea typeface="Arial"/>
              </a:rPr>
              <a:t xml:space="preserve">Functional separation within the recorded cell is the main result. Each compartment receives its own mix of inputs, so a single response scale misses part of the change. Both compartments take part in one circuit where incoming signals influence output and plasticity in different ways. The recordings captured both compartments in the same cell.</a:t>
            </a:r>
            <a:endParaRPr lang="en-US"/>
          </a:p>
        </p:txBody>
      </p:sp>
      <p:pic>
        <p:nvPicPr>
          <p:cNvPr id="346" name="Presenton Native Image 52" descr=""/>
          <p:cNvPicPr/>
          <p:nvPr/>
        </p:nvPicPr>
        <p:blipFill>
          <a:blip r:embed="rId3" cstate="none"/>
          <a:stretch>
            <a:fillRect/>
          </a:stretch>
        </p:blipFill>
        <p:spPr>
          <a:xfrm>
            <a:off x="8140285" y="1055340"/>
            <a:ext cx="1816930" cy="2466975"/>
          </a:xfrm>
          <a:prstGeom prst="rect">
            <a:avLst/>
          </a:prstGeom>
        </p:spPr>
      </p:pic>
      <p:pic>
        <p:nvPicPr>
          <p:cNvPr id="347" name="Presenton Native Image 53" descr=""/>
          <p:cNvPicPr/>
          <p:nvPr/>
        </p:nvPicPr>
        <p:blipFill>
          <a:blip r:embed="rId2" cstate="none"/>
          <a:stretch>
            <a:fillRect/>
          </a:stretch>
        </p:blipFill>
        <p:spPr>
          <a:xfrm>
            <a:off x="8533626" y="4103340"/>
            <a:ext cx="1030249" cy="1476375"/>
          </a:xfrm>
          <a:prstGeom prst="rect">
            <a:avLst/>
          </a:prstGeom>
        </p:spPr>
      </p:pic>
      <p:sp>
        <p:nvSpPr>
          <p:cNvPr id="1006" name="Shape 1006"/>
          <p:cNvSpPr/>
          <p:nvPr/>
        </p:nvSpPr>
        <p:spPr>
          <a:xfrm>
            <a:off x="6362700" y="5655915"/>
            <a:ext cx="5391150" cy="166688"/>
          </a:xfrm>
          <a:prstGeom prst="rect">
            <a:avLst/>
          </a:prstGeom>
          <a:noFill/>
        </p:spPr>
        <p:txBody>
          <a:bodyPr anchor="t" wrap="square" tIns="0" bIns="0" lIns="0" rIns="0">
            <a:normAutofit/>
          </a:bodyPr>
          <a:lstStyle/>
          <a:p>
            <a:pPr algn="l">
              <a:lnSpc>
                <a:spcPts val="1313"/>
              </a:lnSpc>
              <a:buNone/>
            </a:pPr>
            <a:r>
              <a:rPr sz="1050" b="0" i="0">
                <a:solidFill>
                  <a:srgbClr val="1F262D"/>
                </a:solidFill>
                <a:latin typeface="Arial"/>
                <a:ea typeface="Arial"/>
              </a:rPr>
              <a:t>Sawtell et al. (2007), Fig. 1(A). Published anatomy of the medium ganglion cell circuit.</a:t>
            </a:r>
            <a:endParaRPr lang="en-US"/>
          </a:p>
        </p:txBody>
      </p:sp>
      <p:sp>
        <p:nvSpPr>
          <p:cNvPr id="1007" name="Shape 1007"/>
          <p:cNvSpPr/>
          <p:nvPr/>
        </p:nvSpPr>
        <p:spPr>
          <a:xfrm>
            <a:off x="457200" y="6462713"/>
            <a:ext cx="1135707" cy="185738"/>
          </a:xfrm>
          <a:prstGeom prst="rect">
            <a:avLst/>
          </a:prstGeom>
          <a:noFill/>
        </p:spPr>
        <p:txBody>
          <a:bodyPr anchor="t" wrap="square" tIns="0" bIns="0" lIns="0" rIns="0">
            <a:normAutofit/>
          </a:bodyPr>
          <a:lstStyle/>
          <a:p>
            <a:pPr algn="l">
              <a:lnSpc>
                <a:spcPts val="1463"/>
              </a:lnSpc>
              <a:buNone/>
            </a:pPr>
            <a:r>
              <a:rPr sz="975" b="0" i="0">
                <a:solidFill>
                  <a:srgbClr val="58636E"/>
                </a:solidFill>
                <a:latin typeface="Arial"/>
                <a:ea typeface="Arial"/>
              </a:rPr>
              <a:t>Sawtell et al. (2007)</a:t>
            </a:r>
            <a:endParaRPr lang="en-US"/>
          </a:p>
        </p:txBody>
      </p:sp>
      <p:sp>
        <p:nvSpPr>
          <p:cNvPr id="1008" name="Shape 1008"/>
          <p:cNvSpPr/>
          <p:nvPr/>
        </p:nvSpPr>
        <p:spPr>
          <a:xfrm>
            <a:off x="11593116" y="6462713"/>
            <a:ext cx="160734" cy="185738"/>
          </a:xfrm>
          <a:prstGeom prst="rect">
            <a:avLst/>
          </a:prstGeom>
          <a:noFill/>
        </p:spPr>
        <p:txBody>
          <a:bodyPr anchor="t" wrap="square" tIns="0" bIns="0" lIns="0" rIns="0">
            <a:normAutofit/>
          </a:bodyPr>
          <a:lstStyle/>
          <a:p>
            <a:pPr algn="l">
              <a:lnSpc>
                <a:spcPts val="1463"/>
              </a:lnSpc>
              <a:buNone/>
            </a:pPr>
            <a:r>
              <a:rPr sz="975" b="0" i="0">
                <a:solidFill>
                  <a:srgbClr val="58636E"/>
                </a:solidFill>
                <a:latin typeface="Arial"/>
                <a:ea typeface="Arial"/>
              </a:rPr>
              <a:t>41</a:t>
            </a:r>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bg>
      <p:bgPr>
        <a:solidFill>
          <a:srgbClr val="FFFFFF"/>
        </a:solidFill>
      </p:bgPr>
    </p:bg>
    <p:spTree>
      <p:nvGrpSpPr>
        <p:cNvPr id="1" name=""/>
        <p:cNvGrpSpPr/>
        <p:nvPr/>
      </p:nvGrpSpPr>
      <p:grpSpPr>
        <a:xfrm>
          <a:off x="0" y="0"/>
          <a:ext cx="0" cy="0"/>
          <a:chOff x="0" y="0"/>
          <a:chExt cx="0" cy="0"/>
        </a:xfrm>
      </p:grpSpPr>
      <p:sp>
        <p:nvSpPr>
          <p:cNvPr id="1009" name="Shape 1009"/>
          <p:cNvSpPr/>
          <p:nvPr/>
        </p:nvSpPr>
        <p:spPr>
          <a:xfrm>
            <a:off x="457200" y="457200"/>
            <a:ext cx="11296650" cy="350490"/>
          </a:xfrm>
          <a:prstGeom prst="rect">
            <a:avLst/>
          </a:prstGeom>
          <a:noFill/>
        </p:spPr>
        <p:txBody>
          <a:bodyPr anchor="t" wrap="square" tIns="0" bIns="0" lIns="0" rIns="0">
            <a:normAutofit/>
          </a:bodyPr>
          <a:lstStyle/>
          <a:p>
            <a:pPr algn="l">
              <a:lnSpc>
                <a:spcPts val="2760"/>
              </a:lnSpc>
              <a:buNone/>
            </a:pPr>
            <a:r>
              <a:rPr sz="2400" b="1" i="0">
                <a:solidFill>
                  <a:srgbClr val="2B5577"/>
                </a:solidFill>
                <a:latin typeface="Arial"/>
                <a:ea typeface="Arial"/>
              </a:rPr>
              <a:t>Recent stimulation changes command-linked B spikes</a:t>
            </a:r>
            <a:endParaRPr lang="en-US"/>
          </a:p>
        </p:txBody>
      </p:sp>
      <p:sp>
        <p:nvSpPr>
          <p:cNvPr id="1010" name="Shape 1010"/>
          <p:cNvSpPr/>
          <p:nvPr/>
        </p:nvSpPr>
        <p:spPr>
          <a:xfrm>
            <a:off x="566000" y="1234440"/>
            <a:ext cx="5480000" cy="4915560"/>
          </a:xfrm>
          <a:prstGeom prst="rect">
            <a:avLst/>
          </a:prstGeom>
          <a:noFill/>
        </p:spPr>
        <p:txBody>
          <a:bodyPr anchor="t" wrap="square" tIns="0" bIns="0" lIns="0" rIns="0">
            <a:normAutofit/>
          </a:bodyPr>
          <a:lstStyle/>
          <a:p>
            <a:pPr algn="l">
              <a:lnSpc>
                <a:spcPct val="108000"/>
              </a:lnSpc>
              <a:spcAft>
                <a:spcPts val="1200"/>
              </a:spcAft>
              <a:buNone/>
            </a:pPr>
            <a:r>
              <a:rPr sz="1400" b="1" i="0">
                <a:solidFill>
                  <a:srgbClr val="1F262D"/>
                </a:solidFill>
                <a:latin typeface="Arial"/>
                <a:ea typeface="Arial"/>
              </a:rPr>
              <a:t>Recent also context</a:t>
            </a:r>
            <a:r>
              <a:rPr sz="1400" b="0" i="0">
                <a:solidFill>
                  <a:srgbClr val="1F262D"/>
                </a:solidFill>
                <a:latin typeface="Arial"/>
                <a:ea typeface="Arial"/>
              </a:rPr>
              <a:t xml:space="preserve"> includes the stimulus sequence experienced before the currently measured command. Sawtell and colleagues examined B-spike responses during and after repeated electrosensory stimulation, distinguishing immediate effects from changes that persisted into later command cycles. The stimulus sequence before the command, rather than the command itself, is the variable of interest.</a:t>
            </a:r>
            <a:endParaRPr lang="en-US"/>
          </a:p>
          <a:p>
            <a:pPr algn="l">
              <a:lnSpc>
                <a:spcPct val="108000"/>
              </a:lnSpc>
              <a:spcAft>
                <a:spcPts val="1200"/>
              </a:spcAft>
              <a:buNone/>
            </a:pPr>
            <a:r>
              <a:rPr sz="1400" b="0" i="0">
                <a:solidFill>
                  <a:srgbClr val="1F262D"/>
                </a:solidFill>
                <a:latin typeface="Arial"/>
                <a:ea typeface="Arial"/>
              </a:rPr>
              <a:t xml:space="preserve">The stimulation history changed the probability and timing of B spikes. In some conditions, switching off the electrosensory stimulus produced a transient rise in early B-spike activity, even though the command signal remained the temporal reference. The transient rise appeared in early command cycles and was measured against the same command reference.</a:t>
            </a:r>
            <a:endParaRPr lang="en-US"/>
          </a:p>
          <a:p>
            <a:pPr algn="l">
              <a:lnSpc>
                <a:spcPct val="108000"/>
              </a:lnSpc>
              <a:spcAft>
                <a:spcPts val="1200"/>
              </a:spcAft>
              <a:buNone/>
            </a:pPr>
            <a:r>
              <a:rPr sz="1400" b="0" i="0">
                <a:solidFill>
                  <a:srgbClr val="1F262D"/>
                </a:solidFill>
                <a:latin typeface="Arial"/>
                <a:ea typeface="Arial"/>
              </a:rPr>
              <a:t xml:space="preserve">Sensory history therefore connects to the event that controls plasticity. Repeated stimulation changed the state of the circuit, and that state persisted for a time after the stimulus was removed. Stimulus removal therefore reveals a circuit state that was built during stimulation. That state can persist into command cycles recorded after the stimulus ends.</a:t>
            </a:r>
            <a:endParaRPr lang="en-US"/>
          </a:p>
        </p:txBody>
      </p:sp>
      <p:pic>
        <p:nvPicPr>
          <p:cNvPr id="348" name="Presenton Native Image 54" descr=""/>
          <p:cNvPicPr/>
          <p:nvPr/>
        </p:nvPicPr>
        <p:blipFill>
          <a:blip r:embed="rId3" cstate="none"/>
          <a:stretch>
            <a:fillRect/>
          </a:stretch>
        </p:blipFill>
        <p:spPr>
          <a:xfrm>
            <a:off x="8232824" y="1055340"/>
            <a:ext cx="1631851" cy="2466975"/>
          </a:xfrm>
          <a:prstGeom prst="rect">
            <a:avLst/>
          </a:prstGeom>
        </p:spPr>
      </p:pic>
      <p:pic>
        <p:nvPicPr>
          <p:cNvPr id="349" name="Presenton Native Image 55" descr=""/>
          <p:cNvPicPr/>
          <p:nvPr/>
        </p:nvPicPr>
        <p:blipFill>
          <a:blip r:embed="rId2" cstate="none"/>
          <a:stretch>
            <a:fillRect/>
          </a:stretch>
        </p:blipFill>
        <p:spPr>
          <a:xfrm>
            <a:off x="8533626" y="4103340"/>
            <a:ext cx="1030249" cy="1476375"/>
          </a:xfrm>
          <a:prstGeom prst="rect">
            <a:avLst/>
          </a:prstGeom>
        </p:spPr>
      </p:pic>
      <p:sp>
        <p:nvSpPr>
          <p:cNvPr id="1014" name="Shape 1014"/>
          <p:cNvSpPr/>
          <p:nvPr/>
        </p:nvSpPr>
        <p:spPr>
          <a:xfrm>
            <a:off x="6362700" y="5655915"/>
            <a:ext cx="5391150" cy="166688"/>
          </a:xfrm>
          <a:prstGeom prst="rect">
            <a:avLst/>
          </a:prstGeom>
          <a:noFill/>
        </p:spPr>
        <p:txBody>
          <a:bodyPr anchor="t" wrap="square" tIns="0" bIns="0" lIns="0" rIns="0">
            <a:normAutofit/>
          </a:bodyPr>
          <a:lstStyle/>
          <a:p>
            <a:pPr algn="l">
              <a:lnSpc>
                <a:spcPts val="1313"/>
              </a:lnSpc>
              <a:buNone/>
            </a:pPr>
            <a:r>
              <a:rPr sz="1050" b="0" i="0">
                <a:solidFill>
                  <a:srgbClr val="1F262D"/>
                </a:solidFill>
                <a:latin typeface="Arial"/>
                <a:ea typeface="Arial"/>
              </a:rPr>
              <a:t>Sawtell et al. (2007), Fig. 1(A). Published anatomy of the medium ganglion cell circuit.</a:t>
            </a:r>
            <a:endParaRPr lang="en-US"/>
          </a:p>
        </p:txBody>
      </p:sp>
      <p:sp>
        <p:nvSpPr>
          <p:cNvPr id="1015" name="Shape 1015"/>
          <p:cNvSpPr/>
          <p:nvPr/>
        </p:nvSpPr>
        <p:spPr>
          <a:xfrm>
            <a:off x="457200" y="6462713"/>
            <a:ext cx="1135707" cy="185738"/>
          </a:xfrm>
          <a:prstGeom prst="rect">
            <a:avLst/>
          </a:prstGeom>
          <a:noFill/>
        </p:spPr>
        <p:txBody>
          <a:bodyPr anchor="t" wrap="square" tIns="0" bIns="0" lIns="0" rIns="0">
            <a:normAutofit/>
          </a:bodyPr>
          <a:lstStyle/>
          <a:p>
            <a:pPr algn="l">
              <a:lnSpc>
                <a:spcPts val="1463"/>
              </a:lnSpc>
              <a:buNone/>
            </a:pPr>
            <a:r>
              <a:rPr sz="975" b="0" i="0">
                <a:solidFill>
                  <a:srgbClr val="58636E"/>
                </a:solidFill>
                <a:latin typeface="Arial"/>
                <a:ea typeface="Arial"/>
              </a:rPr>
              <a:t>Sawtell et al. (2007)</a:t>
            </a:r>
            <a:endParaRPr lang="en-US"/>
          </a:p>
        </p:txBody>
      </p:sp>
      <p:sp>
        <p:nvSpPr>
          <p:cNvPr id="1016" name="Shape 1016"/>
          <p:cNvSpPr/>
          <p:nvPr/>
        </p:nvSpPr>
        <p:spPr>
          <a:xfrm>
            <a:off x="11593116" y="6462713"/>
            <a:ext cx="160734" cy="185738"/>
          </a:xfrm>
          <a:prstGeom prst="rect">
            <a:avLst/>
          </a:prstGeom>
          <a:noFill/>
        </p:spPr>
        <p:txBody>
          <a:bodyPr anchor="t" wrap="square" tIns="0" bIns="0" lIns="0" rIns="0">
            <a:normAutofit/>
          </a:bodyPr>
          <a:lstStyle/>
          <a:p>
            <a:pPr algn="l">
              <a:lnSpc>
                <a:spcPts val="1463"/>
              </a:lnSpc>
              <a:buNone/>
            </a:pPr>
            <a:r>
              <a:rPr sz="975" b="0" i="0">
                <a:solidFill>
                  <a:srgbClr val="58636E"/>
                </a:solidFill>
                <a:latin typeface="Arial"/>
                <a:ea typeface="Arial"/>
              </a:rPr>
              <a:t>42</a:t>
            </a:r>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bg>
      <p:bgPr>
        <a:solidFill>
          <a:srgbClr val="FFFFFF"/>
        </a:solidFill>
      </p:bgPr>
    </p:bg>
    <p:spTree>
      <p:nvGrpSpPr>
        <p:cNvPr id="1" name=""/>
        <p:cNvGrpSpPr/>
        <p:nvPr/>
      </p:nvGrpSpPr>
      <p:grpSpPr>
        <a:xfrm>
          <a:off x="0" y="0"/>
          <a:ext cx="0" cy="0"/>
          <a:chOff x="0" y="0"/>
          <a:chExt cx="0" cy="0"/>
        </a:xfrm>
      </p:grpSpPr>
      <p:sp>
        <p:nvSpPr>
          <p:cNvPr id="1017" name="Shape 1017"/>
          <p:cNvSpPr/>
          <p:nvPr/>
        </p:nvSpPr>
        <p:spPr>
          <a:xfrm>
            <a:off x="457200" y="457200"/>
            <a:ext cx="11296650" cy="350490"/>
          </a:xfrm>
          <a:prstGeom prst="rect">
            <a:avLst/>
          </a:prstGeom>
          <a:noFill/>
        </p:spPr>
        <p:txBody>
          <a:bodyPr anchor="t" wrap="square" tIns="0" bIns="0" lIns="0" rIns="0">
            <a:normAutofit/>
          </a:bodyPr>
          <a:lstStyle/>
          <a:p>
            <a:pPr algn="l">
              <a:lnSpc>
                <a:spcPts val="2760"/>
              </a:lnSpc>
              <a:buNone/>
            </a:pPr>
            <a:r>
              <a:rPr sz="2400" b="1" i="0">
                <a:solidFill>
                  <a:srgbClr val="2B5577"/>
                </a:solidFill>
                <a:latin typeface="Arial"/>
                <a:ea typeface="Arial"/>
              </a:rPr>
              <a:t>Command-evoked inhibition can coexist with excitation</a:t>
            </a:r>
            <a:endParaRPr lang="en-US"/>
          </a:p>
        </p:txBody>
      </p:sp>
      <p:sp>
        <p:nvSpPr>
          <p:cNvPr id="1018" name="Shape 1018"/>
          <p:cNvSpPr/>
          <p:nvPr/>
        </p:nvSpPr>
        <p:spPr>
          <a:xfrm>
            <a:off x="566000" y="1234440"/>
            <a:ext cx="5480000" cy="4915560"/>
          </a:xfrm>
          <a:prstGeom prst="rect">
            <a:avLst/>
          </a:prstGeom>
          <a:noFill/>
        </p:spPr>
        <p:txBody>
          <a:bodyPr anchor="t" wrap="square" tIns="0" bIns="0" lIns="0" rIns="0">
            <a:normAutofit/>
          </a:bodyPr>
          <a:lstStyle/>
          <a:p>
            <a:pPr algn="l">
              <a:lnSpc>
                <a:spcPct val="108000"/>
              </a:lnSpc>
              <a:spcAft>
                <a:spcPts val="1200"/>
              </a:spcAft>
              <a:buNone/>
            </a:pPr>
            <a:r>
              <a:rPr sz="1400" b="0" i="0">
                <a:solidFill>
                  <a:srgbClr val="1F262D"/>
                </a:solidFill>
                <a:latin typeface="Arial"/>
                <a:ea typeface="Arial"/>
              </a:rPr>
              <a:t xml:space="preserve">A </a:t>
            </a:r>
            <a:r>
              <a:rPr sz="1400" b="1" i="0">
                <a:solidFill>
                  <a:srgbClr val="1F262D"/>
                </a:solidFill>
                <a:latin typeface="Arial"/>
                <a:ea typeface="Arial"/>
              </a:rPr>
              <a:t>synaptic conductance</a:t>
            </a:r>
            <a:r>
              <a:rPr sz="1400" b="0" i="0">
                <a:solidFill>
                  <a:srgbClr val="1F262D"/>
                </a:solidFill>
                <a:latin typeface="Arial"/>
                <a:ea typeface="Arial"/>
              </a:rPr>
              <a:t xml:space="preserve"> is a change in membrane ion permeability produced by synaptic input. Sawtell and colleagues examined command-evoked membrane responses at different holding potentials, using their voltage dependence to separate excitatory and inhibitory contributions in ELL cells. The voltage dependence sorted the currents by reversal behavior in each cell.</a:t>
            </a:r>
            <a:endParaRPr lang="en-US"/>
          </a:p>
          <a:p>
            <a:pPr algn="l">
              <a:lnSpc>
                <a:spcPct val="108000"/>
              </a:lnSpc>
              <a:spcAft>
                <a:spcPts val="1200"/>
              </a:spcAft>
              <a:buNone/>
            </a:pPr>
            <a:r>
              <a:rPr sz="1400" b="0" i="0">
                <a:solidFill>
                  <a:srgbClr val="1F262D"/>
                </a:solidFill>
                <a:latin typeface="Arial"/>
                <a:ea typeface="Arial"/>
              </a:rPr>
              <a:t xml:space="preserve">Recordings showed inhibition during command-evoked excitation, including in medium ganglion cells. A reduced B-spike probability therefore coexists with excitatory drive in that interval. Inhibition was present during the excitatory phase of the command response. Changes across holding potentials helped separate the two synaptic currents. The response differed between the excitatory and inhibitory phases.</a:t>
            </a:r>
            <a:endParaRPr lang="en-US"/>
          </a:p>
          <a:p>
            <a:pPr algn="l">
              <a:lnSpc>
                <a:spcPct val="108000"/>
              </a:lnSpc>
              <a:spcAft>
                <a:spcPts val="1200"/>
              </a:spcAft>
              <a:buNone/>
            </a:pPr>
            <a:r>
              <a:rPr sz="1400" b="0" i="0">
                <a:solidFill>
                  <a:srgbClr val="1F262D"/>
                </a:solidFill>
                <a:latin typeface="Arial"/>
                <a:ea typeface="Arial"/>
              </a:rPr>
              <a:t xml:space="preserve">Concurrent inputs affect dendritic firing and axonal output differently because their timing, location, and reversal properties differ. Conductance analysis constrains those contributions to the intact command response. Holding potential changes the driving force for each synaptic current. Each conductance was read from the voltage dependence of the response. Those readings constrain the input balance.</a:t>
            </a:r>
            <a:endParaRPr lang="en-US"/>
          </a:p>
        </p:txBody>
      </p:sp>
      <p:pic>
        <p:nvPicPr>
          <p:cNvPr id="350" name="Presenton Native Image 56" descr=""/>
          <p:cNvPicPr/>
          <p:nvPr/>
        </p:nvPicPr>
        <p:blipFill>
          <a:blip r:embed="rId3" cstate="none"/>
          <a:stretch>
            <a:fillRect/>
          </a:stretch>
        </p:blipFill>
        <p:spPr>
          <a:xfrm>
            <a:off x="8123884" y="1055340"/>
            <a:ext cx="1849732" cy="2466975"/>
          </a:xfrm>
          <a:prstGeom prst="rect">
            <a:avLst/>
          </a:prstGeom>
        </p:spPr>
      </p:pic>
      <p:pic>
        <p:nvPicPr>
          <p:cNvPr id="351" name="Presenton Native Image 57" descr=""/>
          <p:cNvPicPr/>
          <p:nvPr/>
        </p:nvPicPr>
        <p:blipFill>
          <a:blip r:embed="rId2" cstate="none"/>
          <a:stretch>
            <a:fillRect/>
          </a:stretch>
        </p:blipFill>
        <p:spPr>
          <a:xfrm>
            <a:off x="8533626" y="4103340"/>
            <a:ext cx="1030249" cy="1476375"/>
          </a:xfrm>
          <a:prstGeom prst="rect">
            <a:avLst/>
          </a:prstGeom>
        </p:spPr>
      </p:pic>
      <p:sp>
        <p:nvSpPr>
          <p:cNvPr id="1022" name="Shape 1022"/>
          <p:cNvSpPr/>
          <p:nvPr/>
        </p:nvSpPr>
        <p:spPr>
          <a:xfrm>
            <a:off x="6362700" y="5655915"/>
            <a:ext cx="5391150" cy="166688"/>
          </a:xfrm>
          <a:prstGeom prst="rect">
            <a:avLst/>
          </a:prstGeom>
          <a:noFill/>
        </p:spPr>
        <p:txBody>
          <a:bodyPr anchor="t" wrap="square" tIns="0" bIns="0" lIns="0" rIns="0">
            <a:normAutofit/>
          </a:bodyPr>
          <a:lstStyle/>
          <a:p>
            <a:pPr algn="l">
              <a:lnSpc>
                <a:spcPts val="1313"/>
              </a:lnSpc>
              <a:buNone/>
            </a:pPr>
            <a:r>
              <a:rPr sz="1050" b="0" i="0">
                <a:solidFill>
                  <a:srgbClr val="1F262D"/>
                </a:solidFill>
                <a:latin typeface="Arial"/>
                <a:ea typeface="Arial"/>
              </a:rPr>
              <a:t>Sawtell et al. (2007), Fig. 1(A). Published anatomy of the medium ganglion cell circuit.</a:t>
            </a:r>
            <a:endParaRPr lang="en-US"/>
          </a:p>
        </p:txBody>
      </p:sp>
      <p:sp>
        <p:nvSpPr>
          <p:cNvPr id="1023" name="Shape 1023"/>
          <p:cNvSpPr/>
          <p:nvPr/>
        </p:nvSpPr>
        <p:spPr>
          <a:xfrm>
            <a:off x="457200" y="6462713"/>
            <a:ext cx="1135707" cy="185738"/>
          </a:xfrm>
          <a:prstGeom prst="rect">
            <a:avLst/>
          </a:prstGeom>
          <a:noFill/>
        </p:spPr>
        <p:txBody>
          <a:bodyPr anchor="t" wrap="square" tIns="0" bIns="0" lIns="0" rIns="0">
            <a:normAutofit/>
          </a:bodyPr>
          <a:lstStyle/>
          <a:p>
            <a:pPr algn="l">
              <a:lnSpc>
                <a:spcPts val="1463"/>
              </a:lnSpc>
              <a:buNone/>
            </a:pPr>
            <a:r>
              <a:rPr sz="975" b="0" i="0">
                <a:solidFill>
                  <a:srgbClr val="58636E"/>
                </a:solidFill>
                <a:latin typeface="Arial"/>
                <a:ea typeface="Arial"/>
              </a:rPr>
              <a:t>Sawtell et al. (2007)</a:t>
            </a:r>
            <a:endParaRPr lang="en-US"/>
          </a:p>
        </p:txBody>
      </p:sp>
      <p:sp>
        <p:nvSpPr>
          <p:cNvPr id="1024" name="Shape 1024"/>
          <p:cNvSpPr/>
          <p:nvPr/>
        </p:nvSpPr>
        <p:spPr>
          <a:xfrm>
            <a:off x="11593116" y="6462713"/>
            <a:ext cx="160734" cy="185738"/>
          </a:xfrm>
          <a:prstGeom prst="rect">
            <a:avLst/>
          </a:prstGeom>
          <a:noFill/>
        </p:spPr>
        <p:txBody>
          <a:bodyPr anchor="t" wrap="square" tIns="0" bIns="0" lIns="0" rIns="0">
            <a:normAutofit/>
          </a:bodyPr>
          <a:lstStyle/>
          <a:p>
            <a:pPr algn="l">
              <a:lnSpc>
                <a:spcPts val="1463"/>
              </a:lnSpc>
              <a:buNone/>
            </a:pPr>
            <a:r>
              <a:rPr sz="975" b="0" i="0">
                <a:solidFill>
                  <a:srgbClr val="58636E"/>
                </a:solidFill>
                <a:latin typeface="Arial"/>
                <a:ea typeface="Arial"/>
              </a:rPr>
              <a:t>43</a:t>
            </a:r>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bg>
      <p:bgPr>
        <a:solidFill>
          <a:srgbClr val="FFFFFF"/>
        </a:solidFill>
      </p:bgPr>
    </p:bg>
    <p:spTree>
      <p:nvGrpSpPr>
        <p:cNvPr id="1" name=""/>
        <p:cNvGrpSpPr/>
        <p:nvPr/>
      </p:nvGrpSpPr>
      <p:grpSpPr>
        <a:xfrm>
          <a:off x="0" y="0"/>
          <a:ext cx="0" cy="0"/>
          <a:chOff x="0" y="0"/>
          <a:chExt cx="0" cy="0"/>
        </a:xfrm>
      </p:grpSpPr>
      <p:sp>
        <p:nvSpPr>
          <p:cNvPr id="1025" name="Shape 1025"/>
          <p:cNvSpPr/>
          <p:nvPr/>
        </p:nvSpPr>
        <p:spPr>
          <a:xfrm>
            <a:off x="457200" y="457200"/>
            <a:ext cx="11296650" cy="350490"/>
          </a:xfrm>
          <a:prstGeom prst="rect">
            <a:avLst/>
          </a:prstGeom>
          <a:noFill/>
        </p:spPr>
        <p:txBody>
          <a:bodyPr anchor="t" wrap="square" tIns="0" bIns="0" lIns="0" rIns="0">
            <a:normAutofit/>
          </a:bodyPr>
          <a:lstStyle/>
          <a:p>
            <a:pPr algn="l">
              <a:lnSpc>
                <a:spcPts val="2760"/>
              </a:lnSpc>
              <a:buNone/>
            </a:pPr>
            <a:r>
              <a:rPr sz="2400" b="1" i="0">
                <a:solidFill>
                  <a:srgbClr val="2B5577"/>
                </a:solidFill>
                <a:latin typeface="Arial"/>
                <a:ea typeface="Arial"/>
              </a:rPr>
              <a:t>Blocking inhibition preferentially releases B spikes</a:t>
            </a:r>
            <a:endParaRPr lang="en-US"/>
          </a:p>
        </p:txBody>
      </p:sp>
      <p:sp>
        <p:nvSpPr>
          <p:cNvPr id="1026" name="Shape 1026"/>
          <p:cNvSpPr/>
          <p:nvPr/>
        </p:nvSpPr>
        <p:spPr>
          <a:xfrm>
            <a:off x="566000" y="1234440"/>
            <a:ext cx="5480000" cy="4915560"/>
          </a:xfrm>
          <a:prstGeom prst="rect">
            <a:avLst/>
          </a:prstGeom>
          <a:noFill/>
        </p:spPr>
        <p:txBody>
          <a:bodyPr anchor="t" wrap="square" tIns="0" bIns="0" lIns="0" rIns="0">
            <a:normAutofit/>
          </a:bodyPr>
          <a:lstStyle/>
          <a:p>
            <a:pPr algn="l">
              <a:lnSpc>
                <a:spcPct val="108000"/>
              </a:lnSpc>
              <a:spcAft>
                <a:spcPts val="1200"/>
              </a:spcAft>
              <a:buNone/>
            </a:pPr>
            <a:r>
              <a:rPr sz="1400" b="1" i="0">
                <a:solidFill>
                  <a:srgbClr val="1F262D"/>
                </a:solidFill>
                <a:latin typeface="Arial"/>
                <a:ea typeface="Arial"/>
              </a:rPr>
              <a:t>Disinhibition</a:t>
            </a:r>
            <a:r>
              <a:rPr sz="1400" b="0" i="0">
                <a:solidFill>
                  <a:srgbClr val="1F262D"/>
                </a:solidFill>
                <a:latin typeface="Arial"/>
                <a:ea typeface="Arial"/>
              </a:rPr>
              <a:t xml:space="preserve"> is increased activity following removal of an inhibitory influence. Sawtell and colleagues injected bicuculline locally into the ventral molecular layer, blocking GABA-A receptor-mediated inhibition while recording command-linked medium ganglion spikes. The local antagonist was applied at a defined depth in the molecular layer. The effect was measured against the baseline command response.</a:t>
            </a:r>
            <a:endParaRPr lang="en-US"/>
          </a:p>
          <a:p>
            <a:pPr algn="l">
              <a:lnSpc>
                <a:spcPct val="108000"/>
              </a:lnSpc>
              <a:spcAft>
                <a:spcPts val="1200"/>
              </a:spcAft>
              <a:buNone/>
            </a:pPr>
            <a:r>
              <a:rPr sz="1400" b="0" i="0">
                <a:solidFill>
                  <a:srgbClr val="1F262D"/>
                </a:solidFill>
                <a:latin typeface="Arial"/>
                <a:ea typeface="Arial"/>
              </a:rPr>
              <a:t xml:space="preserve">B-spike also probability rose strongly just after the injection, with much less immediate change in N-spike output. Superficial injections had weaker effects on B spikes, which gives a spatial contrast across injection sites. Superficial and deeper injections were tested separately. Injection depth was the variable that set the size of the change.</a:t>
            </a:r>
            <a:endParaRPr lang="en-US"/>
          </a:p>
          <a:p>
            <a:pPr algn="l">
              <a:lnSpc>
                <a:spcPct val="108000"/>
              </a:lnSpc>
              <a:spcAft>
                <a:spcPts val="1200"/>
              </a:spcAft>
              <a:buNone/>
            </a:pPr>
            <a:r>
              <a:rPr sz="1400" b="0" i="0">
                <a:solidFill>
                  <a:srgbClr val="1F262D"/>
                </a:solidFill>
                <a:latin typeface="Arial"/>
                <a:ea typeface="Arial"/>
              </a:rPr>
              <a:t xml:space="preserve">This manipulation supports strong inhibitory control over dendritic events. The injection acts on a local network rather than one identified synapse, so the selectivity holds for the tested timing and locations. Local antagonist application provides causal evidence that the blocked receptor contributes to suppression. The deeper and more superficial injections constrain where the inhibitory influence is expressed.</a:t>
            </a:r>
            <a:endParaRPr lang="en-US"/>
          </a:p>
        </p:txBody>
      </p:sp>
      <p:pic>
        <p:nvPicPr>
          <p:cNvPr id="352" name="Presenton Native Image 58" descr=""/>
          <p:cNvPicPr/>
          <p:nvPr/>
        </p:nvPicPr>
        <p:blipFill>
          <a:blip r:embed="rId3" cstate="none"/>
          <a:stretch>
            <a:fillRect/>
          </a:stretch>
        </p:blipFill>
        <p:spPr>
          <a:xfrm>
            <a:off x="7820568" y="1055340"/>
            <a:ext cx="2456364" cy="2466975"/>
          </a:xfrm>
          <a:prstGeom prst="rect">
            <a:avLst/>
          </a:prstGeom>
        </p:spPr>
      </p:pic>
      <p:sp>
        <p:nvSpPr>
          <p:cNvPr id="1029" name="Shape 1029"/>
          <p:cNvSpPr/>
          <p:nvPr/>
        </p:nvSpPr>
        <p:spPr>
          <a:xfrm>
            <a:off x="6362700" y="3598515"/>
            <a:ext cx="5391150" cy="333375"/>
          </a:xfrm>
          <a:prstGeom prst="rect">
            <a:avLst/>
          </a:prstGeom>
          <a:noFill/>
        </p:spPr>
        <p:txBody>
          <a:bodyPr anchor="t" wrap="square" tIns="0" bIns="0" lIns="0" rIns="0">
            <a:normAutofit/>
          </a:bodyPr>
          <a:lstStyle/>
          <a:p>
            <a:pPr algn="l">
              <a:lnSpc>
                <a:spcPts val="1313"/>
              </a:lnSpc>
              <a:buNone/>
            </a:pPr>
            <a:r>
              <a:rPr sz="1050" b="0" i="0">
                <a:solidFill>
                  <a:srgbClr val="1F262D"/>
                </a:solidFill>
                <a:latin typeface="Arial"/>
                <a:ea typeface="Arial"/>
              </a:rPr>
              <a:t>Sawtell et al. (2007), Fig. 8(A–G). Effects of local bicuculline on narrow and broad spikes.</a:t>
            </a:r>
            <a:endParaRPr lang="en-US"/>
          </a:p>
        </p:txBody>
      </p:sp>
      <p:pic>
        <p:nvPicPr>
          <p:cNvPr id="353" name="Presenton Native Image 59" descr=""/>
          <p:cNvPicPr/>
          <p:nvPr/>
        </p:nvPicPr>
        <p:blipFill>
          <a:blip r:embed="rId2" cstate="none"/>
          <a:stretch>
            <a:fillRect/>
          </a:stretch>
        </p:blipFill>
        <p:spPr>
          <a:xfrm>
            <a:off x="8533626" y="4103340"/>
            <a:ext cx="1030249" cy="1476375"/>
          </a:xfrm>
          <a:prstGeom prst="rect">
            <a:avLst/>
          </a:prstGeom>
        </p:spPr>
      </p:pic>
      <p:sp>
        <p:nvSpPr>
          <p:cNvPr id="1030" name="Shape 1030"/>
          <p:cNvSpPr/>
          <p:nvPr/>
        </p:nvSpPr>
        <p:spPr>
          <a:xfrm>
            <a:off x="6362700" y="5655915"/>
            <a:ext cx="5391150" cy="166688"/>
          </a:xfrm>
          <a:prstGeom prst="rect">
            <a:avLst/>
          </a:prstGeom>
          <a:noFill/>
        </p:spPr>
        <p:txBody>
          <a:bodyPr anchor="t" wrap="square" tIns="0" bIns="0" lIns="0" rIns="0">
            <a:normAutofit/>
          </a:bodyPr>
          <a:lstStyle/>
          <a:p>
            <a:pPr algn="l">
              <a:lnSpc>
                <a:spcPts val="1313"/>
              </a:lnSpc>
              <a:buNone/>
            </a:pPr>
            <a:r>
              <a:rPr sz="1050" b="0" i="0">
                <a:solidFill>
                  <a:srgbClr val="1F262D"/>
                </a:solidFill>
                <a:latin typeface="Arial"/>
                <a:ea typeface="Arial"/>
              </a:rPr>
              <a:t>Sawtell et al. (2007), Fig. 1(A). Published anatomy of the medium ganglion cell circuit.</a:t>
            </a:r>
            <a:endParaRPr lang="en-US"/>
          </a:p>
        </p:txBody>
      </p:sp>
      <p:sp>
        <p:nvSpPr>
          <p:cNvPr id="1031" name="Shape 1031"/>
          <p:cNvSpPr/>
          <p:nvPr/>
        </p:nvSpPr>
        <p:spPr>
          <a:xfrm>
            <a:off x="457200" y="6462713"/>
            <a:ext cx="1135707" cy="185738"/>
          </a:xfrm>
          <a:prstGeom prst="rect">
            <a:avLst/>
          </a:prstGeom>
          <a:noFill/>
        </p:spPr>
        <p:txBody>
          <a:bodyPr anchor="t" wrap="square" tIns="0" bIns="0" lIns="0" rIns="0">
            <a:normAutofit/>
          </a:bodyPr>
          <a:lstStyle/>
          <a:p>
            <a:pPr algn="l">
              <a:lnSpc>
                <a:spcPts val="1463"/>
              </a:lnSpc>
              <a:buNone/>
            </a:pPr>
            <a:r>
              <a:rPr sz="975" b="0" i="0">
                <a:solidFill>
                  <a:srgbClr val="58636E"/>
                </a:solidFill>
                <a:latin typeface="Arial"/>
                <a:ea typeface="Arial"/>
              </a:rPr>
              <a:t>Sawtell et al. (2007)</a:t>
            </a:r>
            <a:endParaRPr lang="en-US"/>
          </a:p>
        </p:txBody>
      </p:sp>
      <p:sp>
        <p:nvSpPr>
          <p:cNvPr id="1032" name="Shape 1032"/>
          <p:cNvSpPr/>
          <p:nvPr/>
        </p:nvSpPr>
        <p:spPr>
          <a:xfrm>
            <a:off x="11593116" y="6462713"/>
            <a:ext cx="160734" cy="185738"/>
          </a:xfrm>
          <a:prstGeom prst="rect">
            <a:avLst/>
          </a:prstGeom>
          <a:noFill/>
        </p:spPr>
        <p:txBody>
          <a:bodyPr anchor="t" wrap="square" tIns="0" bIns="0" lIns="0" rIns="0">
            <a:normAutofit/>
          </a:bodyPr>
          <a:lstStyle/>
          <a:p>
            <a:pPr algn="l">
              <a:lnSpc>
                <a:spcPts val="1463"/>
              </a:lnSpc>
              <a:buNone/>
            </a:pPr>
            <a:r>
              <a:rPr sz="975" b="0" i="0">
                <a:solidFill>
                  <a:srgbClr val="58636E"/>
                </a:solidFill>
                <a:latin typeface="Arial"/>
                <a:ea typeface="Arial"/>
              </a:rPr>
              <a:t>44</a:t>
            </a:r>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bg>
      <p:bgPr>
        <a:solidFill>
          <a:srgbClr val="FFFFFF"/>
        </a:solidFill>
      </p:bgPr>
    </p:bg>
    <p:spTree>
      <p:nvGrpSpPr>
        <p:cNvPr id="1" name=""/>
        <p:cNvGrpSpPr/>
        <p:nvPr/>
      </p:nvGrpSpPr>
      <p:grpSpPr>
        <a:xfrm>
          <a:off x="0" y="0"/>
          <a:ext cx="0" cy="0"/>
          <a:chOff x="0" y="0"/>
          <a:chExt cx="0" cy="0"/>
        </a:xfrm>
      </p:grpSpPr>
      <p:sp>
        <p:nvSpPr>
          <p:cNvPr id="1033" name="Shape 1033"/>
          <p:cNvSpPr/>
          <p:nvPr/>
        </p:nvSpPr>
        <p:spPr>
          <a:xfrm>
            <a:off x="457200" y="457200"/>
            <a:ext cx="11296650" cy="350490"/>
          </a:xfrm>
          <a:prstGeom prst="rect">
            <a:avLst/>
          </a:prstGeom>
          <a:noFill/>
        </p:spPr>
        <p:txBody>
          <a:bodyPr anchor="t" wrap="square" tIns="0" bIns="0" lIns="0" rIns="0">
            <a:normAutofit/>
          </a:bodyPr>
          <a:lstStyle/>
          <a:p>
            <a:pPr algn="l">
              <a:lnSpc>
                <a:spcPts val="2760"/>
              </a:lnSpc>
              <a:buNone/>
            </a:pPr>
            <a:r>
              <a:rPr sz="2400" b="1" i="0">
                <a:solidFill>
                  <a:srgbClr val="2B5577"/>
                </a:solidFill>
                <a:latin typeface="Arial"/>
                <a:ea typeface="Arial"/>
              </a:rPr>
              <a:t>B-spike timing determines the direction of plasticity</a:t>
            </a:r>
            <a:endParaRPr lang="en-US"/>
          </a:p>
        </p:txBody>
      </p:sp>
      <p:sp>
        <p:nvSpPr>
          <p:cNvPr id="1034" name="Shape 1034"/>
          <p:cNvSpPr/>
          <p:nvPr/>
        </p:nvSpPr>
        <p:spPr>
          <a:xfrm>
            <a:off x="566000" y="1234440"/>
            <a:ext cx="5480000" cy="4915560"/>
          </a:xfrm>
          <a:prstGeom prst="rect">
            <a:avLst/>
          </a:prstGeom>
          <a:noFill/>
        </p:spPr>
        <p:txBody>
          <a:bodyPr anchor="t" wrap="square" tIns="0" bIns="0" lIns="0" rIns="0">
            <a:normAutofit/>
          </a:bodyPr>
          <a:lstStyle/>
          <a:p>
            <a:pPr algn="l">
              <a:lnSpc>
                <a:spcPct val="108000"/>
              </a:lnSpc>
              <a:spcAft>
                <a:spcPts val="1200"/>
              </a:spcAft>
              <a:buNone/>
            </a:pPr>
            <a:r>
              <a:rPr sz="1400" b="1" i="0">
                <a:solidFill>
                  <a:srgbClr val="1F262D"/>
                </a:solidFill>
                <a:latin typeface="Arial"/>
                <a:ea typeface="Arial"/>
              </a:rPr>
              <a:t>Spike-timing-dependent plasticity</a:t>
            </a:r>
            <a:r>
              <a:rPr sz="1400" b="0" i="0">
                <a:solidFill>
                  <a:srgbClr val="1F262D"/>
                </a:solidFill>
                <a:latin typeface="Arial"/>
                <a:ea typeface="Arial"/>
              </a:rPr>
              <a:t xml:space="preserve"> is a lasting synaptic change whose direction depends on the relative timing of activity. Sawtell and colleagues repeatedly evoked a B spike at defined delays, approximately 8-110 ms after the electric-organ command, then measured command-evoked responses before and after pairing. The pairing delays ranged from about 8 to 110 ms after the command.</a:t>
            </a:r>
            <a:endParaRPr lang="en-US"/>
          </a:p>
          <a:p>
            <a:pPr algn="l">
              <a:lnSpc>
                <a:spcPct val="108000"/>
              </a:lnSpc>
              <a:spcAft>
                <a:spcPts val="1200"/>
              </a:spcAft>
              <a:buNone/>
            </a:pPr>
            <a:r>
              <a:rPr sz="1400" b="0" i="0">
                <a:solidFill>
                  <a:srgbClr val="1F262D"/>
                </a:solidFill>
                <a:latin typeface="Arial"/>
                <a:ea typeface="Arial"/>
              </a:rPr>
              <a:t xml:space="preserve">Pairing near the peak of the command response tended to reduce later excitation, whereas earlier or later pairings could enhance it. The changes in N-spike output tied the altered synaptic response to the cell's principal output event. The pairing delays set the timing relative to the command peak, which determined the direction of the change.</a:t>
            </a:r>
            <a:endParaRPr lang="en-US"/>
          </a:p>
          <a:p>
            <a:pPr algn="l">
              <a:lnSpc>
                <a:spcPct val="108000"/>
              </a:lnSpc>
              <a:spcAft>
                <a:spcPts val="1200"/>
              </a:spcAft>
              <a:buNone/>
            </a:pPr>
            <a:r>
              <a:rPr sz="1400" b="0" i="0">
                <a:solidFill>
                  <a:srgbClr val="1F262D"/>
                </a:solidFill>
                <a:latin typeface="Arial"/>
                <a:ea typeface="Arial"/>
              </a:rPr>
              <a:t xml:space="preserve">Timing-dependent also adaptation is established in this studied circuit. Command context, dendritic events, synaptic strength, and axonal activity are connected, so the adaptation links learning-related signals to the cell's output. A change in output after pairing supports a functional consequence of synaptic adaptation. The behavioral readout is a separate level of evidence.</a:t>
            </a:r>
            <a:endParaRPr lang="en-US"/>
          </a:p>
        </p:txBody>
      </p:sp>
      <p:pic>
        <p:nvPicPr>
          <p:cNvPr id="354" name="Presenton Native Image 60" descr=""/>
          <p:cNvPicPr/>
          <p:nvPr/>
        </p:nvPicPr>
        <p:blipFill>
          <a:blip r:embed="rId3" cstate="none"/>
          <a:stretch>
            <a:fillRect/>
          </a:stretch>
        </p:blipFill>
        <p:spPr>
          <a:xfrm>
            <a:off x="7377881" y="1055340"/>
            <a:ext cx="3341738" cy="2466975"/>
          </a:xfrm>
          <a:prstGeom prst="rect">
            <a:avLst/>
          </a:prstGeom>
        </p:spPr>
      </p:pic>
      <p:sp>
        <p:nvSpPr>
          <p:cNvPr id="1037" name="Shape 1037"/>
          <p:cNvSpPr/>
          <p:nvPr/>
        </p:nvSpPr>
        <p:spPr>
          <a:xfrm>
            <a:off x="6362700" y="3598515"/>
            <a:ext cx="5391150" cy="333375"/>
          </a:xfrm>
          <a:prstGeom prst="rect">
            <a:avLst/>
          </a:prstGeom>
          <a:noFill/>
        </p:spPr>
        <p:txBody>
          <a:bodyPr anchor="t" wrap="square" tIns="0" bIns="0" lIns="0" rIns="0">
            <a:normAutofit/>
          </a:bodyPr>
          <a:lstStyle/>
          <a:p>
            <a:pPr algn="l">
              <a:lnSpc>
                <a:spcPts val="1313"/>
              </a:lnSpc>
              <a:buNone/>
            </a:pPr>
            <a:r>
              <a:rPr sz="1050" b="0" i="0">
                <a:solidFill>
                  <a:srgbClr val="1F262D"/>
                </a:solidFill>
                <a:latin typeface="Arial"/>
                <a:ea typeface="Arial"/>
              </a:rPr>
              <a:t>Sawtell et al. (2007), Fig. 9(A–G). Pairing effects on synaptic responses and narrow-spike output.</a:t>
            </a:r>
            <a:endParaRPr lang="en-US"/>
          </a:p>
        </p:txBody>
      </p:sp>
      <p:pic>
        <p:nvPicPr>
          <p:cNvPr id="355" name="Presenton Native Image 61" descr=""/>
          <p:cNvPicPr/>
          <p:nvPr/>
        </p:nvPicPr>
        <p:blipFill>
          <a:blip r:embed="rId2" cstate="none"/>
          <a:stretch>
            <a:fillRect/>
          </a:stretch>
        </p:blipFill>
        <p:spPr>
          <a:xfrm>
            <a:off x="8533626" y="4103340"/>
            <a:ext cx="1030249" cy="1476375"/>
          </a:xfrm>
          <a:prstGeom prst="rect">
            <a:avLst/>
          </a:prstGeom>
        </p:spPr>
      </p:pic>
      <p:sp>
        <p:nvSpPr>
          <p:cNvPr id="1038" name="Shape 1038"/>
          <p:cNvSpPr/>
          <p:nvPr/>
        </p:nvSpPr>
        <p:spPr>
          <a:xfrm>
            <a:off x="6362700" y="5655915"/>
            <a:ext cx="5391150" cy="166688"/>
          </a:xfrm>
          <a:prstGeom prst="rect">
            <a:avLst/>
          </a:prstGeom>
          <a:noFill/>
        </p:spPr>
        <p:txBody>
          <a:bodyPr anchor="t" wrap="square" tIns="0" bIns="0" lIns="0" rIns="0">
            <a:normAutofit/>
          </a:bodyPr>
          <a:lstStyle/>
          <a:p>
            <a:pPr algn="l">
              <a:lnSpc>
                <a:spcPts val="1313"/>
              </a:lnSpc>
              <a:buNone/>
            </a:pPr>
            <a:r>
              <a:rPr sz="1050" b="0" i="0">
                <a:solidFill>
                  <a:srgbClr val="1F262D"/>
                </a:solidFill>
                <a:latin typeface="Arial"/>
                <a:ea typeface="Arial"/>
              </a:rPr>
              <a:t>Sawtell et al. (2007), Fig. 1(A). Published anatomy of the medium ganglion cell circuit.</a:t>
            </a:r>
            <a:endParaRPr lang="en-US"/>
          </a:p>
        </p:txBody>
      </p:sp>
      <p:sp>
        <p:nvSpPr>
          <p:cNvPr id="1039" name="Shape 1039"/>
          <p:cNvSpPr/>
          <p:nvPr/>
        </p:nvSpPr>
        <p:spPr>
          <a:xfrm>
            <a:off x="457200" y="6462713"/>
            <a:ext cx="1135707" cy="185738"/>
          </a:xfrm>
          <a:prstGeom prst="rect">
            <a:avLst/>
          </a:prstGeom>
          <a:noFill/>
        </p:spPr>
        <p:txBody>
          <a:bodyPr anchor="t" wrap="square" tIns="0" bIns="0" lIns="0" rIns="0">
            <a:normAutofit/>
          </a:bodyPr>
          <a:lstStyle/>
          <a:p>
            <a:pPr algn="l">
              <a:lnSpc>
                <a:spcPts val="1463"/>
              </a:lnSpc>
              <a:buNone/>
            </a:pPr>
            <a:r>
              <a:rPr sz="975" b="0" i="0">
                <a:solidFill>
                  <a:srgbClr val="58636E"/>
                </a:solidFill>
                <a:latin typeface="Arial"/>
                <a:ea typeface="Arial"/>
              </a:rPr>
              <a:t>Sawtell et al. (2007)</a:t>
            </a:r>
            <a:endParaRPr lang="en-US"/>
          </a:p>
        </p:txBody>
      </p:sp>
      <p:sp>
        <p:nvSpPr>
          <p:cNvPr id="1040" name="Shape 1040"/>
          <p:cNvSpPr/>
          <p:nvPr/>
        </p:nvSpPr>
        <p:spPr>
          <a:xfrm>
            <a:off x="11593116" y="6462713"/>
            <a:ext cx="160734" cy="185738"/>
          </a:xfrm>
          <a:prstGeom prst="rect">
            <a:avLst/>
          </a:prstGeom>
          <a:noFill/>
        </p:spPr>
        <p:txBody>
          <a:bodyPr anchor="t" wrap="square" tIns="0" bIns="0" lIns="0" rIns="0">
            <a:normAutofit/>
          </a:bodyPr>
          <a:lstStyle/>
          <a:p>
            <a:pPr algn="l">
              <a:lnSpc>
                <a:spcPts val="1463"/>
              </a:lnSpc>
              <a:buNone/>
            </a:pPr>
            <a:r>
              <a:rPr sz="975" b="0" i="0">
                <a:solidFill>
                  <a:srgbClr val="58636E"/>
                </a:solidFill>
                <a:latin typeface="Arial"/>
                <a:ea typeface="Arial"/>
              </a:rPr>
              <a:t>45</a:t>
            </a:r>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bg>
      <p:bgPr>
        <a:solidFill>
          <a:srgbClr val="FFFFFF"/>
        </a:solidFill>
      </p:bgPr>
    </p:bg>
    <p:spTree>
      <p:nvGrpSpPr>
        <p:cNvPr id="1" name=""/>
        <p:cNvGrpSpPr/>
        <p:nvPr/>
      </p:nvGrpSpPr>
      <p:grpSpPr>
        <a:xfrm>
          <a:off x="0" y="0"/>
          <a:ext cx="0" cy="0"/>
          <a:chOff x="0" y="0"/>
          <a:chExt cx="0" cy="0"/>
        </a:xfrm>
      </p:grpSpPr>
      <p:sp>
        <p:nvSpPr>
          <p:cNvPr id="1041" name="Shape 1041"/>
          <p:cNvSpPr/>
          <p:nvPr/>
        </p:nvSpPr>
        <p:spPr>
          <a:xfrm>
            <a:off x="457200" y="457200"/>
            <a:ext cx="11296650" cy="514350"/>
          </a:xfrm>
          <a:prstGeom prst="rect">
            <a:avLst/>
          </a:prstGeom>
          <a:noFill/>
        </p:spPr>
        <p:txBody>
          <a:bodyPr anchor="t" wrap="square" tIns="0" bIns="0" lIns="0" rIns="0">
            <a:normAutofit/>
          </a:bodyPr>
          <a:lstStyle/>
          <a:p>
            <a:pPr algn="l">
              <a:lnSpc>
                <a:spcPts val="4050"/>
              </a:lnSpc>
              <a:buNone/>
            </a:pPr>
            <a:r>
              <a:rPr sz="2700" b="1" i="0">
                <a:solidFill>
                  <a:srgbClr val="2B5577"/>
                </a:solidFill>
                <a:latin typeface="Arial"/>
                <a:ea typeface="Arial"/>
              </a:rPr>
              <a:t>Key takeaways</a:t>
            </a:r>
            <a:endParaRPr lang="en-US"/>
          </a:p>
        </p:txBody>
      </p:sp>
      <p:sp>
        <p:nvSpPr>
          <p:cNvPr id="1042" name="Shape 1042"/>
          <p:cNvSpPr/>
          <p:nvPr/>
        </p:nvSpPr>
        <p:spPr>
          <a:xfrm>
            <a:off x="457200" y="1238250"/>
            <a:ext cx="5562600" cy="1550194"/>
          </a:xfrm>
          <a:prstGeom prst="rect">
            <a:avLst/>
          </a:prstGeom>
          <a:solidFill>
            <a:srgbClr val="EEF5FA"/>
          </a:solidFill>
        </p:spPr>
        <p:txBody>
          <a:bodyPr anchor="t" wrap="square" tIns="209550" bIns="209550" lIns="209550" rIns="209550">
            <a:normAutofit/>
          </a:bodyPr>
          <a:lstStyle/>
          <a:p>
            <a:pPr algn="l">
              <a:lnSpc>
                <a:spcPts val="2228"/>
              </a:lnSpc>
              <a:buNone/>
            </a:pPr>
            <a:r>
              <a:rPr sz="1650" b="1" i="0">
                <a:solidFill>
                  <a:srgbClr val="1F262D"/>
                </a:solidFill>
                <a:latin typeface="Arial"/>
                <a:ea typeface="Arial"/>
              </a:rPr>
              <a:t>Active electrolocation samples self-generated fields.</a:t>
            </a:r>
            <a:r>
              <a:rPr sz="1650" b="0" i="0">
                <a:solidFill>
                  <a:srgbClr val="1F262D"/>
                </a:solidFill>
                <a:latin typeface="Arial"/>
                <a:ea typeface="Arial"/>
              </a:rPr>
              <a:t xml:space="preserve"> Object-induced current changes form electric images across the skin; recognition in darkness is a near-field capacity.</a:t>
            </a:r>
            <a:endParaRPr lang="en-US"/>
          </a:p>
        </p:txBody>
      </p:sp>
      <p:sp>
        <p:nvSpPr>
          <p:cNvPr id="1043" name="Shape 1043"/>
          <p:cNvSpPr/>
          <p:nvPr/>
        </p:nvSpPr>
        <p:spPr>
          <a:xfrm>
            <a:off x="6191250" y="1238250"/>
            <a:ext cx="5562600" cy="1550194"/>
          </a:xfrm>
          <a:prstGeom prst="rect">
            <a:avLst/>
          </a:prstGeom>
          <a:solidFill>
            <a:srgbClr val="EEF5FA"/>
          </a:solidFill>
        </p:spPr>
        <p:txBody>
          <a:bodyPr anchor="t" wrap="square" tIns="209550" bIns="209550" lIns="209550" rIns="209550">
            <a:normAutofit/>
          </a:bodyPr>
          <a:lstStyle/>
          <a:p>
            <a:pPr algn="l">
              <a:lnSpc>
                <a:spcPts val="2228"/>
              </a:lnSpc>
              <a:buNone/>
            </a:pPr>
            <a:r>
              <a:rPr sz="1650" b="1" i="0">
                <a:solidFill>
                  <a:srgbClr val="1F262D"/>
                </a:solidFill>
                <a:latin typeface="Arial"/>
                <a:ea typeface="Arial"/>
              </a:rPr>
              <a:t>Object recognition can tolerate sensory transformations.</a:t>
            </a:r>
            <a:r>
              <a:rPr sz="1650" b="0" i="0">
                <a:solidFill>
                  <a:srgbClr val="1F262D"/>
                </a:solidFill>
                <a:latin typeface="Arial"/>
                <a:ea typeface="Arial"/>
              </a:rPr>
              <a:t xml:space="preserve"> Size constancy, rotation tolerance, and generalization depend on the tested geometry, distance, and learning conditions.</a:t>
            </a:r>
            <a:endParaRPr lang="en-US"/>
          </a:p>
        </p:txBody>
      </p:sp>
      <p:sp>
        <p:nvSpPr>
          <p:cNvPr id="1044" name="Shape 1044"/>
          <p:cNvSpPr/>
          <p:nvPr/>
        </p:nvSpPr>
        <p:spPr>
          <a:xfrm>
            <a:off x="457200" y="2978944"/>
            <a:ext cx="5562600" cy="1832967"/>
          </a:xfrm>
          <a:prstGeom prst="rect">
            <a:avLst/>
          </a:prstGeom>
          <a:solidFill>
            <a:srgbClr val="EEF5FA"/>
          </a:solidFill>
        </p:spPr>
        <p:txBody>
          <a:bodyPr anchor="t" wrap="square" tIns="209550" bIns="209550" lIns="209550" rIns="209550">
            <a:normAutofit/>
          </a:bodyPr>
          <a:lstStyle/>
          <a:p>
            <a:pPr algn="l">
              <a:lnSpc>
                <a:spcPts val="2228"/>
              </a:lnSpc>
              <a:buNone/>
            </a:pPr>
            <a:r>
              <a:rPr sz="1650" b="1" i="0">
                <a:solidFill>
                  <a:srgbClr val="1F262D"/>
                </a:solidFill>
                <a:latin typeface="Arial"/>
                <a:ea typeface="Arial"/>
              </a:rPr>
              <a:t>Movement creates additional distance information.</a:t>
            </a:r>
            <a:r>
              <a:rPr sz="1650" b="0" i="0">
                <a:solidFill>
                  <a:srgbClr val="1F262D"/>
                </a:solidFill>
                <a:latin typeface="Arial"/>
                <a:ea typeface="Arial"/>
              </a:rPr>
              <a:t xml:space="preserve"> Natural approaches shape sampling density and electrosensory flow; reconstructed relative gradients are candidate cues, not proven neural computations.</a:t>
            </a:r>
            <a:endParaRPr lang="en-US"/>
          </a:p>
        </p:txBody>
      </p:sp>
      <p:sp>
        <p:nvSpPr>
          <p:cNvPr id="1045" name="Shape 1045"/>
          <p:cNvSpPr/>
          <p:nvPr/>
        </p:nvSpPr>
        <p:spPr>
          <a:xfrm>
            <a:off x="6191250" y="2978944"/>
            <a:ext cx="5562600" cy="1832967"/>
          </a:xfrm>
          <a:prstGeom prst="rect">
            <a:avLst/>
          </a:prstGeom>
          <a:solidFill>
            <a:srgbClr val="EEF5FA"/>
          </a:solidFill>
        </p:spPr>
        <p:txBody>
          <a:bodyPr anchor="t" wrap="square" tIns="209550" bIns="209550" lIns="209550" rIns="209550">
            <a:normAutofit/>
          </a:bodyPr>
          <a:lstStyle/>
          <a:p>
            <a:pPr algn="l">
              <a:lnSpc>
                <a:spcPts val="2228"/>
              </a:lnSpc>
              <a:buNone/>
            </a:pPr>
            <a:r>
              <a:rPr sz="1650" b="1" i="0">
                <a:solidFill>
                  <a:srgbClr val="1F262D"/>
                </a:solidFill>
                <a:latin typeface="Arial"/>
                <a:ea typeface="Arial"/>
              </a:rPr>
              <a:t>Afferent timing depends on sensory history.</a:t>
            </a:r>
            <a:r>
              <a:rPr sz="1650" b="0" i="0">
                <a:solidFill>
                  <a:srgbClr val="1F262D"/>
                </a:solidFill>
                <a:latin typeface="Arial"/>
                <a:ea typeface="Arial"/>
              </a:rPr>
              <a:t xml:space="preserve"> Local amplitude changes alter first-spike latency, but pulse intervals, baseline adaptation, and sensing rate also modify the code.</a:t>
            </a:r>
            <a:endParaRPr lang="en-US"/>
          </a:p>
        </p:txBody>
      </p:sp>
      <p:sp>
        <p:nvSpPr>
          <p:cNvPr id="1046" name="Shape 1046"/>
          <p:cNvSpPr/>
          <p:nvPr/>
        </p:nvSpPr>
        <p:spPr>
          <a:xfrm>
            <a:off x="457200" y="5002411"/>
            <a:ext cx="5562600" cy="1832967"/>
          </a:xfrm>
          <a:prstGeom prst="rect">
            <a:avLst/>
          </a:prstGeom>
          <a:solidFill>
            <a:srgbClr val="EEF5FA"/>
          </a:solidFill>
        </p:spPr>
        <p:txBody>
          <a:bodyPr anchor="t" wrap="square" tIns="209550" bIns="209550" lIns="209550" rIns="209550">
            <a:normAutofit/>
          </a:bodyPr>
          <a:lstStyle/>
          <a:p>
            <a:pPr algn="l">
              <a:lnSpc>
                <a:spcPts val="2228"/>
              </a:lnSpc>
              <a:buNone/>
            </a:pPr>
            <a:r>
              <a:rPr sz="1650" b="1" i="0">
                <a:solidFill>
                  <a:srgbClr val="1F262D"/>
                </a:solidFill>
                <a:latin typeface="Arial"/>
                <a:ea typeface="Arial"/>
              </a:rPr>
              <a:t>ELL integration is pathway and receptor specific.</a:t>
            </a:r>
            <a:r>
              <a:rPr sz="1650" b="0" i="0">
                <a:solidFill>
                  <a:srgbClr val="1F262D"/>
                </a:solidFill>
                <a:latin typeface="Arial"/>
                <a:ea typeface="Arial"/>
              </a:rPr>
              <a:t xml:space="preserve"> AMPA and NMDA receptors contribute excitation; GABA-A and glycine receptors contribute inhibition in pathway-dependent combinations.</a:t>
            </a:r>
            <a:endParaRPr lang="en-US"/>
          </a:p>
        </p:txBody>
      </p:sp>
      <p:sp>
        <p:nvSpPr>
          <p:cNvPr id="1047" name="Shape 1047"/>
          <p:cNvSpPr/>
          <p:nvPr/>
        </p:nvSpPr>
        <p:spPr>
          <a:xfrm>
            <a:off x="6191250" y="5002411"/>
            <a:ext cx="5562600" cy="1832967"/>
          </a:xfrm>
          <a:prstGeom prst="rect">
            <a:avLst/>
          </a:prstGeom>
          <a:solidFill>
            <a:srgbClr val="EEF5FA"/>
          </a:solidFill>
        </p:spPr>
        <p:txBody>
          <a:bodyPr anchor="t" wrap="square" tIns="209550" bIns="209550" lIns="209550" rIns="209550">
            <a:normAutofit/>
          </a:bodyPr>
          <a:lstStyle/>
          <a:p>
            <a:pPr algn="l">
              <a:lnSpc>
                <a:spcPts val="2228"/>
              </a:lnSpc>
              <a:buNone/>
            </a:pPr>
            <a:r>
              <a:rPr sz="1650" b="1" i="0">
                <a:solidFill>
                  <a:srgbClr val="1F262D"/>
                </a:solidFill>
                <a:latin typeface="Arial"/>
                <a:ea typeface="Arial"/>
              </a:rPr>
              <a:t>Dendritic events regulate adaptation separately from output.</a:t>
            </a:r>
            <a:r>
              <a:rPr sz="1650" b="0" i="0">
                <a:solidFill>
                  <a:srgbClr val="1F262D"/>
                </a:solidFill>
                <a:latin typeface="Arial"/>
                <a:ea typeface="Arial"/>
              </a:rPr>
              <a:t xml:space="preserve"> Command-linked inhibition can suppress B spikes while N spikes persist; B-spike timing changes synaptic responses and subsequent output.</a:t>
            </a:r>
            <a:endParaRPr lang="en-US"/>
          </a:p>
        </p:txBody>
      </p:sp>
      <p:sp>
        <p:nvSpPr>
          <p:cNvPr id="1048" name="Shape 1048"/>
          <p:cNvSpPr/>
          <p:nvPr/>
        </p:nvSpPr>
        <p:spPr>
          <a:xfrm>
            <a:off x="457200" y="6462713"/>
            <a:ext cx="7798594" cy="185738"/>
          </a:xfrm>
          <a:prstGeom prst="rect">
            <a:avLst/>
          </a:prstGeom>
          <a:noFill/>
        </p:spPr>
        <p:txBody>
          <a:bodyPr anchor="t" wrap="square" tIns="0" bIns="0" lIns="0" rIns="0">
            <a:normAutofit/>
          </a:bodyPr>
          <a:lstStyle/>
          <a:p>
            <a:pPr algn="l">
              <a:lnSpc>
                <a:spcPts val="1463"/>
              </a:lnSpc>
              <a:buNone/>
            </a:pPr>
            <a:r>
              <a:rPr sz="975" b="0" i="0">
                <a:solidFill>
                  <a:srgbClr val="58636E"/>
                </a:solidFill>
                <a:latin typeface="Arial"/>
                <a:ea typeface="Arial"/>
              </a:rPr>
              <a:t>von der Emde et al. (2010); Hofmann et al. (2017); Schumacher et al. (2017); Sawtell et al. (2006); Grant et al. (1998); Sawtell et al. (2007)</a:t>
            </a:r>
            <a:endParaRPr lang="en-US"/>
          </a:p>
        </p:txBody>
      </p:sp>
      <p:sp>
        <p:nvSpPr>
          <p:cNvPr id="1049" name="Shape 1049"/>
          <p:cNvSpPr/>
          <p:nvPr/>
        </p:nvSpPr>
        <p:spPr>
          <a:xfrm>
            <a:off x="11593116" y="6462713"/>
            <a:ext cx="160734" cy="185738"/>
          </a:xfrm>
          <a:prstGeom prst="rect">
            <a:avLst/>
          </a:prstGeom>
          <a:noFill/>
        </p:spPr>
        <p:txBody>
          <a:bodyPr anchor="t" wrap="square" tIns="0" bIns="0" lIns="0" rIns="0">
            <a:normAutofit/>
          </a:bodyPr>
          <a:lstStyle/>
          <a:p>
            <a:pPr algn="l">
              <a:lnSpc>
                <a:spcPts val="1463"/>
              </a:lnSpc>
              <a:buNone/>
            </a:pPr>
            <a:r>
              <a:rPr sz="975" b="0" i="0">
                <a:solidFill>
                  <a:srgbClr val="58636E"/>
                </a:solidFill>
                <a:latin typeface="Arial"/>
                <a:ea typeface="Arial"/>
              </a:rPr>
              <a:t>46</a:t>
            </a:r>
            <a:endParaRPr lang="en-US"/>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1009" name="Shape 1009"/>
          <p:cNvSpPr/>
          <p:nvPr/>
        </p:nvSpPr>
        <p:spPr>
          <a:xfrm>
            <a:off x="457200" y="457200"/>
            <a:ext cx="11296650" cy="350490"/>
          </a:xfrm>
          <a:prstGeom prst="rect">
            <a:avLst/>
          </a:prstGeom>
          <a:noFill/>
        </p:spPr>
        <p:txBody>
          <a:bodyPr anchor="t" wrap="square" tIns="0" bIns="0" lIns="0" rIns="0">
            <a:normAutofit/>
          </a:bodyPr>
          <a:lstStyle/>
          <a:p>
            <a:pPr algn="l">
              <a:lnSpc>
                <a:spcPts val="2760"/>
              </a:lnSpc>
              <a:buNone/>
            </a:pPr>
            <a:r>
              <a:rPr sz="2400" b="1" i="0">
                <a:solidFill>
                  <a:srgbClr val="2B5577"/>
                </a:solidFill>
                <a:latin typeface="Arial"/>
                <a:ea typeface="Arial"/>
              </a:rPr>
              <a:t>A transient rise follows stimulus removal</a:t>
            </a:r>
            <a:endParaRPr lang="en-US"/>
          </a:p>
        </p:txBody>
      </p:sp>
      <p:sp>
        <p:nvSpPr>
          <p:cNvPr id="1010" name="Shape 1010"/>
          <p:cNvSpPr/>
          <p:nvPr/>
        </p:nvSpPr>
        <p:spPr>
          <a:xfrm>
            <a:off x="566000" y="1234440"/>
            <a:ext cx="5480000" cy="4915560"/>
          </a:xfrm>
          <a:prstGeom prst="rect">
            <a:avLst/>
          </a:prstGeom>
          <a:noFill/>
        </p:spPr>
        <p:txBody>
          <a:bodyPr anchor="t" wrap="square" tIns="0" bIns="0" lIns="0" rIns="0">
            <a:normAutofit/>
          </a:bodyPr>
          <a:lstStyle/>
          <a:p>
            <a:pPr algn="l">
              <a:lnSpc>
                <a:spcPct val="108000"/>
              </a:lnSpc>
              <a:spcAft>
                <a:spcPts val="1200"/>
              </a:spcAft>
              <a:buNone/>
            </a:pPr>
            <a:r>
              <a:rPr sz="1400" b="0" i="0">
                <a:solidFill>
                  <a:srgbClr val="1F262D"/>
                </a:solidFill>
                <a:latin typeface="Arial"/>
                <a:ea typeface="Arial"/>
              </a:rPr>
              <a:t xml:space="preserve">The recordings captured the state that the circuit entered during repeated electrosensory stimulation, and they tracked that state into the command cycles that followed. Switching the stimulus off produced a transient increase in early B-spike activity. The recordings examined the cycles that followed each stimulation episode. Command-linked recordings were analyzed in the cycles immediately after stimulation ended.</a:t>
            </a:r>
            <a:endParaRPr lang="en-US"/>
          </a:p>
          <a:p>
            <a:pPr algn="l">
              <a:lnSpc>
                <a:spcPct val="108000"/>
              </a:lnSpc>
              <a:spcAft>
                <a:spcPts val="1200"/>
              </a:spcAft>
              <a:buNone/>
            </a:pPr>
            <a:r>
              <a:rPr sz="1400" b="0" i="0">
                <a:solidFill>
                  <a:srgbClr val="1F262D"/>
                </a:solidFill>
                <a:latin typeface="Arial"/>
                <a:ea typeface="Arial"/>
              </a:rPr>
              <a:t xml:space="preserve">That rise appeared although the command signal served as the timing reference throughout. Stimulus history shaped when and how often these events occurred, not merely whether they occurred in a given cycle. Switching off the stimulus changed the timing of B spikes within the early cycles. This change in early timing is what the transient increase consists of.</a:t>
            </a:r>
            <a:endParaRPr lang="en-US"/>
          </a:p>
          <a:p>
            <a:pPr algn="l">
              <a:lnSpc>
                <a:spcPct val="108000"/>
              </a:lnSpc>
              <a:spcAft>
                <a:spcPts val="1200"/>
              </a:spcAft>
              <a:buNone/>
            </a:pPr>
            <a:r>
              <a:rPr sz="1400" b="0" i="0">
                <a:solidFill>
                  <a:srgbClr val="1F262D"/>
                </a:solidFill>
                <a:latin typeface="Arial"/>
                <a:ea typeface="Arial"/>
              </a:rPr>
              <a:t xml:space="preserve">The transient response is a candidate learned prediction, and additional inhibition and pairing experiments are needed to identify the mechanism behind it. The observed firing pattern is the measured result, while the mechanism is an interpretation of that result. The circuit state built during stimulation provides one explanation for the rise. Each candidate mechanism predicts a different time course for the transient.</a:t>
            </a:r>
            <a:endParaRPr lang="en-US"/>
          </a:p>
        </p:txBody>
      </p:sp>
      <p:pic>
        <p:nvPicPr>
          <p:cNvPr id="348" name="Presenton Native Image 54" descr=""/>
          <p:cNvPicPr/>
          <p:nvPr/>
        </p:nvPicPr>
        <p:blipFill>
          <a:blip r:embed="rId2" cstate="none"/>
          <a:stretch>
            <a:fillRect/>
          </a:stretch>
        </p:blipFill>
        <p:spPr>
          <a:xfrm>
            <a:off x="8232824" y="1055340"/>
            <a:ext cx="1631851" cy="2466975"/>
          </a:xfrm>
          <a:prstGeom prst="rect">
            <a:avLst/>
          </a:prstGeom>
        </p:spPr>
      </p:pic>
      <p:pic>
        <p:nvPicPr>
          <p:cNvPr id="349" name="Presenton Native Image 55" descr=""/>
          <p:cNvPicPr/>
          <p:nvPr/>
        </p:nvPicPr>
        <p:blipFill>
          <a:blip r:embed="rId3" cstate="none"/>
          <a:stretch>
            <a:fillRect/>
          </a:stretch>
        </p:blipFill>
        <p:spPr>
          <a:xfrm>
            <a:off x="8533626" y="4103340"/>
            <a:ext cx="1030249" cy="1476375"/>
          </a:xfrm>
          <a:prstGeom prst="rect">
            <a:avLst/>
          </a:prstGeom>
        </p:spPr>
      </p:pic>
      <p:sp>
        <p:nvSpPr>
          <p:cNvPr id="1014" name="Shape 1014"/>
          <p:cNvSpPr/>
          <p:nvPr/>
        </p:nvSpPr>
        <p:spPr>
          <a:xfrm>
            <a:off x="6362700" y="5655915"/>
            <a:ext cx="5391150" cy="166688"/>
          </a:xfrm>
          <a:prstGeom prst="rect">
            <a:avLst/>
          </a:prstGeom>
          <a:noFill/>
        </p:spPr>
        <p:txBody>
          <a:bodyPr anchor="t" wrap="square" tIns="0" bIns="0" lIns="0" rIns="0">
            <a:normAutofit/>
          </a:bodyPr>
          <a:lstStyle/>
          <a:p>
            <a:pPr algn="l">
              <a:lnSpc>
                <a:spcPts val="1313"/>
              </a:lnSpc>
              <a:buNone/>
            </a:pPr>
            <a:r>
              <a:rPr sz="1050" b="0" i="0">
                <a:solidFill>
                  <a:srgbClr val="1F262D"/>
                </a:solidFill>
                <a:latin typeface="Arial"/>
                <a:ea typeface="Arial"/>
              </a:rPr>
              <a:t>Sawtell et al. (2007), Fig. 1(A). Published anatomy of the medium ganglion cell circuit.</a:t>
            </a:r>
            <a:endParaRPr lang="en-US"/>
          </a:p>
        </p:txBody>
      </p:sp>
      <p:sp>
        <p:nvSpPr>
          <p:cNvPr id="1015" name="Shape 1015"/>
          <p:cNvSpPr/>
          <p:nvPr/>
        </p:nvSpPr>
        <p:spPr>
          <a:xfrm>
            <a:off x="457200" y="6462713"/>
            <a:ext cx="1135707" cy="185738"/>
          </a:xfrm>
          <a:prstGeom prst="rect">
            <a:avLst/>
          </a:prstGeom>
          <a:noFill/>
        </p:spPr>
        <p:txBody>
          <a:bodyPr anchor="t" wrap="square" tIns="0" bIns="0" lIns="0" rIns="0">
            <a:normAutofit/>
          </a:bodyPr>
          <a:lstStyle/>
          <a:p>
            <a:pPr algn="l">
              <a:lnSpc>
                <a:spcPts val="1463"/>
              </a:lnSpc>
              <a:buNone/>
            </a:pPr>
            <a:r>
              <a:rPr sz="975" b="0" i="0">
                <a:solidFill>
                  <a:srgbClr val="58636E"/>
                </a:solidFill>
                <a:latin typeface="Arial"/>
                <a:ea typeface="Arial"/>
              </a:rPr>
              <a:t>Sawtell et al. (2007)</a:t>
            </a:r>
            <a:endParaRPr lang="en-US"/>
          </a:p>
        </p:txBody>
      </p:sp>
      <p:sp>
        <p:nvSpPr>
          <p:cNvPr id="1016" name="Shape 1016"/>
          <p:cNvSpPr/>
          <p:nvPr/>
        </p:nvSpPr>
        <p:spPr>
          <a:xfrm>
            <a:off x="11530699" y="6462713"/>
            <a:ext cx="223151" cy="185738"/>
          </a:xfrm>
          <a:prstGeom prst="rect">
            <a:avLst/>
          </a:prstGeom>
          <a:noFill/>
        </p:spPr>
        <p:txBody>
          <a:bodyPr anchor="t" wrap="square" tIns="0" bIns="0" lIns="0" rIns="0">
            <a:normAutofit/>
          </a:bodyPr>
          <a:lstStyle/>
          <a:p>
            <a:pPr algn="l">
              <a:lnSpc>
                <a:spcPts val="1463"/>
              </a:lnSpc>
              <a:buNone/>
            </a:pPr>
            <a:r>
              <a:rPr sz="975" b="0" i="0">
                <a:solidFill>
                  <a:srgbClr val="58636E"/>
                </a:solidFill>
                <a:latin typeface="Arial"/>
                <a:ea typeface="Arial"/>
              </a:rPr>
              <a:t>42a</a:t>
            </a:r>
            <a:endParaRPr lang="en-US"/>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985" name="Shape 985"/>
          <p:cNvSpPr/>
          <p:nvPr/>
        </p:nvSpPr>
        <p:spPr>
          <a:xfrm>
            <a:off x="457200" y="457200"/>
            <a:ext cx="11296650" cy="350490"/>
          </a:xfrm>
          <a:prstGeom prst="rect">
            <a:avLst/>
          </a:prstGeom>
          <a:noFill/>
        </p:spPr>
        <p:txBody>
          <a:bodyPr anchor="t" wrap="square" tIns="0" bIns="0" lIns="0" rIns="0">
            <a:normAutofit/>
          </a:bodyPr>
          <a:lstStyle/>
          <a:p>
            <a:pPr algn="l">
              <a:lnSpc>
                <a:spcPts val="2760"/>
              </a:lnSpc>
              <a:buNone/>
            </a:pPr>
            <a:r>
              <a:rPr sz="2400" b="1" i="0">
                <a:solidFill>
                  <a:srgbClr val="2B5577"/>
                </a:solidFill>
                <a:latin typeface="Arial"/>
                <a:ea typeface="Arial"/>
              </a:rPr>
              <a:t>B spikes and N spikes are separate events</a:t>
            </a:r>
            <a:endParaRPr lang="en-US"/>
          </a:p>
        </p:txBody>
      </p:sp>
      <p:sp>
        <p:nvSpPr>
          <p:cNvPr id="986" name="Shape 986"/>
          <p:cNvSpPr/>
          <p:nvPr/>
        </p:nvSpPr>
        <p:spPr>
          <a:xfrm>
            <a:off x="566000" y="1234440"/>
            <a:ext cx="5480000" cy="4915560"/>
          </a:xfrm>
          <a:prstGeom prst="rect">
            <a:avLst/>
          </a:prstGeom>
          <a:noFill/>
        </p:spPr>
        <p:txBody>
          <a:bodyPr anchor="t" wrap="square" tIns="0" bIns="0" lIns="0" rIns="0">
            <a:normAutofit/>
          </a:bodyPr>
          <a:lstStyle/>
          <a:p>
            <a:pPr algn="l">
              <a:lnSpc>
                <a:spcPct val="108000"/>
              </a:lnSpc>
              <a:spcAft>
                <a:spcPts val="1200"/>
              </a:spcAft>
              <a:buNone/>
            </a:pPr>
            <a:r>
              <a:rPr sz="1400" b="0" i="0">
                <a:solidFill>
                  <a:srgbClr val="1F262D"/>
                </a:solidFill>
                <a:latin typeface="Arial"/>
                <a:ea typeface="Arial"/>
              </a:rPr>
              <a:t xml:space="preserve">Broad dendritic events, called B spikes, are tied to plasticity at parallel-fiber synapses. Both event classes arise in one medium ganglion cell, which allows their timing to be compared directly within a single recording. Their timing relative to the command can be compared on a shared reference. Both event classes were examined in each recording.</a:t>
            </a:r>
            <a:endParaRPr lang="en-US"/>
          </a:p>
          <a:p>
            <a:pPr algn="l">
              <a:lnSpc>
                <a:spcPct val="108000"/>
              </a:lnSpc>
              <a:spcAft>
                <a:spcPts val="1200"/>
              </a:spcAft>
              <a:buNone/>
            </a:pPr>
            <a:r>
              <a:rPr sz="1400" b="0" i="0">
                <a:solidFill>
                  <a:srgbClr val="1F262D"/>
                </a:solidFill>
                <a:latin typeface="Arial"/>
                <a:ea typeface="Arial"/>
              </a:rPr>
              <a:t xml:space="preserve">B-spike timing shifted across the phases of the electric-organ command cycle, and specific N-spike patterns were found near each B spike. These associations were made within the same cell during the same recording sessions, so the two event types were observed together. Their relative timing was tracked across cycles. Their relation to the command cycle was examined phase by phase.</a:t>
            </a:r>
            <a:endParaRPr lang="en-US"/>
          </a:p>
          <a:p>
            <a:pPr algn="l">
              <a:lnSpc>
                <a:spcPct val="108000"/>
              </a:lnSpc>
              <a:spcAft>
                <a:spcPts val="1200"/>
              </a:spcAft>
              <a:buNone/>
            </a:pPr>
            <a:r>
              <a:rPr sz="1400" b="0" i="0">
                <a:solidFill>
                  <a:srgbClr val="1F262D"/>
                </a:solidFill>
                <a:latin typeface="Arial"/>
                <a:ea typeface="Arial"/>
              </a:rPr>
              <a:t xml:space="preserve">Keeping the two event types apart matters because they reach different targets within one cell. A broad spike regulates later synaptic change, while a narrow spike carries the cell's immediate signal outward to the rest of the circuit. The narrow spike carries the immediate output, and the broad spike feeds back on synaptic strength. Both events remain distinguishable in the same recording.</a:t>
            </a:r>
            <a:endParaRPr lang="en-US"/>
          </a:p>
        </p:txBody>
      </p:sp>
      <p:pic>
        <p:nvPicPr>
          <p:cNvPr id="342" name="Presenton Native Image 48" descr=""/>
          <p:cNvPicPr/>
          <p:nvPr/>
        </p:nvPicPr>
        <p:blipFill>
          <a:blip r:embed="rId2" cstate="none"/>
          <a:stretch>
            <a:fillRect/>
          </a:stretch>
        </p:blipFill>
        <p:spPr>
          <a:xfrm>
            <a:off x="8016011" y="1055340"/>
            <a:ext cx="2065478" cy="2466975"/>
          </a:xfrm>
          <a:prstGeom prst="rect">
            <a:avLst/>
          </a:prstGeom>
        </p:spPr>
      </p:pic>
      <p:pic>
        <p:nvPicPr>
          <p:cNvPr id="343" name="Presenton Native Image 49" descr=""/>
          <p:cNvPicPr/>
          <p:nvPr/>
        </p:nvPicPr>
        <p:blipFill>
          <a:blip r:embed="rId3" cstate="none"/>
          <a:stretch>
            <a:fillRect/>
          </a:stretch>
        </p:blipFill>
        <p:spPr>
          <a:xfrm>
            <a:off x="8533626" y="4103340"/>
            <a:ext cx="1030249" cy="1476375"/>
          </a:xfrm>
          <a:prstGeom prst="rect">
            <a:avLst/>
          </a:prstGeom>
        </p:spPr>
      </p:pic>
      <p:sp>
        <p:nvSpPr>
          <p:cNvPr id="990" name="Shape 990"/>
          <p:cNvSpPr/>
          <p:nvPr/>
        </p:nvSpPr>
        <p:spPr>
          <a:xfrm>
            <a:off x="6362700" y="5655915"/>
            <a:ext cx="5391150" cy="166688"/>
          </a:xfrm>
          <a:prstGeom prst="rect">
            <a:avLst/>
          </a:prstGeom>
          <a:noFill/>
        </p:spPr>
        <p:txBody>
          <a:bodyPr anchor="t" wrap="square" tIns="0" bIns="0" lIns="0" rIns="0">
            <a:normAutofit/>
          </a:bodyPr>
          <a:lstStyle/>
          <a:p>
            <a:pPr algn="l">
              <a:lnSpc>
                <a:spcPts val="1313"/>
              </a:lnSpc>
              <a:buNone/>
            </a:pPr>
            <a:r>
              <a:rPr sz="1050" b="0" i="0">
                <a:solidFill>
                  <a:srgbClr val="1F262D"/>
                </a:solidFill>
                <a:latin typeface="Arial"/>
                <a:ea typeface="Arial"/>
              </a:rPr>
              <a:t>Sawtell et al. (2007), Fig. 1(A). Published anatomy of the medium ganglion cell circuit.</a:t>
            </a:r>
            <a:endParaRPr lang="en-US"/>
          </a:p>
        </p:txBody>
      </p:sp>
      <p:sp>
        <p:nvSpPr>
          <p:cNvPr id="991" name="Shape 991"/>
          <p:cNvSpPr/>
          <p:nvPr/>
        </p:nvSpPr>
        <p:spPr>
          <a:xfrm>
            <a:off x="457200" y="6462713"/>
            <a:ext cx="1135707" cy="185738"/>
          </a:xfrm>
          <a:prstGeom prst="rect">
            <a:avLst/>
          </a:prstGeom>
          <a:noFill/>
        </p:spPr>
        <p:txBody>
          <a:bodyPr anchor="t" wrap="square" tIns="0" bIns="0" lIns="0" rIns="0">
            <a:normAutofit/>
          </a:bodyPr>
          <a:lstStyle/>
          <a:p>
            <a:pPr algn="l">
              <a:lnSpc>
                <a:spcPts val="1463"/>
              </a:lnSpc>
              <a:buNone/>
            </a:pPr>
            <a:r>
              <a:rPr sz="975" b="0" i="0">
                <a:solidFill>
                  <a:srgbClr val="58636E"/>
                </a:solidFill>
                <a:latin typeface="Arial"/>
                <a:ea typeface="Arial"/>
              </a:rPr>
              <a:t>Sawtell et al. (2007)</a:t>
            </a:r>
            <a:endParaRPr lang="en-US"/>
          </a:p>
        </p:txBody>
      </p:sp>
      <p:sp>
        <p:nvSpPr>
          <p:cNvPr id="992" name="Shape 992"/>
          <p:cNvSpPr/>
          <p:nvPr/>
        </p:nvSpPr>
        <p:spPr>
          <a:xfrm>
            <a:off x="11530699" y="6462713"/>
            <a:ext cx="223151" cy="185738"/>
          </a:xfrm>
          <a:prstGeom prst="rect">
            <a:avLst/>
          </a:prstGeom>
          <a:noFill/>
        </p:spPr>
        <p:txBody>
          <a:bodyPr anchor="t" wrap="square" tIns="0" bIns="0" lIns="0" rIns="0">
            <a:normAutofit/>
          </a:bodyPr>
          <a:lstStyle/>
          <a:p>
            <a:pPr algn="l">
              <a:lnSpc>
                <a:spcPts val="1463"/>
              </a:lnSpc>
              <a:buNone/>
            </a:pPr>
            <a:r>
              <a:rPr sz="975" b="0" i="0">
                <a:solidFill>
                  <a:srgbClr val="58636E"/>
                </a:solidFill>
                <a:latin typeface="Arial"/>
                <a:ea typeface="Arial"/>
              </a:rPr>
              <a:t>39a</a:t>
            </a:r>
            <a:endParaRPr lang="en-US"/>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962" name="Shape 962"/>
          <p:cNvSpPr/>
          <p:nvPr/>
        </p:nvSpPr>
        <p:spPr>
          <a:xfrm>
            <a:off x="457200" y="457200"/>
            <a:ext cx="11296650" cy="350490"/>
          </a:xfrm>
          <a:prstGeom prst="rect">
            <a:avLst/>
          </a:prstGeom>
          <a:noFill/>
        </p:spPr>
        <p:txBody>
          <a:bodyPr anchor="t" wrap="square" tIns="0" bIns="0" lIns="0" rIns="0">
            <a:normAutofit/>
          </a:bodyPr>
          <a:lstStyle/>
          <a:p>
            <a:pPr algn="l">
              <a:lnSpc>
                <a:spcPts val="2760"/>
              </a:lnSpc>
              <a:buNone/>
            </a:pPr>
            <a:r>
              <a:rPr sz="2400" b="1" i="0">
                <a:solidFill>
                  <a:srgbClr val="2B5577"/>
                </a:solidFill>
                <a:latin typeface="Arial"/>
                <a:ea typeface="Arial"/>
              </a:rPr>
              <a:t>Efferent cells respond to both input layers</a:t>
            </a:r>
            <a:endParaRPr lang="en-US"/>
          </a:p>
        </p:txBody>
      </p:sp>
      <p:sp>
        <p:nvSpPr>
          <p:cNvPr id="963" name="Shape 963"/>
          <p:cNvSpPr/>
          <p:nvPr/>
        </p:nvSpPr>
        <p:spPr>
          <a:xfrm>
            <a:off x="566000" y="1234440"/>
            <a:ext cx="5480000" cy="4915560"/>
          </a:xfrm>
          <a:prstGeom prst="rect">
            <a:avLst/>
          </a:prstGeom>
          <a:noFill/>
        </p:spPr>
        <p:txBody>
          <a:bodyPr anchor="t" wrap="square" tIns="0" bIns="0" lIns="0" rIns="0">
            <a:normAutofit/>
          </a:bodyPr>
          <a:lstStyle/>
          <a:p>
            <a:pPr algn="l">
              <a:lnSpc>
                <a:spcPct val="108000"/>
              </a:lnSpc>
              <a:spcAft>
                <a:spcPts val="1200"/>
              </a:spcAft>
              <a:buNone/>
            </a:pPr>
            <a:r>
              <a:rPr sz="1400" b="0" i="0">
                <a:solidFill>
                  <a:srgbClr val="1F262D"/>
                </a:solidFill>
                <a:latin typeface="Arial"/>
                <a:ea typeface="Arial"/>
              </a:rPr>
              <a:t xml:space="preserve">Output neurons of two kinds, large ganglion cells and fusiform cells, were recorded in these slices alongside the medium ganglion interneurons. Their firing to current injection was set against that of the interneurons, which provides a second cell type for comparison. Their current-evoked firing was recorded for each cell type. Those recordings sampled cells of different types within one slice.</a:t>
            </a:r>
            <a:endParaRPr lang="en-US"/>
          </a:p>
          <a:p>
            <a:pPr algn="l">
              <a:lnSpc>
                <a:spcPct val="108000"/>
              </a:lnSpc>
              <a:spcAft>
                <a:spcPts val="1200"/>
              </a:spcAft>
              <a:buNone/>
            </a:pPr>
            <a:r>
              <a:rPr sz="1400" b="0" i="0">
                <a:solidFill>
                  <a:srgbClr val="1F262D"/>
                </a:solidFill>
                <a:latin typeface="Arial"/>
                <a:ea typeface="Arial"/>
              </a:rPr>
              <a:t xml:space="preserve">Excitatory and inhibitory influences reached these output cells, and the balance between them depended on the stimulated pathway. A fusiform cell has an elongated cell body, which distinguishes its morphology from that of the Purkinje-like interneuron in the same structure. The balance was tested for each pathway and cell in these recordings. The stimulated pathway determined which influence dominated.</a:t>
            </a:r>
            <a:endParaRPr lang="en-US"/>
          </a:p>
          <a:p>
            <a:pPr algn="l">
              <a:lnSpc>
                <a:spcPct val="108000"/>
              </a:lnSpc>
              <a:spcAft>
                <a:spcPts val="1200"/>
              </a:spcAft>
              <a:buNone/>
            </a:pPr>
            <a:r>
              <a:rPr sz="1400" b="0" i="0">
                <a:solidFill>
                  <a:srgbClr val="1F262D"/>
                </a:solidFill>
                <a:latin typeface="Arial"/>
                <a:ea typeface="Arial"/>
              </a:rPr>
              <a:t xml:space="preserve">The output cells form a separate route out of the ELL, while the medium ganglion interneuron contributes to the local circuit. Local responses are one stage of the processing that precedes the output neurons in each slice. Circuit position determines whether a local signal reaches the output neurons. Behavior-level interpretation requires intact animal experiments.</a:t>
            </a:r>
            <a:endParaRPr lang="en-US"/>
          </a:p>
        </p:txBody>
      </p:sp>
      <p:pic>
        <p:nvPicPr>
          <p:cNvPr id="337" name="Presenton Native Image 43" descr=""/>
          <p:cNvPicPr/>
          <p:nvPr/>
        </p:nvPicPr>
        <p:blipFill>
          <a:blip r:embed="rId2" cstate="none"/>
          <a:stretch>
            <a:fillRect/>
          </a:stretch>
        </p:blipFill>
        <p:spPr>
          <a:xfrm>
            <a:off x="7301638" y="1055340"/>
            <a:ext cx="3494224" cy="2466975"/>
          </a:xfrm>
          <a:prstGeom prst="rect">
            <a:avLst/>
          </a:prstGeom>
        </p:spPr>
      </p:pic>
      <p:sp>
        <p:nvSpPr>
          <p:cNvPr id="966" name="Shape 966"/>
          <p:cNvSpPr/>
          <p:nvPr/>
        </p:nvSpPr>
        <p:spPr>
          <a:xfrm>
            <a:off x="6362700" y="3598515"/>
            <a:ext cx="5391150" cy="333375"/>
          </a:xfrm>
          <a:prstGeom prst="rect">
            <a:avLst/>
          </a:prstGeom>
          <a:noFill/>
        </p:spPr>
        <p:txBody>
          <a:bodyPr anchor="t" wrap="square" tIns="0" bIns="0" lIns="0" rIns="0">
            <a:normAutofit/>
          </a:bodyPr>
          <a:lstStyle/>
          <a:p>
            <a:pPr algn="l">
              <a:lnSpc>
                <a:spcPts val="1313"/>
              </a:lnSpc>
              <a:buNone/>
            </a:pPr>
            <a:r>
              <a:rPr sz="1050" b="0" i="0">
                <a:solidFill>
                  <a:srgbClr val="1F262D"/>
                </a:solidFill>
                <a:latin typeface="Arial"/>
                <a:ea typeface="Arial"/>
              </a:rPr>
              <a:t>Grant et al. (1998), Fig. 12(A–E). Current and synaptic responses of identified efferent cells.</a:t>
            </a:r>
            <a:endParaRPr lang="en-US"/>
          </a:p>
        </p:txBody>
      </p:sp>
      <p:pic>
        <p:nvPicPr>
          <p:cNvPr id="338" name="Presenton Native Image 44" descr=""/>
          <p:cNvPicPr/>
          <p:nvPr/>
        </p:nvPicPr>
        <p:blipFill>
          <a:blip r:embed="rId3" cstate="none"/>
          <a:stretch>
            <a:fillRect/>
          </a:stretch>
        </p:blipFill>
        <p:spPr>
          <a:xfrm>
            <a:off x="7930832" y="4103340"/>
            <a:ext cx="2235836" cy="1476375"/>
          </a:xfrm>
          <a:prstGeom prst="rect">
            <a:avLst/>
          </a:prstGeom>
        </p:spPr>
      </p:pic>
      <p:sp>
        <p:nvSpPr>
          <p:cNvPr id="967" name="Shape 967"/>
          <p:cNvSpPr/>
          <p:nvPr/>
        </p:nvSpPr>
        <p:spPr>
          <a:xfrm>
            <a:off x="6362700" y="5655915"/>
            <a:ext cx="5391150" cy="166688"/>
          </a:xfrm>
          <a:prstGeom prst="rect">
            <a:avLst/>
          </a:prstGeom>
          <a:noFill/>
        </p:spPr>
        <p:txBody>
          <a:bodyPr anchor="t" wrap="square" tIns="0" bIns="0" lIns="0" rIns="0">
            <a:normAutofit/>
          </a:bodyPr>
          <a:lstStyle/>
          <a:p>
            <a:pPr algn="l">
              <a:lnSpc>
                <a:spcPts val="1313"/>
              </a:lnSpc>
              <a:buNone/>
            </a:pPr>
            <a:r>
              <a:rPr sz="1050" b="0" i="0">
                <a:solidFill>
                  <a:srgbClr val="1F262D"/>
                </a:solidFill>
                <a:latin typeface="Arial"/>
                <a:ea typeface="Arial"/>
              </a:rPr>
              <a:t>Grant et al. (1998), Fig. 1. Anatomical organization of ELL cells and input layers.</a:t>
            </a:r>
            <a:endParaRPr lang="en-US"/>
          </a:p>
        </p:txBody>
      </p:sp>
      <p:sp>
        <p:nvSpPr>
          <p:cNvPr id="968" name="Shape 968"/>
          <p:cNvSpPr/>
          <p:nvPr/>
        </p:nvSpPr>
        <p:spPr>
          <a:xfrm>
            <a:off x="457200" y="6462713"/>
            <a:ext cx="1051917" cy="185738"/>
          </a:xfrm>
          <a:prstGeom prst="rect">
            <a:avLst/>
          </a:prstGeom>
          <a:noFill/>
        </p:spPr>
        <p:txBody>
          <a:bodyPr anchor="t" wrap="square" tIns="0" bIns="0" lIns="0" rIns="0">
            <a:normAutofit/>
          </a:bodyPr>
          <a:lstStyle/>
          <a:p>
            <a:pPr algn="l">
              <a:lnSpc>
                <a:spcPts val="1463"/>
              </a:lnSpc>
              <a:buNone/>
            </a:pPr>
            <a:r>
              <a:rPr sz="975" b="0" i="0">
                <a:solidFill>
                  <a:srgbClr val="58636E"/>
                </a:solidFill>
                <a:latin typeface="Arial"/>
                <a:ea typeface="Arial"/>
              </a:rPr>
              <a:t>Grant et al. (1998)</a:t>
            </a:r>
            <a:endParaRPr lang="en-US"/>
          </a:p>
        </p:txBody>
      </p:sp>
      <p:sp>
        <p:nvSpPr>
          <p:cNvPr id="969" name="Shape 969"/>
          <p:cNvSpPr/>
          <p:nvPr/>
        </p:nvSpPr>
        <p:spPr>
          <a:xfrm>
            <a:off x="11530699" y="6462713"/>
            <a:ext cx="223151" cy="185738"/>
          </a:xfrm>
          <a:prstGeom prst="rect">
            <a:avLst/>
          </a:prstGeom>
          <a:noFill/>
        </p:spPr>
        <p:txBody>
          <a:bodyPr anchor="t" wrap="square" tIns="0" bIns="0" lIns="0" rIns="0">
            <a:normAutofit/>
          </a:bodyPr>
          <a:lstStyle/>
          <a:p>
            <a:pPr algn="l">
              <a:lnSpc>
                <a:spcPts val="1463"/>
              </a:lnSpc>
              <a:buNone/>
            </a:pPr>
            <a:r>
              <a:rPr sz="975" b="0" i="0">
                <a:solidFill>
                  <a:srgbClr val="58636E"/>
                </a:solidFill>
                <a:latin typeface="Arial"/>
                <a:ea typeface="Arial"/>
              </a:rPr>
              <a:t>36a</a:t>
            </a:r>
            <a:endParaRPr lang="en-US"/>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938" name="Shape 938"/>
          <p:cNvSpPr/>
          <p:nvPr/>
        </p:nvSpPr>
        <p:spPr>
          <a:xfrm>
            <a:off x="457200" y="457200"/>
            <a:ext cx="11296650" cy="350490"/>
          </a:xfrm>
          <a:prstGeom prst="rect">
            <a:avLst/>
          </a:prstGeom>
          <a:noFill/>
        </p:spPr>
        <p:txBody>
          <a:bodyPr anchor="t" wrap="square" tIns="0" bIns="0" lIns="0" rIns="0">
            <a:normAutofit/>
          </a:bodyPr>
          <a:lstStyle/>
          <a:p>
            <a:pPr algn="l">
              <a:lnSpc>
                <a:spcPts val="2760"/>
              </a:lnSpc>
              <a:buNone/>
            </a:pPr>
            <a:r>
              <a:rPr sz="2400" b="1" i="0">
                <a:solidFill>
                  <a:srgbClr val="2B5577"/>
                </a:solidFill>
                <a:latin typeface="Arial"/>
                <a:ea typeface="Arial"/>
              </a:rPr>
              <a:t>Facilitation depends on the spacing of two pulses</a:t>
            </a:r>
            <a:endParaRPr lang="en-US"/>
          </a:p>
        </p:txBody>
      </p:sp>
      <p:sp>
        <p:nvSpPr>
          <p:cNvPr id="939" name="Shape 939"/>
          <p:cNvSpPr/>
          <p:nvPr/>
        </p:nvSpPr>
        <p:spPr>
          <a:xfrm>
            <a:off x="566000" y="1234440"/>
            <a:ext cx="5480000" cy="4915560"/>
          </a:xfrm>
          <a:prstGeom prst="rect">
            <a:avLst/>
          </a:prstGeom>
          <a:noFill/>
        </p:spPr>
        <p:txBody>
          <a:bodyPr anchor="t" wrap="square" tIns="0" bIns="0" lIns="0" rIns="0">
            <a:normAutofit/>
          </a:bodyPr>
          <a:lstStyle/>
          <a:p>
            <a:pPr algn="l">
              <a:lnSpc>
                <a:spcPct val="108000"/>
              </a:lnSpc>
              <a:spcAft>
                <a:spcPts val="1200"/>
              </a:spcAft>
              <a:buNone/>
            </a:pPr>
            <a:r>
              <a:rPr sz="1400" b="0" i="0">
                <a:solidFill>
                  <a:srgbClr val="1F262D"/>
                </a:solidFill>
                <a:latin typeface="Arial"/>
                <a:ea typeface="Arial"/>
              </a:rPr>
              <a:t xml:space="preserve">Paired-pulse facilitation was measured as the ratio of the second EPSP to the first, using pulse pairs spaced across tens to hundreds of milliseconds. Facilitation was strongest at the shortest spacings tested, which means the effect fades as the gap between pulses lengthens. Facilitation was tested across that whole range. Pulse spacing was the variable that changed across the pairs.</a:t>
            </a:r>
            <a:endParaRPr lang="en-US"/>
          </a:p>
          <a:p>
            <a:pPr algn="l">
              <a:lnSpc>
                <a:spcPct val="108000"/>
              </a:lnSpc>
              <a:spcAft>
                <a:spcPts val="1200"/>
              </a:spcAft>
              <a:buNone/>
            </a:pPr>
            <a:r>
              <a:rPr sz="1400" b="0" i="0">
                <a:solidFill>
                  <a:srgbClr val="1F262D"/>
                </a:solidFill>
                <a:latin typeface="Arial"/>
                <a:ea typeface="Arial"/>
              </a:rPr>
              <a:t xml:space="preserve">Independent stimulation sites separated repeated stimulation of one fiber population from activation of a different population. Each site produced its own pair of responses, which made the source of facilitation identifiable in the recordings. Facilitation depends on which fibers are recruited as well as on the interval. The two cases differ in which fibers respond to the second pulse.</a:t>
            </a:r>
            <a:endParaRPr lang="en-US"/>
          </a:p>
          <a:p>
            <a:pPr algn="l">
              <a:lnSpc>
                <a:spcPct val="108000"/>
              </a:lnSpc>
              <a:spcAft>
                <a:spcPts val="1200"/>
              </a:spcAft>
              <a:buNone/>
            </a:pPr>
            <a:r>
              <a:rPr sz="1400" b="0" i="0">
                <a:solidFill>
                  <a:srgbClr val="1F262D"/>
                </a:solidFill>
                <a:latin typeface="Arial"/>
                <a:ea typeface="Arial"/>
              </a:rPr>
              <a:t xml:space="preserve">Short-term facilitation enlarges the response of a synapse that was used moments earlier, so the next input has a larger effect on the cell. Long-lasting changes need repeated spike pairings, a separate process from the short-term change measured in these recordings. Its time course follows the spacing of the paired stimuli, which is why the interval is the key variable.</a:t>
            </a:r>
            <a:endParaRPr lang="en-US"/>
          </a:p>
        </p:txBody>
      </p:sp>
      <p:pic>
        <p:nvPicPr>
          <p:cNvPr id="331" name="Presenton Native Image 37" descr=""/>
          <p:cNvPicPr/>
          <p:nvPr/>
        </p:nvPicPr>
        <p:blipFill>
          <a:blip r:embed="rId2" cstate="none"/>
          <a:stretch>
            <a:fillRect/>
          </a:stretch>
        </p:blipFill>
        <p:spPr>
          <a:xfrm>
            <a:off x="6817747" y="1055340"/>
            <a:ext cx="4462007" cy="2466975"/>
          </a:xfrm>
          <a:prstGeom prst="rect">
            <a:avLst/>
          </a:prstGeom>
        </p:spPr>
      </p:pic>
      <p:sp>
        <p:nvSpPr>
          <p:cNvPr id="942" name="Shape 942"/>
          <p:cNvSpPr/>
          <p:nvPr/>
        </p:nvSpPr>
        <p:spPr>
          <a:xfrm>
            <a:off x="6362700" y="3598515"/>
            <a:ext cx="5391150" cy="333375"/>
          </a:xfrm>
          <a:prstGeom prst="rect">
            <a:avLst/>
          </a:prstGeom>
          <a:noFill/>
        </p:spPr>
        <p:txBody>
          <a:bodyPr anchor="t" wrap="square" tIns="0" bIns="0" lIns="0" rIns="0">
            <a:normAutofit/>
          </a:bodyPr>
          <a:lstStyle/>
          <a:p>
            <a:pPr algn="l">
              <a:lnSpc>
                <a:spcPts val="1313"/>
              </a:lnSpc>
              <a:buNone/>
            </a:pPr>
            <a:r>
              <a:rPr sz="1050" b="0" i="0">
                <a:solidFill>
                  <a:srgbClr val="1F262D"/>
                </a:solidFill>
                <a:latin typeface="Arial"/>
                <a:ea typeface="Arial"/>
              </a:rPr>
              <a:t>Grant et al. (1998), Fig. 10(A–C). Parallel-fiber paired-pulse facilitation in medium ganglion cells.</a:t>
            </a:r>
            <a:endParaRPr lang="en-US"/>
          </a:p>
        </p:txBody>
      </p:sp>
      <p:pic>
        <p:nvPicPr>
          <p:cNvPr id="332" name="Presenton Native Image 38" descr=""/>
          <p:cNvPicPr/>
          <p:nvPr/>
        </p:nvPicPr>
        <p:blipFill>
          <a:blip r:embed="rId3" cstate="none"/>
          <a:stretch>
            <a:fillRect/>
          </a:stretch>
        </p:blipFill>
        <p:spPr>
          <a:xfrm>
            <a:off x="8533626" y="4103340"/>
            <a:ext cx="1030249" cy="1476375"/>
          </a:xfrm>
          <a:prstGeom prst="rect">
            <a:avLst/>
          </a:prstGeom>
        </p:spPr>
      </p:pic>
      <p:sp>
        <p:nvSpPr>
          <p:cNvPr id="943" name="Shape 943"/>
          <p:cNvSpPr/>
          <p:nvPr/>
        </p:nvSpPr>
        <p:spPr>
          <a:xfrm>
            <a:off x="6362700" y="5655915"/>
            <a:ext cx="5391150" cy="166688"/>
          </a:xfrm>
          <a:prstGeom prst="rect">
            <a:avLst/>
          </a:prstGeom>
          <a:noFill/>
        </p:spPr>
        <p:txBody>
          <a:bodyPr anchor="t" wrap="square" tIns="0" bIns="0" lIns="0" rIns="0">
            <a:normAutofit/>
          </a:bodyPr>
          <a:lstStyle/>
          <a:p>
            <a:pPr algn="l">
              <a:lnSpc>
                <a:spcPts val="1313"/>
              </a:lnSpc>
              <a:buNone/>
            </a:pPr>
            <a:r>
              <a:rPr sz="1050" b="0" i="0">
                <a:solidFill>
                  <a:srgbClr val="1F262D"/>
                </a:solidFill>
                <a:latin typeface="Arial"/>
                <a:ea typeface="Arial"/>
              </a:rPr>
              <a:t>Sawtell et al. (2007), Fig. 1(A). Published anatomy of the medium ganglion cell circuit.</a:t>
            </a:r>
            <a:endParaRPr lang="en-US"/>
          </a:p>
        </p:txBody>
      </p:sp>
      <p:sp>
        <p:nvSpPr>
          <p:cNvPr id="944" name="Shape 944"/>
          <p:cNvSpPr/>
          <p:nvPr/>
        </p:nvSpPr>
        <p:spPr>
          <a:xfrm>
            <a:off x="457200" y="6462713"/>
            <a:ext cx="1051917" cy="185738"/>
          </a:xfrm>
          <a:prstGeom prst="rect">
            <a:avLst/>
          </a:prstGeom>
          <a:noFill/>
        </p:spPr>
        <p:txBody>
          <a:bodyPr anchor="t" wrap="square" tIns="0" bIns="0" lIns="0" rIns="0">
            <a:normAutofit/>
          </a:bodyPr>
          <a:lstStyle/>
          <a:p>
            <a:pPr algn="l">
              <a:lnSpc>
                <a:spcPts val="1463"/>
              </a:lnSpc>
              <a:buNone/>
            </a:pPr>
            <a:r>
              <a:rPr sz="975" b="0" i="0">
                <a:solidFill>
                  <a:srgbClr val="58636E"/>
                </a:solidFill>
                <a:latin typeface="Arial"/>
                <a:ea typeface="Arial"/>
              </a:rPr>
              <a:t>Grant et al. (1998)</a:t>
            </a:r>
            <a:endParaRPr lang="en-US"/>
          </a:p>
        </p:txBody>
      </p:sp>
      <p:sp>
        <p:nvSpPr>
          <p:cNvPr id="945" name="Shape 945"/>
          <p:cNvSpPr/>
          <p:nvPr/>
        </p:nvSpPr>
        <p:spPr>
          <a:xfrm>
            <a:off x="11530699" y="6462713"/>
            <a:ext cx="223151" cy="185738"/>
          </a:xfrm>
          <a:prstGeom prst="rect">
            <a:avLst/>
          </a:prstGeom>
          <a:noFill/>
        </p:spPr>
        <p:txBody>
          <a:bodyPr anchor="t" wrap="square" tIns="0" bIns="0" lIns="0" rIns="0">
            <a:normAutofit/>
          </a:bodyPr>
          <a:lstStyle/>
          <a:p>
            <a:pPr algn="l">
              <a:lnSpc>
                <a:spcPts val="1463"/>
              </a:lnSpc>
              <a:buNone/>
            </a:pPr>
            <a:r>
              <a:rPr sz="975" b="0" i="0">
                <a:solidFill>
                  <a:srgbClr val="58636E"/>
                </a:solidFill>
                <a:latin typeface="Arial"/>
                <a:ea typeface="Arial"/>
              </a:rPr>
              <a:t>33a</a:t>
            </a:r>
            <a:endParaRPr lang="en-US"/>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914" name="Shape 914"/>
          <p:cNvSpPr/>
          <p:nvPr/>
        </p:nvSpPr>
        <p:spPr>
          <a:xfrm>
            <a:off x="457200" y="457200"/>
            <a:ext cx="11296650" cy="350490"/>
          </a:xfrm>
          <a:prstGeom prst="rect">
            <a:avLst/>
          </a:prstGeom>
          <a:noFill/>
        </p:spPr>
        <p:txBody>
          <a:bodyPr anchor="t" wrap="square" tIns="0" bIns="0" lIns="0" rIns="0">
            <a:normAutofit/>
          </a:bodyPr>
          <a:lstStyle/>
          <a:p>
            <a:pPr algn="l">
              <a:lnSpc>
                <a:spcPts val="2760"/>
              </a:lnSpc>
              <a:buNone/>
            </a:pPr>
            <a:r>
              <a:rPr sz="2400" b="1" i="0">
                <a:solidFill>
                  <a:srgbClr val="2B5577"/>
                </a:solidFill>
                <a:latin typeface="Arial"/>
                <a:ea typeface="Arial"/>
              </a:rPr>
              <a:t>Excitation in the ELL uses two glutamate receptors</a:t>
            </a:r>
            <a:endParaRPr lang="en-US"/>
          </a:p>
        </p:txBody>
      </p:sp>
      <p:sp>
        <p:nvSpPr>
          <p:cNvPr id="915" name="Shape 915"/>
          <p:cNvSpPr/>
          <p:nvPr/>
        </p:nvSpPr>
        <p:spPr>
          <a:xfrm>
            <a:off x="566000" y="1234440"/>
            <a:ext cx="5480000" cy="4915560"/>
          </a:xfrm>
          <a:prstGeom prst="rect">
            <a:avLst/>
          </a:prstGeom>
          <a:noFill/>
        </p:spPr>
        <p:txBody>
          <a:bodyPr anchor="t" wrap="square" tIns="0" bIns="0" lIns="0" rIns="0">
            <a:normAutofit/>
          </a:bodyPr>
          <a:lstStyle/>
          <a:p>
            <a:pPr algn="l">
              <a:lnSpc>
                <a:spcPct val="108000"/>
              </a:lnSpc>
              <a:spcAft>
                <a:spcPts val="1200"/>
              </a:spcAft>
              <a:buNone/>
            </a:pPr>
            <a:r>
              <a:rPr sz="1400" b="0" i="0">
                <a:solidFill>
                  <a:srgbClr val="1F262D"/>
                </a:solidFill>
                <a:latin typeface="Arial"/>
                <a:ea typeface="Arial"/>
              </a:rPr>
              <a:t xml:space="preserve">Glutamate-gated ion channels of the AMPA and NMDA types carry the excitatory current evoked by parallel-fiber input. Their pharmacology was examined separately in the same slice preparation, so each receptor type could be tested on its own. Their contributions were separated by drug application. The NMDA and AMPA receptors are distinguished by their antagonists, which were applied in separate tests.</a:t>
            </a:r>
            <a:endParaRPr lang="en-US"/>
          </a:p>
          <a:p>
            <a:pPr algn="l">
              <a:lnSpc>
                <a:spcPct val="108000"/>
              </a:lnSpc>
              <a:spcAft>
                <a:spcPts val="1200"/>
              </a:spcAft>
              <a:buNone/>
            </a:pPr>
            <a:r>
              <a:rPr sz="1400" b="0" i="0">
                <a:solidFill>
                  <a:srgbClr val="1F262D"/>
                </a:solidFill>
                <a:latin typeface="Arial"/>
                <a:ea typeface="Arial"/>
              </a:rPr>
              <a:t xml:space="preserve">Removing magnesium increased the NMDA component of the response, which shows that magnesium blocks the NMDA channel at normal resting voltage. Washing out the antagonists restored the response, so the drug effect was reversible rather than a sign of tissue damage. The reversibility argument rests on recovery after washout in the same tissue. Recovery confirmed the reversibility of that effect.</a:t>
            </a:r>
            <a:endParaRPr lang="en-US"/>
          </a:p>
          <a:p>
            <a:pPr algn="l">
              <a:lnSpc>
                <a:spcPct val="108000"/>
              </a:lnSpc>
              <a:spcAft>
                <a:spcPts val="1200"/>
              </a:spcAft>
              <a:buNone/>
            </a:pPr>
            <a:r>
              <a:rPr sz="1400" b="0" i="0">
                <a:solidFill>
                  <a:srgbClr val="1F262D"/>
                </a:solidFill>
                <a:latin typeface="Arial"/>
                <a:ea typeface="Arial"/>
              </a:rPr>
              <a:t xml:space="preserve">The two receptor types respond to the same transmitter, so their relative contributions depend on the state of the postsynaptic membrane at the moment of input. The slice results name the receptor types that contribute in this preparation. The field response combines these contributions and gives no count of receptors per synapse. Their pharmacology identifies the contributing receptors.</a:t>
            </a:r>
            <a:endParaRPr lang="en-US"/>
          </a:p>
        </p:txBody>
      </p:sp>
      <p:pic>
        <p:nvPicPr>
          <p:cNvPr id="325" name="Presenton Native Image 31" descr=""/>
          <p:cNvPicPr/>
          <p:nvPr/>
        </p:nvPicPr>
        <p:blipFill>
          <a:blip r:embed="rId2" cstate="none"/>
          <a:stretch>
            <a:fillRect/>
          </a:stretch>
        </p:blipFill>
        <p:spPr>
          <a:xfrm>
            <a:off x="8209616" y="1055340"/>
            <a:ext cx="1678267" cy="2466975"/>
          </a:xfrm>
          <a:prstGeom prst="rect">
            <a:avLst/>
          </a:prstGeom>
        </p:spPr>
      </p:pic>
      <p:pic>
        <p:nvPicPr>
          <p:cNvPr id="326" name="Presenton Native Image 32" descr=""/>
          <p:cNvPicPr/>
          <p:nvPr/>
        </p:nvPicPr>
        <p:blipFill>
          <a:blip r:embed="rId3" cstate="none"/>
          <a:stretch>
            <a:fillRect/>
          </a:stretch>
        </p:blipFill>
        <p:spPr>
          <a:xfrm>
            <a:off x="7930832" y="4103340"/>
            <a:ext cx="2235836" cy="1476375"/>
          </a:xfrm>
          <a:prstGeom prst="rect">
            <a:avLst/>
          </a:prstGeom>
        </p:spPr>
      </p:pic>
      <p:sp>
        <p:nvSpPr>
          <p:cNvPr id="919" name="Shape 919"/>
          <p:cNvSpPr/>
          <p:nvPr/>
        </p:nvSpPr>
        <p:spPr>
          <a:xfrm>
            <a:off x="6362700" y="5655915"/>
            <a:ext cx="5391150" cy="166688"/>
          </a:xfrm>
          <a:prstGeom prst="rect">
            <a:avLst/>
          </a:prstGeom>
          <a:noFill/>
        </p:spPr>
        <p:txBody>
          <a:bodyPr anchor="t" wrap="square" tIns="0" bIns="0" lIns="0" rIns="0">
            <a:normAutofit/>
          </a:bodyPr>
          <a:lstStyle/>
          <a:p>
            <a:pPr algn="l">
              <a:lnSpc>
                <a:spcPts val="1313"/>
              </a:lnSpc>
              <a:buNone/>
            </a:pPr>
            <a:r>
              <a:rPr sz="1050" b="0" i="0">
                <a:solidFill>
                  <a:srgbClr val="1F262D"/>
                </a:solidFill>
                <a:latin typeface="Arial"/>
                <a:ea typeface="Arial"/>
              </a:rPr>
              <a:t>Grant et al. (1998), Fig. 1. Anatomical relationship of molecular layer and ELL cells.</a:t>
            </a:r>
            <a:endParaRPr lang="en-US"/>
          </a:p>
        </p:txBody>
      </p:sp>
      <p:sp>
        <p:nvSpPr>
          <p:cNvPr id="920" name="Shape 920"/>
          <p:cNvSpPr/>
          <p:nvPr/>
        </p:nvSpPr>
        <p:spPr>
          <a:xfrm>
            <a:off x="457200" y="6462713"/>
            <a:ext cx="1051917" cy="185738"/>
          </a:xfrm>
          <a:prstGeom prst="rect">
            <a:avLst/>
          </a:prstGeom>
          <a:noFill/>
        </p:spPr>
        <p:txBody>
          <a:bodyPr anchor="t" wrap="square" tIns="0" bIns="0" lIns="0" rIns="0">
            <a:normAutofit/>
          </a:bodyPr>
          <a:lstStyle/>
          <a:p>
            <a:pPr algn="l">
              <a:lnSpc>
                <a:spcPts val="1463"/>
              </a:lnSpc>
              <a:buNone/>
            </a:pPr>
            <a:r>
              <a:rPr sz="975" b="0" i="0">
                <a:solidFill>
                  <a:srgbClr val="58636E"/>
                </a:solidFill>
                <a:latin typeface="Arial"/>
                <a:ea typeface="Arial"/>
              </a:rPr>
              <a:t>Grant et al. (1998)</a:t>
            </a:r>
            <a:endParaRPr lang="en-US"/>
          </a:p>
        </p:txBody>
      </p:sp>
      <p:sp>
        <p:nvSpPr>
          <p:cNvPr id="921" name="Shape 921"/>
          <p:cNvSpPr/>
          <p:nvPr/>
        </p:nvSpPr>
        <p:spPr>
          <a:xfrm>
            <a:off x="11530699" y="6462713"/>
            <a:ext cx="223151" cy="185738"/>
          </a:xfrm>
          <a:prstGeom prst="rect">
            <a:avLst/>
          </a:prstGeom>
          <a:noFill/>
        </p:spPr>
        <p:txBody>
          <a:bodyPr anchor="t" wrap="square" tIns="0" bIns="0" lIns="0" rIns="0">
            <a:normAutofit/>
          </a:bodyPr>
          <a:lstStyle/>
          <a:p>
            <a:pPr algn="l">
              <a:lnSpc>
                <a:spcPts val="1463"/>
              </a:lnSpc>
              <a:buNone/>
            </a:pPr>
            <a:r>
              <a:rPr sz="975" b="0" i="0">
                <a:solidFill>
                  <a:srgbClr val="58636E"/>
                </a:solidFill>
                <a:latin typeface="Arial"/>
                <a:ea typeface="Arial"/>
              </a:rPr>
              <a:t>30a</a:t>
            </a:r>
            <a:endParaRPr lang="en-US"/>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892" name="Shape 892"/>
          <p:cNvSpPr/>
          <p:nvPr/>
        </p:nvSpPr>
        <p:spPr>
          <a:xfrm>
            <a:off x="457200" y="457200"/>
            <a:ext cx="11296650" cy="350490"/>
          </a:xfrm>
          <a:prstGeom prst="rect">
            <a:avLst/>
          </a:prstGeom>
          <a:noFill/>
        </p:spPr>
        <p:txBody>
          <a:bodyPr anchor="t" wrap="square" tIns="0" bIns="0" lIns="0" rIns="0">
            <a:normAutofit/>
          </a:bodyPr>
          <a:lstStyle/>
          <a:p>
            <a:pPr algn="l">
              <a:lnSpc>
                <a:spcPts val="2760"/>
              </a:lnSpc>
              <a:buNone/>
            </a:pPr>
            <a:r>
              <a:rPr sz="2400" b="1" i="0">
                <a:solidFill>
                  <a:srgbClr val="2B5577"/>
                </a:solidFill>
                <a:latin typeface="Arial"/>
                <a:ea typeface="Arial"/>
              </a:rPr>
              <a:t>Interval-dependent gain improves latency fits</a:t>
            </a:r>
            <a:endParaRPr lang="en-US"/>
          </a:p>
        </p:txBody>
      </p:sp>
      <p:sp>
        <p:nvSpPr>
          <p:cNvPr id="893" name="Shape 893"/>
          <p:cNvSpPr/>
          <p:nvPr/>
        </p:nvSpPr>
        <p:spPr>
          <a:xfrm>
            <a:off x="566000" y="1234440"/>
            <a:ext cx="5480000" cy="4915560"/>
          </a:xfrm>
          <a:prstGeom prst="rect">
            <a:avLst/>
          </a:prstGeom>
          <a:noFill/>
        </p:spPr>
        <p:txBody>
          <a:bodyPr anchor="t" wrap="square" tIns="0" bIns="0" lIns="0" rIns="0">
            <a:normAutofit/>
          </a:bodyPr>
          <a:lstStyle/>
          <a:p>
            <a:pPr algn="l">
              <a:lnSpc>
                <a:spcPct val="108000"/>
              </a:lnSpc>
              <a:spcAft>
                <a:spcPts val="1200"/>
              </a:spcAft>
              <a:buNone/>
            </a:pPr>
            <a:r>
              <a:rPr sz="1400" b="0" i="0">
                <a:solidFill>
                  <a:srgbClr val="1F262D"/>
                </a:solidFill>
                <a:latin typeface="Arial"/>
                <a:ea typeface="Arial"/>
              </a:rPr>
              <a:t xml:space="preserve">Interval-dependent sensitivity was added as a term that changes the amplitude gain according to previous intervals. The model with this term predicted measured latencies better than a model that ignored interval history, which is the main result of the fitting exercise. The added term changes gain with the previous intervals, not with the present amplitude alone.</a:t>
            </a:r>
            <a:endParaRPr lang="en-US"/>
          </a:p>
          <a:p>
            <a:pPr algn="l">
              <a:lnSpc>
                <a:spcPct val="108000"/>
              </a:lnSpc>
              <a:spcAft>
                <a:spcPts val="1200"/>
              </a:spcAft>
              <a:buNone/>
            </a:pPr>
            <a:r>
              <a:rPr sz="1400" b="0" i="0">
                <a:solidFill>
                  <a:srgbClr val="1F262D"/>
                </a:solidFill>
                <a:latin typeface="Arial"/>
                <a:ea typeface="Arial"/>
              </a:rPr>
              <a:t xml:space="preserve">The fit used the same recorded afferent responses, so the improvement came from representing stimulus history rather than from new data. Prediction failures were most visible when natural intervals were combined with slowly correlated amplitudes, which is the condition the model had to reproduce. Prediction failures were examined separately for each interval pattern. The fits were checked against the recorded latencies.</a:t>
            </a:r>
            <a:endParaRPr lang="en-US"/>
          </a:p>
          <a:p>
            <a:pPr algn="l">
              <a:lnSpc>
                <a:spcPct val="108000"/>
              </a:lnSpc>
              <a:spcAft>
                <a:spcPts val="1200"/>
              </a:spcAft>
              <a:buNone/>
            </a:pPr>
            <a:r>
              <a:rPr sz="1400" b="0" i="0">
                <a:solidFill>
                  <a:srgbClr val="1F262D"/>
                </a:solidFill>
                <a:latin typeface="Arial"/>
                <a:ea typeface="Arial"/>
              </a:rPr>
              <a:t xml:space="preserve">The fitted model names the variables that govern the history dependence of the latency code. A model of this kind can make predictions for responses to interval sequences that were not part of the original fit, so it extends beyond the recorded examples. Such models summarize the afferent's input-output relation in a form that can be tested on new sequences.</a:t>
            </a:r>
            <a:endParaRPr lang="en-US"/>
          </a:p>
        </p:txBody>
      </p:sp>
      <p:pic>
        <p:nvPicPr>
          <p:cNvPr id="321" name="Presenton Native Image 27" descr=""/>
          <p:cNvPicPr/>
          <p:nvPr/>
        </p:nvPicPr>
        <p:blipFill>
          <a:blip r:embed="rId2" cstate="none"/>
          <a:stretch>
            <a:fillRect/>
          </a:stretch>
        </p:blipFill>
        <p:spPr>
          <a:xfrm>
            <a:off x="6610350" y="1836492"/>
            <a:ext cx="5048250" cy="2438197"/>
          </a:xfrm>
          <a:prstGeom prst="rect">
            <a:avLst/>
          </a:prstGeom>
        </p:spPr>
      </p:pic>
      <p:sp>
        <p:nvSpPr>
          <p:cNvPr id="896" name="Shape 896"/>
          <p:cNvSpPr/>
          <p:nvPr/>
        </p:nvSpPr>
        <p:spPr>
          <a:xfrm>
            <a:off x="6610350" y="5170140"/>
            <a:ext cx="5067300" cy="371475"/>
          </a:xfrm>
          <a:prstGeom prst="rect">
            <a:avLst/>
          </a:prstGeom>
          <a:noFill/>
        </p:spPr>
        <p:txBody>
          <a:bodyPr anchor="t" wrap="square" tIns="0" bIns="0" lIns="0" rIns="0">
            <a:normAutofit/>
          </a:bodyPr>
          <a:lstStyle/>
          <a:p>
            <a:pPr algn="l">
              <a:lnSpc>
                <a:spcPts val="1463"/>
              </a:lnSpc>
              <a:buNone/>
            </a:pPr>
            <a:r>
              <a:rPr sz="1125" b="0" i="0">
                <a:solidFill>
                  <a:srgbClr val="1F262D"/>
                </a:solidFill>
                <a:latin typeface="Arial"/>
                <a:ea typeface="Arial"/>
              </a:rPr>
              <a:t>Sawtell et al. (2006), Fig. 12(A–F). Published predictions incorporating interval-dependent sensitivity.</a:t>
            </a:r>
            <a:endParaRPr lang="en-US"/>
          </a:p>
        </p:txBody>
      </p:sp>
      <p:sp>
        <p:nvSpPr>
          <p:cNvPr id="897" name="Shape 897"/>
          <p:cNvSpPr/>
          <p:nvPr/>
        </p:nvSpPr>
        <p:spPr>
          <a:xfrm>
            <a:off x="457200" y="6462713"/>
            <a:ext cx="1135707" cy="185738"/>
          </a:xfrm>
          <a:prstGeom prst="rect">
            <a:avLst/>
          </a:prstGeom>
          <a:noFill/>
        </p:spPr>
        <p:txBody>
          <a:bodyPr anchor="t" wrap="square" tIns="0" bIns="0" lIns="0" rIns="0">
            <a:normAutofit/>
          </a:bodyPr>
          <a:lstStyle/>
          <a:p>
            <a:pPr algn="l">
              <a:lnSpc>
                <a:spcPts val="1463"/>
              </a:lnSpc>
              <a:buNone/>
            </a:pPr>
            <a:r>
              <a:rPr sz="975" b="0" i="0">
                <a:solidFill>
                  <a:srgbClr val="58636E"/>
                </a:solidFill>
                <a:latin typeface="Arial"/>
                <a:ea typeface="Arial"/>
              </a:rPr>
              <a:t>Sawtell et al. (2006)</a:t>
            </a:r>
            <a:endParaRPr lang="en-US"/>
          </a:p>
        </p:txBody>
      </p:sp>
      <p:sp>
        <p:nvSpPr>
          <p:cNvPr id="898" name="Shape 898"/>
          <p:cNvSpPr/>
          <p:nvPr/>
        </p:nvSpPr>
        <p:spPr>
          <a:xfrm>
            <a:off x="11530699" y="6462713"/>
            <a:ext cx="223151" cy="185738"/>
          </a:xfrm>
          <a:prstGeom prst="rect">
            <a:avLst/>
          </a:prstGeom>
          <a:noFill/>
        </p:spPr>
        <p:txBody>
          <a:bodyPr anchor="t" wrap="square" tIns="0" bIns="0" lIns="0" rIns="0">
            <a:normAutofit/>
          </a:bodyPr>
          <a:lstStyle/>
          <a:p>
            <a:pPr algn="l">
              <a:lnSpc>
                <a:spcPts val="1463"/>
              </a:lnSpc>
              <a:buNone/>
            </a:pPr>
            <a:r>
              <a:rPr sz="975" b="0" i="0">
                <a:solidFill>
                  <a:srgbClr val="58636E"/>
                </a:solidFill>
                <a:latin typeface="Arial"/>
                <a:ea typeface="Arial"/>
              </a:rPr>
              <a:t>27a</a:t>
            </a:r>
            <a:endParaRPr lang="en-US"/>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871" name="Shape 871"/>
          <p:cNvSpPr/>
          <p:nvPr/>
        </p:nvSpPr>
        <p:spPr>
          <a:xfrm>
            <a:off x="457200" y="457200"/>
            <a:ext cx="11296650" cy="350490"/>
          </a:xfrm>
          <a:prstGeom prst="rect">
            <a:avLst/>
          </a:prstGeom>
          <a:noFill/>
        </p:spPr>
        <p:txBody>
          <a:bodyPr anchor="t" wrap="square" tIns="0" bIns="0" lIns="0" rIns="0">
            <a:normAutofit/>
          </a:bodyPr>
          <a:lstStyle/>
          <a:p>
            <a:pPr algn="l">
              <a:lnSpc>
                <a:spcPts val="2760"/>
              </a:lnSpc>
              <a:buNone/>
            </a:pPr>
            <a:r>
              <a:rPr sz="2400" b="1" i="0">
                <a:solidFill>
                  <a:srgbClr val="2B5577"/>
                </a:solidFill>
                <a:latin typeface="Arial"/>
                <a:ea typeface="Arial"/>
              </a:rPr>
              <a:t>Natural interval sequences change latency</a:t>
            </a:r>
            <a:endParaRPr lang="en-US"/>
          </a:p>
        </p:txBody>
      </p:sp>
      <p:sp>
        <p:nvSpPr>
          <p:cNvPr id="872" name="Shape 872"/>
          <p:cNvSpPr/>
          <p:nvPr/>
        </p:nvSpPr>
        <p:spPr>
          <a:xfrm>
            <a:off x="566000" y="1234440"/>
            <a:ext cx="5480000" cy="4915560"/>
          </a:xfrm>
          <a:prstGeom prst="rect">
            <a:avLst/>
          </a:prstGeom>
          <a:noFill/>
        </p:spPr>
        <p:txBody>
          <a:bodyPr anchor="t" wrap="square" tIns="0" bIns="0" lIns="0" rIns="0">
            <a:normAutofit/>
          </a:bodyPr>
          <a:lstStyle/>
          <a:p>
            <a:pPr algn="l">
              <a:lnSpc>
                <a:spcPct val="108000"/>
              </a:lnSpc>
              <a:spcAft>
                <a:spcPts val="1200"/>
              </a:spcAft>
              <a:buNone/>
            </a:pPr>
            <a:r>
              <a:rPr sz="1400" b="0" i="0">
                <a:solidFill>
                  <a:srgbClr val="1F262D"/>
                </a:solidFill>
                <a:latin typeface="Arial"/>
                <a:ea typeface="Arial"/>
              </a:rPr>
              <a:t xml:space="preserve">The replay used natural EOD interval sequences, so each pulse in the sequence carried its own preceding interval. Latency changed from pulse to pulse as those intervals varied, a pattern that a fixed-rate stimulus lacks entirely. The replay kept the sequence of natural pulses intact across each trial. Fixed-rate pulses lack the variability of that sequence.</a:t>
            </a:r>
            <a:endParaRPr lang="en-US"/>
          </a:p>
          <a:p>
            <a:pPr algn="l">
              <a:lnSpc>
                <a:spcPct val="108000"/>
              </a:lnSpc>
              <a:spcAft>
                <a:spcPts val="1200"/>
              </a:spcAft>
              <a:buNone/>
            </a:pPr>
            <a:r>
              <a:rPr sz="1400" b="0" i="0">
                <a:solidFill>
                  <a:srgbClr val="1F262D"/>
                </a:solidFill>
                <a:latin typeface="Arial"/>
                <a:ea typeface="Arial"/>
              </a:rPr>
              <a:t xml:space="preserve">Amplitude modulation was delivered as a controlled comparison input, so the replayed intervals and the amplitude changes were recorded in the same afferents. This arrangement isolated how the interval sequence shifted the response while the amplitude input was held constant. The amplitude input was constant across the replayed intervals, which isolated the interval effect. Latency was read on every replayed pulse.</a:t>
            </a:r>
            <a:endParaRPr lang="en-US"/>
          </a:p>
          <a:p>
            <a:pPr algn="l">
              <a:lnSpc>
                <a:spcPct val="108000"/>
              </a:lnSpc>
              <a:spcAft>
                <a:spcPts val="1200"/>
              </a:spcAft>
              <a:buNone/>
            </a:pPr>
            <a:r>
              <a:rPr sz="1400" b="0" i="0">
                <a:solidFill>
                  <a:srgbClr val="1F262D"/>
                </a:solidFill>
                <a:latin typeface="Arial"/>
                <a:ea typeface="Arial"/>
              </a:rPr>
              <a:t xml:space="preserve">The same local amplitude gave a different latency depending on the sequence that preceded it, which places sampling history inside the afferent code. The afferent carries information about the timing of active sampling itself, alongside the electric contrast. Sampling history is a property of the animal's own sensing, since the animal generates the intervals. Every sequence was run through the same afferents.</a:t>
            </a:r>
            <a:endParaRPr lang="en-US"/>
          </a:p>
        </p:txBody>
      </p:sp>
      <p:pic>
        <p:nvPicPr>
          <p:cNvPr id="318" name="Presenton Native Image 24" descr=""/>
          <p:cNvPicPr/>
          <p:nvPr/>
        </p:nvPicPr>
        <p:blipFill>
          <a:blip r:embed="rId2" cstate="none"/>
          <a:stretch>
            <a:fillRect/>
          </a:stretch>
        </p:blipFill>
        <p:spPr>
          <a:xfrm>
            <a:off x="6928503" y="1055340"/>
            <a:ext cx="4411944" cy="4000500"/>
          </a:xfrm>
          <a:prstGeom prst="rect">
            <a:avLst/>
          </a:prstGeom>
        </p:spPr>
      </p:pic>
      <p:sp>
        <p:nvSpPr>
          <p:cNvPr id="875" name="Shape 875"/>
          <p:cNvSpPr/>
          <p:nvPr/>
        </p:nvSpPr>
        <p:spPr>
          <a:xfrm>
            <a:off x="6610350" y="5170140"/>
            <a:ext cx="5067300" cy="371475"/>
          </a:xfrm>
          <a:prstGeom prst="rect">
            <a:avLst/>
          </a:prstGeom>
          <a:noFill/>
        </p:spPr>
        <p:txBody>
          <a:bodyPr anchor="t" wrap="square" tIns="0" bIns="0" lIns="0" rIns="0">
            <a:normAutofit/>
          </a:bodyPr>
          <a:lstStyle/>
          <a:p>
            <a:pPr algn="l">
              <a:lnSpc>
                <a:spcPts val="1463"/>
              </a:lnSpc>
              <a:buNone/>
            </a:pPr>
            <a:r>
              <a:rPr sz="1125" b="0" i="0">
                <a:solidFill>
                  <a:srgbClr val="1F262D"/>
                </a:solidFill>
                <a:latin typeface="Arial"/>
                <a:ea typeface="Arial"/>
              </a:rPr>
              <a:t>Sawtell et al. (2006), Fig. 4(A–D). Afferent latencies under natural sensing-interval sequences.</a:t>
            </a:r>
            <a:endParaRPr lang="en-US"/>
          </a:p>
        </p:txBody>
      </p:sp>
      <p:sp>
        <p:nvSpPr>
          <p:cNvPr id="876" name="Shape 876"/>
          <p:cNvSpPr/>
          <p:nvPr/>
        </p:nvSpPr>
        <p:spPr>
          <a:xfrm>
            <a:off x="457200" y="6462713"/>
            <a:ext cx="1135707" cy="185738"/>
          </a:xfrm>
          <a:prstGeom prst="rect">
            <a:avLst/>
          </a:prstGeom>
          <a:noFill/>
        </p:spPr>
        <p:txBody>
          <a:bodyPr anchor="t" wrap="square" tIns="0" bIns="0" lIns="0" rIns="0">
            <a:normAutofit/>
          </a:bodyPr>
          <a:lstStyle/>
          <a:p>
            <a:pPr algn="l">
              <a:lnSpc>
                <a:spcPts val="1463"/>
              </a:lnSpc>
              <a:buNone/>
            </a:pPr>
            <a:r>
              <a:rPr sz="975" b="0" i="0">
                <a:solidFill>
                  <a:srgbClr val="58636E"/>
                </a:solidFill>
                <a:latin typeface="Arial"/>
                <a:ea typeface="Arial"/>
              </a:rPr>
              <a:t>Sawtell et al. (2006)</a:t>
            </a:r>
            <a:endParaRPr lang="en-US"/>
          </a:p>
        </p:txBody>
      </p:sp>
      <p:sp>
        <p:nvSpPr>
          <p:cNvPr id="877" name="Shape 877"/>
          <p:cNvSpPr/>
          <p:nvPr/>
        </p:nvSpPr>
        <p:spPr>
          <a:xfrm>
            <a:off x="11530699" y="6462713"/>
            <a:ext cx="223151" cy="185738"/>
          </a:xfrm>
          <a:prstGeom prst="rect">
            <a:avLst/>
          </a:prstGeom>
          <a:noFill/>
        </p:spPr>
        <p:txBody>
          <a:bodyPr anchor="t" wrap="square" tIns="0" bIns="0" lIns="0" rIns="0">
            <a:normAutofit/>
          </a:bodyPr>
          <a:lstStyle/>
          <a:p>
            <a:pPr algn="l">
              <a:lnSpc>
                <a:spcPts val="1463"/>
              </a:lnSpc>
              <a:buNone/>
            </a:pPr>
            <a:r>
              <a:rPr sz="975" b="0" i="0">
                <a:solidFill>
                  <a:srgbClr val="58636E"/>
                </a:solidFill>
                <a:latin typeface="Arial"/>
                <a:ea typeface="Arial"/>
              </a:rPr>
              <a:t>24a</a:t>
            </a:r>
            <a:endParaRPr lang="en-US"/>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850" name="Shape 850"/>
          <p:cNvSpPr/>
          <p:nvPr/>
        </p:nvSpPr>
        <p:spPr>
          <a:xfrm>
            <a:off x="457200" y="457200"/>
            <a:ext cx="11296650" cy="350490"/>
          </a:xfrm>
          <a:prstGeom prst="rect">
            <a:avLst/>
          </a:prstGeom>
          <a:noFill/>
        </p:spPr>
        <p:txBody>
          <a:bodyPr anchor="t" wrap="square" tIns="0" bIns="0" lIns="0" rIns="0">
            <a:normAutofit/>
          </a:bodyPr>
          <a:lstStyle/>
          <a:p>
            <a:pPr algn="l">
              <a:lnSpc>
                <a:spcPts val="2760"/>
              </a:lnSpc>
              <a:buNone/>
            </a:pPr>
            <a:r>
              <a:rPr sz="2400" b="1" i="0">
                <a:solidFill>
                  <a:srgbClr val="2B5577"/>
                </a:solidFill>
                <a:latin typeface="Arial"/>
                <a:ea typeface="Arial"/>
              </a:rPr>
              <a:t>Latency adds timing to amplitude information</a:t>
            </a:r>
            <a:endParaRPr lang="en-US"/>
          </a:p>
        </p:txBody>
      </p:sp>
      <p:sp>
        <p:nvSpPr>
          <p:cNvPr id="851" name="Shape 851"/>
          <p:cNvSpPr/>
          <p:nvPr/>
        </p:nvSpPr>
        <p:spPr>
          <a:xfrm>
            <a:off x="566000" y="1234440"/>
            <a:ext cx="5480000" cy="4915560"/>
          </a:xfrm>
          <a:prstGeom prst="rect">
            <a:avLst/>
          </a:prstGeom>
          <a:noFill/>
        </p:spPr>
        <p:txBody>
          <a:bodyPr anchor="t" wrap="square" tIns="0" bIns="0" lIns="0" rIns="0">
            <a:normAutofit/>
          </a:bodyPr>
          <a:lstStyle/>
          <a:p>
            <a:pPr algn="l">
              <a:lnSpc>
                <a:spcPct val="108000"/>
              </a:lnSpc>
              <a:spcAft>
                <a:spcPts val="1200"/>
              </a:spcAft>
              <a:buNone/>
            </a:pPr>
            <a:r>
              <a:rPr sz="1400" b="0" i="0">
                <a:solidFill>
                  <a:srgbClr val="1F262D"/>
                </a:solidFill>
                <a:latin typeface="Arial"/>
                <a:ea typeface="Arial"/>
              </a:rPr>
              <a:t xml:space="preserve">The first spike of a mormyromast afferent appears at a latency measured from the electric stimulus. A larger amplitude shortens that latency, so the spike's timing carries amplitude information that a spike count alone lacks. The latency is measured from stimulus onset, so it reflects the timing of a single neuron's response. Each recording reflects one afferent's timing.</a:t>
            </a:r>
            <a:endParaRPr lang="en-US"/>
          </a:p>
          <a:p>
            <a:pPr algn="l">
              <a:lnSpc>
                <a:spcPct val="108000"/>
              </a:lnSpc>
              <a:spcAft>
                <a:spcPts val="1200"/>
              </a:spcAft>
              <a:buNone/>
            </a:pPr>
            <a:r>
              <a:rPr sz="1400" b="0" i="0">
                <a:solidFill>
                  <a:srgbClr val="1F262D"/>
                </a:solidFill>
                <a:latin typeface="Arial"/>
                <a:ea typeface="Arial"/>
              </a:rPr>
              <a:t xml:space="preserve">The brief pulses were chosen to resemble an EOD, which allowed amplitude to vary while the sampling interval was held apart from it. Each recorded response was tied to a controlled pulse, and its latency could be read directly from the recording. The pulses were controlled, so the same stimulus could be repeated for each amplitude and interval.</a:t>
            </a:r>
            <a:endParaRPr lang="en-US"/>
          </a:p>
          <a:p>
            <a:pPr algn="l">
              <a:lnSpc>
                <a:spcPct val="108000"/>
              </a:lnSpc>
              <a:spcAft>
                <a:spcPts val="1200"/>
              </a:spcAft>
              <a:buNone/>
            </a:pPr>
            <a:r>
              <a:rPr sz="1400" b="0" i="0">
                <a:solidFill>
                  <a:srgbClr val="1F262D"/>
                </a:solidFill>
                <a:latin typeface="Arial"/>
                <a:ea typeface="Arial"/>
              </a:rPr>
              <a:t xml:space="preserve">Timing information is available within a single spike, before the count of a whole burst is known. The latency code is one way the afferent represents local electric contrast, and it operates at the level of a single fiber rather than a population. Latency adds a second dimension to the afferent response, beyond how many spikes were fired.</a:t>
            </a:r>
            <a:endParaRPr lang="en-US"/>
          </a:p>
        </p:txBody>
      </p:sp>
      <p:pic>
        <p:nvPicPr>
          <p:cNvPr id="315" name="Presenton Native Image 21" descr=""/>
          <p:cNvPicPr/>
          <p:nvPr/>
        </p:nvPicPr>
        <p:blipFill>
          <a:blip r:embed="rId2" cstate="none"/>
          <a:stretch>
            <a:fillRect/>
          </a:stretch>
        </p:blipFill>
        <p:spPr>
          <a:xfrm>
            <a:off x="7706018" y="1055340"/>
            <a:ext cx="2856914" cy="4000500"/>
          </a:xfrm>
          <a:prstGeom prst="rect">
            <a:avLst/>
          </a:prstGeom>
        </p:spPr>
      </p:pic>
      <p:sp>
        <p:nvSpPr>
          <p:cNvPr id="854" name="Shape 854"/>
          <p:cNvSpPr/>
          <p:nvPr/>
        </p:nvSpPr>
        <p:spPr>
          <a:xfrm>
            <a:off x="6610350" y="5170140"/>
            <a:ext cx="5067300" cy="371475"/>
          </a:xfrm>
          <a:prstGeom prst="rect">
            <a:avLst/>
          </a:prstGeom>
          <a:noFill/>
        </p:spPr>
        <p:txBody>
          <a:bodyPr anchor="t" wrap="square" tIns="0" bIns="0" lIns="0" rIns="0">
            <a:normAutofit/>
          </a:bodyPr>
          <a:lstStyle/>
          <a:p>
            <a:pPr algn="l">
              <a:lnSpc>
                <a:spcPts val="1463"/>
              </a:lnSpc>
              <a:buNone/>
            </a:pPr>
            <a:r>
              <a:rPr sz="1125" b="0" i="0">
                <a:solidFill>
                  <a:srgbClr val="1F262D"/>
                </a:solidFill>
                <a:latin typeface="Arial"/>
                <a:ea typeface="Arial"/>
              </a:rPr>
              <a:t>Sawtell et al. (2006), Fig. 1(A–B). Spatial receptor input and controlled sensing-interval stimuli.</a:t>
            </a:r>
            <a:endParaRPr lang="en-US"/>
          </a:p>
        </p:txBody>
      </p:sp>
      <p:sp>
        <p:nvSpPr>
          <p:cNvPr id="855" name="Shape 855"/>
          <p:cNvSpPr/>
          <p:nvPr/>
        </p:nvSpPr>
        <p:spPr>
          <a:xfrm>
            <a:off x="457200" y="6462713"/>
            <a:ext cx="1135707" cy="185738"/>
          </a:xfrm>
          <a:prstGeom prst="rect">
            <a:avLst/>
          </a:prstGeom>
          <a:noFill/>
        </p:spPr>
        <p:txBody>
          <a:bodyPr anchor="t" wrap="square" tIns="0" bIns="0" lIns="0" rIns="0">
            <a:normAutofit/>
          </a:bodyPr>
          <a:lstStyle/>
          <a:p>
            <a:pPr algn="l">
              <a:lnSpc>
                <a:spcPts val="1463"/>
              </a:lnSpc>
              <a:buNone/>
            </a:pPr>
            <a:r>
              <a:rPr sz="975" b="0" i="0">
                <a:solidFill>
                  <a:srgbClr val="58636E"/>
                </a:solidFill>
                <a:latin typeface="Arial"/>
                <a:ea typeface="Arial"/>
              </a:rPr>
              <a:t>Sawtell et al. (2006)</a:t>
            </a:r>
            <a:endParaRPr lang="en-US"/>
          </a:p>
        </p:txBody>
      </p:sp>
      <p:sp>
        <p:nvSpPr>
          <p:cNvPr id="856" name="Shape 856"/>
          <p:cNvSpPr/>
          <p:nvPr/>
        </p:nvSpPr>
        <p:spPr>
          <a:xfrm>
            <a:off x="11530699" y="6462713"/>
            <a:ext cx="223151" cy="185738"/>
          </a:xfrm>
          <a:prstGeom prst="rect">
            <a:avLst/>
          </a:prstGeom>
          <a:noFill/>
        </p:spPr>
        <p:txBody>
          <a:bodyPr anchor="t" wrap="square" tIns="0" bIns="0" lIns="0" rIns="0">
            <a:normAutofit/>
          </a:bodyPr>
          <a:lstStyle/>
          <a:p>
            <a:pPr algn="l">
              <a:lnSpc>
                <a:spcPts val="1463"/>
              </a:lnSpc>
              <a:buNone/>
            </a:pPr>
            <a:r>
              <a:rPr sz="975" b="0" i="0">
                <a:solidFill>
                  <a:srgbClr val="58636E"/>
                </a:solidFill>
                <a:latin typeface="Arial"/>
                <a:ea typeface="Arial"/>
              </a:rPr>
              <a:t>21a</a:t>
            </a:r>
            <a:endParaRPr lang="en-US"/>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829" name="Shape 829"/>
          <p:cNvSpPr/>
          <p:nvPr/>
        </p:nvSpPr>
        <p:spPr>
          <a:xfrm>
            <a:off x="457200" y="457200"/>
            <a:ext cx="11296650" cy="350490"/>
          </a:xfrm>
          <a:prstGeom prst="rect">
            <a:avLst/>
          </a:prstGeom>
          <a:noFill/>
        </p:spPr>
        <p:txBody>
          <a:bodyPr anchor="t" wrap="square" tIns="0" bIns="0" lIns="0" rIns="0">
            <a:normAutofit/>
          </a:bodyPr>
          <a:lstStyle/>
          <a:p>
            <a:pPr algn="l">
              <a:lnSpc>
                <a:spcPts val="2760"/>
              </a:lnSpc>
              <a:buNone/>
            </a:pPr>
            <a:r>
              <a:rPr sz="2400" b="1" i="0">
                <a:solidFill>
                  <a:srgbClr val="2B5577"/>
                </a:solidFill>
                <a:latin typeface="Arial"/>
                <a:ea typeface="Arial"/>
              </a:rPr>
              <a:t>Electrolocation alone reached high accuracy</a:t>
            </a:r>
            <a:endParaRPr lang="en-US"/>
          </a:p>
        </p:txBody>
      </p:sp>
      <p:sp>
        <p:nvSpPr>
          <p:cNvPr id="830" name="Shape 830"/>
          <p:cNvSpPr/>
          <p:nvPr/>
        </p:nvSpPr>
        <p:spPr>
          <a:xfrm>
            <a:off x="566000" y="1234440"/>
            <a:ext cx="5480000" cy="4915560"/>
          </a:xfrm>
          <a:prstGeom prst="rect">
            <a:avLst/>
          </a:prstGeom>
          <a:noFill/>
        </p:spPr>
        <p:txBody>
          <a:bodyPr anchor="t" wrap="square" tIns="0" bIns="0" lIns="0" rIns="0">
            <a:normAutofit/>
          </a:bodyPr>
          <a:lstStyle/>
          <a:p>
            <a:pPr algn="l">
              <a:lnSpc>
                <a:spcPct val="108000"/>
              </a:lnSpc>
              <a:spcAft>
                <a:spcPts val="1200"/>
              </a:spcAft>
              <a:buNone/>
            </a:pPr>
            <a:r>
              <a:rPr sz="1400" b="0" i="0">
                <a:solidFill>
                  <a:srgbClr val="1F262D"/>
                </a:solidFill>
                <a:latin typeface="Arial"/>
                <a:ea typeface="Arial"/>
              </a:rPr>
              <a:t xml:space="preserve">Each group was defined by the senses it could use during testing, and each group was tested under its own condition. Every group reached at least 84% correct, so electrolocation by itself supported a high level of discrimination in this near-field task. Accuracy stayed at or above 84% in each group despite the different sensory inputs.</a:t>
            </a:r>
            <a:endParaRPr lang="en-US"/>
          </a:p>
          <a:p>
            <a:pPr algn="l">
              <a:lnSpc>
                <a:spcPct val="108000"/>
              </a:lnSpc>
              <a:spcAft>
                <a:spcPts val="1200"/>
              </a:spcAft>
              <a:buNone/>
            </a:pPr>
            <a:r>
              <a:rPr sz="1400" b="0" i="0">
                <a:solidFill>
                  <a:srgbClr val="1F262D"/>
                </a:solidFill>
                <a:latin typeface="Arial"/>
                <a:ea typeface="Arial"/>
              </a:rPr>
              <a:t xml:space="preserve">The gain from combining the senses was measured with the objects placed close to the gates, at about 1 cm, where electric information is strongest for these fish. Both sensory channels were available together in the combined condition, so the difference reflects the information each channel supplied. The electric route alone supported accurate choices at close range.</a:t>
            </a:r>
            <a:endParaRPr lang="en-US"/>
          </a:p>
          <a:p>
            <a:pPr algn="l">
              <a:lnSpc>
                <a:spcPct val="108000"/>
              </a:lnSpc>
              <a:spcAft>
                <a:spcPts val="1200"/>
              </a:spcAft>
              <a:buNone/>
            </a:pPr>
            <a:r>
              <a:rPr sz="1400" b="0" i="0">
                <a:solidFill>
                  <a:srgbClr val="1F262D"/>
                </a:solidFill>
                <a:latin typeface="Arial"/>
                <a:ea typeface="Arial"/>
              </a:rPr>
              <a:t xml:space="preserve">The rewarded-object choice stayed identical across those conditions, so accuracy differences reflect the sensory information available to each group. Final accuracy and the number of training days are separate outcomes, one describing the stable endpoint and the other the speed of learning. Placement at the gates was identical across the three groups and in every test session.</a:t>
            </a:r>
            <a:endParaRPr lang="en-US"/>
          </a:p>
        </p:txBody>
      </p:sp>
      <p:pic>
        <p:nvPicPr>
          <p:cNvPr id="312" name="Presenton Native Image 18" descr=""/>
          <p:cNvPicPr/>
          <p:nvPr/>
        </p:nvPicPr>
        <p:blipFill>
          <a:blip r:embed="rId2" cstate="none"/>
          <a:stretch>
            <a:fillRect/>
          </a:stretch>
        </p:blipFill>
        <p:spPr>
          <a:xfrm>
            <a:off x="6610350" y="1681917"/>
            <a:ext cx="5048250" cy="2747347"/>
          </a:xfrm>
          <a:prstGeom prst="rect">
            <a:avLst/>
          </a:prstGeom>
        </p:spPr>
      </p:pic>
      <p:sp>
        <p:nvSpPr>
          <p:cNvPr id="833" name="Shape 833"/>
          <p:cNvSpPr/>
          <p:nvPr/>
        </p:nvSpPr>
        <p:spPr>
          <a:xfrm>
            <a:off x="6610350" y="5170140"/>
            <a:ext cx="5067300" cy="371475"/>
          </a:xfrm>
          <a:prstGeom prst="rect">
            <a:avLst/>
          </a:prstGeom>
          <a:noFill/>
        </p:spPr>
        <p:txBody>
          <a:bodyPr anchor="t" wrap="square" tIns="0" bIns="0" lIns="0" rIns="0">
            <a:normAutofit/>
          </a:bodyPr>
          <a:lstStyle/>
          <a:p>
            <a:pPr algn="l">
              <a:lnSpc>
                <a:spcPts val="1463"/>
              </a:lnSpc>
              <a:buNone/>
            </a:pPr>
            <a:r>
              <a:rPr sz="1125" b="0" i="0">
                <a:solidFill>
                  <a:srgbClr val="1F262D"/>
                </a:solidFill>
                <a:latin typeface="Arial"/>
                <a:ea typeface="Arial"/>
              </a:rPr>
              <a:t>Schumacher et al. (2017), Fig. 4. Accuracy after training under different sensory conditions.</a:t>
            </a:r>
            <a:endParaRPr lang="en-US"/>
          </a:p>
        </p:txBody>
      </p:sp>
      <p:sp>
        <p:nvSpPr>
          <p:cNvPr id="834" name="Shape 834"/>
          <p:cNvSpPr/>
          <p:nvPr/>
        </p:nvSpPr>
        <p:spPr>
          <a:xfrm>
            <a:off x="457200" y="6462713"/>
            <a:ext cx="1445121" cy="185738"/>
          </a:xfrm>
          <a:prstGeom prst="rect">
            <a:avLst/>
          </a:prstGeom>
          <a:noFill/>
        </p:spPr>
        <p:txBody>
          <a:bodyPr anchor="t" wrap="square" tIns="0" bIns="0" lIns="0" rIns="0">
            <a:normAutofit/>
          </a:bodyPr>
          <a:lstStyle/>
          <a:p>
            <a:pPr algn="l">
              <a:lnSpc>
                <a:spcPts val="1463"/>
              </a:lnSpc>
              <a:buNone/>
            </a:pPr>
            <a:r>
              <a:rPr sz="975" b="0" i="0">
                <a:solidFill>
                  <a:srgbClr val="58636E"/>
                </a:solidFill>
                <a:latin typeface="Arial"/>
                <a:ea typeface="Arial"/>
              </a:rPr>
              <a:t>Schumacher et al. (2017)</a:t>
            </a:r>
            <a:endParaRPr lang="en-US"/>
          </a:p>
        </p:txBody>
      </p:sp>
      <p:sp>
        <p:nvSpPr>
          <p:cNvPr id="835" name="Shape 835"/>
          <p:cNvSpPr/>
          <p:nvPr/>
        </p:nvSpPr>
        <p:spPr>
          <a:xfrm>
            <a:off x="11530699" y="6462713"/>
            <a:ext cx="223151" cy="185738"/>
          </a:xfrm>
          <a:prstGeom prst="rect">
            <a:avLst/>
          </a:prstGeom>
          <a:noFill/>
        </p:spPr>
        <p:txBody>
          <a:bodyPr anchor="t" wrap="square" tIns="0" bIns="0" lIns="0" rIns="0">
            <a:normAutofit/>
          </a:bodyPr>
          <a:lstStyle/>
          <a:p>
            <a:pPr algn="l">
              <a:lnSpc>
                <a:spcPts val="1463"/>
              </a:lnSpc>
              <a:buNone/>
            </a:pPr>
            <a:r>
              <a:rPr sz="975" b="0" i="0">
                <a:solidFill>
                  <a:srgbClr val="58636E"/>
                </a:solidFill>
                <a:latin typeface="Arial"/>
                <a:ea typeface="Arial"/>
              </a:rPr>
              <a:t>18a</a:t>
            </a:r>
            <a:endParaRPr lang="en-US"/>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808" name="Shape 808"/>
          <p:cNvSpPr/>
          <p:nvPr/>
        </p:nvSpPr>
        <p:spPr>
          <a:xfrm>
            <a:off x="457200" y="457200"/>
            <a:ext cx="11296650" cy="350490"/>
          </a:xfrm>
          <a:prstGeom prst="rect">
            <a:avLst/>
          </a:prstGeom>
          <a:noFill/>
        </p:spPr>
        <p:txBody>
          <a:bodyPr anchor="t" wrap="square" tIns="0" bIns="0" lIns="0" rIns="0">
            <a:normAutofit/>
          </a:bodyPr>
          <a:lstStyle/>
          <a:p>
            <a:pPr algn="l">
              <a:lnSpc>
                <a:spcPts val="2760"/>
              </a:lnSpc>
              <a:buNone/>
            </a:pPr>
            <a:r>
              <a:rPr sz="2400" b="1" i="0">
                <a:solidFill>
                  <a:srgbClr val="2B5577"/>
                </a:solidFill>
                <a:latin typeface="Arial"/>
                <a:ea typeface="Arial"/>
              </a:rPr>
              <a:t>Dynamic cues reach threshold farther away</a:t>
            </a:r>
            <a:endParaRPr lang="en-US"/>
          </a:p>
        </p:txBody>
      </p:sp>
      <p:sp>
        <p:nvSpPr>
          <p:cNvPr id="809" name="Shape 809"/>
          <p:cNvSpPr/>
          <p:nvPr/>
        </p:nvSpPr>
        <p:spPr>
          <a:xfrm>
            <a:off x="566000" y="1234440"/>
            <a:ext cx="5480000" cy="4915560"/>
          </a:xfrm>
          <a:prstGeom prst="rect">
            <a:avLst/>
          </a:prstGeom>
          <a:noFill/>
        </p:spPr>
        <p:txBody>
          <a:bodyPr anchor="t" wrap="square" tIns="0" bIns="0" lIns="0" rIns="0">
            <a:normAutofit/>
          </a:bodyPr>
          <a:lstStyle/>
          <a:p>
            <a:pPr algn="l">
              <a:lnSpc>
                <a:spcPct val="108000"/>
              </a:lnSpc>
              <a:spcAft>
                <a:spcPts val="1200"/>
              </a:spcAft>
              <a:buNone/>
            </a:pPr>
            <a:r>
              <a:rPr sz="1400" b="0" i="0">
                <a:solidFill>
                  <a:srgbClr val="1F262D"/>
                </a:solidFill>
                <a:latin typeface="Arial"/>
                <a:ea typeface="Arial"/>
              </a:rPr>
              <a:t>The detection criterion defines when an object's information first rises above the variability of the reference condition. Under that criterion, the dynamic cue crossed threshold at about 6 cm, while the static image measure crossed it at about 3 cm, so the dynamic cue carried information to a greater distance. The paper defined that criterion for the reconstructed cues.</a:t>
            </a:r>
            <a:endParaRPr lang="en-US"/>
          </a:p>
          <a:p>
            <a:pPr algn="l">
              <a:lnSpc>
                <a:spcPct val="108000"/>
              </a:lnSpc>
              <a:spcAft>
                <a:spcPts val="1200"/>
              </a:spcAft>
              <a:buNone/>
            </a:pPr>
            <a:r>
              <a:rPr sz="1400" b="0" i="0">
                <a:solidFill>
                  <a:srgbClr val="1F262D"/>
                </a:solidFill>
                <a:latin typeface="Arial"/>
                <a:ea typeface="Arial"/>
              </a:rPr>
              <a:t>The dynamic measure also resolved distance more finely at longer distances in the modeled data. That resolution describes what the reconstructed cue can separate, which is an analysis result rather than a value recorded from the fish, and it is computed from the same reconstructed approaches. Both cues were judged over the same range of simulated distances.</a:t>
            </a:r>
            <a:endParaRPr lang="en-US"/>
          </a:p>
          <a:p>
            <a:pPr algn="l">
              <a:lnSpc>
                <a:spcPct val="108000"/>
              </a:lnSpc>
              <a:spcAft>
                <a:spcPts val="1200"/>
              </a:spcAft>
              <a:buNone/>
            </a:pPr>
            <a:r>
              <a:rPr sz="1400" b="0" i="0">
                <a:solidFill>
                  <a:srgbClr val="1F262D"/>
                </a:solidFill>
                <a:latin typeface="Arial"/>
                <a:ea typeface="Arial"/>
              </a:rPr>
              <a:t>The roughly 4 cm recognition range in the choice tasks is a separate measure of identification. Shape discrimination and distance estimation require different kinds of information, so the two thresholds can differ in value even when both come from the same object. The two ranges were measured in different experiments, so the two numbers answer different questions.</a:t>
            </a:r>
            <a:endParaRPr lang="en-US"/>
          </a:p>
        </p:txBody>
      </p:sp>
      <p:pic>
        <p:nvPicPr>
          <p:cNvPr id="309" name="Presenton Native Image 15" descr=""/>
          <p:cNvPicPr/>
          <p:nvPr/>
        </p:nvPicPr>
        <p:blipFill>
          <a:blip r:embed="rId2" cstate="none"/>
          <a:stretch>
            <a:fillRect/>
          </a:stretch>
        </p:blipFill>
        <p:spPr>
          <a:xfrm>
            <a:off x="7837653" y="1055340"/>
            <a:ext cx="2593644" cy="4000500"/>
          </a:xfrm>
          <a:prstGeom prst="rect">
            <a:avLst/>
          </a:prstGeom>
        </p:spPr>
      </p:pic>
      <p:sp>
        <p:nvSpPr>
          <p:cNvPr id="812" name="Shape 812"/>
          <p:cNvSpPr/>
          <p:nvPr/>
        </p:nvSpPr>
        <p:spPr>
          <a:xfrm>
            <a:off x="6610350" y="5170140"/>
            <a:ext cx="5067300" cy="371475"/>
          </a:xfrm>
          <a:prstGeom prst="rect">
            <a:avLst/>
          </a:prstGeom>
          <a:noFill/>
        </p:spPr>
        <p:txBody>
          <a:bodyPr anchor="t" wrap="square" tIns="0" bIns="0" lIns="0" rIns="0">
            <a:normAutofit/>
          </a:bodyPr>
          <a:lstStyle/>
          <a:p>
            <a:pPr algn="l">
              <a:lnSpc>
                <a:spcPts val="1463"/>
              </a:lnSpc>
              <a:buNone/>
            </a:pPr>
            <a:r>
              <a:rPr sz="1125" b="0" i="0">
                <a:solidFill>
                  <a:srgbClr val="1F262D"/>
                </a:solidFill>
                <a:latin typeface="Arial"/>
                <a:ea typeface="Arial"/>
              </a:rPr>
              <a:t>Hofmann et al. (2017), Fig. 7(A–D). Comparison of reconstructed dynamic and static distance cues.</a:t>
            </a:r>
            <a:endParaRPr lang="en-US"/>
          </a:p>
        </p:txBody>
      </p:sp>
      <p:sp>
        <p:nvSpPr>
          <p:cNvPr id="813" name="Shape 813"/>
          <p:cNvSpPr/>
          <p:nvPr/>
        </p:nvSpPr>
        <p:spPr>
          <a:xfrm>
            <a:off x="457200" y="6462713"/>
            <a:ext cx="1269950" cy="185738"/>
          </a:xfrm>
          <a:prstGeom prst="rect">
            <a:avLst/>
          </a:prstGeom>
          <a:noFill/>
        </p:spPr>
        <p:txBody>
          <a:bodyPr anchor="t" wrap="square" tIns="0" bIns="0" lIns="0" rIns="0">
            <a:normAutofit/>
          </a:bodyPr>
          <a:lstStyle/>
          <a:p>
            <a:pPr algn="l">
              <a:lnSpc>
                <a:spcPts val="1463"/>
              </a:lnSpc>
              <a:buNone/>
            </a:pPr>
            <a:r>
              <a:rPr sz="975" b="0" i="0">
                <a:solidFill>
                  <a:srgbClr val="58636E"/>
                </a:solidFill>
                <a:latin typeface="Arial"/>
                <a:ea typeface="Arial"/>
              </a:rPr>
              <a:t>Hofmann et al. (2017)</a:t>
            </a:r>
            <a:endParaRPr lang="en-US"/>
          </a:p>
        </p:txBody>
      </p:sp>
      <p:sp>
        <p:nvSpPr>
          <p:cNvPr id="814" name="Shape 814"/>
          <p:cNvSpPr/>
          <p:nvPr/>
        </p:nvSpPr>
        <p:spPr>
          <a:xfrm>
            <a:off x="11530699" y="6462713"/>
            <a:ext cx="223151" cy="185738"/>
          </a:xfrm>
          <a:prstGeom prst="rect">
            <a:avLst/>
          </a:prstGeom>
          <a:noFill/>
        </p:spPr>
        <p:txBody>
          <a:bodyPr anchor="t" wrap="square" tIns="0" bIns="0" lIns="0" rIns="0">
            <a:normAutofit/>
          </a:bodyPr>
          <a:lstStyle/>
          <a:p>
            <a:pPr algn="l">
              <a:lnSpc>
                <a:spcPts val="1463"/>
              </a:lnSpc>
              <a:buNone/>
            </a:pPr>
            <a:r>
              <a:rPr sz="975" b="0" i="0">
                <a:solidFill>
                  <a:srgbClr val="58636E"/>
                </a:solidFill>
                <a:latin typeface="Arial"/>
                <a:ea typeface="Arial"/>
              </a:rPr>
              <a:t>15a</a:t>
            </a:r>
            <a:endParaRPr lang="en-US"/>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787" name="Shape 787"/>
          <p:cNvSpPr/>
          <p:nvPr/>
        </p:nvSpPr>
        <p:spPr>
          <a:xfrm>
            <a:off x="457200" y="457200"/>
            <a:ext cx="11296650" cy="350490"/>
          </a:xfrm>
          <a:prstGeom prst="rect">
            <a:avLst/>
          </a:prstGeom>
          <a:noFill/>
        </p:spPr>
        <p:txBody>
          <a:bodyPr anchor="t" wrap="square" tIns="0" bIns="0" lIns="0" rIns="0">
            <a:normAutofit/>
          </a:bodyPr>
          <a:lstStyle/>
          <a:p>
            <a:pPr algn="l">
              <a:lnSpc>
                <a:spcPts val="2760"/>
              </a:lnSpc>
              <a:buNone/>
            </a:pPr>
            <a:r>
              <a:rPr sz="2400" b="1" i="0">
                <a:solidFill>
                  <a:srgbClr val="2B5577"/>
                </a:solidFill>
                <a:latin typeface="Arial"/>
                <a:ea typeface="Arial"/>
              </a:rPr>
              <a:t>Normalization removes the amplitude scale</a:t>
            </a:r>
            <a:endParaRPr lang="en-US"/>
          </a:p>
        </p:txBody>
      </p:sp>
      <p:sp>
        <p:nvSpPr>
          <p:cNvPr id="788" name="Shape 788"/>
          <p:cNvSpPr/>
          <p:nvPr/>
        </p:nvSpPr>
        <p:spPr>
          <a:xfrm>
            <a:off x="566000" y="1234440"/>
            <a:ext cx="5480000" cy="4915560"/>
          </a:xfrm>
          <a:prstGeom prst="rect">
            <a:avLst/>
          </a:prstGeom>
          <a:noFill/>
        </p:spPr>
        <p:txBody>
          <a:bodyPr anchor="t" wrap="square" tIns="0" bIns="0" lIns="0" rIns="0">
            <a:normAutofit/>
          </a:bodyPr>
          <a:lstStyle/>
          <a:p>
            <a:pPr algn="l">
              <a:lnSpc>
                <a:spcPct val="108000"/>
              </a:lnSpc>
              <a:spcAft>
                <a:spcPts val="1200"/>
              </a:spcAft>
              <a:buNone/>
            </a:pPr>
            <a:r>
              <a:rPr sz="1400" b="0" i="0">
                <a:solidFill>
                  <a:srgbClr val="1F262D"/>
                </a:solidFill>
                <a:latin typeface="Arial"/>
                <a:ea typeface="Arial"/>
              </a:rPr>
              <a:t xml:space="preserve">A relative gradient divides the rate of amplitude change by the current amplitude, so its output depends on the shape of the change rather than on absolute size. For that reason the relative-gradient curves overlapped across cube sizes that produced very different absolute amplitudes, which is the central result of this comparison. The ratio thus discounts the overall scale of the signal.</a:t>
            </a:r>
            <a:endParaRPr lang="en-US"/>
          </a:p>
          <a:p>
            <a:pPr algn="l">
              <a:lnSpc>
                <a:spcPct val="108000"/>
              </a:lnSpc>
              <a:spcAft>
                <a:spcPts val="1200"/>
              </a:spcAft>
              <a:buNone/>
            </a:pPr>
            <a:r>
              <a:rPr sz="1400" b="0" i="0">
                <a:solidFill>
                  <a:srgbClr val="1F262D"/>
                </a:solidFill>
                <a:latin typeface="Arial"/>
                <a:ea typeface="Arial"/>
              </a:rPr>
              <a:t xml:space="preserve">Adapted emission and movement produced more samples near each cube than unadapted patterns did, so the cue depends on the animal's own sampling pattern in every trial. Adapted emission changes how many measurements feed the gradient at each distance, and that change is built into the reconstruction. Each cube size yielded its own sampling profile.</a:t>
            </a:r>
            <a:endParaRPr lang="en-US"/>
          </a:p>
          <a:p>
            <a:pPr algn="l">
              <a:lnSpc>
                <a:spcPct val="108000"/>
              </a:lnSpc>
              <a:spcAft>
                <a:spcPts val="1200"/>
              </a:spcAft>
              <a:buNone/>
            </a:pPr>
            <a:r>
              <a:rPr sz="1400" b="0" i="0">
                <a:solidFill>
                  <a:srgbClr val="1F262D"/>
                </a:solidFill>
                <a:latin typeface="Arial"/>
                <a:ea typeface="Arial"/>
              </a:rPr>
              <a:t xml:space="preserve">The gradient cue was built from reconstructed frames and tested inside the modeled input. The reconstruction supplies the candidate signal, while the neurons that would use that signal were not part of the model. Relative gradients give the same distance information across the cube sizes tested. The absolute amplitude, by contrast, carries size information that tracks object size rather than distance.</a:t>
            </a:r>
            <a:endParaRPr lang="en-US"/>
          </a:p>
        </p:txBody>
      </p:sp>
      <p:pic>
        <p:nvPicPr>
          <p:cNvPr id="306" name="Presenton Native Image 12" descr=""/>
          <p:cNvPicPr/>
          <p:nvPr/>
        </p:nvPicPr>
        <p:blipFill>
          <a:blip r:embed="rId2" cstate="none"/>
          <a:stretch>
            <a:fillRect/>
          </a:stretch>
        </p:blipFill>
        <p:spPr>
          <a:xfrm>
            <a:off x="6739170" y="1055340"/>
            <a:ext cx="4790610" cy="4000500"/>
          </a:xfrm>
          <a:prstGeom prst="rect">
            <a:avLst/>
          </a:prstGeom>
        </p:spPr>
      </p:pic>
      <p:sp>
        <p:nvSpPr>
          <p:cNvPr id="791" name="Shape 791"/>
          <p:cNvSpPr/>
          <p:nvPr/>
        </p:nvSpPr>
        <p:spPr>
          <a:xfrm>
            <a:off x="6610350" y="5170140"/>
            <a:ext cx="5067300" cy="371475"/>
          </a:xfrm>
          <a:prstGeom prst="rect">
            <a:avLst/>
          </a:prstGeom>
          <a:noFill/>
        </p:spPr>
        <p:txBody>
          <a:bodyPr anchor="t" wrap="square" tIns="0" bIns="0" lIns="0" rIns="0">
            <a:normAutofit/>
          </a:bodyPr>
          <a:lstStyle/>
          <a:p>
            <a:pPr algn="l">
              <a:lnSpc>
                <a:spcPts val="1463"/>
              </a:lnSpc>
              <a:buNone/>
            </a:pPr>
            <a:r>
              <a:rPr sz="1125" b="0" i="0">
                <a:solidFill>
                  <a:srgbClr val="1F262D"/>
                </a:solidFill>
                <a:latin typeface="Arial"/>
                <a:ea typeface="Arial"/>
              </a:rPr>
              <a:t>Hofmann et al. (2017), Fig. 4(A–D). Amplitude, relative gradient, and sampling during approach.</a:t>
            </a:r>
            <a:endParaRPr lang="en-US"/>
          </a:p>
        </p:txBody>
      </p:sp>
      <p:sp>
        <p:nvSpPr>
          <p:cNvPr id="792" name="Shape 792"/>
          <p:cNvSpPr/>
          <p:nvPr/>
        </p:nvSpPr>
        <p:spPr>
          <a:xfrm>
            <a:off x="457200" y="6462713"/>
            <a:ext cx="1269950" cy="185738"/>
          </a:xfrm>
          <a:prstGeom prst="rect">
            <a:avLst/>
          </a:prstGeom>
          <a:noFill/>
        </p:spPr>
        <p:txBody>
          <a:bodyPr anchor="t" wrap="square" tIns="0" bIns="0" lIns="0" rIns="0">
            <a:normAutofit/>
          </a:bodyPr>
          <a:lstStyle/>
          <a:p>
            <a:pPr algn="l">
              <a:lnSpc>
                <a:spcPts val="1463"/>
              </a:lnSpc>
              <a:buNone/>
            </a:pPr>
            <a:r>
              <a:rPr sz="975" b="0" i="0">
                <a:solidFill>
                  <a:srgbClr val="58636E"/>
                </a:solidFill>
                <a:latin typeface="Arial"/>
                <a:ea typeface="Arial"/>
              </a:rPr>
              <a:t>Hofmann et al. (2017)</a:t>
            </a:r>
            <a:endParaRPr lang="en-US"/>
          </a:p>
        </p:txBody>
      </p:sp>
      <p:sp>
        <p:nvSpPr>
          <p:cNvPr id="793" name="Shape 793"/>
          <p:cNvSpPr/>
          <p:nvPr/>
        </p:nvSpPr>
        <p:spPr>
          <a:xfrm>
            <a:off x="11530699" y="6462713"/>
            <a:ext cx="223151" cy="185738"/>
          </a:xfrm>
          <a:prstGeom prst="rect">
            <a:avLst/>
          </a:prstGeom>
          <a:noFill/>
        </p:spPr>
        <p:txBody>
          <a:bodyPr anchor="t" wrap="square" tIns="0" bIns="0" lIns="0" rIns="0">
            <a:normAutofit/>
          </a:bodyPr>
          <a:lstStyle/>
          <a:p>
            <a:pPr algn="l">
              <a:lnSpc>
                <a:spcPts val="1463"/>
              </a:lnSpc>
              <a:buNone/>
            </a:pPr>
            <a:r>
              <a:rPr sz="975" b="0" i="0">
                <a:solidFill>
                  <a:srgbClr val="58636E"/>
                </a:solidFill>
                <a:latin typeface="Arial"/>
                <a:ea typeface="Arial"/>
              </a:rPr>
              <a:t>12a</a:t>
            </a:r>
            <a:endParaRPr lang="en-US"/>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766" name="Shape 766"/>
          <p:cNvSpPr/>
          <p:nvPr/>
        </p:nvSpPr>
        <p:spPr>
          <a:xfrm>
            <a:off x="457200" y="457200"/>
            <a:ext cx="11296650" cy="350490"/>
          </a:xfrm>
          <a:prstGeom prst="rect">
            <a:avLst/>
          </a:prstGeom>
          <a:noFill/>
        </p:spPr>
        <p:txBody>
          <a:bodyPr anchor="t" wrap="square" tIns="0" bIns="0" lIns="0" rIns="0">
            <a:normAutofit/>
          </a:bodyPr>
          <a:lstStyle/>
          <a:p>
            <a:pPr algn="l">
              <a:lnSpc>
                <a:spcPts val="2760"/>
              </a:lnSpc>
              <a:buNone/>
            </a:pPr>
            <a:r>
              <a:rPr sz="2400" b="1" i="0">
                <a:solidFill>
                  <a:srgbClr val="2B5577"/>
                </a:solidFill>
                <a:latin typeface="Arial"/>
                <a:ea typeface="Arial"/>
              </a:rPr>
              <a:t>Discharge timing shapes each approach sample</a:t>
            </a:r>
            <a:endParaRPr lang="en-US"/>
          </a:p>
        </p:txBody>
      </p:sp>
      <p:sp>
        <p:nvSpPr>
          <p:cNvPr id="767" name="Shape 767"/>
          <p:cNvSpPr/>
          <p:nvPr/>
        </p:nvSpPr>
        <p:spPr>
          <a:xfrm>
            <a:off x="566000" y="1234440"/>
            <a:ext cx="5480000" cy="4915560"/>
          </a:xfrm>
          <a:prstGeom prst="rect">
            <a:avLst/>
          </a:prstGeom>
          <a:noFill/>
        </p:spPr>
        <p:txBody>
          <a:bodyPr anchor="t" wrap="square" tIns="0" bIns="0" lIns="0" rIns="0">
            <a:normAutofit/>
          </a:bodyPr>
          <a:lstStyle/>
          <a:p>
            <a:pPr algn="l">
              <a:lnSpc>
                <a:spcPct val="108000"/>
              </a:lnSpc>
              <a:spcAft>
                <a:spcPts val="1200"/>
              </a:spcAft>
              <a:buNone/>
            </a:pPr>
            <a:r>
              <a:rPr sz="1400" b="0" i="0">
                <a:solidFill>
                  <a:srgbClr val="1F262D"/>
                </a:solidFill>
                <a:latin typeface="Arial"/>
                <a:ea typeface="Arial"/>
              </a:rPr>
              <a:t xml:space="preserve">Spatial sampling density is the number of electric discharges per distance traveled. It depends jointly on emission timing and swimming speed, so a fish that swims faster collects fewer discharges per centimeter unless it also raises its discharge rate. Density reflects two behaviors at once, the emission pattern and the movement. This ratio is the quantity that changes during each approach.</a:t>
            </a:r>
            <a:endParaRPr lang="en-US"/>
          </a:p>
          <a:p>
            <a:pPr algn="l">
              <a:lnSpc>
                <a:spcPct val="108000"/>
              </a:lnSpc>
              <a:spcAft>
                <a:spcPts val="1200"/>
              </a:spcAft>
              <a:buNone/>
            </a:pPr>
            <a:r>
              <a:rPr sz="1400" b="0" i="0">
                <a:solidFill>
                  <a:srgbClr val="1F262D"/>
                </a:solidFill>
                <a:latin typeface="Arial"/>
                <a:ea typeface="Arial"/>
              </a:rPr>
              <a:t xml:space="preserve">Each electric sample reaches the skin while the object's image is changing, so each discharge carries a different spatial context. Hofmann and colleagues paired the discharge record with the approach trajectory, which let each sample be matched to the fish's position at that moment. The recorded discharge timing supplied the sampling record for every approach.</a:t>
            </a:r>
            <a:endParaRPr lang="en-US"/>
          </a:p>
          <a:p>
            <a:pPr algn="l">
              <a:lnSpc>
                <a:spcPct val="108000"/>
              </a:lnSpc>
              <a:spcAft>
                <a:spcPts val="1200"/>
              </a:spcAft>
              <a:buNone/>
            </a:pPr>
            <a:r>
              <a:rPr sz="1400" b="0" i="0">
                <a:solidFill>
                  <a:srgbClr val="1F262D"/>
                </a:solidFill>
                <a:latin typeface="Arial"/>
                <a:ea typeface="Arial"/>
              </a:rPr>
              <a:t xml:space="preserve">Thrust and discharge activity moved in opposite directions across the approach, and the sampling density rose as the fish closed in. Straighter postures and more direct alignment with the object accompanied that rise in density, so the geometry of inspection and the sample sequence changed together. The approach geometry was measured as well as the electric samples.</a:t>
            </a:r>
            <a:endParaRPr lang="en-US"/>
          </a:p>
        </p:txBody>
      </p:sp>
      <p:pic>
        <p:nvPicPr>
          <p:cNvPr id="303" name="Presenton Native Image 9" descr=""/>
          <p:cNvPicPr/>
          <p:nvPr/>
        </p:nvPicPr>
        <p:blipFill>
          <a:blip r:embed="rId2" cstate="none"/>
          <a:stretch>
            <a:fillRect/>
          </a:stretch>
        </p:blipFill>
        <p:spPr>
          <a:xfrm>
            <a:off x="8282540" y="1055340"/>
            <a:ext cx="1703869" cy="4000500"/>
          </a:xfrm>
          <a:prstGeom prst="rect">
            <a:avLst/>
          </a:prstGeom>
        </p:spPr>
      </p:pic>
      <p:sp>
        <p:nvSpPr>
          <p:cNvPr id="770" name="Shape 770"/>
          <p:cNvSpPr/>
          <p:nvPr/>
        </p:nvSpPr>
        <p:spPr>
          <a:xfrm>
            <a:off x="6610350" y="5170140"/>
            <a:ext cx="5067300" cy="371475"/>
          </a:xfrm>
          <a:prstGeom prst="rect">
            <a:avLst/>
          </a:prstGeom>
          <a:noFill/>
        </p:spPr>
        <p:txBody>
          <a:bodyPr anchor="t" wrap="square" tIns="0" bIns="0" lIns="0" rIns="0">
            <a:normAutofit/>
          </a:bodyPr>
          <a:lstStyle/>
          <a:p>
            <a:pPr algn="l">
              <a:lnSpc>
                <a:spcPts val="1463"/>
              </a:lnSpc>
              <a:buNone/>
            </a:pPr>
            <a:r>
              <a:rPr sz="1125" b="0" i="0">
                <a:solidFill>
                  <a:srgbClr val="1F262D"/>
                </a:solidFill>
                <a:latin typeface="Arial"/>
                <a:ea typeface="Arial"/>
              </a:rPr>
              <a:t>Hofmann et al. (2017), Fig. 1(A–F). Measured movement and discharge patterns during approaches.</a:t>
            </a:r>
            <a:endParaRPr lang="en-US"/>
          </a:p>
        </p:txBody>
      </p:sp>
      <p:sp>
        <p:nvSpPr>
          <p:cNvPr id="771" name="Shape 771"/>
          <p:cNvSpPr/>
          <p:nvPr/>
        </p:nvSpPr>
        <p:spPr>
          <a:xfrm>
            <a:off x="457200" y="6462713"/>
            <a:ext cx="1269950" cy="185738"/>
          </a:xfrm>
          <a:prstGeom prst="rect">
            <a:avLst/>
          </a:prstGeom>
          <a:noFill/>
        </p:spPr>
        <p:txBody>
          <a:bodyPr anchor="t" wrap="square" tIns="0" bIns="0" lIns="0" rIns="0">
            <a:normAutofit/>
          </a:bodyPr>
          <a:lstStyle/>
          <a:p>
            <a:pPr algn="l">
              <a:lnSpc>
                <a:spcPts val="1463"/>
              </a:lnSpc>
              <a:buNone/>
            </a:pPr>
            <a:r>
              <a:rPr sz="975" b="0" i="0">
                <a:solidFill>
                  <a:srgbClr val="58636E"/>
                </a:solidFill>
                <a:latin typeface="Arial"/>
                <a:ea typeface="Arial"/>
              </a:rPr>
              <a:t>Hofmann et al. (2017)</a:t>
            </a:r>
            <a:endParaRPr lang="en-US"/>
          </a:p>
        </p:txBody>
      </p:sp>
      <p:sp>
        <p:nvSpPr>
          <p:cNvPr id="772" name="Shape 772"/>
          <p:cNvSpPr/>
          <p:nvPr/>
        </p:nvSpPr>
        <p:spPr>
          <a:xfrm>
            <a:off x="11601541" y="6462713"/>
            <a:ext cx="152309" cy="185738"/>
          </a:xfrm>
          <a:prstGeom prst="rect">
            <a:avLst/>
          </a:prstGeom>
          <a:noFill/>
        </p:spPr>
        <p:txBody>
          <a:bodyPr anchor="t" wrap="square" tIns="0" bIns="0" lIns="0" rIns="0">
            <a:normAutofit/>
          </a:bodyPr>
          <a:lstStyle/>
          <a:p>
            <a:pPr algn="l">
              <a:lnSpc>
                <a:spcPts val="1463"/>
              </a:lnSpc>
              <a:buNone/>
            </a:pPr>
            <a:r>
              <a:rPr sz="975" b="0" i="0">
                <a:solidFill>
                  <a:srgbClr val="58636E"/>
                </a:solidFill>
                <a:latin typeface="Arial"/>
                <a:ea typeface="Arial"/>
              </a:rPr>
              <a:t>9a</a:t>
            </a:r>
            <a:endParaRPr lang="en-US"/>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745" name="Shape 745"/>
          <p:cNvSpPr/>
          <p:nvPr/>
        </p:nvSpPr>
        <p:spPr>
          <a:xfrm>
            <a:off x="457200" y="457200"/>
            <a:ext cx="11296650" cy="350490"/>
          </a:xfrm>
          <a:prstGeom prst="rect">
            <a:avLst/>
          </a:prstGeom>
          <a:noFill/>
        </p:spPr>
        <p:txBody>
          <a:bodyPr anchor="t" wrap="square" tIns="0" bIns="0" lIns="0" rIns="0">
            <a:normAutofit/>
          </a:bodyPr>
          <a:lstStyle/>
          <a:p>
            <a:pPr algn="l">
              <a:lnSpc>
                <a:spcPts val="2760"/>
              </a:lnSpc>
              <a:buNone/>
            </a:pPr>
            <a:r>
              <a:rPr sz="2400" b="1" i="0">
                <a:solidFill>
                  <a:srgbClr val="2B5577"/>
                </a:solidFill>
                <a:latin typeface="Arial"/>
                <a:ea typeface="Arial"/>
              </a:rPr>
              <a:t>Image intensity and diameter both shift with distance</a:t>
            </a:r>
            <a:endParaRPr lang="en-US"/>
          </a:p>
        </p:txBody>
      </p:sp>
      <p:sp>
        <p:nvSpPr>
          <p:cNvPr id="746" name="Shape 746"/>
          <p:cNvSpPr/>
          <p:nvPr/>
        </p:nvSpPr>
        <p:spPr>
          <a:xfrm>
            <a:off x="566000" y="1234440"/>
            <a:ext cx="5480000" cy="4915560"/>
          </a:xfrm>
          <a:prstGeom prst="rect">
            <a:avLst/>
          </a:prstGeom>
          <a:noFill/>
        </p:spPr>
        <p:txBody>
          <a:bodyPr anchor="t" wrap="square" tIns="0" bIns="0" lIns="0" rIns="0">
            <a:normAutofit/>
          </a:bodyPr>
          <a:lstStyle/>
          <a:p>
            <a:pPr algn="l">
              <a:lnSpc>
                <a:spcPct val="108000"/>
              </a:lnSpc>
              <a:spcAft>
                <a:spcPts val="1200"/>
              </a:spcAft>
              <a:buNone/>
            </a:pPr>
            <a:r>
              <a:rPr sz="1400" b="0" i="0">
                <a:solidFill>
                  <a:srgbClr val="1F262D"/>
                </a:solidFill>
                <a:latin typeface="Arial"/>
                <a:ea typeface="Arial"/>
              </a:rPr>
              <a:t xml:space="preserve">A rule based on image intensity fails here because intensity falls as an object moves away, while the rewarded physical size stays the same. The distance manipulation separated intensity from the real cube size in each trial, so a fixed intensity criterion could not match the reward across every combination of distances. The rewarded size was the stable reference across trials.</a:t>
            </a:r>
            <a:endParaRPr lang="en-US"/>
          </a:p>
          <a:p>
            <a:pPr algn="l">
              <a:lnSpc>
                <a:spcPct val="108000"/>
              </a:lnSpc>
              <a:spcAft>
                <a:spcPts val="1200"/>
              </a:spcAft>
              <a:buNone/>
            </a:pPr>
            <a:r>
              <a:rPr sz="1400" b="0" i="0">
                <a:solidFill>
                  <a:srgbClr val="1F262D"/>
                </a:solidFill>
                <a:latin typeface="Arial"/>
                <a:ea typeface="Arial"/>
              </a:rPr>
              <a:t xml:space="preserve">Image diameter behaved in the same way, and its measured width grew with each increase in distance, so the image changed while the reward did not. Width fails as a stand-in for size, and the fish's choices followed the physical cube instead of the image it produced. Image intensity and image width were the two candidate cues for size.</a:t>
            </a:r>
            <a:endParaRPr lang="en-US"/>
          </a:p>
          <a:p>
            <a:pPr algn="l">
              <a:lnSpc>
                <a:spcPct val="108000"/>
              </a:lnSpc>
              <a:spcAft>
                <a:spcPts val="1200"/>
              </a:spcAft>
              <a:buNone/>
            </a:pPr>
            <a:r>
              <a:rPr sz="1400" b="0" i="0">
                <a:solidFill>
                  <a:srgbClr val="1F262D"/>
                </a:solidFill>
                <a:latin typeface="Arial"/>
                <a:ea typeface="Arial"/>
              </a:rPr>
              <a:t xml:space="preserve">Darkness controls showed that the size discrimination survived without visual input, which suggests an electrosensory route for the learned choice. Cubes were moved to new distances in separate tests, while each cube's rewarded size stayed fixed across them. The learned preference still held when each cube's distance changed relative to the gates.</a:t>
            </a:r>
            <a:endParaRPr lang="en-US"/>
          </a:p>
        </p:txBody>
      </p:sp>
      <p:pic>
        <p:nvPicPr>
          <p:cNvPr id="300" name="Presenton Native Image 6" descr=""/>
          <p:cNvPicPr/>
          <p:nvPr/>
        </p:nvPicPr>
        <p:blipFill>
          <a:blip r:embed="rId2" cstate="none"/>
          <a:stretch>
            <a:fillRect/>
          </a:stretch>
        </p:blipFill>
        <p:spPr>
          <a:xfrm>
            <a:off x="6610350" y="2010116"/>
            <a:ext cx="5048250" cy="2090948"/>
          </a:xfrm>
          <a:prstGeom prst="rect">
            <a:avLst/>
          </a:prstGeom>
        </p:spPr>
      </p:pic>
      <p:sp>
        <p:nvSpPr>
          <p:cNvPr id="749" name="Shape 749"/>
          <p:cNvSpPr/>
          <p:nvPr/>
        </p:nvSpPr>
        <p:spPr>
          <a:xfrm>
            <a:off x="6610350" y="5170140"/>
            <a:ext cx="5067300" cy="371475"/>
          </a:xfrm>
          <a:prstGeom prst="rect">
            <a:avLst/>
          </a:prstGeom>
          <a:noFill/>
        </p:spPr>
        <p:txBody>
          <a:bodyPr anchor="t" wrap="square" tIns="0" bIns="0" lIns="0" rIns="0">
            <a:normAutofit/>
          </a:bodyPr>
          <a:lstStyle/>
          <a:p>
            <a:pPr algn="l">
              <a:lnSpc>
                <a:spcPts val="1463"/>
              </a:lnSpc>
              <a:buNone/>
            </a:pPr>
            <a:r>
              <a:rPr sz="1125" b="0" i="0">
                <a:solidFill>
                  <a:srgbClr val="1F262D"/>
                </a:solidFill>
                <a:latin typeface="Arial"/>
                <a:ea typeface="Arial"/>
              </a:rPr>
              <a:t>von der Emde et al. (2010), Fig. 4(A–B). Size-constancy tests across object-distance combinations.</a:t>
            </a:r>
            <a:endParaRPr lang="en-US"/>
          </a:p>
        </p:txBody>
      </p:sp>
      <p:sp>
        <p:nvSpPr>
          <p:cNvPr id="750" name="Shape 750"/>
          <p:cNvSpPr/>
          <p:nvPr/>
        </p:nvSpPr>
        <p:spPr>
          <a:xfrm>
            <a:off x="457200" y="6462713"/>
            <a:ext cx="1528911" cy="185738"/>
          </a:xfrm>
          <a:prstGeom prst="rect">
            <a:avLst/>
          </a:prstGeom>
          <a:noFill/>
        </p:spPr>
        <p:txBody>
          <a:bodyPr anchor="t" wrap="square" tIns="0" bIns="0" lIns="0" rIns="0">
            <a:normAutofit/>
          </a:bodyPr>
          <a:lstStyle/>
          <a:p>
            <a:pPr algn="l">
              <a:lnSpc>
                <a:spcPts val="1463"/>
              </a:lnSpc>
              <a:buNone/>
            </a:pPr>
            <a:r>
              <a:rPr sz="975" b="0" i="0">
                <a:solidFill>
                  <a:srgbClr val="58636E"/>
                </a:solidFill>
                <a:latin typeface="Arial"/>
                <a:ea typeface="Arial"/>
              </a:rPr>
              <a:t>von der Emde et al. (2010)</a:t>
            </a:r>
            <a:endParaRPr lang="en-US"/>
          </a:p>
        </p:txBody>
      </p:sp>
      <p:sp>
        <p:nvSpPr>
          <p:cNvPr id="751" name="Shape 751"/>
          <p:cNvSpPr/>
          <p:nvPr/>
        </p:nvSpPr>
        <p:spPr>
          <a:xfrm>
            <a:off x="11601541" y="6462713"/>
            <a:ext cx="152309" cy="185738"/>
          </a:xfrm>
          <a:prstGeom prst="rect">
            <a:avLst/>
          </a:prstGeom>
          <a:noFill/>
        </p:spPr>
        <p:txBody>
          <a:bodyPr anchor="t" wrap="square" tIns="0" bIns="0" lIns="0" rIns="0">
            <a:normAutofit/>
          </a:bodyPr>
          <a:lstStyle/>
          <a:p>
            <a:pPr algn="l">
              <a:lnSpc>
                <a:spcPts val="1463"/>
              </a:lnSpc>
              <a:buNone/>
            </a:pPr>
            <a:r>
              <a:rPr sz="975" b="0" i="0">
                <a:solidFill>
                  <a:srgbClr val="58636E"/>
                </a:solidFill>
                <a:latin typeface="Arial"/>
                <a:ea typeface="Arial"/>
              </a:rPr>
              <a:t>6a</a:t>
            </a:r>
            <a:endParaRPr lang="en-US"/>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724" name="Shape 724"/>
          <p:cNvSpPr/>
          <p:nvPr/>
        </p:nvSpPr>
        <p:spPr>
          <a:xfrm>
            <a:off x="457200" y="457200"/>
            <a:ext cx="11296650" cy="350490"/>
          </a:xfrm>
          <a:prstGeom prst="rect">
            <a:avLst/>
          </a:prstGeom>
          <a:noFill/>
        </p:spPr>
        <p:txBody>
          <a:bodyPr anchor="t" wrap="square" tIns="0" bIns="0" lIns="0" rIns="0">
            <a:normAutofit/>
          </a:bodyPr>
          <a:lstStyle/>
          <a:p>
            <a:pPr algn="l">
              <a:lnSpc>
                <a:spcPts val="2760"/>
              </a:lnSpc>
              <a:buNone/>
            </a:pPr>
            <a:r>
              <a:rPr sz="2400" b="1" i="0">
                <a:solidFill>
                  <a:srgbClr val="2B5577"/>
                </a:solidFill>
                <a:latin typeface="Arial"/>
                <a:ea typeface="Arial"/>
              </a:rPr>
              <a:t>Matched simulations isolate the object's contribution</a:t>
            </a:r>
            <a:endParaRPr lang="en-US"/>
          </a:p>
        </p:txBody>
      </p:sp>
      <p:sp>
        <p:nvSpPr>
          <p:cNvPr id="725" name="Shape 725"/>
          <p:cNvSpPr/>
          <p:nvPr/>
        </p:nvSpPr>
        <p:spPr>
          <a:xfrm>
            <a:off x="566000" y="1234440"/>
            <a:ext cx="5480000" cy="4915560"/>
          </a:xfrm>
          <a:prstGeom prst="rect">
            <a:avLst/>
          </a:prstGeom>
          <a:noFill/>
        </p:spPr>
        <p:txBody>
          <a:bodyPr anchor="t" wrap="square" tIns="0" bIns="0" lIns="0" rIns="0">
            <a:normAutofit/>
          </a:bodyPr>
          <a:lstStyle/>
          <a:p>
            <a:pPr algn="l">
              <a:lnSpc>
                <a:spcPct val="108000"/>
              </a:lnSpc>
              <a:spcAft>
                <a:spcPts val="1200"/>
              </a:spcAft>
              <a:buNone/>
            </a:pPr>
            <a:r>
              <a:rPr sz="1400" b="0" i="0">
                <a:solidFill>
                  <a:srgbClr val="1F262D"/>
                </a:solidFill>
                <a:latin typeface="Arial"/>
                <a:ea typeface="Arial"/>
              </a:rPr>
              <a:t xml:space="preserve">Conductivity describes how readily a material carries electric current, and an object's conductivity sets how strongly it distorts the field around it. Simulated scenes with and without the object were otherwise matched, so the difference between them reflects the object itself rather than other scene differences. The reconstruction keeps that difference as the signal of interest for each frame.</a:t>
            </a:r>
            <a:endParaRPr lang="en-US"/>
          </a:p>
          <a:p>
            <a:pPr algn="l">
              <a:lnSpc>
                <a:spcPct val="108000"/>
              </a:lnSpc>
              <a:spcAft>
                <a:spcPts val="1200"/>
              </a:spcAft>
              <a:buNone/>
            </a:pPr>
            <a:r>
              <a:rPr sz="1400" b="0" i="0">
                <a:solidFill>
                  <a:srgbClr val="1F262D"/>
                </a:solidFill>
                <a:latin typeface="Arial"/>
                <a:ea typeface="Arial"/>
              </a:rPr>
              <a:t xml:space="preserve">The pattern also depends on where the fish sits relative to the object. Each receptor samples a different part of the perturbation as the fish moves, so the same metal cube can generate different electric images at different positions. Each frame records the object's influence at every receptor location, and position is encoded alongside the object.</a:t>
            </a:r>
            <a:endParaRPr lang="en-US"/>
          </a:p>
          <a:p>
            <a:pPr algn="l">
              <a:lnSpc>
                <a:spcPct val="108000"/>
              </a:lnSpc>
              <a:spcAft>
                <a:spcPts val="1200"/>
              </a:spcAft>
              <a:buNone/>
            </a:pPr>
            <a:r>
              <a:rPr sz="1400" b="0" i="0">
                <a:solidFill>
                  <a:srgbClr val="1F262D"/>
                </a:solidFill>
                <a:latin typeface="Arial"/>
                <a:ea typeface="Arial"/>
              </a:rPr>
              <a:t xml:space="preserve">Because the reconstruction was built from real approaches, each image in the series corresponds to one moment in one fish's inspection. The estimates inherit the timing of the fish's own movement. Each reconstructed frame is a model output, not a snapshot taken by a camera. The frames follow the successive discharges emitted during the approach.</a:t>
            </a:r>
            <a:endParaRPr lang="en-US"/>
          </a:p>
        </p:txBody>
      </p:sp>
      <p:pic>
        <p:nvPicPr>
          <p:cNvPr id="297" name="Presenton Native Image 3" descr=""/>
          <p:cNvPicPr/>
          <p:nvPr/>
        </p:nvPicPr>
        <p:blipFill>
          <a:blip r:embed="rId2" cstate="none"/>
          <a:stretch>
            <a:fillRect/>
          </a:stretch>
        </p:blipFill>
        <p:spPr>
          <a:xfrm>
            <a:off x="6835061" y="1055340"/>
            <a:ext cx="4598828" cy="4000500"/>
          </a:xfrm>
          <a:prstGeom prst="rect">
            <a:avLst/>
          </a:prstGeom>
        </p:spPr>
      </p:pic>
      <p:sp>
        <p:nvSpPr>
          <p:cNvPr id="728" name="Shape 728"/>
          <p:cNvSpPr/>
          <p:nvPr/>
        </p:nvSpPr>
        <p:spPr>
          <a:xfrm>
            <a:off x="6610350" y="5170140"/>
            <a:ext cx="5067300" cy="371475"/>
          </a:xfrm>
          <a:prstGeom prst="rect">
            <a:avLst/>
          </a:prstGeom>
          <a:noFill/>
        </p:spPr>
        <p:txBody>
          <a:bodyPr anchor="t" wrap="square" tIns="0" bIns="0" lIns="0" rIns="0">
            <a:normAutofit/>
          </a:bodyPr>
          <a:lstStyle/>
          <a:p>
            <a:pPr algn="l">
              <a:lnSpc>
                <a:spcPts val="1463"/>
              </a:lnSpc>
              <a:buNone/>
            </a:pPr>
            <a:r>
              <a:rPr sz="1125" b="0" i="0">
                <a:solidFill>
                  <a:srgbClr val="1F262D"/>
                </a:solidFill>
                <a:latin typeface="Arial"/>
                <a:ea typeface="Arial"/>
              </a:rPr>
              <a:t>Hofmann et al. (2017), Fig. 2(A–G). Published reconstruction of electric images during approach.</a:t>
            </a:r>
            <a:endParaRPr lang="en-US"/>
          </a:p>
        </p:txBody>
      </p:sp>
      <p:sp>
        <p:nvSpPr>
          <p:cNvPr id="729" name="Shape 729"/>
          <p:cNvSpPr/>
          <p:nvPr/>
        </p:nvSpPr>
        <p:spPr>
          <a:xfrm>
            <a:off x="457200" y="6462713"/>
            <a:ext cx="1269950" cy="185738"/>
          </a:xfrm>
          <a:prstGeom prst="rect">
            <a:avLst/>
          </a:prstGeom>
          <a:noFill/>
        </p:spPr>
        <p:txBody>
          <a:bodyPr anchor="t" wrap="square" tIns="0" bIns="0" lIns="0" rIns="0">
            <a:normAutofit/>
          </a:bodyPr>
          <a:lstStyle/>
          <a:p>
            <a:pPr algn="l">
              <a:lnSpc>
                <a:spcPts val="1463"/>
              </a:lnSpc>
              <a:buNone/>
            </a:pPr>
            <a:r>
              <a:rPr sz="975" b="0" i="0">
                <a:solidFill>
                  <a:srgbClr val="58636E"/>
                </a:solidFill>
                <a:latin typeface="Arial"/>
                <a:ea typeface="Arial"/>
              </a:rPr>
              <a:t>Hofmann et al. (2017)</a:t>
            </a:r>
            <a:endParaRPr lang="en-US"/>
          </a:p>
        </p:txBody>
      </p:sp>
      <p:sp>
        <p:nvSpPr>
          <p:cNvPr id="730" name="Shape 730"/>
          <p:cNvSpPr/>
          <p:nvPr/>
        </p:nvSpPr>
        <p:spPr>
          <a:xfrm>
            <a:off x="11601541" y="6462713"/>
            <a:ext cx="152309" cy="185738"/>
          </a:xfrm>
          <a:prstGeom prst="rect">
            <a:avLst/>
          </a:prstGeom>
          <a:noFill/>
        </p:spPr>
        <p:txBody>
          <a:bodyPr anchor="t" wrap="square" tIns="0" bIns="0" lIns="0" rIns="0">
            <a:normAutofit/>
          </a:bodyPr>
          <a:lstStyle/>
          <a:p>
            <a:pPr algn="l">
              <a:lnSpc>
                <a:spcPts val="1463"/>
              </a:lnSpc>
              <a:buNone/>
            </a:pPr>
            <a:r>
              <a:rPr sz="975" b="0" i="0">
                <a:solidFill>
                  <a:srgbClr val="58636E"/>
                </a:solidFill>
                <a:latin typeface="Arial"/>
                <a:ea typeface="Arial"/>
              </a:rPr>
              <a:t>3a</a:t>
            </a:r>
            <a:endParaRPr lang="en-US"/>
          </a:p>
        </p:txBody>
      </p:sp>
    </p:spTree>
  </p:cSld>
  <p:clrMapOvr>
    <a:masterClrMapping/>
  </p:clrMapOvr>
</p:sld>
</file>

<file path=ppt/theme/theme1.xml><?xml version="1.0" encoding="utf-8"?>
<a:theme xmlns:a="http://schemas.openxmlformats.org/drawingml/2006/main" name="Office Theme">
  <a:themeElements>
    <a:clrScheme name="Office Them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Theme">
      <a:majorFont>
        <a:latin typeface="Calibri Light" panose="020F0302020204030204"/>
        <a:ea typeface=""/>
        <a:cs typeface=""/>
      </a:majorFont>
      <a:minorFont>
        <a:latin typeface="Calibri" panose="020F0502020204030204"/>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lumMod val="102000"/>
                <a:satMod val="103000"/>
                <a:tint val="94000"/>
              </a:schemeClr>
            </a:gs>
            <a:gs pos="50000">
              <a:schemeClr val="phClr">
                <a:lumMod val="100000"/>
                <a:satMod val="11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lumMod val="102000"/>
                <a:satMod val="150000"/>
                <a:tint val="93000"/>
                <a:shade val="98000"/>
              </a:schemeClr>
            </a:gs>
            <a:gs pos="50000">
              <a:schemeClr val="phClr">
                <a:lumMod val="103000"/>
                <a:satMod val="130000"/>
                <a:tint val="98000"/>
                <a:shade val="90000"/>
              </a:schemeClr>
            </a:gs>
            <a:gs pos="100000">
              <a:schemeClr val="phClr">
                <a:satMod val="120000"/>
                <a:shade val="63000"/>
              </a:schemeClr>
            </a:gs>
          </a:gsLst>
          <a:lin ang="5400000" scaled="0"/>
        </a:gradFill>
      </a:bgFillStyleLst>
    </a:fmtScheme>
  </a:themeElements>
  <a:objectDefaults/>
  <a:extraClrSchemeLst/>
</a:theme>
</file>

<file path=ppt/theme/theme2.xml><?xml version="1.0" encoding="utf-8"?>
<a:theme xmlns:a="http://schemas.openxmlformats.org/drawingml/2006/main" name="Office Theme">
  <a:themeElements>
    <a:clrScheme name="Office Them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Theme">
      <a:majorFont>
        <a:latin typeface="Calibri Light" panose="020F0302020204030204"/>
        <a:ea typeface=""/>
        <a:cs typeface=""/>
      </a:majorFont>
      <a:minorFont>
        <a:latin typeface="Calibri" panose="020F0502020204030204"/>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lumMod val="102000"/>
                <a:satMod val="103000"/>
                <a:tint val="94000"/>
              </a:schemeClr>
            </a:gs>
            <a:gs pos="50000">
              <a:schemeClr val="phClr">
                <a:lumMod val="100000"/>
                <a:satMod val="11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lumMod val="102000"/>
                <a:satMod val="150000"/>
                <a:tint val="93000"/>
                <a:shade val="98000"/>
              </a:schemeClr>
            </a:gs>
            <a:gs pos="50000">
              <a:schemeClr val="phClr">
                <a:lumMod val="103000"/>
                <a:satMod val="130000"/>
                <a:tint val="98000"/>
                <a:shade val="90000"/>
              </a:schemeClr>
            </a:gs>
            <a:gs pos="100000">
              <a:schemeClr val="phClr">
                <a:satMod val="120000"/>
                <a:shade val="63000"/>
              </a:schemeClr>
            </a:gs>
          </a:gsLst>
          <a:lin ang="5400000" scaled="0"/>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file>

<file path=docProps/core.xml><?xml version="1.0" encoding="utf-8"?>
<cp:coreProperties xmlns:cp="http://schemas.openxmlformats.org/package/2006/metadata/core-properties" xmlns:dc="http://purl.org/dc/elements/1.1/" xmlns:dcmitype="http://purl.org/dcmitype/" xmlns:dcterms="http://purl.org/dc/terms/" xmlns:xsi="http://www.w3.org/2001/XMLSchema-instance">
  <dc:title>Electroreception II: active electrolocation in weakly electric fish (Bullock)</dc:title>
  <dc:subject>Generated by Presenton export-core</dc:subject>
  <dc:creator>Presenton</dc:creator>
  <cp:lastModifiedBy>Presenton</cp:lastModifiedBy>
  <dcterms:created xsi:type="dcterms:W3CDTF">2026-10-08T06:31:00.982Z</dcterms:created>
  <dcterms:modified xsi:type="dcterms:W3CDTF">2026-10-08T06:31:00.982Z</dcterms:modified>
</cp:coreProperties>
</file>